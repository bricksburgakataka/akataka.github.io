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03" r:id="rId2"/>
    <p:sldId id="313" r:id="rId3"/>
    <p:sldId id="314" r:id="rId4"/>
    <p:sldId id="315" r:id="rId5"/>
    <p:sldId id="316" r:id="rId6"/>
    <p:sldId id="317" r:id="rId7"/>
    <p:sldId id="345" r:id="rId8"/>
    <p:sldId id="335" r:id="rId9"/>
    <p:sldId id="336" r:id="rId10"/>
    <p:sldId id="318" r:id="rId11"/>
    <p:sldId id="319" r:id="rId12"/>
    <p:sldId id="320" r:id="rId13"/>
    <p:sldId id="321" r:id="rId14"/>
    <p:sldId id="340" r:id="rId15"/>
    <p:sldId id="322" r:id="rId16"/>
    <p:sldId id="342" r:id="rId17"/>
    <p:sldId id="341" r:id="rId18"/>
    <p:sldId id="337" r:id="rId19"/>
    <p:sldId id="323" r:id="rId20"/>
    <p:sldId id="339" r:id="rId21"/>
    <p:sldId id="343" r:id="rId22"/>
    <p:sldId id="344" r:id="rId23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T" initials="J" lastIdx="0" clrIdx="0">
    <p:extLst>
      <p:ext uri="{19B8F6BF-5375-455C-9EA6-DF929625EA0E}">
        <p15:presenceInfo xmlns:p15="http://schemas.microsoft.com/office/powerpoint/2012/main" userId="J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99"/>
    <a:srgbClr val="FF9900"/>
    <a:srgbClr val="FF0066"/>
    <a:srgbClr val="00FFFF"/>
    <a:srgbClr val="FF00FF"/>
    <a:srgbClr val="66FF33"/>
    <a:srgbClr val="FF33CC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82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29.wmf"/><Relationship Id="rId5" Type="http://schemas.openxmlformats.org/officeDocument/2006/relationships/image" Target="../media/image34.wmf"/><Relationship Id="rId4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Relationship Id="rId9" Type="http://schemas.openxmlformats.org/officeDocument/2006/relationships/image" Target="../media/image4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fld id="{C86211C6-C73C-4DC2-A748-837EEF6BF4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68457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5CEB40-C8E7-4CD9-AA14-87159E626E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7550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7472B-8AEC-49A8-A16D-5F0DA4E925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2836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13B35-F4C7-430C-BE80-2D36ED1CEF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4600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DD626-B31A-4FDF-848E-2C9BA718C1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650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CC3B20-052D-4DEC-A96D-336911E87B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342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64E13-78A3-4D4B-BC25-0F599E57DD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4147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A6E5B-28A4-4942-84E1-E40C8797BE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2895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8CC58-5C3F-43E8-9907-8ED0FBC53F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5815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22C6E-D688-4891-91BC-E9D3849252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483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DF68A8-3465-42A1-A0DD-40D04FF42C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6342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CC37D-AB64-452A-9CD3-2EB6A90795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6788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28BA3B-A702-41C0-ABA9-B81DCA6F31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211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/>
            </a:lvl1pPr>
          </a:lstStyle>
          <a:p>
            <a:pPr>
              <a:defRPr/>
            </a:pPr>
            <a:fld id="{F4D415F1-E31D-4986-AC37-0C82460089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wmf"/><Relationship Id="rId11" Type="http://schemas.openxmlformats.org/officeDocument/2006/relationships/image" Target="../media/image21.wmf"/><Relationship Id="rId5" Type="http://schemas.openxmlformats.org/officeDocument/2006/relationships/oleObject" Target="../embeddings/oleObject5.bin"/><Relationship Id="rId10" Type="http://schemas.openxmlformats.org/officeDocument/2006/relationships/oleObject" Target="../embeddings/oleObject7.bin"/><Relationship Id="rId4" Type="http://schemas.openxmlformats.org/officeDocument/2006/relationships/image" Target="../media/image18.wmf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7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5.wmf"/><Relationship Id="rId4" Type="http://schemas.openxmlformats.org/officeDocument/2006/relationships/image" Target="../media/image22.wmf"/><Relationship Id="rId9" Type="http://schemas.openxmlformats.org/officeDocument/2006/relationships/image" Target="../media/image17.png"/><Relationship Id="rId14" Type="http://schemas.openxmlformats.org/officeDocument/2006/relationships/image" Target="../media/image2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32.wmf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4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3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image" Target="../media/image17.png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37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2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45.wmf"/><Relationship Id="rId18" Type="http://schemas.openxmlformats.org/officeDocument/2006/relationships/oleObject" Target="../embeddings/oleObject33.bin"/><Relationship Id="rId3" Type="http://schemas.openxmlformats.org/officeDocument/2006/relationships/image" Target="../media/image40.png"/><Relationship Id="rId21" Type="http://schemas.openxmlformats.org/officeDocument/2006/relationships/image" Target="../media/image49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30.bin"/><Relationship Id="rId17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2.bin"/><Relationship Id="rId20" Type="http://schemas.openxmlformats.org/officeDocument/2006/relationships/oleObject" Target="../embeddings/oleObject34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29.bin"/><Relationship Id="rId19" Type="http://schemas.openxmlformats.org/officeDocument/2006/relationships/image" Target="../media/image48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3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9.png"/><Relationship Id="rId5" Type="http://schemas.openxmlformats.org/officeDocument/2006/relationships/image" Target="../media/image57.wmf"/><Relationship Id="rId4" Type="http://schemas.openxmlformats.org/officeDocument/2006/relationships/oleObject" Target="../embeddings/oleObject3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62.wmf"/><Relationship Id="rId9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oleObject" Target="../embeddings/oleObject39.bin"/><Relationship Id="rId7" Type="http://schemas.openxmlformats.org/officeDocument/2006/relationships/image" Target="../media/image6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58.png"/><Relationship Id="rId4" Type="http://schemas.openxmlformats.org/officeDocument/2006/relationships/image" Target="../media/image65.wmf"/><Relationship Id="rId9" Type="http://schemas.openxmlformats.org/officeDocument/2006/relationships/image" Target="../media/image64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42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3200" y="576263"/>
            <a:ext cx="8766175" cy="914400"/>
          </a:xfr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第十二章  功率放大器</a:t>
            </a:r>
          </a:p>
        </p:txBody>
      </p:sp>
      <p:sp>
        <p:nvSpPr>
          <p:cNvPr id="2051" name="Text Box 3" descr="蓝色砂纸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741488" y="2359025"/>
            <a:ext cx="5232400" cy="5794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3200" dirty="0">
                <a:solidFill>
                  <a:schemeClr val="tx2"/>
                </a:solidFill>
                <a:ea typeface="楷体_GB2312" pitchFamily="49" charset="-122"/>
              </a:rPr>
              <a:t>功率放大器概述</a:t>
            </a:r>
          </a:p>
        </p:txBody>
      </p:sp>
      <p:sp>
        <p:nvSpPr>
          <p:cNvPr id="2052" name="Rectangle 4" descr="蓝色砂纸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755775" y="3387725"/>
            <a:ext cx="5270500" cy="5794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3200" dirty="0">
                <a:solidFill>
                  <a:schemeClr val="tx2"/>
                </a:solidFill>
                <a:ea typeface="楷体_GB2312" pitchFamily="49" charset="-122"/>
              </a:rPr>
              <a:t>功率放大器分析计算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341313" y="627063"/>
            <a:ext cx="7515225" cy="519112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800" dirty="0" smtClean="0">
                <a:solidFill>
                  <a:schemeClr val="tx2"/>
                </a:solidFill>
              </a:rPr>
              <a:t>12.1  </a:t>
            </a:r>
            <a:r>
              <a:rPr lang="zh-CN" altLang="en-US" sz="2800" dirty="0" smtClean="0">
                <a:solidFill>
                  <a:schemeClr val="tx2"/>
                </a:solidFill>
              </a:rPr>
              <a:t>功率放大器</a:t>
            </a:r>
            <a:r>
              <a:rPr lang="zh-CN" altLang="en-US" sz="2800" dirty="0">
                <a:solidFill>
                  <a:schemeClr val="tx2"/>
                </a:solidFill>
              </a:rPr>
              <a:t>概述</a:t>
            </a:r>
          </a:p>
        </p:txBody>
      </p:sp>
      <p:sp>
        <p:nvSpPr>
          <p:cNvPr id="3075" name="Text Box 9"/>
          <p:cNvSpPr txBox="1">
            <a:spLocks noChangeArrowheads="1"/>
          </p:cNvSpPr>
          <p:nvPr/>
        </p:nvSpPr>
        <p:spPr bwMode="auto">
          <a:xfrm>
            <a:off x="1276351" y="1914495"/>
            <a:ext cx="67627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zh-CN" altLang="en-US" sz="2000" dirty="0" smtClean="0">
                <a:latin typeface="+mn-lt"/>
                <a:ea typeface="+mn-ea"/>
              </a:rPr>
              <a:t>输出</a:t>
            </a:r>
            <a:r>
              <a:rPr lang="zh-CN" altLang="en-US" sz="2000" dirty="0">
                <a:latin typeface="+mn-lt"/>
                <a:ea typeface="+mn-ea"/>
              </a:rPr>
              <a:t>级电路和功率放大器，一般处理的都是大信号</a:t>
            </a:r>
            <a:r>
              <a:rPr lang="zh-CN" altLang="en-US" sz="2000" dirty="0" smtClean="0">
                <a:latin typeface="+mn-lt"/>
                <a:ea typeface="+mn-ea"/>
              </a:rPr>
              <a:t>。</a:t>
            </a:r>
            <a:endParaRPr lang="en-US" altLang="zh-CN" sz="2000" dirty="0" smtClean="0">
              <a:latin typeface="+mn-lt"/>
              <a:ea typeface="+mn-ea"/>
            </a:endParaRPr>
          </a:p>
          <a:p>
            <a:pPr algn="l" eaLnBrk="1" hangingPunct="1">
              <a:lnSpc>
                <a:spcPct val="150000"/>
              </a:lnSpc>
            </a:pPr>
            <a:r>
              <a:rPr lang="zh-CN" altLang="en-US" sz="2000" dirty="0" smtClean="0">
                <a:latin typeface="+mn-lt"/>
                <a:ea typeface="+mn-ea"/>
              </a:rPr>
              <a:t>小信号近似或模型不再适用。</a:t>
            </a:r>
            <a:endParaRPr lang="en-US" altLang="zh-CN" sz="2000" dirty="0">
              <a:latin typeface="+mn-lt"/>
              <a:ea typeface="+mn-ea"/>
            </a:endParaRPr>
          </a:p>
        </p:txBody>
      </p:sp>
      <p:sp>
        <p:nvSpPr>
          <p:cNvPr id="3076" name="Text Box 23"/>
          <p:cNvSpPr txBox="1">
            <a:spLocks noChangeArrowheads="1"/>
          </p:cNvSpPr>
          <p:nvPr/>
        </p:nvSpPr>
        <p:spPr bwMode="auto">
          <a:xfrm>
            <a:off x="582613" y="1392238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 algn="l" eaLnBrk="0" hangingPunct="0">
              <a:defRPr>
                <a:solidFill>
                  <a:srgbClr val="990033"/>
                </a:solidFill>
                <a:ea typeface="宋体" charset="-122"/>
              </a:defRPr>
            </a:lvl1pPr>
            <a:lvl2pPr>
              <a:defRPr>
                <a:ea typeface="宋体" charset="-122"/>
              </a:defRPr>
            </a:lvl2pPr>
            <a:lvl3pPr>
              <a:defRPr>
                <a:ea typeface="宋体" charset="-122"/>
              </a:defRPr>
            </a:lvl3pPr>
            <a:lvl4pPr>
              <a:defRPr>
                <a:ea typeface="宋体" charset="-122"/>
              </a:defRPr>
            </a:lvl4pPr>
            <a:lvl5pPr>
              <a:defRPr>
                <a:ea typeface="宋体" charset="-122"/>
              </a:defRPr>
            </a:lvl5pPr>
            <a:lvl6pPr>
              <a:defRPr>
                <a:ea typeface="宋体" charset="-122"/>
              </a:defRPr>
            </a:lvl6pPr>
            <a:lvl7pPr>
              <a:defRPr>
                <a:ea typeface="宋体" charset="-122"/>
              </a:defRPr>
            </a:lvl7pPr>
            <a:lvl8pPr>
              <a:defRPr>
                <a:ea typeface="宋体" charset="-122"/>
              </a:defRPr>
            </a:lvl8pPr>
            <a:lvl9pPr>
              <a:defRPr>
                <a:ea typeface="宋体" charset="-122"/>
              </a:defRPr>
            </a:lvl9pPr>
          </a:lstStyle>
          <a:p>
            <a:r>
              <a:rPr lang="en-US" altLang="zh-CN" dirty="0" smtClean="0"/>
              <a:t>12.1.1 </a:t>
            </a:r>
            <a:r>
              <a:rPr lang="zh-CN" altLang="en-US" dirty="0" smtClean="0"/>
              <a:t>功率放大器</a:t>
            </a:r>
            <a:r>
              <a:rPr lang="zh-CN" altLang="en-US" dirty="0"/>
              <a:t>特点</a:t>
            </a:r>
          </a:p>
        </p:txBody>
      </p:sp>
      <p:sp>
        <p:nvSpPr>
          <p:cNvPr id="3077" name="Text Box 25"/>
          <p:cNvSpPr txBox="1">
            <a:spLocks noChangeArrowheads="1"/>
          </p:cNvSpPr>
          <p:nvPr/>
        </p:nvSpPr>
        <p:spPr bwMode="auto">
          <a:xfrm>
            <a:off x="1247775" y="3160682"/>
            <a:ext cx="61531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sz="2000" dirty="0">
                <a:latin typeface="+mn-lt"/>
                <a:ea typeface="+mn-ea"/>
              </a:rPr>
              <a:t>性能指标</a:t>
            </a:r>
            <a:r>
              <a:rPr lang="zh-CN" altLang="en-US" sz="2000" dirty="0" smtClean="0">
                <a:latin typeface="+mn-lt"/>
                <a:ea typeface="+mn-ea"/>
              </a:rPr>
              <a:t>：</a:t>
            </a:r>
            <a:r>
              <a:rPr lang="zh-CN" altLang="en-US" sz="2000" u="sng" dirty="0" smtClean="0">
                <a:solidFill>
                  <a:srgbClr val="FF0000"/>
                </a:solidFill>
                <a:latin typeface="+mn-lt"/>
                <a:ea typeface="+mn-ea"/>
              </a:rPr>
              <a:t>输出</a:t>
            </a:r>
            <a:r>
              <a:rPr lang="zh-CN" altLang="en-US" sz="2000" u="sng" dirty="0">
                <a:solidFill>
                  <a:srgbClr val="FF0000"/>
                </a:solidFill>
                <a:latin typeface="+mn-lt"/>
                <a:ea typeface="+mn-ea"/>
              </a:rPr>
              <a:t>功率</a:t>
            </a:r>
            <a:r>
              <a:rPr lang="en-US" altLang="zh-CN" sz="2000" i="1" dirty="0">
                <a:latin typeface="+mn-lt"/>
                <a:ea typeface="+mn-ea"/>
              </a:rPr>
              <a:t>P</a:t>
            </a:r>
            <a:r>
              <a:rPr lang="en-US" altLang="zh-CN" sz="2000" i="1" baseline="-25000" dirty="0">
                <a:latin typeface="+mn-lt"/>
                <a:ea typeface="+mn-ea"/>
              </a:rPr>
              <a:t>L</a:t>
            </a:r>
            <a:r>
              <a:rPr lang="zh-CN" altLang="en-US" sz="2000" dirty="0" smtClean="0">
                <a:latin typeface="+mn-lt"/>
                <a:ea typeface="+mn-ea"/>
              </a:rPr>
              <a:t>和</a:t>
            </a:r>
            <a:r>
              <a:rPr lang="zh-CN" altLang="en-US" sz="2000" u="sng" dirty="0" smtClean="0">
                <a:solidFill>
                  <a:srgbClr val="FF0000"/>
                </a:solidFill>
                <a:latin typeface="+mn-lt"/>
                <a:ea typeface="+mn-ea"/>
              </a:rPr>
              <a:t>最大功率转换效率</a:t>
            </a:r>
            <a:r>
              <a:rPr lang="en-US" altLang="zh-CN" sz="2000" i="1" dirty="0" err="1" smtClean="0">
                <a:latin typeface="Symbol" panose="05050102010706020507" pitchFamily="18" charset="2"/>
                <a:ea typeface="+mn-ea"/>
              </a:rPr>
              <a:t>h</a:t>
            </a:r>
            <a:r>
              <a:rPr lang="en-US" altLang="zh-CN" sz="2000" baseline="-25000" dirty="0" err="1" smtClean="0">
                <a:latin typeface="+mn-lt"/>
                <a:ea typeface="+mn-ea"/>
              </a:rPr>
              <a:t>max</a:t>
            </a:r>
            <a:r>
              <a:rPr lang="zh-CN" altLang="en-US" sz="2000" dirty="0" smtClean="0">
                <a:latin typeface="+mn-lt"/>
                <a:ea typeface="+mn-ea"/>
              </a:rPr>
              <a:t>。         </a:t>
            </a:r>
            <a:endParaRPr lang="zh-CN" altLang="en-US" sz="2000" dirty="0">
              <a:latin typeface="+mn-lt"/>
              <a:ea typeface="+mn-ea"/>
            </a:endParaRPr>
          </a:p>
        </p:txBody>
      </p:sp>
      <p:graphicFrame>
        <p:nvGraphicFramePr>
          <p:cNvPr id="307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320380"/>
              </p:ext>
            </p:extLst>
          </p:nvPr>
        </p:nvGraphicFramePr>
        <p:xfrm>
          <a:off x="3519488" y="4379913"/>
          <a:ext cx="1397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4" name="Equation" r:id="rId3" imgW="698400" imgH="393480" progId="Equation.DSMT4">
                  <p:embed/>
                </p:oleObj>
              </mc:Choice>
              <mc:Fallback>
                <p:oleObj name="Equation" r:id="rId3" imgW="698400" imgH="39348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88" y="4379913"/>
                        <a:ext cx="1397000" cy="7874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67" name="Text Box 27"/>
          <p:cNvSpPr txBox="1">
            <a:spLocks noChangeArrowheads="1"/>
          </p:cNvSpPr>
          <p:nvPr/>
        </p:nvSpPr>
        <p:spPr bwMode="auto">
          <a:xfrm>
            <a:off x="1295400" y="5422870"/>
            <a:ext cx="67722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sz="2000" dirty="0" smtClean="0">
                <a:latin typeface="+mn-lt"/>
                <a:ea typeface="+mn-ea"/>
              </a:rPr>
              <a:t>最大输出功率         与电源消耗的平均功率      之比。    </a:t>
            </a:r>
            <a:endParaRPr lang="zh-CN" altLang="en-US" sz="2000" dirty="0">
              <a:latin typeface="+mn-lt"/>
              <a:ea typeface="+mn-ea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638334"/>
              </p:ext>
            </p:extLst>
          </p:nvPr>
        </p:nvGraphicFramePr>
        <p:xfrm>
          <a:off x="2992438" y="5470525"/>
          <a:ext cx="54768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5" name="Equation" r:id="rId5" imgW="304560" imgH="203040" progId="Equation.DSMT4">
                  <p:embed/>
                </p:oleObj>
              </mc:Choice>
              <mc:Fallback>
                <p:oleObj name="Equation" r:id="rId5" imgW="304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92438" y="5470525"/>
                        <a:ext cx="547687" cy="36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90922"/>
              </p:ext>
            </p:extLst>
          </p:nvPr>
        </p:nvGraphicFramePr>
        <p:xfrm>
          <a:off x="6108700" y="5471139"/>
          <a:ext cx="29686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6" name="Equation" r:id="rId7" imgW="164880" imgH="203040" progId="Equation.DSMT4">
                  <p:embed/>
                </p:oleObj>
              </mc:Choice>
              <mc:Fallback>
                <p:oleObj name="Equation" r:id="rId7" imgW="164880" imgH="2030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5471139"/>
                        <a:ext cx="296863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587339" y="3604823"/>
            <a:ext cx="35895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/>
              <a:t> ( power-conversion efficiency )</a:t>
            </a:r>
            <a:endParaRPr lang="zh-CN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24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  <p:bldP spid="3076" grpId="0"/>
      <p:bldP spid="3077" grpId="0"/>
      <p:bldP spid="624667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/>
          <p:cNvSpPr txBox="1">
            <a:spLocks noChangeArrowheads="1"/>
          </p:cNvSpPr>
          <p:nvPr/>
        </p:nvSpPr>
        <p:spPr bwMode="auto">
          <a:xfrm>
            <a:off x="708024" y="1077913"/>
            <a:ext cx="794226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zh-CN" sz="2000" dirty="0"/>
              <a:t>        </a:t>
            </a:r>
            <a:r>
              <a:rPr lang="zh-CN" altLang="en-US" sz="2000" dirty="0"/>
              <a:t>根据电路中晶体管工作点的不同，输出级电路有</a:t>
            </a:r>
            <a:r>
              <a:rPr lang="en-US" altLang="zh-CN" sz="2000" dirty="0"/>
              <a:t>A</a:t>
            </a:r>
            <a:r>
              <a:rPr lang="zh-CN" altLang="en-US" sz="2000" dirty="0" smtClean="0"/>
              <a:t>类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甲类、</a:t>
            </a:r>
            <a:r>
              <a:rPr lang="en-US" altLang="zh-CN" sz="2000" dirty="0"/>
              <a:t>B</a:t>
            </a:r>
            <a:r>
              <a:rPr lang="zh-CN" altLang="en-US" sz="2000" dirty="0" smtClean="0"/>
              <a:t>类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乙类、</a:t>
            </a:r>
            <a:r>
              <a:rPr lang="en-US" altLang="zh-CN" sz="2000" dirty="0"/>
              <a:t>AB</a:t>
            </a:r>
            <a:r>
              <a:rPr lang="zh-CN" altLang="en-US" sz="2000" dirty="0" smtClean="0"/>
              <a:t>类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甲乙类和</a:t>
            </a:r>
            <a:r>
              <a:rPr lang="en-US" altLang="zh-CN" sz="2000" dirty="0" smtClean="0"/>
              <a:t>C</a:t>
            </a:r>
            <a:r>
              <a:rPr lang="zh-CN" altLang="en-US" sz="2000" dirty="0" smtClean="0"/>
              <a:t>类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丙类之</a:t>
            </a:r>
            <a:r>
              <a:rPr lang="zh-CN" altLang="en-US" sz="2000" dirty="0"/>
              <a:t>分。</a:t>
            </a:r>
          </a:p>
        </p:txBody>
      </p:sp>
      <p:sp>
        <p:nvSpPr>
          <p:cNvPr id="743432" name="Text Box 8"/>
          <p:cNvSpPr txBox="1">
            <a:spLocks noChangeArrowheads="1"/>
          </p:cNvSpPr>
          <p:nvPr/>
        </p:nvSpPr>
        <p:spPr bwMode="auto">
          <a:xfrm>
            <a:off x="1200944" y="2095500"/>
            <a:ext cx="682863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zh-CN" sz="2000" dirty="0"/>
              <a:t>A</a:t>
            </a:r>
            <a:r>
              <a:rPr lang="zh-CN" altLang="en-US" sz="2000" dirty="0" smtClean="0"/>
              <a:t>类：</a:t>
            </a:r>
            <a:r>
              <a:rPr lang="zh-CN" altLang="en-US" sz="2000" dirty="0"/>
              <a:t>晶体管在信号的整个周期内均处于导通状态。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sz="2000" dirty="0"/>
              <a:t>B</a:t>
            </a:r>
            <a:r>
              <a:rPr lang="zh-CN" altLang="en-US" sz="2000" dirty="0"/>
              <a:t>类：晶体管仅在信号的半个周期处于导通状态。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sz="2000" dirty="0"/>
              <a:t>AB</a:t>
            </a:r>
            <a:r>
              <a:rPr lang="zh-CN" altLang="en-US" sz="2000" dirty="0"/>
              <a:t>类：晶体管在信号的多半个周期处于导通状态。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sz="2000" dirty="0"/>
              <a:t>C</a:t>
            </a:r>
            <a:r>
              <a:rPr lang="zh-CN" altLang="en-US" sz="2000" dirty="0"/>
              <a:t>类：晶体管仅在信号的小半个周期处于导通状态。</a:t>
            </a:r>
          </a:p>
        </p:txBody>
      </p:sp>
      <p:pic>
        <p:nvPicPr>
          <p:cNvPr id="4101" name="图片 256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76688"/>
            <a:ext cx="2554288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图片 25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238" y="4176713"/>
            <a:ext cx="232092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图片 257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450" y="4276725"/>
            <a:ext cx="2154238" cy="173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图片 257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38" y="4152900"/>
            <a:ext cx="2332037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5" name="Rectangle 13"/>
          <p:cNvSpPr>
            <a:spLocks noChangeArrowheads="1"/>
          </p:cNvSpPr>
          <p:nvPr/>
        </p:nvSpPr>
        <p:spPr bwMode="auto">
          <a:xfrm>
            <a:off x="0" y="-233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Text Box 23"/>
          <p:cNvSpPr txBox="1">
            <a:spLocks noChangeArrowheads="1"/>
          </p:cNvSpPr>
          <p:nvPr/>
        </p:nvSpPr>
        <p:spPr bwMode="auto">
          <a:xfrm>
            <a:off x="582613" y="592138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 algn="l" eaLnBrk="0" hangingPunct="0">
              <a:defRPr>
                <a:solidFill>
                  <a:srgbClr val="990033"/>
                </a:solidFill>
                <a:ea typeface="宋体" charset="-122"/>
              </a:defRPr>
            </a:lvl1pPr>
            <a:lvl2pPr>
              <a:defRPr>
                <a:ea typeface="宋体" charset="-122"/>
              </a:defRPr>
            </a:lvl2pPr>
            <a:lvl3pPr>
              <a:defRPr>
                <a:ea typeface="宋体" charset="-122"/>
              </a:defRPr>
            </a:lvl3pPr>
            <a:lvl4pPr>
              <a:defRPr>
                <a:ea typeface="宋体" charset="-122"/>
              </a:defRPr>
            </a:lvl4pPr>
            <a:lvl5pPr>
              <a:defRPr>
                <a:ea typeface="宋体" charset="-122"/>
              </a:defRPr>
            </a:lvl5pPr>
            <a:lvl6pPr>
              <a:defRPr>
                <a:ea typeface="宋体" charset="-122"/>
              </a:defRPr>
            </a:lvl6pPr>
            <a:lvl7pPr>
              <a:defRPr>
                <a:ea typeface="宋体" charset="-122"/>
              </a:defRPr>
            </a:lvl7pPr>
            <a:lvl8pPr>
              <a:defRPr>
                <a:ea typeface="宋体" charset="-122"/>
              </a:defRPr>
            </a:lvl8pPr>
            <a:lvl9pPr>
              <a:defRPr>
                <a:ea typeface="宋体" charset="-122"/>
              </a:defRPr>
            </a:lvl9pPr>
          </a:lstStyle>
          <a:p>
            <a:r>
              <a:rPr lang="en-US" altLang="zh-CN" dirty="0" smtClean="0"/>
              <a:t>12.1.2 </a:t>
            </a:r>
            <a:r>
              <a:rPr lang="zh-CN" altLang="en-US" dirty="0" smtClean="0"/>
              <a:t>功率放大器分类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43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43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43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743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AutoShape 13"/>
          <p:cNvSpPr>
            <a:spLocks noChangeArrowheads="1"/>
          </p:cNvSpPr>
          <p:nvPr/>
        </p:nvSpPr>
        <p:spPr bwMode="auto">
          <a:xfrm>
            <a:off x="5028587" y="4156075"/>
            <a:ext cx="842963" cy="347663"/>
          </a:xfrm>
          <a:prstGeom prst="rightArrow">
            <a:avLst>
              <a:gd name="adj1" fmla="val 50000"/>
              <a:gd name="adj2" fmla="val 60616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711200" y="1452563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dirty="0" smtClean="0">
                <a:solidFill>
                  <a:srgbClr val="990033"/>
                </a:solidFill>
              </a:rPr>
              <a:t>12.2.1 A</a:t>
            </a:r>
            <a:r>
              <a:rPr lang="zh-CN" altLang="en-US" dirty="0" smtClean="0">
                <a:solidFill>
                  <a:srgbClr val="990033"/>
                </a:solidFill>
              </a:rPr>
              <a:t>类功率放大器</a:t>
            </a:r>
            <a:endParaRPr lang="zh-CN" altLang="en-US" dirty="0">
              <a:solidFill>
                <a:srgbClr val="A5002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29" y="2162175"/>
            <a:ext cx="4271282" cy="4213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326" y="2751138"/>
            <a:ext cx="2384147" cy="3259137"/>
          </a:xfrm>
          <a:prstGeom prst="rect">
            <a:avLst/>
          </a:prstGeom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41313" y="627063"/>
            <a:ext cx="7515225" cy="519112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800" dirty="0" smtClean="0">
                <a:solidFill>
                  <a:schemeClr val="tx2"/>
                </a:solidFill>
              </a:rPr>
              <a:t>12.2  </a:t>
            </a:r>
            <a:r>
              <a:rPr lang="zh-CN" altLang="en-US" sz="2800" dirty="0" smtClean="0">
                <a:solidFill>
                  <a:schemeClr val="tx2"/>
                </a:solidFill>
              </a:rPr>
              <a:t>功率放大器分析计算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2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645" y="506155"/>
            <a:ext cx="157734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2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692" y="1241168"/>
            <a:ext cx="237744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2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414" y="2065973"/>
            <a:ext cx="150876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1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914" y="5949950"/>
            <a:ext cx="1782306" cy="457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1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845" y="3706813"/>
            <a:ext cx="2216459" cy="868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1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914" y="5237163"/>
            <a:ext cx="253746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3" name="Rectangle 23"/>
          <p:cNvSpPr>
            <a:spLocks noChangeArrowheads="1"/>
          </p:cNvSpPr>
          <p:nvPr/>
        </p:nvSpPr>
        <p:spPr bwMode="auto">
          <a:xfrm>
            <a:off x="4351080" y="517525"/>
            <a:ext cx="9589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正方向</a:t>
            </a:r>
          </a:p>
        </p:txBody>
      </p:sp>
      <p:sp>
        <p:nvSpPr>
          <p:cNvPr id="6155" name="Rectangle 25"/>
          <p:cNvSpPr>
            <a:spLocks noChangeArrowheads="1"/>
          </p:cNvSpPr>
          <p:nvPr/>
        </p:nvSpPr>
        <p:spPr bwMode="auto">
          <a:xfrm>
            <a:off x="4479443" y="2071658"/>
            <a:ext cx="9589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负方向</a:t>
            </a:r>
          </a:p>
        </p:txBody>
      </p:sp>
      <p:sp>
        <p:nvSpPr>
          <p:cNvPr id="6156" name="Rectangle 27"/>
          <p:cNvSpPr>
            <a:spLocks noChangeArrowheads="1"/>
          </p:cNvSpPr>
          <p:nvPr/>
        </p:nvSpPr>
        <p:spPr bwMode="auto">
          <a:xfrm>
            <a:off x="4778991" y="3914420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当选择恒流源</a:t>
            </a:r>
          </a:p>
        </p:txBody>
      </p:sp>
      <p:sp>
        <p:nvSpPr>
          <p:cNvPr id="6157" name="AutoShape 38"/>
          <p:cNvSpPr>
            <a:spLocks noChangeArrowheads="1"/>
          </p:cNvSpPr>
          <p:nvPr/>
        </p:nvSpPr>
        <p:spPr bwMode="auto">
          <a:xfrm rot="8170726">
            <a:off x="5930678" y="4769587"/>
            <a:ext cx="849312" cy="201612"/>
          </a:xfrm>
          <a:prstGeom prst="rightArrow">
            <a:avLst>
              <a:gd name="adj1" fmla="val 50000"/>
              <a:gd name="adj2" fmla="val 105315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6158" name="Rectangle 39"/>
          <p:cNvSpPr>
            <a:spLocks noChangeArrowheads="1"/>
          </p:cNvSpPr>
          <p:nvPr/>
        </p:nvSpPr>
        <p:spPr bwMode="auto">
          <a:xfrm>
            <a:off x="7173294" y="2062074"/>
            <a:ext cx="4427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或</a:t>
            </a:r>
          </a:p>
        </p:txBody>
      </p:sp>
      <p:pic>
        <p:nvPicPr>
          <p:cNvPr id="6159" name="Picture 4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692" y="2741613"/>
            <a:ext cx="253746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211" y="690849"/>
            <a:ext cx="3057525" cy="40862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3" grpId="0"/>
      <p:bldP spid="6155" grpId="0"/>
      <p:bldP spid="6156" grpId="0"/>
      <p:bldP spid="6157" grpId="0" animBg="1"/>
      <p:bldP spid="615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9" name="Rectangle 22"/>
          <p:cNvSpPr>
            <a:spLocks noChangeArrowheads="1"/>
          </p:cNvSpPr>
          <p:nvPr/>
        </p:nvSpPr>
        <p:spPr bwMode="auto">
          <a:xfrm>
            <a:off x="3224213" y="684183"/>
            <a:ext cx="52004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1133475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在最大输出情况下，忽略饱和压降</a:t>
            </a:r>
          </a:p>
        </p:txBody>
      </p:sp>
      <p:sp>
        <p:nvSpPr>
          <p:cNvPr id="7180" name="Rectangle 23"/>
          <p:cNvSpPr>
            <a:spLocks noChangeArrowheads="1"/>
          </p:cNvSpPr>
          <p:nvPr/>
        </p:nvSpPr>
        <p:spPr bwMode="auto">
          <a:xfrm>
            <a:off x="4028746" y="2230420"/>
            <a:ext cx="490515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10668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indent="0" algn="l" eaLnBrk="1" hangingPunct="1"/>
            <a:r>
              <a:rPr lang="zh-CN" altLang="en-US" sz="2000" dirty="0"/>
              <a:t>负载上得到的平均输出功率（假设输出正弦信号）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958990"/>
              </p:ext>
            </p:extLst>
          </p:nvPr>
        </p:nvGraphicFramePr>
        <p:xfrm>
          <a:off x="6558688" y="1272997"/>
          <a:ext cx="166860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5" name="Equation" r:id="rId3" imgW="927000" imgH="228600" progId="Equation.DSMT4">
                  <p:embed/>
                </p:oleObj>
              </mc:Choice>
              <mc:Fallback>
                <p:oleObj name="Equation" r:id="rId3" imgW="927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58688" y="1272997"/>
                        <a:ext cx="1668600" cy="411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310106"/>
              </p:ext>
            </p:extLst>
          </p:nvPr>
        </p:nvGraphicFramePr>
        <p:xfrm>
          <a:off x="4680268" y="1326327"/>
          <a:ext cx="12573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6" name="Equation" r:id="rId5" imgW="698400" imgH="228600" progId="Equation.DSMT4">
                  <p:embed/>
                </p:oleObj>
              </mc:Choice>
              <mc:Fallback>
                <p:oleObj name="Equation" r:id="rId5" imgW="698400" imgH="228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0268" y="1326327"/>
                        <a:ext cx="12573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433246"/>
              </p:ext>
            </p:extLst>
          </p:nvPr>
        </p:nvGraphicFramePr>
        <p:xfrm>
          <a:off x="4355662" y="3308146"/>
          <a:ext cx="4251326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7" name="Equation" r:id="rId7" imgW="2361960" imgH="431640" progId="Equation.DSMT4">
                  <p:embed/>
                </p:oleObj>
              </mc:Choice>
              <mc:Fallback>
                <p:oleObj name="Equation" r:id="rId7" imgW="2361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662" y="3308146"/>
                        <a:ext cx="4251326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297" y="518922"/>
            <a:ext cx="3057525" cy="4086225"/>
          </a:xfrm>
          <a:prstGeom prst="rect">
            <a:avLst/>
          </a:prstGeom>
        </p:spPr>
      </p:pic>
      <p:sp>
        <p:nvSpPr>
          <p:cNvPr id="18" name="Rectangle 24"/>
          <p:cNvSpPr>
            <a:spLocks noChangeArrowheads="1"/>
          </p:cNvSpPr>
          <p:nvPr/>
        </p:nvSpPr>
        <p:spPr bwMode="auto">
          <a:xfrm>
            <a:off x="4028746" y="4605147"/>
            <a:ext cx="27655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9334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indent="0" algn="l" eaLnBrk="1" hangingPunct="1"/>
            <a:r>
              <a:rPr lang="zh-CN" altLang="en-US" sz="2000" dirty="0"/>
              <a:t>电源提供的平均功率为</a:t>
            </a: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226849"/>
              </p:ext>
            </p:extLst>
          </p:nvPr>
        </p:nvGraphicFramePr>
        <p:xfrm>
          <a:off x="4764088" y="5197475"/>
          <a:ext cx="3313112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" name="Equation" r:id="rId10" imgW="1841400" imgH="279360" progId="Equation.DSMT4">
                  <p:embed/>
                </p:oleObj>
              </mc:Choice>
              <mc:Fallback>
                <p:oleObj name="Equation" r:id="rId10" imgW="1841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088" y="5197475"/>
                        <a:ext cx="3313112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9" grpId="0"/>
      <p:bldP spid="7180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2" name="Rectangle 25"/>
          <p:cNvSpPr>
            <a:spLocks noChangeArrowheads="1"/>
          </p:cNvSpPr>
          <p:nvPr/>
        </p:nvSpPr>
        <p:spPr bwMode="auto">
          <a:xfrm>
            <a:off x="4020560" y="5028969"/>
            <a:ext cx="2249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最大功率转换效率</a:t>
            </a:r>
          </a:p>
        </p:txBody>
      </p:sp>
      <p:sp>
        <p:nvSpPr>
          <p:cNvPr id="7184" name="Rectangle 27"/>
          <p:cNvSpPr>
            <a:spLocks noChangeArrowheads="1"/>
          </p:cNvSpPr>
          <p:nvPr/>
        </p:nvSpPr>
        <p:spPr bwMode="auto">
          <a:xfrm>
            <a:off x="2270435" y="5765372"/>
            <a:ext cx="2249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此时最大管压降为</a:t>
            </a:r>
          </a:p>
        </p:txBody>
      </p:sp>
      <p:sp>
        <p:nvSpPr>
          <p:cNvPr id="7185" name="Rectangle 28"/>
          <p:cNvSpPr>
            <a:spLocks noChangeArrowheads="1"/>
          </p:cNvSpPr>
          <p:nvPr/>
        </p:nvSpPr>
        <p:spPr bwMode="auto">
          <a:xfrm>
            <a:off x="5726974" y="5749448"/>
            <a:ext cx="25074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，集电极最大电流为</a:t>
            </a: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17459"/>
              </p:ext>
            </p:extLst>
          </p:nvPr>
        </p:nvGraphicFramePr>
        <p:xfrm>
          <a:off x="6308585" y="4840026"/>
          <a:ext cx="21717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4" name="Equation" r:id="rId3" imgW="1206360" imgH="431640" progId="Equation.DSMT4">
                  <p:embed/>
                </p:oleObj>
              </mc:Choice>
              <mc:Fallback>
                <p:oleObj name="Equation" r:id="rId3" imgW="1206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8585" y="4840026"/>
                        <a:ext cx="2171700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154451"/>
              </p:ext>
            </p:extLst>
          </p:nvPr>
        </p:nvGraphicFramePr>
        <p:xfrm>
          <a:off x="4492267" y="5738256"/>
          <a:ext cx="121126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5" name="Equation" r:id="rId5" imgW="672840" imgH="228600" progId="Equation.DSMT4">
                  <p:embed/>
                </p:oleObj>
              </mc:Choice>
              <mc:Fallback>
                <p:oleObj name="Equation" r:id="rId5" imgW="672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267" y="5738256"/>
                        <a:ext cx="1211262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760285"/>
              </p:ext>
            </p:extLst>
          </p:nvPr>
        </p:nvGraphicFramePr>
        <p:xfrm>
          <a:off x="8207170" y="5738255"/>
          <a:ext cx="84613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6" name="Equation" r:id="rId7" imgW="469800" imgH="228600" progId="Equation.DSMT4">
                  <p:embed/>
                </p:oleObj>
              </mc:Choice>
              <mc:Fallback>
                <p:oleObj name="Equation" r:id="rId7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170" y="5738255"/>
                        <a:ext cx="84613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297" y="518922"/>
            <a:ext cx="3057525" cy="4086225"/>
          </a:xfrm>
          <a:prstGeom prst="rect">
            <a:avLst/>
          </a:prstGeom>
        </p:spPr>
      </p:pic>
      <p:pic>
        <p:nvPicPr>
          <p:cNvPr id="17" name="Picture 18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704" y="480091"/>
            <a:ext cx="2216459" cy="868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25"/>
          <p:cNvSpPr>
            <a:spLocks noChangeArrowheads="1"/>
          </p:cNvSpPr>
          <p:nvPr/>
        </p:nvSpPr>
        <p:spPr bwMode="auto">
          <a:xfrm>
            <a:off x="4020560" y="238990"/>
            <a:ext cx="476077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300000"/>
              </a:lnSpc>
            </a:pPr>
            <a:r>
              <a:rPr lang="zh-CN" altLang="en-US" sz="2000" dirty="0" smtClean="0"/>
              <a:t>因要求                                        ，</a:t>
            </a:r>
            <a:r>
              <a:rPr lang="zh-CN" altLang="en-US" sz="2000" dirty="0"/>
              <a:t>忽略饱和</a:t>
            </a:r>
            <a:r>
              <a:rPr lang="zh-CN" altLang="en-US" sz="2000" dirty="0" smtClean="0"/>
              <a:t>压降，则</a:t>
            </a:r>
            <a:endParaRPr lang="zh-CN" altLang="en-US" sz="2000" dirty="0"/>
          </a:p>
          <a:p>
            <a:pPr algn="l" eaLnBrk="1" hangingPunct="1"/>
            <a:endParaRPr lang="zh-CN" altLang="en-US" sz="2000" dirty="0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721131"/>
              </p:ext>
            </p:extLst>
          </p:nvPr>
        </p:nvGraphicFramePr>
        <p:xfrm>
          <a:off x="5486549" y="1463559"/>
          <a:ext cx="91440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7" name="Equation" r:id="rId11" imgW="507960" imgH="431640" progId="Equation.DSMT4">
                  <p:embed/>
                </p:oleObj>
              </mc:Choice>
              <mc:Fallback>
                <p:oleObj name="Equation" r:id="rId11" imgW="507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549" y="1463559"/>
                        <a:ext cx="914400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4127063" y="2640692"/>
            <a:ext cx="379783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 smtClean="0"/>
              <a:t>若要获得</a:t>
            </a:r>
            <a:r>
              <a:rPr lang="zh-CN" altLang="en-US" sz="2000" dirty="0"/>
              <a:t>最大功率</a:t>
            </a:r>
            <a:r>
              <a:rPr lang="zh-CN" altLang="en-US" sz="2000" dirty="0" smtClean="0"/>
              <a:t>转换效率，取</a:t>
            </a:r>
            <a:endParaRPr lang="zh-CN" altLang="en-US" sz="2000" dirty="0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538359"/>
              </p:ext>
            </p:extLst>
          </p:nvPr>
        </p:nvGraphicFramePr>
        <p:xfrm>
          <a:off x="7866938" y="2485759"/>
          <a:ext cx="91440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8" name="Equation" r:id="rId13" imgW="507960" imgH="431640" progId="Equation.DSMT4">
                  <p:embed/>
                </p:oleObj>
              </mc:Choice>
              <mc:Fallback>
                <p:oleObj name="Equation" r:id="rId13" imgW="507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6938" y="2485759"/>
                        <a:ext cx="914400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4178276" y="3395109"/>
            <a:ext cx="36954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 smtClean="0"/>
              <a:t>则</a:t>
            </a:r>
            <a:r>
              <a:rPr lang="zh-CN" altLang="en-US" sz="2000" dirty="0"/>
              <a:t>电源提供</a:t>
            </a:r>
            <a:r>
              <a:rPr lang="zh-CN" altLang="en-US" sz="2000" dirty="0" smtClean="0"/>
              <a:t>的最小平均功率为</a:t>
            </a:r>
            <a:endParaRPr lang="zh-CN" altLang="en-US" sz="2000" dirty="0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475499"/>
              </p:ext>
            </p:extLst>
          </p:nvPr>
        </p:nvGraphicFramePr>
        <p:xfrm>
          <a:off x="4954588" y="3954463"/>
          <a:ext cx="2627312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9" name="Equation" r:id="rId15" imgW="1460160" imgH="457200" progId="Equation.DSMT4">
                  <p:embed/>
                </p:oleObj>
              </mc:Choice>
              <mc:Fallback>
                <p:oleObj name="Equation" r:id="rId15" imgW="1460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4588" y="3954463"/>
                        <a:ext cx="2627312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98693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2" grpId="0"/>
      <p:bldP spid="7184" grpId="0"/>
      <p:bldP spid="7185" grpId="0"/>
      <p:bldP spid="18" grpId="0"/>
      <p:bldP spid="26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19"/>
          <p:cNvSpPr txBox="1">
            <a:spLocks noChangeArrowheads="1"/>
          </p:cNvSpPr>
          <p:nvPr/>
        </p:nvSpPr>
        <p:spPr bwMode="auto">
          <a:xfrm>
            <a:off x="3609975" y="527050"/>
            <a:ext cx="50117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 smtClean="0"/>
              <a:t>晶体管 </a:t>
            </a:r>
            <a:r>
              <a:rPr lang="en-US" altLang="zh-CN" sz="2000" i="1" dirty="0" smtClean="0"/>
              <a:t>Q</a:t>
            </a:r>
            <a:r>
              <a:rPr lang="en-US" altLang="zh-CN" sz="2000" baseline="-25000" dirty="0" smtClean="0"/>
              <a:t>1 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瞬时功耗</a:t>
            </a:r>
          </a:p>
        </p:txBody>
      </p:sp>
      <p:graphicFrame>
        <p:nvGraphicFramePr>
          <p:cNvPr id="819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706956"/>
              </p:ext>
            </p:extLst>
          </p:nvPr>
        </p:nvGraphicFramePr>
        <p:xfrm>
          <a:off x="5474117" y="1020762"/>
          <a:ext cx="1439008" cy="442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9" name="Equation" r:id="rId3" imgW="660113" imgH="203112" progId="Equation.DSMT4">
                  <p:embed/>
                </p:oleObj>
              </mc:Choice>
              <mc:Fallback>
                <p:oleObj name="Equation" r:id="rId3" imgW="660113" imgH="203112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4117" y="1020762"/>
                        <a:ext cx="1439008" cy="4427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21"/>
          <p:cNvSpPr txBox="1">
            <a:spLocks noChangeArrowheads="1"/>
          </p:cNvSpPr>
          <p:nvPr/>
        </p:nvSpPr>
        <p:spPr bwMode="auto">
          <a:xfrm>
            <a:off x="1000125" y="5408672"/>
            <a:ext cx="8493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取</a:t>
            </a:r>
          </a:p>
        </p:txBody>
      </p:sp>
      <p:graphicFrame>
        <p:nvGraphicFramePr>
          <p:cNvPr id="819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633325"/>
              </p:ext>
            </p:extLst>
          </p:nvPr>
        </p:nvGraphicFramePr>
        <p:xfrm>
          <a:off x="1424781" y="5313452"/>
          <a:ext cx="82296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80" name="Equation" r:id="rId5" imgW="457200" imgH="381000" progId="Equation.DSMT4">
                  <p:embed/>
                </p:oleObj>
              </mc:Choice>
              <mc:Fallback>
                <p:oleObj name="Equation" r:id="rId5" imgW="457200" imgH="3810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781" y="5313452"/>
                        <a:ext cx="82296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4951" name="Text Box 23"/>
          <p:cNvSpPr txBox="1">
            <a:spLocks noChangeArrowheads="1"/>
          </p:cNvSpPr>
          <p:nvPr/>
        </p:nvSpPr>
        <p:spPr bwMode="auto">
          <a:xfrm>
            <a:off x="3562350" y="1717675"/>
            <a:ext cx="50117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000" dirty="0"/>
              <a:t>1</a:t>
            </a:r>
            <a:r>
              <a:rPr lang="zh-CN" altLang="en-US" sz="2000" dirty="0"/>
              <a:t>、</a:t>
            </a:r>
            <a:r>
              <a:rPr lang="zh-CN" altLang="en-US" sz="2000" dirty="0" smtClean="0"/>
              <a:t>当 </a:t>
            </a:r>
            <a:r>
              <a:rPr lang="en-US" altLang="zh-CN" sz="2000" i="1" dirty="0" err="1" smtClean="0"/>
              <a:t>v</a:t>
            </a:r>
            <a:r>
              <a:rPr lang="en-US" altLang="zh-CN" sz="2000" i="1" baseline="-25000" dirty="0" err="1" smtClean="0"/>
              <a:t>o</a:t>
            </a:r>
            <a:r>
              <a:rPr lang="en-US" altLang="zh-CN" sz="2000" i="1" baseline="-25000" dirty="0" smtClean="0"/>
              <a:t> </a:t>
            </a:r>
            <a:r>
              <a:rPr lang="en-US" altLang="zh-CN" sz="2000" dirty="0" smtClean="0"/>
              <a:t>= 0 </a:t>
            </a:r>
            <a:r>
              <a:rPr lang="zh-CN" altLang="en-US" sz="2000" dirty="0" smtClean="0"/>
              <a:t>时</a:t>
            </a:r>
            <a:r>
              <a:rPr lang="zh-CN" altLang="en-US" sz="2000" dirty="0"/>
              <a:t>， </a:t>
            </a:r>
            <a:r>
              <a:rPr lang="en-US" altLang="zh-CN" sz="2000" i="1" dirty="0" smtClean="0"/>
              <a:t>Q</a:t>
            </a:r>
            <a:r>
              <a:rPr lang="en-US" altLang="zh-CN" sz="2000" baseline="-25000" dirty="0" smtClean="0"/>
              <a:t>1 </a:t>
            </a:r>
            <a:r>
              <a:rPr lang="zh-CN" altLang="en-US" sz="2000" dirty="0" smtClean="0"/>
              <a:t>承受</a:t>
            </a:r>
            <a:r>
              <a:rPr lang="zh-CN" altLang="en-US" sz="2000" dirty="0"/>
              <a:t>最大功耗为</a:t>
            </a:r>
          </a:p>
        </p:txBody>
      </p:sp>
      <p:graphicFrame>
        <p:nvGraphicFramePr>
          <p:cNvPr id="76495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658168"/>
              </p:ext>
            </p:extLst>
          </p:nvPr>
        </p:nvGraphicFramePr>
        <p:xfrm>
          <a:off x="7712257" y="1728441"/>
          <a:ext cx="598432" cy="41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81" name="Equation" r:id="rId7" imgW="291973" imgH="203112" progId="Equation.DSMT4">
                  <p:embed/>
                </p:oleObj>
              </mc:Choice>
              <mc:Fallback>
                <p:oleObj name="Equation" r:id="rId7" imgW="291973" imgH="203112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2257" y="1728441"/>
                        <a:ext cx="598432" cy="416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4953" name="Text Box 25"/>
          <p:cNvSpPr txBox="1">
            <a:spLocks noChangeArrowheads="1"/>
          </p:cNvSpPr>
          <p:nvPr/>
        </p:nvSpPr>
        <p:spPr bwMode="auto">
          <a:xfrm>
            <a:off x="3990975" y="2056500"/>
            <a:ext cx="470693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zh-CN" altLang="en-US" sz="2000" dirty="0"/>
              <a:t>这种情况可能持续很长时间，因此，</a:t>
            </a:r>
            <a:r>
              <a:rPr lang="zh-CN" altLang="en-US" sz="2000" dirty="0" smtClean="0"/>
              <a:t>晶体管 </a:t>
            </a:r>
            <a:r>
              <a:rPr lang="en-US" altLang="zh-CN" sz="2000" i="1" dirty="0" smtClean="0"/>
              <a:t>Q</a:t>
            </a:r>
            <a:r>
              <a:rPr lang="en-US" altLang="zh-CN" sz="2000" baseline="-25000" dirty="0" smtClean="0"/>
              <a:t>1 </a:t>
            </a:r>
            <a:r>
              <a:rPr lang="zh-CN" altLang="en-US" sz="2000" dirty="0" smtClean="0"/>
              <a:t>必须</a:t>
            </a:r>
            <a:r>
              <a:rPr lang="zh-CN" altLang="en-US" sz="2000" dirty="0"/>
              <a:t>能承受该功率。</a:t>
            </a:r>
          </a:p>
        </p:txBody>
      </p:sp>
      <p:sp>
        <p:nvSpPr>
          <p:cNvPr id="764954" name="Text Box 26"/>
          <p:cNvSpPr txBox="1">
            <a:spLocks noChangeArrowheads="1"/>
          </p:cNvSpPr>
          <p:nvPr/>
        </p:nvSpPr>
        <p:spPr bwMode="auto">
          <a:xfrm>
            <a:off x="3533775" y="3222625"/>
            <a:ext cx="50117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000" dirty="0"/>
              <a:t>2</a:t>
            </a:r>
            <a:r>
              <a:rPr lang="zh-CN" altLang="en-US" sz="2000" dirty="0"/>
              <a:t>、考虑负载开路的极端情况</a:t>
            </a:r>
          </a:p>
        </p:txBody>
      </p:sp>
      <p:sp>
        <p:nvSpPr>
          <p:cNvPr id="764955" name="Text Box 27"/>
          <p:cNvSpPr txBox="1">
            <a:spLocks noChangeArrowheads="1"/>
          </p:cNvSpPr>
          <p:nvPr/>
        </p:nvSpPr>
        <p:spPr bwMode="auto">
          <a:xfrm>
            <a:off x="4143375" y="3784600"/>
            <a:ext cx="45450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最大功耗出现在</a:t>
            </a:r>
          </a:p>
        </p:txBody>
      </p:sp>
      <p:graphicFrame>
        <p:nvGraphicFramePr>
          <p:cNvPr id="76495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620847"/>
              </p:ext>
            </p:extLst>
          </p:nvPr>
        </p:nvGraphicFramePr>
        <p:xfrm>
          <a:off x="6055675" y="3774564"/>
          <a:ext cx="561403" cy="408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82" name="Equation" r:id="rId9" imgW="279279" imgH="203112" progId="Equation.DSMT4">
                  <p:embed/>
                </p:oleObj>
              </mc:Choice>
              <mc:Fallback>
                <p:oleObj name="Equation" r:id="rId9" imgW="279279" imgH="20311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5675" y="3774564"/>
                        <a:ext cx="561403" cy="4082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495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800074"/>
              </p:ext>
            </p:extLst>
          </p:nvPr>
        </p:nvGraphicFramePr>
        <p:xfrm>
          <a:off x="6562412" y="3774584"/>
          <a:ext cx="612175" cy="408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83" name="Equation" r:id="rId11" imgW="304536" imgH="203024" progId="Equation.DSMT4">
                  <p:embed/>
                </p:oleObj>
              </mc:Choice>
              <mc:Fallback>
                <p:oleObj name="Equation" r:id="rId11" imgW="304536" imgH="203024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2412" y="3774584"/>
                        <a:ext cx="612175" cy="408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4958" name="Rectangle 30"/>
          <p:cNvSpPr>
            <a:spLocks noChangeArrowheads="1"/>
          </p:cNvSpPr>
          <p:nvPr/>
        </p:nvSpPr>
        <p:spPr bwMode="auto">
          <a:xfrm>
            <a:off x="4125778" y="4238625"/>
            <a:ext cx="29498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dirty="0" smtClean="0"/>
              <a:t>此时 </a:t>
            </a:r>
            <a:r>
              <a:rPr lang="en-US" altLang="zh-CN" sz="2000" i="1" dirty="0" smtClean="0"/>
              <a:t>Q</a:t>
            </a:r>
            <a:r>
              <a:rPr lang="en-US" altLang="zh-CN" sz="2000" baseline="-25000" dirty="0" smtClean="0"/>
              <a:t>1 </a:t>
            </a:r>
            <a:r>
              <a:rPr lang="zh-CN" altLang="en-US" sz="2000" dirty="0" smtClean="0"/>
              <a:t>承受</a:t>
            </a:r>
            <a:r>
              <a:rPr lang="zh-CN" altLang="en-US" sz="2000" dirty="0"/>
              <a:t>最大功耗</a:t>
            </a:r>
            <a:r>
              <a:rPr lang="zh-CN" altLang="en-US" sz="2000" dirty="0" smtClean="0"/>
              <a:t>为 </a:t>
            </a:r>
            <a:endParaRPr lang="zh-CN" altLang="en-US" sz="2000" dirty="0"/>
          </a:p>
        </p:txBody>
      </p:sp>
      <p:graphicFrame>
        <p:nvGraphicFramePr>
          <p:cNvPr id="76495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054795"/>
              </p:ext>
            </p:extLst>
          </p:nvPr>
        </p:nvGraphicFramePr>
        <p:xfrm>
          <a:off x="6952733" y="4256828"/>
          <a:ext cx="714204" cy="408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84" name="Equation" r:id="rId13" imgW="355292" imgH="203024" progId="Equation.DSMT4">
                  <p:embed/>
                </p:oleObj>
              </mc:Choice>
              <mc:Fallback>
                <p:oleObj name="Equation" r:id="rId13" imgW="355292" imgH="203024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2733" y="4256828"/>
                        <a:ext cx="714204" cy="408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4960" name="Text Box 32"/>
          <p:cNvSpPr txBox="1">
            <a:spLocks noChangeArrowheads="1"/>
          </p:cNvSpPr>
          <p:nvPr/>
        </p:nvSpPr>
        <p:spPr bwMode="auto">
          <a:xfrm>
            <a:off x="4152900" y="4610559"/>
            <a:ext cx="470693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zh-CN" altLang="en-US" sz="2000" dirty="0"/>
              <a:t>这种情况一般不会持续很长时间，设计时不必受此约束。其平均功耗为</a:t>
            </a:r>
          </a:p>
        </p:txBody>
      </p:sp>
      <p:sp>
        <p:nvSpPr>
          <p:cNvPr id="764962" name="Text Box 34"/>
          <p:cNvSpPr txBox="1">
            <a:spLocks noChangeArrowheads="1"/>
          </p:cNvSpPr>
          <p:nvPr/>
        </p:nvSpPr>
        <p:spPr bwMode="auto">
          <a:xfrm>
            <a:off x="3609975" y="5740714"/>
            <a:ext cx="50117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000" dirty="0"/>
              <a:t>3</a:t>
            </a:r>
            <a:r>
              <a:rPr lang="zh-CN" altLang="en-US" sz="2000" dirty="0"/>
              <a:t>、考虑负载短路的极端情况</a:t>
            </a:r>
          </a:p>
        </p:txBody>
      </p:sp>
      <p:sp>
        <p:nvSpPr>
          <p:cNvPr id="764963" name="Text Box 35"/>
          <p:cNvSpPr txBox="1">
            <a:spLocks noChangeArrowheads="1"/>
          </p:cNvSpPr>
          <p:nvPr/>
        </p:nvSpPr>
        <p:spPr bwMode="auto">
          <a:xfrm>
            <a:off x="4171950" y="6147114"/>
            <a:ext cx="47069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可能会导致</a:t>
            </a:r>
            <a:r>
              <a:rPr lang="zh-CN" altLang="en-US" sz="2000" dirty="0" smtClean="0"/>
              <a:t>晶体管 </a:t>
            </a:r>
            <a:r>
              <a:rPr lang="en-US" altLang="zh-CN" sz="2000" i="1" dirty="0" smtClean="0"/>
              <a:t>Q</a:t>
            </a:r>
            <a:r>
              <a:rPr lang="en-US" altLang="zh-CN" sz="2000" baseline="-25000" dirty="0" smtClean="0"/>
              <a:t>1 </a:t>
            </a:r>
            <a:r>
              <a:rPr lang="zh-CN" altLang="en-US" sz="2000" dirty="0" smtClean="0"/>
              <a:t>烧毁</a:t>
            </a:r>
            <a:r>
              <a:rPr lang="zh-CN" altLang="en-US" sz="2000" dirty="0"/>
              <a:t>。</a:t>
            </a:r>
          </a:p>
        </p:txBody>
      </p:sp>
      <p:graphicFrame>
        <p:nvGraphicFramePr>
          <p:cNvPr id="764964" name="Object 36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423795475"/>
              </p:ext>
            </p:extLst>
          </p:nvPr>
        </p:nvGraphicFramePr>
        <p:xfrm>
          <a:off x="7839871" y="5180846"/>
          <a:ext cx="580059" cy="403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85" name="Equation" r:id="rId15" imgW="291973" imgH="203112" progId="Equation.DSMT4">
                  <p:embed/>
                </p:oleObj>
              </mc:Choice>
              <mc:Fallback>
                <p:oleObj name="Equation" r:id="rId15" imgW="291973" imgH="203112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9871" y="5180846"/>
                        <a:ext cx="580059" cy="403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5436" y="727105"/>
            <a:ext cx="3057525" cy="40862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6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6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649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6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6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6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64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64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64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764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6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6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764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  <p:bldP spid="764951" grpId="0"/>
      <p:bldP spid="764954" grpId="0"/>
      <p:bldP spid="764955" grpId="0"/>
      <p:bldP spid="7649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4542430" y="1250950"/>
            <a:ext cx="36099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考虑</a:t>
            </a:r>
            <a:r>
              <a:rPr lang="zh-CN" altLang="en-US" sz="2000" dirty="0" smtClean="0"/>
              <a:t>晶体管 </a:t>
            </a:r>
            <a:r>
              <a:rPr lang="en-US" altLang="zh-CN" sz="2000" i="1" dirty="0" smtClean="0"/>
              <a:t>Q</a:t>
            </a:r>
            <a:r>
              <a:rPr lang="en-US" altLang="zh-CN" sz="2000" baseline="-25000" dirty="0" smtClean="0"/>
              <a:t>2 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功耗</a:t>
            </a:r>
          </a:p>
        </p:txBody>
      </p:sp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1280806" y="5220186"/>
            <a:ext cx="8493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/>
              <a:t>取</a:t>
            </a:r>
          </a:p>
        </p:txBody>
      </p:sp>
      <p:graphicFrame>
        <p:nvGraphicFramePr>
          <p:cNvPr id="922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304734"/>
              </p:ext>
            </p:extLst>
          </p:nvPr>
        </p:nvGraphicFramePr>
        <p:xfrm>
          <a:off x="1697525" y="5124966"/>
          <a:ext cx="82296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4" name="Equation" r:id="rId3" imgW="457200" imgH="381000" progId="Equation.DSMT4">
                  <p:embed/>
                </p:oleObj>
              </mc:Choice>
              <mc:Fallback>
                <p:oleObj name="Equation" r:id="rId3" imgW="457200" imgH="381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525" y="5124966"/>
                        <a:ext cx="82296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5959" name="Text Box 7"/>
          <p:cNvSpPr txBox="1">
            <a:spLocks noChangeArrowheads="1"/>
          </p:cNvSpPr>
          <p:nvPr/>
        </p:nvSpPr>
        <p:spPr bwMode="auto">
          <a:xfrm>
            <a:off x="5047255" y="1946275"/>
            <a:ext cx="40401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000" i="1" dirty="0" smtClean="0"/>
              <a:t>Q</a:t>
            </a:r>
            <a:r>
              <a:rPr lang="en-US" altLang="zh-CN" sz="2000" baseline="-25000" dirty="0" smtClean="0"/>
              <a:t>2 </a:t>
            </a:r>
            <a:r>
              <a:rPr lang="zh-CN" altLang="en-US" sz="2000" dirty="0" smtClean="0"/>
              <a:t>导</a:t>
            </a:r>
            <a:r>
              <a:rPr lang="zh-CN" altLang="en-US" sz="2000" dirty="0"/>
              <a:t>通的电流</a:t>
            </a:r>
            <a:r>
              <a:rPr lang="zh-CN" altLang="en-US" sz="2000" dirty="0" smtClean="0"/>
              <a:t>为 </a:t>
            </a:r>
            <a:r>
              <a:rPr lang="en-US" altLang="zh-CN" sz="2000" i="1" dirty="0" smtClean="0"/>
              <a:t>I</a:t>
            </a:r>
            <a:endParaRPr lang="en-US" altLang="zh-CN" sz="2000" i="1" dirty="0"/>
          </a:p>
        </p:txBody>
      </p:sp>
      <p:sp>
        <p:nvSpPr>
          <p:cNvPr id="765963" name="Text Box 11"/>
          <p:cNvSpPr txBox="1">
            <a:spLocks noChangeArrowheads="1"/>
          </p:cNvSpPr>
          <p:nvPr/>
        </p:nvSpPr>
        <p:spPr bwMode="auto">
          <a:xfrm>
            <a:off x="5028205" y="2479675"/>
            <a:ext cx="35262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/>
              <a:t>最大功耗出现在</a:t>
            </a:r>
          </a:p>
        </p:txBody>
      </p:sp>
      <p:graphicFrame>
        <p:nvGraphicFramePr>
          <p:cNvPr id="7659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989489"/>
              </p:ext>
            </p:extLst>
          </p:nvPr>
        </p:nvGraphicFramePr>
        <p:xfrm>
          <a:off x="7061792" y="2449512"/>
          <a:ext cx="724873" cy="399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5" name="Equation" r:id="rId5" imgW="368140" imgH="203112" progId="Equation.DSMT4">
                  <p:embed/>
                </p:oleObj>
              </mc:Choice>
              <mc:Fallback>
                <p:oleObj name="Equation" r:id="rId5" imgW="368140" imgH="203112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792" y="2449512"/>
                        <a:ext cx="724873" cy="399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59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49449"/>
              </p:ext>
            </p:extLst>
          </p:nvPr>
        </p:nvGraphicFramePr>
        <p:xfrm>
          <a:off x="7756736" y="2458828"/>
          <a:ext cx="574899" cy="399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" name="Equation" r:id="rId7" imgW="291973" imgH="203112" progId="Equation.DSMT4">
                  <p:embed/>
                </p:oleObj>
              </mc:Choice>
              <mc:Fallback>
                <p:oleObj name="Equation" r:id="rId7" imgW="291973" imgH="20311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6736" y="2458828"/>
                        <a:ext cx="574899" cy="399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597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0744465"/>
              </p:ext>
            </p:extLst>
          </p:nvPr>
        </p:nvGraphicFramePr>
        <p:xfrm>
          <a:off x="6018804" y="3021013"/>
          <a:ext cx="1625423" cy="400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7" name="Equation" r:id="rId9" imgW="825500" imgH="203200" progId="Equation.DSMT4">
                  <p:embed/>
                </p:oleObj>
              </mc:Choice>
              <mc:Fallback>
                <p:oleObj name="Equation" r:id="rId9" imgW="825500" imgH="2032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804" y="3021013"/>
                        <a:ext cx="1625423" cy="400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5972" name="Text Box 20"/>
          <p:cNvSpPr txBox="1">
            <a:spLocks noChangeArrowheads="1"/>
          </p:cNvSpPr>
          <p:nvPr/>
        </p:nvSpPr>
        <p:spPr bwMode="auto">
          <a:xfrm>
            <a:off x="4847230" y="3679825"/>
            <a:ext cx="424021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zh-CN" altLang="en-US" sz="2000" dirty="0"/>
              <a:t>这种情况一般不会持续很长时间，设计时不必受此约束。</a:t>
            </a:r>
          </a:p>
          <a:p>
            <a:pPr algn="l" eaLnBrk="1" hangingPunct="1">
              <a:lnSpc>
                <a:spcPct val="150000"/>
              </a:lnSpc>
            </a:pPr>
            <a:r>
              <a:rPr lang="zh-CN" altLang="en-US" sz="2000" dirty="0"/>
              <a:t>其平均功耗为</a:t>
            </a:r>
          </a:p>
        </p:txBody>
      </p:sp>
      <p:graphicFrame>
        <p:nvGraphicFramePr>
          <p:cNvPr id="76597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850442"/>
              </p:ext>
            </p:extLst>
          </p:nvPr>
        </p:nvGraphicFramePr>
        <p:xfrm>
          <a:off x="6519913" y="4702974"/>
          <a:ext cx="562834" cy="39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8" name="Equation" r:id="rId11" imgW="291973" imgH="203112" progId="Equation.DSMT4">
                  <p:embed/>
                </p:oleObj>
              </mc:Choice>
              <mc:Fallback>
                <p:oleObj name="Equation" r:id="rId11" imgW="291973" imgH="20311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9913" y="4702974"/>
                        <a:ext cx="562834" cy="39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2911" y="772002"/>
            <a:ext cx="3057525" cy="40862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6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6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6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65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65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65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6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  <p:bldP spid="765959" grpId="0"/>
      <p:bldP spid="76596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AutoShape 13"/>
          <p:cNvSpPr>
            <a:spLocks noChangeArrowheads="1"/>
          </p:cNvSpPr>
          <p:nvPr/>
        </p:nvSpPr>
        <p:spPr bwMode="auto">
          <a:xfrm rot="-2674790">
            <a:off x="4148138" y="3060700"/>
            <a:ext cx="928687" cy="174625"/>
          </a:xfrm>
          <a:prstGeom prst="rightArrow">
            <a:avLst>
              <a:gd name="adj1" fmla="val 50000"/>
              <a:gd name="adj2" fmla="val 132954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9" name="AutoShape 14"/>
          <p:cNvSpPr>
            <a:spLocks noChangeArrowheads="1"/>
          </p:cNvSpPr>
          <p:nvPr/>
        </p:nvSpPr>
        <p:spPr bwMode="auto">
          <a:xfrm rot="2674790" flipV="1">
            <a:off x="4124325" y="4125913"/>
            <a:ext cx="928688" cy="174625"/>
          </a:xfrm>
          <a:prstGeom prst="rightArrow">
            <a:avLst>
              <a:gd name="adj1" fmla="val 50000"/>
              <a:gd name="adj2" fmla="val 132955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50" name="Rectangle 15"/>
          <p:cNvSpPr>
            <a:spLocks noChangeArrowheads="1"/>
          </p:cNvSpPr>
          <p:nvPr/>
        </p:nvSpPr>
        <p:spPr bwMode="auto">
          <a:xfrm rot="19159427">
            <a:off x="3797390" y="2659685"/>
            <a:ext cx="10230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正半周 </a:t>
            </a:r>
          </a:p>
        </p:txBody>
      </p:sp>
      <p:sp>
        <p:nvSpPr>
          <p:cNvPr id="10251" name="Rectangle 16"/>
          <p:cNvSpPr>
            <a:spLocks noChangeArrowheads="1"/>
          </p:cNvSpPr>
          <p:nvPr/>
        </p:nvSpPr>
        <p:spPr bwMode="auto">
          <a:xfrm rot="2666656">
            <a:off x="3797390" y="4324320"/>
            <a:ext cx="10230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负半周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285750"/>
            <a:ext cx="3133725" cy="31813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0" y="3702050"/>
            <a:ext cx="3048000" cy="30575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32" y="1876425"/>
            <a:ext cx="3513737" cy="3618849"/>
          </a:xfrm>
          <a:prstGeom prst="rect">
            <a:avLst/>
          </a:prstGeom>
        </p:spPr>
      </p:pic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711200" y="452438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dirty="0" smtClean="0">
                <a:solidFill>
                  <a:srgbClr val="990033"/>
                </a:solidFill>
              </a:rPr>
              <a:t>12.2.2 B</a:t>
            </a:r>
            <a:r>
              <a:rPr lang="zh-CN" altLang="en-US" dirty="0" smtClean="0">
                <a:solidFill>
                  <a:srgbClr val="990033"/>
                </a:solidFill>
              </a:rPr>
              <a:t>类功率放大器</a:t>
            </a:r>
            <a:endParaRPr lang="zh-CN" altLang="en-US" dirty="0">
              <a:solidFill>
                <a:srgbClr val="A50021"/>
              </a:solidFill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711200" y="5793411"/>
            <a:ext cx="44205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dirty="0" smtClean="0"/>
              <a:t>电路工作在</a:t>
            </a:r>
            <a:r>
              <a:rPr lang="zh-CN" altLang="en-US" sz="2000" u="sng" dirty="0" smtClean="0">
                <a:solidFill>
                  <a:srgbClr val="FF0000"/>
                </a:solidFill>
              </a:rPr>
              <a:t>推挽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push-pull</a:t>
            </a:r>
            <a:r>
              <a:rPr lang="zh-CN" altLang="en-US" sz="2000" dirty="0" smtClean="0"/>
              <a:t>）模式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8282151" y="452438"/>
            <a:ext cx="442749" cy="400110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推</a:t>
            </a:r>
          </a:p>
        </p:txBody>
      </p:sp>
      <p:sp>
        <p:nvSpPr>
          <p:cNvPr id="13" name="矩形 12"/>
          <p:cNvSpPr/>
          <p:nvPr/>
        </p:nvSpPr>
        <p:spPr>
          <a:xfrm>
            <a:off x="8196425" y="3862388"/>
            <a:ext cx="442750" cy="400110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挽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8" grpId="0" animBg="1"/>
      <p:bldP spid="10249" grpId="0" animBg="1"/>
      <p:bldP spid="10250" grpId="0"/>
      <p:bldP spid="10251" grpId="0"/>
      <p:bldP spid="10" grpId="0"/>
      <p:bldP spid="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392"/>
            <a:ext cx="3618528" cy="3726775"/>
          </a:xfrm>
          <a:prstGeom prst="rect">
            <a:avLst/>
          </a:prstGeom>
        </p:spPr>
      </p:pic>
      <p:sp>
        <p:nvSpPr>
          <p:cNvPr id="11270" name="Rectangle 22"/>
          <p:cNvSpPr>
            <a:spLocks noChangeArrowheads="1"/>
          </p:cNvSpPr>
          <p:nvPr/>
        </p:nvSpPr>
        <p:spPr bwMode="auto">
          <a:xfrm>
            <a:off x="3265960" y="542398"/>
            <a:ext cx="38090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理想情况下，不考虑饱和压降</a:t>
            </a:r>
          </a:p>
        </p:txBody>
      </p:sp>
      <p:graphicFrame>
        <p:nvGraphicFramePr>
          <p:cNvPr id="11272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421439"/>
              </p:ext>
            </p:extLst>
          </p:nvPr>
        </p:nvGraphicFramePr>
        <p:xfrm>
          <a:off x="4424363" y="4508500"/>
          <a:ext cx="24130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8" name="Equation" r:id="rId4" imgW="1130040" imgH="406080" progId="Equation.DSMT4">
                  <p:embed/>
                </p:oleObj>
              </mc:Choice>
              <mc:Fallback>
                <p:oleObj name="Equation" r:id="rId4" imgW="1130040" imgH="40608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3" y="4508500"/>
                        <a:ext cx="241300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951451"/>
              </p:ext>
            </p:extLst>
          </p:nvPr>
        </p:nvGraphicFramePr>
        <p:xfrm>
          <a:off x="3905250" y="2011363"/>
          <a:ext cx="1233488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9" name="Equation" r:id="rId6" imgW="685800" imgH="469800" progId="Equation.DSMT4">
                  <p:embed/>
                </p:oleObj>
              </mc:Choice>
              <mc:Fallback>
                <p:oleObj name="Equation" r:id="rId6" imgW="685800" imgH="469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2011363"/>
                        <a:ext cx="1233488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右箭头 2"/>
          <p:cNvSpPr/>
          <p:nvPr/>
        </p:nvSpPr>
        <p:spPr bwMode="auto">
          <a:xfrm>
            <a:off x="5314672" y="2319939"/>
            <a:ext cx="1290232" cy="203251"/>
          </a:xfrm>
          <a:prstGeom prst="rightArrow">
            <a:avLst/>
          </a:prstGeom>
          <a:solidFill>
            <a:srgbClr val="99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652154"/>
              </p:ext>
            </p:extLst>
          </p:nvPr>
        </p:nvGraphicFramePr>
        <p:xfrm>
          <a:off x="3141663" y="3181350"/>
          <a:ext cx="5961062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0" name="Equation" r:id="rId8" imgW="2806560" imgH="419040" progId="Equation.DSMT4">
                  <p:embed/>
                </p:oleObj>
              </mc:Choice>
              <mc:Fallback>
                <p:oleObj name="Equation" r:id="rId8" imgW="2806560" imgH="41904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663" y="3181350"/>
                        <a:ext cx="5961062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501709"/>
              </p:ext>
            </p:extLst>
          </p:nvPr>
        </p:nvGraphicFramePr>
        <p:xfrm>
          <a:off x="3309938" y="5443538"/>
          <a:ext cx="186055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1" name="Equation" r:id="rId10" imgW="876240" imgH="431640" progId="Equation.DSMT4">
                  <p:embed/>
                </p:oleObj>
              </mc:Choice>
              <mc:Fallback>
                <p:oleObj name="Equation" r:id="rId10" imgW="876240" imgH="43164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8" y="5443538"/>
                        <a:ext cx="186055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27797"/>
              </p:ext>
            </p:extLst>
          </p:nvPr>
        </p:nvGraphicFramePr>
        <p:xfrm>
          <a:off x="6286990" y="5472303"/>
          <a:ext cx="27495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2" name="Equation" r:id="rId12" imgW="1295280" imgH="355320" progId="Equation.DSMT4">
                  <p:embed/>
                </p:oleObj>
              </mc:Choice>
              <mc:Fallback>
                <p:oleObj name="Equation" r:id="rId12" imgW="1295280" imgH="35532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990" y="5472303"/>
                        <a:ext cx="27495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712481"/>
              </p:ext>
            </p:extLst>
          </p:nvPr>
        </p:nvGraphicFramePr>
        <p:xfrm>
          <a:off x="6686550" y="1981200"/>
          <a:ext cx="2424113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3" name="Equation" r:id="rId14" imgW="1117440" imgH="406080" progId="Equation.DSMT4">
                  <p:embed/>
                </p:oleObj>
              </mc:Choice>
              <mc:Fallback>
                <p:oleObj name="Equation" r:id="rId14" imgW="1117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686550" y="1981200"/>
                        <a:ext cx="2424113" cy="881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下箭头 7"/>
          <p:cNvSpPr/>
          <p:nvPr/>
        </p:nvSpPr>
        <p:spPr bwMode="auto">
          <a:xfrm>
            <a:off x="5513618" y="4160893"/>
            <a:ext cx="235847" cy="368490"/>
          </a:xfrm>
          <a:prstGeom prst="downArrow">
            <a:avLst/>
          </a:prstGeom>
          <a:solidFill>
            <a:srgbClr val="99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" name="右箭头 16"/>
          <p:cNvSpPr/>
          <p:nvPr/>
        </p:nvSpPr>
        <p:spPr bwMode="auto">
          <a:xfrm>
            <a:off x="5421664" y="5786629"/>
            <a:ext cx="614150" cy="203251"/>
          </a:xfrm>
          <a:prstGeom prst="rightArrow">
            <a:avLst/>
          </a:prstGeom>
          <a:solidFill>
            <a:srgbClr val="99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376423"/>
              </p:ext>
            </p:extLst>
          </p:nvPr>
        </p:nvGraphicFramePr>
        <p:xfrm>
          <a:off x="4684939" y="1271588"/>
          <a:ext cx="12573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4" name="Equation" r:id="rId16" imgW="698400" imgH="228600" progId="Equation.DSMT4">
                  <p:embed/>
                </p:oleObj>
              </mc:Choice>
              <mc:Fallback>
                <p:oleObj name="Equation" r:id="rId16" imgW="698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939" y="1271588"/>
                        <a:ext cx="12573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275451"/>
              </p:ext>
            </p:extLst>
          </p:nvPr>
        </p:nvGraphicFramePr>
        <p:xfrm>
          <a:off x="6810180" y="1241031"/>
          <a:ext cx="166860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5" name="Equation" r:id="rId18" imgW="927000" imgH="228600" progId="Equation.DSMT4">
                  <p:embed/>
                </p:oleObj>
              </mc:Choice>
              <mc:Fallback>
                <p:oleObj name="Equation" r:id="rId18" imgW="927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810180" y="1241031"/>
                        <a:ext cx="1668600" cy="411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908136"/>
              </p:ext>
            </p:extLst>
          </p:nvPr>
        </p:nvGraphicFramePr>
        <p:xfrm>
          <a:off x="5426428" y="1965067"/>
          <a:ext cx="101441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6" name="Equation" r:id="rId20" imgW="711000" imgH="253800" progId="Equation.DSMT4">
                  <p:embed/>
                </p:oleObj>
              </mc:Choice>
              <mc:Fallback>
                <p:oleObj name="Equation" r:id="rId20" imgW="711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6428" y="1965067"/>
                        <a:ext cx="1014413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/>
      <p:bldP spid="3" grpId="0" animBg="1"/>
      <p:bldP spid="8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图片 258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863" y="582613"/>
            <a:ext cx="1668780" cy="845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图片 258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1" y="569914"/>
            <a:ext cx="1302455" cy="845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图片 258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1" y="1702037"/>
            <a:ext cx="3703320" cy="845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Rectangle 9"/>
          <p:cNvSpPr>
            <a:spLocks noChangeArrowheads="1"/>
          </p:cNvSpPr>
          <p:nvPr/>
        </p:nvSpPr>
        <p:spPr bwMode="auto">
          <a:xfrm>
            <a:off x="721178" y="455129"/>
            <a:ext cx="12811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indent="0" algn="l" eaLnBrk="1" hangingPunct="1"/>
            <a:r>
              <a:rPr lang="zh-CN" altLang="en-US" sz="2000" dirty="0"/>
              <a:t>管耗问题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64" y="2981325"/>
            <a:ext cx="7109052" cy="3787971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 bwMode="auto">
          <a:xfrm>
            <a:off x="4407606" y="5185554"/>
            <a:ext cx="1877785" cy="0"/>
          </a:xfrm>
          <a:prstGeom prst="straightConnector1">
            <a:avLst/>
          </a:prstGeom>
          <a:solidFill>
            <a:srgbClr val="99FF99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线形标注 1 6"/>
          <p:cNvSpPr/>
          <p:nvPr/>
        </p:nvSpPr>
        <p:spPr bwMode="auto">
          <a:xfrm>
            <a:off x="6468496" y="2821462"/>
            <a:ext cx="2267290" cy="1545236"/>
          </a:xfrm>
          <a:prstGeom prst="borderCallout1">
            <a:avLst>
              <a:gd name="adj1" fmla="val 18750"/>
              <a:gd name="adj2" fmla="val -8333"/>
              <a:gd name="adj3" fmla="val 152002"/>
              <a:gd name="adj4" fmla="val -53825"/>
            </a:avLst>
          </a:prstGeom>
          <a:solidFill>
            <a:srgbClr val="99FF99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6564856" y="2873041"/>
            <a:ext cx="208112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indent="0" algn="l" eaLnBrk="1" hangingPunct="1"/>
            <a:r>
              <a:rPr lang="zh-CN" altLang="en-US" sz="1800" dirty="0" smtClean="0"/>
              <a:t>输出功率增大，管耗减小。</a:t>
            </a:r>
            <a:endParaRPr lang="en-US" altLang="zh-CN" sz="1800" dirty="0" smtClean="0"/>
          </a:p>
          <a:p>
            <a:pPr indent="0" algn="l" eaLnBrk="1" hangingPunct="1"/>
            <a:r>
              <a:rPr lang="zh-CN" altLang="en-US" sz="1800" dirty="0"/>
              <a:t>此时</a:t>
            </a:r>
            <a:r>
              <a:rPr lang="zh-CN" altLang="en-US" sz="1800" dirty="0" smtClean="0"/>
              <a:t>晶体管接近饱和，非线性失真增大。</a:t>
            </a:r>
            <a:endParaRPr lang="zh-CN" alt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ChangeArrowheads="1"/>
          </p:cNvSpPr>
          <p:nvPr/>
        </p:nvSpPr>
        <p:spPr bwMode="auto">
          <a:xfrm>
            <a:off x="272142" y="316957"/>
            <a:ext cx="5057776" cy="40011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anchor="ctr">
            <a:spAutoFit/>
          </a:bodyPr>
          <a:lstStyle>
            <a:lvl1pPr indent="2667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>
                <a:solidFill>
                  <a:srgbClr val="FF0000"/>
                </a:solidFill>
              </a:rPr>
              <a:t>交越</a:t>
            </a:r>
            <a:r>
              <a:rPr lang="zh-CN" altLang="en-US" sz="2000" dirty="0" smtClean="0">
                <a:solidFill>
                  <a:srgbClr val="FF0000"/>
                </a:solidFill>
              </a:rPr>
              <a:t>失真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Crossover Distortion</a:t>
            </a:r>
            <a:r>
              <a:rPr lang="zh-CN" altLang="en-US" sz="2000" dirty="0" smtClean="0"/>
              <a:t>）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" y="817706"/>
            <a:ext cx="5282973" cy="284601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498" y="2987735"/>
            <a:ext cx="4994502" cy="378862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8"/>
          <p:cNvSpPr>
            <a:spLocks noChangeArrowheads="1"/>
          </p:cNvSpPr>
          <p:nvPr/>
        </p:nvSpPr>
        <p:spPr bwMode="auto">
          <a:xfrm>
            <a:off x="615950" y="601531"/>
            <a:ext cx="37226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减小交越失真的</a:t>
            </a:r>
            <a:r>
              <a:rPr lang="zh-CN" altLang="en-US" sz="2000" dirty="0" smtClean="0"/>
              <a:t>方法之一</a:t>
            </a:r>
            <a:endParaRPr lang="zh-CN" altLang="en-US" sz="2000" dirty="0"/>
          </a:p>
        </p:txBody>
      </p:sp>
      <p:sp>
        <p:nvSpPr>
          <p:cNvPr id="13318" name="Rectangle 10"/>
          <p:cNvSpPr>
            <a:spLocks noChangeArrowheads="1"/>
          </p:cNvSpPr>
          <p:nvPr/>
        </p:nvSpPr>
        <p:spPr bwMode="auto">
          <a:xfrm>
            <a:off x="2148569" y="4982421"/>
            <a:ext cx="499382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zh-CN" sz="2000" dirty="0">
                <a:cs typeface="Times New Roman" pitchFamily="18" charset="0"/>
              </a:rPr>
              <a:t>±0.7 </a:t>
            </a:r>
            <a:r>
              <a:rPr lang="en-US" altLang="zh-CN" sz="2000" dirty="0" smtClean="0">
                <a:cs typeface="Times New Roman" pitchFamily="18" charset="0"/>
              </a:rPr>
              <a:t>V 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死区电压被降低</a:t>
            </a:r>
            <a:r>
              <a:rPr lang="zh-CN" altLang="en-US" sz="2000" dirty="0" smtClean="0"/>
              <a:t>至 </a:t>
            </a:r>
            <a:r>
              <a:rPr lang="en-US" altLang="zh-CN" sz="2000" dirty="0" smtClean="0"/>
              <a:t>±</a:t>
            </a:r>
            <a:r>
              <a:rPr lang="en-US" altLang="zh-CN" sz="2000" dirty="0"/>
              <a:t>0.7/</a:t>
            </a:r>
            <a:r>
              <a:rPr lang="en-US" altLang="zh-CN" sz="2000" i="1" dirty="0"/>
              <a:t>A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V</a:t>
            </a:r>
            <a:r>
              <a:rPr lang="zh-CN" altLang="en-US" sz="2000" dirty="0" smtClean="0"/>
              <a:t>，但无法从根本上消除。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616" y="1610087"/>
            <a:ext cx="4947652" cy="282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750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12"/>
          <p:cNvSpPr>
            <a:spLocks noChangeArrowheads="1"/>
          </p:cNvSpPr>
          <p:nvPr/>
        </p:nvSpPr>
        <p:spPr bwMode="auto">
          <a:xfrm>
            <a:off x="712788" y="1576556"/>
            <a:ext cx="796766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zh-CN" sz="2000" dirty="0"/>
              <a:t>        </a:t>
            </a:r>
            <a:r>
              <a:rPr lang="zh-CN" altLang="en-US" sz="2000" dirty="0"/>
              <a:t>为了较好地克服交越失真</a:t>
            </a:r>
            <a:r>
              <a:rPr lang="zh-CN" altLang="en-US" sz="2000" dirty="0" smtClean="0"/>
              <a:t>，为</a:t>
            </a:r>
            <a:r>
              <a:rPr lang="en-US" altLang="zh-CN" sz="2000" dirty="0" smtClean="0"/>
              <a:t>B</a:t>
            </a:r>
            <a:r>
              <a:rPr lang="zh-CN" altLang="en-US" sz="2000" dirty="0" smtClean="0"/>
              <a:t>类放大器的输出晶体管</a:t>
            </a:r>
            <a:r>
              <a:rPr lang="zh-CN" altLang="en-US" sz="2000" dirty="0"/>
              <a:t>加上一定的静态</a:t>
            </a:r>
            <a:r>
              <a:rPr lang="zh-CN" altLang="en-US" sz="2000" dirty="0" smtClean="0"/>
              <a:t>工作电流 </a:t>
            </a:r>
            <a:r>
              <a:rPr lang="en-US" altLang="zh-CN" sz="2000" i="1" dirty="0" smtClean="0"/>
              <a:t>I</a:t>
            </a:r>
            <a:r>
              <a:rPr lang="en-US" altLang="zh-CN" sz="2000" i="1" baseline="-25000" dirty="0" smtClean="0"/>
              <a:t>Q</a:t>
            </a:r>
            <a:r>
              <a:rPr lang="zh-CN" altLang="en-US" sz="2000" dirty="0" smtClean="0"/>
              <a:t>。 </a:t>
            </a:r>
            <a:endParaRPr lang="zh-CN" altLang="en-US" sz="2000" dirty="0"/>
          </a:p>
        </p:txBody>
      </p:sp>
      <p:sp>
        <p:nvSpPr>
          <p:cNvPr id="14342" name="Rectangle 15"/>
          <p:cNvSpPr>
            <a:spLocks noChangeArrowheads="1"/>
          </p:cNvSpPr>
          <p:nvPr/>
        </p:nvSpPr>
        <p:spPr bwMode="auto">
          <a:xfrm>
            <a:off x="0" y="541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2884486"/>
            <a:ext cx="4305300" cy="3390900"/>
          </a:xfrm>
          <a:prstGeom prst="rect">
            <a:avLst/>
          </a:prstGeom>
        </p:spPr>
      </p:pic>
      <p:graphicFrame>
        <p:nvGraphicFramePr>
          <p:cNvPr id="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617427"/>
              </p:ext>
            </p:extLst>
          </p:nvPr>
        </p:nvGraphicFramePr>
        <p:xfrm>
          <a:off x="5206658" y="2944203"/>
          <a:ext cx="2122116" cy="393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4" name="Equation" r:id="rId4" imgW="1091880" imgH="203040" progId="Equation.DSMT4">
                  <p:embed/>
                </p:oleObj>
              </mc:Choice>
              <mc:Fallback>
                <p:oleObj name="Equation" r:id="rId4" imgW="1091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6658" y="2944203"/>
                        <a:ext cx="2122116" cy="3937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070" y="3482192"/>
            <a:ext cx="2379503" cy="36318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135478" y="4554472"/>
            <a:ext cx="30235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考虑输入正半周信号情况</a:t>
            </a:r>
            <a:endParaRPr lang="zh-CN" altLang="en-US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1953" y="5097847"/>
            <a:ext cx="2109107" cy="5543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734" y="5872315"/>
            <a:ext cx="1244813" cy="319814"/>
          </a:xfrm>
          <a:prstGeom prst="rect">
            <a:avLst/>
          </a:prstGeom>
        </p:spPr>
      </p:pic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711200" y="452438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dirty="0" smtClean="0">
                <a:solidFill>
                  <a:srgbClr val="990033"/>
                </a:solidFill>
              </a:rPr>
              <a:t>12.2.3 AB</a:t>
            </a:r>
            <a:r>
              <a:rPr lang="zh-CN" altLang="en-US" dirty="0" smtClean="0">
                <a:solidFill>
                  <a:srgbClr val="990033"/>
                </a:solidFill>
              </a:rPr>
              <a:t>类功率放大器</a:t>
            </a:r>
            <a:endParaRPr lang="zh-CN" altLang="en-US" dirty="0">
              <a:solidFill>
                <a:srgbClr val="A50021"/>
              </a:solidFill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915987" y="1049338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eaLnBrk="1" hangingPunct="1">
              <a:spcBef>
                <a:spcPct val="50000"/>
              </a:spcBef>
              <a:buFontTx/>
              <a:buNone/>
              <a:defRPr>
                <a:solidFill>
                  <a:srgbClr val="990033"/>
                </a:solidFill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/>
            </a:lvl2pPr>
            <a:lvl3pPr marL="1143000" indent="-228600" algn="l" eaLnBrk="0" hangingPunct="0">
              <a:spcBef>
                <a:spcPct val="20000"/>
              </a:spcBef>
              <a:buChar char="•"/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/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zh-CN" altLang="en-US" dirty="0" smtClean="0"/>
              <a:t>一、工作原理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  <p:bldP spid="7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15"/>
          <p:cNvSpPr>
            <a:spLocks noChangeArrowheads="1"/>
          </p:cNvSpPr>
          <p:nvPr/>
        </p:nvSpPr>
        <p:spPr bwMode="auto">
          <a:xfrm>
            <a:off x="0" y="541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434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629249"/>
              </p:ext>
            </p:extLst>
          </p:nvPr>
        </p:nvGraphicFramePr>
        <p:xfrm>
          <a:off x="5822042" y="485543"/>
          <a:ext cx="1713593" cy="375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5" name="Equation" r:id="rId3" imgW="926698" imgH="203112" progId="Equation.DSMT4">
                  <p:embed/>
                </p:oleObj>
              </mc:Choice>
              <mc:Fallback>
                <p:oleObj name="Equation" r:id="rId3" imgW="926698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042" y="485543"/>
                        <a:ext cx="1713593" cy="3755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144997"/>
              </p:ext>
            </p:extLst>
          </p:nvPr>
        </p:nvGraphicFramePr>
        <p:xfrm>
          <a:off x="5227069" y="1261842"/>
          <a:ext cx="290353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6" name="Equation" r:id="rId5" imgW="1612800" imgH="419040" progId="Equation.DSMT4">
                  <p:embed/>
                </p:oleObj>
              </mc:Choice>
              <mc:Fallback>
                <p:oleObj name="Equation" r:id="rId5" imgW="1612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7069" y="1261842"/>
                        <a:ext cx="2903538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676444"/>
              </p:ext>
            </p:extLst>
          </p:nvPr>
        </p:nvGraphicFramePr>
        <p:xfrm>
          <a:off x="6191930" y="2416621"/>
          <a:ext cx="10398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7" name="Equation" r:id="rId7" imgW="545760" imgH="241200" progId="Equation.DSMT4">
                  <p:embed/>
                </p:oleObj>
              </mc:Choice>
              <mc:Fallback>
                <p:oleObj name="Equation" r:id="rId7" imgW="545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930" y="2416621"/>
                        <a:ext cx="1039813" cy="457200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57" y="2250238"/>
            <a:ext cx="4305300" cy="3390900"/>
          </a:xfrm>
          <a:prstGeom prst="rect">
            <a:avLst/>
          </a:prstGeom>
        </p:spPr>
      </p:pic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5008675" y="3388838"/>
            <a:ext cx="3668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zh-CN" sz="2000" dirty="0" smtClean="0"/>
              <a:t>1</a:t>
            </a:r>
            <a:r>
              <a:rPr lang="zh-CN" altLang="en-US" sz="2000" dirty="0" smtClean="0"/>
              <a:t>、当输入正信号较大时，负载电流由 </a:t>
            </a:r>
            <a:r>
              <a:rPr lang="en-US" altLang="zh-CN" sz="2000" i="1" dirty="0" smtClean="0"/>
              <a:t>Q</a:t>
            </a:r>
            <a:r>
              <a:rPr lang="en-US" altLang="zh-CN" sz="2000" i="1" baseline="-25000" dirty="0" smtClean="0"/>
              <a:t>N </a:t>
            </a:r>
            <a:r>
              <a:rPr lang="zh-CN" altLang="en-US" sz="2000" dirty="0" smtClean="0"/>
              <a:t>提供，</a:t>
            </a:r>
            <a:r>
              <a:rPr lang="en-US" altLang="zh-CN" sz="2000" i="1" dirty="0" smtClean="0"/>
              <a:t>Q</a:t>
            </a:r>
            <a:r>
              <a:rPr lang="en-US" altLang="zh-CN" sz="2000" i="1" baseline="-25000" dirty="0" smtClean="0"/>
              <a:t>P </a:t>
            </a:r>
            <a:r>
              <a:rPr lang="zh-CN" altLang="en-US" sz="2000" dirty="0" smtClean="0"/>
              <a:t>电流可以忽略。</a:t>
            </a:r>
            <a:endParaRPr lang="en-US" altLang="zh-CN" sz="2000" dirty="0" smtClean="0"/>
          </a:p>
          <a:p>
            <a:pPr algn="l" eaLnBrk="1" hangingPunct="1">
              <a:lnSpc>
                <a:spcPct val="150000"/>
              </a:lnSpc>
            </a:pPr>
            <a:r>
              <a:rPr lang="en-US" altLang="zh-CN" sz="2000" dirty="0" smtClean="0"/>
              <a:t>2</a:t>
            </a:r>
            <a:r>
              <a:rPr lang="zh-CN" altLang="en-US" sz="2000" dirty="0" smtClean="0"/>
              <a:t>、当输入</a:t>
            </a:r>
            <a:r>
              <a:rPr lang="zh-CN" altLang="en-US" sz="2000" dirty="0"/>
              <a:t>负</a:t>
            </a:r>
            <a:r>
              <a:rPr lang="zh-CN" altLang="en-US" sz="2000" dirty="0" smtClean="0"/>
              <a:t>信号的</a:t>
            </a:r>
            <a:r>
              <a:rPr lang="zh-CN" altLang="en-US" sz="2000" smtClean="0"/>
              <a:t>绝对值较大时</a:t>
            </a:r>
            <a:r>
              <a:rPr lang="zh-CN" altLang="en-US" sz="2000" dirty="0"/>
              <a:t>，负载电流由 </a:t>
            </a:r>
            <a:r>
              <a:rPr lang="en-US" altLang="zh-CN" sz="2000" i="1" dirty="0"/>
              <a:t>Q</a:t>
            </a:r>
            <a:r>
              <a:rPr lang="en-US" altLang="zh-CN" sz="2000" i="1" baseline="-25000" dirty="0"/>
              <a:t>P </a:t>
            </a:r>
            <a:r>
              <a:rPr lang="zh-CN" altLang="en-US" sz="2000" dirty="0" smtClean="0"/>
              <a:t>提供，</a:t>
            </a:r>
            <a:r>
              <a:rPr lang="en-US" altLang="zh-CN" sz="2000" i="1" dirty="0"/>
              <a:t>Q</a:t>
            </a:r>
            <a:r>
              <a:rPr lang="en-US" altLang="zh-CN" sz="2000" i="1" baseline="-25000" dirty="0"/>
              <a:t>N</a:t>
            </a:r>
            <a:r>
              <a:rPr lang="zh-CN" altLang="en-US" sz="2000" dirty="0" smtClean="0"/>
              <a:t>电流</a:t>
            </a:r>
            <a:r>
              <a:rPr lang="zh-CN" altLang="en-US" sz="2000" dirty="0"/>
              <a:t>可以忽略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24511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37" name="Rectangle 21"/>
          <p:cNvSpPr>
            <a:spLocks noChangeArrowheads="1"/>
          </p:cNvSpPr>
          <p:nvPr/>
        </p:nvSpPr>
        <p:spPr bwMode="auto">
          <a:xfrm>
            <a:off x="4912224" y="622312"/>
            <a:ext cx="1217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dirty="0"/>
              <a:t>输出电阻</a:t>
            </a:r>
          </a:p>
        </p:txBody>
      </p:sp>
      <p:graphicFrame>
        <p:nvGraphicFramePr>
          <p:cNvPr id="75163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759901"/>
              </p:ext>
            </p:extLst>
          </p:nvPr>
        </p:nvGraphicFramePr>
        <p:xfrm>
          <a:off x="6871381" y="5349357"/>
          <a:ext cx="8461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5" name="Equation" r:id="rId3" imgW="469800" imgH="203040" progId="Equation.DSMT4">
                  <p:embed/>
                </p:oleObj>
              </mc:Choice>
              <mc:Fallback>
                <p:oleObj name="Equation" r:id="rId3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1381" y="5349357"/>
                        <a:ext cx="846137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39" name="Rectangle 23"/>
          <p:cNvSpPr>
            <a:spLocks noChangeArrowheads="1"/>
          </p:cNvSpPr>
          <p:nvPr/>
        </p:nvSpPr>
        <p:spPr bwMode="auto">
          <a:xfrm>
            <a:off x="4912224" y="4674857"/>
            <a:ext cx="260712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zh-CN" altLang="en-US" sz="2000" dirty="0" smtClean="0"/>
              <a:t>为了减小失真，要求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782" y="1022422"/>
            <a:ext cx="4305300" cy="3390900"/>
          </a:xfrm>
          <a:prstGeom prst="rect">
            <a:avLst/>
          </a:prstGeom>
        </p:spPr>
      </p:pic>
      <p:sp>
        <p:nvSpPr>
          <p:cNvPr id="14" name="Rectangle 23"/>
          <p:cNvSpPr>
            <a:spLocks noChangeArrowheads="1"/>
          </p:cNvSpPr>
          <p:nvPr/>
        </p:nvSpPr>
        <p:spPr bwMode="auto">
          <a:xfrm>
            <a:off x="5301275" y="2250238"/>
            <a:ext cx="357092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zh-CN" altLang="en-US" sz="2000" dirty="0"/>
              <a:t>输出电阻</a:t>
            </a:r>
            <a:r>
              <a:rPr lang="zh-CN" altLang="en-US" sz="2000" dirty="0" smtClean="0"/>
              <a:t>在 </a:t>
            </a:r>
            <a:r>
              <a:rPr lang="en-US" altLang="zh-CN" sz="2000" i="1" dirty="0" err="1" smtClean="0"/>
              <a:t>v</a:t>
            </a:r>
            <a:r>
              <a:rPr lang="en-US" altLang="zh-CN" sz="2000" i="1" baseline="-25000" dirty="0" err="1" smtClean="0"/>
              <a:t>I</a:t>
            </a:r>
            <a:r>
              <a:rPr lang="en-US" altLang="zh-CN" sz="2000" i="1" baseline="-25000" dirty="0" smtClean="0"/>
              <a:t> </a:t>
            </a:r>
            <a:r>
              <a:rPr lang="en-US" altLang="zh-CN" sz="2000" dirty="0" smtClean="0"/>
              <a:t>= 0 </a:t>
            </a:r>
            <a:r>
              <a:rPr lang="zh-CN" altLang="en-US" sz="2000" dirty="0" smtClean="0"/>
              <a:t>附近</a:t>
            </a:r>
            <a:r>
              <a:rPr lang="zh-CN" altLang="en-US" sz="2000" dirty="0"/>
              <a:t>近似为</a:t>
            </a:r>
            <a:r>
              <a:rPr lang="zh-CN" altLang="en-US" sz="2000" dirty="0" smtClean="0"/>
              <a:t>常数（                  ），或者说，电压增益近似为 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，</a:t>
            </a:r>
            <a:r>
              <a:rPr lang="zh-CN" altLang="en-US" sz="2000" dirty="0"/>
              <a:t>这是交越失真能被消除</a:t>
            </a:r>
            <a:r>
              <a:rPr lang="zh-CN" altLang="en-US" sz="2000" dirty="0" smtClean="0"/>
              <a:t>的根本原因</a:t>
            </a:r>
            <a:r>
              <a:rPr lang="zh-CN" altLang="en-US" sz="2000" dirty="0"/>
              <a:t>。</a:t>
            </a:r>
          </a:p>
        </p:txBody>
      </p:sp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282728"/>
              </p:ext>
            </p:extLst>
          </p:nvPr>
        </p:nvGraphicFramePr>
        <p:xfrm>
          <a:off x="5301275" y="1231821"/>
          <a:ext cx="313182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6" name="Equation" r:id="rId6" imgW="1739900" imgH="393700" progId="Equation.DSMT4">
                  <p:embed/>
                </p:oleObj>
              </mc:Choice>
              <mc:Fallback>
                <p:oleObj name="Equation" r:id="rId6" imgW="17399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1275" y="1231821"/>
                        <a:ext cx="3131820" cy="708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72255"/>
              </p:ext>
            </p:extLst>
          </p:nvPr>
        </p:nvGraphicFramePr>
        <p:xfrm>
          <a:off x="6215788" y="2762534"/>
          <a:ext cx="10398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7" name="Equation" r:id="rId8" imgW="545760" imgH="241200" progId="Equation.DSMT4">
                  <p:embed/>
                </p:oleObj>
              </mc:Choice>
              <mc:Fallback>
                <p:oleObj name="Equation" r:id="rId8" imgW="545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788" y="2762534"/>
                        <a:ext cx="10398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38678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5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5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5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637" grpId="0"/>
      <p:bldP spid="751639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19" y="1862138"/>
            <a:ext cx="4459822" cy="3748087"/>
          </a:xfrm>
          <a:prstGeom prst="rect">
            <a:avLst/>
          </a:prstGeom>
        </p:spPr>
      </p:pic>
      <p:sp>
        <p:nvSpPr>
          <p:cNvPr id="15362" name="Rectangle 3"/>
          <p:cNvSpPr>
            <a:spLocks noChangeArrowheads="1"/>
          </p:cNvSpPr>
          <p:nvPr/>
        </p:nvSpPr>
        <p:spPr bwMode="auto">
          <a:xfrm>
            <a:off x="0" y="1201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4" name="Rectangle 7"/>
          <p:cNvSpPr>
            <a:spLocks noChangeArrowheads="1"/>
          </p:cNvSpPr>
          <p:nvPr/>
        </p:nvSpPr>
        <p:spPr bwMode="auto">
          <a:xfrm>
            <a:off x="0" y="541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5" name="Rectangle 8"/>
          <p:cNvSpPr>
            <a:spLocks noChangeArrowheads="1"/>
          </p:cNvSpPr>
          <p:nvPr/>
        </p:nvSpPr>
        <p:spPr bwMode="auto">
          <a:xfrm>
            <a:off x="4943475" y="2581614"/>
            <a:ext cx="408622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zh-CN" sz="2000" dirty="0" smtClean="0"/>
              <a:t>1</a:t>
            </a:r>
            <a:r>
              <a:rPr lang="zh-CN" altLang="en-US" sz="2000" dirty="0" smtClean="0"/>
              <a:t>、温度升高，将使通过 </a:t>
            </a:r>
            <a:r>
              <a:rPr lang="en-US" altLang="zh-CN" sz="2000" i="1" dirty="0" smtClean="0"/>
              <a:t>Q</a:t>
            </a:r>
            <a:r>
              <a:rPr lang="en-US" altLang="zh-CN" sz="2000" i="1" baseline="-25000" dirty="0" smtClean="0"/>
              <a:t>N </a:t>
            </a:r>
            <a:r>
              <a:rPr lang="zh-CN" altLang="en-US" sz="2000" dirty="0" smtClean="0"/>
              <a:t>和 </a:t>
            </a:r>
            <a:r>
              <a:rPr lang="en-US" altLang="zh-CN" sz="2000" i="1" dirty="0" smtClean="0"/>
              <a:t>Q</a:t>
            </a:r>
            <a:r>
              <a:rPr lang="en-US" altLang="zh-CN" sz="2000" i="1" baseline="-25000" dirty="0" smtClean="0"/>
              <a:t>P </a:t>
            </a:r>
            <a:r>
              <a:rPr lang="zh-CN" altLang="en-US" sz="2000" dirty="0" smtClean="0"/>
              <a:t>的静态偏置电流 </a:t>
            </a:r>
            <a:r>
              <a:rPr lang="en-US" altLang="zh-CN" sz="2000" i="1" dirty="0" smtClean="0"/>
              <a:t>I</a:t>
            </a:r>
            <a:r>
              <a:rPr lang="en-US" altLang="zh-CN" sz="2000" i="1" baseline="-25000" dirty="0" smtClean="0"/>
              <a:t>Q </a:t>
            </a:r>
            <a:r>
              <a:rPr lang="zh-CN" altLang="en-US" sz="2000" dirty="0" smtClean="0"/>
              <a:t>增大，导致</a:t>
            </a:r>
            <a:r>
              <a:rPr lang="zh-CN" altLang="en-US" sz="2000" dirty="0" smtClean="0">
                <a:solidFill>
                  <a:srgbClr val="FF0000"/>
                </a:solidFill>
              </a:rPr>
              <a:t>热失控</a:t>
            </a:r>
            <a:r>
              <a:rPr lang="zh-CN" altLang="en-US" sz="2000" dirty="0" smtClean="0"/>
              <a:t>（</a:t>
            </a:r>
            <a:r>
              <a:rPr lang="en-US" altLang="zh-CN" sz="2000" dirty="0"/>
              <a:t> thermal runaway </a:t>
            </a:r>
            <a:r>
              <a:rPr lang="zh-CN" altLang="en-US" sz="2000" dirty="0" smtClean="0"/>
              <a:t>）。</a:t>
            </a:r>
            <a:endParaRPr lang="en-US" altLang="zh-CN" sz="2000" dirty="0" smtClean="0"/>
          </a:p>
          <a:p>
            <a:pPr algn="l" eaLnBrk="1" hangingPunct="1">
              <a:lnSpc>
                <a:spcPct val="150000"/>
              </a:lnSpc>
            </a:pPr>
            <a:r>
              <a:rPr lang="en-US" altLang="zh-CN" sz="2000" dirty="0" smtClean="0"/>
              <a:t>2</a:t>
            </a:r>
            <a:r>
              <a:rPr lang="zh-CN" altLang="en-US" sz="2000" dirty="0" smtClean="0"/>
              <a:t>、若二极管</a:t>
            </a:r>
            <a:r>
              <a:rPr lang="en-US" altLang="zh-CN" sz="2000" i="1" dirty="0" smtClean="0"/>
              <a:t>D</a:t>
            </a:r>
            <a:r>
              <a:rPr lang="en-US" altLang="zh-CN" sz="2000" baseline="-25000" dirty="0" smtClean="0"/>
              <a:t>1</a:t>
            </a:r>
            <a:r>
              <a:rPr lang="zh-CN" altLang="en-US" sz="2000" dirty="0" smtClean="0"/>
              <a:t>和</a:t>
            </a:r>
            <a:r>
              <a:rPr lang="en-US" altLang="zh-CN" sz="2000" i="1" dirty="0" smtClean="0"/>
              <a:t>D</a:t>
            </a:r>
            <a:r>
              <a:rPr lang="en-US" altLang="zh-CN" sz="2000" baseline="-25000" dirty="0" smtClean="0"/>
              <a:t>2</a:t>
            </a:r>
            <a:r>
              <a:rPr lang="zh-CN" altLang="en-US" sz="2000" dirty="0" smtClean="0"/>
              <a:t>靠近 </a:t>
            </a:r>
            <a:r>
              <a:rPr lang="en-US" altLang="zh-CN" sz="2000" i="1" dirty="0" smtClean="0"/>
              <a:t>Q</a:t>
            </a:r>
            <a:r>
              <a:rPr lang="en-US" altLang="zh-CN" sz="2000" i="1" baseline="-25000" dirty="0" smtClean="0"/>
              <a:t>N </a:t>
            </a:r>
            <a:r>
              <a:rPr lang="zh-CN" altLang="en-US" sz="2000" dirty="0" smtClean="0"/>
              <a:t>和</a:t>
            </a:r>
            <a:r>
              <a:rPr lang="en-US" altLang="zh-CN" sz="2000" i="1" dirty="0" smtClean="0"/>
              <a:t>Q</a:t>
            </a:r>
            <a:r>
              <a:rPr lang="en-US" altLang="zh-CN" sz="2000" i="1" baseline="-25000" dirty="0" smtClean="0"/>
              <a:t>P </a:t>
            </a:r>
            <a:r>
              <a:rPr lang="zh-CN" altLang="en-US" sz="2000" dirty="0" smtClean="0"/>
              <a:t>放置，则温度升高将导致</a:t>
            </a:r>
            <a:r>
              <a:rPr lang="en-US" altLang="zh-CN" sz="2000" i="1" dirty="0" smtClean="0"/>
              <a:t>V</a:t>
            </a:r>
            <a:r>
              <a:rPr lang="en-US" altLang="zh-CN" sz="2000" i="1" baseline="-25000" dirty="0" smtClean="0"/>
              <a:t>BB</a:t>
            </a:r>
            <a:r>
              <a:rPr lang="zh-CN" altLang="en-US" sz="2000" dirty="0" smtClean="0"/>
              <a:t>减小，从而减小 </a:t>
            </a:r>
            <a:r>
              <a:rPr lang="en-US" altLang="zh-CN" sz="2000" i="1" dirty="0" smtClean="0"/>
              <a:t>I</a:t>
            </a:r>
            <a:r>
              <a:rPr lang="en-US" altLang="zh-CN" sz="2000" i="1" baseline="-25000" dirty="0" smtClean="0"/>
              <a:t>Q</a:t>
            </a:r>
            <a:r>
              <a:rPr lang="zh-CN" altLang="en-US" sz="2000" dirty="0" smtClean="0"/>
              <a:t>，防止热失控的发生，提高</a:t>
            </a:r>
            <a:r>
              <a:rPr lang="zh-CN" altLang="en-US" sz="2000" dirty="0"/>
              <a:t>输出级晶体管偏置电流的热稳定性。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915987" y="439738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eaLnBrk="1" hangingPunct="1">
              <a:spcBef>
                <a:spcPct val="50000"/>
              </a:spcBef>
              <a:buFontTx/>
              <a:buNone/>
              <a:defRPr>
                <a:solidFill>
                  <a:srgbClr val="990033"/>
                </a:solidFill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/>
            </a:lvl2pPr>
            <a:lvl3pPr marL="1143000" indent="-228600" algn="l" eaLnBrk="0" hangingPunct="0">
              <a:spcBef>
                <a:spcPct val="20000"/>
              </a:spcBef>
              <a:buChar char="•"/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/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zh-CN" altLang="en-US" dirty="0" smtClean="0"/>
              <a:t>二、偏置方式</a:t>
            </a:r>
            <a:endParaRPr lang="zh-CN" altLang="en-US" dirty="0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286485" y="1001683"/>
            <a:ext cx="18614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CC"/>
                </a:solidFill>
                <a:ea typeface="宋体" charset="-122"/>
              </a:rPr>
              <a:t>1</a:t>
            </a:r>
            <a:r>
              <a:rPr lang="zh-CN" altLang="en-US" sz="2000" dirty="0" smtClean="0">
                <a:solidFill>
                  <a:srgbClr val="0000CC"/>
                </a:solidFill>
                <a:ea typeface="宋体" charset="-122"/>
              </a:rPr>
              <a:t>、二极管偏置</a:t>
            </a:r>
            <a:endParaRPr lang="zh-CN" altLang="en-US" sz="2000" dirty="0">
              <a:solidFill>
                <a:srgbClr val="0000CC"/>
              </a:solidFill>
              <a:ea typeface="宋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33" y="1565245"/>
            <a:ext cx="4698667" cy="4505977"/>
          </a:xfrm>
          <a:prstGeom prst="rect">
            <a:avLst/>
          </a:prstGeom>
        </p:spPr>
      </p:pic>
      <p:graphicFrame>
        <p:nvGraphicFramePr>
          <p:cNvPr id="1639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348734"/>
              </p:ext>
            </p:extLst>
          </p:nvPr>
        </p:nvGraphicFramePr>
        <p:xfrm>
          <a:off x="6407150" y="2897158"/>
          <a:ext cx="914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5" name="Equation" r:id="rId4" imgW="508000" imgH="381000" progId="Equation.DSMT4">
                  <p:embed/>
                </p:oleObj>
              </mc:Choice>
              <mc:Fallback>
                <p:oleObj name="Equation" r:id="rId4" imgW="508000" imgH="3810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2897158"/>
                        <a:ext cx="914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Rectangle 19"/>
          <p:cNvSpPr>
            <a:spLocks noChangeArrowheads="1"/>
          </p:cNvSpPr>
          <p:nvPr/>
        </p:nvSpPr>
        <p:spPr bwMode="auto">
          <a:xfrm>
            <a:off x="5076825" y="2365315"/>
            <a:ext cx="37068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000" dirty="0"/>
              <a:t>忽略</a:t>
            </a:r>
            <a:r>
              <a:rPr lang="zh-CN" altLang="en-US" sz="2000" dirty="0" smtClean="0"/>
              <a:t>晶体管 </a:t>
            </a:r>
            <a:r>
              <a:rPr lang="en-US" altLang="zh-CN" sz="2000" i="1" dirty="0" smtClean="0"/>
              <a:t>Q</a:t>
            </a:r>
            <a:r>
              <a:rPr lang="en-US" altLang="zh-CN" sz="2000" baseline="-25000" dirty="0" smtClean="0"/>
              <a:t>1 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基极电流</a:t>
            </a:r>
          </a:p>
        </p:txBody>
      </p:sp>
      <p:graphicFrame>
        <p:nvGraphicFramePr>
          <p:cNvPr id="1639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646218"/>
              </p:ext>
            </p:extLst>
          </p:nvPr>
        </p:nvGraphicFramePr>
        <p:xfrm>
          <a:off x="5419725" y="3805209"/>
          <a:ext cx="3199012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6" name="Equation" r:id="rId6" imgW="1777229" imgH="431613" progId="Equation.DSMT4">
                  <p:embed/>
                </p:oleObj>
              </mc:Choice>
              <mc:Fallback>
                <p:oleObj name="Equation" r:id="rId6" imgW="1777229" imgH="431613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3805209"/>
                        <a:ext cx="3199012" cy="7769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Rectangle 21"/>
          <p:cNvSpPr>
            <a:spLocks noChangeArrowheads="1"/>
          </p:cNvSpPr>
          <p:nvPr/>
        </p:nvSpPr>
        <p:spPr bwMode="auto">
          <a:xfrm>
            <a:off x="4881562" y="5051395"/>
            <a:ext cx="401002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zh-CN" altLang="en-US" sz="2000" dirty="0" smtClean="0"/>
              <a:t>通过将 </a:t>
            </a:r>
            <a:r>
              <a:rPr lang="en-US" altLang="zh-CN" sz="2000" i="1" smtClean="0"/>
              <a:t>Q</a:t>
            </a:r>
            <a:r>
              <a:rPr lang="en-US" altLang="zh-CN" sz="2000" baseline="-25000" smtClean="0"/>
              <a:t>1 </a:t>
            </a:r>
            <a:r>
              <a:rPr lang="zh-CN" altLang="en-US" sz="2000" smtClean="0"/>
              <a:t>靠近 </a:t>
            </a:r>
            <a:r>
              <a:rPr lang="en-US" altLang="zh-CN" sz="2000" i="1" dirty="0"/>
              <a:t>Q</a:t>
            </a:r>
            <a:r>
              <a:rPr lang="en-US" altLang="zh-CN" sz="2000" i="1" baseline="-25000" dirty="0"/>
              <a:t>N </a:t>
            </a:r>
            <a:r>
              <a:rPr lang="zh-CN" altLang="en-US" sz="2000" dirty="0"/>
              <a:t>和</a:t>
            </a:r>
            <a:r>
              <a:rPr lang="en-US" altLang="zh-CN" sz="2000" i="1" dirty="0"/>
              <a:t>Q</a:t>
            </a:r>
            <a:r>
              <a:rPr lang="en-US" altLang="zh-CN" sz="2000" i="1" baseline="-25000" dirty="0"/>
              <a:t>P </a:t>
            </a:r>
            <a:r>
              <a:rPr lang="zh-CN" altLang="en-US" sz="2000" dirty="0" smtClean="0"/>
              <a:t>放置，同样</a:t>
            </a:r>
            <a:r>
              <a:rPr lang="zh-CN" altLang="en-US" sz="2000" dirty="0"/>
              <a:t>可提高输出级晶体管偏置电流的热稳定性。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867385" y="630208"/>
            <a:ext cx="60191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smtClean="0">
                <a:solidFill>
                  <a:srgbClr val="0000CC"/>
                </a:solidFill>
                <a:ea typeface="宋体" charset="-122"/>
              </a:rPr>
              <a:t>2</a:t>
            </a:r>
            <a:r>
              <a:rPr lang="zh-CN" altLang="en-US" sz="2000" dirty="0" smtClean="0">
                <a:solidFill>
                  <a:srgbClr val="0000CC"/>
                </a:solidFill>
                <a:ea typeface="宋体" charset="-122"/>
              </a:rPr>
              <a:t>、晶体管偏置（</a:t>
            </a:r>
            <a:r>
              <a:rPr lang="zh-CN" altLang="en-US" sz="2000" dirty="0"/>
              <a:t>又称为</a:t>
            </a:r>
            <a:r>
              <a:rPr lang="en-US" altLang="zh-CN" sz="2000" i="1" dirty="0">
                <a:solidFill>
                  <a:srgbClr val="FF0000"/>
                </a:solidFill>
              </a:rPr>
              <a:t>V</a:t>
            </a:r>
            <a:r>
              <a:rPr lang="en-US" altLang="zh-CN" sz="2000" i="1" baseline="-25000" dirty="0">
                <a:solidFill>
                  <a:srgbClr val="FF0000"/>
                </a:solidFill>
              </a:rPr>
              <a:t>BE</a:t>
            </a:r>
            <a:r>
              <a:rPr lang="zh-CN" altLang="en-US" sz="2000" dirty="0">
                <a:solidFill>
                  <a:srgbClr val="FF0000"/>
                </a:solidFill>
              </a:rPr>
              <a:t>电压倍增器偏置</a:t>
            </a:r>
            <a:r>
              <a:rPr lang="zh-CN" altLang="en-US" sz="2000" dirty="0" smtClean="0">
                <a:solidFill>
                  <a:srgbClr val="0000CC"/>
                </a:solidFill>
                <a:ea typeface="宋体" charset="-122"/>
              </a:rPr>
              <a:t>）</a:t>
            </a:r>
            <a:endParaRPr lang="zh-CN" altLang="en-US" sz="2000" dirty="0">
              <a:solidFill>
                <a:srgbClr val="0000CC"/>
              </a:solidFill>
              <a:ea typeface="宋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5" grpId="0"/>
      <p:bldP spid="1639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8" name="Picture 15" descr="circuit1_c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713" y="541338"/>
            <a:ext cx="4784725" cy="514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1478756" y="5549112"/>
            <a:ext cx="6548437" cy="9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zh-CN" altLang="en-US" sz="2000" dirty="0"/>
              <a:t>好处：保护输出晶体管不出现热失控。</a:t>
            </a:r>
          </a:p>
          <a:p>
            <a:pPr algn="l" eaLnBrk="1" hangingPunct="1">
              <a:lnSpc>
                <a:spcPct val="150000"/>
              </a:lnSpc>
            </a:pPr>
            <a:r>
              <a:rPr lang="zh-CN" altLang="en-US" sz="2000" dirty="0"/>
              <a:t>不足：输出电压的摆幅将下降。</a:t>
            </a:r>
          </a:p>
        </p:txBody>
      </p:sp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0" y="541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915987" y="439738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eaLnBrk="1" hangingPunct="1">
              <a:spcBef>
                <a:spcPct val="50000"/>
              </a:spcBef>
              <a:buFontTx/>
              <a:buNone/>
              <a:defRPr>
                <a:solidFill>
                  <a:srgbClr val="990033"/>
                </a:solidFill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/>
            </a:lvl2pPr>
            <a:lvl3pPr marL="1143000" indent="-228600" algn="l" eaLnBrk="0" hangingPunct="0">
              <a:spcBef>
                <a:spcPct val="20000"/>
              </a:spcBef>
              <a:buChar char="•"/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/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zh-CN" altLang="en-US" dirty="0" smtClean="0"/>
              <a:t>三、短路保护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158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3730625"/>
            <a:ext cx="438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1000" b="0"/>
              <a:t>        </a:t>
            </a:r>
            <a:endParaRPr lang="en-US" altLang="zh-CN" b="0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3384550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1000" b="0"/>
              <a:t> </a:t>
            </a:r>
            <a:endParaRPr lang="en-US" altLang="zh-CN" b="0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0" y="6072188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1000" b="0"/>
              <a:t> </a:t>
            </a:r>
            <a:endParaRPr lang="en-US" altLang="zh-CN" b="0"/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0" y="1196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6" name="Rectangle 9"/>
          <p:cNvSpPr>
            <a:spLocks noChangeArrowheads="1"/>
          </p:cNvSpPr>
          <p:nvPr/>
        </p:nvSpPr>
        <p:spPr bwMode="auto">
          <a:xfrm>
            <a:off x="0" y="3816350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1000" b="0"/>
              <a:t> </a:t>
            </a:r>
            <a:endParaRPr lang="en-US" altLang="zh-CN" b="0"/>
          </a:p>
        </p:txBody>
      </p:sp>
      <p:sp>
        <p:nvSpPr>
          <p:cNvPr id="17417" name="Rectangle 11"/>
          <p:cNvSpPr>
            <a:spLocks noChangeArrowheads="1"/>
          </p:cNvSpPr>
          <p:nvPr/>
        </p:nvSpPr>
        <p:spPr bwMode="auto">
          <a:xfrm>
            <a:off x="5562266" y="5000204"/>
            <a:ext cx="3108325" cy="1418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zh-CN" altLang="en-US" sz="2000" dirty="0"/>
              <a:t>复合管输出级可提高晶体管的电流增益，减小基极驱动电流。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84" y="1547193"/>
            <a:ext cx="5003382" cy="5027264"/>
          </a:xfrm>
          <a:prstGeom prst="rect">
            <a:avLst/>
          </a:prstGeom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915987" y="439738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eaLnBrk="1" hangingPunct="1">
              <a:spcBef>
                <a:spcPct val="50000"/>
              </a:spcBef>
              <a:buFontTx/>
              <a:buNone/>
              <a:defRPr>
                <a:solidFill>
                  <a:srgbClr val="990033"/>
                </a:solidFill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/>
            </a:lvl2pPr>
            <a:lvl3pPr marL="1143000" indent="-228600" algn="l" eaLnBrk="0" hangingPunct="0">
              <a:spcBef>
                <a:spcPct val="20000"/>
              </a:spcBef>
              <a:buChar char="•"/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/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zh-CN" altLang="en-US" dirty="0" smtClean="0"/>
              <a:t>四、使用复合管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9754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158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3730625"/>
            <a:ext cx="438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1000" b="0"/>
              <a:t>        </a:t>
            </a:r>
            <a:endParaRPr lang="en-US" altLang="zh-CN" b="0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3384550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1000" b="0"/>
              <a:t> </a:t>
            </a:r>
            <a:endParaRPr lang="en-US" altLang="zh-CN" b="0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0" y="6072188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1000" b="0"/>
              <a:t> </a:t>
            </a:r>
            <a:endParaRPr lang="en-US" altLang="zh-CN" b="0"/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0" y="1196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6" name="Rectangle 9"/>
          <p:cNvSpPr>
            <a:spLocks noChangeArrowheads="1"/>
          </p:cNvSpPr>
          <p:nvPr/>
        </p:nvSpPr>
        <p:spPr bwMode="auto">
          <a:xfrm>
            <a:off x="0" y="3816350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1000" b="0"/>
              <a:t> </a:t>
            </a:r>
            <a:endParaRPr lang="en-US" altLang="zh-CN" b="0"/>
          </a:p>
        </p:txBody>
      </p:sp>
      <p:sp>
        <p:nvSpPr>
          <p:cNvPr id="17417" name="Rectangle 11"/>
          <p:cNvSpPr>
            <a:spLocks noChangeArrowheads="1"/>
          </p:cNvSpPr>
          <p:nvPr/>
        </p:nvSpPr>
        <p:spPr bwMode="auto">
          <a:xfrm>
            <a:off x="5688722" y="1230314"/>
            <a:ext cx="310832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zh-CN" sz="2000" dirty="0" smtClean="0"/>
              <a:t>1</a:t>
            </a:r>
            <a:r>
              <a:rPr lang="zh-CN" altLang="en-US" sz="2000" dirty="0" smtClean="0"/>
              <a:t>、输入端引入射级跟随器，可增大输入电阻。</a:t>
            </a:r>
            <a:endParaRPr lang="en-US" altLang="zh-CN" sz="2000" dirty="0" smtClean="0"/>
          </a:p>
          <a:p>
            <a:pPr algn="l" eaLnBrk="1" hangingPunct="1">
              <a:lnSpc>
                <a:spcPct val="150000"/>
              </a:lnSpc>
            </a:pPr>
            <a:r>
              <a:rPr lang="en-US" altLang="zh-CN" sz="2000" dirty="0" smtClean="0"/>
              <a:t>2</a:t>
            </a:r>
            <a:r>
              <a:rPr lang="zh-CN" altLang="en-US" sz="2000" dirty="0" smtClean="0"/>
              <a:t>、</a:t>
            </a:r>
            <a:r>
              <a:rPr lang="en-US" altLang="zh-CN" sz="2000" i="1" dirty="0" smtClean="0"/>
              <a:t>R</a:t>
            </a:r>
            <a:r>
              <a:rPr lang="en-US" altLang="zh-CN" sz="2000" baseline="-25000" dirty="0" smtClean="0"/>
              <a:t>3 </a:t>
            </a:r>
            <a:r>
              <a:rPr lang="zh-CN" altLang="en-US" sz="2000" dirty="0" smtClean="0"/>
              <a:t>和 </a:t>
            </a:r>
            <a:r>
              <a:rPr lang="en-US" altLang="zh-CN" sz="2000" i="1" dirty="0" smtClean="0"/>
              <a:t>R</a:t>
            </a:r>
            <a:r>
              <a:rPr lang="en-US" altLang="zh-CN" sz="2000" baseline="-25000" dirty="0" smtClean="0"/>
              <a:t>4 </a:t>
            </a:r>
            <a:r>
              <a:rPr lang="zh-CN" altLang="en-US" sz="2000" dirty="0" smtClean="0"/>
              <a:t>电阻很小，主要是为了补偿 </a:t>
            </a:r>
            <a:r>
              <a:rPr lang="en-US" altLang="zh-CN" sz="2000" i="1" dirty="0" smtClean="0"/>
              <a:t>Q</a:t>
            </a:r>
            <a:r>
              <a:rPr lang="en-US" altLang="zh-CN" sz="2000" baseline="-25000" dirty="0" smtClean="0"/>
              <a:t>3 </a:t>
            </a:r>
            <a:r>
              <a:rPr lang="zh-CN" altLang="en-US" sz="2000" dirty="0" smtClean="0"/>
              <a:t>和 </a:t>
            </a:r>
            <a:r>
              <a:rPr lang="en-US" altLang="zh-CN" sz="2000" i="1" dirty="0" smtClean="0"/>
              <a:t>Q</a:t>
            </a:r>
            <a:r>
              <a:rPr lang="en-US" altLang="zh-CN" sz="2000" baseline="-25000" dirty="0" smtClean="0"/>
              <a:t>4 </a:t>
            </a:r>
            <a:r>
              <a:rPr lang="zh-CN" altLang="en-US" sz="2000" dirty="0" smtClean="0"/>
              <a:t>的</a:t>
            </a:r>
            <a:endParaRPr lang="zh-CN" altLang="en-US" sz="2000" dirty="0"/>
          </a:p>
          <a:p>
            <a:pPr algn="l" eaLnBrk="1" hangingPunct="1">
              <a:lnSpc>
                <a:spcPct val="150000"/>
              </a:lnSpc>
            </a:pPr>
            <a:r>
              <a:rPr lang="zh-CN" altLang="en-US" sz="2000" dirty="0" smtClean="0"/>
              <a:t>失配，使输出信号的正负幅度相同。</a:t>
            </a:r>
            <a:endParaRPr lang="en-US" altLang="zh-CN" sz="2000" dirty="0" smtClean="0"/>
          </a:p>
          <a:p>
            <a:pPr algn="l" eaLnBrk="1" hangingPunct="1">
              <a:lnSpc>
                <a:spcPct val="150000"/>
              </a:lnSpc>
            </a:pPr>
            <a:r>
              <a:rPr lang="en-US" altLang="zh-CN" sz="2000" dirty="0" smtClean="0"/>
              <a:t>3</a:t>
            </a:r>
            <a:r>
              <a:rPr lang="zh-CN" altLang="en-US" sz="2000" dirty="0" smtClean="0"/>
              <a:t>、</a:t>
            </a:r>
            <a:r>
              <a:rPr lang="en-US" altLang="zh-CN" sz="2000" i="1" dirty="0" smtClean="0"/>
              <a:t>R</a:t>
            </a:r>
            <a:r>
              <a:rPr lang="en-US" altLang="zh-CN" sz="2000" baseline="-25000" dirty="0" smtClean="0"/>
              <a:t>3 </a:t>
            </a:r>
            <a:r>
              <a:rPr lang="zh-CN" altLang="en-US" sz="2000" dirty="0" smtClean="0"/>
              <a:t>还可以提供负反馈，稳定通过</a:t>
            </a:r>
            <a:r>
              <a:rPr lang="en-US" altLang="zh-CN" sz="2000" i="1" dirty="0"/>
              <a:t>Q</a:t>
            </a:r>
            <a:r>
              <a:rPr lang="en-US" altLang="zh-CN" sz="2000" baseline="-25000" dirty="0"/>
              <a:t>3</a:t>
            </a:r>
            <a:r>
              <a:rPr lang="zh-CN" altLang="en-US" sz="2000" dirty="0" smtClean="0"/>
              <a:t>的电流，防止热失控。</a:t>
            </a:r>
            <a:endParaRPr lang="zh-CN" altLang="en-US" sz="2000" dirty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915987" y="439738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eaLnBrk="1" hangingPunct="1">
              <a:spcBef>
                <a:spcPct val="50000"/>
              </a:spcBef>
              <a:buFontTx/>
              <a:buNone/>
              <a:defRPr>
                <a:solidFill>
                  <a:srgbClr val="990033"/>
                </a:solidFill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/>
            </a:lvl2pPr>
            <a:lvl3pPr marL="1143000" indent="-228600" algn="l" eaLnBrk="0" hangingPunct="0">
              <a:spcBef>
                <a:spcPct val="20000"/>
              </a:spcBef>
              <a:buChar char="•"/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/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zh-CN" altLang="en-US" dirty="0" smtClean="0"/>
              <a:t>五、输入端引入射级跟随器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95" y="1163637"/>
            <a:ext cx="4905375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150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4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74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4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12538</TotalTime>
  <Words>794</Words>
  <Application>Microsoft Office PowerPoint</Application>
  <PresentationFormat>全屏显示(4:3)</PresentationFormat>
  <Paragraphs>94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楷体_GB2312</vt:lpstr>
      <vt:lpstr>隶书</vt:lpstr>
      <vt:lpstr>宋体</vt:lpstr>
      <vt:lpstr>Symbol</vt:lpstr>
      <vt:lpstr>Times New Roman</vt:lpstr>
      <vt:lpstr>默认设计模板</vt:lpstr>
      <vt:lpstr>Equation</vt:lpstr>
      <vt:lpstr>MathType 6.0 Equation</vt:lpstr>
      <vt:lpstr>第十二章  功率放大器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thcic</dc:creator>
  <cp:lastModifiedBy>JT</cp:lastModifiedBy>
  <cp:revision>745</cp:revision>
  <dcterms:created xsi:type="dcterms:W3CDTF">1998-03-26T06:58:13Z</dcterms:created>
  <dcterms:modified xsi:type="dcterms:W3CDTF">2025-03-18T02:23:59Z</dcterms:modified>
</cp:coreProperties>
</file>

<file path=[Content_Types].xml><?xml version="1.0" encoding="utf-8"?>
<Types xmlns="http://schemas.openxmlformats.org/package/2006/content-types">
  <Default Extension="png" ContentType="image/png"/>
  <Default Extension="vsd" ContentType="application/vnd.visio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sdx" ContentType="application/vnd.ms-visio.drawing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sldIdLst>
    <p:sldId id="303" r:id="rId2"/>
    <p:sldId id="304" r:id="rId3"/>
    <p:sldId id="305" r:id="rId4"/>
    <p:sldId id="382" r:id="rId5"/>
    <p:sldId id="381" r:id="rId6"/>
    <p:sldId id="306" r:id="rId7"/>
    <p:sldId id="307" r:id="rId8"/>
    <p:sldId id="309" r:id="rId9"/>
    <p:sldId id="373" r:id="rId10"/>
    <p:sldId id="312" r:id="rId11"/>
    <p:sldId id="313" r:id="rId12"/>
    <p:sldId id="314" r:id="rId13"/>
    <p:sldId id="315" r:id="rId14"/>
    <p:sldId id="317" r:id="rId15"/>
    <p:sldId id="318" r:id="rId16"/>
    <p:sldId id="319" r:id="rId17"/>
    <p:sldId id="380" r:id="rId18"/>
    <p:sldId id="320" r:id="rId19"/>
    <p:sldId id="321" r:id="rId20"/>
    <p:sldId id="322" r:id="rId21"/>
    <p:sldId id="323" r:id="rId22"/>
    <p:sldId id="384" r:id="rId23"/>
    <p:sldId id="385" r:id="rId24"/>
    <p:sldId id="386" r:id="rId25"/>
    <p:sldId id="324" r:id="rId26"/>
    <p:sldId id="325" r:id="rId27"/>
    <p:sldId id="326" r:id="rId28"/>
    <p:sldId id="327" r:id="rId29"/>
    <p:sldId id="329" r:id="rId30"/>
    <p:sldId id="330" r:id="rId31"/>
    <p:sldId id="331" r:id="rId32"/>
    <p:sldId id="372" r:id="rId33"/>
    <p:sldId id="378" r:id="rId34"/>
    <p:sldId id="370" r:id="rId35"/>
    <p:sldId id="332" r:id="rId36"/>
    <p:sldId id="333" r:id="rId37"/>
    <p:sldId id="334" r:id="rId38"/>
    <p:sldId id="335" r:id="rId39"/>
    <p:sldId id="336" r:id="rId40"/>
    <p:sldId id="337" r:id="rId41"/>
    <p:sldId id="369" r:id="rId42"/>
    <p:sldId id="357" r:id="rId43"/>
    <p:sldId id="358" r:id="rId44"/>
    <p:sldId id="341" r:id="rId45"/>
    <p:sldId id="342" r:id="rId46"/>
    <p:sldId id="374" r:id="rId47"/>
    <p:sldId id="375" r:id="rId48"/>
    <p:sldId id="343" r:id="rId49"/>
    <p:sldId id="344" r:id="rId50"/>
    <p:sldId id="376" r:id="rId51"/>
    <p:sldId id="377" r:id="rId52"/>
    <p:sldId id="345" r:id="rId53"/>
    <p:sldId id="346" r:id="rId54"/>
    <p:sldId id="347" r:id="rId55"/>
    <p:sldId id="387" r:id="rId56"/>
  </p:sldIdLst>
  <p:sldSz cx="9144000" cy="6858000" type="screen4x3"/>
  <p:notesSz cx="6858000" cy="9144000"/>
  <p:defaultTextStyle>
    <a:defPPr>
      <a:defRPr lang="zh-CN"/>
    </a:defPPr>
    <a:lvl1pPr algn="ctr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92D050"/>
    <a:srgbClr val="00FFFF"/>
    <a:srgbClr val="FF33CC"/>
    <a:srgbClr val="990099"/>
    <a:srgbClr val="FF9900"/>
    <a:srgbClr val="FF0066"/>
    <a:srgbClr val="FF00FF"/>
    <a:srgbClr val="66FF33"/>
    <a:srgbClr val="66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41" autoAdjust="0"/>
  </p:normalViewPr>
  <p:slideViewPr>
    <p:cSldViewPr snapToGrid="0">
      <p:cViewPr varScale="1">
        <p:scale>
          <a:sx n="115" d="100"/>
          <a:sy n="115" d="100"/>
        </p:scale>
        <p:origin x="149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37" d="100"/>
          <a:sy n="37" d="100"/>
        </p:scale>
        <p:origin x="-1470" y="-96"/>
      </p:cViewPr>
      <p:guideLst>
        <p:guide orient="horz" pos="2880"/>
        <p:guide pos="2160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e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image" Target="../media/image22.wmf"/><Relationship Id="rId7" Type="http://schemas.openxmlformats.org/officeDocument/2006/relationships/image" Target="../media/image26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6" Type="http://schemas.openxmlformats.org/officeDocument/2006/relationships/image" Target="../media/image25.wmf"/><Relationship Id="rId11" Type="http://schemas.openxmlformats.org/officeDocument/2006/relationships/image" Target="../media/image30.wmf"/><Relationship Id="rId5" Type="http://schemas.openxmlformats.org/officeDocument/2006/relationships/image" Target="../media/image24.wmf"/><Relationship Id="rId10" Type="http://schemas.openxmlformats.org/officeDocument/2006/relationships/image" Target="../media/image29.wmf"/><Relationship Id="rId4" Type="http://schemas.openxmlformats.org/officeDocument/2006/relationships/image" Target="../media/image23.wmf"/><Relationship Id="rId9" Type="http://schemas.openxmlformats.org/officeDocument/2006/relationships/image" Target="../media/image28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3" Type="http://schemas.openxmlformats.org/officeDocument/2006/relationships/image" Target="../media/image33.wmf"/><Relationship Id="rId7" Type="http://schemas.openxmlformats.org/officeDocument/2006/relationships/image" Target="../media/image37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Relationship Id="rId6" Type="http://schemas.openxmlformats.org/officeDocument/2006/relationships/image" Target="../media/image36.wmf"/><Relationship Id="rId5" Type="http://schemas.openxmlformats.org/officeDocument/2006/relationships/image" Target="../media/image35.wmf"/><Relationship Id="rId4" Type="http://schemas.openxmlformats.org/officeDocument/2006/relationships/image" Target="../media/image34.wmf"/><Relationship Id="rId9" Type="http://schemas.openxmlformats.org/officeDocument/2006/relationships/image" Target="../media/image39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e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image" Target="../media/image45.e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48.emf"/><Relationship Id="rId1" Type="http://schemas.openxmlformats.org/officeDocument/2006/relationships/image" Target="../media/image47.e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image" Target="../media/image52.wmf"/><Relationship Id="rId1" Type="http://schemas.openxmlformats.org/officeDocument/2006/relationships/image" Target="../media/image51.wmf"/><Relationship Id="rId5" Type="http://schemas.openxmlformats.org/officeDocument/2006/relationships/image" Target="../media/image55.wmf"/><Relationship Id="rId4" Type="http://schemas.openxmlformats.org/officeDocument/2006/relationships/image" Target="../media/image54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58.wmf"/><Relationship Id="rId1" Type="http://schemas.openxmlformats.org/officeDocument/2006/relationships/image" Target="../media/image57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59.e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2" Type="http://schemas.openxmlformats.org/officeDocument/2006/relationships/image" Target="../media/image61.wmf"/><Relationship Id="rId1" Type="http://schemas.openxmlformats.org/officeDocument/2006/relationships/image" Target="../media/image60.wmf"/><Relationship Id="rId5" Type="http://schemas.openxmlformats.org/officeDocument/2006/relationships/image" Target="../media/image64.wmf"/><Relationship Id="rId4" Type="http://schemas.openxmlformats.org/officeDocument/2006/relationships/image" Target="../media/image63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7" Type="http://schemas.openxmlformats.org/officeDocument/2006/relationships/image" Target="../media/image71.wmf"/><Relationship Id="rId2" Type="http://schemas.openxmlformats.org/officeDocument/2006/relationships/image" Target="../media/image66.wmf"/><Relationship Id="rId1" Type="http://schemas.openxmlformats.org/officeDocument/2006/relationships/image" Target="../media/image65.wmf"/><Relationship Id="rId6" Type="http://schemas.openxmlformats.org/officeDocument/2006/relationships/image" Target="../media/image70.wmf"/><Relationship Id="rId5" Type="http://schemas.openxmlformats.org/officeDocument/2006/relationships/image" Target="../media/image69.wmf"/><Relationship Id="rId4" Type="http://schemas.openxmlformats.org/officeDocument/2006/relationships/image" Target="../media/image68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4.wmf"/><Relationship Id="rId2" Type="http://schemas.openxmlformats.org/officeDocument/2006/relationships/image" Target="../media/image73.wmf"/><Relationship Id="rId1" Type="http://schemas.openxmlformats.org/officeDocument/2006/relationships/image" Target="../media/image72.wmf"/><Relationship Id="rId6" Type="http://schemas.openxmlformats.org/officeDocument/2006/relationships/image" Target="../media/image77.wmf"/><Relationship Id="rId5" Type="http://schemas.openxmlformats.org/officeDocument/2006/relationships/image" Target="../media/image76.wmf"/><Relationship Id="rId4" Type="http://schemas.openxmlformats.org/officeDocument/2006/relationships/image" Target="../media/image75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9.wmf"/><Relationship Id="rId2" Type="http://schemas.openxmlformats.org/officeDocument/2006/relationships/image" Target="../media/image78.wmf"/><Relationship Id="rId1" Type="http://schemas.openxmlformats.org/officeDocument/2006/relationships/image" Target="../media/image59.emf"/><Relationship Id="rId4" Type="http://schemas.openxmlformats.org/officeDocument/2006/relationships/image" Target="../media/image80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1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87.emf"/><Relationship Id="rId2" Type="http://schemas.openxmlformats.org/officeDocument/2006/relationships/image" Target="../media/image86.emf"/><Relationship Id="rId1" Type="http://schemas.openxmlformats.org/officeDocument/2006/relationships/image" Target="../media/image60.wmf"/><Relationship Id="rId5" Type="http://schemas.openxmlformats.org/officeDocument/2006/relationships/image" Target="../media/image89.emf"/><Relationship Id="rId4" Type="http://schemas.openxmlformats.org/officeDocument/2006/relationships/image" Target="../media/image88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0.w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94.wmf"/><Relationship Id="rId1" Type="http://schemas.openxmlformats.org/officeDocument/2006/relationships/image" Target="../media/image93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97.wmf"/><Relationship Id="rId2" Type="http://schemas.openxmlformats.org/officeDocument/2006/relationships/image" Target="../media/image96.wmf"/><Relationship Id="rId1" Type="http://schemas.openxmlformats.org/officeDocument/2006/relationships/image" Target="../media/image95.emf"/><Relationship Id="rId4" Type="http://schemas.openxmlformats.org/officeDocument/2006/relationships/image" Target="../media/image98.emf"/></Relationships>
</file>

<file path=ppt/drawings/_rels/vmlDrawing2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wmf"/><Relationship Id="rId1" Type="http://schemas.openxmlformats.org/officeDocument/2006/relationships/image" Target="../media/image102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wmf"/><Relationship Id="rId2" Type="http://schemas.openxmlformats.org/officeDocument/2006/relationships/image" Target="../media/image107.wmf"/><Relationship Id="rId1" Type="http://schemas.openxmlformats.org/officeDocument/2006/relationships/image" Target="../media/image106.wmf"/><Relationship Id="rId6" Type="http://schemas.openxmlformats.org/officeDocument/2006/relationships/image" Target="../media/image111.wmf"/><Relationship Id="rId5" Type="http://schemas.openxmlformats.org/officeDocument/2006/relationships/image" Target="../media/image110.wmf"/><Relationship Id="rId4" Type="http://schemas.openxmlformats.org/officeDocument/2006/relationships/image" Target="../media/image109.w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2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wmf"/><Relationship Id="rId2" Type="http://schemas.openxmlformats.org/officeDocument/2006/relationships/image" Target="../media/image116.wmf"/><Relationship Id="rId1" Type="http://schemas.openxmlformats.org/officeDocument/2006/relationships/image" Target="../media/image115.wmf"/><Relationship Id="rId6" Type="http://schemas.openxmlformats.org/officeDocument/2006/relationships/image" Target="../media/image120.wmf"/><Relationship Id="rId5" Type="http://schemas.openxmlformats.org/officeDocument/2006/relationships/image" Target="../media/image119.wmf"/><Relationship Id="rId4" Type="http://schemas.openxmlformats.org/officeDocument/2006/relationships/image" Target="../media/image118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wmf"/><Relationship Id="rId2" Type="http://schemas.openxmlformats.org/officeDocument/2006/relationships/image" Target="../media/image123.wmf"/><Relationship Id="rId1" Type="http://schemas.openxmlformats.org/officeDocument/2006/relationships/image" Target="../media/image115.wmf"/><Relationship Id="rId6" Type="http://schemas.openxmlformats.org/officeDocument/2006/relationships/image" Target="../media/image120.wmf"/><Relationship Id="rId5" Type="http://schemas.openxmlformats.org/officeDocument/2006/relationships/image" Target="../media/image126.wmf"/><Relationship Id="rId4" Type="http://schemas.openxmlformats.org/officeDocument/2006/relationships/image" Target="../media/image125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wmf"/><Relationship Id="rId2" Type="http://schemas.openxmlformats.org/officeDocument/2006/relationships/image" Target="../media/image130.wmf"/><Relationship Id="rId1" Type="http://schemas.openxmlformats.org/officeDocument/2006/relationships/image" Target="../media/image129.wmf"/><Relationship Id="rId4" Type="http://schemas.openxmlformats.org/officeDocument/2006/relationships/image" Target="../media/image132.wmf"/></Relationships>
</file>

<file path=ppt/drawings/_rels/vmlDrawing3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wmf"/><Relationship Id="rId3" Type="http://schemas.openxmlformats.org/officeDocument/2006/relationships/image" Target="../media/image140.wmf"/><Relationship Id="rId7" Type="http://schemas.openxmlformats.org/officeDocument/2006/relationships/image" Target="../media/image144.wmf"/><Relationship Id="rId2" Type="http://schemas.openxmlformats.org/officeDocument/2006/relationships/image" Target="../media/image139.wmf"/><Relationship Id="rId1" Type="http://schemas.openxmlformats.org/officeDocument/2006/relationships/image" Target="../media/image138.wmf"/><Relationship Id="rId6" Type="http://schemas.openxmlformats.org/officeDocument/2006/relationships/image" Target="../media/image143.wmf"/><Relationship Id="rId5" Type="http://schemas.openxmlformats.org/officeDocument/2006/relationships/image" Target="../media/image142.wmf"/><Relationship Id="rId4" Type="http://schemas.openxmlformats.org/officeDocument/2006/relationships/image" Target="../media/image141.wmf"/><Relationship Id="rId9" Type="http://schemas.openxmlformats.org/officeDocument/2006/relationships/image" Target="../media/image146.wmf"/></Relationships>
</file>

<file path=ppt/drawings/_rels/vmlDrawing3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wmf"/><Relationship Id="rId3" Type="http://schemas.openxmlformats.org/officeDocument/2006/relationships/image" Target="../media/image150.wmf"/><Relationship Id="rId7" Type="http://schemas.openxmlformats.org/officeDocument/2006/relationships/image" Target="../media/image145.wmf"/><Relationship Id="rId2" Type="http://schemas.openxmlformats.org/officeDocument/2006/relationships/image" Target="../media/image149.wmf"/><Relationship Id="rId1" Type="http://schemas.openxmlformats.org/officeDocument/2006/relationships/image" Target="../media/image138.wmf"/><Relationship Id="rId6" Type="http://schemas.openxmlformats.org/officeDocument/2006/relationships/image" Target="../media/image152.wmf"/><Relationship Id="rId5" Type="http://schemas.openxmlformats.org/officeDocument/2006/relationships/image" Target="../media/image142.wmf"/><Relationship Id="rId4" Type="http://schemas.openxmlformats.org/officeDocument/2006/relationships/image" Target="../media/image15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200" b="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b="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71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86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286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b="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6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ea typeface="宋体" pitchFamily="2" charset="-122"/>
              </a:defRPr>
            </a:lvl1pPr>
          </a:lstStyle>
          <a:p>
            <a:pPr>
              <a:defRPr/>
            </a:pPr>
            <a:fld id="{5710BAA5-C1EB-42C5-B492-81408748D82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2703255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8F52DC-8D31-4A64-9268-599CA733845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512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B078B6-6C15-456C-B494-089E333C2BD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1469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AD2144-F59F-43DA-AC6E-0CA8C73D7B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95033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6DBE3B-B703-43F2-A973-EF1A4A8EE32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76035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8164DB-235C-4034-8950-78A34295DB6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44117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442FFC-A23F-49B7-8B04-DE3CFFF5658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38877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D9846D-F174-4862-B778-BF772C17ADB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70028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86517D-9A6F-4858-870F-4BD17AA2C97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05277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964AF0-1DED-4759-93E8-77FA349510B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82009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42C321-90C1-4C47-93AD-B9DE7157F44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5631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618B60-E845-4D54-B6D3-C79D14D7811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307805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D1A26D-9841-4455-BF0E-3F4EA0D917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68706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85800" y="198120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85800" y="411480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ED5DBD-81F7-4530-BB03-CC8B1B2767A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7673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 b="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ea typeface="宋体" pitchFamily="2" charset="-122"/>
              </a:defRPr>
            </a:lvl1pPr>
          </a:lstStyle>
          <a:p>
            <a:pPr>
              <a:defRPr/>
            </a:pPr>
            <a:fld id="{AE591CA0-EC69-426A-8ADD-4181BD8E9D5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__1.vsd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Visio_2003-2010___1.vsd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Visio_2003-2010___2.vsd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5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__2.vsd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6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Visio_2003-2010___3.vsd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2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Visio_2003-2010___4.vsd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13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package" Target="../embeddings/Microsoft_Visio___3.vsdx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6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13" Type="http://schemas.openxmlformats.org/officeDocument/2006/relationships/oleObject" Target="../embeddings/oleObject9.bin"/><Relationship Id="rId18" Type="http://schemas.openxmlformats.org/officeDocument/2006/relationships/image" Target="../media/image27.wmf"/><Relationship Id="rId3" Type="http://schemas.openxmlformats.org/officeDocument/2006/relationships/oleObject" Target="../embeddings/oleObject4.bin"/><Relationship Id="rId21" Type="http://schemas.openxmlformats.org/officeDocument/2006/relationships/oleObject" Target="../embeddings/oleObject13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24.wmf"/><Relationship Id="rId17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6.wmf"/><Relationship Id="rId20" Type="http://schemas.openxmlformats.org/officeDocument/2006/relationships/image" Target="../media/image28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21.wmf"/><Relationship Id="rId11" Type="http://schemas.openxmlformats.org/officeDocument/2006/relationships/oleObject" Target="../embeddings/oleObject8.bin"/><Relationship Id="rId24" Type="http://schemas.openxmlformats.org/officeDocument/2006/relationships/image" Target="../media/image30.wmf"/><Relationship Id="rId5" Type="http://schemas.openxmlformats.org/officeDocument/2006/relationships/oleObject" Target="../embeddings/oleObject5.bin"/><Relationship Id="rId15" Type="http://schemas.openxmlformats.org/officeDocument/2006/relationships/oleObject" Target="../embeddings/oleObject10.bin"/><Relationship Id="rId23" Type="http://schemas.openxmlformats.org/officeDocument/2006/relationships/oleObject" Target="../embeddings/oleObject14.bin"/><Relationship Id="rId10" Type="http://schemas.openxmlformats.org/officeDocument/2006/relationships/image" Target="../media/image23.wmf"/><Relationship Id="rId19" Type="http://schemas.openxmlformats.org/officeDocument/2006/relationships/oleObject" Target="../embeddings/oleObject12.bin"/><Relationship Id="rId4" Type="http://schemas.openxmlformats.org/officeDocument/2006/relationships/image" Target="../media/image20.wmf"/><Relationship Id="rId9" Type="http://schemas.openxmlformats.org/officeDocument/2006/relationships/oleObject" Target="../embeddings/oleObject7.bin"/><Relationship Id="rId14" Type="http://schemas.openxmlformats.org/officeDocument/2006/relationships/image" Target="../media/image25.wmf"/><Relationship Id="rId22" Type="http://schemas.openxmlformats.org/officeDocument/2006/relationships/image" Target="../media/image29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13" Type="http://schemas.openxmlformats.org/officeDocument/2006/relationships/image" Target="../media/image35.wmf"/><Relationship Id="rId18" Type="http://schemas.openxmlformats.org/officeDocument/2006/relationships/oleObject" Target="../embeddings/oleObject22.bin"/><Relationship Id="rId3" Type="http://schemas.openxmlformats.org/officeDocument/2006/relationships/oleObject" Target="../embeddings/oleObject15.bin"/><Relationship Id="rId21" Type="http://schemas.openxmlformats.org/officeDocument/2006/relationships/image" Target="../media/image39.wmf"/><Relationship Id="rId7" Type="http://schemas.openxmlformats.org/officeDocument/2006/relationships/image" Target="../media/image40.png"/><Relationship Id="rId12" Type="http://schemas.openxmlformats.org/officeDocument/2006/relationships/oleObject" Target="../embeddings/oleObject19.bin"/><Relationship Id="rId17" Type="http://schemas.openxmlformats.org/officeDocument/2006/relationships/image" Target="../media/image37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1.bin"/><Relationship Id="rId20" Type="http://schemas.openxmlformats.org/officeDocument/2006/relationships/oleObject" Target="../embeddings/oleObject23.bin"/><Relationship Id="rId1" Type="http://schemas.openxmlformats.org/officeDocument/2006/relationships/vmlDrawing" Target="../drawings/vmlDrawing9.vml"/><Relationship Id="rId6" Type="http://schemas.openxmlformats.org/officeDocument/2006/relationships/image" Target="../media/image32.wmf"/><Relationship Id="rId11" Type="http://schemas.openxmlformats.org/officeDocument/2006/relationships/image" Target="../media/image34.wmf"/><Relationship Id="rId5" Type="http://schemas.openxmlformats.org/officeDocument/2006/relationships/oleObject" Target="../embeddings/oleObject16.bin"/><Relationship Id="rId15" Type="http://schemas.openxmlformats.org/officeDocument/2006/relationships/image" Target="../media/image36.wmf"/><Relationship Id="rId10" Type="http://schemas.openxmlformats.org/officeDocument/2006/relationships/oleObject" Target="../embeddings/oleObject18.bin"/><Relationship Id="rId19" Type="http://schemas.openxmlformats.org/officeDocument/2006/relationships/image" Target="../media/image38.wmf"/><Relationship Id="rId4" Type="http://schemas.openxmlformats.org/officeDocument/2006/relationships/image" Target="../media/image31.wmf"/><Relationship Id="rId9" Type="http://schemas.openxmlformats.org/officeDocument/2006/relationships/image" Target="../media/image33.wmf"/><Relationship Id="rId14" Type="http://schemas.openxmlformats.org/officeDocument/2006/relationships/oleObject" Target="../embeddings/oleObject20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41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42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43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44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46.e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45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48.e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47.e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13" Type="http://schemas.openxmlformats.org/officeDocument/2006/relationships/image" Target="../media/image55.wmf"/><Relationship Id="rId3" Type="http://schemas.openxmlformats.org/officeDocument/2006/relationships/image" Target="../media/image56.png"/><Relationship Id="rId7" Type="http://schemas.openxmlformats.org/officeDocument/2006/relationships/image" Target="../media/image52.wmf"/><Relationship Id="rId12" Type="http://schemas.openxmlformats.org/officeDocument/2006/relationships/oleObject" Target="../embeddings/oleObject3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33.bin"/><Relationship Id="rId11" Type="http://schemas.openxmlformats.org/officeDocument/2006/relationships/image" Target="../media/image54.wmf"/><Relationship Id="rId5" Type="http://schemas.openxmlformats.org/officeDocument/2006/relationships/image" Target="../media/image51.wmf"/><Relationship Id="rId10" Type="http://schemas.openxmlformats.org/officeDocument/2006/relationships/oleObject" Target="../embeddings/oleObject35.bin"/><Relationship Id="rId4" Type="http://schemas.openxmlformats.org/officeDocument/2006/relationships/oleObject" Target="../embeddings/oleObject32.bin"/><Relationship Id="rId9" Type="http://schemas.openxmlformats.org/officeDocument/2006/relationships/image" Target="../media/image53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__4.vsd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58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57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59.e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0.bin"/><Relationship Id="rId12" Type="http://schemas.openxmlformats.org/officeDocument/2006/relationships/image" Target="../media/image64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61.wmf"/><Relationship Id="rId11" Type="http://schemas.openxmlformats.org/officeDocument/2006/relationships/oleObject" Target="../embeddings/oleObject42.bin"/><Relationship Id="rId5" Type="http://schemas.openxmlformats.org/officeDocument/2006/relationships/oleObject" Target="../embeddings/Microsoft_Visio_2003-2010___5.vsd"/><Relationship Id="rId10" Type="http://schemas.openxmlformats.org/officeDocument/2006/relationships/image" Target="../media/image63.wmf"/><Relationship Id="rId4" Type="http://schemas.openxmlformats.org/officeDocument/2006/relationships/image" Target="../media/image60.wmf"/><Relationship Id="rId9" Type="http://schemas.openxmlformats.org/officeDocument/2006/relationships/oleObject" Target="../embeddings/oleObject41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wmf"/><Relationship Id="rId13" Type="http://schemas.openxmlformats.org/officeDocument/2006/relationships/oleObject" Target="../embeddings/oleObject48.bin"/><Relationship Id="rId3" Type="http://schemas.openxmlformats.org/officeDocument/2006/relationships/oleObject" Target="../embeddings/oleObject43.bin"/><Relationship Id="rId7" Type="http://schemas.openxmlformats.org/officeDocument/2006/relationships/oleObject" Target="../embeddings/oleObject45.bin"/><Relationship Id="rId12" Type="http://schemas.openxmlformats.org/officeDocument/2006/relationships/image" Target="../media/image69.wmf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71.w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66.wmf"/><Relationship Id="rId11" Type="http://schemas.openxmlformats.org/officeDocument/2006/relationships/oleObject" Target="../embeddings/oleObject47.bin"/><Relationship Id="rId5" Type="http://schemas.openxmlformats.org/officeDocument/2006/relationships/oleObject" Target="../embeddings/oleObject44.bin"/><Relationship Id="rId15" Type="http://schemas.openxmlformats.org/officeDocument/2006/relationships/oleObject" Target="../embeddings/oleObject49.bin"/><Relationship Id="rId10" Type="http://schemas.openxmlformats.org/officeDocument/2006/relationships/image" Target="../media/image68.wmf"/><Relationship Id="rId4" Type="http://schemas.openxmlformats.org/officeDocument/2006/relationships/image" Target="../media/image65.wmf"/><Relationship Id="rId9" Type="http://schemas.openxmlformats.org/officeDocument/2006/relationships/oleObject" Target="../embeddings/oleObject46.bin"/><Relationship Id="rId14" Type="http://schemas.openxmlformats.org/officeDocument/2006/relationships/image" Target="../media/image70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13" Type="http://schemas.openxmlformats.org/officeDocument/2006/relationships/oleObject" Target="../embeddings/oleObject55.bin"/><Relationship Id="rId3" Type="http://schemas.openxmlformats.org/officeDocument/2006/relationships/oleObject" Target="../embeddings/oleObject50.bin"/><Relationship Id="rId7" Type="http://schemas.openxmlformats.org/officeDocument/2006/relationships/oleObject" Target="../embeddings/oleObject52.bin"/><Relationship Id="rId12" Type="http://schemas.openxmlformats.org/officeDocument/2006/relationships/image" Target="../media/image7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73.wmf"/><Relationship Id="rId11" Type="http://schemas.openxmlformats.org/officeDocument/2006/relationships/oleObject" Target="../embeddings/oleObject54.bin"/><Relationship Id="rId5" Type="http://schemas.openxmlformats.org/officeDocument/2006/relationships/oleObject" Target="../embeddings/oleObject51.bin"/><Relationship Id="rId10" Type="http://schemas.openxmlformats.org/officeDocument/2006/relationships/image" Target="../media/image75.wmf"/><Relationship Id="rId4" Type="http://schemas.openxmlformats.org/officeDocument/2006/relationships/image" Target="../media/image72.wmf"/><Relationship Id="rId9" Type="http://schemas.openxmlformats.org/officeDocument/2006/relationships/oleObject" Target="../embeddings/oleObject53.bin"/><Relationship Id="rId14" Type="http://schemas.openxmlformats.org/officeDocument/2006/relationships/image" Target="../media/image77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3" Type="http://schemas.openxmlformats.org/officeDocument/2006/relationships/oleObject" Target="../embeddings/oleObject56.bin"/><Relationship Id="rId7" Type="http://schemas.openxmlformats.org/officeDocument/2006/relationships/oleObject" Target="../embeddings/oleObject5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78.wmf"/><Relationship Id="rId5" Type="http://schemas.openxmlformats.org/officeDocument/2006/relationships/oleObject" Target="../embeddings/oleObject57.bin"/><Relationship Id="rId10" Type="http://schemas.openxmlformats.org/officeDocument/2006/relationships/image" Target="../media/image80.wmf"/><Relationship Id="rId4" Type="http://schemas.openxmlformats.org/officeDocument/2006/relationships/image" Target="../media/image59.emf"/><Relationship Id="rId9" Type="http://schemas.openxmlformats.org/officeDocument/2006/relationships/oleObject" Target="../embeddings/oleObject59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oleObject" Target="../embeddings/oleObject60.bin"/><Relationship Id="rId7" Type="http://schemas.openxmlformats.org/officeDocument/2006/relationships/image" Target="../media/image84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emf"/><Relationship Id="rId3" Type="http://schemas.openxmlformats.org/officeDocument/2006/relationships/oleObject" Target="../embeddings/oleObject61.bin"/><Relationship Id="rId7" Type="http://schemas.openxmlformats.org/officeDocument/2006/relationships/oleObject" Target="../embeddings/oleObject63.bin"/><Relationship Id="rId12" Type="http://schemas.openxmlformats.org/officeDocument/2006/relationships/image" Target="../media/image89.e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86.emf"/><Relationship Id="rId11" Type="http://schemas.openxmlformats.org/officeDocument/2006/relationships/oleObject" Target="../embeddings/oleObject65.bin"/><Relationship Id="rId5" Type="http://schemas.openxmlformats.org/officeDocument/2006/relationships/oleObject" Target="../embeddings/oleObject62.bin"/><Relationship Id="rId10" Type="http://schemas.openxmlformats.org/officeDocument/2006/relationships/image" Target="../media/image88.emf"/><Relationship Id="rId4" Type="http://schemas.openxmlformats.org/officeDocument/2006/relationships/image" Target="../media/image60.wmf"/><Relationship Id="rId9" Type="http://schemas.openxmlformats.org/officeDocument/2006/relationships/oleObject" Target="../embeddings/oleObject64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6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5.vml"/><Relationship Id="rId5" Type="http://schemas.openxmlformats.org/officeDocument/2006/relationships/image" Target="../media/image90.png"/><Relationship Id="rId4" Type="http://schemas.openxmlformats.org/officeDocument/2006/relationships/image" Target="../media/image60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Visio_2003-2010___6.vsd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94.wmf"/><Relationship Id="rId5" Type="http://schemas.openxmlformats.org/officeDocument/2006/relationships/oleObject" Target="../embeddings/oleObject67.bin"/><Relationship Id="rId4" Type="http://schemas.openxmlformats.org/officeDocument/2006/relationships/image" Target="../media/image93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wmf"/><Relationship Id="rId3" Type="http://schemas.openxmlformats.org/officeDocument/2006/relationships/oleObject" Target="../embeddings/Microsoft_Visio_2003-2010___7.vsd"/><Relationship Id="rId7" Type="http://schemas.openxmlformats.org/officeDocument/2006/relationships/oleObject" Target="../embeddings/oleObject6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96.wmf"/><Relationship Id="rId5" Type="http://schemas.openxmlformats.org/officeDocument/2006/relationships/oleObject" Target="../embeddings/oleObject68.bin"/><Relationship Id="rId10" Type="http://schemas.openxmlformats.org/officeDocument/2006/relationships/image" Target="../media/image98.emf"/><Relationship Id="rId4" Type="http://schemas.openxmlformats.org/officeDocument/2006/relationships/image" Target="../media/image95.emf"/><Relationship Id="rId9" Type="http://schemas.openxmlformats.org/officeDocument/2006/relationships/oleObject" Target="../embeddings/Microsoft_Visio_2003-2010___8.vsd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7" Type="http://schemas.openxmlformats.org/officeDocument/2006/relationships/image" Target="../media/image10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71.bin"/><Relationship Id="rId5" Type="http://schemas.openxmlformats.org/officeDocument/2006/relationships/image" Target="../media/image102.wmf"/><Relationship Id="rId4" Type="http://schemas.openxmlformats.org/officeDocument/2006/relationships/oleObject" Target="../embeddings/oleObject70.bin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4.bin"/><Relationship Id="rId13" Type="http://schemas.openxmlformats.org/officeDocument/2006/relationships/image" Target="../media/image110.wmf"/><Relationship Id="rId3" Type="http://schemas.openxmlformats.org/officeDocument/2006/relationships/image" Target="../media/image104.png"/><Relationship Id="rId7" Type="http://schemas.openxmlformats.org/officeDocument/2006/relationships/image" Target="../media/image107.wmf"/><Relationship Id="rId12" Type="http://schemas.openxmlformats.org/officeDocument/2006/relationships/oleObject" Target="../embeddings/oleObject7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73.bin"/><Relationship Id="rId11" Type="http://schemas.openxmlformats.org/officeDocument/2006/relationships/image" Target="../media/image109.wmf"/><Relationship Id="rId5" Type="http://schemas.openxmlformats.org/officeDocument/2006/relationships/image" Target="../media/image106.wmf"/><Relationship Id="rId15" Type="http://schemas.openxmlformats.org/officeDocument/2006/relationships/image" Target="../media/image111.wmf"/><Relationship Id="rId10" Type="http://schemas.openxmlformats.org/officeDocument/2006/relationships/oleObject" Target="../embeddings/oleObject75.bin"/><Relationship Id="rId4" Type="http://schemas.openxmlformats.org/officeDocument/2006/relationships/oleObject" Target="../embeddings/oleObject72.bin"/><Relationship Id="rId9" Type="http://schemas.openxmlformats.org/officeDocument/2006/relationships/image" Target="../media/image108.wmf"/><Relationship Id="rId14" Type="http://schemas.openxmlformats.org/officeDocument/2006/relationships/oleObject" Target="../embeddings/oleObject77.bin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14.png"/><Relationship Id="rId5" Type="http://schemas.openxmlformats.org/officeDocument/2006/relationships/image" Target="../media/image113.png"/><Relationship Id="rId4" Type="http://schemas.openxmlformats.org/officeDocument/2006/relationships/image" Target="../media/image112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wmf"/><Relationship Id="rId13" Type="http://schemas.openxmlformats.org/officeDocument/2006/relationships/oleObject" Target="../embeddings/oleObject84.bin"/><Relationship Id="rId3" Type="http://schemas.openxmlformats.org/officeDocument/2006/relationships/oleObject" Target="../embeddings/oleObject79.bin"/><Relationship Id="rId7" Type="http://schemas.openxmlformats.org/officeDocument/2006/relationships/oleObject" Target="../embeddings/oleObject81.bin"/><Relationship Id="rId12" Type="http://schemas.openxmlformats.org/officeDocument/2006/relationships/image" Target="../media/image119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16.wmf"/><Relationship Id="rId11" Type="http://schemas.openxmlformats.org/officeDocument/2006/relationships/oleObject" Target="../embeddings/oleObject83.bin"/><Relationship Id="rId5" Type="http://schemas.openxmlformats.org/officeDocument/2006/relationships/oleObject" Target="../embeddings/oleObject80.bin"/><Relationship Id="rId15" Type="http://schemas.openxmlformats.org/officeDocument/2006/relationships/image" Target="../media/image114.png"/><Relationship Id="rId10" Type="http://schemas.openxmlformats.org/officeDocument/2006/relationships/image" Target="../media/image118.wmf"/><Relationship Id="rId4" Type="http://schemas.openxmlformats.org/officeDocument/2006/relationships/image" Target="../media/image115.wmf"/><Relationship Id="rId9" Type="http://schemas.openxmlformats.org/officeDocument/2006/relationships/oleObject" Target="../embeddings/oleObject82.bin"/><Relationship Id="rId14" Type="http://schemas.openxmlformats.org/officeDocument/2006/relationships/image" Target="../media/image120.w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wmf"/><Relationship Id="rId13" Type="http://schemas.openxmlformats.org/officeDocument/2006/relationships/image" Target="../media/image126.wmf"/><Relationship Id="rId3" Type="http://schemas.openxmlformats.org/officeDocument/2006/relationships/oleObject" Target="../embeddings/oleObject85.bin"/><Relationship Id="rId7" Type="http://schemas.openxmlformats.org/officeDocument/2006/relationships/oleObject" Target="../embeddings/oleObject87.bin"/><Relationship Id="rId12" Type="http://schemas.openxmlformats.org/officeDocument/2006/relationships/oleObject" Target="../embeddings/oleObject89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123.wmf"/><Relationship Id="rId11" Type="http://schemas.openxmlformats.org/officeDocument/2006/relationships/image" Target="../media/image125.wmf"/><Relationship Id="rId5" Type="http://schemas.openxmlformats.org/officeDocument/2006/relationships/oleObject" Target="../embeddings/oleObject86.bin"/><Relationship Id="rId15" Type="http://schemas.openxmlformats.org/officeDocument/2006/relationships/image" Target="../media/image120.wmf"/><Relationship Id="rId10" Type="http://schemas.openxmlformats.org/officeDocument/2006/relationships/oleObject" Target="../embeddings/oleObject88.bin"/><Relationship Id="rId4" Type="http://schemas.openxmlformats.org/officeDocument/2006/relationships/image" Target="../media/image115.wmf"/><Relationship Id="rId9" Type="http://schemas.openxmlformats.org/officeDocument/2006/relationships/image" Target="../media/image122.png"/><Relationship Id="rId14" Type="http://schemas.openxmlformats.org/officeDocument/2006/relationships/oleObject" Target="../embeddings/oleObject90.bin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wmf"/><Relationship Id="rId2" Type="http://schemas.openxmlformats.org/officeDocument/2006/relationships/image" Target="../media/image127.wm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wmf"/><Relationship Id="rId13" Type="http://schemas.openxmlformats.org/officeDocument/2006/relationships/image" Target="../media/image135.jpg"/><Relationship Id="rId3" Type="http://schemas.openxmlformats.org/officeDocument/2006/relationships/oleObject" Target="../embeddings/oleObject91.bin"/><Relationship Id="rId7" Type="http://schemas.openxmlformats.org/officeDocument/2006/relationships/oleObject" Target="../embeddings/oleObject92.bin"/><Relationship Id="rId12" Type="http://schemas.openxmlformats.org/officeDocument/2006/relationships/image" Target="../media/image132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134.wmf"/><Relationship Id="rId11" Type="http://schemas.openxmlformats.org/officeDocument/2006/relationships/oleObject" Target="../embeddings/oleObject94.bin"/><Relationship Id="rId5" Type="http://schemas.openxmlformats.org/officeDocument/2006/relationships/image" Target="../media/image133.wmf"/><Relationship Id="rId10" Type="http://schemas.openxmlformats.org/officeDocument/2006/relationships/image" Target="../media/image131.wmf"/><Relationship Id="rId4" Type="http://schemas.openxmlformats.org/officeDocument/2006/relationships/image" Target="../media/image129.wmf"/><Relationship Id="rId9" Type="http://schemas.openxmlformats.org/officeDocument/2006/relationships/oleObject" Target="../embeddings/oleObject93.bin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wmf"/><Relationship Id="rId13" Type="http://schemas.openxmlformats.org/officeDocument/2006/relationships/oleObject" Target="../embeddings/oleObject100.bin"/><Relationship Id="rId18" Type="http://schemas.openxmlformats.org/officeDocument/2006/relationships/oleObject" Target="../embeddings/oleObject102.bin"/><Relationship Id="rId3" Type="http://schemas.openxmlformats.org/officeDocument/2006/relationships/oleObject" Target="../embeddings/oleObject95.bin"/><Relationship Id="rId21" Type="http://schemas.openxmlformats.org/officeDocument/2006/relationships/image" Target="../media/image146.wmf"/><Relationship Id="rId7" Type="http://schemas.openxmlformats.org/officeDocument/2006/relationships/oleObject" Target="../embeddings/oleObject97.bin"/><Relationship Id="rId12" Type="http://schemas.openxmlformats.org/officeDocument/2006/relationships/image" Target="../media/image142.wmf"/><Relationship Id="rId17" Type="http://schemas.openxmlformats.org/officeDocument/2006/relationships/image" Target="../media/image144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101.bin"/><Relationship Id="rId20" Type="http://schemas.openxmlformats.org/officeDocument/2006/relationships/oleObject" Target="../embeddings/oleObject103.bin"/><Relationship Id="rId1" Type="http://schemas.openxmlformats.org/officeDocument/2006/relationships/vmlDrawing" Target="../drawings/vmlDrawing34.vml"/><Relationship Id="rId6" Type="http://schemas.openxmlformats.org/officeDocument/2006/relationships/image" Target="../media/image139.wmf"/><Relationship Id="rId11" Type="http://schemas.openxmlformats.org/officeDocument/2006/relationships/oleObject" Target="../embeddings/oleObject99.bin"/><Relationship Id="rId5" Type="http://schemas.openxmlformats.org/officeDocument/2006/relationships/oleObject" Target="../embeddings/oleObject96.bin"/><Relationship Id="rId15" Type="http://schemas.openxmlformats.org/officeDocument/2006/relationships/image" Target="../media/image137.png"/><Relationship Id="rId10" Type="http://schemas.openxmlformats.org/officeDocument/2006/relationships/image" Target="../media/image141.wmf"/><Relationship Id="rId19" Type="http://schemas.openxmlformats.org/officeDocument/2006/relationships/image" Target="../media/image145.wmf"/><Relationship Id="rId4" Type="http://schemas.openxmlformats.org/officeDocument/2006/relationships/image" Target="../media/image138.wmf"/><Relationship Id="rId9" Type="http://schemas.openxmlformats.org/officeDocument/2006/relationships/oleObject" Target="../embeddings/oleObject98.bin"/><Relationship Id="rId14" Type="http://schemas.openxmlformats.org/officeDocument/2006/relationships/image" Target="../media/image143.w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wmf"/><Relationship Id="rId13" Type="http://schemas.openxmlformats.org/officeDocument/2006/relationships/oleObject" Target="../embeddings/oleObject109.bin"/><Relationship Id="rId18" Type="http://schemas.openxmlformats.org/officeDocument/2006/relationships/oleObject" Target="../embeddings/oleObject111.bin"/><Relationship Id="rId3" Type="http://schemas.openxmlformats.org/officeDocument/2006/relationships/oleObject" Target="../embeddings/oleObject104.bin"/><Relationship Id="rId7" Type="http://schemas.openxmlformats.org/officeDocument/2006/relationships/oleObject" Target="../embeddings/oleObject106.bin"/><Relationship Id="rId12" Type="http://schemas.openxmlformats.org/officeDocument/2006/relationships/image" Target="../media/image142.wmf"/><Relationship Id="rId17" Type="http://schemas.openxmlformats.org/officeDocument/2006/relationships/image" Target="../media/image145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110.bin"/><Relationship Id="rId1" Type="http://schemas.openxmlformats.org/officeDocument/2006/relationships/vmlDrawing" Target="../drawings/vmlDrawing35.vml"/><Relationship Id="rId6" Type="http://schemas.openxmlformats.org/officeDocument/2006/relationships/image" Target="../media/image149.wmf"/><Relationship Id="rId11" Type="http://schemas.openxmlformats.org/officeDocument/2006/relationships/oleObject" Target="../embeddings/oleObject108.bin"/><Relationship Id="rId5" Type="http://schemas.openxmlformats.org/officeDocument/2006/relationships/oleObject" Target="../embeddings/oleObject105.bin"/><Relationship Id="rId15" Type="http://schemas.openxmlformats.org/officeDocument/2006/relationships/image" Target="../media/image154.png"/><Relationship Id="rId10" Type="http://schemas.openxmlformats.org/officeDocument/2006/relationships/image" Target="../media/image151.wmf"/><Relationship Id="rId19" Type="http://schemas.openxmlformats.org/officeDocument/2006/relationships/image" Target="../media/image153.wmf"/><Relationship Id="rId4" Type="http://schemas.openxmlformats.org/officeDocument/2006/relationships/image" Target="../media/image138.wmf"/><Relationship Id="rId9" Type="http://schemas.openxmlformats.org/officeDocument/2006/relationships/oleObject" Target="../embeddings/oleObject107.bin"/><Relationship Id="rId14" Type="http://schemas.openxmlformats.org/officeDocument/2006/relationships/image" Target="../media/image152.wmf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03200" y="576263"/>
            <a:ext cx="8766175" cy="914400"/>
          </a:xfrm>
          <a:gradFill rotWithShape="0">
            <a:gsLst>
              <a:gs pos="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</a:gradFill>
          <a:effectLst>
            <a:prstShdw prst="shdw17" dist="17961" dir="2700000">
              <a:srgbClr val="FFFFFF">
                <a:gamma/>
                <a:shade val="60000"/>
                <a:invGamma/>
              </a:srgbClr>
            </a:prstShdw>
          </a:effectLst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第</a:t>
            </a:r>
            <a:r>
              <a:rPr lang="en-US" altLang="zh-CN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8</a:t>
            </a:r>
            <a:r>
              <a:rPr lang="zh-CN" alt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章  场效应晶体管</a:t>
            </a:r>
            <a:r>
              <a:rPr lang="en-US" altLang="zh-CN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(</a:t>
            </a:r>
            <a:r>
              <a:rPr lang="en-US" altLang="zh-CN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FETs</a:t>
            </a:r>
            <a:r>
              <a:rPr lang="en-US" altLang="zh-CN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)</a:t>
            </a:r>
          </a:p>
        </p:txBody>
      </p:sp>
      <p:sp>
        <p:nvSpPr>
          <p:cNvPr id="2052" name="Rectangle 4" descr="蓝色砂纸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1191670" y="2518780"/>
            <a:ext cx="7164387" cy="585788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ffectLst>
            <a:outerShdw dist="107763" dir="189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场效应晶体管基础</a:t>
            </a:r>
            <a:endParaRPr lang="zh-CN" altLang="en-US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053" name="Text Box 5" descr="蓝色砂纸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1206751" y="3853456"/>
            <a:ext cx="7134225" cy="585787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ffectLst>
            <a:outerShdw dist="107763" dir="189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dirty="0">
                <a:solidFill>
                  <a:schemeClr val="tx2"/>
                </a:solidFill>
                <a:ea typeface="楷体_GB2312" pitchFamily="49" charset="-122"/>
              </a:rPr>
              <a:t>场效应晶体管放大电路的构成及其分析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4"/>
          <p:cNvSpPr>
            <a:spLocks noChangeArrowheads="1"/>
          </p:cNvSpPr>
          <p:nvPr/>
        </p:nvSpPr>
        <p:spPr bwMode="auto">
          <a:xfrm>
            <a:off x="341313" y="452438"/>
            <a:ext cx="7515225" cy="519112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800" dirty="0" smtClean="0">
                <a:solidFill>
                  <a:schemeClr val="tx2"/>
                </a:solidFill>
              </a:rPr>
              <a:t>8.1 </a:t>
            </a:r>
            <a:r>
              <a:rPr lang="zh-CN" altLang="en-US" sz="2800" dirty="0" smtClean="0">
                <a:solidFill>
                  <a:schemeClr val="tx2"/>
                </a:solidFill>
              </a:rPr>
              <a:t>场效应晶体管基础</a:t>
            </a:r>
            <a:endParaRPr lang="zh-CN" altLang="en-US" sz="2800" dirty="0">
              <a:solidFill>
                <a:schemeClr val="tx2"/>
              </a:solidFill>
            </a:endParaRPr>
          </a:p>
        </p:txBody>
      </p:sp>
      <p:sp>
        <p:nvSpPr>
          <p:cNvPr id="3075" name="Text Box 15"/>
          <p:cNvSpPr txBox="1">
            <a:spLocks noChangeArrowheads="1"/>
          </p:cNvSpPr>
          <p:nvPr/>
        </p:nvSpPr>
        <p:spPr bwMode="auto">
          <a:xfrm>
            <a:off x="623888" y="1141413"/>
            <a:ext cx="755694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 smtClean="0">
                <a:solidFill>
                  <a:srgbClr val="990033"/>
                </a:solidFill>
              </a:rPr>
              <a:t>8.1.1 </a:t>
            </a:r>
            <a:r>
              <a:rPr lang="zh-CN" altLang="en-US" sz="2400" dirty="0" smtClean="0">
                <a:solidFill>
                  <a:srgbClr val="990033"/>
                </a:solidFill>
              </a:rPr>
              <a:t>场效应晶体管</a:t>
            </a:r>
            <a:r>
              <a:rPr lang="zh-CN" altLang="en-US" sz="2400" dirty="0">
                <a:solidFill>
                  <a:srgbClr val="990033"/>
                </a:solidFill>
              </a:rPr>
              <a:t>的结构、工作原理及其电路符号</a:t>
            </a:r>
            <a:endParaRPr lang="zh-CN" altLang="en-US" sz="2400" dirty="0">
              <a:solidFill>
                <a:srgbClr val="A50021"/>
              </a:solidFill>
            </a:endParaRPr>
          </a:p>
        </p:txBody>
      </p:sp>
      <p:sp>
        <p:nvSpPr>
          <p:cNvPr id="3078" name="Text Box 19"/>
          <p:cNvSpPr txBox="1">
            <a:spLocks noChangeArrowheads="1"/>
          </p:cNvSpPr>
          <p:nvPr/>
        </p:nvSpPr>
        <p:spPr bwMode="auto">
          <a:xfrm>
            <a:off x="728614" y="1772941"/>
            <a:ext cx="7848600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zh-CN" altLang="en-US" sz="2000" b="0">
                <a:ea typeface="华文行楷" pitchFamily="2" charset="-122"/>
              </a:rPr>
              <a:t>单极型管∶</a:t>
            </a:r>
            <a:r>
              <a:rPr lang="zh-CN" altLang="en-US" sz="2000"/>
              <a:t>噪声小、抗辐射能力强、低电压工作</a:t>
            </a:r>
            <a:endParaRPr lang="zh-CN" altLang="en-US" sz="2000">
              <a:ea typeface="华文行楷" pitchFamily="2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4520649"/>
              </p:ext>
            </p:extLst>
          </p:nvPr>
        </p:nvGraphicFramePr>
        <p:xfrm>
          <a:off x="341313" y="2744185"/>
          <a:ext cx="8623203" cy="34122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2" name="Visio" r:id="rId3" imgW="6210286" imgH="2457411" progId="Visio.Drawing.15">
                  <p:embed/>
                </p:oleObj>
              </mc:Choice>
              <mc:Fallback>
                <p:oleObj name="Visio" r:id="rId3" imgW="6210286" imgH="2457411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1313" y="2744185"/>
                        <a:ext cx="8623203" cy="34122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/>
      <p:bldP spid="307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3"/>
          <p:cNvSpPr txBox="1">
            <a:spLocks noChangeArrowheads="1"/>
          </p:cNvSpPr>
          <p:nvPr/>
        </p:nvSpPr>
        <p:spPr bwMode="auto">
          <a:xfrm>
            <a:off x="565150" y="487363"/>
            <a:ext cx="655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>
                <a:solidFill>
                  <a:srgbClr val="A50021"/>
                </a:solidFill>
              </a:rPr>
              <a:t>一</a:t>
            </a:r>
            <a:r>
              <a:rPr lang="zh-CN" altLang="en-US" sz="2400" dirty="0" smtClean="0">
                <a:solidFill>
                  <a:srgbClr val="A50021"/>
                </a:solidFill>
              </a:rPr>
              <a:t>、场效应</a:t>
            </a:r>
            <a:r>
              <a:rPr lang="zh-CN" altLang="en-US" sz="2400" dirty="0">
                <a:solidFill>
                  <a:srgbClr val="A50021"/>
                </a:solidFill>
              </a:rPr>
              <a:t>晶体管的结构</a:t>
            </a:r>
          </a:p>
        </p:txBody>
      </p:sp>
      <p:sp>
        <p:nvSpPr>
          <p:cNvPr id="4100" name="Text Box 6"/>
          <p:cNvSpPr txBox="1">
            <a:spLocks noChangeArrowheads="1"/>
          </p:cNvSpPr>
          <p:nvPr/>
        </p:nvSpPr>
        <p:spPr bwMode="auto">
          <a:xfrm>
            <a:off x="973137" y="1119188"/>
            <a:ext cx="699520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>
                <a:solidFill>
                  <a:schemeClr val="accent2"/>
                </a:solidFill>
              </a:rPr>
              <a:t>1</a:t>
            </a:r>
            <a:r>
              <a:rPr lang="zh-CN" altLang="en-US" sz="2400" dirty="0" smtClean="0">
                <a:solidFill>
                  <a:schemeClr val="accent2"/>
                </a:solidFill>
              </a:rPr>
              <a:t>、绝缘栅型场效应晶体管</a:t>
            </a:r>
            <a:r>
              <a:rPr lang="zh-CN" altLang="en-US" sz="2400" dirty="0">
                <a:solidFill>
                  <a:schemeClr val="accent2"/>
                </a:solidFill>
              </a:rPr>
              <a:t>的结构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087" y="1904323"/>
            <a:ext cx="6747911" cy="4202566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098045" y="3688028"/>
            <a:ext cx="72808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 smtClean="0">
                <a:solidFill>
                  <a:srgbClr val="00B050"/>
                </a:solidFill>
              </a:rPr>
              <a:t>源区</a:t>
            </a:r>
            <a:endParaRPr lang="zh-CN" altLang="en-US" sz="2000" dirty="0">
              <a:solidFill>
                <a:srgbClr val="00B050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849667" y="5990356"/>
            <a:ext cx="70083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 smtClean="0">
                <a:solidFill>
                  <a:srgbClr val="00B050"/>
                </a:solidFill>
              </a:rPr>
              <a:t>漏区</a:t>
            </a:r>
            <a:endParaRPr lang="zh-CN" altLang="en-US" sz="2000" dirty="0">
              <a:solidFill>
                <a:srgbClr val="00B050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125297" y="4697403"/>
            <a:ext cx="70083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 smtClean="0">
                <a:solidFill>
                  <a:srgbClr val="00B050"/>
                </a:solidFill>
              </a:rPr>
              <a:t>衬底</a:t>
            </a:r>
            <a:endParaRPr lang="zh-CN" altLang="en-US" sz="2000" dirty="0">
              <a:solidFill>
                <a:srgbClr val="00B05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778774" y="5432249"/>
            <a:ext cx="98616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 smtClean="0">
                <a:solidFill>
                  <a:srgbClr val="00B050"/>
                </a:solidFill>
              </a:rPr>
              <a:t>沟道区</a:t>
            </a:r>
            <a:endParaRPr lang="zh-CN" altLang="en-US" sz="20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0" grpId="0"/>
      <p:bldP spid="5" grpId="0"/>
      <p:bldP spid="11" grpId="0"/>
      <p:bldP spid="13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0482643"/>
              </p:ext>
            </p:extLst>
          </p:nvPr>
        </p:nvGraphicFramePr>
        <p:xfrm>
          <a:off x="1069975" y="1108983"/>
          <a:ext cx="6788150" cy="463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081" name="Visio" r:id="rId3" imgW="4514742" imgH="3076748" progId="Visio.Drawing.11">
                  <p:embed/>
                </p:oleObj>
              </mc:Choice>
              <mc:Fallback>
                <p:oleObj name="Visio" r:id="rId3" imgW="4514742" imgH="3076748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9975" y="1108983"/>
                        <a:ext cx="6788150" cy="463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>
          <a:xfrm>
            <a:off x="2118014" y="873736"/>
            <a:ext cx="93506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 smtClean="0">
                <a:solidFill>
                  <a:srgbClr val="00B050"/>
                </a:solidFill>
              </a:rPr>
              <a:t>Source</a:t>
            </a:r>
            <a:endParaRPr lang="zh-CN" altLang="en-US" sz="2000" dirty="0">
              <a:solidFill>
                <a:srgbClr val="00B05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011152" y="871359"/>
            <a:ext cx="7104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 smtClean="0">
                <a:solidFill>
                  <a:srgbClr val="00B050"/>
                </a:solidFill>
              </a:rPr>
              <a:t>Gate</a:t>
            </a:r>
            <a:endParaRPr lang="zh-CN" altLang="en-US" sz="2000" dirty="0">
              <a:solidFill>
                <a:srgbClr val="00B050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790127" y="858722"/>
            <a:ext cx="82586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 smtClean="0">
                <a:solidFill>
                  <a:srgbClr val="00B050"/>
                </a:solidFill>
              </a:rPr>
              <a:t>Drain</a:t>
            </a:r>
            <a:endParaRPr lang="zh-CN" altLang="en-US" sz="20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596473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0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1513518"/>
              </p:ext>
            </p:extLst>
          </p:nvPr>
        </p:nvGraphicFramePr>
        <p:xfrm>
          <a:off x="1118960" y="1255939"/>
          <a:ext cx="6788150" cy="463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34" name="Visio" r:id="rId3" imgW="4514742" imgH="3076748" progId="Visio.Drawing.11">
                  <p:embed/>
                </p:oleObj>
              </mc:Choice>
              <mc:Fallback>
                <p:oleObj name="Visio" r:id="rId3" imgW="4514742" imgH="3076748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8960" y="1255939"/>
                        <a:ext cx="6788150" cy="463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2166999" y="1020692"/>
            <a:ext cx="93506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 smtClean="0">
                <a:solidFill>
                  <a:srgbClr val="00B050"/>
                </a:solidFill>
              </a:rPr>
              <a:t>Source</a:t>
            </a:r>
            <a:endParaRPr lang="zh-CN" altLang="en-US" sz="2000" dirty="0">
              <a:solidFill>
                <a:srgbClr val="00B05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4060137" y="1018315"/>
            <a:ext cx="7104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 smtClean="0">
                <a:solidFill>
                  <a:srgbClr val="00B050"/>
                </a:solidFill>
              </a:rPr>
              <a:t>Gate</a:t>
            </a:r>
            <a:endParaRPr lang="zh-CN" altLang="en-US" sz="2000" dirty="0">
              <a:solidFill>
                <a:srgbClr val="00B05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5839112" y="1005678"/>
            <a:ext cx="82586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 smtClean="0">
                <a:solidFill>
                  <a:srgbClr val="00B050"/>
                </a:solidFill>
              </a:rPr>
              <a:t>Drain</a:t>
            </a:r>
            <a:endParaRPr lang="zh-CN" altLang="en-US" sz="20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399354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4"/>
          <p:cNvSpPr txBox="1">
            <a:spLocks noChangeArrowheads="1"/>
          </p:cNvSpPr>
          <p:nvPr/>
        </p:nvSpPr>
        <p:spPr bwMode="auto">
          <a:xfrm>
            <a:off x="885825" y="787174"/>
            <a:ext cx="67056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dirty="0">
                <a:solidFill>
                  <a:schemeClr val="accent2"/>
                </a:solidFill>
              </a:rPr>
              <a:t>(a) </a:t>
            </a:r>
            <a:r>
              <a:rPr lang="en-US" altLang="zh-CN" sz="2000" dirty="0" smtClean="0">
                <a:solidFill>
                  <a:schemeClr val="accent2"/>
                </a:solidFill>
              </a:rPr>
              <a:t>N</a:t>
            </a:r>
            <a:r>
              <a:rPr lang="zh-CN" altLang="en-US" sz="2000" dirty="0" smtClean="0">
                <a:solidFill>
                  <a:schemeClr val="accent2"/>
                </a:solidFill>
              </a:rPr>
              <a:t>沟道增强型</a:t>
            </a:r>
            <a:endParaRPr lang="zh-CN" altLang="en-US" sz="2000" dirty="0">
              <a:solidFill>
                <a:schemeClr val="accent2"/>
              </a:solidFill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0092004"/>
              </p:ext>
            </p:extLst>
          </p:nvPr>
        </p:nvGraphicFramePr>
        <p:xfrm>
          <a:off x="1559801" y="1783263"/>
          <a:ext cx="5357648" cy="41976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57" name="Visio" r:id="rId3" imgW="4267316" imgH="3343275" progId="Visio.Drawing.15">
                  <p:embed/>
                </p:oleObj>
              </mc:Choice>
              <mc:Fallback>
                <p:oleObj name="Visio" r:id="rId3" imgW="4267316" imgH="3343275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59801" y="1783263"/>
                        <a:ext cx="5357648" cy="41976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8258" y="1487600"/>
            <a:ext cx="3263427" cy="3552825"/>
          </a:xfrm>
          <a:prstGeom prst="rect">
            <a:avLst/>
          </a:prstGeom>
        </p:spPr>
      </p:pic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885825" y="566738"/>
            <a:ext cx="67056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dirty="0">
                <a:solidFill>
                  <a:schemeClr val="accent2"/>
                </a:solidFill>
              </a:rPr>
              <a:t>(b) </a:t>
            </a:r>
            <a:r>
              <a:rPr lang="en-US" altLang="zh-CN" sz="2000" dirty="0" smtClean="0">
                <a:solidFill>
                  <a:schemeClr val="accent2"/>
                </a:solidFill>
              </a:rPr>
              <a:t>N</a:t>
            </a:r>
            <a:r>
              <a:rPr lang="zh-CN" altLang="en-US" sz="2000" dirty="0" smtClean="0">
                <a:solidFill>
                  <a:schemeClr val="accent2"/>
                </a:solidFill>
              </a:rPr>
              <a:t>沟道耗尽</a:t>
            </a:r>
            <a:r>
              <a:rPr lang="zh-CN" altLang="en-US" sz="2000" dirty="0">
                <a:solidFill>
                  <a:schemeClr val="accent2"/>
                </a:solidFill>
              </a:rPr>
              <a:t>型</a:t>
            </a:r>
          </a:p>
        </p:txBody>
      </p:sp>
      <p:sp>
        <p:nvSpPr>
          <p:cNvPr id="519184" name="Text Box 16"/>
          <p:cNvSpPr txBox="1">
            <a:spLocks noChangeArrowheads="1"/>
          </p:cNvSpPr>
          <p:nvPr/>
        </p:nvSpPr>
        <p:spPr bwMode="auto">
          <a:xfrm>
            <a:off x="936172" y="5385706"/>
            <a:ext cx="79248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000" dirty="0" smtClean="0"/>
              <a:t>耗尽型</a:t>
            </a:r>
            <a:r>
              <a:rPr kumimoji="0" lang="en-US" altLang="zh-CN" sz="2000" dirty="0" smtClean="0"/>
              <a:t>NMOS</a:t>
            </a:r>
            <a:r>
              <a:rPr kumimoji="0" lang="zh-CN" altLang="en-US" sz="2000" dirty="0"/>
              <a:t>管在</a:t>
            </a:r>
            <a:r>
              <a:rPr kumimoji="0" lang="zh-CN" altLang="en-US" sz="2000" i="1" dirty="0"/>
              <a:t> </a:t>
            </a:r>
            <a:r>
              <a:rPr kumimoji="0" lang="en-US" altLang="zh-CN" sz="2000" i="1" dirty="0" err="1" smtClean="0"/>
              <a:t>v</a:t>
            </a:r>
            <a:r>
              <a:rPr kumimoji="0" lang="en-US" altLang="zh-CN" sz="2000" baseline="-25000" dirty="0" err="1" smtClean="0"/>
              <a:t>GS</a:t>
            </a:r>
            <a:r>
              <a:rPr kumimoji="0" lang="zh-CN" altLang="en-US" sz="2000" dirty="0"/>
              <a:t>＞</a:t>
            </a:r>
            <a:r>
              <a:rPr kumimoji="0" lang="en-US" altLang="zh-CN" sz="2000" dirty="0"/>
              <a:t>0</a:t>
            </a:r>
            <a:r>
              <a:rPr kumimoji="0" lang="zh-CN" altLang="en-US" sz="2000" dirty="0"/>
              <a:t>、 </a:t>
            </a:r>
            <a:r>
              <a:rPr kumimoji="0" lang="en-US" altLang="zh-CN" sz="2000" i="1" dirty="0" err="1" smtClean="0"/>
              <a:t>v</a:t>
            </a:r>
            <a:r>
              <a:rPr kumimoji="0" lang="en-US" altLang="zh-CN" sz="2000" baseline="-25000" dirty="0" err="1" smtClean="0"/>
              <a:t>GS</a:t>
            </a:r>
            <a:r>
              <a:rPr kumimoji="0" lang="en-US" altLang="zh-CN" sz="2000" dirty="0" smtClean="0"/>
              <a:t> </a:t>
            </a:r>
            <a:r>
              <a:rPr kumimoji="0" lang="zh-CN" altLang="en-US" sz="2000" dirty="0"/>
              <a:t>＜</a:t>
            </a:r>
            <a:r>
              <a:rPr kumimoji="0" lang="en-US" altLang="zh-CN" sz="2000" dirty="0"/>
              <a:t>0</a:t>
            </a:r>
            <a:r>
              <a:rPr kumimoji="0" lang="zh-CN" altLang="en-US" sz="2000" dirty="0"/>
              <a:t>、 </a:t>
            </a:r>
            <a:r>
              <a:rPr kumimoji="0" lang="en-US" altLang="zh-CN" sz="2000" i="1" dirty="0" err="1" smtClean="0"/>
              <a:t>v</a:t>
            </a:r>
            <a:r>
              <a:rPr kumimoji="0" lang="en-US" altLang="zh-CN" sz="2000" baseline="-25000" dirty="0" err="1" smtClean="0"/>
              <a:t>GS</a:t>
            </a:r>
            <a:r>
              <a:rPr kumimoji="0" lang="en-US" altLang="zh-CN" sz="2000" dirty="0" smtClean="0"/>
              <a:t> </a:t>
            </a:r>
            <a:r>
              <a:rPr kumimoji="0" lang="zh-CN" altLang="en-US" sz="2000" dirty="0"/>
              <a:t>＝</a:t>
            </a:r>
            <a:r>
              <a:rPr kumimoji="0" lang="en-US" altLang="zh-CN" sz="2000" dirty="0" smtClean="0"/>
              <a:t>0 </a:t>
            </a:r>
            <a:r>
              <a:rPr kumimoji="0" lang="zh-CN" altLang="en-US" sz="2000" dirty="0" smtClean="0"/>
              <a:t>时</a:t>
            </a:r>
            <a:r>
              <a:rPr kumimoji="0" lang="zh-CN" altLang="en-US" sz="2000" dirty="0"/>
              <a:t>均</a:t>
            </a:r>
            <a:r>
              <a:rPr kumimoji="0" lang="zh-CN" altLang="en-US" sz="2000" dirty="0" smtClean="0"/>
              <a:t>可存在导电沟道。</a:t>
            </a:r>
            <a:endParaRPr kumimoji="0" lang="zh-CN" altLang="en-US" sz="2000" dirty="0"/>
          </a:p>
        </p:txBody>
      </p:sp>
      <p:sp>
        <p:nvSpPr>
          <p:cNvPr id="519186" name="AutoShape 18"/>
          <p:cNvSpPr>
            <a:spLocks/>
          </p:cNvSpPr>
          <p:nvPr/>
        </p:nvSpPr>
        <p:spPr bwMode="auto">
          <a:xfrm>
            <a:off x="6851197" y="3771219"/>
            <a:ext cx="1276350" cy="457200"/>
          </a:xfrm>
          <a:prstGeom prst="borderCallout2">
            <a:avLst>
              <a:gd name="adj1" fmla="val 25000"/>
              <a:gd name="adj2" fmla="val -5264"/>
              <a:gd name="adj3" fmla="val 25000"/>
              <a:gd name="adj4" fmla="val -57676"/>
              <a:gd name="adj5" fmla="val -233681"/>
              <a:gd name="adj6" fmla="val -150780"/>
            </a:avLst>
          </a:prstGeom>
          <a:solidFill>
            <a:srgbClr val="00FFFF"/>
          </a:solidFill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kumimoji="0" lang="zh-CN" altLang="en-US" sz="2000" dirty="0"/>
              <a:t>加正离子</a:t>
            </a:r>
          </a:p>
        </p:txBody>
      </p:sp>
      <p:sp>
        <p:nvSpPr>
          <p:cNvPr id="519189" name="AutoShape 21"/>
          <p:cNvSpPr>
            <a:spLocks/>
          </p:cNvSpPr>
          <p:nvPr/>
        </p:nvSpPr>
        <p:spPr bwMode="auto">
          <a:xfrm>
            <a:off x="734505" y="3999819"/>
            <a:ext cx="2005067" cy="695325"/>
          </a:xfrm>
          <a:prstGeom prst="borderCallout1">
            <a:avLst>
              <a:gd name="adj1" fmla="val 16440"/>
              <a:gd name="adj2" fmla="val 104056"/>
              <a:gd name="adj3" fmla="val -145891"/>
              <a:gd name="adj4" fmla="val 189611"/>
            </a:avLst>
          </a:prstGeom>
          <a:solidFill>
            <a:srgbClr val="00FFFF"/>
          </a:solidFill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000" i="1" dirty="0" err="1" smtClean="0"/>
              <a:t>v</a:t>
            </a:r>
            <a:r>
              <a:rPr kumimoji="0" lang="en-US" altLang="zh-CN" sz="2000" i="1" baseline="-25000" dirty="0" err="1" smtClean="0"/>
              <a:t>GS</a:t>
            </a:r>
            <a:r>
              <a:rPr kumimoji="0" lang="en-US" altLang="zh-CN" sz="2000" baseline="-25000" dirty="0" smtClean="0"/>
              <a:t> </a:t>
            </a:r>
            <a:r>
              <a:rPr kumimoji="0" lang="en-US" altLang="zh-CN" sz="2000" dirty="0" smtClean="0"/>
              <a:t>= 0 </a:t>
            </a:r>
            <a:r>
              <a:rPr kumimoji="0" lang="zh-CN" altLang="en-US" sz="2000" dirty="0" smtClean="0"/>
              <a:t>时</a:t>
            </a:r>
            <a:r>
              <a:rPr kumimoji="0" lang="zh-CN" altLang="en-US" sz="2000" dirty="0"/>
              <a:t>就存在导电沟道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9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9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191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9184" grpId="0" build="p" autoUpdateAnimBg="0"/>
      <p:bldP spid="519186" grpId="0" animBg="1" autoUpdateAnimBg="0"/>
      <p:bldP spid="519189" grpId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81" name="Picture 17" descr="Dz01040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4119" y="2308225"/>
            <a:ext cx="2278063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1" name="Text Box 4"/>
          <p:cNvSpPr txBox="1">
            <a:spLocks noChangeArrowheads="1"/>
          </p:cNvSpPr>
          <p:nvPr/>
        </p:nvSpPr>
        <p:spPr bwMode="auto">
          <a:xfrm>
            <a:off x="958850" y="860425"/>
            <a:ext cx="670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accent2"/>
                </a:solidFill>
              </a:rPr>
              <a:t>2</a:t>
            </a:r>
            <a:r>
              <a:rPr lang="zh-CN" altLang="en-US" sz="2400">
                <a:solidFill>
                  <a:schemeClr val="accent2"/>
                </a:solidFill>
              </a:rPr>
              <a:t>、结型（</a:t>
            </a:r>
            <a:r>
              <a:rPr lang="en-US" altLang="zh-CN" sz="2400">
                <a:solidFill>
                  <a:schemeClr val="accent2"/>
                </a:solidFill>
              </a:rPr>
              <a:t>Junciton-FET</a:t>
            </a:r>
            <a:r>
              <a:rPr lang="zh-CN" altLang="en-US" sz="2400">
                <a:solidFill>
                  <a:schemeClr val="accent2"/>
                </a:solidFill>
              </a:rPr>
              <a:t>）场效应管的结构</a:t>
            </a:r>
          </a:p>
        </p:txBody>
      </p:sp>
      <p:pic>
        <p:nvPicPr>
          <p:cNvPr id="7179" name="Picture 8" descr="Dz01040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4118" y="2308225"/>
            <a:ext cx="2278063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6" name="Text Box 11"/>
          <p:cNvSpPr txBox="1">
            <a:spLocks noChangeArrowheads="1"/>
          </p:cNvSpPr>
          <p:nvPr/>
        </p:nvSpPr>
        <p:spPr bwMode="auto">
          <a:xfrm>
            <a:off x="4185443" y="3295650"/>
            <a:ext cx="938213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rgbClr val="A50021"/>
                </a:solidFill>
              </a:rPr>
              <a:t>栅极</a:t>
            </a:r>
          </a:p>
        </p:txBody>
      </p:sp>
      <p:sp>
        <p:nvSpPr>
          <p:cNvPr id="7177" name="Text Box 12"/>
          <p:cNvSpPr txBox="1">
            <a:spLocks noChangeArrowheads="1"/>
          </p:cNvSpPr>
          <p:nvPr/>
        </p:nvSpPr>
        <p:spPr bwMode="auto">
          <a:xfrm>
            <a:off x="6346031" y="2216150"/>
            <a:ext cx="9144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 dirty="0">
                <a:solidFill>
                  <a:srgbClr val="A50021"/>
                </a:solidFill>
              </a:rPr>
              <a:t>漏极</a:t>
            </a:r>
          </a:p>
        </p:txBody>
      </p:sp>
      <p:sp>
        <p:nvSpPr>
          <p:cNvPr id="7178" name="Text Box 13"/>
          <p:cNvSpPr txBox="1">
            <a:spLocks noChangeArrowheads="1"/>
          </p:cNvSpPr>
          <p:nvPr/>
        </p:nvSpPr>
        <p:spPr bwMode="auto">
          <a:xfrm>
            <a:off x="6274593" y="4519613"/>
            <a:ext cx="9144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 dirty="0">
                <a:solidFill>
                  <a:srgbClr val="A50021"/>
                </a:solidFill>
              </a:rPr>
              <a:t>源极</a:t>
            </a:r>
          </a:p>
        </p:txBody>
      </p:sp>
      <p:sp>
        <p:nvSpPr>
          <p:cNvPr id="521230" name="AutoShape 14"/>
          <p:cNvSpPr>
            <a:spLocks/>
          </p:cNvSpPr>
          <p:nvPr/>
        </p:nvSpPr>
        <p:spPr bwMode="auto">
          <a:xfrm>
            <a:off x="4185443" y="4706938"/>
            <a:ext cx="698500" cy="717550"/>
          </a:xfrm>
          <a:prstGeom prst="borderCallout2">
            <a:avLst>
              <a:gd name="adj1" fmla="val 13634"/>
              <a:gd name="adj2" fmla="val 108333"/>
              <a:gd name="adj3" fmla="val 13634"/>
              <a:gd name="adj4" fmla="val 170315"/>
              <a:gd name="adj5" fmla="val -123921"/>
              <a:gd name="adj6" fmla="val 269657"/>
            </a:avLst>
          </a:prstGeom>
          <a:solidFill>
            <a:srgbClr val="66FFFF"/>
          </a:solidFill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000" dirty="0">
                <a:latin typeface="Verdana" pitchFamily="34" charset="0"/>
              </a:rPr>
              <a:t>导电沟道</a:t>
            </a:r>
          </a:p>
        </p:txBody>
      </p:sp>
      <p:sp>
        <p:nvSpPr>
          <p:cNvPr id="7175" name="Rectangle 15"/>
          <p:cNvSpPr>
            <a:spLocks noChangeArrowheads="1"/>
          </p:cNvSpPr>
          <p:nvPr/>
        </p:nvSpPr>
        <p:spPr bwMode="auto">
          <a:xfrm>
            <a:off x="1516063" y="2987843"/>
            <a:ext cx="1779587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000" dirty="0"/>
              <a:t>N</a:t>
            </a:r>
            <a:r>
              <a:rPr kumimoji="0" lang="zh-CN" altLang="en-US" sz="2000" dirty="0"/>
              <a:t>沟道结</a:t>
            </a:r>
            <a:r>
              <a:rPr kumimoji="0" lang="zh-CN" altLang="en-US" sz="2000" dirty="0" smtClean="0"/>
              <a:t>型</a:t>
            </a:r>
            <a:endParaRPr kumimoji="0" lang="en-US" altLang="zh-CN" sz="2000" dirty="0" smtClean="0"/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en-US" altLang="zh-CN" sz="2000" dirty="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sz="2000" dirty="0" smtClean="0"/>
              <a:t>场效应晶体管 </a:t>
            </a:r>
            <a:endParaRPr kumimoji="0" lang="zh-CN" altLang="en-US" sz="20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7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7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7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521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6" grpId="0"/>
      <p:bldP spid="7177" grpId="0"/>
      <p:bldP spid="7178" grpId="0"/>
      <p:bldP spid="521230" grpId="0" animBg="1"/>
      <p:bldP spid="717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940" y="1958145"/>
            <a:ext cx="7258050" cy="2962275"/>
          </a:xfrm>
          <a:prstGeom prst="rect">
            <a:avLst/>
          </a:prstGeom>
        </p:spPr>
      </p:pic>
      <p:sp>
        <p:nvSpPr>
          <p:cNvPr id="7171" name="Text Box 4"/>
          <p:cNvSpPr txBox="1">
            <a:spLocks noChangeArrowheads="1"/>
          </p:cNvSpPr>
          <p:nvPr/>
        </p:nvSpPr>
        <p:spPr bwMode="auto">
          <a:xfrm>
            <a:off x="958850" y="860425"/>
            <a:ext cx="762181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 smtClean="0">
                <a:solidFill>
                  <a:schemeClr val="accent2"/>
                </a:solidFill>
              </a:rPr>
              <a:t>3</a:t>
            </a:r>
            <a:r>
              <a:rPr lang="zh-CN" altLang="en-US" sz="2400" dirty="0" smtClean="0">
                <a:solidFill>
                  <a:schemeClr val="accent2"/>
                </a:solidFill>
              </a:rPr>
              <a:t>、</a:t>
            </a:r>
            <a:r>
              <a:rPr lang="en-US" altLang="zh-CN" sz="2400" dirty="0">
                <a:solidFill>
                  <a:schemeClr val="accent2"/>
                </a:solidFill>
              </a:rPr>
              <a:t> Complementary MOS</a:t>
            </a:r>
            <a:r>
              <a:rPr lang="zh-CN" altLang="en-US" sz="2400" dirty="0" smtClean="0">
                <a:solidFill>
                  <a:schemeClr val="accent2"/>
                </a:solidFill>
              </a:rPr>
              <a:t>（</a:t>
            </a:r>
            <a:r>
              <a:rPr lang="en-US" altLang="zh-CN" sz="2400" dirty="0" smtClean="0">
                <a:solidFill>
                  <a:schemeClr val="accent2"/>
                </a:solidFill>
              </a:rPr>
              <a:t>CMOS</a:t>
            </a:r>
            <a:r>
              <a:rPr lang="zh-CN" altLang="en-US" sz="2400" dirty="0" smtClean="0">
                <a:solidFill>
                  <a:schemeClr val="accent2"/>
                </a:solidFill>
              </a:rPr>
              <a:t>）的</a:t>
            </a:r>
            <a:r>
              <a:rPr lang="zh-CN" altLang="en-US" sz="2400" dirty="0">
                <a:solidFill>
                  <a:schemeClr val="accent2"/>
                </a:solidFill>
              </a:rPr>
              <a:t>结构</a:t>
            </a:r>
          </a:p>
        </p:txBody>
      </p:sp>
    </p:spTree>
    <p:extLst>
      <p:ext uri="{BB962C8B-B14F-4D97-AF65-F5344CB8AC3E}">
        <p14:creationId xmlns:p14="http://schemas.microsoft.com/office/powerpoint/2010/main" val="38579192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3"/>
          <p:cNvSpPr txBox="1">
            <a:spLocks noChangeArrowheads="1"/>
          </p:cNvSpPr>
          <p:nvPr/>
        </p:nvSpPr>
        <p:spPr bwMode="auto">
          <a:xfrm>
            <a:off x="623888" y="338365"/>
            <a:ext cx="655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 smtClean="0">
                <a:solidFill>
                  <a:srgbClr val="990033"/>
                </a:solidFill>
              </a:rPr>
              <a:t>二、场效应晶体管</a:t>
            </a:r>
            <a:r>
              <a:rPr lang="zh-CN" altLang="en-US" sz="2400" dirty="0">
                <a:solidFill>
                  <a:srgbClr val="990033"/>
                </a:solidFill>
              </a:rPr>
              <a:t>的工作原理</a:t>
            </a:r>
            <a:endParaRPr lang="zh-CN" altLang="en-US" sz="2400" dirty="0">
              <a:solidFill>
                <a:srgbClr val="A50021"/>
              </a:solidFill>
            </a:endParaRPr>
          </a:p>
        </p:txBody>
      </p:sp>
      <p:sp>
        <p:nvSpPr>
          <p:cNvPr id="11269" name="Text Box 7"/>
          <p:cNvSpPr txBox="1">
            <a:spLocks noChangeArrowheads="1"/>
          </p:cNvSpPr>
          <p:nvPr/>
        </p:nvSpPr>
        <p:spPr bwMode="auto">
          <a:xfrm>
            <a:off x="1333500" y="1318535"/>
            <a:ext cx="62436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42900" indent="-342900" eaLnBrk="1" hangingPunct="1"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zh-CN" altLang="en-US" sz="2400" dirty="0" smtClean="0">
                <a:solidFill>
                  <a:schemeClr val="accent5">
                    <a:lumMod val="50000"/>
                  </a:schemeClr>
                </a:solidFill>
              </a:rPr>
              <a:t>导电</a:t>
            </a:r>
            <a:r>
              <a:rPr lang="zh-CN" altLang="en-US" sz="2400" dirty="0">
                <a:solidFill>
                  <a:schemeClr val="accent5">
                    <a:lumMod val="50000"/>
                  </a:schemeClr>
                </a:solidFill>
              </a:rPr>
              <a:t>沟道的形成</a:t>
            </a: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871538" y="835481"/>
            <a:ext cx="670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 smtClean="0">
                <a:solidFill>
                  <a:schemeClr val="accent2"/>
                </a:solidFill>
              </a:rPr>
              <a:t>1</a:t>
            </a:r>
            <a:r>
              <a:rPr lang="zh-CN" altLang="en-US" sz="2400" dirty="0" smtClean="0">
                <a:solidFill>
                  <a:schemeClr val="accent2"/>
                </a:solidFill>
              </a:rPr>
              <a:t>、</a:t>
            </a:r>
            <a:r>
              <a:rPr lang="en-US" altLang="zh-CN" sz="2400" dirty="0">
                <a:solidFill>
                  <a:schemeClr val="accent2"/>
                </a:solidFill>
              </a:rPr>
              <a:t>N</a:t>
            </a:r>
            <a:r>
              <a:rPr lang="zh-CN" altLang="en-US" sz="2400" dirty="0">
                <a:solidFill>
                  <a:schemeClr val="accent2"/>
                </a:solidFill>
              </a:rPr>
              <a:t>沟道增强型</a:t>
            </a:r>
            <a:r>
              <a:rPr lang="en-US" altLang="zh-CN" sz="2400" dirty="0">
                <a:solidFill>
                  <a:schemeClr val="accent2"/>
                </a:solidFill>
              </a:rPr>
              <a:t>MOSFET</a:t>
            </a:r>
            <a:r>
              <a:rPr lang="zh-CN" altLang="en-US" sz="2400" dirty="0">
                <a:solidFill>
                  <a:schemeClr val="accent2"/>
                </a:solidFill>
              </a:rPr>
              <a:t>的工作原理</a:t>
            </a:r>
          </a:p>
        </p:txBody>
      </p:sp>
      <p:pic>
        <p:nvPicPr>
          <p:cNvPr id="11" name="Picture 3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1581" y="2200287"/>
            <a:ext cx="3445668" cy="30924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3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9888" y="2256556"/>
            <a:ext cx="3391693" cy="2979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464457" y="5717298"/>
            <a:ext cx="8012792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kumimoji="0" lang="en-US" altLang="zh-CN" sz="2000" i="1" dirty="0"/>
              <a:t>         </a:t>
            </a:r>
            <a:r>
              <a:rPr kumimoji="0" lang="en-US" altLang="zh-CN" sz="2000" i="1" dirty="0" err="1" smtClean="0"/>
              <a:t>v</a:t>
            </a:r>
            <a:r>
              <a:rPr kumimoji="0" lang="en-US" altLang="zh-CN" sz="2000" i="1" baseline="-25000" dirty="0" err="1" smtClean="0"/>
              <a:t>GS</a:t>
            </a:r>
            <a:r>
              <a:rPr kumimoji="0" lang="en-US" altLang="zh-CN" sz="2000" baseline="-25000" dirty="0" smtClean="0"/>
              <a:t> </a:t>
            </a:r>
            <a:r>
              <a:rPr kumimoji="0" lang="zh-CN" altLang="en-US" sz="2000" dirty="0" smtClean="0"/>
              <a:t>增大，</a:t>
            </a:r>
            <a:r>
              <a:rPr kumimoji="0" lang="en-US" altLang="zh-CN" sz="2000" dirty="0" smtClean="0"/>
              <a:t>N</a:t>
            </a:r>
            <a:r>
              <a:rPr kumimoji="0" lang="zh-CN" altLang="en-US" sz="2000" dirty="0" smtClean="0"/>
              <a:t>型反型层将</a:t>
            </a:r>
            <a:r>
              <a:rPr kumimoji="0" lang="zh-CN" altLang="en-US" sz="2000" dirty="0"/>
              <a:t>变厚变长。当反型层将两个</a:t>
            </a:r>
            <a:r>
              <a:rPr kumimoji="0" lang="en-US" altLang="zh-CN" sz="2000" dirty="0"/>
              <a:t>N</a:t>
            </a:r>
            <a:r>
              <a:rPr kumimoji="0" lang="zh-CN" altLang="en-US" sz="2000" dirty="0"/>
              <a:t>区相接时，</a:t>
            </a:r>
            <a:r>
              <a:rPr kumimoji="0" lang="zh-CN" altLang="en-US" sz="2000" dirty="0" smtClean="0"/>
              <a:t>形成</a:t>
            </a:r>
            <a:r>
              <a:rPr kumimoji="0" lang="en-US" altLang="zh-CN" sz="2000" dirty="0"/>
              <a:t>N</a:t>
            </a:r>
            <a:r>
              <a:rPr kumimoji="0" lang="zh-CN" altLang="en-US" sz="2000" dirty="0"/>
              <a:t>型导电沟道</a:t>
            </a:r>
            <a:r>
              <a:rPr kumimoji="0" lang="zh-CN" altLang="en-US" sz="2000" dirty="0" smtClean="0"/>
              <a:t>（简称</a:t>
            </a:r>
            <a:r>
              <a:rPr kumimoji="0" lang="en-US" altLang="zh-CN" sz="2000" dirty="0" smtClean="0">
                <a:solidFill>
                  <a:srgbClr val="FF0000"/>
                </a:solidFill>
              </a:rPr>
              <a:t>N</a:t>
            </a:r>
            <a:r>
              <a:rPr kumimoji="0" lang="zh-CN" altLang="en-US" sz="2000" dirty="0" smtClean="0">
                <a:solidFill>
                  <a:srgbClr val="FF0000"/>
                </a:solidFill>
              </a:rPr>
              <a:t>沟道</a:t>
            </a:r>
            <a:r>
              <a:rPr kumimoji="0" lang="zh-CN" altLang="en-US" sz="2000" dirty="0" smtClean="0"/>
              <a:t>）。</a:t>
            </a:r>
            <a:endParaRPr kumimoji="0" lang="zh-CN" altLang="en-US" sz="2000" dirty="0"/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3652838" y="4498290"/>
            <a:ext cx="838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 dirty="0">
                <a:solidFill>
                  <a:srgbClr val="A50021"/>
                </a:solidFill>
              </a:rPr>
              <a:t>衬底</a:t>
            </a:r>
          </a:p>
        </p:txBody>
      </p:sp>
      <p:sp>
        <p:nvSpPr>
          <p:cNvPr id="15" name="AutoShape 14"/>
          <p:cNvSpPr>
            <a:spLocks/>
          </p:cNvSpPr>
          <p:nvPr/>
        </p:nvSpPr>
        <p:spPr bwMode="auto">
          <a:xfrm>
            <a:off x="355601" y="5039629"/>
            <a:ext cx="1027113" cy="381000"/>
          </a:xfrm>
          <a:prstGeom prst="borderCallout1">
            <a:avLst>
              <a:gd name="adj1" fmla="val 30000"/>
              <a:gd name="adj2" fmla="val 107417"/>
              <a:gd name="adj3" fmla="val -245833"/>
              <a:gd name="adj4" fmla="val 194126"/>
            </a:avLst>
          </a:prstGeom>
          <a:solidFill>
            <a:srgbClr val="00FFFF"/>
          </a:solidFill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000" dirty="0"/>
              <a:t>耗尽层</a:t>
            </a:r>
          </a:p>
        </p:txBody>
      </p:sp>
      <p:sp>
        <p:nvSpPr>
          <p:cNvPr id="16" name="AutoShape 15"/>
          <p:cNvSpPr>
            <a:spLocks/>
          </p:cNvSpPr>
          <p:nvPr/>
        </p:nvSpPr>
        <p:spPr bwMode="auto">
          <a:xfrm>
            <a:off x="1776414" y="5223779"/>
            <a:ext cx="685800" cy="381000"/>
          </a:xfrm>
          <a:prstGeom prst="borderCallout1">
            <a:avLst>
              <a:gd name="adj1" fmla="val 30000"/>
              <a:gd name="adj2" fmla="val 111111"/>
              <a:gd name="adj3" fmla="val -355833"/>
              <a:gd name="adj4" fmla="val 201621"/>
            </a:avLst>
          </a:prstGeom>
          <a:solidFill>
            <a:srgbClr val="00FFFF"/>
          </a:solidFill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800" dirty="0"/>
              <a:t>空穴</a:t>
            </a:r>
          </a:p>
        </p:txBody>
      </p:sp>
      <p:sp>
        <p:nvSpPr>
          <p:cNvPr id="17" name="AutoShape 16"/>
          <p:cNvSpPr>
            <a:spLocks/>
          </p:cNvSpPr>
          <p:nvPr/>
        </p:nvSpPr>
        <p:spPr bwMode="auto">
          <a:xfrm>
            <a:off x="358776" y="4239529"/>
            <a:ext cx="1023938" cy="457200"/>
          </a:xfrm>
          <a:prstGeom prst="borderCallout1">
            <a:avLst>
              <a:gd name="adj1" fmla="val 25000"/>
              <a:gd name="adj2" fmla="val 107440"/>
              <a:gd name="adj3" fmla="val -89931"/>
              <a:gd name="adj4" fmla="val 190699"/>
            </a:avLst>
          </a:prstGeom>
          <a:solidFill>
            <a:srgbClr val="00FFFF"/>
          </a:solidFill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000" dirty="0"/>
              <a:t>高掺杂</a:t>
            </a:r>
          </a:p>
        </p:txBody>
      </p:sp>
      <p:sp>
        <p:nvSpPr>
          <p:cNvPr id="18" name="AutoShape 16"/>
          <p:cNvSpPr>
            <a:spLocks/>
          </p:cNvSpPr>
          <p:nvPr/>
        </p:nvSpPr>
        <p:spPr bwMode="auto">
          <a:xfrm>
            <a:off x="209551" y="2663141"/>
            <a:ext cx="1023938" cy="725488"/>
          </a:xfrm>
          <a:prstGeom prst="borderCallout1">
            <a:avLst>
              <a:gd name="adj1" fmla="val 25000"/>
              <a:gd name="adj2" fmla="val 107440"/>
              <a:gd name="adj3" fmla="val 115457"/>
              <a:gd name="adj4" fmla="val 179536"/>
            </a:avLst>
          </a:prstGeom>
          <a:solidFill>
            <a:srgbClr val="00FFFF"/>
          </a:solidFill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2000" dirty="0" smtClean="0"/>
              <a:t>SiO</a:t>
            </a:r>
            <a:r>
              <a:rPr kumimoji="0" lang="en-US" altLang="zh-CN" sz="2000" baseline="-25000" dirty="0" smtClean="0"/>
              <a:t>2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2000" dirty="0" smtClean="0"/>
              <a:t>绝缘层</a:t>
            </a:r>
            <a:endParaRPr kumimoji="0" lang="zh-CN" altLang="en-US" sz="2000" dirty="0"/>
          </a:p>
        </p:txBody>
      </p:sp>
      <p:sp>
        <p:nvSpPr>
          <p:cNvPr id="19" name="AutoShape 17"/>
          <p:cNvSpPr>
            <a:spLocks/>
          </p:cNvSpPr>
          <p:nvPr/>
        </p:nvSpPr>
        <p:spPr bwMode="auto">
          <a:xfrm>
            <a:off x="7681913" y="5177741"/>
            <a:ext cx="1138238" cy="485775"/>
          </a:xfrm>
          <a:prstGeom prst="borderCallout2">
            <a:avLst>
              <a:gd name="adj1" fmla="val 23528"/>
              <a:gd name="adj2" fmla="val -6694"/>
              <a:gd name="adj3" fmla="val 23528"/>
              <a:gd name="adj4" fmla="val -12690"/>
              <a:gd name="adj5" fmla="val -294772"/>
              <a:gd name="adj6" fmla="val -69177"/>
            </a:avLst>
          </a:prstGeom>
          <a:solidFill>
            <a:srgbClr val="00FFFF"/>
          </a:solidFill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2000" dirty="0"/>
              <a:t>反型层</a:t>
            </a:r>
          </a:p>
        </p:txBody>
      </p:sp>
      <p:sp>
        <p:nvSpPr>
          <p:cNvPr id="20" name="AutoShape 21"/>
          <p:cNvSpPr>
            <a:spLocks/>
          </p:cNvSpPr>
          <p:nvPr/>
        </p:nvSpPr>
        <p:spPr bwMode="auto">
          <a:xfrm>
            <a:off x="7422017" y="1246450"/>
            <a:ext cx="1295400" cy="685800"/>
          </a:xfrm>
          <a:prstGeom prst="borderCallout1">
            <a:avLst>
              <a:gd name="adj1" fmla="val 16667"/>
              <a:gd name="adj2" fmla="val -5884"/>
              <a:gd name="adj3" fmla="val 175330"/>
              <a:gd name="adj4" fmla="val -77922"/>
            </a:avLst>
          </a:prstGeom>
          <a:solidFill>
            <a:srgbClr val="00FFFF"/>
          </a:solidFill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sz="2000" dirty="0" smtClean="0">
                <a:latin typeface="Arial" charset="0"/>
              </a:rPr>
              <a:t>电压增大</a:t>
            </a:r>
            <a:r>
              <a:rPr kumimoji="0" lang="zh-CN" altLang="en-US" sz="2000" dirty="0">
                <a:latin typeface="Arial" charset="0"/>
              </a:rPr>
              <a:t>到一定</a:t>
            </a:r>
            <a:r>
              <a:rPr kumimoji="0" lang="zh-CN" altLang="en-US" sz="2000" dirty="0" smtClean="0">
                <a:latin typeface="Arial" charset="0"/>
              </a:rPr>
              <a:t>值</a:t>
            </a:r>
            <a:endParaRPr kumimoji="0" lang="zh-CN" altLang="en-US" sz="2000" dirty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9" grpId="0"/>
      <p:bldP spid="8" grpId="0"/>
      <p:bldP spid="13" grpId="0"/>
      <p:bldP spid="14" grpId="0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3"/>
          <p:cNvSpPr txBox="1">
            <a:spLocks noChangeArrowheads="1"/>
          </p:cNvSpPr>
          <p:nvPr/>
        </p:nvSpPr>
        <p:spPr bwMode="auto">
          <a:xfrm>
            <a:off x="609600" y="485320"/>
            <a:ext cx="655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>
                <a:solidFill>
                  <a:srgbClr val="990033"/>
                </a:solidFill>
              </a:rPr>
              <a:t>特点：</a:t>
            </a:r>
            <a:endParaRPr lang="zh-CN" altLang="en-US" sz="2400" dirty="0">
              <a:solidFill>
                <a:srgbClr val="A50021"/>
              </a:solidFill>
            </a:endParaRPr>
          </a:p>
        </p:txBody>
      </p:sp>
      <p:sp>
        <p:nvSpPr>
          <p:cNvPr id="12291" name="Rectangle 4"/>
          <p:cNvSpPr>
            <a:spLocks noChangeArrowheads="1"/>
          </p:cNvSpPr>
          <p:nvPr/>
        </p:nvSpPr>
        <p:spPr bwMode="auto">
          <a:xfrm>
            <a:off x="0" y="2514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12292" name="Rectangle 8"/>
          <p:cNvSpPr>
            <a:spLocks noChangeArrowheads="1"/>
          </p:cNvSpPr>
          <p:nvPr/>
        </p:nvSpPr>
        <p:spPr bwMode="auto">
          <a:xfrm>
            <a:off x="847725" y="1061166"/>
            <a:ext cx="7429500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457200" indent="-457200" algn="l" eaLnBrk="0" hangingPunct="0">
              <a:spcBef>
                <a:spcPct val="20000"/>
              </a:spcBef>
              <a:buChar char="•"/>
              <a:tabLst>
                <a:tab pos="723900" algn="l"/>
              </a:tabLst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tabLst>
                <a:tab pos="723900" algn="l"/>
              </a:tabLst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tabLst>
                <a:tab pos="7239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tabLst>
                <a:tab pos="723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tabLst>
                <a:tab pos="723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23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23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23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23900" algn="l"/>
              </a:tabLst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AutoNum type="arabicParenBoth"/>
            </a:pPr>
            <a:r>
              <a:rPr lang="zh-CN" altLang="en-US" sz="2000" dirty="0"/>
              <a:t>由电子形成的反型层称</a:t>
            </a:r>
            <a:r>
              <a:rPr lang="en-US" altLang="zh-CN" sz="2000" dirty="0"/>
              <a:t>N</a:t>
            </a:r>
            <a:r>
              <a:rPr lang="zh-CN" altLang="en-US" sz="2000" dirty="0"/>
              <a:t>沟道</a:t>
            </a:r>
            <a:r>
              <a:rPr lang="zh-CN" altLang="en-US" sz="2000" dirty="0" smtClean="0"/>
              <a:t>，对应</a:t>
            </a:r>
            <a:r>
              <a:rPr lang="zh-CN" altLang="en-US" sz="2000" dirty="0"/>
              <a:t>为</a:t>
            </a:r>
            <a:r>
              <a:rPr lang="en-US" altLang="zh-CN" sz="2000" dirty="0"/>
              <a:t>NMOS</a:t>
            </a:r>
            <a:r>
              <a:rPr lang="zh-CN" altLang="en-US" sz="2000" dirty="0"/>
              <a:t>；由空穴构成的反型层称</a:t>
            </a:r>
            <a:r>
              <a:rPr lang="en-US" altLang="zh-CN" sz="2000" dirty="0"/>
              <a:t>P</a:t>
            </a:r>
            <a:r>
              <a:rPr lang="zh-CN" altLang="en-US" sz="2000" dirty="0"/>
              <a:t>沟道</a:t>
            </a:r>
            <a:r>
              <a:rPr lang="zh-CN" altLang="en-US" sz="2000" dirty="0" smtClean="0"/>
              <a:t>，对应</a:t>
            </a:r>
            <a:r>
              <a:rPr lang="zh-CN" altLang="en-US" sz="2000" dirty="0"/>
              <a:t>为</a:t>
            </a:r>
            <a:r>
              <a:rPr lang="en-US" altLang="zh-CN" sz="2000" dirty="0"/>
              <a:t>PMOS</a:t>
            </a:r>
            <a:r>
              <a:rPr lang="zh-CN" altLang="en-US" sz="2000" dirty="0"/>
              <a:t>。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AutoNum type="arabicParenBoth" startAt="2"/>
            </a:pPr>
            <a:r>
              <a:rPr lang="zh-CN" altLang="en-US" sz="2000" dirty="0" smtClean="0"/>
              <a:t>对于</a:t>
            </a:r>
            <a:r>
              <a:rPr lang="en-US" altLang="zh-CN" sz="2000" dirty="0"/>
              <a:t>NMOS</a:t>
            </a:r>
            <a:r>
              <a:rPr lang="zh-CN" altLang="en-US" sz="2000" dirty="0" smtClean="0"/>
              <a:t>，反型层</a:t>
            </a:r>
            <a:r>
              <a:rPr lang="zh-CN" altLang="en-US" sz="2000" dirty="0"/>
              <a:t>形成的先决条件</a:t>
            </a:r>
            <a:r>
              <a:rPr lang="zh-CN" altLang="en-US" sz="2000" dirty="0" smtClean="0"/>
              <a:t>是 </a:t>
            </a:r>
            <a:r>
              <a:rPr lang="en-US" altLang="zh-CN" sz="2000" i="1" dirty="0" err="1" smtClean="0"/>
              <a:t>v</a:t>
            </a:r>
            <a:r>
              <a:rPr lang="en-US" altLang="zh-CN" sz="2000" i="1" baseline="-25000" dirty="0" err="1" smtClean="0"/>
              <a:t>GS</a:t>
            </a:r>
            <a:r>
              <a:rPr lang="en-US" altLang="zh-CN" sz="2000" i="1" baseline="-25000" dirty="0" smtClean="0"/>
              <a:t> </a:t>
            </a:r>
            <a:r>
              <a:rPr lang="en-US" altLang="zh-CN" sz="2000" dirty="0"/>
              <a:t>&gt; </a:t>
            </a:r>
            <a:r>
              <a:rPr lang="en-US" altLang="zh-CN" sz="2000" i="1" dirty="0" err="1" smtClean="0"/>
              <a:t>V</a:t>
            </a:r>
            <a:r>
              <a:rPr lang="en-US" altLang="zh-CN" sz="2000" i="1" baseline="-25000" dirty="0" err="1" smtClean="0"/>
              <a:t>tn</a:t>
            </a:r>
            <a:r>
              <a:rPr lang="zh-CN" altLang="en-US" sz="2000" dirty="0" smtClean="0"/>
              <a:t>（</a:t>
            </a:r>
            <a:r>
              <a:rPr lang="zh-CN" altLang="en-US" sz="2000" dirty="0"/>
              <a:t>开启电压，阈值电压，</a:t>
            </a:r>
            <a:r>
              <a:rPr lang="en-US" altLang="zh-CN" sz="2000" dirty="0"/>
              <a:t>threshold voltage</a:t>
            </a:r>
            <a:r>
              <a:rPr lang="zh-CN" altLang="en-US" sz="2000" dirty="0"/>
              <a:t>）。</a:t>
            </a:r>
            <a:r>
              <a:rPr lang="en-US" altLang="zh-CN" sz="2000" i="1" dirty="0" err="1" smtClean="0"/>
              <a:t>V</a:t>
            </a:r>
            <a:r>
              <a:rPr lang="en-US" altLang="zh-CN" sz="2000" i="1" baseline="-25000" dirty="0" err="1" smtClean="0"/>
              <a:t>tn</a:t>
            </a:r>
            <a:r>
              <a:rPr lang="en-US" altLang="zh-CN" sz="2000" i="1" baseline="-25000" dirty="0" smtClean="0"/>
              <a:t> </a:t>
            </a:r>
            <a:r>
              <a:rPr lang="zh-CN" altLang="en-US" sz="2000" dirty="0"/>
              <a:t>的大小取决于场效应管的工艺参数。</a:t>
            </a:r>
            <a:r>
              <a:rPr lang="en-US" altLang="zh-CN" sz="2000" dirty="0"/>
              <a:t>SiO</a:t>
            </a:r>
            <a:r>
              <a:rPr lang="en-US" altLang="zh-CN" sz="2000" baseline="-25000" dirty="0"/>
              <a:t>2</a:t>
            </a:r>
            <a:r>
              <a:rPr lang="zh-CN" altLang="en-US" sz="2000" dirty="0"/>
              <a:t>绝缘层越薄，两</a:t>
            </a:r>
            <a:r>
              <a:rPr lang="en-US" altLang="zh-CN" sz="2000" dirty="0"/>
              <a:t>N</a:t>
            </a:r>
            <a:r>
              <a:rPr lang="zh-CN" altLang="en-US" sz="2000" baseline="30000" dirty="0"/>
              <a:t>＋</a:t>
            </a:r>
            <a:r>
              <a:rPr lang="zh-CN" altLang="en-US" sz="2000" dirty="0"/>
              <a:t>区的掺杂浓度越高，衬底掺杂浓度越低， </a:t>
            </a:r>
            <a:r>
              <a:rPr lang="en-US" altLang="zh-CN" sz="2000" i="1" dirty="0" err="1" smtClean="0"/>
              <a:t>V</a:t>
            </a:r>
            <a:r>
              <a:rPr lang="en-US" altLang="zh-CN" sz="2000" i="1" baseline="-25000" dirty="0" err="1" smtClean="0"/>
              <a:t>tn</a:t>
            </a:r>
            <a:r>
              <a:rPr lang="en-US" altLang="zh-CN" sz="2000" baseline="-25000" dirty="0" smtClean="0"/>
              <a:t>  </a:t>
            </a:r>
            <a:r>
              <a:rPr lang="zh-CN" altLang="en-US" sz="2000" dirty="0" smtClean="0"/>
              <a:t>就</a:t>
            </a:r>
            <a:r>
              <a:rPr lang="zh-CN" altLang="en-US" sz="2000" dirty="0"/>
              <a:t>越小。</a:t>
            </a:r>
            <a:endParaRPr lang="en-US" altLang="zh-CN" sz="2000" dirty="0"/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AutoNum type="arabicParenBoth" startAt="2"/>
            </a:pPr>
            <a:r>
              <a:rPr lang="zh-CN" altLang="en-US" sz="2000" dirty="0" smtClean="0"/>
              <a:t>对于</a:t>
            </a:r>
            <a:r>
              <a:rPr lang="en-US" altLang="zh-CN" sz="2000" dirty="0"/>
              <a:t>NMOS</a:t>
            </a:r>
            <a:r>
              <a:rPr lang="zh-CN" altLang="en-US" sz="2000" dirty="0" smtClean="0"/>
              <a:t>，</a:t>
            </a:r>
            <a:r>
              <a:rPr lang="en-US" altLang="zh-CN" sz="2000" i="1" dirty="0" err="1" smtClean="0"/>
              <a:t>v</a:t>
            </a:r>
            <a:r>
              <a:rPr lang="en-US" altLang="zh-CN" sz="2000" i="1" baseline="-25000" dirty="0" err="1" smtClean="0"/>
              <a:t>GS</a:t>
            </a:r>
            <a:r>
              <a:rPr lang="en-US" altLang="zh-CN" sz="2000" i="1" baseline="-25000" dirty="0" smtClean="0"/>
              <a:t> </a:t>
            </a:r>
            <a:r>
              <a:rPr lang="zh-CN" altLang="en-US" sz="2000" dirty="0"/>
              <a:t>越大，反型层的电子浓度就越大，沟道的导电能力也就越强，在同样</a:t>
            </a:r>
            <a:r>
              <a:rPr lang="zh-CN" altLang="en-US" sz="2000" dirty="0" smtClean="0"/>
              <a:t>的 </a:t>
            </a:r>
            <a:r>
              <a:rPr lang="en-US" altLang="zh-CN" sz="2000" i="1" dirty="0" err="1" smtClean="0"/>
              <a:t>v</a:t>
            </a:r>
            <a:r>
              <a:rPr lang="en-US" altLang="zh-CN" sz="2000" i="1" baseline="-25000" dirty="0" err="1" smtClean="0"/>
              <a:t>DS</a:t>
            </a:r>
            <a:r>
              <a:rPr lang="en-US" altLang="zh-CN" sz="2000" i="1" baseline="-25000" dirty="0" smtClean="0"/>
              <a:t> </a:t>
            </a:r>
            <a:r>
              <a:rPr lang="zh-CN" altLang="en-US" sz="2000" dirty="0" smtClean="0"/>
              <a:t>作用</a:t>
            </a:r>
            <a:r>
              <a:rPr lang="zh-CN" altLang="en-US" sz="2000" dirty="0"/>
              <a:t>下，漏极与源极之间的电流相应也越大。</a:t>
            </a:r>
            <a:endParaRPr lang="en-US" altLang="zh-CN" sz="2000" dirty="0"/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AutoNum type="arabicParenBoth" startAt="2"/>
            </a:pPr>
            <a:r>
              <a:rPr lang="zh-CN" altLang="en-US" sz="2000" dirty="0" smtClean="0"/>
              <a:t>如果</a:t>
            </a:r>
            <a:r>
              <a:rPr lang="zh-CN" altLang="en-US" sz="2000" dirty="0"/>
              <a:t>在源漏间加上一个小电压（如</a:t>
            </a:r>
            <a:r>
              <a:rPr lang="en-US" altLang="zh-CN" sz="2000" dirty="0" smtClean="0"/>
              <a:t>100 ~ 200 </a:t>
            </a:r>
            <a:r>
              <a:rPr lang="en-US" altLang="zh-CN" sz="2000" dirty="0"/>
              <a:t>mV</a:t>
            </a:r>
            <a:r>
              <a:rPr lang="zh-CN" altLang="en-US" sz="2000" dirty="0"/>
              <a:t>），沟道呈电阻特性。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2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2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22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ChangeArrowheads="1"/>
          </p:cNvSpPr>
          <p:nvPr/>
        </p:nvSpPr>
        <p:spPr bwMode="auto">
          <a:xfrm>
            <a:off x="0" y="2514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13315" name="Rectangle 6"/>
          <p:cNvSpPr>
            <a:spLocks noChangeArrowheads="1"/>
          </p:cNvSpPr>
          <p:nvPr/>
        </p:nvSpPr>
        <p:spPr bwMode="auto">
          <a:xfrm>
            <a:off x="0" y="22621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graphicFrame>
        <p:nvGraphicFramePr>
          <p:cNvPr id="1331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779020"/>
              </p:ext>
            </p:extLst>
          </p:nvPr>
        </p:nvGraphicFramePr>
        <p:xfrm>
          <a:off x="407988" y="2270125"/>
          <a:ext cx="7018337" cy="342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22" name="Visio" r:id="rId3" imgW="4753145" imgH="2305050" progId="Visio.Drawing.11">
                  <p:embed/>
                </p:oleObj>
              </mc:Choice>
              <mc:Fallback>
                <p:oleObj name="Visio" r:id="rId3" imgW="4753145" imgH="2305050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88" y="2270125"/>
                        <a:ext cx="7018337" cy="3424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7" name="Rectangle 7"/>
          <p:cNvSpPr>
            <a:spLocks noChangeArrowheads="1"/>
          </p:cNvSpPr>
          <p:nvPr/>
        </p:nvSpPr>
        <p:spPr bwMode="auto">
          <a:xfrm>
            <a:off x="557213" y="1003300"/>
            <a:ext cx="55372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dirty="0"/>
              <a:t>增强型</a:t>
            </a:r>
            <a:r>
              <a:rPr lang="en-US" altLang="zh-CN" sz="2000" dirty="0"/>
              <a:t>NMOS</a:t>
            </a:r>
            <a:r>
              <a:rPr lang="zh-CN" altLang="en-US" sz="2000" dirty="0"/>
              <a:t>管在很小</a:t>
            </a:r>
            <a:r>
              <a:rPr lang="zh-CN" altLang="en-US" sz="2000" dirty="0" smtClean="0"/>
              <a:t>的 </a:t>
            </a:r>
            <a:r>
              <a:rPr lang="en-US" altLang="zh-CN" sz="2000" i="1" dirty="0" err="1" smtClean="0"/>
              <a:t>v</a:t>
            </a:r>
            <a:r>
              <a:rPr lang="en-US" altLang="zh-CN" sz="2000" i="1" baseline="-25000" dirty="0" err="1" smtClean="0"/>
              <a:t>DS</a:t>
            </a:r>
            <a:r>
              <a:rPr lang="en-US" altLang="zh-CN" sz="2000" dirty="0" smtClean="0"/>
              <a:t> </a:t>
            </a:r>
            <a:r>
              <a:rPr lang="zh-CN" altLang="en-US" sz="2000" dirty="0"/>
              <a:t>作用下的伏安特性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4"/>
          <p:cNvSpPr>
            <a:spLocks noChangeArrowheads="1"/>
          </p:cNvSpPr>
          <p:nvPr/>
        </p:nvSpPr>
        <p:spPr bwMode="auto">
          <a:xfrm>
            <a:off x="0" y="2514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14339" name="Text Box 5"/>
          <p:cNvSpPr txBox="1">
            <a:spLocks noChangeArrowheads="1"/>
          </p:cNvSpPr>
          <p:nvPr/>
        </p:nvSpPr>
        <p:spPr bwMode="auto">
          <a:xfrm>
            <a:off x="800100" y="581025"/>
            <a:ext cx="670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42900" indent="-342900" eaLnBrk="1" hangingPunct="1"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zh-CN" altLang="en-US" sz="2400" dirty="0" smtClean="0">
                <a:solidFill>
                  <a:schemeClr val="accent5">
                    <a:lumMod val="50000"/>
                  </a:schemeClr>
                </a:solidFill>
              </a:rPr>
              <a:t>沟道</a:t>
            </a:r>
            <a:r>
              <a:rPr lang="zh-CN" altLang="en-US" sz="2400" dirty="0">
                <a:solidFill>
                  <a:schemeClr val="accent5">
                    <a:lumMod val="50000"/>
                  </a:schemeClr>
                </a:solidFill>
              </a:rPr>
              <a:t>夹断</a:t>
            </a:r>
            <a:r>
              <a:rPr lang="zh-CN" altLang="en-US" sz="2400" dirty="0">
                <a:solidFill>
                  <a:srgbClr val="00B0F0"/>
                </a:solidFill>
              </a:rPr>
              <a:t>（</a:t>
            </a:r>
            <a:r>
              <a:rPr lang="en-US" altLang="zh-CN" sz="2400" dirty="0">
                <a:solidFill>
                  <a:srgbClr val="00B0F0"/>
                </a:solidFill>
              </a:rPr>
              <a:t>channel pinch-off</a:t>
            </a:r>
            <a:r>
              <a:rPr lang="zh-CN" altLang="en-US" sz="2400" dirty="0">
                <a:solidFill>
                  <a:srgbClr val="00B0F0"/>
                </a:solidFill>
              </a:rPr>
              <a:t>）</a:t>
            </a:r>
          </a:p>
        </p:txBody>
      </p:sp>
      <p:sp>
        <p:nvSpPr>
          <p:cNvPr id="14340" name="Rectangle 9"/>
          <p:cNvSpPr>
            <a:spLocks noChangeArrowheads="1"/>
          </p:cNvSpPr>
          <p:nvPr/>
        </p:nvSpPr>
        <p:spPr bwMode="auto">
          <a:xfrm>
            <a:off x="0" y="17573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graphicFrame>
        <p:nvGraphicFramePr>
          <p:cNvPr id="14341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9564761"/>
              </p:ext>
            </p:extLst>
          </p:nvPr>
        </p:nvGraphicFramePr>
        <p:xfrm>
          <a:off x="137433" y="1404895"/>
          <a:ext cx="6189663" cy="439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61" name="Visio" r:id="rId3" imgW="4953029" imgH="3514898" progId="Visio.Drawing.11">
                  <p:embed/>
                </p:oleObj>
              </mc:Choice>
              <mc:Fallback>
                <p:oleObj name="Visio" r:id="rId3" imgW="4953029" imgH="3514898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</a:blip>
                      <a:srcRect l="6018"/>
                      <a:stretch>
                        <a:fillRect/>
                      </a:stretch>
                    </p:blipFill>
                    <p:spPr bwMode="auto">
                      <a:xfrm>
                        <a:off x="137433" y="1404895"/>
                        <a:ext cx="6189663" cy="439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106921"/>
              </p:ext>
            </p:extLst>
          </p:nvPr>
        </p:nvGraphicFramePr>
        <p:xfrm>
          <a:off x="6632192" y="4184196"/>
          <a:ext cx="2216150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62" name="Equation" r:id="rId5" imgW="1231560" imgH="228600" progId="Equation.DSMT4">
                  <p:embed/>
                </p:oleObj>
              </mc:Choice>
              <mc:Fallback>
                <p:oleObj name="Equation" r:id="rId5" imgW="1231560" imgH="2286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2192" y="4184196"/>
                        <a:ext cx="2216150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椭圆 1"/>
          <p:cNvSpPr/>
          <p:nvPr/>
        </p:nvSpPr>
        <p:spPr bwMode="auto">
          <a:xfrm>
            <a:off x="3601915" y="2952916"/>
            <a:ext cx="573749" cy="521676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cxnSp>
        <p:nvCxnSpPr>
          <p:cNvPr id="4" name="直接箭头连接符 3"/>
          <p:cNvCxnSpPr/>
          <p:nvPr/>
        </p:nvCxnSpPr>
        <p:spPr bwMode="auto">
          <a:xfrm flipH="1" flipV="1">
            <a:off x="4175665" y="3353017"/>
            <a:ext cx="2021028" cy="720962"/>
          </a:xfrm>
          <a:prstGeom prst="straightConnector1">
            <a:avLst/>
          </a:prstGeom>
          <a:solidFill>
            <a:srgbClr val="99FF99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矩形 5"/>
          <p:cNvSpPr/>
          <p:nvPr/>
        </p:nvSpPr>
        <p:spPr>
          <a:xfrm>
            <a:off x="6327096" y="3813357"/>
            <a:ext cx="22493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 smtClean="0"/>
              <a:t>当该点电压减小到</a:t>
            </a:r>
            <a:endParaRPr lang="zh-CN" altLang="en-US" sz="2000" dirty="0"/>
          </a:p>
        </p:txBody>
      </p:sp>
      <p:sp>
        <p:nvSpPr>
          <p:cNvPr id="12" name="矩形 11"/>
          <p:cNvSpPr/>
          <p:nvPr/>
        </p:nvSpPr>
        <p:spPr>
          <a:xfrm>
            <a:off x="6373852" y="4705295"/>
            <a:ext cx="173316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 smtClean="0"/>
              <a:t>发生沟道夹断</a:t>
            </a:r>
            <a:endParaRPr lang="zh-CN" altLang="en-US" sz="20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39723" y="5354702"/>
            <a:ext cx="4715566" cy="110548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6259413"/>
              </p:ext>
            </p:extLst>
          </p:nvPr>
        </p:nvGraphicFramePr>
        <p:xfrm>
          <a:off x="2844800" y="1065046"/>
          <a:ext cx="6299200" cy="430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29" name="Visio" r:id="rId3" imgW="4848229" imgH="3314700" progId="Visio.Drawing.15">
                  <p:embed/>
                </p:oleObj>
              </mc:Choice>
              <mc:Fallback>
                <p:oleObj name="Visio" r:id="rId3" imgW="4848229" imgH="3314700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44800" y="1065046"/>
                        <a:ext cx="6299200" cy="4306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9" name="Rectangle 7"/>
          <p:cNvSpPr>
            <a:spLocks noChangeArrowheads="1"/>
          </p:cNvSpPr>
          <p:nvPr/>
        </p:nvSpPr>
        <p:spPr bwMode="auto">
          <a:xfrm>
            <a:off x="450052" y="5127006"/>
            <a:ext cx="8144907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cs typeface="Times New Roman" pitchFamily="18" charset="0"/>
              </a:rPr>
              <a:t>        </a:t>
            </a:r>
            <a:r>
              <a:rPr lang="zh-CN" altLang="en-US" sz="2000" dirty="0" smtClean="0">
                <a:cs typeface="Times New Roman" pitchFamily="18" charset="0"/>
              </a:rPr>
              <a:t>随着 </a:t>
            </a:r>
            <a:r>
              <a:rPr lang="en-US" altLang="zh-CN" sz="2000" i="1" dirty="0" err="1" smtClean="0">
                <a:cs typeface="Times New Roman" pitchFamily="18" charset="0"/>
              </a:rPr>
              <a:t>v</a:t>
            </a:r>
            <a:r>
              <a:rPr lang="en-US" altLang="zh-CN" sz="2000" i="1" baseline="-25000" dirty="0" err="1" smtClean="0">
                <a:cs typeface="Times New Roman" pitchFamily="18" charset="0"/>
              </a:rPr>
              <a:t>DS</a:t>
            </a:r>
            <a:r>
              <a:rPr lang="en-US" altLang="zh-CN" sz="2000" i="1" baseline="-25000" dirty="0" smtClean="0">
                <a:cs typeface="Times New Roman" pitchFamily="18" charset="0"/>
              </a:rPr>
              <a:t> </a:t>
            </a:r>
            <a:r>
              <a:rPr lang="zh-CN" altLang="en-US" sz="2000" dirty="0" smtClean="0">
                <a:cs typeface="Times New Roman" pitchFamily="18" charset="0"/>
              </a:rPr>
              <a:t>继续</a:t>
            </a:r>
            <a:r>
              <a:rPr lang="zh-CN" altLang="en-US" sz="2000" dirty="0">
                <a:cs typeface="Times New Roman" pitchFamily="18" charset="0"/>
              </a:rPr>
              <a:t>升高，沟道夹断的长度增加，沟道长度进一步变短，沟道呈现的阻抗进一步加大，增加的电压基本与沟道增加的阻抗相匹配，漏极电流达到饱和。</a:t>
            </a:r>
          </a:p>
        </p:txBody>
      </p:sp>
      <p:graphicFrame>
        <p:nvGraphicFramePr>
          <p:cNvPr id="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9543719"/>
              </p:ext>
            </p:extLst>
          </p:nvPr>
        </p:nvGraphicFramePr>
        <p:xfrm>
          <a:off x="805308" y="209995"/>
          <a:ext cx="1814795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30" name="Equation" r:id="rId5" imgW="863280" imgH="228600" progId="Equation.DSMT4">
                  <p:embed/>
                </p:oleObj>
              </mc:Choice>
              <mc:Fallback>
                <p:oleObj name="Equation" r:id="rId5" imgW="863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5308" y="209995"/>
                        <a:ext cx="1814795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450052" y="113326"/>
            <a:ext cx="8288799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000" dirty="0" smtClean="0">
                <a:cs typeface="Times New Roman" pitchFamily="18" charset="0"/>
              </a:rPr>
              <a:t>当                             </a:t>
            </a:r>
            <a:r>
              <a:rPr lang="zh-CN" altLang="en-US" sz="2000" dirty="0">
                <a:cs typeface="Times New Roman" pitchFamily="18" charset="0"/>
              </a:rPr>
              <a:t>时，如果继续升高漏极电压，漏极电流</a:t>
            </a:r>
            <a:r>
              <a:rPr lang="zh-CN" altLang="en-US" sz="2000" dirty="0" smtClean="0">
                <a:cs typeface="Times New Roman" pitchFamily="18" charset="0"/>
              </a:rPr>
              <a:t>达到饱和</a:t>
            </a:r>
            <a:r>
              <a:rPr lang="zh-CN" altLang="en-US" sz="2000" dirty="0">
                <a:cs typeface="Times New Roman" pitchFamily="18" charset="0"/>
              </a:rPr>
              <a:t>，不再随漏极电压的升高而增大。</a:t>
            </a:r>
            <a:r>
              <a:rPr lang="zh-CN" altLang="en-US" sz="2000" dirty="0"/>
              <a:t> 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0812255"/>
              </p:ext>
            </p:extLst>
          </p:nvPr>
        </p:nvGraphicFramePr>
        <p:xfrm>
          <a:off x="659573" y="2222697"/>
          <a:ext cx="1674812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31" name="Equation" r:id="rId7" imgW="749160" imgH="190440" progId="Equation.DSMT4">
                  <p:embed/>
                </p:oleObj>
              </mc:Choice>
              <mc:Fallback>
                <p:oleObj name="Equation" r:id="rId7" imgW="749160" imgH="190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59573" y="2222697"/>
                        <a:ext cx="1674812" cy="4270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450052" y="2826541"/>
            <a:ext cx="215475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000" dirty="0" smtClean="0">
                <a:solidFill>
                  <a:srgbClr val="00B0F0"/>
                </a:solidFill>
                <a:cs typeface="Times New Roman" pitchFamily="18" charset="0"/>
              </a:rPr>
              <a:t>Effective voltage</a:t>
            </a:r>
          </a:p>
          <a:p>
            <a:pPr algn="l"/>
            <a:r>
              <a:rPr lang="en-US" altLang="zh-CN" sz="2000" dirty="0" smtClean="0">
                <a:solidFill>
                  <a:srgbClr val="00B0F0"/>
                </a:solidFill>
                <a:cs typeface="Times New Roman" pitchFamily="18" charset="0"/>
              </a:rPr>
              <a:t>Overdrive voltage</a:t>
            </a:r>
            <a:endParaRPr lang="zh-CN" altLang="en-US" sz="2000" dirty="0">
              <a:solidFill>
                <a:srgbClr val="00B0F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9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0" y="2514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00100" y="581025"/>
            <a:ext cx="670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42900" indent="-342900" eaLnBrk="1" hangingPunct="1"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chemeClr val="accent5">
                    <a:lumMod val="50000"/>
                  </a:schemeClr>
                </a:solidFill>
              </a:rPr>
              <a:t>漏极电流的分析</a:t>
            </a:r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0" y="17573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17413" name="Rectangle 6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17414" name="Rectangle 9"/>
          <p:cNvSpPr>
            <a:spLocks noChangeArrowheads="1"/>
          </p:cNvSpPr>
          <p:nvPr/>
        </p:nvSpPr>
        <p:spPr bwMode="auto">
          <a:xfrm>
            <a:off x="0" y="20240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4" y="1419904"/>
            <a:ext cx="7046112" cy="4213453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Text Box 3"/>
          <p:cNvSpPr txBox="1">
            <a:spLocks noChangeArrowheads="1"/>
          </p:cNvSpPr>
          <p:nvPr/>
        </p:nvSpPr>
        <p:spPr bwMode="auto">
          <a:xfrm>
            <a:off x="377824" y="386979"/>
            <a:ext cx="3794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>
                <a:solidFill>
                  <a:schemeClr val="accent2"/>
                </a:solidFill>
              </a:rPr>
              <a:t>漏极</a:t>
            </a:r>
            <a:r>
              <a:rPr lang="zh-CN" altLang="en-US" sz="2400" dirty="0" smtClean="0">
                <a:solidFill>
                  <a:schemeClr val="accent2"/>
                </a:solidFill>
              </a:rPr>
              <a:t>电流</a:t>
            </a:r>
            <a:r>
              <a:rPr lang="zh-CN" altLang="en-US" sz="2000" dirty="0" smtClean="0"/>
              <a:t>（以</a:t>
            </a:r>
            <a:r>
              <a:rPr lang="en-US" altLang="zh-CN" sz="2000" dirty="0" smtClean="0"/>
              <a:t>NMOS</a:t>
            </a:r>
            <a:r>
              <a:rPr lang="zh-CN" altLang="en-US" sz="2000" dirty="0" smtClean="0"/>
              <a:t>为例）</a:t>
            </a:r>
            <a:endParaRPr lang="zh-CN" altLang="en-US" sz="2000" dirty="0"/>
          </a:p>
        </p:txBody>
      </p:sp>
      <p:sp>
        <p:nvSpPr>
          <p:cNvPr id="18439" name="Text Box 8"/>
          <p:cNvSpPr txBox="1">
            <a:spLocks noChangeArrowheads="1"/>
          </p:cNvSpPr>
          <p:nvPr/>
        </p:nvSpPr>
        <p:spPr bwMode="auto">
          <a:xfrm>
            <a:off x="1322387" y="863391"/>
            <a:ext cx="367528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>
                <a:solidFill>
                  <a:schemeClr val="accent2"/>
                </a:solidFill>
              </a:rPr>
              <a:t>变阻</a:t>
            </a:r>
            <a:r>
              <a:rPr lang="zh-CN" altLang="en-US" sz="2400" dirty="0" smtClean="0">
                <a:solidFill>
                  <a:schemeClr val="accent2"/>
                </a:solidFill>
              </a:rPr>
              <a:t>区（</a:t>
            </a:r>
            <a:r>
              <a:rPr lang="en-US" altLang="zh-CN" sz="2400" dirty="0" smtClean="0">
                <a:solidFill>
                  <a:schemeClr val="accent2"/>
                </a:solidFill>
              </a:rPr>
              <a:t>triode region</a:t>
            </a:r>
            <a:r>
              <a:rPr lang="zh-CN" altLang="en-US" sz="2400" dirty="0" smtClean="0">
                <a:solidFill>
                  <a:schemeClr val="accent2"/>
                </a:solidFill>
              </a:rPr>
              <a:t>）</a:t>
            </a:r>
            <a:endParaRPr lang="zh-CN" altLang="en-US" sz="2400" dirty="0">
              <a:solidFill>
                <a:schemeClr val="accent2"/>
              </a:solidFill>
            </a:endParaRPr>
          </a:p>
        </p:txBody>
      </p:sp>
      <p:sp>
        <p:nvSpPr>
          <p:cNvPr id="18440" name="Text Box 9"/>
          <p:cNvSpPr txBox="1">
            <a:spLocks noChangeArrowheads="1"/>
          </p:cNvSpPr>
          <p:nvPr/>
        </p:nvSpPr>
        <p:spPr bwMode="auto">
          <a:xfrm>
            <a:off x="1322388" y="2279662"/>
            <a:ext cx="374622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>
                <a:solidFill>
                  <a:schemeClr val="accent2"/>
                </a:solidFill>
              </a:rPr>
              <a:t>饱和</a:t>
            </a:r>
            <a:r>
              <a:rPr lang="zh-CN" altLang="en-US" sz="2400" dirty="0" smtClean="0">
                <a:solidFill>
                  <a:schemeClr val="accent2"/>
                </a:solidFill>
              </a:rPr>
              <a:t>区（</a:t>
            </a:r>
            <a:r>
              <a:rPr lang="en-US" altLang="zh-CN" sz="2400" dirty="0" smtClean="0">
                <a:solidFill>
                  <a:schemeClr val="accent2"/>
                </a:solidFill>
              </a:rPr>
              <a:t>saturation region</a:t>
            </a:r>
            <a:r>
              <a:rPr lang="zh-CN" altLang="en-US" sz="2400" dirty="0" smtClean="0">
                <a:solidFill>
                  <a:schemeClr val="accent2"/>
                </a:solidFill>
              </a:rPr>
              <a:t>）</a:t>
            </a:r>
            <a:endParaRPr lang="zh-CN" altLang="en-US" sz="2400" dirty="0">
              <a:solidFill>
                <a:schemeClr val="accent2"/>
              </a:solidFill>
            </a:endParaRPr>
          </a:p>
        </p:txBody>
      </p:sp>
      <p:graphicFrame>
        <p:nvGraphicFramePr>
          <p:cNvPr id="1844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9466689"/>
              </p:ext>
            </p:extLst>
          </p:nvPr>
        </p:nvGraphicFramePr>
        <p:xfrm>
          <a:off x="2289175" y="1450518"/>
          <a:ext cx="3771900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233" name="Equation" r:id="rId3" imgW="2095200" imgH="431640" progId="Equation.DSMT4">
                  <p:embed/>
                </p:oleObj>
              </mc:Choice>
              <mc:Fallback>
                <p:oleObj name="Equation" r:id="rId3" imgW="2095200" imgH="43164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9175" y="1450518"/>
                        <a:ext cx="3771900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419720"/>
              </p:ext>
            </p:extLst>
          </p:nvPr>
        </p:nvGraphicFramePr>
        <p:xfrm>
          <a:off x="2312988" y="2876769"/>
          <a:ext cx="2603500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234" name="Equation" r:id="rId5" imgW="1447560" imgH="393480" progId="Equation.DSMT4">
                  <p:embed/>
                </p:oleObj>
              </mc:Choice>
              <mc:Fallback>
                <p:oleObj name="Equation" r:id="rId5" imgW="1447560" imgH="39348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2988" y="2876769"/>
                        <a:ext cx="2603500" cy="70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1925228"/>
              </p:ext>
            </p:extLst>
          </p:nvPr>
        </p:nvGraphicFramePr>
        <p:xfrm>
          <a:off x="2692444" y="3741505"/>
          <a:ext cx="125730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235" name="Equation" r:id="rId7" imgW="698400" imgH="279360" progId="Equation.DSMT4">
                  <p:embed/>
                </p:oleObj>
              </mc:Choice>
              <mc:Fallback>
                <p:oleObj name="Equation" r:id="rId7" imgW="698400" imgH="27936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2444" y="3741505"/>
                        <a:ext cx="1257300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3500656" y="4297769"/>
            <a:ext cx="528861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 smtClean="0">
                <a:latin typeface="+mn-lt"/>
              </a:rPr>
              <a:t>：</a:t>
            </a:r>
            <a:r>
              <a:rPr lang="en-US" altLang="zh-CN" sz="2000" dirty="0" smtClean="0">
                <a:latin typeface="+mn-lt"/>
              </a:rPr>
              <a:t>the p</a:t>
            </a:r>
            <a:r>
              <a:rPr lang="zh-CN" altLang="en-US" sz="2000" dirty="0" smtClean="0">
                <a:latin typeface="+mn-lt"/>
              </a:rPr>
              <a:t>rocess transconductance parameter</a:t>
            </a:r>
            <a:endParaRPr lang="zh-CN" altLang="en-US" sz="2000" dirty="0">
              <a:latin typeface="+mn-lt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8291586"/>
              </p:ext>
            </p:extLst>
          </p:nvPr>
        </p:nvGraphicFramePr>
        <p:xfrm>
          <a:off x="3141533" y="4250927"/>
          <a:ext cx="359123" cy="493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236" name="Equation" r:id="rId9" imgW="203040" imgH="279360" progId="Equation.DSMT4">
                  <p:embed/>
                </p:oleObj>
              </mc:Choice>
              <mc:Fallback>
                <p:oleObj name="Equation" r:id="rId9" imgW="20304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141533" y="4250927"/>
                        <a:ext cx="359123" cy="4937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3525126" y="5133085"/>
            <a:ext cx="4572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/>
            <a:r>
              <a:rPr lang="en-US" altLang="zh-CN" sz="2000" dirty="0" smtClean="0"/>
              <a:t>:</a:t>
            </a:r>
            <a:r>
              <a:rPr lang="zh-CN" altLang="en-US" sz="2000" dirty="0" smtClean="0"/>
              <a:t>  </a:t>
            </a:r>
            <a:r>
              <a:rPr lang="zh-CN" altLang="en-US" sz="2000" dirty="0" smtClean="0">
                <a:latin typeface="+mn-lt"/>
              </a:rPr>
              <a:t>the </a:t>
            </a:r>
            <a:r>
              <a:rPr lang="zh-CN" altLang="en-US" sz="2000" dirty="0">
                <a:latin typeface="+mn-lt"/>
              </a:rPr>
              <a:t>electron </a:t>
            </a:r>
            <a:r>
              <a:rPr lang="zh-CN" altLang="en-US" sz="2000" dirty="0" smtClean="0">
                <a:latin typeface="+mn-lt"/>
              </a:rPr>
              <a:t>mobility</a:t>
            </a:r>
            <a:endParaRPr lang="zh-CN" altLang="en-US" sz="2000" dirty="0">
              <a:latin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525126" y="5597607"/>
            <a:ext cx="273183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 smtClean="0">
                <a:latin typeface="+mn-lt"/>
              </a:rPr>
              <a:t>:  </a:t>
            </a:r>
            <a:r>
              <a:rPr lang="zh-CN" altLang="en-US" sz="2000" dirty="0" smtClean="0">
                <a:latin typeface="+mn-lt"/>
              </a:rPr>
              <a:t>the </a:t>
            </a:r>
            <a:r>
              <a:rPr lang="zh-CN" altLang="en-US" sz="2000" dirty="0">
                <a:latin typeface="+mn-lt"/>
              </a:rPr>
              <a:t>oxide capacitance</a:t>
            </a:r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8839072"/>
              </p:ext>
            </p:extLst>
          </p:nvPr>
        </p:nvGraphicFramePr>
        <p:xfrm>
          <a:off x="3152064" y="5163888"/>
          <a:ext cx="338137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237" name="Equation" r:id="rId11" imgW="190440" imgH="228600" progId="Equation.DSMT4">
                  <p:embed/>
                </p:oleObj>
              </mc:Choice>
              <mc:Fallback>
                <p:oleObj name="Equation" r:id="rId11" imgW="1904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152064" y="5163888"/>
                        <a:ext cx="338137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8379464"/>
              </p:ext>
            </p:extLst>
          </p:nvPr>
        </p:nvGraphicFramePr>
        <p:xfrm>
          <a:off x="3118726" y="5609976"/>
          <a:ext cx="40640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238" name="Equation" r:id="rId13" imgW="228600" imgH="228600" progId="Equation.DSMT4">
                  <p:embed/>
                </p:oleObj>
              </mc:Choice>
              <mc:Fallback>
                <p:oleObj name="Equation" r:id="rId13" imgW="2286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118726" y="5609976"/>
                        <a:ext cx="406400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5172927"/>
              </p:ext>
            </p:extLst>
          </p:nvPr>
        </p:nvGraphicFramePr>
        <p:xfrm>
          <a:off x="2760663" y="6158364"/>
          <a:ext cx="730250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239" name="Equation" r:id="rId15" imgW="406080" imgH="177480" progId="Equation.DSMT4">
                  <p:embed/>
                </p:oleObj>
              </mc:Choice>
              <mc:Fallback>
                <p:oleObj name="Equation" r:id="rId15" imgW="40608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0663" y="6158364"/>
                        <a:ext cx="730250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/>
          <p:cNvSpPr/>
          <p:nvPr/>
        </p:nvSpPr>
        <p:spPr>
          <a:xfrm>
            <a:off x="3525126" y="6118646"/>
            <a:ext cx="528861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 smtClean="0">
                <a:latin typeface="+mn-lt"/>
              </a:rPr>
              <a:t>：沟道的宽度和长度</a:t>
            </a:r>
            <a:endParaRPr lang="zh-CN" altLang="en-US" sz="2000" dirty="0">
              <a:latin typeface="+mn-lt"/>
            </a:endParaRPr>
          </a:p>
        </p:txBody>
      </p:sp>
      <p:graphicFrame>
        <p:nvGraphicFramePr>
          <p:cNvPr id="25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140599"/>
              </p:ext>
            </p:extLst>
          </p:nvPr>
        </p:nvGraphicFramePr>
        <p:xfrm>
          <a:off x="5319032" y="2299218"/>
          <a:ext cx="3130550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240" name="Equation" r:id="rId17" imgW="1739880" imgH="228600" progId="Equation.DSMT4">
                  <p:embed/>
                </p:oleObj>
              </mc:Choice>
              <mc:Fallback>
                <p:oleObj name="Equation" r:id="rId17" imgW="17398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9032" y="2299218"/>
                        <a:ext cx="3130550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4578658"/>
              </p:ext>
            </p:extLst>
          </p:nvPr>
        </p:nvGraphicFramePr>
        <p:xfrm>
          <a:off x="4826907" y="897871"/>
          <a:ext cx="3197225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241" name="Equation" r:id="rId19" imgW="1777680" imgH="228600" progId="Equation.DSMT4">
                  <p:embed/>
                </p:oleObj>
              </mc:Choice>
              <mc:Fallback>
                <p:oleObj name="Equation" r:id="rId19" imgW="1777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6907" y="897871"/>
                        <a:ext cx="3197225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9147008"/>
              </p:ext>
            </p:extLst>
          </p:nvPr>
        </p:nvGraphicFramePr>
        <p:xfrm>
          <a:off x="4560062" y="3642534"/>
          <a:ext cx="1211262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242" name="Equation" r:id="rId21" imgW="672840" imgH="393480" progId="Equation.DSMT4">
                  <p:embed/>
                </p:oleObj>
              </mc:Choice>
              <mc:Fallback>
                <p:oleObj name="Equation" r:id="rId21" imgW="67284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0062" y="3642534"/>
                        <a:ext cx="1211262" cy="70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矩形 27"/>
          <p:cNvSpPr/>
          <p:nvPr/>
        </p:nvSpPr>
        <p:spPr>
          <a:xfrm>
            <a:off x="3506102" y="4719590"/>
            <a:ext cx="528861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 smtClean="0">
                <a:latin typeface="+mn-lt"/>
              </a:rPr>
              <a:t>：</a:t>
            </a:r>
            <a:r>
              <a:rPr lang="en-US" altLang="zh-CN" sz="2000" dirty="0" smtClean="0">
                <a:latin typeface="+mn-lt"/>
              </a:rPr>
              <a:t>the </a:t>
            </a:r>
            <a:r>
              <a:rPr lang="zh-CN" altLang="en-US" sz="2000" dirty="0" smtClean="0">
                <a:latin typeface="+mn-lt"/>
              </a:rPr>
              <a:t>transconductance parameter</a:t>
            </a:r>
            <a:endParaRPr lang="zh-CN" altLang="en-US" sz="2000" dirty="0">
              <a:latin typeface="+mn-lt"/>
            </a:endParaRPr>
          </a:p>
        </p:txBody>
      </p:sp>
      <p:graphicFrame>
        <p:nvGraphicFramePr>
          <p:cNvPr id="29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4921309"/>
              </p:ext>
            </p:extLst>
          </p:nvPr>
        </p:nvGraphicFramePr>
        <p:xfrm>
          <a:off x="3179763" y="4716681"/>
          <a:ext cx="293687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243" name="Equation" r:id="rId23" imgW="164880" imgH="228600" progId="Equation.DSMT4">
                  <p:embed/>
                </p:oleObj>
              </mc:Choice>
              <mc:Fallback>
                <p:oleObj name="Equation" r:id="rId23" imgW="1648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179763" y="4716681"/>
                        <a:ext cx="293687" cy="4048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8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8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8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8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9" grpId="0"/>
      <p:bldP spid="18440" grpId="0"/>
      <p:bldP spid="2" grpId="0"/>
      <p:bldP spid="6" grpId="0"/>
      <p:bldP spid="7" grpId="0"/>
      <p:bldP spid="15" grpId="0"/>
      <p:bldP spid="2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9" name="Text Box 8"/>
          <p:cNvSpPr txBox="1">
            <a:spLocks noChangeArrowheads="1"/>
          </p:cNvSpPr>
          <p:nvPr/>
        </p:nvSpPr>
        <p:spPr bwMode="auto">
          <a:xfrm>
            <a:off x="1322387" y="1761461"/>
            <a:ext cx="367528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>
                <a:solidFill>
                  <a:schemeClr val="accent2"/>
                </a:solidFill>
              </a:rPr>
              <a:t>变阻</a:t>
            </a:r>
            <a:r>
              <a:rPr lang="zh-CN" altLang="en-US" sz="2400" dirty="0" smtClean="0">
                <a:solidFill>
                  <a:schemeClr val="accent2"/>
                </a:solidFill>
              </a:rPr>
              <a:t>区（</a:t>
            </a:r>
            <a:r>
              <a:rPr lang="en-US" altLang="zh-CN" sz="2400" dirty="0" smtClean="0">
                <a:solidFill>
                  <a:schemeClr val="accent2"/>
                </a:solidFill>
              </a:rPr>
              <a:t>triode region</a:t>
            </a:r>
            <a:r>
              <a:rPr lang="zh-CN" altLang="en-US" sz="2400" dirty="0" smtClean="0">
                <a:solidFill>
                  <a:schemeClr val="accent2"/>
                </a:solidFill>
              </a:rPr>
              <a:t>）</a:t>
            </a:r>
            <a:endParaRPr lang="zh-CN" altLang="en-US" sz="2400" dirty="0">
              <a:solidFill>
                <a:schemeClr val="accent2"/>
              </a:solidFill>
            </a:endParaRPr>
          </a:p>
        </p:txBody>
      </p:sp>
      <p:sp>
        <p:nvSpPr>
          <p:cNvPr id="18440" name="Text Box 9"/>
          <p:cNvSpPr txBox="1">
            <a:spLocks noChangeArrowheads="1"/>
          </p:cNvSpPr>
          <p:nvPr/>
        </p:nvSpPr>
        <p:spPr bwMode="auto">
          <a:xfrm>
            <a:off x="1322388" y="4026816"/>
            <a:ext cx="374622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>
                <a:solidFill>
                  <a:schemeClr val="accent2"/>
                </a:solidFill>
              </a:rPr>
              <a:t>饱和</a:t>
            </a:r>
            <a:r>
              <a:rPr lang="zh-CN" altLang="en-US" sz="2400" dirty="0" smtClean="0">
                <a:solidFill>
                  <a:schemeClr val="accent2"/>
                </a:solidFill>
              </a:rPr>
              <a:t>区（</a:t>
            </a:r>
            <a:r>
              <a:rPr lang="en-US" altLang="zh-CN" sz="2400" dirty="0" smtClean="0">
                <a:solidFill>
                  <a:schemeClr val="accent2"/>
                </a:solidFill>
              </a:rPr>
              <a:t>saturation region</a:t>
            </a:r>
            <a:r>
              <a:rPr lang="zh-CN" altLang="en-US" sz="2400" dirty="0" smtClean="0">
                <a:solidFill>
                  <a:schemeClr val="accent2"/>
                </a:solidFill>
              </a:rPr>
              <a:t>）</a:t>
            </a:r>
            <a:endParaRPr lang="zh-CN" altLang="en-US" sz="2400" dirty="0">
              <a:solidFill>
                <a:schemeClr val="accent2"/>
              </a:solidFill>
            </a:endParaRPr>
          </a:p>
        </p:txBody>
      </p:sp>
      <p:graphicFrame>
        <p:nvGraphicFramePr>
          <p:cNvPr id="1844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5045314"/>
              </p:ext>
            </p:extLst>
          </p:nvPr>
        </p:nvGraphicFramePr>
        <p:xfrm>
          <a:off x="4326731" y="982690"/>
          <a:ext cx="77787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54" name="Equation" r:id="rId3" imgW="431640" imgH="241200" progId="Equation.DSMT4">
                  <p:embed/>
                </p:oleObj>
              </mc:Choice>
              <mc:Fallback>
                <p:oleObj name="Equation" r:id="rId3" imgW="4316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6731" y="982690"/>
                        <a:ext cx="777875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0225954"/>
              </p:ext>
            </p:extLst>
          </p:nvPr>
        </p:nvGraphicFramePr>
        <p:xfrm>
          <a:off x="2466976" y="5279795"/>
          <a:ext cx="2627312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55" name="Equation" r:id="rId5" imgW="1460160" imgH="393480" progId="Equation.DSMT4">
                  <p:embed/>
                </p:oleObj>
              </mc:Choice>
              <mc:Fallback>
                <p:oleObj name="Equation" r:id="rId5" imgW="14601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6976" y="5279795"/>
                        <a:ext cx="2627312" cy="70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Group 25"/>
          <p:cNvGrpSpPr>
            <a:grpSpLocks/>
          </p:cNvGrpSpPr>
          <p:nvPr/>
        </p:nvGrpSpPr>
        <p:grpSpPr bwMode="auto">
          <a:xfrm>
            <a:off x="189497" y="406805"/>
            <a:ext cx="1441450" cy="850900"/>
            <a:chOff x="385" y="3022"/>
            <a:chExt cx="908" cy="536"/>
          </a:xfrm>
        </p:grpSpPr>
        <p:pic>
          <p:nvPicPr>
            <p:cNvPr id="18" name="Picture 26" descr="123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" name="Text Box 27"/>
            <p:cNvSpPr txBox="1">
              <a:spLocks noChangeArrowheads="1"/>
            </p:cNvSpPr>
            <p:nvPr/>
          </p:nvSpPr>
          <p:spPr bwMode="auto">
            <a:xfrm>
              <a:off x="793" y="3182"/>
              <a:ext cx="5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zh-CN" altLang="en-US" b="0" dirty="0">
                  <a:solidFill>
                    <a:srgbClr val="FA7748"/>
                  </a:solidFill>
                  <a:ea typeface="华文行楷" pitchFamily="2" charset="-122"/>
                </a:rPr>
                <a:t>注意</a:t>
              </a:r>
            </a:p>
          </p:txBody>
        </p:sp>
      </p:grpSp>
      <p:sp>
        <p:nvSpPr>
          <p:cNvPr id="20" name="矩形 19"/>
          <p:cNvSpPr/>
          <p:nvPr/>
        </p:nvSpPr>
        <p:spPr>
          <a:xfrm>
            <a:off x="1709643" y="983646"/>
            <a:ext cx="320684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 smtClean="0">
                <a:latin typeface="+mn-lt"/>
              </a:rPr>
              <a:t>对于增强型</a:t>
            </a:r>
            <a:r>
              <a:rPr lang="en-US" altLang="zh-CN" sz="2000" dirty="0" smtClean="0">
                <a:latin typeface="+mn-lt"/>
              </a:rPr>
              <a:t>PMOS</a:t>
            </a:r>
            <a:r>
              <a:rPr lang="zh-CN" altLang="en-US" sz="2000" dirty="0" smtClean="0">
                <a:latin typeface="+mn-lt"/>
              </a:rPr>
              <a:t>管，             </a:t>
            </a:r>
            <a:endParaRPr lang="zh-CN" altLang="en-US" sz="2000" dirty="0">
              <a:latin typeface="+mn-lt"/>
            </a:endParaRPr>
          </a:p>
        </p:txBody>
      </p:sp>
      <p:graphicFrame>
        <p:nvGraphicFramePr>
          <p:cNvPr id="25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6505465"/>
              </p:ext>
            </p:extLst>
          </p:nvPr>
        </p:nvGraphicFramePr>
        <p:xfrm>
          <a:off x="5439001" y="4054656"/>
          <a:ext cx="313055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56" name="Equation" r:id="rId8" imgW="1739880" imgH="241200" progId="Equation.DSMT4">
                  <p:embed/>
                </p:oleObj>
              </mc:Choice>
              <mc:Fallback>
                <p:oleObj name="Equation" r:id="rId8" imgW="17398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9001" y="4054656"/>
                        <a:ext cx="3130550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296865"/>
              </p:ext>
            </p:extLst>
          </p:nvPr>
        </p:nvGraphicFramePr>
        <p:xfrm>
          <a:off x="4992456" y="1775599"/>
          <a:ext cx="3127375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57" name="Equation" r:id="rId10" imgW="1739880" imgH="241200" progId="Equation.DSMT4">
                  <p:embed/>
                </p:oleObj>
              </mc:Choice>
              <mc:Fallback>
                <p:oleObj name="Equation" r:id="rId10" imgW="17398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2456" y="1775599"/>
                        <a:ext cx="3127375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5194834"/>
              </p:ext>
            </p:extLst>
          </p:nvPr>
        </p:nvGraphicFramePr>
        <p:xfrm>
          <a:off x="2466976" y="2861273"/>
          <a:ext cx="3792537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58" name="Equation" r:id="rId12" imgW="2108160" imgH="431640" progId="Equation.DSMT4">
                  <p:embed/>
                </p:oleObj>
              </mc:Choice>
              <mc:Fallback>
                <p:oleObj name="Equation" r:id="rId12" imgW="21081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6976" y="2861273"/>
                        <a:ext cx="3792537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5740722"/>
              </p:ext>
            </p:extLst>
          </p:nvPr>
        </p:nvGraphicFramePr>
        <p:xfrm>
          <a:off x="5413375" y="976764"/>
          <a:ext cx="846138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59" name="Equation" r:id="rId14" imgW="469800" imgH="228600" progId="Equation.DSMT4">
                  <p:embed/>
                </p:oleObj>
              </mc:Choice>
              <mc:Fallback>
                <p:oleObj name="Equation" r:id="rId14" imgW="469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3375" y="976764"/>
                        <a:ext cx="846138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7488943"/>
              </p:ext>
            </p:extLst>
          </p:nvPr>
        </p:nvGraphicFramePr>
        <p:xfrm>
          <a:off x="6629854" y="983646"/>
          <a:ext cx="846138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60" name="Equation" r:id="rId16" imgW="469800" imgH="228600" progId="Equation.DSMT4">
                  <p:embed/>
                </p:oleObj>
              </mc:Choice>
              <mc:Fallback>
                <p:oleObj name="Equation" r:id="rId16" imgW="469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854" y="983646"/>
                        <a:ext cx="846138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9461187"/>
              </p:ext>
            </p:extLst>
          </p:nvPr>
        </p:nvGraphicFramePr>
        <p:xfrm>
          <a:off x="4719860" y="2220001"/>
          <a:ext cx="3675063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61" name="Equation" r:id="rId18" imgW="2044440" imgH="279360" progId="Equation.DSMT4">
                  <p:embed/>
                </p:oleObj>
              </mc:Choice>
              <mc:Fallback>
                <p:oleObj name="Equation" r:id="rId18" imgW="204444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9860" y="2220001"/>
                        <a:ext cx="3675063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2593773"/>
              </p:ext>
            </p:extLst>
          </p:nvPr>
        </p:nvGraphicFramePr>
        <p:xfrm>
          <a:off x="5164363" y="4592406"/>
          <a:ext cx="36798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62" name="Equation" r:id="rId20" imgW="2044440" imgH="279360" progId="Equation.DSMT4">
                  <p:embed/>
                </p:oleObj>
              </mc:Choice>
              <mc:Fallback>
                <p:oleObj name="Equation" r:id="rId20" imgW="204444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4363" y="4592406"/>
                        <a:ext cx="367982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6191140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8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8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8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9" grpId="0"/>
      <p:bldP spid="18440" grpId="0"/>
      <p:bldP spid="2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3"/>
          <p:cNvSpPr txBox="1">
            <a:spLocks noChangeArrowheads="1"/>
          </p:cNvSpPr>
          <p:nvPr/>
        </p:nvSpPr>
        <p:spPr bwMode="auto">
          <a:xfrm>
            <a:off x="623888" y="384175"/>
            <a:ext cx="655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None/>
            </a:pPr>
            <a:r>
              <a:rPr lang="en-US" altLang="zh-CN" sz="2400" dirty="0" smtClean="0">
                <a:solidFill>
                  <a:schemeClr val="accent2"/>
                </a:solidFill>
              </a:rPr>
              <a:t>2</a:t>
            </a:r>
            <a:r>
              <a:rPr lang="zh-CN" altLang="en-US" sz="2400" dirty="0" smtClean="0">
                <a:solidFill>
                  <a:schemeClr val="accent2"/>
                </a:solidFill>
              </a:rPr>
              <a:t>、</a:t>
            </a:r>
            <a:r>
              <a:rPr lang="en-US" altLang="zh-CN" sz="2400" dirty="0" smtClean="0">
                <a:solidFill>
                  <a:schemeClr val="accent2"/>
                </a:solidFill>
              </a:rPr>
              <a:t> </a:t>
            </a:r>
            <a:r>
              <a:rPr lang="en-US" altLang="zh-CN" sz="2400" dirty="0">
                <a:solidFill>
                  <a:schemeClr val="accent2"/>
                </a:solidFill>
              </a:rPr>
              <a:t>N</a:t>
            </a:r>
            <a:r>
              <a:rPr lang="zh-CN" altLang="en-US" sz="2400" dirty="0">
                <a:solidFill>
                  <a:schemeClr val="accent2"/>
                </a:solidFill>
              </a:rPr>
              <a:t>沟道耗尽型</a:t>
            </a:r>
            <a:r>
              <a:rPr lang="en-US" altLang="zh-CN" sz="2400" dirty="0">
                <a:solidFill>
                  <a:schemeClr val="accent2"/>
                </a:solidFill>
              </a:rPr>
              <a:t>MOSFET</a:t>
            </a:r>
            <a:r>
              <a:rPr lang="zh-CN" altLang="en-US" sz="2400" dirty="0">
                <a:solidFill>
                  <a:schemeClr val="accent2"/>
                </a:solidFill>
              </a:rPr>
              <a:t>的工作原理</a:t>
            </a:r>
          </a:p>
        </p:txBody>
      </p:sp>
      <p:sp>
        <p:nvSpPr>
          <p:cNvPr id="19460" name="Text Box 5"/>
          <p:cNvSpPr txBox="1">
            <a:spLocks noChangeArrowheads="1"/>
          </p:cNvSpPr>
          <p:nvPr/>
        </p:nvSpPr>
        <p:spPr bwMode="auto">
          <a:xfrm>
            <a:off x="871538" y="985838"/>
            <a:ext cx="670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42900" indent="-342900" eaLnBrk="1" hangingPunct="1"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zh-CN" altLang="en-US" sz="2400" dirty="0" smtClean="0">
                <a:solidFill>
                  <a:schemeClr val="accent5">
                    <a:lumMod val="50000"/>
                  </a:schemeClr>
                </a:solidFill>
              </a:rPr>
              <a:t>通道</a:t>
            </a:r>
            <a:r>
              <a:rPr lang="zh-CN" altLang="en-US" sz="2400" dirty="0">
                <a:solidFill>
                  <a:schemeClr val="accent5">
                    <a:lumMod val="50000"/>
                  </a:schemeClr>
                </a:solidFill>
              </a:rPr>
              <a:t>夹断</a:t>
            </a:r>
          </a:p>
        </p:txBody>
      </p:sp>
      <p:graphicFrame>
        <p:nvGraphicFramePr>
          <p:cNvPr id="19463" name="Object 8"/>
          <p:cNvGraphicFramePr>
            <a:graphicFrameLocks noChangeAspect="1"/>
          </p:cNvGraphicFramePr>
          <p:nvPr/>
        </p:nvGraphicFramePr>
        <p:xfrm>
          <a:off x="1728788" y="1862138"/>
          <a:ext cx="6376987" cy="4840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68" name="Visio" r:id="rId3" imgW="4862125" imgH="3503411" progId="Visio.Drawing.11">
                  <p:embed/>
                </p:oleObj>
              </mc:Choice>
              <mc:Fallback>
                <p:oleObj name="Visio" r:id="rId3" imgW="4862125" imgH="3503411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5890"/>
                      <a:stretch>
                        <a:fillRect/>
                      </a:stretch>
                    </p:blipFill>
                    <p:spPr bwMode="auto">
                      <a:xfrm>
                        <a:off x="1728788" y="1862138"/>
                        <a:ext cx="6376987" cy="4840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6222190" y="1387446"/>
            <a:ext cx="21387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 smtClean="0"/>
              <a:t>夹断电压 </a:t>
            </a:r>
            <a:r>
              <a:rPr lang="en-US" altLang="zh-CN" sz="2000" i="1" dirty="0" smtClean="0"/>
              <a:t>V</a:t>
            </a:r>
            <a:r>
              <a:rPr lang="en-US" altLang="zh-CN" sz="2000" i="1" baseline="-25000" dirty="0" smtClean="0"/>
              <a:t>GS</a:t>
            </a:r>
            <a:r>
              <a:rPr lang="en-US" altLang="zh-CN" sz="2000" dirty="0" smtClean="0"/>
              <a:t>(off</a:t>
            </a:r>
            <a:r>
              <a:rPr lang="en-US" altLang="zh-CN" sz="2000" dirty="0"/>
              <a:t>)</a:t>
            </a:r>
            <a:endParaRPr lang="zh-CN" altLang="en-US" sz="20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/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Text Box 4"/>
          <p:cNvSpPr txBox="1">
            <a:spLocks noChangeArrowheads="1"/>
          </p:cNvSpPr>
          <p:nvPr/>
        </p:nvSpPr>
        <p:spPr bwMode="auto">
          <a:xfrm>
            <a:off x="785813" y="506413"/>
            <a:ext cx="670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42900" indent="-342900" eaLnBrk="1" hangingPunct="1"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zh-CN" altLang="en-US" sz="2400" dirty="0" smtClean="0">
                <a:solidFill>
                  <a:schemeClr val="accent5">
                    <a:lumMod val="50000"/>
                  </a:schemeClr>
                </a:solidFill>
              </a:rPr>
              <a:t>预</a:t>
            </a:r>
            <a:r>
              <a:rPr lang="zh-CN" altLang="en-US" sz="2400" dirty="0">
                <a:solidFill>
                  <a:schemeClr val="accent5">
                    <a:lumMod val="50000"/>
                  </a:schemeClr>
                </a:solidFill>
              </a:rPr>
              <a:t>夹断</a:t>
            </a:r>
          </a:p>
        </p:txBody>
      </p:sp>
      <p:graphicFrame>
        <p:nvGraphicFramePr>
          <p:cNvPr id="2048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3185696"/>
              </p:ext>
            </p:extLst>
          </p:nvPr>
        </p:nvGraphicFramePr>
        <p:xfrm>
          <a:off x="1925637" y="1660963"/>
          <a:ext cx="5292725" cy="423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3" name="Visio" r:id="rId3" imgW="4862125" imgH="3543956" progId="Visio.Drawing.11">
                  <p:embed/>
                </p:oleObj>
              </mc:Choice>
              <mc:Fallback>
                <p:oleObj name="Visio" r:id="rId3" imgW="4862125" imgH="3543956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5637" y="1660963"/>
                        <a:ext cx="5292725" cy="423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623888" y="384175"/>
            <a:ext cx="655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>
                <a:solidFill>
                  <a:schemeClr val="accent2"/>
                </a:solidFill>
              </a:rPr>
              <a:t>3</a:t>
            </a:r>
            <a:r>
              <a:rPr lang="zh-CN" altLang="en-US" sz="2400" dirty="0">
                <a:solidFill>
                  <a:schemeClr val="accent2"/>
                </a:solidFill>
              </a:rPr>
              <a:t>、</a:t>
            </a:r>
            <a:r>
              <a:rPr lang="zh-CN" altLang="en-US" sz="2400" dirty="0" smtClean="0">
                <a:solidFill>
                  <a:schemeClr val="accent2"/>
                </a:solidFill>
              </a:rPr>
              <a:t>结</a:t>
            </a:r>
            <a:r>
              <a:rPr lang="zh-CN" altLang="en-US" sz="2400" dirty="0">
                <a:solidFill>
                  <a:schemeClr val="accent2"/>
                </a:solidFill>
              </a:rPr>
              <a:t>型场效应管的工作原理</a:t>
            </a:r>
          </a:p>
        </p:txBody>
      </p:sp>
      <p:sp>
        <p:nvSpPr>
          <p:cNvPr id="21507" name="Text Box 4"/>
          <p:cNvSpPr txBox="1">
            <a:spLocks noChangeArrowheads="1"/>
          </p:cNvSpPr>
          <p:nvPr/>
        </p:nvSpPr>
        <p:spPr bwMode="auto">
          <a:xfrm>
            <a:off x="871538" y="985838"/>
            <a:ext cx="670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42900" indent="-342900" eaLnBrk="1" hangingPunct="1"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zh-CN" altLang="en-US" sz="2400" dirty="0" smtClean="0">
                <a:solidFill>
                  <a:schemeClr val="accent5">
                    <a:lumMod val="50000"/>
                  </a:schemeClr>
                </a:solidFill>
              </a:rPr>
              <a:t>通道</a:t>
            </a:r>
            <a:r>
              <a:rPr lang="zh-CN" altLang="en-US" sz="2400" dirty="0">
                <a:solidFill>
                  <a:schemeClr val="accent5">
                    <a:lumMod val="50000"/>
                  </a:schemeClr>
                </a:solidFill>
              </a:rPr>
              <a:t>夹断</a:t>
            </a:r>
          </a:p>
        </p:txBody>
      </p:sp>
      <p:sp>
        <p:nvSpPr>
          <p:cNvPr id="21508" name="Rectangle 5"/>
          <p:cNvSpPr>
            <a:spLocks noChangeArrowheads="1"/>
          </p:cNvSpPr>
          <p:nvPr/>
        </p:nvSpPr>
        <p:spPr bwMode="auto">
          <a:xfrm>
            <a:off x="0" y="18621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21509" name="Rectangle 6"/>
          <p:cNvSpPr>
            <a:spLocks noChangeArrowheads="1"/>
          </p:cNvSpPr>
          <p:nvPr/>
        </p:nvSpPr>
        <p:spPr bwMode="auto">
          <a:xfrm>
            <a:off x="0" y="19145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21510" name="Rectangle 9"/>
          <p:cNvSpPr>
            <a:spLocks noChangeArrowheads="1"/>
          </p:cNvSpPr>
          <p:nvPr/>
        </p:nvSpPr>
        <p:spPr bwMode="auto">
          <a:xfrm>
            <a:off x="0" y="16573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graphicFrame>
        <p:nvGraphicFramePr>
          <p:cNvPr id="21511" name="Object 8"/>
          <p:cNvGraphicFramePr>
            <a:graphicFrameLocks noChangeAspect="1"/>
          </p:cNvGraphicFramePr>
          <p:nvPr/>
        </p:nvGraphicFramePr>
        <p:xfrm>
          <a:off x="2268538" y="1443038"/>
          <a:ext cx="5484812" cy="498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16" name="Visio" r:id="rId3" imgW="4331874" imgH="4301078" progId="Visio.Drawing.11">
                  <p:embed/>
                </p:oleObj>
              </mc:Choice>
              <mc:Fallback>
                <p:oleObj name="Visio" r:id="rId3" imgW="4331874" imgH="4301078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1443038"/>
                        <a:ext cx="5484812" cy="4984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/>
        </p:nvSpPr>
        <p:spPr>
          <a:xfrm>
            <a:off x="1256052" y="2473326"/>
            <a:ext cx="21387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 smtClean="0"/>
              <a:t>夹断电压 </a:t>
            </a:r>
            <a:r>
              <a:rPr lang="en-US" altLang="zh-CN" sz="2000" i="1" dirty="0" smtClean="0"/>
              <a:t>V</a:t>
            </a:r>
            <a:r>
              <a:rPr lang="en-US" altLang="zh-CN" sz="2000" i="1" baseline="-25000" dirty="0" smtClean="0"/>
              <a:t>GS</a:t>
            </a:r>
            <a:r>
              <a:rPr lang="en-US" altLang="zh-CN" sz="2000" dirty="0" smtClean="0"/>
              <a:t>(off</a:t>
            </a:r>
            <a:r>
              <a:rPr lang="en-US" altLang="zh-CN" sz="2000" dirty="0"/>
              <a:t>)</a:t>
            </a:r>
            <a:endParaRPr lang="zh-CN" altLang="en-US" sz="20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Text Box 3"/>
          <p:cNvSpPr txBox="1">
            <a:spLocks noChangeArrowheads="1"/>
          </p:cNvSpPr>
          <p:nvPr/>
        </p:nvSpPr>
        <p:spPr bwMode="auto">
          <a:xfrm>
            <a:off x="785813" y="506413"/>
            <a:ext cx="670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42900" indent="-342900" eaLnBrk="1" hangingPunct="1"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zh-CN" altLang="en-US" sz="2400" dirty="0" smtClean="0">
                <a:solidFill>
                  <a:schemeClr val="accent5">
                    <a:lumMod val="50000"/>
                  </a:schemeClr>
                </a:solidFill>
              </a:rPr>
              <a:t>预</a:t>
            </a:r>
            <a:r>
              <a:rPr lang="zh-CN" altLang="en-US" sz="2400" dirty="0">
                <a:solidFill>
                  <a:schemeClr val="accent5">
                    <a:lumMod val="50000"/>
                  </a:schemeClr>
                </a:solidFill>
              </a:rPr>
              <a:t>夹断</a:t>
            </a:r>
          </a:p>
        </p:txBody>
      </p:sp>
      <p:graphicFrame>
        <p:nvGraphicFramePr>
          <p:cNvPr id="2253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3017782"/>
              </p:ext>
            </p:extLst>
          </p:nvPr>
        </p:nvGraphicFramePr>
        <p:xfrm>
          <a:off x="1917481" y="1189011"/>
          <a:ext cx="5148263" cy="5268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1" name="Visio" r:id="rId3" imgW="4331874" imgH="4301078" progId="Visio.Drawing.11">
                  <p:embed/>
                </p:oleObj>
              </mc:Choice>
              <mc:Fallback>
                <p:oleObj name="Visio" r:id="rId3" imgW="4331874" imgH="4301078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7481" y="1189011"/>
                        <a:ext cx="5148263" cy="52687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565150" y="487363"/>
            <a:ext cx="655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 smtClean="0">
                <a:solidFill>
                  <a:srgbClr val="A50021"/>
                </a:solidFill>
              </a:rPr>
              <a:t>三、</a:t>
            </a:r>
            <a:r>
              <a:rPr lang="zh-CN" altLang="en-US" sz="2400" dirty="0">
                <a:solidFill>
                  <a:srgbClr val="A50021"/>
                </a:solidFill>
              </a:rPr>
              <a:t>场效应晶体管的符号</a:t>
            </a:r>
          </a:p>
        </p:txBody>
      </p:sp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973138" y="1119188"/>
            <a:ext cx="670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accent2"/>
                </a:solidFill>
              </a:rPr>
              <a:t>1</a:t>
            </a:r>
            <a:r>
              <a:rPr lang="zh-CN" altLang="en-US" sz="2400">
                <a:solidFill>
                  <a:schemeClr val="accent2"/>
                </a:solidFill>
              </a:rPr>
              <a:t>、增强型（</a:t>
            </a:r>
            <a:r>
              <a:rPr lang="en-US" altLang="zh-CN" sz="2400">
                <a:solidFill>
                  <a:schemeClr val="accent2"/>
                </a:solidFill>
              </a:rPr>
              <a:t>MOSFET</a:t>
            </a:r>
            <a:r>
              <a:rPr lang="zh-CN" altLang="en-US" sz="2400">
                <a:solidFill>
                  <a:schemeClr val="accent2"/>
                </a:solidFill>
              </a:rPr>
              <a:t>）</a:t>
            </a:r>
          </a:p>
        </p:txBody>
      </p:sp>
      <p:graphicFrame>
        <p:nvGraphicFramePr>
          <p:cNvPr id="8199" name="Object 7"/>
          <p:cNvGraphicFramePr>
            <a:graphicFrameLocks noChangeAspect="1"/>
          </p:cNvGraphicFramePr>
          <p:nvPr/>
        </p:nvGraphicFramePr>
        <p:xfrm>
          <a:off x="1566863" y="1660525"/>
          <a:ext cx="6246812" cy="224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20" name="Visio" r:id="rId3" imgW="4186733" imgH="1632814" progId="Visio.Drawing.11">
                  <p:embed/>
                </p:oleObj>
              </mc:Choice>
              <mc:Fallback>
                <p:oleObj name="Visio" r:id="rId3" imgW="4186733" imgH="1632814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6863" y="1660525"/>
                        <a:ext cx="6246812" cy="2243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1" name="Object 9"/>
          <p:cNvGraphicFramePr>
            <a:graphicFrameLocks noChangeAspect="1"/>
          </p:cNvGraphicFramePr>
          <p:nvPr/>
        </p:nvGraphicFramePr>
        <p:xfrm>
          <a:off x="1581150" y="4021138"/>
          <a:ext cx="6245225" cy="2427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21" name="Visio" r:id="rId5" imgW="4186733" imgH="1632814" progId="Visio.Drawing.11">
                  <p:embed/>
                </p:oleObj>
              </mc:Choice>
              <mc:Fallback>
                <p:oleObj name="Visio" r:id="rId5" imgW="4186733" imgH="1632814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1150" y="4021138"/>
                        <a:ext cx="6245225" cy="2427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5092395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Text Box 4"/>
          <p:cNvSpPr txBox="1">
            <a:spLocks noChangeArrowheads="1"/>
          </p:cNvSpPr>
          <p:nvPr/>
        </p:nvSpPr>
        <p:spPr bwMode="auto">
          <a:xfrm>
            <a:off x="857250" y="596900"/>
            <a:ext cx="670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accent2"/>
                </a:solidFill>
              </a:rPr>
              <a:t>2</a:t>
            </a:r>
            <a:r>
              <a:rPr lang="zh-CN" altLang="en-US" sz="2400">
                <a:solidFill>
                  <a:schemeClr val="accent2"/>
                </a:solidFill>
              </a:rPr>
              <a:t>、耗尽型（</a:t>
            </a:r>
            <a:r>
              <a:rPr lang="en-US" altLang="zh-CN" sz="2400">
                <a:solidFill>
                  <a:schemeClr val="accent2"/>
                </a:solidFill>
              </a:rPr>
              <a:t>MOSFET</a:t>
            </a:r>
            <a:r>
              <a:rPr lang="zh-CN" altLang="en-US" sz="2400">
                <a:solidFill>
                  <a:schemeClr val="accent2"/>
                </a:solidFill>
              </a:rPr>
              <a:t>）</a:t>
            </a:r>
          </a:p>
        </p:txBody>
      </p:sp>
      <p:graphicFrame>
        <p:nvGraphicFramePr>
          <p:cNvPr id="9223" name="Object 10"/>
          <p:cNvGraphicFramePr>
            <a:graphicFrameLocks noChangeAspect="1"/>
          </p:cNvGraphicFramePr>
          <p:nvPr/>
        </p:nvGraphicFramePr>
        <p:xfrm>
          <a:off x="1550988" y="1093788"/>
          <a:ext cx="6326187" cy="266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44" name="Visio" r:id="rId3" imgW="3993794" imgH="1671523" progId="Visio.Drawing.11">
                  <p:embed/>
                </p:oleObj>
              </mc:Choice>
              <mc:Fallback>
                <p:oleObj name="Visio" r:id="rId3" imgW="3993794" imgH="1671523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0988" y="1093788"/>
                        <a:ext cx="6326187" cy="2663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4" name="Object 12"/>
          <p:cNvGraphicFramePr>
            <a:graphicFrameLocks noChangeAspect="1"/>
          </p:cNvGraphicFramePr>
          <p:nvPr/>
        </p:nvGraphicFramePr>
        <p:xfrm>
          <a:off x="1552575" y="3663950"/>
          <a:ext cx="6326188" cy="266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45" name="Visio" r:id="rId5" imgW="3993794" imgH="1671523" progId="Visio.Drawing.11">
                  <p:embed/>
                </p:oleObj>
              </mc:Choice>
              <mc:Fallback>
                <p:oleObj name="Visio" r:id="rId5" imgW="3993794" imgH="1671523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2575" y="3663950"/>
                        <a:ext cx="6326188" cy="2663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4533282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857250" y="596900"/>
            <a:ext cx="670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accent2"/>
                </a:solidFill>
              </a:rPr>
              <a:t>3</a:t>
            </a:r>
            <a:r>
              <a:rPr lang="zh-CN" altLang="en-US" sz="2400">
                <a:solidFill>
                  <a:schemeClr val="accent2"/>
                </a:solidFill>
              </a:rPr>
              <a:t>、结型场效应晶体管（</a:t>
            </a:r>
            <a:r>
              <a:rPr lang="en-US" altLang="zh-CN" sz="2400">
                <a:solidFill>
                  <a:schemeClr val="accent2"/>
                </a:solidFill>
              </a:rPr>
              <a:t>J-FET</a:t>
            </a:r>
            <a:r>
              <a:rPr lang="zh-CN" altLang="en-US" sz="2400">
                <a:solidFill>
                  <a:schemeClr val="accent2"/>
                </a:solidFill>
              </a:rPr>
              <a:t>）</a:t>
            </a:r>
          </a:p>
        </p:txBody>
      </p:sp>
      <p:pic>
        <p:nvPicPr>
          <p:cNvPr id="10247" name="图片 97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500" y="1509713"/>
            <a:ext cx="3768725" cy="2405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8" name="Text Box 11"/>
          <p:cNvSpPr txBox="1">
            <a:spLocks noChangeArrowheads="1"/>
          </p:cNvSpPr>
          <p:nvPr/>
        </p:nvSpPr>
        <p:spPr bwMode="auto">
          <a:xfrm>
            <a:off x="2781300" y="4013200"/>
            <a:ext cx="1257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400"/>
              <a:t>N</a:t>
            </a:r>
            <a:r>
              <a:rPr lang="zh-CN" altLang="en-US" sz="2400"/>
              <a:t>沟道</a:t>
            </a:r>
          </a:p>
        </p:txBody>
      </p:sp>
      <p:sp>
        <p:nvSpPr>
          <p:cNvPr id="10249" name="Text Box 12"/>
          <p:cNvSpPr txBox="1">
            <a:spLocks noChangeArrowheads="1"/>
          </p:cNvSpPr>
          <p:nvPr/>
        </p:nvSpPr>
        <p:spPr bwMode="auto">
          <a:xfrm>
            <a:off x="4749800" y="3987800"/>
            <a:ext cx="1257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400"/>
              <a:t>P</a:t>
            </a:r>
            <a:r>
              <a:rPr lang="zh-CN" altLang="en-US" sz="2400"/>
              <a:t>沟道</a:t>
            </a:r>
          </a:p>
        </p:txBody>
      </p:sp>
    </p:spTree>
    <p:extLst>
      <p:ext uri="{BB962C8B-B14F-4D97-AF65-F5344CB8AC3E}">
        <p14:creationId xmlns:p14="http://schemas.microsoft.com/office/powerpoint/2010/main" val="3652261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8" grpId="0"/>
      <p:bldP spid="1024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Text Box 3"/>
          <p:cNvSpPr txBox="1">
            <a:spLocks noChangeArrowheads="1"/>
          </p:cNvSpPr>
          <p:nvPr/>
        </p:nvSpPr>
        <p:spPr bwMode="auto">
          <a:xfrm>
            <a:off x="371971" y="519621"/>
            <a:ext cx="655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 smtClean="0">
                <a:solidFill>
                  <a:srgbClr val="990033"/>
                </a:solidFill>
              </a:rPr>
              <a:t>8.1.2 </a:t>
            </a:r>
            <a:r>
              <a:rPr lang="zh-CN" altLang="en-US" sz="2400" dirty="0" smtClean="0">
                <a:solidFill>
                  <a:srgbClr val="990033"/>
                </a:solidFill>
              </a:rPr>
              <a:t>场效应晶体管</a:t>
            </a:r>
            <a:r>
              <a:rPr lang="zh-CN" altLang="en-US" sz="2400" dirty="0">
                <a:solidFill>
                  <a:srgbClr val="990033"/>
                </a:solidFill>
              </a:rPr>
              <a:t>的电路特性</a:t>
            </a:r>
            <a:endParaRPr lang="zh-CN" altLang="en-US" sz="2400" dirty="0">
              <a:solidFill>
                <a:srgbClr val="A50021"/>
              </a:solidFill>
            </a:endParaRPr>
          </a:p>
        </p:txBody>
      </p:sp>
      <p:sp>
        <p:nvSpPr>
          <p:cNvPr id="23558" name="Rectangle 8"/>
          <p:cNvSpPr>
            <a:spLocks noChangeArrowheads="1"/>
          </p:cNvSpPr>
          <p:nvPr/>
        </p:nvSpPr>
        <p:spPr bwMode="auto">
          <a:xfrm>
            <a:off x="617538" y="2952456"/>
            <a:ext cx="198644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000" dirty="0"/>
              <a:t>增强型</a:t>
            </a:r>
            <a:r>
              <a:rPr lang="en-US" altLang="zh-CN" sz="2000" dirty="0"/>
              <a:t>NMOS</a:t>
            </a:r>
            <a:r>
              <a:rPr lang="zh-CN" altLang="en-US" sz="2000" dirty="0" smtClean="0"/>
              <a:t>管</a:t>
            </a:r>
            <a:endParaRPr lang="en-US" altLang="zh-CN" sz="2000" dirty="0" smtClean="0"/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zh-CN" sz="2000" dirty="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000" dirty="0" smtClean="0"/>
              <a:t>输出特性</a:t>
            </a:r>
            <a:r>
              <a:rPr lang="zh-CN" altLang="en-US" sz="2000" dirty="0"/>
              <a:t>曲线 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768350" y="1123125"/>
            <a:ext cx="576044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kumimoji="1" lang="zh-CN" altLang="en-US" sz="2400" dirty="0" smtClean="0">
                <a:solidFill>
                  <a:srgbClr val="990033"/>
                </a:solidFill>
                <a:ea typeface="宋体" charset="-122"/>
              </a:rPr>
              <a:t>一、</a:t>
            </a:r>
            <a:r>
              <a:rPr lang="zh-CN" altLang="en-US" sz="2400" dirty="0">
                <a:solidFill>
                  <a:srgbClr val="A50021"/>
                </a:solidFill>
              </a:rPr>
              <a:t>输出特性</a:t>
            </a:r>
            <a:endParaRPr kumimoji="1" lang="zh-CN" altLang="en-US" sz="2400" dirty="0">
              <a:solidFill>
                <a:srgbClr val="990033"/>
              </a:solidFill>
              <a:ea typeface="宋体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3762" y="1937004"/>
            <a:ext cx="5741189" cy="4062229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8" grpId="0"/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7672" y="1346191"/>
            <a:ext cx="6134100" cy="3370189"/>
          </a:xfrm>
          <a:prstGeom prst="rect">
            <a:avLst/>
          </a:prstGeom>
        </p:spPr>
      </p:pic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379413" y="377825"/>
            <a:ext cx="4818062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 dirty="0">
                <a:solidFill>
                  <a:schemeClr val="accent2"/>
                </a:solidFill>
              </a:rPr>
              <a:t>若考虑沟道长度调制</a:t>
            </a:r>
            <a:r>
              <a:rPr lang="zh-CN" altLang="en-US" sz="2000" dirty="0" smtClean="0">
                <a:solidFill>
                  <a:schemeClr val="accent2"/>
                </a:solidFill>
              </a:rPr>
              <a:t>效应</a:t>
            </a:r>
            <a:endParaRPr lang="en-US" altLang="zh-CN" sz="2000" dirty="0" smtClean="0">
              <a:solidFill>
                <a:schemeClr val="accent2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 dirty="0" smtClean="0">
                <a:solidFill>
                  <a:schemeClr val="accent2"/>
                </a:solidFill>
              </a:rPr>
              <a:t>（</a:t>
            </a:r>
            <a:r>
              <a:rPr lang="en-US" altLang="zh-CN" sz="2000" dirty="0" smtClean="0">
                <a:solidFill>
                  <a:schemeClr val="accent2"/>
                </a:solidFill>
              </a:rPr>
              <a:t>channel-length modulation</a:t>
            </a:r>
            <a:r>
              <a:rPr lang="zh-CN" altLang="en-US" sz="2000" dirty="0" smtClean="0">
                <a:solidFill>
                  <a:schemeClr val="accent2"/>
                </a:solidFill>
              </a:rPr>
              <a:t>）</a:t>
            </a:r>
            <a:endParaRPr lang="zh-CN" altLang="en-US" sz="2000" dirty="0">
              <a:solidFill>
                <a:schemeClr val="accent2"/>
              </a:solidFill>
            </a:endParaRPr>
          </a:p>
        </p:txBody>
      </p:sp>
      <p:graphicFrame>
        <p:nvGraphicFramePr>
          <p:cNvPr id="2458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1842983"/>
              </p:ext>
            </p:extLst>
          </p:nvPr>
        </p:nvGraphicFramePr>
        <p:xfrm>
          <a:off x="1904341" y="5049614"/>
          <a:ext cx="3911600" cy="738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47" name="Equation" r:id="rId4" imgW="2082600" imgH="393480" progId="Equation.DSMT4">
                  <p:embed/>
                </p:oleObj>
              </mc:Choice>
              <mc:Fallback>
                <p:oleObj name="Equation" r:id="rId4" imgW="2082600" imgH="39348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4341" y="5049614"/>
                        <a:ext cx="3911600" cy="738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2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8080669"/>
              </p:ext>
            </p:extLst>
          </p:nvPr>
        </p:nvGraphicFramePr>
        <p:xfrm>
          <a:off x="5770109" y="643863"/>
          <a:ext cx="2606448" cy="9277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48" name="Equation" r:id="rId6" imgW="1497950" imgH="533169" progId="Equation.DSMT4">
                  <p:embed/>
                </p:oleObj>
              </mc:Choice>
              <mc:Fallback>
                <p:oleObj name="Equation" r:id="rId6" imgW="1497950" imgH="533169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0109" y="643863"/>
                        <a:ext cx="2606448" cy="9277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379413" y="5218429"/>
            <a:ext cx="121219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/>
              <a:t>NMOS</a:t>
            </a:r>
            <a:r>
              <a:rPr lang="zh-CN" altLang="en-US" sz="2000" dirty="0"/>
              <a:t>管</a:t>
            </a:r>
          </a:p>
        </p:txBody>
      </p:sp>
      <p:graphicFrame>
        <p:nvGraphicFramePr>
          <p:cNvPr id="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824128"/>
              </p:ext>
            </p:extLst>
          </p:nvPr>
        </p:nvGraphicFramePr>
        <p:xfrm>
          <a:off x="1904341" y="5905048"/>
          <a:ext cx="3910013" cy="73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49" name="Equation" r:id="rId8" imgW="2082600" imgH="393480" progId="Equation.DSMT4">
                  <p:embed/>
                </p:oleObj>
              </mc:Choice>
              <mc:Fallback>
                <p:oleObj name="Equation" r:id="rId8" imgW="20826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4341" y="5905048"/>
                        <a:ext cx="3910013" cy="738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5513650"/>
              </p:ext>
            </p:extLst>
          </p:nvPr>
        </p:nvGraphicFramePr>
        <p:xfrm>
          <a:off x="6467701" y="5049614"/>
          <a:ext cx="1211263" cy="747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50" name="Equation" r:id="rId10" imgW="698400" imgH="431640" progId="Equation.DSMT4">
                  <p:embed/>
                </p:oleObj>
              </mc:Choice>
              <mc:Fallback>
                <p:oleObj name="Equation" r:id="rId10" imgW="6984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7701" y="5049614"/>
                        <a:ext cx="1211263" cy="747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/>
          <p:nvPr/>
        </p:nvSpPr>
        <p:spPr>
          <a:xfrm>
            <a:off x="379413" y="6074087"/>
            <a:ext cx="121219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 smtClean="0"/>
              <a:t>PMOS</a:t>
            </a:r>
            <a:r>
              <a:rPr lang="zh-CN" altLang="en-US" sz="2000" dirty="0"/>
              <a:t>管</a:t>
            </a:r>
          </a:p>
        </p:txBody>
      </p:sp>
      <p:graphicFrame>
        <p:nvGraphicFramePr>
          <p:cNvPr id="11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4034567"/>
              </p:ext>
            </p:extLst>
          </p:nvPr>
        </p:nvGraphicFramePr>
        <p:xfrm>
          <a:off x="6478588" y="5911850"/>
          <a:ext cx="1189037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51" name="Equation" r:id="rId12" imgW="685800" imgH="431640" progId="Equation.DSMT4">
                  <p:embed/>
                </p:oleObj>
              </mc:Choice>
              <mc:Fallback>
                <p:oleObj name="Equation" r:id="rId12" imgW="6858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8588" y="5911850"/>
                        <a:ext cx="1189037" cy="747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4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4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4"/>
          <p:cNvSpPr txBox="1">
            <a:spLocks noChangeArrowheads="1"/>
          </p:cNvSpPr>
          <p:nvPr/>
        </p:nvSpPr>
        <p:spPr bwMode="auto">
          <a:xfrm>
            <a:off x="550863" y="430213"/>
            <a:ext cx="655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 smtClean="0">
                <a:solidFill>
                  <a:srgbClr val="A50021"/>
                </a:solidFill>
              </a:rPr>
              <a:t>二、转移</a:t>
            </a:r>
            <a:r>
              <a:rPr lang="zh-CN" altLang="en-US" sz="2400" dirty="0">
                <a:solidFill>
                  <a:srgbClr val="A50021"/>
                </a:solidFill>
              </a:rPr>
              <a:t>特性</a:t>
            </a:r>
          </a:p>
        </p:txBody>
      </p:sp>
      <p:sp>
        <p:nvSpPr>
          <p:cNvPr id="25604" name="Rectangle 6"/>
          <p:cNvSpPr>
            <a:spLocks noChangeArrowheads="1"/>
          </p:cNvSpPr>
          <p:nvPr/>
        </p:nvSpPr>
        <p:spPr bwMode="auto">
          <a:xfrm>
            <a:off x="228600" y="2562394"/>
            <a:ext cx="205056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000" dirty="0"/>
              <a:t>增强型</a:t>
            </a:r>
            <a:r>
              <a:rPr lang="en-US" altLang="zh-CN" sz="2000" dirty="0" smtClean="0"/>
              <a:t>NMOS</a:t>
            </a:r>
            <a:r>
              <a:rPr lang="zh-CN" altLang="en-US" sz="2000" dirty="0" smtClean="0"/>
              <a:t>管</a:t>
            </a:r>
            <a:endParaRPr lang="en-US" altLang="zh-CN" sz="2000" dirty="0" smtClean="0"/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zh-CN" sz="2000" dirty="0" smtClean="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000" dirty="0" smtClean="0"/>
              <a:t>转移</a:t>
            </a:r>
            <a:r>
              <a:rPr lang="zh-CN" altLang="en-US" sz="2000" dirty="0"/>
              <a:t>特性曲线 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0099245"/>
              </p:ext>
            </p:extLst>
          </p:nvPr>
        </p:nvGraphicFramePr>
        <p:xfrm>
          <a:off x="1998663" y="1721984"/>
          <a:ext cx="5734050" cy="450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25" name="Visio" r:id="rId3" imgW="5734173" imgH="4505428" progId="Visio.Drawing.15">
                  <p:embed/>
                </p:oleObj>
              </mc:Choice>
              <mc:Fallback>
                <p:oleObj name="Visio" r:id="rId3" imgW="5734173" imgH="4505428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98663" y="1721984"/>
                        <a:ext cx="5734050" cy="4505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4131652"/>
              </p:ext>
            </p:extLst>
          </p:nvPr>
        </p:nvGraphicFramePr>
        <p:xfrm>
          <a:off x="6879614" y="1207624"/>
          <a:ext cx="1885812" cy="10345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26" name="Equation" r:id="rId5" imgW="927000" imgH="507960" progId="Equation.DSMT4">
                  <p:embed/>
                </p:oleObj>
              </mc:Choice>
              <mc:Fallback>
                <p:oleObj name="Equation" r:id="rId5" imgW="92700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9614" y="1207624"/>
                        <a:ext cx="1885812" cy="10345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4"/>
          <p:cNvSpPr>
            <a:spLocks noChangeArrowheads="1"/>
          </p:cNvSpPr>
          <p:nvPr/>
        </p:nvSpPr>
        <p:spPr bwMode="auto">
          <a:xfrm>
            <a:off x="630238" y="430183"/>
            <a:ext cx="276550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dirty="0"/>
              <a:t>场效应管工作点的确定</a:t>
            </a:r>
          </a:p>
        </p:txBody>
      </p:sp>
      <p:graphicFrame>
        <p:nvGraphicFramePr>
          <p:cNvPr id="2663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4689129"/>
              </p:ext>
            </p:extLst>
          </p:nvPr>
        </p:nvGraphicFramePr>
        <p:xfrm>
          <a:off x="2247900" y="993775"/>
          <a:ext cx="4862513" cy="571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34" name="Visio" r:id="rId3" imgW="4795473" imgH="5637732" progId="Visio.Drawing.11">
                  <p:embed/>
                </p:oleObj>
              </mc:Choice>
              <mc:Fallback>
                <p:oleObj name="Visio" r:id="rId3" imgW="4795473" imgH="5637732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7900" y="993775"/>
                        <a:ext cx="4862513" cy="571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/>
          <p:cNvSpPr txBox="1">
            <a:spLocks noChangeArrowheads="1"/>
          </p:cNvSpPr>
          <p:nvPr/>
        </p:nvSpPr>
        <p:spPr bwMode="auto">
          <a:xfrm>
            <a:off x="508000" y="661988"/>
            <a:ext cx="655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 smtClean="0">
                <a:solidFill>
                  <a:srgbClr val="A50021"/>
                </a:solidFill>
              </a:rPr>
              <a:t>三、场效应</a:t>
            </a:r>
            <a:r>
              <a:rPr lang="zh-CN" altLang="en-US" sz="2400" dirty="0">
                <a:solidFill>
                  <a:srgbClr val="A50021"/>
                </a:solidFill>
              </a:rPr>
              <a:t>管（</a:t>
            </a:r>
            <a:r>
              <a:rPr lang="en-US" altLang="zh-CN" sz="2400" dirty="0">
                <a:solidFill>
                  <a:srgbClr val="A50021"/>
                </a:solidFill>
              </a:rPr>
              <a:t>FET</a:t>
            </a:r>
            <a:r>
              <a:rPr lang="zh-CN" altLang="en-US" sz="2400" dirty="0">
                <a:solidFill>
                  <a:srgbClr val="A50021"/>
                </a:solidFill>
              </a:rPr>
              <a:t>）的参数</a:t>
            </a:r>
          </a:p>
        </p:txBody>
      </p:sp>
      <p:sp>
        <p:nvSpPr>
          <p:cNvPr id="28678" name="Text Box 10"/>
          <p:cNvSpPr txBox="1">
            <a:spLocks noChangeArrowheads="1"/>
          </p:cNvSpPr>
          <p:nvPr/>
        </p:nvSpPr>
        <p:spPr bwMode="auto">
          <a:xfrm>
            <a:off x="774700" y="1192213"/>
            <a:ext cx="7654925" cy="4284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l"/>
            </a:pPr>
            <a:r>
              <a:rPr lang="en-US" altLang="zh-CN" sz="2000" b="0" dirty="0"/>
              <a:t>  </a:t>
            </a:r>
            <a:r>
              <a:rPr lang="zh-CN" altLang="en-US" sz="2000" dirty="0"/>
              <a:t>直流参数</a:t>
            </a:r>
            <a:r>
              <a:rPr lang="zh-CN" altLang="en-US" sz="2000" b="0" dirty="0" smtClean="0"/>
              <a:t>：</a:t>
            </a:r>
            <a:endParaRPr lang="en-US" altLang="zh-CN" sz="2000" b="0" dirty="0" smtClean="0"/>
          </a:p>
          <a:p>
            <a:pPr marL="1440000" indent="-1080000" eaLnBrk="1" hangingPunct="1">
              <a:lnSpc>
                <a:spcPct val="120000"/>
              </a:lnSpc>
              <a:buNone/>
            </a:pPr>
            <a:r>
              <a:rPr lang="en-US" altLang="zh-CN" sz="2000" i="1" dirty="0" smtClean="0"/>
              <a:t>V</a:t>
            </a:r>
            <a:r>
              <a:rPr lang="en-US" altLang="zh-CN" sz="2000" i="1" baseline="-25000" dirty="0" smtClean="0"/>
              <a:t>GS</a:t>
            </a:r>
            <a:r>
              <a:rPr lang="en-US" altLang="zh-CN" sz="2000" dirty="0" smtClean="0"/>
              <a:t>(</a:t>
            </a:r>
            <a:r>
              <a:rPr lang="en-US" altLang="zh-CN" sz="2000" dirty="0" err="1" smtClean="0"/>
              <a:t>th</a:t>
            </a:r>
            <a:r>
              <a:rPr lang="en-US" altLang="zh-CN" sz="2000" dirty="0"/>
              <a:t>) </a:t>
            </a:r>
            <a:r>
              <a:rPr lang="en-US" altLang="zh-CN" sz="2000" dirty="0" smtClean="0"/>
              <a:t>/</a:t>
            </a:r>
            <a:r>
              <a:rPr lang="en-US" altLang="zh-CN" sz="2000" i="1" dirty="0"/>
              <a:t> </a:t>
            </a:r>
            <a:r>
              <a:rPr lang="en-US" altLang="zh-CN" sz="2000" i="1" dirty="0" err="1"/>
              <a:t>V</a:t>
            </a:r>
            <a:r>
              <a:rPr lang="en-US" altLang="zh-CN" sz="2000" i="1" baseline="-25000" dirty="0" err="1"/>
              <a:t>t</a:t>
            </a:r>
            <a:r>
              <a:rPr lang="en-US" altLang="zh-CN" sz="2000" i="1" baseline="-25000" dirty="0"/>
              <a:t> </a:t>
            </a:r>
            <a:r>
              <a:rPr lang="zh-CN" altLang="en-US" sz="2000" b="0" dirty="0" smtClean="0"/>
              <a:t>：</a:t>
            </a:r>
            <a:r>
              <a:rPr lang="zh-CN" altLang="en-US" sz="1800" b="0" dirty="0"/>
              <a:t>开启电压（</a:t>
            </a:r>
            <a:r>
              <a:rPr lang="zh-CN" altLang="en-US" sz="1800" b="0" dirty="0" smtClean="0"/>
              <a:t>增强型</a:t>
            </a:r>
            <a:r>
              <a:rPr lang="en-US" altLang="zh-CN" sz="1800" b="0" dirty="0"/>
              <a:t>MOSFET</a:t>
            </a:r>
            <a:r>
              <a:rPr lang="zh-CN" altLang="en-US" sz="1800" b="0" dirty="0"/>
              <a:t>特有的参数</a:t>
            </a:r>
            <a:r>
              <a:rPr lang="zh-CN" altLang="en-US" sz="1800" b="0" dirty="0" smtClean="0"/>
              <a:t>），当</a:t>
            </a:r>
            <a:r>
              <a:rPr lang="en-US" altLang="zh-CN" sz="1800" b="0" i="1" dirty="0"/>
              <a:t>V</a:t>
            </a:r>
            <a:r>
              <a:rPr lang="en-US" altLang="zh-CN" sz="1800" b="0" i="1" baseline="-25000" dirty="0"/>
              <a:t>DS</a:t>
            </a:r>
            <a:r>
              <a:rPr lang="zh-CN" altLang="en-US" sz="1800" b="0" dirty="0" smtClean="0"/>
              <a:t>为</a:t>
            </a:r>
            <a:r>
              <a:rPr lang="zh-CN" altLang="en-US" sz="1800" b="0" dirty="0"/>
              <a:t>一</a:t>
            </a:r>
            <a:r>
              <a:rPr lang="zh-CN" altLang="en-US" sz="1800" b="0" dirty="0" smtClean="0"/>
              <a:t>固</a:t>
            </a:r>
            <a:endParaRPr lang="en-US" altLang="zh-CN" sz="1800" b="0" dirty="0" smtClean="0"/>
          </a:p>
          <a:p>
            <a:pPr marL="1440000" indent="-1080000" eaLnBrk="1" hangingPunct="1">
              <a:lnSpc>
                <a:spcPct val="120000"/>
              </a:lnSpc>
              <a:buNone/>
            </a:pPr>
            <a:r>
              <a:rPr lang="en-US" altLang="zh-CN" sz="1800" b="0" dirty="0"/>
              <a:t> </a:t>
            </a:r>
            <a:r>
              <a:rPr lang="en-US" altLang="zh-CN" sz="1800" b="0" dirty="0" smtClean="0"/>
              <a:t>                       </a:t>
            </a:r>
            <a:r>
              <a:rPr lang="zh-CN" altLang="en-US" sz="1800" b="0" dirty="0" smtClean="0"/>
              <a:t>  定</a:t>
            </a:r>
            <a:r>
              <a:rPr lang="zh-CN" altLang="en-US" sz="1800" b="0" dirty="0"/>
              <a:t>值时，能够产生漏极</a:t>
            </a:r>
            <a:r>
              <a:rPr lang="zh-CN" altLang="en-US" sz="1800" b="0" dirty="0" smtClean="0"/>
              <a:t>电流</a:t>
            </a:r>
            <a:r>
              <a:rPr lang="en-US" altLang="zh-CN" sz="1800" b="0" i="1" dirty="0"/>
              <a:t>I</a:t>
            </a:r>
            <a:r>
              <a:rPr lang="en-US" altLang="zh-CN" sz="1800" b="0" i="1" baseline="-25000" dirty="0"/>
              <a:t>D</a:t>
            </a:r>
            <a:r>
              <a:rPr lang="zh-CN" altLang="en-US" sz="1800" b="0" dirty="0" smtClean="0"/>
              <a:t>所</a:t>
            </a:r>
            <a:r>
              <a:rPr lang="zh-CN" altLang="en-US" sz="1800" b="0" dirty="0"/>
              <a:t>需的</a:t>
            </a:r>
            <a:r>
              <a:rPr lang="en-US" altLang="zh-CN" sz="1800" b="0" dirty="0" smtClean="0"/>
              <a:t>|</a:t>
            </a:r>
            <a:r>
              <a:rPr lang="en-US" altLang="zh-CN" sz="1800" b="0" i="1" dirty="0"/>
              <a:t>V</a:t>
            </a:r>
            <a:r>
              <a:rPr lang="en-US" altLang="zh-CN" sz="1800" b="0" i="1" baseline="-25000" dirty="0"/>
              <a:t>GS</a:t>
            </a:r>
            <a:r>
              <a:rPr lang="en-US" altLang="zh-CN" sz="1800" b="0" dirty="0" smtClean="0"/>
              <a:t>|</a:t>
            </a:r>
            <a:r>
              <a:rPr lang="zh-CN" altLang="en-US" sz="1800" b="0" dirty="0"/>
              <a:t>最小值</a:t>
            </a:r>
            <a:r>
              <a:rPr lang="zh-CN" altLang="en-US" sz="1800" b="0" dirty="0" smtClean="0"/>
              <a:t>。</a:t>
            </a:r>
            <a:endParaRPr lang="en-US" altLang="zh-CN" sz="1800" b="0" dirty="0" smtClean="0"/>
          </a:p>
          <a:p>
            <a:pPr marL="1440000" indent="-1080000" eaLnBrk="1" hangingPunct="1">
              <a:lnSpc>
                <a:spcPct val="120000"/>
              </a:lnSpc>
              <a:buNone/>
            </a:pPr>
            <a:r>
              <a:rPr lang="en-US" altLang="zh-CN" sz="2000" i="1" dirty="0" smtClean="0"/>
              <a:t>V</a:t>
            </a:r>
            <a:r>
              <a:rPr lang="en-US" altLang="zh-CN" sz="2000" i="1" baseline="-25000" dirty="0" smtClean="0"/>
              <a:t>GS</a:t>
            </a:r>
            <a:r>
              <a:rPr lang="en-US" altLang="zh-CN" sz="2000" dirty="0" smtClean="0"/>
              <a:t>(off</a:t>
            </a:r>
            <a:r>
              <a:rPr lang="en-US" altLang="zh-CN" sz="2000" dirty="0"/>
              <a:t>)</a:t>
            </a:r>
            <a:r>
              <a:rPr lang="zh-CN" altLang="en-US" sz="2000" b="0" dirty="0"/>
              <a:t>：</a:t>
            </a:r>
            <a:r>
              <a:rPr lang="zh-CN" altLang="en-US" sz="1800" b="0" dirty="0"/>
              <a:t>夹断电压（耗尽型</a:t>
            </a:r>
            <a:r>
              <a:rPr lang="en-US" altLang="zh-CN" sz="1800" b="0" dirty="0"/>
              <a:t>MOSFET</a:t>
            </a:r>
            <a:r>
              <a:rPr lang="zh-CN" altLang="en-US" sz="1800" b="0" dirty="0"/>
              <a:t>特有的参数），当</a:t>
            </a:r>
            <a:r>
              <a:rPr lang="en-US" altLang="zh-CN" sz="1800" b="0" i="1" dirty="0"/>
              <a:t>V</a:t>
            </a:r>
            <a:r>
              <a:rPr lang="en-US" altLang="zh-CN" sz="1800" b="0" i="1" baseline="-25000" dirty="0"/>
              <a:t>DS</a:t>
            </a:r>
            <a:r>
              <a:rPr lang="zh-CN" altLang="en-US" sz="1800" b="0" dirty="0"/>
              <a:t>为一固定值时，使</a:t>
            </a:r>
            <a:r>
              <a:rPr lang="en-US" altLang="zh-CN" sz="1800" b="0" i="1" dirty="0"/>
              <a:t>I</a:t>
            </a:r>
            <a:r>
              <a:rPr lang="en-US" altLang="zh-CN" sz="1800" b="0" i="1" baseline="-25000" dirty="0"/>
              <a:t>D</a:t>
            </a:r>
            <a:r>
              <a:rPr lang="zh-CN" altLang="en-US" sz="1800" b="0" dirty="0"/>
              <a:t>减小到一个微小值时所需的</a:t>
            </a:r>
            <a:r>
              <a:rPr lang="en-US" altLang="zh-CN" sz="1800" b="0" i="1" dirty="0"/>
              <a:t>V</a:t>
            </a:r>
            <a:r>
              <a:rPr lang="en-US" altLang="zh-CN" sz="1800" b="0" i="1" baseline="-25000" dirty="0"/>
              <a:t>GS</a:t>
            </a:r>
            <a:r>
              <a:rPr lang="zh-CN" altLang="en-US" sz="1800" b="0" dirty="0"/>
              <a:t>值</a:t>
            </a:r>
            <a:r>
              <a:rPr lang="zh-CN" altLang="en-US" sz="1800" b="0" dirty="0" smtClean="0"/>
              <a:t>。</a:t>
            </a:r>
            <a:endParaRPr lang="en-US" altLang="zh-CN" sz="1800" b="0" dirty="0" smtClean="0"/>
          </a:p>
          <a:p>
            <a:pPr marL="1440000" indent="-1080000" eaLnBrk="1" hangingPunct="1">
              <a:lnSpc>
                <a:spcPct val="120000"/>
              </a:lnSpc>
              <a:buNone/>
            </a:pPr>
            <a:r>
              <a:rPr lang="en-US" altLang="zh-CN" sz="2000" b="0" i="1" dirty="0" smtClean="0"/>
              <a:t>   </a:t>
            </a:r>
            <a:r>
              <a:rPr lang="en-US" altLang="zh-CN" sz="2000" i="1" dirty="0" smtClean="0"/>
              <a:t>I</a:t>
            </a:r>
            <a:r>
              <a:rPr lang="en-US" altLang="zh-CN" sz="2000" i="1" baseline="-25000" dirty="0" smtClean="0"/>
              <a:t>DSS</a:t>
            </a:r>
            <a:r>
              <a:rPr lang="zh-CN" altLang="en-US" sz="2000" b="0" dirty="0" smtClean="0"/>
              <a:t>：    </a:t>
            </a:r>
            <a:r>
              <a:rPr lang="zh-CN" altLang="en-US" sz="1800" b="0" dirty="0" smtClean="0"/>
              <a:t>饱和</a:t>
            </a:r>
            <a:r>
              <a:rPr lang="zh-CN" altLang="en-US" sz="1800" b="0" dirty="0"/>
              <a:t>漏极</a:t>
            </a:r>
            <a:r>
              <a:rPr lang="zh-CN" altLang="en-US" sz="1800" b="0" dirty="0" smtClean="0"/>
              <a:t>电流</a:t>
            </a:r>
            <a:r>
              <a:rPr lang="zh-CN" altLang="en-US" sz="1800" b="0" dirty="0"/>
              <a:t>（耗尽型</a:t>
            </a:r>
            <a:r>
              <a:rPr lang="en-US" altLang="zh-CN" sz="1800" b="0" dirty="0"/>
              <a:t>MOSFET</a:t>
            </a:r>
            <a:r>
              <a:rPr lang="zh-CN" altLang="en-US" sz="1800" b="0" dirty="0"/>
              <a:t>特有的参数），</a:t>
            </a:r>
            <a:r>
              <a:rPr lang="zh-CN" altLang="en-US" sz="1800" b="0" dirty="0" smtClean="0"/>
              <a:t>当</a:t>
            </a:r>
            <a:r>
              <a:rPr lang="en-US" altLang="zh-CN" sz="1800" b="0" i="1" dirty="0"/>
              <a:t>V</a:t>
            </a:r>
            <a:r>
              <a:rPr lang="en-US" altLang="zh-CN" sz="1800" b="0" i="1" baseline="-25000" dirty="0"/>
              <a:t>GS </a:t>
            </a:r>
            <a:r>
              <a:rPr lang="en-US" altLang="zh-CN" sz="1800" b="0" i="1" baseline="-25000" dirty="0" smtClean="0"/>
              <a:t> </a:t>
            </a:r>
            <a:r>
              <a:rPr lang="en-US" altLang="zh-CN" sz="1800" b="0" dirty="0" smtClean="0"/>
              <a:t>= 0</a:t>
            </a:r>
            <a:r>
              <a:rPr lang="zh-CN" altLang="en-US" sz="1800" b="0" dirty="0"/>
              <a:t>，场效应管发生预夹断时的漏极电流</a:t>
            </a:r>
            <a:r>
              <a:rPr lang="zh-CN" altLang="en-US" sz="1800" b="0" dirty="0" smtClean="0"/>
              <a:t>。</a:t>
            </a:r>
            <a:endParaRPr lang="en-US" altLang="zh-CN" sz="1800" b="0" dirty="0" smtClean="0"/>
          </a:p>
          <a:p>
            <a:pPr marL="1440000" indent="-1080000" eaLnBrk="1" hangingPunct="1">
              <a:lnSpc>
                <a:spcPct val="120000"/>
              </a:lnSpc>
              <a:buNone/>
            </a:pPr>
            <a:r>
              <a:rPr lang="en-US" altLang="zh-CN" sz="2000" b="0" i="1" dirty="0" smtClean="0"/>
              <a:t>   </a:t>
            </a:r>
            <a:r>
              <a:rPr lang="en-US" altLang="zh-CN" sz="2000" i="1" dirty="0" smtClean="0"/>
              <a:t>R</a:t>
            </a:r>
            <a:r>
              <a:rPr lang="en-US" altLang="zh-CN" sz="2000" i="1" baseline="-25000" dirty="0" smtClean="0"/>
              <a:t>GS </a:t>
            </a:r>
            <a:r>
              <a:rPr lang="zh-CN" altLang="en-US" sz="2000" b="0" dirty="0" smtClean="0"/>
              <a:t>：  </a:t>
            </a:r>
            <a:r>
              <a:rPr lang="zh-CN" altLang="en-US" sz="1800" b="0" dirty="0" smtClean="0"/>
              <a:t>直流</a:t>
            </a:r>
            <a:r>
              <a:rPr lang="zh-CN" altLang="en-US" sz="1800" b="0" dirty="0"/>
              <a:t>输入电阻</a:t>
            </a:r>
            <a:r>
              <a:rPr lang="zh-CN" altLang="en-US" sz="1800" b="0" dirty="0" smtClean="0"/>
              <a:t>，</a:t>
            </a:r>
            <a:r>
              <a:rPr lang="en-US" altLang="zh-CN" sz="1800" b="0" i="1" dirty="0"/>
              <a:t> </a:t>
            </a:r>
            <a:r>
              <a:rPr lang="en-US" altLang="zh-CN" sz="1800" b="0" i="1" dirty="0" smtClean="0"/>
              <a:t>V</a:t>
            </a:r>
            <a:r>
              <a:rPr lang="en-US" altLang="zh-CN" sz="1800" b="0" i="1" baseline="-25000" dirty="0" smtClean="0"/>
              <a:t>DS</a:t>
            </a:r>
            <a:r>
              <a:rPr lang="en-US" altLang="zh-CN" sz="1800" b="0" dirty="0"/>
              <a:t> = 0</a:t>
            </a:r>
            <a:r>
              <a:rPr lang="zh-CN" altLang="en-US" sz="1800" b="0" dirty="0" smtClean="0"/>
              <a:t>时，</a:t>
            </a:r>
            <a:r>
              <a:rPr lang="en-US" altLang="zh-CN" sz="1800" b="0" i="1" dirty="0"/>
              <a:t> V</a:t>
            </a:r>
            <a:r>
              <a:rPr lang="en-US" altLang="zh-CN" sz="1800" b="0" i="1" baseline="-25000" dirty="0"/>
              <a:t>GS</a:t>
            </a:r>
            <a:r>
              <a:rPr lang="zh-CN" altLang="en-US" sz="1800" b="0" dirty="0" smtClean="0"/>
              <a:t>与</a:t>
            </a:r>
            <a:r>
              <a:rPr lang="en-US" altLang="zh-CN" sz="1800" b="0" i="1" dirty="0" smtClean="0"/>
              <a:t>I</a:t>
            </a:r>
            <a:r>
              <a:rPr lang="en-US" altLang="zh-CN" sz="1800" b="0" i="1" baseline="-25000" dirty="0" smtClean="0"/>
              <a:t>G</a:t>
            </a:r>
            <a:r>
              <a:rPr lang="zh-CN" altLang="en-US" sz="1800" b="0" dirty="0" smtClean="0"/>
              <a:t>的比值。</a:t>
            </a:r>
            <a:endParaRPr lang="en-US" altLang="zh-CN" sz="1800" b="0" dirty="0" smtClean="0"/>
          </a:p>
          <a:p>
            <a:pPr marL="1440000" indent="-1080000" eaLnBrk="1" hangingPunct="1">
              <a:lnSpc>
                <a:spcPct val="120000"/>
              </a:lnSpc>
              <a:buNone/>
            </a:pPr>
            <a:r>
              <a:rPr lang="en-US" altLang="zh-CN" sz="2000" i="1" dirty="0" smtClean="0"/>
              <a:t>V</a:t>
            </a:r>
            <a:r>
              <a:rPr lang="en-US" altLang="zh-CN" sz="2000" baseline="-25000" dirty="0" smtClean="0"/>
              <a:t>(BR)</a:t>
            </a:r>
            <a:r>
              <a:rPr lang="en-US" altLang="zh-CN" sz="2000" i="1" baseline="-25000" dirty="0" smtClean="0"/>
              <a:t>DS </a:t>
            </a:r>
            <a:r>
              <a:rPr lang="zh-CN" altLang="en-US" sz="2000" b="0" dirty="0" smtClean="0"/>
              <a:t>：</a:t>
            </a:r>
            <a:r>
              <a:rPr lang="zh-CN" altLang="en-US" sz="1800" b="0" dirty="0" smtClean="0"/>
              <a:t>漏源击穿电压</a:t>
            </a:r>
            <a:endParaRPr lang="en-US" altLang="zh-CN" sz="1800" b="0" dirty="0" smtClean="0"/>
          </a:p>
          <a:p>
            <a:pPr marL="1440000" indent="-1080000" eaLnBrk="1" hangingPunct="1">
              <a:lnSpc>
                <a:spcPct val="120000"/>
              </a:lnSpc>
              <a:buNone/>
            </a:pPr>
            <a:r>
              <a:rPr lang="en-US" altLang="zh-CN" sz="2000" i="1" dirty="0" smtClean="0"/>
              <a:t>V</a:t>
            </a:r>
            <a:r>
              <a:rPr lang="en-US" altLang="zh-CN" sz="2000" baseline="-25000" dirty="0" smtClean="0"/>
              <a:t>(BR)</a:t>
            </a:r>
            <a:r>
              <a:rPr lang="en-US" altLang="zh-CN" sz="2000" i="1" baseline="-25000" dirty="0" smtClean="0"/>
              <a:t>GS</a:t>
            </a:r>
            <a:r>
              <a:rPr lang="zh-CN" altLang="en-US" sz="2000" b="0" dirty="0" smtClean="0"/>
              <a:t>： </a:t>
            </a:r>
            <a:r>
              <a:rPr lang="zh-CN" altLang="en-US" sz="1800" b="0" dirty="0" smtClean="0"/>
              <a:t>栅源</a:t>
            </a:r>
            <a:r>
              <a:rPr lang="zh-CN" altLang="en-US" sz="1800" b="0" dirty="0"/>
              <a:t>击穿电压</a:t>
            </a:r>
            <a:endParaRPr lang="en-US" altLang="zh-CN" sz="1800" b="0" dirty="0" smtClean="0"/>
          </a:p>
          <a:p>
            <a:pPr eaLnBrk="1" hangingPunct="1">
              <a:buNone/>
            </a:pPr>
            <a:endParaRPr lang="en-US" altLang="zh-CN" sz="2000" b="0" i="1" baseline="-25000" dirty="0"/>
          </a:p>
        </p:txBody>
      </p:sp>
      <p:sp>
        <p:nvSpPr>
          <p:cNvPr id="28679" name="Text Box 11"/>
          <p:cNvSpPr txBox="1">
            <a:spLocks noChangeArrowheads="1"/>
          </p:cNvSpPr>
          <p:nvPr/>
        </p:nvSpPr>
        <p:spPr bwMode="auto">
          <a:xfrm>
            <a:off x="766763" y="5468938"/>
            <a:ext cx="753903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l"/>
            </a:pPr>
            <a:r>
              <a:rPr lang="en-US" altLang="zh-CN" sz="2000" dirty="0"/>
              <a:t>  </a:t>
            </a:r>
            <a:r>
              <a:rPr lang="zh-CN" altLang="en-US" sz="2000" dirty="0"/>
              <a:t>交流参数</a:t>
            </a:r>
            <a:r>
              <a:rPr lang="zh-CN" altLang="en-US" sz="2000" dirty="0" smtClean="0"/>
              <a:t>：</a:t>
            </a:r>
            <a:r>
              <a:rPr lang="en-US" altLang="zh-CN" sz="2000" dirty="0" smtClean="0"/>
              <a:t/>
            </a:r>
            <a:br>
              <a:rPr lang="en-US" altLang="zh-CN" sz="2000" dirty="0" smtClean="0"/>
            </a:br>
            <a:r>
              <a:rPr lang="en-US" altLang="zh-CN" sz="2000" dirty="0" smtClean="0"/>
              <a:t>   </a:t>
            </a:r>
            <a:r>
              <a:rPr lang="en-US" altLang="zh-CN" sz="2000" i="1" dirty="0" smtClean="0"/>
              <a:t>g</a:t>
            </a:r>
            <a:r>
              <a:rPr lang="en-US" altLang="zh-CN" sz="2000" i="1" baseline="-25000" dirty="0" smtClean="0">
                <a:sym typeface="Symbol" pitchFamily="18" charset="2"/>
              </a:rPr>
              <a:t>m</a:t>
            </a:r>
            <a:r>
              <a:rPr lang="en-US" altLang="zh-CN" sz="2000" i="1" baseline="-25000" dirty="0" smtClean="0"/>
              <a:t> </a:t>
            </a:r>
            <a:r>
              <a:rPr lang="zh-CN" altLang="en-US" sz="2000" dirty="0"/>
              <a:t>、 </a:t>
            </a:r>
            <a:r>
              <a:rPr lang="en-US" altLang="zh-CN" sz="2000" i="1" dirty="0" err="1" smtClean="0"/>
              <a:t>r</a:t>
            </a:r>
            <a:r>
              <a:rPr lang="en-US" altLang="zh-CN" sz="2000" i="1" baseline="-25000" dirty="0" err="1" smtClean="0">
                <a:sym typeface="Symbol" pitchFamily="18" charset="2"/>
              </a:rPr>
              <a:t>o</a:t>
            </a:r>
            <a:r>
              <a:rPr lang="en-US" altLang="zh-CN" sz="2000" i="1" baseline="-25000" dirty="0" smtClean="0">
                <a:sym typeface="Symbol" pitchFamily="18" charset="2"/>
              </a:rPr>
              <a:t> </a:t>
            </a:r>
            <a:r>
              <a:rPr lang="zh-CN" altLang="en-US" sz="2000" dirty="0"/>
              <a:t>、 </a:t>
            </a:r>
            <a:r>
              <a:rPr lang="en-US" altLang="zh-CN" sz="2000" i="1" dirty="0"/>
              <a:t>C</a:t>
            </a:r>
            <a:r>
              <a:rPr lang="en-US" altLang="zh-CN" sz="2000" i="1" baseline="-25000" dirty="0">
                <a:sym typeface="Symbol" pitchFamily="18" charset="2"/>
              </a:rPr>
              <a:t>GS </a:t>
            </a:r>
            <a:r>
              <a:rPr lang="zh-CN" altLang="en-US" sz="2000" dirty="0"/>
              <a:t>、 </a:t>
            </a:r>
            <a:r>
              <a:rPr lang="en-US" altLang="zh-CN" sz="2000" i="1" dirty="0"/>
              <a:t>C</a:t>
            </a:r>
            <a:r>
              <a:rPr lang="en-US" altLang="zh-CN" sz="2000" i="1" baseline="-25000" dirty="0">
                <a:sym typeface="Symbol" pitchFamily="18" charset="2"/>
              </a:rPr>
              <a:t>GD </a:t>
            </a:r>
            <a:r>
              <a:rPr lang="zh-CN" altLang="en-US" sz="2000" dirty="0"/>
              <a:t>、 </a:t>
            </a:r>
            <a:r>
              <a:rPr lang="en-US" altLang="zh-CN" sz="2000" i="1" dirty="0"/>
              <a:t>C</a:t>
            </a:r>
            <a:r>
              <a:rPr lang="en-US" altLang="zh-CN" sz="2000" i="1" baseline="-25000" dirty="0">
                <a:sym typeface="Symbol" pitchFamily="18" charset="2"/>
              </a:rPr>
              <a:t>DS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8" grpId="0"/>
      <p:bldP spid="2867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/>
          <p:cNvSpPr txBox="1">
            <a:spLocks noChangeArrowheads="1"/>
          </p:cNvSpPr>
          <p:nvPr/>
        </p:nvSpPr>
        <p:spPr bwMode="auto">
          <a:xfrm>
            <a:off x="508000" y="661988"/>
            <a:ext cx="655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 smtClean="0">
                <a:solidFill>
                  <a:srgbClr val="990033"/>
                </a:solidFill>
              </a:rPr>
              <a:t>8.1.3 </a:t>
            </a:r>
            <a:r>
              <a:rPr lang="zh-CN" altLang="en-US" sz="2400" dirty="0" smtClean="0">
                <a:solidFill>
                  <a:srgbClr val="990033"/>
                </a:solidFill>
              </a:rPr>
              <a:t>中频</a:t>
            </a:r>
            <a:r>
              <a:rPr lang="zh-CN" altLang="en-US" sz="2400" dirty="0">
                <a:solidFill>
                  <a:srgbClr val="990033"/>
                </a:solidFill>
              </a:rPr>
              <a:t>等效电路模型</a:t>
            </a:r>
            <a:endParaRPr lang="zh-CN" altLang="en-US" sz="2400" dirty="0">
              <a:solidFill>
                <a:srgbClr val="A50021"/>
              </a:solidFill>
            </a:endParaRPr>
          </a:p>
        </p:txBody>
      </p:sp>
      <p:graphicFrame>
        <p:nvGraphicFramePr>
          <p:cNvPr id="29701" name="Object 5"/>
          <p:cNvGraphicFramePr>
            <a:graphicFrameLocks noChangeAspect="1"/>
          </p:cNvGraphicFramePr>
          <p:nvPr/>
        </p:nvGraphicFramePr>
        <p:xfrm>
          <a:off x="4318000" y="2262188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601" name="Equation" r:id="rId3" imgW="114151" imgH="215619" progId="Equation.3">
                  <p:embed/>
                </p:oleObj>
              </mc:Choice>
              <mc:Fallback>
                <p:oleObj name="Equation" r:id="rId3" imgW="114151" imgH="215619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8000" y="2262188"/>
                        <a:ext cx="114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2" name="Text Box 8"/>
          <p:cNvSpPr txBox="1">
            <a:spLocks noChangeArrowheads="1"/>
          </p:cNvSpPr>
          <p:nvPr/>
        </p:nvSpPr>
        <p:spPr bwMode="auto">
          <a:xfrm>
            <a:off x="785813" y="1265238"/>
            <a:ext cx="670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 smtClean="0">
                <a:solidFill>
                  <a:srgbClr val="990033"/>
                </a:solidFill>
              </a:rPr>
              <a:t>一、</a:t>
            </a:r>
            <a:r>
              <a:rPr lang="zh-CN" altLang="en-US" sz="2400" dirty="0">
                <a:solidFill>
                  <a:srgbClr val="990033"/>
                </a:solidFill>
              </a:rPr>
              <a:t>大信号模型</a:t>
            </a:r>
          </a:p>
        </p:txBody>
      </p:sp>
      <p:graphicFrame>
        <p:nvGraphicFramePr>
          <p:cNvPr id="2970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1564955"/>
              </p:ext>
            </p:extLst>
          </p:nvPr>
        </p:nvGraphicFramePr>
        <p:xfrm>
          <a:off x="3656614" y="2724314"/>
          <a:ext cx="5149850" cy="299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602" name="Visio" r:id="rId5" imgW="4921920" imgH="2866680" progId="Visio.Drawing.11">
                  <p:embed/>
                </p:oleObj>
              </mc:Choice>
              <mc:Fallback>
                <p:oleObj name="Visio" r:id="rId5" imgW="4921920" imgH="2866680" progId="Visio.Drawing.11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6614" y="2724314"/>
                        <a:ext cx="5149850" cy="299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7576554"/>
              </p:ext>
            </p:extLst>
          </p:nvPr>
        </p:nvGraphicFramePr>
        <p:xfrm>
          <a:off x="841375" y="2016125"/>
          <a:ext cx="2605088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603" name="Equation" r:id="rId7" imgW="1447560" imgH="393480" progId="Equation.DSMT4">
                  <p:embed/>
                </p:oleObj>
              </mc:Choice>
              <mc:Fallback>
                <p:oleObj name="Equation" r:id="rId7" imgW="1447560" imgH="39348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1375" y="2016125"/>
                        <a:ext cx="2605088" cy="708025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696539" y="3226631"/>
            <a:ext cx="12170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 smtClean="0"/>
              <a:t>也可写为</a:t>
            </a:r>
            <a:endParaRPr lang="zh-CN" altLang="en-US" sz="2000" dirty="0"/>
          </a:p>
        </p:txBody>
      </p:sp>
      <p:graphicFrame>
        <p:nvGraphicFramePr>
          <p:cNvPr id="12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6990833"/>
              </p:ext>
            </p:extLst>
          </p:nvPr>
        </p:nvGraphicFramePr>
        <p:xfrm>
          <a:off x="1191734" y="3917357"/>
          <a:ext cx="212566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604" name="Equation" r:id="rId9" imgW="1180800" imgH="507960" progId="Equation.DSMT4">
                  <p:embed/>
                </p:oleObj>
              </mc:Choice>
              <mc:Fallback>
                <p:oleObj name="Equation" r:id="rId9" imgW="118080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1734" y="3917357"/>
                        <a:ext cx="2125663" cy="914400"/>
                      </a:xfrm>
                      <a:prstGeom prst="rect">
                        <a:avLst/>
                      </a:prstGeom>
                      <a:solidFill>
                        <a:srgbClr val="00B0F0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1556878"/>
              </p:ext>
            </p:extLst>
          </p:nvPr>
        </p:nvGraphicFramePr>
        <p:xfrm>
          <a:off x="1158875" y="5510213"/>
          <a:ext cx="2009775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605" name="Equation" r:id="rId11" imgW="1117440" imgH="393480" progId="Equation.DSMT4">
                  <p:embed/>
                </p:oleObj>
              </mc:Choice>
              <mc:Fallback>
                <p:oleObj name="Equation" r:id="rId11" imgW="111744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8875" y="5510213"/>
                        <a:ext cx="2009775" cy="708025"/>
                      </a:xfrm>
                      <a:prstGeom prst="rect">
                        <a:avLst/>
                      </a:prstGeom>
                      <a:solidFill>
                        <a:srgbClr val="00B0F0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/>
          <p:cNvSpPr/>
          <p:nvPr/>
        </p:nvSpPr>
        <p:spPr>
          <a:xfrm>
            <a:off x="422883" y="5663886"/>
            <a:ext cx="70083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 smtClean="0"/>
              <a:t>其中</a:t>
            </a:r>
            <a:endParaRPr lang="zh-CN" altLang="en-US" sz="20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9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9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2" grpId="0"/>
      <p:bldP spid="2" grpId="0"/>
      <p:bldP spid="1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5" name="Text Box 6"/>
          <p:cNvSpPr txBox="1">
            <a:spLocks noChangeArrowheads="1"/>
          </p:cNvSpPr>
          <p:nvPr/>
        </p:nvSpPr>
        <p:spPr bwMode="auto">
          <a:xfrm>
            <a:off x="628650" y="371475"/>
            <a:ext cx="670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None/>
            </a:pPr>
            <a:r>
              <a:rPr lang="zh-CN" altLang="en-US" sz="2400" dirty="0" smtClean="0">
                <a:solidFill>
                  <a:srgbClr val="990033"/>
                </a:solidFill>
              </a:rPr>
              <a:t>二、</a:t>
            </a:r>
            <a:r>
              <a:rPr lang="zh-CN" altLang="en-US" sz="2400" dirty="0">
                <a:solidFill>
                  <a:srgbClr val="990033"/>
                </a:solidFill>
              </a:rPr>
              <a:t>小信号模型</a:t>
            </a:r>
          </a:p>
        </p:txBody>
      </p:sp>
      <p:graphicFrame>
        <p:nvGraphicFramePr>
          <p:cNvPr id="6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0913934"/>
              </p:ext>
            </p:extLst>
          </p:nvPr>
        </p:nvGraphicFramePr>
        <p:xfrm>
          <a:off x="2286000" y="1755775"/>
          <a:ext cx="5870575" cy="1325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7" name="Equation" r:id="rId3" imgW="3593880" imgH="812520" progId="Equation.DSMT4">
                  <p:embed/>
                </p:oleObj>
              </mc:Choice>
              <mc:Fallback>
                <p:oleObj name="Equation" r:id="rId3" imgW="3593880" imgH="8125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755775"/>
                        <a:ext cx="5870575" cy="1325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9605075"/>
              </p:ext>
            </p:extLst>
          </p:nvPr>
        </p:nvGraphicFramePr>
        <p:xfrm>
          <a:off x="5994400" y="3541713"/>
          <a:ext cx="1865313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8" name="Equation" r:id="rId5" imgW="1155600" imgH="253800" progId="Equation.DSMT4">
                  <p:embed/>
                </p:oleObj>
              </mc:Choice>
              <mc:Fallback>
                <p:oleObj name="Equation" r:id="rId5" imgW="11556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4400" y="3541713"/>
                        <a:ext cx="1865313" cy="411162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/>
        </p:nvSpPr>
        <p:spPr>
          <a:xfrm>
            <a:off x="1557411" y="3552090"/>
            <a:ext cx="4427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/>
              <a:t>若</a:t>
            </a:r>
          </a:p>
        </p:txBody>
      </p:sp>
      <p:graphicFrame>
        <p:nvGraphicFramePr>
          <p:cNvPr id="9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1440234"/>
              </p:ext>
            </p:extLst>
          </p:nvPr>
        </p:nvGraphicFramePr>
        <p:xfrm>
          <a:off x="2322513" y="4314825"/>
          <a:ext cx="5329237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9" name="Equation" r:id="rId7" imgW="3301920" imgH="393480" progId="Equation.DSMT4">
                  <p:embed/>
                </p:oleObj>
              </mc:Choice>
              <mc:Fallback>
                <p:oleObj name="Equation" r:id="rId7" imgW="330192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2513" y="4314825"/>
                        <a:ext cx="5329237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4948407"/>
              </p:ext>
            </p:extLst>
          </p:nvPr>
        </p:nvGraphicFramePr>
        <p:xfrm>
          <a:off x="1970088" y="3435350"/>
          <a:ext cx="3424237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50" name="Equation" r:id="rId9" imgW="2120760" imgH="393480" progId="Equation.DSMT4">
                  <p:embed/>
                </p:oleObj>
              </mc:Choice>
              <mc:Fallback>
                <p:oleObj name="Equation" r:id="rId9" imgW="21207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0088" y="3435350"/>
                        <a:ext cx="3424237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/>
          <p:nvPr/>
        </p:nvSpPr>
        <p:spPr>
          <a:xfrm>
            <a:off x="5581560" y="3571890"/>
            <a:ext cx="4427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 smtClean="0"/>
              <a:t>即</a:t>
            </a:r>
            <a:endParaRPr lang="zh-CN" altLang="en-US" sz="2000" dirty="0"/>
          </a:p>
        </p:txBody>
      </p:sp>
      <p:sp>
        <p:nvSpPr>
          <p:cNvPr id="13" name="右箭头 12"/>
          <p:cNvSpPr/>
          <p:nvPr/>
        </p:nvSpPr>
        <p:spPr bwMode="auto">
          <a:xfrm>
            <a:off x="1639888" y="4517970"/>
            <a:ext cx="511175" cy="229985"/>
          </a:xfrm>
          <a:prstGeom prst="rightArrow">
            <a:avLst/>
          </a:prstGeom>
          <a:solidFill>
            <a:srgbClr val="99FF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graphicFrame>
        <p:nvGraphicFramePr>
          <p:cNvPr id="1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4564893"/>
              </p:ext>
            </p:extLst>
          </p:nvPr>
        </p:nvGraphicFramePr>
        <p:xfrm>
          <a:off x="2347986" y="1148174"/>
          <a:ext cx="1435100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51" name="Equation" r:id="rId11" imgW="888840" imgH="241200" progId="Equation.DSMT4">
                  <p:embed/>
                </p:oleObj>
              </mc:Choice>
              <mc:Fallback>
                <p:oleObj name="Equation" r:id="rId11" imgW="8888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7986" y="1148174"/>
                        <a:ext cx="1435100" cy="38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6182959"/>
              </p:ext>
            </p:extLst>
          </p:nvPr>
        </p:nvGraphicFramePr>
        <p:xfrm>
          <a:off x="5256213" y="5364163"/>
          <a:ext cx="2365375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52" name="Equation" r:id="rId13" imgW="1447560" imgH="393480" progId="Equation.DSMT4">
                  <p:embed/>
                </p:oleObj>
              </mc:Choice>
              <mc:Fallback>
                <p:oleObj name="Equation" r:id="rId13" imgW="14475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6213" y="5364163"/>
                        <a:ext cx="2365375" cy="642937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1186145"/>
              </p:ext>
            </p:extLst>
          </p:nvPr>
        </p:nvGraphicFramePr>
        <p:xfrm>
          <a:off x="2111375" y="5387975"/>
          <a:ext cx="2446338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53" name="Equation" r:id="rId15" imgW="1498320" imgH="393480" progId="Equation.DSMT4">
                  <p:embed/>
                </p:oleObj>
              </mc:Choice>
              <mc:Fallback>
                <p:oleObj name="Equation" r:id="rId15" imgW="149832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1375" y="5387975"/>
                        <a:ext cx="2446338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87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3774815"/>
              </p:ext>
            </p:extLst>
          </p:nvPr>
        </p:nvGraphicFramePr>
        <p:xfrm>
          <a:off x="2180507" y="1965325"/>
          <a:ext cx="5024437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060" name="Equation" r:id="rId3" imgW="2895480" imgH="507960" progId="Equation.DSMT4">
                  <p:embed/>
                </p:oleObj>
              </mc:Choice>
              <mc:Fallback>
                <p:oleObj name="Equation" r:id="rId3" imgW="289548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0507" y="1965325"/>
                        <a:ext cx="5024437" cy="882650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8166706"/>
              </p:ext>
            </p:extLst>
          </p:nvPr>
        </p:nvGraphicFramePr>
        <p:xfrm>
          <a:off x="3897313" y="4589463"/>
          <a:ext cx="1928812" cy="741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061" name="Equation" r:id="rId5" imgW="1155600" imgH="444240" progId="Equation.DSMT4">
                  <p:embed/>
                </p:oleObj>
              </mc:Choice>
              <mc:Fallback>
                <p:oleObj name="Equation" r:id="rId5" imgW="11556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7313" y="4589463"/>
                        <a:ext cx="1928812" cy="741362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0173015"/>
              </p:ext>
            </p:extLst>
          </p:nvPr>
        </p:nvGraphicFramePr>
        <p:xfrm>
          <a:off x="6827417" y="5632742"/>
          <a:ext cx="982553" cy="7769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062" name="Equation" r:id="rId7" imgW="545863" imgH="431613" progId="Equation.DSMT4">
                  <p:embed/>
                </p:oleObj>
              </mc:Choice>
              <mc:Fallback>
                <p:oleObj name="Equation" r:id="rId7" imgW="545863" imgH="43161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7417" y="5632742"/>
                        <a:ext cx="982553" cy="7769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1"/>
          <p:cNvSpPr>
            <a:spLocks noChangeArrowheads="1"/>
          </p:cNvSpPr>
          <p:nvPr/>
        </p:nvSpPr>
        <p:spPr bwMode="auto">
          <a:xfrm>
            <a:off x="5230468" y="5821139"/>
            <a:ext cx="147508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dirty="0"/>
              <a:t>对照三极管</a:t>
            </a:r>
          </a:p>
        </p:txBody>
      </p:sp>
      <p:graphicFrame>
        <p:nvGraphicFramePr>
          <p:cNvPr id="12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0352457"/>
              </p:ext>
            </p:extLst>
          </p:nvPr>
        </p:nvGraphicFramePr>
        <p:xfrm>
          <a:off x="5272088" y="2892425"/>
          <a:ext cx="2932112" cy="68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063" name="Equation" r:id="rId9" imgW="1688760" imgH="393480" progId="Equation.DSMT4">
                  <p:embed/>
                </p:oleObj>
              </mc:Choice>
              <mc:Fallback>
                <p:oleObj name="Equation" r:id="rId9" imgW="16887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2088" y="2892425"/>
                        <a:ext cx="2932112" cy="684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9050870"/>
              </p:ext>
            </p:extLst>
          </p:nvPr>
        </p:nvGraphicFramePr>
        <p:xfrm>
          <a:off x="3336925" y="1020763"/>
          <a:ext cx="2366963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064" name="Equation" r:id="rId11" imgW="1447560" imgH="393480" progId="Equation.DSMT4">
                  <p:embed/>
                </p:oleObj>
              </mc:Choice>
              <mc:Fallback>
                <p:oleObj name="Equation" r:id="rId11" imgW="14475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6925" y="1020763"/>
                        <a:ext cx="2366963" cy="642937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11"/>
          <p:cNvSpPr>
            <a:spLocks noChangeArrowheads="1"/>
          </p:cNvSpPr>
          <p:nvPr/>
        </p:nvSpPr>
        <p:spPr bwMode="auto">
          <a:xfrm>
            <a:off x="4573291" y="3034169"/>
            <a:ext cx="70083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dirty="0"/>
              <a:t>其中</a:t>
            </a:r>
          </a:p>
        </p:txBody>
      </p:sp>
      <p:graphicFrame>
        <p:nvGraphicFramePr>
          <p:cNvPr id="20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0706971"/>
              </p:ext>
            </p:extLst>
          </p:nvPr>
        </p:nvGraphicFramePr>
        <p:xfrm>
          <a:off x="2603500" y="3644900"/>
          <a:ext cx="2447925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065" name="Equation" r:id="rId13" imgW="1498320" imgH="393480" progId="Equation.DSMT4">
                  <p:embed/>
                </p:oleObj>
              </mc:Choice>
              <mc:Fallback>
                <p:oleObj name="Equation" r:id="rId13" imgW="149832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3500" y="3644900"/>
                        <a:ext cx="2447925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11"/>
          <p:cNvSpPr>
            <a:spLocks noChangeArrowheads="1"/>
          </p:cNvSpPr>
          <p:nvPr/>
        </p:nvSpPr>
        <p:spPr bwMode="auto">
          <a:xfrm>
            <a:off x="1830091" y="3766656"/>
            <a:ext cx="70083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dirty="0" smtClean="0"/>
              <a:t>代入</a:t>
            </a:r>
            <a:endParaRPr lang="zh-CN" altLang="en-US" sz="2000" dirty="0"/>
          </a:p>
        </p:txBody>
      </p:sp>
      <p:sp>
        <p:nvSpPr>
          <p:cNvPr id="22" name="Rectangle 11"/>
          <p:cNvSpPr>
            <a:spLocks noChangeArrowheads="1"/>
          </p:cNvSpPr>
          <p:nvPr/>
        </p:nvSpPr>
        <p:spPr bwMode="auto">
          <a:xfrm>
            <a:off x="2910682" y="4732411"/>
            <a:ext cx="95891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dirty="0" smtClean="0"/>
              <a:t>又可得</a:t>
            </a:r>
            <a:endParaRPr lang="zh-CN" altLang="en-US" sz="2000" dirty="0"/>
          </a:p>
        </p:txBody>
      </p:sp>
      <p:sp>
        <p:nvSpPr>
          <p:cNvPr id="23" name="Text Box 5"/>
          <p:cNvSpPr txBox="1">
            <a:spLocks noChangeArrowheads="1"/>
          </p:cNvSpPr>
          <p:nvPr/>
        </p:nvSpPr>
        <p:spPr bwMode="auto">
          <a:xfrm>
            <a:off x="614384" y="363987"/>
            <a:ext cx="6705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000" dirty="0" smtClean="0">
                <a:solidFill>
                  <a:schemeClr val="accent2"/>
                </a:solidFill>
              </a:rPr>
              <a:t>1</a:t>
            </a:r>
            <a:r>
              <a:rPr lang="zh-CN" altLang="en-US" sz="2000" dirty="0">
                <a:solidFill>
                  <a:schemeClr val="accent2"/>
                </a:solidFill>
              </a:rPr>
              <a:t>、</a:t>
            </a:r>
            <a:r>
              <a:rPr lang="zh-CN" altLang="en-US" sz="2000" dirty="0">
                <a:solidFill>
                  <a:schemeClr val="accent2"/>
                </a:solidFill>
                <a:latin typeface="Symbol" panose="05050102010706020507" pitchFamily="18" charset="2"/>
              </a:rPr>
              <a:t></a:t>
            </a:r>
            <a:r>
              <a:rPr lang="zh-CN" altLang="en-US" sz="2000" dirty="0">
                <a:solidFill>
                  <a:schemeClr val="accent2"/>
                </a:solidFill>
              </a:rPr>
              <a:t>型等效电路</a:t>
            </a:r>
          </a:p>
        </p:txBody>
      </p:sp>
    </p:spTree>
    <p:extLst>
      <p:ext uri="{BB962C8B-B14F-4D97-AF65-F5344CB8AC3E}">
        <p14:creationId xmlns:p14="http://schemas.microsoft.com/office/powerpoint/2010/main" val="17638185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6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9" grpId="0"/>
      <p:bldP spid="21" grpId="0"/>
      <p:bldP spid="2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0258797"/>
              </p:ext>
            </p:extLst>
          </p:nvPr>
        </p:nvGraphicFramePr>
        <p:xfrm>
          <a:off x="419100" y="488950"/>
          <a:ext cx="4862513" cy="571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26" name="Visio" r:id="rId3" imgW="4795473" imgH="5637732" progId="Visio.Drawing.11">
                  <p:embed/>
                </p:oleObj>
              </mc:Choice>
              <mc:Fallback>
                <p:oleObj name="Visio" r:id="rId3" imgW="4795473" imgH="5637732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" y="488950"/>
                        <a:ext cx="4862513" cy="571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1"/>
          <p:cNvSpPr>
            <a:spLocks noChangeArrowheads="1"/>
          </p:cNvSpPr>
          <p:nvPr/>
        </p:nvSpPr>
        <p:spPr bwMode="auto">
          <a:xfrm>
            <a:off x="5641229" y="2587071"/>
            <a:ext cx="3121771" cy="3016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000" dirty="0" smtClean="0"/>
              <a:t>       是转移特性曲线的斜率，因此：</a:t>
            </a:r>
            <a:endParaRPr lang="en-US" altLang="zh-CN" sz="2000" dirty="0" smtClean="0"/>
          </a:p>
          <a:p>
            <a:pPr eaLnBrk="1" hangingPunct="1">
              <a:lnSpc>
                <a:spcPct val="250000"/>
              </a:lnSpc>
              <a:spcBef>
                <a:spcPct val="0"/>
              </a:spcBef>
              <a:buFontTx/>
              <a:buNone/>
            </a:pPr>
            <a:r>
              <a:rPr lang="zh-CN" altLang="en-US" sz="2000" dirty="0" smtClean="0"/>
              <a:t>对于</a:t>
            </a:r>
            <a:r>
              <a:rPr lang="en-US" altLang="zh-CN" sz="2000" dirty="0" smtClean="0"/>
              <a:t>NMOS</a:t>
            </a:r>
            <a:r>
              <a:rPr lang="zh-CN" altLang="en-US" sz="2000" dirty="0" smtClean="0"/>
              <a:t>管，</a:t>
            </a:r>
            <a:endParaRPr lang="en-US" altLang="zh-CN" sz="2000" dirty="0" smtClean="0"/>
          </a:p>
          <a:p>
            <a:pPr eaLnBrk="1" hangingPunct="1">
              <a:lnSpc>
                <a:spcPct val="250000"/>
              </a:lnSpc>
              <a:spcBef>
                <a:spcPct val="0"/>
              </a:spcBef>
              <a:buNone/>
            </a:pPr>
            <a:r>
              <a:rPr lang="zh-CN" altLang="en-US" sz="2000" dirty="0" smtClean="0"/>
              <a:t>对于</a:t>
            </a:r>
            <a:r>
              <a:rPr lang="en-US" altLang="zh-CN" sz="2000" dirty="0" smtClean="0"/>
              <a:t>PMOS</a:t>
            </a:r>
            <a:r>
              <a:rPr lang="zh-CN" altLang="en-US" sz="2000" dirty="0"/>
              <a:t>管，</a:t>
            </a:r>
            <a:endParaRPr lang="en-US" altLang="zh-CN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zh-CN" altLang="en-US" sz="2000" dirty="0"/>
          </a:p>
        </p:txBody>
      </p:sp>
      <p:graphicFrame>
        <p:nvGraphicFramePr>
          <p:cNvPr id="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1379561"/>
              </p:ext>
            </p:extLst>
          </p:nvPr>
        </p:nvGraphicFramePr>
        <p:xfrm>
          <a:off x="5753941" y="2690619"/>
          <a:ext cx="366712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27" name="Equation" r:id="rId5" imgW="203040" imgH="228600" progId="Equation.DSMT4">
                  <p:embed/>
                </p:oleObj>
              </mc:Choice>
              <mc:Fallback>
                <p:oleObj name="Equation" r:id="rId5" imgW="203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3941" y="2690619"/>
                        <a:ext cx="366712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9462884"/>
              </p:ext>
            </p:extLst>
          </p:nvPr>
        </p:nvGraphicFramePr>
        <p:xfrm>
          <a:off x="7537450" y="3800079"/>
          <a:ext cx="803275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28" name="Equation" r:id="rId7" imgW="444240" imgH="228600" progId="Equation.DSMT4">
                  <p:embed/>
                </p:oleObj>
              </mc:Choice>
              <mc:Fallback>
                <p:oleObj name="Equation" r:id="rId7" imgW="4442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37450" y="3800079"/>
                        <a:ext cx="803275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2348912"/>
              </p:ext>
            </p:extLst>
          </p:nvPr>
        </p:nvGraphicFramePr>
        <p:xfrm>
          <a:off x="7527925" y="4571505"/>
          <a:ext cx="803275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29" name="Equation" r:id="rId9" imgW="444240" imgH="228600" progId="Equation.DSMT4">
                  <p:embed/>
                </p:oleObj>
              </mc:Choice>
              <mc:Fallback>
                <p:oleObj name="Equation" r:id="rId9" imgW="4442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7925" y="4571505"/>
                        <a:ext cx="803275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6730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6680032"/>
              </p:ext>
            </p:extLst>
          </p:nvPr>
        </p:nvGraphicFramePr>
        <p:xfrm>
          <a:off x="2392363" y="582613"/>
          <a:ext cx="3154362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7" name="Equation" r:id="rId3" imgW="1930320" imgH="393480" progId="Equation.DSMT4">
                  <p:embed/>
                </p:oleObj>
              </mc:Choice>
              <mc:Fallback>
                <p:oleObj name="Equation" r:id="rId3" imgW="193032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2363" y="582613"/>
                        <a:ext cx="3154362" cy="642937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075" y="1619250"/>
            <a:ext cx="3886200" cy="21717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" y="4614862"/>
            <a:ext cx="3838575" cy="1895475"/>
          </a:xfrm>
          <a:prstGeom prst="rect">
            <a:avLst/>
          </a:prstGeom>
        </p:spPr>
      </p:pic>
      <p:sp>
        <p:nvSpPr>
          <p:cNvPr id="10" name="Rectangle 11"/>
          <p:cNvSpPr>
            <a:spLocks noChangeArrowheads="1"/>
          </p:cNvSpPr>
          <p:nvPr/>
        </p:nvSpPr>
        <p:spPr bwMode="auto">
          <a:xfrm>
            <a:off x="229843" y="3984595"/>
            <a:ext cx="276550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dirty="0" smtClean="0"/>
              <a:t>考虑沟道长度调制效应</a:t>
            </a:r>
            <a:endParaRPr lang="zh-CN" altLang="en-US" sz="20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67300" y="1700212"/>
            <a:ext cx="3619500" cy="2009775"/>
          </a:xfrm>
          <a:prstGeom prst="rect">
            <a:avLst/>
          </a:prstGeom>
        </p:spPr>
      </p:pic>
      <p:sp>
        <p:nvSpPr>
          <p:cNvPr id="13" name="Rectangle 11"/>
          <p:cNvSpPr>
            <a:spLocks noChangeArrowheads="1"/>
          </p:cNvSpPr>
          <p:nvPr/>
        </p:nvSpPr>
        <p:spPr bwMode="auto">
          <a:xfrm>
            <a:off x="5220942" y="3984595"/>
            <a:ext cx="190375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zh-CN" altLang="en-US" sz="2000" dirty="0"/>
              <a:t>考虑厄</a:t>
            </a:r>
            <a:r>
              <a:rPr lang="zh-CN" altLang="en-US" sz="2000" dirty="0" smtClean="0"/>
              <a:t>利效应</a:t>
            </a:r>
            <a:endParaRPr lang="zh-CN" altLang="en-US" sz="20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4659313"/>
            <a:ext cx="3657600" cy="1781175"/>
          </a:xfrm>
          <a:prstGeom prst="rect">
            <a:avLst/>
          </a:prstGeom>
        </p:spPr>
      </p:pic>
      <p:sp>
        <p:nvSpPr>
          <p:cNvPr id="15" name="Rectangle 11"/>
          <p:cNvSpPr>
            <a:spLocks noChangeArrowheads="1"/>
          </p:cNvSpPr>
          <p:nvPr/>
        </p:nvSpPr>
        <p:spPr bwMode="auto">
          <a:xfrm>
            <a:off x="6376241" y="1343803"/>
            <a:ext cx="70083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dirty="0" smtClean="0"/>
              <a:t>对比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45677096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74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088429"/>
              </p:ext>
            </p:extLst>
          </p:nvPr>
        </p:nvGraphicFramePr>
        <p:xfrm>
          <a:off x="4275138" y="447675"/>
          <a:ext cx="158750" cy="30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60" name="Equation" r:id="rId3" imgW="114151" imgH="215619" progId="Equation.3">
                  <p:embed/>
                </p:oleObj>
              </mc:Choice>
              <mc:Fallback>
                <p:oleObj name="Equation" r:id="rId3" imgW="114151" imgH="215619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5138" y="447675"/>
                        <a:ext cx="158750" cy="300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8" name="Object 15"/>
          <p:cNvGraphicFramePr>
            <a:graphicFrameLocks noGrp="1" noChangeAspect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94769595"/>
              </p:ext>
            </p:extLst>
          </p:nvPr>
        </p:nvGraphicFramePr>
        <p:xfrm>
          <a:off x="660400" y="1270927"/>
          <a:ext cx="2964633" cy="22714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61" name="Visio" r:id="rId5" imgW="3294037" imgH="2523829" progId="Visio.Drawing.11">
                  <p:embed/>
                </p:oleObj>
              </mc:Choice>
              <mc:Fallback>
                <p:oleObj name="Visio" r:id="rId5" imgW="3294037" imgH="2523829" progId="Visio.Drawing.11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400" y="1270927"/>
                        <a:ext cx="2964633" cy="22714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9" name="Object 17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40937647"/>
              </p:ext>
            </p:extLst>
          </p:nvPr>
        </p:nvGraphicFramePr>
        <p:xfrm>
          <a:off x="5060950" y="942975"/>
          <a:ext cx="2751642" cy="24334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62" name="Visio" r:id="rId7" imgW="3057380" imgH="2703851" progId="Visio.Drawing.11">
                  <p:embed/>
                </p:oleObj>
              </mc:Choice>
              <mc:Fallback>
                <p:oleObj name="Visio" r:id="rId7" imgW="3057380" imgH="2703851" progId="Visio.Drawing.11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0950" y="942975"/>
                        <a:ext cx="2751642" cy="24334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0" name="Object 23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2122727275"/>
              </p:ext>
            </p:extLst>
          </p:nvPr>
        </p:nvGraphicFramePr>
        <p:xfrm>
          <a:off x="5332414" y="4079168"/>
          <a:ext cx="2964633" cy="24334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63" name="Visio" r:id="rId9" imgW="3294037" imgH="2703851" progId="Visio.Drawing.11">
                  <p:embed/>
                </p:oleObj>
              </mc:Choice>
              <mc:Fallback>
                <p:oleObj name="Visio" r:id="rId9" imgW="3294037" imgH="2703851" progId="Visio.Drawing.11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2414" y="4079168"/>
                        <a:ext cx="2964633" cy="24334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1" name="Object 26"/>
          <p:cNvGraphicFramePr>
            <a:graphicFrameLocks noGrp="1" noChangeAspect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2501285069"/>
              </p:ext>
            </p:extLst>
          </p:nvPr>
        </p:nvGraphicFramePr>
        <p:xfrm>
          <a:off x="1055688" y="3716379"/>
          <a:ext cx="2146912" cy="27526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64" name="Visio" r:id="rId11" imgW="2385458" imgH="3058490" progId="Visio.Drawing.11">
                  <p:embed/>
                </p:oleObj>
              </mc:Choice>
              <mc:Fallback>
                <p:oleObj name="Visio" r:id="rId11" imgW="2385458" imgH="3058490" progId="Visio.Drawing.11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5688" y="3716379"/>
                        <a:ext cx="2146912" cy="27526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3" name="AutoShape 31"/>
          <p:cNvSpPr>
            <a:spLocks noChangeArrowheads="1"/>
          </p:cNvSpPr>
          <p:nvPr/>
        </p:nvSpPr>
        <p:spPr bwMode="auto">
          <a:xfrm>
            <a:off x="4081463" y="2406650"/>
            <a:ext cx="579437" cy="203200"/>
          </a:xfrm>
          <a:prstGeom prst="rightArrow">
            <a:avLst>
              <a:gd name="adj1" fmla="val 50000"/>
              <a:gd name="adj2" fmla="val 71289"/>
            </a:avLst>
          </a:prstGeom>
          <a:solidFill>
            <a:srgbClr val="99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000"/>
          </a:p>
        </p:txBody>
      </p:sp>
      <p:sp>
        <p:nvSpPr>
          <p:cNvPr id="31754" name="AutoShape 32"/>
          <p:cNvSpPr>
            <a:spLocks noChangeArrowheads="1"/>
          </p:cNvSpPr>
          <p:nvPr/>
        </p:nvSpPr>
        <p:spPr bwMode="auto">
          <a:xfrm rot="5400000">
            <a:off x="6722269" y="3493294"/>
            <a:ext cx="579438" cy="203200"/>
          </a:xfrm>
          <a:prstGeom prst="rightArrow">
            <a:avLst>
              <a:gd name="adj1" fmla="val 50000"/>
              <a:gd name="adj2" fmla="val 71289"/>
            </a:avLst>
          </a:prstGeom>
          <a:solidFill>
            <a:srgbClr val="99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000"/>
          </a:p>
        </p:txBody>
      </p:sp>
      <p:sp>
        <p:nvSpPr>
          <p:cNvPr id="31755" name="AutoShape 33"/>
          <p:cNvSpPr>
            <a:spLocks noChangeArrowheads="1"/>
          </p:cNvSpPr>
          <p:nvPr/>
        </p:nvSpPr>
        <p:spPr bwMode="auto">
          <a:xfrm rot="10800000">
            <a:off x="4224337" y="5076825"/>
            <a:ext cx="579438" cy="203200"/>
          </a:xfrm>
          <a:prstGeom prst="rightArrow">
            <a:avLst>
              <a:gd name="adj1" fmla="val 50000"/>
              <a:gd name="adj2" fmla="val 71289"/>
            </a:avLst>
          </a:prstGeom>
          <a:solidFill>
            <a:srgbClr val="99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000"/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884238" y="303213"/>
            <a:ext cx="6705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000" dirty="0" smtClean="0">
                <a:solidFill>
                  <a:schemeClr val="accent2"/>
                </a:solidFill>
              </a:rPr>
              <a:t>2</a:t>
            </a:r>
            <a:r>
              <a:rPr lang="zh-CN" altLang="en-US" sz="2000" dirty="0" smtClean="0">
                <a:solidFill>
                  <a:schemeClr val="accent2"/>
                </a:solidFill>
              </a:rPr>
              <a:t>、</a:t>
            </a:r>
            <a:r>
              <a:rPr lang="en-US" altLang="zh-CN" sz="2000" dirty="0" smtClean="0">
                <a:solidFill>
                  <a:schemeClr val="accent2"/>
                </a:solidFill>
              </a:rPr>
              <a:t>T</a:t>
            </a:r>
            <a:r>
              <a:rPr lang="zh-CN" altLang="en-US" sz="2000" dirty="0" smtClean="0">
                <a:solidFill>
                  <a:schemeClr val="accent2"/>
                </a:solidFill>
              </a:rPr>
              <a:t>型</a:t>
            </a:r>
            <a:r>
              <a:rPr lang="zh-CN" altLang="en-US" sz="2000" dirty="0">
                <a:solidFill>
                  <a:schemeClr val="accent2"/>
                </a:solidFill>
              </a:rPr>
              <a:t>等效电路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1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1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1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31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53" grpId="0" animBg="1"/>
      <p:bldP spid="31754" grpId="0" animBg="1"/>
      <p:bldP spid="3175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770" name="Object 2"/>
          <p:cNvGraphicFramePr>
            <a:graphicFrameLocks noChangeAspect="1"/>
          </p:cNvGraphicFramePr>
          <p:nvPr/>
        </p:nvGraphicFramePr>
        <p:xfrm>
          <a:off x="4275138" y="0"/>
          <a:ext cx="158750" cy="30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20" name="Equation" r:id="rId3" imgW="114151" imgH="215619" progId="Equation.3">
                  <p:embed/>
                </p:oleObj>
              </mc:Choice>
              <mc:Fallback>
                <p:oleObj name="Equation" r:id="rId3" imgW="114151" imgH="215619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5138" y="0"/>
                        <a:ext cx="158750" cy="300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1" name="Rectangle 3"/>
          <p:cNvSpPr>
            <a:spLocks noChangeArrowheads="1"/>
          </p:cNvSpPr>
          <p:nvPr/>
        </p:nvSpPr>
        <p:spPr bwMode="auto">
          <a:xfrm>
            <a:off x="904875" y="646083"/>
            <a:ext cx="432117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dirty="0">
                <a:solidFill>
                  <a:schemeClr val="accent2"/>
                </a:solidFill>
                <a:ea typeface="宋体" pitchFamily="2" charset="-122"/>
                <a:sym typeface="Symbol" pitchFamily="18" charset="2"/>
              </a:rPr>
              <a:t>考虑输出电阻的</a:t>
            </a:r>
            <a:r>
              <a:rPr lang="en-US" altLang="zh-CN" sz="2000" dirty="0">
                <a:solidFill>
                  <a:schemeClr val="accent2"/>
                </a:solidFill>
                <a:ea typeface="宋体" pitchFamily="2" charset="-122"/>
                <a:sym typeface="Symbol" pitchFamily="18" charset="2"/>
              </a:rPr>
              <a:t>T</a:t>
            </a:r>
            <a:r>
              <a:rPr lang="zh-CN" altLang="en-US" sz="2000" dirty="0">
                <a:solidFill>
                  <a:schemeClr val="accent2"/>
                </a:solidFill>
                <a:ea typeface="宋体" pitchFamily="2" charset="-122"/>
              </a:rPr>
              <a:t>型等效电路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2425" y="1852612"/>
            <a:ext cx="2924175" cy="273367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"/>
          <p:cNvSpPr>
            <a:spLocks noChangeArrowheads="1"/>
          </p:cNvSpPr>
          <p:nvPr/>
        </p:nvSpPr>
        <p:spPr bwMode="auto">
          <a:xfrm>
            <a:off x="341313" y="452438"/>
            <a:ext cx="7515225" cy="519112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800" dirty="0" smtClean="0">
                <a:solidFill>
                  <a:schemeClr val="tx2"/>
                </a:solidFill>
              </a:rPr>
              <a:t>8.2 </a:t>
            </a:r>
            <a:r>
              <a:rPr lang="zh-CN" altLang="en-US" sz="2800" dirty="0" smtClean="0">
                <a:solidFill>
                  <a:schemeClr val="tx2"/>
                </a:solidFill>
              </a:rPr>
              <a:t>场效应晶体管</a:t>
            </a:r>
            <a:r>
              <a:rPr lang="zh-CN" altLang="en-US" sz="2800" dirty="0">
                <a:solidFill>
                  <a:schemeClr val="tx2"/>
                </a:solidFill>
              </a:rPr>
              <a:t>放大电路的构成及其分析</a:t>
            </a:r>
          </a:p>
        </p:txBody>
      </p:sp>
      <p:sp>
        <p:nvSpPr>
          <p:cNvPr id="33795" name="Text Box 4"/>
          <p:cNvSpPr txBox="1">
            <a:spLocks noChangeArrowheads="1"/>
          </p:cNvSpPr>
          <p:nvPr/>
        </p:nvSpPr>
        <p:spPr bwMode="auto">
          <a:xfrm>
            <a:off x="623888" y="1141413"/>
            <a:ext cx="6553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 smtClean="0">
                <a:solidFill>
                  <a:srgbClr val="990033"/>
                </a:solidFill>
              </a:rPr>
              <a:t>8.2.1 </a:t>
            </a:r>
            <a:r>
              <a:rPr lang="zh-CN" altLang="en-US" sz="2400" dirty="0" smtClean="0">
                <a:solidFill>
                  <a:srgbClr val="990033"/>
                </a:solidFill>
              </a:rPr>
              <a:t>直流</a:t>
            </a:r>
            <a:r>
              <a:rPr lang="zh-CN" altLang="en-US" sz="2400" dirty="0">
                <a:solidFill>
                  <a:srgbClr val="990033"/>
                </a:solidFill>
              </a:rPr>
              <a:t>偏置</a:t>
            </a:r>
            <a:r>
              <a:rPr lang="zh-CN" altLang="en-US" sz="2400" dirty="0" smtClean="0">
                <a:solidFill>
                  <a:srgbClr val="990033"/>
                </a:solidFill>
              </a:rPr>
              <a:t>电路</a:t>
            </a:r>
            <a:r>
              <a:rPr lang="zh-CN" altLang="zh-CN" sz="2400" dirty="0">
                <a:solidFill>
                  <a:srgbClr val="990033"/>
                </a:solidFill>
              </a:rPr>
              <a:t>及其分析</a:t>
            </a:r>
            <a:endParaRPr lang="zh-CN" altLang="en-US" sz="2400" dirty="0">
              <a:solidFill>
                <a:srgbClr val="990033"/>
              </a:solidFill>
            </a:endParaRPr>
          </a:p>
        </p:txBody>
      </p:sp>
      <p:sp>
        <p:nvSpPr>
          <p:cNvPr id="33797" name="Rectangle 6"/>
          <p:cNvSpPr>
            <a:spLocks noChangeArrowheads="1"/>
          </p:cNvSpPr>
          <p:nvPr/>
        </p:nvSpPr>
        <p:spPr bwMode="auto">
          <a:xfrm>
            <a:off x="2397125" y="5943570"/>
            <a:ext cx="95891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dirty="0"/>
              <a:t>单电源</a:t>
            </a:r>
          </a:p>
        </p:txBody>
      </p:sp>
      <p:sp>
        <p:nvSpPr>
          <p:cNvPr id="33798" name="Text Box 7"/>
          <p:cNvSpPr txBox="1">
            <a:spLocks noChangeArrowheads="1"/>
          </p:cNvSpPr>
          <p:nvPr/>
        </p:nvSpPr>
        <p:spPr bwMode="auto">
          <a:xfrm>
            <a:off x="946150" y="1725613"/>
            <a:ext cx="670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 smtClean="0">
                <a:solidFill>
                  <a:srgbClr val="990033"/>
                </a:solidFill>
              </a:rPr>
              <a:t>一、</a:t>
            </a:r>
            <a:r>
              <a:rPr lang="zh-CN" altLang="en-US" sz="2400" dirty="0">
                <a:solidFill>
                  <a:srgbClr val="990033"/>
                </a:solidFill>
              </a:rPr>
              <a:t>自给偏置电路</a:t>
            </a:r>
          </a:p>
        </p:txBody>
      </p:sp>
      <p:pic>
        <p:nvPicPr>
          <p:cNvPr id="33799" name="图片 118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6738" y="2376489"/>
            <a:ext cx="1934511" cy="3488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800" name="图片 119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5125" y="2247900"/>
            <a:ext cx="1837786" cy="343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801" name="Rectangle 10"/>
          <p:cNvSpPr>
            <a:spLocks noChangeArrowheads="1"/>
          </p:cNvSpPr>
          <p:nvPr/>
        </p:nvSpPr>
        <p:spPr bwMode="auto">
          <a:xfrm>
            <a:off x="5884559" y="5943570"/>
            <a:ext cx="95891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dirty="0"/>
              <a:t>双电源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3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3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3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33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/>
      <p:bldP spid="33797" grpId="0"/>
      <p:bldP spid="33798" grpId="0"/>
      <p:bldP spid="3380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6"/>
          <p:cNvSpPr txBox="1">
            <a:spLocks noChangeArrowheads="1"/>
          </p:cNvSpPr>
          <p:nvPr/>
        </p:nvSpPr>
        <p:spPr bwMode="auto">
          <a:xfrm>
            <a:off x="801688" y="777875"/>
            <a:ext cx="670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>
                <a:solidFill>
                  <a:srgbClr val="990033"/>
                </a:solidFill>
              </a:rPr>
              <a:t>二</a:t>
            </a:r>
            <a:r>
              <a:rPr lang="zh-CN" altLang="en-US" sz="2400" dirty="0" smtClean="0">
                <a:solidFill>
                  <a:srgbClr val="990033"/>
                </a:solidFill>
              </a:rPr>
              <a:t>、</a:t>
            </a:r>
            <a:r>
              <a:rPr lang="zh-CN" altLang="en-US" sz="2400" dirty="0">
                <a:solidFill>
                  <a:srgbClr val="990033"/>
                </a:solidFill>
              </a:rPr>
              <a:t>栅源间接反馈电阻的偏置电路</a:t>
            </a:r>
          </a:p>
        </p:txBody>
      </p:sp>
      <p:graphicFrame>
        <p:nvGraphicFramePr>
          <p:cNvPr id="34819" name="Object 17"/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val="533747346"/>
              </p:ext>
            </p:extLst>
          </p:nvPr>
        </p:nvGraphicFramePr>
        <p:xfrm>
          <a:off x="2060575" y="1871663"/>
          <a:ext cx="2420938" cy="2749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27" name="Visio" r:id="rId3" imgW="2631960" imgH="2989800" progId="Visio.Drawing.11">
                  <p:embed/>
                </p:oleObj>
              </mc:Choice>
              <mc:Fallback>
                <p:oleObj name="Visio" r:id="rId3" imgW="2631960" imgH="2989800" progId="Visio.Drawing.11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0575" y="1871663"/>
                        <a:ext cx="2420938" cy="2749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0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9501532"/>
              </p:ext>
            </p:extLst>
          </p:nvPr>
        </p:nvGraphicFramePr>
        <p:xfrm>
          <a:off x="5318125" y="3259138"/>
          <a:ext cx="1920240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28" name="Equation" r:id="rId5" imgW="1066800" imgH="228600" progId="Equation.DSMT4">
                  <p:embed/>
                </p:oleObj>
              </mc:Choice>
              <mc:Fallback>
                <p:oleObj name="Equation" r:id="rId5" imgW="1066800" imgH="2286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8125" y="3259138"/>
                        <a:ext cx="1920240" cy="4114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4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4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2"/>
          <p:cNvSpPr txBox="1">
            <a:spLocks noChangeArrowheads="1"/>
          </p:cNvSpPr>
          <p:nvPr/>
        </p:nvSpPr>
        <p:spPr bwMode="auto">
          <a:xfrm>
            <a:off x="801688" y="536575"/>
            <a:ext cx="670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 smtClean="0">
                <a:solidFill>
                  <a:srgbClr val="990033"/>
                </a:solidFill>
              </a:rPr>
              <a:t>三、</a:t>
            </a:r>
            <a:r>
              <a:rPr lang="zh-CN" altLang="en-US" sz="2400" dirty="0">
                <a:solidFill>
                  <a:srgbClr val="990033"/>
                </a:solidFill>
              </a:rPr>
              <a:t>恒流源偏置电路</a:t>
            </a:r>
          </a:p>
        </p:txBody>
      </p:sp>
      <p:graphicFrame>
        <p:nvGraphicFramePr>
          <p:cNvPr id="3584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7179513"/>
              </p:ext>
            </p:extLst>
          </p:nvPr>
        </p:nvGraphicFramePr>
        <p:xfrm>
          <a:off x="4552051" y="161262"/>
          <a:ext cx="4041775" cy="528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37" name="Visio" r:id="rId3" imgW="3719023" imgH="4857480" progId="Visio.Drawing.11">
                  <p:embed/>
                </p:oleObj>
              </mc:Choice>
              <mc:Fallback>
                <p:oleObj name="Visio" r:id="rId3" imgW="3719023" imgH="4857480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2051" y="161262"/>
                        <a:ext cx="4041775" cy="5280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0018529"/>
              </p:ext>
            </p:extLst>
          </p:nvPr>
        </p:nvGraphicFramePr>
        <p:xfrm>
          <a:off x="2898950" y="5779826"/>
          <a:ext cx="272034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38" name="Equation" r:id="rId5" imgW="1511300" imgH="393700" progId="Equation.DSMT4">
                  <p:embed/>
                </p:oleObj>
              </mc:Choice>
              <mc:Fallback>
                <p:oleObj name="Equation" r:id="rId5" imgW="1511300" imgH="3937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8950" y="5779826"/>
                        <a:ext cx="2720340" cy="7086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4203771"/>
              </p:ext>
            </p:extLst>
          </p:nvPr>
        </p:nvGraphicFramePr>
        <p:xfrm>
          <a:off x="6162082" y="5822169"/>
          <a:ext cx="2444750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39" name="Equation" r:id="rId7" imgW="1358640" imgH="393480" progId="Equation.DSMT4">
                  <p:embed/>
                </p:oleObj>
              </mc:Choice>
              <mc:Fallback>
                <p:oleObj name="Equation" r:id="rId7" imgW="1358640" imgH="39348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2082" y="5822169"/>
                        <a:ext cx="2444750" cy="70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0662856"/>
              </p:ext>
            </p:extLst>
          </p:nvPr>
        </p:nvGraphicFramePr>
        <p:xfrm>
          <a:off x="531813" y="1373188"/>
          <a:ext cx="2238375" cy="433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40" name="Visio" r:id="rId9" imgW="2238285" imgH="4329923" progId="Visio.Drawing.11">
                  <p:embed/>
                </p:oleObj>
              </mc:Choice>
              <mc:Fallback>
                <p:oleObj name="Visio" r:id="rId9" imgW="2238285" imgH="4329923" progId="Visio.Drawing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31813" y="1373188"/>
                        <a:ext cx="2238375" cy="433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组合 17"/>
          <p:cNvGrpSpPr/>
          <p:nvPr/>
        </p:nvGrpSpPr>
        <p:grpSpPr>
          <a:xfrm>
            <a:off x="4359730" y="1373188"/>
            <a:ext cx="3024134" cy="4019397"/>
            <a:chOff x="4359730" y="1373188"/>
            <a:chExt cx="3024134" cy="4019397"/>
          </a:xfrm>
        </p:grpSpPr>
        <p:cxnSp>
          <p:nvCxnSpPr>
            <p:cNvPr id="4" name="直接连接符 3"/>
            <p:cNvCxnSpPr/>
            <p:nvPr/>
          </p:nvCxnSpPr>
          <p:spPr bwMode="auto">
            <a:xfrm>
              <a:off x="4359730" y="1373188"/>
              <a:ext cx="42952" cy="4019397"/>
            </a:xfrm>
            <a:prstGeom prst="line">
              <a:avLst/>
            </a:prstGeom>
            <a:solidFill>
              <a:srgbClr val="99FF99"/>
            </a:solidFill>
            <a:ln w="1905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" name="直接连接符 8"/>
            <p:cNvCxnSpPr/>
            <p:nvPr/>
          </p:nvCxnSpPr>
          <p:spPr bwMode="auto">
            <a:xfrm>
              <a:off x="7383864" y="3214688"/>
              <a:ext cx="0" cy="2132012"/>
            </a:xfrm>
            <a:prstGeom prst="line">
              <a:avLst/>
            </a:prstGeom>
            <a:solidFill>
              <a:srgbClr val="99FF99"/>
            </a:solidFill>
            <a:ln w="1905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" name="直接连接符 10"/>
            <p:cNvCxnSpPr/>
            <p:nvPr/>
          </p:nvCxnSpPr>
          <p:spPr bwMode="auto">
            <a:xfrm flipH="1">
              <a:off x="4381206" y="5392585"/>
              <a:ext cx="3002658" cy="0"/>
            </a:xfrm>
            <a:prstGeom prst="line">
              <a:avLst/>
            </a:prstGeom>
            <a:solidFill>
              <a:srgbClr val="99FF99"/>
            </a:solidFill>
            <a:ln w="1905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" name="直接连接符 15"/>
            <p:cNvCxnSpPr/>
            <p:nvPr/>
          </p:nvCxnSpPr>
          <p:spPr bwMode="auto">
            <a:xfrm flipH="1">
              <a:off x="4359730" y="1373188"/>
              <a:ext cx="1698170" cy="0"/>
            </a:xfrm>
            <a:prstGeom prst="line">
              <a:avLst/>
            </a:prstGeom>
            <a:solidFill>
              <a:srgbClr val="99FF99"/>
            </a:solidFill>
            <a:ln w="1905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" name="直接连接符 18"/>
            <p:cNvCxnSpPr/>
            <p:nvPr/>
          </p:nvCxnSpPr>
          <p:spPr bwMode="auto">
            <a:xfrm>
              <a:off x="6076192" y="1377102"/>
              <a:ext cx="42952" cy="1848698"/>
            </a:xfrm>
            <a:prstGeom prst="line">
              <a:avLst/>
            </a:prstGeom>
            <a:solidFill>
              <a:srgbClr val="99FF99"/>
            </a:solidFill>
            <a:ln w="1905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" name="直接连接符 20"/>
            <p:cNvCxnSpPr/>
            <p:nvPr/>
          </p:nvCxnSpPr>
          <p:spPr bwMode="auto">
            <a:xfrm flipH="1">
              <a:off x="6119144" y="3214688"/>
              <a:ext cx="1264720" cy="0"/>
            </a:xfrm>
            <a:prstGeom prst="line">
              <a:avLst/>
            </a:prstGeom>
            <a:solidFill>
              <a:srgbClr val="99FF99"/>
            </a:solidFill>
            <a:ln w="1905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0" name="矩形 19"/>
          <p:cNvSpPr/>
          <p:nvPr/>
        </p:nvSpPr>
        <p:spPr>
          <a:xfrm>
            <a:off x="3760187" y="2801274"/>
            <a:ext cx="47812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2"/>
                </a:solidFill>
                <a:ea typeface="宋体" pitchFamily="2" charset="-122"/>
              </a:rPr>
              <a:t>镜像电流源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Text Box 3"/>
          <p:cNvSpPr txBox="1">
            <a:spLocks noChangeArrowheads="1"/>
          </p:cNvSpPr>
          <p:nvPr/>
        </p:nvSpPr>
        <p:spPr bwMode="auto">
          <a:xfrm>
            <a:off x="946150" y="930276"/>
            <a:ext cx="65532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None/>
            </a:pPr>
            <a:r>
              <a:rPr lang="zh-CN" altLang="en-US" sz="2400" dirty="0" smtClean="0">
                <a:solidFill>
                  <a:srgbClr val="990033"/>
                </a:solidFill>
              </a:rPr>
              <a:t>一、</a:t>
            </a:r>
            <a:r>
              <a:rPr lang="zh-CN" altLang="en-US" sz="2400" dirty="0" smtClean="0">
                <a:solidFill>
                  <a:srgbClr val="A50021"/>
                </a:solidFill>
              </a:rPr>
              <a:t>三</a:t>
            </a:r>
            <a:r>
              <a:rPr lang="zh-CN" altLang="en-US" sz="2400" dirty="0">
                <a:solidFill>
                  <a:srgbClr val="A50021"/>
                </a:solidFill>
              </a:rPr>
              <a:t>种接法</a:t>
            </a:r>
            <a:endParaRPr lang="zh-CN" altLang="en-US" sz="2400" dirty="0">
              <a:solidFill>
                <a:srgbClr val="990033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2400" dirty="0">
              <a:solidFill>
                <a:srgbClr val="A50021"/>
              </a:solidFill>
            </a:endParaRPr>
          </a:p>
        </p:txBody>
      </p:sp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614363" y="331788"/>
            <a:ext cx="655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 smtClean="0">
                <a:solidFill>
                  <a:srgbClr val="990033"/>
                </a:solidFill>
              </a:rPr>
              <a:t>8.2.2 </a:t>
            </a:r>
            <a:r>
              <a:rPr lang="zh-CN" altLang="en-US" sz="2400" dirty="0">
                <a:solidFill>
                  <a:srgbClr val="990033"/>
                </a:solidFill>
              </a:rPr>
              <a:t>三种接法放大电路的分析计算</a:t>
            </a:r>
            <a:endParaRPr lang="zh-CN" altLang="en-US" sz="2400" dirty="0">
              <a:solidFill>
                <a:srgbClr val="A50021"/>
              </a:solidFill>
            </a:endParaRPr>
          </a:p>
        </p:txBody>
      </p:sp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1219200" y="1597025"/>
            <a:ext cx="670560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000" dirty="0">
                <a:solidFill>
                  <a:schemeClr val="accent2"/>
                </a:solidFill>
              </a:rPr>
              <a:t>1</a:t>
            </a:r>
            <a:r>
              <a:rPr lang="zh-CN" altLang="en-US" sz="2000" dirty="0">
                <a:solidFill>
                  <a:schemeClr val="accent2"/>
                </a:solidFill>
              </a:rPr>
              <a:t>、</a:t>
            </a:r>
            <a:r>
              <a:rPr lang="zh-CN" altLang="en-US" sz="2000" dirty="0" smtClean="0">
                <a:solidFill>
                  <a:schemeClr val="accent2"/>
                </a:solidFill>
              </a:rPr>
              <a:t>共源接法 </a:t>
            </a:r>
            <a:r>
              <a:rPr lang="en-US" altLang="zh-CN" sz="2000" dirty="0" smtClean="0">
                <a:solidFill>
                  <a:schemeClr val="accent2"/>
                </a:solidFill>
              </a:rPr>
              <a:t>Common-Source  (CS)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zh-CN" sz="2000" dirty="0" smtClean="0">
                <a:solidFill>
                  <a:schemeClr val="accent2"/>
                </a:solidFill>
              </a:rPr>
              <a:t>2</a:t>
            </a:r>
            <a:r>
              <a:rPr lang="zh-CN" altLang="en-US" sz="2000" dirty="0" smtClean="0">
                <a:solidFill>
                  <a:schemeClr val="accent2"/>
                </a:solidFill>
              </a:rPr>
              <a:t>、共漏接</a:t>
            </a:r>
            <a:r>
              <a:rPr lang="zh-CN" altLang="en-US" sz="2000" dirty="0">
                <a:solidFill>
                  <a:schemeClr val="accent2"/>
                </a:solidFill>
              </a:rPr>
              <a:t>法 </a:t>
            </a:r>
            <a:r>
              <a:rPr lang="en-US" altLang="zh-CN" sz="2000" dirty="0" smtClean="0">
                <a:solidFill>
                  <a:schemeClr val="accent2"/>
                </a:solidFill>
              </a:rPr>
              <a:t>Common-Drain  </a:t>
            </a:r>
            <a:r>
              <a:rPr lang="en-US" altLang="zh-CN" sz="2000" dirty="0">
                <a:solidFill>
                  <a:schemeClr val="accent2"/>
                </a:solidFill>
              </a:rPr>
              <a:t>(</a:t>
            </a:r>
            <a:r>
              <a:rPr lang="en-US" altLang="zh-CN" sz="2000" dirty="0" smtClean="0">
                <a:solidFill>
                  <a:schemeClr val="accent2"/>
                </a:solidFill>
              </a:rPr>
              <a:t>CD)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zh-CN" sz="2000" dirty="0" smtClean="0">
                <a:solidFill>
                  <a:schemeClr val="accent2"/>
                </a:solidFill>
              </a:rPr>
              <a:t>3</a:t>
            </a:r>
            <a:r>
              <a:rPr lang="zh-CN" altLang="en-US" sz="2000" dirty="0" smtClean="0">
                <a:solidFill>
                  <a:schemeClr val="accent2"/>
                </a:solidFill>
              </a:rPr>
              <a:t>、共栅接</a:t>
            </a:r>
            <a:r>
              <a:rPr lang="zh-CN" altLang="en-US" sz="2000" dirty="0">
                <a:solidFill>
                  <a:schemeClr val="accent2"/>
                </a:solidFill>
              </a:rPr>
              <a:t>法 </a:t>
            </a:r>
            <a:r>
              <a:rPr lang="en-US" altLang="zh-CN" sz="2000" dirty="0" smtClean="0">
                <a:solidFill>
                  <a:schemeClr val="accent2"/>
                </a:solidFill>
              </a:rPr>
              <a:t>Common-Gate  </a:t>
            </a:r>
            <a:r>
              <a:rPr lang="en-US" altLang="zh-CN" sz="2000" dirty="0">
                <a:solidFill>
                  <a:schemeClr val="accent2"/>
                </a:solidFill>
              </a:rPr>
              <a:t>(</a:t>
            </a:r>
            <a:r>
              <a:rPr lang="en-US" altLang="zh-CN" sz="2000" dirty="0" smtClean="0">
                <a:solidFill>
                  <a:schemeClr val="accent2"/>
                </a:solidFill>
              </a:rPr>
              <a:t>CG)</a:t>
            </a:r>
            <a:endParaRPr lang="zh-CN" altLang="en-US" sz="2000" dirty="0">
              <a:solidFill>
                <a:schemeClr val="accent2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69" y="3903937"/>
            <a:ext cx="2514600" cy="21717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0664" y="3903937"/>
            <a:ext cx="2247900" cy="21336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2325" y="3784874"/>
            <a:ext cx="2419350" cy="244792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6842" y="2861684"/>
            <a:ext cx="3096282" cy="3615938"/>
          </a:xfrm>
          <a:prstGeom prst="rect">
            <a:avLst/>
          </a:prstGeom>
        </p:spPr>
      </p:pic>
      <p:sp>
        <p:nvSpPr>
          <p:cNvPr id="36867" name="Text Box 3"/>
          <p:cNvSpPr txBox="1">
            <a:spLocks noChangeArrowheads="1"/>
          </p:cNvSpPr>
          <p:nvPr/>
        </p:nvSpPr>
        <p:spPr bwMode="auto">
          <a:xfrm>
            <a:off x="701783" y="449424"/>
            <a:ext cx="655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 smtClean="0">
                <a:solidFill>
                  <a:srgbClr val="990033"/>
                </a:solidFill>
              </a:rPr>
              <a:t>二、</a:t>
            </a:r>
            <a:r>
              <a:rPr lang="en-US" altLang="zh-CN" sz="2400" dirty="0" smtClean="0">
                <a:solidFill>
                  <a:srgbClr val="990033"/>
                </a:solidFill>
              </a:rPr>
              <a:t> </a:t>
            </a:r>
            <a:r>
              <a:rPr lang="zh-CN" altLang="en-US" sz="2400" dirty="0" smtClean="0">
                <a:solidFill>
                  <a:srgbClr val="990033"/>
                </a:solidFill>
              </a:rPr>
              <a:t>直流偏置通路的计算</a:t>
            </a:r>
            <a:endParaRPr lang="zh-CN" altLang="en-US" sz="2400" dirty="0">
              <a:solidFill>
                <a:srgbClr val="A50021"/>
              </a:solidFill>
            </a:endParaRPr>
          </a:p>
        </p:txBody>
      </p:sp>
      <p:sp>
        <p:nvSpPr>
          <p:cNvPr id="36873" name="Rectangle 13"/>
          <p:cNvSpPr>
            <a:spLocks noChangeArrowheads="1"/>
          </p:cNvSpPr>
          <p:nvPr/>
        </p:nvSpPr>
        <p:spPr bwMode="auto">
          <a:xfrm>
            <a:off x="1278457" y="1921395"/>
            <a:ext cx="4938485" cy="18805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42900" indent="-342900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000" dirty="0" smtClean="0"/>
              <a:t>首先，判断</a:t>
            </a:r>
            <a:r>
              <a:rPr lang="en-US" altLang="zh-CN" sz="2000" dirty="0" smtClean="0"/>
              <a:t>MOS</a:t>
            </a:r>
            <a:r>
              <a:rPr lang="zh-CN" altLang="en-US" sz="2000" dirty="0" smtClean="0"/>
              <a:t>管的工作状态，正确选择公式。</a:t>
            </a:r>
            <a:endParaRPr lang="en-US" altLang="zh-CN" sz="2000" dirty="0" smtClean="0"/>
          </a:p>
          <a:p>
            <a:pPr marL="342900" indent="-342900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000" dirty="0" smtClean="0"/>
              <a:t>其次，求解</a:t>
            </a:r>
            <a:r>
              <a:rPr lang="zh-CN" altLang="en-US" sz="2000" dirty="0"/>
              <a:t>二次方程得到双解，合理取舍。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9578918"/>
              </p:ext>
            </p:extLst>
          </p:nvPr>
        </p:nvGraphicFramePr>
        <p:xfrm>
          <a:off x="1244600" y="4110038"/>
          <a:ext cx="3865563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734" name="Equation" r:id="rId4" imgW="2171520" imgH="431640" progId="Equation.DSMT4">
                  <p:embed/>
                </p:oleObj>
              </mc:Choice>
              <mc:Fallback>
                <p:oleObj name="Equation" r:id="rId4" imgW="217152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44600" y="4110038"/>
                        <a:ext cx="3865563" cy="768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5343227"/>
              </p:ext>
            </p:extLst>
          </p:nvPr>
        </p:nvGraphicFramePr>
        <p:xfrm>
          <a:off x="1244600" y="5111750"/>
          <a:ext cx="2673350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735" name="Equation" r:id="rId6" imgW="1485720" imgH="393480" progId="Equation.DSMT4">
                  <p:embed/>
                </p:oleObj>
              </mc:Choice>
              <mc:Fallback>
                <p:oleObj name="Equation" r:id="rId6" imgW="148572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4600" y="5111750"/>
                        <a:ext cx="2673350" cy="70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1154221" y="1257692"/>
            <a:ext cx="700833" cy="40011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注意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1664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73" grpId="0"/>
      <p:bldP spid="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641350" y="745290"/>
            <a:ext cx="655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 smtClean="0">
                <a:solidFill>
                  <a:srgbClr val="990033"/>
                </a:solidFill>
              </a:rPr>
              <a:t>三、</a:t>
            </a:r>
            <a:r>
              <a:rPr lang="en-US" altLang="zh-CN" sz="2400" dirty="0" smtClean="0">
                <a:solidFill>
                  <a:srgbClr val="990033"/>
                </a:solidFill>
              </a:rPr>
              <a:t> </a:t>
            </a:r>
            <a:r>
              <a:rPr lang="zh-CN" altLang="en-US" sz="2400" dirty="0" smtClean="0">
                <a:solidFill>
                  <a:srgbClr val="990033"/>
                </a:solidFill>
              </a:rPr>
              <a:t>交流通路的计算</a:t>
            </a:r>
            <a:endParaRPr lang="zh-CN" altLang="en-US" sz="2400" dirty="0">
              <a:solidFill>
                <a:srgbClr val="A50021"/>
              </a:solidFill>
            </a:endParaRPr>
          </a:p>
        </p:txBody>
      </p:sp>
      <p:sp>
        <p:nvSpPr>
          <p:cNvPr id="18" name="Text Box 12"/>
          <p:cNvSpPr txBox="1">
            <a:spLocks noChangeArrowheads="1"/>
          </p:cNvSpPr>
          <p:nvPr/>
        </p:nvSpPr>
        <p:spPr bwMode="auto">
          <a:xfrm>
            <a:off x="1041763" y="1388960"/>
            <a:ext cx="36195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dirty="0" smtClean="0">
                <a:solidFill>
                  <a:schemeClr val="accent2"/>
                </a:solidFill>
              </a:rPr>
              <a:t>1</a:t>
            </a:r>
            <a:r>
              <a:rPr lang="zh-CN" altLang="en-US" sz="2000" dirty="0" smtClean="0">
                <a:solidFill>
                  <a:schemeClr val="accent2"/>
                </a:solidFill>
              </a:rPr>
              <a:t>、图解法</a:t>
            </a:r>
            <a:endParaRPr lang="zh-CN" altLang="en-US" sz="2000" i="1" baseline="-25000" dirty="0">
              <a:solidFill>
                <a:schemeClr val="accent2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381" y="1975540"/>
            <a:ext cx="5293164" cy="448328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4545" y="403663"/>
            <a:ext cx="3096282" cy="3615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49551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5793" y="337027"/>
            <a:ext cx="3096282" cy="3615938"/>
          </a:xfrm>
          <a:prstGeom prst="rect">
            <a:avLst/>
          </a:prstGeom>
        </p:spPr>
      </p:pic>
      <p:sp>
        <p:nvSpPr>
          <p:cNvPr id="36872" name="Text Box 12"/>
          <p:cNvSpPr txBox="1">
            <a:spLocks noChangeArrowheads="1"/>
          </p:cNvSpPr>
          <p:nvPr/>
        </p:nvSpPr>
        <p:spPr bwMode="auto">
          <a:xfrm>
            <a:off x="1019062" y="1145473"/>
            <a:ext cx="36195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dirty="0" smtClean="0">
                <a:solidFill>
                  <a:srgbClr val="990099"/>
                </a:solidFill>
              </a:rPr>
              <a:t>a</a:t>
            </a:r>
            <a:r>
              <a:rPr lang="zh-CN" altLang="en-US" sz="2000" dirty="0" smtClean="0">
                <a:solidFill>
                  <a:srgbClr val="990099"/>
                </a:solidFill>
              </a:rPr>
              <a:t>、</a:t>
            </a:r>
            <a:r>
              <a:rPr lang="zh-CN" altLang="en-US" sz="2000" dirty="0">
                <a:solidFill>
                  <a:srgbClr val="990099"/>
                </a:solidFill>
              </a:rPr>
              <a:t>确定</a:t>
            </a:r>
            <a:r>
              <a:rPr lang="zh-CN" altLang="en-US" sz="2000" dirty="0" smtClean="0">
                <a:solidFill>
                  <a:srgbClr val="990099"/>
                </a:solidFill>
              </a:rPr>
              <a:t>跨导 </a:t>
            </a:r>
            <a:r>
              <a:rPr lang="en-US" altLang="zh-CN" sz="2000" i="1" dirty="0" smtClean="0">
                <a:solidFill>
                  <a:srgbClr val="990099"/>
                </a:solidFill>
              </a:rPr>
              <a:t>g</a:t>
            </a:r>
            <a:r>
              <a:rPr lang="en-US" altLang="zh-CN" sz="2000" i="1" baseline="-25000" dirty="0" smtClean="0">
                <a:solidFill>
                  <a:srgbClr val="990099"/>
                </a:solidFill>
              </a:rPr>
              <a:t>m</a:t>
            </a:r>
            <a:endParaRPr lang="zh-CN" altLang="en-US" sz="2000" i="1" baseline="-25000" dirty="0">
              <a:solidFill>
                <a:srgbClr val="990099"/>
              </a:solidFill>
            </a:endParaRPr>
          </a:p>
        </p:txBody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765969" y="544312"/>
            <a:ext cx="36195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dirty="0">
                <a:solidFill>
                  <a:schemeClr val="accent2"/>
                </a:solidFill>
              </a:rPr>
              <a:t>2</a:t>
            </a:r>
            <a:r>
              <a:rPr lang="zh-CN" altLang="en-US" sz="2000" dirty="0" smtClean="0">
                <a:solidFill>
                  <a:schemeClr val="accent2"/>
                </a:solidFill>
              </a:rPr>
              <a:t>、小信号等效电路法</a:t>
            </a:r>
            <a:endParaRPr lang="zh-CN" altLang="en-US" sz="2000" i="1" baseline="-25000" dirty="0">
              <a:solidFill>
                <a:schemeClr val="accent2"/>
              </a:solidFill>
            </a:endParaRPr>
          </a:p>
        </p:txBody>
      </p:sp>
      <p:graphicFrame>
        <p:nvGraphicFramePr>
          <p:cNvPr id="1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3475972"/>
              </p:ext>
            </p:extLst>
          </p:nvPr>
        </p:nvGraphicFramePr>
        <p:xfrm>
          <a:off x="1487488" y="1746250"/>
          <a:ext cx="2932112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057" name="Equation" r:id="rId4" imgW="1688760" imgH="444240" progId="Equation.DSMT4">
                  <p:embed/>
                </p:oleObj>
              </mc:Choice>
              <mc:Fallback>
                <p:oleObj name="Equation" r:id="rId4" imgW="16887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7488" y="1746250"/>
                        <a:ext cx="2932112" cy="771525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2031428"/>
              </p:ext>
            </p:extLst>
          </p:nvPr>
        </p:nvGraphicFramePr>
        <p:xfrm>
          <a:off x="1489075" y="2719388"/>
          <a:ext cx="1927225" cy="741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058" name="Equation" r:id="rId6" imgW="1155600" imgH="444240" progId="Equation.DSMT4">
                  <p:embed/>
                </p:oleObj>
              </mc:Choice>
              <mc:Fallback>
                <p:oleObj name="Equation" r:id="rId6" imgW="11556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9075" y="2719388"/>
                        <a:ext cx="1927225" cy="741362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8"/>
          <p:cNvSpPr txBox="1">
            <a:spLocks noChangeArrowheads="1"/>
          </p:cNvSpPr>
          <p:nvPr/>
        </p:nvSpPr>
        <p:spPr bwMode="auto">
          <a:xfrm>
            <a:off x="1016000" y="3552855"/>
            <a:ext cx="50038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None/>
            </a:pPr>
            <a:r>
              <a:rPr lang="en-US" altLang="zh-CN" sz="2000" dirty="0" smtClean="0">
                <a:solidFill>
                  <a:srgbClr val="990099"/>
                </a:solidFill>
              </a:rPr>
              <a:t>b</a:t>
            </a:r>
            <a:r>
              <a:rPr lang="zh-CN" altLang="en-US" sz="2000" dirty="0" smtClean="0">
                <a:solidFill>
                  <a:srgbClr val="990099"/>
                </a:solidFill>
              </a:rPr>
              <a:t>、</a:t>
            </a:r>
            <a:r>
              <a:rPr lang="zh-CN" altLang="en-US" sz="2000" dirty="0">
                <a:solidFill>
                  <a:srgbClr val="990099"/>
                </a:solidFill>
              </a:rPr>
              <a:t>电压增益</a:t>
            </a:r>
          </a:p>
        </p:txBody>
      </p:sp>
      <p:graphicFrame>
        <p:nvGraphicFramePr>
          <p:cNvPr id="2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7091163"/>
              </p:ext>
            </p:extLst>
          </p:nvPr>
        </p:nvGraphicFramePr>
        <p:xfrm>
          <a:off x="1520032" y="5909007"/>
          <a:ext cx="198882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059" name="Equation" r:id="rId8" imgW="1104840" imgH="444240" progId="Equation.DSMT4">
                  <p:embed/>
                </p:oleObj>
              </mc:Choice>
              <mc:Fallback>
                <p:oleObj name="Equation" r:id="rId8" imgW="11048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0032" y="5909007"/>
                        <a:ext cx="1988820" cy="800100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  <a:ln>
                        <a:solidFill>
                          <a:srgbClr val="92D050"/>
                        </a:solidFill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1647355"/>
              </p:ext>
            </p:extLst>
          </p:nvPr>
        </p:nvGraphicFramePr>
        <p:xfrm>
          <a:off x="1520032" y="4011934"/>
          <a:ext cx="4071938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060" name="Equation" r:id="rId10" imgW="2260440" imgH="253800" progId="Equation.DSMT4">
                  <p:embed/>
                </p:oleObj>
              </mc:Choice>
              <mc:Fallback>
                <p:oleObj name="Equation" r:id="rId10" imgW="226044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0032" y="4011934"/>
                        <a:ext cx="4071938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6572032"/>
              </p:ext>
            </p:extLst>
          </p:nvPr>
        </p:nvGraphicFramePr>
        <p:xfrm>
          <a:off x="1542149" y="4674354"/>
          <a:ext cx="4025900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061" name="Equation" r:id="rId12" imgW="2234880" imgH="228600" progId="Equation.DSMT4">
                  <p:embed/>
                </p:oleObj>
              </mc:Choice>
              <mc:Fallback>
                <p:oleObj name="Equation" r:id="rId12" imgW="22348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2149" y="4674354"/>
                        <a:ext cx="4025900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5474561"/>
              </p:ext>
            </p:extLst>
          </p:nvPr>
        </p:nvGraphicFramePr>
        <p:xfrm>
          <a:off x="1520032" y="5341105"/>
          <a:ext cx="260826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062" name="Equation" r:id="rId14" imgW="1447560" imgH="241200" progId="Equation.DSMT4">
                  <p:embed/>
                </p:oleObj>
              </mc:Choice>
              <mc:Fallback>
                <p:oleObj name="Equation" r:id="rId14" imgW="14475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0032" y="5341105"/>
                        <a:ext cx="260826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606677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6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72" grpId="0"/>
      <p:bldP spid="20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Text Box 3"/>
          <p:cNvSpPr txBox="1">
            <a:spLocks noChangeArrowheads="1"/>
          </p:cNvSpPr>
          <p:nvPr/>
        </p:nvSpPr>
        <p:spPr bwMode="auto">
          <a:xfrm>
            <a:off x="536575" y="649288"/>
            <a:ext cx="655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 smtClean="0">
                <a:solidFill>
                  <a:srgbClr val="A50021"/>
                </a:solidFill>
              </a:rPr>
              <a:t>四、三</a:t>
            </a:r>
            <a:r>
              <a:rPr lang="zh-CN" altLang="en-US" sz="2400" dirty="0">
                <a:solidFill>
                  <a:srgbClr val="A50021"/>
                </a:solidFill>
              </a:rPr>
              <a:t>种接法放大电路</a:t>
            </a:r>
            <a:r>
              <a:rPr lang="zh-CN" altLang="en-US" sz="2400" dirty="0" smtClean="0">
                <a:solidFill>
                  <a:srgbClr val="A50021"/>
                </a:solidFill>
              </a:rPr>
              <a:t>的计算</a:t>
            </a:r>
            <a:endParaRPr lang="zh-CN" altLang="en-US" sz="2400" dirty="0">
              <a:solidFill>
                <a:srgbClr val="A50021"/>
              </a:solidFill>
            </a:endParaRPr>
          </a:p>
        </p:txBody>
      </p:sp>
      <p:sp>
        <p:nvSpPr>
          <p:cNvPr id="40965" name="Text Box 7"/>
          <p:cNvSpPr txBox="1">
            <a:spLocks noChangeArrowheads="1"/>
          </p:cNvSpPr>
          <p:nvPr/>
        </p:nvSpPr>
        <p:spPr bwMode="auto">
          <a:xfrm>
            <a:off x="917575" y="1349375"/>
            <a:ext cx="6705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dirty="0">
                <a:solidFill>
                  <a:schemeClr val="accent2"/>
                </a:solidFill>
              </a:rPr>
              <a:t>1</a:t>
            </a:r>
            <a:r>
              <a:rPr lang="zh-CN" altLang="en-US" sz="2000" dirty="0">
                <a:solidFill>
                  <a:schemeClr val="accent2"/>
                </a:solidFill>
              </a:rPr>
              <a:t>、共源放大器</a:t>
            </a:r>
          </a:p>
        </p:txBody>
      </p:sp>
      <p:graphicFrame>
        <p:nvGraphicFramePr>
          <p:cNvPr id="6" name="Object 14"/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val="292633985"/>
              </p:ext>
            </p:extLst>
          </p:nvPr>
        </p:nvGraphicFramePr>
        <p:xfrm>
          <a:off x="5919787" y="5568950"/>
          <a:ext cx="1499807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60" name="Equation" r:id="rId3" imgW="774360" imgH="203040" progId="Equation.DSMT4">
                  <p:embed/>
                </p:oleObj>
              </mc:Choice>
              <mc:Fallback>
                <p:oleObj name="Equation" r:id="rId3" imgW="7743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9787" y="5568950"/>
                        <a:ext cx="1499807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405" y="2060376"/>
            <a:ext cx="3362325" cy="322897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5555" y="2774411"/>
            <a:ext cx="3943350" cy="222885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0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321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4512742"/>
              </p:ext>
            </p:extLst>
          </p:nvPr>
        </p:nvGraphicFramePr>
        <p:xfrm>
          <a:off x="2903682" y="3713163"/>
          <a:ext cx="982553" cy="708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554" name="Equation" r:id="rId3" imgW="545863" imgH="393529" progId="Equation.DSMT4">
                  <p:embed/>
                </p:oleObj>
              </mc:Choice>
              <mc:Fallback>
                <p:oleObj name="Equation" r:id="rId3" imgW="545863" imgH="393529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3682" y="3713163"/>
                        <a:ext cx="982553" cy="7083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14" name="Object 14"/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val="4268987435"/>
              </p:ext>
            </p:extLst>
          </p:nvPr>
        </p:nvGraphicFramePr>
        <p:xfrm>
          <a:off x="3861718" y="3834216"/>
          <a:ext cx="1438701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555" name="Equation" r:id="rId5" imgW="774360" imgH="215640" progId="Equation.DSMT4">
                  <p:embed/>
                </p:oleObj>
              </mc:Choice>
              <mc:Fallback>
                <p:oleObj name="Equation" r:id="rId5" imgW="774360" imgH="21564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1718" y="3834216"/>
                        <a:ext cx="1438701" cy="40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4189154"/>
              </p:ext>
            </p:extLst>
          </p:nvPr>
        </p:nvGraphicFramePr>
        <p:xfrm>
          <a:off x="2872801" y="4468813"/>
          <a:ext cx="2009775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556" name="Equation" r:id="rId7" imgW="1117440" imgH="406080" progId="Equation.DSMT4">
                  <p:embed/>
                </p:oleObj>
              </mc:Choice>
              <mc:Fallback>
                <p:oleObj name="Equation" r:id="rId7" imgW="11174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2801" y="4468813"/>
                        <a:ext cx="2009775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0327131"/>
              </p:ext>
            </p:extLst>
          </p:nvPr>
        </p:nvGraphicFramePr>
        <p:xfrm>
          <a:off x="4825961" y="4470400"/>
          <a:ext cx="2332037" cy="72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557" name="Equation" r:id="rId9" imgW="1295280" imgH="406080" progId="Equation.DSMT4">
                  <p:embed/>
                </p:oleObj>
              </mc:Choice>
              <mc:Fallback>
                <p:oleObj name="Equation" r:id="rId9" imgW="12952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5961" y="4470400"/>
                        <a:ext cx="2332037" cy="728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6451217"/>
              </p:ext>
            </p:extLst>
          </p:nvPr>
        </p:nvGraphicFramePr>
        <p:xfrm>
          <a:off x="2854325" y="5462588"/>
          <a:ext cx="922338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558" name="Equation" r:id="rId11" imgW="444240" imgH="203040" progId="Equation.DSMT4">
                  <p:embed/>
                </p:oleObj>
              </mc:Choice>
              <mc:Fallback>
                <p:oleObj name="Equation" r:id="rId11" imgW="4442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4325" y="5462588"/>
                        <a:ext cx="922338" cy="420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4974429"/>
              </p:ext>
            </p:extLst>
          </p:nvPr>
        </p:nvGraphicFramePr>
        <p:xfrm>
          <a:off x="2906043" y="5946284"/>
          <a:ext cx="946150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559" name="Equation" r:id="rId13" imgW="457200" imgH="203040" progId="Equation.DSMT4">
                  <p:embed/>
                </p:oleObj>
              </mc:Choice>
              <mc:Fallback>
                <p:oleObj name="Equation" r:id="rId13" imgW="4572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6043" y="5946284"/>
                        <a:ext cx="946150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05434" y="748348"/>
            <a:ext cx="3943350" cy="222885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63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63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7"/>
          <p:cNvSpPr txBox="1">
            <a:spLocks noChangeArrowheads="1"/>
          </p:cNvSpPr>
          <p:nvPr/>
        </p:nvSpPr>
        <p:spPr bwMode="auto">
          <a:xfrm>
            <a:off x="1164700" y="693905"/>
            <a:ext cx="6705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42900" indent="-342900"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000" dirty="0" smtClean="0">
                <a:solidFill>
                  <a:srgbClr val="00B050"/>
                </a:solidFill>
              </a:rPr>
              <a:t>带源极电阻的共源</a:t>
            </a:r>
            <a:r>
              <a:rPr lang="zh-CN" altLang="en-US" sz="2000" dirty="0">
                <a:solidFill>
                  <a:srgbClr val="00B050"/>
                </a:solidFill>
              </a:rPr>
              <a:t>放大器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387" y="1724025"/>
            <a:ext cx="4086225" cy="17526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4825" y="3476625"/>
            <a:ext cx="4591050" cy="310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804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0" name="Text Box 10"/>
          <p:cNvSpPr txBox="1">
            <a:spLocks noChangeArrowheads="1"/>
          </p:cNvSpPr>
          <p:nvPr/>
        </p:nvSpPr>
        <p:spPr bwMode="auto">
          <a:xfrm>
            <a:off x="671513" y="4613275"/>
            <a:ext cx="6705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chemeClr val="accent2"/>
                </a:solidFill>
              </a:rPr>
              <a:t>共源放大器特性：</a:t>
            </a:r>
          </a:p>
        </p:txBody>
      </p:sp>
      <p:sp>
        <p:nvSpPr>
          <p:cNvPr id="563211" name="Rectangle 11"/>
          <p:cNvSpPr>
            <a:spLocks noChangeArrowheads="1"/>
          </p:cNvSpPr>
          <p:nvPr/>
        </p:nvSpPr>
        <p:spPr bwMode="auto">
          <a:xfrm>
            <a:off x="744538" y="5077595"/>
            <a:ext cx="7439025" cy="9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/>
              <a:t>        </a:t>
            </a:r>
            <a:r>
              <a:rPr lang="zh-CN" altLang="en-US" sz="2000" dirty="0"/>
              <a:t>非常高的输入电阻、适中的电压增益和相当高</a:t>
            </a:r>
            <a:r>
              <a:rPr lang="zh-CN" altLang="en-US" sz="2000" dirty="0" smtClean="0"/>
              <a:t>的</a:t>
            </a:r>
            <a:r>
              <a:rPr lang="zh-CN" altLang="en-US" sz="2000" dirty="0"/>
              <a:t>输出电阻</a:t>
            </a:r>
            <a:r>
              <a:rPr lang="zh-CN" altLang="en-US" sz="2000" dirty="0" smtClean="0"/>
              <a:t>，频带</a:t>
            </a:r>
            <a:r>
              <a:rPr lang="zh-CN" altLang="en-US" sz="2000" dirty="0"/>
              <a:t>窄。</a:t>
            </a:r>
          </a:p>
        </p:txBody>
      </p:sp>
      <p:graphicFrame>
        <p:nvGraphicFramePr>
          <p:cNvPr id="56321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8922321"/>
              </p:ext>
            </p:extLst>
          </p:nvPr>
        </p:nvGraphicFramePr>
        <p:xfrm>
          <a:off x="353839" y="980032"/>
          <a:ext cx="982553" cy="708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68" name="Equation" r:id="rId3" imgW="545863" imgH="393529" progId="Equation.DSMT4">
                  <p:embed/>
                </p:oleObj>
              </mc:Choice>
              <mc:Fallback>
                <p:oleObj name="Equation" r:id="rId3" imgW="545863" imgH="39352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839" y="980032"/>
                        <a:ext cx="982553" cy="7083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14" name="Object 14"/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val="1037793925"/>
              </p:ext>
            </p:extLst>
          </p:nvPr>
        </p:nvGraphicFramePr>
        <p:xfrm>
          <a:off x="1318930" y="927741"/>
          <a:ext cx="1819075" cy="79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69" name="Equation" r:id="rId5" imgW="990360" imgH="431640" progId="Equation.DSMT4">
                  <p:embed/>
                </p:oleObj>
              </mc:Choice>
              <mc:Fallback>
                <p:oleObj name="Equation" r:id="rId5" imgW="9903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8930" y="927741"/>
                        <a:ext cx="1819075" cy="79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4279310"/>
              </p:ext>
            </p:extLst>
          </p:nvPr>
        </p:nvGraphicFramePr>
        <p:xfrm>
          <a:off x="314960" y="1887690"/>
          <a:ext cx="1895475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70" name="Equation" r:id="rId7" imgW="1054080" imgH="406080" progId="Equation.DSMT4">
                  <p:embed/>
                </p:oleObj>
              </mc:Choice>
              <mc:Fallback>
                <p:oleObj name="Equation" r:id="rId7" imgW="10540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960" y="1887690"/>
                        <a:ext cx="1895475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图片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84687" y="866261"/>
            <a:ext cx="4591050" cy="3105150"/>
          </a:xfrm>
          <a:prstGeom prst="rect">
            <a:avLst/>
          </a:prstGeom>
        </p:spPr>
      </p:pic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9898623"/>
              </p:ext>
            </p:extLst>
          </p:nvPr>
        </p:nvGraphicFramePr>
        <p:xfrm>
          <a:off x="3062287" y="980032"/>
          <a:ext cx="1422400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71" name="Equation" r:id="rId10" imgW="774360" imgH="393480" progId="Equation.DSMT4">
                  <p:embed/>
                </p:oleObj>
              </mc:Choice>
              <mc:Fallback>
                <p:oleObj name="Equation" r:id="rId10" imgW="7743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2287" y="980032"/>
                        <a:ext cx="1422400" cy="7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1764022"/>
              </p:ext>
            </p:extLst>
          </p:nvPr>
        </p:nvGraphicFramePr>
        <p:xfrm>
          <a:off x="314960" y="2876022"/>
          <a:ext cx="815975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72" name="Equation" r:id="rId12" imgW="393480" imgH="203040" progId="Equation.DSMT4">
                  <p:embed/>
                </p:oleObj>
              </mc:Choice>
              <mc:Fallback>
                <p:oleObj name="Equation" r:id="rId12" imgW="393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960" y="2876022"/>
                        <a:ext cx="815975" cy="420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4386874"/>
              </p:ext>
            </p:extLst>
          </p:nvPr>
        </p:nvGraphicFramePr>
        <p:xfrm>
          <a:off x="314995" y="3550723"/>
          <a:ext cx="946150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73" name="Equation" r:id="rId14" imgW="457200" imgH="203040" progId="Equation.DSMT4">
                  <p:embed/>
                </p:oleObj>
              </mc:Choice>
              <mc:Fallback>
                <p:oleObj name="Equation" r:id="rId14" imgW="4572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995" y="3550723"/>
                        <a:ext cx="946150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2346215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63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63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500"/>
                                        <p:tgtEl>
                                          <p:spTgt spid="563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0" dur="500"/>
                                        <p:tgtEl>
                                          <p:spTgt spid="563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10" grpId="0"/>
      <p:bldP spid="56321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4"/>
          <p:cNvSpPr>
            <a:spLocks noChangeArrowheads="1"/>
          </p:cNvSpPr>
          <p:nvPr/>
        </p:nvSpPr>
        <p:spPr bwMode="auto">
          <a:xfrm>
            <a:off x="0" y="2514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43011" name="Text Box 5"/>
          <p:cNvSpPr txBox="1">
            <a:spLocks noChangeArrowheads="1"/>
          </p:cNvSpPr>
          <p:nvPr/>
        </p:nvSpPr>
        <p:spPr bwMode="auto">
          <a:xfrm>
            <a:off x="657225" y="892235"/>
            <a:ext cx="6705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dirty="0">
                <a:solidFill>
                  <a:schemeClr val="accent2"/>
                </a:solidFill>
              </a:rPr>
              <a:t>2</a:t>
            </a:r>
            <a:r>
              <a:rPr lang="zh-CN" altLang="en-US" sz="2000" dirty="0">
                <a:solidFill>
                  <a:schemeClr val="accent2"/>
                </a:solidFill>
              </a:rPr>
              <a:t>、共漏放大器</a:t>
            </a:r>
          </a:p>
        </p:txBody>
      </p:sp>
      <p:pic>
        <p:nvPicPr>
          <p:cNvPr id="43012" name="Picture 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820" y="1977191"/>
            <a:ext cx="3207205" cy="318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3" name="Picture 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4875" y="2514599"/>
            <a:ext cx="3867150" cy="2417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3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254" name="Text Box 6"/>
          <p:cNvSpPr txBox="1">
            <a:spLocks noChangeArrowheads="1"/>
          </p:cNvSpPr>
          <p:nvPr/>
        </p:nvSpPr>
        <p:spPr bwMode="auto">
          <a:xfrm>
            <a:off x="671513" y="4113213"/>
            <a:ext cx="6705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 dirty="0">
                <a:solidFill>
                  <a:schemeClr val="accent2"/>
                </a:solidFill>
              </a:rPr>
              <a:t>共漏放大器特性：</a:t>
            </a:r>
          </a:p>
        </p:txBody>
      </p:sp>
      <p:sp>
        <p:nvSpPr>
          <p:cNvPr id="565255" name="Rectangle 7"/>
          <p:cNvSpPr>
            <a:spLocks noChangeArrowheads="1"/>
          </p:cNvSpPr>
          <p:nvPr/>
        </p:nvSpPr>
        <p:spPr bwMode="auto">
          <a:xfrm>
            <a:off x="903854" y="4506060"/>
            <a:ext cx="744855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/>
              <a:t>        </a:t>
            </a:r>
            <a:r>
              <a:rPr lang="zh-CN" altLang="en-US" sz="2000" dirty="0"/>
              <a:t>非常高的输入电阻、相当低的输出电阻和接近于</a:t>
            </a:r>
            <a:r>
              <a:rPr lang="en-US" altLang="zh-CN" sz="2000" dirty="0"/>
              <a:t>1</a:t>
            </a:r>
            <a:r>
              <a:rPr lang="zh-CN" altLang="en-US" sz="2000" dirty="0"/>
              <a:t>的电压增益</a:t>
            </a:r>
            <a:r>
              <a:rPr lang="zh-CN" altLang="en-US" sz="2000" dirty="0" smtClean="0"/>
              <a:t>，频带中等。</a:t>
            </a:r>
            <a:endParaRPr lang="zh-CN" altLang="en-US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000" dirty="0"/>
              <a:t>        共漏放大器可作为单位增益的电压缓冲放大器，又称为</a:t>
            </a:r>
            <a:r>
              <a:rPr lang="zh-CN" altLang="en-US" sz="2000" dirty="0">
                <a:solidFill>
                  <a:srgbClr val="FF0066"/>
                </a:solidFill>
              </a:rPr>
              <a:t>源极跟随器</a:t>
            </a:r>
            <a:r>
              <a:rPr lang="zh-CN" altLang="en-US" sz="2000" dirty="0"/>
              <a:t>。</a:t>
            </a:r>
          </a:p>
        </p:txBody>
      </p:sp>
      <p:graphicFrame>
        <p:nvGraphicFramePr>
          <p:cNvPr id="56525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6243092"/>
              </p:ext>
            </p:extLst>
          </p:nvPr>
        </p:nvGraphicFramePr>
        <p:xfrm>
          <a:off x="347135" y="363003"/>
          <a:ext cx="1120775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500" name="Equation" r:id="rId3" imgW="622080" imgH="431640" progId="Equation.DSMT4">
                  <p:embed/>
                </p:oleObj>
              </mc:Choice>
              <mc:Fallback>
                <p:oleObj name="Equation" r:id="rId3" imgW="622080" imgH="43164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135" y="363003"/>
                        <a:ext cx="1120775" cy="776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65257" name="Picture 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135" y="2286259"/>
            <a:ext cx="891153" cy="411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5258" name="Picture 10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076" y="2886522"/>
            <a:ext cx="1530956" cy="776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65260" name="Object 12"/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val="833087772"/>
              </p:ext>
            </p:extLst>
          </p:nvPr>
        </p:nvGraphicFramePr>
        <p:xfrm>
          <a:off x="2497441" y="336857"/>
          <a:ext cx="1619250" cy="777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501" name="Equation" r:id="rId7" imgW="977760" imgH="469800" progId="Equation.DSMT4">
                  <p:embed/>
                </p:oleObj>
              </mc:Choice>
              <mc:Fallback>
                <p:oleObj name="Equation" r:id="rId7" imgW="977760" imgH="4698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7441" y="336857"/>
                        <a:ext cx="1619250" cy="777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6232697"/>
              </p:ext>
            </p:extLst>
          </p:nvPr>
        </p:nvGraphicFramePr>
        <p:xfrm>
          <a:off x="346076" y="1259016"/>
          <a:ext cx="3678237" cy="84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502" name="Equation" r:id="rId9" imgW="1765080" imgH="406080" progId="Equation.DSMT4">
                  <p:embed/>
                </p:oleObj>
              </mc:Choice>
              <mc:Fallback>
                <p:oleObj name="Equation" r:id="rId9" imgW="17650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076" y="1259016"/>
                        <a:ext cx="3678237" cy="846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6896006"/>
              </p:ext>
            </p:extLst>
          </p:nvPr>
        </p:nvGraphicFramePr>
        <p:xfrm>
          <a:off x="1424439" y="352425"/>
          <a:ext cx="1120775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503" name="Equation" r:id="rId11" imgW="622080" imgH="444240" progId="Equation.DSMT4">
                  <p:embed/>
                </p:oleObj>
              </mc:Choice>
              <mc:Fallback>
                <p:oleObj name="Equation" r:id="rId11" imgW="6220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4439" y="352425"/>
                        <a:ext cx="1120775" cy="798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4989" y="751146"/>
            <a:ext cx="4200525" cy="26289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65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565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65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565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500"/>
                                        <p:tgtEl>
                                          <p:spTgt spid="565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0" dur="500"/>
                                        <p:tgtEl>
                                          <p:spTgt spid="565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5254" grpId="0"/>
      <p:bldP spid="56525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ChangeArrowheads="1"/>
          </p:cNvSpPr>
          <p:nvPr/>
        </p:nvSpPr>
        <p:spPr bwMode="auto">
          <a:xfrm>
            <a:off x="0" y="2514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45059" name="Text Box 3"/>
          <p:cNvSpPr txBox="1">
            <a:spLocks noChangeArrowheads="1"/>
          </p:cNvSpPr>
          <p:nvPr/>
        </p:nvSpPr>
        <p:spPr bwMode="auto">
          <a:xfrm>
            <a:off x="657225" y="492125"/>
            <a:ext cx="6705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dirty="0">
                <a:solidFill>
                  <a:schemeClr val="accent2"/>
                </a:solidFill>
              </a:rPr>
              <a:t>3</a:t>
            </a:r>
            <a:r>
              <a:rPr lang="zh-CN" altLang="en-US" sz="2000" dirty="0">
                <a:solidFill>
                  <a:schemeClr val="accent2"/>
                </a:solidFill>
              </a:rPr>
              <a:t>、共栅放大器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276350"/>
            <a:ext cx="3200400" cy="23431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8162" y="3467100"/>
            <a:ext cx="3876675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2509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730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505373"/>
              </p:ext>
            </p:extLst>
          </p:nvPr>
        </p:nvGraphicFramePr>
        <p:xfrm>
          <a:off x="866775" y="2811776"/>
          <a:ext cx="1117600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147" name="Equation" r:id="rId3" imgW="622080" imgH="431640" progId="Equation.DSMT4">
                  <p:embed/>
                </p:oleObj>
              </mc:Choice>
              <mc:Fallback>
                <p:oleObj name="Equation" r:id="rId3" imgW="6220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6775" y="2811776"/>
                        <a:ext cx="1117600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730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0754044"/>
              </p:ext>
            </p:extLst>
          </p:nvPr>
        </p:nvGraphicFramePr>
        <p:xfrm>
          <a:off x="873125" y="5121243"/>
          <a:ext cx="960438" cy="7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148" name="Equation" r:id="rId5" imgW="533160" imgH="431640" progId="Equation.DSMT4">
                  <p:embed/>
                </p:oleObj>
              </mc:Choice>
              <mc:Fallback>
                <p:oleObj name="Equation" r:id="rId5" imgW="5331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3125" y="5121243"/>
                        <a:ext cx="960438" cy="776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730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7772822"/>
              </p:ext>
            </p:extLst>
          </p:nvPr>
        </p:nvGraphicFramePr>
        <p:xfrm>
          <a:off x="873125" y="6057101"/>
          <a:ext cx="937260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149" name="Equation" r:id="rId7" imgW="520700" imgH="228600" progId="Equation.DSMT4">
                  <p:embed/>
                </p:oleObj>
              </mc:Choice>
              <mc:Fallback>
                <p:oleObj name="Equation" r:id="rId7" imgW="5207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3125" y="6057101"/>
                        <a:ext cx="937260" cy="4114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7306" name="Object 10"/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val="1230968201"/>
              </p:ext>
            </p:extLst>
          </p:nvPr>
        </p:nvGraphicFramePr>
        <p:xfrm>
          <a:off x="3649662" y="2926151"/>
          <a:ext cx="661988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150" name="Equation" r:id="rId9" imgW="368280" imgH="228600" progId="Equation.DSMT4">
                  <p:embed/>
                </p:oleObj>
              </mc:Choice>
              <mc:Fallback>
                <p:oleObj name="Equation" r:id="rId9" imgW="368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9662" y="2926151"/>
                        <a:ext cx="661988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9608275"/>
              </p:ext>
            </p:extLst>
          </p:nvPr>
        </p:nvGraphicFramePr>
        <p:xfrm>
          <a:off x="854075" y="4106863"/>
          <a:ext cx="1165225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151" name="Equation" r:id="rId11" imgW="647640" imgH="431640" progId="Equation.DSMT4">
                  <p:embed/>
                </p:oleObj>
              </mc:Choice>
              <mc:Fallback>
                <p:oleObj name="Equation" r:id="rId11" imgW="6476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075" y="4106863"/>
                        <a:ext cx="1165225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4947861"/>
              </p:ext>
            </p:extLst>
          </p:nvPr>
        </p:nvGraphicFramePr>
        <p:xfrm>
          <a:off x="6365876" y="4081235"/>
          <a:ext cx="1255713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152" name="Equation" r:id="rId13" imgW="698400" imgH="444240" progId="Equation.DSMT4">
                  <p:embed/>
                </p:oleObj>
              </mc:Choice>
              <mc:Fallback>
                <p:oleObj name="Equation" r:id="rId13" imgW="6984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5876" y="4081235"/>
                        <a:ext cx="1255713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41434" y="412524"/>
            <a:ext cx="3876675" cy="2971800"/>
          </a:xfrm>
          <a:prstGeom prst="rect">
            <a:avLst/>
          </a:prstGeom>
        </p:spPr>
      </p:pic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6906298"/>
              </p:ext>
            </p:extLst>
          </p:nvPr>
        </p:nvGraphicFramePr>
        <p:xfrm>
          <a:off x="1984375" y="2753908"/>
          <a:ext cx="1665287" cy="1166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153" name="Equation" r:id="rId16" imgW="927000" imgH="647640" progId="Equation.DSMT4">
                  <p:embed/>
                </p:oleObj>
              </mc:Choice>
              <mc:Fallback>
                <p:oleObj name="Equation" r:id="rId16" imgW="927000" imgH="647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4375" y="2753908"/>
                        <a:ext cx="1665287" cy="1166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7970359"/>
              </p:ext>
            </p:extLst>
          </p:nvPr>
        </p:nvGraphicFramePr>
        <p:xfrm>
          <a:off x="1981200" y="4106635"/>
          <a:ext cx="1050925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154" name="Equation" r:id="rId18" imgW="583920" imgH="431640" progId="Equation.DSMT4">
                  <p:embed/>
                </p:oleObj>
              </mc:Choice>
              <mc:Fallback>
                <p:oleObj name="Equation" r:id="rId18" imgW="5839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4106635"/>
                        <a:ext cx="1050925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3421960"/>
              </p:ext>
            </p:extLst>
          </p:nvPr>
        </p:nvGraphicFramePr>
        <p:xfrm>
          <a:off x="2960688" y="3694678"/>
          <a:ext cx="3405188" cy="160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155" name="Equation" r:id="rId20" imgW="1892160" imgH="888840" progId="Equation.DSMT4">
                  <p:embed/>
                </p:oleObj>
              </mc:Choice>
              <mc:Fallback>
                <p:oleObj name="Equation" r:id="rId20" imgW="1892160" imgH="888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0688" y="3694678"/>
                        <a:ext cx="3405188" cy="1601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0708540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67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567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567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567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ChangeArrowheads="1"/>
          </p:cNvSpPr>
          <p:nvPr/>
        </p:nvSpPr>
        <p:spPr bwMode="auto">
          <a:xfrm>
            <a:off x="0" y="2514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pic>
        <p:nvPicPr>
          <p:cNvPr id="45060" name="图片 147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897" y="1590675"/>
            <a:ext cx="3000128" cy="353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7225" y="2276474"/>
            <a:ext cx="3954292" cy="250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1164700" y="693905"/>
            <a:ext cx="6705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42900" indent="-342900"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000" dirty="0" smtClean="0">
                <a:solidFill>
                  <a:srgbClr val="00B050"/>
                </a:solidFill>
              </a:rPr>
              <a:t>带源极电阻的共栅放大器</a:t>
            </a:r>
            <a:endParaRPr lang="zh-CN" altLang="en-US" sz="20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298" name="Text Box 2"/>
          <p:cNvSpPr txBox="1">
            <a:spLocks noChangeArrowheads="1"/>
          </p:cNvSpPr>
          <p:nvPr/>
        </p:nvSpPr>
        <p:spPr bwMode="auto">
          <a:xfrm>
            <a:off x="671513" y="4357247"/>
            <a:ext cx="6705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 dirty="0">
                <a:solidFill>
                  <a:schemeClr val="accent2"/>
                </a:solidFill>
              </a:rPr>
              <a:t>共栅放大器特性：</a:t>
            </a:r>
          </a:p>
        </p:txBody>
      </p:sp>
      <p:sp>
        <p:nvSpPr>
          <p:cNvPr id="567299" name="Rectangle 3"/>
          <p:cNvSpPr>
            <a:spLocks noChangeArrowheads="1"/>
          </p:cNvSpPr>
          <p:nvPr/>
        </p:nvSpPr>
        <p:spPr bwMode="auto">
          <a:xfrm>
            <a:off x="990600" y="4689942"/>
            <a:ext cx="7515225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/>
              <a:t>        </a:t>
            </a:r>
            <a:r>
              <a:rPr lang="zh-CN" altLang="en-US" sz="2000" dirty="0"/>
              <a:t>相当低的输入电阻、很大的输出电阻和接近于</a:t>
            </a:r>
            <a:r>
              <a:rPr lang="en-US" altLang="zh-CN" sz="2000" dirty="0"/>
              <a:t>1</a:t>
            </a:r>
            <a:r>
              <a:rPr lang="zh-CN" altLang="en-US" sz="2000" dirty="0"/>
              <a:t>的电流增益，且高频特性较好，</a:t>
            </a:r>
            <a:r>
              <a:rPr lang="zh-CN" altLang="en-US" sz="2000" dirty="0" smtClean="0"/>
              <a:t>频带宽。</a:t>
            </a:r>
            <a:endParaRPr lang="zh-CN" altLang="en-US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000" dirty="0"/>
              <a:t>        共栅放大器可作为单位增益的电流缓冲放大器，又称为</a:t>
            </a:r>
            <a:r>
              <a:rPr lang="zh-CN" altLang="en-US" sz="2000" dirty="0">
                <a:solidFill>
                  <a:srgbClr val="FF0066"/>
                </a:solidFill>
              </a:rPr>
              <a:t>电流跟随器</a:t>
            </a:r>
            <a:r>
              <a:rPr lang="zh-CN" altLang="en-US" sz="2000" dirty="0"/>
              <a:t>。</a:t>
            </a:r>
          </a:p>
        </p:txBody>
      </p:sp>
      <p:graphicFrame>
        <p:nvGraphicFramePr>
          <p:cNvPr id="56730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4863972"/>
              </p:ext>
            </p:extLst>
          </p:nvPr>
        </p:nvGraphicFramePr>
        <p:xfrm>
          <a:off x="561975" y="249351"/>
          <a:ext cx="1117600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056" name="Equation" r:id="rId3" imgW="622080" imgH="431640" progId="Equation.DSMT4">
                  <p:embed/>
                </p:oleObj>
              </mc:Choice>
              <mc:Fallback>
                <p:oleObj name="Equation" r:id="rId3" imgW="622080" imgH="4316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975" y="249351"/>
                        <a:ext cx="1117600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730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2946428"/>
              </p:ext>
            </p:extLst>
          </p:nvPr>
        </p:nvGraphicFramePr>
        <p:xfrm>
          <a:off x="549275" y="2960293"/>
          <a:ext cx="1462087" cy="7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057" name="Equation" r:id="rId5" imgW="812520" imgH="431640" progId="Equation.DSMT4">
                  <p:embed/>
                </p:oleObj>
              </mc:Choice>
              <mc:Fallback>
                <p:oleObj name="Equation" r:id="rId5" imgW="812520" imgH="43164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275" y="2960293"/>
                        <a:ext cx="1462087" cy="776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730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0452208"/>
              </p:ext>
            </p:extLst>
          </p:nvPr>
        </p:nvGraphicFramePr>
        <p:xfrm>
          <a:off x="549275" y="3841174"/>
          <a:ext cx="937260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058" name="Equation" r:id="rId7" imgW="520560" imgH="228600" progId="Equation.DSMT4">
                  <p:embed/>
                </p:oleObj>
              </mc:Choice>
              <mc:Fallback>
                <p:oleObj name="Equation" r:id="rId7" imgW="520560" imgH="2286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275" y="3841174"/>
                        <a:ext cx="937260" cy="4114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7306" name="Object 10"/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val="741943807"/>
              </p:ext>
            </p:extLst>
          </p:nvPr>
        </p:nvGraphicFramePr>
        <p:xfrm>
          <a:off x="1679575" y="354896"/>
          <a:ext cx="1119654" cy="4113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059" name="Equation" r:id="rId9" imgW="622080" imgH="228600" progId="Equation.DSMT4">
                  <p:embed/>
                </p:oleObj>
              </mc:Choice>
              <mc:Fallback>
                <p:oleObj name="Equation" r:id="rId9" imgW="622080" imgH="2286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9575" y="354896"/>
                        <a:ext cx="1119654" cy="4113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3471583"/>
              </p:ext>
            </p:extLst>
          </p:nvPr>
        </p:nvGraphicFramePr>
        <p:xfrm>
          <a:off x="549275" y="1055811"/>
          <a:ext cx="1165225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060" name="Equation" r:id="rId11" imgW="647640" imgH="431640" progId="Equation.DSMT4">
                  <p:embed/>
                </p:oleObj>
              </mc:Choice>
              <mc:Fallback>
                <p:oleObj name="Equation" r:id="rId11" imgW="6476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275" y="1055811"/>
                        <a:ext cx="1165225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3399852"/>
              </p:ext>
            </p:extLst>
          </p:nvPr>
        </p:nvGraphicFramePr>
        <p:xfrm>
          <a:off x="990600" y="1912699"/>
          <a:ext cx="2351088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061" name="Equation" r:id="rId13" imgW="1307880" imgH="469800" progId="Equation.DSMT4">
                  <p:embed/>
                </p:oleObj>
              </mc:Choice>
              <mc:Fallback>
                <p:oleObj name="Equation" r:id="rId13" imgW="130788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912699"/>
                        <a:ext cx="2351088" cy="849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8217" y="2084435"/>
            <a:ext cx="3932664" cy="2492389"/>
          </a:xfrm>
          <a:prstGeom prst="rect">
            <a:avLst/>
          </a:prstGeom>
        </p:spPr>
      </p:pic>
      <p:graphicFrame>
        <p:nvGraphicFramePr>
          <p:cNvPr id="1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6363971"/>
              </p:ext>
            </p:extLst>
          </p:nvPr>
        </p:nvGraphicFramePr>
        <p:xfrm>
          <a:off x="1724818" y="1064832"/>
          <a:ext cx="1050925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062" name="Equation" r:id="rId16" imgW="583920" imgH="431640" progId="Equation.DSMT4">
                  <p:embed/>
                </p:oleObj>
              </mc:Choice>
              <mc:Fallback>
                <p:oleObj name="Equation" r:id="rId16" imgW="5839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4818" y="1064832"/>
                        <a:ext cx="1050925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4861304"/>
              </p:ext>
            </p:extLst>
          </p:nvPr>
        </p:nvGraphicFramePr>
        <p:xfrm>
          <a:off x="2775743" y="992997"/>
          <a:ext cx="4541837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063" name="Equation" r:id="rId18" imgW="2527200" imgH="495000" progId="Equation.DSMT4">
                  <p:embed/>
                </p:oleObj>
              </mc:Choice>
              <mc:Fallback>
                <p:oleObj name="Equation" r:id="rId18" imgW="252720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5743" y="992997"/>
                        <a:ext cx="4541837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67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67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567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567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7" dur="500"/>
                                        <p:tgtEl>
                                          <p:spTgt spid="567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0" dur="500"/>
                                        <p:tgtEl>
                                          <p:spTgt spid="567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7298" grpId="0"/>
      <p:bldP spid="567299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7"/>
          <p:cNvSpPr txBox="1">
            <a:spLocks noChangeArrowheads="1"/>
          </p:cNvSpPr>
          <p:nvPr/>
        </p:nvSpPr>
        <p:spPr bwMode="auto">
          <a:xfrm>
            <a:off x="695322" y="1246767"/>
            <a:ext cx="521415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76250" indent="-47625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2366963" indent="-4572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2557463" indent="-4572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2747963" indent="-4572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938463" indent="-4572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3395663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852863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4310063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767263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indent="0">
              <a:lnSpc>
                <a:spcPct val="120000"/>
              </a:lnSpc>
              <a:spcBef>
                <a:spcPct val="50000"/>
              </a:spcBef>
            </a:pPr>
            <a:r>
              <a:rPr lang="zh-CN" altLang="en-US" sz="2000" dirty="0" smtClean="0">
                <a:solidFill>
                  <a:schemeClr val="accent2"/>
                </a:solidFill>
              </a:rPr>
              <a:t>三</a:t>
            </a:r>
            <a:r>
              <a:rPr lang="zh-CN" altLang="en-US" sz="2000" dirty="0">
                <a:solidFill>
                  <a:schemeClr val="accent2"/>
                </a:solidFill>
              </a:rPr>
              <a:t>种接法放大</a:t>
            </a:r>
            <a:r>
              <a:rPr lang="zh-CN" altLang="en-US" sz="2000" dirty="0" smtClean="0">
                <a:solidFill>
                  <a:schemeClr val="accent2"/>
                </a:solidFill>
              </a:rPr>
              <a:t>电路特性比较</a:t>
            </a:r>
            <a:endParaRPr lang="zh-CN" altLang="en-US" sz="2000" dirty="0">
              <a:solidFill>
                <a:schemeClr val="accent2"/>
              </a:solidFill>
            </a:endParaRPr>
          </a:p>
        </p:txBody>
      </p:sp>
      <p:sp>
        <p:nvSpPr>
          <p:cNvPr id="6" name="Rectangle 30"/>
          <p:cNvSpPr txBox="1">
            <a:spLocks noChangeArrowheads="1"/>
          </p:cNvSpPr>
          <p:nvPr/>
        </p:nvSpPr>
        <p:spPr>
          <a:xfrm>
            <a:off x="940803" y="2534597"/>
            <a:ext cx="7620000" cy="2909400"/>
          </a:xfrm>
          <a:prstGeom prst="rect">
            <a:avLst/>
          </a:prstGeom>
          <a:noFill/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b="0" kern="0" dirty="0" smtClean="0"/>
              <a:t>    </a:t>
            </a:r>
            <a:r>
              <a:rPr lang="zh-CN" altLang="en-US" sz="2400" b="1" kern="0" dirty="0" smtClean="0"/>
              <a:t>接法        共源           共漏           共栅</a:t>
            </a:r>
          </a:p>
          <a:p>
            <a:r>
              <a:rPr lang="zh-CN" altLang="en-US" sz="2400" b="1" i="1" kern="0" dirty="0" smtClean="0"/>
              <a:t>      </a:t>
            </a:r>
            <a:r>
              <a:rPr lang="en-US" altLang="zh-CN" sz="2400" b="1" i="1" kern="0" dirty="0" smtClean="0"/>
              <a:t>A</a:t>
            </a:r>
            <a:r>
              <a:rPr lang="en-US" altLang="zh-CN" sz="2400" b="1" i="1" kern="0" baseline="-25000" dirty="0" smtClean="0"/>
              <a:t>v</a:t>
            </a:r>
            <a:r>
              <a:rPr lang="en-US" altLang="zh-CN" sz="2400" b="1" i="1" kern="0" dirty="0" smtClean="0"/>
              <a:t>          </a:t>
            </a:r>
            <a:r>
              <a:rPr lang="zh-CN" altLang="en-US" sz="2400" b="1" kern="0" dirty="0" smtClean="0"/>
              <a:t>适中</a:t>
            </a:r>
            <a:r>
              <a:rPr lang="zh-CN" altLang="zh-CN" sz="2400" b="1" kern="0" dirty="0" smtClean="0"/>
              <a:t>       </a:t>
            </a:r>
            <a:r>
              <a:rPr lang="zh-CN" altLang="en-US" sz="2400" b="1" kern="0" dirty="0" smtClean="0"/>
              <a:t>      </a:t>
            </a:r>
            <a:r>
              <a:rPr lang="en-US" altLang="zh-CN" sz="2400" b="1" kern="0" dirty="0" smtClean="0"/>
              <a:t>~ </a:t>
            </a:r>
            <a:r>
              <a:rPr lang="zh-CN" altLang="zh-CN" sz="2400" b="1" kern="0" dirty="0" smtClean="0"/>
              <a:t>1      </a:t>
            </a:r>
            <a:r>
              <a:rPr lang="en-US" altLang="zh-CN" sz="2400" b="1" kern="0" dirty="0" smtClean="0"/>
              <a:t>        </a:t>
            </a:r>
            <a:r>
              <a:rPr lang="zh-CN" altLang="en-US" sz="2400" b="1" kern="0" dirty="0" smtClean="0"/>
              <a:t>适中</a:t>
            </a:r>
            <a:r>
              <a:rPr lang="zh-CN" altLang="zh-CN" sz="2400" b="1" kern="0" dirty="0" smtClean="0"/>
              <a:t>   </a:t>
            </a:r>
            <a:endParaRPr lang="zh-CN" altLang="en-US" sz="2400" b="1" kern="0" dirty="0" smtClean="0"/>
          </a:p>
          <a:p>
            <a:r>
              <a:rPr lang="zh-CN" altLang="en-US" sz="2400" b="1" i="1" kern="0" dirty="0" smtClean="0"/>
              <a:t>      </a:t>
            </a:r>
            <a:r>
              <a:rPr lang="en-US" altLang="zh-CN" sz="2400" b="1" i="1" kern="0" dirty="0" smtClean="0"/>
              <a:t>A</a:t>
            </a:r>
            <a:r>
              <a:rPr lang="en-US" altLang="zh-CN" sz="2400" b="1" i="1" kern="0" baseline="-25000" dirty="0" smtClean="0"/>
              <a:t>i </a:t>
            </a:r>
            <a:r>
              <a:rPr lang="en-US" altLang="zh-CN" sz="2400" b="1" i="1" kern="0" dirty="0" smtClean="0"/>
              <a:t>              /                 </a:t>
            </a:r>
            <a:r>
              <a:rPr lang="en-US" altLang="zh-CN" sz="2400" b="1" kern="0" dirty="0" smtClean="0"/>
              <a:t>/</a:t>
            </a:r>
            <a:r>
              <a:rPr lang="en-US" altLang="zh-CN" sz="2400" b="1" i="1" kern="0" dirty="0" smtClean="0"/>
              <a:t>                ~ </a:t>
            </a:r>
            <a:r>
              <a:rPr lang="en-US" altLang="zh-CN" sz="2400" b="1" kern="0" dirty="0" smtClean="0"/>
              <a:t>1</a:t>
            </a:r>
          </a:p>
          <a:p>
            <a:r>
              <a:rPr lang="en-US" altLang="zh-CN" sz="2400" b="1" i="1" kern="0" dirty="0" smtClean="0"/>
              <a:t>      </a:t>
            </a:r>
            <a:r>
              <a:rPr lang="en-US" altLang="zh-CN" sz="2400" b="1" i="1" kern="0" dirty="0" err="1" smtClean="0"/>
              <a:t>R</a:t>
            </a:r>
            <a:r>
              <a:rPr lang="en-US" altLang="zh-CN" sz="2400" b="1" i="1" kern="0" baseline="-25000" dirty="0" err="1" smtClean="0"/>
              <a:t>i</a:t>
            </a:r>
            <a:r>
              <a:rPr lang="en-US" altLang="zh-CN" sz="2400" b="1" i="1" kern="0" baseline="-25000" dirty="0" smtClean="0"/>
              <a:t> </a:t>
            </a:r>
            <a:r>
              <a:rPr lang="en-US" altLang="zh-CN" sz="2400" b="1" kern="0" dirty="0" smtClean="0"/>
              <a:t>             </a:t>
            </a:r>
            <a:r>
              <a:rPr lang="zh-CN" altLang="en-US" sz="2400" b="1" kern="0" dirty="0" smtClean="0"/>
              <a:t>大</a:t>
            </a:r>
            <a:r>
              <a:rPr lang="zh-CN" altLang="zh-CN" sz="2400" b="1" kern="0" dirty="0" smtClean="0"/>
              <a:t>         </a:t>
            </a:r>
            <a:r>
              <a:rPr lang="en-US" altLang="zh-CN" sz="2400" b="1" kern="0" dirty="0" smtClean="0"/>
              <a:t>  </a:t>
            </a:r>
            <a:r>
              <a:rPr lang="zh-CN" altLang="en-US" sz="2400" b="1" kern="0" dirty="0" smtClean="0"/>
              <a:t>  </a:t>
            </a:r>
            <a:r>
              <a:rPr lang="zh-CN" altLang="zh-CN" sz="2400" b="1" kern="0" dirty="0" smtClean="0"/>
              <a:t>大      </a:t>
            </a:r>
            <a:r>
              <a:rPr lang="zh-CN" altLang="en-US" sz="2400" b="1" kern="0" dirty="0" smtClean="0"/>
              <a:t>   </a:t>
            </a:r>
            <a:r>
              <a:rPr lang="zh-CN" altLang="zh-CN" sz="2400" b="1" kern="0" dirty="0" smtClean="0"/>
              <a:t>   </a:t>
            </a:r>
            <a:r>
              <a:rPr lang="zh-CN" altLang="en-US" sz="2400" b="1" kern="0" dirty="0" smtClean="0"/>
              <a:t>    </a:t>
            </a:r>
            <a:r>
              <a:rPr lang="zh-CN" altLang="zh-CN" sz="2400" b="1" kern="0" dirty="0" smtClean="0"/>
              <a:t>小</a:t>
            </a:r>
            <a:endParaRPr lang="zh-CN" altLang="en-US" sz="2400" b="1" kern="0" dirty="0" smtClean="0"/>
          </a:p>
          <a:p>
            <a:r>
              <a:rPr lang="zh-CN" altLang="en-US" sz="2400" b="1" i="1" kern="0" dirty="0" smtClean="0"/>
              <a:t>      </a:t>
            </a:r>
            <a:r>
              <a:rPr lang="en-US" altLang="zh-CN" sz="2400" b="1" i="1" kern="0" dirty="0" smtClean="0"/>
              <a:t>R</a:t>
            </a:r>
            <a:r>
              <a:rPr lang="en-US" altLang="zh-CN" sz="2400" b="1" i="1" kern="0" baseline="-25000" dirty="0" smtClean="0"/>
              <a:t>o</a:t>
            </a:r>
            <a:r>
              <a:rPr lang="en-US" altLang="zh-CN" sz="2400" b="1" kern="0" dirty="0" smtClean="0"/>
              <a:t>             </a:t>
            </a:r>
            <a:r>
              <a:rPr lang="zh-CN" altLang="zh-CN" sz="2400" b="1" kern="0" dirty="0" smtClean="0"/>
              <a:t>大       </a:t>
            </a:r>
            <a:r>
              <a:rPr lang="zh-CN" altLang="en-US" sz="2400" b="1" kern="0" dirty="0" smtClean="0"/>
              <a:t>      </a:t>
            </a:r>
            <a:r>
              <a:rPr lang="zh-CN" altLang="zh-CN" sz="2400" b="1" kern="0" dirty="0" smtClean="0"/>
              <a:t>小        </a:t>
            </a:r>
            <a:r>
              <a:rPr lang="zh-CN" altLang="en-US" sz="2400" b="1" kern="0" dirty="0" smtClean="0"/>
              <a:t>        </a:t>
            </a:r>
            <a:r>
              <a:rPr lang="zh-CN" altLang="zh-CN" sz="2400" b="1" kern="0" dirty="0" smtClean="0"/>
              <a:t>大</a:t>
            </a:r>
            <a:endParaRPr lang="zh-CN" altLang="en-US" sz="2400" b="1" kern="0" dirty="0" smtClean="0"/>
          </a:p>
          <a:p>
            <a:r>
              <a:rPr lang="zh-CN" altLang="en-US" sz="2400" b="1" kern="0" dirty="0" smtClean="0"/>
              <a:t>    频带           窄             中                宽</a:t>
            </a:r>
          </a:p>
        </p:txBody>
      </p:sp>
      <p:sp>
        <p:nvSpPr>
          <p:cNvPr id="7" name="Line 31"/>
          <p:cNvSpPr>
            <a:spLocks noChangeShapeType="1"/>
          </p:cNvSpPr>
          <p:nvPr/>
        </p:nvSpPr>
        <p:spPr bwMode="auto">
          <a:xfrm>
            <a:off x="1169403" y="2382196"/>
            <a:ext cx="6248400" cy="0"/>
          </a:xfrm>
          <a:prstGeom prst="line">
            <a:avLst/>
          </a:prstGeom>
          <a:noFill/>
          <a:ln w="28575">
            <a:solidFill>
              <a:srgbClr val="D6009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Line 32"/>
          <p:cNvSpPr>
            <a:spLocks noChangeShapeType="1"/>
          </p:cNvSpPr>
          <p:nvPr/>
        </p:nvSpPr>
        <p:spPr bwMode="auto">
          <a:xfrm>
            <a:off x="1183690" y="2999734"/>
            <a:ext cx="6248400" cy="0"/>
          </a:xfrm>
          <a:prstGeom prst="line">
            <a:avLst/>
          </a:prstGeom>
          <a:noFill/>
          <a:ln w="9525">
            <a:solidFill>
              <a:srgbClr val="D6009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Line 33"/>
          <p:cNvSpPr>
            <a:spLocks noChangeShapeType="1"/>
          </p:cNvSpPr>
          <p:nvPr/>
        </p:nvSpPr>
        <p:spPr bwMode="auto">
          <a:xfrm>
            <a:off x="1096378" y="3444234"/>
            <a:ext cx="6248400" cy="0"/>
          </a:xfrm>
          <a:prstGeom prst="line">
            <a:avLst/>
          </a:prstGeom>
          <a:noFill/>
          <a:ln w="9525">
            <a:solidFill>
              <a:srgbClr val="D6009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Line 34"/>
          <p:cNvSpPr>
            <a:spLocks noChangeShapeType="1"/>
          </p:cNvSpPr>
          <p:nvPr/>
        </p:nvSpPr>
        <p:spPr bwMode="auto">
          <a:xfrm>
            <a:off x="1172578" y="3883971"/>
            <a:ext cx="6172200" cy="0"/>
          </a:xfrm>
          <a:prstGeom prst="line">
            <a:avLst/>
          </a:prstGeom>
          <a:noFill/>
          <a:ln w="9525">
            <a:solidFill>
              <a:srgbClr val="D6009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Line 35"/>
          <p:cNvSpPr>
            <a:spLocks noChangeShapeType="1"/>
          </p:cNvSpPr>
          <p:nvPr/>
        </p:nvSpPr>
        <p:spPr bwMode="auto">
          <a:xfrm>
            <a:off x="1229728" y="4318946"/>
            <a:ext cx="6172200" cy="0"/>
          </a:xfrm>
          <a:prstGeom prst="line">
            <a:avLst/>
          </a:prstGeom>
          <a:noFill/>
          <a:ln w="9525">
            <a:solidFill>
              <a:srgbClr val="D6009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Line 36"/>
          <p:cNvSpPr>
            <a:spLocks noChangeShapeType="1"/>
          </p:cNvSpPr>
          <p:nvPr/>
        </p:nvSpPr>
        <p:spPr bwMode="auto">
          <a:xfrm>
            <a:off x="1153528" y="4712646"/>
            <a:ext cx="6248400" cy="0"/>
          </a:xfrm>
          <a:prstGeom prst="line">
            <a:avLst/>
          </a:prstGeom>
          <a:noFill/>
          <a:ln w="9525">
            <a:solidFill>
              <a:srgbClr val="D6009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Line 37"/>
          <p:cNvSpPr>
            <a:spLocks noChangeShapeType="1"/>
          </p:cNvSpPr>
          <p:nvPr/>
        </p:nvSpPr>
        <p:spPr bwMode="auto">
          <a:xfrm>
            <a:off x="1256715" y="5204771"/>
            <a:ext cx="6248400" cy="0"/>
          </a:xfrm>
          <a:prstGeom prst="line">
            <a:avLst/>
          </a:prstGeom>
          <a:noFill/>
          <a:ln w="28575">
            <a:solidFill>
              <a:srgbClr val="D6009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Line 38"/>
          <p:cNvSpPr>
            <a:spLocks noChangeShapeType="1"/>
          </p:cNvSpPr>
          <p:nvPr/>
        </p:nvSpPr>
        <p:spPr bwMode="auto">
          <a:xfrm>
            <a:off x="2541003" y="2382196"/>
            <a:ext cx="0" cy="2779713"/>
          </a:xfrm>
          <a:prstGeom prst="line">
            <a:avLst/>
          </a:prstGeom>
          <a:noFill/>
          <a:ln w="9525">
            <a:solidFill>
              <a:srgbClr val="D6009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Line 39"/>
          <p:cNvSpPr>
            <a:spLocks noChangeShapeType="1"/>
          </p:cNvSpPr>
          <p:nvPr/>
        </p:nvSpPr>
        <p:spPr bwMode="auto">
          <a:xfrm>
            <a:off x="3876090" y="2426646"/>
            <a:ext cx="0" cy="2794000"/>
          </a:xfrm>
          <a:prstGeom prst="line">
            <a:avLst/>
          </a:prstGeom>
          <a:noFill/>
          <a:ln w="9525">
            <a:solidFill>
              <a:srgbClr val="D6009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Line 40"/>
          <p:cNvSpPr>
            <a:spLocks noChangeShapeType="1"/>
          </p:cNvSpPr>
          <p:nvPr/>
        </p:nvSpPr>
        <p:spPr bwMode="auto">
          <a:xfrm>
            <a:off x="5385803" y="2410771"/>
            <a:ext cx="0" cy="2808288"/>
          </a:xfrm>
          <a:prstGeom prst="line">
            <a:avLst/>
          </a:prstGeom>
          <a:noFill/>
          <a:ln w="9525">
            <a:solidFill>
              <a:srgbClr val="D6009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5590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ext Box 15"/>
          <p:cNvSpPr txBox="1">
            <a:spLocks noChangeArrowheads="1"/>
          </p:cNvSpPr>
          <p:nvPr/>
        </p:nvSpPr>
        <p:spPr bwMode="auto">
          <a:xfrm>
            <a:off x="623888" y="471376"/>
            <a:ext cx="6553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dirty="0" smtClean="0">
                <a:solidFill>
                  <a:srgbClr val="990033"/>
                </a:solidFill>
              </a:rPr>
              <a:t>8.2.3 </a:t>
            </a:r>
            <a:r>
              <a:rPr lang="zh-CN" altLang="en-US" dirty="0" smtClean="0">
                <a:solidFill>
                  <a:srgbClr val="990033"/>
                </a:solidFill>
              </a:rPr>
              <a:t>多级</a:t>
            </a:r>
            <a:r>
              <a:rPr lang="zh-CN" altLang="en-US" dirty="0">
                <a:solidFill>
                  <a:srgbClr val="990033"/>
                </a:solidFill>
              </a:rPr>
              <a:t>放大电路的分析计算</a:t>
            </a:r>
            <a:endParaRPr lang="zh-CN" altLang="en-US" dirty="0">
              <a:solidFill>
                <a:srgbClr val="A50021"/>
              </a:solidFill>
            </a:endParaRP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702769" y="1715210"/>
            <a:ext cx="755047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000" dirty="0" smtClean="0">
                <a:solidFill>
                  <a:schemeClr val="accent2"/>
                </a:solidFill>
              </a:rPr>
              <a:t>找一个具体的多级放大电路（不包含差分电路），进行计算分析</a:t>
            </a:r>
            <a:endParaRPr lang="zh-CN" alt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65502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99FF99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99FF99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12603</TotalTime>
  <Words>1207</Words>
  <Application>Microsoft Office PowerPoint</Application>
  <PresentationFormat>全屏显示(4:3)</PresentationFormat>
  <Paragraphs>173</Paragraphs>
  <Slides>55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55</vt:i4>
      </vt:variant>
    </vt:vector>
  </HeadingPairs>
  <TitlesOfParts>
    <vt:vector size="67" baseType="lpstr">
      <vt:lpstr>华文行楷</vt:lpstr>
      <vt:lpstr>楷体_GB2312</vt:lpstr>
      <vt:lpstr>隶书</vt:lpstr>
      <vt:lpstr>宋体</vt:lpstr>
      <vt:lpstr>Arial</vt:lpstr>
      <vt:lpstr>Symbol</vt:lpstr>
      <vt:lpstr>Times New Roman</vt:lpstr>
      <vt:lpstr>Verdana</vt:lpstr>
      <vt:lpstr>Wingdings</vt:lpstr>
      <vt:lpstr>默认设计模板</vt:lpstr>
      <vt:lpstr>Visio</vt:lpstr>
      <vt:lpstr>Equation</vt:lpstr>
      <vt:lpstr>第8章  场效应晶体管(FETs)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thcic</dc:creator>
  <cp:lastModifiedBy>JT</cp:lastModifiedBy>
  <cp:revision>784</cp:revision>
  <dcterms:created xsi:type="dcterms:W3CDTF">1998-03-26T06:58:13Z</dcterms:created>
  <dcterms:modified xsi:type="dcterms:W3CDTF">2025-03-07T09:07:51Z</dcterms:modified>
</cp:coreProperties>
</file>
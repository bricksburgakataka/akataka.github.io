
<file path=[Content_Types].xml><?xml version="1.0" encoding="utf-8"?>
<Types xmlns="http://schemas.openxmlformats.org/package/2006/content-types">
  <Default Extension="png" ContentType="image/png"/>
  <Default Extension="bin" ContentType="application/vnd.openxmlformats-officedocument.oleObject"/>
  <Default Extension="vsd" ContentType="application/vnd.visio"/>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3" r:id="rId3"/>
    <p:sldMasterId id="2147483685" r:id="rId4"/>
    <p:sldMasterId id="2147483697" r:id="rId5"/>
  </p:sldMasterIdLst>
  <p:notesMasterIdLst>
    <p:notesMasterId r:id="rId72"/>
  </p:notesMasterIdLst>
  <p:sldIdLst>
    <p:sldId id="551" r:id="rId6"/>
    <p:sldId id="288" r:id="rId7"/>
    <p:sldId id="514" r:id="rId8"/>
    <p:sldId id="553" r:id="rId9"/>
    <p:sldId id="556" r:id="rId10"/>
    <p:sldId id="557" r:id="rId11"/>
    <p:sldId id="554" r:id="rId12"/>
    <p:sldId id="555" r:id="rId13"/>
    <p:sldId id="559" r:id="rId14"/>
    <p:sldId id="558" r:id="rId15"/>
    <p:sldId id="292" r:id="rId16"/>
    <p:sldId id="293" r:id="rId17"/>
    <p:sldId id="295" r:id="rId18"/>
    <p:sldId id="306" r:id="rId19"/>
    <p:sldId id="592" r:id="rId20"/>
    <p:sldId id="593" r:id="rId21"/>
    <p:sldId id="594" r:id="rId22"/>
    <p:sldId id="299" r:id="rId23"/>
    <p:sldId id="595" r:id="rId24"/>
    <p:sldId id="596" r:id="rId25"/>
    <p:sldId id="597" r:id="rId26"/>
    <p:sldId id="301" r:id="rId27"/>
    <p:sldId id="598" r:id="rId28"/>
    <p:sldId id="303" r:id="rId29"/>
    <p:sldId id="304" r:id="rId30"/>
    <p:sldId id="456" r:id="rId31"/>
    <p:sldId id="309" r:id="rId32"/>
    <p:sldId id="336" r:id="rId33"/>
    <p:sldId id="341" r:id="rId34"/>
    <p:sldId id="460" r:id="rId35"/>
    <p:sldId id="461" r:id="rId36"/>
    <p:sldId id="600" r:id="rId37"/>
    <p:sldId id="601" r:id="rId38"/>
    <p:sldId id="313" r:id="rId39"/>
    <p:sldId id="602" r:id="rId40"/>
    <p:sldId id="603" r:id="rId41"/>
    <p:sldId id="367" r:id="rId42"/>
    <p:sldId id="371" r:id="rId43"/>
    <p:sldId id="376" r:id="rId44"/>
    <p:sldId id="387" r:id="rId45"/>
    <p:sldId id="384" r:id="rId46"/>
    <p:sldId id="605" r:id="rId47"/>
    <p:sldId id="606" r:id="rId48"/>
    <p:sldId id="373" r:id="rId49"/>
    <p:sldId id="314" r:id="rId50"/>
    <p:sldId id="614" r:id="rId51"/>
    <p:sldId id="615" r:id="rId52"/>
    <p:sldId id="616" r:id="rId53"/>
    <p:sldId id="617" r:id="rId54"/>
    <p:sldId id="618" r:id="rId55"/>
    <p:sldId id="619" r:id="rId56"/>
    <p:sldId id="620" r:id="rId57"/>
    <p:sldId id="621" r:id="rId58"/>
    <p:sldId id="622" r:id="rId59"/>
    <p:sldId id="623" r:id="rId60"/>
    <p:sldId id="624" r:id="rId61"/>
    <p:sldId id="626" r:id="rId62"/>
    <p:sldId id="627" r:id="rId63"/>
    <p:sldId id="628" r:id="rId64"/>
    <p:sldId id="630" r:id="rId65"/>
    <p:sldId id="636" r:id="rId66"/>
    <p:sldId id="637" r:id="rId67"/>
    <p:sldId id="638" r:id="rId68"/>
    <p:sldId id="639" r:id="rId69"/>
    <p:sldId id="640" r:id="rId70"/>
    <p:sldId id="641" r:id="rId71"/>
  </p:sldIdLst>
  <p:sldSz cx="9144000" cy="6858000" type="screen4x3"/>
  <p:notesSz cx="6858000" cy="9144000"/>
  <p:defaultTextStyle>
    <a:defPPr>
      <a:defRPr lang="zh-CN"/>
    </a:defPPr>
    <a:lvl1pPr algn="l" rtl="0" fontAlgn="base">
      <a:spcBef>
        <a:spcPct val="0"/>
      </a:spcBef>
      <a:spcAft>
        <a:spcPct val="0"/>
      </a:spcAft>
      <a:defRPr kumimoji="1" sz="2400" b="1" kern="1200">
        <a:solidFill>
          <a:schemeClr val="tx1"/>
        </a:solidFill>
        <a:latin typeface="Times New Roman" pitchFamily="18" charset="0"/>
        <a:ea typeface="宋体" charset="-122"/>
        <a:cs typeface="+mn-cs"/>
      </a:defRPr>
    </a:lvl1pPr>
    <a:lvl2pPr marL="457200" algn="l" rtl="0" fontAlgn="base">
      <a:spcBef>
        <a:spcPct val="0"/>
      </a:spcBef>
      <a:spcAft>
        <a:spcPct val="0"/>
      </a:spcAft>
      <a:defRPr kumimoji="1" sz="2400" b="1"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2400" b="1"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2400" b="1"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2400" b="1" kern="1200">
        <a:solidFill>
          <a:schemeClr val="tx1"/>
        </a:solidFill>
        <a:latin typeface="Times New Roman" pitchFamily="18" charset="0"/>
        <a:ea typeface="宋体" charset="-122"/>
        <a:cs typeface="+mn-cs"/>
      </a:defRPr>
    </a:lvl5pPr>
    <a:lvl6pPr marL="2286000" algn="l" defTabSz="914400" rtl="0" eaLnBrk="1" latinLnBrk="0" hangingPunct="1">
      <a:defRPr kumimoji="1" sz="2400" b="1" kern="1200">
        <a:solidFill>
          <a:schemeClr val="tx1"/>
        </a:solidFill>
        <a:latin typeface="Times New Roman" pitchFamily="18" charset="0"/>
        <a:ea typeface="宋体" charset="-122"/>
        <a:cs typeface="+mn-cs"/>
      </a:defRPr>
    </a:lvl6pPr>
    <a:lvl7pPr marL="2743200" algn="l" defTabSz="914400" rtl="0" eaLnBrk="1" latinLnBrk="0" hangingPunct="1">
      <a:defRPr kumimoji="1" sz="2400" b="1" kern="1200">
        <a:solidFill>
          <a:schemeClr val="tx1"/>
        </a:solidFill>
        <a:latin typeface="Times New Roman" pitchFamily="18" charset="0"/>
        <a:ea typeface="宋体" charset="-122"/>
        <a:cs typeface="+mn-cs"/>
      </a:defRPr>
    </a:lvl7pPr>
    <a:lvl8pPr marL="3200400" algn="l" defTabSz="914400" rtl="0" eaLnBrk="1" latinLnBrk="0" hangingPunct="1">
      <a:defRPr kumimoji="1" sz="2400" b="1" kern="1200">
        <a:solidFill>
          <a:schemeClr val="tx1"/>
        </a:solidFill>
        <a:latin typeface="Times New Roman" pitchFamily="18" charset="0"/>
        <a:ea typeface="宋体" charset="-122"/>
        <a:cs typeface="+mn-cs"/>
      </a:defRPr>
    </a:lvl8pPr>
    <a:lvl9pPr marL="3657600" algn="l" defTabSz="914400" rtl="0" eaLnBrk="1" latinLnBrk="0" hangingPunct="1">
      <a:defRPr kumimoji="1" sz="2400" b="1"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3399FF"/>
    <a:srgbClr val="FF0066"/>
    <a:srgbClr val="00FFFF"/>
    <a:srgbClr val="FF00FF"/>
    <a:srgbClr val="66FF33"/>
    <a:srgbClr val="FF33CC"/>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p:normalViewPr>
  <p:slideViewPr>
    <p:cSldViewPr snapToGrid="0">
      <p:cViewPr>
        <p:scale>
          <a:sx n="75" d="100"/>
          <a:sy n="75" d="100"/>
        </p:scale>
        <p:origin x="198" y="100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37" d="100"/>
          <a:sy n="37" d="100"/>
        </p:scale>
        <p:origin x="-1470" y="-96"/>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jpe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emf"/><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9.jpe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9.jpeg"/><Relationship Id="rId4"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9.jpe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9.wmf"/><Relationship Id="rId4" Type="http://schemas.openxmlformats.org/officeDocument/2006/relationships/image" Target="../media/image3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2.wmf"/><Relationship Id="rId7" Type="http://schemas.openxmlformats.org/officeDocument/2006/relationships/image" Target="../media/image46.wmf"/><Relationship Id="rId2" Type="http://schemas.openxmlformats.org/officeDocument/2006/relationships/image" Target="../media/image41.wmf"/><Relationship Id="rId1" Type="http://schemas.openxmlformats.org/officeDocument/2006/relationships/image" Target="../media/image40.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wmf"/><Relationship Id="rId1" Type="http://schemas.openxmlformats.org/officeDocument/2006/relationships/image" Target="../media/image9.jpeg"/></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9.jpeg"/></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5" Type="http://schemas.openxmlformats.org/officeDocument/2006/relationships/image" Target="../media/image61.wmf"/><Relationship Id="rId4" Type="http://schemas.openxmlformats.org/officeDocument/2006/relationships/image" Target="../media/image60.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 Id="rId5" Type="http://schemas.openxmlformats.org/officeDocument/2006/relationships/image" Target="../media/image66.wmf"/><Relationship Id="rId4" Type="http://schemas.openxmlformats.org/officeDocument/2006/relationships/image" Target="../media/image65.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image" Target="../media/image67.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image" Target="../media/image68.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wmf"/><Relationship Id="rId1" Type="http://schemas.openxmlformats.org/officeDocument/2006/relationships/image" Target="../media/image71.emf"/><Relationship Id="rId4" Type="http://schemas.openxmlformats.org/officeDocument/2006/relationships/image" Target="../media/image74.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image" Target="../media/image79.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image" Target="../media/image81.emf"/><Relationship Id="rId5" Type="http://schemas.openxmlformats.org/officeDocument/2006/relationships/image" Target="../media/image85.emf"/><Relationship Id="rId4" Type="http://schemas.openxmlformats.org/officeDocument/2006/relationships/image" Target="../media/image84.e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image" Target="../media/image87.emf"/><Relationship Id="rId1" Type="http://schemas.openxmlformats.org/officeDocument/2006/relationships/image" Target="../media/image86.emf"/><Relationship Id="rId5" Type="http://schemas.openxmlformats.org/officeDocument/2006/relationships/image" Target="../media/image90.emf"/><Relationship Id="rId4" Type="http://schemas.openxmlformats.org/officeDocument/2006/relationships/image" Target="../media/image89.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image" Target="../media/image91.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 Id="rId4" Type="http://schemas.openxmlformats.org/officeDocument/2006/relationships/image" Target="../media/image9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defRPr sz="1200" b="0" smtClean="0"/>
            </a:lvl1pPr>
          </a:lstStyle>
          <a:p>
            <a:pPr>
              <a:defRPr/>
            </a:pPr>
            <a:endParaRPr lang="en-US" altLang="zh-CN"/>
          </a:p>
        </p:txBody>
      </p:sp>
      <p:sp>
        <p:nvSpPr>
          <p:cNvPr id="286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r">
              <a:defRPr sz="1200" b="0" smtClean="0"/>
            </a:lvl1pPr>
          </a:lstStyle>
          <a:p>
            <a:pPr>
              <a:defRPr/>
            </a:pPr>
            <a:endParaRPr lang="en-US" altLang="zh-CN"/>
          </a:p>
        </p:txBody>
      </p:sp>
      <p:sp>
        <p:nvSpPr>
          <p:cNvPr id="911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86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defRPr sz="1200" b="0" smtClean="0"/>
            </a:lvl1pPr>
          </a:lstStyle>
          <a:p>
            <a:pPr>
              <a:defRPr/>
            </a:pPr>
            <a:endParaRPr lang="en-US" altLang="zh-CN"/>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lgn="r">
              <a:defRPr sz="1200" b="0" smtClean="0"/>
            </a:lvl1pPr>
          </a:lstStyle>
          <a:p>
            <a:pPr>
              <a:defRPr/>
            </a:pPr>
            <a:fld id="{A0B4ECDF-8042-42BE-A4D0-148604F7932D}" type="slidenum">
              <a:rPr lang="en-US" altLang="zh-CN"/>
              <a:pPr>
                <a:defRPr/>
              </a:pPr>
              <a:t>‹#›</a:t>
            </a:fld>
            <a:endParaRPr lang="en-US" altLang="zh-CN"/>
          </a:p>
        </p:txBody>
      </p:sp>
    </p:spTree>
    <p:extLst>
      <p:ext uri="{BB962C8B-B14F-4D97-AF65-F5344CB8AC3E}">
        <p14:creationId xmlns:p14="http://schemas.microsoft.com/office/powerpoint/2010/main" val="39229816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fld id="{865C56C5-FC1C-4AD4-8909-B03C6B71B951}" type="slidenum">
              <a:rPr lang="en-US" altLang="zh-CN" sz="1200" b="0"/>
              <a:pPr eaLnBrk="1" hangingPunct="1"/>
              <a:t>27</a:t>
            </a:fld>
            <a:endParaRPr lang="en-US" altLang="zh-CN" sz="1200" b="0"/>
          </a:p>
        </p:txBody>
      </p:sp>
      <p:sp>
        <p:nvSpPr>
          <p:cNvPr id="92163"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92164" name="Rectangle 3"/>
          <p:cNvSpPr>
            <a:spLocks noGrp="1" noChangeArrowheads="1"/>
          </p:cNvSpPr>
          <p:nvPr>
            <p:ph type="body" idx="1"/>
          </p:nvPr>
        </p:nvSpPr>
        <p:spPr>
          <a:noFill/>
        </p:spPr>
        <p:txBody>
          <a:bodyPr wrap="square" lIns="92075" tIns="46038" rIns="92075" bIns="46038" anchor="t"/>
          <a:lstStyle/>
          <a:p>
            <a:pPr eaLnBrk="1" hangingPunct="1"/>
            <a:endParaRPr lang="zh-CN" altLang="zh-CN" smtClean="0"/>
          </a:p>
        </p:txBody>
      </p:sp>
    </p:spTree>
    <p:extLst>
      <p:ext uri="{BB962C8B-B14F-4D97-AF65-F5344CB8AC3E}">
        <p14:creationId xmlns:p14="http://schemas.microsoft.com/office/powerpoint/2010/main" val="927750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fld id="{A3009CB1-6516-4D3D-94C2-8773F148670B}" type="slidenum">
              <a:rPr lang="en-US" altLang="zh-CN" sz="1200" b="0"/>
              <a:pPr eaLnBrk="1" hangingPunct="1"/>
              <a:t>28</a:t>
            </a:fld>
            <a:endParaRPr lang="en-US" altLang="zh-CN" sz="1200" b="0"/>
          </a:p>
        </p:txBody>
      </p:sp>
      <p:sp>
        <p:nvSpPr>
          <p:cNvPr id="94211"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94212" name="Rectangle 3"/>
          <p:cNvSpPr>
            <a:spLocks noGrp="1" noChangeArrowheads="1"/>
          </p:cNvSpPr>
          <p:nvPr>
            <p:ph type="body" idx="1"/>
          </p:nvPr>
        </p:nvSpPr>
        <p:spPr>
          <a:noFill/>
        </p:spPr>
        <p:txBody>
          <a:bodyPr wrap="square" lIns="92075" tIns="46038" rIns="92075" bIns="46038" anchor="t"/>
          <a:lstStyle/>
          <a:p>
            <a:pPr eaLnBrk="1" hangingPunct="1"/>
            <a:endParaRPr lang="zh-CN" altLang="zh-CN" smtClean="0"/>
          </a:p>
        </p:txBody>
      </p:sp>
    </p:spTree>
    <p:extLst>
      <p:ext uri="{BB962C8B-B14F-4D97-AF65-F5344CB8AC3E}">
        <p14:creationId xmlns:p14="http://schemas.microsoft.com/office/powerpoint/2010/main" val="1390920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281463-EE05-497A-81D5-02ECB42157D3}" type="slidenum">
              <a:rPr lang="en-US" altLang="zh-CN"/>
              <a:pPr/>
              <a:t>30</a:t>
            </a:fld>
            <a:endParaRPr lang="en-US" altLang="zh-CN"/>
          </a:p>
        </p:txBody>
      </p:sp>
      <p:sp>
        <p:nvSpPr>
          <p:cNvPr id="281602" name="Rectangle 2"/>
          <p:cNvSpPr>
            <a:spLocks noGrp="1" noRot="1" noChangeAspect="1" noChangeArrowheads="1" noTextEdit="1"/>
          </p:cNvSpPr>
          <p:nvPr>
            <p:ph type="sldImg"/>
          </p:nvPr>
        </p:nvSpPr>
        <p:spPr>
          <a:xfrm>
            <a:off x="1150938" y="692150"/>
            <a:ext cx="4556125" cy="3416300"/>
          </a:xfrm>
          <a:ln w="12700" cap="flat">
            <a:solidFill>
              <a:schemeClr val="tx1"/>
            </a:solidFill>
          </a:ln>
          <a:extLst>
            <a:ext uri="{909E8E84-426E-40DD-AFC4-6F175D3DCCD1}">
              <a14:hiddenFill xmlns:a14="http://schemas.microsoft.com/office/drawing/2010/main">
                <a:noFill/>
              </a14:hiddenFill>
            </a:ext>
          </a:extLst>
        </p:spPr>
      </p:sp>
      <p:sp>
        <p:nvSpPr>
          <p:cNvPr id="281603" name="Rectangle 3"/>
          <p:cNvSpPr>
            <a:spLocks noGrp="1" noChangeArrowheads="1"/>
          </p:cNvSpPr>
          <p:nvPr>
            <p:ph type="body" idx="1"/>
          </p:nvPr>
        </p:nvSpPr>
        <p:spPr>
          <a:ln/>
        </p:spPr>
        <p:txBody>
          <a:bodyPr wrap="square" lIns="92075" tIns="46038" rIns="92075" bIns="46038" anchor="t"/>
          <a:lstStyle/>
          <a:p>
            <a:endParaRPr lang="zh-CN" altLang="zh-CN"/>
          </a:p>
        </p:txBody>
      </p:sp>
    </p:spTree>
    <p:extLst>
      <p:ext uri="{BB962C8B-B14F-4D97-AF65-F5344CB8AC3E}">
        <p14:creationId xmlns:p14="http://schemas.microsoft.com/office/powerpoint/2010/main" val="1264306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DA00D1-B54C-4614-AF22-A321CE0A8E14}" type="slidenum">
              <a:rPr lang="en-US" altLang="zh-CN"/>
              <a:pPr/>
              <a:t>32</a:t>
            </a:fld>
            <a:endParaRPr lang="en-US" altLang="zh-CN"/>
          </a:p>
        </p:txBody>
      </p:sp>
      <p:sp>
        <p:nvSpPr>
          <p:cNvPr id="242690" name="Rectangle 2"/>
          <p:cNvSpPr>
            <a:spLocks noGrp="1" noRot="1" noChangeAspect="1" noChangeArrowheads="1" noTextEdit="1"/>
          </p:cNvSpPr>
          <p:nvPr>
            <p:ph type="sldImg"/>
          </p:nvPr>
        </p:nvSpPr>
        <p:spPr>
          <a:xfrm>
            <a:off x="1150938" y="692150"/>
            <a:ext cx="4556125" cy="3416300"/>
          </a:xfrm>
          <a:ln w="12700" cap="flat">
            <a:solidFill>
              <a:schemeClr val="tx1"/>
            </a:solidFill>
          </a:ln>
          <a:extLst>
            <a:ext uri="{909E8E84-426E-40DD-AFC4-6F175D3DCCD1}">
              <a14:hiddenFill xmlns:a14="http://schemas.microsoft.com/office/drawing/2010/main">
                <a:noFill/>
              </a14:hiddenFill>
            </a:ext>
          </a:extLst>
        </p:spPr>
      </p:sp>
      <p:sp>
        <p:nvSpPr>
          <p:cNvPr id="242691" name="Rectangle 3"/>
          <p:cNvSpPr>
            <a:spLocks noGrp="1" noChangeArrowheads="1"/>
          </p:cNvSpPr>
          <p:nvPr>
            <p:ph type="body" idx="1"/>
          </p:nvPr>
        </p:nvSpPr>
        <p:spPr>
          <a:ln/>
        </p:spPr>
        <p:txBody>
          <a:bodyPr wrap="square" lIns="92075" tIns="46038" rIns="92075" bIns="46038" anchor="t"/>
          <a:lstStyle/>
          <a:p>
            <a:endParaRPr lang="zh-CN" altLang="zh-CN"/>
          </a:p>
        </p:txBody>
      </p:sp>
    </p:spTree>
    <p:extLst>
      <p:ext uri="{BB962C8B-B14F-4D97-AF65-F5344CB8AC3E}">
        <p14:creationId xmlns:p14="http://schemas.microsoft.com/office/powerpoint/2010/main" val="1634659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fld id="{2B064BC8-1B3B-40B5-8EC4-7D1F13488278}" type="slidenum">
              <a:rPr lang="en-US" altLang="zh-CN" sz="1200" b="0"/>
              <a:pPr eaLnBrk="1" hangingPunct="1"/>
              <a:t>33</a:t>
            </a:fld>
            <a:endParaRPr lang="en-US" altLang="zh-CN" sz="1200" b="0"/>
          </a:p>
        </p:txBody>
      </p:sp>
      <p:sp>
        <p:nvSpPr>
          <p:cNvPr id="96259" name="Rectangle 2"/>
          <p:cNvSpPr>
            <a:spLocks noGrp="1" noChangeArrowheads="1"/>
          </p:cNvSpPr>
          <p:nvPr>
            <p:ph type="body" idx="1"/>
          </p:nvPr>
        </p:nvSpPr>
        <p:spPr>
          <a:noFill/>
        </p:spPr>
        <p:txBody>
          <a:bodyPr wrap="square" lIns="92075" tIns="46038" rIns="92075" bIns="46038" anchor="t"/>
          <a:lstStyle/>
          <a:p>
            <a:pPr eaLnBrk="1" hangingPunct="1"/>
            <a:endParaRPr lang="zh-CN" altLang="zh-CN" smtClean="0"/>
          </a:p>
        </p:txBody>
      </p:sp>
      <p:sp>
        <p:nvSpPr>
          <p:cNvPr id="96260" name="Rectangle 3"/>
          <p:cNvSpPr>
            <a:spLocks noGrp="1" noRot="1" noChangeAspect="1" noChangeArrowheads="1" noTextEdit="1"/>
          </p:cNvSpPr>
          <p:nvPr>
            <p:ph type="sldImg"/>
          </p:nvPr>
        </p:nvSpPr>
        <p:spPr>
          <a:xfrm>
            <a:off x="1150938" y="692150"/>
            <a:ext cx="4556125" cy="3416300"/>
          </a:xfrm>
          <a:ln w="12700" cap="flat">
            <a:solidFill>
              <a:schemeClr val="tx1"/>
            </a:solidFill>
          </a:ln>
        </p:spPr>
      </p:sp>
    </p:spTree>
    <p:extLst>
      <p:ext uri="{BB962C8B-B14F-4D97-AF65-F5344CB8AC3E}">
        <p14:creationId xmlns:p14="http://schemas.microsoft.com/office/powerpoint/2010/main" val="95688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fld id="{B346B871-AED0-4D99-B2A7-E5DD6CA5BCA7}" type="slidenum">
              <a:rPr lang="en-US" altLang="zh-CN" sz="1200" b="0"/>
              <a:pPr eaLnBrk="1" hangingPunct="1"/>
              <a:t>37</a:t>
            </a:fld>
            <a:endParaRPr lang="en-US" altLang="zh-CN" sz="1200" b="0"/>
          </a:p>
        </p:txBody>
      </p:sp>
      <p:sp>
        <p:nvSpPr>
          <p:cNvPr id="97283" name="Rectangle 2"/>
          <p:cNvSpPr>
            <a:spLocks noGrp="1" noRot="1" noChangeAspect="1" noChangeArrowheads="1" noTextEdit="1"/>
          </p:cNvSpPr>
          <p:nvPr>
            <p:ph type="sldImg"/>
          </p:nvPr>
        </p:nvSpPr>
        <p:spPr>
          <a:xfrm>
            <a:off x="1150938" y="692150"/>
            <a:ext cx="4556125" cy="3416300"/>
          </a:xfrm>
          <a:ln/>
        </p:spPr>
      </p:sp>
      <p:sp>
        <p:nvSpPr>
          <p:cNvPr id="97284"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513094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fld id="{5AA9740A-691A-4E77-B797-67242054719F}" type="slidenum">
              <a:rPr lang="en-US" altLang="zh-CN" sz="1200" b="0"/>
              <a:pPr eaLnBrk="1" hangingPunct="1"/>
              <a:t>38</a:t>
            </a:fld>
            <a:endParaRPr lang="en-US" altLang="zh-CN" sz="1200" b="0"/>
          </a:p>
        </p:txBody>
      </p:sp>
      <p:sp>
        <p:nvSpPr>
          <p:cNvPr id="98307" name="Rectangle 2"/>
          <p:cNvSpPr>
            <a:spLocks noGrp="1" noRot="1" noChangeAspect="1" noChangeArrowheads="1" noTextEdit="1"/>
          </p:cNvSpPr>
          <p:nvPr>
            <p:ph type="sldImg"/>
          </p:nvPr>
        </p:nvSpPr>
        <p:spPr>
          <a:xfrm>
            <a:off x="1150938" y="692150"/>
            <a:ext cx="4556125" cy="3416300"/>
          </a:xfrm>
          <a:ln/>
        </p:spPr>
      </p:sp>
      <p:sp>
        <p:nvSpPr>
          <p:cNvPr id="98308"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4090806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fld id="{A28B725B-1E52-48F9-BC47-0642B71A7189}" type="slidenum">
              <a:rPr lang="en-US" altLang="zh-CN" sz="1200" b="0"/>
              <a:pPr eaLnBrk="1" hangingPunct="1"/>
              <a:t>39</a:t>
            </a:fld>
            <a:endParaRPr lang="en-US" altLang="zh-CN" sz="1200" b="0"/>
          </a:p>
        </p:txBody>
      </p:sp>
      <p:sp>
        <p:nvSpPr>
          <p:cNvPr id="99331" name="Rectangle 2"/>
          <p:cNvSpPr>
            <a:spLocks noGrp="1" noRot="1" noChangeAspect="1" noChangeArrowheads="1" noTextEdit="1"/>
          </p:cNvSpPr>
          <p:nvPr>
            <p:ph type="sldImg"/>
          </p:nvPr>
        </p:nvSpPr>
        <p:spPr>
          <a:xfrm>
            <a:off x="1150938" y="692150"/>
            <a:ext cx="4556125" cy="3416300"/>
          </a:xfrm>
          <a:ln/>
        </p:spPr>
      </p:sp>
      <p:sp>
        <p:nvSpPr>
          <p:cNvPr id="99332"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1722150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07C7657-688F-44AD-AA48-0B61449B0C64}" type="slidenum">
              <a:rPr lang="en-US" altLang="zh-CN"/>
              <a:pPr>
                <a:defRPr/>
              </a:pPr>
              <a:t>‹#›</a:t>
            </a:fld>
            <a:endParaRPr lang="en-US" altLang="zh-CN"/>
          </a:p>
        </p:txBody>
      </p:sp>
    </p:spTree>
    <p:extLst>
      <p:ext uri="{BB962C8B-B14F-4D97-AF65-F5344CB8AC3E}">
        <p14:creationId xmlns:p14="http://schemas.microsoft.com/office/powerpoint/2010/main" val="486245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5705927-9A4D-496F-995C-BB62FF86A290}" type="slidenum">
              <a:rPr lang="en-US" altLang="zh-CN"/>
              <a:pPr>
                <a:defRPr/>
              </a:pPr>
              <a:t>‹#›</a:t>
            </a:fld>
            <a:endParaRPr lang="en-US" altLang="zh-CN"/>
          </a:p>
        </p:txBody>
      </p:sp>
    </p:spTree>
    <p:extLst>
      <p:ext uri="{BB962C8B-B14F-4D97-AF65-F5344CB8AC3E}">
        <p14:creationId xmlns:p14="http://schemas.microsoft.com/office/powerpoint/2010/main" val="207745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B4A3898-715A-4AF6-886C-A28C2E593F7E}" type="slidenum">
              <a:rPr lang="en-US" altLang="zh-CN"/>
              <a:pPr>
                <a:defRPr/>
              </a:pPr>
              <a:t>‹#›</a:t>
            </a:fld>
            <a:endParaRPr lang="en-US" altLang="zh-CN"/>
          </a:p>
        </p:txBody>
      </p:sp>
    </p:spTree>
    <p:extLst>
      <p:ext uri="{BB962C8B-B14F-4D97-AF65-F5344CB8AC3E}">
        <p14:creationId xmlns:p14="http://schemas.microsoft.com/office/powerpoint/2010/main" val="2810913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C48F33D-64EC-48A7-B1F5-438BD2D6368A}" type="slidenum">
              <a:rPr lang="en-US" altLang="zh-CN"/>
              <a:pPr>
                <a:defRPr/>
              </a:pPr>
              <a:t>‹#›</a:t>
            </a:fld>
            <a:endParaRPr lang="en-US" altLang="zh-CN"/>
          </a:p>
        </p:txBody>
      </p:sp>
    </p:spTree>
    <p:extLst>
      <p:ext uri="{BB962C8B-B14F-4D97-AF65-F5344CB8AC3E}">
        <p14:creationId xmlns:p14="http://schemas.microsoft.com/office/powerpoint/2010/main" val="2549659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ADB6614A-42F3-455E-998C-406E78C6B610}" type="slidenum">
              <a:rPr lang="en-US" altLang="zh-CN"/>
              <a:pPr>
                <a:defRPr/>
              </a:pPr>
              <a:t>‹#›</a:t>
            </a:fld>
            <a:endParaRPr lang="en-US" altLang="zh-CN"/>
          </a:p>
        </p:txBody>
      </p:sp>
    </p:spTree>
    <p:extLst>
      <p:ext uri="{BB962C8B-B14F-4D97-AF65-F5344CB8AC3E}">
        <p14:creationId xmlns:p14="http://schemas.microsoft.com/office/powerpoint/2010/main" val="404667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066C28D5-A777-46B8-8EC1-158ADEFAB63D}" type="slidenum">
              <a:rPr lang="en-US" altLang="zh-CN"/>
              <a:pPr>
                <a:defRPr/>
              </a:pPr>
              <a:t>‹#›</a:t>
            </a:fld>
            <a:endParaRPr lang="en-US" altLang="zh-CN"/>
          </a:p>
        </p:txBody>
      </p:sp>
    </p:spTree>
    <p:extLst>
      <p:ext uri="{BB962C8B-B14F-4D97-AF65-F5344CB8AC3E}">
        <p14:creationId xmlns:p14="http://schemas.microsoft.com/office/powerpoint/2010/main" val="74793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BA164FF7-8A35-42EF-A767-AB505FBD0857}" type="slidenum">
              <a:rPr lang="en-US" altLang="zh-CN"/>
              <a:pPr>
                <a:defRPr/>
              </a:pPr>
              <a:t>‹#›</a:t>
            </a:fld>
            <a:endParaRPr lang="en-US" altLang="zh-CN"/>
          </a:p>
        </p:txBody>
      </p:sp>
    </p:spTree>
    <p:extLst>
      <p:ext uri="{BB962C8B-B14F-4D97-AF65-F5344CB8AC3E}">
        <p14:creationId xmlns:p14="http://schemas.microsoft.com/office/powerpoint/2010/main" val="4200547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15FCCBD-9D9A-450A-9659-ED7BA4ED5315}" type="slidenum">
              <a:rPr lang="en-US" altLang="zh-CN"/>
              <a:pPr>
                <a:defRPr/>
              </a:pPr>
              <a:t>‹#›</a:t>
            </a:fld>
            <a:endParaRPr lang="en-US" altLang="zh-CN"/>
          </a:p>
        </p:txBody>
      </p:sp>
    </p:spTree>
    <p:extLst>
      <p:ext uri="{BB962C8B-B14F-4D97-AF65-F5344CB8AC3E}">
        <p14:creationId xmlns:p14="http://schemas.microsoft.com/office/powerpoint/2010/main" val="2982345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E8A8293-EDF2-4FC3-8E95-B5F04415A048}" type="slidenum">
              <a:rPr lang="en-US" altLang="zh-CN"/>
              <a:pPr>
                <a:defRPr/>
              </a:pPr>
              <a:t>‹#›</a:t>
            </a:fld>
            <a:endParaRPr lang="en-US" altLang="zh-CN"/>
          </a:p>
        </p:txBody>
      </p:sp>
    </p:spTree>
    <p:extLst>
      <p:ext uri="{BB962C8B-B14F-4D97-AF65-F5344CB8AC3E}">
        <p14:creationId xmlns:p14="http://schemas.microsoft.com/office/powerpoint/2010/main" val="3525225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4F85AB8-18CE-4964-B7E1-1601A9E113EE}" type="slidenum">
              <a:rPr lang="en-US" altLang="zh-CN"/>
              <a:pPr>
                <a:defRPr/>
              </a:pPr>
              <a:t>‹#›</a:t>
            </a:fld>
            <a:endParaRPr lang="en-US" altLang="zh-CN"/>
          </a:p>
        </p:txBody>
      </p:sp>
    </p:spTree>
    <p:extLst>
      <p:ext uri="{BB962C8B-B14F-4D97-AF65-F5344CB8AC3E}">
        <p14:creationId xmlns:p14="http://schemas.microsoft.com/office/powerpoint/2010/main" val="3180632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AE8753F-0F78-4BB4-BDB7-150AD4EE2E78}" type="slidenum">
              <a:rPr lang="en-US" altLang="zh-CN"/>
              <a:pPr>
                <a:defRPr/>
              </a:pPr>
              <a:t>‹#›</a:t>
            </a:fld>
            <a:endParaRPr lang="en-US" altLang="zh-CN"/>
          </a:p>
        </p:txBody>
      </p:sp>
    </p:spTree>
    <p:extLst>
      <p:ext uri="{BB962C8B-B14F-4D97-AF65-F5344CB8AC3E}">
        <p14:creationId xmlns:p14="http://schemas.microsoft.com/office/powerpoint/2010/main" val="1646012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B6010FCB-358A-4B47-B82D-5190D9E8DA1B}" type="slidenum">
              <a:rPr lang="en-US" altLang="zh-CN"/>
              <a:pPr>
                <a:defRPr/>
              </a:pPr>
              <a:t>‹#›</a:t>
            </a:fld>
            <a:endParaRPr lang="en-US" altLang="zh-CN"/>
          </a:p>
        </p:txBody>
      </p:sp>
    </p:spTree>
    <p:extLst>
      <p:ext uri="{BB962C8B-B14F-4D97-AF65-F5344CB8AC3E}">
        <p14:creationId xmlns:p14="http://schemas.microsoft.com/office/powerpoint/2010/main" val="3194727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9"/>
          <p:cNvSpPr>
            <a:spLocks noGrp="1" noChangeArrowheads="1"/>
          </p:cNvSpPr>
          <p:nvPr>
            <p:ph type="sldNum" sz="quarter" idx="10"/>
          </p:nvPr>
        </p:nvSpPr>
        <p:spPr>
          <a:ln/>
        </p:spPr>
        <p:txBody>
          <a:bodyPr/>
          <a:lstStyle>
            <a:lvl1pPr>
              <a:defRPr/>
            </a:lvl1pPr>
          </a:lstStyle>
          <a:p>
            <a:pPr>
              <a:defRPr/>
            </a:pPr>
            <a:fld id="{26656135-260A-470C-A0E8-E96E2087411E}"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711138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9"/>
          <p:cNvSpPr>
            <a:spLocks noGrp="1" noChangeArrowheads="1"/>
          </p:cNvSpPr>
          <p:nvPr>
            <p:ph type="sldNum" sz="quarter" idx="10"/>
          </p:nvPr>
        </p:nvSpPr>
        <p:spPr>
          <a:ln/>
        </p:spPr>
        <p:txBody>
          <a:bodyPr/>
          <a:lstStyle>
            <a:lvl1pPr>
              <a:defRPr/>
            </a:lvl1pPr>
          </a:lstStyle>
          <a:p>
            <a:pPr>
              <a:defRPr/>
            </a:pPr>
            <a:fld id="{B5E0AA0C-2480-40B6-A482-BB74F9364B7C}"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7520792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05000"/>
            <a:ext cx="39243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62500" y="1905000"/>
            <a:ext cx="39243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9"/>
          <p:cNvSpPr>
            <a:spLocks noGrp="1" noChangeArrowheads="1"/>
          </p:cNvSpPr>
          <p:nvPr>
            <p:ph type="sldNum" sz="quarter" idx="10"/>
          </p:nvPr>
        </p:nvSpPr>
        <p:spPr>
          <a:ln/>
        </p:spPr>
        <p:txBody>
          <a:bodyPr/>
          <a:lstStyle>
            <a:lvl1pPr>
              <a:defRPr/>
            </a:lvl1pPr>
          </a:lstStyle>
          <a:p>
            <a:pPr>
              <a:defRPr/>
            </a:pPr>
            <a:fld id="{85BE20F8-3868-42DF-A9FB-5F8EDAAD53E7}"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137571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9"/>
          <p:cNvSpPr>
            <a:spLocks noGrp="1" noChangeArrowheads="1"/>
          </p:cNvSpPr>
          <p:nvPr>
            <p:ph type="sldNum" sz="quarter" idx="10"/>
          </p:nvPr>
        </p:nvSpPr>
        <p:spPr>
          <a:ln/>
        </p:spPr>
        <p:txBody>
          <a:bodyPr/>
          <a:lstStyle>
            <a:lvl1pPr>
              <a:defRPr/>
            </a:lvl1pPr>
          </a:lstStyle>
          <a:p>
            <a:pPr>
              <a:defRPr/>
            </a:pPr>
            <a:fld id="{91B242F9-A1E7-402B-993E-2C799A67509C}"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692475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9"/>
          <p:cNvSpPr>
            <a:spLocks noGrp="1" noChangeArrowheads="1"/>
          </p:cNvSpPr>
          <p:nvPr>
            <p:ph type="sldNum" sz="quarter" idx="10"/>
          </p:nvPr>
        </p:nvSpPr>
        <p:spPr>
          <a:ln/>
        </p:spPr>
        <p:txBody>
          <a:bodyPr/>
          <a:lstStyle>
            <a:lvl1pPr>
              <a:defRPr/>
            </a:lvl1pPr>
          </a:lstStyle>
          <a:p>
            <a:pPr>
              <a:defRPr/>
            </a:pPr>
            <a:fld id="{F13F930A-E789-4879-B55E-F2714F297080}"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6019910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2263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41890489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9264483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54226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685800"/>
            <a:ext cx="2000250" cy="5638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85800"/>
            <a:ext cx="5848350" cy="5638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862414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415906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9"/>
          <p:cNvSpPr>
            <a:spLocks noGrp="1" noChangeArrowheads="1"/>
          </p:cNvSpPr>
          <p:nvPr>
            <p:ph type="sldNum" sz="quarter" idx="10"/>
          </p:nvPr>
        </p:nvSpPr>
        <p:spPr>
          <a:ln/>
        </p:spPr>
        <p:txBody>
          <a:bodyPr/>
          <a:lstStyle>
            <a:lvl1pPr>
              <a:defRPr/>
            </a:lvl1pPr>
          </a:lstStyle>
          <a:p>
            <a:pPr>
              <a:defRPr/>
            </a:pPr>
            <a:fld id="{26656135-260A-470C-A0E8-E96E2087411E}"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5233924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9"/>
          <p:cNvSpPr>
            <a:spLocks noGrp="1" noChangeArrowheads="1"/>
          </p:cNvSpPr>
          <p:nvPr>
            <p:ph type="sldNum" sz="quarter" idx="10"/>
          </p:nvPr>
        </p:nvSpPr>
        <p:spPr>
          <a:ln/>
        </p:spPr>
        <p:txBody>
          <a:bodyPr/>
          <a:lstStyle>
            <a:lvl1pPr>
              <a:defRPr/>
            </a:lvl1pPr>
          </a:lstStyle>
          <a:p>
            <a:pPr>
              <a:defRPr/>
            </a:pPr>
            <a:fld id="{B5E0AA0C-2480-40B6-A482-BB74F9364B7C}"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41522950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05000"/>
            <a:ext cx="39243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62500" y="1905000"/>
            <a:ext cx="39243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9"/>
          <p:cNvSpPr>
            <a:spLocks noGrp="1" noChangeArrowheads="1"/>
          </p:cNvSpPr>
          <p:nvPr>
            <p:ph type="sldNum" sz="quarter" idx="10"/>
          </p:nvPr>
        </p:nvSpPr>
        <p:spPr>
          <a:ln/>
        </p:spPr>
        <p:txBody>
          <a:bodyPr/>
          <a:lstStyle>
            <a:lvl1pPr>
              <a:defRPr/>
            </a:lvl1pPr>
          </a:lstStyle>
          <a:p>
            <a:pPr>
              <a:defRPr/>
            </a:pPr>
            <a:fld id="{85BE20F8-3868-42DF-A9FB-5F8EDAAD53E7}"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0147728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9"/>
          <p:cNvSpPr>
            <a:spLocks noGrp="1" noChangeArrowheads="1"/>
          </p:cNvSpPr>
          <p:nvPr>
            <p:ph type="sldNum" sz="quarter" idx="10"/>
          </p:nvPr>
        </p:nvSpPr>
        <p:spPr>
          <a:ln/>
        </p:spPr>
        <p:txBody>
          <a:bodyPr/>
          <a:lstStyle>
            <a:lvl1pPr>
              <a:defRPr/>
            </a:lvl1pPr>
          </a:lstStyle>
          <a:p>
            <a:pPr>
              <a:defRPr/>
            </a:pPr>
            <a:fld id="{91B242F9-A1E7-402B-993E-2C799A67509C}"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9411094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9"/>
          <p:cNvSpPr>
            <a:spLocks noGrp="1" noChangeArrowheads="1"/>
          </p:cNvSpPr>
          <p:nvPr>
            <p:ph type="sldNum" sz="quarter" idx="10"/>
          </p:nvPr>
        </p:nvSpPr>
        <p:spPr>
          <a:ln/>
        </p:spPr>
        <p:txBody>
          <a:bodyPr/>
          <a:lstStyle>
            <a:lvl1pPr>
              <a:defRPr/>
            </a:lvl1pPr>
          </a:lstStyle>
          <a:p>
            <a:pPr>
              <a:defRPr/>
            </a:pPr>
            <a:fld id="{F13F930A-E789-4879-B55E-F2714F297080}"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9995136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48186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7761187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0964195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926185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685800"/>
            <a:ext cx="2000250" cy="5638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85800"/>
            <a:ext cx="5848350" cy="5638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079946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6470596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9"/>
          <p:cNvSpPr>
            <a:spLocks noGrp="1" noChangeArrowheads="1"/>
          </p:cNvSpPr>
          <p:nvPr>
            <p:ph type="sldNum" sz="quarter" idx="10"/>
          </p:nvPr>
        </p:nvSpPr>
        <p:spPr>
          <a:ln/>
        </p:spPr>
        <p:txBody>
          <a:bodyPr/>
          <a:lstStyle>
            <a:lvl1pPr>
              <a:defRPr/>
            </a:lvl1pPr>
          </a:lstStyle>
          <a:p>
            <a:pPr>
              <a:defRPr/>
            </a:pPr>
            <a:fld id="{26656135-260A-470C-A0E8-E96E2087411E}"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2127523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9"/>
          <p:cNvSpPr>
            <a:spLocks noGrp="1" noChangeArrowheads="1"/>
          </p:cNvSpPr>
          <p:nvPr>
            <p:ph type="sldNum" sz="quarter" idx="10"/>
          </p:nvPr>
        </p:nvSpPr>
        <p:spPr>
          <a:ln/>
        </p:spPr>
        <p:txBody>
          <a:bodyPr/>
          <a:lstStyle>
            <a:lvl1pPr>
              <a:defRPr/>
            </a:lvl1pPr>
          </a:lstStyle>
          <a:p>
            <a:pPr>
              <a:defRPr/>
            </a:pPr>
            <a:fld id="{B5E0AA0C-2480-40B6-A482-BB74F9364B7C}"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1341106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05000"/>
            <a:ext cx="39243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62500" y="1905000"/>
            <a:ext cx="39243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9"/>
          <p:cNvSpPr>
            <a:spLocks noGrp="1" noChangeArrowheads="1"/>
          </p:cNvSpPr>
          <p:nvPr>
            <p:ph type="sldNum" sz="quarter" idx="10"/>
          </p:nvPr>
        </p:nvSpPr>
        <p:spPr>
          <a:ln/>
        </p:spPr>
        <p:txBody>
          <a:bodyPr/>
          <a:lstStyle>
            <a:lvl1pPr>
              <a:defRPr/>
            </a:lvl1pPr>
          </a:lstStyle>
          <a:p>
            <a:pPr>
              <a:defRPr/>
            </a:pPr>
            <a:fld id="{85BE20F8-3868-42DF-A9FB-5F8EDAAD53E7}"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41419027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9"/>
          <p:cNvSpPr>
            <a:spLocks noGrp="1" noChangeArrowheads="1"/>
          </p:cNvSpPr>
          <p:nvPr>
            <p:ph type="sldNum" sz="quarter" idx="10"/>
          </p:nvPr>
        </p:nvSpPr>
        <p:spPr>
          <a:ln/>
        </p:spPr>
        <p:txBody>
          <a:bodyPr/>
          <a:lstStyle>
            <a:lvl1pPr>
              <a:defRPr/>
            </a:lvl1pPr>
          </a:lstStyle>
          <a:p>
            <a:pPr>
              <a:defRPr/>
            </a:pPr>
            <a:fld id="{91B242F9-A1E7-402B-993E-2C799A67509C}"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6641215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9"/>
          <p:cNvSpPr>
            <a:spLocks noGrp="1" noChangeArrowheads="1"/>
          </p:cNvSpPr>
          <p:nvPr>
            <p:ph type="sldNum" sz="quarter" idx="10"/>
          </p:nvPr>
        </p:nvSpPr>
        <p:spPr>
          <a:ln/>
        </p:spPr>
        <p:txBody>
          <a:bodyPr/>
          <a:lstStyle>
            <a:lvl1pPr>
              <a:defRPr/>
            </a:lvl1pPr>
          </a:lstStyle>
          <a:p>
            <a:pPr>
              <a:defRPr/>
            </a:pPr>
            <a:fld id="{F13F930A-E789-4879-B55E-F2714F297080}"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42945038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530002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4304757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7458543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222761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685800"/>
            <a:ext cx="2000250" cy="5638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85800"/>
            <a:ext cx="5848350" cy="5638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066335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8074185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9"/>
          <p:cNvSpPr>
            <a:spLocks noGrp="1" noChangeArrowheads="1"/>
          </p:cNvSpPr>
          <p:nvPr>
            <p:ph type="sldNum" sz="quarter" idx="10"/>
          </p:nvPr>
        </p:nvSpPr>
        <p:spPr>
          <a:ln/>
        </p:spPr>
        <p:txBody>
          <a:bodyPr/>
          <a:lstStyle>
            <a:lvl1pPr>
              <a:defRPr/>
            </a:lvl1pPr>
          </a:lstStyle>
          <a:p>
            <a:pPr>
              <a:defRPr/>
            </a:pPr>
            <a:fld id="{26656135-260A-470C-A0E8-E96E2087411E}"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9716619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9"/>
          <p:cNvSpPr>
            <a:spLocks noGrp="1" noChangeArrowheads="1"/>
          </p:cNvSpPr>
          <p:nvPr>
            <p:ph type="sldNum" sz="quarter" idx="10"/>
          </p:nvPr>
        </p:nvSpPr>
        <p:spPr>
          <a:ln/>
        </p:spPr>
        <p:txBody>
          <a:bodyPr/>
          <a:lstStyle>
            <a:lvl1pPr>
              <a:defRPr/>
            </a:lvl1pPr>
          </a:lstStyle>
          <a:p>
            <a:pPr>
              <a:defRPr/>
            </a:pPr>
            <a:fld id="{B5E0AA0C-2480-40B6-A482-BB74F9364B7C}"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4697654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05000"/>
            <a:ext cx="39243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62500" y="1905000"/>
            <a:ext cx="39243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9"/>
          <p:cNvSpPr>
            <a:spLocks noGrp="1" noChangeArrowheads="1"/>
          </p:cNvSpPr>
          <p:nvPr>
            <p:ph type="sldNum" sz="quarter" idx="10"/>
          </p:nvPr>
        </p:nvSpPr>
        <p:spPr>
          <a:ln/>
        </p:spPr>
        <p:txBody>
          <a:bodyPr/>
          <a:lstStyle>
            <a:lvl1pPr>
              <a:defRPr/>
            </a:lvl1pPr>
          </a:lstStyle>
          <a:p>
            <a:pPr>
              <a:defRPr/>
            </a:pPr>
            <a:fld id="{85BE20F8-3868-42DF-A9FB-5F8EDAAD53E7}"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7135795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9"/>
          <p:cNvSpPr>
            <a:spLocks noGrp="1" noChangeArrowheads="1"/>
          </p:cNvSpPr>
          <p:nvPr>
            <p:ph type="sldNum" sz="quarter" idx="10"/>
          </p:nvPr>
        </p:nvSpPr>
        <p:spPr>
          <a:ln/>
        </p:spPr>
        <p:txBody>
          <a:bodyPr/>
          <a:lstStyle>
            <a:lvl1pPr>
              <a:defRPr/>
            </a:lvl1pPr>
          </a:lstStyle>
          <a:p>
            <a:pPr>
              <a:defRPr/>
            </a:pPr>
            <a:fld id="{91B242F9-A1E7-402B-993E-2C799A67509C}"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4955892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9"/>
          <p:cNvSpPr>
            <a:spLocks noGrp="1" noChangeArrowheads="1"/>
          </p:cNvSpPr>
          <p:nvPr>
            <p:ph type="sldNum" sz="quarter" idx="10"/>
          </p:nvPr>
        </p:nvSpPr>
        <p:spPr>
          <a:ln/>
        </p:spPr>
        <p:txBody>
          <a:bodyPr/>
          <a:lstStyle>
            <a:lvl1pPr>
              <a:defRPr/>
            </a:lvl1pPr>
          </a:lstStyle>
          <a:p>
            <a:pPr>
              <a:defRPr/>
            </a:pPr>
            <a:fld id="{F13F930A-E789-4879-B55E-F2714F297080}"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40875510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46917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3338272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5613576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49295278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685800"/>
            <a:ext cx="2000250" cy="5638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85800"/>
            <a:ext cx="5848350" cy="5638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42941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4246555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smtClean="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smtClean="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smtClean="0"/>
            </a:lvl1pPr>
          </a:lstStyle>
          <a:p>
            <a:pPr>
              <a:defRPr/>
            </a:pPr>
            <a:fld id="{FBB909FC-9C18-4134-84B4-1CF79FF4A67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宋体" charset="-122"/>
        </a:defRPr>
      </a:lvl6pPr>
      <a:lvl7pPr marL="914400" algn="ctr" rtl="0" fontAlgn="base">
        <a:spcBef>
          <a:spcPct val="0"/>
        </a:spcBef>
        <a:spcAft>
          <a:spcPct val="0"/>
        </a:spcAft>
        <a:defRPr kumimoji="1" sz="4400">
          <a:solidFill>
            <a:schemeClr val="tx2"/>
          </a:solidFill>
          <a:latin typeface="Times New Roman" pitchFamily="18" charset="0"/>
          <a:ea typeface="宋体" charset="-122"/>
        </a:defRPr>
      </a:lvl7pPr>
      <a:lvl8pPr marL="1371600" algn="ctr" rtl="0" fontAlgn="base">
        <a:spcBef>
          <a:spcPct val="0"/>
        </a:spcBef>
        <a:spcAft>
          <a:spcPct val="0"/>
        </a:spcAft>
        <a:defRPr kumimoji="1" sz="4400">
          <a:solidFill>
            <a:schemeClr val="tx2"/>
          </a:solidFill>
          <a:latin typeface="Times New Roman" pitchFamily="18" charset="0"/>
          <a:ea typeface="宋体" charset="-122"/>
        </a:defRPr>
      </a:lvl8pPr>
      <a:lvl9pPr marL="1828800" algn="ctr" rtl="0" fontAlgn="base">
        <a:spcBef>
          <a:spcPct val="0"/>
        </a:spcBef>
        <a:spcAft>
          <a:spcPct val="0"/>
        </a:spcAft>
        <a:defRPr kumimoji="1" sz="4400">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1026" name="Rectangle 15"/>
          <p:cNvSpPr>
            <a:spLocks noGrp="1" noChangeArrowheads="1"/>
          </p:cNvSpPr>
          <p:nvPr>
            <p:ph type="title"/>
          </p:nvPr>
        </p:nvSpPr>
        <p:spPr bwMode="auto">
          <a:xfrm>
            <a:off x="685800" y="685800"/>
            <a:ext cx="77724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ltLang="zh-CN" smtClean="0"/>
              <a:t>Title</a:t>
            </a:r>
          </a:p>
        </p:txBody>
      </p:sp>
      <p:sp>
        <p:nvSpPr>
          <p:cNvPr id="1027" name="Rectangle 16"/>
          <p:cNvSpPr>
            <a:spLocks noGrp="1" noChangeArrowheads="1"/>
          </p:cNvSpPr>
          <p:nvPr>
            <p:ph type="body" idx="1"/>
          </p:nvPr>
        </p:nvSpPr>
        <p:spPr bwMode="auto">
          <a:xfrm>
            <a:off x="685800" y="1905000"/>
            <a:ext cx="8001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zh-CN" smtClean="0"/>
              <a:t>First Subtitel</a:t>
            </a:r>
          </a:p>
          <a:p>
            <a:pPr lvl="1"/>
            <a:r>
              <a:rPr lang="zh-CN" altLang="en-US" smtClean="0"/>
              <a:t>2</a:t>
            </a:r>
            <a:r>
              <a:rPr lang="en-US" altLang="zh-CN" smtClean="0"/>
              <a:t>nd level</a:t>
            </a:r>
            <a:endParaRPr lang="zh-CN" altLang="en-US" smtClean="0"/>
          </a:p>
          <a:p>
            <a:pPr lvl="2"/>
            <a:r>
              <a:rPr lang="zh-CN" altLang="en-US" smtClean="0"/>
              <a:t>3</a:t>
            </a:r>
            <a:r>
              <a:rPr lang="en-US" altLang="zh-CN" smtClean="0"/>
              <a:t>rd Level</a:t>
            </a:r>
            <a:endParaRPr lang="zh-CN" altLang="en-US" smtClean="0"/>
          </a:p>
          <a:p>
            <a:pPr lvl="3"/>
            <a:r>
              <a:rPr lang="zh-CN" altLang="en-US" smtClean="0"/>
              <a:t>4</a:t>
            </a:r>
            <a:r>
              <a:rPr lang="en-US" altLang="zh-CN" smtClean="0"/>
              <a:t>th Level</a:t>
            </a:r>
            <a:endParaRPr lang="zh-CN" altLang="en-US" smtClean="0"/>
          </a:p>
          <a:p>
            <a:pPr lvl="4"/>
            <a:r>
              <a:rPr lang="zh-CN" altLang="en-US" smtClean="0"/>
              <a:t>5</a:t>
            </a:r>
            <a:r>
              <a:rPr lang="en-US" altLang="zh-CN" smtClean="0"/>
              <a:t>th Level</a:t>
            </a:r>
          </a:p>
        </p:txBody>
      </p:sp>
      <p:sp>
        <p:nvSpPr>
          <p:cNvPr id="1043" name="Rectangle 19"/>
          <p:cNvSpPr>
            <a:spLocks noGrp="1" noChangeArrowheads="1"/>
          </p:cNvSpPr>
          <p:nvPr>
            <p:ph type="sldNum" sz="quarter" idx="4"/>
          </p:nvPr>
        </p:nvSpPr>
        <p:spPr bwMode="auto">
          <a:xfrm>
            <a:off x="8763000" y="6477000"/>
            <a:ext cx="381000" cy="381000"/>
          </a:xfrm>
          <a:prstGeom prst="rect">
            <a:avLst/>
          </a:prstGeom>
          <a:solidFill>
            <a:schemeClr val="accent2">
              <a:alpha val="50000"/>
            </a:schemeClr>
          </a:solidFill>
          <a:ln w="9525">
            <a:noFill/>
            <a:miter lim="800000"/>
            <a:headEnd/>
            <a:tailEnd/>
          </a:ln>
          <a:effectLst/>
        </p:spPr>
        <p:txBody>
          <a:bodyPr vert="horz" wrap="none" lIns="92075" tIns="46038" rIns="92075" bIns="46038" numCol="1" anchor="ctr"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defRPr>
            </a:lvl1pPr>
          </a:lstStyle>
          <a:p>
            <a:pPr>
              <a:defRPr/>
            </a:pPr>
            <a:fld id="{84A6DC88-D466-47DB-90EF-C0D530FD1416}" type="slidenum">
              <a:rPr lang="zh-CN" altLang="en-US" b="0" i="1" smtClean="0">
                <a:solidFill>
                  <a:srgbClr val="FFFFFF"/>
                </a:solidFill>
                <a:ea typeface="宋体" pitchFamily="2" charset="-122"/>
              </a:rPr>
              <a:pPr>
                <a:defRPr/>
              </a:pPr>
              <a:t>‹#›</a:t>
            </a:fld>
            <a:endParaRPr lang="en-US" altLang="zh-CN" b="0" i="1" dirty="0">
              <a:solidFill>
                <a:srgbClr val="FFFFFF"/>
              </a:solidFill>
              <a:ea typeface="宋体" pitchFamily="2" charset="-122"/>
            </a:endParaRPr>
          </a:p>
        </p:txBody>
      </p:sp>
    </p:spTree>
    <p:extLst>
      <p:ext uri="{BB962C8B-B14F-4D97-AF65-F5344CB8AC3E}">
        <p14:creationId xmlns:p14="http://schemas.microsoft.com/office/powerpoint/2010/main" val="1764607033"/>
      </p:ext>
    </p:extLst>
  </p:cSld>
  <p:clrMap bg1="dk2" tx1="lt1" bg2="dk1"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par>
    </p:tnLst>
  </p:timing>
  <p:hf hdr="0" ftr="0" dt="0"/>
  <p:txStyles>
    <p:titleStyle>
      <a:lvl1pPr algn="ctr" rtl="0" eaLnBrk="0" fontAlgn="base" hangingPunct="0">
        <a:spcBef>
          <a:spcPct val="5000"/>
        </a:spcBef>
        <a:spcAft>
          <a:spcPct val="5000"/>
        </a:spcAft>
        <a:defRPr kumimoji="1" sz="4000">
          <a:solidFill>
            <a:schemeClr val="tx1"/>
          </a:solidFill>
          <a:latin typeface="+mj-lt"/>
          <a:ea typeface="+mj-ea"/>
          <a:cs typeface="+mj-cs"/>
        </a:defRPr>
      </a:lvl1pPr>
      <a:lvl2pPr algn="ctr" rtl="0" eaLnBrk="0" fontAlgn="base" hangingPunct="0">
        <a:spcBef>
          <a:spcPct val="5000"/>
        </a:spcBef>
        <a:spcAft>
          <a:spcPct val="5000"/>
        </a:spcAft>
        <a:defRPr kumimoji="1" sz="4000">
          <a:solidFill>
            <a:schemeClr val="tx1"/>
          </a:solidFill>
          <a:latin typeface="Times New Roman" pitchFamily="18" charset="0"/>
          <a:ea typeface="宋体" charset="-122"/>
        </a:defRPr>
      </a:lvl2pPr>
      <a:lvl3pPr algn="ctr" rtl="0" eaLnBrk="0" fontAlgn="base" hangingPunct="0">
        <a:spcBef>
          <a:spcPct val="5000"/>
        </a:spcBef>
        <a:spcAft>
          <a:spcPct val="5000"/>
        </a:spcAft>
        <a:defRPr kumimoji="1" sz="4000">
          <a:solidFill>
            <a:schemeClr val="tx1"/>
          </a:solidFill>
          <a:latin typeface="Times New Roman" pitchFamily="18" charset="0"/>
          <a:ea typeface="宋体" charset="-122"/>
        </a:defRPr>
      </a:lvl3pPr>
      <a:lvl4pPr algn="ctr" rtl="0" eaLnBrk="0" fontAlgn="base" hangingPunct="0">
        <a:spcBef>
          <a:spcPct val="5000"/>
        </a:spcBef>
        <a:spcAft>
          <a:spcPct val="5000"/>
        </a:spcAft>
        <a:defRPr kumimoji="1" sz="4000">
          <a:solidFill>
            <a:schemeClr val="tx1"/>
          </a:solidFill>
          <a:latin typeface="Times New Roman" pitchFamily="18" charset="0"/>
          <a:ea typeface="宋体" charset="-122"/>
        </a:defRPr>
      </a:lvl4pPr>
      <a:lvl5pPr algn="ctr" rtl="0" eaLnBrk="0" fontAlgn="base" hangingPunct="0">
        <a:spcBef>
          <a:spcPct val="5000"/>
        </a:spcBef>
        <a:spcAft>
          <a:spcPct val="5000"/>
        </a:spcAft>
        <a:defRPr kumimoji="1" sz="4000">
          <a:solidFill>
            <a:schemeClr val="tx1"/>
          </a:solidFill>
          <a:latin typeface="Times New Roman" pitchFamily="18" charset="0"/>
          <a:ea typeface="宋体" charset="-122"/>
        </a:defRPr>
      </a:lvl5pPr>
      <a:lvl6pPr marL="457200" algn="ctr" rtl="0" fontAlgn="base">
        <a:spcBef>
          <a:spcPct val="5000"/>
        </a:spcBef>
        <a:spcAft>
          <a:spcPct val="5000"/>
        </a:spcAft>
        <a:defRPr kumimoji="1" sz="4000">
          <a:solidFill>
            <a:schemeClr val="tx1"/>
          </a:solidFill>
          <a:latin typeface="Times New Roman" pitchFamily="18" charset="0"/>
          <a:ea typeface="宋体" charset="-122"/>
        </a:defRPr>
      </a:lvl6pPr>
      <a:lvl7pPr marL="914400" algn="ctr" rtl="0" fontAlgn="base">
        <a:spcBef>
          <a:spcPct val="5000"/>
        </a:spcBef>
        <a:spcAft>
          <a:spcPct val="5000"/>
        </a:spcAft>
        <a:defRPr kumimoji="1" sz="4000">
          <a:solidFill>
            <a:schemeClr val="tx1"/>
          </a:solidFill>
          <a:latin typeface="Times New Roman" pitchFamily="18" charset="0"/>
          <a:ea typeface="宋体" charset="-122"/>
        </a:defRPr>
      </a:lvl7pPr>
      <a:lvl8pPr marL="1371600" algn="ctr" rtl="0" fontAlgn="base">
        <a:spcBef>
          <a:spcPct val="5000"/>
        </a:spcBef>
        <a:spcAft>
          <a:spcPct val="5000"/>
        </a:spcAft>
        <a:defRPr kumimoji="1" sz="4000">
          <a:solidFill>
            <a:schemeClr val="tx1"/>
          </a:solidFill>
          <a:latin typeface="Times New Roman" pitchFamily="18" charset="0"/>
          <a:ea typeface="宋体" charset="-122"/>
        </a:defRPr>
      </a:lvl8pPr>
      <a:lvl9pPr marL="1828800" algn="ctr" rtl="0" fontAlgn="base">
        <a:spcBef>
          <a:spcPct val="5000"/>
        </a:spcBef>
        <a:spcAft>
          <a:spcPct val="5000"/>
        </a:spcAft>
        <a:defRPr kumimoji="1" sz="4000">
          <a:solidFill>
            <a:schemeClr val="tx1"/>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n"/>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ebdings" pitchFamily="18" charset="2"/>
        <a:buChar char="="/>
        <a:defRPr kumimoji="1" sz="2600">
          <a:solidFill>
            <a:schemeClr val="tx1"/>
          </a:solidFill>
          <a:latin typeface="+mn-lt"/>
          <a:ea typeface="+mn-ea"/>
        </a:defRPr>
      </a:lvl2pPr>
      <a:lvl3pPr marL="1143000" indent="-228600" algn="l" rtl="0" eaLnBrk="0" fontAlgn="base" hangingPunct="0">
        <a:spcBef>
          <a:spcPct val="20000"/>
        </a:spcBef>
        <a:spcAft>
          <a:spcPct val="0"/>
        </a:spcAft>
        <a:buClr>
          <a:schemeClr val="tx1"/>
        </a:buClr>
        <a:buFont typeface="Wingdings 2" pitchFamily="18" charset="2"/>
        <a:buChar char="¾"/>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Font typeface="Wingdings 2" pitchFamily="18" charset="2"/>
        <a:buChar char="è"/>
        <a:defRPr kumimoji="1" sz="2200">
          <a:solidFill>
            <a:schemeClr val="tx1"/>
          </a:solidFill>
          <a:latin typeface="+mn-lt"/>
          <a:ea typeface="+mn-ea"/>
        </a:defRPr>
      </a:lvl4pPr>
      <a:lvl5pPr marL="2057400" indent="-228600" algn="l" rtl="0" eaLnBrk="0" fontAlgn="base" hangingPunct="0">
        <a:spcBef>
          <a:spcPct val="20000"/>
        </a:spcBef>
        <a:spcAft>
          <a:spcPct val="0"/>
        </a:spcAft>
        <a:buClr>
          <a:schemeClr val="tx1"/>
        </a:buClr>
        <a:buFont typeface="Wingdings 2" pitchFamily="18" charset="2"/>
        <a:buChar char=""/>
        <a:defRPr kumimoji="1" sz="2000">
          <a:solidFill>
            <a:schemeClr val="tx1"/>
          </a:solidFill>
          <a:latin typeface="+mn-lt"/>
          <a:ea typeface="+mn-ea"/>
        </a:defRPr>
      </a:lvl5pPr>
      <a:lvl6pPr marL="25146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6pPr>
      <a:lvl7pPr marL="29718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7pPr>
      <a:lvl8pPr marL="34290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8pPr>
      <a:lvl9pPr marL="38862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1026" name="Rectangle 15"/>
          <p:cNvSpPr>
            <a:spLocks noGrp="1" noChangeArrowheads="1"/>
          </p:cNvSpPr>
          <p:nvPr>
            <p:ph type="title"/>
          </p:nvPr>
        </p:nvSpPr>
        <p:spPr bwMode="auto">
          <a:xfrm>
            <a:off x="685800" y="685800"/>
            <a:ext cx="77724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ltLang="zh-CN" smtClean="0"/>
              <a:t>Title</a:t>
            </a:r>
          </a:p>
        </p:txBody>
      </p:sp>
      <p:sp>
        <p:nvSpPr>
          <p:cNvPr id="1027" name="Rectangle 16"/>
          <p:cNvSpPr>
            <a:spLocks noGrp="1" noChangeArrowheads="1"/>
          </p:cNvSpPr>
          <p:nvPr>
            <p:ph type="body" idx="1"/>
          </p:nvPr>
        </p:nvSpPr>
        <p:spPr bwMode="auto">
          <a:xfrm>
            <a:off x="685800" y="1905000"/>
            <a:ext cx="8001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zh-CN" smtClean="0"/>
              <a:t>First Subtitel</a:t>
            </a:r>
          </a:p>
          <a:p>
            <a:pPr lvl="1"/>
            <a:r>
              <a:rPr lang="zh-CN" altLang="en-US" smtClean="0"/>
              <a:t>2</a:t>
            </a:r>
            <a:r>
              <a:rPr lang="en-US" altLang="zh-CN" smtClean="0"/>
              <a:t>nd level</a:t>
            </a:r>
            <a:endParaRPr lang="zh-CN" altLang="en-US" smtClean="0"/>
          </a:p>
          <a:p>
            <a:pPr lvl="2"/>
            <a:r>
              <a:rPr lang="zh-CN" altLang="en-US" smtClean="0"/>
              <a:t>3</a:t>
            </a:r>
            <a:r>
              <a:rPr lang="en-US" altLang="zh-CN" smtClean="0"/>
              <a:t>rd Level</a:t>
            </a:r>
            <a:endParaRPr lang="zh-CN" altLang="en-US" smtClean="0"/>
          </a:p>
          <a:p>
            <a:pPr lvl="3"/>
            <a:r>
              <a:rPr lang="zh-CN" altLang="en-US" smtClean="0"/>
              <a:t>4</a:t>
            </a:r>
            <a:r>
              <a:rPr lang="en-US" altLang="zh-CN" smtClean="0"/>
              <a:t>th Level</a:t>
            </a:r>
            <a:endParaRPr lang="zh-CN" altLang="en-US" smtClean="0"/>
          </a:p>
          <a:p>
            <a:pPr lvl="4"/>
            <a:r>
              <a:rPr lang="zh-CN" altLang="en-US" smtClean="0"/>
              <a:t>5</a:t>
            </a:r>
            <a:r>
              <a:rPr lang="en-US" altLang="zh-CN" smtClean="0"/>
              <a:t>th Level</a:t>
            </a:r>
          </a:p>
        </p:txBody>
      </p:sp>
      <p:sp>
        <p:nvSpPr>
          <p:cNvPr id="1043" name="Rectangle 19"/>
          <p:cNvSpPr>
            <a:spLocks noGrp="1" noChangeArrowheads="1"/>
          </p:cNvSpPr>
          <p:nvPr>
            <p:ph type="sldNum" sz="quarter" idx="4"/>
          </p:nvPr>
        </p:nvSpPr>
        <p:spPr bwMode="auto">
          <a:xfrm>
            <a:off x="8763000" y="6477000"/>
            <a:ext cx="381000" cy="381000"/>
          </a:xfrm>
          <a:prstGeom prst="rect">
            <a:avLst/>
          </a:prstGeom>
          <a:solidFill>
            <a:schemeClr val="accent2">
              <a:alpha val="50000"/>
            </a:schemeClr>
          </a:solidFill>
          <a:ln w="9525">
            <a:noFill/>
            <a:miter lim="800000"/>
            <a:headEnd/>
            <a:tailEnd/>
          </a:ln>
          <a:effectLst/>
        </p:spPr>
        <p:txBody>
          <a:bodyPr vert="horz" wrap="none" lIns="92075" tIns="46038" rIns="92075" bIns="46038" numCol="1" anchor="ctr"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defRPr>
            </a:lvl1pPr>
          </a:lstStyle>
          <a:p>
            <a:pPr>
              <a:defRPr/>
            </a:pPr>
            <a:fld id="{84A6DC88-D466-47DB-90EF-C0D530FD1416}" type="slidenum">
              <a:rPr lang="zh-CN" altLang="en-US" b="0" i="1" smtClean="0">
                <a:solidFill>
                  <a:srgbClr val="FFFFFF"/>
                </a:solidFill>
                <a:ea typeface="宋体" pitchFamily="2" charset="-122"/>
              </a:rPr>
              <a:pPr>
                <a:defRPr/>
              </a:pPr>
              <a:t>‹#›</a:t>
            </a:fld>
            <a:endParaRPr lang="en-US" altLang="zh-CN" b="0" i="1" dirty="0">
              <a:solidFill>
                <a:srgbClr val="FFFFFF"/>
              </a:solidFill>
              <a:ea typeface="宋体" pitchFamily="2" charset="-122"/>
            </a:endParaRPr>
          </a:p>
        </p:txBody>
      </p:sp>
    </p:spTree>
    <p:extLst>
      <p:ext uri="{BB962C8B-B14F-4D97-AF65-F5344CB8AC3E}">
        <p14:creationId xmlns:p14="http://schemas.microsoft.com/office/powerpoint/2010/main" val="1245121732"/>
      </p:ext>
    </p:extLst>
  </p:cSld>
  <p:clrMap bg1="dk2" tx1="lt1" bg2="dk1"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iming>
    <p:tnLst>
      <p:par>
        <p:cTn id="1" dur="indefinite" restart="never" nodeType="tmRoot"/>
      </p:par>
    </p:tnLst>
  </p:timing>
  <p:hf hdr="0" ftr="0" dt="0"/>
  <p:txStyles>
    <p:titleStyle>
      <a:lvl1pPr algn="ctr" rtl="0" eaLnBrk="0" fontAlgn="base" hangingPunct="0">
        <a:spcBef>
          <a:spcPct val="5000"/>
        </a:spcBef>
        <a:spcAft>
          <a:spcPct val="5000"/>
        </a:spcAft>
        <a:defRPr kumimoji="1" sz="4000">
          <a:solidFill>
            <a:schemeClr val="tx1"/>
          </a:solidFill>
          <a:latin typeface="+mj-lt"/>
          <a:ea typeface="+mj-ea"/>
          <a:cs typeface="+mj-cs"/>
        </a:defRPr>
      </a:lvl1pPr>
      <a:lvl2pPr algn="ctr" rtl="0" eaLnBrk="0" fontAlgn="base" hangingPunct="0">
        <a:spcBef>
          <a:spcPct val="5000"/>
        </a:spcBef>
        <a:spcAft>
          <a:spcPct val="5000"/>
        </a:spcAft>
        <a:defRPr kumimoji="1" sz="4000">
          <a:solidFill>
            <a:schemeClr val="tx1"/>
          </a:solidFill>
          <a:latin typeface="Times New Roman" pitchFamily="18" charset="0"/>
          <a:ea typeface="宋体" charset="-122"/>
        </a:defRPr>
      </a:lvl2pPr>
      <a:lvl3pPr algn="ctr" rtl="0" eaLnBrk="0" fontAlgn="base" hangingPunct="0">
        <a:spcBef>
          <a:spcPct val="5000"/>
        </a:spcBef>
        <a:spcAft>
          <a:spcPct val="5000"/>
        </a:spcAft>
        <a:defRPr kumimoji="1" sz="4000">
          <a:solidFill>
            <a:schemeClr val="tx1"/>
          </a:solidFill>
          <a:latin typeface="Times New Roman" pitchFamily="18" charset="0"/>
          <a:ea typeface="宋体" charset="-122"/>
        </a:defRPr>
      </a:lvl3pPr>
      <a:lvl4pPr algn="ctr" rtl="0" eaLnBrk="0" fontAlgn="base" hangingPunct="0">
        <a:spcBef>
          <a:spcPct val="5000"/>
        </a:spcBef>
        <a:spcAft>
          <a:spcPct val="5000"/>
        </a:spcAft>
        <a:defRPr kumimoji="1" sz="4000">
          <a:solidFill>
            <a:schemeClr val="tx1"/>
          </a:solidFill>
          <a:latin typeface="Times New Roman" pitchFamily="18" charset="0"/>
          <a:ea typeface="宋体" charset="-122"/>
        </a:defRPr>
      </a:lvl4pPr>
      <a:lvl5pPr algn="ctr" rtl="0" eaLnBrk="0" fontAlgn="base" hangingPunct="0">
        <a:spcBef>
          <a:spcPct val="5000"/>
        </a:spcBef>
        <a:spcAft>
          <a:spcPct val="5000"/>
        </a:spcAft>
        <a:defRPr kumimoji="1" sz="4000">
          <a:solidFill>
            <a:schemeClr val="tx1"/>
          </a:solidFill>
          <a:latin typeface="Times New Roman" pitchFamily="18" charset="0"/>
          <a:ea typeface="宋体" charset="-122"/>
        </a:defRPr>
      </a:lvl5pPr>
      <a:lvl6pPr marL="457200" algn="ctr" rtl="0" fontAlgn="base">
        <a:spcBef>
          <a:spcPct val="5000"/>
        </a:spcBef>
        <a:spcAft>
          <a:spcPct val="5000"/>
        </a:spcAft>
        <a:defRPr kumimoji="1" sz="4000">
          <a:solidFill>
            <a:schemeClr val="tx1"/>
          </a:solidFill>
          <a:latin typeface="Times New Roman" pitchFamily="18" charset="0"/>
          <a:ea typeface="宋体" charset="-122"/>
        </a:defRPr>
      </a:lvl6pPr>
      <a:lvl7pPr marL="914400" algn="ctr" rtl="0" fontAlgn="base">
        <a:spcBef>
          <a:spcPct val="5000"/>
        </a:spcBef>
        <a:spcAft>
          <a:spcPct val="5000"/>
        </a:spcAft>
        <a:defRPr kumimoji="1" sz="4000">
          <a:solidFill>
            <a:schemeClr val="tx1"/>
          </a:solidFill>
          <a:latin typeface="Times New Roman" pitchFamily="18" charset="0"/>
          <a:ea typeface="宋体" charset="-122"/>
        </a:defRPr>
      </a:lvl7pPr>
      <a:lvl8pPr marL="1371600" algn="ctr" rtl="0" fontAlgn="base">
        <a:spcBef>
          <a:spcPct val="5000"/>
        </a:spcBef>
        <a:spcAft>
          <a:spcPct val="5000"/>
        </a:spcAft>
        <a:defRPr kumimoji="1" sz="4000">
          <a:solidFill>
            <a:schemeClr val="tx1"/>
          </a:solidFill>
          <a:latin typeface="Times New Roman" pitchFamily="18" charset="0"/>
          <a:ea typeface="宋体" charset="-122"/>
        </a:defRPr>
      </a:lvl8pPr>
      <a:lvl9pPr marL="1828800" algn="ctr" rtl="0" fontAlgn="base">
        <a:spcBef>
          <a:spcPct val="5000"/>
        </a:spcBef>
        <a:spcAft>
          <a:spcPct val="5000"/>
        </a:spcAft>
        <a:defRPr kumimoji="1" sz="4000">
          <a:solidFill>
            <a:schemeClr val="tx1"/>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n"/>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ebdings" pitchFamily="18" charset="2"/>
        <a:buChar char="="/>
        <a:defRPr kumimoji="1" sz="2600">
          <a:solidFill>
            <a:schemeClr val="tx1"/>
          </a:solidFill>
          <a:latin typeface="+mn-lt"/>
          <a:ea typeface="+mn-ea"/>
        </a:defRPr>
      </a:lvl2pPr>
      <a:lvl3pPr marL="1143000" indent="-228600" algn="l" rtl="0" eaLnBrk="0" fontAlgn="base" hangingPunct="0">
        <a:spcBef>
          <a:spcPct val="20000"/>
        </a:spcBef>
        <a:spcAft>
          <a:spcPct val="0"/>
        </a:spcAft>
        <a:buClr>
          <a:schemeClr val="tx1"/>
        </a:buClr>
        <a:buFont typeface="Wingdings 2" pitchFamily="18" charset="2"/>
        <a:buChar char="¾"/>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Font typeface="Wingdings 2" pitchFamily="18" charset="2"/>
        <a:buChar char="è"/>
        <a:defRPr kumimoji="1" sz="2200">
          <a:solidFill>
            <a:schemeClr val="tx1"/>
          </a:solidFill>
          <a:latin typeface="+mn-lt"/>
          <a:ea typeface="+mn-ea"/>
        </a:defRPr>
      </a:lvl4pPr>
      <a:lvl5pPr marL="2057400" indent="-228600" algn="l" rtl="0" eaLnBrk="0" fontAlgn="base" hangingPunct="0">
        <a:spcBef>
          <a:spcPct val="20000"/>
        </a:spcBef>
        <a:spcAft>
          <a:spcPct val="0"/>
        </a:spcAft>
        <a:buClr>
          <a:schemeClr val="tx1"/>
        </a:buClr>
        <a:buFont typeface="Wingdings 2" pitchFamily="18" charset="2"/>
        <a:buChar char=""/>
        <a:defRPr kumimoji="1" sz="2000">
          <a:solidFill>
            <a:schemeClr val="tx1"/>
          </a:solidFill>
          <a:latin typeface="+mn-lt"/>
          <a:ea typeface="+mn-ea"/>
        </a:defRPr>
      </a:lvl5pPr>
      <a:lvl6pPr marL="25146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6pPr>
      <a:lvl7pPr marL="29718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7pPr>
      <a:lvl8pPr marL="34290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8pPr>
      <a:lvl9pPr marL="38862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1026" name="Rectangle 15"/>
          <p:cNvSpPr>
            <a:spLocks noGrp="1" noChangeArrowheads="1"/>
          </p:cNvSpPr>
          <p:nvPr>
            <p:ph type="title"/>
          </p:nvPr>
        </p:nvSpPr>
        <p:spPr bwMode="auto">
          <a:xfrm>
            <a:off x="685800" y="685800"/>
            <a:ext cx="77724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ltLang="zh-CN" smtClean="0"/>
              <a:t>Title</a:t>
            </a:r>
          </a:p>
        </p:txBody>
      </p:sp>
      <p:sp>
        <p:nvSpPr>
          <p:cNvPr id="1027" name="Rectangle 16"/>
          <p:cNvSpPr>
            <a:spLocks noGrp="1" noChangeArrowheads="1"/>
          </p:cNvSpPr>
          <p:nvPr>
            <p:ph type="body" idx="1"/>
          </p:nvPr>
        </p:nvSpPr>
        <p:spPr bwMode="auto">
          <a:xfrm>
            <a:off x="685800" y="1905000"/>
            <a:ext cx="8001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zh-CN" smtClean="0"/>
              <a:t>First Subtitel</a:t>
            </a:r>
          </a:p>
          <a:p>
            <a:pPr lvl="1"/>
            <a:r>
              <a:rPr lang="zh-CN" altLang="en-US" smtClean="0"/>
              <a:t>2</a:t>
            </a:r>
            <a:r>
              <a:rPr lang="en-US" altLang="zh-CN" smtClean="0"/>
              <a:t>nd level</a:t>
            </a:r>
            <a:endParaRPr lang="zh-CN" altLang="en-US" smtClean="0"/>
          </a:p>
          <a:p>
            <a:pPr lvl="2"/>
            <a:r>
              <a:rPr lang="zh-CN" altLang="en-US" smtClean="0"/>
              <a:t>3</a:t>
            </a:r>
            <a:r>
              <a:rPr lang="en-US" altLang="zh-CN" smtClean="0"/>
              <a:t>rd Level</a:t>
            </a:r>
            <a:endParaRPr lang="zh-CN" altLang="en-US" smtClean="0"/>
          </a:p>
          <a:p>
            <a:pPr lvl="3"/>
            <a:r>
              <a:rPr lang="zh-CN" altLang="en-US" smtClean="0"/>
              <a:t>4</a:t>
            </a:r>
            <a:r>
              <a:rPr lang="en-US" altLang="zh-CN" smtClean="0"/>
              <a:t>th Level</a:t>
            </a:r>
            <a:endParaRPr lang="zh-CN" altLang="en-US" smtClean="0"/>
          </a:p>
          <a:p>
            <a:pPr lvl="4"/>
            <a:r>
              <a:rPr lang="zh-CN" altLang="en-US" smtClean="0"/>
              <a:t>5</a:t>
            </a:r>
            <a:r>
              <a:rPr lang="en-US" altLang="zh-CN" smtClean="0"/>
              <a:t>th Level</a:t>
            </a:r>
          </a:p>
        </p:txBody>
      </p:sp>
      <p:sp>
        <p:nvSpPr>
          <p:cNvPr id="1043" name="Rectangle 19"/>
          <p:cNvSpPr>
            <a:spLocks noGrp="1" noChangeArrowheads="1"/>
          </p:cNvSpPr>
          <p:nvPr>
            <p:ph type="sldNum" sz="quarter" idx="4"/>
          </p:nvPr>
        </p:nvSpPr>
        <p:spPr bwMode="auto">
          <a:xfrm>
            <a:off x="8763000" y="6477000"/>
            <a:ext cx="381000" cy="381000"/>
          </a:xfrm>
          <a:prstGeom prst="rect">
            <a:avLst/>
          </a:prstGeom>
          <a:solidFill>
            <a:schemeClr val="accent2">
              <a:alpha val="50000"/>
            </a:schemeClr>
          </a:solidFill>
          <a:ln w="9525">
            <a:noFill/>
            <a:miter lim="800000"/>
            <a:headEnd/>
            <a:tailEnd/>
          </a:ln>
          <a:effectLst/>
        </p:spPr>
        <p:txBody>
          <a:bodyPr vert="horz" wrap="none" lIns="92075" tIns="46038" rIns="92075" bIns="46038" numCol="1" anchor="ctr"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defRPr>
            </a:lvl1pPr>
          </a:lstStyle>
          <a:p>
            <a:pPr>
              <a:defRPr/>
            </a:pPr>
            <a:fld id="{84A6DC88-D466-47DB-90EF-C0D530FD1416}" type="slidenum">
              <a:rPr lang="zh-CN" altLang="en-US" b="0" i="1" smtClean="0">
                <a:solidFill>
                  <a:srgbClr val="FFFFFF"/>
                </a:solidFill>
                <a:ea typeface="宋体" pitchFamily="2" charset="-122"/>
              </a:rPr>
              <a:pPr>
                <a:defRPr/>
              </a:pPr>
              <a:t>‹#›</a:t>
            </a:fld>
            <a:endParaRPr lang="en-US" altLang="zh-CN" b="0" i="1" dirty="0">
              <a:solidFill>
                <a:srgbClr val="FFFFFF"/>
              </a:solidFill>
              <a:ea typeface="宋体" pitchFamily="2" charset="-122"/>
            </a:endParaRPr>
          </a:p>
        </p:txBody>
      </p:sp>
    </p:spTree>
    <p:extLst>
      <p:ext uri="{BB962C8B-B14F-4D97-AF65-F5344CB8AC3E}">
        <p14:creationId xmlns:p14="http://schemas.microsoft.com/office/powerpoint/2010/main" val="346925220"/>
      </p:ext>
    </p:extLst>
  </p:cSld>
  <p:clrMap bg1="dk2" tx1="lt1" bg2="dk1"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iming>
    <p:tnLst>
      <p:par>
        <p:cTn id="1" dur="indefinite" restart="never" nodeType="tmRoot"/>
      </p:par>
    </p:tnLst>
  </p:timing>
  <p:hf hdr="0" ftr="0" dt="0"/>
  <p:txStyles>
    <p:titleStyle>
      <a:lvl1pPr algn="ctr" rtl="0" eaLnBrk="0" fontAlgn="base" hangingPunct="0">
        <a:spcBef>
          <a:spcPct val="5000"/>
        </a:spcBef>
        <a:spcAft>
          <a:spcPct val="5000"/>
        </a:spcAft>
        <a:defRPr kumimoji="1" sz="4000">
          <a:solidFill>
            <a:schemeClr val="tx1"/>
          </a:solidFill>
          <a:latin typeface="+mj-lt"/>
          <a:ea typeface="+mj-ea"/>
          <a:cs typeface="+mj-cs"/>
        </a:defRPr>
      </a:lvl1pPr>
      <a:lvl2pPr algn="ctr" rtl="0" eaLnBrk="0" fontAlgn="base" hangingPunct="0">
        <a:spcBef>
          <a:spcPct val="5000"/>
        </a:spcBef>
        <a:spcAft>
          <a:spcPct val="5000"/>
        </a:spcAft>
        <a:defRPr kumimoji="1" sz="4000">
          <a:solidFill>
            <a:schemeClr val="tx1"/>
          </a:solidFill>
          <a:latin typeface="Times New Roman" pitchFamily="18" charset="0"/>
          <a:ea typeface="宋体" charset="-122"/>
        </a:defRPr>
      </a:lvl2pPr>
      <a:lvl3pPr algn="ctr" rtl="0" eaLnBrk="0" fontAlgn="base" hangingPunct="0">
        <a:spcBef>
          <a:spcPct val="5000"/>
        </a:spcBef>
        <a:spcAft>
          <a:spcPct val="5000"/>
        </a:spcAft>
        <a:defRPr kumimoji="1" sz="4000">
          <a:solidFill>
            <a:schemeClr val="tx1"/>
          </a:solidFill>
          <a:latin typeface="Times New Roman" pitchFamily="18" charset="0"/>
          <a:ea typeface="宋体" charset="-122"/>
        </a:defRPr>
      </a:lvl3pPr>
      <a:lvl4pPr algn="ctr" rtl="0" eaLnBrk="0" fontAlgn="base" hangingPunct="0">
        <a:spcBef>
          <a:spcPct val="5000"/>
        </a:spcBef>
        <a:spcAft>
          <a:spcPct val="5000"/>
        </a:spcAft>
        <a:defRPr kumimoji="1" sz="4000">
          <a:solidFill>
            <a:schemeClr val="tx1"/>
          </a:solidFill>
          <a:latin typeface="Times New Roman" pitchFamily="18" charset="0"/>
          <a:ea typeface="宋体" charset="-122"/>
        </a:defRPr>
      </a:lvl4pPr>
      <a:lvl5pPr algn="ctr" rtl="0" eaLnBrk="0" fontAlgn="base" hangingPunct="0">
        <a:spcBef>
          <a:spcPct val="5000"/>
        </a:spcBef>
        <a:spcAft>
          <a:spcPct val="5000"/>
        </a:spcAft>
        <a:defRPr kumimoji="1" sz="4000">
          <a:solidFill>
            <a:schemeClr val="tx1"/>
          </a:solidFill>
          <a:latin typeface="Times New Roman" pitchFamily="18" charset="0"/>
          <a:ea typeface="宋体" charset="-122"/>
        </a:defRPr>
      </a:lvl5pPr>
      <a:lvl6pPr marL="457200" algn="ctr" rtl="0" fontAlgn="base">
        <a:spcBef>
          <a:spcPct val="5000"/>
        </a:spcBef>
        <a:spcAft>
          <a:spcPct val="5000"/>
        </a:spcAft>
        <a:defRPr kumimoji="1" sz="4000">
          <a:solidFill>
            <a:schemeClr val="tx1"/>
          </a:solidFill>
          <a:latin typeface="Times New Roman" pitchFamily="18" charset="0"/>
          <a:ea typeface="宋体" charset="-122"/>
        </a:defRPr>
      </a:lvl6pPr>
      <a:lvl7pPr marL="914400" algn="ctr" rtl="0" fontAlgn="base">
        <a:spcBef>
          <a:spcPct val="5000"/>
        </a:spcBef>
        <a:spcAft>
          <a:spcPct val="5000"/>
        </a:spcAft>
        <a:defRPr kumimoji="1" sz="4000">
          <a:solidFill>
            <a:schemeClr val="tx1"/>
          </a:solidFill>
          <a:latin typeface="Times New Roman" pitchFamily="18" charset="0"/>
          <a:ea typeface="宋体" charset="-122"/>
        </a:defRPr>
      </a:lvl7pPr>
      <a:lvl8pPr marL="1371600" algn="ctr" rtl="0" fontAlgn="base">
        <a:spcBef>
          <a:spcPct val="5000"/>
        </a:spcBef>
        <a:spcAft>
          <a:spcPct val="5000"/>
        </a:spcAft>
        <a:defRPr kumimoji="1" sz="4000">
          <a:solidFill>
            <a:schemeClr val="tx1"/>
          </a:solidFill>
          <a:latin typeface="Times New Roman" pitchFamily="18" charset="0"/>
          <a:ea typeface="宋体" charset="-122"/>
        </a:defRPr>
      </a:lvl8pPr>
      <a:lvl9pPr marL="1828800" algn="ctr" rtl="0" fontAlgn="base">
        <a:spcBef>
          <a:spcPct val="5000"/>
        </a:spcBef>
        <a:spcAft>
          <a:spcPct val="5000"/>
        </a:spcAft>
        <a:defRPr kumimoji="1" sz="4000">
          <a:solidFill>
            <a:schemeClr val="tx1"/>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n"/>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ebdings" pitchFamily="18" charset="2"/>
        <a:buChar char="="/>
        <a:defRPr kumimoji="1" sz="2600">
          <a:solidFill>
            <a:schemeClr val="tx1"/>
          </a:solidFill>
          <a:latin typeface="+mn-lt"/>
          <a:ea typeface="+mn-ea"/>
        </a:defRPr>
      </a:lvl2pPr>
      <a:lvl3pPr marL="1143000" indent="-228600" algn="l" rtl="0" eaLnBrk="0" fontAlgn="base" hangingPunct="0">
        <a:spcBef>
          <a:spcPct val="20000"/>
        </a:spcBef>
        <a:spcAft>
          <a:spcPct val="0"/>
        </a:spcAft>
        <a:buClr>
          <a:schemeClr val="tx1"/>
        </a:buClr>
        <a:buFont typeface="Wingdings 2" pitchFamily="18" charset="2"/>
        <a:buChar char="¾"/>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Font typeface="Wingdings 2" pitchFamily="18" charset="2"/>
        <a:buChar char="è"/>
        <a:defRPr kumimoji="1" sz="2200">
          <a:solidFill>
            <a:schemeClr val="tx1"/>
          </a:solidFill>
          <a:latin typeface="+mn-lt"/>
          <a:ea typeface="+mn-ea"/>
        </a:defRPr>
      </a:lvl4pPr>
      <a:lvl5pPr marL="2057400" indent="-228600" algn="l" rtl="0" eaLnBrk="0" fontAlgn="base" hangingPunct="0">
        <a:spcBef>
          <a:spcPct val="20000"/>
        </a:spcBef>
        <a:spcAft>
          <a:spcPct val="0"/>
        </a:spcAft>
        <a:buClr>
          <a:schemeClr val="tx1"/>
        </a:buClr>
        <a:buFont typeface="Wingdings 2" pitchFamily="18" charset="2"/>
        <a:buChar char=""/>
        <a:defRPr kumimoji="1" sz="2000">
          <a:solidFill>
            <a:schemeClr val="tx1"/>
          </a:solidFill>
          <a:latin typeface="+mn-lt"/>
          <a:ea typeface="+mn-ea"/>
        </a:defRPr>
      </a:lvl5pPr>
      <a:lvl6pPr marL="25146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6pPr>
      <a:lvl7pPr marL="29718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7pPr>
      <a:lvl8pPr marL="34290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8pPr>
      <a:lvl9pPr marL="38862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1026" name="Rectangle 15"/>
          <p:cNvSpPr>
            <a:spLocks noGrp="1" noChangeArrowheads="1"/>
          </p:cNvSpPr>
          <p:nvPr>
            <p:ph type="title"/>
          </p:nvPr>
        </p:nvSpPr>
        <p:spPr bwMode="auto">
          <a:xfrm>
            <a:off x="685800" y="685800"/>
            <a:ext cx="77724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en-US" altLang="zh-CN" smtClean="0"/>
              <a:t>Title</a:t>
            </a:r>
          </a:p>
        </p:txBody>
      </p:sp>
      <p:sp>
        <p:nvSpPr>
          <p:cNvPr id="1027" name="Rectangle 16"/>
          <p:cNvSpPr>
            <a:spLocks noGrp="1" noChangeArrowheads="1"/>
          </p:cNvSpPr>
          <p:nvPr>
            <p:ph type="body" idx="1"/>
          </p:nvPr>
        </p:nvSpPr>
        <p:spPr bwMode="auto">
          <a:xfrm>
            <a:off x="685800" y="1905000"/>
            <a:ext cx="8001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zh-CN" smtClean="0"/>
              <a:t>First Subtitel</a:t>
            </a:r>
          </a:p>
          <a:p>
            <a:pPr lvl="1"/>
            <a:r>
              <a:rPr lang="zh-CN" altLang="en-US" smtClean="0"/>
              <a:t>2</a:t>
            </a:r>
            <a:r>
              <a:rPr lang="en-US" altLang="zh-CN" smtClean="0"/>
              <a:t>nd level</a:t>
            </a:r>
            <a:endParaRPr lang="zh-CN" altLang="en-US" smtClean="0"/>
          </a:p>
          <a:p>
            <a:pPr lvl="2"/>
            <a:r>
              <a:rPr lang="zh-CN" altLang="en-US" smtClean="0"/>
              <a:t>3</a:t>
            </a:r>
            <a:r>
              <a:rPr lang="en-US" altLang="zh-CN" smtClean="0"/>
              <a:t>rd Level</a:t>
            </a:r>
            <a:endParaRPr lang="zh-CN" altLang="en-US" smtClean="0"/>
          </a:p>
          <a:p>
            <a:pPr lvl="3"/>
            <a:r>
              <a:rPr lang="zh-CN" altLang="en-US" smtClean="0"/>
              <a:t>4</a:t>
            </a:r>
            <a:r>
              <a:rPr lang="en-US" altLang="zh-CN" smtClean="0"/>
              <a:t>th Level</a:t>
            </a:r>
            <a:endParaRPr lang="zh-CN" altLang="en-US" smtClean="0"/>
          </a:p>
          <a:p>
            <a:pPr lvl="4"/>
            <a:r>
              <a:rPr lang="zh-CN" altLang="en-US" smtClean="0"/>
              <a:t>5</a:t>
            </a:r>
            <a:r>
              <a:rPr lang="en-US" altLang="zh-CN" smtClean="0"/>
              <a:t>th Level</a:t>
            </a:r>
          </a:p>
        </p:txBody>
      </p:sp>
      <p:sp>
        <p:nvSpPr>
          <p:cNvPr id="1043" name="Rectangle 19"/>
          <p:cNvSpPr>
            <a:spLocks noGrp="1" noChangeArrowheads="1"/>
          </p:cNvSpPr>
          <p:nvPr>
            <p:ph type="sldNum" sz="quarter" idx="4"/>
          </p:nvPr>
        </p:nvSpPr>
        <p:spPr bwMode="auto">
          <a:xfrm>
            <a:off x="8763000" y="6477000"/>
            <a:ext cx="381000" cy="381000"/>
          </a:xfrm>
          <a:prstGeom prst="rect">
            <a:avLst/>
          </a:prstGeom>
          <a:solidFill>
            <a:schemeClr val="accent2">
              <a:alpha val="50000"/>
            </a:schemeClr>
          </a:solidFill>
          <a:ln w="9525">
            <a:noFill/>
            <a:miter lim="800000"/>
            <a:headEnd/>
            <a:tailEnd/>
          </a:ln>
          <a:effectLst/>
        </p:spPr>
        <p:txBody>
          <a:bodyPr vert="horz" wrap="none" lIns="92075" tIns="46038" rIns="92075" bIns="46038" numCol="1" anchor="ctr"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defRPr>
            </a:lvl1pPr>
          </a:lstStyle>
          <a:p>
            <a:pPr>
              <a:defRPr/>
            </a:pPr>
            <a:fld id="{84A6DC88-D466-47DB-90EF-C0D530FD1416}" type="slidenum">
              <a:rPr lang="zh-CN" altLang="en-US" b="0" i="1" smtClean="0">
                <a:solidFill>
                  <a:srgbClr val="FFFFFF"/>
                </a:solidFill>
                <a:ea typeface="宋体" pitchFamily="2" charset="-122"/>
              </a:rPr>
              <a:pPr>
                <a:defRPr/>
              </a:pPr>
              <a:t>‹#›</a:t>
            </a:fld>
            <a:endParaRPr lang="en-US" altLang="zh-CN" b="0" i="1" dirty="0">
              <a:solidFill>
                <a:srgbClr val="FFFFFF"/>
              </a:solidFill>
              <a:ea typeface="宋体" pitchFamily="2" charset="-122"/>
            </a:endParaRPr>
          </a:p>
        </p:txBody>
      </p:sp>
    </p:spTree>
    <p:extLst>
      <p:ext uri="{BB962C8B-B14F-4D97-AF65-F5344CB8AC3E}">
        <p14:creationId xmlns:p14="http://schemas.microsoft.com/office/powerpoint/2010/main" val="2101562794"/>
      </p:ext>
    </p:extLst>
  </p:cSld>
  <p:clrMap bg1="dk2" tx1="lt1" bg2="dk1"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iming>
    <p:tnLst>
      <p:par>
        <p:cTn id="1" dur="indefinite" restart="never" nodeType="tmRoot"/>
      </p:par>
    </p:tnLst>
  </p:timing>
  <p:hf hdr="0" ftr="0" dt="0"/>
  <p:txStyles>
    <p:titleStyle>
      <a:lvl1pPr algn="ctr" rtl="0" eaLnBrk="0" fontAlgn="base" hangingPunct="0">
        <a:spcBef>
          <a:spcPct val="5000"/>
        </a:spcBef>
        <a:spcAft>
          <a:spcPct val="5000"/>
        </a:spcAft>
        <a:defRPr kumimoji="1" sz="4000">
          <a:solidFill>
            <a:schemeClr val="tx1"/>
          </a:solidFill>
          <a:latin typeface="+mj-lt"/>
          <a:ea typeface="+mj-ea"/>
          <a:cs typeface="+mj-cs"/>
        </a:defRPr>
      </a:lvl1pPr>
      <a:lvl2pPr algn="ctr" rtl="0" eaLnBrk="0" fontAlgn="base" hangingPunct="0">
        <a:spcBef>
          <a:spcPct val="5000"/>
        </a:spcBef>
        <a:spcAft>
          <a:spcPct val="5000"/>
        </a:spcAft>
        <a:defRPr kumimoji="1" sz="4000">
          <a:solidFill>
            <a:schemeClr val="tx1"/>
          </a:solidFill>
          <a:latin typeface="Times New Roman" pitchFamily="18" charset="0"/>
          <a:ea typeface="宋体" charset="-122"/>
        </a:defRPr>
      </a:lvl2pPr>
      <a:lvl3pPr algn="ctr" rtl="0" eaLnBrk="0" fontAlgn="base" hangingPunct="0">
        <a:spcBef>
          <a:spcPct val="5000"/>
        </a:spcBef>
        <a:spcAft>
          <a:spcPct val="5000"/>
        </a:spcAft>
        <a:defRPr kumimoji="1" sz="4000">
          <a:solidFill>
            <a:schemeClr val="tx1"/>
          </a:solidFill>
          <a:latin typeface="Times New Roman" pitchFamily="18" charset="0"/>
          <a:ea typeface="宋体" charset="-122"/>
        </a:defRPr>
      </a:lvl3pPr>
      <a:lvl4pPr algn="ctr" rtl="0" eaLnBrk="0" fontAlgn="base" hangingPunct="0">
        <a:spcBef>
          <a:spcPct val="5000"/>
        </a:spcBef>
        <a:spcAft>
          <a:spcPct val="5000"/>
        </a:spcAft>
        <a:defRPr kumimoji="1" sz="4000">
          <a:solidFill>
            <a:schemeClr val="tx1"/>
          </a:solidFill>
          <a:latin typeface="Times New Roman" pitchFamily="18" charset="0"/>
          <a:ea typeface="宋体" charset="-122"/>
        </a:defRPr>
      </a:lvl4pPr>
      <a:lvl5pPr algn="ctr" rtl="0" eaLnBrk="0" fontAlgn="base" hangingPunct="0">
        <a:spcBef>
          <a:spcPct val="5000"/>
        </a:spcBef>
        <a:spcAft>
          <a:spcPct val="5000"/>
        </a:spcAft>
        <a:defRPr kumimoji="1" sz="4000">
          <a:solidFill>
            <a:schemeClr val="tx1"/>
          </a:solidFill>
          <a:latin typeface="Times New Roman" pitchFamily="18" charset="0"/>
          <a:ea typeface="宋体" charset="-122"/>
        </a:defRPr>
      </a:lvl5pPr>
      <a:lvl6pPr marL="457200" algn="ctr" rtl="0" fontAlgn="base">
        <a:spcBef>
          <a:spcPct val="5000"/>
        </a:spcBef>
        <a:spcAft>
          <a:spcPct val="5000"/>
        </a:spcAft>
        <a:defRPr kumimoji="1" sz="4000">
          <a:solidFill>
            <a:schemeClr val="tx1"/>
          </a:solidFill>
          <a:latin typeface="Times New Roman" pitchFamily="18" charset="0"/>
          <a:ea typeface="宋体" charset="-122"/>
        </a:defRPr>
      </a:lvl6pPr>
      <a:lvl7pPr marL="914400" algn="ctr" rtl="0" fontAlgn="base">
        <a:spcBef>
          <a:spcPct val="5000"/>
        </a:spcBef>
        <a:spcAft>
          <a:spcPct val="5000"/>
        </a:spcAft>
        <a:defRPr kumimoji="1" sz="4000">
          <a:solidFill>
            <a:schemeClr val="tx1"/>
          </a:solidFill>
          <a:latin typeface="Times New Roman" pitchFamily="18" charset="0"/>
          <a:ea typeface="宋体" charset="-122"/>
        </a:defRPr>
      </a:lvl7pPr>
      <a:lvl8pPr marL="1371600" algn="ctr" rtl="0" fontAlgn="base">
        <a:spcBef>
          <a:spcPct val="5000"/>
        </a:spcBef>
        <a:spcAft>
          <a:spcPct val="5000"/>
        </a:spcAft>
        <a:defRPr kumimoji="1" sz="4000">
          <a:solidFill>
            <a:schemeClr val="tx1"/>
          </a:solidFill>
          <a:latin typeface="Times New Roman" pitchFamily="18" charset="0"/>
          <a:ea typeface="宋体" charset="-122"/>
        </a:defRPr>
      </a:lvl8pPr>
      <a:lvl9pPr marL="1828800" algn="ctr" rtl="0" fontAlgn="base">
        <a:spcBef>
          <a:spcPct val="5000"/>
        </a:spcBef>
        <a:spcAft>
          <a:spcPct val="5000"/>
        </a:spcAft>
        <a:defRPr kumimoji="1" sz="4000">
          <a:solidFill>
            <a:schemeClr val="tx1"/>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n"/>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Font typeface="Webdings" pitchFamily="18" charset="2"/>
        <a:buChar char="="/>
        <a:defRPr kumimoji="1" sz="2600">
          <a:solidFill>
            <a:schemeClr val="tx1"/>
          </a:solidFill>
          <a:latin typeface="+mn-lt"/>
          <a:ea typeface="+mn-ea"/>
        </a:defRPr>
      </a:lvl2pPr>
      <a:lvl3pPr marL="1143000" indent="-228600" algn="l" rtl="0" eaLnBrk="0" fontAlgn="base" hangingPunct="0">
        <a:spcBef>
          <a:spcPct val="20000"/>
        </a:spcBef>
        <a:spcAft>
          <a:spcPct val="0"/>
        </a:spcAft>
        <a:buClr>
          <a:schemeClr val="tx1"/>
        </a:buClr>
        <a:buFont typeface="Wingdings 2" pitchFamily="18" charset="2"/>
        <a:buChar char="¾"/>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Font typeface="Wingdings 2" pitchFamily="18" charset="2"/>
        <a:buChar char="è"/>
        <a:defRPr kumimoji="1" sz="2200">
          <a:solidFill>
            <a:schemeClr val="tx1"/>
          </a:solidFill>
          <a:latin typeface="+mn-lt"/>
          <a:ea typeface="+mn-ea"/>
        </a:defRPr>
      </a:lvl4pPr>
      <a:lvl5pPr marL="2057400" indent="-228600" algn="l" rtl="0" eaLnBrk="0" fontAlgn="base" hangingPunct="0">
        <a:spcBef>
          <a:spcPct val="20000"/>
        </a:spcBef>
        <a:spcAft>
          <a:spcPct val="0"/>
        </a:spcAft>
        <a:buClr>
          <a:schemeClr val="tx1"/>
        </a:buClr>
        <a:buFont typeface="Wingdings 2" pitchFamily="18" charset="2"/>
        <a:buChar char=""/>
        <a:defRPr kumimoji="1" sz="2000">
          <a:solidFill>
            <a:schemeClr val="tx1"/>
          </a:solidFill>
          <a:latin typeface="+mn-lt"/>
          <a:ea typeface="+mn-ea"/>
        </a:defRPr>
      </a:lvl5pPr>
      <a:lvl6pPr marL="25146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6pPr>
      <a:lvl7pPr marL="29718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7pPr>
      <a:lvl8pPr marL="34290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8pPr>
      <a:lvl9pPr marL="3886200" indent="-228600" algn="l" rtl="0" fontAlgn="base">
        <a:spcBef>
          <a:spcPct val="20000"/>
        </a:spcBef>
        <a:spcAft>
          <a:spcPct val="0"/>
        </a:spcAft>
        <a:buClr>
          <a:schemeClr val="tx1"/>
        </a:buClr>
        <a:buFont typeface="Wingdings 2" pitchFamily="18" charset="2"/>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 Target="slide9.xml"/><Relationship Id="rId1" Type="http://schemas.openxmlformats.org/officeDocument/2006/relationships/slideLayout" Target="../slideLayouts/slideLayout7.xml"/><Relationship Id="rId5" Type="http://schemas.openxmlformats.org/officeDocument/2006/relationships/slide" Target="slide24.xml"/><Relationship Id="rId4" Type="http://schemas.openxmlformats.org/officeDocument/2006/relationships/slide" Target="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image" Target="../media/image2.jpeg"/><Relationship Id="rId1" Type="http://schemas.openxmlformats.org/officeDocument/2006/relationships/slideLayout" Target="../slideLayouts/slideLayout51.xml"/><Relationship Id="rId6" Type="http://schemas.openxmlformats.org/officeDocument/2006/relationships/slide" Target="slide8.xml"/><Relationship Id="rId5" Type="http://schemas.openxmlformats.org/officeDocument/2006/relationships/slide" Target="slide41.xml"/><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image" Target="../media/image2.jpeg"/><Relationship Id="rId1" Type="http://schemas.openxmlformats.org/officeDocument/2006/relationships/slideLayout" Target="../slideLayouts/slideLayout51.xml"/><Relationship Id="rId5" Type="http://schemas.openxmlformats.org/officeDocument/2006/relationships/slide" Target="slide41.xml"/><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1.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9.jpeg"/><Relationship Id="rId4" Type="http://schemas.openxmlformats.org/officeDocument/2006/relationships/image" Target="../media/image10.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3.emf"/><Relationship Id="rId5" Type="http://schemas.openxmlformats.org/officeDocument/2006/relationships/oleObject" Target="../embeddings/oleObject6.bin"/><Relationship Id="rId4" Type="http://schemas.openxmlformats.org/officeDocument/2006/relationships/image" Target="../media/image12.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9.jpeg"/><Relationship Id="rId4" Type="http://schemas.openxmlformats.org/officeDocument/2006/relationships/image" Target="../media/image15.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6.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oleObject" Target="../embeddings/oleObject10.bin"/><Relationship Id="rId7" Type="http://schemas.openxmlformats.org/officeDocument/2006/relationships/image" Target="../media/image18.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1.bin"/><Relationship Id="rId5" Type="http://schemas.openxmlformats.org/officeDocument/2006/relationships/image" Target="../media/image9.jpeg"/><Relationship Id="rId4" Type="http://schemas.openxmlformats.org/officeDocument/2006/relationships/image" Target="../media/image17.wmf"/><Relationship Id="rId9" Type="http://schemas.openxmlformats.org/officeDocument/2006/relationships/image" Target="../media/image19.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1.wmf"/><Relationship Id="rId5" Type="http://schemas.openxmlformats.org/officeDocument/2006/relationships/oleObject" Target="../embeddings/oleObject14.bin"/><Relationship Id="rId4" Type="http://schemas.openxmlformats.org/officeDocument/2006/relationships/image" Target="../media/image20.w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2.png"/><Relationship Id="rId4" Type="http://schemas.openxmlformats.org/officeDocument/2006/relationships/oleObject" Target="../embeddings/oleObject15.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3.emf"/><Relationship Id="rId4" Type="http://schemas.openxmlformats.org/officeDocument/2006/relationships/oleObject" Target="../embeddings/oleObject16.bin"/></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vmlDrawing" Target="../drawings/vmlDrawing10.vml"/><Relationship Id="rId5" Type="http://schemas.openxmlformats.org/officeDocument/2006/relationships/image" Target="../media/image28.emf"/><Relationship Id="rId4" Type="http://schemas.openxmlformats.org/officeDocument/2006/relationships/oleObject" Target="../embeddings/oleObject17.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30.wmf"/><Relationship Id="rId4" Type="http://schemas.openxmlformats.org/officeDocument/2006/relationships/oleObject" Target="../embeddings/oleObject18.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9.jpeg"/><Relationship Id="rId5" Type="http://schemas.openxmlformats.org/officeDocument/2006/relationships/image" Target="../media/image33.wmf"/><Relationship Id="rId4" Type="http://schemas.openxmlformats.org/officeDocument/2006/relationships/oleObject" Target="../embeddings/oleObject20.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34.wmf"/></Relationships>
</file>

<file path=ppt/slides/_rels/slide41.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39.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6.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25.bin"/></Relationships>
</file>

<file path=ppt/slides/_rels/slide42.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44.wmf"/><Relationship Id="rId2" Type="http://schemas.openxmlformats.org/officeDocument/2006/relationships/slideLayout" Target="../slideLayouts/slideLayout7.xml"/><Relationship Id="rId16" Type="http://schemas.openxmlformats.org/officeDocument/2006/relationships/image" Target="../media/image46.wmf"/><Relationship Id="rId1" Type="http://schemas.openxmlformats.org/officeDocument/2006/relationships/vmlDrawing" Target="../drawings/vmlDrawing16.vml"/><Relationship Id="rId6" Type="http://schemas.openxmlformats.org/officeDocument/2006/relationships/image" Target="../media/image41.wmf"/><Relationship Id="rId11" Type="http://schemas.openxmlformats.org/officeDocument/2006/relationships/oleObject" Target="../embeddings/oleObject31.bin"/><Relationship Id="rId5" Type="http://schemas.openxmlformats.org/officeDocument/2006/relationships/oleObject" Target="../embeddings/oleObject28.bin"/><Relationship Id="rId15" Type="http://schemas.openxmlformats.org/officeDocument/2006/relationships/oleObject" Target="../embeddings/oleObject33.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30.bin"/><Relationship Id="rId14" Type="http://schemas.openxmlformats.org/officeDocument/2006/relationships/image" Target="../media/image45.wmf"/></Relationships>
</file>

<file path=ppt/slides/_rels/slide43.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48.wmf"/><Relationship Id="rId5" Type="http://schemas.openxmlformats.org/officeDocument/2006/relationships/oleObject" Target="../embeddings/oleObject35.bin"/><Relationship Id="rId4" Type="http://schemas.openxmlformats.org/officeDocument/2006/relationships/image" Target="../media/image47.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50.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51.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9.bin"/><Relationship Id="rId7" Type="http://schemas.openxmlformats.org/officeDocument/2006/relationships/image" Target="../media/image53.e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40.bin"/><Relationship Id="rId5" Type="http://schemas.openxmlformats.org/officeDocument/2006/relationships/image" Target="../media/image9.jpeg"/><Relationship Id="rId4" Type="http://schemas.openxmlformats.org/officeDocument/2006/relationships/image" Target="../media/image52.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55.wmf"/><Relationship Id="rId5" Type="http://schemas.openxmlformats.org/officeDocument/2006/relationships/oleObject" Target="../embeddings/oleObject42.bin"/><Relationship Id="rId4" Type="http://schemas.openxmlformats.org/officeDocument/2006/relationships/image" Target="../media/image54.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22.vml"/><Relationship Id="rId5" Type="http://schemas.openxmlformats.org/officeDocument/2006/relationships/image" Target="../media/image9.jpeg"/><Relationship Id="rId4" Type="http://schemas.openxmlformats.org/officeDocument/2006/relationships/image" Target="../media/image56.wmf"/></Relationships>
</file>

<file path=ppt/slides/_rels/slide49.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61.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58.wmf"/><Relationship Id="rId11" Type="http://schemas.openxmlformats.org/officeDocument/2006/relationships/oleObject" Target="../embeddings/oleObject48.bin"/><Relationship Id="rId5" Type="http://schemas.openxmlformats.org/officeDocument/2006/relationships/oleObject" Target="../embeddings/oleObject45.bin"/><Relationship Id="rId10" Type="http://schemas.openxmlformats.org/officeDocument/2006/relationships/image" Target="../media/image60.wmf"/><Relationship Id="rId4" Type="http://schemas.openxmlformats.org/officeDocument/2006/relationships/image" Target="../media/image57.wmf"/><Relationship Id="rId9" Type="http://schemas.openxmlformats.org/officeDocument/2006/relationships/oleObject" Target="../embeddings/oleObject47.bin"/></Relationships>
</file>

<file path=ppt/slides/_rels/slide50.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66.w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63.wmf"/><Relationship Id="rId11" Type="http://schemas.openxmlformats.org/officeDocument/2006/relationships/oleObject" Target="../embeddings/oleObject53.bin"/><Relationship Id="rId5" Type="http://schemas.openxmlformats.org/officeDocument/2006/relationships/oleObject" Target="../embeddings/oleObject50.bin"/><Relationship Id="rId10" Type="http://schemas.openxmlformats.org/officeDocument/2006/relationships/image" Target="../media/image65.wmf"/><Relationship Id="rId4" Type="http://schemas.openxmlformats.org/officeDocument/2006/relationships/image" Target="../media/image62.wmf"/><Relationship Id="rId9" Type="http://schemas.openxmlformats.org/officeDocument/2006/relationships/oleObject" Target="../embeddings/oleObject52.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56.bin"/><Relationship Id="rId3" Type="http://schemas.openxmlformats.org/officeDocument/2006/relationships/oleObject" Target="../embeddings/oleObject54.bin"/><Relationship Id="rId7" Type="http://schemas.openxmlformats.org/officeDocument/2006/relationships/image" Target="../media/image50.e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55.bin"/><Relationship Id="rId5" Type="http://schemas.openxmlformats.org/officeDocument/2006/relationships/image" Target="../media/image67.emf"/><Relationship Id="rId4" Type="http://schemas.openxmlformats.org/officeDocument/2006/relationships/oleObject" Target="../embeddings/Microsoft_Visio_2003-2010___1.vsd"/></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69.emf"/><Relationship Id="rId5" Type="http://schemas.openxmlformats.org/officeDocument/2006/relationships/oleObject" Target="../embeddings/oleObject58.bin"/><Relationship Id="rId4" Type="http://schemas.openxmlformats.org/officeDocument/2006/relationships/image" Target="../media/image68.emf"/></Relationships>
</file>

<file path=ppt/slides/_rels/slide53.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oleObject" Target="../embeddings/oleObject59.bin"/><Relationship Id="rId7" Type="http://schemas.openxmlformats.org/officeDocument/2006/relationships/image" Target="../media/image72.wmf"/><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60.bin"/><Relationship Id="rId11" Type="http://schemas.openxmlformats.org/officeDocument/2006/relationships/image" Target="../media/image74.emf"/><Relationship Id="rId5" Type="http://schemas.openxmlformats.org/officeDocument/2006/relationships/image" Target="../media/image9.jpeg"/><Relationship Id="rId10" Type="http://schemas.openxmlformats.org/officeDocument/2006/relationships/oleObject" Target="../embeddings/oleObject62.bin"/><Relationship Id="rId4" Type="http://schemas.openxmlformats.org/officeDocument/2006/relationships/image" Target="../media/image71.emf"/><Relationship Id="rId9" Type="http://schemas.openxmlformats.org/officeDocument/2006/relationships/image" Target="../media/image73.emf"/></Relationships>
</file>

<file path=ppt/slides/_rels/slide55.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76.wmf"/><Relationship Id="rId5" Type="http://schemas.openxmlformats.org/officeDocument/2006/relationships/oleObject" Target="../embeddings/oleObject64.bin"/><Relationship Id="rId4" Type="http://schemas.openxmlformats.org/officeDocument/2006/relationships/image" Target="../media/image75.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7.xml"/><Relationship Id="rId1" Type="http://schemas.openxmlformats.org/officeDocument/2006/relationships/vmlDrawing" Target="../drawings/vmlDrawing29.vml"/><Relationship Id="rId4" Type="http://schemas.openxmlformats.org/officeDocument/2006/relationships/image" Target="../media/image78.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80.emf"/><Relationship Id="rId5" Type="http://schemas.openxmlformats.org/officeDocument/2006/relationships/oleObject" Target="../embeddings/oleObject68.bin"/><Relationship Id="rId4" Type="http://schemas.openxmlformats.org/officeDocument/2006/relationships/image" Target="../media/image79.emf"/></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71.bin"/><Relationship Id="rId13" Type="http://schemas.openxmlformats.org/officeDocument/2006/relationships/image" Target="../media/image85.emf"/><Relationship Id="rId3" Type="http://schemas.openxmlformats.org/officeDocument/2006/relationships/oleObject" Target="../embeddings/oleObject69.bin"/><Relationship Id="rId7" Type="http://schemas.openxmlformats.org/officeDocument/2006/relationships/image" Target="../media/image82.emf"/><Relationship Id="rId12"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70.bin"/><Relationship Id="rId11" Type="http://schemas.openxmlformats.org/officeDocument/2006/relationships/image" Target="../media/image84.emf"/><Relationship Id="rId5" Type="http://schemas.openxmlformats.org/officeDocument/2006/relationships/image" Target="../media/image9.jpeg"/><Relationship Id="rId10" Type="http://schemas.openxmlformats.org/officeDocument/2006/relationships/oleObject" Target="../embeddings/oleObject72.bin"/><Relationship Id="rId4" Type="http://schemas.openxmlformats.org/officeDocument/2006/relationships/image" Target="../media/image81.emf"/><Relationship Id="rId9" Type="http://schemas.openxmlformats.org/officeDocument/2006/relationships/image" Target="../media/image83.emf"/></Relationships>
</file>

<file path=ppt/slides/_rels/slide59.xml.rels><?xml version="1.0" encoding="UTF-8" standalone="yes"?>
<Relationships xmlns="http://schemas.openxmlformats.org/package/2006/relationships"><Relationship Id="rId8" Type="http://schemas.openxmlformats.org/officeDocument/2006/relationships/image" Target="../media/image88.emf"/><Relationship Id="rId3" Type="http://schemas.openxmlformats.org/officeDocument/2006/relationships/oleObject" Target="../embeddings/oleObject74.bin"/><Relationship Id="rId7" Type="http://schemas.openxmlformats.org/officeDocument/2006/relationships/oleObject" Target="../embeddings/oleObject76.bin"/><Relationship Id="rId12" Type="http://schemas.openxmlformats.org/officeDocument/2006/relationships/image" Target="../media/image90.emf"/><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87.emf"/><Relationship Id="rId11" Type="http://schemas.openxmlformats.org/officeDocument/2006/relationships/oleObject" Target="../embeddings/oleObject78.bin"/><Relationship Id="rId5" Type="http://schemas.openxmlformats.org/officeDocument/2006/relationships/oleObject" Target="../embeddings/oleObject75.bin"/><Relationship Id="rId10" Type="http://schemas.openxmlformats.org/officeDocument/2006/relationships/image" Target="../media/image89.emf"/><Relationship Id="rId4" Type="http://schemas.openxmlformats.org/officeDocument/2006/relationships/image" Target="../media/image86.emf"/><Relationship Id="rId9" Type="http://schemas.openxmlformats.org/officeDocument/2006/relationships/oleObject" Target="../embeddings/oleObject77.bin"/></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92.emf"/><Relationship Id="rId5" Type="http://schemas.openxmlformats.org/officeDocument/2006/relationships/oleObject" Target="../embeddings/oleObject80.bin"/><Relationship Id="rId4" Type="http://schemas.openxmlformats.org/officeDocument/2006/relationships/image" Target="../media/image91.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oleObject" Target="../embeddings/oleObject81.bin"/><Relationship Id="rId7" Type="http://schemas.openxmlformats.org/officeDocument/2006/relationships/oleObject" Target="../embeddings/oleObject83.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94.wmf"/><Relationship Id="rId5" Type="http://schemas.openxmlformats.org/officeDocument/2006/relationships/oleObject" Target="../embeddings/oleObject82.bin"/><Relationship Id="rId10" Type="http://schemas.openxmlformats.org/officeDocument/2006/relationships/image" Target="../media/image96.wmf"/><Relationship Id="rId4" Type="http://schemas.openxmlformats.org/officeDocument/2006/relationships/image" Target="../media/image93.wmf"/><Relationship Id="rId9" Type="http://schemas.openxmlformats.org/officeDocument/2006/relationships/oleObject" Target="../embeddings/oleObject8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4" name="Rectangle 6"/>
          <p:cNvSpPr>
            <a:spLocks noChangeArrowheads="1"/>
          </p:cNvSpPr>
          <p:nvPr/>
        </p:nvSpPr>
        <p:spPr bwMode="auto">
          <a:xfrm>
            <a:off x="228600" y="1484784"/>
            <a:ext cx="8736013" cy="356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chemeClr val="tx1"/>
              </a:buClr>
              <a:buFont typeface="Monotype Sorts" pitchFamily="2" charset="2"/>
              <a:buChar char="n"/>
              <a:defRPr kumimoji="1" sz="2800">
                <a:solidFill>
                  <a:schemeClr val="tx1"/>
                </a:solidFill>
                <a:latin typeface="Times New Roman" pitchFamily="18" charset="0"/>
                <a:ea typeface="宋体" pitchFamily="2" charset="-122"/>
              </a:defRPr>
            </a:lvl1pPr>
            <a:lvl2pPr marL="742950" indent="-285750">
              <a:spcBef>
                <a:spcPct val="20000"/>
              </a:spcBef>
              <a:buClr>
                <a:schemeClr val="tx1"/>
              </a:buClr>
              <a:buFont typeface="Webdings" pitchFamily="18" charset="2"/>
              <a:buChar char="="/>
              <a:defRPr kumimoji="1" sz="2600">
                <a:solidFill>
                  <a:schemeClr val="tx1"/>
                </a:solidFill>
                <a:latin typeface="Times New Roman" pitchFamily="18" charset="0"/>
                <a:ea typeface="宋体" pitchFamily="2" charset="-122"/>
              </a:defRPr>
            </a:lvl2pPr>
            <a:lvl3pPr marL="1143000" indent="-228600">
              <a:spcBef>
                <a:spcPct val="20000"/>
              </a:spcBef>
              <a:buClr>
                <a:schemeClr val="tx1"/>
              </a:buClr>
              <a:buFont typeface="Wingdings 2" pitchFamily="18" charset="2"/>
              <a:buChar char="¾"/>
              <a:defRPr kumimoji="1" sz="2400">
                <a:solidFill>
                  <a:schemeClr val="tx1"/>
                </a:solidFill>
                <a:latin typeface="Times New Roman" pitchFamily="18" charset="0"/>
                <a:ea typeface="宋体" pitchFamily="2" charset="-122"/>
              </a:defRPr>
            </a:lvl3pPr>
            <a:lvl4pPr marL="1600200" indent="-228600">
              <a:spcBef>
                <a:spcPct val="20000"/>
              </a:spcBef>
              <a:buClr>
                <a:schemeClr val="tx1"/>
              </a:buClr>
              <a:buFont typeface="Wingdings 2" pitchFamily="18" charset="2"/>
              <a:buChar char="è"/>
              <a:defRPr kumimoji="1" sz="2200">
                <a:solidFill>
                  <a:schemeClr val="tx1"/>
                </a:solidFill>
                <a:latin typeface="Times New Roman" pitchFamily="18" charset="0"/>
                <a:ea typeface="宋体" pitchFamily="2" charset="-122"/>
              </a:defRPr>
            </a:lvl4pPr>
            <a:lvl5pPr marL="2057400" indent="-228600">
              <a:spcBef>
                <a:spcPct val="20000"/>
              </a:spcBef>
              <a:buClr>
                <a:schemeClr val="tx1"/>
              </a:buClr>
              <a:buFont typeface="Wingdings 2" pitchFamily="18" charset="2"/>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tx1"/>
              </a:buClr>
              <a:buFont typeface="Wingdings 2" pitchFamily="18" charset="2"/>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tx1"/>
              </a:buClr>
              <a:buFont typeface="Wingdings 2" pitchFamily="18" charset="2"/>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tx1"/>
              </a:buClr>
              <a:buFont typeface="Wingdings 2" pitchFamily="18" charset="2"/>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tx1"/>
              </a:buClr>
              <a:buFont typeface="Wingdings 2" pitchFamily="18" charset="2"/>
              <a:buChar char=""/>
              <a:defRPr kumimoji="1" sz="2000">
                <a:solidFill>
                  <a:schemeClr val="tx1"/>
                </a:solidFill>
                <a:latin typeface="Times New Roman" pitchFamily="18" charset="0"/>
                <a:ea typeface="宋体" pitchFamily="2" charset="-122"/>
              </a:defRPr>
            </a:lvl9pPr>
          </a:lstStyle>
          <a:p>
            <a:pPr algn="ctr" eaLnBrk="0" hangingPunct="0">
              <a:buClr>
                <a:srgbClr val="FFFFFF"/>
              </a:buClr>
              <a:buFont typeface="Monotype Sorts" pitchFamily="2" charset="2"/>
              <a:buNone/>
            </a:pPr>
            <a:r>
              <a:rPr lang="zh-CN" altLang="en-US" sz="8000" dirty="0" smtClean="0">
                <a:solidFill>
                  <a:srgbClr val="00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电子电路基础</a:t>
            </a:r>
            <a:endParaRPr lang="en-US" altLang="zh-CN" sz="8000" dirty="0" smtClean="0">
              <a:solidFill>
                <a:srgbClr val="00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a:p>
            <a:pPr algn="ctr" eaLnBrk="0" hangingPunct="0">
              <a:buClr>
                <a:srgbClr val="FFFFFF"/>
              </a:buClr>
              <a:buFont typeface="Monotype Sorts" pitchFamily="2" charset="2"/>
              <a:buNone/>
            </a:pPr>
            <a:endParaRPr lang="zh-CN" altLang="en-US" sz="5600" b="0" dirty="0">
              <a:solidFill>
                <a:srgbClr val="000000"/>
              </a:solidFill>
              <a:latin typeface="楷体_GB2312" pitchFamily="49" charset="-122"/>
              <a:ea typeface="楷体_GB2312" pitchFamily="49" charset="-122"/>
            </a:endParaRPr>
          </a:p>
          <a:p>
            <a:pPr algn="ctr" eaLnBrk="0" hangingPunct="0">
              <a:buClr>
                <a:srgbClr val="FFFFFF"/>
              </a:buClr>
              <a:buFont typeface="Monotype Sorts" pitchFamily="2" charset="2"/>
              <a:buNone/>
            </a:pPr>
            <a:r>
              <a:rPr lang="en-US" altLang="zh-CN" sz="4400" dirty="0" smtClean="0">
                <a:solidFill>
                  <a:srgbClr val="000000"/>
                </a:solidFill>
                <a:effectLst>
                  <a:outerShdw blurRad="38100" dist="38100" dir="2700000" algn="tl">
                    <a:srgbClr val="000000">
                      <a:alpha val="43137"/>
                    </a:srgbClr>
                  </a:outerShdw>
                </a:effectLst>
                <a:latin typeface="Times New Roman"/>
                <a:ea typeface="华文琥珀" pitchFamily="2" charset="-122"/>
                <a:cs typeface="Aharoni" panose="02010803020104030203" pitchFamily="2" charset="-79"/>
              </a:rPr>
              <a:t>Fundamentals of Electric Circuits</a:t>
            </a:r>
            <a:endParaRPr lang="en-US" altLang="zh-CN" sz="4400" dirty="0">
              <a:solidFill>
                <a:srgbClr val="000000"/>
              </a:solidFill>
              <a:effectLst>
                <a:outerShdw blurRad="38100" dist="38100" dir="2700000" algn="tl">
                  <a:srgbClr val="000000">
                    <a:alpha val="43137"/>
                  </a:srgbClr>
                </a:outerShdw>
              </a:effectLst>
              <a:latin typeface="Times New Roman"/>
              <a:ea typeface="华文琥珀" pitchFamily="2" charset="-122"/>
              <a:cs typeface="Aharoni" panose="02010803020104030203" pitchFamily="2" charset="-79"/>
            </a:endParaRPr>
          </a:p>
          <a:p>
            <a:pPr algn="ctr" eaLnBrk="0" hangingPunct="0">
              <a:buClr>
                <a:srgbClr val="FFFFFF"/>
              </a:buClr>
              <a:buFont typeface="Monotype Sorts" pitchFamily="2" charset="2"/>
              <a:buNone/>
            </a:pPr>
            <a:endParaRPr lang="en-US" altLang="zh-CN" sz="4000" b="0" dirty="0">
              <a:solidFill>
                <a:srgbClr val="000000"/>
              </a:solidFill>
            </a:endParaRPr>
          </a:p>
        </p:txBody>
      </p:sp>
    </p:spTree>
    <p:extLst>
      <p:ext uri="{BB962C8B-B14F-4D97-AF65-F5344CB8AC3E}">
        <p14:creationId xmlns:p14="http://schemas.microsoft.com/office/powerpoint/2010/main" val="9762193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1009650" y="846138"/>
            <a:ext cx="7010400" cy="684212"/>
          </a:xfrm>
          <a:gradFill rotWithShape="0">
            <a:gsLst>
              <a:gs pos="0">
                <a:srgbClr val="FFFFFF"/>
              </a:gs>
              <a:gs pos="100000">
                <a:srgbClr val="FFFFFF">
                  <a:gamma/>
                  <a:shade val="46275"/>
                  <a:invGamma/>
                </a:srgbClr>
              </a:gs>
            </a:gsLst>
            <a:lin ang="5400000" scaled="1"/>
          </a:gradFill>
          <a:effectLst>
            <a:prstShdw prst="shdw17" dist="17961" dir="2700000">
              <a:srgbClr val="FFFFFF">
                <a:gamma/>
                <a:shade val="60000"/>
                <a:invGamma/>
              </a:srgbClr>
            </a:prstShdw>
          </a:effectLst>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pPr eaLnBrk="1" hangingPunct="1">
              <a:defRPr/>
            </a:pPr>
            <a:r>
              <a:rPr lang="zh-CN" altLang="en-US" sz="4800" b="1" dirty="0" smtClean="0">
                <a:solidFill>
                  <a:srgbClr val="FF0000"/>
                </a:solidFill>
                <a:effectLst>
                  <a:outerShdw blurRad="38100" dist="38100" dir="2700000" algn="tl">
                    <a:srgbClr val="C0C0C0"/>
                  </a:outerShdw>
                </a:effectLst>
                <a:latin typeface="隶书" pitchFamily="49" charset="-122"/>
                <a:ea typeface="隶书" pitchFamily="49" charset="-122"/>
              </a:rPr>
              <a:t>第</a:t>
            </a:r>
            <a:r>
              <a:rPr lang="en-US" altLang="zh-CN" sz="4800" b="1" dirty="0" smtClean="0">
                <a:solidFill>
                  <a:srgbClr val="FF0000"/>
                </a:solidFill>
                <a:effectLst>
                  <a:outerShdw blurRad="38100" dist="38100" dir="2700000" algn="tl">
                    <a:srgbClr val="C0C0C0"/>
                  </a:outerShdw>
                </a:effectLst>
                <a:ea typeface="隶书" pitchFamily="49" charset="-122"/>
              </a:rPr>
              <a:t>1</a:t>
            </a:r>
            <a:r>
              <a:rPr lang="zh-CN" altLang="en-US" sz="4800" b="1" dirty="0" smtClean="0">
                <a:solidFill>
                  <a:srgbClr val="FF0000"/>
                </a:solidFill>
                <a:effectLst>
                  <a:outerShdw blurRad="38100" dist="38100" dir="2700000" algn="tl">
                    <a:srgbClr val="C0C0C0"/>
                  </a:outerShdw>
                </a:effectLst>
                <a:latin typeface="隶书" pitchFamily="49" charset="-122"/>
                <a:ea typeface="隶书" pitchFamily="49" charset="-122"/>
              </a:rPr>
              <a:t>章  电路基本概述</a:t>
            </a:r>
            <a:endParaRPr lang="zh-CN" altLang="en-US" sz="4800" b="1" i="1" dirty="0" smtClean="0">
              <a:solidFill>
                <a:srgbClr val="FF00FF"/>
              </a:solidFill>
              <a:effectLst>
                <a:outerShdw blurRad="38100" dist="38100" dir="2700000" algn="tl">
                  <a:srgbClr val="C0C0C0"/>
                </a:outerShdw>
              </a:effectLst>
              <a:latin typeface="隶书" pitchFamily="49" charset="-122"/>
              <a:ea typeface="隶书" pitchFamily="49" charset="-122"/>
            </a:endParaRPr>
          </a:p>
        </p:txBody>
      </p:sp>
      <p:sp>
        <p:nvSpPr>
          <p:cNvPr id="2051" name="Text Box 10" descr="蓝色砂纸">
            <a:hlinkClick r:id="rId2" action="ppaction://hlinksldjump"/>
          </p:cNvPr>
          <p:cNvSpPr txBox="1">
            <a:spLocks noChangeArrowheads="1"/>
          </p:cNvSpPr>
          <p:nvPr/>
        </p:nvSpPr>
        <p:spPr bwMode="auto">
          <a:xfrm>
            <a:off x="1800225" y="2260600"/>
            <a:ext cx="5232400" cy="579438"/>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3200" dirty="0" smtClean="0">
                <a:solidFill>
                  <a:schemeClr val="tx2"/>
                </a:solidFill>
                <a:latin typeface="楷体_GB2312" pitchFamily="49" charset="-122"/>
                <a:ea typeface="楷体_GB2312" pitchFamily="49" charset="-122"/>
              </a:rPr>
              <a:t>绪论</a:t>
            </a:r>
            <a:endParaRPr lang="zh-CN" altLang="en-US" sz="3200" dirty="0">
              <a:solidFill>
                <a:schemeClr val="tx2"/>
              </a:solidFill>
              <a:latin typeface="楷体_GB2312" pitchFamily="49" charset="-122"/>
              <a:ea typeface="楷体_GB2312" pitchFamily="49" charset="-122"/>
            </a:endParaRPr>
          </a:p>
        </p:txBody>
      </p:sp>
      <p:sp>
        <p:nvSpPr>
          <p:cNvPr id="2052" name="Rectangle 11" descr="蓝色砂纸">
            <a:hlinkClick r:id="rId4" action="ppaction://hlinksldjump"/>
          </p:cNvPr>
          <p:cNvSpPr>
            <a:spLocks noChangeArrowheads="1"/>
          </p:cNvSpPr>
          <p:nvPr/>
        </p:nvSpPr>
        <p:spPr bwMode="auto">
          <a:xfrm>
            <a:off x="1800225" y="4699000"/>
            <a:ext cx="5270500" cy="579438"/>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3200" dirty="0">
                <a:solidFill>
                  <a:schemeClr val="tx2"/>
                </a:solidFill>
                <a:ea typeface="楷体_GB2312" pitchFamily="49" charset="-122"/>
              </a:rPr>
              <a:t>基本电路元件</a:t>
            </a:r>
          </a:p>
        </p:txBody>
      </p:sp>
      <p:sp>
        <p:nvSpPr>
          <p:cNvPr id="2053" name="Text Box 13" descr="蓝色砂纸">
            <a:hlinkClick r:id="rId5" action="ppaction://hlinksldjump"/>
          </p:cNvPr>
          <p:cNvSpPr txBox="1">
            <a:spLocks noChangeArrowheads="1"/>
          </p:cNvSpPr>
          <p:nvPr/>
        </p:nvSpPr>
        <p:spPr bwMode="auto">
          <a:xfrm>
            <a:off x="1800225" y="3479800"/>
            <a:ext cx="5248275" cy="579438"/>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3200" dirty="0">
                <a:solidFill>
                  <a:schemeClr val="tx2"/>
                </a:solidFill>
                <a:latin typeface="楷体_GB2312" pitchFamily="49" charset="-122"/>
                <a:ea typeface="楷体_GB2312" pitchFamily="49" charset="-122"/>
              </a:rPr>
              <a:t>电路</a:t>
            </a:r>
            <a:r>
              <a:rPr lang="zh-CN" altLang="en-US" sz="3200" dirty="0" smtClean="0">
                <a:solidFill>
                  <a:schemeClr val="tx2"/>
                </a:solidFill>
                <a:latin typeface="楷体_GB2312" pitchFamily="49" charset="-122"/>
                <a:ea typeface="楷体_GB2312" pitchFamily="49" charset="-122"/>
              </a:rPr>
              <a:t>基本知识</a:t>
            </a:r>
            <a:endParaRPr lang="zh-CN" altLang="en-US" sz="3200" dirty="0">
              <a:solidFill>
                <a:schemeClr val="tx2"/>
              </a:solidFill>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369888" y="1249257"/>
            <a:ext cx="77343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smtClean="0">
                <a:solidFill>
                  <a:srgbClr val="990033"/>
                </a:solidFill>
              </a:rPr>
              <a:t>1.1.1 </a:t>
            </a:r>
            <a:r>
              <a:rPr lang="zh-CN" altLang="en-US" dirty="0" smtClean="0">
                <a:solidFill>
                  <a:srgbClr val="990033"/>
                </a:solidFill>
              </a:rPr>
              <a:t>课程</a:t>
            </a:r>
            <a:r>
              <a:rPr lang="zh-CN" altLang="en-US" dirty="0">
                <a:solidFill>
                  <a:srgbClr val="990033"/>
                </a:solidFill>
              </a:rPr>
              <a:t>要求及其参考</a:t>
            </a:r>
            <a:r>
              <a:rPr lang="zh-CN" altLang="en-US" dirty="0" smtClean="0">
                <a:solidFill>
                  <a:srgbClr val="990033"/>
                </a:solidFill>
              </a:rPr>
              <a:t>书籍</a:t>
            </a:r>
            <a:r>
              <a:rPr lang="zh-CN" altLang="en-US" dirty="0" smtClean="0">
                <a:solidFill>
                  <a:schemeClr val="tx2"/>
                </a:solidFill>
              </a:rPr>
              <a:t>       </a:t>
            </a:r>
            <a:endParaRPr lang="zh-CN" altLang="en-US" dirty="0">
              <a:solidFill>
                <a:schemeClr val="tx2"/>
              </a:solidFill>
            </a:endParaRPr>
          </a:p>
        </p:txBody>
      </p:sp>
      <p:sp>
        <p:nvSpPr>
          <p:cNvPr id="3075" name="Rectangle 56"/>
          <p:cNvSpPr>
            <a:spLocks noChangeArrowheads="1"/>
          </p:cNvSpPr>
          <p:nvPr/>
        </p:nvSpPr>
        <p:spPr bwMode="auto">
          <a:xfrm>
            <a:off x="768350" y="452438"/>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dirty="0" smtClean="0">
                <a:solidFill>
                  <a:schemeClr val="tx2"/>
                </a:solidFill>
              </a:rPr>
              <a:t>1.1 </a:t>
            </a:r>
            <a:r>
              <a:rPr lang="zh-CN" altLang="en-US" sz="2800" dirty="0" smtClean="0">
                <a:solidFill>
                  <a:schemeClr val="tx2"/>
                </a:solidFill>
              </a:rPr>
              <a:t>绪论</a:t>
            </a:r>
            <a:endParaRPr lang="zh-CN" altLang="en-US" sz="2800" dirty="0">
              <a:solidFill>
                <a:schemeClr val="tx2"/>
              </a:solidFill>
            </a:endParaRPr>
          </a:p>
        </p:txBody>
      </p:sp>
      <p:sp>
        <p:nvSpPr>
          <p:cNvPr id="8" name="Text Box 13"/>
          <p:cNvSpPr txBox="1">
            <a:spLocks noChangeArrowheads="1"/>
          </p:cNvSpPr>
          <p:nvPr/>
        </p:nvSpPr>
        <p:spPr bwMode="auto">
          <a:xfrm>
            <a:off x="617460" y="1880918"/>
            <a:ext cx="7199771" cy="3754874"/>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000000"/>
                </a:solidFill>
              </a:rPr>
              <a:t>1</a:t>
            </a:r>
            <a:r>
              <a:rPr lang="zh-CN" altLang="en-US" sz="2400" dirty="0" smtClean="0">
                <a:solidFill>
                  <a:srgbClr val="000000"/>
                </a:solidFill>
              </a:rPr>
              <a:t>、任课教师</a:t>
            </a:r>
            <a:r>
              <a:rPr lang="en-US" altLang="zh-CN" sz="2400" dirty="0">
                <a:solidFill>
                  <a:srgbClr val="000000"/>
                </a:solidFill>
              </a:rPr>
              <a:t/>
            </a:r>
            <a:br>
              <a:rPr lang="en-US" altLang="zh-CN" sz="2400" dirty="0">
                <a:solidFill>
                  <a:srgbClr val="000000"/>
                </a:solidFill>
              </a:rPr>
            </a:br>
            <a:r>
              <a:rPr lang="en-US" altLang="zh-CN" sz="2200" dirty="0" smtClean="0">
                <a:solidFill>
                  <a:srgbClr val="000000"/>
                </a:solidFill>
              </a:rPr>
              <a:t>      </a:t>
            </a:r>
          </a:p>
          <a:p>
            <a:pPr eaLnBrk="1" hangingPunct="1">
              <a:spcBef>
                <a:spcPct val="50000"/>
              </a:spcBef>
              <a:buFontTx/>
              <a:buNone/>
            </a:pPr>
            <a:endParaRPr lang="en-US" altLang="zh-CN" sz="1800" dirty="0" smtClean="0">
              <a:solidFill>
                <a:srgbClr val="000000"/>
              </a:solidFill>
            </a:endParaRPr>
          </a:p>
          <a:p>
            <a:pPr eaLnBrk="1" hangingPunct="1">
              <a:spcBef>
                <a:spcPct val="50000"/>
              </a:spcBef>
              <a:buFontTx/>
              <a:buNone/>
            </a:pPr>
            <a:r>
              <a:rPr lang="en-US" altLang="zh-CN" sz="2400" dirty="0" smtClean="0">
                <a:solidFill>
                  <a:srgbClr val="000000"/>
                </a:solidFill>
              </a:rPr>
              <a:t>2</a:t>
            </a:r>
            <a:r>
              <a:rPr lang="zh-CN" altLang="en-US" sz="2400" dirty="0" smtClean="0">
                <a:solidFill>
                  <a:srgbClr val="000000"/>
                </a:solidFill>
              </a:rPr>
              <a:t>、助教</a:t>
            </a:r>
            <a:endParaRPr lang="en-US" altLang="zh-CN" sz="2400" dirty="0" smtClean="0">
              <a:solidFill>
                <a:srgbClr val="000000"/>
              </a:solidFill>
            </a:endParaRPr>
          </a:p>
          <a:p>
            <a:pPr eaLnBrk="1" hangingPunct="1">
              <a:spcBef>
                <a:spcPct val="50000"/>
              </a:spcBef>
              <a:buFontTx/>
              <a:buNone/>
            </a:pPr>
            <a:r>
              <a:rPr lang="zh-CN" altLang="en-US" sz="2200" dirty="0" smtClean="0">
                <a:solidFill>
                  <a:srgbClr val="000000"/>
                </a:solidFill>
              </a:rPr>
              <a:t>      </a:t>
            </a:r>
            <a:endParaRPr lang="en-US" altLang="zh-CN" sz="2200" dirty="0" smtClean="0">
              <a:solidFill>
                <a:srgbClr val="000000"/>
              </a:solidFill>
            </a:endParaRPr>
          </a:p>
          <a:p>
            <a:pPr eaLnBrk="1" hangingPunct="1">
              <a:spcBef>
                <a:spcPct val="50000"/>
              </a:spcBef>
              <a:buFontTx/>
              <a:buNone/>
            </a:pPr>
            <a:endParaRPr lang="en-US" altLang="zh-CN" sz="1800" dirty="0">
              <a:solidFill>
                <a:srgbClr val="000000"/>
              </a:solidFill>
            </a:endParaRPr>
          </a:p>
          <a:p>
            <a:pPr eaLnBrk="1" hangingPunct="1">
              <a:spcBef>
                <a:spcPct val="50000"/>
              </a:spcBef>
              <a:buFontTx/>
              <a:buNone/>
            </a:pPr>
            <a:r>
              <a:rPr lang="en-US" altLang="zh-CN" sz="2400" dirty="0" smtClean="0">
                <a:solidFill>
                  <a:srgbClr val="000000"/>
                </a:solidFill>
              </a:rPr>
              <a:t>3</a:t>
            </a:r>
            <a:r>
              <a:rPr lang="zh-CN" altLang="en-US" sz="2400" dirty="0" smtClean="0">
                <a:solidFill>
                  <a:srgbClr val="000000"/>
                </a:solidFill>
              </a:rPr>
              <a:t>、学在浙大</a:t>
            </a:r>
            <a:endParaRPr lang="en-US" altLang="zh-CN" sz="2400" dirty="0">
              <a:solidFill>
                <a:srgbClr val="000000"/>
              </a:solidFill>
            </a:endParaRPr>
          </a:p>
          <a:p>
            <a:pPr marL="457200" lvl="1" indent="0" eaLnBrk="1" hangingPunct="1">
              <a:spcBef>
                <a:spcPct val="50000"/>
              </a:spcBef>
              <a:buFontTx/>
              <a:buNone/>
            </a:pPr>
            <a:r>
              <a:rPr lang="zh-CN" altLang="en-US" sz="2200" dirty="0">
                <a:solidFill>
                  <a:srgbClr val="000000"/>
                </a:solidFill>
              </a:rPr>
              <a:t>下载课件，</a:t>
            </a:r>
            <a:r>
              <a:rPr lang="zh-CN" altLang="en-US" sz="2200" dirty="0" smtClean="0">
                <a:solidFill>
                  <a:srgbClr val="000000"/>
                </a:solidFill>
              </a:rPr>
              <a:t>布置作业，上交作业</a:t>
            </a:r>
            <a:endParaRPr lang="en-US" altLang="zh-CN" sz="2400" dirty="0" smtClean="0">
              <a:solidFill>
                <a:srgbClr val="000000"/>
              </a:solidFill>
            </a:endParaRPr>
          </a:p>
        </p:txBody>
      </p:sp>
    </p:spTree>
    <p:extLst>
      <p:ext uri="{BB962C8B-B14F-4D97-AF65-F5344CB8AC3E}">
        <p14:creationId xmlns:p14="http://schemas.microsoft.com/office/powerpoint/2010/main" val="292943206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4">
                                            <p:txEl>
                                              <p:pRg st="0" end="0"/>
                                            </p:txEl>
                                          </p:spTgt>
                                        </p:tgtEl>
                                        <p:attrNameLst>
                                          <p:attrName>style.visibility</p:attrName>
                                        </p:attrNameLst>
                                      </p:cBhvr>
                                      <p:to>
                                        <p:strVal val="visible"/>
                                      </p:to>
                                    </p:set>
                                    <p:animEffect transition="in" filter="barn(inVertical)">
                                      <p:cBhvr>
                                        <p:cTn id="7" dur="500"/>
                                        <p:tgtEl>
                                          <p:spTgt spid="30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3"/>
          <p:cNvSpPr txBox="1">
            <a:spLocks noChangeArrowheads="1"/>
          </p:cNvSpPr>
          <p:nvPr/>
        </p:nvSpPr>
        <p:spPr bwMode="auto">
          <a:xfrm>
            <a:off x="611560" y="367705"/>
            <a:ext cx="7812868" cy="6124754"/>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000000"/>
                </a:solidFill>
              </a:rPr>
              <a:t>4</a:t>
            </a:r>
            <a:r>
              <a:rPr lang="zh-CN" altLang="en-US" sz="2400" dirty="0" smtClean="0">
                <a:solidFill>
                  <a:srgbClr val="000000"/>
                </a:solidFill>
              </a:rPr>
              <a:t>、</a:t>
            </a:r>
            <a:r>
              <a:rPr lang="zh-CN" altLang="en-US" sz="2400" dirty="0">
                <a:solidFill>
                  <a:srgbClr val="000000"/>
                </a:solidFill>
              </a:rPr>
              <a:t>作业</a:t>
            </a:r>
            <a:endParaRPr lang="en-US" altLang="zh-CN" sz="2400" dirty="0">
              <a:solidFill>
                <a:srgbClr val="000000"/>
              </a:solidFill>
            </a:endParaRPr>
          </a:p>
          <a:p>
            <a:pPr eaLnBrk="1" hangingPunct="1">
              <a:spcBef>
                <a:spcPct val="50000"/>
              </a:spcBef>
              <a:buFontTx/>
              <a:buNone/>
            </a:pPr>
            <a:r>
              <a:rPr lang="zh-CN" altLang="en-US" sz="2000" dirty="0">
                <a:solidFill>
                  <a:srgbClr val="000000"/>
                </a:solidFill>
              </a:rPr>
              <a:t>      每周交一次，以百分制计分。</a:t>
            </a:r>
            <a:endParaRPr lang="en-US" altLang="zh-CN" sz="2000" dirty="0">
              <a:solidFill>
                <a:srgbClr val="000000"/>
              </a:solidFill>
            </a:endParaRPr>
          </a:p>
          <a:p>
            <a:pPr marL="457200" lvl="1" indent="0" eaLnBrk="1" hangingPunct="1">
              <a:spcBef>
                <a:spcPct val="50000"/>
              </a:spcBef>
              <a:buFontTx/>
              <a:buNone/>
            </a:pPr>
            <a:endParaRPr lang="en-US" altLang="zh-CN" sz="2400" dirty="0" smtClean="0">
              <a:solidFill>
                <a:srgbClr val="000000"/>
              </a:solidFill>
            </a:endParaRPr>
          </a:p>
          <a:p>
            <a:pPr eaLnBrk="1" hangingPunct="1">
              <a:spcBef>
                <a:spcPct val="50000"/>
              </a:spcBef>
              <a:buFontTx/>
              <a:buNone/>
            </a:pPr>
            <a:r>
              <a:rPr lang="en-US" altLang="zh-CN" sz="2400" dirty="0" smtClean="0">
                <a:solidFill>
                  <a:srgbClr val="000000"/>
                </a:solidFill>
              </a:rPr>
              <a:t>5</a:t>
            </a:r>
            <a:r>
              <a:rPr lang="zh-CN" altLang="en-US" sz="2400" dirty="0" smtClean="0">
                <a:solidFill>
                  <a:srgbClr val="000000"/>
                </a:solidFill>
              </a:rPr>
              <a:t>、</a:t>
            </a:r>
            <a:r>
              <a:rPr lang="zh-CN" altLang="en-US" sz="2400" dirty="0">
                <a:solidFill>
                  <a:srgbClr val="000000"/>
                </a:solidFill>
              </a:rPr>
              <a:t>期中考试</a:t>
            </a:r>
            <a:endParaRPr lang="en-US" altLang="zh-CN" sz="2400" dirty="0">
              <a:solidFill>
                <a:srgbClr val="000000"/>
              </a:solidFill>
            </a:endParaRPr>
          </a:p>
          <a:p>
            <a:pPr eaLnBrk="1" hangingPunct="1">
              <a:spcBef>
                <a:spcPct val="50000"/>
              </a:spcBef>
              <a:buFontTx/>
              <a:buNone/>
            </a:pPr>
            <a:r>
              <a:rPr lang="zh-CN" altLang="en-US" sz="2000" dirty="0" smtClean="0">
                <a:solidFill>
                  <a:srgbClr val="000000"/>
                </a:solidFill>
              </a:rPr>
              <a:t>      考试</a:t>
            </a:r>
            <a:r>
              <a:rPr lang="zh-CN" altLang="en-US" sz="2000" dirty="0">
                <a:solidFill>
                  <a:srgbClr val="000000"/>
                </a:solidFill>
              </a:rPr>
              <a:t>内容截止到电基课程大纲</a:t>
            </a:r>
            <a:r>
              <a:rPr lang="zh-CN" altLang="en-US" sz="2000" dirty="0" smtClean="0">
                <a:solidFill>
                  <a:srgbClr val="000000"/>
                </a:solidFill>
              </a:rPr>
              <a:t>第</a:t>
            </a:r>
            <a:r>
              <a:rPr lang="en-US" altLang="zh-CN" sz="2000" dirty="0" smtClean="0">
                <a:solidFill>
                  <a:srgbClr val="000000"/>
                </a:solidFill>
              </a:rPr>
              <a:t>5</a:t>
            </a:r>
            <a:r>
              <a:rPr lang="zh-CN" altLang="en-US" sz="2000" dirty="0" smtClean="0">
                <a:solidFill>
                  <a:srgbClr val="000000"/>
                </a:solidFill>
              </a:rPr>
              <a:t>章。</a:t>
            </a:r>
            <a:endParaRPr lang="en-US" altLang="zh-CN" sz="2000" dirty="0" smtClean="0">
              <a:solidFill>
                <a:srgbClr val="000000"/>
              </a:solidFill>
            </a:endParaRPr>
          </a:p>
          <a:p>
            <a:pPr eaLnBrk="1" hangingPunct="1">
              <a:spcBef>
                <a:spcPct val="50000"/>
              </a:spcBef>
              <a:buFontTx/>
              <a:buNone/>
            </a:pPr>
            <a:r>
              <a:rPr lang="en-US" altLang="zh-CN" sz="2000" dirty="0" smtClean="0">
                <a:solidFill>
                  <a:srgbClr val="000000"/>
                </a:solidFill>
              </a:rPr>
              <a:t>      </a:t>
            </a:r>
            <a:r>
              <a:rPr lang="zh-CN" altLang="en-US" sz="2000" dirty="0" smtClean="0">
                <a:solidFill>
                  <a:srgbClr val="000000"/>
                </a:solidFill>
              </a:rPr>
              <a:t>闭卷</a:t>
            </a:r>
            <a:r>
              <a:rPr lang="zh-CN" altLang="en-US" sz="2000" dirty="0">
                <a:solidFill>
                  <a:srgbClr val="000000"/>
                </a:solidFill>
              </a:rPr>
              <a:t>考试，考试时间</a:t>
            </a:r>
            <a:r>
              <a:rPr lang="en-US" altLang="zh-CN" sz="2000" dirty="0">
                <a:solidFill>
                  <a:srgbClr val="000000"/>
                </a:solidFill>
              </a:rPr>
              <a:t>120</a:t>
            </a:r>
            <a:r>
              <a:rPr lang="zh-CN" altLang="en-US" sz="2000" dirty="0">
                <a:solidFill>
                  <a:srgbClr val="000000"/>
                </a:solidFill>
              </a:rPr>
              <a:t>分钟，题型包括推导、分析和计算</a:t>
            </a:r>
            <a:r>
              <a:rPr lang="zh-CN" altLang="en-US" sz="2000" dirty="0" smtClean="0">
                <a:solidFill>
                  <a:srgbClr val="000000"/>
                </a:solidFill>
              </a:rPr>
              <a:t>题。</a:t>
            </a:r>
            <a:endParaRPr lang="en-US" altLang="zh-CN" sz="2000" dirty="0" smtClean="0">
              <a:solidFill>
                <a:srgbClr val="000000"/>
              </a:solidFill>
            </a:endParaRPr>
          </a:p>
          <a:p>
            <a:pPr eaLnBrk="1" hangingPunct="1">
              <a:spcBef>
                <a:spcPct val="50000"/>
              </a:spcBef>
              <a:buFontTx/>
              <a:buNone/>
            </a:pPr>
            <a:endParaRPr lang="en-US" altLang="zh-CN" sz="2000" dirty="0">
              <a:solidFill>
                <a:srgbClr val="000000"/>
              </a:solidFill>
            </a:endParaRPr>
          </a:p>
          <a:p>
            <a:pPr eaLnBrk="1" hangingPunct="1">
              <a:spcBef>
                <a:spcPct val="50000"/>
              </a:spcBef>
              <a:buFontTx/>
              <a:buNone/>
            </a:pPr>
            <a:r>
              <a:rPr lang="en-US" altLang="zh-CN" sz="2400" dirty="0" smtClean="0">
                <a:solidFill>
                  <a:srgbClr val="000000"/>
                </a:solidFill>
              </a:rPr>
              <a:t>6</a:t>
            </a:r>
            <a:r>
              <a:rPr lang="zh-CN" altLang="en-US" sz="2400" dirty="0" smtClean="0">
                <a:solidFill>
                  <a:srgbClr val="000000"/>
                </a:solidFill>
              </a:rPr>
              <a:t>、期末考试</a:t>
            </a:r>
            <a:endParaRPr lang="en-US" altLang="zh-CN" sz="2400" dirty="0" smtClean="0">
              <a:solidFill>
                <a:srgbClr val="000000"/>
              </a:solidFill>
            </a:endParaRPr>
          </a:p>
          <a:p>
            <a:pPr eaLnBrk="1" hangingPunct="1">
              <a:lnSpc>
                <a:spcPct val="150000"/>
              </a:lnSpc>
              <a:spcBef>
                <a:spcPct val="50000"/>
              </a:spcBef>
              <a:buFontTx/>
              <a:buNone/>
            </a:pPr>
            <a:r>
              <a:rPr lang="zh-CN" altLang="en-US" sz="2000" dirty="0" smtClean="0">
                <a:solidFill>
                  <a:srgbClr val="000000"/>
                </a:solidFill>
              </a:rPr>
              <a:t>      考试内容包括大纲所有内容，但前</a:t>
            </a:r>
            <a:r>
              <a:rPr lang="en-US" altLang="zh-CN" sz="2000" dirty="0" smtClean="0">
                <a:solidFill>
                  <a:srgbClr val="000000"/>
                </a:solidFill>
              </a:rPr>
              <a:t>5</a:t>
            </a:r>
            <a:r>
              <a:rPr lang="zh-CN" altLang="en-US" sz="2000" dirty="0" smtClean="0">
                <a:solidFill>
                  <a:srgbClr val="000000"/>
                </a:solidFill>
              </a:rPr>
              <a:t>章内容主要出现在选择</a:t>
            </a:r>
            <a:r>
              <a:rPr lang="zh-CN" altLang="en-US" sz="2000" dirty="0">
                <a:solidFill>
                  <a:srgbClr val="000000"/>
                </a:solidFill>
              </a:rPr>
              <a:t>题</a:t>
            </a:r>
            <a:r>
              <a:rPr lang="zh-CN" altLang="en-US" sz="2000" dirty="0" smtClean="0">
                <a:solidFill>
                  <a:srgbClr val="000000"/>
                </a:solidFill>
              </a:rPr>
              <a:t>和填空</a:t>
            </a:r>
            <a:r>
              <a:rPr lang="zh-CN" altLang="en-US" sz="2000" dirty="0">
                <a:solidFill>
                  <a:srgbClr val="000000"/>
                </a:solidFill>
              </a:rPr>
              <a:t>题</a:t>
            </a:r>
            <a:r>
              <a:rPr lang="zh-CN" altLang="en-US" sz="2000" dirty="0" smtClean="0">
                <a:solidFill>
                  <a:srgbClr val="000000"/>
                </a:solidFill>
              </a:rPr>
              <a:t>。</a:t>
            </a:r>
            <a:endParaRPr lang="en-US" altLang="zh-CN" sz="2000" dirty="0">
              <a:solidFill>
                <a:srgbClr val="000000"/>
              </a:solidFill>
            </a:endParaRPr>
          </a:p>
          <a:p>
            <a:pPr eaLnBrk="1" hangingPunct="1">
              <a:lnSpc>
                <a:spcPct val="150000"/>
              </a:lnSpc>
              <a:spcBef>
                <a:spcPct val="50000"/>
              </a:spcBef>
              <a:buFontTx/>
              <a:buNone/>
            </a:pPr>
            <a:r>
              <a:rPr lang="en-US" altLang="zh-CN" sz="2000" dirty="0">
                <a:solidFill>
                  <a:srgbClr val="000000"/>
                </a:solidFill>
              </a:rPr>
              <a:t>      </a:t>
            </a:r>
            <a:r>
              <a:rPr lang="zh-CN" altLang="en-US" sz="2000" dirty="0">
                <a:solidFill>
                  <a:srgbClr val="000000"/>
                </a:solidFill>
              </a:rPr>
              <a:t>闭卷考试，考试时间</a:t>
            </a:r>
            <a:r>
              <a:rPr lang="en-US" altLang="zh-CN" sz="2000" dirty="0">
                <a:solidFill>
                  <a:srgbClr val="000000"/>
                </a:solidFill>
              </a:rPr>
              <a:t>120</a:t>
            </a:r>
            <a:r>
              <a:rPr lang="zh-CN" altLang="en-US" sz="2000" dirty="0">
                <a:solidFill>
                  <a:srgbClr val="000000"/>
                </a:solidFill>
              </a:rPr>
              <a:t>分钟，题型包括选择题（</a:t>
            </a:r>
            <a:r>
              <a:rPr lang="en-US" altLang="zh-CN" sz="2000" dirty="0">
                <a:solidFill>
                  <a:srgbClr val="000000"/>
                </a:solidFill>
              </a:rPr>
              <a:t>20</a:t>
            </a:r>
            <a:r>
              <a:rPr lang="zh-CN" altLang="en-US" sz="2000" dirty="0">
                <a:solidFill>
                  <a:srgbClr val="000000"/>
                </a:solidFill>
              </a:rPr>
              <a:t>分）、填空题（</a:t>
            </a:r>
            <a:r>
              <a:rPr lang="en-US" altLang="zh-CN" sz="2000" dirty="0">
                <a:solidFill>
                  <a:srgbClr val="000000"/>
                </a:solidFill>
              </a:rPr>
              <a:t>20</a:t>
            </a:r>
            <a:r>
              <a:rPr lang="zh-CN" altLang="en-US" sz="2000" dirty="0">
                <a:solidFill>
                  <a:srgbClr val="000000"/>
                </a:solidFill>
              </a:rPr>
              <a:t>分）和计算题（</a:t>
            </a:r>
            <a:r>
              <a:rPr lang="en-US" altLang="zh-CN" sz="2000" dirty="0">
                <a:solidFill>
                  <a:srgbClr val="000000"/>
                </a:solidFill>
              </a:rPr>
              <a:t>60</a:t>
            </a:r>
            <a:r>
              <a:rPr lang="zh-CN" altLang="en-US" sz="2000" dirty="0">
                <a:solidFill>
                  <a:srgbClr val="000000"/>
                </a:solidFill>
              </a:rPr>
              <a:t>分）。</a:t>
            </a:r>
            <a:endParaRPr lang="en-US" altLang="zh-CN" sz="2000" dirty="0">
              <a:solidFill>
                <a:srgbClr val="000000"/>
              </a:solidFill>
            </a:endParaRPr>
          </a:p>
        </p:txBody>
      </p:sp>
    </p:spTree>
    <p:extLst>
      <p:ext uri="{BB962C8B-B14F-4D97-AF65-F5344CB8AC3E}">
        <p14:creationId xmlns:p14="http://schemas.microsoft.com/office/powerpoint/2010/main" val="4769533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3" descr="水滴"/>
          <p:cNvSpPr txBox="1">
            <a:spLocks noChangeArrowheads="1"/>
          </p:cNvSpPr>
          <p:nvPr/>
        </p:nvSpPr>
        <p:spPr bwMode="auto">
          <a:xfrm>
            <a:off x="2095985" y="663111"/>
            <a:ext cx="4922516" cy="707886"/>
          </a:xfrm>
          <a:prstGeom prst="rect">
            <a:avLst/>
          </a:prstGeom>
          <a:blipFill dpi="0" rotWithShape="0">
            <a:blip r:embed="rId2"/>
            <a:srcRect/>
            <a:tile tx="0" ty="0" sx="100000" sy="100000" flip="none" algn="tl"/>
          </a:blipFill>
          <a:ln>
            <a:noFill/>
          </a:ln>
          <a:effectLst>
            <a:prstShdw prst="shdw17" dist="17961" dir="2700000">
              <a:srgbClr val="7A9999"/>
            </a:prst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50000"/>
              </a:spcBef>
              <a:buFontTx/>
              <a:buNone/>
            </a:pPr>
            <a:r>
              <a:rPr lang="zh-CN" altLang="en-US" sz="4000" dirty="0" smtClean="0">
                <a:solidFill>
                  <a:srgbClr val="3333CC"/>
                </a:solidFill>
                <a:ea typeface="华文行楷" pitchFamily="2" charset="-122"/>
              </a:rPr>
              <a:t>期末总评成绩组成</a:t>
            </a:r>
          </a:p>
        </p:txBody>
      </p:sp>
      <p:sp>
        <p:nvSpPr>
          <p:cNvPr id="3075" name="Rectangle 5" descr="蓝色砂纸">
            <a:hlinkClick r:id="rId3" action="ppaction://hlinksldjump"/>
          </p:cNvPr>
          <p:cNvSpPr>
            <a:spLocks noChangeArrowheads="1"/>
          </p:cNvSpPr>
          <p:nvPr/>
        </p:nvSpPr>
        <p:spPr bwMode="auto">
          <a:xfrm>
            <a:off x="3115505" y="2753688"/>
            <a:ext cx="2158801" cy="400110"/>
          </a:xfrm>
          <a:prstGeom prst="rect">
            <a:avLst/>
          </a:prstGeom>
          <a:blipFill dpi="0" rotWithShape="0">
            <a:blip r:embed="rId4"/>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zh-CN" altLang="en-US" sz="2000" dirty="0" smtClean="0">
                <a:solidFill>
                  <a:srgbClr val="000000"/>
                </a:solidFill>
                <a:latin typeface="楷体_GB2312" pitchFamily="49" charset="-122"/>
                <a:ea typeface="楷体_GB2312" pitchFamily="49" charset="-122"/>
              </a:rPr>
              <a:t>作业、小测验</a:t>
            </a:r>
          </a:p>
        </p:txBody>
      </p:sp>
      <p:sp>
        <p:nvSpPr>
          <p:cNvPr id="3076" name="Text Box 6" descr="蓝色砂纸">
            <a:hlinkClick r:id="rId5" action="ppaction://hlinksldjump"/>
          </p:cNvPr>
          <p:cNvSpPr txBox="1">
            <a:spLocks noChangeArrowheads="1"/>
          </p:cNvSpPr>
          <p:nvPr/>
        </p:nvSpPr>
        <p:spPr bwMode="auto">
          <a:xfrm>
            <a:off x="3115504" y="5303033"/>
            <a:ext cx="2184289" cy="400110"/>
          </a:xfrm>
          <a:prstGeom prst="rect">
            <a:avLst/>
          </a:prstGeom>
          <a:blipFill dpi="0" rotWithShape="0">
            <a:blip r:embed="rId4"/>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zh-CN" altLang="en-US" sz="2000" smtClean="0">
                <a:solidFill>
                  <a:srgbClr val="000000"/>
                </a:solidFill>
                <a:ea typeface="楷体_GB2312" pitchFamily="49" charset="-122"/>
              </a:rPr>
              <a:t>期末考试</a:t>
            </a:r>
          </a:p>
        </p:txBody>
      </p:sp>
      <p:sp>
        <p:nvSpPr>
          <p:cNvPr id="3077" name="Text Box 7" descr="蓝色砂纸">
            <a:hlinkClick r:id="rId6" action="ppaction://hlinksldjump"/>
          </p:cNvPr>
          <p:cNvSpPr txBox="1">
            <a:spLocks noChangeArrowheads="1"/>
          </p:cNvSpPr>
          <p:nvPr/>
        </p:nvSpPr>
        <p:spPr bwMode="auto">
          <a:xfrm>
            <a:off x="3115505" y="1950216"/>
            <a:ext cx="2113363" cy="400110"/>
          </a:xfrm>
          <a:prstGeom prst="rect">
            <a:avLst/>
          </a:prstGeom>
          <a:blipFill dpi="0" rotWithShape="0">
            <a:blip r:embed="rId4"/>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zh-CN" altLang="en-US" sz="2000" dirty="0" smtClean="0">
                <a:solidFill>
                  <a:srgbClr val="000000"/>
                </a:solidFill>
                <a:latin typeface="楷体_GB2312" pitchFamily="49" charset="-122"/>
                <a:ea typeface="楷体_GB2312" pitchFamily="49" charset="-122"/>
              </a:rPr>
              <a:t>期中考试</a:t>
            </a:r>
          </a:p>
        </p:txBody>
      </p:sp>
      <p:sp>
        <p:nvSpPr>
          <p:cNvPr id="3079" name="Text Box 9"/>
          <p:cNvSpPr txBox="1">
            <a:spLocks noChangeArrowheads="1"/>
          </p:cNvSpPr>
          <p:nvPr/>
        </p:nvSpPr>
        <p:spPr bwMode="auto">
          <a:xfrm>
            <a:off x="1295766" y="3107635"/>
            <a:ext cx="800219"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400" dirty="0" smtClean="0">
                <a:solidFill>
                  <a:srgbClr val="000000"/>
                </a:solidFill>
              </a:rPr>
              <a:t>50%</a:t>
            </a:r>
          </a:p>
        </p:txBody>
      </p:sp>
      <p:sp>
        <p:nvSpPr>
          <p:cNvPr id="3081" name="Text Box 11"/>
          <p:cNvSpPr txBox="1">
            <a:spLocks noChangeArrowheads="1"/>
          </p:cNvSpPr>
          <p:nvPr/>
        </p:nvSpPr>
        <p:spPr bwMode="auto">
          <a:xfrm>
            <a:off x="1295766" y="5256731"/>
            <a:ext cx="800219"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400" dirty="0" smtClean="0">
                <a:solidFill>
                  <a:srgbClr val="000000"/>
                </a:solidFill>
              </a:rPr>
              <a:t>50%</a:t>
            </a:r>
          </a:p>
        </p:txBody>
      </p:sp>
      <p:sp>
        <p:nvSpPr>
          <p:cNvPr id="3083" name="Text Box 13"/>
          <p:cNvSpPr txBox="1">
            <a:spLocks noChangeArrowheads="1"/>
          </p:cNvSpPr>
          <p:nvPr/>
        </p:nvSpPr>
        <p:spPr bwMode="auto">
          <a:xfrm>
            <a:off x="6210410" y="1898973"/>
            <a:ext cx="1213795"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smtClean="0">
                <a:solidFill>
                  <a:srgbClr val="000000"/>
                </a:solidFill>
              </a:rPr>
              <a:t>（</a:t>
            </a:r>
            <a:r>
              <a:rPr lang="en-US" altLang="zh-CN" sz="2000" dirty="0" smtClean="0">
                <a:solidFill>
                  <a:srgbClr val="000000"/>
                </a:solidFill>
              </a:rPr>
              <a:t>30%</a:t>
            </a:r>
            <a:r>
              <a:rPr lang="zh-CN" altLang="en-US" sz="2000" dirty="0" smtClean="0">
                <a:solidFill>
                  <a:srgbClr val="000000"/>
                </a:solidFill>
              </a:rPr>
              <a:t>）</a:t>
            </a:r>
          </a:p>
        </p:txBody>
      </p:sp>
      <p:sp>
        <p:nvSpPr>
          <p:cNvPr id="17" name="Text Box 16"/>
          <p:cNvSpPr txBox="1">
            <a:spLocks noChangeArrowheads="1"/>
          </p:cNvSpPr>
          <p:nvPr/>
        </p:nvSpPr>
        <p:spPr bwMode="auto">
          <a:xfrm>
            <a:off x="6274530" y="5312123"/>
            <a:ext cx="1213794"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smtClean="0">
                <a:solidFill>
                  <a:srgbClr val="000000"/>
                </a:solidFill>
              </a:rPr>
              <a:t>（</a:t>
            </a:r>
            <a:r>
              <a:rPr lang="en-US" altLang="zh-CN" sz="2000" dirty="0" smtClean="0">
                <a:solidFill>
                  <a:srgbClr val="000000"/>
                </a:solidFill>
              </a:rPr>
              <a:t>50%</a:t>
            </a:r>
            <a:r>
              <a:rPr lang="zh-CN" altLang="en-US" sz="2000" dirty="0" smtClean="0">
                <a:solidFill>
                  <a:srgbClr val="000000"/>
                </a:solidFill>
              </a:rPr>
              <a:t>）</a:t>
            </a:r>
          </a:p>
        </p:txBody>
      </p:sp>
      <p:sp>
        <p:nvSpPr>
          <p:cNvPr id="22" name="左大括号 21"/>
          <p:cNvSpPr/>
          <p:nvPr/>
        </p:nvSpPr>
        <p:spPr bwMode="auto">
          <a:xfrm>
            <a:off x="2395729" y="2103239"/>
            <a:ext cx="252028" cy="2444268"/>
          </a:xfrm>
          <a:prstGeom prst="leftBrace">
            <a:avLst>
              <a:gd name="adj1" fmla="val 0"/>
              <a:gd name="adj2" fmla="val 50000"/>
            </a:avLst>
          </a:prstGeom>
          <a:noFill/>
          <a:ln w="38100" cap="flat" cmpd="sng" algn="ctr">
            <a:solidFill>
              <a:schemeClr val="bg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hangingPunct="0"/>
            <a:endParaRPr lang="zh-CN" altLang="en-US" b="0" i="1" smtClean="0">
              <a:solidFill>
                <a:srgbClr val="FFFFFF"/>
              </a:solidFill>
            </a:endParaRPr>
          </a:p>
        </p:txBody>
      </p:sp>
      <p:sp>
        <p:nvSpPr>
          <p:cNvPr id="25" name="Text Box 13"/>
          <p:cNvSpPr txBox="1">
            <a:spLocks noChangeArrowheads="1"/>
          </p:cNvSpPr>
          <p:nvPr/>
        </p:nvSpPr>
        <p:spPr bwMode="auto">
          <a:xfrm>
            <a:off x="6241171" y="2707525"/>
            <a:ext cx="1213795"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smtClean="0">
                <a:solidFill>
                  <a:srgbClr val="000000"/>
                </a:solidFill>
              </a:rPr>
              <a:t>（</a:t>
            </a:r>
            <a:r>
              <a:rPr lang="en-US" altLang="zh-CN" sz="2000" dirty="0" smtClean="0">
                <a:solidFill>
                  <a:srgbClr val="000000"/>
                </a:solidFill>
              </a:rPr>
              <a:t>10%</a:t>
            </a:r>
            <a:r>
              <a:rPr lang="zh-CN" altLang="en-US" sz="2000" dirty="0" smtClean="0">
                <a:solidFill>
                  <a:srgbClr val="000000"/>
                </a:solidFill>
              </a:rPr>
              <a:t>）</a:t>
            </a:r>
          </a:p>
        </p:txBody>
      </p:sp>
      <p:cxnSp>
        <p:nvCxnSpPr>
          <p:cNvPr id="4" name="直接连接符 3"/>
          <p:cNvCxnSpPr/>
          <p:nvPr/>
        </p:nvCxnSpPr>
        <p:spPr bwMode="auto">
          <a:xfrm>
            <a:off x="2270788" y="5487563"/>
            <a:ext cx="501910" cy="0"/>
          </a:xfrm>
          <a:prstGeom prst="line">
            <a:avLst/>
          </a:prstGeom>
          <a:solidFill>
            <a:schemeClr val="accent1"/>
          </a:solidFill>
          <a:ln w="38100" cap="flat" cmpd="sng" algn="ctr">
            <a:solidFill>
              <a:schemeClr val="bg2"/>
            </a:solidFill>
            <a:prstDash val="solid"/>
            <a:round/>
            <a:headEnd type="none" w="med" len="med"/>
            <a:tailEnd type="none" w="med" len="med"/>
          </a:ln>
          <a:effectLst/>
        </p:spPr>
      </p:cxnSp>
      <p:sp>
        <p:nvSpPr>
          <p:cNvPr id="26" name="Rectangle 5" descr="蓝色砂纸">
            <a:hlinkClick r:id="rId3" action="ppaction://hlinksldjump"/>
          </p:cNvPr>
          <p:cNvSpPr>
            <a:spLocks noChangeArrowheads="1"/>
          </p:cNvSpPr>
          <p:nvPr/>
        </p:nvSpPr>
        <p:spPr bwMode="auto">
          <a:xfrm>
            <a:off x="3114066" y="3557160"/>
            <a:ext cx="2158801" cy="400110"/>
          </a:xfrm>
          <a:prstGeom prst="rect">
            <a:avLst/>
          </a:prstGeom>
          <a:blipFill dpi="0" rotWithShape="0">
            <a:blip r:embed="rId4"/>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zh-CN" altLang="en-US" sz="2000" dirty="0" smtClean="0">
                <a:solidFill>
                  <a:srgbClr val="000000"/>
                </a:solidFill>
                <a:latin typeface="楷体_GB2312" pitchFamily="49" charset="-122"/>
                <a:ea typeface="楷体_GB2312" pitchFamily="49" charset="-122"/>
              </a:rPr>
              <a:t>专题研究</a:t>
            </a:r>
          </a:p>
        </p:txBody>
      </p:sp>
      <p:sp>
        <p:nvSpPr>
          <p:cNvPr id="27" name="Text Box 13"/>
          <p:cNvSpPr txBox="1">
            <a:spLocks noChangeArrowheads="1"/>
          </p:cNvSpPr>
          <p:nvPr/>
        </p:nvSpPr>
        <p:spPr bwMode="auto">
          <a:xfrm>
            <a:off x="6303852" y="3516077"/>
            <a:ext cx="1085554"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smtClean="0">
                <a:solidFill>
                  <a:srgbClr val="000000"/>
                </a:solidFill>
              </a:rPr>
              <a:t>（</a:t>
            </a:r>
            <a:r>
              <a:rPr lang="en-US" altLang="zh-CN" sz="2000" dirty="0" smtClean="0">
                <a:solidFill>
                  <a:srgbClr val="000000"/>
                </a:solidFill>
              </a:rPr>
              <a:t>5%</a:t>
            </a:r>
            <a:r>
              <a:rPr lang="zh-CN" altLang="en-US" sz="2000" dirty="0" smtClean="0">
                <a:solidFill>
                  <a:srgbClr val="000000"/>
                </a:solidFill>
              </a:rPr>
              <a:t>）</a:t>
            </a:r>
          </a:p>
        </p:txBody>
      </p:sp>
      <p:sp>
        <p:nvSpPr>
          <p:cNvPr id="15" name="Rectangle 5" descr="蓝色砂纸">
            <a:hlinkClick r:id="rId3" action="ppaction://hlinksldjump"/>
          </p:cNvPr>
          <p:cNvSpPr>
            <a:spLocks noChangeArrowheads="1"/>
          </p:cNvSpPr>
          <p:nvPr/>
        </p:nvSpPr>
        <p:spPr bwMode="auto">
          <a:xfrm>
            <a:off x="3115505" y="4360632"/>
            <a:ext cx="2158801" cy="400110"/>
          </a:xfrm>
          <a:prstGeom prst="rect">
            <a:avLst/>
          </a:prstGeom>
          <a:blipFill dpi="0" rotWithShape="0">
            <a:blip r:embed="rId4"/>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zh-CN" altLang="en-US" sz="2000" dirty="0" smtClean="0">
                <a:solidFill>
                  <a:srgbClr val="000000"/>
                </a:solidFill>
                <a:latin typeface="楷体_GB2312" pitchFamily="49" charset="-122"/>
                <a:ea typeface="楷体_GB2312" pitchFamily="49" charset="-122"/>
              </a:rPr>
              <a:t>课堂表现</a:t>
            </a:r>
          </a:p>
        </p:txBody>
      </p:sp>
      <p:sp>
        <p:nvSpPr>
          <p:cNvPr id="16" name="Text Box 13"/>
          <p:cNvSpPr txBox="1">
            <a:spLocks noChangeArrowheads="1"/>
          </p:cNvSpPr>
          <p:nvPr/>
        </p:nvSpPr>
        <p:spPr bwMode="auto">
          <a:xfrm>
            <a:off x="6305291" y="4324628"/>
            <a:ext cx="1085554"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smtClean="0">
                <a:solidFill>
                  <a:srgbClr val="000000"/>
                </a:solidFill>
              </a:rPr>
              <a:t>（</a:t>
            </a:r>
            <a:r>
              <a:rPr lang="en-US" altLang="zh-CN" sz="2000" dirty="0" smtClean="0">
                <a:solidFill>
                  <a:srgbClr val="000000"/>
                </a:solidFill>
              </a:rPr>
              <a:t>5%</a:t>
            </a:r>
            <a:r>
              <a:rPr lang="zh-CN" altLang="en-US" sz="2000" dirty="0" smtClean="0">
                <a:solidFill>
                  <a:srgbClr val="000000"/>
                </a:solidFill>
              </a:rPr>
              <a:t>）</a:t>
            </a:r>
          </a:p>
        </p:txBody>
      </p:sp>
    </p:spTree>
    <p:extLst>
      <p:ext uri="{BB962C8B-B14F-4D97-AF65-F5344CB8AC3E}">
        <p14:creationId xmlns:p14="http://schemas.microsoft.com/office/powerpoint/2010/main" val="22049344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3" descr="水滴"/>
          <p:cNvSpPr txBox="1">
            <a:spLocks noChangeArrowheads="1"/>
          </p:cNvSpPr>
          <p:nvPr/>
        </p:nvSpPr>
        <p:spPr bwMode="auto">
          <a:xfrm>
            <a:off x="2303748" y="848907"/>
            <a:ext cx="4010632" cy="707886"/>
          </a:xfrm>
          <a:prstGeom prst="rect">
            <a:avLst/>
          </a:prstGeom>
          <a:blipFill dpi="0" rotWithShape="0">
            <a:blip r:embed="rId2"/>
            <a:srcRect/>
            <a:tile tx="0" ty="0" sx="100000" sy="100000" flip="none" algn="tl"/>
          </a:blipFill>
          <a:ln>
            <a:noFill/>
          </a:ln>
          <a:effectLst>
            <a:prstShdw prst="shdw17" dist="17961" dir="2700000">
              <a:srgbClr val="7A9999"/>
            </a:prst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50000"/>
              </a:spcBef>
              <a:buFontTx/>
              <a:buNone/>
            </a:pPr>
            <a:r>
              <a:rPr lang="zh-CN" altLang="en-US" sz="4000" dirty="0" smtClean="0">
                <a:solidFill>
                  <a:srgbClr val="3333CC"/>
                </a:solidFill>
                <a:ea typeface="华文行楷" pitchFamily="2" charset="-122"/>
              </a:rPr>
              <a:t>基本分数底线</a:t>
            </a:r>
          </a:p>
        </p:txBody>
      </p:sp>
      <p:sp>
        <p:nvSpPr>
          <p:cNvPr id="3075" name="Rectangle 5" descr="蓝色砂纸">
            <a:hlinkClick r:id="rId3" action="ppaction://hlinksldjump"/>
          </p:cNvPr>
          <p:cNvSpPr>
            <a:spLocks noChangeArrowheads="1"/>
          </p:cNvSpPr>
          <p:nvPr/>
        </p:nvSpPr>
        <p:spPr bwMode="auto">
          <a:xfrm>
            <a:off x="2591780" y="2652881"/>
            <a:ext cx="1258701" cy="400110"/>
          </a:xfrm>
          <a:prstGeom prst="rect">
            <a:avLst/>
          </a:prstGeom>
          <a:blipFill dpi="0" rotWithShape="0">
            <a:blip r:embed="rId4"/>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zh-CN" altLang="en-US" sz="2000" dirty="0" smtClean="0">
                <a:solidFill>
                  <a:srgbClr val="000000"/>
                </a:solidFill>
                <a:latin typeface="楷体_GB2312" pitchFamily="49" charset="-122"/>
                <a:ea typeface="楷体_GB2312" pitchFamily="49" charset="-122"/>
              </a:rPr>
              <a:t>平时总评</a:t>
            </a:r>
          </a:p>
        </p:txBody>
      </p:sp>
      <p:sp>
        <p:nvSpPr>
          <p:cNvPr id="3076" name="Text Box 6" descr="蓝色砂纸">
            <a:hlinkClick r:id="rId5" action="ppaction://hlinksldjump"/>
          </p:cNvPr>
          <p:cNvSpPr txBox="1">
            <a:spLocks noChangeArrowheads="1"/>
          </p:cNvSpPr>
          <p:nvPr/>
        </p:nvSpPr>
        <p:spPr bwMode="auto">
          <a:xfrm>
            <a:off x="2591780" y="4005064"/>
            <a:ext cx="1273562" cy="400110"/>
          </a:xfrm>
          <a:prstGeom prst="rect">
            <a:avLst/>
          </a:prstGeom>
          <a:blipFill dpi="0" rotWithShape="0">
            <a:blip r:embed="rId4"/>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squar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zh-CN" altLang="en-US" sz="2000" smtClean="0">
                <a:solidFill>
                  <a:srgbClr val="000000"/>
                </a:solidFill>
                <a:ea typeface="楷体_GB2312" pitchFamily="49" charset="-122"/>
              </a:rPr>
              <a:t>期末考试</a:t>
            </a:r>
          </a:p>
        </p:txBody>
      </p:sp>
      <p:sp>
        <p:nvSpPr>
          <p:cNvPr id="3081" name="Text Box 11"/>
          <p:cNvSpPr txBox="1">
            <a:spLocks noChangeArrowheads="1"/>
          </p:cNvSpPr>
          <p:nvPr/>
        </p:nvSpPr>
        <p:spPr bwMode="auto">
          <a:xfrm>
            <a:off x="5439800" y="2591326"/>
            <a:ext cx="492444"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400" dirty="0" smtClean="0">
                <a:solidFill>
                  <a:srgbClr val="000000"/>
                </a:solidFill>
              </a:rPr>
              <a:t>50</a:t>
            </a:r>
          </a:p>
        </p:txBody>
      </p:sp>
      <p:cxnSp>
        <p:nvCxnSpPr>
          <p:cNvPr id="4" name="直接连接符 3"/>
          <p:cNvCxnSpPr/>
          <p:nvPr/>
        </p:nvCxnSpPr>
        <p:spPr bwMode="auto">
          <a:xfrm>
            <a:off x="4430130" y="2852936"/>
            <a:ext cx="501910" cy="0"/>
          </a:xfrm>
          <a:prstGeom prst="line">
            <a:avLst/>
          </a:prstGeom>
          <a:solidFill>
            <a:schemeClr val="accent1"/>
          </a:solidFill>
          <a:ln w="38100" cap="flat" cmpd="sng" algn="ctr">
            <a:solidFill>
              <a:schemeClr val="bg2"/>
            </a:solidFill>
            <a:prstDash val="solid"/>
            <a:round/>
            <a:headEnd type="none" w="med" len="med"/>
            <a:tailEnd type="none" w="med" len="med"/>
          </a:ln>
          <a:effectLst/>
        </p:spPr>
      </p:cxnSp>
      <p:sp>
        <p:nvSpPr>
          <p:cNvPr id="26" name="Text Box 11"/>
          <p:cNvSpPr txBox="1">
            <a:spLocks noChangeArrowheads="1"/>
          </p:cNvSpPr>
          <p:nvPr/>
        </p:nvSpPr>
        <p:spPr bwMode="auto">
          <a:xfrm>
            <a:off x="5439800" y="3887470"/>
            <a:ext cx="492444"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400" dirty="0" smtClean="0">
                <a:solidFill>
                  <a:srgbClr val="000000"/>
                </a:solidFill>
              </a:rPr>
              <a:t>40</a:t>
            </a:r>
          </a:p>
        </p:txBody>
      </p:sp>
      <p:cxnSp>
        <p:nvCxnSpPr>
          <p:cNvPr id="27" name="直接连接符 26"/>
          <p:cNvCxnSpPr/>
          <p:nvPr/>
        </p:nvCxnSpPr>
        <p:spPr bwMode="auto">
          <a:xfrm>
            <a:off x="4430130" y="4149080"/>
            <a:ext cx="501910" cy="0"/>
          </a:xfrm>
          <a:prstGeom prst="line">
            <a:avLst/>
          </a:prstGeom>
          <a:solidFill>
            <a:schemeClr val="accent1"/>
          </a:solidFill>
          <a:ln w="38100" cap="flat" cmpd="sng" algn="ctr">
            <a:solidFill>
              <a:schemeClr val="bg2"/>
            </a:solidFill>
            <a:prstDash val="solid"/>
            <a:round/>
            <a:headEnd type="none" w="med" len="med"/>
            <a:tailEnd type="none" w="med" len="med"/>
          </a:ln>
          <a:effectLst/>
        </p:spPr>
      </p:cxnSp>
    </p:spTree>
    <p:extLst>
      <p:ext uri="{BB962C8B-B14F-4D97-AF65-F5344CB8AC3E}">
        <p14:creationId xmlns:p14="http://schemas.microsoft.com/office/powerpoint/2010/main" val="27675858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3"/>
          <p:cNvSpPr txBox="1">
            <a:spLocks noChangeArrowheads="1"/>
          </p:cNvSpPr>
          <p:nvPr/>
        </p:nvSpPr>
        <p:spPr bwMode="auto">
          <a:xfrm>
            <a:off x="611560" y="548680"/>
            <a:ext cx="7812868" cy="509370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000000"/>
                </a:solidFill>
              </a:rPr>
              <a:t>7</a:t>
            </a:r>
            <a:r>
              <a:rPr lang="zh-CN" altLang="en-US" sz="2400" dirty="0" smtClean="0">
                <a:solidFill>
                  <a:srgbClr val="000000"/>
                </a:solidFill>
              </a:rPr>
              <a:t>、参考教材</a:t>
            </a:r>
            <a:endParaRPr lang="en-US" altLang="zh-CN" sz="2400" dirty="0" smtClean="0">
              <a:solidFill>
                <a:srgbClr val="000000"/>
              </a:solidFill>
            </a:endParaRPr>
          </a:p>
          <a:p>
            <a:pPr eaLnBrk="1" hangingPunct="1">
              <a:spcBef>
                <a:spcPct val="50000"/>
              </a:spcBef>
              <a:buFontTx/>
              <a:buNone/>
            </a:pPr>
            <a:endParaRPr lang="en-US" altLang="zh-CN" sz="800" dirty="0" smtClean="0">
              <a:solidFill>
                <a:srgbClr val="000000"/>
              </a:solidFill>
            </a:endParaRPr>
          </a:p>
          <a:p>
            <a:pPr marL="914400" lvl="1" indent="-457200" eaLnBrk="1" hangingPunct="1">
              <a:spcBef>
                <a:spcPct val="50000"/>
              </a:spcBef>
              <a:buFont typeface="+mj-lt"/>
              <a:buAutoNum type="arabicPeriod"/>
            </a:pPr>
            <a:r>
              <a:rPr lang="en-US" altLang="zh-CN" sz="2200" dirty="0">
                <a:solidFill>
                  <a:srgbClr val="000000"/>
                </a:solidFill>
              </a:rPr>
              <a:t>Charles K. Alexander, Matthew N. O. </a:t>
            </a:r>
            <a:r>
              <a:rPr lang="en-US" altLang="zh-CN" sz="2200" dirty="0" err="1">
                <a:solidFill>
                  <a:srgbClr val="000000"/>
                </a:solidFill>
              </a:rPr>
              <a:t>Sadiku</a:t>
            </a:r>
            <a:r>
              <a:rPr lang="en-US" altLang="zh-CN" sz="2200" dirty="0">
                <a:solidFill>
                  <a:srgbClr val="000000"/>
                </a:solidFill>
              </a:rPr>
              <a:t>, Fundamentals of Electric Circuits (7th Edition), McGraw-Hill Education, 2021.</a:t>
            </a:r>
            <a:endParaRPr lang="zh-CN" altLang="en-US" sz="2200" dirty="0">
              <a:solidFill>
                <a:srgbClr val="000000"/>
              </a:solidFill>
            </a:endParaRPr>
          </a:p>
          <a:p>
            <a:pPr marL="914400" lvl="1" indent="-457200" eaLnBrk="1" hangingPunct="1">
              <a:spcBef>
                <a:spcPct val="50000"/>
              </a:spcBef>
              <a:buFont typeface="+mj-lt"/>
              <a:buAutoNum type="arabicPeriod"/>
            </a:pPr>
            <a:r>
              <a:rPr lang="en-US" altLang="zh-CN" sz="2200" dirty="0" smtClean="0">
                <a:solidFill>
                  <a:srgbClr val="000000"/>
                </a:solidFill>
              </a:rPr>
              <a:t>Adel </a:t>
            </a:r>
            <a:r>
              <a:rPr lang="en-US" altLang="zh-CN" sz="2200" dirty="0">
                <a:solidFill>
                  <a:srgbClr val="000000"/>
                </a:solidFill>
              </a:rPr>
              <a:t>S. </a:t>
            </a:r>
            <a:r>
              <a:rPr lang="en-US" altLang="zh-CN" sz="2200" dirty="0" err="1">
                <a:solidFill>
                  <a:srgbClr val="000000"/>
                </a:solidFill>
              </a:rPr>
              <a:t>Sedra</a:t>
            </a:r>
            <a:r>
              <a:rPr lang="en-US" altLang="zh-CN" sz="2200" dirty="0">
                <a:solidFill>
                  <a:srgbClr val="000000"/>
                </a:solidFill>
              </a:rPr>
              <a:t>, Kenneth Carless Smith</a:t>
            </a:r>
            <a:r>
              <a:rPr lang="zh-CN" altLang="en-US" sz="2200" dirty="0">
                <a:solidFill>
                  <a:srgbClr val="000000"/>
                </a:solidFill>
              </a:rPr>
              <a:t>，</a:t>
            </a:r>
            <a:r>
              <a:rPr lang="en-US" altLang="zh-CN" sz="2200" dirty="0">
                <a:solidFill>
                  <a:srgbClr val="000000"/>
                </a:solidFill>
              </a:rPr>
              <a:t>Microelectronic Circuits </a:t>
            </a:r>
            <a:r>
              <a:rPr lang="en-US" altLang="zh-CN" sz="2200" dirty="0" smtClean="0">
                <a:solidFill>
                  <a:srgbClr val="000000"/>
                </a:solidFill>
              </a:rPr>
              <a:t>(8th </a:t>
            </a:r>
            <a:r>
              <a:rPr lang="en-US" altLang="zh-CN" sz="2200" dirty="0">
                <a:solidFill>
                  <a:srgbClr val="000000"/>
                </a:solidFill>
              </a:rPr>
              <a:t>Edition), Oxford University Press</a:t>
            </a:r>
            <a:r>
              <a:rPr lang="zh-CN" altLang="en-US" sz="2200" dirty="0">
                <a:solidFill>
                  <a:srgbClr val="000000"/>
                </a:solidFill>
              </a:rPr>
              <a:t>，</a:t>
            </a:r>
            <a:r>
              <a:rPr lang="en-US" altLang="zh-CN" sz="2200" dirty="0" smtClean="0">
                <a:solidFill>
                  <a:srgbClr val="000000"/>
                </a:solidFill>
              </a:rPr>
              <a:t>2020.</a:t>
            </a:r>
          </a:p>
          <a:p>
            <a:pPr marL="457200" lvl="1" indent="0" eaLnBrk="1" hangingPunct="1">
              <a:spcBef>
                <a:spcPct val="50000"/>
              </a:spcBef>
              <a:buNone/>
            </a:pPr>
            <a:endParaRPr lang="en-US" altLang="zh-CN" sz="2200" dirty="0" smtClean="0">
              <a:solidFill>
                <a:srgbClr val="000000"/>
              </a:solidFill>
            </a:endParaRPr>
          </a:p>
          <a:p>
            <a:pPr eaLnBrk="1" hangingPunct="1">
              <a:spcBef>
                <a:spcPct val="50000"/>
              </a:spcBef>
              <a:buNone/>
            </a:pPr>
            <a:r>
              <a:rPr lang="en-US" altLang="zh-CN" sz="2400" dirty="0">
                <a:solidFill>
                  <a:srgbClr val="000000"/>
                </a:solidFill>
              </a:rPr>
              <a:t>8</a:t>
            </a:r>
            <a:r>
              <a:rPr lang="zh-CN" altLang="en-US" sz="2400" dirty="0">
                <a:solidFill>
                  <a:srgbClr val="000000"/>
                </a:solidFill>
              </a:rPr>
              <a:t>、</a:t>
            </a:r>
            <a:r>
              <a:rPr lang="zh-CN" altLang="en-US" sz="2400" dirty="0" smtClean="0">
                <a:solidFill>
                  <a:srgbClr val="000000"/>
                </a:solidFill>
              </a:rPr>
              <a:t>参考资料</a:t>
            </a:r>
            <a:endParaRPr lang="en-US" altLang="zh-CN" sz="2400" dirty="0" smtClean="0">
              <a:solidFill>
                <a:srgbClr val="000000"/>
              </a:solidFill>
            </a:endParaRPr>
          </a:p>
          <a:p>
            <a:pPr marL="914400" lvl="1" indent="-457200" eaLnBrk="1" hangingPunct="1">
              <a:spcBef>
                <a:spcPct val="50000"/>
              </a:spcBef>
              <a:buFont typeface="+mj-lt"/>
              <a:buAutoNum type="arabicPeriod"/>
            </a:pPr>
            <a:r>
              <a:rPr lang="zh-CN" altLang="en-US" sz="2200" dirty="0" smtClean="0">
                <a:solidFill>
                  <a:srgbClr val="000000"/>
                </a:solidFill>
              </a:rPr>
              <a:t>邱关源，</a:t>
            </a:r>
            <a:r>
              <a:rPr lang="en-US" altLang="zh-CN" sz="2200" dirty="0" smtClean="0">
                <a:solidFill>
                  <a:srgbClr val="000000"/>
                </a:solidFill>
              </a:rPr>
              <a:t>《</a:t>
            </a:r>
            <a:r>
              <a:rPr lang="zh-CN" altLang="en-US" sz="2200" dirty="0" smtClean="0">
                <a:solidFill>
                  <a:srgbClr val="000000"/>
                </a:solidFill>
              </a:rPr>
              <a:t>电路</a:t>
            </a:r>
            <a:r>
              <a:rPr lang="en-US" altLang="zh-CN" sz="2200" dirty="0" smtClean="0">
                <a:solidFill>
                  <a:srgbClr val="000000"/>
                </a:solidFill>
              </a:rPr>
              <a:t>》</a:t>
            </a:r>
            <a:r>
              <a:rPr lang="zh-CN" altLang="en-US" sz="2200" dirty="0" smtClean="0">
                <a:solidFill>
                  <a:srgbClr val="000000"/>
                </a:solidFill>
              </a:rPr>
              <a:t>（第</a:t>
            </a:r>
            <a:r>
              <a:rPr lang="en-US" altLang="zh-CN" sz="2200" dirty="0" smtClean="0">
                <a:solidFill>
                  <a:srgbClr val="000000"/>
                </a:solidFill>
              </a:rPr>
              <a:t>5</a:t>
            </a:r>
            <a:r>
              <a:rPr lang="zh-CN" altLang="en-US" sz="2200" dirty="0" smtClean="0">
                <a:solidFill>
                  <a:srgbClr val="000000"/>
                </a:solidFill>
              </a:rPr>
              <a:t>版），高等教育出版社，</a:t>
            </a:r>
            <a:r>
              <a:rPr lang="en-US" altLang="zh-CN" sz="2200" dirty="0" smtClean="0">
                <a:solidFill>
                  <a:srgbClr val="000000"/>
                </a:solidFill>
              </a:rPr>
              <a:t>2006</a:t>
            </a:r>
            <a:r>
              <a:rPr lang="zh-CN" altLang="en-US" sz="2200" dirty="0" smtClean="0">
                <a:solidFill>
                  <a:srgbClr val="000000"/>
                </a:solidFill>
              </a:rPr>
              <a:t>。</a:t>
            </a:r>
            <a:endParaRPr lang="en-US" altLang="zh-CN" sz="2200" dirty="0" smtClean="0">
              <a:solidFill>
                <a:srgbClr val="000000"/>
              </a:solidFill>
            </a:endParaRPr>
          </a:p>
          <a:p>
            <a:pPr marL="914400" lvl="1" indent="-457200" eaLnBrk="1" hangingPunct="1">
              <a:spcBef>
                <a:spcPct val="50000"/>
              </a:spcBef>
              <a:buFont typeface="+mj-lt"/>
              <a:buAutoNum type="arabicPeriod"/>
            </a:pPr>
            <a:r>
              <a:rPr lang="zh-CN" altLang="en-US" sz="2200" dirty="0" smtClean="0">
                <a:solidFill>
                  <a:srgbClr val="000000"/>
                </a:solidFill>
              </a:rPr>
              <a:t>童</a:t>
            </a:r>
            <a:r>
              <a:rPr lang="zh-CN" altLang="en-US" sz="2200" dirty="0">
                <a:solidFill>
                  <a:srgbClr val="000000"/>
                </a:solidFill>
              </a:rPr>
              <a:t>诗白，华成英，</a:t>
            </a:r>
            <a:r>
              <a:rPr lang="en-US" altLang="zh-CN" sz="2200" dirty="0">
                <a:solidFill>
                  <a:srgbClr val="000000"/>
                </a:solidFill>
              </a:rPr>
              <a:t>《</a:t>
            </a:r>
            <a:r>
              <a:rPr lang="zh-CN" altLang="en-US" sz="2200" dirty="0">
                <a:solidFill>
                  <a:srgbClr val="000000"/>
                </a:solidFill>
              </a:rPr>
              <a:t>模拟电子技术基础</a:t>
            </a:r>
            <a:r>
              <a:rPr lang="en-US" altLang="zh-CN" sz="2200" dirty="0">
                <a:solidFill>
                  <a:srgbClr val="000000"/>
                </a:solidFill>
              </a:rPr>
              <a:t>》</a:t>
            </a:r>
            <a:r>
              <a:rPr lang="zh-CN" altLang="en-US" sz="2200" dirty="0">
                <a:solidFill>
                  <a:srgbClr val="000000"/>
                </a:solidFill>
              </a:rPr>
              <a:t>（第五版），高等教育出版社，</a:t>
            </a:r>
            <a:r>
              <a:rPr lang="en-US" altLang="zh-CN" sz="2200" dirty="0" smtClean="0">
                <a:solidFill>
                  <a:srgbClr val="000000"/>
                </a:solidFill>
              </a:rPr>
              <a:t>2015</a:t>
            </a:r>
            <a:r>
              <a:rPr lang="zh-CN" altLang="en-US" sz="2200" dirty="0" smtClean="0">
                <a:solidFill>
                  <a:srgbClr val="000000"/>
                </a:solidFill>
              </a:rPr>
              <a:t>。</a:t>
            </a:r>
            <a:endParaRPr lang="en-US" altLang="zh-CN" sz="2200" dirty="0">
              <a:solidFill>
                <a:srgbClr val="000000"/>
              </a:solidFill>
            </a:endParaRPr>
          </a:p>
        </p:txBody>
      </p:sp>
    </p:spTree>
    <p:extLst>
      <p:ext uri="{BB962C8B-B14F-4D97-AF65-F5344CB8AC3E}">
        <p14:creationId xmlns:p14="http://schemas.microsoft.com/office/powerpoint/2010/main" val="10824542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835696" y="332977"/>
            <a:ext cx="2242723" cy="2880000"/>
          </a:xfrm>
          <a:prstGeom prst="rect">
            <a:avLst/>
          </a:prstGeom>
        </p:spPr>
      </p:pic>
      <p:pic>
        <p:nvPicPr>
          <p:cNvPr id="3" name="图片 2"/>
          <p:cNvPicPr>
            <a:picLocks noChangeAspect="1"/>
          </p:cNvPicPr>
          <p:nvPr/>
        </p:nvPicPr>
        <p:blipFill>
          <a:blip r:embed="rId3"/>
          <a:stretch>
            <a:fillRect/>
          </a:stretch>
        </p:blipFill>
        <p:spPr>
          <a:xfrm>
            <a:off x="5006008" y="332977"/>
            <a:ext cx="2272405" cy="2880000"/>
          </a:xfrm>
          <a:prstGeom prst="rect">
            <a:avLst/>
          </a:prstGeom>
          <a:ln>
            <a:solidFill>
              <a:schemeClr val="bg2"/>
            </a:solidFill>
          </a:ln>
        </p:spPr>
      </p:pic>
      <p:pic>
        <p:nvPicPr>
          <p:cNvPr id="4" name="图片 3"/>
          <p:cNvPicPr>
            <a:picLocks noChangeAspect="1"/>
          </p:cNvPicPr>
          <p:nvPr/>
        </p:nvPicPr>
        <p:blipFill>
          <a:blip r:embed="rId4"/>
          <a:stretch>
            <a:fillRect/>
          </a:stretch>
        </p:blipFill>
        <p:spPr>
          <a:xfrm>
            <a:off x="1953114" y="3609340"/>
            <a:ext cx="2007887" cy="2880000"/>
          </a:xfrm>
          <a:prstGeom prst="rect">
            <a:avLst/>
          </a:prstGeom>
        </p:spPr>
      </p:pic>
      <p:pic>
        <p:nvPicPr>
          <p:cNvPr id="5" name="图片 4"/>
          <p:cNvPicPr>
            <a:picLocks noChangeAspect="1"/>
          </p:cNvPicPr>
          <p:nvPr/>
        </p:nvPicPr>
        <p:blipFill>
          <a:blip r:embed="rId5"/>
          <a:stretch>
            <a:fillRect/>
          </a:stretch>
        </p:blipFill>
        <p:spPr>
          <a:xfrm>
            <a:off x="5097661" y="3609340"/>
            <a:ext cx="2089099" cy="2880000"/>
          </a:xfrm>
          <a:prstGeom prst="rect">
            <a:avLst/>
          </a:prstGeom>
        </p:spPr>
      </p:pic>
    </p:spTree>
    <p:extLst>
      <p:ext uri="{BB962C8B-B14F-4D97-AF65-F5344CB8AC3E}">
        <p14:creationId xmlns:p14="http://schemas.microsoft.com/office/powerpoint/2010/main" val="21846917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369888" y="481162"/>
            <a:ext cx="623817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smtClean="0">
                <a:solidFill>
                  <a:srgbClr val="990033"/>
                </a:solidFill>
              </a:rPr>
              <a:t>1.1.2 </a:t>
            </a:r>
            <a:r>
              <a:rPr lang="zh-CN" altLang="en-US" dirty="0" smtClean="0">
                <a:solidFill>
                  <a:srgbClr val="990033"/>
                </a:solidFill>
              </a:rPr>
              <a:t>电子电路的发展历史</a:t>
            </a:r>
            <a:endParaRPr lang="zh-CN" altLang="en-US" dirty="0">
              <a:solidFill>
                <a:schemeClr val="tx2"/>
              </a:solidFill>
            </a:endParaRPr>
          </a:p>
        </p:txBody>
      </p:sp>
      <p:sp>
        <p:nvSpPr>
          <p:cNvPr id="4" name="Rectangle 3"/>
          <p:cNvSpPr txBox="1">
            <a:spLocks noChangeArrowheads="1"/>
          </p:cNvSpPr>
          <p:nvPr/>
        </p:nvSpPr>
        <p:spPr bwMode="auto">
          <a:xfrm>
            <a:off x="431540" y="1190624"/>
            <a:ext cx="8280920" cy="4803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defPPr>
              <a:defRPr lang="zh-CN"/>
            </a:defPPr>
            <a:lvl1pPr algn="l" rtl="0" fontAlgn="base">
              <a:spcBef>
                <a:spcPct val="0"/>
              </a:spcBef>
              <a:spcAft>
                <a:spcPct val="0"/>
              </a:spcAft>
              <a:defRPr kumimoji="1" sz="2400" b="1" kern="1200">
                <a:solidFill>
                  <a:schemeClr val="tx1"/>
                </a:solidFill>
                <a:latin typeface="Times New Roman" pitchFamily="18" charset="0"/>
                <a:ea typeface="宋体" charset="-122"/>
                <a:cs typeface="+mn-cs"/>
              </a:defRPr>
            </a:lvl1pPr>
            <a:lvl2pPr marL="457200" algn="l" rtl="0" fontAlgn="base">
              <a:spcBef>
                <a:spcPct val="0"/>
              </a:spcBef>
              <a:spcAft>
                <a:spcPct val="0"/>
              </a:spcAft>
              <a:defRPr kumimoji="1" sz="2400" b="1"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2400" b="1"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2400" b="1"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2400" b="1" kern="1200">
                <a:solidFill>
                  <a:schemeClr val="tx1"/>
                </a:solidFill>
                <a:latin typeface="Times New Roman" pitchFamily="18" charset="0"/>
                <a:ea typeface="宋体" charset="-122"/>
                <a:cs typeface="+mn-cs"/>
              </a:defRPr>
            </a:lvl5pPr>
            <a:lvl6pPr marL="2286000" algn="l" defTabSz="914400" rtl="0" eaLnBrk="1" latinLnBrk="0" hangingPunct="1">
              <a:defRPr kumimoji="1" sz="2400" b="1" kern="1200">
                <a:solidFill>
                  <a:schemeClr val="tx1"/>
                </a:solidFill>
                <a:latin typeface="Times New Roman" pitchFamily="18" charset="0"/>
                <a:ea typeface="宋体" charset="-122"/>
                <a:cs typeface="+mn-cs"/>
              </a:defRPr>
            </a:lvl6pPr>
            <a:lvl7pPr marL="2743200" algn="l" defTabSz="914400" rtl="0" eaLnBrk="1" latinLnBrk="0" hangingPunct="1">
              <a:defRPr kumimoji="1" sz="2400" b="1" kern="1200">
                <a:solidFill>
                  <a:schemeClr val="tx1"/>
                </a:solidFill>
                <a:latin typeface="Times New Roman" pitchFamily="18" charset="0"/>
                <a:ea typeface="宋体" charset="-122"/>
                <a:cs typeface="+mn-cs"/>
              </a:defRPr>
            </a:lvl7pPr>
            <a:lvl8pPr marL="3200400" algn="l" defTabSz="914400" rtl="0" eaLnBrk="1" latinLnBrk="0" hangingPunct="1">
              <a:defRPr kumimoji="1" sz="2400" b="1" kern="1200">
                <a:solidFill>
                  <a:schemeClr val="tx1"/>
                </a:solidFill>
                <a:latin typeface="Times New Roman" pitchFamily="18" charset="0"/>
                <a:ea typeface="宋体" charset="-122"/>
                <a:cs typeface="+mn-cs"/>
              </a:defRPr>
            </a:lvl8pPr>
            <a:lvl9pPr marL="3657600" algn="l" defTabSz="914400" rtl="0" eaLnBrk="1" latinLnBrk="0" hangingPunct="1">
              <a:defRPr kumimoji="1" sz="2400" b="1" kern="1200">
                <a:solidFill>
                  <a:schemeClr val="tx1"/>
                </a:solidFill>
                <a:latin typeface="Times New Roman" pitchFamily="18" charset="0"/>
                <a:ea typeface="宋体" charset="-122"/>
                <a:cs typeface="+mn-cs"/>
              </a:defRPr>
            </a:lvl9pPr>
          </a:lstStyle>
          <a:p>
            <a:pPr marL="342900" marR="0" lvl="0" indent="-342900" algn="l" defTabSz="914400" rtl="0" eaLnBrk="1" fontAlgn="base" latinLnBrk="0" hangingPunct="1">
              <a:lnSpc>
                <a:spcPct val="120000"/>
              </a:lnSpc>
              <a:spcBef>
                <a:spcPct val="20000"/>
              </a:spcBef>
              <a:spcAft>
                <a:spcPct val="0"/>
              </a:spcAft>
              <a:buClr>
                <a:srgbClr val="000000"/>
              </a:buClr>
              <a:buSzTx/>
              <a:buFont typeface="Wingdings" pitchFamily="2" charset="2"/>
              <a:buChar char="p"/>
              <a:tabLst/>
              <a:defRPr/>
            </a:pPr>
            <a:r>
              <a:rPr kumimoji="1" lang="zh-CN" altLang="en-US" sz="2400" b="0" i="0" u="none" strike="noStrike" kern="0" cap="none" spc="0" normalizeH="0" baseline="0" noProof="0" dirty="0" smtClean="0">
                <a:ln>
                  <a:noFill/>
                </a:ln>
                <a:solidFill>
                  <a:srgbClr val="000000"/>
                </a:solidFill>
                <a:effectLst/>
                <a:uLnTx/>
                <a:uFillTx/>
                <a:latin typeface="Times New Roman"/>
                <a:ea typeface="宋体"/>
                <a:cs typeface="+mn-cs"/>
              </a:rPr>
              <a:t>内容自由发挥</a:t>
            </a:r>
            <a:endParaRPr kumimoji="1" lang="en-US" altLang="zh-CN" sz="2400" b="0" i="0" u="none" strike="noStrike" kern="0" cap="none" spc="0" normalizeH="0" baseline="0" noProof="0" dirty="0" smtClean="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120000"/>
              </a:lnSpc>
              <a:spcBef>
                <a:spcPct val="20000"/>
              </a:spcBef>
              <a:spcAft>
                <a:spcPct val="0"/>
              </a:spcAft>
              <a:buClr>
                <a:srgbClr val="000000"/>
              </a:buClr>
              <a:buSzTx/>
              <a:buFont typeface="Wingdings" pitchFamily="2" charset="2"/>
              <a:buChar char="p"/>
              <a:tabLst/>
              <a:defRPr/>
            </a:pPr>
            <a:r>
              <a:rPr kumimoji="1" lang="zh-CN" altLang="en-US" sz="2400" b="0" i="0" u="none" strike="noStrike" kern="0" cap="none" spc="0" normalizeH="0" baseline="0" noProof="0" dirty="0" smtClean="0">
                <a:ln>
                  <a:noFill/>
                </a:ln>
                <a:solidFill>
                  <a:srgbClr val="000000"/>
                </a:solidFill>
                <a:effectLst/>
                <a:uLnTx/>
                <a:uFillTx/>
                <a:latin typeface="Times New Roman"/>
                <a:ea typeface="宋体"/>
                <a:cs typeface="+mn-cs"/>
              </a:rPr>
              <a:t>可适当融入思政内容</a:t>
            </a:r>
          </a:p>
        </p:txBody>
      </p:sp>
    </p:spTree>
    <p:extLst>
      <p:ext uri="{BB962C8B-B14F-4D97-AF65-F5344CB8AC3E}">
        <p14:creationId xmlns:p14="http://schemas.microsoft.com/office/powerpoint/2010/main" val="4041312325"/>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369888" y="1423988"/>
            <a:ext cx="7734300"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smtClean="0">
                <a:solidFill>
                  <a:srgbClr val="990033"/>
                </a:solidFill>
              </a:rPr>
              <a:t>1.2.1 </a:t>
            </a:r>
            <a:r>
              <a:rPr lang="zh-CN" altLang="en-US" dirty="0">
                <a:solidFill>
                  <a:srgbClr val="990033"/>
                </a:solidFill>
              </a:rPr>
              <a:t>实际电路和电路模型</a:t>
            </a:r>
          </a:p>
          <a:p>
            <a:pPr>
              <a:spcBef>
                <a:spcPct val="50000"/>
              </a:spcBef>
            </a:pPr>
            <a:r>
              <a:rPr lang="zh-CN" altLang="en-US" dirty="0">
                <a:solidFill>
                  <a:srgbClr val="000000"/>
                </a:solidFill>
              </a:rPr>
              <a:t>       </a:t>
            </a:r>
            <a:r>
              <a:rPr lang="zh-CN" altLang="en-US" dirty="0">
                <a:solidFill>
                  <a:srgbClr val="990033"/>
                </a:solidFill>
              </a:rPr>
              <a:t>实际电路</a:t>
            </a:r>
            <a:r>
              <a:rPr lang="zh-CN" altLang="en-US" dirty="0">
                <a:solidFill>
                  <a:srgbClr val="000000"/>
                </a:solidFill>
              </a:rPr>
              <a:t>是指由电子元件相互连接构成的总体。</a:t>
            </a:r>
          </a:p>
        </p:txBody>
      </p:sp>
      <p:sp>
        <p:nvSpPr>
          <p:cNvPr id="3075" name="Rectangle 56"/>
          <p:cNvSpPr>
            <a:spLocks noChangeArrowheads="1"/>
          </p:cNvSpPr>
          <p:nvPr/>
        </p:nvSpPr>
        <p:spPr bwMode="auto">
          <a:xfrm>
            <a:off x="768350" y="452438"/>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dirty="0" smtClean="0">
                <a:solidFill>
                  <a:srgbClr val="000000"/>
                </a:solidFill>
              </a:rPr>
              <a:t>1.2 </a:t>
            </a:r>
            <a:r>
              <a:rPr lang="zh-CN" altLang="en-US" sz="2800" dirty="0" smtClean="0">
                <a:solidFill>
                  <a:srgbClr val="000000"/>
                </a:solidFill>
              </a:rPr>
              <a:t>电路基础知识</a:t>
            </a:r>
            <a:endParaRPr lang="zh-CN" altLang="en-US" sz="2800" dirty="0">
              <a:solidFill>
                <a:srgbClr val="000000"/>
              </a:solidFill>
            </a:endParaRPr>
          </a:p>
        </p:txBody>
      </p:sp>
      <p:grpSp>
        <p:nvGrpSpPr>
          <p:cNvPr id="3076" name="Group 57"/>
          <p:cNvGrpSpPr>
            <a:grpSpLocks/>
          </p:cNvGrpSpPr>
          <p:nvPr/>
        </p:nvGrpSpPr>
        <p:grpSpPr bwMode="auto">
          <a:xfrm>
            <a:off x="954088" y="3203575"/>
            <a:ext cx="7753350" cy="2476500"/>
            <a:chOff x="300" y="1692"/>
            <a:chExt cx="4884" cy="1560"/>
          </a:xfrm>
        </p:grpSpPr>
        <p:sp>
          <p:nvSpPr>
            <p:cNvPr id="3077" name="Text Box 58"/>
            <p:cNvSpPr txBox="1">
              <a:spLocks noChangeArrowheads="1"/>
            </p:cNvSpPr>
            <p:nvPr/>
          </p:nvSpPr>
          <p:spPr bwMode="auto">
            <a:xfrm>
              <a:off x="300" y="1692"/>
              <a:ext cx="30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dirty="0" smtClean="0">
                  <a:solidFill>
                    <a:srgbClr val="FF0000"/>
                  </a:solidFill>
                </a:rPr>
                <a:t>电源 </a:t>
              </a:r>
              <a:r>
                <a:rPr lang="zh-CN" altLang="en-US" dirty="0" smtClean="0">
                  <a:solidFill>
                    <a:srgbClr val="000000"/>
                  </a:solidFill>
                </a:rPr>
                <a:t>：</a:t>
              </a:r>
              <a:r>
                <a:rPr lang="zh-CN" altLang="en-US" dirty="0">
                  <a:solidFill>
                    <a:srgbClr val="000000"/>
                  </a:solidFill>
                </a:rPr>
                <a:t>提供能量或信号</a:t>
              </a:r>
              <a:r>
                <a:rPr lang="en-US" altLang="zh-CN" dirty="0">
                  <a:solidFill>
                    <a:srgbClr val="000000"/>
                  </a:solidFill>
                </a:rPr>
                <a:t>.</a:t>
              </a:r>
            </a:p>
          </p:txBody>
        </p:sp>
        <p:sp>
          <p:nvSpPr>
            <p:cNvPr id="3078" name="Text Box 59"/>
            <p:cNvSpPr txBox="1">
              <a:spLocks noChangeArrowheads="1"/>
            </p:cNvSpPr>
            <p:nvPr/>
          </p:nvSpPr>
          <p:spPr bwMode="auto">
            <a:xfrm>
              <a:off x="300" y="2275"/>
              <a:ext cx="4416" cy="5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1714500" indent="-17145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dirty="0">
                  <a:solidFill>
                    <a:srgbClr val="FF0000"/>
                  </a:solidFill>
                </a:rPr>
                <a:t>负载 </a:t>
              </a:r>
              <a:r>
                <a:rPr lang="zh-CN" altLang="en-US" dirty="0" smtClean="0">
                  <a:solidFill>
                    <a:srgbClr val="000000"/>
                  </a:solidFill>
                </a:rPr>
                <a:t>：</a:t>
              </a:r>
              <a:r>
                <a:rPr lang="zh-CN" altLang="en-US" dirty="0">
                  <a:solidFill>
                    <a:srgbClr val="000000"/>
                  </a:solidFill>
                </a:rPr>
                <a:t>将电能转化为其它形式的能量，或对                            信号进行处理</a:t>
              </a:r>
              <a:r>
                <a:rPr lang="en-US" altLang="zh-CN" dirty="0">
                  <a:solidFill>
                    <a:srgbClr val="000000"/>
                  </a:solidFill>
                </a:rPr>
                <a:t>.</a:t>
              </a:r>
            </a:p>
          </p:txBody>
        </p:sp>
        <p:sp>
          <p:nvSpPr>
            <p:cNvPr id="3079" name="Text Box 60"/>
            <p:cNvSpPr txBox="1">
              <a:spLocks noChangeArrowheads="1"/>
            </p:cNvSpPr>
            <p:nvPr/>
          </p:nvSpPr>
          <p:spPr bwMode="auto">
            <a:xfrm>
              <a:off x="336" y="2964"/>
              <a:ext cx="48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dirty="0" smtClean="0">
                  <a:solidFill>
                    <a:srgbClr val="FF0000"/>
                  </a:solidFill>
                </a:rPr>
                <a:t>导线</a:t>
              </a:r>
              <a:r>
                <a:rPr lang="zh-CN" altLang="en-US" dirty="0" smtClean="0">
                  <a:solidFill>
                    <a:srgbClr val="000000"/>
                  </a:solidFill>
                </a:rPr>
                <a:t>、</a:t>
              </a:r>
              <a:r>
                <a:rPr lang="zh-CN" altLang="en-US" dirty="0" smtClean="0">
                  <a:solidFill>
                    <a:srgbClr val="FF0000"/>
                  </a:solidFill>
                </a:rPr>
                <a:t>开关</a:t>
              </a:r>
              <a:r>
                <a:rPr lang="zh-CN" altLang="en-US" dirty="0" smtClean="0">
                  <a:solidFill>
                    <a:srgbClr val="000000"/>
                  </a:solidFill>
                </a:rPr>
                <a:t>等</a:t>
              </a:r>
              <a:r>
                <a:rPr lang="zh-CN" altLang="en-US" dirty="0">
                  <a:solidFill>
                    <a:srgbClr val="000000"/>
                  </a:solidFill>
                </a:rPr>
                <a:t>：将电源与负载接成通路</a:t>
              </a:r>
              <a:r>
                <a:rPr lang="en-US" altLang="zh-CN" dirty="0">
                  <a:solidFill>
                    <a:srgbClr val="000000"/>
                  </a:solidFill>
                </a:rPr>
                <a:t>.</a:t>
              </a:r>
            </a:p>
          </p:txBody>
        </p:sp>
      </p:grpSp>
    </p:spTree>
    <p:extLst>
      <p:ext uri="{BB962C8B-B14F-4D97-AF65-F5344CB8AC3E}">
        <p14:creationId xmlns:p14="http://schemas.microsoft.com/office/powerpoint/2010/main" val="126723665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4">
                                            <p:txEl>
                                              <p:pRg st="0" end="0"/>
                                            </p:txEl>
                                          </p:spTgt>
                                        </p:tgtEl>
                                        <p:attrNameLst>
                                          <p:attrName>style.visibility</p:attrName>
                                        </p:attrNameLst>
                                      </p:cBhvr>
                                      <p:to>
                                        <p:strVal val="visible"/>
                                      </p:to>
                                    </p:set>
                                    <p:animEffect transition="in" filter="barn(inVertical)">
                                      <p:cBhvr>
                                        <p:cTn id="7" dur="500"/>
                                        <p:tgtEl>
                                          <p:spTgt spid="30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74">
                                            <p:txEl>
                                              <p:pRg st="1" end="1"/>
                                            </p:txEl>
                                          </p:spTgt>
                                        </p:tgtEl>
                                        <p:attrNameLst>
                                          <p:attrName>style.visibility</p:attrName>
                                        </p:attrNameLst>
                                      </p:cBhvr>
                                      <p:to>
                                        <p:strVal val="visible"/>
                                      </p:to>
                                    </p:set>
                                    <p:animEffect transition="in" filter="barn(inVertical)">
                                      <p:cBhvr>
                                        <p:cTn id="12" dur="500"/>
                                        <p:tgtEl>
                                          <p:spTgt spid="30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barn(inVertical)">
                                      <p:cBhvr>
                                        <p:cTn id="17"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3"/>
          <p:cNvSpPr txBox="1">
            <a:spLocks noChangeArrowheads="1"/>
          </p:cNvSpPr>
          <p:nvPr/>
        </p:nvSpPr>
        <p:spPr bwMode="auto">
          <a:xfrm>
            <a:off x="400050" y="496888"/>
            <a:ext cx="387667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dirty="0">
                <a:solidFill>
                  <a:srgbClr val="990033"/>
                </a:solidFill>
              </a:rPr>
              <a:t>电路</a:t>
            </a:r>
            <a:r>
              <a:rPr lang="zh-CN" altLang="en-US" dirty="0" smtClean="0">
                <a:solidFill>
                  <a:srgbClr val="990033"/>
                </a:solidFill>
              </a:rPr>
              <a:t>模型</a:t>
            </a:r>
            <a:endParaRPr lang="en-US" altLang="zh-CN" dirty="0">
              <a:solidFill>
                <a:srgbClr val="990033"/>
              </a:solidFill>
            </a:endParaRPr>
          </a:p>
        </p:txBody>
      </p:sp>
      <p:sp>
        <p:nvSpPr>
          <p:cNvPr id="5123" name="Text Box 4"/>
          <p:cNvSpPr txBox="1">
            <a:spLocks noChangeArrowheads="1"/>
          </p:cNvSpPr>
          <p:nvPr/>
        </p:nvSpPr>
        <p:spPr bwMode="auto">
          <a:xfrm>
            <a:off x="698500" y="1089025"/>
            <a:ext cx="789781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a:solidFill>
                  <a:schemeClr val="tx2"/>
                </a:solidFill>
              </a:rPr>
              <a:t>        </a:t>
            </a:r>
            <a:r>
              <a:rPr lang="zh-CN" altLang="en-US" dirty="0">
                <a:solidFill>
                  <a:schemeClr val="tx2"/>
                </a:solidFill>
              </a:rPr>
              <a:t>电路模型是由理想电路元件构成的，能反映实际电路的电磁性质。</a:t>
            </a:r>
          </a:p>
        </p:txBody>
      </p:sp>
      <p:sp>
        <p:nvSpPr>
          <p:cNvPr id="5124" name="AutoShape 6"/>
          <p:cNvSpPr>
            <a:spLocks noChangeArrowheads="1"/>
          </p:cNvSpPr>
          <p:nvPr/>
        </p:nvSpPr>
        <p:spPr bwMode="auto">
          <a:xfrm>
            <a:off x="4514850" y="4191000"/>
            <a:ext cx="533400" cy="228600"/>
          </a:xfrm>
          <a:prstGeom prst="rightArrow">
            <a:avLst>
              <a:gd name="adj1" fmla="val 50000"/>
              <a:gd name="adj2" fmla="val 58333"/>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nvGrpSpPr>
          <p:cNvPr id="5125" name="Group 7"/>
          <p:cNvGrpSpPr>
            <a:grpSpLocks/>
          </p:cNvGrpSpPr>
          <p:nvPr/>
        </p:nvGrpSpPr>
        <p:grpSpPr bwMode="auto">
          <a:xfrm>
            <a:off x="727075" y="2933700"/>
            <a:ext cx="3292475" cy="2571750"/>
            <a:chOff x="518" y="1884"/>
            <a:chExt cx="2074" cy="1620"/>
          </a:xfrm>
        </p:grpSpPr>
        <p:graphicFrame>
          <p:nvGraphicFramePr>
            <p:cNvPr id="5147" name="Object 8"/>
            <p:cNvGraphicFramePr>
              <a:graphicFrameLocks noChangeAspect="1"/>
            </p:cNvGraphicFramePr>
            <p:nvPr/>
          </p:nvGraphicFramePr>
          <p:xfrm>
            <a:off x="2160" y="2592"/>
            <a:ext cx="221" cy="398"/>
          </p:xfrm>
          <a:graphic>
            <a:graphicData uri="http://schemas.openxmlformats.org/presentationml/2006/ole">
              <mc:AlternateContent xmlns:mc="http://schemas.openxmlformats.org/markup-compatibility/2006">
                <mc:Choice xmlns:v="urn:schemas-microsoft-com:vml" Requires="v">
                  <p:oleObj spid="_x0000_s5429" name="剪辑" r:id="rId3" imgW="2478088" imgH="4460875" progId="MS_ClipArt_Gallery.2">
                    <p:embed/>
                  </p:oleObj>
                </mc:Choice>
                <mc:Fallback>
                  <p:oleObj name="剪辑" r:id="rId3" imgW="2478088" imgH="4460875" progId="MS_ClipArt_Gallery.2">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0" y="2592"/>
                          <a:ext cx="221" cy="3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48" name="Group 9"/>
            <p:cNvGrpSpPr>
              <a:grpSpLocks/>
            </p:cNvGrpSpPr>
            <p:nvPr/>
          </p:nvGrpSpPr>
          <p:grpSpPr bwMode="auto">
            <a:xfrm>
              <a:off x="1392" y="2172"/>
              <a:ext cx="336" cy="239"/>
              <a:chOff x="1344" y="1884"/>
              <a:chExt cx="336" cy="239"/>
            </a:xfrm>
          </p:grpSpPr>
          <p:graphicFrame>
            <p:nvGraphicFramePr>
              <p:cNvPr id="5167" name="Object 10"/>
              <p:cNvGraphicFramePr>
                <a:graphicFrameLocks noChangeAspect="1"/>
              </p:cNvGraphicFramePr>
              <p:nvPr/>
            </p:nvGraphicFramePr>
            <p:xfrm>
              <a:off x="1344" y="1884"/>
              <a:ext cx="336" cy="239"/>
            </p:xfrm>
            <a:graphic>
              <a:graphicData uri="http://schemas.openxmlformats.org/presentationml/2006/ole">
                <mc:AlternateContent xmlns:mc="http://schemas.openxmlformats.org/markup-compatibility/2006">
                  <mc:Choice xmlns:v="urn:schemas-microsoft-com:vml" Requires="v">
                    <p:oleObj spid="_x0000_s5430" name="VISIO" r:id="rId5" imgW="6126480" imgH="4434840" progId="Visio.Drawing.4">
                      <p:embed/>
                    </p:oleObj>
                  </mc:Choice>
                  <mc:Fallback>
                    <p:oleObj name="VISIO" r:id="rId5" imgW="6126480" imgH="4434840" progId="Visio.Drawing.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4" y="1884"/>
                            <a:ext cx="336"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68" name="Line 11"/>
              <p:cNvSpPr>
                <a:spLocks noChangeShapeType="1"/>
              </p:cNvSpPr>
              <p:nvPr/>
            </p:nvSpPr>
            <p:spPr bwMode="auto">
              <a:xfrm flipV="1">
                <a:off x="1440" y="2016"/>
                <a:ext cx="144"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9" name="Group 12"/>
            <p:cNvGrpSpPr>
              <a:grpSpLocks/>
            </p:cNvGrpSpPr>
            <p:nvPr/>
          </p:nvGrpSpPr>
          <p:grpSpPr bwMode="auto">
            <a:xfrm>
              <a:off x="864" y="2555"/>
              <a:ext cx="288" cy="480"/>
              <a:chOff x="864" y="2555"/>
              <a:chExt cx="288" cy="480"/>
            </a:xfrm>
          </p:grpSpPr>
          <p:sp>
            <p:nvSpPr>
              <p:cNvPr id="5165" name="AutoShape 13"/>
              <p:cNvSpPr>
                <a:spLocks noChangeArrowheads="1"/>
              </p:cNvSpPr>
              <p:nvPr/>
            </p:nvSpPr>
            <p:spPr bwMode="auto">
              <a:xfrm>
                <a:off x="864" y="2555"/>
                <a:ext cx="288" cy="480"/>
              </a:xfrm>
              <a:prstGeom prst="can">
                <a:avLst>
                  <a:gd name="adj" fmla="val 41667"/>
                </a:avLst>
              </a:prstGeom>
              <a:solidFill>
                <a:srgbClr val="CCFF33"/>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166" name="AutoShape 14"/>
              <p:cNvSpPr>
                <a:spLocks noChangeArrowheads="1"/>
              </p:cNvSpPr>
              <p:nvPr/>
            </p:nvSpPr>
            <p:spPr bwMode="auto">
              <a:xfrm>
                <a:off x="960" y="2555"/>
                <a:ext cx="96" cy="85"/>
              </a:xfrm>
              <a:prstGeom prst="can">
                <a:avLst>
                  <a:gd name="adj" fmla="val 45690"/>
                </a:avLst>
              </a:prstGeom>
              <a:solidFill>
                <a:srgbClr val="CCFF33"/>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5150" name="Freeform 15"/>
            <p:cNvSpPr>
              <a:spLocks/>
            </p:cNvSpPr>
            <p:nvPr/>
          </p:nvSpPr>
          <p:spPr bwMode="auto">
            <a:xfrm>
              <a:off x="1008" y="2304"/>
              <a:ext cx="432" cy="240"/>
            </a:xfrm>
            <a:custGeom>
              <a:avLst/>
              <a:gdLst>
                <a:gd name="T0" fmla="*/ 0 w 432"/>
                <a:gd name="T1" fmla="*/ 240 h 240"/>
                <a:gd name="T2" fmla="*/ 0 w 432"/>
                <a:gd name="T3" fmla="*/ 0 h 240"/>
                <a:gd name="T4" fmla="*/ 432 w 432"/>
                <a:gd name="T5" fmla="*/ 0 h 240"/>
                <a:gd name="T6" fmla="*/ 0 60000 65536"/>
                <a:gd name="T7" fmla="*/ 0 60000 65536"/>
                <a:gd name="T8" fmla="*/ 0 60000 65536"/>
              </a:gdLst>
              <a:ahLst/>
              <a:cxnLst>
                <a:cxn ang="T6">
                  <a:pos x="T0" y="T1"/>
                </a:cxn>
                <a:cxn ang="T7">
                  <a:pos x="T2" y="T3"/>
                </a:cxn>
                <a:cxn ang="T8">
                  <a:pos x="T4" y="T5"/>
                </a:cxn>
              </a:cxnLst>
              <a:rect l="0" t="0" r="r" b="b"/>
              <a:pathLst>
                <a:path w="432" h="240">
                  <a:moveTo>
                    <a:pt x="0" y="240"/>
                  </a:moveTo>
                  <a:lnTo>
                    <a:pt x="0" y="0"/>
                  </a:lnTo>
                  <a:lnTo>
                    <a:pt x="432" y="0"/>
                  </a:lnTo>
                </a:path>
              </a:pathLst>
            </a:custGeom>
            <a:noFill/>
            <a:ln w="12700" cap="flat" cmpd="sng">
              <a:solidFill>
                <a:schemeClr val="tx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1" name="Freeform 16"/>
            <p:cNvSpPr>
              <a:spLocks/>
            </p:cNvSpPr>
            <p:nvPr/>
          </p:nvSpPr>
          <p:spPr bwMode="auto">
            <a:xfrm>
              <a:off x="1680" y="2304"/>
              <a:ext cx="576" cy="624"/>
            </a:xfrm>
            <a:custGeom>
              <a:avLst/>
              <a:gdLst>
                <a:gd name="T0" fmla="*/ 0 w 528"/>
                <a:gd name="T1" fmla="*/ 0 h 624"/>
                <a:gd name="T2" fmla="*/ 209 w 528"/>
                <a:gd name="T3" fmla="*/ 0 h 624"/>
                <a:gd name="T4" fmla="*/ 209 w 528"/>
                <a:gd name="T5" fmla="*/ 624 h 624"/>
                <a:gd name="T6" fmla="*/ 576 w 528"/>
                <a:gd name="T7" fmla="*/ 624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8" h="624">
                  <a:moveTo>
                    <a:pt x="0" y="0"/>
                  </a:moveTo>
                  <a:lnTo>
                    <a:pt x="192" y="0"/>
                  </a:lnTo>
                  <a:lnTo>
                    <a:pt x="192" y="624"/>
                  </a:lnTo>
                  <a:lnTo>
                    <a:pt x="528" y="624"/>
                  </a:lnTo>
                </a:path>
              </a:pathLst>
            </a:custGeom>
            <a:noFill/>
            <a:ln w="12700" cap="flat" cmpd="sng">
              <a:solidFill>
                <a:schemeClr val="tx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2" name="Freeform 17"/>
            <p:cNvSpPr>
              <a:spLocks/>
            </p:cNvSpPr>
            <p:nvPr/>
          </p:nvSpPr>
          <p:spPr bwMode="auto">
            <a:xfrm>
              <a:off x="1008" y="2976"/>
              <a:ext cx="1248" cy="240"/>
            </a:xfrm>
            <a:custGeom>
              <a:avLst/>
              <a:gdLst>
                <a:gd name="T0" fmla="*/ 1248 w 1248"/>
                <a:gd name="T1" fmla="*/ 0 h 240"/>
                <a:gd name="T2" fmla="*/ 1248 w 1248"/>
                <a:gd name="T3" fmla="*/ 240 h 240"/>
                <a:gd name="T4" fmla="*/ 0 w 1248"/>
                <a:gd name="T5" fmla="*/ 240 h 240"/>
                <a:gd name="T6" fmla="*/ 0 w 1248"/>
                <a:gd name="T7" fmla="*/ 48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48" h="240">
                  <a:moveTo>
                    <a:pt x="1248" y="0"/>
                  </a:moveTo>
                  <a:lnTo>
                    <a:pt x="1248" y="240"/>
                  </a:lnTo>
                  <a:lnTo>
                    <a:pt x="0" y="240"/>
                  </a:lnTo>
                  <a:lnTo>
                    <a:pt x="0" y="48"/>
                  </a:lnTo>
                </a:path>
              </a:pathLst>
            </a:custGeom>
            <a:noFill/>
            <a:ln w="12700" cap="flat" cmpd="sng">
              <a:solidFill>
                <a:schemeClr val="tx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153" name="Group 18"/>
            <p:cNvGrpSpPr>
              <a:grpSpLocks/>
            </p:cNvGrpSpPr>
            <p:nvPr/>
          </p:nvGrpSpPr>
          <p:grpSpPr bwMode="auto">
            <a:xfrm>
              <a:off x="2031" y="2465"/>
              <a:ext cx="471" cy="256"/>
              <a:chOff x="2031" y="2465"/>
              <a:chExt cx="471" cy="256"/>
            </a:xfrm>
          </p:grpSpPr>
          <p:sp>
            <p:nvSpPr>
              <p:cNvPr id="5158" name="Freeform 19"/>
              <p:cNvSpPr>
                <a:spLocks/>
              </p:cNvSpPr>
              <p:nvPr/>
            </p:nvSpPr>
            <p:spPr bwMode="auto">
              <a:xfrm>
                <a:off x="2031" y="2708"/>
                <a:ext cx="86" cy="9"/>
              </a:xfrm>
              <a:custGeom>
                <a:avLst/>
                <a:gdLst>
                  <a:gd name="T0" fmla="*/ 86 w 86"/>
                  <a:gd name="T1" fmla="*/ 9 h 9"/>
                  <a:gd name="T2" fmla="*/ 0 w 86"/>
                  <a:gd name="T3" fmla="*/ 0 h 9"/>
                  <a:gd name="T4" fmla="*/ 0 60000 65536"/>
                  <a:gd name="T5" fmla="*/ 0 60000 65536"/>
                </a:gdLst>
                <a:ahLst/>
                <a:cxnLst>
                  <a:cxn ang="T4">
                    <a:pos x="T0" y="T1"/>
                  </a:cxn>
                  <a:cxn ang="T5">
                    <a:pos x="T2" y="T3"/>
                  </a:cxn>
                </a:cxnLst>
                <a:rect l="0" t="0" r="r" b="b"/>
                <a:pathLst>
                  <a:path w="86" h="9">
                    <a:moveTo>
                      <a:pt x="86" y="9"/>
                    </a:moveTo>
                    <a:lnTo>
                      <a:pt x="0" y="0"/>
                    </a:lnTo>
                  </a:path>
                </a:pathLst>
              </a:custGeom>
              <a:noFill/>
              <a:ln w="127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9" name="Freeform 20"/>
              <p:cNvSpPr>
                <a:spLocks/>
              </p:cNvSpPr>
              <p:nvPr/>
            </p:nvSpPr>
            <p:spPr bwMode="auto">
              <a:xfrm>
                <a:off x="2258" y="2465"/>
                <a:ext cx="1" cy="66"/>
              </a:xfrm>
              <a:custGeom>
                <a:avLst/>
                <a:gdLst>
                  <a:gd name="T0" fmla="*/ 0 w 1"/>
                  <a:gd name="T1" fmla="*/ 0 h 66"/>
                  <a:gd name="T2" fmla="*/ 0 w 1"/>
                  <a:gd name="T3" fmla="*/ 66 h 66"/>
                  <a:gd name="T4" fmla="*/ 0 60000 65536"/>
                  <a:gd name="T5" fmla="*/ 0 60000 65536"/>
                </a:gdLst>
                <a:ahLst/>
                <a:cxnLst>
                  <a:cxn ang="T4">
                    <a:pos x="T0" y="T1"/>
                  </a:cxn>
                  <a:cxn ang="T5">
                    <a:pos x="T2" y="T3"/>
                  </a:cxn>
                </a:cxnLst>
                <a:rect l="0" t="0" r="r" b="b"/>
                <a:pathLst>
                  <a:path w="1" h="66">
                    <a:moveTo>
                      <a:pt x="0" y="0"/>
                    </a:moveTo>
                    <a:lnTo>
                      <a:pt x="0" y="66"/>
                    </a:lnTo>
                  </a:path>
                </a:pathLst>
              </a:custGeom>
              <a:noFill/>
              <a:ln w="127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0" name="Line 21"/>
              <p:cNvSpPr>
                <a:spLocks noChangeShapeType="1"/>
              </p:cNvSpPr>
              <p:nvPr/>
            </p:nvSpPr>
            <p:spPr bwMode="auto">
              <a:xfrm rot="-68746">
                <a:off x="2112" y="2496"/>
                <a:ext cx="48" cy="59"/>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1" name="Line 22"/>
              <p:cNvSpPr>
                <a:spLocks noChangeShapeType="1"/>
              </p:cNvSpPr>
              <p:nvPr/>
            </p:nvSpPr>
            <p:spPr bwMode="auto">
              <a:xfrm rot="-708147">
                <a:off x="2064" y="2592"/>
                <a:ext cx="48" cy="37"/>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2" name="Line 23"/>
              <p:cNvSpPr>
                <a:spLocks noChangeShapeType="1"/>
              </p:cNvSpPr>
              <p:nvPr/>
            </p:nvSpPr>
            <p:spPr bwMode="auto">
              <a:xfrm flipH="1">
                <a:off x="2352" y="2496"/>
                <a:ext cx="29" cy="48"/>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3" name="Line 24"/>
              <p:cNvSpPr>
                <a:spLocks noChangeShapeType="1"/>
              </p:cNvSpPr>
              <p:nvPr/>
            </p:nvSpPr>
            <p:spPr bwMode="auto">
              <a:xfrm rot="823120" flipH="1">
                <a:off x="2400" y="2581"/>
                <a:ext cx="48" cy="48"/>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4" name="Freeform 25"/>
              <p:cNvSpPr>
                <a:spLocks/>
              </p:cNvSpPr>
              <p:nvPr/>
            </p:nvSpPr>
            <p:spPr bwMode="auto">
              <a:xfrm>
                <a:off x="2439" y="2703"/>
                <a:ext cx="63" cy="18"/>
              </a:xfrm>
              <a:custGeom>
                <a:avLst/>
                <a:gdLst>
                  <a:gd name="T0" fmla="*/ 63 w 63"/>
                  <a:gd name="T1" fmla="*/ 0 h 18"/>
                  <a:gd name="T2" fmla="*/ 0 w 63"/>
                  <a:gd name="T3" fmla="*/ 18 h 18"/>
                  <a:gd name="T4" fmla="*/ 0 60000 65536"/>
                  <a:gd name="T5" fmla="*/ 0 60000 65536"/>
                </a:gdLst>
                <a:ahLst/>
                <a:cxnLst>
                  <a:cxn ang="T4">
                    <a:pos x="T0" y="T1"/>
                  </a:cxn>
                  <a:cxn ang="T5">
                    <a:pos x="T2" y="T3"/>
                  </a:cxn>
                </a:cxnLst>
                <a:rect l="0" t="0" r="r" b="b"/>
                <a:pathLst>
                  <a:path w="63" h="18">
                    <a:moveTo>
                      <a:pt x="63" y="0"/>
                    </a:moveTo>
                    <a:lnTo>
                      <a:pt x="0" y="18"/>
                    </a:lnTo>
                  </a:path>
                </a:pathLst>
              </a:custGeom>
              <a:noFill/>
              <a:ln w="127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54" name="Text Box 26"/>
            <p:cNvSpPr txBox="1">
              <a:spLocks noChangeArrowheads="1"/>
            </p:cNvSpPr>
            <p:nvPr/>
          </p:nvSpPr>
          <p:spPr bwMode="auto">
            <a:xfrm>
              <a:off x="1392" y="3216"/>
              <a:ext cx="63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rPr>
                <a:t>导线</a:t>
              </a:r>
            </a:p>
          </p:txBody>
        </p:sp>
        <p:sp>
          <p:nvSpPr>
            <p:cNvPr id="5155" name="Text Box 27"/>
            <p:cNvSpPr txBox="1">
              <a:spLocks noChangeArrowheads="1"/>
            </p:cNvSpPr>
            <p:nvPr/>
          </p:nvSpPr>
          <p:spPr bwMode="auto">
            <a:xfrm>
              <a:off x="518" y="2531"/>
              <a:ext cx="346"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rPr>
                <a:t>电池</a:t>
              </a:r>
            </a:p>
          </p:txBody>
        </p:sp>
        <p:sp>
          <p:nvSpPr>
            <p:cNvPr id="5156" name="Text Box 28"/>
            <p:cNvSpPr txBox="1">
              <a:spLocks noChangeArrowheads="1"/>
            </p:cNvSpPr>
            <p:nvPr/>
          </p:nvSpPr>
          <p:spPr bwMode="auto">
            <a:xfrm>
              <a:off x="1152" y="1884"/>
              <a:ext cx="7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rPr>
                <a:t>开关</a:t>
              </a:r>
            </a:p>
          </p:txBody>
        </p:sp>
        <p:sp>
          <p:nvSpPr>
            <p:cNvPr id="5157" name="Text Box 29"/>
            <p:cNvSpPr txBox="1">
              <a:spLocks noChangeArrowheads="1"/>
            </p:cNvSpPr>
            <p:nvPr/>
          </p:nvSpPr>
          <p:spPr bwMode="auto">
            <a:xfrm>
              <a:off x="1887" y="2177"/>
              <a:ext cx="7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rPr>
                <a:t>灯泡</a:t>
              </a:r>
            </a:p>
          </p:txBody>
        </p:sp>
      </p:grpSp>
      <p:sp>
        <p:nvSpPr>
          <p:cNvPr id="5126" name="Text Box 30"/>
          <p:cNvSpPr txBox="1">
            <a:spLocks noChangeArrowheads="1"/>
          </p:cNvSpPr>
          <p:nvPr/>
        </p:nvSpPr>
        <p:spPr bwMode="auto">
          <a:xfrm>
            <a:off x="441325" y="2381250"/>
            <a:ext cx="10064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rgbClr val="0000E4"/>
                </a:solidFill>
              </a:rPr>
              <a:t>例</a:t>
            </a:r>
            <a:endParaRPr lang="zh-CN" altLang="en-US" dirty="0">
              <a:solidFill>
                <a:schemeClr val="tx2"/>
              </a:solidFill>
            </a:endParaRPr>
          </a:p>
        </p:txBody>
      </p:sp>
      <p:grpSp>
        <p:nvGrpSpPr>
          <p:cNvPr id="2" name="组合 1"/>
          <p:cNvGrpSpPr/>
          <p:nvPr/>
        </p:nvGrpSpPr>
        <p:grpSpPr>
          <a:xfrm>
            <a:off x="5505450" y="3478764"/>
            <a:ext cx="2400300" cy="1493286"/>
            <a:chOff x="5505450" y="3478764"/>
            <a:chExt cx="2400300" cy="1493286"/>
          </a:xfrm>
        </p:grpSpPr>
        <p:sp>
          <p:nvSpPr>
            <p:cNvPr id="5127" name="Rectangle 32"/>
            <p:cNvSpPr>
              <a:spLocks noChangeArrowheads="1"/>
            </p:cNvSpPr>
            <p:nvPr/>
          </p:nvSpPr>
          <p:spPr bwMode="auto">
            <a:xfrm>
              <a:off x="7334250" y="4075113"/>
              <a:ext cx="152400" cy="363537"/>
            </a:xfrm>
            <a:prstGeom prst="rect">
              <a:avLst/>
            </a:prstGeom>
            <a:solidFill>
              <a:srgbClr val="00FFCC"/>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128" name="Rectangle 33"/>
            <p:cNvSpPr>
              <a:spLocks noChangeArrowheads="1"/>
            </p:cNvSpPr>
            <p:nvPr/>
          </p:nvSpPr>
          <p:spPr bwMode="auto">
            <a:xfrm>
              <a:off x="5581650" y="3975100"/>
              <a:ext cx="152400" cy="363538"/>
            </a:xfrm>
            <a:prstGeom prst="rect">
              <a:avLst/>
            </a:prstGeom>
            <a:solidFill>
              <a:srgbClr val="00FFCC"/>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nvGrpSpPr>
            <p:cNvPr id="5129" name="Group 34"/>
            <p:cNvGrpSpPr>
              <a:grpSpLocks/>
            </p:cNvGrpSpPr>
            <p:nvPr/>
          </p:nvGrpSpPr>
          <p:grpSpPr bwMode="auto">
            <a:xfrm>
              <a:off x="5505450" y="4514850"/>
              <a:ext cx="304800" cy="114300"/>
              <a:chOff x="3072" y="2760"/>
              <a:chExt cx="192" cy="72"/>
            </a:xfrm>
          </p:grpSpPr>
          <p:sp>
            <p:nvSpPr>
              <p:cNvPr id="5145" name="Line 35"/>
              <p:cNvSpPr>
                <a:spLocks noChangeShapeType="1"/>
              </p:cNvSpPr>
              <p:nvPr/>
            </p:nvSpPr>
            <p:spPr bwMode="auto">
              <a:xfrm>
                <a:off x="3072" y="2760"/>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6" name="Line 36"/>
              <p:cNvSpPr>
                <a:spLocks noChangeShapeType="1"/>
              </p:cNvSpPr>
              <p:nvPr/>
            </p:nvSpPr>
            <p:spPr bwMode="auto">
              <a:xfrm>
                <a:off x="3120" y="2832"/>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30" name="Line 37"/>
            <p:cNvSpPr>
              <a:spLocks noChangeShapeType="1"/>
            </p:cNvSpPr>
            <p:nvPr/>
          </p:nvSpPr>
          <p:spPr bwMode="auto">
            <a:xfrm rot="2379713" flipV="1">
              <a:off x="6398964" y="3478764"/>
              <a:ext cx="256337" cy="212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1" name="Oval 38"/>
            <p:cNvSpPr>
              <a:spLocks noChangeArrowheads="1"/>
            </p:cNvSpPr>
            <p:nvPr/>
          </p:nvSpPr>
          <p:spPr bwMode="auto">
            <a:xfrm>
              <a:off x="6604000" y="3544888"/>
              <a:ext cx="71438" cy="71437"/>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132" name="Line 39"/>
            <p:cNvSpPr>
              <a:spLocks noChangeShapeType="1"/>
            </p:cNvSpPr>
            <p:nvPr/>
          </p:nvSpPr>
          <p:spPr bwMode="auto">
            <a:xfrm>
              <a:off x="5657850" y="3575050"/>
              <a:ext cx="693738" cy="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3" name="Line 40"/>
            <p:cNvSpPr>
              <a:spLocks noChangeShapeType="1"/>
            </p:cNvSpPr>
            <p:nvPr/>
          </p:nvSpPr>
          <p:spPr bwMode="auto">
            <a:xfrm>
              <a:off x="5657850" y="3575050"/>
              <a:ext cx="0" cy="40640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4" name="Line 41"/>
            <p:cNvSpPr>
              <a:spLocks noChangeShapeType="1"/>
            </p:cNvSpPr>
            <p:nvPr/>
          </p:nvSpPr>
          <p:spPr bwMode="auto">
            <a:xfrm>
              <a:off x="5657850" y="4332288"/>
              <a:ext cx="0" cy="182562"/>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5" name="Line 42"/>
            <p:cNvSpPr>
              <a:spLocks noChangeShapeType="1"/>
            </p:cNvSpPr>
            <p:nvPr/>
          </p:nvSpPr>
          <p:spPr bwMode="auto">
            <a:xfrm>
              <a:off x="5657850" y="4629150"/>
              <a:ext cx="0" cy="34290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6" name="Line 43"/>
            <p:cNvSpPr>
              <a:spLocks noChangeShapeType="1"/>
            </p:cNvSpPr>
            <p:nvPr/>
          </p:nvSpPr>
          <p:spPr bwMode="auto">
            <a:xfrm>
              <a:off x="5657850" y="4972050"/>
              <a:ext cx="1752600" cy="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7" name="Line 44"/>
            <p:cNvSpPr>
              <a:spLocks noChangeShapeType="1"/>
            </p:cNvSpPr>
            <p:nvPr/>
          </p:nvSpPr>
          <p:spPr bwMode="auto">
            <a:xfrm>
              <a:off x="6680200" y="3575050"/>
              <a:ext cx="730250" cy="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8" name="Line 45"/>
            <p:cNvSpPr>
              <a:spLocks noChangeShapeType="1"/>
            </p:cNvSpPr>
            <p:nvPr/>
          </p:nvSpPr>
          <p:spPr bwMode="auto">
            <a:xfrm>
              <a:off x="7410450" y="3575050"/>
              <a:ext cx="0" cy="500063"/>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9" name="Line 46"/>
            <p:cNvSpPr>
              <a:spLocks noChangeShapeType="1"/>
            </p:cNvSpPr>
            <p:nvPr/>
          </p:nvSpPr>
          <p:spPr bwMode="auto">
            <a:xfrm>
              <a:off x="7410450" y="4438650"/>
              <a:ext cx="0" cy="53340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0" name="Rectangle 47"/>
            <p:cNvSpPr>
              <a:spLocks noChangeArrowheads="1"/>
            </p:cNvSpPr>
            <p:nvPr/>
          </p:nvSpPr>
          <p:spPr bwMode="auto">
            <a:xfrm>
              <a:off x="5505450" y="3846513"/>
              <a:ext cx="304800" cy="896937"/>
            </a:xfrm>
            <a:prstGeom prst="rect">
              <a:avLst/>
            </a:prstGeom>
            <a:noFill/>
            <a:ln w="12700">
              <a:solidFill>
                <a:schemeClr val="tx2"/>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141" name="Text Box 48"/>
            <p:cNvSpPr txBox="1">
              <a:spLocks noChangeArrowheads="1"/>
            </p:cNvSpPr>
            <p:nvPr/>
          </p:nvSpPr>
          <p:spPr bwMode="auto">
            <a:xfrm>
              <a:off x="7518400" y="399415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i="1">
                  <a:solidFill>
                    <a:schemeClr val="tx2"/>
                  </a:solidFill>
                  <a:sym typeface="Symbol" pitchFamily="18" charset="2"/>
                </a:rPr>
                <a:t>R</a:t>
              </a:r>
            </a:p>
          </p:txBody>
        </p:sp>
        <p:sp>
          <p:nvSpPr>
            <p:cNvPr id="5142" name="Text Box 49"/>
            <p:cNvSpPr txBox="1">
              <a:spLocks noChangeArrowheads="1"/>
            </p:cNvSpPr>
            <p:nvPr/>
          </p:nvSpPr>
          <p:spPr bwMode="auto">
            <a:xfrm>
              <a:off x="5803900" y="3870325"/>
              <a:ext cx="44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i="1">
                  <a:solidFill>
                    <a:schemeClr val="tx2"/>
                  </a:solidFill>
                  <a:sym typeface="Symbol" pitchFamily="18" charset="2"/>
                </a:rPr>
                <a:t>R</a:t>
              </a:r>
              <a:r>
                <a:rPr lang="en-US" altLang="zh-CN" i="1" baseline="-25000">
                  <a:solidFill>
                    <a:schemeClr val="tx2"/>
                  </a:solidFill>
                  <a:sym typeface="Symbol" pitchFamily="18" charset="2"/>
                </a:rPr>
                <a:t>i</a:t>
              </a:r>
            </a:p>
          </p:txBody>
        </p:sp>
        <p:sp>
          <p:nvSpPr>
            <p:cNvPr id="5143" name="Text Box 50"/>
            <p:cNvSpPr txBox="1">
              <a:spLocks noChangeArrowheads="1"/>
            </p:cNvSpPr>
            <p:nvPr/>
          </p:nvSpPr>
          <p:spPr bwMode="auto">
            <a:xfrm>
              <a:off x="5832475" y="4384675"/>
              <a:ext cx="500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i="1">
                  <a:solidFill>
                    <a:schemeClr val="tx2"/>
                  </a:solidFill>
                  <a:sym typeface="Symbol" pitchFamily="18" charset="2"/>
                </a:rPr>
                <a:t>V</a:t>
              </a:r>
              <a:r>
                <a:rPr lang="en-US" altLang="zh-CN" baseline="-25000">
                  <a:solidFill>
                    <a:schemeClr val="tx2"/>
                  </a:solidFill>
                  <a:sym typeface="Symbol" pitchFamily="18" charset="2"/>
                </a:rPr>
                <a:t>S</a:t>
              </a:r>
            </a:p>
          </p:txBody>
        </p:sp>
        <p:sp>
          <p:nvSpPr>
            <p:cNvPr id="5144" name="Text Box 51"/>
            <p:cNvSpPr txBox="1">
              <a:spLocks noChangeArrowheads="1"/>
            </p:cNvSpPr>
            <p:nvPr/>
          </p:nvSpPr>
          <p:spPr bwMode="auto">
            <a:xfrm>
              <a:off x="6337300" y="3556000"/>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a:solidFill>
                    <a:schemeClr val="tx2"/>
                  </a:solidFill>
                  <a:sym typeface="Symbol" pitchFamily="18" charset="2"/>
                </a:rPr>
                <a:t>K</a:t>
              </a:r>
            </a:p>
          </p:txBody>
        </p:sp>
        <p:sp>
          <p:nvSpPr>
            <p:cNvPr id="49" name="Oval 38"/>
            <p:cNvSpPr>
              <a:spLocks noChangeArrowheads="1"/>
            </p:cNvSpPr>
            <p:nvPr/>
          </p:nvSpPr>
          <p:spPr bwMode="auto">
            <a:xfrm>
              <a:off x="6356350" y="3538538"/>
              <a:ext cx="71438" cy="71437"/>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123"/>
                                        </p:tgtEl>
                                        <p:attrNameLst>
                                          <p:attrName>style.visibility</p:attrName>
                                        </p:attrNameLst>
                                      </p:cBhvr>
                                      <p:to>
                                        <p:strVal val="visible"/>
                                      </p:to>
                                    </p:set>
                                    <p:animEffect transition="in" filter="barn(inVertical)">
                                      <p:cBhvr>
                                        <p:cTn id="7" dur="500"/>
                                        <p:tgtEl>
                                          <p:spTgt spid="512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125"/>
                                        </p:tgtEl>
                                        <p:attrNameLst>
                                          <p:attrName>style.visibility</p:attrName>
                                        </p:attrNameLst>
                                      </p:cBhvr>
                                      <p:to>
                                        <p:strVal val="visible"/>
                                      </p:to>
                                    </p:set>
                                    <p:animEffect transition="in" filter="barn(inVertical)">
                                      <p:cBhvr>
                                        <p:cTn id="12" dur="500"/>
                                        <p:tgtEl>
                                          <p:spTgt spid="5125"/>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5126"/>
                                        </p:tgtEl>
                                        <p:attrNameLst>
                                          <p:attrName>style.visibility</p:attrName>
                                        </p:attrNameLst>
                                      </p:cBhvr>
                                      <p:to>
                                        <p:strVal val="visible"/>
                                      </p:to>
                                    </p:set>
                                    <p:animEffect transition="in" filter="barn(inVertical)">
                                      <p:cBhvr>
                                        <p:cTn id="15" dur="500"/>
                                        <p:tgtEl>
                                          <p:spTgt spid="5126"/>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5124"/>
                                        </p:tgtEl>
                                        <p:attrNameLst>
                                          <p:attrName>style.visibility</p:attrName>
                                        </p:attrNameLst>
                                      </p:cBhvr>
                                      <p:to>
                                        <p:strVal val="visible"/>
                                      </p:to>
                                    </p:set>
                                    <p:animEffect transition="in" filter="barn(inVertical)">
                                      <p:cBhvr>
                                        <p:cTn id="20" dur="500"/>
                                        <p:tgtEl>
                                          <p:spTgt spid="5124"/>
                                        </p:tgtEl>
                                      </p:cBhvr>
                                    </p:animEffect>
                                  </p:childTnLst>
                                </p:cTn>
                              </p:par>
                            </p:childTnLst>
                          </p:cTn>
                        </p:par>
                        <p:par>
                          <p:cTn id="21" fill="hold">
                            <p:stCondLst>
                              <p:cond delay="500"/>
                            </p:stCondLst>
                            <p:childTnLst>
                              <p:par>
                                <p:cTn id="22" presetID="16" presetClass="entr" presetSubtype="21"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arn(inVertical)">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p:bldP spid="5124" grpId="0" animBg="1"/>
      <p:bldP spid="512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290513" y="801688"/>
            <a:ext cx="8034337"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dirty="0">
                <a:solidFill>
                  <a:srgbClr val="990033"/>
                </a:solidFill>
              </a:rPr>
              <a:t>集总参数电路（</a:t>
            </a:r>
            <a:r>
              <a:rPr lang="en-US" altLang="zh-CN" dirty="0">
                <a:solidFill>
                  <a:srgbClr val="990033"/>
                </a:solidFill>
              </a:rPr>
              <a:t>lumped circuit</a:t>
            </a:r>
            <a:r>
              <a:rPr lang="zh-CN" altLang="en-US" dirty="0" smtClean="0">
                <a:solidFill>
                  <a:srgbClr val="990033"/>
                </a:solidFill>
              </a:rPr>
              <a:t>）</a:t>
            </a:r>
            <a:endParaRPr lang="en-US" altLang="zh-CN" dirty="0">
              <a:solidFill>
                <a:srgbClr val="990033"/>
              </a:solidFill>
            </a:endParaRPr>
          </a:p>
          <a:p>
            <a:pPr>
              <a:spcBef>
                <a:spcPct val="50000"/>
              </a:spcBef>
            </a:pPr>
            <a:r>
              <a:rPr lang="zh-CN" altLang="en-US" dirty="0">
                <a:solidFill>
                  <a:srgbClr val="990033"/>
                </a:solidFill>
              </a:rPr>
              <a:t>分布参数电路（</a:t>
            </a:r>
            <a:r>
              <a:rPr lang="en-US" altLang="zh-CN" dirty="0">
                <a:solidFill>
                  <a:srgbClr val="990033"/>
                </a:solidFill>
              </a:rPr>
              <a:t>distributed circuit</a:t>
            </a:r>
            <a:r>
              <a:rPr lang="zh-CN" altLang="en-US" dirty="0">
                <a:solidFill>
                  <a:srgbClr val="990033"/>
                </a:solidFill>
              </a:rPr>
              <a:t>）</a:t>
            </a:r>
          </a:p>
        </p:txBody>
      </p:sp>
      <p:sp>
        <p:nvSpPr>
          <p:cNvPr id="6147" name="Text Box 3"/>
          <p:cNvSpPr txBox="1">
            <a:spLocks noChangeArrowheads="1"/>
          </p:cNvSpPr>
          <p:nvPr/>
        </p:nvSpPr>
        <p:spPr bwMode="auto">
          <a:xfrm>
            <a:off x="1316038" y="2522538"/>
            <a:ext cx="7304087"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25000"/>
              </a:lnSpc>
              <a:spcBef>
                <a:spcPct val="50000"/>
              </a:spcBef>
            </a:pPr>
            <a:r>
              <a:rPr lang="zh-CN" altLang="en-US" dirty="0">
                <a:solidFill>
                  <a:srgbClr val="FF0000"/>
                </a:solidFill>
              </a:rPr>
              <a:t>集总参数电路    </a:t>
            </a:r>
            <a:r>
              <a:rPr lang="zh-CN" altLang="en-US" dirty="0">
                <a:solidFill>
                  <a:schemeClr val="tx2"/>
                </a:solidFill>
              </a:rPr>
              <a:t>实际电路的尺寸远小于电路工作时电磁波的波长，可以把元件的作用集总在一起，用一个或有限个理想元件来加以描述。</a:t>
            </a:r>
          </a:p>
        </p:txBody>
      </p:sp>
      <p:sp>
        <p:nvSpPr>
          <p:cNvPr id="6148" name="Text Box 6"/>
          <p:cNvSpPr txBox="1">
            <a:spLocks noChangeArrowheads="1"/>
          </p:cNvSpPr>
          <p:nvPr/>
        </p:nvSpPr>
        <p:spPr bwMode="auto">
          <a:xfrm>
            <a:off x="1316038" y="4373563"/>
            <a:ext cx="7304087"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25000"/>
              </a:lnSpc>
              <a:spcBef>
                <a:spcPct val="50000"/>
              </a:spcBef>
            </a:pPr>
            <a:r>
              <a:rPr lang="zh-CN" altLang="en-US" dirty="0">
                <a:solidFill>
                  <a:srgbClr val="FF0000"/>
                </a:solidFill>
              </a:rPr>
              <a:t>分布参数电路    </a:t>
            </a:r>
            <a:r>
              <a:rPr lang="zh-CN" altLang="en-US" dirty="0">
                <a:solidFill>
                  <a:schemeClr val="tx2"/>
                </a:solidFill>
              </a:rPr>
              <a:t>实际电路的尺寸与电路工作时电磁波的波长相当或更大，必须考虑元件外部电场或磁场的作用。</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barn(inVertical)">
                                      <p:cBhvr>
                                        <p:cTn id="7" dur="500"/>
                                        <p:tgtEl>
                                          <p:spTgt spid="614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barn(inVertical)">
                                      <p:cBhvr>
                                        <p:cTn id="12"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p:bldP spid="614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3"/>
          <p:cNvSpPr txBox="1">
            <a:spLocks noChangeArrowheads="1"/>
          </p:cNvSpPr>
          <p:nvPr/>
        </p:nvSpPr>
        <p:spPr bwMode="auto">
          <a:xfrm>
            <a:off x="511175" y="1439863"/>
            <a:ext cx="461327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dirty="0">
                <a:solidFill>
                  <a:srgbClr val="990033"/>
                </a:solidFill>
              </a:rPr>
              <a:t>一、</a:t>
            </a:r>
            <a:r>
              <a:rPr lang="zh-CN" altLang="en-US" dirty="0" smtClean="0">
                <a:solidFill>
                  <a:srgbClr val="990033"/>
                </a:solidFill>
              </a:rPr>
              <a:t>电荷</a:t>
            </a:r>
            <a:endParaRPr lang="en-US" altLang="zh-CN" dirty="0">
              <a:solidFill>
                <a:srgbClr val="990033"/>
              </a:solidFill>
            </a:endParaRPr>
          </a:p>
        </p:txBody>
      </p:sp>
      <p:sp>
        <p:nvSpPr>
          <p:cNvPr id="8195" name="Text Box 7"/>
          <p:cNvSpPr txBox="1">
            <a:spLocks noChangeArrowheads="1"/>
          </p:cNvSpPr>
          <p:nvPr/>
        </p:nvSpPr>
        <p:spPr bwMode="auto">
          <a:xfrm>
            <a:off x="1122363" y="2044700"/>
            <a:ext cx="7499350" cy="438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dirty="0">
                <a:solidFill>
                  <a:schemeClr val="tx2"/>
                </a:solidFill>
              </a:rPr>
              <a:t>电荷是构成物质的原子的一种电气特性。</a:t>
            </a:r>
          </a:p>
          <a:p>
            <a:pPr>
              <a:spcBef>
                <a:spcPct val="50000"/>
              </a:spcBef>
            </a:pPr>
            <a:r>
              <a:rPr lang="zh-CN" altLang="en-US" dirty="0">
                <a:solidFill>
                  <a:schemeClr val="tx2"/>
                </a:solidFill>
              </a:rPr>
              <a:t>电荷的多少用</a:t>
            </a:r>
            <a:r>
              <a:rPr lang="zh-CN" altLang="en-US" dirty="0">
                <a:solidFill>
                  <a:srgbClr val="FF0000"/>
                </a:solidFill>
              </a:rPr>
              <a:t>库仑</a:t>
            </a:r>
            <a:r>
              <a:rPr lang="zh-CN" altLang="en-US" dirty="0">
                <a:solidFill>
                  <a:schemeClr val="tx2"/>
                </a:solidFill>
              </a:rPr>
              <a:t>表示。</a:t>
            </a:r>
          </a:p>
          <a:p>
            <a:pPr>
              <a:spcBef>
                <a:spcPct val="50000"/>
              </a:spcBef>
            </a:pPr>
            <a:r>
              <a:rPr lang="zh-CN" altLang="en-US" dirty="0">
                <a:solidFill>
                  <a:schemeClr val="tx2"/>
                </a:solidFill>
              </a:rPr>
              <a:t>单位名称：</a:t>
            </a:r>
            <a:r>
              <a:rPr lang="zh-CN" altLang="en-US" dirty="0">
                <a:solidFill>
                  <a:schemeClr val="accent1"/>
                </a:solidFill>
              </a:rPr>
              <a:t>库仑</a:t>
            </a:r>
            <a:r>
              <a:rPr lang="zh-CN" altLang="zh-CN" dirty="0">
                <a:solidFill>
                  <a:schemeClr val="tx2"/>
                </a:solidFill>
              </a:rPr>
              <a:t>       符号：</a:t>
            </a:r>
            <a:r>
              <a:rPr lang="en-US" altLang="zh-CN" dirty="0">
                <a:solidFill>
                  <a:schemeClr val="accent1"/>
                </a:solidFill>
              </a:rPr>
              <a:t>C , </a:t>
            </a:r>
            <a:r>
              <a:rPr lang="en-US" altLang="zh-CN" dirty="0">
                <a:solidFill>
                  <a:schemeClr val="accent1"/>
                </a:solidFill>
                <a:sym typeface="Symbol" pitchFamily="18" charset="2"/>
              </a:rPr>
              <a:t>C </a:t>
            </a:r>
            <a:r>
              <a:rPr lang="en-US" altLang="zh-CN" dirty="0">
                <a:solidFill>
                  <a:schemeClr val="accent1"/>
                </a:solidFill>
              </a:rPr>
              <a:t>, </a:t>
            </a:r>
            <a:r>
              <a:rPr lang="en-US" altLang="zh-CN" dirty="0" err="1">
                <a:solidFill>
                  <a:schemeClr val="accent1"/>
                </a:solidFill>
              </a:rPr>
              <a:t>nC</a:t>
            </a:r>
            <a:r>
              <a:rPr lang="en-US" altLang="zh-CN" dirty="0">
                <a:solidFill>
                  <a:schemeClr val="accent1"/>
                </a:solidFill>
              </a:rPr>
              <a:t>, </a:t>
            </a:r>
            <a:r>
              <a:rPr lang="en-US" altLang="zh-CN" dirty="0" err="1">
                <a:solidFill>
                  <a:schemeClr val="accent1"/>
                </a:solidFill>
              </a:rPr>
              <a:t>pC</a:t>
            </a:r>
            <a:endParaRPr lang="en-US" altLang="zh-CN" dirty="0">
              <a:solidFill>
                <a:schemeClr val="accent1"/>
              </a:solidFill>
            </a:endParaRPr>
          </a:p>
          <a:p>
            <a:pPr>
              <a:spcBef>
                <a:spcPct val="50000"/>
              </a:spcBef>
            </a:pPr>
            <a:endParaRPr lang="en-US" altLang="zh-CN" dirty="0">
              <a:solidFill>
                <a:schemeClr val="accent1"/>
              </a:solidFill>
            </a:endParaRPr>
          </a:p>
          <a:p>
            <a:pPr>
              <a:spcBef>
                <a:spcPct val="50000"/>
              </a:spcBef>
            </a:pPr>
            <a:r>
              <a:rPr lang="zh-CN" altLang="en-US" sz="2800" dirty="0">
                <a:solidFill>
                  <a:srgbClr val="FF0000"/>
                </a:solidFill>
              </a:rPr>
              <a:t>电荷守恒定律</a:t>
            </a:r>
          </a:p>
          <a:p>
            <a:pPr>
              <a:spcBef>
                <a:spcPct val="50000"/>
              </a:spcBef>
            </a:pPr>
            <a:r>
              <a:rPr lang="zh-CN" altLang="en-US" dirty="0">
                <a:solidFill>
                  <a:schemeClr val="tx2"/>
                </a:solidFill>
              </a:rPr>
              <a:t>        电荷既不能创造，也不会消失，只能迁移。因此，</a:t>
            </a:r>
          </a:p>
          <a:p>
            <a:pPr>
              <a:spcBef>
                <a:spcPct val="50000"/>
              </a:spcBef>
            </a:pPr>
            <a:r>
              <a:rPr lang="zh-CN" altLang="en-US" dirty="0">
                <a:solidFill>
                  <a:schemeClr val="tx2"/>
                </a:solidFill>
              </a:rPr>
              <a:t>一个系统中的电荷量的代数和是不变的。</a:t>
            </a:r>
          </a:p>
          <a:p>
            <a:pPr>
              <a:spcBef>
                <a:spcPct val="50000"/>
              </a:spcBef>
            </a:pPr>
            <a:endParaRPr lang="en-US" altLang="zh-CN" dirty="0">
              <a:solidFill>
                <a:schemeClr val="tx2"/>
              </a:solidFill>
            </a:endParaRPr>
          </a:p>
        </p:txBody>
      </p:sp>
      <p:sp>
        <p:nvSpPr>
          <p:cNvPr id="8196" name="Text Box 2"/>
          <p:cNvSpPr txBox="1">
            <a:spLocks noChangeArrowheads="1"/>
          </p:cNvSpPr>
          <p:nvPr/>
        </p:nvSpPr>
        <p:spPr bwMode="auto">
          <a:xfrm>
            <a:off x="369888" y="719138"/>
            <a:ext cx="7734300"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smtClean="0">
                <a:solidFill>
                  <a:srgbClr val="990033"/>
                </a:solidFill>
              </a:rPr>
              <a:t>1.2.2 </a:t>
            </a:r>
            <a:r>
              <a:rPr lang="zh-CN" altLang="en-US" dirty="0">
                <a:solidFill>
                  <a:srgbClr val="990033"/>
                </a:solidFill>
              </a:rPr>
              <a:t>电路基本物理量</a:t>
            </a:r>
            <a:endParaRPr lang="zh-CN" altLang="en-US" dirty="0">
              <a:solidFill>
                <a:schemeClr val="tx2"/>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barn(inVertical)">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195">
                                            <p:txEl>
                                              <p:pRg st="0" end="0"/>
                                            </p:txEl>
                                          </p:spTgt>
                                        </p:tgtEl>
                                        <p:attrNameLst>
                                          <p:attrName>style.visibility</p:attrName>
                                        </p:attrNameLst>
                                      </p:cBhvr>
                                      <p:to>
                                        <p:strVal val="visible"/>
                                      </p:to>
                                    </p:set>
                                    <p:animEffect transition="in" filter="barn(inVertical)">
                                      <p:cBhvr>
                                        <p:cTn id="12" dur="500"/>
                                        <p:tgtEl>
                                          <p:spTgt spid="8195">
                                            <p:txEl>
                                              <p:pRg st="0" end="0"/>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8195">
                                            <p:txEl>
                                              <p:pRg st="1" end="1"/>
                                            </p:txEl>
                                          </p:spTgt>
                                        </p:tgtEl>
                                        <p:attrNameLst>
                                          <p:attrName>style.visibility</p:attrName>
                                        </p:attrNameLst>
                                      </p:cBhvr>
                                      <p:to>
                                        <p:strVal val="visible"/>
                                      </p:to>
                                    </p:set>
                                    <p:animEffect transition="in" filter="barn(inVertical)">
                                      <p:cBhvr>
                                        <p:cTn id="15" dur="500"/>
                                        <p:tgtEl>
                                          <p:spTgt spid="8195">
                                            <p:txEl>
                                              <p:pRg st="1" end="1"/>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8195">
                                            <p:txEl>
                                              <p:pRg st="2" end="2"/>
                                            </p:txEl>
                                          </p:spTgt>
                                        </p:tgtEl>
                                        <p:attrNameLst>
                                          <p:attrName>style.visibility</p:attrName>
                                        </p:attrNameLst>
                                      </p:cBhvr>
                                      <p:to>
                                        <p:strVal val="visible"/>
                                      </p:to>
                                    </p:set>
                                    <p:animEffect transition="in" filter="barn(inVertical)">
                                      <p:cBhvr>
                                        <p:cTn id="18" dur="500"/>
                                        <p:tgtEl>
                                          <p:spTgt spid="8195">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animEffect transition="in" filter="barn(inVertical)">
                                      <p:cBhvr>
                                        <p:cTn id="23" dur="500"/>
                                        <p:tgtEl>
                                          <p:spTgt spid="8195">
                                            <p:txEl>
                                              <p:pRg st="4" end="4"/>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8195">
                                            <p:txEl>
                                              <p:pRg st="5" end="5"/>
                                            </p:txEl>
                                          </p:spTgt>
                                        </p:tgtEl>
                                        <p:attrNameLst>
                                          <p:attrName>style.visibility</p:attrName>
                                        </p:attrNameLst>
                                      </p:cBhvr>
                                      <p:to>
                                        <p:strVal val="visible"/>
                                      </p:to>
                                    </p:set>
                                    <p:animEffect transition="in" filter="barn(inVertical)">
                                      <p:cBhvr>
                                        <p:cTn id="26" dur="500"/>
                                        <p:tgtEl>
                                          <p:spTgt spid="8195">
                                            <p:txEl>
                                              <p:pRg st="5" end="5"/>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8195">
                                            <p:txEl>
                                              <p:pRg st="6" end="6"/>
                                            </p:txEl>
                                          </p:spTgt>
                                        </p:tgtEl>
                                        <p:attrNameLst>
                                          <p:attrName>style.visibility</p:attrName>
                                        </p:attrNameLst>
                                      </p:cBhvr>
                                      <p:to>
                                        <p:strVal val="visible"/>
                                      </p:to>
                                    </p:set>
                                    <p:animEffect transition="in" filter="barn(inVertical)">
                                      <p:cBhvr>
                                        <p:cTn id="29" dur="5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3"/>
          <p:cNvSpPr txBox="1">
            <a:spLocks noChangeArrowheads="1"/>
          </p:cNvSpPr>
          <p:nvPr/>
        </p:nvSpPr>
        <p:spPr bwMode="auto">
          <a:xfrm>
            <a:off x="534988" y="672604"/>
            <a:ext cx="142218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dirty="0">
                <a:solidFill>
                  <a:srgbClr val="990033"/>
                </a:solidFill>
              </a:rPr>
              <a:t>二、</a:t>
            </a:r>
            <a:r>
              <a:rPr lang="zh-CN" altLang="en-US" dirty="0" smtClean="0">
                <a:solidFill>
                  <a:srgbClr val="990033"/>
                </a:solidFill>
              </a:rPr>
              <a:t>电流</a:t>
            </a:r>
            <a:endParaRPr lang="en-US" altLang="zh-CN" dirty="0">
              <a:solidFill>
                <a:srgbClr val="990033"/>
              </a:solidFill>
            </a:endParaRPr>
          </a:p>
        </p:txBody>
      </p:sp>
      <p:sp>
        <p:nvSpPr>
          <p:cNvPr id="9219" name="Text Box 5"/>
          <p:cNvSpPr txBox="1">
            <a:spLocks noChangeArrowheads="1"/>
          </p:cNvSpPr>
          <p:nvPr/>
        </p:nvSpPr>
        <p:spPr bwMode="auto">
          <a:xfrm>
            <a:off x="1066800" y="2306638"/>
            <a:ext cx="4864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000500" indent="-40005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spcBef>
                <a:spcPct val="50000"/>
              </a:spcBef>
            </a:pPr>
            <a:r>
              <a:rPr lang="zh-CN" altLang="en-US" dirty="0">
                <a:solidFill>
                  <a:schemeClr val="tx2"/>
                </a:solidFill>
              </a:rPr>
              <a:t>电流的大小用</a:t>
            </a:r>
            <a:r>
              <a:rPr lang="zh-CN" altLang="en-US" dirty="0">
                <a:solidFill>
                  <a:srgbClr val="FF0000"/>
                </a:solidFill>
              </a:rPr>
              <a:t>电流强度</a:t>
            </a:r>
            <a:r>
              <a:rPr lang="zh-CN" altLang="en-US" dirty="0">
                <a:solidFill>
                  <a:schemeClr val="tx2"/>
                </a:solidFill>
              </a:rPr>
              <a:t>表示。</a:t>
            </a:r>
          </a:p>
        </p:txBody>
      </p:sp>
      <p:graphicFrame>
        <p:nvGraphicFramePr>
          <p:cNvPr id="9220" name="Object 6" descr="羊皮纸"/>
          <p:cNvGraphicFramePr>
            <a:graphicFrameLocks noChangeAspect="1"/>
          </p:cNvGraphicFramePr>
          <p:nvPr/>
        </p:nvGraphicFramePr>
        <p:xfrm>
          <a:off x="1308100" y="3241675"/>
          <a:ext cx="3133725" cy="1028700"/>
        </p:xfrm>
        <a:graphic>
          <a:graphicData uri="http://schemas.openxmlformats.org/presentationml/2006/ole">
            <mc:AlternateContent xmlns:mc="http://schemas.openxmlformats.org/markup-compatibility/2006">
              <mc:Choice xmlns:v="urn:schemas-microsoft-com:vml" Requires="v">
                <p:oleObj spid="_x0000_s9487" name="公式" r:id="rId3" imgW="1231366" imgH="406224" progId="Equation.3">
                  <p:embed/>
                </p:oleObj>
              </mc:Choice>
              <mc:Fallback>
                <p:oleObj name="公式" r:id="rId3" imgW="1231366" imgH="406224" progId="Equation.3">
                  <p:embed/>
                  <p:pic>
                    <p:nvPicPr>
                      <p:cNvPr id="0" name="Object 6" descr="羊皮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100" y="3241675"/>
                        <a:ext cx="3133725" cy="1028700"/>
                      </a:xfrm>
                      <a:prstGeom prst="rect">
                        <a:avLst/>
                      </a:prstGeom>
                      <a:blipFill dpi="0" rotWithShape="0">
                        <a:blip r:embed="rId5"/>
                        <a:srcRect/>
                        <a:tile tx="0" ty="0" sx="100000" sy="100000" flip="none" algn="tl"/>
                      </a:blipFill>
                      <a:ln>
                        <a:noFill/>
                      </a:ln>
                      <a:effectLst>
                        <a:prstShdw prst="shdw17" dist="17961" dir="2700000">
                          <a:srgbClr val="99997A"/>
                        </a:prstShdw>
                      </a:effectLst>
                      <a:extLst/>
                    </p:spPr>
                  </p:pic>
                </p:oleObj>
              </mc:Fallback>
            </mc:AlternateContent>
          </a:graphicData>
        </a:graphic>
      </p:graphicFrame>
      <p:sp>
        <p:nvSpPr>
          <p:cNvPr id="9221" name="Text Box 7"/>
          <p:cNvSpPr txBox="1">
            <a:spLocks noChangeArrowheads="1"/>
          </p:cNvSpPr>
          <p:nvPr/>
        </p:nvSpPr>
        <p:spPr bwMode="auto">
          <a:xfrm>
            <a:off x="674688" y="1544638"/>
            <a:ext cx="5907087"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a:solidFill>
                  <a:srgbClr val="0000CC"/>
                </a:solidFill>
              </a:rPr>
              <a:t>1</a:t>
            </a:r>
            <a:r>
              <a:rPr lang="zh-CN" altLang="en-US" dirty="0">
                <a:solidFill>
                  <a:srgbClr val="0000CC"/>
                </a:solidFill>
              </a:rPr>
              <a:t>、电流</a:t>
            </a:r>
            <a:r>
              <a:rPr lang="zh-CN" altLang="en-US" dirty="0">
                <a:solidFill>
                  <a:schemeClr val="tx2"/>
                </a:solidFill>
              </a:rPr>
              <a:t>：带电质点的定向运动形成电流。</a:t>
            </a:r>
          </a:p>
        </p:txBody>
      </p:sp>
      <p:grpSp>
        <p:nvGrpSpPr>
          <p:cNvPr id="9222" name="Group 8"/>
          <p:cNvGrpSpPr>
            <a:grpSpLocks/>
          </p:cNvGrpSpPr>
          <p:nvPr/>
        </p:nvGrpSpPr>
        <p:grpSpPr bwMode="auto">
          <a:xfrm>
            <a:off x="534988" y="5027613"/>
            <a:ext cx="7997825" cy="520700"/>
            <a:chOff x="300" y="3036"/>
            <a:chExt cx="5038" cy="328"/>
          </a:xfrm>
        </p:grpSpPr>
        <p:sp>
          <p:nvSpPr>
            <p:cNvPr id="9225" name="Text Box 9"/>
            <p:cNvSpPr txBox="1">
              <a:spLocks noChangeArrowheads="1"/>
            </p:cNvSpPr>
            <p:nvPr/>
          </p:nvSpPr>
          <p:spPr bwMode="auto">
            <a:xfrm>
              <a:off x="300" y="3076"/>
              <a:ext cx="42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rPr>
                <a:t>单位名称：</a:t>
              </a:r>
              <a:r>
                <a:rPr lang="zh-CN" altLang="zh-CN">
                  <a:solidFill>
                    <a:schemeClr val="accent1"/>
                  </a:solidFill>
                </a:rPr>
                <a:t>安</a:t>
              </a:r>
              <a:r>
                <a:rPr lang="zh-CN" altLang="zh-CN">
                  <a:solidFill>
                    <a:schemeClr val="tx2"/>
                  </a:solidFill>
                </a:rPr>
                <a:t>（培）       符号：</a:t>
              </a:r>
              <a:r>
                <a:rPr lang="en-US" altLang="zh-CN">
                  <a:solidFill>
                    <a:schemeClr val="accent1"/>
                  </a:solidFill>
                </a:rPr>
                <a:t>A </a:t>
              </a:r>
              <a:r>
                <a:rPr lang="zh-CN" altLang="en-US">
                  <a:solidFill>
                    <a:schemeClr val="tx2"/>
                  </a:solidFill>
                </a:rPr>
                <a:t>（</a:t>
              </a:r>
              <a:r>
                <a:rPr lang="en-US" altLang="zh-CN">
                  <a:solidFill>
                    <a:schemeClr val="tx2"/>
                  </a:solidFill>
                </a:rPr>
                <a:t>Ampere</a:t>
              </a:r>
              <a:r>
                <a:rPr lang="zh-CN" altLang="en-US">
                  <a:solidFill>
                    <a:schemeClr val="tx2"/>
                  </a:solidFill>
                </a:rPr>
                <a:t>）</a:t>
              </a:r>
            </a:p>
          </p:txBody>
        </p:sp>
        <p:sp>
          <p:nvSpPr>
            <p:cNvPr id="9226" name="Text Box 10"/>
            <p:cNvSpPr txBox="1">
              <a:spLocks noChangeArrowheads="1"/>
            </p:cNvSpPr>
            <p:nvPr/>
          </p:nvSpPr>
          <p:spPr bwMode="auto">
            <a:xfrm>
              <a:off x="4481" y="3036"/>
              <a:ext cx="8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FF0000"/>
                  </a:solidFill>
                  <a:sym typeface="Symbol" pitchFamily="18" charset="2"/>
                </a:rPr>
                <a:t>mA    A</a:t>
              </a:r>
            </a:p>
          </p:txBody>
        </p:sp>
      </p:grpSp>
      <p:graphicFrame>
        <p:nvGraphicFramePr>
          <p:cNvPr id="9223" name="Object 11" descr="羊皮纸"/>
          <p:cNvGraphicFramePr>
            <a:graphicFrameLocks noChangeAspect="1"/>
          </p:cNvGraphicFramePr>
          <p:nvPr/>
        </p:nvGraphicFramePr>
        <p:xfrm>
          <a:off x="6299200" y="3309938"/>
          <a:ext cx="1423988" cy="803275"/>
        </p:xfrm>
        <a:graphic>
          <a:graphicData uri="http://schemas.openxmlformats.org/presentationml/2006/ole">
            <mc:AlternateContent xmlns:mc="http://schemas.openxmlformats.org/markup-compatibility/2006">
              <mc:Choice xmlns:v="urn:schemas-microsoft-com:vml" Requires="v">
                <p:oleObj spid="_x0000_s9488" name="Equation" r:id="rId6" imgW="558558" imgH="317362" progId="Equation.DSMT4">
                  <p:embed/>
                </p:oleObj>
              </mc:Choice>
              <mc:Fallback>
                <p:oleObj name="Equation" r:id="rId6" imgW="558558" imgH="317362" progId="Equation.DSMT4">
                  <p:embed/>
                  <p:pic>
                    <p:nvPicPr>
                      <p:cNvPr id="0" name="Object 11" descr="羊皮纸"/>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99200" y="3309938"/>
                        <a:ext cx="1423988" cy="803275"/>
                      </a:xfrm>
                      <a:prstGeom prst="rect">
                        <a:avLst/>
                      </a:prstGeom>
                      <a:blipFill dpi="0" rotWithShape="0">
                        <a:blip r:embed="rId5"/>
                        <a:srcRect/>
                        <a:tile tx="0" ty="0" sx="100000" sy="100000" flip="none" algn="tl"/>
                      </a:blipFill>
                      <a:ln>
                        <a:noFill/>
                      </a:ln>
                      <a:effectLst>
                        <a:prstShdw prst="shdw17" dist="17961" dir="2700000">
                          <a:srgbClr val="99997A"/>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4" name="AutoShape 12"/>
          <p:cNvSpPr>
            <a:spLocks noChangeArrowheads="1"/>
          </p:cNvSpPr>
          <p:nvPr/>
        </p:nvSpPr>
        <p:spPr bwMode="auto">
          <a:xfrm>
            <a:off x="5065713" y="3675063"/>
            <a:ext cx="536575" cy="219075"/>
          </a:xfrm>
          <a:prstGeom prst="rightArrow">
            <a:avLst>
              <a:gd name="adj1" fmla="val 50000"/>
              <a:gd name="adj2" fmla="val 61232"/>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21">
                                            <p:txEl>
                                              <p:pRg st="0" end="0"/>
                                            </p:txEl>
                                          </p:spTgt>
                                        </p:tgtEl>
                                        <p:attrNameLst>
                                          <p:attrName>style.visibility</p:attrName>
                                        </p:attrNameLst>
                                      </p:cBhvr>
                                      <p:to>
                                        <p:strVal val="visible"/>
                                      </p:to>
                                    </p:set>
                                    <p:animEffect transition="in" filter="barn(inVertical)">
                                      <p:cBhvr>
                                        <p:cTn id="7" dur="500"/>
                                        <p:tgtEl>
                                          <p:spTgt spid="92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219">
                                            <p:txEl>
                                              <p:pRg st="0" end="0"/>
                                            </p:txEl>
                                          </p:spTgt>
                                        </p:tgtEl>
                                        <p:attrNameLst>
                                          <p:attrName>style.visibility</p:attrName>
                                        </p:attrNameLst>
                                      </p:cBhvr>
                                      <p:to>
                                        <p:strVal val="visible"/>
                                      </p:to>
                                    </p:set>
                                    <p:animEffect transition="in" filter="barn(inVertical)">
                                      <p:cBhvr>
                                        <p:cTn id="12" dur="500"/>
                                        <p:tgtEl>
                                          <p:spTgt spid="92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220"/>
                                        </p:tgtEl>
                                        <p:attrNameLst>
                                          <p:attrName>style.visibility</p:attrName>
                                        </p:attrNameLst>
                                      </p:cBhvr>
                                      <p:to>
                                        <p:strVal val="visible"/>
                                      </p:to>
                                    </p:set>
                                    <p:animEffect transition="in" filter="barn(inVertical)">
                                      <p:cBhvr>
                                        <p:cTn id="17" dur="500"/>
                                        <p:tgtEl>
                                          <p:spTgt spid="922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223"/>
                                        </p:tgtEl>
                                        <p:attrNameLst>
                                          <p:attrName>style.visibility</p:attrName>
                                        </p:attrNameLst>
                                      </p:cBhvr>
                                      <p:to>
                                        <p:strVal val="visible"/>
                                      </p:to>
                                    </p:set>
                                    <p:animEffect transition="in" filter="barn(inVertical)">
                                      <p:cBhvr>
                                        <p:cTn id="22" dur="500"/>
                                        <p:tgtEl>
                                          <p:spTgt spid="9223"/>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9224"/>
                                        </p:tgtEl>
                                        <p:attrNameLst>
                                          <p:attrName>style.visibility</p:attrName>
                                        </p:attrNameLst>
                                      </p:cBhvr>
                                      <p:to>
                                        <p:strVal val="visible"/>
                                      </p:to>
                                    </p:set>
                                    <p:animEffect transition="in" filter="barn(inVertical)">
                                      <p:cBhvr>
                                        <p:cTn id="25" dur="500"/>
                                        <p:tgtEl>
                                          <p:spTgt spid="9224"/>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9222"/>
                                        </p:tgtEl>
                                        <p:attrNameLst>
                                          <p:attrName>style.visibility</p:attrName>
                                        </p:attrNameLst>
                                      </p:cBhvr>
                                      <p:to>
                                        <p:strVal val="visible"/>
                                      </p:to>
                                    </p:set>
                                    <p:animEffect transition="in" filter="barn(inVertical)">
                                      <p:cBhvr>
                                        <p:cTn id="30"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423863" y="385763"/>
            <a:ext cx="7796212"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dirty="0">
                <a:solidFill>
                  <a:srgbClr val="0000CC"/>
                </a:solidFill>
              </a:rPr>
              <a:t>2</a:t>
            </a:r>
            <a:r>
              <a:rPr lang="zh-CN" altLang="en-US" dirty="0">
                <a:solidFill>
                  <a:srgbClr val="0000CC"/>
                </a:solidFill>
              </a:rPr>
              <a:t>、电流的参考</a:t>
            </a:r>
            <a:r>
              <a:rPr lang="zh-CN" altLang="en-US" dirty="0" smtClean="0">
                <a:solidFill>
                  <a:srgbClr val="0000CC"/>
                </a:solidFill>
              </a:rPr>
              <a:t>方向</a:t>
            </a:r>
            <a:endParaRPr lang="zh-CN" altLang="en-US" sz="2800" dirty="0">
              <a:solidFill>
                <a:srgbClr val="0000CC"/>
              </a:solidFill>
            </a:endParaRPr>
          </a:p>
        </p:txBody>
      </p:sp>
      <p:sp>
        <p:nvSpPr>
          <p:cNvPr id="10243" name="Text Box 4"/>
          <p:cNvSpPr txBox="1">
            <a:spLocks noChangeArrowheads="1"/>
          </p:cNvSpPr>
          <p:nvPr/>
        </p:nvSpPr>
        <p:spPr bwMode="auto">
          <a:xfrm>
            <a:off x="506413" y="3540125"/>
            <a:ext cx="5429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2800" dirty="0">
                <a:solidFill>
                  <a:srgbClr val="FF0000"/>
                </a:solidFill>
                <a:sym typeface="Symbol" pitchFamily="18" charset="2"/>
              </a:rPr>
              <a:t>例</a:t>
            </a:r>
          </a:p>
        </p:txBody>
      </p:sp>
      <p:sp>
        <p:nvSpPr>
          <p:cNvPr id="10244" name="Text Box 6"/>
          <p:cNvSpPr txBox="1">
            <a:spLocks noChangeArrowheads="1"/>
          </p:cNvSpPr>
          <p:nvPr/>
        </p:nvSpPr>
        <p:spPr bwMode="auto">
          <a:xfrm>
            <a:off x="1847850" y="5848350"/>
            <a:ext cx="12430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i="1">
                <a:solidFill>
                  <a:srgbClr val="0000CC"/>
                </a:solidFill>
                <a:sym typeface="Symbol" pitchFamily="18" charset="2"/>
              </a:rPr>
              <a:t>I</a:t>
            </a:r>
            <a:r>
              <a:rPr lang="en-US" altLang="zh-CN" baseline="-25000">
                <a:solidFill>
                  <a:srgbClr val="0000CC"/>
                </a:solidFill>
                <a:sym typeface="Symbol" pitchFamily="18" charset="2"/>
              </a:rPr>
              <a:t>1</a:t>
            </a:r>
            <a:r>
              <a:rPr lang="en-US" altLang="zh-CN" sz="1600" baseline="-25000">
                <a:solidFill>
                  <a:srgbClr val="0000CC"/>
                </a:solidFill>
                <a:sym typeface="Symbol" pitchFamily="18" charset="2"/>
              </a:rPr>
              <a:t> </a:t>
            </a:r>
            <a:r>
              <a:rPr lang="en-US" altLang="zh-CN">
                <a:solidFill>
                  <a:srgbClr val="0000CC"/>
                </a:solidFill>
                <a:sym typeface="Symbol" pitchFamily="18" charset="2"/>
              </a:rPr>
              <a:t>= 1A</a:t>
            </a:r>
          </a:p>
        </p:txBody>
      </p:sp>
      <p:grpSp>
        <p:nvGrpSpPr>
          <p:cNvPr id="10245" name="Group 7"/>
          <p:cNvGrpSpPr>
            <a:grpSpLocks/>
          </p:cNvGrpSpPr>
          <p:nvPr/>
        </p:nvGrpSpPr>
        <p:grpSpPr bwMode="auto">
          <a:xfrm>
            <a:off x="1139825" y="3859213"/>
            <a:ext cx="3040063" cy="1906587"/>
            <a:chOff x="689" y="503"/>
            <a:chExt cx="1915" cy="1201"/>
          </a:xfrm>
        </p:grpSpPr>
        <p:grpSp>
          <p:nvGrpSpPr>
            <p:cNvPr id="10269" name="Group 8"/>
            <p:cNvGrpSpPr>
              <a:grpSpLocks/>
            </p:cNvGrpSpPr>
            <p:nvPr/>
          </p:nvGrpSpPr>
          <p:grpSpPr bwMode="auto">
            <a:xfrm>
              <a:off x="689" y="1056"/>
              <a:ext cx="300" cy="576"/>
              <a:chOff x="5160" y="1464"/>
              <a:chExt cx="300" cy="576"/>
            </a:xfrm>
          </p:grpSpPr>
          <p:sp>
            <p:nvSpPr>
              <p:cNvPr id="10281" name="Line 9"/>
              <p:cNvSpPr>
                <a:spLocks noChangeShapeType="1"/>
              </p:cNvSpPr>
              <p:nvPr/>
            </p:nvSpPr>
            <p:spPr bwMode="auto">
              <a:xfrm>
                <a:off x="5244" y="1824"/>
                <a:ext cx="12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2" name="Line 10"/>
              <p:cNvSpPr>
                <a:spLocks noChangeShapeType="1"/>
              </p:cNvSpPr>
              <p:nvPr/>
            </p:nvSpPr>
            <p:spPr bwMode="auto">
              <a:xfrm>
                <a:off x="5160" y="1716"/>
                <a:ext cx="3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3" name="Line 11"/>
              <p:cNvSpPr>
                <a:spLocks noChangeShapeType="1"/>
              </p:cNvSpPr>
              <p:nvPr/>
            </p:nvSpPr>
            <p:spPr bwMode="auto">
              <a:xfrm>
                <a:off x="5292" y="1464"/>
                <a:ext cx="0" cy="25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Line 12"/>
              <p:cNvSpPr>
                <a:spLocks noChangeShapeType="1"/>
              </p:cNvSpPr>
              <p:nvPr/>
            </p:nvSpPr>
            <p:spPr bwMode="auto">
              <a:xfrm>
                <a:off x="5292" y="1824"/>
                <a:ext cx="0" cy="21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70" name="Group 13"/>
            <p:cNvGrpSpPr>
              <a:grpSpLocks/>
            </p:cNvGrpSpPr>
            <p:nvPr/>
          </p:nvGrpSpPr>
          <p:grpSpPr bwMode="auto">
            <a:xfrm>
              <a:off x="2016" y="893"/>
              <a:ext cx="120" cy="811"/>
              <a:chOff x="5160" y="293"/>
              <a:chExt cx="120" cy="811"/>
            </a:xfrm>
          </p:grpSpPr>
          <p:sp>
            <p:nvSpPr>
              <p:cNvPr id="10279" name="Line 14"/>
              <p:cNvSpPr>
                <a:spLocks noChangeShapeType="1"/>
              </p:cNvSpPr>
              <p:nvPr/>
            </p:nvSpPr>
            <p:spPr bwMode="auto">
              <a:xfrm flipV="1">
                <a:off x="5220" y="293"/>
                <a:ext cx="0" cy="811"/>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0" name="Rectangle 15"/>
              <p:cNvSpPr>
                <a:spLocks noChangeArrowheads="1"/>
              </p:cNvSpPr>
              <p:nvPr/>
            </p:nvSpPr>
            <p:spPr bwMode="auto">
              <a:xfrm>
                <a:off x="5160" y="560"/>
                <a:ext cx="120" cy="268"/>
              </a:xfrm>
              <a:prstGeom prst="rect">
                <a:avLst/>
              </a:prstGeom>
              <a:solidFill>
                <a:srgbClr val="00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10271" name="Line 16"/>
            <p:cNvSpPr>
              <a:spLocks noChangeShapeType="1"/>
            </p:cNvSpPr>
            <p:nvPr/>
          </p:nvSpPr>
          <p:spPr bwMode="auto">
            <a:xfrm flipV="1">
              <a:off x="821" y="900"/>
              <a:ext cx="0" cy="27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2" name="Line 17"/>
            <p:cNvSpPr>
              <a:spLocks noChangeShapeType="1"/>
            </p:cNvSpPr>
            <p:nvPr/>
          </p:nvSpPr>
          <p:spPr bwMode="auto">
            <a:xfrm>
              <a:off x="821" y="900"/>
              <a:ext cx="125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Line 18"/>
            <p:cNvSpPr>
              <a:spLocks noChangeShapeType="1"/>
            </p:cNvSpPr>
            <p:nvPr/>
          </p:nvSpPr>
          <p:spPr bwMode="auto">
            <a:xfrm>
              <a:off x="821" y="1536"/>
              <a:ext cx="0" cy="16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Line 19"/>
            <p:cNvSpPr>
              <a:spLocks noChangeShapeType="1"/>
            </p:cNvSpPr>
            <p:nvPr/>
          </p:nvSpPr>
          <p:spPr bwMode="auto">
            <a:xfrm>
              <a:off x="821" y="1704"/>
              <a:ext cx="125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5" name="Text Box 20"/>
            <p:cNvSpPr txBox="1">
              <a:spLocks noChangeArrowheads="1"/>
            </p:cNvSpPr>
            <p:nvPr/>
          </p:nvSpPr>
          <p:spPr bwMode="auto">
            <a:xfrm>
              <a:off x="981" y="1276"/>
              <a:ext cx="50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000000"/>
                  </a:solidFill>
                  <a:sym typeface="Symbol" pitchFamily="18" charset="2"/>
                </a:rPr>
                <a:t>10V</a:t>
              </a:r>
              <a:endParaRPr lang="en-US" altLang="zh-CN" sz="2800">
                <a:solidFill>
                  <a:srgbClr val="000000"/>
                </a:solidFill>
                <a:sym typeface="Symbol" pitchFamily="18" charset="2"/>
              </a:endParaRPr>
            </a:p>
          </p:txBody>
        </p:sp>
        <p:sp>
          <p:nvSpPr>
            <p:cNvPr id="10276" name="Text Box 21"/>
            <p:cNvSpPr txBox="1">
              <a:spLocks noChangeArrowheads="1"/>
            </p:cNvSpPr>
            <p:nvPr/>
          </p:nvSpPr>
          <p:spPr bwMode="auto">
            <a:xfrm>
              <a:off x="2148" y="1161"/>
              <a:ext cx="45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rgbClr val="000000"/>
                  </a:solidFill>
                  <a:sym typeface="Symbol" pitchFamily="18" charset="2"/>
                </a:rPr>
                <a:t>10</a:t>
              </a:r>
              <a:endParaRPr lang="en-US" altLang="zh-CN" sz="2800">
                <a:solidFill>
                  <a:srgbClr val="000000"/>
                </a:solidFill>
                <a:sym typeface="Symbol" pitchFamily="18" charset="2"/>
              </a:endParaRPr>
            </a:p>
          </p:txBody>
        </p:sp>
        <p:sp>
          <p:nvSpPr>
            <p:cNvPr id="10277" name="Text Box 22"/>
            <p:cNvSpPr txBox="1">
              <a:spLocks noChangeArrowheads="1"/>
            </p:cNvSpPr>
            <p:nvPr/>
          </p:nvSpPr>
          <p:spPr bwMode="auto">
            <a:xfrm>
              <a:off x="1208" y="503"/>
              <a:ext cx="26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i="1">
                  <a:solidFill>
                    <a:srgbClr val="2306F6"/>
                  </a:solidFill>
                  <a:sym typeface="Symbol" pitchFamily="18" charset="2"/>
                </a:rPr>
                <a:t>I</a:t>
              </a:r>
              <a:r>
                <a:rPr lang="en-US" altLang="zh-CN" baseline="-25000">
                  <a:solidFill>
                    <a:srgbClr val="2306F6"/>
                  </a:solidFill>
                  <a:sym typeface="Symbol" pitchFamily="18" charset="2"/>
                </a:rPr>
                <a:t>1</a:t>
              </a:r>
              <a:endParaRPr lang="en-US" altLang="zh-CN" sz="2800">
                <a:solidFill>
                  <a:srgbClr val="2306F6"/>
                </a:solidFill>
                <a:sym typeface="Symbol" pitchFamily="18" charset="2"/>
              </a:endParaRPr>
            </a:p>
          </p:txBody>
        </p:sp>
        <p:sp>
          <p:nvSpPr>
            <p:cNvPr id="10278" name="Line 23"/>
            <p:cNvSpPr>
              <a:spLocks noChangeShapeType="1"/>
            </p:cNvSpPr>
            <p:nvPr/>
          </p:nvSpPr>
          <p:spPr bwMode="auto">
            <a:xfrm>
              <a:off x="1184" y="824"/>
              <a:ext cx="320" cy="0"/>
            </a:xfrm>
            <a:prstGeom prst="line">
              <a:avLst/>
            </a:prstGeom>
            <a:noFill/>
            <a:ln w="38100" cap="sq">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46" name="Text Box 25"/>
          <p:cNvSpPr txBox="1">
            <a:spLocks noChangeArrowheads="1"/>
          </p:cNvSpPr>
          <p:nvPr/>
        </p:nvSpPr>
        <p:spPr bwMode="auto">
          <a:xfrm>
            <a:off x="5492750" y="5854700"/>
            <a:ext cx="13192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i="1">
                <a:solidFill>
                  <a:srgbClr val="0000CC"/>
                </a:solidFill>
                <a:sym typeface="Symbol" pitchFamily="18" charset="2"/>
              </a:rPr>
              <a:t>I</a:t>
            </a:r>
            <a:r>
              <a:rPr lang="en-US" altLang="zh-CN" baseline="-25000">
                <a:solidFill>
                  <a:srgbClr val="0000CC"/>
                </a:solidFill>
                <a:sym typeface="Symbol" pitchFamily="18" charset="2"/>
              </a:rPr>
              <a:t>1</a:t>
            </a:r>
            <a:r>
              <a:rPr lang="en-US" altLang="zh-CN" sz="1600">
                <a:solidFill>
                  <a:srgbClr val="0000CC"/>
                </a:solidFill>
                <a:sym typeface="Symbol" pitchFamily="18" charset="2"/>
              </a:rPr>
              <a:t> </a:t>
            </a:r>
            <a:r>
              <a:rPr lang="en-US" altLang="zh-CN">
                <a:solidFill>
                  <a:srgbClr val="0000CC"/>
                </a:solidFill>
                <a:sym typeface="Symbol" pitchFamily="18" charset="2"/>
              </a:rPr>
              <a:t>= </a:t>
            </a:r>
            <a:r>
              <a:rPr lang="en-US" altLang="zh-CN">
                <a:solidFill>
                  <a:srgbClr val="0000CC"/>
                </a:solidFill>
                <a:latin typeface="黑体" pitchFamily="49" charset="-122"/>
                <a:ea typeface="黑体" pitchFamily="49" charset="-122"/>
                <a:sym typeface="Symbol" pitchFamily="18" charset="2"/>
              </a:rPr>
              <a:t>-</a:t>
            </a:r>
            <a:r>
              <a:rPr lang="en-US" altLang="zh-CN">
                <a:solidFill>
                  <a:srgbClr val="0000CC"/>
                </a:solidFill>
                <a:ea typeface="黑体" pitchFamily="49" charset="-122"/>
                <a:sym typeface="Symbol" pitchFamily="18" charset="2"/>
              </a:rPr>
              <a:t>1</a:t>
            </a:r>
            <a:r>
              <a:rPr lang="en-US" altLang="zh-CN">
                <a:solidFill>
                  <a:srgbClr val="0000CC"/>
                </a:solidFill>
                <a:sym typeface="Symbol" pitchFamily="18" charset="2"/>
              </a:rPr>
              <a:t>A</a:t>
            </a:r>
          </a:p>
        </p:txBody>
      </p:sp>
      <p:grpSp>
        <p:nvGrpSpPr>
          <p:cNvPr id="10247" name="Group 26"/>
          <p:cNvGrpSpPr>
            <a:grpSpLocks/>
          </p:cNvGrpSpPr>
          <p:nvPr/>
        </p:nvGrpSpPr>
        <p:grpSpPr bwMode="auto">
          <a:xfrm>
            <a:off x="4772025" y="3871913"/>
            <a:ext cx="3040063" cy="1906587"/>
            <a:chOff x="2977" y="495"/>
            <a:chExt cx="1915" cy="1201"/>
          </a:xfrm>
        </p:grpSpPr>
        <p:grpSp>
          <p:nvGrpSpPr>
            <p:cNvPr id="10253" name="Group 27"/>
            <p:cNvGrpSpPr>
              <a:grpSpLocks/>
            </p:cNvGrpSpPr>
            <p:nvPr/>
          </p:nvGrpSpPr>
          <p:grpSpPr bwMode="auto">
            <a:xfrm>
              <a:off x="2977" y="1048"/>
              <a:ext cx="300" cy="576"/>
              <a:chOff x="5160" y="1464"/>
              <a:chExt cx="300" cy="576"/>
            </a:xfrm>
          </p:grpSpPr>
          <p:sp>
            <p:nvSpPr>
              <p:cNvPr id="10265" name="Line 28"/>
              <p:cNvSpPr>
                <a:spLocks noChangeShapeType="1"/>
              </p:cNvSpPr>
              <p:nvPr/>
            </p:nvSpPr>
            <p:spPr bwMode="auto">
              <a:xfrm>
                <a:off x="5244" y="1824"/>
                <a:ext cx="12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6" name="Line 29"/>
              <p:cNvSpPr>
                <a:spLocks noChangeShapeType="1"/>
              </p:cNvSpPr>
              <p:nvPr/>
            </p:nvSpPr>
            <p:spPr bwMode="auto">
              <a:xfrm>
                <a:off x="5160" y="1716"/>
                <a:ext cx="3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7" name="Line 30"/>
              <p:cNvSpPr>
                <a:spLocks noChangeShapeType="1"/>
              </p:cNvSpPr>
              <p:nvPr/>
            </p:nvSpPr>
            <p:spPr bwMode="auto">
              <a:xfrm>
                <a:off x="5292" y="1464"/>
                <a:ext cx="0" cy="25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8" name="Line 31"/>
              <p:cNvSpPr>
                <a:spLocks noChangeShapeType="1"/>
              </p:cNvSpPr>
              <p:nvPr/>
            </p:nvSpPr>
            <p:spPr bwMode="auto">
              <a:xfrm>
                <a:off x="5292" y="1824"/>
                <a:ext cx="0" cy="21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4" name="Group 32"/>
            <p:cNvGrpSpPr>
              <a:grpSpLocks/>
            </p:cNvGrpSpPr>
            <p:nvPr/>
          </p:nvGrpSpPr>
          <p:grpSpPr bwMode="auto">
            <a:xfrm>
              <a:off x="4304" y="885"/>
              <a:ext cx="120" cy="811"/>
              <a:chOff x="5160" y="293"/>
              <a:chExt cx="120" cy="811"/>
            </a:xfrm>
          </p:grpSpPr>
          <p:sp>
            <p:nvSpPr>
              <p:cNvPr id="10263" name="Line 33"/>
              <p:cNvSpPr>
                <a:spLocks noChangeShapeType="1"/>
              </p:cNvSpPr>
              <p:nvPr/>
            </p:nvSpPr>
            <p:spPr bwMode="auto">
              <a:xfrm flipV="1">
                <a:off x="5220" y="293"/>
                <a:ext cx="0" cy="811"/>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4" name="Rectangle 34"/>
              <p:cNvSpPr>
                <a:spLocks noChangeArrowheads="1"/>
              </p:cNvSpPr>
              <p:nvPr/>
            </p:nvSpPr>
            <p:spPr bwMode="auto">
              <a:xfrm>
                <a:off x="5160" y="560"/>
                <a:ext cx="120" cy="268"/>
              </a:xfrm>
              <a:prstGeom prst="rect">
                <a:avLst/>
              </a:prstGeom>
              <a:solidFill>
                <a:srgbClr val="00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10255" name="Line 35"/>
            <p:cNvSpPr>
              <a:spLocks noChangeShapeType="1"/>
            </p:cNvSpPr>
            <p:nvPr/>
          </p:nvSpPr>
          <p:spPr bwMode="auto">
            <a:xfrm flipV="1">
              <a:off x="3109" y="892"/>
              <a:ext cx="0" cy="27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6" name="Line 36"/>
            <p:cNvSpPr>
              <a:spLocks noChangeShapeType="1"/>
            </p:cNvSpPr>
            <p:nvPr/>
          </p:nvSpPr>
          <p:spPr bwMode="auto">
            <a:xfrm>
              <a:off x="3109" y="892"/>
              <a:ext cx="125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7" name="Line 37"/>
            <p:cNvSpPr>
              <a:spLocks noChangeShapeType="1"/>
            </p:cNvSpPr>
            <p:nvPr/>
          </p:nvSpPr>
          <p:spPr bwMode="auto">
            <a:xfrm>
              <a:off x="3109" y="1528"/>
              <a:ext cx="0" cy="16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8" name="Line 38"/>
            <p:cNvSpPr>
              <a:spLocks noChangeShapeType="1"/>
            </p:cNvSpPr>
            <p:nvPr/>
          </p:nvSpPr>
          <p:spPr bwMode="auto">
            <a:xfrm>
              <a:off x="3109" y="1696"/>
              <a:ext cx="125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9" name="Text Box 39"/>
            <p:cNvSpPr txBox="1">
              <a:spLocks noChangeArrowheads="1"/>
            </p:cNvSpPr>
            <p:nvPr/>
          </p:nvSpPr>
          <p:spPr bwMode="auto">
            <a:xfrm>
              <a:off x="3285" y="1228"/>
              <a:ext cx="50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000000"/>
                  </a:solidFill>
                  <a:sym typeface="Symbol" pitchFamily="18" charset="2"/>
                </a:rPr>
                <a:t>10V</a:t>
              </a:r>
              <a:endParaRPr lang="en-US" altLang="zh-CN" sz="2800">
                <a:solidFill>
                  <a:srgbClr val="000000"/>
                </a:solidFill>
                <a:sym typeface="Symbol" pitchFamily="18" charset="2"/>
              </a:endParaRPr>
            </a:p>
          </p:txBody>
        </p:sp>
        <p:sp>
          <p:nvSpPr>
            <p:cNvPr id="10260" name="Text Box 40"/>
            <p:cNvSpPr txBox="1">
              <a:spLocks noChangeArrowheads="1"/>
            </p:cNvSpPr>
            <p:nvPr/>
          </p:nvSpPr>
          <p:spPr bwMode="auto">
            <a:xfrm>
              <a:off x="4436" y="1153"/>
              <a:ext cx="45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rgbClr val="000000"/>
                  </a:solidFill>
                  <a:sym typeface="Symbol" pitchFamily="18" charset="2"/>
                </a:rPr>
                <a:t>10</a:t>
              </a:r>
            </a:p>
          </p:txBody>
        </p:sp>
        <p:sp>
          <p:nvSpPr>
            <p:cNvPr id="10261" name="Text Box 41"/>
            <p:cNvSpPr txBox="1">
              <a:spLocks noChangeArrowheads="1"/>
            </p:cNvSpPr>
            <p:nvPr/>
          </p:nvSpPr>
          <p:spPr bwMode="auto">
            <a:xfrm>
              <a:off x="3496" y="495"/>
              <a:ext cx="26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i="1">
                  <a:solidFill>
                    <a:srgbClr val="2306F6"/>
                  </a:solidFill>
                  <a:sym typeface="Symbol" pitchFamily="18" charset="2"/>
                </a:rPr>
                <a:t>I</a:t>
              </a:r>
              <a:r>
                <a:rPr lang="en-US" altLang="zh-CN" baseline="-25000">
                  <a:solidFill>
                    <a:srgbClr val="2306F6"/>
                  </a:solidFill>
                  <a:sym typeface="Symbol" pitchFamily="18" charset="2"/>
                </a:rPr>
                <a:t>1</a:t>
              </a:r>
              <a:endParaRPr lang="en-US" altLang="zh-CN" sz="2800">
                <a:solidFill>
                  <a:srgbClr val="2306F6"/>
                </a:solidFill>
                <a:sym typeface="Symbol" pitchFamily="18" charset="2"/>
              </a:endParaRPr>
            </a:p>
          </p:txBody>
        </p:sp>
        <p:sp>
          <p:nvSpPr>
            <p:cNvPr id="10262" name="Line 42"/>
            <p:cNvSpPr>
              <a:spLocks noChangeShapeType="1"/>
            </p:cNvSpPr>
            <p:nvPr/>
          </p:nvSpPr>
          <p:spPr bwMode="auto">
            <a:xfrm flipH="1">
              <a:off x="3472" y="816"/>
              <a:ext cx="320" cy="0"/>
            </a:xfrm>
            <a:prstGeom prst="line">
              <a:avLst/>
            </a:prstGeom>
            <a:noFill/>
            <a:ln w="38100" cap="sq">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48" name="Text Box 44"/>
          <p:cNvSpPr txBox="1">
            <a:spLocks noChangeArrowheads="1"/>
          </p:cNvSpPr>
          <p:nvPr/>
        </p:nvSpPr>
        <p:spPr bwMode="auto">
          <a:xfrm>
            <a:off x="806450" y="1114425"/>
            <a:ext cx="7588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a:solidFill>
                  <a:srgbClr val="FF0000"/>
                </a:solidFill>
              </a:rPr>
              <a:t>参考方向</a:t>
            </a:r>
            <a:r>
              <a:rPr lang="zh-CN" altLang="en-US">
                <a:solidFill>
                  <a:schemeClr val="tx2"/>
                </a:solidFill>
              </a:rPr>
              <a:t>：任意选定的一个方向作为电流的参考方向</a:t>
            </a:r>
            <a:r>
              <a:rPr lang="zh-CN" altLang="en-US" sz="2800">
                <a:solidFill>
                  <a:schemeClr val="tx2"/>
                </a:solidFill>
              </a:rPr>
              <a:t>。</a:t>
            </a:r>
            <a:endParaRPr lang="zh-CN" altLang="en-US" sz="3200">
              <a:solidFill>
                <a:schemeClr val="tx2"/>
              </a:solidFill>
            </a:endParaRPr>
          </a:p>
        </p:txBody>
      </p:sp>
      <p:sp>
        <p:nvSpPr>
          <p:cNvPr id="10249" name="Text Box 45"/>
          <p:cNvSpPr txBox="1">
            <a:spLocks noChangeArrowheads="1"/>
          </p:cNvSpPr>
          <p:nvPr/>
        </p:nvSpPr>
        <p:spPr bwMode="auto">
          <a:xfrm>
            <a:off x="2263775" y="1651000"/>
            <a:ext cx="33829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i="1">
                <a:solidFill>
                  <a:schemeClr val="tx2"/>
                </a:solidFill>
              </a:rPr>
              <a:t>i </a:t>
            </a:r>
            <a:r>
              <a:rPr lang="en-US" altLang="zh-CN" sz="2800">
                <a:solidFill>
                  <a:schemeClr val="tx2"/>
                </a:solidFill>
              </a:rPr>
              <a:t>           </a:t>
            </a:r>
            <a:r>
              <a:rPr lang="zh-CN" altLang="en-US" sz="2000">
                <a:solidFill>
                  <a:schemeClr val="tx2"/>
                </a:solidFill>
                <a:ea typeface="楷体_GB2312" pitchFamily="49" charset="-122"/>
              </a:rPr>
              <a:t>参考方向</a:t>
            </a:r>
          </a:p>
        </p:txBody>
      </p:sp>
      <p:sp>
        <p:nvSpPr>
          <p:cNvPr id="10250" name="Line 46"/>
          <p:cNvSpPr>
            <a:spLocks noChangeShapeType="1"/>
          </p:cNvSpPr>
          <p:nvPr/>
        </p:nvSpPr>
        <p:spPr bwMode="auto">
          <a:xfrm flipH="1">
            <a:off x="2163763" y="2295525"/>
            <a:ext cx="4084637" cy="0"/>
          </a:xfrm>
          <a:prstGeom prst="line">
            <a:avLst/>
          </a:prstGeom>
          <a:noFill/>
          <a:ln w="28575" cap="sq">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1" name="Text Box 47"/>
          <p:cNvSpPr txBox="1">
            <a:spLocks noChangeArrowheads="1"/>
          </p:cNvSpPr>
          <p:nvPr/>
        </p:nvSpPr>
        <p:spPr bwMode="auto">
          <a:xfrm>
            <a:off x="939800" y="2413169"/>
            <a:ext cx="585609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50000"/>
              </a:lnSpc>
            </a:pPr>
            <a:r>
              <a:rPr lang="en-US" altLang="zh-CN" i="1" dirty="0" err="1">
                <a:solidFill>
                  <a:schemeClr val="tx2"/>
                </a:solidFill>
              </a:rPr>
              <a:t>i</a:t>
            </a:r>
            <a:r>
              <a:rPr lang="en-US" altLang="zh-CN" i="1" dirty="0">
                <a:solidFill>
                  <a:schemeClr val="tx2"/>
                </a:solidFill>
              </a:rPr>
              <a:t> </a:t>
            </a:r>
            <a:r>
              <a:rPr lang="en-US" altLang="zh-CN" dirty="0">
                <a:solidFill>
                  <a:schemeClr val="tx2"/>
                </a:solidFill>
              </a:rPr>
              <a:t>&gt; 0  </a:t>
            </a:r>
            <a:r>
              <a:rPr lang="zh-CN" altLang="en-US" dirty="0">
                <a:solidFill>
                  <a:schemeClr val="tx2"/>
                </a:solidFill>
              </a:rPr>
              <a:t>表示电流的参考方向与实际方向相同</a:t>
            </a:r>
          </a:p>
          <a:p>
            <a:r>
              <a:rPr lang="en-US" altLang="zh-CN" i="1" dirty="0" err="1">
                <a:solidFill>
                  <a:schemeClr val="tx2"/>
                </a:solidFill>
              </a:rPr>
              <a:t>i</a:t>
            </a:r>
            <a:r>
              <a:rPr lang="en-US" altLang="zh-CN" i="1" dirty="0">
                <a:solidFill>
                  <a:schemeClr val="tx2"/>
                </a:solidFill>
              </a:rPr>
              <a:t> </a:t>
            </a:r>
            <a:r>
              <a:rPr lang="en-US" altLang="zh-CN" dirty="0">
                <a:solidFill>
                  <a:schemeClr val="tx2"/>
                </a:solidFill>
              </a:rPr>
              <a:t>&lt; 0  </a:t>
            </a:r>
            <a:r>
              <a:rPr lang="zh-CN" altLang="en-US" dirty="0">
                <a:solidFill>
                  <a:schemeClr val="tx2"/>
                </a:solidFill>
              </a:rPr>
              <a:t>表示电流的参考方向与实际方向相反</a:t>
            </a:r>
          </a:p>
        </p:txBody>
      </p:sp>
      <p:sp>
        <p:nvSpPr>
          <p:cNvPr id="10252" name="Line 48"/>
          <p:cNvSpPr>
            <a:spLocks noChangeShapeType="1"/>
          </p:cNvSpPr>
          <p:nvPr/>
        </p:nvSpPr>
        <p:spPr bwMode="auto">
          <a:xfrm>
            <a:off x="2438400" y="2120900"/>
            <a:ext cx="1028700" cy="0"/>
          </a:xfrm>
          <a:prstGeom prst="line">
            <a:avLst/>
          </a:prstGeom>
          <a:noFill/>
          <a:ln w="19050">
            <a:solidFill>
              <a:srgbClr val="0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16681485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248"/>
                                        </p:tgtEl>
                                        <p:attrNameLst>
                                          <p:attrName>style.visibility</p:attrName>
                                        </p:attrNameLst>
                                      </p:cBhvr>
                                      <p:to>
                                        <p:strVal val="visible"/>
                                      </p:to>
                                    </p:set>
                                    <p:animEffect transition="in" filter="barn(inVertical)">
                                      <p:cBhvr>
                                        <p:cTn id="7" dur="500"/>
                                        <p:tgtEl>
                                          <p:spTgt spid="1024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0249"/>
                                        </p:tgtEl>
                                        <p:attrNameLst>
                                          <p:attrName>style.visibility</p:attrName>
                                        </p:attrNameLst>
                                      </p:cBhvr>
                                      <p:to>
                                        <p:strVal val="visible"/>
                                      </p:to>
                                    </p:set>
                                    <p:animEffect transition="in" filter="barn(inVertical)">
                                      <p:cBhvr>
                                        <p:cTn id="10" dur="500"/>
                                        <p:tgtEl>
                                          <p:spTgt spid="10249"/>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0250"/>
                                        </p:tgtEl>
                                        <p:attrNameLst>
                                          <p:attrName>style.visibility</p:attrName>
                                        </p:attrNameLst>
                                      </p:cBhvr>
                                      <p:to>
                                        <p:strVal val="visible"/>
                                      </p:to>
                                    </p:set>
                                    <p:animEffect transition="in" filter="barn(inVertical)">
                                      <p:cBhvr>
                                        <p:cTn id="13" dur="500"/>
                                        <p:tgtEl>
                                          <p:spTgt spid="1025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0252"/>
                                        </p:tgtEl>
                                        <p:attrNameLst>
                                          <p:attrName>style.visibility</p:attrName>
                                        </p:attrNameLst>
                                      </p:cBhvr>
                                      <p:to>
                                        <p:strVal val="visible"/>
                                      </p:to>
                                    </p:set>
                                    <p:animEffect transition="in" filter="barn(inVertical)">
                                      <p:cBhvr>
                                        <p:cTn id="16" dur="500"/>
                                        <p:tgtEl>
                                          <p:spTgt spid="1025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0251">
                                            <p:txEl>
                                              <p:pRg st="0" end="0"/>
                                            </p:txEl>
                                          </p:spTgt>
                                        </p:tgtEl>
                                        <p:attrNameLst>
                                          <p:attrName>style.visibility</p:attrName>
                                        </p:attrNameLst>
                                      </p:cBhvr>
                                      <p:to>
                                        <p:strVal val="visible"/>
                                      </p:to>
                                    </p:set>
                                    <p:animEffect transition="in" filter="barn(inVertical)">
                                      <p:cBhvr>
                                        <p:cTn id="21" dur="500"/>
                                        <p:tgtEl>
                                          <p:spTgt spid="1025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0251">
                                            <p:txEl>
                                              <p:pRg st="1" end="1"/>
                                            </p:txEl>
                                          </p:spTgt>
                                        </p:tgtEl>
                                        <p:attrNameLst>
                                          <p:attrName>style.visibility</p:attrName>
                                        </p:attrNameLst>
                                      </p:cBhvr>
                                      <p:to>
                                        <p:strVal val="visible"/>
                                      </p:to>
                                    </p:set>
                                    <p:animEffect transition="in" filter="barn(inVertical)">
                                      <p:cBhvr>
                                        <p:cTn id="26" dur="500"/>
                                        <p:tgtEl>
                                          <p:spTgt spid="10251">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0243"/>
                                        </p:tgtEl>
                                        <p:attrNameLst>
                                          <p:attrName>style.visibility</p:attrName>
                                        </p:attrNameLst>
                                      </p:cBhvr>
                                      <p:to>
                                        <p:strVal val="visible"/>
                                      </p:to>
                                    </p:set>
                                    <p:animEffect transition="in" filter="barn(inVertical)">
                                      <p:cBhvr>
                                        <p:cTn id="31" dur="500"/>
                                        <p:tgtEl>
                                          <p:spTgt spid="10243"/>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0244"/>
                                        </p:tgtEl>
                                        <p:attrNameLst>
                                          <p:attrName>style.visibility</p:attrName>
                                        </p:attrNameLst>
                                      </p:cBhvr>
                                      <p:to>
                                        <p:strVal val="visible"/>
                                      </p:to>
                                    </p:set>
                                    <p:animEffect transition="in" filter="barn(inVertical)">
                                      <p:cBhvr>
                                        <p:cTn id="36" dur="500"/>
                                        <p:tgtEl>
                                          <p:spTgt spid="10244"/>
                                        </p:tgtEl>
                                      </p:cBhvr>
                                    </p:animEffect>
                                  </p:childTnLst>
                                </p:cTn>
                              </p:par>
                              <p:par>
                                <p:cTn id="37" presetID="16" presetClass="entr" presetSubtype="21" fill="hold" nodeType="withEffect">
                                  <p:stCondLst>
                                    <p:cond delay="0"/>
                                  </p:stCondLst>
                                  <p:childTnLst>
                                    <p:set>
                                      <p:cBhvr>
                                        <p:cTn id="38" dur="1" fill="hold">
                                          <p:stCondLst>
                                            <p:cond delay="0"/>
                                          </p:stCondLst>
                                        </p:cTn>
                                        <p:tgtEl>
                                          <p:spTgt spid="10245"/>
                                        </p:tgtEl>
                                        <p:attrNameLst>
                                          <p:attrName>style.visibility</p:attrName>
                                        </p:attrNameLst>
                                      </p:cBhvr>
                                      <p:to>
                                        <p:strVal val="visible"/>
                                      </p:to>
                                    </p:set>
                                    <p:animEffect transition="in" filter="barn(inVertical)">
                                      <p:cBhvr>
                                        <p:cTn id="39" dur="500"/>
                                        <p:tgtEl>
                                          <p:spTgt spid="10245"/>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10246"/>
                                        </p:tgtEl>
                                        <p:attrNameLst>
                                          <p:attrName>style.visibility</p:attrName>
                                        </p:attrNameLst>
                                      </p:cBhvr>
                                      <p:to>
                                        <p:strVal val="visible"/>
                                      </p:to>
                                    </p:set>
                                    <p:animEffect transition="in" filter="barn(inVertical)">
                                      <p:cBhvr>
                                        <p:cTn id="44" dur="500"/>
                                        <p:tgtEl>
                                          <p:spTgt spid="10246"/>
                                        </p:tgtEl>
                                      </p:cBhvr>
                                    </p:animEffect>
                                  </p:childTnLst>
                                </p:cTn>
                              </p:par>
                              <p:par>
                                <p:cTn id="45" presetID="16" presetClass="entr" presetSubtype="21" fill="hold" nodeType="withEffect">
                                  <p:stCondLst>
                                    <p:cond delay="0"/>
                                  </p:stCondLst>
                                  <p:childTnLst>
                                    <p:set>
                                      <p:cBhvr>
                                        <p:cTn id="46" dur="1" fill="hold">
                                          <p:stCondLst>
                                            <p:cond delay="0"/>
                                          </p:stCondLst>
                                        </p:cTn>
                                        <p:tgtEl>
                                          <p:spTgt spid="10247"/>
                                        </p:tgtEl>
                                        <p:attrNameLst>
                                          <p:attrName>style.visibility</p:attrName>
                                        </p:attrNameLst>
                                      </p:cBhvr>
                                      <p:to>
                                        <p:strVal val="visible"/>
                                      </p:to>
                                    </p:set>
                                    <p:animEffect transition="in" filter="barn(inVertical)">
                                      <p:cBhvr>
                                        <p:cTn id="47" dur="500"/>
                                        <p:tgtEl>
                                          <p:spTgt spid="10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10244" grpId="0"/>
      <p:bldP spid="10246" grpId="0"/>
      <p:bldP spid="10248" grpId="0"/>
      <p:bldP spid="10249" grpId="0"/>
      <p:bldP spid="10250" grpId="0" animBg="1"/>
      <p:bldP spid="1025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758825" y="409575"/>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dirty="0">
                <a:solidFill>
                  <a:schemeClr val="accent5">
                    <a:lumMod val="50000"/>
                  </a:schemeClr>
                </a:solidFill>
              </a:rPr>
              <a:t>电流参考方向的两种表示：</a:t>
            </a:r>
            <a:endParaRPr lang="zh-CN" altLang="en-US" sz="3600" dirty="0">
              <a:solidFill>
                <a:schemeClr val="accent5">
                  <a:lumMod val="50000"/>
                </a:schemeClr>
              </a:solidFill>
            </a:endParaRPr>
          </a:p>
        </p:txBody>
      </p:sp>
      <p:grpSp>
        <p:nvGrpSpPr>
          <p:cNvPr id="11267" name="Group 3"/>
          <p:cNvGrpSpPr>
            <a:grpSpLocks/>
          </p:cNvGrpSpPr>
          <p:nvPr/>
        </p:nvGrpSpPr>
        <p:grpSpPr bwMode="auto">
          <a:xfrm>
            <a:off x="1104900" y="2179638"/>
            <a:ext cx="7540625" cy="1509712"/>
            <a:chOff x="450" y="1509"/>
            <a:chExt cx="4750" cy="951"/>
          </a:xfrm>
        </p:grpSpPr>
        <p:sp>
          <p:nvSpPr>
            <p:cNvPr id="11296" name="Text Box 4"/>
            <p:cNvSpPr txBox="1">
              <a:spLocks noChangeArrowheads="1"/>
            </p:cNvSpPr>
            <p:nvPr/>
          </p:nvSpPr>
          <p:spPr bwMode="auto">
            <a:xfrm>
              <a:off x="450" y="1509"/>
              <a:ext cx="475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5750" indent="-28575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a:solidFill>
                    <a:schemeClr val="tx2"/>
                  </a:solidFill>
                  <a:sym typeface="Symbol" pitchFamily="18" charset="2"/>
                </a:rPr>
                <a:t> </a:t>
              </a:r>
              <a:r>
                <a:rPr lang="zh-CN" altLang="en-US">
                  <a:solidFill>
                    <a:schemeClr val="tx2"/>
                  </a:solidFill>
                  <a:sym typeface="Monotype Sorts" pitchFamily="2" charset="2"/>
                </a:rPr>
                <a:t>用双下标表示</a:t>
              </a:r>
              <a:endParaRPr lang="zh-CN" altLang="en-US">
                <a:solidFill>
                  <a:schemeClr val="tx2"/>
                </a:solidFill>
              </a:endParaRPr>
            </a:p>
            <a:p>
              <a:endParaRPr lang="en-US" altLang="zh-CN">
                <a:solidFill>
                  <a:schemeClr val="tx2"/>
                </a:solidFill>
              </a:endParaRPr>
            </a:p>
          </p:txBody>
        </p:sp>
        <p:grpSp>
          <p:nvGrpSpPr>
            <p:cNvPr id="11297" name="Group 5"/>
            <p:cNvGrpSpPr>
              <a:grpSpLocks/>
            </p:cNvGrpSpPr>
            <p:nvPr/>
          </p:nvGrpSpPr>
          <p:grpSpPr bwMode="auto">
            <a:xfrm>
              <a:off x="1790" y="1728"/>
              <a:ext cx="1837" cy="732"/>
              <a:chOff x="2478" y="2400"/>
              <a:chExt cx="1837" cy="732"/>
            </a:xfrm>
          </p:grpSpPr>
          <p:sp>
            <p:nvSpPr>
              <p:cNvPr id="11298" name="Line 6"/>
              <p:cNvSpPr>
                <a:spLocks noChangeShapeType="1"/>
              </p:cNvSpPr>
              <p:nvPr/>
            </p:nvSpPr>
            <p:spPr bwMode="auto">
              <a:xfrm>
                <a:off x="2740" y="2796"/>
                <a:ext cx="124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9" name="Line 7"/>
              <p:cNvSpPr>
                <a:spLocks noChangeShapeType="1"/>
              </p:cNvSpPr>
              <p:nvPr/>
            </p:nvSpPr>
            <p:spPr bwMode="auto">
              <a:xfrm>
                <a:off x="2932" y="2724"/>
                <a:ext cx="432" cy="0"/>
              </a:xfrm>
              <a:prstGeom prst="line">
                <a:avLst/>
              </a:prstGeom>
              <a:noFill/>
              <a:ln w="19050">
                <a:solidFill>
                  <a:srgbClr val="0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0" name="Text Box 8"/>
              <p:cNvSpPr txBox="1">
                <a:spLocks noChangeArrowheads="1"/>
              </p:cNvSpPr>
              <p:nvPr/>
            </p:nvSpPr>
            <p:spPr bwMode="auto">
              <a:xfrm>
                <a:off x="3021" y="2400"/>
                <a:ext cx="3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err="1">
                    <a:solidFill>
                      <a:schemeClr val="tx2"/>
                    </a:solidFill>
                    <a:sym typeface="Symbol" pitchFamily="18" charset="2"/>
                  </a:rPr>
                  <a:t>i</a:t>
                </a:r>
                <a:r>
                  <a:rPr lang="en-US" altLang="zh-CN" baseline="-25000" dirty="0" err="1">
                    <a:solidFill>
                      <a:srgbClr val="FF0000"/>
                    </a:solidFill>
                    <a:sym typeface="Symbol" pitchFamily="18" charset="2"/>
                  </a:rPr>
                  <a:t>ab</a:t>
                </a:r>
                <a:endParaRPr lang="en-US" altLang="zh-CN" dirty="0">
                  <a:solidFill>
                    <a:schemeClr val="tx2"/>
                  </a:solidFill>
                  <a:sym typeface="Symbol" pitchFamily="18" charset="2"/>
                </a:endParaRPr>
              </a:p>
            </p:txBody>
          </p:sp>
          <p:sp>
            <p:nvSpPr>
              <p:cNvPr id="11301" name="Text Box 9"/>
              <p:cNvSpPr txBox="1">
                <a:spLocks noChangeArrowheads="1"/>
              </p:cNvSpPr>
              <p:nvPr/>
            </p:nvSpPr>
            <p:spPr bwMode="auto">
              <a:xfrm>
                <a:off x="2478" y="2844"/>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FF0000"/>
                    </a:solidFill>
                    <a:sym typeface="Symbol" pitchFamily="18" charset="2"/>
                  </a:rPr>
                  <a:t>a</a:t>
                </a:r>
                <a:endParaRPr lang="en-US" altLang="zh-CN">
                  <a:solidFill>
                    <a:schemeClr val="tx2"/>
                  </a:solidFill>
                  <a:sym typeface="Symbol" pitchFamily="18" charset="2"/>
                </a:endParaRPr>
              </a:p>
            </p:txBody>
          </p:sp>
          <p:sp>
            <p:nvSpPr>
              <p:cNvPr id="11302" name="Text Box 10"/>
              <p:cNvSpPr txBox="1">
                <a:spLocks noChangeArrowheads="1"/>
              </p:cNvSpPr>
              <p:nvPr/>
            </p:nvSpPr>
            <p:spPr bwMode="auto">
              <a:xfrm>
                <a:off x="4092" y="2844"/>
                <a:ext cx="22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FF0000"/>
                    </a:solidFill>
                    <a:sym typeface="Symbol" pitchFamily="18" charset="2"/>
                  </a:rPr>
                  <a:t>b</a:t>
                </a:r>
                <a:endParaRPr lang="en-US" altLang="zh-CN">
                  <a:solidFill>
                    <a:schemeClr val="tx2"/>
                  </a:solidFill>
                  <a:sym typeface="Symbol" pitchFamily="18" charset="2"/>
                </a:endParaRPr>
              </a:p>
            </p:txBody>
          </p:sp>
          <p:sp>
            <p:nvSpPr>
              <p:cNvPr id="11303" name="Oval 11"/>
              <p:cNvSpPr>
                <a:spLocks noChangeArrowheads="1"/>
              </p:cNvSpPr>
              <p:nvPr/>
            </p:nvSpPr>
            <p:spPr bwMode="auto">
              <a:xfrm>
                <a:off x="3994" y="2778"/>
                <a:ext cx="45" cy="45"/>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1304" name="Oval 12"/>
              <p:cNvSpPr>
                <a:spLocks noChangeArrowheads="1"/>
              </p:cNvSpPr>
              <p:nvPr/>
            </p:nvSpPr>
            <p:spPr bwMode="auto">
              <a:xfrm>
                <a:off x="2704" y="2772"/>
                <a:ext cx="45" cy="45"/>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sp>
        <p:nvSpPr>
          <p:cNvPr id="11268" name="Text Box 14"/>
          <p:cNvSpPr txBox="1">
            <a:spLocks noChangeArrowheads="1"/>
          </p:cNvSpPr>
          <p:nvPr/>
        </p:nvSpPr>
        <p:spPr bwMode="auto">
          <a:xfrm>
            <a:off x="1092200" y="1138238"/>
            <a:ext cx="20177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dirty="0">
                <a:solidFill>
                  <a:schemeClr val="tx2"/>
                </a:solidFill>
                <a:sym typeface="Symbol" pitchFamily="18" charset="2"/>
              </a:rPr>
              <a:t> </a:t>
            </a:r>
            <a:r>
              <a:rPr lang="zh-CN" altLang="en-US" dirty="0">
                <a:solidFill>
                  <a:schemeClr val="tx2"/>
                </a:solidFill>
                <a:sym typeface="Monotype Sorts" pitchFamily="2" charset="2"/>
              </a:rPr>
              <a:t>用箭头表示</a:t>
            </a:r>
            <a:endParaRPr lang="zh-CN" altLang="en-US" dirty="0">
              <a:solidFill>
                <a:schemeClr val="tx2"/>
              </a:solidFill>
            </a:endParaRPr>
          </a:p>
          <a:p>
            <a:endParaRPr lang="en-US" altLang="zh-CN" dirty="0">
              <a:solidFill>
                <a:schemeClr val="tx2"/>
              </a:solidFill>
            </a:endParaRPr>
          </a:p>
        </p:txBody>
      </p:sp>
      <p:grpSp>
        <p:nvGrpSpPr>
          <p:cNvPr id="11269" name="Group 15"/>
          <p:cNvGrpSpPr>
            <a:grpSpLocks/>
          </p:cNvGrpSpPr>
          <p:nvPr/>
        </p:nvGrpSpPr>
        <p:grpSpPr bwMode="auto">
          <a:xfrm>
            <a:off x="3527425" y="1371600"/>
            <a:ext cx="2109788" cy="661988"/>
            <a:chOff x="1752" y="1260"/>
            <a:chExt cx="1329" cy="417"/>
          </a:xfrm>
        </p:grpSpPr>
        <p:grpSp>
          <p:nvGrpSpPr>
            <p:cNvPr id="11290" name="Group 16"/>
            <p:cNvGrpSpPr>
              <a:grpSpLocks/>
            </p:cNvGrpSpPr>
            <p:nvPr/>
          </p:nvGrpSpPr>
          <p:grpSpPr bwMode="auto">
            <a:xfrm>
              <a:off x="1788" y="1260"/>
              <a:ext cx="1248" cy="396"/>
              <a:chOff x="2220" y="804"/>
              <a:chExt cx="1248" cy="396"/>
            </a:xfrm>
          </p:grpSpPr>
          <p:sp>
            <p:nvSpPr>
              <p:cNvPr id="11293" name="Line 17"/>
              <p:cNvSpPr>
                <a:spLocks noChangeShapeType="1"/>
              </p:cNvSpPr>
              <p:nvPr/>
            </p:nvSpPr>
            <p:spPr bwMode="auto">
              <a:xfrm>
                <a:off x="2220" y="1200"/>
                <a:ext cx="124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4" name="Line 18"/>
              <p:cNvSpPr>
                <a:spLocks noChangeShapeType="1"/>
              </p:cNvSpPr>
              <p:nvPr/>
            </p:nvSpPr>
            <p:spPr bwMode="auto">
              <a:xfrm>
                <a:off x="2412" y="1128"/>
                <a:ext cx="432" cy="0"/>
              </a:xfrm>
              <a:prstGeom prst="line">
                <a:avLst/>
              </a:prstGeom>
              <a:noFill/>
              <a:ln w="19050">
                <a:solidFill>
                  <a:srgbClr val="0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5" name="Text Box 19"/>
              <p:cNvSpPr txBox="1">
                <a:spLocks noChangeArrowheads="1"/>
              </p:cNvSpPr>
              <p:nvPr/>
            </p:nvSpPr>
            <p:spPr bwMode="auto">
              <a:xfrm>
                <a:off x="2568" y="804"/>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err="1">
                    <a:solidFill>
                      <a:schemeClr val="tx2"/>
                    </a:solidFill>
                    <a:sym typeface="Symbol" pitchFamily="18" charset="2"/>
                  </a:rPr>
                  <a:t>i</a:t>
                </a:r>
                <a:endParaRPr lang="en-US" altLang="zh-CN" dirty="0">
                  <a:solidFill>
                    <a:schemeClr val="tx2"/>
                  </a:solidFill>
                  <a:sym typeface="Symbol" pitchFamily="18" charset="2"/>
                </a:endParaRPr>
              </a:p>
            </p:txBody>
          </p:sp>
        </p:grpSp>
        <p:sp>
          <p:nvSpPr>
            <p:cNvPr id="11291" name="Oval 20"/>
            <p:cNvSpPr>
              <a:spLocks noChangeArrowheads="1"/>
            </p:cNvSpPr>
            <p:nvPr/>
          </p:nvSpPr>
          <p:spPr bwMode="auto">
            <a:xfrm>
              <a:off x="1752" y="1632"/>
              <a:ext cx="45" cy="45"/>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1292" name="Oval 21"/>
            <p:cNvSpPr>
              <a:spLocks noChangeArrowheads="1"/>
            </p:cNvSpPr>
            <p:nvPr/>
          </p:nvSpPr>
          <p:spPr bwMode="auto">
            <a:xfrm>
              <a:off x="3036" y="1632"/>
              <a:ext cx="45" cy="45"/>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11271" name="Text Box 23"/>
          <p:cNvSpPr txBox="1">
            <a:spLocks noChangeArrowheads="1"/>
          </p:cNvSpPr>
          <p:nvPr/>
        </p:nvSpPr>
        <p:spPr bwMode="auto">
          <a:xfrm>
            <a:off x="298450" y="4013200"/>
            <a:ext cx="47117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a:solidFill>
                  <a:srgbClr val="0000CC"/>
                </a:solidFill>
              </a:rPr>
              <a:t>3</a:t>
            </a:r>
            <a:r>
              <a:rPr lang="zh-CN" altLang="en-US" dirty="0">
                <a:solidFill>
                  <a:srgbClr val="0000CC"/>
                </a:solidFill>
              </a:rPr>
              <a:t>、为什么要引入参考方向</a:t>
            </a:r>
            <a:r>
              <a:rPr lang="zh-CN" altLang="en-US" sz="2800" dirty="0">
                <a:solidFill>
                  <a:srgbClr val="0000CC"/>
                </a:solidFill>
              </a:rPr>
              <a:t> ？</a:t>
            </a:r>
          </a:p>
        </p:txBody>
      </p:sp>
      <p:grpSp>
        <p:nvGrpSpPr>
          <p:cNvPr id="11272" name="Group 24"/>
          <p:cNvGrpSpPr>
            <a:grpSpLocks/>
          </p:cNvGrpSpPr>
          <p:nvPr/>
        </p:nvGrpSpPr>
        <p:grpSpPr bwMode="auto">
          <a:xfrm>
            <a:off x="5892802" y="4221163"/>
            <a:ext cx="2066926" cy="1868488"/>
            <a:chOff x="1786" y="3143"/>
            <a:chExt cx="1302" cy="1177"/>
          </a:xfrm>
        </p:grpSpPr>
        <p:sp>
          <p:nvSpPr>
            <p:cNvPr id="11274" name="Text Box 25"/>
            <p:cNvSpPr txBox="1">
              <a:spLocks noChangeArrowheads="1"/>
            </p:cNvSpPr>
            <p:nvPr/>
          </p:nvSpPr>
          <p:spPr bwMode="auto">
            <a:xfrm>
              <a:off x="2211" y="3285"/>
              <a:ext cx="406"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3600" dirty="0">
                  <a:solidFill>
                    <a:srgbClr val="FF0000"/>
                  </a:solidFill>
                  <a:sym typeface="Symbol" pitchFamily="18" charset="2"/>
                </a:rPr>
                <a:t>？</a:t>
              </a:r>
              <a:endParaRPr lang="zh-CN" altLang="en-US" sz="2800" dirty="0">
                <a:solidFill>
                  <a:srgbClr val="000000"/>
                </a:solidFill>
                <a:sym typeface="Symbol" pitchFamily="18" charset="2"/>
              </a:endParaRPr>
            </a:p>
          </p:txBody>
        </p:sp>
        <p:grpSp>
          <p:nvGrpSpPr>
            <p:cNvPr id="11275" name="Group 26"/>
            <p:cNvGrpSpPr>
              <a:grpSpLocks/>
            </p:cNvGrpSpPr>
            <p:nvPr/>
          </p:nvGrpSpPr>
          <p:grpSpPr bwMode="auto">
            <a:xfrm>
              <a:off x="1786" y="3143"/>
              <a:ext cx="1302" cy="1177"/>
              <a:chOff x="1930" y="875"/>
              <a:chExt cx="1302" cy="1177"/>
            </a:xfrm>
          </p:grpSpPr>
          <p:sp>
            <p:nvSpPr>
              <p:cNvPr id="11276" name="Line 27"/>
              <p:cNvSpPr>
                <a:spLocks noChangeShapeType="1"/>
              </p:cNvSpPr>
              <p:nvPr/>
            </p:nvSpPr>
            <p:spPr bwMode="auto">
              <a:xfrm flipV="1">
                <a:off x="1967" y="875"/>
                <a:ext cx="637" cy="34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7" name="Line 28"/>
              <p:cNvSpPr>
                <a:spLocks noChangeShapeType="1"/>
              </p:cNvSpPr>
              <p:nvPr/>
            </p:nvSpPr>
            <p:spPr bwMode="auto">
              <a:xfrm flipV="1">
                <a:off x="2595" y="1272"/>
                <a:ext cx="637" cy="34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8" name="Line 29"/>
              <p:cNvSpPr>
                <a:spLocks noChangeShapeType="1"/>
              </p:cNvSpPr>
              <p:nvPr/>
            </p:nvSpPr>
            <p:spPr bwMode="auto">
              <a:xfrm rot="5400000">
                <a:off x="2229" y="1244"/>
                <a:ext cx="737"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9" name="Line 30"/>
              <p:cNvSpPr>
                <a:spLocks noChangeShapeType="1"/>
              </p:cNvSpPr>
              <p:nvPr/>
            </p:nvSpPr>
            <p:spPr bwMode="auto">
              <a:xfrm>
                <a:off x="1967" y="1214"/>
                <a:ext cx="637" cy="39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0" name="Line 31"/>
              <p:cNvSpPr>
                <a:spLocks noChangeShapeType="1"/>
              </p:cNvSpPr>
              <p:nvPr/>
            </p:nvSpPr>
            <p:spPr bwMode="auto">
              <a:xfrm>
                <a:off x="2595" y="877"/>
                <a:ext cx="637" cy="39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1" name="Arc 32"/>
              <p:cNvSpPr>
                <a:spLocks/>
              </p:cNvSpPr>
              <p:nvPr/>
            </p:nvSpPr>
            <p:spPr bwMode="auto">
              <a:xfrm flipV="1">
                <a:off x="1967" y="1219"/>
                <a:ext cx="646" cy="687"/>
              </a:xfrm>
              <a:custGeom>
                <a:avLst/>
                <a:gdLst>
                  <a:gd name="T0" fmla="*/ 2 w 21600"/>
                  <a:gd name="T1" fmla="*/ 656 h 23199"/>
                  <a:gd name="T2" fmla="*/ 569 w 21600"/>
                  <a:gd name="T3" fmla="*/ 0 h 23199"/>
                  <a:gd name="T4" fmla="*/ 628 w 21600"/>
                  <a:gd name="T5" fmla="*/ 608 h 23199"/>
                  <a:gd name="T6" fmla="*/ 0 60000 65536"/>
                  <a:gd name="T7" fmla="*/ 0 60000 65536"/>
                  <a:gd name="T8" fmla="*/ 0 60000 65536"/>
                </a:gdLst>
                <a:ahLst/>
                <a:cxnLst>
                  <a:cxn ang="T6">
                    <a:pos x="T0" y="T1"/>
                  </a:cxn>
                  <a:cxn ang="T7">
                    <a:pos x="T2" y="T3"/>
                  </a:cxn>
                  <a:cxn ang="T8">
                    <a:pos x="T4" y="T5"/>
                  </a:cxn>
                </a:cxnLst>
                <a:rect l="0" t="0" r="r" b="b"/>
                <a:pathLst>
                  <a:path w="21600" h="23199" fill="none" extrusionOk="0">
                    <a:moveTo>
                      <a:pt x="66" y="23199"/>
                    </a:moveTo>
                    <a:cubicBezTo>
                      <a:pt x="22" y="22634"/>
                      <a:pt x="0" y="22068"/>
                      <a:pt x="0" y="21503"/>
                    </a:cubicBezTo>
                    <a:cubicBezTo>
                      <a:pt x="-1" y="10366"/>
                      <a:pt x="8467" y="1055"/>
                      <a:pt x="19554" y="0"/>
                    </a:cubicBezTo>
                  </a:path>
                  <a:path w="21600" h="23199" stroke="0" extrusionOk="0">
                    <a:moveTo>
                      <a:pt x="66" y="23199"/>
                    </a:moveTo>
                    <a:cubicBezTo>
                      <a:pt x="22" y="22634"/>
                      <a:pt x="0" y="22068"/>
                      <a:pt x="0" y="21503"/>
                    </a:cubicBezTo>
                    <a:cubicBezTo>
                      <a:pt x="-1" y="10366"/>
                      <a:pt x="8467" y="1055"/>
                      <a:pt x="19554" y="0"/>
                    </a:cubicBezTo>
                    <a:lnTo>
                      <a:pt x="21600" y="21503"/>
                    </a:lnTo>
                    <a:lnTo>
                      <a:pt x="66" y="23199"/>
                    </a:lnTo>
                    <a:close/>
                  </a:path>
                </a:pathLst>
              </a:cu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2" name="Arc 33"/>
              <p:cNvSpPr>
                <a:spLocks/>
              </p:cNvSpPr>
              <p:nvPr/>
            </p:nvSpPr>
            <p:spPr bwMode="auto">
              <a:xfrm rot="2180007">
                <a:off x="2300" y="1018"/>
                <a:ext cx="895" cy="858"/>
              </a:xfrm>
              <a:custGeom>
                <a:avLst/>
                <a:gdLst>
                  <a:gd name="T0" fmla="*/ 723 w 21600"/>
                  <a:gd name="T1" fmla="*/ 0 h 27781"/>
                  <a:gd name="T2" fmla="*/ 642 w 21600"/>
                  <a:gd name="T3" fmla="*/ 837 h 27781"/>
                  <a:gd name="T4" fmla="*/ 0 w 21600"/>
                  <a:gd name="T5" fmla="*/ 383 h 27781"/>
                  <a:gd name="T6" fmla="*/ 0 60000 65536"/>
                  <a:gd name="T7" fmla="*/ 0 60000 65536"/>
                  <a:gd name="T8" fmla="*/ 0 60000 65536"/>
                </a:gdLst>
                <a:ahLst/>
                <a:cxnLst>
                  <a:cxn ang="T6">
                    <a:pos x="T0" y="T1"/>
                  </a:cxn>
                  <a:cxn ang="T7">
                    <a:pos x="T2" y="T3"/>
                  </a:cxn>
                  <a:cxn ang="T8">
                    <a:pos x="T4" y="T5"/>
                  </a:cxn>
                </a:cxnLst>
                <a:rect l="0" t="0" r="r" b="b"/>
                <a:pathLst>
                  <a:path w="21600" h="27781" fill="none" extrusionOk="0">
                    <a:moveTo>
                      <a:pt x="17454" y="0"/>
                    </a:moveTo>
                    <a:cubicBezTo>
                      <a:pt x="20148" y="3695"/>
                      <a:pt x="21600" y="8150"/>
                      <a:pt x="21600" y="12724"/>
                    </a:cubicBezTo>
                    <a:cubicBezTo>
                      <a:pt x="21600" y="18347"/>
                      <a:pt x="19406" y="23749"/>
                      <a:pt x="15486" y="27780"/>
                    </a:cubicBezTo>
                  </a:path>
                  <a:path w="21600" h="27781" stroke="0" extrusionOk="0">
                    <a:moveTo>
                      <a:pt x="17454" y="0"/>
                    </a:moveTo>
                    <a:cubicBezTo>
                      <a:pt x="20148" y="3695"/>
                      <a:pt x="21600" y="8150"/>
                      <a:pt x="21600" y="12724"/>
                    </a:cubicBezTo>
                    <a:cubicBezTo>
                      <a:pt x="21600" y="18347"/>
                      <a:pt x="19406" y="23749"/>
                      <a:pt x="15486" y="27780"/>
                    </a:cubicBezTo>
                    <a:lnTo>
                      <a:pt x="0" y="12724"/>
                    </a:lnTo>
                    <a:lnTo>
                      <a:pt x="17454" y="0"/>
                    </a:lnTo>
                    <a:close/>
                  </a:path>
                </a:pathLst>
              </a:cu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3" name="Line 34"/>
              <p:cNvSpPr>
                <a:spLocks noChangeShapeType="1"/>
              </p:cNvSpPr>
              <p:nvPr/>
            </p:nvSpPr>
            <p:spPr bwMode="auto">
              <a:xfrm>
                <a:off x="2564" y="1775"/>
                <a:ext cx="0" cy="27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4" name="Line 35"/>
              <p:cNvSpPr>
                <a:spLocks noChangeShapeType="1"/>
              </p:cNvSpPr>
              <p:nvPr/>
            </p:nvSpPr>
            <p:spPr bwMode="auto">
              <a:xfrm flipH="1" flipV="1">
                <a:off x="1930" y="1547"/>
                <a:ext cx="185" cy="276"/>
              </a:xfrm>
              <a:prstGeom prst="line">
                <a:avLst/>
              </a:prstGeom>
              <a:noFill/>
              <a:ln w="38100">
                <a:solidFill>
                  <a:srgbClr val="80008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5" name="Line 36"/>
              <p:cNvSpPr>
                <a:spLocks noChangeShapeType="1"/>
              </p:cNvSpPr>
              <p:nvPr/>
            </p:nvSpPr>
            <p:spPr bwMode="auto">
              <a:xfrm rot="-335138">
                <a:off x="2116" y="1373"/>
                <a:ext cx="249" cy="192"/>
              </a:xfrm>
              <a:prstGeom prst="line">
                <a:avLst/>
              </a:prstGeom>
              <a:noFill/>
              <a:ln w="38100">
                <a:solidFill>
                  <a:srgbClr val="80008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6" name="Line 37"/>
              <p:cNvSpPr>
                <a:spLocks noChangeShapeType="1"/>
              </p:cNvSpPr>
              <p:nvPr/>
            </p:nvSpPr>
            <p:spPr bwMode="auto">
              <a:xfrm>
                <a:off x="2860" y="931"/>
                <a:ext cx="249" cy="192"/>
              </a:xfrm>
              <a:prstGeom prst="line">
                <a:avLst/>
              </a:prstGeom>
              <a:noFill/>
              <a:ln w="38100">
                <a:solidFill>
                  <a:srgbClr val="80008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7" name="Line 38"/>
              <p:cNvSpPr>
                <a:spLocks noChangeShapeType="1"/>
              </p:cNvSpPr>
              <p:nvPr/>
            </p:nvSpPr>
            <p:spPr bwMode="auto">
              <a:xfrm flipV="1">
                <a:off x="2100" y="891"/>
                <a:ext cx="257" cy="181"/>
              </a:xfrm>
              <a:prstGeom prst="line">
                <a:avLst/>
              </a:prstGeom>
              <a:noFill/>
              <a:ln w="38100">
                <a:solidFill>
                  <a:srgbClr val="80008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8" name="Line 39"/>
              <p:cNvSpPr>
                <a:spLocks noChangeShapeType="1"/>
              </p:cNvSpPr>
              <p:nvPr/>
            </p:nvSpPr>
            <p:spPr bwMode="auto">
              <a:xfrm rot="643354" flipV="1">
                <a:off x="2757" y="1289"/>
                <a:ext cx="257" cy="181"/>
              </a:xfrm>
              <a:prstGeom prst="line">
                <a:avLst/>
              </a:prstGeom>
              <a:noFill/>
              <a:ln w="38100">
                <a:solidFill>
                  <a:srgbClr val="80008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9" name="Line 40"/>
              <p:cNvSpPr>
                <a:spLocks noChangeShapeType="1"/>
              </p:cNvSpPr>
              <p:nvPr/>
            </p:nvSpPr>
            <p:spPr bwMode="auto">
              <a:xfrm flipH="1">
                <a:off x="2648" y="1836"/>
                <a:ext cx="0" cy="144"/>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1273" name="Text Box 41"/>
          <p:cNvSpPr txBox="1">
            <a:spLocks noChangeArrowheads="1"/>
          </p:cNvSpPr>
          <p:nvPr/>
        </p:nvSpPr>
        <p:spPr bwMode="auto">
          <a:xfrm>
            <a:off x="996950" y="4829175"/>
            <a:ext cx="4545013"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457200" indent="-457200" eaLnBrk="0" hangingPunct="0">
              <a:defRPr kumimoji="1" sz="2400" b="1">
                <a:solidFill>
                  <a:schemeClr val="tx1"/>
                </a:solidFill>
                <a:latin typeface="Times New Roman" pitchFamily="18" charset="0"/>
                <a:ea typeface="宋体" charset="-122"/>
              </a:defRPr>
            </a:lvl1pPr>
            <a:lvl2pPr marL="914400" indent="-457200" eaLnBrk="0" hangingPunct="0">
              <a:defRPr kumimoji="1" sz="2400" b="1">
                <a:solidFill>
                  <a:schemeClr val="tx1"/>
                </a:solidFill>
                <a:latin typeface="Times New Roman" pitchFamily="18" charset="0"/>
                <a:ea typeface="宋体" charset="-122"/>
              </a:defRPr>
            </a:lvl2pPr>
            <a:lvl3pPr marL="1371600" indent="-457200" eaLnBrk="0" hangingPunct="0">
              <a:defRPr kumimoji="1" sz="2400" b="1">
                <a:solidFill>
                  <a:schemeClr val="tx1"/>
                </a:solidFill>
                <a:latin typeface="Times New Roman" pitchFamily="18" charset="0"/>
                <a:ea typeface="宋体" charset="-122"/>
              </a:defRPr>
            </a:lvl3pPr>
            <a:lvl4pPr marL="1828800" indent="-457200" eaLnBrk="0" hangingPunct="0">
              <a:defRPr kumimoji="1" sz="2400" b="1">
                <a:solidFill>
                  <a:schemeClr val="tx1"/>
                </a:solidFill>
                <a:latin typeface="Times New Roman" pitchFamily="18" charset="0"/>
                <a:ea typeface="宋体" charset="-122"/>
              </a:defRPr>
            </a:lvl4pPr>
            <a:lvl5pPr marL="2286000" indent="-457200" eaLnBrk="0" hangingPunct="0">
              <a:defRPr kumimoji="1" sz="2400" b="1">
                <a:solidFill>
                  <a:schemeClr val="tx1"/>
                </a:solidFill>
                <a:latin typeface="Times New Roman" pitchFamily="18" charset="0"/>
                <a:ea typeface="宋体" charset="-122"/>
              </a:defRPr>
            </a:lvl5pPr>
            <a:lvl6pPr marL="2743200" indent="-4572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200400" indent="-4572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657600" indent="-4572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114800" indent="-4572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80000"/>
              </a:lnSpc>
              <a:spcBef>
                <a:spcPct val="50000"/>
              </a:spcBef>
              <a:buFontTx/>
              <a:buAutoNum type="alphaLcParenBoth"/>
            </a:pPr>
            <a:r>
              <a:rPr lang="zh-CN" altLang="en-US" dirty="0">
                <a:solidFill>
                  <a:schemeClr val="tx2"/>
                </a:solidFill>
                <a:sym typeface="Symbol" pitchFamily="18" charset="2"/>
              </a:rPr>
              <a:t>复杂电路的某些支路</a:t>
            </a:r>
          </a:p>
          <a:p>
            <a:pPr>
              <a:lnSpc>
                <a:spcPct val="80000"/>
              </a:lnSpc>
              <a:spcBef>
                <a:spcPct val="50000"/>
              </a:spcBef>
            </a:pPr>
            <a:r>
              <a:rPr lang="zh-CN" altLang="en-US" dirty="0">
                <a:solidFill>
                  <a:schemeClr val="tx2"/>
                </a:solidFill>
                <a:sym typeface="Symbol" pitchFamily="18" charset="2"/>
              </a:rPr>
              <a:t>      事先无法确定实际方向。       </a:t>
            </a:r>
          </a:p>
        </p:txBody>
      </p:sp>
    </p:spTree>
    <p:extLst>
      <p:ext uri="{BB962C8B-B14F-4D97-AF65-F5344CB8AC3E}">
        <p14:creationId xmlns:p14="http://schemas.microsoft.com/office/powerpoint/2010/main" val="7732351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barn(inVertical)">
                                      <p:cBhvr>
                                        <p:cTn id="7" dur="500"/>
                                        <p:tgtEl>
                                          <p:spTgt spid="11268"/>
                                        </p:tgtEl>
                                      </p:cBhvr>
                                    </p:animEffect>
                                  </p:childTnLst>
                                </p:cTn>
                              </p:par>
                              <p:par>
                                <p:cTn id="8" presetID="16" presetClass="entr" presetSubtype="21" fill="hold" nodeType="withEffect">
                                  <p:stCondLst>
                                    <p:cond delay="0"/>
                                  </p:stCondLst>
                                  <p:childTnLst>
                                    <p:set>
                                      <p:cBhvr>
                                        <p:cTn id="9" dur="1" fill="hold">
                                          <p:stCondLst>
                                            <p:cond delay="0"/>
                                          </p:stCondLst>
                                        </p:cTn>
                                        <p:tgtEl>
                                          <p:spTgt spid="11269"/>
                                        </p:tgtEl>
                                        <p:attrNameLst>
                                          <p:attrName>style.visibility</p:attrName>
                                        </p:attrNameLst>
                                      </p:cBhvr>
                                      <p:to>
                                        <p:strVal val="visible"/>
                                      </p:to>
                                    </p:set>
                                    <p:animEffect transition="in" filter="barn(inVertical)">
                                      <p:cBhvr>
                                        <p:cTn id="10" dur="500"/>
                                        <p:tgtEl>
                                          <p:spTgt spid="11269"/>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1267"/>
                                        </p:tgtEl>
                                        <p:attrNameLst>
                                          <p:attrName>style.visibility</p:attrName>
                                        </p:attrNameLst>
                                      </p:cBhvr>
                                      <p:to>
                                        <p:strVal val="visible"/>
                                      </p:to>
                                    </p:set>
                                    <p:animEffect transition="in" filter="barn(inVertical)">
                                      <p:cBhvr>
                                        <p:cTn id="15" dur="500"/>
                                        <p:tgtEl>
                                          <p:spTgt spid="11267"/>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1271"/>
                                        </p:tgtEl>
                                        <p:attrNameLst>
                                          <p:attrName>style.visibility</p:attrName>
                                        </p:attrNameLst>
                                      </p:cBhvr>
                                      <p:to>
                                        <p:strVal val="visible"/>
                                      </p:to>
                                    </p:set>
                                    <p:animEffect transition="in" filter="barn(inVertical)">
                                      <p:cBhvr>
                                        <p:cTn id="20" dur="500"/>
                                        <p:tgtEl>
                                          <p:spTgt spid="11271"/>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1273"/>
                                        </p:tgtEl>
                                        <p:attrNameLst>
                                          <p:attrName>style.visibility</p:attrName>
                                        </p:attrNameLst>
                                      </p:cBhvr>
                                      <p:to>
                                        <p:strVal val="visible"/>
                                      </p:to>
                                    </p:set>
                                    <p:animEffect transition="in" filter="barn(inVertical)">
                                      <p:cBhvr>
                                        <p:cTn id="25" dur="500"/>
                                        <p:tgtEl>
                                          <p:spTgt spid="11273"/>
                                        </p:tgtEl>
                                      </p:cBhvr>
                                    </p:animEffect>
                                  </p:childTnLst>
                                </p:cTn>
                              </p:par>
                              <p:par>
                                <p:cTn id="26" presetID="16" presetClass="entr" presetSubtype="21" fill="hold" nodeType="withEffect">
                                  <p:stCondLst>
                                    <p:cond delay="0"/>
                                  </p:stCondLst>
                                  <p:childTnLst>
                                    <p:set>
                                      <p:cBhvr>
                                        <p:cTn id="27" dur="1" fill="hold">
                                          <p:stCondLst>
                                            <p:cond delay="0"/>
                                          </p:stCondLst>
                                        </p:cTn>
                                        <p:tgtEl>
                                          <p:spTgt spid="11272"/>
                                        </p:tgtEl>
                                        <p:attrNameLst>
                                          <p:attrName>style.visibility</p:attrName>
                                        </p:attrNameLst>
                                      </p:cBhvr>
                                      <p:to>
                                        <p:strVal val="visible"/>
                                      </p:to>
                                    </p:set>
                                    <p:animEffect transition="in" filter="barn(inVertical)">
                                      <p:cBhvr>
                                        <p:cTn id="28" dur="500"/>
                                        <p:tgtEl>
                                          <p:spTgt spid="11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P spid="11271" grpId="0"/>
      <p:bldP spid="1127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4"/>
          <p:cNvSpPr txBox="1">
            <a:spLocks noChangeArrowheads="1"/>
          </p:cNvSpPr>
          <p:nvPr/>
        </p:nvSpPr>
        <p:spPr bwMode="auto">
          <a:xfrm>
            <a:off x="1057275" y="3924300"/>
            <a:ext cx="4921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a:solidFill>
                  <a:srgbClr val="000000"/>
                </a:solidFill>
                <a:sym typeface="Symbol" pitchFamily="18" charset="2"/>
              </a:rPr>
              <a:t>当</a:t>
            </a:r>
          </a:p>
        </p:txBody>
      </p:sp>
      <p:graphicFrame>
        <p:nvGraphicFramePr>
          <p:cNvPr id="12291" name="Object 5"/>
          <p:cNvGraphicFramePr>
            <a:graphicFrameLocks noChangeAspect="1"/>
          </p:cNvGraphicFramePr>
          <p:nvPr/>
        </p:nvGraphicFramePr>
        <p:xfrm>
          <a:off x="1733550" y="3736975"/>
          <a:ext cx="2212975" cy="893763"/>
        </p:xfrm>
        <a:graphic>
          <a:graphicData uri="http://schemas.openxmlformats.org/presentationml/2006/ole">
            <mc:AlternateContent xmlns:mc="http://schemas.openxmlformats.org/markup-compatibility/2006">
              <mc:Choice xmlns:v="urn:schemas-microsoft-com:vml" Requires="v">
                <p:oleObj spid="_x0000_s111639" name="Equation" r:id="rId3" imgW="866753" imgH="343016" progId="Equation.DSMT4">
                  <p:embed/>
                </p:oleObj>
              </mc:Choice>
              <mc:Fallback>
                <p:oleObj name="Equation" r:id="rId3" imgW="866753" imgH="34301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3550" y="3736975"/>
                        <a:ext cx="2212975" cy="893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2" name="Text Box 6"/>
          <p:cNvSpPr txBox="1">
            <a:spLocks noChangeArrowheads="1"/>
          </p:cNvSpPr>
          <p:nvPr/>
        </p:nvSpPr>
        <p:spPr bwMode="auto">
          <a:xfrm>
            <a:off x="4203700" y="3898900"/>
            <a:ext cx="43005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a:solidFill>
                  <a:srgbClr val="000000"/>
                </a:solidFill>
                <a:sym typeface="Symbol" pitchFamily="18" charset="2"/>
              </a:rPr>
              <a:t>电流实际方向与参考方向相同</a:t>
            </a:r>
          </a:p>
        </p:txBody>
      </p:sp>
      <p:sp>
        <p:nvSpPr>
          <p:cNvPr id="12293" name="Text Box 8"/>
          <p:cNvSpPr txBox="1">
            <a:spLocks noChangeArrowheads="1"/>
          </p:cNvSpPr>
          <p:nvPr/>
        </p:nvSpPr>
        <p:spPr bwMode="auto">
          <a:xfrm>
            <a:off x="1052513" y="5022850"/>
            <a:ext cx="4921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a:solidFill>
                  <a:srgbClr val="000000"/>
                </a:solidFill>
                <a:sym typeface="Symbol" pitchFamily="18" charset="2"/>
              </a:rPr>
              <a:t>当</a:t>
            </a:r>
            <a:endParaRPr lang="zh-CN" altLang="en-US" sz="2800">
              <a:solidFill>
                <a:srgbClr val="000000"/>
              </a:solidFill>
              <a:sym typeface="Symbol" pitchFamily="18" charset="2"/>
            </a:endParaRPr>
          </a:p>
        </p:txBody>
      </p:sp>
      <p:graphicFrame>
        <p:nvGraphicFramePr>
          <p:cNvPr id="12294" name="Object 9"/>
          <p:cNvGraphicFramePr>
            <a:graphicFrameLocks noChangeAspect="1"/>
          </p:cNvGraphicFramePr>
          <p:nvPr/>
        </p:nvGraphicFramePr>
        <p:xfrm>
          <a:off x="1619250" y="4824413"/>
          <a:ext cx="2241550" cy="904875"/>
        </p:xfrm>
        <a:graphic>
          <a:graphicData uri="http://schemas.openxmlformats.org/presentationml/2006/ole">
            <mc:AlternateContent xmlns:mc="http://schemas.openxmlformats.org/markup-compatibility/2006">
              <mc:Choice xmlns:v="urn:schemas-microsoft-com:vml" Requires="v">
                <p:oleObj spid="_x0000_s111640" name="Equation" r:id="rId5" imgW="866753" imgH="343016" progId="Equation.DSMT4">
                  <p:embed/>
                </p:oleObj>
              </mc:Choice>
              <mc:Fallback>
                <p:oleObj name="Equation" r:id="rId5" imgW="866753" imgH="34301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4824413"/>
                        <a:ext cx="2241550" cy="90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5" name="Text Box 10"/>
          <p:cNvSpPr txBox="1">
            <a:spLocks noChangeArrowheads="1"/>
          </p:cNvSpPr>
          <p:nvPr/>
        </p:nvSpPr>
        <p:spPr bwMode="auto">
          <a:xfrm>
            <a:off x="4189413" y="4997450"/>
            <a:ext cx="43195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a:solidFill>
                  <a:srgbClr val="000000"/>
                </a:solidFill>
                <a:sym typeface="Symbol" pitchFamily="18" charset="2"/>
              </a:rPr>
              <a:t>电流实际方向与参考方向相反</a:t>
            </a:r>
            <a:endParaRPr lang="zh-CN" altLang="en-US" sz="2800">
              <a:solidFill>
                <a:srgbClr val="000000"/>
              </a:solidFill>
              <a:sym typeface="Symbol" pitchFamily="18" charset="2"/>
            </a:endParaRPr>
          </a:p>
        </p:txBody>
      </p:sp>
      <p:grpSp>
        <p:nvGrpSpPr>
          <p:cNvPr id="12297" name="Group 12"/>
          <p:cNvGrpSpPr>
            <a:grpSpLocks/>
          </p:cNvGrpSpPr>
          <p:nvPr/>
        </p:nvGrpSpPr>
        <p:grpSpPr bwMode="auto">
          <a:xfrm>
            <a:off x="1343025" y="1574800"/>
            <a:ext cx="2246313" cy="1441450"/>
            <a:chOff x="534" y="520"/>
            <a:chExt cx="1415" cy="908"/>
          </a:xfrm>
        </p:grpSpPr>
        <p:sp>
          <p:nvSpPr>
            <p:cNvPr id="12310" name="Line 13"/>
            <p:cNvSpPr>
              <a:spLocks noChangeShapeType="1"/>
            </p:cNvSpPr>
            <p:nvPr/>
          </p:nvSpPr>
          <p:spPr bwMode="auto">
            <a:xfrm rot="16200000" flipV="1">
              <a:off x="1242" y="267"/>
              <a:ext cx="0" cy="1327"/>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1" name="Rectangle 14"/>
            <p:cNvSpPr>
              <a:spLocks noChangeArrowheads="1"/>
            </p:cNvSpPr>
            <p:nvPr/>
          </p:nvSpPr>
          <p:spPr bwMode="auto">
            <a:xfrm rot="-5400000">
              <a:off x="1206" y="808"/>
              <a:ext cx="120" cy="268"/>
            </a:xfrm>
            <a:prstGeom prst="rect">
              <a:avLst/>
            </a:prstGeom>
            <a:solidFill>
              <a:srgbClr val="00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2312" name="Line 15"/>
            <p:cNvSpPr>
              <a:spLocks noChangeShapeType="1"/>
            </p:cNvSpPr>
            <p:nvPr/>
          </p:nvSpPr>
          <p:spPr bwMode="auto">
            <a:xfrm>
              <a:off x="1094" y="704"/>
              <a:ext cx="266"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3" name="Text Box 16"/>
            <p:cNvSpPr txBox="1">
              <a:spLocks noChangeArrowheads="1"/>
            </p:cNvSpPr>
            <p:nvPr/>
          </p:nvSpPr>
          <p:spPr bwMode="auto">
            <a:xfrm>
              <a:off x="931" y="520"/>
              <a:ext cx="17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000000"/>
                  </a:solidFill>
                  <a:sym typeface="Symbol" pitchFamily="18" charset="2"/>
                </a:rPr>
                <a:t>i</a:t>
              </a:r>
              <a:endParaRPr lang="en-US" altLang="zh-CN" sz="2800" b="0" i="1">
                <a:solidFill>
                  <a:srgbClr val="000000"/>
                </a:solidFill>
                <a:sym typeface="Symbol" pitchFamily="18" charset="2"/>
              </a:endParaRPr>
            </a:p>
          </p:txBody>
        </p:sp>
        <p:graphicFrame>
          <p:nvGraphicFramePr>
            <p:cNvPr id="12314" name="Object 17"/>
            <p:cNvGraphicFramePr>
              <a:graphicFrameLocks noChangeAspect="1"/>
            </p:cNvGraphicFramePr>
            <p:nvPr/>
          </p:nvGraphicFramePr>
          <p:xfrm>
            <a:off x="780" y="1149"/>
            <a:ext cx="1056" cy="279"/>
          </p:xfrm>
          <a:graphic>
            <a:graphicData uri="http://schemas.openxmlformats.org/presentationml/2006/ole">
              <mc:AlternateContent xmlns:mc="http://schemas.openxmlformats.org/markup-compatibility/2006">
                <mc:Choice xmlns:v="urn:schemas-microsoft-com:vml" Requires="v">
                  <p:oleObj spid="_x0000_s111641" name="公式" r:id="rId7" imgW="812447" imgH="215806" progId="Equation.3">
                    <p:embed/>
                  </p:oleObj>
                </mc:Choice>
                <mc:Fallback>
                  <p:oleObj name="公式" r:id="rId7" imgW="812447" imgH="21580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0" y="1149"/>
                          <a:ext cx="1056"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15" name="Oval 18"/>
            <p:cNvSpPr>
              <a:spLocks noChangeArrowheads="1"/>
            </p:cNvSpPr>
            <p:nvPr/>
          </p:nvSpPr>
          <p:spPr bwMode="auto">
            <a:xfrm>
              <a:off x="1902" y="912"/>
              <a:ext cx="47" cy="4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2316" name="Oval 19"/>
            <p:cNvSpPr>
              <a:spLocks noChangeArrowheads="1"/>
            </p:cNvSpPr>
            <p:nvPr/>
          </p:nvSpPr>
          <p:spPr bwMode="auto">
            <a:xfrm>
              <a:off x="534" y="900"/>
              <a:ext cx="47" cy="4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12298" name="Group 20"/>
          <p:cNvGrpSpPr>
            <a:grpSpLocks/>
          </p:cNvGrpSpPr>
          <p:nvPr/>
        </p:nvGrpSpPr>
        <p:grpSpPr bwMode="auto">
          <a:xfrm>
            <a:off x="4338638" y="819150"/>
            <a:ext cx="4273550" cy="2382838"/>
            <a:chOff x="2701" y="284"/>
            <a:chExt cx="2692" cy="1501"/>
          </a:xfrm>
        </p:grpSpPr>
        <p:sp>
          <p:nvSpPr>
            <p:cNvPr id="12300" name="Line 21"/>
            <p:cNvSpPr>
              <a:spLocks noChangeShapeType="1"/>
            </p:cNvSpPr>
            <p:nvPr/>
          </p:nvSpPr>
          <p:spPr bwMode="auto">
            <a:xfrm flipV="1">
              <a:off x="2721" y="1166"/>
              <a:ext cx="2672" cy="9"/>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1" name="Line 22"/>
            <p:cNvSpPr>
              <a:spLocks noChangeShapeType="1"/>
            </p:cNvSpPr>
            <p:nvPr/>
          </p:nvSpPr>
          <p:spPr bwMode="auto">
            <a:xfrm flipV="1">
              <a:off x="2937" y="349"/>
              <a:ext cx="0" cy="1436"/>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2" name="Text Box 23"/>
            <p:cNvSpPr txBox="1">
              <a:spLocks noChangeArrowheads="1"/>
            </p:cNvSpPr>
            <p:nvPr/>
          </p:nvSpPr>
          <p:spPr bwMode="auto">
            <a:xfrm>
              <a:off x="2701" y="284"/>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rgbClr val="000000"/>
                  </a:solidFill>
                  <a:sym typeface="Symbol" pitchFamily="18" charset="2"/>
                </a:rPr>
                <a:t>i</a:t>
              </a:r>
              <a:endParaRPr lang="en-US" altLang="zh-CN" sz="2800">
                <a:solidFill>
                  <a:srgbClr val="000000"/>
                </a:solidFill>
                <a:sym typeface="Symbol" pitchFamily="18" charset="2"/>
              </a:endParaRPr>
            </a:p>
          </p:txBody>
        </p:sp>
        <p:sp>
          <p:nvSpPr>
            <p:cNvPr id="12303" name="Text Box 24"/>
            <p:cNvSpPr txBox="1">
              <a:spLocks noChangeArrowheads="1"/>
            </p:cNvSpPr>
            <p:nvPr/>
          </p:nvSpPr>
          <p:spPr bwMode="auto">
            <a:xfrm>
              <a:off x="2743" y="1167"/>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000000"/>
                  </a:solidFill>
                  <a:sym typeface="Symbol" pitchFamily="18" charset="2"/>
                </a:rPr>
                <a:t>0</a:t>
              </a:r>
              <a:endParaRPr lang="en-US" altLang="zh-CN" sz="2800">
                <a:solidFill>
                  <a:srgbClr val="000000"/>
                </a:solidFill>
                <a:sym typeface="Symbol" pitchFamily="18" charset="2"/>
              </a:endParaRPr>
            </a:p>
          </p:txBody>
        </p:sp>
        <p:sp>
          <p:nvSpPr>
            <p:cNvPr id="12304" name="Text Box 25"/>
            <p:cNvSpPr txBox="1">
              <a:spLocks noChangeArrowheads="1"/>
            </p:cNvSpPr>
            <p:nvPr/>
          </p:nvSpPr>
          <p:spPr bwMode="auto">
            <a:xfrm>
              <a:off x="5193" y="778"/>
              <a:ext cx="1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i="1">
                  <a:solidFill>
                    <a:srgbClr val="000000"/>
                  </a:solidFill>
                  <a:sym typeface="Symbol" pitchFamily="18" charset="2"/>
                </a:rPr>
                <a:t>t</a:t>
              </a:r>
              <a:endParaRPr lang="en-US" altLang="zh-CN" sz="2800">
                <a:solidFill>
                  <a:srgbClr val="000000"/>
                </a:solidFill>
                <a:sym typeface="Symbol" pitchFamily="18" charset="2"/>
              </a:endParaRPr>
            </a:p>
          </p:txBody>
        </p:sp>
        <p:sp>
          <p:nvSpPr>
            <p:cNvPr id="12305" name="Text Box 26"/>
            <p:cNvSpPr txBox="1">
              <a:spLocks noChangeArrowheads="1"/>
            </p:cNvSpPr>
            <p:nvPr/>
          </p:nvSpPr>
          <p:spPr bwMode="auto">
            <a:xfrm>
              <a:off x="3360" y="1176"/>
              <a:ext cx="38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000000"/>
                  </a:solidFill>
                  <a:sym typeface="Symbol" pitchFamily="18" charset="2"/>
                </a:rPr>
                <a:t>T</a:t>
              </a:r>
              <a:r>
                <a:rPr lang="en-US" altLang="zh-CN">
                  <a:solidFill>
                    <a:srgbClr val="000000"/>
                  </a:solidFill>
                  <a:sym typeface="Symbol" pitchFamily="18" charset="2"/>
                </a:rPr>
                <a:t>/2</a:t>
              </a:r>
              <a:endParaRPr lang="en-US" altLang="zh-CN" b="0">
                <a:solidFill>
                  <a:srgbClr val="000000"/>
                </a:solidFill>
                <a:sym typeface="Symbol" pitchFamily="18" charset="2"/>
              </a:endParaRPr>
            </a:p>
          </p:txBody>
        </p:sp>
        <p:sp>
          <p:nvSpPr>
            <p:cNvPr id="12306" name="Text Box 27"/>
            <p:cNvSpPr txBox="1">
              <a:spLocks noChangeArrowheads="1"/>
            </p:cNvSpPr>
            <p:nvPr/>
          </p:nvSpPr>
          <p:spPr bwMode="auto">
            <a:xfrm>
              <a:off x="4057" y="1146"/>
              <a:ext cx="23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000000"/>
                  </a:solidFill>
                  <a:sym typeface="Symbol" pitchFamily="18" charset="2"/>
                </a:rPr>
                <a:t>T</a:t>
              </a:r>
              <a:endParaRPr lang="en-US" altLang="zh-CN" b="0">
                <a:solidFill>
                  <a:srgbClr val="000000"/>
                </a:solidFill>
                <a:sym typeface="Symbol" pitchFamily="18" charset="2"/>
              </a:endParaRPr>
            </a:p>
          </p:txBody>
        </p:sp>
        <p:sp>
          <p:nvSpPr>
            <p:cNvPr id="12307" name="Freeform 28"/>
            <p:cNvSpPr>
              <a:spLocks/>
            </p:cNvSpPr>
            <p:nvPr/>
          </p:nvSpPr>
          <p:spPr bwMode="auto">
            <a:xfrm>
              <a:off x="2947" y="681"/>
              <a:ext cx="721" cy="512"/>
            </a:xfrm>
            <a:custGeom>
              <a:avLst/>
              <a:gdLst>
                <a:gd name="T0" fmla="*/ 0 w 1290"/>
                <a:gd name="T1" fmla="*/ 493 h 1263"/>
                <a:gd name="T2" fmla="*/ 211 w 1290"/>
                <a:gd name="T3" fmla="*/ 125 h 1263"/>
                <a:gd name="T4" fmla="*/ 376 w 1290"/>
                <a:gd name="T5" fmla="*/ 0 h 1263"/>
                <a:gd name="T6" fmla="*/ 511 w 1290"/>
                <a:gd name="T7" fmla="*/ 125 h 1263"/>
                <a:gd name="T8" fmla="*/ 721 w 1290"/>
                <a:gd name="T9" fmla="*/ 512 h 12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0" h="1263">
                  <a:moveTo>
                    <a:pt x="0" y="1215"/>
                  </a:moveTo>
                  <a:cubicBezTo>
                    <a:pt x="63" y="1064"/>
                    <a:pt x="266" y="510"/>
                    <a:pt x="377" y="308"/>
                  </a:cubicBezTo>
                  <a:cubicBezTo>
                    <a:pt x="489" y="106"/>
                    <a:pt x="582" y="0"/>
                    <a:pt x="672" y="0"/>
                  </a:cubicBezTo>
                  <a:cubicBezTo>
                    <a:pt x="761" y="0"/>
                    <a:pt x="811" y="98"/>
                    <a:pt x="914" y="308"/>
                  </a:cubicBezTo>
                  <a:cubicBezTo>
                    <a:pt x="1017" y="518"/>
                    <a:pt x="1212" y="1064"/>
                    <a:pt x="1290" y="1263"/>
                  </a:cubicBezTo>
                </a:path>
              </a:pathLst>
            </a:custGeom>
            <a:noFill/>
            <a:ln w="317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308" name="Freeform 29"/>
            <p:cNvSpPr>
              <a:spLocks/>
            </p:cNvSpPr>
            <p:nvPr/>
          </p:nvSpPr>
          <p:spPr bwMode="auto">
            <a:xfrm flipV="1">
              <a:off x="3651" y="1141"/>
              <a:ext cx="721" cy="511"/>
            </a:xfrm>
            <a:custGeom>
              <a:avLst/>
              <a:gdLst>
                <a:gd name="T0" fmla="*/ 0 w 1290"/>
                <a:gd name="T1" fmla="*/ 492 h 1263"/>
                <a:gd name="T2" fmla="*/ 211 w 1290"/>
                <a:gd name="T3" fmla="*/ 125 h 1263"/>
                <a:gd name="T4" fmla="*/ 376 w 1290"/>
                <a:gd name="T5" fmla="*/ 0 h 1263"/>
                <a:gd name="T6" fmla="*/ 511 w 1290"/>
                <a:gd name="T7" fmla="*/ 125 h 1263"/>
                <a:gd name="T8" fmla="*/ 721 w 1290"/>
                <a:gd name="T9" fmla="*/ 511 h 12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0" h="1263">
                  <a:moveTo>
                    <a:pt x="0" y="1215"/>
                  </a:moveTo>
                  <a:cubicBezTo>
                    <a:pt x="63" y="1064"/>
                    <a:pt x="266" y="510"/>
                    <a:pt x="377" y="308"/>
                  </a:cubicBezTo>
                  <a:cubicBezTo>
                    <a:pt x="489" y="106"/>
                    <a:pt x="582" y="0"/>
                    <a:pt x="672" y="0"/>
                  </a:cubicBezTo>
                  <a:cubicBezTo>
                    <a:pt x="761" y="0"/>
                    <a:pt x="811" y="98"/>
                    <a:pt x="914" y="308"/>
                  </a:cubicBezTo>
                  <a:cubicBezTo>
                    <a:pt x="1017" y="518"/>
                    <a:pt x="1212" y="1064"/>
                    <a:pt x="1290" y="1263"/>
                  </a:cubicBezTo>
                </a:path>
              </a:pathLst>
            </a:custGeom>
            <a:noFill/>
            <a:ln w="317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309" name="Freeform 30"/>
            <p:cNvSpPr>
              <a:spLocks/>
            </p:cNvSpPr>
            <p:nvPr/>
          </p:nvSpPr>
          <p:spPr bwMode="auto">
            <a:xfrm>
              <a:off x="4359" y="676"/>
              <a:ext cx="843" cy="732"/>
            </a:xfrm>
            <a:custGeom>
              <a:avLst/>
              <a:gdLst>
                <a:gd name="T0" fmla="*/ 0 w 843"/>
                <a:gd name="T1" fmla="*/ 493 h 732"/>
                <a:gd name="T2" fmla="*/ 211 w 843"/>
                <a:gd name="T3" fmla="*/ 125 h 732"/>
                <a:gd name="T4" fmla="*/ 376 w 843"/>
                <a:gd name="T5" fmla="*/ 0 h 732"/>
                <a:gd name="T6" fmla="*/ 511 w 843"/>
                <a:gd name="T7" fmla="*/ 125 h 732"/>
                <a:gd name="T8" fmla="*/ 843 w 843"/>
                <a:gd name="T9" fmla="*/ 732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3" h="732">
                  <a:moveTo>
                    <a:pt x="0" y="493"/>
                  </a:moveTo>
                  <a:cubicBezTo>
                    <a:pt x="35" y="431"/>
                    <a:pt x="149" y="207"/>
                    <a:pt x="211" y="125"/>
                  </a:cubicBezTo>
                  <a:cubicBezTo>
                    <a:pt x="273" y="43"/>
                    <a:pt x="325" y="0"/>
                    <a:pt x="376" y="0"/>
                  </a:cubicBezTo>
                  <a:cubicBezTo>
                    <a:pt x="425" y="0"/>
                    <a:pt x="433" y="3"/>
                    <a:pt x="511" y="125"/>
                  </a:cubicBezTo>
                  <a:cubicBezTo>
                    <a:pt x="589" y="247"/>
                    <a:pt x="774" y="606"/>
                    <a:pt x="843" y="732"/>
                  </a:cubicBezTo>
                </a:path>
              </a:pathLst>
            </a:custGeom>
            <a:noFill/>
            <a:ln w="317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2299" name="Text Box 31"/>
          <p:cNvSpPr txBox="1">
            <a:spLocks noChangeArrowheads="1"/>
          </p:cNvSpPr>
          <p:nvPr/>
        </p:nvSpPr>
        <p:spPr bwMode="auto">
          <a:xfrm>
            <a:off x="774700" y="492125"/>
            <a:ext cx="3476625"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571500" indent="-5715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lnSpc>
                <a:spcPct val="120000"/>
              </a:lnSpc>
              <a:spcBef>
                <a:spcPct val="50000"/>
              </a:spcBef>
            </a:pPr>
            <a:r>
              <a:rPr lang="en-US" altLang="zh-CN" dirty="0">
                <a:solidFill>
                  <a:schemeClr val="tx2"/>
                </a:solidFill>
                <a:sym typeface="Symbol" pitchFamily="18" charset="2"/>
              </a:rPr>
              <a:t>(b) </a:t>
            </a:r>
            <a:r>
              <a:rPr lang="zh-CN" altLang="en-US" dirty="0">
                <a:solidFill>
                  <a:schemeClr val="tx2"/>
                </a:solidFill>
                <a:sym typeface="Symbol" pitchFamily="18" charset="2"/>
              </a:rPr>
              <a:t>电流是交变的</a:t>
            </a:r>
            <a:endParaRPr lang="zh-CN" altLang="en-US" dirty="0">
              <a:solidFill>
                <a:schemeClr val="tx2"/>
              </a:solidFill>
            </a:endParaRPr>
          </a:p>
        </p:txBody>
      </p:sp>
    </p:spTree>
    <p:extLst>
      <p:ext uri="{BB962C8B-B14F-4D97-AF65-F5344CB8AC3E}">
        <p14:creationId xmlns:p14="http://schemas.microsoft.com/office/powerpoint/2010/main" val="26303256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297"/>
                                        </p:tgtEl>
                                        <p:attrNameLst>
                                          <p:attrName>style.visibility</p:attrName>
                                        </p:attrNameLst>
                                      </p:cBhvr>
                                      <p:to>
                                        <p:strVal val="visible"/>
                                      </p:to>
                                    </p:set>
                                    <p:animEffect transition="in" filter="barn(inVertical)">
                                      <p:cBhvr>
                                        <p:cTn id="7" dur="500"/>
                                        <p:tgtEl>
                                          <p:spTgt spid="12297"/>
                                        </p:tgtEl>
                                      </p:cBhvr>
                                    </p:animEffect>
                                  </p:childTnLst>
                                </p:cTn>
                              </p:par>
                              <p:par>
                                <p:cTn id="8" presetID="16" presetClass="entr" presetSubtype="21" fill="hold" nodeType="withEffect">
                                  <p:stCondLst>
                                    <p:cond delay="0"/>
                                  </p:stCondLst>
                                  <p:childTnLst>
                                    <p:set>
                                      <p:cBhvr>
                                        <p:cTn id="9" dur="1" fill="hold">
                                          <p:stCondLst>
                                            <p:cond delay="0"/>
                                          </p:stCondLst>
                                        </p:cTn>
                                        <p:tgtEl>
                                          <p:spTgt spid="12298"/>
                                        </p:tgtEl>
                                        <p:attrNameLst>
                                          <p:attrName>style.visibility</p:attrName>
                                        </p:attrNameLst>
                                      </p:cBhvr>
                                      <p:to>
                                        <p:strVal val="visible"/>
                                      </p:to>
                                    </p:set>
                                    <p:animEffect transition="in" filter="barn(inVertical)">
                                      <p:cBhvr>
                                        <p:cTn id="10" dur="500"/>
                                        <p:tgtEl>
                                          <p:spTgt spid="12298"/>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2290"/>
                                        </p:tgtEl>
                                        <p:attrNameLst>
                                          <p:attrName>style.visibility</p:attrName>
                                        </p:attrNameLst>
                                      </p:cBhvr>
                                      <p:to>
                                        <p:strVal val="visible"/>
                                      </p:to>
                                    </p:set>
                                    <p:animEffect transition="in" filter="barn(inVertical)">
                                      <p:cBhvr>
                                        <p:cTn id="15" dur="500"/>
                                        <p:tgtEl>
                                          <p:spTgt spid="12290"/>
                                        </p:tgtEl>
                                      </p:cBhvr>
                                    </p:animEffect>
                                  </p:childTnLst>
                                </p:cTn>
                              </p:par>
                              <p:par>
                                <p:cTn id="16" presetID="16" presetClass="entr" presetSubtype="21" fill="hold" nodeType="withEffect">
                                  <p:stCondLst>
                                    <p:cond delay="0"/>
                                  </p:stCondLst>
                                  <p:childTnLst>
                                    <p:set>
                                      <p:cBhvr>
                                        <p:cTn id="17" dur="1" fill="hold">
                                          <p:stCondLst>
                                            <p:cond delay="0"/>
                                          </p:stCondLst>
                                        </p:cTn>
                                        <p:tgtEl>
                                          <p:spTgt spid="12291"/>
                                        </p:tgtEl>
                                        <p:attrNameLst>
                                          <p:attrName>style.visibility</p:attrName>
                                        </p:attrNameLst>
                                      </p:cBhvr>
                                      <p:to>
                                        <p:strVal val="visible"/>
                                      </p:to>
                                    </p:set>
                                    <p:animEffect transition="in" filter="barn(inVertical)">
                                      <p:cBhvr>
                                        <p:cTn id="18" dur="500"/>
                                        <p:tgtEl>
                                          <p:spTgt spid="12291"/>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2292"/>
                                        </p:tgtEl>
                                        <p:attrNameLst>
                                          <p:attrName>style.visibility</p:attrName>
                                        </p:attrNameLst>
                                      </p:cBhvr>
                                      <p:to>
                                        <p:strVal val="visible"/>
                                      </p:to>
                                    </p:set>
                                    <p:animEffect transition="in" filter="barn(inVertical)">
                                      <p:cBhvr>
                                        <p:cTn id="21" dur="500"/>
                                        <p:tgtEl>
                                          <p:spTgt spid="12292"/>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2293"/>
                                        </p:tgtEl>
                                        <p:attrNameLst>
                                          <p:attrName>style.visibility</p:attrName>
                                        </p:attrNameLst>
                                      </p:cBhvr>
                                      <p:to>
                                        <p:strVal val="visible"/>
                                      </p:to>
                                    </p:set>
                                    <p:animEffect transition="in" filter="barn(inVertical)">
                                      <p:cBhvr>
                                        <p:cTn id="26" dur="500"/>
                                        <p:tgtEl>
                                          <p:spTgt spid="12293"/>
                                        </p:tgtEl>
                                      </p:cBhvr>
                                    </p:animEffect>
                                  </p:childTnLst>
                                </p:cTn>
                              </p:par>
                              <p:par>
                                <p:cTn id="27" presetID="16" presetClass="entr" presetSubtype="21" fill="hold" nodeType="withEffect">
                                  <p:stCondLst>
                                    <p:cond delay="0"/>
                                  </p:stCondLst>
                                  <p:childTnLst>
                                    <p:set>
                                      <p:cBhvr>
                                        <p:cTn id="28" dur="1" fill="hold">
                                          <p:stCondLst>
                                            <p:cond delay="0"/>
                                          </p:stCondLst>
                                        </p:cTn>
                                        <p:tgtEl>
                                          <p:spTgt spid="12294"/>
                                        </p:tgtEl>
                                        <p:attrNameLst>
                                          <p:attrName>style.visibility</p:attrName>
                                        </p:attrNameLst>
                                      </p:cBhvr>
                                      <p:to>
                                        <p:strVal val="visible"/>
                                      </p:to>
                                    </p:set>
                                    <p:animEffect transition="in" filter="barn(inVertical)">
                                      <p:cBhvr>
                                        <p:cTn id="29" dur="500"/>
                                        <p:tgtEl>
                                          <p:spTgt spid="12294"/>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2295"/>
                                        </p:tgtEl>
                                        <p:attrNameLst>
                                          <p:attrName>style.visibility</p:attrName>
                                        </p:attrNameLst>
                                      </p:cBhvr>
                                      <p:to>
                                        <p:strVal val="visible"/>
                                      </p:to>
                                    </p:set>
                                    <p:animEffect transition="in" filter="barn(inVertical)">
                                      <p:cBhvr>
                                        <p:cTn id="32" dur="500"/>
                                        <p:tgtEl>
                                          <p:spTgt spid="12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2" grpId="0"/>
      <p:bldP spid="12293" grpId="0"/>
      <p:bldP spid="1229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p:cNvGrpSpPr>
            <a:grpSpLocks/>
          </p:cNvGrpSpPr>
          <p:nvPr/>
        </p:nvGrpSpPr>
        <p:grpSpPr bwMode="auto">
          <a:xfrm>
            <a:off x="519113" y="1333501"/>
            <a:ext cx="7962900" cy="2513013"/>
            <a:chOff x="336" y="580"/>
            <a:chExt cx="5016" cy="1583"/>
          </a:xfrm>
        </p:grpSpPr>
        <p:sp>
          <p:nvSpPr>
            <p:cNvPr id="13317" name="Text Box 3"/>
            <p:cNvSpPr txBox="1">
              <a:spLocks noChangeArrowheads="1"/>
            </p:cNvSpPr>
            <p:nvPr/>
          </p:nvSpPr>
          <p:spPr bwMode="auto">
            <a:xfrm>
              <a:off x="336" y="580"/>
              <a:ext cx="5016" cy="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50000"/>
                </a:lnSpc>
                <a:spcBef>
                  <a:spcPct val="50000"/>
                </a:spcBef>
              </a:pPr>
              <a:r>
                <a:rPr lang="zh-CN" altLang="en-US" dirty="0">
                  <a:solidFill>
                    <a:srgbClr val="0000CC"/>
                  </a:solidFill>
                </a:rPr>
                <a:t>电压：</a:t>
              </a:r>
              <a:r>
                <a:rPr lang="zh-CN" altLang="en-US" dirty="0">
                  <a:solidFill>
                    <a:schemeClr val="tx2"/>
                  </a:solidFill>
                </a:rPr>
                <a:t>电场中某两点</a:t>
              </a:r>
              <a:r>
                <a:rPr lang="en-US" altLang="zh-CN" dirty="0">
                  <a:solidFill>
                    <a:schemeClr val="tx2"/>
                  </a:solidFill>
                </a:rPr>
                <a:t>a</a:t>
              </a:r>
              <a:r>
                <a:rPr lang="zh-CN" altLang="en-US" dirty="0">
                  <a:solidFill>
                    <a:schemeClr val="tx2"/>
                  </a:solidFill>
                </a:rPr>
                <a:t>、</a:t>
              </a:r>
              <a:r>
                <a:rPr lang="en-US" altLang="zh-CN" dirty="0">
                  <a:solidFill>
                    <a:schemeClr val="tx2"/>
                  </a:solidFill>
                </a:rPr>
                <a:t>b</a:t>
              </a:r>
              <a:r>
                <a:rPr lang="zh-CN" altLang="en-US" dirty="0">
                  <a:solidFill>
                    <a:schemeClr val="tx2"/>
                  </a:solidFill>
                </a:rPr>
                <a:t>间的</a:t>
              </a:r>
              <a:r>
                <a:rPr lang="zh-CN" altLang="en-US" dirty="0" smtClean="0">
                  <a:solidFill>
                    <a:schemeClr val="tx2"/>
                  </a:solidFill>
                </a:rPr>
                <a:t>电压（</a:t>
              </a:r>
              <a:r>
                <a:rPr lang="zh-CN" altLang="zh-CN" dirty="0" smtClean="0">
                  <a:solidFill>
                    <a:srgbClr val="FF0000"/>
                  </a:solidFill>
                </a:rPr>
                <a:t>降</a:t>
              </a:r>
              <a:r>
                <a:rPr lang="zh-CN" altLang="en-US" dirty="0" smtClean="0">
                  <a:solidFill>
                    <a:schemeClr val="tx2"/>
                  </a:solidFill>
                </a:rPr>
                <a:t>）</a:t>
              </a:r>
              <a:r>
                <a:rPr lang="en-US" altLang="zh-CN" i="1" dirty="0" smtClean="0">
                  <a:solidFill>
                    <a:schemeClr val="tx2"/>
                  </a:solidFill>
                </a:rPr>
                <a:t>v</a:t>
              </a:r>
              <a:r>
                <a:rPr lang="en-US" altLang="zh-CN" dirty="0" smtClean="0">
                  <a:solidFill>
                    <a:schemeClr val="tx2"/>
                  </a:solidFill>
                </a:rPr>
                <a:t>(</a:t>
              </a:r>
              <a:r>
                <a:rPr lang="en-US" altLang="zh-CN" i="1" dirty="0" smtClean="0">
                  <a:solidFill>
                    <a:schemeClr val="tx2"/>
                  </a:solidFill>
                </a:rPr>
                <a:t>t</a:t>
              </a:r>
              <a:r>
                <a:rPr lang="en-US" altLang="zh-CN" dirty="0" smtClean="0">
                  <a:solidFill>
                    <a:schemeClr val="tx2"/>
                  </a:solidFill>
                </a:rPr>
                <a:t>) </a:t>
              </a:r>
              <a:r>
                <a:rPr lang="zh-CN" altLang="en-US" dirty="0" smtClean="0">
                  <a:solidFill>
                    <a:schemeClr val="tx2"/>
                  </a:solidFill>
                </a:rPr>
                <a:t>等于</a:t>
              </a:r>
              <a:r>
                <a:rPr lang="zh-CN" altLang="en-US" dirty="0">
                  <a:solidFill>
                    <a:schemeClr val="tx2"/>
                  </a:solidFill>
                </a:rPr>
                <a:t>将单位正电荷</a:t>
              </a:r>
              <a:r>
                <a:rPr lang="en-US" altLang="zh-CN" i="1" dirty="0">
                  <a:solidFill>
                    <a:schemeClr val="tx2"/>
                  </a:solidFill>
                </a:rPr>
                <a:t>q</a:t>
              </a:r>
              <a:r>
                <a:rPr lang="zh-CN" altLang="en-US" dirty="0">
                  <a:solidFill>
                    <a:schemeClr val="tx2"/>
                  </a:solidFill>
                </a:rPr>
                <a:t>从</a:t>
              </a:r>
              <a:r>
                <a:rPr lang="en-US" altLang="zh-CN" dirty="0">
                  <a:solidFill>
                    <a:schemeClr val="tx2"/>
                  </a:solidFill>
                </a:rPr>
                <a:t>a</a:t>
              </a:r>
              <a:r>
                <a:rPr lang="zh-CN" altLang="en-US" dirty="0">
                  <a:solidFill>
                    <a:schemeClr val="tx2"/>
                  </a:solidFill>
                </a:rPr>
                <a:t>点移至</a:t>
              </a:r>
              <a:r>
                <a:rPr lang="en-US" altLang="zh-CN" dirty="0">
                  <a:solidFill>
                    <a:schemeClr val="tx2"/>
                  </a:solidFill>
                </a:rPr>
                <a:t>b</a:t>
              </a:r>
              <a:r>
                <a:rPr lang="zh-CN" altLang="en-US" dirty="0">
                  <a:solidFill>
                    <a:schemeClr val="tx2"/>
                  </a:solidFill>
                </a:rPr>
                <a:t>点电场力所做的功  </a:t>
              </a:r>
              <a:r>
                <a:rPr lang="en-US" altLang="zh-CN" i="1" dirty="0">
                  <a:solidFill>
                    <a:schemeClr val="tx2"/>
                  </a:solidFill>
                </a:rPr>
                <a:t>w</a:t>
              </a:r>
              <a:r>
                <a:rPr lang="en-US" altLang="zh-CN" dirty="0">
                  <a:solidFill>
                    <a:schemeClr val="tx2"/>
                  </a:solidFill>
                </a:rPr>
                <a:t>(</a:t>
              </a:r>
              <a:r>
                <a:rPr lang="en-US" altLang="zh-CN" i="1" dirty="0">
                  <a:solidFill>
                    <a:schemeClr val="tx2"/>
                  </a:solidFill>
                </a:rPr>
                <a:t>t</a:t>
              </a:r>
              <a:r>
                <a:rPr lang="en-US" altLang="zh-CN" dirty="0" smtClean="0">
                  <a:solidFill>
                    <a:schemeClr val="tx2"/>
                  </a:solidFill>
                </a:rPr>
                <a:t>)</a:t>
              </a:r>
              <a:r>
                <a:rPr lang="zh-CN" altLang="en-US" dirty="0" smtClean="0">
                  <a:solidFill>
                    <a:schemeClr val="tx2"/>
                  </a:solidFill>
                </a:rPr>
                <a:t>，</a:t>
              </a:r>
              <a:r>
                <a:rPr lang="zh-CN" altLang="en-US" dirty="0">
                  <a:solidFill>
                    <a:schemeClr val="tx2"/>
                  </a:solidFill>
                </a:rPr>
                <a:t>即</a:t>
              </a:r>
            </a:p>
          </p:txBody>
        </p:sp>
        <p:graphicFrame>
          <p:nvGraphicFramePr>
            <p:cNvPr id="13318" name="Object 4" descr="羊皮纸"/>
            <p:cNvGraphicFramePr>
              <a:graphicFrameLocks noChangeAspect="1"/>
            </p:cNvGraphicFramePr>
            <p:nvPr/>
          </p:nvGraphicFramePr>
          <p:xfrm>
            <a:off x="1366" y="1525"/>
            <a:ext cx="1180" cy="638"/>
          </p:xfrm>
          <a:graphic>
            <a:graphicData uri="http://schemas.openxmlformats.org/presentationml/2006/ole">
              <mc:AlternateContent xmlns:mc="http://schemas.openxmlformats.org/markup-compatibility/2006">
                <mc:Choice xmlns:v="urn:schemas-microsoft-com:vml" Requires="v">
                  <p:oleObj spid="_x0000_s13449" name="Equation" r:id="rId3" imgW="748975" imgH="406224" progId="Equation.DSMT4">
                    <p:embed/>
                  </p:oleObj>
                </mc:Choice>
                <mc:Fallback>
                  <p:oleObj name="Equation" r:id="rId3" imgW="748975" imgH="406224" progId="Equation.DSMT4">
                    <p:embed/>
                    <p:pic>
                      <p:nvPicPr>
                        <p:cNvPr id="0" name="Object 4" descr="羊皮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6" y="1525"/>
                          <a:ext cx="1180" cy="638"/>
                        </a:xfrm>
                        <a:prstGeom prst="rect">
                          <a:avLst/>
                        </a:prstGeom>
                        <a:blipFill dpi="0" rotWithShape="0">
                          <a:blip r:embed="rId5"/>
                          <a:srcRect/>
                          <a:tile tx="0" ty="0" sx="100000" sy="100000" flip="none" algn="tl"/>
                        </a:blipFill>
                        <a:ln>
                          <a:noFill/>
                        </a:ln>
                        <a:effectLst>
                          <a:prstShdw prst="shdw17" dist="17961" dir="2700000">
                            <a:srgbClr val="99997A"/>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3315" name="Text Box 5"/>
          <p:cNvSpPr txBox="1">
            <a:spLocks noChangeArrowheads="1"/>
          </p:cNvSpPr>
          <p:nvPr/>
        </p:nvSpPr>
        <p:spPr bwMode="auto">
          <a:xfrm>
            <a:off x="1111250" y="4714875"/>
            <a:ext cx="4146550"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a:solidFill>
                  <a:schemeClr val="tx2"/>
                </a:solidFill>
              </a:rPr>
              <a:t>单位名称：</a:t>
            </a:r>
            <a:r>
              <a:rPr lang="zh-CN" altLang="en-US">
                <a:solidFill>
                  <a:schemeClr val="accent1"/>
                </a:solidFill>
              </a:rPr>
              <a:t>伏</a:t>
            </a:r>
            <a:r>
              <a:rPr lang="en-US" altLang="zh-CN">
                <a:solidFill>
                  <a:schemeClr val="tx2"/>
                </a:solidFill>
              </a:rPr>
              <a:t>(</a:t>
            </a:r>
            <a:r>
              <a:rPr lang="zh-CN" altLang="en-US">
                <a:solidFill>
                  <a:schemeClr val="tx2"/>
                </a:solidFill>
              </a:rPr>
              <a:t>特</a:t>
            </a:r>
            <a:r>
              <a:rPr lang="en-US" altLang="en-US">
                <a:solidFill>
                  <a:schemeClr val="tx2"/>
                </a:solidFill>
              </a:rPr>
              <a:t>)   </a:t>
            </a:r>
          </a:p>
          <a:p>
            <a:pPr>
              <a:spcBef>
                <a:spcPct val="50000"/>
              </a:spcBef>
            </a:pPr>
            <a:r>
              <a:rPr lang="zh-CN" altLang="en-US">
                <a:solidFill>
                  <a:schemeClr val="tx2"/>
                </a:solidFill>
              </a:rPr>
              <a:t>符号：</a:t>
            </a:r>
            <a:r>
              <a:rPr lang="en-US" altLang="zh-CN">
                <a:solidFill>
                  <a:schemeClr val="accent1"/>
                </a:solidFill>
              </a:rPr>
              <a:t>V</a:t>
            </a:r>
            <a:r>
              <a:rPr lang="zh-CN" altLang="en-US">
                <a:solidFill>
                  <a:schemeClr val="tx2"/>
                </a:solidFill>
              </a:rPr>
              <a:t>（</a:t>
            </a:r>
            <a:r>
              <a:rPr lang="en-US" altLang="zh-CN">
                <a:solidFill>
                  <a:schemeClr val="tx2"/>
                </a:solidFill>
              </a:rPr>
              <a:t>Volt</a:t>
            </a:r>
            <a:r>
              <a:rPr lang="zh-CN" altLang="en-US">
                <a:solidFill>
                  <a:schemeClr val="tx2"/>
                </a:solidFill>
              </a:rPr>
              <a:t>）   </a:t>
            </a:r>
            <a:r>
              <a:rPr lang="en-US" altLang="zh-CN">
                <a:solidFill>
                  <a:srgbClr val="FF0000"/>
                </a:solidFill>
              </a:rPr>
              <a:t>mV       </a:t>
            </a:r>
            <a:r>
              <a:rPr lang="en-US" altLang="zh-CN">
                <a:solidFill>
                  <a:srgbClr val="FF0000"/>
                </a:solidFill>
                <a:sym typeface="Symbol" pitchFamily="18" charset="2"/>
              </a:rPr>
              <a:t>V</a:t>
            </a:r>
            <a:endParaRPr lang="en-US" altLang="zh-CN">
              <a:solidFill>
                <a:schemeClr val="tx2"/>
              </a:solidFill>
            </a:endParaRPr>
          </a:p>
        </p:txBody>
      </p:sp>
      <p:sp>
        <p:nvSpPr>
          <p:cNvPr id="13316" name="Text Box 6"/>
          <p:cNvSpPr txBox="1">
            <a:spLocks noChangeArrowheads="1"/>
          </p:cNvSpPr>
          <p:nvPr/>
        </p:nvSpPr>
        <p:spPr bwMode="auto">
          <a:xfrm>
            <a:off x="247757" y="645468"/>
            <a:ext cx="142218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dirty="0">
                <a:solidFill>
                  <a:srgbClr val="990033"/>
                </a:solidFill>
              </a:rPr>
              <a:t>三、</a:t>
            </a:r>
            <a:r>
              <a:rPr lang="zh-CN" altLang="en-US" dirty="0" smtClean="0">
                <a:solidFill>
                  <a:srgbClr val="990033"/>
                </a:solidFill>
              </a:rPr>
              <a:t>电压</a:t>
            </a:r>
            <a:endParaRPr lang="en-US" altLang="zh-CN" dirty="0">
              <a:solidFill>
                <a:srgbClr val="990033"/>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barn(inVertical)">
                                      <p:cBhvr>
                                        <p:cTn id="7" dur="500"/>
                                        <p:tgtEl>
                                          <p:spTgt spid="133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3315"/>
                                        </p:tgtEl>
                                        <p:attrNameLst>
                                          <p:attrName>style.visibility</p:attrName>
                                        </p:attrNameLst>
                                      </p:cBhvr>
                                      <p:to>
                                        <p:strVal val="visible"/>
                                      </p:to>
                                    </p:set>
                                    <p:animEffect transition="in" filter="barn(inVertical)">
                                      <p:cBhvr>
                                        <p:cTn id="12" dur="5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444500" y="468313"/>
            <a:ext cx="5622925" cy="646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50000"/>
              </a:lnSpc>
              <a:spcBef>
                <a:spcPct val="50000"/>
              </a:spcBef>
            </a:pPr>
            <a:r>
              <a:rPr lang="en-US" altLang="zh-CN" dirty="0">
                <a:solidFill>
                  <a:srgbClr val="0000CC"/>
                </a:solidFill>
              </a:rPr>
              <a:t>1</a:t>
            </a:r>
            <a:r>
              <a:rPr lang="zh-CN" altLang="en-US" dirty="0">
                <a:solidFill>
                  <a:srgbClr val="0000CC"/>
                </a:solidFill>
              </a:rPr>
              <a:t>、电位差（</a:t>
            </a:r>
            <a:r>
              <a:rPr lang="en-US" altLang="zh-CN" dirty="0">
                <a:solidFill>
                  <a:srgbClr val="0000CC"/>
                </a:solidFill>
              </a:rPr>
              <a:t>potential difference</a:t>
            </a:r>
            <a:r>
              <a:rPr lang="zh-CN" altLang="en-US" dirty="0">
                <a:solidFill>
                  <a:srgbClr val="0000CC"/>
                </a:solidFill>
              </a:rPr>
              <a:t>）</a:t>
            </a:r>
            <a:endParaRPr lang="zh-CN" altLang="en-US" dirty="0">
              <a:solidFill>
                <a:schemeClr val="tx2"/>
              </a:solidFill>
            </a:endParaRPr>
          </a:p>
        </p:txBody>
      </p:sp>
      <p:sp>
        <p:nvSpPr>
          <p:cNvPr id="14339" name="Rectangle 32"/>
          <p:cNvSpPr>
            <a:spLocks noChangeArrowheads="1"/>
          </p:cNvSpPr>
          <p:nvPr/>
        </p:nvSpPr>
        <p:spPr bwMode="auto">
          <a:xfrm>
            <a:off x="874713" y="1178152"/>
            <a:ext cx="3630612"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r>
              <a:rPr lang="zh-CN" altLang="en-US" dirty="0">
                <a:solidFill>
                  <a:schemeClr val="tx2"/>
                </a:solidFill>
              </a:rPr>
              <a:t>电压也可用</a:t>
            </a:r>
            <a:r>
              <a:rPr lang="zh-CN" altLang="en-US" dirty="0">
                <a:solidFill>
                  <a:srgbClr val="FF0066"/>
                </a:solidFill>
              </a:rPr>
              <a:t>电位差</a:t>
            </a:r>
            <a:r>
              <a:rPr lang="zh-CN" altLang="en-US" dirty="0">
                <a:solidFill>
                  <a:schemeClr val="tx2"/>
                </a:solidFill>
              </a:rPr>
              <a:t>表示。</a:t>
            </a:r>
            <a:r>
              <a:rPr lang="zh-CN" altLang="en-US" dirty="0"/>
              <a:t> </a:t>
            </a:r>
          </a:p>
        </p:txBody>
      </p:sp>
      <p:sp>
        <p:nvSpPr>
          <p:cNvPr id="14340" name="Rectangle 33"/>
          <p:cNvSpPr>
            <a:spLocks noChangeArrowheads="1"/>
          </p:cNvSpPr>
          <p:nvPr/>
        </p:nvSpPr>
        <p:spPr bwMode="auto">
          <a:xfrm>
            <a:off x="874713" y="1643774"/>
            <a:ext cx="7566025" cy="113024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lnSpc>
                <a:spcPct val="150000"/>
              </a:lnSpc>
            </a:pPr>
            <a:r>
              <a:rPr lang="zh-CN" altLang="en-US" dirty="0">
                <a:solidFill>
                  <a:srgbClr val="FF0066"/>
                </a:solidFill>
              </a:rPr>
              <a:t>电位</a:t>
            </a:r>
            <a:r>
              <a:rPr lang="zh-CN" altLang="en-US" dirty="0">
                <a:solidFill>
                  <a:schemeClr val="tx2"/>
                </a:solidFill>
              </a:rPr>
              <a:t>即</a:t>
            </a:r>
            <a:r>
              <a:rPr lang="zh-CN" altLang="en-US" dirty="0">
                <a:solidFill>
                  <a:srgbClr val="FF0066"/>
                </a:solidFill>
              </a:rPr>
              <a:t>电势</a:t>
            </a:r>
            <a:r>
              <a:rPr lang="zh-CN" altLang="en-US" dirty="0">
                <a:solidFill>
                  <a:schemeClr val="tx2"/>
                </a:solidFill>
              </a:rPr>
              <a:t>，是衡量电荷在电路中某点所具有能量的物理量，其单位也是伏特。</a:t>
            </a:r>
          </a:p>
        </p:txBody>
      </p:sp>
      <p:sp>
        <p:nvSpPr>
          <p:cNvPr id="14341" name="Rectangle 34"/>
          <p:cNvSpPr>
            <a:spLocks noChangeArrowheads="1"/>
          </p:cNvSpPr>
          <p:nvPr/>
        </p:nvSpPr>
        <p:spPr bwMode="auto">
          <a:xfrm>
            <a:off x="874713" y="2683781"/>
            <a:ext cx="7631112" cy="397031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marL="342900" indent="-342900" eaLnBrk="1" hangingPunct="1">
              <a:lnSpc>
                <a:spcPct val="150000"/>
              </a:lnSpc>
              <a:buFont typeface="Wingdings" panose="05000000000000000000" pitchFamily="2" charset="2"/>
              <a:buChar char="l"/>
            </a:pPr>
            <a:r>
              <a:rPr lang="zh-CN" altLang="en-US" dirty="0" smtClean="0">
                <a:solidFill>
                  <a:schemeClr val="tx2"/>
                </a:solidFill>
              </a:rPr>
              <a:t>电位</a:t>
            </a:r>
            <a:r>
              <a:rPr lang="zh-CN" altLang="en-US" dirty="0">
                <a:solidFill>
                  <a:schemeClr val="tx2"/>
                </a:solidFill>
              </a:rPr>
              <a:t>是相对的</a:t>
            </a:r>
            <a:r>
              <a:rPr lang="zh-CN" altLang="en-US" dirty="0" smtClean="0">
                <a:solidFill>
                  <a:schemeClr val="tx2"/>
                </a:solidFill>
              </a:rPr>
              <a:t>，与</a:t>
            </a:r>
            <a:r>
              <a:rPr lang="zh-CN" altLang="en-US" dirty="0">
                <a:solidFill>
                  <a:schemeClr val="tx2"/>
                </a:solidFill>
              </a:rPr>
              <a:t>参考点（即零电位点）的选择有关。</a:t>
            </a:r>
          </a:p>
          <a:p>
            <a:pPr marL="342900" indent="-342900" eaLnBrk="1" hangingPunct="1">
              <a:lnSpc>
                <a:spcPct val="150000"/>
              </a:lnSpc>
              <a:buFont typeface="Wingdings" panose="05000000000000000000" pitchFamily="2" charset="2"/>
              <a:buChar char="l"/>
            </a:pPr>
            <a:r>
              <a:rPr lang="zh-CN" altLang="en-US" dirty="0" smtClean="0">
                <a:solidFill>
                  <a:schemeClr val="tx2"/>
                </a:solidFill>
              </a:rPr>
              <a:t>参考点</a:t>
            </a:r>
            <a:r>
              <a:rPr lang="zh-CN" altLang="en-US" dirty="0">
                <a:solidFill>
                  <a:schemeClr val="tx2"/>
                </a:solidFill>
              </a:rPr>
              <a:t>可位于无穷远处，</a:t>
            </a:r>
            <a:r>
              <a:rPr lang="zh-CN" altLang="en-US" dirty="0" smtClean="0">
                <a:solidFill>
                  <a:schemeClr val="tx2"/>
                </a:solidFill>
              </a:rPr>
              <a:t>或取</a:t>
            </a:r>
            <a:r>
              <a:rPr lang="zh-CN" altLang="en-US" dirty="0">
                <a:solidFill>
                  <a:schemeClr val="tx2"/>
                </a:solidFill>
              </a:rPr>
              <a:t>地球表面作为参考点。即认为地电位为零</a:t>
            </a:r>
            <a:r>
              <a:rPr lang="zh-CN" altLang="en-US" dirty="0" smtClean="0">
                <a:solidFill>
                  <a:schemeClr val="tx2"/>
                </a:solidFill>
              </a:rPr>
              <a:t>。</a:t>
            </a:r>
            <a:endParaRPr lang="en-US" altLang="zh-CN" dirty="0" smtClean="0">
              <a:solidFill>
                <a:schemeClr val="tx2"/>
              </a:solidFill>
            </a:endParaRPr>
          </a:p>
          <a:p>
            <a:pPr marL="342900" indent="-342900" eaLnBrk="1" hangingPunct="1">
              <a:lnSpc>
                <a:spcPct val="150000"/>
              </a:lnSpc>
              <a:buFont typeface="Wingdings" panose="05000000000000000000" pitchFamily="2" charset="2"/>
              <a:buChar char="l"/>
            </a:pPr>
            <a:r>
              <a:rPr lang="zh-CN" altLang="en-US" dirty="0" smtClean="0">
                <a:solidFill>
                  <a:schemeClr val="tx2"/>
                </a:solidFill>
              </a:rPr>
              <a:t>在</a:t>
            </a:r>
            <a:r>
              <a:rPr lang="zh-CN" altLang="en-US" dirty="0">
                <a:solidFill>
                  <a:schemeClr val="tx2"/>
                </a:solidFill>
              </a:rPr>
              <a:t>电子电路中则常选一条特定的公共线作为参考点，这条公共线常是很多元件汇集处且与机壳相联接，这条线也叫“</a:t>
            </a:r>
            <a:r>
              <a:rPr lang="zh-CN" altLang="en-US" dirty="0">
                <a:solidFill>
                  <a:srgbClr val="FF0066"/>
                </a:solidFill>
              </a:rPr>
              <a:t>地线</a:t>
            </a:r>
            <a:r>
              <a:rPr lang="zh-CN" altLang="en-US" dirty="0">
                <a:solidFill>
                  <a:schemeClr val="tx2"/>
                </a:solidFill>
              </a:rPr>
              <a:t>”。因此</a:t>
            </a:r>
            <a:r>
              <a:rPr lang="zh-CN" altLang="en-US" dirty="0" smtClean="0">
                <a:solidFill>
                  <a:schemeClr val="tx2"/>
                </a:solidFill>
              </a:rPr>
              <a:t>，参考点</a:t>
            </a:r>
            <a:r>
              <a:rPr lang="zh-CN" altLang="en-US" dirty="0">
                <a:solidFill>
                  <a:schemeClr val="tx2"/>
                </a:solidFill>
              </a:rPr>
              <a:t>用机壳符号“┷”</a:t>
            </a:r>
            <a:r>
              <a:rPr lang="zh-CN" altLang="en-US" dirty="0" smtClean="0">
                <a:solidFill>
                  <a:schemeClr val="tx2"/>
                </a:solidFill>
              </a:rPr>
              <a:t>表示，或者用接地符号“     ”表示。 </a:t>
            </a:r>
            <a:r>
              <a:rPr lang="zh-CN" altLang="en-US" dirty="0" smtClean="0"/>
              <a:t> </a:t>
            </a:r>
            <a:endParaRPr lang="zh-CN" altLang="en-US" dirty="0"/>
          </a:p>
        </p:txBody>
      </p:sp>
      <p:graphicFrame>
        <p:nvGraphicFramePr>
          <p:cNvPr id="14342" name="Object 36"/>
          <p:cNvGraphicFramePr>
            <a:graphicFrameLocks noChangeAspect="1"/>
          </p:cNvGraphicFramePr>
          <p:nvPr>
            <p:extLst/>
          </p:nvPr>
        </p:nvGraphicFramePr>
        <p:xfrm>
          <a:off x="4989513" y="1087664"/>
          <a:ext cx="1592262" cy="554038"/>
        </p:xfrm>
        <a:graphic>
          <a:graphicData uri="http://schemas.openxmlformats.org/presentationml/2006/ole">
            <mc:AlternateContent xmlns:mc="http://schemas.openxmlformats.org/markup-compatibility/2006">
              <mc:Choice xmlns:v="urn:schemas-microsoft-com:vml" Requires="v">
                <p:oleObj spid="_x0000_s112649" name="Equation" r:id="rId3" imgW="571252" imgH="203112" progId="Equation.DSMT4">
                  <p:embed/>
                </p:oleObj>
              </mc:Choice>
              <mc:Fallback>
                <p:oleObj name="Equation" r:id="rId3" imgW="571252" imgH="20311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9513" y="1087664"/>
                        <a:ext cx="1592262"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p:cNvGrpSpPr/>
          <p:nvPr/>
        </p:nvGrpSpPr>
        <p:grpSpPr>
          <a:xfrm>
            <a:off x="4690269" y="6197013"/>
            <a:ext cx="304800" cy="294291"/>
            <a:chOff x="8687075" y="4566128"/>
            <a:chExt cx="304800" cy="294291"/>
          </a:xfrm>
        </p:grpSpPr>
        <p:sp>
          <p:nvSpPr>
            <p:cNvPr id="9" name="Line 6"/>
            <p:cNvSpPr>
              <a:spLocks noChangeShapeType="1"/>
            </p:cNvSpPr>
            <p:nvPr/>
          </p:nvSpPr>
          <p:spPr bwMode="auto">
            <a:xfrm>
              <a:off x="8687075" y="4708019"/>
              <a:ext cx="304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7"/>
            <p:cNvSpPr>
              <a:spLocks noChangeShapeType="1"/>
            </p:cNvSpPr>
            <p:nvPr/>
          </p:nvSpPr>
          <p:spPr bwMode="auto">
            <a:xfrm>
              <a:off x="8763275" y="4784219"/>
              <a:ext cx="152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8"/>
            <p:cNvSpPr>
              <a:spLocks noChangeShapeType="1"/>
            </p:cNvSpPr>
            <p:nvPr/>
          </p:nvSpPr>
          <p:spPr bwMode="auto">
            <a:xfrm>
              <a:off x="8801375" y="4860419"/>
              <a:ext cx="76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7"/>
            <p:cNvSpPr>
              <a:spLocks noChangeShapeType="1"/>
            </p:cNvSpPr>
            <p:nvPr/>
          </p:nvSpPr>
          <p:spPr bwMode="auto">
            <a:xfrm rot="5400000">
              <a:off x="8763275" y="4642328"/>
              <a:ext cx="152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91734416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barn(inVertical)">
                                      <p:cBhvr>
                                        <p:cTn id="7" dur="500"/>
                                        <p:tgtEl>
                                          <p:spTgt spid="14339"/>
                                        </p:tgtEl>
                                      </p:cBhvr>
                                    </p:animEffect>
                                  </p:childTnLst>
                                </p:cTn>
                              </p:par>
                              <p:par>
                                <p:cTn id="8" presetID="16" presetClass="entr" presetSubtype="21" fill="hold" nodeType="withEffect">
                                  <p:stCondLst>
                                    <p:cond delay="0"/>
                                  </p:stCondLst>
                                  <p:childTnLst>
                                    <p:set>
                                      <p:cBhvr>
                                        <p:cTn id="9" dur="1" fill="hold">
                                          <p:stCondLst>
                                            <p:cond delay="0"/>
                                          </p:stCondLst>
                                        </p:cTn>
                                        <p:tgtEl>
                                          <p:spTgt spid="14342"/>
                                        </p:tgtEl>
                                        <p:attrNameLst>
                                          <p:attrName>style.visibility</p:attrName>
                                        </p:attrNameLst>
                                      </p:cBhvr>
                                      <p:to>
                                        <p:strVal val="visible"/>
                                      </p:to>
                                    </p:set>
                                    <p:animEffect transition="in" filter="barn(inVertical)">
                                      <p:cBhvr>
                                        <p:cTn id="10" dur="500"/>
                                        <p:tgtEl>
                                          <p:spTgt spid="14342"/>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4340"/>
                                        </p:tgtEl>
                                        <p:attrNameLst>
                                          <p:attrName>style.visibility</p:attrName>
                                        </p:attrNameLst>
                                      </p:cBhvr>
                                      <p:to>
                                        <p:strVal val="visible"/>
                                      </p:to>
                                    </p:set>
                                    <p:animEffect transition="in" filter="barn(inVertical)">
                                      <p:cBhvr>
                                        <p:cTn id="15" dur="500"/>
                                        <p:tgtEl>
                                          <p:spTgt spid="1434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4341">
                                            <p:txEl>
                                              <p:pRg st="0" end="0"/>
                                            </p:txEl>
                                          </p:spTgt>
                                        </p:tgtEl>
                                        <p:attrNameLst>
                                          <p:attrName>style.visibility</p:attrName>
                                        </p:attrNameLst>
                                      </p:cBhvr>
                                      <p:to>
                                        <p:strVal val="visible"/>
                                      </p:to>
                                    </p:set>
                                    <p:animEffect transition="in" filter="barn(inVertical)">
                                      <p:cBhvr>
                                        <p:cTn id="20" dur="500"/>
                                        <p:tgtEl>
                                          <p:spTgt spid="14341">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14341">
                                            <p:txEl>
                                              <p:pRg st="1" end="1"/>
                                            </p:txEl>
                                          </p:spTgt>
                                        </p:tgtEl>
                                        <p:attrNameLst>
                                          <p:attrName>style.visibility</p:attrName>
                                        </p:attrNameLst>
                                      </p:cBhvr>
                                      <p:to>
                                        <p:strVal val="visible"/>
                                      </p:to>
                                    </p:set>
                                    <p:animEffect transition="in" filter="barn(inVertical)">
                                      <p:cBhvr>
                                        <p:cTn id="25" dur="500"/>
                                        <p:tgtEl>
                                          <p:spTgt spid="14341">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14341">
                                            <p:txEl>
                                              <p:pRg st="2" end="2"/>
                                            </p:txEl>
                                          </p:spTgt>
                                        </p:tgtEl>
                                        <p:attrNameLst>
                                          <p:attrName>style.visibility</p:attrName>
                                        </p:attrNameLst>
                                      </p:cBhvr>
                                      <p:to>
                                        <p:strVal val="visible"/>
                                      </p:to>
                                    </p:set>
                                    <p:animEffect transition="in" filter="barn(inVertical)">
                                      <p:cBhvr>
                                        <p:cTn id="30" dur="500"/>
                                        <p:tgtEl>
                                          <p:spTgt spid="14341">
                                            <p:txEl>
                                              <p:pRg st="2" end="2"/>
                                            </p:txEl>
                                          </p:spTgt>
                                        </p:tgtEl>
                                      </p:cBhvr>
                                    </p:animEffect>
                                  </p:childTnLst>
                                </p:cTn>
                              </p:par>
                              <p:par>
                                <p:cTn id="31" presetID="16" presetClass="entr" presetSubtype="21"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arn(inVertical)">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p:bldP spid="143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p:cNvSpPr txBox="1">
            <a:spLocks noChangeArrowheads="1"/>
          </p:cNvSpPr>
          <p:nvPr/>
        </p:nvSpPr>
        <p:spPr bwMode="auto">
          <a:xfrm>
            <a:off x="863600" y="777013"/>
            <a:ext cx="7924800" cy="1754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lnSpc>
                <a:spcPct val="150000"/>
              </a:lnSpc>
              <a:spcBef>
                <a:spcPct val="50000"/>
              </a:spcBef>
            </a:pPr>
            <a:r>
              <a:rPr lang="zh-CN" altLang="en-US" dirty="0">
                <a:solidFill>
                  <a:schemeClr val="tx2"/>
                </a:solidFill>
              </a:rPr>
              <a:t>取恒定电场中的任意一点（</a:t>
            </a:r>
            <a:r>
              <a:rPr lang="en-US" altLang="zh-CN" dirty="0">
                <a:solidFill>
                  <a:schemeClr val="tx2"/>
                </a:solidFill>
              </a:rPr>
              <a:t>O</a:t>
            </a:r>
            <a:r>
              <a:rPr lang="zh-CN" altLang="zh-CN" dirty="0">
                <a:solidFill>
                  <a:schemeClr val="tx2"/>
                </a:solidFill>
              </a:rPr>
              <a:t>点）</a:t>
            </a:r>
            <a:r>
              <a:rPr lang="zh-CN" altLang="en-US" dirty="0">
                <a:solidFill>
                  <a:schemeClr val="tx2"/>
                </a:solidFill>
              </a:rPr>
              <a:t>，设该点的电位为</a:t>
            </a:r>
            <a:r>
              <a:rPr lang="zh-CN" altLang="en-US" dirty="0">
                <a:solidFill>
                  <a:srgbClr val="FF0000"/>
                </a:solidFill>
              </a:rPr>
              <a:t>零</a:t>
            </a:r>
            <a:r>
              <a:rPr lang="zh-CN" altLang="en-US" dirty="0"/>
              <a:t>，称</a:t>
            </a:r>
            <a:r>
              <a:rPr lang="en-US" altLang="zh-CN" dirty="0">
                <a:solidFill>
                  <a:schemeClr val="tx2"/>
                </a:solidFill>
              </a:rPr>
              <a:t>O</a:t>
            </a:r>
            <a:r>
              <a:rPr lang="zh-CN" altLang="en-US" dirty="0">
                <a:solidFill>
                  <a:schemeClr val="tx2"/>
                </a:solidFill>
              </a:rPr>
              <a:t>点为</a:t>
            </a:r>
            <a:r>
              <a:rPr lang="zh-CN" altLang="en-US" dirty="0">
                <a:solidFill>
                  <a:srgbClr val="FF0000"/>
                </a:solidFill>
              </a:rPr>
              <a:t>参考点</a:t>
            </a:r>
            <a:r>
              <a:rPr lang="zh-CN" altLang="en-US" dirty="0">
                <a:solidFill>
                  <a:schemeClr val="tx2"/>
                </a:solidFill>
              </a:rPr>
              <a:t>。则电场中一点</a:t>
            </a:r>
            <a:r>
              <a:rPr lang="en-US" altLang="zh-CN" dirty="0">
                <a:solidFill>
                  <a:schemeClr val="tx2"/>
                </a:solidFill>
              </a:rPr>
              <a:t>a</a:t>
            </a:r>
            <a:r>
              <a:rPr lang="zh-CN" altLang="en-US" dirty="0">
                <a:solidFill>
                  <a:schemeClr val="tx2"/>
                </a:solidFill>
              </a:rPr>
              <a:t>到</a:t>
            </a:r>
            <a:r>
              <a:rPr lang="en-US" altLang="zh-CN" dirty="0">
                <a:solidFill>
                  <a:schemeClr val="tx2"/>
                </a:solidFill>
              </a:rPr>
              <a:t>O</a:t>
            </a:r>
            <a:r>
              <a:rPr lang="zh-CN" altLang="en-US" dirty="0">
                <a:solidFill>
                  <a:schemeClr val="tx2"/>
                </a:solidFill>
              </a:rPr>
              <a:t>点的电压</a:t>
            </a:r>
            <a:r>
              <a:rPr lang="en-US" altLang="zh-CN" i="1" dirty="0" err="1">
                <a:solidFill>
                  <a:schemeClr val="tx2"/>
                </a:solidFill>
              </a:rPr>
              <a:t>v</a:t>
            </a:r>
            <a:r>
              <a:rPr lang="en-US" altLang="zh-CN" i="1" baseline="-25000" dirty="0" err="1">
                <a:solidFill>
                  <a:schemeClr val="tx2"/>
                </a:solidFill>
              </a:rPr>
              <a:t>aO</a:t>
            </a:r>
            <a:r>
              <a:rPr lang="zh-CN" altLang="en-US" dirty="0">
                <a:solidFill>
                  <a:schemeClr val="tx2"/>
                </a:solidFill>
              </a:rPr>
              <a:t>称为</a:t>
            </a:r>
            <a:r>
              <a:rPr lang="en-US" altLang="zh-CN" dirty="0">
                <a:solidFill>
                  <a:schemeClr val="tx2"/>
                </a:solidFill>
              </a:rPr>
              <a:t>a</a:t>
            </a:r>
            <a:r>
              <a:rPr lang="zh-CN" altLang="en-US" dirty="0">
                <a:solidFill>
                  <a:schemeClr val="tx2"/>
                </a:solidFill>
              </a:rPr>
              <a:t>点的电位，记为</a:t>
            </a:r>
            <a:r>
              <a:rPr lang="en-US" altLang="zh-CN" i="1" dirty="0" err="1">
                <a:solidFill>
                  <a:schemeClr val="tx2"/>
                </a:solidFill>
                <a:sym typeface="Symbol" pitchFamily="18" charset="2"/>
              </a:rPr>
              <a:t>v</a:t>
            </a:r>
            <a:r>
              <a:rPr lang="en-US" altLang="zh-CN" i="1" baseline="-25000" dirty="0" err="1">
                <a:solidFill>
                  <a:schemeClr val="tx2"/>
                </a:solidFill>
                <a:sym typeface="Symbol" pitchFamily="18" charset="2"/>
              </a:rPr>
              <a:t>a</a:t>
            </a:r>
            <a:r>
              <a:rPr lang="en-US" altLang="zh-CN" baseline="-25000" dirty="0">
                <a:solidFill>
                  <a:schemeClr val="tx2"/>
                </a:solidFill>
                <a:sym typeface="Symbol" pitchFamily="18" charset="2"/>
              </a:rPr>
              <a:t> </a:t>
            </a:r>
            <a:r>
              <a:rPr lang="zh-CN" altLang="en-US" baseline="-25000" dirty="0">
                <a:solidFill>
                  <a:schemeClr val="tx2"/>
                </a:solidFill>
                <a:sym typeface="Symbol" pitchFamily="18" charset="2"/>
              </a:rPr>
              <a:t>。</a:t>
            </a:r>
            <a:endParaRPr lang="zh-CN" altLang="en-US" dirty="0">
              <a:solidFill>
                <a:schemeClr val="tx2"/>
              </a:solidFill>
              <a:sym typeface="Symbol" pitchFamily="18" charset="2"/>
            </a:endParaRPr>
          </a:p>
        </p:txBody>
      </p:sp>
      <p:grpSp>
        <p:nvGrpSpPr>
          <p:cNvPr id="365572" name="Group 4"/>
          <p:cNvGrpSpPr>
            <a:grpSpLocks/>
          </p:cNvGrpSpPr>
          <p:nvPr/>
        </p:nvGrpSpPr>
        <p:grpSpPr bwMode="auto">
          <a:xfrm>
            <a:off x="2798763" y="4475163"/>
            <a:ext cx="635000" cy="304800"/>
            <a:chOff x="2288" y="3608"/>
            <a:chExt cx="400" cy="192"/>
          </a:xfrm>
        </p:grpSpPr>
        <p:sp>
          <p:nvSpPr>
            <p:cNvPr id="15386" name="Freeform 5"/>
            <p:cNvSpPr>
              <a:spLocks/>
            </p:cNvSpPr>
            <p:nvPr/>
          </p:nvSpPr>
          <p:spPr bwMode="auto">
            <a:xfrm>
              <a:off x="2288" y="3608"/>
              <a:ext cx="304" cy="96"/>
            </a:xfrm>
            <a:custGeom>
              <a:avLst/>
              <a:gdLst>
                <a:gd name="T0" fmla="*/ 0 w 144"/>
                <a:gd name="T1" fmla="*/ 0 h 96"/>
                <a:gd name="T2" fmla="*/ 304 w 144"/>
                <a:gd name="T3" fmla="*/ 0 h 96"/>
                <a:gd name="T4" fmla="*/ 304 w 144"/>
                <a:gd name="T5" fmla="*/ 96 h 96"/>
                <a:gd name="T6" fmla="*/ 0 60000 65536"/>
                <a:gd name="T7" fmla="*/ 0 60000 65536"/>
                <a:gd name="T8" fmla="*/ 0 60000 65536"/>
              </a:gdLst>
              <a:ahLst/>
              <a:cxnLst>
                <a:cxn ang="T6">
                  <a:pos x="T0" y="T1"/>
                </a:cxn>
                <a:cxn ang="T7">
                  <a:pos x="T2" y="T3"/>
                </a:cxn>
                <a:cxn ang="T8">
                  <a:pos x="T4" y="T5"/>
                </a:cxn>
              </a:cxnLst>
              <a:rect l="0" t="0" r="r" b="b"/>
              <a:pathLst>
                <a:path w="144" h="96">
                  <a:moveTo>
                    <a:pt x="0" y="0"/>
                  </a:moveTo>
                  <a:lnTo>
                    <a:pt x="144" y="0"/>
                  </a:lnTo>
                  <a:lnTo>
                    <a:pt x="144" y="96"/>
                  </a:lnTo>
                </a:path>
              </a:pathLst>
            </a:custGeom>
            <a:noFill/>
            <a:ln w="28575" cap="flat" cmpd="sng">
              <a:solidFill>
                <a:srgbClr val="FF00FF"/>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7" name="Line 6"/>
            <p:cNvSpPr>
              <a:spLocks noChangeShapeType="1"/>
            </p:cNvSpPr>
            <p:nvPr/>
          </p:nvSpPr>
          <p:spPr bwMode="auto">
            <a:xfrm>
              <a:off x="2496" y="3704"/>
              <a:ext cx="192" cy="0"/>
            </a:xfrm>
            <a:prstGeom prst="line">
              <a:avLst/>
            </a:prstGeom>
            <a:noFill/>
            <a:ln w="2857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8" name="Line 7"/>
            <p:cNvSpPr>
              <a:spLocks noChangeShapeType="1"/>
            </p:cNvSpPr>
            <p:nvPr/>
          </p:nvSpPr>
          <p:spPr bwMode="auto">
            <a:xfrm>
              <a:off x="2544" y="3752"/>
              <a:ext cx="96" cy="0"/>
            </a:xfrm>
            <a:prstGeom prst="line">
              <a:avLst/>
            </a:prstGeom>
            <a:noFill/>
            <a:ln w="2857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9" name="Line 8"/>
            <p:cNvSpPr>
              <a:spLocks noChangeShapeType="1"/>
            </p:cNvSpPr>
            <p:nvPr/>
          </p:nvSpPr>
          <p:spPr bwMode="auto">
            <a:xfrm>
              <a:off x="2568" y="3800"/>
              <a:ext cx="48" cy="0"/>
            </a:xfrm>
            <a:prstGeom prst="line">
              <a:avLst/>
            </a:prstGeom>
            <a:noFill/>
            <a:ln w="28575">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65577" name="Group 9"/>
          <p:cNvGrpSpPr>
            <a:grpSpLocks/>
          </p:cNvGrpSpPr>
          <p:nvPr/>
        </p:nvGrpSpPr>
        <p:grpSpPr bwMode="auto">
          <a:xfrm>
            <a:off x="900113" y="2881313"/>
            <a:ext cx="2387600" cy="1974850"/>
            <a:chOff x="688" y="2396"/>
            <a:chExt cx="1504" cy="1244"/>
          </a:xfrm>
        </p:grpSpPr>
        <p:grpSp>
          <p:nvGrpSpPr>
            <p:cNvPr id="15368" name="Group 10"/>
            <p:cNvGrpSpPr>
              <a:grpSpLocks/>
            </p:cNvGrpSpPr>
            <p:nvPr/>
          </p:nvGrpSpPr>
          <p:grpSpPr bwMode="auto">
            <a:xfrm>
              <a:off x="880" y="2920"/>
              <a:ext cx="192" cy="96"/>
              <a:chOff x="864" y="2640"/>
              <a:chExt cx="240" cy="96"/>
            </a:xfrm>
          </p:grpSpPr>
          <p:sp>
            <p:nvSpPr>
              <p:cNvPr id="15384" name="Line 11"/>
              <p:cNvSpPr>
                <a:spLocks noChangeShapeType="1"/>
              </p:cNvSpPr>
              <p:nvPr/>
            </p:nvSpPr>
            <p:spPr bwMode="auto">
              <a:xfrm>
                <a:off x="864" y="2640"/>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5" name="Line 12"/>
              <p:cNvSpPr>
                <a:spLocks noChangeShapeType="1"/>
              </p:cNvSpPr>
              <p:nvPr/>
            </p:nvSpPr>
            <p:spPr bwMode="auto">
              <a:xfrm>
                <a:off x="912" y="2736"/>
                <a:ext cx="1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369" name="Rectangle 13"/>
            <p:cNvSpPr>
              <a:spLocks noChangeArrowheads="1"/>
            </p:cNvSpPr>
            <p:nvPr/>
          </p:nvSpPr>
          <p:spPr bwMode="auto">
            <a:xfrm rot="-5400000">
              <a:off x="1432" y="3280"/>
              <a:ext cx="96" cy="240"/>
            </a:xfrm>
            <a:prstGeom prst="rect">
              <a:avLst/>
            </a:prstGeom>
            <a:solidFill>
              <a:srgbClr val="00FFCC"/>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5370" name="Rectangle 14"/>
            <p:cNvSpPr>
              <a:spLocks noChangeArrowheads="1"/>
            </p:cNvSpPr>
            <p:nvPr/>
          </p:nvSpPr>
          <p:spPr bwMode="auto">
            <a:xfrm rot="-5400000">
              <a:off x="1384" y="2512"/>
              <a:ext cx="96" cy="240"/>
            </a:xfrm>
            <a:prstGeom prst="rect">
              <a:avLst/>
            </a:prstGeom>
            <a:solidFill>
              <a:srgbClr val="00FFCC"/>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5371" name="Rectangle 15"/>
            <p:cNvSpPr>
              <a:spLocks noChangeArrowheads="1"/>
            </p:cNvSpPr>
            <p:nvPr/>
          </p:nvSpPr>
          <p:spPr bwMode="auto">
            <a:xfrm>
              <a:off x="1840" y="2872"/>
              <a:ext cx="96" cy="240"/>
            </a:xfrm>
            <a:prstGeom prst="rect">
              <a:avLst/>
            </a:prstGeom>
            <a:solidFill>
              <a:srgbClr val="00FFCC"/>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5372" name="Freeform 16"/>
            <p:cNvSpPr>
              <a:spLocks/>
            </p:cNvSpPr>
            <p:nvPr/>
          </p:nvSpPr>
          <p:spPr bwMode="auto">
            <a:xfrm>
              <a:off x="976" y="2632"/>
              <a:ext cx="336" cy="288"/>
            </a:xfrm>
            <a:custGeom>
              <a:avLst/>
              <a:gdLst>
                <a:gd name="T0" fmla="*/ 0 w 384"/>
                <a:gd name="T1" fmla="*/ 288 h 288"/>
                <a:gd name="T2" fmla="*/ 0 w 384"/>
                <a:gd name="T3" fmla="*/ 0 h 288"/>
                <a:gd name="T4" fmla="*/ 336 w 384"/>
                <a:gd name="T5" fmla="*/ 0 h 288"/>
                <a:gd name="T6" fmla="*/ 0 60000 65536"/>
                <a:gd name="T7" fmla="*/ 0 60000 65536"/>
                <a:gd name="T8" fmla="*/ 0 60000 65536"/>
              </a:gdLst>
              <a:ahLst/>
              <a:cxnLst>
                <a:cxn ang="T6">
                  <a:pos x="T0" y="T1"/>
                </a:cxn>
                <a:cxn ang="T7">
                  <a:pos x="T2" y="T3"/>
                </a:cxn>
                <a:cxn ang="T8">
                  <a:pos x="T4" y="T5"/>
                </a:cxn>
              </a:cxnLst>
              <a:rect l="0" t="0" r="r" b="b"/>
              <a:pathLst>
                <a:path w="384" h="288">
                  <a:moveTo>
                    <a:pt x="0" y="288"/>
                  </a:moveTo>
                  <a:lnTo>
                    <a:pt x="0" y="0"/>
                  </a:lnTo>
                  <a:lnTo>
                    <a:pt x="384" y="0"/>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3" name="Freeform 17"/>
            <p:cNvSpPr>
              <a:spLocks/>
            </p:cNvSpPr>
            <p:nvPr/>
          </p:nvSpPr>
          <p:spPr bwMode="auto">
            <a:xfrm>
              <a:off x="1552" y="2631"/>
              <a:ext cx="336" cy="241"/>
            </a:xfrm>
            <a:custGeom>
              <a:avLst/>
              <a:gdLst>
                <a:gd name="T0" fmla="*/ 0 w 288"/>
                <a:gd name="T1" fmla="*/ 0 h 192"/>
                <a:gd name="T2" fmla="*/ 336 w 288"/>
                <a:gd name="T3" fmla="*/ 0 h 192"/>
                <a:gd name="T4" fmla="*/ 336 w 288"/>
                <a:gd name="T5" fmla="*/ 241 h 192"/>
                <a:gd name="T6" fmla="*/ 0 60000 65536"/>
                <a:gd name="T7" fmla="*/ 0 60000 65536"/>
                <a:gd name="T8" fmla="*/ 0 60000 65536"/>
              </a:gdLst>
              <a:ahLst/>
              <a:cxnLst>
                <a:cxn ang="T6">
                  <a:pos x="T0" y="T1"/>
                </a:cxn>
                <a:cxn ang="T7">
                  <a:pos x="T2" y="T3"/>
                </a:cxn>
                <a:cxn ang="T8">
                  <a:pos x="T4" y="T5"/>
                </a:cxn>
              </a:cxnLst>
              <a:rect l="0" t="0" r="r" b="b"/>
              <a:pathLst>
                <a:path w="288" h="192">
                  <a:moveTo>
                    <a:pt x="0" y="0"/>
                  </a:moveTo>
                  <a:lnTo>
                    <a:pt x="288" y="0"/>
                  </a:lnTo>
                  <a:lnTo>
                    <a:pt x="288" y="192"/>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4" name="Freeform 18"/>
            <p:cNvSpPr>
              <a:spLocks/>
            </p:cNvSpPr>
            <p:nvPr/>
          </p:nvSpPr>
          <p:spPr bwMode="auto">
            <a:xfrm>
              <a:off x="976" y="3016"/>
              <a:ext cx="384" cy="384"/>
            </a:xfrm>
            <a:custGeom>
              <a:avLst/>
              <a:gdLst>
                <a:gd name="T0" fmla="*/ 0 w 384"/>
                <a:gd name="T1" fmla="*/ 0 h 336"/>
                <a:gd name="T2" fmla="*/ 0 w 384"/>
                <a:gd name="T3" fmla="*/ 384 h 336"/>
                <a:gd name="T4" fmla="*/ 384 w 384"/>
                <a:gd name="T5" fmla="*/ 384 h 336"/>
                <a:gd name="T6" fmla="*/ 0 60000 65536"/>
                <a:gd name="T7" fmla="*/ 0 60000 65536"/>
                <a:gd name="T8" fmla="*/ 0 60000 65536"/>
              </a:gdLst>
              <a:ahLst/>
              <a:cxnLst>
                <a:cxn ang="T6">
                  <a:pos x="T0" y="T1"/>
                </a:cxn>
                <a:cxn ang="T7">
                  <a:pos x="T2" y="T3"/>
                </a:cxn>
                <a:cxn ang="T8">
                  <a:pos x="T4" y="T5"/>
                </a:cxn>
              </a:cxnLst>
              <a:rect l="0" t="0" r="r" b="b"/>
              <a:pathLst>
                <a:path w="384" h="336">
                  <a:moveTo>
                    <a:pt x="0" y="0"/>
                  </a:moveTo>
                  <a:lnTo>
                    <a:pt x="0" y="336"/>
                  </a:lnTo>
                  <a:lnTo>
                    <a:pt x="384" y="336"/>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5" name="Freeform 19"/>
            <p:cNvSpPr>
              <a:spLocks/>
            </p:cNvSpPr>
            <p:nvPr/>
          </p:nvSpPr>
          <p:spPr bwMode="auto">
            <a:xfrm>
              <a:off x="1600" y="3112"/>
              <a:ext cx="288" cy="288"/>
            </a:xfrm>
            <a:custGeom>
              <a:avLst/>
              <a:gdLst>
                <a:gd name="T0" fmla="*/ 0 w 336"/>
                <a:gd name="T1" fmla="*/ 288 h 336"/>
                <a:gd name="T2" fmla="*/ 288 w 336"/>
                <a:gd name="T3" fmla="*/ 288 h 336"/>
                <a:gd name="T4" fmla="*/ 288 w 336"/>
                <a:gd name="T5" fmla="*/ 0 h 336"/>
                <a:gd name="T6" fmla="*/ 0 60000 65536"/>
                <a:gd name="T7" fmla="*/ 0 60000 65536"/>
                <a:gd name="T8" fmla="*/ 0 60000 65536"/>
              </a:gdLst>
              <a:ahLst/>
              <a:cxnLst>
                <a:cxn ang="T6">
                  <a:pos x="T0" y="T1"/>
                </a:cxn>
                <a:cxn ang="T7">
                  <a:pos x="T2" y="T3"/>
                </a:cxn>
                <a:cxn ang="T8">
                  <a:pos x="T4" y="T5"/>
                </a:cxn>
              </a:cxnLst>
              <a:rect l="0" t="0" r="r" b="b"/>
              <a:pathLst>
                <a:path w="336" h="336">
                  <a:moveTo>
                    <a:pt x="0" y="336"/>
                  </a:moveTo>
                  <a:lnTo>
                    <a:pt x="336" y="336"/>
                  </a:lnTo>
                  <a:lnTo>
                    <a:pt x="336" y="0"/>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6" name="Oval 20"/>
            <p:cNvSpPr>
              <a:spLocks noChangeArrowheads="1"/>
            </p:cNvSpPr>
            <p:nvPr/>
          </p:nvSpPr>
          <p:spPr bwMode="auto">
            <a:xfrm>
              <a:off x="953" y="3376"/>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5377" name="Oval 21"/>
            <p:cNvSpPr>
              <a:spLocks noChangeArrowheads="1"/>
            </p:cNvSpPr>
            <p:nvPr/>
          </p:nvSpPr>
          <p:spPr bwMode="auto">
            <a:xfrm>
              <a:off x="953" y="2608"/>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5378" name="Oval 22"/>
            <p:cNvSpPr>
              <a:spLocks noChangeArrowheads="1"/>
            </p:cNvSpPr>
            <p:nvPr/>
          </p:nvSpPr>
          <p:spPr bwMode="auto">
            <a:xfrm>
              <a:off x="1864" y="3376"/>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5379" name="Oval 23"/>
            <p:cNvSpPr>
              <a:spLocks noChangeArrowheads="1"/>
            </p:cNvSpPr>
            <p:nvPr/>
          </p:nvSpPr>
          <p:spPr bwMode="auto">
            <a:xfrm>
              <a:off x="1864" y="2608"/>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5380" name="Text Box 24"/>
            <p:cNvSpPr txBox="1">
              <a:spLocks noChangeArrowheads="1"/>
            </p:cNvSpPr>
            <p:nvPr/>
          </p:nvSpPr>
          <p:spPr bwMode="auto">
            <a:xfrm>
              <a:off x="696" y="2396"/>
              <a:ext cx="3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rPr>
                <a:t>a</a:t>
              </a:r>
            </a:p>
          </p:txBody>
        </p:sp>
        <p:sp>
          <p:nvSpPr>
            <p:cNvPr id="15381" name="Text Box 25"/>
            <p:cNvSpPr txBox="1">
              <a:spLocks noChangeArrowheads="1"/>
            </p:cNvSpPr>
            <p:nvPr/>
          </p:nvSpPr>
          <p:spPr bwMode="auto">
            <a:xfrm>
              <a:off x="1904" y="242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rPr>
                <a:t>b</a:t>
              </a:r>
            </a:p>
          </p:txBody>
        </p:sp>
        <p:sp>
          <p:nvSpPr>
            <p:cNvPr id="15382" name="Text Box 26"/>
            <p:cNvSpPr txBox="1">
              <a:spLocks noChangeArrowheads="1"/>
            </p:cNvSpPr>
            <p:nvPr/>
          </p:nvSpPr>
          <p:spPr bwMode="auto">
            <a:xfrm>
              <a:off x="1784" y="3343"/>
              <a:ext cx="24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rPr>
                <a:t>c</a:t>
              </a:r>
            </a:p>
          </p:txBody>
        </p:sp>
        <p:sp>
          <p:nvSpPr>
            <p:cNvPr id="15383" name="Text Box 27"/>
            <p:cNvSpPr txBox="1">
              <a:spLocks noChangeArrowheads="1"/>
            </p:cNvSpPr>
            <p:nvPr/>
          </p:nvSpPr>
          <p:spPr bwMode="auto">
            <a:xfrm>
              <a:off x="688" y="335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rPr>
                <a:t>d</a:t>
              </a:r>
            </a:p>
          </p:txBody>
        </p:sp>
      </p:grpSp>
      <p:sp>
        <p:nvSpPr>
          <p:cNvPr id="365596" name="Text Box 28"/>
          <p:cNvSpPr txBox="1">
            <a:spLocks noChangeArrowheads="1"/>
          </p:cNvSpPr>
          <p:nvPr/>
        </p:nvSpPr>
        <p:spPr bwMode="auto">
          <a:xfrm>
            <a:off x="3687763" y="3440113"/>
            <a:ext cx="426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chemeClr val="tx2"/>
                </a:solidFill>
              </a:rPr>
              <a:t>设</a:t>
            </a:r>
            <a:r>
              <a:rPr lang="en-US" altLang="zh-CN" dirty="0">
                <a:solidFill>
                  <a:schemeClr val="tx2"/>
                </a:solidFill>
              </a:rPr>
              <a:t>c</a:t>
            </a:r>
            <a:r>
              <a:rPr lang="zh-CN" altLang="en-US" dirty="0">
                <a:solidFill>
                  <a:schemeClr val="tx2"/>
                </a:solidFill>
              </a:rPr>
              <a:t>点为电位参考点，则  </a:t>
            </a:r>
            <a:r>
              <a:rPr lang="en-US" altLang="zh-CN" i="1" dirty="0" err="1">
                <a:solidFill>
                  <a:srgbClr val="FF00FF"/>
                </a:solidFill>
                <a:sym typeface="Symbol" pitchFamily="18" charset="2"/>
              </a:rPr>
              <a:t>v</a:t>
            </a:r>
            <a:r>
              <a:rPr lang="en-US" altLang="zh-CN" i="1" baseline="-25000" dirty="0" err="1">
                <a:solidFill>
                  <a:srgbClr val="FF00FF"/>
                </a:solidFill>
                <a:sym typeface="Symbol" pitchFamily="18" charset="2"/>
              </a:rPr>
              <a:t>c</a:t>
            </a:r>
            <a:r>
              <a:rPr lang="en-US" altLang="zh-CN" dirty="0">
                <a:solidFill>
                  <a:srgbClr val="FF00FF"/>
                </a:solidFill>
                <a:sym typeface="Symbol" pitchFamily="18" charset="2"/>
              </a:rPr>
              <a:t>= 0</a:t>
            </a:r>
          </a:p>
        </p:txBody>
      </p:sp>
      <p:sp>
        <p:nvSpPr>
          <p:cNvPr id="365597" name="Text Box 29"/>
          <p:cNvSpPr txBox="1">
            <a:spLocks noChangeArrowheads="1"/>
          </p:cNvSpPr>
          <p:nvPr/>
        </p:nvSpPr>
        <p:spPr bwMode="auto">
          <a:xfrm>
            <a:off x="3598863" y="4384676"/>
            <a:ext cx="4749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err="1">
                <a:solidFill>
                  <a:schemeClr val="tx2"/>
                </a:solidFill>
                <a:sym typeface="Symbol" pitchFamily="18" charset="2"/>
              </a:rPr>
              <a:t>v</a:t>
            </a:r>
            <a:r>
              <a:rPr lang="en-US" altLang="zh-CN" i="1" baseline="-25000" dirty="0" err="1">
                <a:solidFill>
                  <a:schemeClr val="tx2"/>
                </a:solidFill>
                <a:sym typeface="Symbol" pitchFamily="18" charset="2"/>
              </a:rPr>
              <a:t>a</a:t>
            </a:r>
            <a:r>
              <a:rPr lang="en-US" altLang="zh-CN" i="1" dirty="0">
                <a:solidFill>
                  <a:schemeClr val="tx2"/>
                </a:solidFill>
                <a:sym typeface="Symbol" pitchFamily="18" charset="2"/>
              </a:rPr>
              <a:t>= </a:t>
            </a:r>
            <a:r>
              <a:rPr lang="en-US" altLang="zh-CN" i="1" dirty="0" err="1">
                <a:solidFill>
                  <a:schemeClr val="tx2"/>
                </a:solidFill>
                <a:sym typeface="Symbol" pitchFamily="18" charset="2"/>
              </a:rPr>
              <a:t>v</a:t>
            </a:r>
            <a:r>
              <a:rPr lang="en-US" altLang="zh-CN" i="1" baseline="-25000" dirty="0" err="1">
                <a:solidFill>
                  <a:schemeClr val="tx2"/>
                </a:solidFill>
                <a:sym typeface="Symbol" pitchFamily="18" charset="2"/>
              </a:rPr>
              <a:t>ac</a:t>
            </a:r>
            <a:r>
              <a:rPr lang="zh-CN" altLang="en-US" i="1" dirty="0">
                <a:solidFill>
                  <a:schemeClr val="tx2"/>
                </a:solidFill>
                <a:sym typeface="Symbol" pitchFamily="18" charset="2"/>
              </a:rPr>
              <a:t>， </a:t>
            </a:r>
            <a:r>
              <a:rPr lang="en-US" altLang="zh-CN" i="1" dirty="0">
                <a:solidFill>
                  <a:schemeClr val="tx2"/>
                </a:solidFill>
                <a:sym typeface="Symbol" pitchFamily="18" charset="2"/>
              </a:rPr>
              <a:t>v</a:t>
            </a:r>
            <a:r>
              <a:rPr lang="en-US" altLang="zh-CN" i="1" dirty="0">
                <a:sym typeface="Symbol" pitchFamily="18" charset="2"/>
              </a:rPr>
              <a:t> </a:t>
            </a:r>
            <a:r>
              <a:rPr lang="en-US" altLang="zh-CN" i="1" baseline="-25000" dirty="0">
                <a:solidFill>
                  <a:schemeClr val="tx2"/>
                </a:solidFill>
                <a:sym typeface="Symbol" pitchFamily="18" charset="2"/>
              </a:rPr>
              <a:t>b</a:t>
            </a:r>
            <a:r>
              <a:rPr lang="en-US" altLang="zh-CN" i="1" dirty="0">
                <a:solidFill>
                  <a:schemeClr val="tx2"/>
                </a:solidFill>
                <a:sym typeface="Symbol" pitchFamily="18" charset="2"/>
              </a:rPr>
              <a:t>= </a:t>
            </a:r>
            <a:r>
              <a:rPr lang="en-US" altLang="zh-CN" i="1" dirty="0" err="1">
                <a:solidFill>
                  <a:schemeClr val="tx2"/>
                </a:solidFill>
                <a:sym typeface="Symbol" pitchFamily="18" charset="2"/>
              </a:rPr>
              <a:t>v</a:t>
            </a:r>
            <a:r>
              <a:rPr lang="en-US" altLang="zh-CN" i="1" baseline="-25000" dirty="0" err="1">
                <a:solidFill>
                  <a:schemeClr val="tx2"/>
                </a:solidFill>
                <a:sym typeface="Symbol" pitchFamily="18" charset="2"/>
              </a:rPr>
              <a:t>bc</a:t>
            </a:r>
            <a:r>
              <a:rPr lang="zh-CN" altLang="en-US" i="1" dirty="0">
                <a:solidFill>
                  <a:schemeClr val="tx2"/>
                </a:solidFill>
                <a:sym typeface="Symbol" pitchFamily="18" charset="2"/>
              </a:rPr>
              <a:t>， </a:t>
            </a:r>
            <a:r>
              <a:rPr lang="en-US" altLang="zh-CN" i="1" dirty="0" err="1">
                <a:solidFill>
                  <a:schemeClr val="tx2"/>
                </a:solidFill>
                <a:sym typeface="Symbol" pitchFamily="18" charset="2"/>
              </a:rPr>
              <a:t>v</a:t>
            </a:r>
            <a:r>
              <a:rPr lang="en-US" altLang="zh-CN" i="1" baseline="-25000" dirty="0" err="1">
                <a:solidFill>
                  <a:schemeClr val="tx2"/>
                </a:solidFill>
                <a:sym typeface="Symbol" pitchFamily="18" charset="2"/>
              </a:rPr>
              <a:t>d</a:t>
            </a:r>
            <a:r>
              <a:rPr lang="en-US" altLang="zh-CN" i="1" baseline="-25000" dirty="0">
                <a:solidFill>
                  <a:schemeClr val="tx2"/>
                </a:solidFill>
                <a:sym typeface="Symbol" pitchFamily="18" charset="2"/>
              </a:rPr>
              <a:t> </a:t>
            </a:r>
            <a:r>
              <a:rPr lang="en-US" altLang="zh-CN" i="1" dirty="0">
                <a:solidFill>
                  <a:schemeClr val="tx2"/>
                </a:solidFill>
                <a:sym typeface="Symbol" pitchFamily="18" charset="2"/>
              </a:rPr>
              <a:t>= v</a:t>
            </a:r>
            <a:r>
              <a:rPr lang="en-US" altLang="zh-CN" i="1" dirty="0">
                <a:sym typeface="Symbol" pitchFamily="18" charset="2"/>
              </a:rPr>
              <a:t> </a:t>
            </a:r>
            <a:r>
              <a:rPr lang="en-US" altLang="zh-CN" i="1" baseline="-25000" dirty="0">
                <a:solidFill>
                  <a:schemeClr val="tx2"/>
                </a:solidFill>
                <a:sym typeface="Symbol" pitchFamily="18" charset="2"/>
              </a:rPr>
              <a:t>dc</a:t>
            </a:r>
          </a:p>
        </p:txBody>
      </p:sp>
      <p:sp>
        <p:nvSpPr>
          <p:cNvPr id="365598" name="Text Box 30"/>
          <p:cNvSpPr txBox="1">
            <a:spLocks noChangeArrowheads="1"/>
          </p:cNvSpPr>
          <p:nvPr/>
        </p:nvSpPr>
        <p:spPr bwMode="auto">
          <a:xfrm>
            <a:off x="4346575" y="5153025"/>
            <a:ext cx="24114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i="1" dirty="0" err="1">
                <a:solidFill>
                  <a:schemeClr val="tx2"/>
                </a:solidFill>
                <a:sym typeface="Symbol" pitchFamily="18" charset="2"/>
              </a:rPr>
              <a:t>v</a:t>
            </a:r>
            <a:r>
              <a:rPr lang="en-US" altLang="zh-CN" i="1" baseline="-25000" dirty="0" err="1">
                <a:solidFill>
                  <a:schemeClr val="tx2"/>
                </a:solidFill>
                <a:sym typeface="Symbol" pitchFamily="18" charset="2"/>
              </a:rPr>
              <a:t>ab</a:t>
            </a:r>
            <a:r>
              <a:rPr lang="en-US" altLang="zh-CN" i="1" baseline="-25000" dirty="0">
                <a:solidFill>
                  <a:schemeClr val="tx2"/>
                </a:solidFill>
                <a:sym typeface="Symbol" pitchFamily="18" charset="2"/>
              </a:rPr>
              <a:t> </a:t>
            </a:r>
            <a:r>
              <a:rPr lang="en-US" altLang="zh-CN" dirty="0">
                <a:solidFill>
                  <a:schemeClr val="tx2"/>
                </a:solidFill>
                <a:sym typeface="Symbol" pitchFamily="18" charset="2"/>
              </a:rPr>
              <a:t>=</a:t>
            </a:r>
            <a:r>
              <a:rPr lang="en-US" altLang="zh-CN" baseline="-25000" dirty="0">
                <a:solidFill>
                  <a:schemeClr val="tx2"/>
                </a:solidFill>
                <a:sym typeface="Symbol" pitchFamily="18" charset="2"/>
              </a:rPr>
              <a:t> </a:t>
            </a:r>
            <a:r>
              <a:rPr lang="en-US" altLang="zh-CN" i="1" dirty="0" err="1">
                <a:solidFill>
                  <a:schemeClr val="tx2"/>
                </a:solidFill>
                <a:sym typeface="Symbol" pitchFamily="18" charset="2"/>
              </a:rPr>
              <a:t>v</a:t>
            </a:r>
            <a:r>
              <a:rPr lang="en-US" altLang="zh-CN" i="1" baseline="-25000" dirty="0" err="1">
                <a:solidFill>
                  <a:schemeClr val="tx2"/>
                </a:solidFill>
                <a:sym typeface="Symbol" pitchFamily="18" charset="2"/>
              </a:rPr>
              <a:t>a</a:t>
            </a:r>
            <a:r>
              <a:rPr lang="en-US" altLang="zh-CN" i="1" baseline="-25000" dirty="0">
                <a:solidFill>
                  <a:schemeClr val="tx2"/>
                </a:solidFill>
                <a:sym typeface="Symbol" pitchFamily="18" charset="2"/>
              </a:rPr>
              <a:t> </a:t>
            </a:r>
            <a:r>
              <a:rPr lang="en-US" altLang="zh-CN" dirty="0">
                <a:solidFill>
                  <a:schemeClr val="tx2"/>
                </a:solidFill>
                <a:latin typeface="黑体" pitchFamily="49" charset="-122"/>
                <a:ea typeface="黑体" pitchFamily="49" charset="-122"/>
                <a:sym typeface="Symbol" pitchFamily="18" charset="2"/>
              </a:rPr>
              <a:t>-</a:t>
            </a:r>
            <a:r>
              <a:rPr lang="en-US" altLang="zh-CN" i="1" dirty="0">
                <a:solidFill>
                  <a:schemeClr val="tx2"/>
                </a:solidFill>
                <a:latin typeface="黑体" pitchFamily="49" charset="-122"/>
                <a:ea typeface="黑体" pitchFamily="49" charset="-122"/>
                <a:sym typeface="Symbol" pitchFamily="18" charset="2"/>
              </a:rPr>
              <a:t> </a:t>
            </a:r>
            <a:r>
              <a:rPr lang="en-US" altLang="zh-CN" i="1" dirty="0" err="1">
                <a:solidFill>
                  <a:schemeClr val="tx2"/>
                </a:solidFill>
                <a:sym typeface="Symbol" pitchFamily="18" charset="2"/>
              </a:rPr>
              <a:t>v</a:t>
            </a:r>
            <a:r>
              <a:rPr lang="en-US" altLang="zh-CN" i="1" baseline="-25000" dirty="0" err="1">
                <a:solidFill>
                  <a:schemeClr val="tx2"/>
                </a:solidFill>
                <a:sym typeface="Symbol" pitchFamily="18" charset="2"/>
              </a:rPr>
              <a:t>b</a:t>
            </a:r>
            <a:endParaRPr lang="en-US" altLang="zh-CN" i="1" baseline="-25000" dirty="0">
              <a:solidFill>
                <a:schemeClr val="tx2"/>
              </a:solidFill>
              <a:sym typeface="Symbol" pitchFamily="18" charset="2"/>
            </a:endParaRPr>
          </a:p>
        </p:txBody>
      </p:sp>
    </p:spTree>
    <p:extLst>
      <p:ext uri="{BB962C8B-B14F-4D97-AF65-F5344CB8AC3E}">
        <p14:creationId xmlns:p14="http://schemas.microsoft.com/office/powerpoint/2010/main" val="415263175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barn(inVertical)">
                                      <p:cBhvr>
                                        <p:cTn id="7" dur="500"/>
                                        <p:tgtEl>
                                          <p:spTgt spid="1536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65572"/>
                                        </p:tgtEl>
                                        <p:attrNameLst>
                                          <p:attrName>style.visibility</p:attrName>
                                        </p:attrNameLst>
                                      </p:cBhvr>
                                      <p:to>
                                        <p:strVal val="visible"/>
                                      </p:to>
                                    </p:set>
                                    <p:animEffect transition="in" filter="barn(inVertical)">
                                      <p:cBhvr>
                                        <p:cTn id="12" dur="500"/>
                                        <p:tgtEl>
                                          <p:spTgt spid="365572"/>
                                        </p:tgtEl>
                                      </p:cBhvr>
                                    </p:animEffect>
                                  </p:childTnLst>
                                </p:cTn>
                              </p:par>
                              <p:par>
                                <p:cTn id="13" presetID="16" presetClass="entr" presetSubtype="21" fill="hold" nodeType="withEffect">
                                  <p:stCondLst>
                                    <p:cond delay="0"/>
                                  </p:stCondLst>
                                  <p:childTnLst>
                                    <p:set>
                                      <p:cBhvr>
                                        <p:cTn id="14" dur="1" fill="hold">
                                          <p:stCondLst>
                                            <p:cond delay="0"/>
                                          </p:stCondLst>
                                        </p:cTn>
                                        <p:tgtEl>
                                          <p:spTgt spid="365577"/>
                                        </p:tgtEl>
                                        <p:attrNameLst>
                                          <p:attrName>style.visibility</p:attrName>
                                        </p:attrNameLst>
                                      </p:cBhvr>
                                      <p:to>
                                        <p:strVal val="visible"/>
                                      </p:to>
                                    </p:set>
                                    <p:animEffect transition="in" filter="barn(inVertical)">
                                      <p:cBhvr>
                                        <p:cTn id="15" dur="500"/>
                                        <p:tgtEl>
                                          <p:spTgt spid="365577"/>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65596"/>
                                        </p:tgtEl>
                                        <p:attrNameLst>
                                          <p:attrName>style.visibility</p:attrName>
                                        </p:attrNameLst>
                                      </p:cBhvr>
                                      <p:to>
                                        <p:strVal val="visible"/>
                                      </p:to>
                                    </p:set>
                                    <p:animEffect transition="in" filter="barn(inVertical)">
                                      <p:cBhvr>
                                        <p:cTn id="20" dur="500"/>
                                        <p:tgtEl>
                                          <p:spTgt spid="365596"/>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365597"/>
                                        </p:tgtEl>
                                        <p:attrNameLst>
                                          <p:attrName>style.visibility</p:attrName>
                                        </p:attrNameLst>
                                      </p:cBhvr>
                                      <p:to>
                                        <p:strVal val="visible"/>
                                      </p:to>
                                    </p:set>
                                    <p:animEffect transition="in" filter="barn(inVertical)">
                                      <p:cBhvr>
                                        <p:cTn id="25" dur="500"/>
                                        <p:tgtEl>
                                          <p:spTgt spid="365597"/>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365598"/>
                                        </p:tgtEl>
                                        <p:attrNameLst>
                                          <p:attrName>style.visibility</p:attrName>
                                        </p:attrNameLst>
                                      </p:cBhvr>
                                      <p:to>
                                        <p:strVal val="visible"/>
                                      </p:to>
                                    </p:set>
                                    <p:animEffect transition="in" filter="barn(inVertical)">
                                      <p:cBhvr>
                                        <p:cTn id="30" dur="500"/>
                                        <p:tgtEl>
                                          <p:spTgt spid="365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365596" grpId="0"/>
      <p:bldP spid="365597" grpId="0"/>
      <p:bldP spid="36559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3"/>
          <p:cNvSpPr txBox="1">
            <a:spLocks noChangeArrowheads="1"/>
          </p:cNvSpPr>
          <p:nvPr/>
        </p:nvSpPr>
        <p:spPr bwMode="auto">
          <a:xfrm>
            <a:off x="677863" y="573237"/>
            <a:ext cx="41894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dirty="0">
                <a:solidFill>
                  <a:srgbClr val="0000CC"/>
                </a:solidFill>
              </a:rPr>
              <a:t>2</a:t>
            </a:r>
            <a:r>
              <a:rPr lang="zh-CN" altLang="en-US" dirty="0">
                <a:solidFill>
                  <a:srgbClr val="0000CC"/>
                </a:solidFill>
              </a:rPr>
              <a:t>、</a:t>
            </a:r>
            <a:r>
              <a:rPr lang="zh-CN" altLang="en-US" dirty="0" smtClean="0">
                <a:solidFill>
                  <a:srgbClr val="0000CC"/>
                </a:solidFill>
              </a:rPr>
              <a:t>电压（降）的</a:t>
            </a:r>
            <a:r>
              <a:rPr lang="zh-CN" altLang="en-US" dirty="0">
                <a:solidFill>
                  <a:srgbClr val="0000CC"/>
                </a:solidFill>
              </a:rPr>
              <a:t>参考方向</a:t>
            </a:r>
            <a:endParaRPr lang="zh-CN" altLang="en-US" sz="3200" dirty="0">
              <a:solidFill>
                <a:srgbClr val="0000CC"/>
              </a:solidFill>
            </a:endParaRPr>
          </a:p>
        </p:txBody>
      </p:sp>
      <p:sp>
        <p:nvSpPr>
          <p:cNvPr id="16387" name="Rectangle 5"/>
          <p:cNvSpPr>
            <a:spLocks noChangeArrowheads="1"/>
          </p:cNvSpPr>
          <p:nvPr/>
        </p:nvSpPr>
        <p:spPr bwMode="auto">
          <a:xfrm>
            <a:off x="5686425" y="1838325"/>
            <a:ext cx="781050" cy="266700"/>
          </a:xfrm>
          <a:prstGeom prst="rect">
            <a:avLst/>
          </a:prstGeom>
          <a:solidFill>
            <a:srgbClr val="00FF00"/>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6388" name="Text Box 6"/>
          <p:cNvSpPr txBox="1">
            <a:spLocks noChangeArrowheads="1"/>
          </p:cNvSpPr>
          <p:nvPr/>
        </p:nvSpPr>
        <p:spPr bwMode="auto">
          <a:xfrm>
            <a:off x="7154863" y="1317625"/>
            <a:ext cx="2936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a:solidFill>
                  <a:srgbClr val="993300"/>
                </a:solidFill>
                <a:sym typeface="CommonBullets" pitchFamily="34" charset="2"/>
              </a:rPr>
              <a:t>+</a:t>
            </a:r>
            <a:endParaRPr lang="en-US" altLang="zh-CN" sz="2800">
              <a:solidFill>
                <a:srgbClr val="993300"/>
              </a:solidFill>
            </a:endParaRPr>
          </a:p>
        </p:txBody>
      </p:sp>
      <p:sp>
        <p:nvSpPr>
          <p:cNvPr id="16389" name="Line 7"/>
          <p:cNvSpPr>
            <a:spLocks noChangeShapeType="1"/>
          </p:cNvSpPr>
          <p:nvPr/>
        </p:nvSpPr>
        <p:spPr bwMode="auto">
          <a:xfrm flipV="1">
            <a:off x="4729163" y="1600200"/>
            <a:ext cx="171450" cy="3175"/>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0" name="Text Box 8"/>
          <p:cNvSpPr txBox="1">
            <a:spLocks noChangeArrowheads="1"/>
          </p:cNvSpPr>
          <p:nvPr/>
        </p:nvSpPr>
        <p:spPr bwMode="auto">
          <a:xfrm>
            <a:off x="5465763" y="1344613"/>
            <a:ext cx="1206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sz="2000">
                <a:solidFill>
                  <a:srgbClr val="993300"/>
                </a:solidFill>
              </a:rPr>
              <a:t>实际方向</a:t>
            </a:r>
          </a:p>
        </p:txBody>
      </p:sp>
      <p:sp>
        <p:nvSpPr>
          <p:cNvPr id="16391" name="Line 9"/>
          <p:cNvSpPr>
            <a:spLocks noChangeShapeType="1"/>
          </p:cNvSpPr>
          <p:nvPr/>
        </p:nvSpPr>
        <p:spPr bwMode="auto">
          <a:xfrm flipH="1">
            <a:off x="4883150" y="1974850"/>
            <a:ext cx="78105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2" name="Oval 10"/>
          <p:cNvSpPr>
            <a:spLocks noChangeArrowheads="1"/>
          </p:cNvSpPr>
          <p:nvPr/>
        </p:nvSpPr>
        <p:spPr bwMode="auto">
          <a:xfrm>
            <a:off x="4792663" y="1939925"/>
            <a:ext cx="74612" cy="76200"/>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6393" name="Line 11"/>
          <p:cNvSpPr>
            <a:spLocks noChangeShapeType="1"/>
          </p:cNvSpPr>
          <p:nvPr/>
        </p:nvSpPr>
        <p:spPr bwMode="auto">
          <a:xfrm>
            <a:off x="6494463" y="1962150"/>
            <a:ext cx="78105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Oval 12"/>
          <p:cNvSpPr>
            <a:spLocks noChangeArrowheads="1"/>
          </p:cNvSpPr>
          <p:nvPr/>
        </p:nvSpPr>
        <p:spPr bwMode="auto">
          <a:xfrm flipH="1">
            <a:off x="7291388" y="1927225"/>
            <a:ext cx="74612" cy="76200"/>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nvGrpSpPr>
          <p:cNvPr id="16395" name="Group 13"/>
          <p:cNvGrpSpPr>
            <a:grpSpLocks/>
          </p:cNvGrpSpPr>
          <p:nvPr/>
        </p:nvGrpSpPr>
        <p:grpSpPr bwMode="auto">
          <a:xfrm>
            <a:off x="1439863" y="2092325"/>
            <a:ext cx="2701925" cy="893763"/>
            <a:chOff x="1000" y="2824"/>
            <a:chExt cx="1702" cy="563"/>
          </a:xfrm>
        </p:grpSpPr>
        <p:sp>
          <p:nvSpPr>
            <p:cNvPr id="16453" name="Text Box 14"/>
            <p:cNvSpPr txBox="1">
              <a:spLocks noChangeArrowheads="1"/>
            </p:cNvSpPr>
            <p:nvPr/>
          </p:nvSpPr>
          <p:spPr bwMode="auto">
            <a:xfrm>
              <a:off x="1000" y="2824"/>
              <a:ext cx="18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a:solidFill>
                    <a:srgbClr val="0000CC"/>
                  </a:solidFill>
                  <a:sym typeface="CommonBullets" pitchFamily="34" charset="2"/>
                </a:rPr>
                <a:t>+</a:t>
              </a:r>
              <a:endParaRPr lang="en-US" altLang="zh-CN" sz="3200">
                <a:solidFill>
                  <a:srgbClr val="0000CC"/>
                </a:solidFill>
              </a:endParaRPr>
            </a:p>
          </p:txBody>
        </p:sp>
        <p:sp>
          <p:nvSpPr>
            <p:cNvPr id="16454" name="Line 15"/>
            <p:cNvSpPr>
              <a:spLocks noChangeShapeType="1"/>
            </p:cNvSpPr>
            <p:nvPr/>
          </p:nvSpPr>
          <p:spPr bwMode="auto">
            <a:xfrm>
              <a:off x="2576" y="3040"/>
              <a:ext cx="126" cy="4"/>
            </a:xfrm>
            <a:prstGeom prst="line">
              <a:avLst/>
            </a:prstGeom>
            <a:noFill/>
            <a:ln w="28575" cap="sq">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5" name="Text Box 16"/>
            <p:cNvSpPr txBox="1">
              <a:spLocks noChangeArrowheads="1"/>
            </p:cNvSpPr>
            <p:nvPr/>
          </p:nvSpPr>
          <p:spPr bwMode="auto">
            <a:xfrm>
              <a:off x="1326" y="3137"/>
              <a:ext cx="11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2000">
                  <a:solidFill>
                    <a:srgbClr val="0000CC"/>
                  </a:solidFill>
                </a:rPr>
                <a:t>（参考方向）</a:t>
              </a:r>
            </a:p>
          </p:txBody>
        </p:sp>
        <p:sp>
          <p:nvSpPr>
            <p:cNvPr id="16456" name="Text Box 17"/>
            <p:cNvSpPr txBox="1">
              <a:spLocks noChangeArrowheads="1"/>
            </p:cNvSpPr>
            <p:nvPr/>
          </p:nvSpPr>
          <p:spPr bwMode="auto">
            <a:xfrm>
              <a:off x="1732" y="2872"/>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0000CC"/>
                  </a:solidFill>
                  <a:sym typeface="Symbol" pitchFamily="18" charset="2"/>
                </a:rPr>
                <a:t>v</a:t>
              </a:r>
            </a:p>
          </p:txBody>
        </p:sp>
      </p:grpSp>
      <p:grpSp>
        <p:nvGrpSpPr>
          <p:cNvPr id="16396" name="Group 18"/>
          <p:cNvGrpSpPr>
            <a:grpSpLocks/>
          </p:cNvGrpSpPr>
          <p:nvPr/>
        </p:nvGrpSpPr>
        <p:grpSpPr bwMode="auto">
          <a:xfrm>
            <a:off x="4652963" y="2143125"/>
            <a:ext cx="2673350" cy="893763"/>
            <a:chOff x="3024" y="2856"/>
            <a:chExt cx="1684" cy="563"/>
          </a:xfrm>
        </p:grpSpPr>
        <p:sp>
          <p:nvSpPr>
            <p:cNvPr id="16449" name="Text Box 19"/>
            <p:cNvSpPr txBox="1">
              <a:spLocks noChangeArrowheads="1"/>
            </p:cNvSpPr>
            <p:nvPr/>
          </p:nvSpPr>
          <p:spPr bwMode="auto">
            <a:xfrm>
              <a:off x="3024" y="2856"/>
              <a:ext cx="18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a:solidFill>
                    <a:srgbClr val="0000CC"/>
                  </a:solidFill>
                  <a:sym typeface="CommonBullets" pitchFamily="34" charset="2"/>
                </a:rPr>
                <a:t>+</a:t>
              </a:r>
              <a:endParaRPr lang="en-US" altLang="zh-CN" sz="3200">
                <a:solidFill>
                  <a:srgbClr val="0000CC"/>
                </a:solidFill>
              </a:endParaRPr>
            </a:p>
          </p:txBody>
        </p:sp>
        <p:sp>
          <p:nvSpPr>
            <p:cNvPr id="16450" name="Line 20"/>
            <p:cNvSpPr>
              <a:spLocks noChangeShapeType="1"/>
            </p:cNvSpPr>
            <p:nvPr/>
          </p:nvSpPr>
          <p:spPr bwMode="auto">
            <a:xfrm flipV="1">
              <a:off x="4600" y="3070"/>
              <a:ext cx="108" cy="2"/>
            </a:xfrm>
            <a:prstGeom prst="line">
              <a:avLst/>
            </a:prstGeom>
            <a:noFill/>
            <a:ln w="28575" cap="sq">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51" name="Text Box 21"/>
            <p:cNvSpPr txBox="1">
              <a:spLocks noChangeArrowheads="1"/>
            </p:cNvSpPr>
            <p:nvPr/>
          </p:nvSpPr>
          <p:spPr bwMode="auto">
            <a:xfrm>
              <a:off x="3350" y="3169"/>
              <a:ext cx="11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2000">
                  <a:solidFill>
                    <a:srgbClr val="0000CC"/>
                  </a:solidFill>
                </a:rPr>
                <a:t>（参考方向）</a:t>
              </a:r>
            </a:p>
          </p:txBody>
        </p:sp>
        <p:sp>
          <p:nvSpPr>
            <p:cNvPr id="16452" name="Text Box 22"/>
            <p:cNvSpPr txBox="1">
              <a:spLocks noChangeArrowheads="1"/>
            </p:cNvSpPr>
            <p:nvPr/>
          </p:nvSpPr>
          <p:spPr bwMode="auto">
            <a:xfrm>
              <a:off x="3756" y="2904"/>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0000CC"/>
                  </a:solidFill>
                  <a:sym typeface="Symbol" pitchFamily="18" charset="2"/>
                </a:rPr>
                <a:t>v</a:t>
              </a:r>
            </a:p>
          </p:txBody>
        </p:sp>
      </p:grpSp>
      <p:sp>
        <p:nvSpPr>
          <p:cNvPr id="16397" name="Text Box 23"/>
          <p:cNvSpPr txBox="1">
            <a:spLocks noChangeArrowheads="1"/>
          </p:cNvSpPr>
          <p:nvPr/>
        </p:nvSpPr>
        <p:spPr bwMode="auto">
          <a:xfrm>
            <a:off x="2359025" y="3003550"/>
            <a:ext cx="931863"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Symbol" pitchFamily="18" charset="2"/>
              </a:rPr>
              <a:t>v</a:t>
            </a:r>
            <a:r>
              <a:rPr lang="en-US" altLang="zh-CN">
                <a:solidFill>
                  <a:srgbClr val="FF0000"/>
                </a:solidFill>
                <a:sym typeface="Symbol" pitchFamily="18" charset="2"/>
              </a:rPr>
              <a:t> </a:t>
            </a:r>
            <a:r>
              <a:rPr lang="en-US" altLang="zh-CN" sz="3200">
                <a:solidFill>
                  <a:srgbClr val="FF0000"/>
                </a:solidFill>
              </a:rPr>
              <a:t>&gt; 0</a:t>
            </a:r>
          </a:p>
        </p:txBody>
      </p:sp>
      <p:sp>
        <p:nvSpPr>
          <p:cNvPr id="16398" name="Text Box 24"/>
          <p:cNvSpPr txBox="1">
            <a:spLocks noChangeArrowheads="1"/>
          </p:cNvSpPr>
          <p:nvPr/>
        </p:nvSpPr>
        <p:spPr bwMode="auto">
          <a:xfrm flipH="1">
            <a:off x="5662613" y="2959100"/>
            <a:ext cx="931862"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Symbol" pitchFamily="18" charset="2"/>
              </a:rPr>
              <a:t>v </a:t>
            </a:r>
            <a:r>
              <a:rPr lang="en-US" altLang="zh-CN" sz="3200">
                <a:solidFill>
                  <a:srgbClr val="FF0000"/>
                </a:solidFill>
              </a:rPr>
              <a:t>&lt; 0</a:t>
            </a:r>
          </a:p>
        </p:txBody>
      </p:sp>
      <p:sp>
        <p:nvSpPr>
          <p:cNvPr id="16399" name="Rectangle 26"/>
          <p:cNvSpPr>
            <a:spLocks noChangeArrowheads="1"/>
          </p:cNvSpPr>
          <p:nvPr/>
        </p:nvSpPr>
        <p:spPr bwMode="auto">
          <a:xfrm>
            <a:off x="2390775" y="1851025"/>
            <a:ext cx="781050" cy="266700"/>
          </a:xfrm>
          <a:prstGeom prst="rect">
            <a:avLst/>
          </a:prstGeom>
          <a:solidFill>
            <a:srgbClr val="00FF00"/>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6400" name="Text Box 27"/>
          <p:cNvSpPr txBox="1">
            <a:spLocks noChangeArrowheads="1"/>
          </p:cNvSpPr>
          <p:nvPr/>
        </p:nvSpPr>
        <p:spPr bwMode="auto">
          <a:xfrm>
            <a:off x="1420813" y="1343025"/>
            <a:ext cx="2936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a:solidFill>
                  <a:srgbClr val="993300"/>
                </a:solidFill>
                <a:sym typeface="CommonBullets" pitchFamily="34" charset="2"/>
              </a:rPr>
              <a:t>+</a:t>
            </a:r>
            <a:endParaRPr lang="en-US" altLang="zh-CN" sz="2800">
              <a:solidFill>
                <a:srgbClr val="993300"/>
              </a:solidFill>
            </a:endParaRPr>
          </a:p>
        </p:txBody>
      </p:sp>
      <p:sp>
        <p:nvSpPr>
          <p:cNvPr id="16402" name="Text Box 29"/>
          <p:cNvSpPr txBox="1">
            <a:spLocks noChangeArrowheads="1"/>
          </p:cNvSpPr>
          <p:nvPr/>
        </p:nvSpPr>
        <p:spPr bwMode="auto">
          <a:xfrm>
            <a:off x="2170113" y="1357313"/>
            <a:ext cx="1206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sz="2000" dirty="0">
                <a:solidFill>
                  <a:srgbClr val="993300"/>
                </a:solidFill>
              </a:rPr>
              <a:t>实际方向</a:t>
            </a:r>
          </a:p>
        </p:txBody>
      </p:sp>
      <p:sp>
        <p:nvSpPr>
          <p:cNvPr id="16403" name="Line 30"/>
          <p:cNvSpPr>
            <a:spLocks noChangeShapeType="1"/>
          </p:cNvSpPr>
          <p:nvPr/>
        </p:nvSpPr>
        <p:spPr bwMode="auto">
          <a:xfrm flipH="1">
            <a:off x="1587500" y="1987550"/>
            <a:ext cx="78105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4" name="Oval 31"/>
          <p:cNvSpPr>
            <a:spLocks noChangeArrowheads="1"/>
          </p:cNvSpPr>
          <p:nvPr/>
        </p:nvSpPr>
        <p:spPr bwMode="auto">
          <a:xfrm>
            <a:off x="1497013" y="1952625"/>
            <a:ext cx="74612" cy="76200"/>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6405" name="Line 32"/>
          <p:cNvSpPr>
            <a:spLocks noChangeShapeType="1"/>
          </p:cNvSpPr>
          <p:nvPr/>
        </p:nvSpPr>
        <p:spPr bwMode="auto">
          <a:xfrm>
            <a:off x="3198813" y="1974850"/>
            <a:ext cx="78105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6" name="Oval 33"/>
          <p:cNvSpPr>
            <a:spLocks noChangeArrowheads="1"/>
          </p:cNvSpPr>
          <p:nvPr/>
        </p:nvSpPr>
        <p:spPr bwMode="auto">
          <a:xfrm>
            <a:off x="3992563" y="1933575"/>
            <a:ext cx="74612" cy="76200"/>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nvGrpSpPr>
          <p:cNvPr id="207906" name="Group 34"/>
          <p:cNvGrpSpPr>
            <a:grpSpLocks/>
          </p:cNvGrpSpPr>
          <p:nvPr/>
        </p:nvGrpSpPr>
        <p:grpSpPr bwMode="auto">
          <a:xfrm>
            <a:off x="565150" y="3963988"/>
            <a:ext cx="7797799" cy="2443162"/>
            <a:chOff x="228" y="-75"/>
            <a:chExt cx="4912" cy="1539"/>
          </a:xfrm>
        </p:grpSpPr>
        <p:sp>
          <p:nvSpPr>
            <p:cNvPr id="16408" name="Text Box 35"/>
            <p:cNvSpPr txBox="1">
              <a:spLocks noChangeArrowheads="1"/>
            </p:cNvSpPr>
            <p:nvPr/>
          </p:nvSpPr>
          <p:spPr bwMode="auto">
            <a:xfrm>
              <a:off x="228" y="-75"/>
              <a:ext cx="3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2800" dirty="0">
                  <a:solidFill>
                    <a:schemeClr val="accent1"/>
                  </a:solidFill>
                  <a:sym typeface="Symbol" pitchFamily="18" charset="2"/>
                </a:rPr>
                <a:t>例</a:t>
              </a:r>
              <a:endParaRPr lang="zh-CN" altLang="en-US" sz="2800" dirty="0">
                <a:solidFill>
                  <a:srgbClr val="000000"/>
                </a:solidFill>
                <a:sym typeface="Symbol" pitchFamily="18" charset="2"/>
              </a:endParaRPr>
            </a:p>
          </p:txBody>
        </p:sp>
        <p:sp>
          <p:nvSpPr>
            <p:cNvPr id="16409" name="Text Box 36"/>
            <p:cNvSpPr txBox="1">
              <a:spLocks noChangeArrowheads="1"/>
            </p:cNvSpPr>
            <p:nvPr/>
          </p:nvSpPr>
          <p:spPr bwMode="auto">
            <a:xfrm>
              <a:off x="1263" y="1100"/>
              <a:ext cx="92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i="1">
                  <a:solidFill>
                    <a:srgbClr val="FF0000"/>
                  </a:solidFill>
                  <a:sym typeface="Symbol" pitchFamily="18" charset="2"/>
                </a:rPr>
                <a:t>V</a:t>
              </a:r>
              <a:r>
                <a:rPr lang="en-US" altLang="zh-CN" baseline="-25000">
                  <a:solidFill>
                    <a:srgbClr val="FF0000"/>
                  </a:solidFill>
                  <a:sym typeface="Symbol" pitchFamily="18" charset="2"/>
                </a:rPr>
                <a:t>1</a:t>
              </a:r>
              <a:r>
                <a:rPr lang="en-US" altLang="zh-CN" sz="1600" baseline="-25000">
                  <a:solidFill>
                    <a:srgbClr val="FF0000"/>
                  </a:solidFill>
                  <a:sym typeface="Symbol" pitchFamily="18" charset="2"/>
                </a:rPr>
                <a:t> </a:t>
              </a:r>
              <a:r>
                <a:rPr lang="en-US" altLang="zh-CN">
                  <a:solidFill>
                    <a:srgbClr val="FF0000"/>
                  </a:solidFill>
                  <a:sym typeface="Symbol" pitchFamily="18" charset="2"/>
                </a:rPr>
                <a:t>= 10V</a:t>
              </a:r>
              <a:endParaRPr lang="en-US" altLang="zh-CN">
                <a:solidFill>
                  <a:srgbClr val="0000CC"/>
                </a:solidFill>
                <a:sym typeface="Symbol" pitchFamily="18" charset="2"/>
              </a:endParaRPr>
            </a:p>
          </p:txBody>
        </p:sp>
        <p:grpSp>
          <p:nvGrpSpPr>
            <p:cNvPr id="16410" name="Group 37"/>
            <p:cNvGrpSpPr>
              <a:grpSpLocks/>
            </p:cNvGrpSpPr>
            <p:nvPr/>
          </p:nvGrpSpPr>
          <p:grpSpPr bwMode="auto">
            <a:xfrm>
              <a:off x="914" y="193"/>
              <a:ext cx="1930" cy="811"/>
              <a:chOff x="626" y="781"/>
              <a:chExt cx="1930" cy="811"/>
            </a:xfrm>
          </p:grpSpPr>
          <p:grpSp>
            <p:nvGrpSpPr>
              <p:cNvPr id="16432" name="Group 38"/>
              <p:cNvGrpSpPr>
                <a:grpSpLocks/>
              </p:cNvGrpSpPr>
              <p:nvPr/>
            </p:nvGrpSpPr>
            <p:grpSpPr bwMode="auto">
              <a:xfrm>
                <a:off x="626" y="944"/>
                <a:ext cx="300" cy="576"/>
                <a:chOff x="5145" y="1464"/>
                <a:chExt cx="300" cy="576"/>
              </a:xfrm>
            </p:grpSpPr>
            <p:sp>
              <p:nvSpPr>
                <p:cNvPr id="16445" name="Line 39"/>
                <p:cNvSpPr>
                  <a:spLocks noChangeShapeType="1"/>
                </p:cNvSpPr>
                <p:nvPr/>
              </p:nvSpPr>
              <p:spPr bwMode="auto">
                <a:xfrm>
                  <a:off x="5229" y="1824"/>
                  <a:ext cx="12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46" name="Line 40"/>
                <p:cNvSpPr>
                  <a:spLocks noChangeShapeType="1"/>
                </p:cNvSpPr>
                <p:nvPr/>
              </p:nvSpPr>
              <p:spPr bwMode="auto">
                <a:xfrm>
                  <a:off x="5145" y="1716"/>
                  <a:ext cx="3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47" name="Line 41"/>
                <p:cNvSpPr>
                  <a:spLocks noChangeShapeType="1"/>
                </p:cNvSpPr>
                <p:nvPr/>
              </p:nvSpPr>
              <p:spPr bwMode="auto">
                <a:xfrm>
                  <a:off x="5292" y="1464"/>
                  <a:ext cx="0" cy="25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48" name="Line 42"/>
                <p:cNvSpPr>
                  <a:spLocks noChangeShapeType="1"/>
                </p:cNvSpPr>
                <p:nvPr/>
              </p:nvSpPr>
              <p:spPr bwMode="auto">
                <a:xfrm>
                  <a:off x="5292" y="1824"/>
                  <a:ext cx="0" cy="21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433" name="Group 43"/>
              <p:cNvGrpSpPr>
                <a:grpSpLocks/>
              </p:cNvGrpSpPr>
              <p:nvPr/>
            </p:nvGrpSpPr>
            <p:grpSpPr bwMode="auto">
              <a:xfrm>
                <a:off x="1968" y="781"/>
                <a:ext cx="120" cy="811"/>
                <a:chOff x="5160" y="293"/>
                <a:chExt cx="120" cy="811"/>
              </a:xfrm>
            </p:grpSpPr>
            <p:sp>
              <p:nvSpPr>
                <p:cNvPr id="16443" name="Line 44"/>
                <p:cNvSpPr>
                  <a:spLocks noChangeShapeType="1"/>
                </p:cNvSpPr>
                <p:nvPr/>
              </p:nvSpPr>
              <p:spPr bwMode="auto">
                <a:xfrm flipV="1">
                  <a:off x="5220" y="293"/>
                  <a:ext cx="0" cy="811"/>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44" name="Rectangle 45"/>
                <p:cNvSpPr>
                  <a:spLocks noChangeArrowheads="1"/>
                </p:cNvSpPr>
                <p:nvPr/>
              </p:nvSpPr>
              <p:spPr bwMode="auto">
                <a:xfrm>
                  <a:off x="5160" y="560"/>
                  <a:ext cx="120" cy="268"/>
                </a:xfrm>
                <a:prstGeom prst="rect">
                  <a:avLst/>
                </a:prstGeom>
                <a:solidFill>
                  <a:srgbClr val="00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16434" name="Line 46"/>
              <p:cNvSpPr>
                <a:spLocks noChangeShapeType="1"/>
              </p:cNvSpPr>
              <p:nvPr/>
            </p:nvSpPr>
            <p:spPr bwMode="auto">
              <a:xfrm flipV="1">
                <a:off x="773" y="788"/>
                <a:ext cx="0" cy="27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5" name="Line 47"/>
              <p:cNvSpPr>
                <a:spLocks noChangeShapeType="1"/>
              </p:cNvSpPr>
              <p:nvPr/>
            </p:nvSpPr>
            <p:spPr bwMode="auto">
              <a:xfrm>
                <a:off x="773" y="788"/>
                <a:ext cx="125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6" name="Line 48"/>
              <p:cNvSpPr>
                <a:spLocks noChangeShapeType="1"/>
              </p:cNvSpPr>
              <p:nvPr/>
            </p:nvSpPr>
            <p:spPr bwMode="auto">
              <a:xfrm>
                <a:off x="773" y="1424"/>
                <a:ext cx="0" cy="16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7" name="Line 49"/>
              <p:cNvSpPr>
                <a:spLocks noChangeShapeType="1"/>
              </p:cNvSpPr>
              <p:nvPr/>
            </p:nvSpPr>
            <p:spPr bwMode="auto">
              <a:xfrm>
                <a:off x="773" y="1592"/>
                <a:ext cx="125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8" name="Text Box 50"/>
              <p:cNvSpPr txBox="1">
                <a:spLocks noChangeArrowheads="1"/>
              </p:cNvSpPr>
              <p:nvPr/>
            </p:nvSpPr>
            <p:spPr bwMode="auto">
              <a:xfrm>
                <a:off x="933" y="1164"/>
                <a:ext cx="50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000000"/>
                    </a:solidFill>
                    <a:sym typeface="Symbol" pitchFamily="18" charset="2"/>
                  </a:rPr>
                  <a:t>10V</a:t>
                </a:r>
                <a:endParaRPr lang="en-US" altLang="zh-CN" sz="2800">
                  <a:solidFill>
                    <a:srgbClr val="000000"/>
                  </a:solidFill>
                  <a:sym typeface="Symbol" pitchFamily="18" charset="2"/>
                </a:endParaRPr>
              </a:p>
            </p:txBody>
          </p:sp>
          <p:sp>
            <p:nvSpPr>
              <p:cNvPr id="16439" name="Text Box 51"/>
              <p:cNvSpPr txBox="1">
                <a:spLocks noChangeArrowheads="1"/>
              </p:cNvSpPr>
              <p:nvPr/>
            </p:nvSpPr>
            <p:spPr bwMode="auto">
              <a:xfrm>
                <a:off x="2100" y="1049"/>
                <a:ext cx="45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rgbClr val="000000"/>
                    </a:solidFill>
                    <a:sym typeface="Symbol" pitchFamily="18" charset="2"/>
                  </a:rPr>
                  <a:t>10</a:t>
                </a:r>
                <a:endParaRPr lang="en-US" altLang="zh-CN" sz="2800">
                  <a:solidFill>
                    <a:srgbClr val="000000"/>
                  </a:solidFill>
                  <a:sym typeface="Symbol" pitchFamily="18" charset="2"/>
                </a:endParaRPr>
              </a:p>
            </p:txBody>
          </p:sp>
          <p:sp>
            <p:nvSpPr>
              <p:cNvPr id="16440" name="Text Box 52"/>
              <p:cNvSpPr txBox="1">
                <a:spLocks noChangeArrowheads="1"/>
              </p:cNvSpPr>
              <p:nvPr/>
            </p:nvSpPr>
            <p:spPr bwMode="auto">
              <a:xfrm>
                <a:off x="1688" y="808"/>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chemeClr val="tx2"/>
                    </a:solidFill>
                    <a:sym typeface="Symbol" pitchFamily="18" charset="2"/>
                  </a:rPr>
                  <a:t>+</a:t>
                </a:r>
              </a:p>
            </p:txBody>
          </p:sp>
          <p:sp>
            <p:nvSpPr>
              <p:cNvPr id="16441" name="Line 53"/>
              <p:cNvSpPr>
                <a:spLocks noChangeShapeType="1"/>
              </p:cNvSpPr>
              <p:nvPr/>
            </p:nvSpPr>
            <p:spPr bwMode="auto">
              <a:xfrm>
                <a:off x="1752" y="1424"/>
                <a:ext cx="104"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42" name="Text Box 54"/>
              <p:cNvSpPr txBox="1">
                <a:spLocks noChangeArrowheads="1"/>
              </p:cNvSpPr>
              <p:nvPr/>
            </p:nvSpPr>
            <p:spPr bwMode="auto">
              <a:xfrm>
                <a:off x="1634" y="1040"/>
                <a:ext cx="31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sym typeface="Symbol" pitchFamily="18" charset="2"/>
                  </a:rPr>
                  <a:t>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grpSp>
        <p:grpSp>
          <p:nvGrpSpPr>
            <p:cNvPr id="16411" name="Group 55"/>
            <p:cNvGrpSpPr>
              <a:grpSpLocks/>
            </p:cNvGrpSpPr>
            <p:nvPr/>
          </p:nvGrpSpPr>
          <p:grpSpPr bwMode="auto">
            <a:xfrm>
              <a:off x="3215" y="245"/>
              <a:ext cx="1925" cy="819"/>
              <a:chOff x="2951" y="773"/>
              <a:chExt cx="1925" cy="819"/>
            </a:xfrm>
          </p:grpSpPr>
          <p:grpSp>
            <p:nvGrpSpPr>
              <p:cNvPr id="16415" name="Group 56"/>
              <p:cNvGrpSpPr>
                <a:grpSpLocks/>
              </p:cNvGrpSpPr>
              <p:nvPr/>
            </p:nvGrpSpPr>
            <p:grpSpPr bwMode="auto">
              <a:xfrm>
                <a:off x="2951" y="936"/>
                <a:ext cx="300" cy="576"/>
                <a:chOff x="5150" y="1464"/>
                <a:chExt cx="300" cy="576"/>
              </a:xfrm>
            </p:grpSpPr>
            <p:sp>
              <p:nvSpPr>
                <p:cNvPr id="16428" name="Line 57"/>
                <p:cNvSpPr>
                  <a:spLocks noChangeShapeType="1"/>
                </p:cNvSpPr>
                <p:nvPr/>
              </p:nvSpPr>
              <p:spPr bwMode="auto">
                <a:xfrm>
                  <a:off x="5234" y="1824"/>
                  <a:ext cx="12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9" name="Line 58"/>
                <p:cNvSpPr>
                  <a:spLocks noChangeShapeType="1"/>
                </p:cNvSpPr>
                <p:nvPr/>
              </p:nvSpPr>
              <p:spPr bwMode="auto">
                <a:xfrm>
                  <a:off x="5150" y="1716"/>
                  <a:ext cx="3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0" name="Line 59"/>
                <p:cNvSpPr>
                  <a:spLocks noChangeShapeType="1"/>
                </p:cNvSpPr>
                <p:nvPr/>
              </p:nvSpPr>
              <p:spPr bwMode="auto">
                <a:xfrm>
                  <a:off x="5292" y="1464"/>
                  <a:ext cx="0" cy="25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1" name="Line 60"/>
                <p:cNvSpPr>
                  <a:spLocks noChangeShapeType="1"/>
                </p:cNvSpPr>
                <p:nvPr/>
              </p:nvSpPr>
              <p:spPr bwMode="auto">
                <a:xfrm>
                  <a:off x="5292" y="1824"/>
                  <a:ext cx="0" cy="21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416" name="Group 61"/>
              <p:cNvGrpSpPr>
                <a:grpSpLocks/>
              </p:cNvGrpSpPr>
              <p:nvPr/>
            </p:nvGrpSpPr>
            <p:grpSpPr bwMode="auto">
              <a:xfrm>
                <a:off x="4288" y="773"/>
                <a:ext cx="120" cy="811"/>
                <a:chOff x="5160" y="293"/>
                <a:chExt cx="120" cy="811"/>
              </a:xfrm>
            </p:grpSpPr>
            <p:sp>
              <p:nvSpPr>
                <p:cNvPr id="16426" name="Line 62"/>
                <p:cNvSpPr>
                  <a:spLocks noChangeShapeType="1"/>
                </p:cNvSpPr>
                <p:nvPr/>
              </p:nvSpPr>
              <p:spPr bwMode="auto">
                <a:xfrm flipV="1">
                  <a:off x="5220" y="293"/>
                  <a:ext cx="0" cy="811"/>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7" name="Rectangle 63"/>
                <p:cNvSpPr>
                  <a:spLocks noChangeArrowheads="1"/>
                </p:cNvSpPr>
                <p:nvPr/>
              </p:nvSpPr>
              <p:spPr bwMode="auto">
                <a:xfrm>
                  <a:off x="5160" y="560"/>
                  <a:ext cx="120" cy="268"/>
                </a:xfrm>
                <a:prstGeom prst="rect">
                  <a:avLst/>
                </a:prstGeom>
                <a:solidFill>
                  <a:srgbClr val="00FF00"/>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16417" name="Line 64"/>
              <p:cNvSpPr>
                <a:spLocks noChangeShapeType="1"/>
              </p:cNvSpPr>
              <p:nvPr/>
            </p:nvSpPr>
            <p:spPr bwMode="auto">
              <a:xfrm flipV="1">
                <a:off x="3093" y="780"/>
                <a:ext cx="0" cy="27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8" name="Line 65"/>
              <p:cNvSpPr>
                <a:spLocks noChangeShapeType="1"/>
              </p:cNvSpPr>
              <p:nvPr/>
            </p:nvSpPr>
            <p:spPr bwMode="auto">
              <a:xfrm>
                <a:off x="3093" y="780"/>
                <a:ext cx="125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9" name="Line 66"/>
              <p:cNvSpPr>
                <a:spLocks noChangeShapeType="1"/>
              </p:cNvSpPr>
              <p:nvPr/>
            </p:nvSpPr>
            <p:spPr bwMode="auto">
              <a:xfrm>
                <a:off x="3093" y="1416"/>
                <a:ext cx="0" cy="16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0" name="Line 67"/>
              <p:cNvSpPr>
                <a:spLocks noChangeShapeType="1"/>
              </p:cNvSpPr>
              <p:nvPr/>
            </p:nvSpPr>
            <p:spPr bwMode="auto">
              <a:xfrm>
                <a:off x="3093" y="1584"/>
                <a:ext cx="125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1" name="Text Box 68"/>
              <p:cNvSpPr txBox="1">
                <a:spLocks noChangeArrowheads="1"/>
              </p:cNvSpPr>
              <p:nvPr/>
            </p:nvSpPr>
            <p:spPr bwMode="auto">
              <a:xfrm>
                <a:off x="3253" y="1156"/>
                <a:ext cx="50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000000"/>
                    </a:solidFill>
                    <a:sym typeface="Symbol" pitchFamily="18" charset="2"/>
                  </a:rPr>
                  <a:t>10V</a:t>
                </a:r>
                <a:endParaRPr lang="en-US" altLang="zh-CN" sz="2800">
                  <a:solidFill>
                    <a:srgbClr val="000000"/>
                  </a:solidFill>
                  <a:sym typeface="Symbol" pitchFamily="18" charset="2"/>
                </a:endParaRPr>
              </a:p>
            </p:txBody>
          </p:sp>
          <p:sp>
            <p:nvSpPr>
              <p:cNvPr id="16422" name="Text Box 69"/>
              <p:cNvSpPr txBox="1">
                <a:spLocks noChangeArrowheads="1"/>
              </p:cNvSpPr>
              <p:nvPr/>
            </p:nvSpPr>
            <p:spPr bwMode="auto">
              <a:xfrm>
                <a:off x="4420" y="1041"/>
                <a:ext cx="45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rgbClr val="000000"/>
                    </a:solidFill>
                    <a:sym typeface="Symbol" pitchFamily="18" charset="2"/>
                  </a:rPr>
                  <a:t>10</a:t>
                </a:r>
                <a:endParaRPr lang="en-US" altLang="zh-CN" sz="2800">
                  <a:solidFill>
                    <a:srgbClr val="000000"/>
                  </a:solidFill>
                  <a:sym typeface="Symbol" pitchFamily="18" charset="2"/>
                </a:endParaRPr>
              </a:p>
            </p:txBody>
          </p:sp>
          <p:sp>
            <p:nvSpPr>
              <p:cNvPr id="16423" name="Text Box 70"/>
              <p:cNvSpPr txBox="1">
                <a:spLocks noChangeArrowheads="1"/>
              </p:cNvSpPr>
              <p:nvPr/>
            </p:nvSpPr>
            <p:spPr bwMode="auto">
              <a:xfrm>
                <a:off x="4024" y="1304"/>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chemeClr val="tx2"/>
                    </a:solidFill>
                    <a:sym typeface="Symbol" pitchFamily="18" charset="2"/>
                  </a:rPr>
                  <a:t>+</a:t>
                </a:r>
              </a:p>
            </p:txBody>
          </p:sp>
          <p:sp>
            <p:nvSpPr>
              <p:cNvPr id="16424" name="Line 71"/>
              <p:cNvSpPr>
                <a:spLocks noChangeShapeType="1"/>
              </p:cNvSpPr>
              <p:nvPr/>
            </p:nvSpPr>
            <p:spPr bwMode="auto">
              <a:xfrm>
                <a:off x="4064" y="952"/>
                <a:ext cx="104"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25" name="Text Box 72"/>
              <p:cNvSpPr txBox="1">
                <a:spLocks noChangeArrowheads="1"/>
              </p:cNvSpPr>
              <p:nvPr/>
            </p:nvSpPr>
            <p:spPr bwMode="auto">
              <a:xfrm>
                <a:off x="3954" y="1032"/>
                <a:ext cx="31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sym typeface="Symbol" pitchFamily="18" charset="2"/>
                  </a:rPr>
                  <a:t>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grpSp>
        <p:grpSp>
          <p:nvGrpSpPr>
            <p:cNvPr id="16412" name="Group 73"/>
            <p:cNvGrpSpPr>
              <a:grpSpLocks/>
            </p:cNvGrpSpPr>
            <p:nvPr/>
          </p:nvGrpSpPr>
          <p:grpSpPr bwMode="auto">
            <a:xfrm>
              <a:off x="3335" y="1176"/>
              <a:ext cx="1137" cy="288"/>
              <a:chOff x="3167" y="1620"/>
              <a:chExt cx="1137" cy="288"/>
            </a:xfrm>
          </p:grpSpPr>
          <p:sp>
            <p:nvSpPr>
              <p:cNvPr id="16413" name="Text Box 74"/>
              <p:cNvSpPr txBox="1">
                <a:spLocks noChangeArrowheads="1"/>
              </p:cNvSpPr>
              <p:nvPr/>
            </p:nvSpPr>
            <p:spPr bwMode="auto">
              <a:xfrm>
                <a:off x="3167" y="1620"/>
                <a:ext cx="113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i="1">
                    <a:solidFill>
                      <a:srgbClr val="FF0000"/>
                    </a:solidFill>
                    <a:sym typeface="Symbol" pitchFamily="18" charset="2"/>
                  </a:rPr>
                  <a:t>V</a:t>
                </a:r>
                <a:r>
                  <a:rPr lang="en-US" altLang="zh-CN" baseline="-25000">
                    <a:solidFill>
                      <a:srgbClr val="FF0000"/>
                    </a:solidFill>
                    <a:sym typeface="Symbol" pitchFamily="18" charset="2"/>
                  </a:rPr>
                  <a:t>1</a:t>
                </a:r>
                <a:r>
                  <a:rPr lang="en-US" altLang="zh-CN" sz="1600" baseline="-25000">
                    <a:solidFill>
                      <a:srgbClr val="FF0000"/>
                    </a:solidFill>
                    <a:sym typeface="Symbol" pitchFamily="18" charset="2"/>
                  </a:rPr>
                  <a:t> </a:t>
                </a:r>
                <a:r>
                  <a:rPr lang="en-US" altLang="zh-CN">
                    <a:solidFill>
                      <a:srgbClr val="FF0000"/>
                    </a:solidFill>
                    <a:sym typeface="Symbol" pitchFamily="18" charset="2"/>
                  </a:rPr>
                  <a:t>=    10V</a:t>
                </a:r>
                <a:endParaRPr lang="en-US" altLang="zh-CN">
                  <a:solidFill>
                    <a:srgbClr val="0000CC"/>
                  </a:solidFill>
                  <a:sym typeface="Symbol" pitchFamily="18" charset="2"/>
                </a:endParaRPr>
              </a:p>
            </p:txBody>
          </p:sp>
          <p:sp>
            <p:nvSpPr>
              <p:cNvPr id="16414" name="Line 75"/>
              <p:cNvSpPr>
                <a:spLocks noChangeShapeType="1"/>
              </p:cNvSpPr>
              <p:nvPr/>
            </p:nvSpPr>
            <p:spPr bwMode="auto">
              <a:xfrm flipV="1">
                <a:off x="3592" y="1760"/>
                <a:ext cx="104" cy="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74" name="Line 7"/>
          <p:cNvSpPr>
            <a:spLocks noChangeShapeType="1"/>
          </p:cNvSpPr>
          <p:nvPr/>
        </p:nvSpPr>
        <p:spPr bwMode="auto">
          <a:xfrm flipV="1">
            <a:off x="3938042" y="1599297"/>
            <a:ext cx="171450" cy="3175"/>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123413607"/>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7906"/>
                                        </p:tgtEl>
                                        <p:attrNameLst>
                                          <p:attrName>style.visibility</p:attrName>
                                        </p:attrNameLst>
                                      </p:cBhvr>
                                      <p:to>
                                        <p:strVal val="visible"/>
                                      </p:to>
                                    </p:set>
                                    <p:animEffect transition="in" filter="blinds(horizontal)">
                                      <p:cBhvr>
                                        <p:cTn id="7" dur="500"/>
                                        <p:tgtEl>
                                          <p:spTgt spid="207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9" name="Text Box 3"/>
          <p:cNvSpPr txBox="1">
            <a:spLocks noChangeArrowheads="1"/>
          </p:cNvSpPr>
          <p:nvPr/>
        </p:nvSpPr>
        <p:spPr bwMode="auto">
          <a:xfrm>
            <a:off x="654050" y="2870200"/>
            <a:ext cx="6207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a:solidFill>
                  <a:schemeClr val="tx2"/>
                </a:solidFill>
                <a:sym typeface="Monotype Sorts" pitchFamily="2" charset="2"/>
              </a:rPr>
              <a:t>(2)  </a:t>
            </a:r>
            <a:r>
              <a:rPr lang="zh-CN" altLang="en-US">
                <a:solidFill>
                  <a:schemeClr val="tx2"/>
                </a:solidFill>
                <a:sym typeface="Monotype Sorts" pitchFamily="2" charset="2"/>
              </a:rPr>
              <a:t>用箭头表示：箭头指向为电压的参考方向</a:t>
            </a:r>
            <a:endParaRPr lang="zh-CN" altLang="en-US" sz="3200">
              <a:solidFill>
                <a:schemeClr val="tx2"/>
              </a:solidFill>
              <a:sym typeface="Monotype Sorts" pitchFamily="2" charset="2"/>
            </a:endParaRPr>
          </a:p>
        </p:txBody>
      </p:sp>
      <p:sp>
        <p:nvSpPr>
          <p:cNvPr id="208901" name="Rectangle 5"/>
          <p:cNvSpPr>
            <a:spLocks noChangeArrowheads="1"/>
          </p:cNvSpPr>
          <p:nvPr/>
        </p:nvSpPr>
        <p:spPr bwMode="auto">
          <a:xfrm>
            <a:off x="4057650" y="3998913"/>
            <a:ext cx="781050" cy="266700"/>
          </a:xfrm>
          <a:prstGeom prst="rect">
            <a:avLst/>
          </a:prstGeom>
          <a:solidFill>
            <a:srgbClr val="00FF00"/>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nvGrpSpPr>
          <p:cNvPr id="208902" name="Group 6"/>
          <p:cNvGrpSpPr>
            <a:grpSpLocks/>
          </p:cNvGrpSpPr>
          <p:nvPr/>
        </p:nvGrpSpPr>
        <p:grpSpPr bwMode="auto">
          <a:xfrm>
            <a:off x="3163888" y="4100513"/>
            <a:ext cx="871537" cy="88900"/>
            <a:chOff x="680" y="2744"/>
            <a:chExt cx="549" cy="56"/>
          </a:xfrm>
        </p:grpSpPr>
        <p:sp>
          <p:nvSpPr>
            <p:cNvPr id="17443" name="Line 7"/>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4" name="Oval 8"/>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208905" name="Group 9"/>
          <p:cNvGrpSpPr>
            <a:grpSpLocks/>
          </p:cNvGrpSpPr>
          <p:nvPr/>
        </p:nvGrpSpPr>
        <p:grpSpPr bwMode="auto">
          <a:xfrm flipH="1">
            <a:off x="4865688" y="4087813"/>
            <a:ext cx="871537" cy="88900"/>
            <a:chOff x="680" y="2744"/>
            <a:chExt cx="549" cy="56"/>
          </a:xfrm>
        </p:grpSpPr>
        <p:sp>
          <p:nvSpPr>
            <p:cNvPr id="17441" name="Line 10"/>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2" name="Oval 11"/>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208908" name="Line 12"/>
          <p:cNvSpPr>
            <a:spLocks noChangeShapeType="1"/>
          </p:cNvSpPr>
          <p:nvPr/>
        </p:nvSpPr>
        <p:spPr bwMode="auto">
          <a:xfrm>
            <a:off x="3481388" y="3821113"/>
            <a:ext cx="1689100" cy="0"/>
          </a:xfrm>
          <a:prstGeom prst="line">
            <a:avLst/>
          </a:prstGeom>
          <a:noFill/>
          <a:ln w="28575">
            <a:solidFill>
              <a:srgbClr val="99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8909" name="Text Box 13"/>
          <p:cNvSpPr txBox="1">
            <a:spLocks noChangeArrowheads="1"/>
          </p:cNvSpPr>
          <p:nvPr/>
        </p:nvSpPr>
        <p:spPr bwMode="auto">
          <a:xfrm>
            <a:off x="4198938" y="3389313"/>
            <a:ext cx="3190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993300"/>
                </a:solidFill>
                <a:sym typeface="Symbol" pitchFamily="18" charset="2"/>
              </a:rPr>
              <a:t>v</a:t>
            </a:r>
          </a:p>
        </p:txBody>
      </p:sp>
      <p:grpSp>
        <p:nvGrpSpPr>
          <p:cNvPr id="208910" name="Group 14"/>
          <p:cNvGrpSpPr>
            <a:grpSpLocks/>
          </p:cNvGrpSpPr>
          <p:nvPr/>
        </p:nvGrpSpPr>
        <p:grpSpPr bwMode="auto">
          <a:xfrm>
            <a:off x="666750" y="4635500"/>
            <a:ext cx="7881938" cy="1649413"/>
            <a:chOff x="420" y="2920"/>
            <a:chExt cx="4965" cy="1039"/>
          </a:xfrm>
        </p:grpSpPr>
        <p:sp>
          <p:nvSpPr>
            <p:cNvPr id="17431" name="Text Box 15"/>
            <p:cNvSpPr txBox="1">
              <a:spLocks noChangeArrowheads="1"/>
            </p:cNvSpPr>
            <p:nvPr/>
          </p:nvSpPr>
          <p:spPr bwMode="auto">
            <a:xfrm>
              <a:off x="420" y="2920"/>
              <a:ext cx="4965"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81000" indent="-3810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a:solidFill>
                    <a:schemeClr val="tx2"/>
                  </a:solidFill>
                  <a:sym typeface="Monotype Sorts" pitchFamily="2" charset="2"/>
                </a:rPr>
                <a:t>(3)  </a:t>
              </a:r>
              <a:r>
                <a:rPr lang="zh-CN" altLang="en-US">
                  <a:solidFill>
                    <a:schemeClr val="tx2"/>
                  </a:solidFill>
                  <a:sym typeface="Monotype Sorts" pitchFamily="2" charset="2"/>
                </a:rPr>
                <a:t>用双下标表示：如 </a:t>
              </a:r>
              <a:r>
                <a:rPr lang="en-US" altLang="zh-CN" i="1">
                  <a:solidFill>
                    <a:schemeClr val="tx2"/>
                  </a:solidFill>
                  <a:sym typeface="Monotype Sorts" pitchFamily="2" charset="2"/>
                </a:rPr>
                <a:t>v</a:t>
              </a:r>
              <a:r>
                <a:rPr lang="en-US" altLang="zh-CN" i="1" baseline="-25000">
                  <a:solidFill>
                    <a:schemeClr val="tx2"/>
                  </a:solidFill>
                  <a:sym typeface="Monotype Sorts" pitchFamily="2" charset="2"/>
                </a:rPr>
                <a:t>ab</a:t>
              </a:r>
              <a:r>
                <a:rPr lang="en-US" altLang="zh-CN" i="1">
                  <a:solidFill>
                    <a:schemeClr val="tx2"/>
                  </a:solidFill>
                  <a:sym typeface="Monotype Sorts" pitchFamily="2" charset="2"/>
                </a:rPr>
                <a:t> </a:t>
              </a:r>
              <a:r>
                <a:rPr lang="en-US" altLang="zh-CN">
                  <a:solidFill>
                    <a:schemeClr val="tx2"/>
                  </a:solidFill>
                  <a:sym typeface="Monotype Sorts" pitchFamily="2" charset="2"/>
                </a:rPr>
                <a:t>, </a:t>
              </a:r>
              <a:r>
                <a:rPr lang="zh-CN" altLang="en-US">
                  <a:solidFill>
                    <a:schemeClr val="tx2"/>
                  </a:solidFill>
                </a:rPr>
                <a:t>由</a:t>
              </a:r>
              <a:r>
                <a:rPr lang="en-US" altLang="zh-CN">
                  <a:solidFill>
                    <a:schemeClr val="tx2"/>
                  </a:solidFill>
                </a:rPr>
                <a:t>a</a:t>
              </a:r>
              <a:r>
                <a:rPr lang="zh-CN" altLang="en-US">
                  <a:solidFill>
                    <a:schemeClr val="tx2"/>
                  </a:solidFill>
                </a:rPr>
                <a:t>指向</a:t>
              </a:r>
              <a:r>
                <a:rPr lang="en-US" altLang="zh-CN">
                  <a:solidFill>
                    <a:schemeClr val="tx2"/>
                  </a:solidFill>
                </a:rPr>
                <a:t>b</a:t>
              </a:r>
              <a:r>
                <a:rPr lang="zh-CN" altLang="en-US">
                  <a:solidFill>
                    <a:schemeClr val="tx2"/>
                  </a:solidFill>
                </a:rPr>
                <a:t>的方向为电压</a:t>
              </a:r>
            </a:p>
            <a:p>
              <a:pPr algn="just"/>
              <a:r>
                <a:rPr lang="zh-CN" altLang="en-US">
                  <a:solidFill>
                    <a:schemeClr val="tx2"/>
                  </a:solidFill>
                </a:rPr>
                <a:t>       的参考方向。</a:t>
              </a:r>
            </a:p>
          </p:txBody>
        </p:sp>
        <p:grpSp>
          <p:nvGrpSpPr>
            <p:cNvPr id="17432" name="Group 16"/>
            <p:cNvGrpSpPr>
              <a:grpSpLocks/>
            </p:cNvGrpSpPr>
            <p:nvPr/>
          </p:nvGrpSpPr>
          <p:grpSpPr bwMode="auto">
            <a:xfrm>
              <a:off x="1963" y="3299"/>
              <a:ext cx="1760" cy="660"/>
              <a:chOff x="2139" y="768"/>
              <a:chExt cx="1760" cy="660"/>
            </a:xfrm>
          </p:grpSpPr>
          <p:sp>
            <p:nvSpPr>
              <p:cNvPr id="17433" name="Text Box 17"/>
              <p:cNvSpPr txBox="1">
                <a:spLocks noChangeArrowheads="1"/>
              </p:cNvSpPr>
              <p:nvPr/>
            </p:nvSpPr>
            <p:spPr bwMode="auto">
              <a:xfrm>
                <a:off x="2139" y="11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chemeClr val="tx2"/>
                    </a:solidFill>
                  </a:rPr>
                  <a:t>a</a:t>
                </a:r>
                <a:endParaRPr lang="en-US" altLang="zh-CN" sz="3200">
                  <a:solidFill>
                    <a:schemeClr val="tx2"/>
                  </a:solidFill>
                </a:endParaRPr>
              </a:p>
            </p:txBody>
          </p:sp>
          <p:sp>
            <p:nvSpPr>
              <p:cNvPr id="17434" name="Text Box 18"/>
              <p:cNvSpPr txBox="1">
                <a:spLocks noChangeArrowheads="1"/>
              </p:cNvSpPr>
              <p:nvPr/>
            </p:nvSpPr>
            <p:spPr bwMode="auto">
              <a:xfrm>
                <a:off x="3676" y="1127"/>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chemeClr val="tx2"/>
                    </a:solidFill>
                  </a:rPr>
                  <a:t>b</a:t>
                </a:r>
                <a:endParaRPr lang="en-US" altLang="zh-CN" sz="3200">
                  <a:solidFill>
                    <a:schemeClr val="tx2"/>
                  </a:solidFill>
                </a:endParaRPr>
              </a:p>
            </p:txBody>
          </p:sp>
          <p:sp>
            <p:nvSpPr>
              <p:cNvPr id="17435" name="Text Box 19"/>
              <p:cNvSpPr txBox="1">
                <a:spLocks noChangeArrowheads="1"/>
              </p:cNvSpPr>
              <p:nvPr/>
            </p:nvSpPr>
            <p:spPr bwMode="auto">
              <a:xfrm>
                <a:off x="2841" y="768"/>
                <a:ext cx="3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dirty="0" err="1">
                    <a:solidFill>
                      <a:schemeClr val="tx2"/>
                    </a:solidFill>
                  </a:rPr>
                  <a:t>v</a:t>
                </a:r>
                <a:r>
                  <a:rPr lang="en-US" altLang="zh-CN" i="1" baseline="-25000" dirty="0" err="1">
                    <a:solidFill>
                      <a:schemeClr val="tx2"/>
                    </a:solidFill>
                  </a:rPr>
                  <a:t>ab</a:t>
                </a:r>
                <a:endParaRPr lang="en-US" altLang="zh-CN" sz="3200" i="1" dirty="0">
                  <a:solidFill>
                    <a:schemeClr val="tx2"/>
                  </a:solidFill>
                </a:endParaRPr>
              </a:p>
            </p:txBody>
          </p:sp>
          <p:sp>
            <p:nvSpPr>
              <p:cNvPr id="17436" name="Rectangle 20"/>
              <p:cNvSpPr>
                <a:spLocks noChangeArrowheads="1"/>
              </p:cNvSpPr>
              <p:nvPr/>
            </p:nvSpPr>
            <p:spPr bwMode="auto">
              <a:xfrm>
                <a:off x="2763" y="1072"/>
                <a:ext cx="492" cy="168"/>
              </a:xfrm>
              <a:prstGeom prst="rect">
                <a:avLst/>
              </a:prstGeom>
              <a:solidFill>
                <a:srgbClr val="00FF00"/>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7437" name="Line 21"/>
              <p:cNvSpPr>
                <a:spLocks noChangeShapeType="1"/>
              </p:cNvSpPr>
              <p:nvPr/>
            </p:nvSpPr>
            <p:spPr bwMode="auto">
              <a:xfrm flipH="1">
                <a:off x="2257" y="1158"/>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8" name="Oval 22"/>
              <p:cNvSpPr>
                <a:spLocks noChangeArrowheads="1"/>
              </p:cNvSpPr>
              <p:nvPr/>
            </p:nvSpPr>
            <p:spPr bwMode="auto">
              <a:xfrm>
                <a:off x="2200" y="1136"/>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7439" name="Line 23"/>
              <p:cNvSpPr>
                <a:spLocks noChangeShapeType="1"/>
              </p:cNvSpPr>
              <p:nvPr/>
            </p:nvSpPr>
            <p:spPr bwMode="auto">
              <a:xfrm>
                <a:off x="3272" y="1150"/>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0" name="Oval 24"/>
              <p:cNvSpPr>
                <a:spLocks noChangeArrowheads="1"/>
              </p:cNvSpPr>
              <p:nvPr/>
            </p:nvSpPr>
            <p:spPr bwMode="auto">
              <a:xfrm flipH="1">
                <a:off x="3774" y="1128"/>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sp>
        <p:nvSpPr>
          <p:cNvPr id="17417" name="Text Box 25"/>
          <p:cNvSpPr txBox="1">
            <a:spLocks noChangeArrowheads="1"/>
          </p:cNvSpPr>
          <p:nvPr/>
        </p:nvSpPr>
        <p:spPr bwMode="auto">
          <a:xfrm>
            <a:off x="300038" y="352425"/>
            <a:ext cx="491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rgbClr val="00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a:solidFill>
                  <a:srgbClr val="0000CC"/>
                </a:solidFill>
                <a:sym typeface="Wingdings 2" pitchFamily="18" charset="2"/>
              </a:rPr>
              <a:t>3</a:t>
            </a:r>
            <a:r>
              <a:rPr lang="zh-CN" altLang="en-US">
                <a:solidFill>
                  <a:srgbClr val="0000CC"/>
                </a:solidFill>
                <a:sym typeface="Wingdings 2" pitchFamily="18" charset="2"/>
              </a:rPr>
              <a:t>、电压参考方向的三种表示方式</a:t>
            </a:r>
            <a:endParaRPr lang="zh-CN" altLang="en-US" sz="3600">
              <a:solidFill>
                <a:srgbClr val="0000CC"/>
              </a:solidFill>
              <a:sym typeface="Wingdings 2" pitchFamily="18" charset="2"/>
            </a:endParaRPr>
          </a:p>
        </p:txBody>
      </p:sp>
      <p:grpSp>
        <p:nvGrpSpPr>
          <p:cNvPr id="208922" name="Group 26"/>
          <p:cNvGrpSpPr>
            <a:grpSpLocks/>
          </p:cNvGrpSpPr>
          <p:nvPr/>
        </p:nvGrpSpPr>
        <p:grpSpPr bwMode="auto">
          <a:xfrm>
            <a:off x="600073" y="1056482"/>
            <a:ext cx="8015291" cy="1635125"/>
            <a:chOff x="390" y="666"/>
            <a:chExt cx="5049" cy="910"/>
          </a:xfrm>
        </p:grpSpPr>
        <p:grpSp>
          <p:nvGrpSpPr>
            <p:cNvPr id="17419" name="Group 27"/>
            <p:cNvGrpSpPr>
              <a:grpSpLocks/>
            </p:cNvGrpSpPr>
            <p:nvPr/>
          </p:nvGrpSpPr>
          <p:grpSpPr bwMode="auto">
            <a:xfrm>
              <a:off x="2505" y="1145"/>
              <a:ext cx="1669" cy="431"/>
              <a:chOff x="2784" y="2729"/>
              <a:chExt cx="1669" cy="431"/>
            </a:xfrm>
          </p:grpSpPr>
          <p:sp>
            <p:nvSpPr>
              <p:cNvPr id="17421" name="Rectangle 28"/>
              <p:cNvSpPr>
                <a:spLocks noChangeArrowheads="1"/>
              </p:cNvSpPr>
              <p:nvPr/>
            </p:nvSpPr>
            <p:spPr bwMode="auto">
              <a:xfrm>
                <a:off x="3395" y="2992"/>
                <a:ext cx="492" cy="168"/>
              </a:xfrm>
              <a:prstGeom prst="rect">
                <a:avLst/>
              </a:prstGeom>
              <a:solidFill>
                <a:srgbClr val="00FF00"/>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7422" name="Text Box 29"/>
              <p:cNvSpPr txBox="1">
                <a:spLocks noChangeArrowheads="1"/>
              </p:cNvSpPr>
              <p:nvPr/>
            </p:nvSpPr>
            <p:spPr bwMode="auto">
              <a:xfrm>
                <a:off x="2784" y="2746"/>
                <a:ext cx="1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000" dirty="0">
                    <a:solidFill>
                      <a:srgbClr val="993300"/>
                    </a:solidFill>
                    <a:sym typeface="CommonBullets" pitchFamily="34" charset="2"/>
                  </a:rPr>
                  <a:t>+</a:t>
                </a:r>
                <a:endParaRPr lang="en-US" altLang="zh-CN" sz="2000" dirty="0">
                  <a:solidFill>
                    <a:srgbClr val="993300"/>
                  </a:solidFill>
                </a:endParaRPr>
              </a:p>
            </p:txBody>
          </p:sp>
          <p:sp>
            <p:nvSpPr>
              <p:cNvPr id="17423" name="Line 30"/>
              <p:cNvSpPr>
                <a:spLocks noChangeShapeType="1"/>
              </p:cNvSpPr>
              <p:nvPr/>
            </p:nvSpPr>
            <p:spPr bwMode="auto">
              <a:xfrm flipV="1">
                <a:off x="4336" y="2882"/>
                <a:ext cx="117" cy="2"/>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4" name="Text Box 31"/>
              <p:cNvSpPr txBox="1">
                <a:spLocks noChangeArrowheads="1"/>
              </p:cNvSpPr>
              <p:nvPr/>
            </p:nvSpPr>
            <p:spPr bwMode="auto">
              <a:xfrm>
                <a:off x="3540" y="2729"/>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000" i="1">
                    <a:solidFill>
                      <a:srgbClr val="993300"/>
                    </a:solidFill>
                  </a:rPr>
                  <a:t>v</a:t>
                </a:r>
              </a:p>
            </p:txBody>
          </p:sp>
          <p:grpSp>
            <p:nvGrpSpPr>
              <p:cNvPr id="17425" name="Group 32"/>
              <p:cNvGrpSpPr>
                <a:grpSpLocks/>
              </p:cNvGrpSpPr>
              <p:nvPr/>
            </p:nvGrpSpPr>
            <p:grpSpPr bwMode="auto">
              <a:xfrm>
                <a:off x="2832" y="3056"/>
                <a:ext cx="549" cy="56"/>
                <a:chOff x="680" y="2744"/>
                <a:chExt cx="549" cy="56"/>
              </a:xfrm>
            </p:grpSpPr>
            <p:sp>
              <p:nvSpPr>
                <p:cNvPr id="17429" name="Line 33"/>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0" name="Oval 34"/>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17426" name="Group 35"/>
              <p:cNvGrpSpPr>
                <a:grpSpLocks/>
              </p:cNvGrpSpPr>
              <p:nvPr/>
            </p:nvGrpSpPr>
            <p:grpSpPr bwMode="auto">
              <a:xfrm flipH="1">
                <a:off x="3904" y="3048"/>
                <a:ext cx="549" cy="56"/>
                <a:chOff x="680" y="2744"/>
                <a:chExt cx="549" cy="56"/>
              </a:xfrm>
            </p:grpSpPr>
            <p:sp>
              <p:nvSpPr>
                <p:cNvPr id="17427" name="Line 36"/>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8" name="Oval 37"/>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sp>
          <p:nvSpPr>
            <p:cNvPr id="17420" name="Text Box 38"/>
            <p:cNvSpPr txBox="1">
              <a:spLocks noChangeArrowheads="1"/>
            </p:cNvSpPr>
            <p:nvPr/>
          </p:nvSpPr>
          <p:spPr bwMode="auto">
            <a:xfrm>
              <a:off x="390" y="666"/>
              <a:ext cx="5049"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476250" indent="-47625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dirty="0" smtClean="0">
                  <a:solidFill>
                    <a:schemeClr val="tx2"/>
                  </a:solidFill>
                  <a:sym typeface="Monotype Sorts" pitchFamily="2" charset="2"/>
                </a:rPr>
                <a:t>(1)  </a:t>
              </a:r>
              <a:r>
                <a:rPr lang="zh-CN" altLang="en-US" dirty="0" smtClean="0">
                  <a:solidFill>
                    <a:schemeClr val="tx2"/>
                  </a:solidFill>
                  <a:sym typeface="Monotype Sorts" pitchFamily="2" charset="2"/>
                </a:rPr>
                <a:t>用</a:t>
              </a:r>
              <a:r>
                <a:rPr lang="zh-CN" altLang="en-US" dirty="0">
                  <a:solidFill>
                    <a:schemeClr val="tx2"/>
                  </a:solidFill>
                  <a:sym typeface="Monotype Sorts" pitchFamily="2" charset="2"/>
                </a:rPr>
                <a:t>正负极性</a:t>
              </a:r>
              <a:r>
                <a:rPr lang="zh-CN" altLang="en-US" dirty="0" smtClean="0">
                  <a:solidFill>
                    <a:schemeClr val="tx2"/>
                  </a:solidFill>
                  <a:sym typeface="Monotype Sorts" pitchFamily="2" charset="2"/>
                </a:rPr>
                <a:t>表示（</a:t>
              </a:r>
              <a:r>
                <a:rPr lang="en-US" altLang="zh-CN" dirty="0" smtClean="0">
                  <a:solidFill>
                    <a:schemeClr val="tx2"/>
                  </a:solidFill>
                  <a:sym typeface="Monotype Sorts" pitchFamily="2" charset="2"/>
                </a:rPr>
                <a:t>voltage polarity</a:t>
              </a:r>
              <a:r>
                <a:rPr lang="zh-CN" altLang="en-US" dirty="0" smtClean="0">
                  <a:solidFill>
                    <a:schemeClr val="tx2"/>
                  </a:solidFill>
                  <a:sym typeface="Monotype Sorts" pitchFamily="2" charset="2"/>
                </a:rPr>
                <a:t>）：</a:t>
              </a:r>
              <a:r>
                <a:rPr lang="zh-CN" altLang="en-US" dirty="0">
                  <a:solidFill>
                    <a:schemeClr val="tx2"/>
                  </a:solidFill>
                  <a:sym typeface="Monotype Sorts" pitchFamily="2" charset="2"/>
                </a:rPr>
                <a:t>由正极指向</a:t>
              </a:r>
              <a:r>
                <a:rPr lang="zh-CN" altLang="en-US" dirty="0" smtClean="0">
                  <a:solidFill>
                    <a:schemeClr val="tx2"/>
                  </a:solidFill>
                  <a:sym typeface="Monotype Sorts" pitchFamily="2" charset="2"/>
                </a:rPr>
                <a:t>负极</a:t>
              </a:r>
              <a:r>
                <a:rPr lang="en-US" altLang="zh-CN" dirty="0" smtClean="0">
                  <a:solidFill>
                    <a:schemeClr val="tx2"/>
                  </a:solidFill>
                  <a:sym typeface="Monotype Sorts" pitchFamily="2" charset="2"/>
                </a:rPr>
                <a:t/>
              </a:r>
              <a:br>
                <a:rPr lang="en-US" altLang="zh-CN" dirty="0" smtClean="0">
                  <a:solidFill>
                    <a:schemeClr val="tx2"/>
                  </a:solidFill>
                  <a:sym typeface="Monotype Sorts" pitchFamily="2" charset="2"/>
                </a:rPr>
              </a:br>
              <a:r>
                <a:rPr lang="zh-CN" altLang="en-US" dirty="0" smtClean="0">
                  <a:solidFill>
                    <a:schemeClr val="tx2"/>
                  </a:solidFill>
                  <a:sym typeface="Monotype Sorts" pitchFamily="2" charset="2"/>
                </a:rPr>
                <a:t>的</a:t>
              </a:r>
              <a:r>
                <a:rPr lang="zh-CN" altLang="en-US" dirty="0">
                  <a:solidFill>
                    <a:schemeClr val="tx2"/>
                  </a:solidFill>
                  <a:sym typeface="Monotype Sorts" pitchFamily="2" charset="2"/>
                </a:rPr>
                <a:t>方向为</a:t>
              </a:r>
              <a:r>
                <a:rPr lang="zh-CN" altLang="en-US" dirty="0" smtClean="0">
                  <a:solidFill>
                    <a:schemeClr val="tx2"/>
                  </a:solidFill>
                  <a:sym typeface="Monotype Sorts" pitchFamily="2" charset="2"/>
                </a:rPr>
                <a:t>电压的</a:t>
              </a:r>
              <a:r>
                <a:rPr lang="zh-CN" altLang="en-US" dirty="0">
                  <a:solidFill>
                    <a:schemeClr val="tx2"/>
                  </a:solidFill>
                  <a:sym typeface="Monotype Sorts" pitchFamily="2" charset="2"/>
                </a:rPr>
                <a:t>参考方向</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8922"/>
                                        </p:tgtEl>
                                        <p:attrNameLst>
                                          <p:attrName>style.visibility</p:attrName>
                                        </p:attrNameLst>
                                      </p:cBhvr>
                                      <p:to>
                                        <p:strVal val="visible"/>
                                      </p:to>
                                    </p:set>
                                    <p:animEffect transition="in" filter="blinds(horizontal)">
                                      <p:cBhvr>
                                        <p:cTn id="7" dur="500"/>
                                        <p:tgtEl>
                                          <p:spTgt spid="2089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8899"/>
                                        </p:tgtEl>
                                        <p:attrNameLst>
                                          <p:attrName>style.visibility</p:attrName>
                                        </p:attrNameLst>
                                      </p:cBhvr>
                                      <p:to>
                                        <p:strVal val="visible"/>
                                      </p:to>
                                    </p:set>
                                    <p:animEffect transition="in" filter="blinds(horizontal)">
                                      <p:cBhvr>
                                        <p:cTn id="12" dur="500"/>
                                        <p:tgtEl>
                                          <p:spTgt spid="20889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08901"/>
                                        </p:tgtEl>
                                        <p:attrNameLst>
                                          <p:attrName>style.visibility</p:attrName>
                                        </p:attrNameLst>
                                      </p:cBhvr>
                                      <p:to>
                                        <p:strVal val="visible"/>
                                      </p:to>
                                    </p:set>
                                    <p:animEffect transition="in" filter="blinds(horizontal)">
                                      <p:cBhvr>
                                        <p:cTn id="15" dur="500"/>
                                        <p:tgtEl>
                                          <p:spTgt spid="208901"/>
                                        </p:tgtEl>
                                      </p:cBhvr>
                                    </p:animEffect>
                                  </p:childTnLst>
                                </p:cTn>
                              </p:par>
                              <p:par>
                                <p:cTn id="16" presetID="3" presetClass="entr" presetSubtype="10" fill="hold" nodeType="withEffect">
                                  <p:stCondLst>
                                    <p:cond delay="0"/>
                                  </p:stCondLst>
                                  <p:childTnLst>
                                    <p:set>
                                      <p:cBhvr>
                                        <p:cTn id="17" dur="1" fill="hold">
                                          <p:stCondLst>
                                            <p:cond delay="0"/>
                                          </p:stCondLst>
                                        </p:cTn>
                                        <p:tgtEl>
                                          <p:spTgt spid="208902"/>
                                        </p:tgtEl>
                                        <p:attrNameLst>
                                          <p:attrName>style.visibility</p:attrName>
                                        </p:attrNameLst>
                                      </p:cBhvr>
                                      <p:to>
                                        <p:strVal val="visible"/>
                                      </p:to>
                                    </p:set>
                                    <p:animEffect transition="in" filter="blinds(horizontal)">
                                      <p:cBhvr>
                                        <p:cTn id="18" dur="500"/>
                                        <p:tgtEl>
                                          <p:spTgt spid="208902"/>
                                        </p:tgtEl>
                                      </p:cBhvr>
                                    </p:animEffect>
                                  </p:childTnLst>
                                </p:cTn>
                              </p:par>
                              <p:par>
                                <p:cTn id="19" presetID="3" presetClass="entr" presetSubtype="10" fill="hold" nodeType="withEffect">
                                  <p:stCondLst>
                                    <p:cond delay="0"/>
                                  </p:stCondLst>
                                  <p:childTnLst>
                                    <p:set>
                                      <p:cBhvr>
                                        <p:cTn id="20" dur="1" fill="hold">
                                          <p:stCondLst>
                                            <p:cond delay="0"/>
                                          </p:stCondLst>
                                        </p:cTn>
                                        <p:tgtEl>
                                          <p:spTgt spid="208905"/>
                                        </p:tgtEl>
                                        <p:attrNameLst>
                                          <p:attrName>style.visibility</p:attrName>
                                        </p:attrNameLst>
                                      </p:cBhvr>
                                      <p:to>
                                        <p:strVal val="visible"/>
                                      </p:to>
                                    </p:set>
                                    <p:animEffect transition="in" filter="blinds(horizontal)">
                                      <p:cBhvr>
                                        <p:cTn id="21" dur="500"/>
                                        <p:tgtEl>
                                          <p:spTgt spid="20890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08908"/>
                                        </p:tgtEl>
                                        <p:attrNameLst>
                                          <p:attrName>style.visibility</p:attrName>
                                        </p:attrNameLst>
                                      </p:cBhvr>
                                      <p:to>
                                        <p:strVal val="visible"/>
                                      </p:to>
                                    </p:set>
                                    <p:animEffect transition="in" filter="blinds(horizontal)">
                                      <p:cBhvr>
                                        <p:cTn id="24" dur="500"/>
                                        <p:tgtEl>
                                          <p:spTgt spid="208908"/>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08909"/>
                                        </p:tgtEl>
                                        <p:attrNameLst>
                                          <p:attrName>style.visibility</p:attrName>
                                        </p:attrNameLst>
                                      </p:cBhvr>
                                      <p:to>
                                        <p:strVal val="visible"/>
                                      </p:to>
                                    </p:set>
                                    <p:animEffect transition="in" filter="blinds(horizontal)">
                                      <p:cBhvr>
                                        <p:cTn id="27" dur="500"/>
                                        <p:tgtEl>
                                          <p:spTgt spid="2089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208910"/>
                                        </p:tgtEl>
                                        <p:attrNameLst>
                                          <p:attrName>style.visibility</p:attrName>
                                        </p:attrNameLst>
                                      </p:cBhvr>
                                      <p:to>
                                        <p:strVal val="visible"/>
                                      </p:to>
                                    </p:set>
                                    <p:anim calcmode="lin" valueType="num">
                                      <p:cBhvr additive="base">
                                        <p:cTn id="32" dur="500" fill="hold"/>
                                        <p:tgtEl>
                                          <p:spTgt spid="208910"/>
                                        </p:tgtEl>
                                        <p:attrNameLst>
                                          <p:attrName>ppt_x</p:attrName>
                                        </p:attrNameLst>
                                      </p:cBhvr>
                                      <p:tavLst>
                                        <p:tav tm="0">
                                          <p:val>
                                            <p:strVal val="#ppt_x"/>
                                          </p:val>
                                        </p:tav>
                                        <p:tav tm="100000">
                                          <p:val>
                                            <p:strVal val="#ppt_x"/>
                                          </p:val>
                                        </p:tav>
                                      </p:tavLst>
                                    </p:anim>
                                    <p:anim calcmode="lin" valueType="num">
                                      <p:cBhvr additive="base">
                                        <p:cTn id="33" dur="500" fill="hold"/>
                                        <p:tgtEl>
                                          <p:spTgt spid="2089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p:bldP spid="208901" grpId="0" animBg="1"/>
      <p:bldP spid="208908" grpId="0" animBg="1"/>
      <p:bldP spid="20890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5"/>
          <p:cNvSpPr txBox="1">
            <a:spLocks noChangeArrowheads="1"/>
          </p:cNvSpPr>
          <p:nvPr/>
        </p:nvSpPr>
        <p:spPr bwMode="auto">
          <a:xfrm>
            <a:off x="392906" y="595759"/>
            <a:ext cx="79946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rgbClr val="00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en-US" altLang="zh-CN" dirty="0">
                <a:solidFill>
                  <a:srgbClr val="0000CC"/>
                </a:solidFill>
                <a:sym typeface="Wingdings 2" pitchFamily="18" charset="2"/>
              </a:rPr>
              <a:t>4</a:t>
            </a:r>
            <a:r>
              <a:rPr lang="zh-CN" altLang="en-US" dirty="0">
                <a:solidFill>
                  <a:srgbClr val="0000CC"/>
                </a:solidFill>
                <a:sym typeface="Wingdings 2" pitchFamily="18" charset="2"/>
              </a:rPr>
              <a:t>、</a:t>
            </a:r>
            <a:r>
              <a:rPr lang="zh-CN" altLang="en-US" dirty="0" smtClean="0">
                <a:solidFill>
                  <a:srgbClr val="0000CC"/>
                </a:solidFill>
                <a:sym typeface="Wingdings 2" pitchFamily="18" charset="2"/>
              </a:rPr>
              <a:t>关联和</a:t>
            </a:r>
            <a:r>
              <a:rPr lang="zh-CN" altLang="en-US" dirty="0">
                <a:solidFill>
                  <a:srgbClr val="0000CC"/>
                </a:solidFill>
                <a:sym typeface="Wingdings 2" pitchFamily="18" charset="2"/>
              </a:rPr>
              <a:t>非关联的参考方向</a:t>
            </a:r>
            <a:endParaRPr lang="zh-CN" altLang="en-US" sz="3600" dirty="0">
              <a:solidFill>
                <a:srgbClr val="0000CC"/>
              </a:solidFill>
              <a:sym typeface="Wingdings 2" pitchFamily="18" charset="2"/>
            </a:endParaRPr>
          </a:p>
        </p:txBody>
      </p:sp>
      <p:sp>
        <p:nvSpPr>
          <p:cNvPr id="18435" name="Rectangle 55"/>
          <p:cNvSpPr>
            <a:spLocks noChangeArrowheads="1"/>
          </p:cNvSpPr>
          <p:nvPr/>
        </p:nvSpPr>
        <p:spPr bwMode="auto">
          <a:xfrm>
            <a:off x="2149475" y="1717675"/>
            <a:ext cx="781050" cy="266700"/>
          </a:xfrm>
          <a:prstGeom prst="rect">
            <a:avLst/>
          </a:prstGeom>
          <a:solidFill>
            <a:srgbClr val="00FF00"/>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8436" name="Text Box 56"/>
          <p:cNvSpPr txBox="1">
            <a:spLocks noChangeArrowheads="1"/>
          </p:cNvSpPr>
          <p:nvPr/>
        </p:nvSpPr>
        <p:spPr bwMode="auto">
          <a:xfrm>
            <a:off x="1179513" y="1209675"/>
            <a:ext cx="2936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a:solidFill>
                  <a:srgbClr val="993300"/>
                </a:solidFill>
                <a:sym typeface="CommonBullets" pitchFamily="34" charset="2"/>
              </a:rPr>
              <a:t>+</a:t>
            </a:r>
            <a:endParaRPr lang="en-US" altLang="zh-CN" sz="3200">
              <a:solidFill>
                <a:srgbClr val="993300"/>
              </a:solidFill>
            </a:endParaRPr>
          </a:p>
        </p:txBody>
      </p:sp>
      <p:sp>
        <p:nvSpPr>
          <p:cNvPr id="18437" name="Line 57"/>
          <p:cNvSpPr>
            <a:spLocks noChangeShapeType="1"/>
          </p:cNvSpPr>
          <p:nvPr/>
        </p:nvSpPr>
        <p:spPr bwMode="auto">
          <a:xfrm flipV="1">
            <a:off x="3643313" y="1489075"/>
            <a:ext cx="185737" cy="0"/>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8" name="Text Box 58"/>
          <p:cNvSpPr txBox="1">
            <a:spLocks noChangeArrowheads="1"/>
          </p:cNvSpPr>
          <p:nvPr/>
        </p:nvSpPr>
        <p:spPr bwMode="auto">
          <a:xfrm>
            <a:off x="2379663" y="1300163"/>
            <a:ext cx="296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000" i="1">
                <a:solidFill>
                  <a:srgbClr val="993300"/>
                </a:solidFill>
              </a:rPr>
              <a:t>v</a:t>
            </a:r>
            <a:endParaRPr lang="en-US" altLang="zh-CN" sz="2000">
              <a:solidFill>
                <a:srgbClr val="993300"/>
              </a:solidFill>
            </a:endParaRPr>
          </a:p>
        </p:txBody>
      </p:sp>
      <p:grpSp>
        <p:nvGrpSpPr>
          <p:cNvPr id="18439" name="Group 59"/>
          <p:cNvGrpSpPr>
            <a:grpSpLocks/>
          </p:cNvGrpSpPr>
          <p:nvPr/>
        </p:nvGrpSpPr>
        <p:grpSpPr bwMode="auto">
          <a:xfrm>
            <a:off x="1255713" y="1819275"/>
            <a:ext cx="871537" cy="88900"/>
            <a:chOff x="680" y="2744"/>
            <a:chExt cx="549" cy="56"/>
          </a:xfrm>
        </p:grpSpPr>
        <p:sp>
          <p:nvSpPr>
            <p:cNvPr id="18460" name="Line 60"/>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61" name="Oval 61"/>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18440" name="Group 62"/>
          <p:cNvGrpSpPr>
            <a:grpSpLocks/>
          </p:cNvGrpSpPr>
          <p:nvPr/>
        </p:nvGrpSpPr>
        <p:grpSpPr bwMode="auto">
          <a:xfrm flipH="1">
            <a:off x="2957513" y="1806575"/>
            <a:ext cx="871537" cy="88900"/>
            <a:chOff x="680" y="2744"/>
            <a:chExt cx="549" cy="56"/>
          </a:xfrm>
        </p:grpSpPr>
        <p:sp>
          <p:nvSpPr>
            <p:cNvPr id="18458" name="Line 63"/>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9" name="Oval 64"/>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18441" name="Line 65"/>
          <p:cNvSpPr>
            <a:spLocks noChangeShapeType="1"/>
          </p:cNvSpPr>
          <p:nvPr/>
        </p:nvSpPr>
        <p:spPr bwMode="auto">
          <a:xfrm>
            <a:off x="1662113" y="2174875"/>
            <a:ext cx="673100"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2" name="Text Box 66"/>
          <p:cNvSpPr txBox="1">
            <a:spLocks noChangeArrowheads="1"/>
          </p:cNvSpPr>
          <p:nvPr/>
        </p:nvSpPr>
        <p:spPr bwMode="auto">
          <a:xfrm>
            <a:off x="2455863" y="1946275"/>
            <a:ext cx="2682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993300"/>
                </a:solidFill>
                <a:sym typeface="Symbol" pitchFamily="18" charset="2"/>
              </a:rPr>
              <a:t>i</a:t>
            </a:r>
            <a:endParaRPr lang="en-US" altLang="zh-CN">
              <a:solidFill>
                <a:srgbClr val="993300"/>
              </a:solidFill>
              <a:sym typeface="Symbol" pitchFamily="18" charset="2"/>
            </a:endParaRPr>
          </a:p>
        </p:txBody>
      </p:sp>
      <p:sp>
        <p:nvSpPr>
          <p:cNvPr id="18443" name="Rectangle 69"/>
          <p:cNvSpPr>
            <a:spLocks noChangeArrowheads="1"/>
          </p:cNvSpPr>
          <p:nvPr/>
        </p:nvSpPr>
        <p:spPr bwMode="auto">
          <a:xfrm>
            <a:off x="5870575" y="1692275"/>
            <a:ext cx="781050" cy="266700"/>
          </a:xfrm>
          <a:prstGeom prst="rect">
            <a:avLst/>
          </a:prstGeom>
          <a:solidFill>
            <a:srgbClr val="00FF00"/>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18444" name="Text Box 70"/>
          <p:cNvSpPr txBox="1">
            <a:spLocks noChangeArrowheads="1"/>
          </p:cNvSpPr>
          <p:nvPr/>
        </p:nvSpPr>
        <p:spPr bwMode="auto">
          <a:xfrm>
            <a:off x="4900613" y="1184275"/>
            <a:ext cx="2936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dirty="0">
                <a:solidFill>
                  <a:srgbClr val="993300"/>
                </a:solidFill>
                <a:sym typeface="CommonBullets" pitchFamily="34" charset="2"/>
              </a:rPr>
              <a:t>+</a:t>
            </a:r>
            <a:endParaRPr lang="en-US" altLang="zh-CN" sz="3200" dirty="0">
              <a:solidFill>
                <a:srgbClr val="993300"/>
              </a:solidFill>
            </a:endParaRPr>
          </a:p>
        </p:txBody>
      </p:sp>
      <p:sp>
        <p:nvSpPr>
          <p:cNvPr id="18445" name="Line 71"/>
          <p:cNvSpPr>
            <a:spLocks noChangeShapeType="1"/>
          </p:cNvSpPr>
          <p:nvPr/>
        </p:nvSpPr>
        <p:spPr bwMode="auto">
          <a:xfrm>
            <a:off x="7364413" y="1463674"/>
            <a:ext cx="141288" cy="12850"/>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6" name="Text Box 72"/>
          <p:cNvSpPr txBox="1">
            <a:spLocks noChangeArrowheads="1"/>
          </p:cNvSpPr>
          <p:nvPr/>
        </p:nvSpPr>
        <p:spPr bwMode="auto">
          <a:xfrm>
            <a:off x="6100763" y="1274763"/>
            <a:ext cx="296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000" i="1" dirty="0">
                <a:solidFill>
                  <a:srgbClr val="993300"/>
                </a:solidFill>
              </a:rPr>
              <a:t>v</a:t>
            </a:r>
            <a:endParaRPr lang="en-US" altLang="zh-CN" sz="2000" dirty="0">
              <a:solidFill>
                <a:srgbClr val="993300"/>
              </a:solidFill>
            </a:endParaRPr>
          </a:p>
        </p:txBody>
      </p:sp>
      <p:grpSp>
        <p:nvGrpSpPr>
          <p:cNvPr id="18447" name="Group 73"/>
          <p:cNvGrpSpPr>
            <a:grpSpLocks/>
          </p:cNvGrpSpPr>
          <p:nvPr/>
        </p:nvGrpSpPr>
        <p:grpSpPr bwMode="auto">
          <a:xfrm>
            <a:off x="4976813" y="1793875"/>
            <a:ext cx="871537" cy="88900"/>
            <a:chOff x="680" y="2744"/>
            <a:chExt cx="549" cy="56"/>
          </a:xfrm>
        </p:grpSpPr>
        <p:sp>
          <p:nvSpPr>
            <p:cNvPr id="18456" name="Line 74"/>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7" name="Oval 75"/>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18448" name="Group 76"/>
          <p:cNvGrpSpPr>
            <a:grpSpLocks/>
          </p:cNvGrpSpPr>
          <p:nvPr/>
        </p:nvGrpSpPr>
        <p:grpSpPr bwMode="auto">
          <a:xfrm flipH="1">
            <a:off x="6678613" y="1781175"/>
            <a:ext cx="871537" cy="88900"/>
            <a:chOff x="680" y="2744"/>
            <a:chExt cx="549" cy="56"/>
          </a:xfrm>
        </p:grpSpPr>
        <p:sp>
          <p:nvSpPr>
            <p:cNvPr id="18454" name="Line 77"/>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5" name="Oval 78"/>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18449" name="Line 79"/>
          <p:cNvSpPr>
            <a:spLocks noChangeShapeType="1"/>
          </p:cNvSpPr>
          <p:nvPr/>
        </p:nvSpPr>
        <p:spPr bwMode="auto">
          <a:xfrm flipH="1">
            <a:off x="6081713" y="2149475"/>
            <a:ext cx="673100"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0" name="Text Box 80"/>
          <p:cNvSpPr txBox="1">
            <a:spLocks noChangeArrowheads="1"/>
          </p:cNvSpPr>
          <p:nvPr/>
        </p:nvSpPr>
        <p:spPr bwMode="auto">
          <a:xfrm>
            <a:off x="6850063" y="1920875"/>
            <a:ext cx="2682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dirty="0" err="1">
                <a:solidFill>
                  <a:schemeClr val="tx2"/>
                </a:solidFill>
                <a:sym typeface="Symbol" pitchFamily="18" charset="2"/>
              </a:rPr>
              <a:t>i</a:t>
            </a:r>
            <a:endParaRPr lang="en-US" altLang="zh-CN" dirty="0">
              <a:solidFill>
                <a:schemeClr val="tx2"/>
              </a:solidFill>
              <a:sym typeface="Symbol" pitchFamily="18" charset="2"/>
            </a:endParaRPr>
          </a:p>
        </p:txBody>
      </p:sp>
      <p:sp>
        <p:nvSpPr>
          <p:cNvPr id="18451" name="Text Box 81"/>
          <p:cNvSpPr txBox="1">
            <a:spLocks noChangeArrowheads="1"/>
          </p:cNvSpPr>
          <p:nvPr/>
        </p:nvSpPr>
        <p:spPr bwMode="auto">
          <a:xfrm>
            <a:off x="1595438" y="2352675"/>
            <a:ext cx="20224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zh-CN">
                <a:solidFill>
                  <a:srgbClr val="FF0000"/>
                </a:solidFill>
                <a:latin typeface="宋体" charset="-122"/>
              </a:rPr>
              <a:t>关联</a:t>
            </a:r>
            <a:r>
              <a:rPr lang="zh-CN" altLang="zh-CN">
                <a:latin typeface="宋体" charset="-122"/>
              </a:rPr>
              <a:t>参考方向</a:t>
            </a:r>
            <a:endParaRPr lang="zh-CN" altLang="en-US">
              <a:latin typeface="宋体" charset="-122"/>
            </a:endParaRPr>
          </a:p>
        </p:txBody>
      </p:sp>
      <p:sp>
        <p:nvSpPr>
          <p:cNvPr id="18452" name="Text Box 82"/>
          <p:cNvSpPr txBox="1">
            <a:spLocks noChangeArrowheads="1"/>
          </p:cNvSpPr>
          <p:nvPr/>
        </p:nvSpPr>
        <p:spPr bwMode="auto">
          <a:xfrm>
            <a:off x="5200650" y="2339975"/>
            <a:ext cx="23288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zh-CN">
                <a:solidFill>
                  <a:srgbClr val="FF0000"/>
                </a:solidFill>
                <a:latin typeface="宋体" charset="-122"/>
              </a:rPr>
              <a:t>非关联</a:t>
            </a:r>
            <a:r>
              <a:rPr lang="zh-CN" altLang="zh-CN">
                <a:latin typeface="宋体" charset="-122"/>
              </a:rPr>
              <a:t>参考方向</a:t>
            </a:r>
            <a:endParaRPr lang="zh-CN" altLang="en-US">
              <a:latin typeface="宋体" charset="-122"/>
            </a:endParaRPr>
          </a:p>
        </p:txBody>
      </p:sp>
      <p:sp>
        <p:nvSpPr>
          <p:cNvPr id="237657" name="Text Box 89"/>
          <p:cNvSpPr txBox="1">
            <a:spLocks noChangeArrowheads="1"/>
          </p:cNvSpPr>
          <p:nvPr/>
        </p:nvSpPr>
        <p:spPr bwMode="auto">
          <a:xfrm>
            <a:off x="939800" y="2900363"/>
            <a:ext cx="7488238" cy="276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lnSpc>
                <a:spcPct val="150000"/>
              </a:lnSpc>
              <a:spcBef>
                <a:spcPct val="50000"/>
              </a:spcBef>
              <a:buFont typeface="Wingdings" pitchFamily="2" charset="2"/>
              <a:buChar char="p"/>
            </a:pPr>
            <a:r>
              <a:rPr kumimoji="0" lang="en-US" altLang="zh-CN" sz="2800" b="0" dirty="0">
                <a:latin typeface="Arial" charset="0"/>
                <a:ea typeface="黑体" pitchFamily="49" charset="-122"/>
              </a:rPr>
              <a:t> </a:t>
            </a:r>
            <a:r>
              <a:rPr kumimoji="0" lang="zh-CN" altLang="en-US" dirty="0">
                <a:latin typeface="宋体" charset="-122"/>
              </a:rPr>
              <a:t>对电阻元件而言，流过电阻的电流的方向总是与电压降的方向一致；任意元件指定了一个参考方向后，另一个一般取关联的参考方向。</a:t>
            </a:r>
          </a:p>
          <a:p>
            <a:pPr eaLnBrk="1" hangingPunct="1">
              <a:spcBef>
                <a:spcPct val="50000"/>
              </a:spcBef>
              <a:buFont typeface="Wingdings" pitchFamily="2" charset="2"/>
              <a:buChar char="p"/>
            </a:pPr>
            <a:r>
              <a:rPr kumimoji="0" lang="zh-CN" altLang="en-US" dirty="0">
                <a:latin typeface="宋体" charset="-122"/>
              </a:rPr>
              <a:t> </a:t>
            </a:r>
            <a:r>
              <a:rPr kumimoji="0" lang="zh-CN" altLang="en-US" dirty="0" smtClean="0">
                <a:latin typeface="宋体" charset="-122"/>
              </a:rPr>
              <a:t>对于</a:t>
            </a:r>
            <a:r>
              <a:rPr kumimoji="0" lang="zh-CN" altLang="en-US" dirty="0">
                <a:latin typeface="宋体" charset="-122"/>
              </a:rPr>
              <a:t>电源内部，其电压、电流一般取非关联参考方向。</a:t>
            </a:r>
          </a:p>
        </p:txBody>
      </p:sp>
      <p:grpSp>
        <p:nvGrpSpPr>
          <p:cNvPr id="3" name="组合 2"/>
          <p:cNvGrpSpPr/>
          <p:nvPr/>
        </p:nvGrpSpPr>
        <p:grpSpPr>
          <a:xfrm>
            <a:off x="3171825" y="5453085"/>
            <a:ext cx="2436811" cy="915965"/>
            <a:chOff x="3754438" y="5329260"/>
            <a:chExt cx="2436811" cy="915965"/>
          </a:xfrm>
        </p:grpSpPr>
        <p:sp>
          <p:nvSpPr>
            <p:cNvPr id="30" name="Line 57"/>
            <p:cNvSpPr>
              <a:spLocks noChangeShapeType="1"/>
            </p:cNvSpPr>
            <p:nvPr/>
          </p:nvSpPr>
          <p:spPr bwMode="auto">
            <a:xfrm rot="16200000">
              <a:off x="5392737" y="6016625"/>
              <a:ext cx="1905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58"/>
            <p:cNvSpPr>
              <a:spLocks noChangeShapeType="1"/>
            </p:cNvSpPr>
            <p:nvPr/>
          </p:nvSpPr>
          <p:spPr bwMode="auto">
            <a:xfrm rot="16200000">
              <a:off x="5078412" y="6007100"/>
              <a:ext cx="47625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64"/>
            <p:cNvSpPr>
              <a:spLocks noChangeShapeType="1"/>
            </p:cNvSpPr>
            <p:nvPr/>
          </p:nvSpPr>
          <p:spPr bwMode="auto">
            <a:xfrm rot="16200000" flipV="1">
              <a:off x="4653755" y="5376068"/>
              <a:ext cx="2" cy="128746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66"/>
            <p:cNvSpPr>
              <a:spLocks noChangeShapeType="1"/>
            </p:cNvSpPr>
            <p:nvPr/>
          </p:nvSpPr>
          <p:spPr bwMode="auto">
            <a:xfrm rot="16200000">
              <a:off x="5849142" y="5677693"/>
              <a:ext cx="1" cy="68421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Text Box 70"/>
            <p:cNvSpPr txBox="1">
              <a:spLocks noChangeArrowheads="1"/>
            </p:cNvSpPr>
            <p:nvPr/>
          </p:nvSpPr>
          <p:spPr bwMode="auto">
            <a:xfrm>
              <a:off x="4820443" y="5466578"/>
              <a:ext cx="2936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dirty="0">
                  <a:solidFill>
                    <a:srgbClr val="993300"/>
                  </a:solidFill>
                  <a:sym typeface="CommonBullets" pitchFamily="34" charset="2"/>
                </a:rPr>
                <a:t>+</a:t>
              </a:r>
              <a:endParaRPr lang="en-US" altLang="zh-CN" sz="3200" dirty="0">
                <a:solidFill>
                  <a:srgbClr val="993300"/>
                </a:solidFill>
              </a:endParaRPr>
            </a:p>
          </p:txBody>
        </p:sp>
        <p:sp>
          <p:nvSpPr>
            <p:cNvPr id="36" name="Line 57"/>
            <p:cNvSpPr>
              <a:spLocks noChangeShapeType="1"/>
            </p:cNvSpPr>
            <p:nvPr/>
          </p:nvSpPr>
          <p:spPr bwMode="auto">
            <a:xfrm flipV="1">
              <a:off x="5684838" y="5754609"/>
              <a:ext cx="185737" cy="0"/>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79"/>
            <p:cNvSpPr>
              <a:spLocks noChangeShapeType="1"/>
            </p:cNvSpPr>
            <p:nvPr/>
          </p:nvSpPr>
          <p:spPr bwMode="auto">
            <a:xfrm flipH="1">
              <a:off x="3754438" y="5829200"/>
              <a:ext cx="673100"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Text Box 80"/>
            <p:cNvSpPr txBox="1">
              <a:spLocks noChangeArrowheads="1"/>
            </p:cNvSpPr>
            <p:nvPr/>
          </p:nvSpPr>
          <p:spPr bwMode="auto">
            <a:xfrm>
              <a:off x="3956844" y="5416448"/>
              <a:ext cx="2682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dirty="0" err="1">
                  <a:solidFill>
                    <a:schemeClr val="tx2"/>
                  </a:solidFill>
                  <a:sym typeface="Symbol" pitchFamily="18" charset="2"/>
                </a:rPr>
                <a:t>i</a:t>
              </a:r>
              <a:endParaRPr lang="en-US" altLang="zh-CN" dirty="0">
                <a:solidFill>
                  <a:schemeClr val="tx2"/>
                </a:solidFill>
                <a:sym typeface="Symbol" pitchFamily="18" charset="2"/>
              </a:endParaRPr>
            </a:p>
          </p:txBody>
        </p:sp>
        <p:sp>
          <p:nvSpPr>
            <p:cNvPr id="39" name="Text Box 72"/>
            <p:cNvSpPr txBox="1">
              <a:spLocks noChangeArrowheads="1"/>
            </p:cNvSpPr>
            <p:nvPr/>
          </p:nvSpPr>
          <p:spPr bwMode="auto">
            <a:xfrm>
              <a:off x="5206206" y="5329260"/>
              <a:ext cx="296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000" i="1" dirty="0">
                  <a:solidFill>
                    <a:srgbClr val="993300"/>
                  </a:solidFill>
                </a:rPr>
                <a:t>v</a:t>
              </a:r>
              <a:endParaRPr lang="en-US" altLang="zh-CN" sz="2000" dirty="0">
                <a:solidFill>
                  <a:srgbClr val="993300"/>
                </a:solidFill>
              </a:endParaRPr>
            </a:p>
          </p:txBody>
        </p:sp>
      </p:grpSp>
    </p:spTree>
    <p:extLst>
      <p:ext uri="{BB962C8B-B14F-4D97-AF65-F5344CB8AC3E}">
        <p14:creationId xmlns:p14="http://schemas.microsoft.com/office/powerpoint/2010/main" val="225410581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barn(inVertical)">
                                      <p:cBhvr>
                                        <p:cTn id="7" dur="500"/>
                                        <p:tgtEl>
                                          <p:spTgt spid="1843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436"/>
                                        </p:tgtEl>
                                        <p:attrNameLst>
                                          <p:attrName>style.visibility</p:attrName>
                                        </p:attrNameLst>
                                      </p:cBhvr>
                                      <p:to>
                                        <p:strVal val="visible"/>
                                      </p:to>
                                    </p:set>
                                    <p:animEffect transition="in" filter="barn(inVertical)">
                                      <p:cBhvr>
                                        <p:cTn id="10" dur="500"/>
                                        <p:tgtEl>
                                          <p:spTgt spid="1843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8437"/>
                                        </p:tgtEl>
                                        <p:attrNameLst>
                                          <p:attrName>style.visibility</p:attrName>
                                        </p:attrNameLst>
                                      </p:cBhvr>
                                      <p:to>
                                        <p:strVal val="visible"/>
                                      </p:to>
                                    </p:set>
                                    <p:animEffect transition="in" filter="barn(inVertical)">
                                      <p:cBhvr>
                                        <p:cTn id="13" dur="500"/>
                                        <p:tgtEl>
                                          <p:spTgt spid="18437"/>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8438"/>
                                        </p:tgtEl>
                                        <p:attrNameLst>
                                          <p:attrName>style.visibility</p:attrName>
                                        </p:attrNameLst>
                                      </p:cBhvr>
                                      <p:to>
                                        <p:strVal val="visible"/>
                                      </p:to>
                                    </p:set>
                                    <p:animEffect transition="in" filter="barn(inVertical)">
                                      <p:cBhvr>
                                        <p:cTn id="16" dur="500"/>
                                        <p:tgtEl>
                                          <p:spTgt spid="18438"/>
                                        </p:tgtEl>
                                      </p:cBhvr>
                                    </p:animEffect>
                                  </p:childTnLst>
                                </p:cTn>
                              </p:par>
                              <p:par>
                                <p:cTn id="17" presetID="16" presetClass="entr" presetSubtype="21" fill="hold" nodeType="withEffect">
                                  <p:stCondLst>
                                    <p:cond delay="0"/>
                                  </p:stCondLst>
                                  <p:childTnLst>
                                    <p:set>
                                      <p:cBhvr>
                                        <p:cTn id="18" dur="1" fill="hold">
                                          <p:stCondLst>
                                            <p:cond delay="0"/>
                                          </p:stCondLst>
                                        </p:cTn>
                                        <p:tgtEl>
                                          <p:spTgt spid="18439"/>
                                        </p:tgtEl>
                                        <p:attrNameLst>
                                          <p:attrName>style.visibility</p:attrName>
                                        </p:attrNameLst>
                                      </p:cBhvr>
                                      <p:to>
                                        <p:strVal val="visible"/>
                                      </p:to>
                                    </p:set>
                                    <p:animEffect transition="in" filter="barn(inVertical)">
                                      <p:cBhvr>
                                        <p:cTn id="19" dur="500"/>
                                        <p:tgtEl>
                                          <p:spTgt spid="18439"/>
                                        </p:tgtEl>
                                      </p:cBhvr>
                                    </p:animEffect>
                                  </p:childTnLst>
                                </p:cTn>
                              </p:par>
                              <p:par>
                                <p:cTn id="20" presetID="16" presetClass="entr" presetSubtype="21" fill="hold" nodeType="withEffect">
                                  <p:stCondLst>
                                    <p:cond delay="0"/>
                                  </p:stCondLst>
                                  <p:childTnLst>
                                    <p:set>
                                      <p:cBhvr>
                                        <p:cTn id="21" dur="1" fill="hold">
                                          <p:stCondLst>
                                            <p:cond delay="0"/>
                                          </p:stCondLst>
                                        </p:cTn>
                                        <p:tgtEl>
                                          <p:spTgt spid="18440"/>
                                        </p:tgtEl>
                                        <p:attrNameLst>
                                          <p:attrName>style.visibility</p:attrName>
                                        </p:attrNameLst>
                                      </p:cBhvr>
                                      <p:to>
                                        <p:strVal val="visible"/>
                                      </p:to>
                                    </p:set>
                                    <p:animEffect transition="in" filter="barn(inVertical)">
                                      <p:cBhvr>
                                        <p:cTn id="22" dur="500"/>
                                        <p:tgtEl>
                                          <p:spTgt spid="18440"/>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8441"/>
                                        </p:tgtEl>
                                        <p:attrNameLst>
                                          <p:attrName>style.visibility</p:attrName>
                                        </p:attrNameLst>
                                      </p:cBhvr>
                                      <p:to>
                                        <p:strVal val="visible"/>
                                      </p:to>
                                    </p:set>
                                    <p:animEffect transition="in" filter="barn(inVertical)">
                                      <p:cBhvr>
                                        <p:cTn id="25" dur="500"/>
                                        <p:tgtEl>
                                          <p:spTgt spid="18441"/>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8442"/>
                                        </p:tgtEl>
                                        <p:attrNameLst>
                                          <p:attrName>style.visibility</p:attrName>
                                        </p:attrNameLst>
                                      </p:cBhvr>
                                      <p:to>
                                        <p:strVal val="visible"/>
                                      </p:to>
                                    </p:set>
                                    <p:animEffect transition="in" filter="barn(inVertical)">
                                      <p:cBhvr>
                                        <p:cTn id="28" dur="500"/>
                                        <p:tgtEl>
                                          <p:spTgt spid="18442"/>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8451"/>
                                        </p:tgtEl>
                                        <p:attrNameLst>
                                          <p:attrName>style.visibility</p:attrName>
                                        </p:attrNameLst>
                                      </p:cBhvr>
                                      <p:to>
                                        <p:strVal val="visible"/>
                                      </p:to>
                                    </p:set>
                                    <p:animEffect transition="in" filter="barn(inVertical)">
                                      <p:cBhvr>
                                        <p:cTn id="31" dur="500"/>
                                        <p:tgtEl>
                                          <p:spTgt spid="18451"/>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8443"/>
                                        </p:tgtEl>
                                        <p:attrNameLst>
                                          <p:attrName>style.visibility</p:attrName>
                                        </p:attrNameLst>
                                      </p:cBhvr>
                                      <p:to>
                                        <p:strVal val="visible"/>
                                      </p:to>
                                    </p:set>
                                    <p:animEffect transition="in" filter="barn(inVertical)">
                                      <p:cBhvr>
                                        <p:cTn id="36" dur="500"/>
                                        <p:tgtEl>
                                          <p:spTgt spid="18443"/>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18444"/>
                                        </p:tgtEl>
                                        <p:attrNameLst>
                                          <p:attrName>style.visibility</p:attrName>
                                        </p:attrNameLst>
                                      </p:cBhvr>
                                      <p:to>
                                        <p:strVal val="visible"/>
                                      </p:to>
                                    </p:set>
                                    <p:animEffect transition="in" filter="barn(inVertical)">
                                      <p:cBhvr>
                                        <p:cTn id="39" dur="500"/>
                                        <p:tgtEl>
                                          <p:spTgt spid="18444"/>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8445"/>
                                        </p:tgtEl>
                                        <p:attrNameLst>
                                          <p:attrName>style.visibility</p:attrName>
                                        </p:attrNameLst>
                                      </p:cBhvr>
                                      <p:to>
                                        <p:strVal val="visible"/>
                                      </p:to>
                                    </p:set>
                                    <p:animEffect transition="in" filter="barn(inVertical)">
                                      <p:cBhvr>
                                        <p:cTn id="42" dur="500"/>
                                        <p:tgtEl>
                                          <p:spTgt spid="18445"/>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18446"/>
                                        </p:tgtEl>
                                        <p:attrNameLst>
                                          <p:attrName>style.visibility</p:attrName>
                                        </p:attrNameLst>
                                      </p:cBhvr>
                                      <p:to>
                                        <p:strVal val="visible"/>
                                      </p:to>
                                    </p:set>
                                    <p:animEffect transition="in" filter="barn(inVertical)">
                                      <p:cBhvr>
                                        <p:cTn id="45" dur="500"/>
                                        <p:tgtEl>
                                          <p:spTgt spid="18446"/>
                                        </p:tgtEl>
                                      </p:cBhvr>
                                    </p:animEffect>
                                  </p:childTnLst>
                                </p:cTn>
                              </p:par>
                              <p:par>
                                <p:cTn id="46" presetID="16" presetClass="entr" presetSubtype="21" fill="hold" nodeType="withEffect">
                                  <p:stCondLst>
                                    <p:cond delay="0"/>
                                  </p:stCondLst>
                                  <p:childTnLst>
                                    <p:set>
                                      <p:cBhvr>
                                        <p:cTn id="47" dur="1" fill="hold">
                                          <p:stCondLst>
                                            <p:cond delay="0"/>
                                          </p:stCondLst>
                                        </p:cTn>
                                        <p:tgtEl>
                                          <p:spTgt spid="18447"/>
                                        </p:tgtEl>
                                        <p:attrNameLst>
                                          <p:attrName>style.visibility</p:attrName>
                                        </p:attrNameLst>
                                      </p:cBhvr>
                                      <p:to>
                                        <p:strVal val="visible"/>
                                      </p:to>
                                    </p:set>
                                    <p:animEffect transition="in" filter="barn(inVertical)">
                                      <p:cBhvr>
                                        <p:cTn id="48" dur="500"/>
                                        <p:tgtEl>
                                          <p:spTgt spid="18447"/>
                                        </p:tgtEl>
                                      </p:cBhvr>
                                    </p:animEffect>
                                  </p:childTnLst>
                                </p:cTn>
                              </p:par>
                              <p:par>
                                <p:cTn id="49" presetID="16" presetClass="entr" presetSubtype="21" fill="hold" nodeType="withEffect">
                                  <p:stCondLst>
                                    <p:cond delay="0"/>
                                  </p:stCondLst>
                                  <p:childTnLst>
                                    <p:set>
                                      <p:cBhvr>
                                        <p:cTn id="50" dur="1" fill="hold">
                                          <p:stCondLst>
                                            <p:cond delay="0"/>
                                          </p:stCondLst>
                                        </p:cTn>
                                        <p:tgtEl>
                                          <p:spTgt spid="18448"/>
                                        </p:tgtEl>
                                        <p:attrNameLst>
                                          <p:attrName>style.visibility</p:attrName>
                                        </p:attrNameLst>
                                      </p:cBhvr>
                                      <p:to>
                                        <p:strVal val="visible"/>
                                      </p:to>
                                    </p:set>
                                    <p:animEffect transition="in" filter="barn(inVertical)">
                                      <p:cBhvr>
                                        <p:cTn id="51" dur="500"/>
                                        <p:tgtEl>
                                          <p:spTgt spid="18448"/>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18449"/>
                                        </p:tgtEl>
                                        <p:attrNameLst>
                                          <p:attrName>style.visibility</p:attrName>
                                        </p:attrNameLst>
                                      </p:cBhvr>
                                      <p:to>
                                        <p:strVal val="visible"/>
                                      </p:to>
                                    </p:set>
                                    <p:animEffect transition="in" filter="barn(inVertical)">
                                      <p:cBhvr>
                                        <p:cTn id="54" dur="500"/>
                                        <p:tgtEl>
                                          <p:spTgt spid="18449"/>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18450"/>
                                        </p:tgtEl>
                                        <p:attrNameLst>
                                          <p:attrName>style.visibility</p:attrName>
                                        </p:attrNameLst>
                                      </p:cBhvr>
                                      <p:to>
                                        <p:strVal val="visible"/>
                                      </p:to>
                                    </p:set>
                                    <p:animEffect transition="in" filter="barn(inVertical)">
                                      <p:cBhvr>
                                        <p:cTn id="57" dur="500"/>
                                        <p:tgtEl>
                                          <p:spTgt spid="18450"/>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18452"/>
                                        </p:tgtEl>
                                        <p:attrNameLst>
                                          <p:attrName>style.visibility</p:attrName>
                                        </p:attrNameLst>
                                      </p:cBhvr>
                                      <p:to>
                                        <p:strVal val="visible"/>
                                      </p:to>
                                    </p:set>
                                    <p:animEffect transition="in" filter="barn(inVertical)">
                                      <p:cBhvr>
                                        <p:cTn id="60" dur="500"/>
                                        <p:tgtEl>
                                          <p:spTgt spid="18452"/>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237657">
                                            <p:txEl>
                                              <p:pRg st="0" end="0"/>
                                            </p:txEl>
                                          </p:spTgt>
                                        </p:tgtEl>
                                        <p:attrNameLst>
                                          <p:attrName>style.visibility</p:attrName>
                                        </p:attrNameLst>
                                      </p:cBhvr>
                                      <p:to>
                                        <p:strVal val="visible"/>
                                      </p:to>
                                    </p:set>
                                    <p:animEffect transition="in" filter="barn(inVertical)">
                                      <p:cBhvr>
                                        <p:cTn id="65" dur="500"/>
                                        <p:tgtEl>
                                          <p:spTgt spid="237657">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nodeType="clickEffect">
                                  <p:stCondLst>
                                    <p:cond delay="0"/>
                                  </p:stCondLst>
                                  <p:childTnLst>
                                    <p:set>
                                      <p:cBhvr>
                                        <p:cTn id="69" dur="1" fill="hold">
                                          <p:stCondLst>
                                            <p:cond delay="0"/>
                                          </p:stCondLst>
                                        </p:cTn>
                                        <p:tgtEl>
                                          <p:spTgt spid="237657">
                                            <p:txEl>
                                              <p:pRg st="1" end="1"/>
                                            </p:txEl>
                                          </p:spTgt>
                                        </p:tgtEl>
                                        <p:attrNameLst>
                                          <p:attrName>style.visibility</p:attrName>
                                        </p:attrNameLst>
                                      </p:cBhvr>
                                      <p:to>
                                        <p:strVal val="visible"/>
                                      </p:to>
                                    </p:set>
                                    <p:animEffect transition="in" filter="barn(inVertical)">
                                      <p:cBhvr>
                                        <p:cTn id="70" dur="500"/>
                                        <p:tgtEl>
                                          <p:spTgt spid="237657">
                                            <p:txEl>
                                              <p:pRg st="1" end="1"/>
                                            </p:txEl>
                                          </p:spTgt>
                                        </p:tgtEl>
                                      </p:cBhvr>
                                    </p:animEffect>
                                  </p:childTnLst>
                                </p:cTn>
                              </p:par>
                            </p:childTnLst>
                          </p:cTn>
                        </p:par>
                        <p:par>
                          <p:cTn id="71" fill="hold">
                            <p:stCondLst>
                              <p:cond delay="500"/>
                            </p:stCondLst>
                            <p:childTnLst>
                              <p:par>
                                <p:cTn id="72" presetID="16" presetClass="entr" presetSubtype="21" fill="hold" nodeType="afterEffect">
                                  <p:stCondLst>
                                    <p:cond delay="0"/>
                                  </p:stCondLst>
                                  <p:childTnLst>
                                    <p:set>
                                      <p:cBhvr>
                                        <p:cTn id="73" dur="1" fill="hold">
                                          <p:stCondLst>
                                            <p:cond delay="0"/>
                                          </p:stCondLst>
                                        </p:cTn>
                                        <p:tgtEl>
                                          <p:spTgt spid="3"/>
                                        </p:tgtEl>
                                        <p:attrNameLst>
                                          <p:attrName>style.visibility</p:attrName>
                                        </p:attrNameLst>
                                      </p:cBhvr>
                                      <p:to>
                                        <p:strVal val="visible"/>
                                      </p:to>
                                    </p:set>
                                    <p:animEffect transition="in" filter="barn(inVertical)">
                                      <p:cBhvr>
                                        <p:cTn id="7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nimBg="1"/>
      <p:bldP spid="18436" grpId="0"/>
      <p:bldP spid="18437" grpId="0" animBg="1"/>
      <p:bldP spid="18438" grpId="0"/>
      <p:bldP spid="18441" grpId="0" animBg="1"/>
      <p:bldP spid="18442" grpId="0"/>
      <p:bldP spid="18443" grpId="0" animBg="1"/>
      <p:bldP spid="18444" grpId="0"/>
      <p:bldP spid="18445" grpId="0" animBg="1"/>
      <p:bldP spid="18446" grpId="0"/>
      <p:bldP spid="18449" grpId="0" animBg="1"/>
      <p:bldP spid="18450" grpId="0"/>
      <p:bldP spid="18451" grpId="0"/>
      <p:bldP spid="1845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9"/>
          <p:cNvSpPr txBox="1">
            <a:spLocks noChangeArrowheads="1"/>
          </p:cNvSpPr>
          <p:nvPr/>
        </p:nvSpPr>
        <p:spPr bwMode="auto">
          <a:xfrm>
            <a:off x="925513" y="3030538"/>
            <a:ext cx="61864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dirty="0">
                <a:solidFill>
                  <a:srgbClr val="0000CC"/>
                </a:solidFill>
              </a:rPr>
              <a:t>能量</a:t>
            </a:r>
            <a:r>
              <a:rPr lang="zh-CN" altLang="en-US" dirty="0">
                <a:solidFill>
                  <a:schemeClr val="tx2"/>
                </a:solidFill>
              </a:rPr>
              <a:t>的单位名称：</a:t>
            </a:r>
            <a:r>
              <a:rPr lang="zh-CN" altLang="en-US" dirty="0">
                <a:solidFill>
                  <a:srgbClr val="0000CC"/>
                </a:solidFill>
              </a:rPr>
              <a:t>焦</a:t>
            </a:r>
            <a:r>
              <a:rPr lang="zh-CN" altLang="en-US" dirty="0">
                <a:solidFill>
                  <a:schemeClr val="tx2"/>
                </a:solidFill>
              </a:rPr>
              <a:t>（耳</a:t>
            </a:r>
            <a:r>
              <a:rPr lang="en-US" altLang="zh-CN" dirty="0">
                <a:solidFill>
                  <a:schemeClr val="tx2"/>
                </a:solidFill>
              </a:rPr>
              <a:t>)</a:t>
            </a:r>
            <a:r>
              <a:rPr lang="zh-CN" altLang="en-US" dirty="0">
                <a:solidFill>
                  <a:schemeClr val="tx2"/>
                </a:solidFill>
              </a:rPr>
              <a:t>　　符号（</a:t>
            </a:r>
            <a:r>
              <a:rPr lang="en-US" altLang="zh-CN" dirty="0">
                <a:solidFill>
                  <a:srgbClr val="0000CC"/>
                </a:solidFill>
              </a:rPr>
              <a:t>J</a:t>
            </a:r>
            <a:r>
              <a:rPr lang="zh-CN" altLang="en-US" dirty="0">
                <a:solidFill>
                  <a:schemeClr val="tx2"/>
                </a:solidFill>
              </a:rPr>
              <a:t>）</a:t>
            </a:r>
          </a:p>
        </p:txBody>
      </p:sp>
      <p:sp>
        <p:nvSpPr>
          <p:cNvPr id="19459" name="Text Box 11"/>
          <p:cNvSpPr txBox="1">
            <a:spLocks noChangeArrowheads="1"/>
          </p:cNvSpPr>
          <p:nvPr/>
        </p:nvSpPr>
        <p:spPr bwMode="auto">
          <a:xfrm>
            <a:off x="504825" y="1080442"/>
            <a:ext cx="852881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a:solidFill>
                  <a:srgbClr val="990033"/>
                </a:solidFill>
              </a:rPr>
              <a:t>1</a:t>
            </a:r>
            <a:r>
              <a:rPr lang="zh-CN" altLang="en-US" dirty="0">
                <a:solidFill>
                  <a:srgbClr val="990033"/>
                </a:solidFill>
              </a:rPr>
              <a:t>、</a:t>
            </a:r>
            <a:r>
              <a:rPr lang="zh-CN" altLang="en-US" dirty="0" smtClean="0">
                <a:solidFill>
                  <a:srgbClr val="990033"/>
                </a:solidFill>
              </a:rPr>
              <a:t>能量：</a:t>
            </a:r>
            <a:r>
              <a:rPr lang="zh-CN" altLang="en-US" dirty="0">
                <a:solidFill>
                  <a:schemeClr val="tx2"/>
                </a:solidFill>
              </a:rPr>
              <a:t>可用功表示。从 </a:t>
            </a:r>
            <a:r>
              <a:rPr lang="en-US" altLang="zh-CN" i="1" dirty="0">
                <a:solidFill>
                  <a:schemeClr val="tx2"/>
                </a:solidFill>
              </a:rPr>
              <a:t>t</a:t>
            </a:r>
            <a:r>
              <a:rPr lang="en-US" altLang="zh-CN" baseline="-25000" dirty="0">
                <a:solidFill>
                  <a:schemeClr val="tx2"/>
                </a:solidFill>
              </a:rPr>
              <a:t>0</a:t>
            </a:r>
            <a:r>
              <a:rPr lang="en-US" altLang="zh-CN" dirty="0">
                <a:solidFill>
                  <a:schemeClr val="tx2"/>
                </a:solidFill>
              </a:rPr>
              <a:t> </a:t>
            </a:r>
            <a:r>
              <a:rPr lang="zh-CN" altLang="en-US" dirty="0">
                <a:solidFill>
                  <a:schemeClr val="tx2"/>
                </a:solidFill>
              </a:rPr>
              <a:t>到</a:t>
            </a:r>
            <a:r>
              <a:rPr lang="zh-CN" altLang="en-US" baseline="-25000" dirty="0">
                <a:solidFill>
                  <a:schemeClr val="tx2"/>
                </a:solidFill>
              </a:rPr>
              <a:t> </a:t>
            </a:r>
            <a:r>
              <a:rPr lang="en-US" altLang="zh-CN" i="1" dirty="0">
                <a:solidFill>
                  <a:schemeClr val="tx2"/>
                </a:solidFill>
              </a:rPr>
              <a:t>t </a:t>
            </a:r>
            <a:r>
              <a:rPr lang="zh-CN" altLang="en-US" dirty="0">
                <a:solidFill>
                  <a:schemeClr val="tx2"/>
                </a:solidFill>
              </a:rPr>
              <a:t>电路消耗的</a:t>
            </a:r>
            <a:r>
              <a:rPr lang="zh-CN" altLang="en-US" dirty="0" smtClean="0">
                <a:solidFill>
                  <a:schemeClr val="tx2"/>
                </a:solidFill>
              </a:rPr>
              <a:t>能量。</a:t>
            </a:r>
            <a:endParaRPr lang="zh-CN" altLang="en-US" dirty="0">
              <a:solidFill>
                <a:schemeClr val="tx2"/>
              </a:solidFill>
            </a:endParaRPr>
          </a:p>
        </p:txBody>
      </p:sp>
      <p:graphicFrame>
        <p:nvGraphicFramePr>
          <p:cNvPr id="19460" name="Object 12" descr="羊皮纸"/>
          <p:cNvGraphicFramePr>
            <a:graphicFrameLocks noChangeAspect="1"/>
          </p:cNvGraphicFramePr>
          <p:nvPr/>
        </p:nvGraphicFramePr>
        <p:xfrm>
          <a:off x="1450975" y="1781175"/>
          <a:ext cx="3608388" cy="955675"/>
        </p:xfrm>
        <a:graphic>
          <a:graphicData uri="http://schemas.openxmlformats.org/presentationml/2006/ole">
            <mc:AlternateContent xmlns:mc="http://schemas.openxmlformats.org/markup-compatibility/2006">
              <mc:Choice xmlns:v="urn:schemas-microsoft-com:vml" Requires="v">
                <p:oleObj spid="_x0000_s19856" name="Equation" r:id="rId3" imgW="1193282" imgH="317362" progId="Equation.DSMT4">
                  <p:embed/>
                </p:oleObj>
              </mc:Choice>
              <mc:Fallback>
                <p:oleObj name="Equation" r:id="rId3" imgW="1193282" imgH="317362" progId="Equation.DSMT4">
                  <p:embed/>
                  <p:pic>
                    <p:nvPicPr>
                      <p:cNvPr id="0" name="Object 12" descr="羊皮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0975" y="1781175"/>
                        <a:ext cx="3608388" cy="955675"/>
                      </a:xfrm>
                      <a:prstGeom prst="rect">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1" name="Text Box 13"/>
          <p:cNvSpPr txBox="1">
            <a:spLocks noChangeArrowheads="1"/>
          </p:cNvSpPr>
          <p:nvPr/>
        </p:nvSpPr>
        <p:spPr bwMode="auto">
          <a:xfrm>
            <a:off x="277813" y="438150"/>
            <a:ext cx="28178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dirty="0">
                <a:solidFill>
                  <a:srgbClr val="990033"/>
                </a:solidFill>
              </a:rPr>
              <a:t>四、</a:t>
            </a:r>
            <a:r>
              <a:rPr lang="zh-CN" altLang="zh-CN" dirty="0">
                <a:solidFill>
                  <a:srgbClr val="990033"/>
                </a:solidFill>
              </a:rPr>
              <a:t>能量和功率</a:t>
            </a:r>
            <a:endParaRPr lang="zh-CN" altLang="en-US" dirty="0">
              <a:solidFill>
                <a:srgbClr val="990033"/>
              </a:solidFill>
            </a:endParaRPr>
          </a:p>
        </p:txBody>
      </p:sp>
      <p:sp>
        <p:nvSpPr>
          <p:cNvPr id="210958" name="Text Box 14"/>
          <p:cNvSpPr txBox="1">
            <a:spLocks noChangeArrowheads="1"/>
          </p:cNvSpPr>
          <p:nvPr/>
        </p:nvSpPr>
        <p:spPr bwMode="auto">
          <a:xfrm>
            <a:off x="517525" y="3616325"/>
            <a:ext cx="8037513"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a:solidFill>
                  <a:srgbClr val="990033"/>
                </a:solidFill>
              </a:rPr>
              <a:t>2</a:t>
            </a:r>
            <a:r>
              <a:rPr lang="zh-CN" altLang="en-US" dirty="0">
                <a:solidFill>
                  <a:srgbClr val="990033"/>
                </a:solidFill>
              </a:rPr>
              <a:t>、</a:t>
            </a:r>
            <a:r>
              <a:rPr lang="zh-CN" altLang="en-US" dirty="0" smtClean="0">
                <a:solidFill>
                  <a:srgbClr val="990033"/>
                </a:solidFill>
              </a:rPr>
              <a:t>功率</a:t>
            </a:r>
            <a:r>
              <a:rPr lang="zh-CN" altLang="en-US" dirty="0" smtClean="0">
                <a:solidFill>
                  <a:schemeClr val="tx2"/>
                </a:solidFill>
              </a:rPr>
              <a:t>：</a:t>
            </a:r>
            <a:r>
              <a:rPr lang="zh-CN" altLang="en-US" dirty="0">
                <a:solidFill>
                  <a:schemeClr val="tx2"/>
                </a:solidFill>
              </a:rPr>
              <a:t>单位时间内电场力所做的功，或者单位时间消耗的电能。</a:t>
            </a:r>
          </a:p>
        </p:txBody>
      </p:sp>
      <p:graphicFrame>
        <p:nvGraphicFramePr>
          <p:cNvPr id="210959" name="Object 15" descr="羊皮纸"/>
          <p:cNvGraphicFramePr>
            <a:graphicFrameLocks noChangeAspect="1"/>
          </p:cNvGraphicFramePr>
          <p:nvPr/>
        </p:nvGraphicFramePr>
        <p:xfrm>
          <a:off x="1482725" y="4589463"/>
          <a:ext cx="1328738" cy="1031875"/>
        </p:xfrm>
        <a:graphic>
          <a:graphicData uri="http://schemas.openxmlformats.org/presentationml/2006/ole">
            <mc:AlternateContent xmlns:mc="http://schemas.openxmlformats.org/markup-compatibility/2006">
              <mc:Choice xmlns:v="urn:schemas-microsoft-com:vml" Requires="v">
                <p:oleObj spid="_x0000_s19857" name="公式" r:id="rId6" imgW="520474" imgH="406224" progId="Equation.3">
                  <p:embed/>
                </p:oleObj>
              </mc:Choice>
              <mc:Fallback>
                <p:oleObj name="公式" r:id="rId6" imgW="520474" imgH="406224" progId="Equation.3">
                  <p:embed/>
                  <p:pic>
                    <p:nvPicPr>
                      <p:cNvPr id="0" name="Object 15" descr="羊皮纸"/>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2725" y="4589463"/>
                        <a:ext cx="1328738" cy="1031875"/>
                      </a:xfrm>
                      <a:prstGeom prst="rect">
                        <a:avLst/>
                      </a:prstGeom>
                      <a:blipFill dpi="0" rotWithShape="0">
                        <a:blip r:embed="rId5"/>
                        <a:srcRect/>
                        <a:tile tx="0" ty="0" sx="100000" sy="100000" flip="none" algn="tl"/>
                      </a:blipFill>
                      <a:ln>
                        <a:noFill/>
                      </a:ln>
                      <a:effectLst>
                        <a:prstShdw prst="shdw17" dist="17961" dir="2700000">
                          <a:srgbClr val="99997A"/>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0960" name="Object 16" descr="羊皮纸"/>
          <p:cNvGraphicFramePr>
            <a:graphicFrameLocks noChangeAspect="1"/>
          </p:cNvGraphicFramePr>
          <p:nvPr>
            <p:extLst>
              <p:ext uri="{D42A27DB-BD31-4B8C-83A1-F6EECF244321}">
                <p14:modId xmlns:p14="http://schemas.microsoft.com/office/powerpoint/2010/main" val="2095199112"/>
              </p:ext>
            </p:extLst>
          </p:nvPr>
        </p:nvGraphicFramePr>
        <p:xfrm>
          <a:off x="2970649" y="4636761"/>
          <a:ext cx="1969409" cy="1032437"/>
        </p:xfrm>
        <a:graphic>
          <a:graphicData uri="http://schemas.openxmlformats.org/presentationml/2006/ole">
            <mc:AlternateContent xmlns:mc="http://schemas.openxmlformats.org/markup-compatibility/2006">
              <mc:Choice xmlns:v="urn:schemas-microsoft-com:vml" Requires="v">
                <p:oleObj spid="_x0000_s19858" name="Equation" r:id="rId8" imgW="723586" imgH="380835" progId="Equation.DSMT4">
                  <p:embed/>
                </p:oleObj>
              </mc:Choice>
              <mc:Fallback>
                <p:oleObj name="Equation" r:id="rId8" imgW="723586" imgH="380835" progId="Equation.DSMT4">
                  <p:embed/>
                  <p:pic>
                    <p:nvPicPr>
                      <p:cNvPr id="0" name="Object 16" descr="羊皮纸"/>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0649" y="4636761"/>
                        <a:ext cx="1969409" cy="1032437"/>
                      </a:xfrm>
                      <a:prstGeom prst="rect">
                        <a:avLst/>
                      </a:prstGeom>
                      <a:blipFill dpi="0" rotWithShape="0">
                        <a:blip r:embed="rId5"/>
                        <a:srcRect/>
                        <a:tile tx="0" ty="0" sx="100000" sy="100000" flip="none" algn="tl"/>
                      </a:blipFill>
                      <a:ln>
                        <a:noFill/>
                      </a:ln>
                      <a:effectLst>
                        <a:prstShdw prst="shdw17" dist="17961" dir="2700000">
                          <a:srgbClr val="99997A"/>
                        </a:prstShdw>
                      </a:effectLst>
                      <a:extLst/>
                    </p:spPr>
                  </p:pic>
                </p:oleObj>
              </mc:Fallback>
            </mc:AlternateContent>
          </a:graphicData>
        </a:graphic>
      </p:graphicFrame>
      <p:sp>
        <p:nvSpPr>
          <p:cNvPr id="210961" name="Text Box 17"/>
          <p:cNvSpPr txBox="1">
            <a:spLocks noChangeArrowheads="1"/>
          </p:cNvSpPr>
          <p:nvPr/>
        </p:nvSpPr>
        <p:spPr bwMode="auto">
          <a:xfrm>
            <a:off x="1014413" y="5859463"/>
            <a:ext cx="64531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a:solidFill>
                  <a:srgbClr val="FF0000"/>
                </a:solidFill>
              </a:rPr>
              <a:t>功率</a:t>
            </a:r>
            <a:r>
              <a:rPr lang="zh-CN" altLang="en-US">
                <a:solidFill>
                  <a:schemeClr val="tx2"/>
                </a:solidFill>
              </a:rPr>
              <a:t>的单位名称：</a:t>
            </a:r>
            <a:r>
              <a:rPr lang="zh-CN" altLang="en-US">
                <a:solidFill>
                  <a:srgbClr val="FF0000"/>
                </a:solidFill>
              </a:rPr>
              <a:t>瓦</a:t>
            </a:r>
            <a:r>
              <a:rPr lang="zh-CN" altLang="en-US">
                <a:solidFill>
                  <a:schemeClr val="tx2"/>
                </a:solidFill>
              </a:rPr>
              <a:t>（特）    符号（</a:t>
            </a:r>
            <a:r>
              <a:rPr lang="en-US" altLang="zh-CN">
                <a:solidFill>
                  <a:schemeClr val="accent1"/>
                </a:solidFill>
              </a:rPr>
              <a:t>W</a:t>
            </a:r>
            <a:r>
              <a:rPr lang="zh-CN" altLang="en-US">
                <a:solidFill>
                  <a:schemeClr val="tx2"/>
                </a:solidFill>
              </a:rPr>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barn(inVertical)">
                                      <p:cBhvr>
                                        <p:cTn id="7" dur="500"/>
                                        <p:tgtEl>
                                          <p:spTgt spid="1945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9460"/>
                                        </p:tgtEl>
                                        <p:attrNameLst>
                                          <p:attrName>style.visibility</p:attrName>
                                        </p:attrNameLst>
                                      </p:cBhvr>
                                      <p:to>
                                        <p:strVal val="visible"/>
                                      </p:to>
                                    </p:set>
                                    <p:animEffect transition="in" filter="barn(inVertical)">
                                      <p:cBhvr>
                                        <p:cTn id="12" dur="500"/>
                                        <p:tgtEl>
                                          <p:spTgt spid="1946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9458"/>
                                        </p:tgtEl>
                                        <p:attrNameLst>
                                          <p:attrName>style.visibility</p:attrName>
                                        </p:attrNameLst>
                                      </p:cBhvr>
                                      <p:to>
                                        <p:strVal val="visible"/>
                                      </p:to>
                                    </p:set>
                                    <p:animEffect transition="in" filter="barn(inVertical)">
                                      <p:cBhvr>
                                        <p:cTn id="17" dur="500"/>
                                        <p:tgtEl>
                                          <p:spTgt spid="1945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10958">
                                            <p:txEl>
                                              <p:pRg st="0" end="0"/>
                                            </p:txEl>
                                          </p:spTgt>
                                        </p:tgtEl>
                                        <p:attrNameLst>
                                          <p:attrName>style.visibility</p:attrName>
                                        </p:attrNameLst>
                                      </p:cBhvr>
                                      <p:to>
                                        <p:strVal val="visible"/>
                                      </p:to>
                                    </p:set>
                                    <p:animEffect transition="in" filter="barn(inVertical)">
                                      <p:cBhvr>
                                        <p:cTn id="22" dur="500"/>
                                        <p:tgtEl>
                                          <p:spTgt spid="21095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10959"/>
                                        </p:tgtEl>
                                        <p:attrNameLst>
                                          <p:attrName>style.visibility</p:attrName>
                                        </p:attrNameLst>
                                      </p:cBhvr>
                                      <p:to>
                                        <p:strVal val="visible"/>
                                      </p:to>
                                    </p:set>
                                    <p:animEffect transition="in" filter="barn(inVertical)">
                                      <p:cBhvr>
                                        <p:cTn id="27" dur="500"/>
                                        <p:tgtEl>
                                          <p:spTgt spid="210959"/>
                                        </p:tgtEl>
                                      </p:cBhvr>
                                    </p:animEffect>
                                  </p:childTnLst>
                                </p:cTn>
                              </p:par>
                            </p:childTnLst>
                          </p:cTn>
                        </p:par>
                        <p:par>
                          <p:cTn id="28" fill="hold">
                            <p:stCondLst>
                              <p:cond delay="500"/>
                            </p:stCondLst>
                            <p:childTnLst>
                              <p:par>
                                <p:cTn id="29" presetID="16" presetClass="entr" presetSubtype="21" fill="hold" nodeType="afterEffect">
                                  <p:stCondLst>
                                    <p:cond delay="0"/>
                                  </p:stCondLst>
                                  <p:childTnLst>
                                    <p:set>
                                      <p:cBhvr>
                                        <p:cTn id="30" dur="1" fill="hold">
                                          <p:stCondLst>
                                            <p:cond delay="0"/>
                                          </p:stCondLst>
                                        </p:cTn>
                                        <p:tgtEl>
                                          <p:spTgt spid="210960"/>
                                        </p:tgtEl>
                                        <p:attrNameLst>
                                          <p:attrName>style.visibility</p:attrName>
                                        </p:attrNameLst>
                                      </p:cBhvr>
                                      <p:to>
                                        <p:strVal val="visible"/>
                                      </p:to>
                                    </p:set>
                                    <p:animEffect transition="in" filter="barn(inVertical)">
                                      <p:cBhvr>
                                        <p:cTn id="31" dur="500"/>
                                        <p:tgtEl>
                                          <p:spTgt spid="210960"/>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210961"/>
                                        </p:tgtEl>
                                        <p:attrNameLst>
                                          <p:attrName>style.visibility</p:attrName>
                                        </p:attrNameLst>
                                      </p:cBhvr>
                                      <p:to>
                                        <p:strVal val="visible"/>
                                      </p:to>
                                    </p:set>
                                    <p:animEffect transition="in" filter="barn(inVertical)">
                                      <p:cBhvr>
                                        <p:cTn id="36" dur="500"/>
                                        <p:tgtEl>
                                          <p:spTgt spid="210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19459" grpId="0"/>
      <p:bldP spid="21096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266700" y="246063"/>
            <a:ext cx="247332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a:solidFill>
                  <a:srgbClr val="990033"/>
                </a:solidFill>
              </a:rPr>
              <a:t>3</a:t>
            </a:r>
            <a:r>
              <a:rPr lang="zh-CN" altLang="en-US">
                <a:solidFill>
                  <a:srgbClr val="990033"/>
                </a:solidFill>
              </a:rPr>
              <a:t>、功率的计算</a:t>
            </a:r>
          </a:p>
        </p:txBody>
      </p:sp>
      <p:sp>
        <p:nvSpPr>
          <p:cNvPr id="211973" name="Text Box 5"/>
          <p:cNvSpPr txBox="1">
            <a:spLocks noChangeArrowheads="1"/>
          </p:cNvSpPr>
          <p:nvPr/>
        </p:nvSpPr>
        <p:spPr bwMode="auto">
          <a:xfrm>
            <a:off x="523875" y="3557588"/>
            <a:ext cx="3810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buFont typeface="Wingdings" pitchFamily="2" charset="2"/>
              <a:buChar char="l"/>
            </a:pPr>
            <a:r>
              <a:rPr lang="en-US" altLang="zh-CN" i="1">
                <a:solidFill>
                  <a:srgbClr val="0000CC"/>
                </a:solidFill>
              </a:rPr>
              <a:t>v</a:t>
            </a:r>
            <a:r>
              <a:rPr lang="en-US" altLang="zh-CN">
                <a:solidFill>
                  <a:srgbClr val="0000CC"/>
                </a:solidFill>
              </a:rPr>
              <a:t>, </a:t>
            </a:r>
            <a:r>
              <a:rPr lang="en-US" altLang="zh-CN" i="1">
                <a:solidFill>
                  <a:srgbClr val="0000CC"/>
                </a:solidFill>
              </a:rPr>
              <a:t>i</a:t>
            </a:r>
            <a:r>
              <a:rPr lang="en-US" altLang="zh-CN">
                <a:solidFill>
                  <a:srgbClr val="0000CC"/>
                </a:solidFill>
              </a:rPr>
              <a:t> </a:t>
            </a:r>
            <a:r>
              <a:rPr lang="zh-CN" altLang="en-US">
                <a:solidFill>
                  <a:srgbClr val="0000CC"/>
                </a:solidFill>
              </a:rPr>
              <a:t>取非</a:t>
            </a:r>
            <a:r>
              <a:rPr lang="zh-CN" altLang="zh-CN">
                <a:solidFill>
                  <a:srgbClr val="0000CC"/>
                </a:solidFill>
              </a:rPr>
              <a:t>关联参考方向</a:t>
            </a:r>
            <a:endParaRPr lang="zh-CN" altLang="en-US">
              <a:solidFill>
                <a:srgbClr val="0000CC"/>
              </a:solidFill>
            </a:endParaRPr>
          </a:p>
        </p:txBody>
      </p:sp>
      <p:grpSp>
        <p:nvGrpSpPr>
          <p:cNvPr id="211974" name="Group 6"/>
          <p:cNvGrpSpPr>
            <a:grpSpLocks/>
          </p:cNvGrpSpPr>
          <p:nvPr/>
        </p:nvGrpSpPr>
        <p:grpSpPr bwMode="auto">
          <a:xfrm>
            <a:off x="1884363" y="3968750"/>
            <a:ext cx="1300162" cy="2181225"/>
            <a:chOff x="989" y="2552"/>
            <a:chExt cx="819" cy="1374"/>
          </a:xfrm>
        </p:grpSpPr>
        <p:sp>
          <p:nvSpPr>
            <p:cNvPr id="20509" name="Rectangle 7"/>
            <p:cNvSpPr>
              <a:spLocks noChangeArrowheads="1"/>
            </p:cNvSpPr>
            <p:nvPr/>
          </p:nvSpPr>
          <p:spPr bwMode="auto">
            <a:xfrm rot="5400000">
              <a:off x="1206" y="3142"/>
              <a:ext cx="428" cy="166"/>
            </a:xfrm>
            <a:prstGeom prst="rect">
              <a:avLst/>
            </a:prstGeom>
            <a:no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0510" name="Line 8"/>
            <p:cNvSpPr>
              <a:spLocks noChangeShapeType="1"/>
            </p:cNvSpPr>
            <p:nvPr/>
          </p:nvSpPr>
          <p:spPr bwMode="auto">
            <a:xfrm rot="16200000" flipH="1">
              <a:off x="1265" y="2850"/>
              <a:ext cx="31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20511" name="Line 9"/>
            <p:cNvSpPr>
              <a:spLocks noChangeShapeType="1"/>
            </p:cNvSpPr>
            <p:nvPr/>
          </p:nvSpPr>
          <p:spPr bwMode="auto">
            <a:xfrm rot="16200000" flipH="1" flipV="1">
              <a:off x="1266" y="3594"/>
              <a:ext cx="30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20512" name="Text Box 10"/>
            <p:cNvSpPr txBox="1">
              <a:spLocks noChangeArrowheads="1"/>
            </p:cNvSpPr>
            <p:nvPr/>
          </p:nvSpPr>
          <p:spPr bwMode="auto">
            <a:xfrm rot="5400000">
              <a:off x="1078" y="2531"/>
              <a:ext cx="28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800">
                  <a:solidFill>
                    <a:schemeClr val="tx2"/>
                  </a:solidFill>
                </a:rPr>
                <a:t>+</a:t>
              </a:r>
              <a:endParaRPr lang="en-US" altLang="zh-CN">
                <a:solidFill>
                  <a:schemeClr val="tx2"/>
                </a:solidFill>
              </a:endParaRPr>
            </a:p>
          </p:txBody>
        </p:sp>
        <p:sp>
          <p:nvSpPr>
            <p:cNvPr id="20513" name="Text Box 11"/>
            <p:cNvSpPr txBox="1">
              <a:spLocks noChangeArrowheads="1"/>
            </p:cNvSpPr>
            <p:nvPr/>
          </p:nvSpPr>
          <p:spPr bwMode="auto">
            <a:xfrm>
              <a:off x="1042" y="3599"/>
              <a:ext cx="34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800">
                  <a:solidFill>
                    <a:schemeClr val="tx2"/>
                  </a:solidFill>
                </a:rPr>
                <a:t>–</a:t>
              </a:r>
            </a:p>
          </p:txBody>
        </p:sp>
        <p:sp>
          <p:nvSpPr>
            <p:cNvPr id="20514" name="Oval 12"/>
            <p:cNvSpPr>
              <a:spLocks noChangeArrowheads="1"/>
            </p:cNvSpPr>
            <p:nvPr/>
          </p:nvSpPr>
          <p:spPr bwMode="auto">
            <a:xfrm rot="5400000">
              <a:off x="1394" y="2646"/>
              <a:ext cx="51" cy="48"/>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0515" name="Oval 13"/>
            <p:cNvSpPr>
              <a:spLocks noChangeArrowheads="1"/>
            </p:cNvSpPr>
            <p:nvPr/>
          </p:nvSpPr>
          <p:spPr bwMode="auto">
            <a:xfrm rot="5400000">
              <a:off x="1395" y="3749"/>
              <a:ext cx="50" cy="48"/>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0516" name="Line 14"/>
            <p:cNvSpPr>
              <a:spLocks noChangeShapeType="1"/>
            </p:cNvSpPr>
            <p:nvPr/>
          </p:nvSpPr>
          <p:spPr bwMode="auto">
            <a:xfrm rot="16200000" flipV="1">
              <a:off x="1447" y="2802"/>
              <a:ext cx="214"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0517" name="Text Box 15"/>
            <p:cNvSpPr txBox="1">
              <a:spLocks noChangeArrowheads="1"/>
            </p:cNvSpPr>
            <p:nvPr/>
          </p:nvSpPr>
          <p:spPr bwMode="auto">
            <a:xfrm>
              <a:off x="1503" y="2603"/>
              <a:ext cx="30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800" i="1">
                  <a:solidFill>
                    <a:schemeClr val="tx2"/>
                  </a:solidFill>
                </a:rPr>
                <a:t>i</a:t>
              </a:r>
              <a:endParaRPr lang="en-US" altLang="zh-CN">
                <a:solidFill>
                  <a:schemeClr val="tx2"/>
                </a:solidFill>
              </a:endParaRPr>
            </a:p>
          </p:txBody>
        </p:sp>
        <p:sp>
          <p:nvSpPr>
            <p:cNvPr id="20518" name="Text Box 16"/>
            <p:cNvSpPr txBox="1">
              <a:spLocks noChangeArrowheads="1"/>
            </p:cNvSpPr>
            <p:nvPr/>
          </p:nvSpPr>
          <p:spPr bwMode="auto">
            <a:xfrm>
              <a:off x="989" y="3030"/>
              <a:ext cx="40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800" i="1">
                  <a:solidFill>
                    <a:schemeClr val="tx2"/>
                  </a:solidFill>
                </a:rPr>
                <a:t>v</a:t>
              </a:r>
              <a:endParaRPr lang="en-US" altLang="zh-CN">
                <a:solidFill>
                  <a:schemeClr val="tx2"/>
                </a:solidFill>
              </a:endParaRPr>
            </a:p>
          </p:txBody>
        </p:sp>
      </p:grpSp>
      <p:grpSp>
        <p:nvGrpSpPr>
          <p:cNvPr id="211985" name="Group 17"/>
          <p:cNvGrpSpPr>
            <a:grpSpLocks/>
          </p:cNvGrpSpPr>
          <p:nvPr/>
        </p:nvGrpSpPr>
        <p:grpSpPr bwMode="auto">
          <a:xfrm>
            <a:off x="3822700" y="5345113"/>
            <a:ext cx="3125788" cy="496887"/>
            <a:chOff x="2088" y="3239"/>
            <a:chExt cx="1969" cy="313"/>
          </a:xfrm>
        </p:grpSpPr>
        <p:sp>
          <p:nvSpPr>
            <p:cNvPr id="20507" name="Text Box 18"/>
            <p:cNvSpPr txBox="1">
              <a:spLocks noChangeArrowheads="1"/>
            </p:cNvSpPr>
            <p:nvPr/>
          </p:nvSpPr>
          <p:spPr bwMode="auto">
            <a:xfrm>
              <a:off x="2905" y="3239"/>
              <a:ext cx="1152" cy="28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i="1">
                  <a:solidFill>
                    <a:schemeClr val="tx2"/>
                  </a:solidFill>
                </a:rPr>
                <a:t> p</a:t>
              </a:r>
              <a:r>
                <a:rPr lang="zh-CN" altLang="zh-CN" baseline="-25000">
                  <a:solidFill>
                    <a:schemeClr val="accent1"/>
                  </a:solidFill>
                </a:rPr>
                <a:t>发</a:t>
              </a:r>
              <a:r>
                <a:rPr lang="zh-CN" altLang="en-US" i="1">
                  <a:solidFill>
                    <a:schemeClr val="tx2"/>
                  </a:solidFill>
                </a:rPr>
                <a:t> </a:t>
              </a:r>
              <a:r>
                <a:rPr lang="en-US" altLang="zh-CN">
                  <a:solidFill>
                    <a:schemeClr val="tx2"/>
                  </a:solidFill>
                </a:rPr>
                <a:t>= </a:t>
              </a:r>
              <a:r>
                <a:rPr lang="en-US" altLang="zh-CN" i="1">
                  <a:solidFill>
                    <a:schemeClr val="tx2"/>
                  </a:solidFill>
                </a:rPr>
                <a:t>v i</a:t>
              </a:r>
              <a:endParaRPr lang="en-US" altLang="zh-CN">
                <a:solidFill>
                  <a:schemeClr val="tx2"/>
                </a:solidFill>
              </a:endParaRPr>
            </a:p>
          </p:txBody>
        </p:sp>
        <p:sp>
          <p:nvSpPr>
            <p:cNvPr id="20508" name="Text Box 19"/>
            <p:cNvSpPr txBox="1">
              <a:spLocks noChangeArrowheads="1"/>
            </p:cNvSpPr>
            <p:nvPr/>
          </p:nvSpPr>
          <p:spPr bwMode="auto">
            <a:xfrm>
              <a:off x="2088" y="3264"/>
              <a:ext cx="695" cy="28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sym typeface="Symbol" pitchFamily="18" charset="2"/>
                </a:rPr>
                <a:t>或写为</a:t>
              </a:r>
            </a:p>
          </p:txBody>
        </p:sp>
      </p:grpSp>
      <p:sp>
        <p:nvSpPr>
          <p:cNvPr id="211988" name="Text Box 20"/>
          <p:cNvSpPr txBox="1">
            <a:spLocks noChangeArrowheads="1"/>
          </p:cNvSpPr>
          <p:nvPr/>
        </p:nvSpPr>
        <p:spPr bwMode="auto">
          <a:xfrm>
            <a:off x="3740150" y="4195763"/>
            <a:ext cx="3248025" cy="4572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a:solidFill>
                  <a:schemeClr val="tx2"/>
                </a:solidFill>
                <a:sym typeface="Symbol" pitchFamily="18" charset="2"/>
              </a:rPr>
              <a:t>元件（支路）发出功率</a:t>
            </a:r>
          </a:p>
        </p:txBody>
      </p:sp>
      <p:sp>
        <p:nvSpPr>
          <p:cNvPr id="211989" name="Text Box 21"/>
          <p:cNvSpPr txBox="1">
            <a:spLocks noChangeArrowheads="1"/>
          </p:cNvSpPr>
          <p:nvPr/>
        </p:nvSpPr>
        <p:spPr bwMode="auto">
          <a:xfrm>
            <a:off x="4808538" y="4756150"/>
            <a:ext cx="957262" cy="4572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rPr>
              <a:t>p </a:t>
            </a:r>
            <a:r>
              <a:rPr lang="en-US" altLang="zh-CN">
                <a:solidFill>
                  <a:schemeClr val="tx2"/>
                </a:solidFill>
              </a:rPr>
              <a:t>= </a:t>
            </a:r>
            <a:r>
              <a:rPr lang="en-US" altLang="zh-CN" i="1">
                <a:solidFill>
                  <a:schemeClr val="tx2"/>
                </a:solidFill>
              </a:rPr>
              <a:t>v i</a:t>
            </a:r>
            <a:endParaRPr lang="en-US" altLang="zh-CN">
              <a:solidFill>
                <a:schemeClr val="tx2"/>
              </a:solidFill>
              <a:sym typeface="Symbol" pitchFamily="18" charset="2"/>
            </a:endParaRPr>
          </a:p>
        </p:txBody>
      </p:sp>
      <p:sp>
        <p:nvSpPr>
          <p:cNvPr id="211992" name="Text Box 24"/>
          <p:cNvSpPr txBox="1">
            <a:spLocks noChangeArrowheads="1"/>
          </p:cNvSpPr>
          <p:nvPr/>
        </p:nvSpPr>
        <p:spPr bwMode="auto">
          <a:xfrm>
            <a:off x="508000" y="811213"/>
            <a:ext cx="3810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buFont typeface="Wingdings" pitchFamily="2" charset="2"/>
              <a:buChar char="l"/>
            </a:pPr>
            <a:r>
              <a:rPr lang="en-US" altLang="zh-CN" i="1">
                <a:solidFill>
                  <a:srgbClr val="0000CC"/>
                </a:solidFill>
              </a:rPr>
              <a:t>v</a:t>
            </a:r>
            <a:r>
              <a:rPr lang="en-US" altLang="zh-CN">
                <a:solidFill>
                  <a:srgbClr val="0000CC"/>
                </a:solidFill>
              </a:rPr>
              <a:t>, </a:t>
            </a:r>
            <a:r>
              <a:rPr lang="en-US" altLang="zh-CN" i="1">
                <a:solidFill>
                  <a:srgbClr val="0000CC"/>
                </a:solidFill>
              </a:rPr>
              <a:t>i</a:t>
            </a:r>
            <a:r>
              <a:rPr lang="en-US" altLang="zh-CN">
                <a:solidFill>
                  <a:srgbClr val="0000CC"/>
                </a:solidFill>
              </a:rPr>
              <a:t> </a:t>
            </a:r>
            <a:r>
              <a:rPr lang="zh-CN" altLang="en-US">
                <a:solidFill>
                  <a:srgbClr val="0000CC"/>
                </a:solidFill>
              </a:rPr>
              <a:t>取</a:t>
            </a:r>
            <a:r>
              <a:rPr lang="zh-CN" altLang="zh-CN">
                <a:solidFill>
                  <a:srgbClr val="0000CC"/>
                </a:solidFill>
              </a:rPr>
              <a:t>关联参考方向</a:t>
            </a:r>
            <a:endParaRPr lang="zh-CN" altLang="en-US">
              <a:solidFill>
                <a:srgbClr val="0000CC"/>
              </a:solidFill>
            </a:endParaRPr>
          </a:p>
        </p:txBody>
      </p:sp>
      <p:grpSp>
        <p:nvGrpSpPr>
          <p:cNvPr id="211993" name="Group 25"/>
          <p:cNvGrpSpPr>
            <a:grpSpLocks/>
          </p:cNvGrpSpPr>
          <p:nvPr/>
        </p:nvGrpSpPr>
        <p:grpSpPr bwMode="auto">
          <a:xfrm>
            <a:off x="1900238" y="1281113"/>
            <a:ext cx="1300162" cy="2181225"/>
            <a:chOff x="893" y="936"/>
            <a:chExt cx="819" cy="1374"/>
          </a:xfrm>
        </p:grpSpPr>
        <p:sp>
          <p:nvSpPr>
            <p:cNvPr id="20497" name="Rectangle 26"/>
            <p:cNvSpPr>
              <a:spLocks noChangeArrowheads="1"/>
            </p:cNvSpPr>
            <p:nvPr/>
          </p:nvSpPr>
          <p:spPr bwMode="auto">
            <a:xfrm rot="5400000">
              <a:off x="1110" y="1526"/>
              <a:ext cx="428" cy="166"/>
            </a:xfrm>
            <a:prstGeom prst="rect">
              <a:avLst/>
            </a:prstGeom>
            <a:no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0498" name="Line 27"/>
            <p:cNvSpPr>
              <a:spLocks noChangeShapeType="1"/>
            </p:cNvSpPr>
            <p:nvPr/>
          </p:nvSpPr>
          <p:spPr bwMode="auto">
            <a:xfrm rot="16200000" flipH="1" flipV="1">
              <a:off x="1167" y="1237"/>
              <a:ext cx="31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20499" name="Line 28"/>
            <p:cNvSpPr>
              <a:spLocks noChangeShapeType="1"/>
            </p:cNvSpPr>
            <p:nvPr/>
          </p:nvSpPr>
          <p:spPr bwMode="auto">
            <a:xfrm rot="16200000" flipH="1">
              <a:off x="1175" y="1983"/>
              <a:ext cx="296" cy="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20500" name="Text Box 29"/>
            <p:cNvSpPr txBox="1">
              <a:spLocks noChangeArrowheads="1"/>
            </p:cNvSpPr>
            <p:nvPr/>
          </p:nvSpPr>
          <p:spPr bwMode="auto">
            <a:xfrm rot="5400000">
              <a:off x="982" y="915"/>
              <a:ext cx="28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800">
                  <a:solidFill>
                    <a:schemeClr val="tx2"/>
                  </a:solidFill>
                </a:rPr>
                <a:t>+</a:t>
              </a:r>
              <a:endParaRPr lang="en-US" altLang="zh-CN">
                <a:solidFill>
                  <a:schemeClr val="tx2"/>
                </a:solidFill>
              </a:endParaRPr>
            </a:p>
          </p:txBody>
        </p:sp>
        <p:sp>
          <p:nvSpPr>
            <p:cNvPr id="20501" name="Text Box 30"/>
            <p:cNvSpPr txBox="1">
              <a:spLocks noChangeArrowheads="1"/>
            </p:cNvSpPr>
            <p:nvPr/>
          </p:nvSpPr>
          <p:spPr bwMode="auto">
            <a:xfrm>
              <a:off x="946" y="1983"/>
              <a:ext cx="34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800">
                  <a:solidFill>
                    <a:schemeClr val="tx2"/>
                  </a:solidFill>
                </a:rPr>
                <a:t>–</a:t>
              </a:r>
            </a:p>
          </p:txBody>
        </p:sp>
        <p:sp>
          <p:nvSpPr>
            <p:cNvPr id="20502" name="Oval 31"/>
            <p:cNvSpPr>
              <a:spLocks noChangeArrowheads="1"/>
            </p:cNvSpPr>
            <p:nvPr/>
          </p:nvSpPr>
          <p:spPr bwMode="auto">
            <a:xfrm rot="5400000">
              <a:off x="1298" y="1030"/>
              <a:ext cx="51" cy="48"/>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0503" name="Oval 32"/>
            <p:cNvSpPr>
              <a:spLocks noChangeArrowheads="1"/>
            </p:cNvSpPr>
            <p:nvPr/>
          </p:nvSpPr>
          <p:spPr bwMode="auto">
            <a:xfrm rot="5400000">
              <a:off x="1299" y="2133"/>
              <a:ext cx="50" cy="48"/>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0504" name="Line 33"/>
            <p:cNvSpPr>
              <a:spLocks noChangeShapeType="1"/>
            </p:cNvSpPr>
            <p:nvPr/>
          </p:nvSpPr>
          <p:spPr bwMode="auto">
            <a:xfrm rot="5400000">
              <a:off x="1351" y="1186"/>
              <a:ext cx="214"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0505" name="Text Box 34"/>
            <p:cNvSpPr txBox="1">
              <a:spLocks noChangeArrowheads="1"/>
            </p:cNvSpPr>
            <p:nvPr/>
          </p:nvSpPr>
          <p:spPr bwMode="auto">
            <a:xfrm>
              <a:off x="1407" y="987"/>
              <a:ext cx="30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800" i="1">
                  <a:solidFill>
                    <a:schemeClr val="tx2"/>
                  </a:solidFill>
                </a:rPr>
                <a:t>i</a:t>
              </a:r>
              <a:endParaRPr lang="en-US" altLang="zh-CN">
                <a:solidFill>
                  <a:schemeClr val="tx2"/>
                </a:solidFill>
              </a:endParaRPr>
            </a:p>
          </p:txBody>
        </p:sp>
        <p:sp>
          <p:nvSpPr>
            <p:cNvPr id="20506" name="Text Box 35"/>
            <p:cNvSpPr txBox="1">
              <a:spLocks noChangeArrowheads="1"/>
            </p:cNvSpPr>
            <p:nvPr/>
          </p:nvSpPr>
          <p:spPr bwMode="auto">
            <a:xfrm>
              <a:off x="893" y="1414"/>
              <a:ext cx="40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800" i="1">
                  <a:solidFill>
                    <a:schemeClr val="tx2"/>
                  </a:solidFill>
                </a:rPr>
                <a:t>v</a:t>
              </a:r>
              <a:endParaRPr lang="en-US" altLang="zh-CN">
                <a:solidFill>
                  <a:schemeClr val="tx2"/>
                </a:solidFill>
              </a:endParaRPr>
            </a:p>
          </p:txBody>
        </p:sp>
      </p:grpSp>
      <p:grpSp>
        <p:nvGrpSpPr>
          <p:cNvPr id="212004" name="Group 36"/>
          <p:cNvGrpSpPr>
            <a:grpSpLocks/>
          </p:cNvGrpSpPr>
          <p:nvPr/>
        </p:nvGrpSpPr>
        <p:grpSpPr bwMode="auto">
          <a:xfrm>
            <a:off x="3803650" y="2657475"/>
            <a:ext cx="3125788" cy="496888"/>
            <a:chOff x="2232" y="1655"/>
            <a:chExt cx="1969" cy="313"/>
          </a:xfrm>
        </p:grpSpPr>
        <p:sp>
          <p:nvSpPr>
            <p:cNvPr id="20495" name="Text Box 37"/>
            <p:cNvSpPr txBox="1">
              <a:spLocks noChangeArrowheads="1"/>
            </p:cNvSpPr>
            <p:nvPr/>
          </p:nvSpPr>
          <p:spPr bwMode="auto">
            <a:xfrm>
              <a:off x="3049" y="1655"/>
              <a:ext cx="1152" cy="28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i="1">
                  <a:solidFill>
                    <a:schemeClr val="tx2"/>
                  </a:solidFill>
                </a:rPr>
                <a:t> p</a:t>
              </a:r>
              <a:r>
                <a:rPr lang="zh-CN" altLang="zh-CN" baseline="-25000">
                  <a:solidFill>
                    <a:schemeClr val="accent1"/>
                  </a:solidFill>
                </a:rPr>
                <a:t>吸</a:t>
              </a:r>
              <a:r>
                <a:rPr lang="zh-CN" altLang="en-US" i="1">
                  <a:solidFill>
                    <a:schemeClr val="tx2"/>
                  </a:solidFill>
                </a:rPr>
                <a:t> </a:t>
              </a:r>
              <a:r>
                <a:rPr lang="en-US" altLang="zh-CN">
                  <a:solidFill>
                    <a:schemeClr val="tx2"/>
                  </a:solidFill>
                </a:rPr>
                <a:t>= </a:t>
              </a:r>
              <a:r>
                <a:rPr lang="en-US" altLang="zh-CN" i="1">
                  <a:solidFill>
                    <a:schemeClr val="tx2"/>
                  </a:solidFill>
                </a:rPr>
                <a:t>v i</a:t>
              </a:r>
              <a:endParaRPr lang="en-US" altLang="zh-CN">
                <a:solidFill>
                  <a:schemeClr val="tx2"/>
                </a:solidFill>
              </a:endParaRPr>
            </a:p>
          </p:txBody>
        </p:sp>
        <p:sp>
          <p:nvSpPr>
            <p:cNvPr id="20496" name="Text Box 38"/>
            <p:cNvSpPr txBox="1">
              <a:spLocks noChangeArrowheads="1"/>
            </p:cNvSpPr>
            <p:nvPr/>
          </p:nvSpPr>
          <p:spPr bwMode="auto">
            <a:xfrm>
              <a:off x="2232" y="1680"/>
              <a:ext cx="695" cy="28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sym typeface="Symbol" pitchFamily="18" charset="2"/>
                </a:rPr>
                <a:t>或写为</a:t>
              </a:r>
            </a:p>
          </p:txBody>
        </p:sp>
      </p:grpSp>
      <p:sp>
        <p:nvSpPr>
          <p:cNvPr id="212007" name="Text Box 39"/>
          <p:cNvSpPr txBox="1">
            <a:spLocks noChangeArrowheads="1"/>
          </p:cNvSpPr>
          <p:nvPr/>
        </p:nvSpPr>
        <p:spPr bwMode="auto">
          <a:xfrm>
            <a:off x="3659188" y="1377950"/>
            <a:ext cx="3248025" cy="4572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a:solidFill>
                  <a:schemeClr val="tx2"/>
                </a:solidFill>
                <a:sym typeface="Symbol" pitchFamily="18" charset="2"/>
              </a:rPr>
              <a:t>元件（支路）吸收功率</a:t>
            </a:r>
          </a:p>
        </p:txBody>
      </p:sp>
      <p:sp>
        <p:nvSpPr>
          <p:cNvPr id="212008" name="Text Box 40"/>
          <p:cNvSpPr txBox="1">
            <a:spLocks noChangeArrowheads="1"/>
          </p:cNvSpPr>
          <p:nvPr/>
        </p:nvSpPr>
        <p:spPr bwMode="auto">
          <a:xfrm>
            <a:off x="4505325" y="2017713"/>
            <a:ext cx="957263" cy="4572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rPr>
              <a:t>p </a:t>
            </a:r>
            <a:r>
              <a:rPr lang="en-US" altLang="zh-CN">
                <a:solidFill>
                  <a:schemeClr val="tx2"/>
                </a:solidFill>
              </a:rPr>
              <a:t>= </a:t>
            </a:r>
            <a:r>
              <a:rPr lang="en-US" altLang="zh-CN" i="1">
                <a:solidFill>
                  <a:schemeClr val="tx2"/>
                </a:solidFill>
              </a:rPr>
              <a:t>v i</a:t>
            </a:r>
            <a:endParaRPr lang="en-US" altLang="zh-CN">
              <a:solidFill>
                <a:schemeClr val="tx2"/>
              </a:solidFill>
              <a:sym typeface="Symbol" pitchFamily="18" charset="2"/>
            </a:endParaRPr>
          </a:p>
        </p:txBody>
      </p:sp>
      <p:sp>
        <p:nvSpPr>
          <p:cNvPr id="212009" name="Text Box 41"/>
          <p:cNvSpPr txBox="1">
            <a:spLocks noChangeArrowheads="1"/>
          </p:cNvSpPr>
          <p:nvPr/>
        </p:nvSpPr>
        <p:spPr bwMode="auto">
          <a:xfrm>
            <a:off x="6946900" y="1657350"/>
            <a:ext cx="1979613"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sz="2000" i="1">
                <a:solidFill>
                  <a:srgbClr val="0000CC"/>
                </a:solidFill>
              </a:rPr>
              <a:t>p </a:t>
            </a:r>
            <a:r>
              <a:rPr lang="en-US" altLang="zh-CN" sz="2000">
                <a:solidFill>
                  <a:srgbClr val="0000CC"/>
                </a:solidFill>
              </a:rPr>
              <a:t>&gt; 0</a:t>
            </a:r>
            <a:r>
              <a:rPr lang="zh-CN" altLang="en-US" sz="2000">
                <a:solidFill>
                  <a:srgbClr val="0000CC"/>
                </a:solidFill>
              </a:rPr>
              <a:t>，表示元件吸收功率。</a:t>
            </a:r>
          </a:p>
          <a:p>
            <a:pPr>
              <a:spcBef>
                <a:spcPct val="50000"/>
              </a:spcBef>
            </a:pPr>
            <a:r>
              <a:rPr lang="en-US" altLang="zh-CN" sz="2000" i="1">
                <a:solidFill>
                  <a:srgbClr val="0000CC"/>
                </a:solidFill>
              </a:rPr>
              <a:t>p </a:t>
            </a:r>
            <a:r>
              <a:rPr lang="en-US" altLang="zh-CN" sz="2000">
                <a:solidFill>
                  <a:srgbClr val="0000CC"/>
                </a:solidFill>
              </a:rPr>
              <a:t>&lt; 0</a:t>
            </a:r>
            <a:r>
              <a:rPr lang="zh-CN" altLang="en-US" sz="2000">
                <a:solidFill>
                  <a:srgbClr val="0000CC"/>
                </a:solidFill>
              </a:rPr>
              <a:t>，表示元件提供功率</a:t>
            </a:r>
          </a:p>
        </p:txBody>
      </p:sp>
      <p:sp>
        <p:nvSpPr>
          <p:cNvPr id="212010" name="Text Box 42"/>
          <p:cNvSpPr txBox="1">
            <a:spLocks noChangeArrowheads="1"/>
          </p:cNvSpPr>
          <p:nvPr/>
        </p:nvSpPr>
        <p:spPr bwMode="auto">
          <a:xfrm>
            <a:off x="6916738" y="4386263"/>
            <a:ext cx="1979612"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sz="2000" i="1">
                <a:solidFill>
                  <a:srgbClr val="0000CC"/>
                </a:solidFill>
              </a:rPr>
              <a:t>p </a:t>
            </a:r>
            <a:r>
              <a:rPr lang="en-US" altLang="zh-CN" sz="2000">
                <a:solidFill>
                  <a:srgbClr val="0000CC"/>
                </a:solidFill>
              </a:rPr>
              <a:t>&gt; 0</a:t>
            </a:r>
            <a:r>
              <a:rPr lang="zh-CN" altLang="en-US" sz="2000">
                <a:solidFill>
                  <a:srgbClr val="0000CC"/>
                </a:solidFill>
              </a:rPr>
              <a:t>，表示元件提供功率。</a:t>
            </a:r>
          </a:p>
          <a:p>
            <a:pPr>
              <a:spcBef>
                <a:spcPct val="50000"/>
              </a:spcBef>
            </a:pPr>
            <a:r>
              <a:rPr lang="en-US" altLang="zh-CN" sz="2000" i="1">
                <a:solidFill>
                  <a:srgbClr val="0000CC"/>
                </a:solidFill>
              </a:rPr>
              <a:t>p </a:t>
            </a:r>
            <a:r>
              <a:rPr lang="en-US" altLang="zh-CN" sz="2000">
                <a:solidFill>
                  <a:srgbClr val="0000CC"/>
                </a:solidFill>
              </a:rPr>
              <a:t>&lt; 0</a:t>
            </a:r>
            <a:r>
              <a:rPr lang="zh-CN" altLang="en-US" sz="2000">
                <a:solidFill>
                  <a:srgbClr val="0000CC"/>
                </a:solidFill>
              </a:rPr>
              <a:t>，表示元件吸收功率</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92">
                                            <p:txEl>
                                              <p:pRg st="0" end="0"/>
                                            </p:txEl>
                                          </p:spTgt>
                                        </p:tgtEl>
                                        <p:attrNameLst>
                                          <p:attrName>style.visibility</p:attrName>
                                        </p:attrNameLst>
                                      </p:cBhvr>
                                      <p:to>
                                        <p:strVal val="visible"/>
                                      </p:to>
                                    </p:set>
                                    <p:animEffect transition="in" filter="blinds(horizontal)">
                                      <p:cBhvr>
                                        <p:cTn id="7" dur="500"/>
                                        <p:tgtEl>
                                          <p:spTgt spid="21199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11993"/>
                                        </p:tgtEl>
                                        <p:attrNameLst>
                                          <p:attrName>style.visibility</p:attrName>
                                        </p:attrNameLst>
                                      </p:cBhvr>
                                      <p:to>
                                        <p:strVal val="visible"/>
                                      </p:to>
                                    </p:set>
                                    <p:animEffect transition="in" filter="box(in)">
                                      <p:cBhvr>
                                        <p:cTn id="12" dur="500"/>
                                        <p:tgtEl>
                                          <p:spTgt spid="211993"/>
                                        </p:tgtEl>
                                      </p:cBhvr>
                                    </p:animEffect>
                                  </p:childTnLst>
                                </p:cTn>
                              </p:par>
                              <p:par>
                                <p:cTn id="13" presetID="4" presetClass="entr" presetSubtype="16" fill="hold" nodeType="withEffect">
                                  <p:stCondLst>
                                    <p:cond delay="0"/>
                                  </p:stCondLst>
                                  <p:childTnLst>
                                    <p:set>
                                      <p:cBhvr>
                                        <p:cTn id="14" dur="1" fill="hold">
                                          <p:stCondLst>
                                            <p:cond delay="0"/>
                                          </p:stCondLst>
                                        </p:cTn>
                                        <p:tgtEl>
                                          <p:spTgt spid="212004"/>
                                        </p:tgtEl>
                                        <p:attrNameLst>
                                          <p:attrName>style.visibility</p:attrName>
                                        </p:attrNameLst>
                                      </p:cBhvr>
                                      <p:to>
                                        <p:strVal val="visible"/>
                                      </p:to>
                                    </p:set>
                                    <p:animEffect transition="in" filter="box(in)">
                                      <p:cBhvr>
                                        <p:cTn id="15" dur="500"/>
                                        <p:tgtEl>
                                          <p:spTgt spid="212004"/>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212007"/>
                                        </p:tgtEl>
                                        <p:attrNameLst>
                                          <p:attrName>style.visibility</p:attrName>
                                        </p:attrNameLst>
                                      </p:cBhvr>
                                      <p:to>
                                        <p:strVal val="visible"/>
                                      </p:to>
                                    </p:set>
                                    <p:animEffect transition="in" filter="box(in)">
                                      <p:cBhvr>
                                        <p:cTn id="18" dur="500"/>
                                        <p:tgtEl>
                                          <p:spTgt spid="212007"/>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212008"/>
                                        </p:tgtEl>
                                        <p:attrNameLst>
                                          <p:attrName>style.visibility</p:attrName>
                                        </p:attrNameLst>
                                      </p:cBhvr>
                                      <p:to>
                                        <p:strVal val="visible"/>
                                      </p:to>
                                    </p:set>
                                    <p:animEffect transition="in" filter="box(in)">
                                      <p:cBhvr>
                                        <p:cTn id="21" dur="500"/>
                                        <p:tgtEl>
                                          <p:spTgt spid="21200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8" presetClass="entr" presetSubtype="16" fill="hold" grpId="0" nodeType="clickEffect">
                                  <p:stCondLst>
                                    <p:cond delay="0"/>
                                  </p:stCondLst>
                                  <p:childTnLst>
                                    <p:set>
                                      <p:cBhvr>
                                        <p:cTn id="25" dur="1" fill="hold">
                                          <p:stCondLst>
                                            <p:cond delay="0"/>
                                          </p:stCondLst>
                                        </p:cTn>
                                        <p:tgtEl>
                                          <p:spTgt spid="212009"/>
                                        </p:tgtEl>
                                        <p:attrNameLst>
                                          <p:attrName>style.visibility</p:attrName>
                                        </p:attrNameLst>
                                      </p:cBhvr>
                                      <p:to>
                                        <p:strVal val="visible"/>
                                      </p:to>
                                    </p:set>
                                    <p:animEffect transition="in" filter="diamond(in)">
                                      <p:cBhvr>
                                        <p:cTn id="26" dur="1000"/>
                                        <p:tgtEl>
                                          <p:spTgt spid="21200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211973">
                                            <p:txEl>
                                              <p:pRg st="0" end="0"/>
                                            </p:txEl>
                                          </p:spTgt>
                                        </p:tgtEl>
                                        <p:attrNameLst>
                                          <p:attrName>style.visibility</p:attrName>
                                        </p:attrNameLst>
                                      </p:cBhvr>
                                      <p:to>
                                        <p:strVal val="visible"/>
                                      </p:to>
                                    </p:set>
                                    <p:animEffect transition="in" filter="blinds(horizontal)">
                                      <p:cBhvr>
                                        <p:cTn id="31" dur="500"/>
                                        <p:tgtEl>
                                          <p:spTgt spid="211973">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nodeType="clickEffect">
                                  <p:stCondLst>
                                    <p:cond delay="0"/>
                                  </p:stCondLst>
                                  <p:childTnLst>
                                    <p:set>
                                      <p:cBhvr>
                                        <p:cTn id="35" dur="1" fill="hold">
                                          <p:stCondLst>
                                            <p:cond delay="0"/>
                                          </p:stCondLst>
                                        </p:cTn>
                                        <p:tgtEl>
                                          <p:spTgt spid="211974"/>
                                        </p:tgtEl>
                                        <p:attrNameLst>
                                          <p:attrName>style.visibility</p:attrName>
                                        </p:attrNameLst>
                                      </p:cBhvr>
                                      <p:to>
                                        <p:strVal val="visible"/>
                                      </p:to>
                                    </p:set>
                                    <p:animEffect transition="in" filter="box(in)">
                                      <p:cBhvr>
                                        <p:cTn id="36" dur="500"/>
                                        <p:tgtEl>
                                          <p:spTgt spid="211974"/>
                                        </p:tgtEl>
                                      </p:cBhvr>
                                    </p:animEffect>
                                  </p:childTnLst>
                                </p:cTn>
                              </p:par>
                              <p:par>
                                <p:cTn id="37" presetID="4" presetClass="entr" presetSubtype="16" fill="hold" nodeType="withEffect">
                                  <p:stCondLst>
                                    <p:cond delay="0"/>
                                  </p:stCondLst>
                                  <p:childTnLst>
                                    <p:set>
                                      <p:cBhvr>
                                        <p:cTn id="38" dur="1" fill="hold">
                                          <p:stCondLst>
                                            <p:cond delay="0"/>
                                          </p:stCondLst>
                                        </p:cTn>
                                        <p:tgtEl>
                                          <p:spTgt spid="211985"/>
                                        </p:tgtEl>
                                        <p:attrNameLst>
                                          <p:attrName>style.visibility</p:attrName>
                                        </p:attrNameLst>
                                      </p:cBhvr>
                                      <p:to>
                                        <p:strVal val="visible"/>
                                      </p:to>
                                    </p:set>
                                    <p:animEffect transition="in" filter="box(in)">
                                      <p:cBhvr>
                                        <p:cTn id="39" dur="500"/>
                                        <p:tgtEl>
                                          <p:spTgt spid="211985"/>
                                        </p:tgtEl>
                                      </p:cBhvr>
                                    </p:animEffect>
                                  </p:childTnLst>
                                </p:cTn>
                              </p:par>
                              <p:par>
                                <p:cTn id="40" presetID="4" presetClass="entr" presetSubtype="16" fill="hold" grpId="0" nodeType="withEffect">
                                  <p:stCondLst>
                                    <p:cond delay="0"/>
                                  </p:stCondLst>
                                  <p:childTnLst>
                                    <p:set>
                                      <p:cBhvr>
                                        <p:cTn id="41" dur="1" fill="hold">
                                          <p:stCondLst>
                                            <p:cond delay="0"/>
                                          </p:stCondLst>
                                        </p:cTn>
                                        <p:tgtEl>
                                          <p:spTgt spid="211988"/>
                                        </p:tgtEl>
                                        <p:attrNameLst>
                                          <p:attrName>style.visibility</p:attrName>
                                        </p:attrNameLst>
                                      </p:cBhvr>
                                      <p:to>
                                        <p:strVal val="visible"/>
                                      </p:to>
                                    </p:set>
                                    <p:animEffect transition="in" filter="box(in)">
                                      <p:cBhvr>
                                        <p:cTn id="42" dur="500"/>
                                        <p:tgtEl>
                                          <p:spTgt spid="211988"/>
                                        </p:tgtEl>
                                      </p:cBhvr>
                                    </p:animEffect>
                                  </p:childTnLst>
                                </p:cTn>
                              </p:par>
                              <p:par>
                                <p:cTn id="43" presetID="4" presetClass="entr" presetSubtype="16" fill="hold" grpId="0" nodeType="withEffect">
                                  <p:stCondLst>
                                    <p:cond delay="0"/>
                                  </p:stCondLst>
                                  <p:childTnLst>
                                    <p:set>
                                      <p:cBhvr>
                                        <p:cTn id="44" dur="1" fill="hold">
                                          <p:stCondLst>
                                            <p:cond delay="0"/>
                                          </p:stCondLst>
                                        </p:cTn>
                                        <p:tgtEl>
                                          <p:spTgt spid="211989"/>
                                        </p:tgtEl>
                                        <p:attrNameLst>
                                          <p:attrName>style.visibility</p:attrName>
                                        </p:attrNameLst>
                                      </p:cBhvr>
                                      <p:to>
                                        <p:strVal val="visible"/>
                                      </p:to>
                                    </p:set>
                                    <p:animEffect transition="in" filter="box(in)">
                                      <p:cBhvr>
                                        <p:cTn id="45" dur="500"/>
                                        <p:tgtEl>
                                          <p:spTgt spid="21198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 presetClass="entr" presetSubtype="10" fill="hold" grpId="0" nodeType="clickEffect">
                                  <p:stCondLst>
                                    <p:cond delay="0"/>
                                  </p:stCondLst>
                                  <p:childTnLst>
                                    <p:set>
                                      <p:cBhvr>
                                        <p:cTn id="49" dur="1" fill="hold">
                                          <p:stCondLst>
                                            <p:cond delay="0"/>
                                          </p:stCondLst>
                                        </p:cTn>
                                        <p:tgtEl>
                                          <p:spTgt spid="212010"/>
                                        </p:tgtEl>
                                        <p:attrNameLst>
                                          <p:attrName>style.visibility</p:attrName>
                                        </p:attrNameLst>
                                      </p:cBhvr>
                                      <p:to>
                                        <p:strVal val="visible"/>
                                      </p:to>
                                    </p:set>
                                    <p:animEffect transition="in" filter="checkerboard(across)">
                                      <p:cBhvr>
                                        <p:cTn id="50" dur="500"/>
                                        <p:tgtEl>
                                          <p:spTgt spid="212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88" grpId="0"/>
      <p:bldP spid="211989" grpId="0"/>
      <p:bldP spid="212007" grpId="0"/>
      <p:bldP spid="212008" grpId="0"/>
      <p:bldP spid="212009" grpId="0"/>
      <p:bldP spid="2120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标注 6"/>
          <p:cNvSpPr/>
          <p:nvPr/>
        </p:nvSpPr>
        <p:spPr bwMode="auto">
          <a:xfrm rot="10800000">
            <a:off x="7333598" y="2646588"/>
            <a:ext cx="702129" cy="512763"/>
          </a:xfrm>
          <a:prstGeom prst="wedgeRoundRectCallout">
            <a:avLst>
              <a:gd name="adj1" fmla="val -35949"/>
              <a:gd name="adj2" fmla="val 118227"/>
              <a:gd name="adj3" fmla="val 16667"/>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charset="-122"/>
            </a:endParaRPr>
          </a:p>
        </p:txBody>
      </p:sp>
      <p:sp>
        <p:nvSpPr>
          <p:cNvPr id="21507" name="Line 12"/>
          <p:cNvSpPr>
            <a:spLocks noChangeShapeType="1"/>
          </p:cNvSpPr>
          <p:nvPr/>
        </p:nvSpPr>
        <p:spPr bwMode="auto">
          <a:xfrm flipV="1">
            <a:off x="1071110" y="3473450"/>
            <a:ext cx="4241800" cy="14288"/>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8" name="Line 13"/>
          <p:cNvSpPr>
            <a:spLocks noChangeShapeType="1"/>
          </p:cNvSpPr>
          <p:nvPr/>
        </p:nvSpPr>
        <p:spPr bwMode="auto">
          <a:xfrm flipV="1">
            <a:off x="1080635" y="1101725"/>
            <a:ext cx="0" cy="2409825"/>
          </a:xfrm>
          <a:prstGeom prst="line">
            <a:avLst/>
          </a:prstGeom>
          <a:noFill/>
          <a:ln w="28575">
            <a:solidFill>
              <a:srgbClr val="0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09" name="Text Box 14"/>
          <p:cNvSpPr txBox="1">
            <a:spLocks noChangeArrowheads="1"/>
          </p:cNvSpPr>
          <p:nvPr/>
        </p:nvSpPr>
        <p:spPr bwMode="auto">
          <a:xfrm>
            <a:off x="612322" y="998538"/>
            <a:ext cx="4540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err="1">
                <a:solidFill>
                  <a:srgbClr val="000000"/>
                </a:solidFill>
                <a:sym typeface="Symbol" pitchFamily="18" charset="2"/>
              </a:rPr>
              <a:t>v</a:t>
            </a:r>
            <a:r>
              <a:rPr lang="en-US" altLang="zh-CN" i="1" baseline="-25000" dirty="0" err="1">
                <a:solidFill>
                  <a:srgbClr val="000000"/>
                </a:solidFill>
                <a:sym typeface="Symbol" pitchFamily="18" charset="2"/>
              </a:rPr>
              <a:t>B</a:t>
            </a:r>
            <a:endParaRPr lang="en-US" altLang="zh-CN" i="1" baseline="-25000" dirty="0">
              <a:solidFill>
                <a:srgbClr val="000000"/>
              </a:solidFill>
              <a:sym typeface="Symbol" pitchFamily="18" charset="2"/>
            </a:endParaRPr>
          </a:p>
        </p:txBody>
      </p:sp>
      <p:sp>
        <p:nvSpPr>
          <p:cNvPr id="21510" name="Text Box 15"/>
          <p:cNvSpPr txBox="1">
            <a:spLocks noChangeArrowheads="1"/>
          </p:cNvSpPr>
          <p:nvPr/>
        </p:nvSpPr>
        <p:spPr bwMode="auto">
          <a:xfrm>
            <a:off x="904422" y="3517900"/>
            <a:ext cx="3619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000000"/>
                </a:solidFill>
                <a:sym typeface="Symbol" pitchFamily="18" charset="2"/>
              </a:rPr>
              <a:t>0</a:t>
            </a:r>
            <a:endParaRPr lang="en-US" altLang="zh-CN" sz="2800">
              <a:solidFill>
                <a:srgbClr val="000000"/>
              </a:solidFill>
              <a:sym typeface="Symbol" pitchFamily="18" charset="2"/>
            </a:endParaRPr>
          </a:p>
        </p:txBody>
      </p:sp>
      <p:sp>
        <p:nvSpPr>
          <p:cNvPr id="21511" name="Text Box 16"/>
          <p:cNvSpPr txBox="1">
            <a:spLocks noChangeArrowheads="1"/>
          </p:cNvSpPr>
          <p:nvPr/>
        </p:nvSpPr>
        <p:spPr bwMode="auto">
          <a:xfrm>
            <a:off x="5300210" y="3408363"/>
            <a:ext cx="2825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i="1">
                <a:solidFill>
                  <a:srgbClr val="000000"/>
                </a:solidFill>
                <a:sym typeface="Symbol" pitchFamily="18" charset="2"/>
              </a:rPr>
              <a:t>t</a:t>
            </a:r>
            <a:endParaRPr lang="en-US" altLang="zh-CN" sz="2800">
              <a:solidFill>
                <a:srgbClr val="000000"/>
              </a:solidFill>
              <a:sym typeface="Symbol" pitchFamily="18" charset="2"/>
            </a:endParaRPr>
          </a:p>
        </p:txBody>
      </p:sp>
      <p:grpSp>
        <p:nvGrpSpPr>
          <p:cNvPr id="21512" name="Group 17"/>
          <p:cNvGrpSpPr>
            <a:grpSpLocks/>
          </p:cNvGrpSpPr>
          <p:nvPr/>
        </p:nvGrpSpPr>
        <p:grpSpPr bwMode="auto">
          <a:xfrm>
            <a:off x="1604510" y="1431925"/>
            <a:ext cx="3579812" cy="1549400"/>
            <a:chOff x="1781" y="1210"/>
            <a:chExt cx="2255" cy="976"/>
          </a:xfrm>
        </p:grpSpPr>
        <p:sp>
          <p:nvSpPr>
            <p:cNvPr id="21526" name="Freeform 18"/>
            <p:cNvSpPr>
              <a:spLocks/>
            </p:cNvSpPr>
            <p:nvPr/>
          </p:nvSpPr>
          <p:spPr bwMode="auto">
            <a:xfrm>
              <a:off x="1781" y="1215"/>
              <a:ext cx="721" cy="512"/>
            </a:xfrm>
            <a:custGeom>
              <a:avLst/>
              <a:gdLst>
                <a:gd name="T0" fmla="*/ 0 w 1290"/>
                <a:gd name="T1" fmla="*/ 493 h 1263"/>
                <a:gd name="T2" fmla="*/ 211 w 1290"/>
                <a:gd name="T3" fmla="*/ 125 h 1263"/>
                <a:gd name="T4" fmla="*/ 376 w 1290"/>
                <a:gd name="T5" fmla="*/ 0 h 1263"/>
                <a:gd name="T6" fmla="*/ 511 w 1290"/>
                <a:gd name="T7" fmla="*/ 125 h 1263"/>
                <a:gd name="T8" fmla="*/ 721 w 1290"/>
                <a:gd name="T9" fmla="*/ 512 h 12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0" h="1263">
                  <a:moveTo>
                    <a:pt x="0" y="1215"/>
                  </a:moveTo>
                  <a:cubicBezTo>
                    <a:pt x="63" y="1064"/>
                    <a:pt x="266" y="510"/>
                    <a:pt x="377" y="308"/>
                  </a:cubicBezTo>
                  <a:cubicBezTo>
                    <a:pt x="489" y="106"/>
                    <a:pt x="582" y="0"/>
                    <a:pt x="672" y="0"/>
                  </a:cubicBezTo>
                  <a:cubicBezTo>
                    <a:pt x="761" y="0"/>
                    <a:pt x="811" y="98"/>
                    <a:pt x="914" y="308"/>
                  </a:cubicBezTo>
                  <a:cubicBezTo>
                    <a:pt x="1017" y="518"/>
                    <a:pt x="1212" y="1064"/>
                    <a:pt x="1290" y="1263"/>
                  </a:cubicBezTo>
                </a:path>
              </a:pathLst>
            </a:custGeom>
            <a:noFill/>
            <a:ln w="317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527" name="Freeform 19"/>
            <p:cNvSpPr>
              <a:spLocks/>
            </p:cNvSpPr>
            <p:nvPr/>
          </p:nvSpPr>
          <p:spPr bwMode="auto">
            <a:xfrm flipV="1">
              <a:off x="2485" y="1675"/>
              <a:ext cx="721" cy="511"/>
            </a:xfrm>
            <a:custGeom>
              <a:avLst/>
              <a:gdLst>
                <a:gd name="T0" fmla="*/ 0 w 1290"/>
                <a:gd name="T1" fmla="*/ 492 h 1263"/>
                <a:gd name="T2" fmla="*/ 211 w 1290"/>
                <a:gd name="T3" fmla="*/ 125 h 1263"/>
                <a:gd name="T4" fmla="*/ 376 w 1290"/>
                <a:gd name="T5" fmla="*/ 0 h 1263"/>
                <a:gd name="T6" fmla="*/ 511 w 1290"/>
                <a:gd name="T7" fmla="*/ 125 h 1263"/>
                <a:gd name="T8" fmla="*/ 721 w 1290"/>
                <a:gd name="T9" fmla="*/ 511 h 12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90" h="1263">
                  <a:moveTo>
                    <a:pt x="0" y="1215"/>
                  </a:moveTo>
                  <a:cubicBezTo>
                    <a:pt x="63" y="1064"/>
                    <a:pt x="266" y="510"/>
                    <a:pt x="377" y="308"/>
                  </a:cubicBezTo>
                  <a:cubicBezTo>
                    <a:pt x="489" y="106"/>
                    <a:pt x="582" y="0"/>
                    <a:pt x="672" y="0"/>
                  </a:cubicBezTo>
                  <a:cubicBezTo>
                    <a:pt x="761" y="0"/>
                    <a:pt x="811" y="98"/>
                    <a:pt x="914" y="308"/>
                  </a:cubicBezTo>
                  <a:cubicBezTo>
                    <a:pt x="1017" y="518"/>
                    <a:pt x="1212" y="1064"/>
                    <a:pt x="1290" y="1263"/>
                  </a:cubicBezTo>
                </a:path>
              </a:pathLst>
            </a:custGeom>
            <a:noFill/>
            <a:ln w="317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528" name="Freeform 20"/>
            <p:cNvSpPr>
              <a:spLocks/>
            </p:cNvSpPr>
            <p:nvPr/>
          </p:nvSpPr>
          <p:spPr bwMode="auto">
            <a:xfrm>
              <a:off x="3193" y="1210"/>
              <a:ext cx="843" cy="732"/>
            </a:xfrm>
            <a:custGeom>
              <a:avLst/>
              <a:gdLst>
                <a:gd name="T0" fmla="*/ 0 w 843"/>
                <a:gd name="T1" fmla="*/ 493 h 732"/>
                <a:gd name="T2" fmla="*/ 211 w 843"/>
                <a:gd name="T3" fmla="*/ 125 h 732"/>
                <a:gd name="T4" fmla="*/ 376 w 843"/>
                <a:gd name="T5" fmla="*/ 0 h 732"/>
                <a:gd name="T6" fmla="*/ 511 w 843"/>
                <a:gd name="T7" fmla="*/ 125 h 732"/>
                <a:gd name="T8" fmla="*/ 843 w 843"/>
                <a:gd name="T9" fmla="*/ 732 h 7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3" h="732">
                  <a:moveTo>
                    <a:pt x="0" y="493"/>
                  </a:moveTo>
                  <a:cubicBezTo>
                    <a:pt x="35" y="431"/>
                    <a:pt x="149" y="207"/>
                    <a:pt x="211" y="125"/>
                  </a:cubicBezTo>
                  <a:cubicBezTo>
                    <a:pt x="273" y="43"/>
                    <a:pt x="325" y="0"/>
                    <a:pt x="376" y="0"/>
                  </a:cubicBezTo>
                  <a:cubicBezTo>
                    <a:pt x="425" y="0"/>
                    <a:pt x="433" y="3"/>
                    <a:pt x="511" y="125"/>
                  </a:cubicBezTo>
                  <a:cubicBezTo>
                    <a:pt x="589" y="247"/>
                    <a:pt x="774" y="606"/>
                    <a:pt x="843" y="732"/>
                  </a:cubicBezTo>
                </a:path>
              </a:pathLst>
            </a:custGeom>
            <a:noFill/>
            <a:ln w="317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1513" name="Line 22"/>
          <p:cNvSpPr>
            <a:spLocks noChangeShapeType="1"/>
          </p:cNvSpPr>
          <p:nvPr/>
        </p:nvSpPr>
        <p:spPr bwMode="auto">
          <a:xfrm flipV="1">
            <a:off x="1085397" y="2195513"/>
            <a:ext cx="4241800" cy="14287"/>
          </a:xfrm>
          <a:prstGeom prst="line">
            <a:avLst/>
          </a:prstGeom>
          <a:noFill/>
          <a:ln w="2857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4" name="Line 23"/>
          <p:cNvSpPr>
            <a:spLocks noChangeShapeType="1"/>
          </p:cNvSpPr>
          <p:nvPr/>
        </p:nvSpPr>
        <p:spPr bwMode="auto">
          <a:xfrm flipV="1">
            <a:off x="1186997" y="1673225"/>
            <a:ext cx="1090613" cy="14288"/>
          </a:xfrm>
          <a:prstGeom prst="line">
            <a:avLst/>
          </a:prstGeom>
          <a:noFill/>
          <a:ln w="2857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5" name="Line 24"/>
          <p:cNvSpPr>
            <a:spLocks noChangeShapeType="1"/>
          </p:cNvSpPr>
          <p:nvPr/>
        </p:nvSpPr>
        <p:spPr bwMode="auto">
          <a:xfrm flipV="1">
            <a:off x="1433060" y="1703388"/>
            <a:ext cx="0" cy="1784350"/>
          </a:xfrm>
          <a:prstGeom prst="line">
            <a:avLst/>
          </a:prstGeom>
          <a:noFill/>
          <a:ln w="9525">
            <a:solidFill>
              <a:schemeClr val="tx1"/>
            </a:solidFill>
            <a:round/>
            <a:headEnd type="stealth"/>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6" name="Text Box 25"/>
          <p:cNvSpPr txBox="1">
            <a:spLocks noChangeArrowheads="1"/>
          </p:cNvSpPr>
          <p:nvPr/>
        </p:nvSpPr>
        <p:spPr bwMode="auto">
          <a:xfrm>
            <a:off x="1177472" y="2362909"/>
            <a:ext cx="454025" cy="457200"/>
          </a:xfrm>
          <a:prstGeom prst="rect">
            <a:avLst/>
          </a:prstGeom>
          <a:solidFill>
            <a:schemeClr val="bg1"/>
          </a:solidFill>
          <a:ln>
            <a:noFill/>
          </a:ln>
          <a:effectLst/>
          <a:extLs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err="1">
                <a:solidFill>
                  <a:srgbClr val="000000"/>
                </a:solidFill>
                <a:sym typeface="Symbol" pitchFamily="18" charset="2"/>
              </a:rPr>
              <a:t>v</a:t>
            </a:r>
            <a:r>
              <a:rPr lang="en-US" altLang="zh-CN" i="1" baseline="-25000" dirty="0" err="1">
                <a:solidFill>
                  <a:srgbClr val="000000"/>
                </a:solidFill>
                <a:sym typeface="Symbol" pitchFamily="18" charset="2"/>
              </a:rPr>
              <a:t>B</a:t>
            </a:r>
            <a:endParaRPr lang="en-US" altLang="zh-CN" i="1" baseline="-25000" dirty="0">
              <a:solidFill>
                <a:srgbClr val="000000"/>
              </a:solidFill>
              <a:sym typeface="Symbol" pitchFamily="18" charset="2"/>
            </a:endParaRPr>
          </a:p>
        </p:txBody>
      </p:sp>
      <p:sp>
        <p:nvSpPr>
          <p:cNvPr id="21517" name="Line 26"/>
          <p:cNvSpPr>
            <a:spLocks noChangeShapeType="1"/>
          </p:cNvSpPr>
          <p:nvPr/>
        </p:nvSpPr>
        <p:spPr bwMode="auto">
          <a:xfrm flipV="1">
            <a:off x="2087110" y="2197100"/>
            <a:ext cx="14287" cy="1290638"/>
          </a:xfrm>
          <a:prstGeom prst="line">
            <a:avLst/>
          </a:prstGeom>
          <a:noFill/>
          <a:ln w="9525">
            <a:solidFill>
              <a:schemeClr val="tx1"/>
            </a:solidFill>
            <a:round/>
            <a:headEnd type="stealth"/>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8" name="Text Box 27"/>
          <p:cNvSpPr txBox="1">
            <a:spLocks noChangeArrowheads="1"/>
          </p:cNvSpPr>
          <p:nvPr/>
        </p:nvSpPr>
        <p:spPr bwMode="auto">
          <a:xfrm>
            <a:off x="1809297" y="2590800"/>
            <a:ext cx="612775" cy="457200"/>
          </a:xfrm>
          <a:prstGeom prst="rect">
            <a:avLst/>
          </a:prstGeom>
          <a:solidFill>
            <a:schemeClr val="bg1"/>
          </a:solidFill>
          <a:ln>
            <a:noFill/>
          </a:ln>
          <a:effectLst/>
          <a:extLs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rgbClr val="000000"/>
                </a:solidFill>
                <a:sym typeface="Symbol" pitchFamily="18" charset="2"/>
              </a:rPr>
              <a:t>V</a:t>
            </a:r>
            <a:r>
              <a:rPr lang="en-US" altLang="zh-CN" i="1" baseline="-25000">
                <a:solidFill>
                  <a:srgbClr val="000000"/>
                </a:solidFill>
                <a:sym typeface="Symbol" pitchFamily="18" charset="2"/>
              </a:rPr>
              <a:t>B</a:t>
            </a:r>
          </a:p>
        </p:txBody>
      </p:sp>
      <p:sp>
        <p:nvSpPr>
          <p:cNvPr id="21519" name="Line 28"/>
          <p:cNvSpPr>
            <a:spLocks noChangeShapeType="1"/>
          </p:cNvSpPr>
          <p:nvPr/>
        </p:nvSpPr>
        <p:spPr bwMode="auto">
          <a:xfrm flipV="1">
            <a:off x="2101397" y="1689100"/>
            <a:ext cx="0" cy="508000"/>
          </a:xfrm>
          <a:prstGeom prst="line">
            <a:avLst/>
          </a:prstGeom>
          <a:noFill/>
          <a:ln w="952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0" name="Text Box 29"/>
          <p:cNvSpPr txBox="1">
            <a:spLocks noChangeArrowheads="1"/>
          </p:cNvSpPr>
          <p:nvPr/>
        </p:nvSpPr>
        <p:spPr bwMode="auto">
          <a:xfrm>
            <a:off x="2123622" y="1679575"/>
            <a:ext cx="420688"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rgbClr val="000000"/>
                </a:solidFill>
                <a:sym typeface="Symbol" pitchFamily="18" charset="2"/>
              </a:rPr>
              <a:t>v</a:t>
            </a:r>
            <a:r>
              <a:rPr lang="en-US" altLang="zh-CN" i="1" baseline="-25000">
                <a:solidFill>
                  <a:srgbClr val="000000"/>
                </a:solidFill>
                <a:sym typeface="Symbol" pitchFamily="18" charset="2"/>
              </a:rPr>
              <a:t>b</a:t>
            </a:r>
          </a:p>
        </p:txBody>
      </p:sp>
      <p:sp>
        <p:nvSpPr>
          <p:cNvPr id="21521" name="Line 30"/>
          <p:cNvSpPr>
            <a:spLocks noChangeShapeType="1"/>
          </p:cNvSpPr>
          <p:nvPr/>
        </p:nvSpPr>
        <p:spPr bwMode="auto">
          <a:xfrm flipV="1">
            <a:off x="3422197" y="1427163"/>
            <a:ext cx="1090613" cy="14287"/>
          </a:xfrm>
          <a:prstGeom prst="line">
            <a:avLst/>
          </a:prstGeom>
          <a:noFill/>
          <a:ln w="2857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2" name="Line 31"/>
          <p:cNvSpPr>
            <a:spLocks noChangeShapeType="1"/>
          </p:cNvSpPr>
          <p:nvPr/>
        </p:nvSpPr>
        <p:spPr bwMode="auto">
          <a:xfrm flipV="1">
            <a:off x="3625397" y="1441450"/>
            <a:ext cx="0" cy="752475"/>
          </a:xfrm>
          <a:prstGeom prst="line">
            <a:avLst/>
          </a:prstGeom>
          <a:noFill/>
          <a:ln w="952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3" name="Text Box 32"/>
          <p:cNvSpPr txBox="1">
            <a:spLocks noChangeArrowheads="1"/>
          </p:cNvSpPr>
          <p:nvPr/>
        </p:nvSpPr>
        <p:spPr bwMode="auto">
          <a:xfrm>
            <a:off x="3177722" y="1550988"/>
            <a:ext cx="4889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rgbClr val="000000"/>
                </a:solidFill>
                <a:sym typeface="Symbol" pitchFamily="18" charset="2"/>
              </a:rPr>
              <a:t>V</a:t>
            </a:r>
            <a:r>
              <a:rPr lang="en-US" altLang="zh-CN" i="1" baseline="-25000">
                <a:solidFill>
                  <a:srgbClr val="000000"/>
                </a:solidFill>
                <a:sym typeface="Symbol" pitchFamily="18" charset="2"/>
              </a:rPr>
              <a:t>b</a:t>
            </a:r>
          </a:p>
        </p:txBody>
      </p:sp>
      <p:sp>
        <p:nvSpPr>
          <p:cNvPr id="21524" name="Text Box 33"/>
          <p:cNvSpPr txBox="1">
            <a:spLocks noChangeArrowheads="1"/>
          </p:cNvSpPr>
          <p:nvPr/>
        </p:nvSpPr>
        <p:spPr bwMode="auto">
          <a:xfrm>
            <a:off x="1185863" y="4075113"/>
            <a:ext cx="7300912" cy="2392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571500" indent="-5715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lnSpc>
                <a:spcPct val="120000"/>
              </a:lnSpc>
              <a:spcBef>
                <a:spcPct val="50000"/>
              </a:spcBef>
            </a:pPr>
            <a:r>
              <a:rPr lang="zh-CN" altLang="en-US" dirty="0">
                <a:solidFill>
                  <a:schemeClr val="tx2"/>
                </a:solidFill>
                <a:sym typeface="Symbol" pitchFamily="18" charset="2"/>
              </a:rPr>
              <a:t>大写字母</a:t>
            </a:r>
            <a:r>
              <a:rPr lang="en-US" altLang="zh-CN" dirty="0">
                <a:solidFill>
                  <a:schemeClr val="tx2"/>
                </a:solidFill>
                <a:sym typeface="Symbol" pitchFamily="18" charset="2"/>
              </a:rPr>
              <a:t>+</a:t>
            </a:r>
            <a:r>
              <a:rPr lang="zh-CN" altLang="en-US" dirty="0">
                <a:solidFill>
                  <a:schemeClr val="tx2"/>
                </a:solidFill>
                <a:sym typeface="Symbol" pitchFamily="18" charset="2"/>
              </a:rPr>
              <a:t>大写下标：直流量（</a:t>
            </a:r>
            <a:r>
              <a:rPr lang="en-US" altLang="zh-CN" i="1" dirty="0">
                <a:solidFill>
                  <a:schemeClr val="tx2"/>
                </a:solidFill>
                <a:sym typeface="Symbol" pitchFamily="18" charset="2"/>
              </a:rPr>
              <a:t>V</a:t>
            </a:r>
            <a:r>
              <a:rPr lang="en-US" altLang="zh-CN" i="1" baseline="-25000" dirty="0">
                <a:solidFill>
                  <a:schemeClr val="tx2"/>
                </a:solidFill>
                <a:sym typeface="Symbol" pitchFamily="18" charset="2"/>
              </a:rPr>
              <a:t>B</a:t>
            </a:r>
            <a:r>
              <a:rPr lang="zh-CN" altLang="en-US" dirty="0">
                <a:solidFill>
                  <a:schemeClr val="tx2"/>
                </a:solidFill>
                <a:sym typeface="Symbol" pitchFamily="18" charset="2"/>
              </a:rPr>
              <a:t>）</a:t>
            </a:r>
          </a:p>
          <a:p>
            <a:pPr algn="just">
              <a:lnSpc>
                <a:spcPct val="120000"/>
              </a:lnSpc>
              <a:spcBef>
                <a:spcPct val="50000"/>
              </a:spcBef>
            </a:pPr>
            <a:r>
              <a:rPr lang="zh-CN" altLang="en-US" dirty="0">
                <a:solidFill>
                  <a:schemeClr val="tx2"/>
                </a:solidFill>
                <a:sym typeface="Symbol" pitchFamily="18" charset="2"/>
              </a:rPr>
              <a:t>大写字母</a:t>
            </a:r>
            <a:r>
              <a:rPr lang="en-US" altLang="zh-CN" dirty="0">
                <a:solidFill>
                  <a:schemeClr val="tx2"/>
                </a:solidFill>
                <a:sym typeface="Symbol" pitchFamily="18" charset="2"/>
              </a:rPr>
              <a:t>+</a:t>
            </a:r>
            <a:r>
              <a:rPr lang="zh-CN" altLang="en-US" dirty="0">
                <a:solidFill>
                  <a:schemeClr val="tx2"/>
                </a:solidFill>
                <a:sym typeface="Symbol" pitchFamily="18" charset="2"/>
              </a:rPr>
              <a:t>小写下标：交变信号的幅度（</a:t>
            </a:r>
            <a:r>
              <a:rPr lang="en-US" altLang="zh-CN" i="1" dirty="0" err="1">
                <a:solidFill>
                  <a:schemeClr val="tx2"/>
                </a:solidFill>
                <a:sym typeface="Symbol" pitchFamily="18" charset="2"/>
              </a:rPr>
              <a:t>V</a:t>
            </a:r>
            <a:r>
              <a:rPr lang="en-US" altLang="zh-CN" i="1" baseline="-25000" dirty="0" err="1">
                <a:solidFill>
                  <a:schemeClr val="tx2"/>
                </a:solidFill>
                <a:sym typeface="Symbol" pitchFamily="18" charset="2"/>
              </a:rPr>
              <a:t>b</a:t>
            </a:r>
            <a:r>
              <a:rPr lang="zh-CN" altLang="en-US" dirty="0">
                <a:solidFill>
                  <a:schemeClr val="tx2"/>
                </a:solidFill>
                <a:sym typeface="Symbol" pitchFamily="18" charset="2"/>
              </a:rPr>
              <a:t>）</a:t>
            </a:r>
          </a:p>
          <a:p>
            <a:pPr algn="just">
              <a:lnSpc>
                <a:spcPct val="120000"/>
              </a:lnSpc>
              <a:spcBef>
                <a:spcPct val="50000"/>
              </a:spcBef>
            </a:pPr>
            <a:r>
              <a:rPr lang="zh-CN" altLang="en-US" dirty="0">
                <a:solidFill>
                  <a:schemeClr val="tx2"/>
                </a:solidFill>
                <a:sym typeface="Symbol" pitchFamily="18" charset="2"/>
              </a:rPr>
              <a:t>小写字母</a:t>
            </a:r>
            <a:r>
              <a:rPr lang="en-US" altLang="zh-CN" dirty="0">
                <a:solidFill>
                  <a:schemeClr val="tx2"/>
                </a:solidFill>
                <a:sym typeface="Symbol" pitchFamily="18" charset="2"/>
              </a:rPr>
              <a:t>+</a:t>
            </a:r>
            <a:r>
              <a:rPr lang="zh-CN" altLang="en-US" dirty="0">
                <a:solidFill>
                  <a:schemeClr val="tx2"/>
                </a:solidFill>
                <a:sym typeface="Symbol" pitchFamily="18" charset="2"/>
              </a:rPr>
              <a:t>大写下标：总的瞬时量（</a:t>
            </a:r>
            <a:r>
              <a:rPr lang="en-US" altLang="zh-CN" i="1" dirty="0" err="1">
                <a:solidFill>
                  <a:schemeClr val="tx2"/>
                </a:solidFill>
                <a:sym typeface="Symbol" pitchFamily="18" charset="2"/>
              </a:rPr>
              <a:t>v</a:t>
            </a:r>
            <a:r>
              <a:rPr lang="en-US" altLang="zh-CN" i="1" baseline="-25000" dirty="0" err="1">
                <a:solidFill>
                  <a:schemeClr val="tx2"/>
                </a:solidFill>
                <a:sym typeface="Symbol" pitchFamily="18" charset="2"/>
              </a:rPr>
              <a:t>B</a:t>
            </a:r>
            <a:r>
              <a:rPr lang="zh-CN" altLang="en-US" dirty="0">
                <a:solidFill>
                  <a:schemeClr val="tx2"/>
                </a:solidFill>
                <a:sym typeface="Symbol" pitchFamily="18" charset="2"/>
              </a:rPr>
              <a:t>）</a:t>
            </a:r>
          </a:p>
          <a:p>
            <a:pPr algn="just">
              <a:lnSpc>
                <a:spcPct val="120000"/>
              </a:lnSpc>
              <a:spcBef>
                <a:spcPct val="50000"/>
              </a:spcBef>
            </a:pPr>
            <a:r>
              <a:rPr lang="zh-CN" altLang="en-US" dirty="0">
                <a:solidFill>
                  <a:schemeClr val="tx2"/>
                </a:solidFill>
                <a:sym typeface="Symbol" pitchFamily="18" charset="2"/>
              </a:rPr>
              <a:t>小写字母</a:t>
            </a:r>
            <a:r>
              <a:rPr lang="en-US" altLang="zh-CN" dirty="0">
                <a:solidFill>
                  <a:schemeClr val="tx2"/>
                </a:solidFill>
                <a:sym typeface="Symbol" pitchFamily="18" charset="2"/>
              </a:rPr>
              <a:t>+</a:t>
            </a:r>
            <a:r>
              <a:rPr lang="zh-CN" altLang="en-US" dirty="0">
                <a:solidFill>
                  <a:schemeClr val="tx2"/>
                </a:solidFill>
                <a:sym typeface="Symbol" pitchFamily="18" charset="2"/>
              </a:rPr>
              <a:t>小写下标：增量信号（交变信号） （</a:t>
            </a:r>
            <a:r>
              <a:rPr lang="en-US" altLang="zh-CN" i="1" dirty="0" err="1">
                <a:solidFill>
                  <a:schemeClr val="tx2"/>
                </a:solidFill>
                <a:sym typeface="Symbol" pitchFamily="18" charset="2"/>
              </a:rPr>
              <a:t>v</a:t>
            </a:r>
            <a:r>
              <a:rPr lang="en-US" altLang="zh-CN" i="1" baseline="-25000" dirty="0" err="1">
                <a:solidFill>
                  <a:schemeClr val="tx2"/>
                </a:solidFill>
                <a:sym typeface="Symbol" pitchFamily="18" charset="2"/>
              </a:rPr>
              <a:t>b</a:t>
            </a:r>
            <a:r>
              <a:rPr lang="zh-CN" altLang="en-US" dirty="0">
                <a:solidFill>
                  <a:schemeClr val="tx2"/>
                </a:solidFill>
                <a:sym typeface="Symbol" pitchFamily="18" charset="2"/>
              </a:rPr>
              <a:t>）</a:t>
            </a:r>
          </a:p>
        </p:txBody>
      </p:sp>
      <p:sp>
        <p:nvSpPr>
          <p:cNvPr id="21525" name="Text Box 2"/>
          <p:cNvSpPr txBox="1">
            <a:spLocks noChangeArrowheads="1"/>
          </p:cNvSpPr>
          <p:nvPr/>
        </p:nvSpPr>
        <p:spPr bwMode="auto">
          <a:xfrm>
            <a:off x="369888" y="490538"/>
            <a:ext cx="7734300"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smtClean="0">
                <a:solidFill>
                  <a:srgbClr val="990033"/>
                </a:solidFill>
              </a:rPr>
              <a:t>1.2.3 </a:t>
            </a:r>
            <a:r>
              <a:rPr lang="zh-CN" altLang="en-US" dirty="0">
                <a:solidFill>
                  <a:srgbClr val="990033"/>
                </a:solidFill>
              </a:rPr>
              <a:t>电路参数符号书写规范</a:t>
            </a:r>
            <a:endParaRPr lang="zh-CN" altLang="en-US" dirty="0">
              <a:solidFill>
                <a:schemeClr val="tx2"/>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301610727"/>
              </p:ext>
            </p:extLst>
          </p:nvPr>
        </p:nvGraphicFramePr>
        <p:xfrm>
          <a:off x="5981246" y="1821769"/>
          <a:ext cx="2739631" cy="468313"/>
        </p:xfrm>
        <a:graphic>
          <a:graphicData uri="http://schemas.openxmlformats.org/presentationml/2006/ole">
            <mc:AlternateContent xmlns:mc="http://schemas.openxmlformats.org/markup-compatibility/2006">
              <mc:Choice xmlns:v="urn:schemas-microsoft-com:vml" Requires="v">
                <p:oleObj spid="_x0000_s108620" name="Equation" r:id="rId3" imgW="1485720" imgH="253800" progId="Equation.DSMT4">
                  <p:embed/>
                </p:oleObj>
              </mc:Choice>
              <mc:Fallback>
                <p:oleObj name="Equation" r:id="rId3" imgW="1485720" imgH="253800" progId="Equation.DSMT4">
                  <p:embed/>
                  <p:pic>
                    <p:nvPicPr>
                      <p:cNvPr id="0" name=""/>
                      <p:cNvPicPr/>
                      <p:nvPr/>
                    </p:nvPicPr>
                    <p:blipFill>
                      <a:blip r:embed="rId4"/>
                      <a:stretch>
                        <a:fillRect/>
                      </a:stretch>
                    </p:blipFill>
                    <p:spPr>
                      <a:xfrm>
                        <a:off x="5981246" y="1821769"/>
                        <a:ext cx="2739631" cy="468313"/>
                      </a:xfrm>
                      <a:prstGeom prst="rect">
                        <a:avLst/>
                      </a:prstGeom>
                    </p:spPr>
                  </p:pic>
                </p:oleObj>
              </mc:Fallback>
            </mc:AlternateContent>
          </a:graphicData>
        </a:graphic>
      </p:graphicFrame>
      <p:cxnSp>
        <p:nvCxnSpPr>
          <p:cNvPr id="4" name="直接连接符 3"/>
          <p:cNvCxnSpPr/>
          <p:nvPr/>
        </p:nvCxnSpPr>
        <p:spPr bwMode="auto">
          <a:xfrm>
            <a:off x="7079855" y="2293739"/>
            <a:ext cx="1641022" cy="0"/>
          </a:xfrm>
          <a:prstGeom prst="line">
            <a:avLst/>
          </a:prstGeom>
          <a:solidFill>
            <a:srgbClr val="99FF99"/>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 name="对象 5"/>
          <p:cNvGraphicFramePr>
            <a:graphicFrameLocks noChangeAspect="1"/>
          </p:cNvGraphicFramePr>
          <p:nvPr>
            <p:extLst>
              <p:ext uri="{D42A27DB-BD31-4B8C-83A1-F6EECF244321}">
                <p14:modId xmlns:p14="http://schemas.microsoft.com/office/powerpoint/2010/main" val="3461949929"/>
              </p:ext>
            </p:extLst>
          </p:nvPr>
        </p:nvGraphicFramePr>
        <p:xfrm>
          <a:off x="7519562" y="2629807"/>
          <a:ext cx="330200" cy="495300"/>
        </p:xfrm>
        <a:graphic>
          <a:graphicData uri="http://schemas.openxmlformats.org/presentationml/2006/ole">
            <mc:AlternateContent xmlns:mc="http://schemas.openxmlformats.org/markup-compatibility/2006">
              <mc:Choice xmlns:v="urn:schemas-microsoft-com:vml" Requires="v">
                <p:oleObj spid="_x0000_s108621" name="Equation" r:id="rId5" imgW="152280" imgH="228600" progId="Equation.DSMT4">
                  <p:embed/>
                </p:oleObj>
              </mc:Choice>
              <mc:Fallback>
                <p:oleObj name="Equation" r:id="rId5" imgW="152280" imgH="228600" progId="Equation.DSMT4">
                  <p:embed/>
                  <p:pic>
                    <p:nvPicPr>
                      <p:cNvPr id="0" name=""/>
                      <p:cNvPicPr/>
                      <p:nvPr/>
                    </p:nvPicPr>
                    <p:blipFill>
                      <a:blip r:embed="rId6"/>
                      <a:stretch>
                        <a:fillRect/>
                      </a:stretch>
                    </p:blipFill>
                    <p:spPr>
                      <a:xfrm>
                        <a:off x="7519562" y="2629807"/>
                        <a:ext cx="330200" cy="495300"/>
                      </a:xfrm>
                      <a:prstGeom prst="rect">
                        <a:avLst/>
                      </a:prstGeom>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barn(inVertical)">
                                      <p:cBhvr>
                                        <p:cTn id="7" dur="500"/>
                                        <p:tgtEl>
                                          <p:spTgt spid="2150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1508"/>
                                        </p:tgtEl>
                                        <p:attrNameLst>
                                          <p:attrName>style.visibility</p:attrName>
                                        </p:attrNameLst>
                                      </p:cBhvr>
                                      <p:to>
                                        <p:strVal val="visible"/>
                                      </p:to>
                                    </p:set>
                                    <p:animEffect transition="in" filter="barn(inVertical)">
                                      <p:cBhvr>
                                        <p:cTn id="10" dur="500"/>
                                        <p:tgtEl>
                                          <p:spTgt spid="21508"/>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1510"/>
                                        </p:tgtEl>
                                        <p:attrNameLst>
                                          <p:attrName>style.visibility</p:attrName>
                                        </p:attrNameLst>
                                      </p:cBhvr>
                                      <p:to>
                                        <p:strVal val="visible"/>
                                      </p:to>
                                    </p:set>
                                    <p:animEffect transition="in" filter="barn(inVertical)">
                                      <p:cBhvr>
                                        <p:cTn id="13" dur="500"/>
                                        <p:tgtEl>
                                          <p:spTgt spid="215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1507"/>
                                        </p:tgtEl>
                                        <p:attrNameLst>
                                          <p:attrName>style.visibility</p:attrName>
                                        </p:attrNameLst>
                                      </p:cBhvr>
                                      <p:to>
                                        <p:strVal val="visible"/>
                                      </p:to>
                                    </p:set>
                                    <p:animEffect transition="in" filter="barn(inVertical)">
                                      <p:cBhvr>
                                        <p:cTn id="16" dur="500"/>
                                        <p:tgtEl>
                                          <p:spTgt spid="21507"/>
                                        </p:tgtEl>
                                      </p:cBhvr>
                                    </p:animEffect>
                                  </p:childTnLst>
                                </p:cTn>
                              </p:par>
                              <p:par>
                                <p:cTn id="17" presetID="16" presetClass="entr" presetSubtype="21" fill="hold" nodeType="withEffect">
                                  <p:stCondLst>
                                    <p:cond delay="0"/>
                                  </p:stCondLst>
                                  <p:childTnLst>
                                    <p:set>
                                      <p:cBhvr>
                                        <p:cTn id="18" dur="1" fill="hold">
                                          <p:stCondLst>
                                            <p:cond delay="0"/>
                                          </p:stCondLst>
                                        </p:cTn>
                                        <p:tgtEl>
                                          <p:spTgt spid="21512"/>
                                        </p:tgtEl>
                                        <p:attrNameLst>
                                          <p:attrName>style.visibility</p:attrName>
                                        </p:attrNameLst>
                                      </p:cBhvr>
                                      <p:to>
                                        <p:strVal val="visible"/>
                                      </p:to>
                                    </p:set>
                                    <p:animEffect transition="in" filter="barn(inVertical)">
                                      <p:cBhvr>
                                        <p:cTn id="19" dur="500"/>
                                        <p:tgtEl>
                                          <p:spTgt spid="21512"/>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21513"/>
                                        </p:tgtEl>
                                        <p:attrNameLst>
                                          <p:attrName>style.visibility</p:attrName>
                                        </p:attrNameLst>
                                      </p:cBhvr>
                                      <p:to>
                                        <p:strVal val="visible"/>
                                      </p:to>
                                    </p:set>
                                    <p:animEffect transition="in" filter="barn(inVertical)">
                                      <p:cBhvr>
                                        <p:cTn id="22" dur="500"/>
                                        <p:tgtEl>
                                          <p:spTgt spid="21513"/>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21511"/>
                                        </p:tgtEl>
                                        <p:attrNameLst>
                                          <p:attrName>style.visibility</p:attrName>
                                        </p:attrNameLst>
                                      </p:cBhvr>
                                      <p:to>
                                        <p:strVal val="visible"/>
                                      </p:to>
                                    </p:set>
                                    <p:animEffect transition="in" filter="barn(inVertical)">
                                      <p:cBhvr>
                                        <p:cTn id="25" dur="500"/>
                                        <p:tgtEl>
                                          <p:spTgt spid="21511"/>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21524">
                                            <p:txEl>
                                              <p:pRg st="0" end="0"/>
                                            </p:txEl>
                                          </p:spTgt>
                                        </p:tgtEl>
                                        <p:attrNameLst>
                                          <p:attrName>style.visibility</p:attrName>
                                        </p:attrNameLst>
                                      </p:cBhvr>
                                      <p:to>
                                        <p:strVal val="visible"/>
                                      </p:to>
                                    </p:set>
                                    <p:animEffect transition="in" filter="barn(inVertical)">
                                      <p:cBhvr>
                                        <p:cTn id="30" dur="500"/>
                                        <p:tgtEl>
                                          <p:spTgt spid="21524">
                                            <p:txEl>
                                              <p:pRg st="0" end="0"/>
                                            </p:txEl>
                                          </p:spTgt>
                                        </p:tgtEl>
                                      </p:cBhvr>
                                    </p:animEffect>
                                  </p:childTnLst>
                                </p:cTn>
                              </p:par>
                            </p:childTnLst>
                          </p:cTn>
                        </p:par>
                        <p:par>
                          <p:cTn id="31" fill="hold">
                            <p:stCondLst>
                              <p:cond delay="500"/>
                            </p:stCondLst>
                            <p:childTnLst>
                              <p:par>
                                <p:cTn id="32" presetID="16" presetClass="entr" presetSubtype="21" fill="hold" grpId="0" nodeType="afterEffect">
                                  <p:stCondLst>
                                    <p:cond delay="0"/>
                                  </p:stCondLst>
                                  <p:childTnLst>
                                    <p:set>
                                      <p:cBhvr>
                                        <p:cTn id="33" dur="1" fill="hold">
                                          <p:stCondLst>
                                            <p:cond delay="0"/>
                                          </p:stCondLst>
                                        </p:cTn>
                                        <p:tgtEl>
                                          <p:spTgt spid="21517"/>
                                        </p:tgtEl>
                                        <p:attrNameLst>
                                          <p:attrName>style.visibility</p:attrName>
                                        </p:attrNameLst>
                                      </p:cBhvr>
                                      <p:to>
                                        <p:strVal val="visible"/>
                                      </p:to>
                                    </p:set>
                                    <p:animEffect transition="in" filter="barn(inVertical)">
                                      <p:cBhvr>
                                        <p:cTn id="34" dur="500"/>
                                        <p:tgtEl>
                                          <p:spTgt spid="21517"/>
                                        </p:tgtEl>
                                      </p:cBhvr>
                                    </p:animEffect>
                                  </p:childTnLst>
                                </p:cTn>
                              </p:par>
                            </p:childTnLst>
                          </p:cTn>
                        </p:par>
                        <p:par>
                          <p:cTn id="35" fill="hold">
                            <p:stCondLst>
                              <p:cond delay="1000"/>
                            </p:stCondLst>
                            <p:childTnLst>
                              <p:par>
                                <p:cTn id="36" presetID="16" presetClass="entr" presetSubtype="21" fill="hold" grpId="0" nodeType="afterEffect">
                                  <p:stCondLst>
                                    <p:cond delay="0"/>
                                  </p:stCondLst>
                                  <p:childTnLst>
                                    <p:set>
                                      <p:cBhvr>
                                        <p:cTn id="37" dur="1" fill="hold">
                                          <p:stCondLst>
                                            <p:cond delay="0"/>
                                          </p:stCondLst>
                                        </p:cTn>
                                        <p:tgtEl>
                                          <p:spTgt spid="21518"/>
                                        </p:tgtEl>
                                        <p:attrNameLst>
                                          <p:attrName>style.visibility</p:attrName>
                                        </p:attrNameLst>
                                      </p:cBhvr>
                                      <p:to>
                                        <p:strVal val="visible"/>
                                      </p:to>
                                    </p:set>
                                    <p:animEffect transition="in" filter="barn(inVertical)">
                                      <p:cBhvr>
                                        <p:cTn id="38" dur="500"/>
                                        <p:tgtEl>
                                          <p:spTgt spid="21518"/>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21524">
                                            <p:txEl>
                                              <p:pRg st="1" end="1"/>
                                            </p:txEl>
                                          </p:spTgt>
                                        </p:tgtEl>
                                        <p:attrNameLst>
                                          <p:attrName>style.visibility</p:attrName>
                                        </p:attrNameLst>
                                      </p:cBhvr>
                                      <p:to>
                                        <p:strVal val="visible"/>
                                      </p:to>
                                    </p:set>
                                    <p:animEffect transition="in" filter="barn(inVertical)">
                                      <p:cBhvr>
                                        <p:cTn id="43" dur="500"/>
                                        <p:tgtEl>
                                          <p:spTgt spid="21524">
                                            <p:txEl>
                                              <p:pRg st="1" end="1"/>
                                            </p:txEl>
                                          </p:spTgt>
                                        </p:tgtEl>
                                      </p:cBhvr>
                                    </p:animEffect>
                                  </p:childTnLst>
                                </p:cTn>
                              </p:par>
                            </p:childTnLst>
                          </p:cTn>
                        </p:par>
                        <p:par>
                          <p:cTn id="44" fill="hold">
                            <p:stCondLst>
                              <p:cond delay="500"/>
                            </p:stCondLst>
                            <p:childTnLst>
                              <p:par>
                                <p:cTn id="45" presetID="16" presetClass="entr" presetSubtype="21" fill="hold" grpId="0" nodeType="afterEffect">
                                  <p:stCondLst>
                                    <p:cond delay="0"/>
                                  </p:stCondLst>
                                  <p:childTnLst>
                                    <p:set>
                                      <p:cBhvr>
                                        <p:cTn id="46" dur="1" fill="hold">
                                          <p:stCondLst>
                                            <p:cond delay="0"/>
                                          </p:stCondLst>
                                        </p:cTn>
                                        <p:tgtEl>
                                          <p:spTgt spid="21521"/>
                                        </p:tgtEl>
                                        <p:attrNameLst>
                                          <p:attrName>style.visibility</p:attrName>
                                        </p:attrNameLst>
                                      </p:cBhvr>
                                      <p:to>
                                        <p:strVal val="visible"/>
                                      </p:to>
                                    </p:set>
                                    <p:animEffect transition="in" filter="barn(inVertical)">
                                      <p:cBhvr>
                                        <p:cTn id="47" dur="500"/>
                                        <p:tgtEl>
                                          <p:spTgt spid="21521"/>
                                        </p:tgtEl>
                                      </p:cBhvr>
                                    </p:animEffect>
                                  </p:childTnLst>
                                </p:cTn>
                              </p:par>
                            </p:childTnLst>
                          </p:cTn>
                        </p:par>
                        <p:par>
                          <p:cTn id="48" fill="hold">
                            <p:stCondLst>
                              <p:cond delay="1000"/>
                            </p:stCondLst>
                            <p:childTnLst>
                              <p:par>
                                <p:cTn id="49" presetID="16" presetClass="entr" presetSubtype="21" fill="hold" grpId="0" nodeType="afterEffect">
                                  <p:stCondLst>
                                    <p:cond delay="0"/>
                                  </p:stCondLst>
                                  <p:childTnLst>
                                    <p:set>
                                      <p:cBhvr>
                                        <p:cTn id="50" dur="1" fill="hold">
                                          <p:stCondLst>
                                            <p:cond delay="0"/>
                                          </p:stCondLst>
                                        </p:cTn>
                                        <p:tgtEl>
                                          <p:spTgt spid="21523"/>
                                        </p:tgtEl>
                                        <p:attrNameLst>
                                          <p:attrName>style.visibility</p:attrName>
                                        </p:attrNameLst>
                                      </p:cBhvr>
                                      <p:to>
                                        <p:strVal val="visible"/>
                                      </p:to>
                                    </p:set>
                                    <p:animEffect transition="in" filter="barn(inVertical)">
                                      <p:cBhvr>
                                        <p:cTn id="51" dur="500"/>
                                        <p:tgtEl>
                                          <p:spTgt spid="21523"/>
                                        </p:tgtEl>
                                      </p:cBhvr>
                                    </p:animEffect>
                                  </p:childTnLst>
                                </p:cTn>
                              </p:par>
                            </p:childTnLst>
                          </p:cTn>
                        </p:par>
                        <p:par>
                          <p:cTn id="52" fill="hold">
                            <p:stCondLst>
                              <p:cond delay="1500"/>
                            </p:stCondLst>
                            <p:childTnLst>
                              <p:par>
                                <p:cTn id="53" presetID="16" presetClass="entr" presetSubtype="21" fill="hold" grpId="0" nodeType="afterEffect">
                                  <p:stCondLst>
                                    <p:cond delay="0"/>
                                  </p:stCondLst>
                                  <p:childTnLst>
                                    <p:set>
                                      <p:cBhvr>
                                        <p:cTn id="54" dur="1" fill="hold">
                                          <p:stCondLst>
                                            <p:cond delay="0"/>
                                          </p:stCondLst>
                                        </p:cTn>
                                        <p:tgtEl>
                                          <p:spTgt spid="21522"/>
                                        </p:tgtEl>
                                        <p:attrNameLst>
                                          <p:attrName>style.visibility</p:attrName>
                                        </p:attrNameLst>
                                      </p:cBhvr>
                                      <p:to>
                                        <p:strVal val="visible"/>
                                      </p:to>
                                    </p:set>
                                    <p:animEffect transition="in" filter="barn(inVertical)">
                                      <p:cBhvr>
                                        <p:cTn id="55" dur="500"/>
                                        <p:tgtEl>
                                          <p:spTgt spid="21522"/>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nodeType="clickEffect">
                                  <p:stCondLst>
                                    <p:cond delay="0"/>
                                  </p:stCondLst>
                                  <p:childTnLst>
                                    <p:set>
                                      <p:cBhvr>
                                        <p:cTn id="59" dur="1" fill="hold">
                                          <p:stCondLst>
                                            <p:cond delay="0"/>
                                          </p:stCondLst>
                                        </p:cTn>
                                        <p:tgtEl>
                                          <p:spTgt spid="21524">
                                            <p:txEl>
                                              <p:pRg st="2" end="2"/>
                                            </p:txEl>
                                          </p:spTgt>
                                        </p:tgtEl>
                                        <p:attrNameLst>
                                          <p:attrName>style.visibility</p:attrName>
                                        </p:attrNameLst>
                                      </p:cBhvr>
                                      <p:to>
                                        <p:strVal val="visible"/>
                                      </p:to>
                                    </p:set>
                                    <p:animEffect transition="in" filter="barn(inVertical)">
                                      <p:cBhvr>
                                        <p:cTn id="60" dur="500"/>
                                        <p:tgtEl>
                                          <p:spTgt spid="21524">
                                            <p:txEl>
                                              <p:pRg st="2" end="2"/>
                                            </p:txEl>
                                          </p:spTgt>
                                        </p:tgtEl>
                                      </p:cBhvr>
                                    </p:animEffect>
                                  </p:childTnLst>
                                </p:cTn>
                              </p:par>
                            </p:childTnLst>
                          </p:cTn>
                        </p:par>
                        <p:par>
                          <p:cTn id="61" fill="hold">
                            <p:stCondLst>
                              <p:cond delay="500"/>
                            </p:stCondLst>
                            <p:childTnLst>
                              <p:par>
                                <p:cTn id="62" presetID="16" presetClass="entr" presetSubtype="21" fill="hold" grpId="0" nodeType="afterEffect">
                                  <p:stCondLst>
                                    <p:cond delay="0"/>
                                  </p:stCondLst>
                                  <p:childTnLst>
                                    <p:set>
                                      <p:cBhvr>
                                        <p:cTn id="63" dur="1" fill="hold">
                                          <p:stCondLst>
                                            <p:cond delay="0"/>
                                          </p:stCondLst>
                                        </p:cTn>
                                        <p:tgtEl>
                                          <p:spTgt spid="21514"/>
                                        </p:tgtEl>
                                        <p:attrNameLst>
                                          <p:attrName>style.visibility</p:attrName>
                                        </p:attrNameLst>
                                      </p:cBhvr>
                                      <p:to>
                                        <p:strVal val="visible"/>
                                      </p:to>
                                    </p:set>
                                    <p:animEffect transition="in" filter="barn(inVertical)">
                                      <p:cBhvr>
                                        <p:cTn id="64" dur="500"/>
                                        <p:tgtEl>
                                          <p:spTgt spid="21514"/>
                                        </p:tgtEl>
                                      </p:cBhvr>
                                    </p:animEffect>
                                  </p:childTnLst>
                                </p:cTn>
                              </p:par>
                            </p:childTnLst>
                          </p:cTn>
                        </p:par>
                        <p:par>
                          <p:cTn id="65" fill="hold">
                            <p:stCondLst>
                              <p:cond delay="1000"/>
                            </p:stCondLst>
                            <p:childTnLst>
                              <p:par>
                                <p:cTn id="66" presetID="16" presetClass="entr" presetSubtype="21" fill="hold" grpId="0" nodeType="afterEffect">
                                  <p:stCondLst>
                                    <p:cond delay="0"/>
                                  </p:stCondLst>
                                  <p:childTnLst>
                                    <p:set>
                                      <p:cBhvr>
                                        <p:cTn id="67" dur="1" fill="hold">
                                          <p:stCondLst>
                                            <p:cond delay="0"/>
                                          </p:stCondLst>
                                        </p:cTn>
                                        <p:tgtEl>
                                          <p:spTgt spid="21515"/>
                                        </p:tgtEl>
                                        <p:attrNameLst>
                                          <p:attrName>style.visibility</p:attrName>
                                        </p:attrNameLst>
                                      </p:cBhvr>
                                      <p:to>
                                        <p:strVal val="visible"/>
                                      </p:to>
                                    </p:set>
                                    <p:animEffect transition="in" filter="barn(inVertical)">
                                      <p:cBhvr>
                                        <p:cTn id="68" dur="500"/>
                                        <p:tgtEl>
                                          <p:spTgt spid="21515"/>
                                        </p:tgtEl>
                                      </p:cBhvr>
                                    </p:animEffect>
                                  </p:childTnLst>
                                </p:cTn>
                              </p:par>
                            </p:childTnLst>
                          </p:cTn>
                        </p:par>
                        <p:par>
                          <p:cTn id="69" fill="hold">
                            <p:stCondLst>
                              <p:cond delay="1500"/>
                            </p:stCondLst>
                            <p:childTnLst>
                              <p:par>
                                <p:cTn id="70" presetID="16" presetClass="entr" presetSubtype="21" fill="hold" grpId="0" nodeType="afterEffect">
                                  <p:stCondLst>
                                    <p:cond delay="0"/>
                                  </p:stCondLst>
                                  <p:childTnLst>
                                    <p:set>
                                      <p:cBhvr>
                                        <p:cTn id="71" dur="1" fill="hold">
                                          <p:stCondLst>
                                            <p:cond delay="0"/>
                                          </p:stCondLst>
                                        </p:cTn>
                                        <p:tgtEl>
                                          <p:spTgt spid="21516"/>
                                        </p:tgtEl>
                                        <p:attrNameLst>
                                          <p:attrName>style.visibility</p:attrName>
                                        </p:attrNameLst>
                                      </p:cBhvr>
                                      <p:to>
                                        <p:strVal val="visible"/>
                                      </p:to>
                                    </p:set>
                                    <p:animEffect transition="in" filter="barn(inVertical)">
                                      <p:cBhvr>
                                        <p:cTn id="72" dur="500"/>
                                        <p:tgtEl>
                                          <p:spTgt spid="21516"/>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nodeType="clickEffect">
                                  <p:stCondLst>
                                    <p:cond delay="0"/>
                                  </p:stCondLst>
                                  <p:childTnLst>
                                    <p:set>
                                      <p:cBhvr>
                                        <p:cTn id="76" dur="1" fill="hold">
                                          <p:stCondLst>
                                            <p:cond delay="0"/>
                                          </p:stCondLst>
                                        </p:cTn>
                                        <p:tgtEl>
                                          <p:spTgt spid="21524">
                                            <p:txEl>
                                              <p:pRg st="3" end="3"/>
                                            </p:txEl>
                                          </p:spTgt>
                                        </p:tgtEl>
                                        <p:attrNameLst>
                                          <p:attrName>style.visibility</p:attrName>
                                        </p:attrNameLst>
                                      </p:cBhvr>
                                      <p:to>
                                        <p:strVal val="visible"/>
                                      </p:to>
                                    </p:set>
                                    <p:animEffect transition="in" filter="barn(inVertical)">
                                      <p:cBhvr>
                                        <p:cTn id="77" dur="500"/>
                                        <p:tgtEl>
                                          <p:spTgt spid="21524">
                                            <p:txEl>
                                              <p:pRg st="3" end="3"/>
                                            </p:txEl>
                                          </p:spTgt>
                                        </p:tgtEl>
                                      </p:cBhvr>
                                    </p:animEffect>
                                  </p:childTnLst>
                                </p:cTn>
                              </p:par>
                            </p:childTnLst>
                          </p:cTn>
                        </p:par>
                        <p:par>
                          <p:cTn id="78" fill="hold">
                            <p:stCondLst>
                              <p:cond delay="500"/>
                            </p:stCondLst>
                            <p:childTnLst>
                              <p:par>
                                <p:cTn id="79" presetID="22" presetClass="entr" presetSubtype="4" fill="hold" grpId="0" nodeType="afterEffect">
                                  <p:stCondLst>
                                    <p:cond delay="0"/>
                                  </p:stCondLst>
                                  <p:childTnLst>
                                    <p:set>
                                      <p:cBhvr>
                                        <p:cTn id="80" dur="1" fill="hold">
                                          <p:stCondLst>
                                            <p:cond delay="0"/>
                                          </p:stCondLst>
                                        </p:cTn>
                                        <p:tgtEl>
                                          <p:spTgt spid="21519"/>
                                        </p:tgtEl>
                                        <p:attrNameLst>
                                          <p:attrName>style.visibility</p:attrName>
                                        </p:attrNameLst>
                                      </p:cBhvr>
                                      <p:to>
                                        <p:strVal val="visible"/>
                                      </p:to>
                                    </p:set>
                                    <p:animEffect transition="in" filter="wipe(down)">
                                      <p:cBhvr>
                                        <p:cTn id="81" dur="500"/>
                                        <p:tgtEl>
                                          <p:spTgt spid="21519"/>
                                        </p:tgtEl>
                                      </p:cBhvr>
                                    </p:animEffect>
                                  </p:childTnLst>
                                </p:cTn>
                              </p:par>
                            </p:childTnLst>
                          </p:cTn>
                        </p:par>
                        <p:par>
                          <p:cTn id="82" fill="hold">
                            <p:stCondLst>
                              <p:cond delay="1000"/>
                            </p:stCondLst>
                            <p:childTnLst>
                              <p:par>
                                <p:cTn id="83" presetID="22" presetClass="entr" presetSubtype="4" fill="hold" grpId="0" nodeType="afterEffect">
                                  <p:stCondLst>
                                    <p:cond delay="0"/>
                                  </p:stCondLst>
                                  <p:childTnLst>
                                    <p:set>
                                      <p:cBhvr>
                                        <p:cTn id="84" dur="1" fill="hold">
                                          <p:stCondLst>
                                            <p:cond delay="0"/>
                                          </p:stCondLst>
                                        </p:cTn>
                                        <p:tgtEl>
                                          <p:spTgt spid="21520"/>
                                        </p:tgtEl>
                                        <p:attrNameLst>
                                          <p:attrName>style.visibility</p:attrName>
                                        </p:attrNameLst>
                                      </p:cBhvr>
                                      <p:to>
                                        <p:strVal val="visible"/>
                                      </p:to>
                                    </p:set>
                                    <p:animEffect transition="in" filter="wipe(down)">
                                      <p:cBhvr>
                                        <p:cTn id="85" dur="500"/>
                                        <p:tgtEl>
                                          <p:spTgt spid="21520"/>
                                        </p:tgtEl>
                                      </p:cBhvr>
                                    </p:animEffect>
                                  </p:childTnLst>
                                </p:cTn>
                              </p:par>
                            </p:childTnLst>
                          </p:cTn>
                        </p:par>
                      </p:childTnLst>
                    </p:cTn>
                  </p:par>
                  <p:par>
                    <p:cTn id="86" fill="hold">
                      <p:stCondLst>
                        <p:cond delay="indefinite"/>
                      </p:stCondLst>
                      <p:childTnLst>
                        <p:par>
                          <p:cTn id="87" fill="hold">
                            <p:stCondLst>
                              <p:cond delay="0"/>
                            </p:stCondLst>
                            <p:childTnLst>
                              <p:par>
                                <p:cTn id="88" presetID="16" presetClass="entr" presetSubtype="21" fill="hold" nodeType="clickEffect">
                                  <p:stCondLst>
                                    <p:cond delay="0"/>
                                  </p:stCondLst>
                                  <p:childTnLst>
                                    <p:set>
                                      <p:cBhvr>
                                        <p:cTn id="89" dur="1" fill="hold">
                                          <p:stCondLst>
                                            <p:cond delay="0"/>
                                          </p:stCondLst>
                                        </p:cTn>
                                        <p:tgtEl>
                                          <p:spTgt spid="2"/>
                                        </p:tgtEl>
                                        <p:attrNameLst>
                                          <p:attrName>style.visibility</p:attrName>
                                        </p:attrNameLst>
                                      </p:cBhvr>
                                      <p:to>
                                        <p:strVal val="visible"/>
                                      </p:to>
                                    </p:set>
                                    <p:animEffect transition="in" filter="barn(inVertical)">
                                      <p:cBhvr>
                                        <p:cTn id="90" dur="500"/>
                                        <p:tgtEl>
                                          <p:spTgt spid="2"/>
                                        </p:tgtEl>
                                      </p:cBhvr>
                                    </p:animEffect>
                                  </p:childTnLst>
                                </p:cTn>
                              </p:par>
                            </p:childTnLst>
                          </p:cTn>
                        </p:par>
                      </p:childTnLst>
                    </p:cTn>
                  </p:par>
                  <p:par>
                    <p:cTn id="91" fill="hold">
                      <p:stCondLst>
                        <p:cond delay="indefinite"/>
                      </p:stCondLst>
                      <p:childTnLst>
                        <p:par>
                          <p:cTn id="92" fill="hold">
                            <p:stCondLst>
                              <p:cond delay="0"/>
                            </p:stCondLst>
                            <p:childTnLst>
                              <p:par>
                                <p:cTn id="93" presetID="16" presetClass="entr" presetSubtype="21" fill="hold" nodeType="clickEffect">
                                  <p:stCondLst>
                                    <p:cond delay="0"/>
                                  </p:stCondLst>
                                  <p:childTnLst>
                                    <p:set>
                                      <p:cBhvr>
                                        <p:cTn id="94" dur="1" fill="hold">
                                          <p:stCondLst>
                                            <p:cond delay="0"/>
                                          </p:stCondLst>
                                        </p:cTn>
                                        <p:tgtEl>
                                          <p:spTgt spid="4"/>
                                        </p:tgtEl>
                                        <p:attrNameLst>
                                          <p:attrName>style.visibility</p:attrName>
                                        </p:attrNameLst>
                                      </p:cBhvr>
                                      <p:to>
                                        <p:strVal val="visible"/>
                                      </p:to>
                                    </p:set>
                                    <p:animEffect transition="in" filter="barn(inVertical)">
                                      <p:cBhvr>
                                        <p:cTn id="95" dur="500"/>
                                        <p:tgtEl>
                                          <p:spTgt spid="4"/>
                                        </p:tgtEl>
                                      </p:cBhvr>
                                    </p:animEffect>
                                  </p:childTnLst>
                                </p:cTn>
                              </p:par>
                            </p:childTnLst>
                          </p:cTn>
                        </p:par>
                        <p:par>
                          <p:cTn id="96" fill="hold">
                            <p:stCondLst>
                              <p:cond delay="500"/>
                            </p:stCondLst>
                            <p:childTnLst>
                              <p:par>
                                <p:cTn id="97" presetID="16" presetClass="entr" presetSubtype="21" fill="hold" grpId="0" nodeType="afterEffect">
                                  <p:stCondLst>
                                    <p:cond delay="0"/>
                                  </p:stCondLst>
                                  <p:childTnLst>
                                    <p:set>
                                      <p:cBhvr>
                                        <p:cTn id="98" dur="1" fill="hold">
                                          <p:stCondLst>
                                            <p:cond delay="0"/>
                                          </p:stCondLst>
                                        </p:cTn>
                                        <p:tgtEl>
                                          <p:spTgt spid="7"/>
                                        </p:tgtEl>
                                        <p:attrNameLst>
                                          <p:attrName>style.visibility</p:attrName>
                                        </p:attrNameLst>
                                      </p:cBhvr>
                                      <p:to>
                                        <p:strVal val="visible"/>
                                      </p:to>
                                    </p:set>
                                    <p:animEffect transition="in" filter="barn(inVertical)">
                                      <p:cBhvr>
                                        <p:cTn id="99" dur="500"/>
                                        <p:tgtEl>
                                          <p:spTgt spid="7"/>
                                        </p:tgtEl>
                                      </p:cBhvr>
                                    </p:animEffect>
                                  </p:childTnLst>
                                </p:cTn>
                              </p:par>
                            </p:childTnLst>
                          </p:cTn>
                        </p:par>
                        <p:par>
                          <p:cTn id="100" fill="hold">
                            <p:stCondLst>
                              <p:cond delay="1000"/>
                            </p:stCondLst>
                            <p:childTnLst>
                              <p:par>
                                <p:cTn id="101" presetID="16" presetClass="entr" presetSubtype="21" fill="hold" nodeType="afterEffect">
                                  <p:stCondLst>
                                    <p:cond delay="0"/>
                                  </p:stCondLst>
                                  <p:childTnLst>
                                    <p:set>
                                      <p:cBhvr>
                                        <p:cTn id="102" dur="1" fill="hold">
                                          <p:stCondLst>
                                            <p:cond delay="0"/>
                                          </p:stCondLst>
                                        </p:cTn>
                                        <p:tgtEl>
                                          <p:spTgt spid="6"/>
                                        </p:tgtEl>
                                        <p:attrNameLst>
                                          <p:attrName>style.visibility</p:attrName>
                                        </p:attrNameLst>
                                      </p:cBhvr>
                                      <p:to>
                                        <p:strVal val="visible"/>
                                      </p:to>
                                    </p:set>
                                    <p:animEffect transition="in" filter="barn(inVertical)">
                                      <p:cBhvr>
                                        <p:cTn id="10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507" grpId="0" animBg="1"/>
      <p:bldP spid="21508" grpId="0" animBg="1"/>
      <p:bldP spid="21509" grpId="0"/>
      <p:bldP spid="21510" grpId="0"/>
      <p:bldP spid="21511" grpId="0"/>
      <p:bldP spid="21513" grpId="0" animBg="1"/>
      <p:bldP spid="21514" grpId="0" animBg="1"/>
      <p:bldP spid="21515" grpId="0" animBg="1"/>
      <p:bldP spid="21516" grpId="0" animBg="1"/>
      <p:bldP spid="21517" grpId="0" animBg="1"/>
      <p:bldP spid="21518" grpId="0" animBg="1"/>
      <p:bldP spid="21519" grpId="0" animBg="1"/>
      <p:bldP spid="21520" grpId="0"/>
      <p:bldP spid="21521" grpId="0" animBg="1"/>
      <p:bldP spid="21522" grpId="0" animBg="1"/>
      <p:bldP spid="2152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35"/>
          <p:cNvSpPr txBox="1">
            <a:spLocks noChangeArrowheads="1"/>
          </p:cNvSpPr>
          <p:nvPr/>
        </p:nvSpPr>
        <p:spPr bwMode="auto">
          <a:xfrm>
            <a:off x="609600" y="1233488"/>
            <a:ext cx="80010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spcBef>
                <a:spcPct val="50000"/>
              </a:spcBef>
            </a:pPr>
            <a:r>
              <a:rPr lang="en-US" altLang="zh-CN" b="0" dirty="0">
                <a:latin typeface="宋体" charset="-122"/>
              </a:rPr>
              <a:t>    </a:t>
            </a:r>
            <a:r>
              <a:rPr lang="zh-CN" altLang="en-US" b="0" dirty="0">
                <a:latin typeface="宋体" charset="-122"/>
              </a:rPr>
              <a:t>电路元件是为建立实际电气器件的模型而提出的一种理想元件</a:t>
            </a:r>
            <a:r>
              <a:rPr lang="zh-CN" altLang="en-US" b="0" dirty="0" smtClean="0">
                <a:latin typeface="宋体" charset="-122"/>
              </a:rPr>
              <a:t>。</a:t>
            </a:r>
            <a:endParaRPr lang="en-US" altLang="zh-CN" b="0" dirty="0" smtClean="0">
              <a:latin typeface="宋体" charset="-122"/>
            </a:endParaRPr>
          </a:p>
          <a:p>
            <a:pPr eaLnBrk="1" hangingPunct="1">
              <a:spcBef>
                <a:spcPct val="50000"/>
              </a:spcBef>
            </a:pPr>
            <a:r>
              <a:rPr lang="en-US" altLang="zh-CN" b="0" dirty="0">
                <a:latin typeface="宋体" charset="-122"/>
              </a:rPr>
              <a:t> </a:t>
            </a:r>
            <a:r>
              <a:rPr lang="en-US" altLang="zh-CN" b="0" dirty="0" smtClean="0">
                <a:latin typeface="宋体" charset="-122"/>
              </a:rPr>
              <a:t>   </a:t>
            </a:r>
            <a:r>
              <a:rPr lang="zh-CN" altLang="en-US" b="0" dirty="0" smtClean="0">
                <a:latin typeface="宋体" charset="-122"/>
              </a:rPr>
              <a:t>按</a:t>
            </a:r>
            <a:r>
              <a:rPr lang="zh-CN" altLang="en-US" b="0" dirty="0">
                <a:latin typeface="宋体" charset="-122"/>
              </a:rPr>
              <a:t>电路元件与外电路连接端点的数目，电路元件可分为</a:t>
            </a:r>
            <a:r>
              <a:rPr lang="zh-CN" altLang="en-US" dirty="0">
                <a:solidFill>
                  <a:srgbClr val="FF0000"/>
                </a:solidFill>
                <a:latin typeface="宋体" charset="-122"/>
              </a:rPr>
              <a:t>二端元件</a:t>
            </a:r>
            <a:r>
              <a:rPr lang="zh-CN" altLang="en-US" b="0" dirty="0">
                <a:latin typeface="宋体" charset="-122"/>
              </a:rPr>
              <a:t>、</a:t>
            </a:r>
            <a:r>
              <a:rPr lang="zh-CN" altLang="en-US" dirty="0">
                <a:solidFill>
                  <a:srgbClr val="FF0000"/>
                </a:solidFill>
                <a:latin typeface="宋体" charset="-122"/>
              </a:rPr>
              <a:t>三端元件</a:t>
            </a:r>
            <a:r>
              <a:rPr lang="zh-CN" altLang="en-US" b="0" dirty="0">
                <a:latin typeface="宋体" charset="-122"/>
              </a:rPr>
              <a:t>、</a:t>
            </a:r>
            <a:r>
              <a:rPr lang="zh-CN" altLang="en-US" dirty="0">
                <a:solidFill>
                  <a:srgbClr val="FF0000"/>
                </a:solidFill>
                <a:latin typeface="宋体" charset="-122"/>
              </a:rPr>
              <a:t>四端元件</a:t>
            </a:r>
            <a:r>
              <a:rPr lang="zh-CN" altLang="en-US" b="0" dirty="0">
                <a:latin typeface="宋体" charset="-122"/>
              </a:rPr>
              <a:t>等。</a:t>
            </a:r>
          </a:p>
        </p:txBody>
      </p:sp>
      <p:grpSp>
        <p:nvGrpSpPr>
          <p:cNvPr id="22531" name="Group 36"/>
          <p:cNvGrpSpPr>
            <a:grpSpLocks/>
          </p:cNvGrpSpPr>
          <p:nvPr/>
        </p:nvGrpSpPr>
        <p:grpSpPr bwMode="auto">
          <a:xfrm>
            <a:off x="1801813" y="3411538"/>
            <a:ext cx="5410200" cy="2835275"/>
            <a:chOff x="1104" y="2304"/>
            <a:chExt cx="3408" cy="1786"/>
          </a:xfrm>
        </p:grpSpPr>
        <p:graphicFrame>
          <p:nvGraphicFramePr>
            <p:cNvPr id="22533" name="Object 37"/>
            <p:cNvGraphicFramePr>
              <a:graphicFrameLocks noChangeAspect="1"/>
            </p:cNvGraphicFramePr>
            <p:nvPr/>
          </p:nvGraphicFramePr>
          <p:xfrm>
            <a:off x="1104" y="2304"/>
            <a:ext cx="3408" cy="1504"/>
          </p:xfrm>
          <a:graphic>
            <a:graphicData uri="http://schemas.openxmlformats.org/presentationml/2006/ole">
              <mc:AlternateContent xmlns:mc="http://schemas.openxmlformats.org/markup-compatibility/2006">
                <mc:Choice xmlns:v="urn:schemas-microsoft-com:vml" Requires="v">
                  <p:oleObj spid="_x0000_s22665" name="Image" r:id="rId4" imgW="12173667" imgH="5375221" progId="Photoshop.Image.5">
                    <p:embed/>
                  </p:oleObj>
                </mc:Choice>
                <mc:Fallback>
                  <p:oleObj name="Image" r:id="rId4" imgW="12173667" imgH="5375221" progId="Photoshop.Image.5">
                    <p:embed/>
                    <p:pic>
                      <p:nvPicPr>
                        <p:cNvPr id="0" name="Object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4" y="2304"/>
                          <a:ext cx="3408" cy="1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4" name="Text Box 38"/>
            <p:cNvSpPr txBox="1">
              <a:spLocks noChangeArrowheads="1"/>
            </p:cNvSpPr>
            <p:nvPr/>
          </p:nvSpPr>
          <p:spPr bwMode="auto">
            <a:xfrm>
              <a:off x="1200" y="3840"/>
              <a:ext cx="31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spcBef>
                  <a:spcPct val="50000"/>
                </a:spcBef>
              </a:pPr>
              <a:r>
                <a:rPr lang="en-US" altLang="zh-CN" sz="2000">
                  <a:ea typeface="楷体_GB2312" pitchFamily="49" charset="-122"/>
                </a:rPr>
                <a:t>(a) </a:t>
              </a:r>
              <a:r>
                <a:rPr lang="zh-CN" altLang="en-US" sz="2000">
                  <a:ea typeface="楷体_GB2312" pitchFamily="49" charset="-122"/>
                </a:rPr>
                <a:t>二端元件      </a:t>
              </a:r>
              <a:r>
                <a:rPr lang="en-US" altLang="zh-CN" sz="2000">
                  <a:ea typeface="楷体_GB2312" pitchFamily="49" charset="-122"/>
                </a:rPr>
                <a:t>(b) </a:t>
              </a:r>
              <a:r>
                <a:rPr lang="zh-CN" altLang="en-US" sz="2000">
                  <a:ea typeface="楷体_GB2312" pitchFamily="49" charset="-122"/>
                </a:rPr>
                <a:t>三端元件     </a:t>
              </a:r>
              <a:r>
                <a:rPr lang="en-US" altLang="zh-CN" sz="2000">
                  <a:ea typeface="楷体_GB2312" pitchFamily="49" charset="-122"/>
                </a:rPr>
                <a:t>(c) </a:t>
              </a:r>
              <a:r>
                <a:rPr lang="zh-CN" altLang="en-US" sz="2000">
                  <a:ea typeface="楷体_GB2312" pitchFamily="49" charset="-122"/>
                </a:rPr>
                <a:t>四端元件</a:t>
              </a:r>
            </a:p>
          </p:txBody>
        </p:sp>
      </p:grpSp>
      <p:sp>
        <p:nvSpPr>
          <p:cNvPr id="22532" name="Text Box 39"/>
          <p:cNvSpPr txBox="1">
            <a:spLocks noChangeArrowheads="1"/>
          </p:cNvSpPr>
          <p:nvPr/>
        </p:nvSpPr>
        <p:spPr bwMode="auto">
          <a:xfrm>
            <a:off x="1309688" y="409575"/>
            <a:ext cx="7081837" cy="519113"/>
          </a:xfrm>
          <a:prstGeom prst="rect">
            <a:avLst/>
          </a:prstGeom>
          <a:solidFill>
            <a:srgbClr val="CCFFCC"/>
          </a:solidFill>
          <a:ln>
            <a:noFill/>
          </a:ln>
          <a:effectLst>
            <a:prstShdw prst="shdw17" dist="17961" dir="2700000">
              <a:srgbClr val="7A997A"/>
            </a:prstShdw>
          </a:effectLst>
          <a:extLst>
            <a:ext uri="{91240B29-F687-4F45-9708-019B960494DF}">
              <a14:hiddenLine xmlns:a14="http://schemas.microsoft.com/office/drawing/2010/main" w="28575" cap="sq">
                <a:solidFill>
                  <a:schemeClr val="tx1"/>
                </a:solidFill>
                <a:miter lim="800000"/>
                <a:headEnd/>
                <a:tailEnd/>
              </a14:hiddenLine>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dirty="0" smtClean="0">
                <a:solidFill>
                  <a:schemeClr val="tx2"/>
                </a:solidFill>
              </a:rPr>
              <a:t>1.3  </a:t>
            </a:r>
            <a:r>
              <a:rPr lang="zh-CN" altLang="en-US" sz="2800" dirty="0">
                <a:solidFill>
                  <a:schemeClr val="tx2"/>
                </a:solidFill>
              </a:rPr>
              <a:t>基本</a:t>
            </a:r>
            <a:r>
              <a:rPr lang="zh-CN" altLang="en-US" sz="2800" dirty="0" smtClean="0">
                <a:solidFill>
                  <a:schemeClr val="tx2"/>
                </a:solidFill>
              </a:rPr>
              <a:t>电路元件</a:t>
            </a:r>
            <a:endParaRPr lang="zh-CN" altLang="en-US" sz="2800" dirty="0">
              <a:solidFill>
                <a:schemeClr val="tx2"/>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barn(inVertical)">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barn(inVertical)">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2531"/>
                                        </p:tgtEl>
                                        <p:attrNameLst>
                                          <p:attrName>style.visibility</p:attrName>
                                        </p:attrNameLst>
                                      </p:cBhvr>
                                      <p:to>
                                        <p:strVal val="visible"/>
                                      </p:to>
                                    </p:set>
                                    <p:animEffect transition="in" filter="barn(inVertical)">
                                      <p:cBhvr>
                                        <p:cTn id="17" dur="500"/>
                                        <p:tgtEl>
                                          <p:spTgt spid="22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33"/>
          <p:cNvSpPr txBox="1">
            <a:spLocks noChangeArrowheads="1"/>
          </p:cNvSpPr>
          <p:nvPr/>
        </p:nvSpPr>
        <p:spPr bwMode="auto">
          <a:xfrm>
            <a:off x="1244600" y="1647825"/>
            <a:ext cx="59547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dirty="0">
                <a:solidFill>
                  <a:srgbClr val="990033"/>
                </a:solidFill>
              </a:rPr>
              <a:t>电阻元件：</a:t>
            </a:r>
            <a:r>
              <a:rPr lang="zh-CN" altLang="en-US" dirty="0"/>
              <a:t>对电流呈现阻力的元件。</a:t>
            </a:r>
          </a:p>
        </p:txBody>
      </p:sp>
      <p:sp>
        <p:nvSpPr>
          <p:cNvPr id="271398" name="Text Box 38"/>
          <p:cNvSpPr txBox="1">
            <a:spLocks noChangeArrowheads="1"/>
          </p:cNvSpPr>
          <p:nvPr/>
        </p:nvSpPr>
        <p:spPr bwMode="auto">
          <a:xfrm>
            <a:off x="1244600" y="2180498"/>
            <a:ext cx="7112000" cy="2238241"/>
          </a:xfrm>
          <a:prstGeom prst="rect">
            <a:avLst/>
          </a:prstGeom>
          <a:solidFill>
            <a:schemeClr val="bg1"/>
          </a:solidFill>
          <a:ln>
            <a:noFill/>
          </a:ln>
          <a:effectLst/>
          <a:extLst>
            <a:ext uri="{91240B29-F687-4F45-9708-019B960494DF}">
              <a14:hiddenLine xmlns:a14="http://schemas.microsoft.com/office/drawing/2010/main" w="381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50000"/>
              </a:lnSpc>
              <a:spcBef>
                <a:spcPct val="50000"/>
              </a:spcBef>
            </a:pPr>
            <a:r>
              <a:rPr lang="en-US" altLang="zh-CN" dirty="0">
                <a:sym typeface="Symbol" pitchFamily="18" charset="2"/>
              </a:rPr>
              <a:t>        </a:t>
            </a:r>
            <a:r>
              <a:rPr lang="zh-CN" altLang="en-US" dirty="0">
                <a:sym typeface="Symbol" pitchFamily="18" charset="2"/>
              </a:rPr>
              <a:t>其特性可用</a:t>
            </a:r>
            <a:r>
              <a:rPr lang="en-US" altLang="zh-CN" i="1" dirty="0" err="1">
                <a:sym typeface="Symbol" pitchFamily="18" charset="2"/>
              </a:rPr>
              <a:t>v</a:t>
            </a:r>
            <a:r>
              <a:rPr lang="en-US" altLang="zh-CN" dirty="0" err="1">
                <a:sym typeface="Symbol" pitchFamily="18" charset="2"/>
              </a:rPr>
              <a:t>~</a:t>
            </a:r>
            <a:r>
              <a:rPr lang="en-US" altLang="zh-CN" i="1" dirty="0" err="1">
                <a:sym typeface="Symbol" pitchFamily="18" charset="2"/>
              </a:rPr>
              <a:t>i</a:t>
            </a:r>
            <a:r>
              <a:rPr lang="zh-CN" altLang="en-US" dirty="0">
                <a:sym typeface="Symbol" pitchFamily="18" charset="2"/>
              </a:rPr>
              <a:t>平面上的一条曲线来描述。这条曲线称为电阻的</a:t>
            </a:r>
            <a:r>
              <a:rPr lang="zh-CN" altLang="en-US" dirty="0">
                <a:solidFill>
                  <a:srgbClr val="FF3300"/>
                </a:solidFill>
                <a:sym typeface="Symbol" pitchFamily="18" charset="2"/>
              </a:rPr>
              <a:t>特性曲线</a:t>
            </a:r>
            <a:r>
              <a:rPr lang="zh-CN" altLang="en-US" dirty="0">
                <a:sym typeface="Symbol" pitchFamily="18" charset="2"/>
              </a:rPr>
              <a:t>（一般是在关联的参考方向下），它表明了电阻电压与电流间的约束关系</a:t>
            </a:r>
            <a:r>
              <a:rPr lang="en-US" altLang="zh-CN" dirty="0">
                <a:sym typeface="Symbol" pitchFamily="18" charset="2"/>
              </a:rPr>
              <a:t>(Voltage Ampere Relationship</a:t>
            </a:r>
            <a:r>
              <a:rPr lang="zh-CN" altLang="en-US" dirty="0">
                <a:sym typeface="Symbol" pitchFamily="18" charset="2"/>
              </a:rPr>
              <a:t>，简称为</a:t>
            </a:r>
            <a:r>
              <a:rPr lang="en-US" altLang="zh-CN" dirty="0">
                <a:sym typeface="Symbol" pitchFamily="18" charset="2"/>
              </a:rPr>
              <a:t>VAR)</a:t>
            </a:r>
            <a:r>
              <a:rPr lang="zh-CN" altLang="en-US" dirty="0">
                <a:sym typeface="Symbol" pitchFamily="18" charset="2"/>
              </a:rPr>
              <a:t>。</a:t>
            </a:r>
          </a:p>
        </p:txBody>
      </p:sp>
      <p:graphicFrame>
        <p:nvGraphicFramePr>
          <p:cNvPr id="271399" name="Object 39"/>
          <p:cNvGraphicFramePr>
            <a:graphicFrameLocks noChangeAspect="1"/>
          </p:cNvGraphicFramePr>
          <p:nvPr>
            <p:extLst>
              <p:ext uri="{D42A27DB-BD31-4B8C-83A1-F6EECF244321}">
                <p14:modId xmlns:p14="http://schemas.microsoft.com/office/powerpoint/2010/main" val="1409410583"/>
              </p:ext>
            </p:extLst>
          </p:nvPr>
        </p:nvGraphicFramePr>
        <p:xfrm>
          <a:off x="1295400" y="5178425"/>
          <a:ext cx="1762125" cy="573088"/>
        </p:xfrm>
        <a:graphic>
          <a:graphicData uri="http://schemas.openxmlformats.org/presentationml/2006/ole">
            <mc:AlternateContent xmlns:mc="http://schemas.openxmlformats.org/markup-compatibility/2006">
              <mc:Choice xmlns:v="urn:schemas-microsoft-com:vml" Requires="v">
                <p:oleObj spid="_x0000_s24721" name="Equation" r:id="rId4" imgW="571539" imgH="181104" progId="Equation.DSMT4">
                  <p:embed/>
                </p:oleObj>
              </mc:Choice>
              <mc:Fallback>
                <p:oleObj name="Equation" r:id="rId4" imgW="571539" imgH="181104" progId="Equation.DSMT4">
                  <p:embed/>
                  <p:pic>
                    <p:nvPicPr>
                      <p:cNvPr id="0" name="Object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5178425"/>
                        <a:ext cx="1762125" cy="57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1400" name="Group 40"/>
          <p:cNvGrpSpPr>
            <a:grpSpLocks/>
          </p:cNvGrpSpPr>
          <p:nvPr/>
        </p:nvGrpSpPr>
        <p:grpSpPr bwMode="auto">
          <a:xfrm>
            <a:off x="5419725" y="4540250"/>
            <a:ext cx="2879725" cy="1800225"/>
            <a:chOff x="3742" y="1434"/>
            <a:chExt cx="1814" cy="1134"/>
          </a:xfrm>
        </p:grpSpPr>
        <p:sp>
          <p:nvSpPr>
            <p:cNvPr id="24585" name="Text Box 41"/>
            <p:cNvSpPr txBox="1">
              <a:spLocks noChangeArrowheads="1"/>
            </p:cNvSpPr>
            <p:nvPr/>
          </p:nvSpPr>
          <p:spPr bwMode="auto">
            <a:xfrm>
              <a:off x="5239" y="2024"/>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i</a:t>
              </a:r>
            </a:p>
          </p:txBody>
        </p:sp>
        <p:grpSp>
          <p:nvGrpSpPr>
            <p:cNvPr id="24586" name="Group 42"/>
            <p:cNvGrpSpPr>
              <a:grpSpLocks/>
            </p:cNvGrpSpPr>
            <p:nvPr/>
          </p:nvGrpSpPr>
          <p:grpSpPr bwMode="auto">
            <a:xfrm>
              <a:off x="3742" y="1434"/>
              <a:ext cx="1542" cy="1134"/>
              <a:chOff x="3946" y="1026"/>
              <a:chExt cx="1542" cy="1134"/>
            </a:xfrm>
          </p:grpSpPr>
          <p:sp>
            <p:nvSpPr>
              <p:cNvPr id="24587" name="Line 43"/>
              <p:cNvSpPr>
                <a:spLocks noChangeShapeType="1"/>
              </p:cNvSpPr>
              <p:nvPr/>
            </p:nvSpPr>
            <p:spPr bwMode="auto">
              <a:xfrm>
                <a:off x="3946" y="1797"/>
                <a:ext cx="1542" cy="0"/>
              </a:xfrm>
              <a:prstGeom prst="line">
                <a:avLst/>
              </a:prstGeom>
              <a:noFill/>
              <a:ln w="28575"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8" name="Line 44"/>
              <p:cNvSpPr>
                <a:spLocks noChangeShapeType="1"/>
              </p:cNvSpPr>
              <p:nvPr/>
            </p:nvSpPr>
            <p:spPr bwMode="auto">
              <a:xfrm>
                <a:off x="4445" y="1162"/>
                <a:ext cx="23" cy="998"/>
              </a:xfrm>
              <a:prstGeom prst="line">
                <a:avLst/>
              </a:prstGeom>
              <a:noFill/>
              <a:ln w="28575" cap="sq">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9" name="Text Box 45"/>
              <p:cNvSpPr txBox="1">
                <a:spLocks noChangeArrowheads="1"/>
              </p:cNvSpPr>
              <p:nvPr/>
            </p:nvSpPr>
            <p:spPr bwMode="auto">
              <a:xfrm>
                <a:off x="4445" y="1026"/>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v</a:t>
                </a:r>
              </a:p>
            </p:txBody>
          </p:sp>
          <p:sp>
            <p:nvSpPr>
              <p:cNvPr id="24590" name="Freeform 46"/>
              <p:cNvSpPr>
                <a:spLocks/>
              </p:cNvSpPr>
              <p:nvPr/>
            </p:nvSpPr>
            <p:spPr bwMode="auto">
              <a:xfrm>
                <a:off x="3991" y="1207"/>
                <a:ext cx="1043" cy="726"/>
              </a:xfrm>
              <a:custGeom>
                <a:avLst/>
                <a:gdLst>
                  <a:gd name="T0" fmla="*/ 0 w 1043"/>
                  <a:gd name="T1" fmla="*/ 726 h 726"/>
                  <a:gd name="T2" fmla="*/ 454 w 1043"/>
                  <a:gd name="T3" fmla="*/ 590 h 726"/>
                  <a:gd name="T4" fmla="*/ 1043 w 1043"/>
                  <a:gd name="T5" fmla="*/ 0 h 726"/>
                  <a:gd name="T6" fmla="*/ 0 60000 65536"/>
                  <a:gd name="T7" fmla="*/ 0 60000 65536"/>
                  <a:gd name="T8" fmla="*/ 0 60000 65536"/>
                </a:gdLst>
                <a:ahLst/>
                <a:cxnLst>
                  <a:cxn ang="T6">
                    <a:pos x="T0" y="T1"/>
                  </a:cxn>
                  <a:cxn ang="T7">
                    <a:pos x="T2" y="T3"/>
                  </a:cxn>
                  <a:cxn ang="T8">
                    <a:pos x="T4" y="T5"/>
                  </a:cxn>
                </a:cxnLst>
                <a:rect l="0" t="0" r="r" b="b"/>
                <a:pathLst>
                  <a:path w="1043" h="726">
                    <a:moveTo>
                      <a:pt x="0" y="726"/>
                    </a:moveTo>
                    <a:cubicBezTo>
                      <a:pt x="140" y="718"/>
                      <a:pt x="280" y="711"/>
                      <a:pt x="454" y="590"/>
                    </a:cubicBezTo>
                    <a:cubicBezTo>
                      <a:pt x="628" y="469"/>
                      <a:pt x="945" y="98"/>
                      <a:pt x="1043" y="0"/>
                    </a:cubicBezTo>
                  </a:path>
                </a:pathLst>
              </a:custGeom>
              <a:noFill/>
              <a:ln w="28575" cap="sq" cmpd="sng">
                <a:solidFill>
                  <a:srgbClr val="FF33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271409" name="AutoShape 49"/>
          <p:cNvSpPr>
            <a:spLocks noChangeArrowheads="1"/>
          </p:cNvSpPr>
          <p:nvPr/>
        </p:nvSpPr>
        <p:spPr bwMode="auto">
          <a:xfrm>
            <a:off x="3162300" y="4933950"/>
            <a:ext cx="2016125" cy="1008063"/>
          </a:xfrm>
          <a:prstGeom prst="leftRightArrowCallout">
            <a:avLst>
              <a:gd name="adj1" fmla="val 25000"/>
              <a:gd name="adj2" fmla="val 25000"/>
              <a:gd name="adj3" fmla="val 25000"/>
              <a:gd name="adj4" fmla="val 50000"/>
            </a:avLst>
          </a:prstGeom>
          <a:solidFill>
            <a:schemeClr val="accent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a:solidFill>
                  <a:srgbClr val="000000"/>
                </a:solidFill>
                <a:ea typeface="楷体_GB2312" pitchFamily="49" charset="-122"/>
                <a:sym typeface="Symbol" pitchFamily="18" charset="2"/>
              </a:rPr>
              <a:t>伏安</a:t>
            </a:r>
          </a:p>
          <a:p>
            <a:pPr algn="ctr"/>
            <a:r>
              <a:rPr lang="zh-CN" altLang="en-US">
                <a:solidFill>
                  <a:srgbClr val="000000"/>
                </a:solidFill>
                <a:ea typeface="楷体_GB2312" pitchFamily="49" charset="-122"/>
                <a:sym typeface="Symbol" pitchFamily="18" charset="2"/>
              </a:rPr>
              <a:t>特性</a:t>
            </a:r>
          </a:p>
        </p:txBody>
      </p:sp>
      <p:sp>
        <p:nvSpPr>
          <p:cNvPr id="271410" name="Text Box 50" descr="斜纹布"/>
          <p:cNvSpPr txBox="1">
            <a:spLocks noChangeArrowheads="1"/>
          </p:cNvSpPr>
          <p:nvPr/>
        </p:nvSpPr>
        <p:spPr bwMode="auto">
          <a:xfrm>
            <a:off x="6269038" y="5692775"/>
            <a:ext cx="576262" cy="457200"/>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spcBef>
                <a:spcPct val="50000"/>
              </a:spcBef>
            </a:pPr>
            <a:r>
              <a:rPr kumimoji="0" lang="en-US" altLang="zh-CN" b="0">
                <a:ea typeface="楷体_GB2312" pitchFamily="49" charset="-122"/>
              </a:rPr>
              <a:t>0</a:t>
            </a:r>
          </a:p>
        </p:txBody>
      </p:sp>
      <p:sp>
        <p:nvSpPr>
          <p:cNvPr id="24584" name="Text Box 52"/>
          <p:cNvSpPr txBox="1">
            <a:spLocks noChangeArrowheads="1"/>
          </p:cNvSpPr>
          <p:nvPr/>
        </p:nvSpPr>
        <p:spPr bwMode="auto">
          <a:xfrm>
            <a:off x="277813" y="1065213"/>
            <a:ext cx="4237037"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dirty="0">
                <a:solidFill>
                  <a:srgbClr val="990033"/>
                </a:solidFill>
              </a:rPr>
              <a:t>一、电阻</a:t>
            </a:r>
            <a:r>
              <a:rPr lang="zh-CN" altLang="en-US" dirty="0" smtClean="0">
                <a:solidFill>
                  <a:srgbClr val="990033"/>
                </a:solidFill>
              </a:rPr>
              <a:t>元件</a:t>
            </a:r>
            <a:endParaRPr lang="zh-CN" altLang="en-US" dirty="0">
              <a:solidFill>
                <a:srgbClr val="990033"/>
              </a:solidFill>
            </a:endParaRPr>
          </a:p>
        </p:txBody>
      </p:sp>
      <p:sp>
        <p:nvSpPr>
          <p:cNvPr id="15" name="Text Box 2"/>
          <p:cNvSpPr txBox="1">
            <a:spLocks noChangeArrowheads="1"/>
          </p:cNvSpPr>
          <p:nvPr/>
        </p:nvSpPr>
        <p:spPr bwMode="auto">
          <a:xfrm>
            <a:off x="369888" y="490538"/>
            <a:ext cx="7734300"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smtClean="0">
                <a:solidFill>
                  <a:srgbClr val="990033"/>
                </a:solidFill>
              </a:rPr>
              <a:t>1.3.1 </a:t>
            </a:r>
            <a:r>
              <a:rPr lang="zh-CN" altLang="en-US" dirty="0" smtClean="0">
                <a:solidFill>
                  <a:srgbClr val="990033"/>
                </a:solidFill>
              </a:rPr>
              <a:t>电阻</a:t>
            </a:r>
            <a:r>
              <a:rPr lang="zh-CN" altLang="en-US" dirty="0">
                <a:solidFill>
                  <a:srgbClr val="990033"/>
                </a:solidFill>
              </a:rPr>
              <a:t>、电容和电感</a:t>
            </a:r>
            <a:endParaRPr lang="zh-CN" altLang="en-US" dirty="0">
              <a:solidFill>
                <a:schemeClr val="tx2"/>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barn(inVertical)">
                                      <p:cBhvr>
                                        <p:cTn id="7" dur="500"/>
                                        <p:tgtEl>
                                          <p:spTgt spid="2457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71398"/>
                                        </p:tgtEl>
                                        <p:attrNameLst>
                                          <p:attrName>style.visibility</p:attrName>
                                        </p:attrNameLst>
                                      </p:cBhvr>
                                      <p:to>
                                        <p:strVal val="visible"/>
                                      </p:to>
                                    </p:set>
                                    <p:animEffect transition="in" filter="barn(inVertical)">
                                      <p:cBhvr>
                                        <p:cTn id="12" dur="500"/>
                                        <p:tgtEl>
                                          <p:spTgt spid="27139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71399"/>
                                        </p:tgtEl>
                                        <p:attrNameLst>
                                          <p:attrName>style.visibility</p:attrName>
                                        </p:attrNameLst>
                                      </p:cBhvr>
                                      <p:to>
                                        <p:strVal val="visible"/>
                                      </p:to>
                                    </p:set>
                                    <p:animEffect transition="in" filter="barn(inVertical)">
                                      <p:cBhvr>
                                        <p:cTn id="17" dur="500"/>
                                        <p:tgtEl>
                                          <p:spTgt spid="271399"/>
                                        </p:tgtEl>
                                      </p:cBhvr>
                                    </p:animEffect>
                                  </p:childTnLst>
                                </p:cTn>
                              </p:par>
                              <p:par>
                                <p:cTn id="18" presetID="16" presetClass="entr" presetSubtype="21" fill="hold" nodeType="withEffect">
                                  <p:stCondLst>
                                    <p:cond delay="0"/>
                                  </p:stCondLst>
                                  <p:childTnLst>
                                    <p:set>
                                      <p:cBhvr>
                                        <p:cTn id="19" dur="1" fill="hold">
                                          <p:stCondLst>
                                            <p:cond delay="0"/>
                                          </p:stCondLst>
                                        </p:cTn>
                                        <p:tgtEl>
                                          <p:spTgt spid="271400"/>
                                        </p:tgtEl>
                                        <p:attrNameLst>
                                          <p:attrName>style.visibility</p:attrName>
                                        </p:attrNameLst>
                                      </p:cBhvr>
                                      <p:to>
                                        <p:strVal val="visible"/>
                                      </p:to>
                                    </p:set>
                                    <p:animEffect transition="in" filter="barn(inVertical)">
                                      <p:cBhvr>
                                        <p:cTn id="20" dur="500"/>
                                        <p:tgtEl>
                                          <p:spTgt spid="271400"/>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71409"/>
                                        </p:tgtEl>
                                        <p:attrNameLst>
                                          <p:attrName>style.visibility</p:attrName>
                                        </p:attrNameLst>
                                      </p:cBhvr>
                                      <p:to>
                                        <p:strVal val="visible"/>
                                      </p:to>
                                    </p:set>
                                    <p:animEffect transition="in" filter="barn(inVertical)">
                                      <p:cBhvr>
                                        <p:cTn id="23" dur="500"/>
                                        <p:tgtEl>
                                          <p:spTgt spid="271409"/>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271410"/>
                                        </p:tgtEl>
                                        <p:attrNameLst>
                                          <p:attrName>style.visibility</p:attrName>
                                        </p:attrNameLst>
                                      </p:cBhvr>
                                      <p:to>
                                        <p:strVal val="visible"/>
                                      </p:to>
                                    </p:set>
                                    <p:animEffect transition="in" filter="barn(inVertical)">
                                      <p:cBhvr>
                                        <p:cTn id="26" dur="500"/>
                                        <p:tgtEl>
                                          <p:spTgt spid="271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271398" grpId="0" animBg="1"/>
      <p:bldP spid="271409" grpId="0" animBg="1"/>
      <p:bldP spid="2714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Text Box 2"/>
          <p:cNvSpPr txBox="1">
            <a:spLocks noChangeArrowheads="1"/>
          </p:cNvSpPr>
          <p:nvPr/>
        </p:nvSpPr>
        <p:spPr bwMode="auto">
          <a:xfrm>
            <a:off x="152400" y="0"/>
            <a:ext cx="8839200" cy="334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spcBef>
                <a:spcPct val="10000"/>
              </a:spcBef>
              <a:defRPr/>
            </a:pPr>
            <a:r>
              <a:rPr lang="zh-CN" altLang="en-US" dirty="0"/>
              <a:t>电阻的分类：</a:t>
            </a:r>
          </a:p>
          <a:p>
            <a:pPr marL="342900" indent="-342900" algn="just">
              <a:lnSpc>
                <a:spcPct val="120000"/>
              </a:lnSpc>
              <a:spcBef>
                <a:spcPct val="10000"/>
              </a:spcBef>
              <a:buFont typeface="Wingdings" panose="05000000000000000000" pitchFamily="2" charset="2"/>
              <a:buChar char="Ø"/>
              <a:defRPr/>
            </a:pPr>
            <a:r>
              <a:rPr lang="zh-CN" altLang="en-US" dirty="0">
                <a:solidFill>
                  <a:srgbClr val="FF3300"/>
                </a:solidFill>
              </a:rPr>
              <a:t>线性电阻</a:t>
            </a:r>
            <a:r>
              <a:rPr lang="zh-CN" altLang="en-US" dirty="0"/>
              <a:t>与</a:t>
            </a:r>
            <a:r>
              <a:rPr lang="zh-CN" altLang="en-US" dirty="0">
                <a:solidFill>
                  <a:srgbClr val="FF3300"/>
                </a:solidFill>
              </a:rPr>
              <a:t>非线性电阻</a:t>
            </a:r>
          </a:p>
          <a:p>
            <a:pPr algn="just">
              <a:lnSpc>
                <a:spcPct val="120000"/>
              </a:lnSpc>
              <a:spcBef>
                <a:spcPct val="10000"/>
              </a:spcBef>
              <a:defRPr/>
            </a:pPr>
            <a:r>
              <a:rPr lang="zh-CN" altLang="en-US" dirty="0"/>
              <a:t>        </a:t>
            </a:r>
            <a:r>
              <a:rPr lang="zh-CN" altLang="en-US" sz="2000" dirty="0"/>
              <a:t>其特性曲线为通过坐标原点直线的电阻，称为线性电阻；否则称为非线性电阻。</a:t>
            </a:r>
          </a:p>
          <a:p>
            <a:pPr marL="342900" indent="-342900" algn="just">
              <a:lnSpc>
                <a:spcPct val="120000"/>
              </a:lnSpc>
              <a:spcBef>
                <a:spcPct val="50000"/>
              </a:spcBef>
              <a:buFont typeface="Wingdings" panose="05000000000000000000" pitchFamily="2" charset="2"/>
              <a:buChar char="Ø"/>
              <a:defRPr/>
            </a:pPr>
            <a:r>
              <a:rPr lang="zh-CN" altLang="en-US" dirty="0">
                <a:solidFill>
                  <a:srgbClr val="FF3300"/>
                </a:solidFill>
              </a:rPr>
              <a:t>时变电阻</a:t>
            </a:r>
            <a:r>
              <a:rPr lang="zh-CN" altLang="en-US" dirty="0"/>
              <a:t>与</a:t>
            </a:r>
            <a:r>
              <a:rPr lang="zh-CN" altLang="en-US" dirty="0">
                <a:solidFill>
                  <a:srgbClr val="FF3300"/>
                </a:solidFill>
              </a:rPr>
              <a:t>时不变（</a:t>
            </a:r>
            <a:r>
              <a:rPr lang="zh-CN" altLang="en-US" dirty="0"/>
              <a:t>或</a:t>
            </a:r>
            <a:r>
              <a:rPr lang="zh-CN" altLang="en-US" dirty="0">
                <a:solidFill>
                  <a:srgbClr val="FF3300"/>
                </a:solidFill>
              </a:rPr>
              <a:t>定常）电阻</a:t>
            </a:r>
          </a:p>
          <a:p>
            <a:pPr algn="just">
              <a:lnSpc>
                <a:spcPct val="120000"/>
              </a:lnSpc>
              <a:spcBef>
                <a:spcPct val="10000"/>
              </a:spcBef>
              <a:defRPr/>
            </a:pPr>
            <a:r>
              <a:rPr lang="zh-CN" altLang="en-US" dirty="0"/>
              <a:t>        </a:t>
            </a:r>
            <a:r>
              <a:rPr lang="zh-CN" altLang="en-US" sz="2000" dirty="0"/>
              <a:t>其特性曲线随时间变化的电阻，称为时变电阻；否则称为时不变电阻或定常电阻。</a:t>
            </a:r>
          </a:p>
        </p:txBody>
      </p:sp>
      <p:sp>
        <p:nvSpPr>
          <p:cNvPr id="282627" name="Text Box 3"/>
          <p:cNvSpPr txBox="1">
            <a:spLocks noChangeArrowheads="1"/>
          </p:cNvSpPr>
          <p:nvPr/>
        </p:nvSpPr>
        <p:spPr bwMode="auto">
          <a:xfrm>
            <a:off x="141288" y="5897563"/>
            <a:ext cx="1890712" cy="77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lnSpc>
                <a:spcPct val="120000"/>
              </a:lnSpc>
              <a:spcBef>
                <a:spcPct val="10000"/>
              </a:spcBef>
            </a:pPr>
            <a:r>
              <a:rPr lang="zh-CN" altLang="en-US" sz="1800"/>
              <a:t>线性时不变电阻</a:t>
            </a:r>
          </a:p>
          <a:p>
            <a:pPr algn="ctr" eaLnBrk="1" hangingPunct="1">
              <a:lnSpc>
                <a:spcPct val="120000"/>
              </a:lnSpc>
              <a:spcBef>
                <a:spcPct val="10000"/>
              </a:spcBef>
            </a:pPr>
            <a:r>
              <a:rPr lang="zh-CN" altLang="en-US" sz="1800"/>
              <a:t>（线性定常电阻）</a:t>
            </a:r>
          </a:p>
        </p:txBody>
      </p:sp>
      <p:pic>
        <p:nvPicPr>
          <p:cNvPr id="28262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463" y="3678238"/>
            <a:ext cx="1757362"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26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1588" y="3678238"/>
            <a:ext cx="1836737"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26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4900" y="3678238"/>
            <a:ext cx="1839913"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263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3913" y="3649663"/>
            <a:ext cx="1801812"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2632" name="Text Box 8"/>
          <p:cNvSpPr txBox="1">
            <a:spLocks noChangeArrowheads="1"/>
          </p:cNvSpPr>
          <p:nvPr/>
        </p:nvSpPr>
        <p:spPr bwMode="auto">
          <a:xfrm>
            <a:off x="2663825" y="5897563"/>
            <a:ext cx="160655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lnSpc>
                <a:spcPct val="120000"/>
              </a:lnSpc>
              <a:spcBef>
                <a:spcPct val="10000"/>
              </a:spcBef>
            </a:pPr>
            <a:r>
              <a:rPr lang="zh-CN" altLang="en-US" sz="1800"/>
              <a:t>线性时变电阻</a:t>
            </a:r>
          </a:p>
        </p:txBody>
      </p:sp>
      <p:sp>
        <p:nvSpPr>
          <p:cNvPr id="282633" name="Text Box 9"/>
          <p:cNvSpPr txBox="1">
            <a:spLocks noChangeArrowheads="1"/>
          </p:cNvSpPr>
          <p:nvPr/>
        </p:nvSpPr>
        <p:spPr bwMode="auto">
          <a:xfrm>
            <a:off x="7173913" y="5897563"/>
            <a:ext cx="1814512"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lnSpc>
                <a:spcPct val="120000"/>
              </a:lnSpc>
              <a:spcBef>
                <a:spcPct val="10000"/>
              </a:spcBef>
            </a:pPr>
            <a:r>
              <a:rPr lang="zh-CN" altLang="en-US" sz="1800"/>
              <a:t>非线性时变电阻 </a:t>
            </a:r>
          </a:p>
        </p:txBody>
      </p:sp>
      <p:sp>
        <p:nvSpPr>
          <p:cNvPr id="282634" name="Text Box 10"/>
          <p:cNvSpPr txBox="1">
            <a:spLocks noChangeArrowheads="1"/>
          </p:cNvSpPr>
          <p:nvPr/>
        </p:nvSpPr>
        <p:spPr bwMode="auto">
          <a:xfrm>
            <a:off x="4808538" y="5897563"/>
            <a:ext cx="2141537" cy="77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lnSpc>
                <a:spcPct val="120000"/>
              </a:lnSpc>
              <a:spcBef>
                <a:spcPct val="10000"/>
              </a:spcBef>
            </a:pPr>
            <a:r>
              <a:rPr lang="zh-CN" altLang="en-US" sz="1800"/>
              <a:t>非线性时不变电阻</a:t>
            </a:r>
          </a:p>
          <a:p>
            <a:pPr algn="ctr" eaLnBrk="1" hangingPunct="1">
              <a:lnSpc>
                <a:spcPct val="120000"/>
              </a:lnSpc>
              <a:spcBef>
                <a:spcPct val="10000"/>
              </a:spcBef>
            </a:pPr>
            <a:r>
              <a:rPr lang="zh-CN" altLang="en-US" sz="1800"/>
              <a:t>（非线性定常电阻）</a:t>
            </a:r>
          </a:p>
        </p:txBody>
      </p:sp>
      <p:sp>
        <p:nvSpPr>
          <p:cNvPr id="25611" name="Rectangle 12"/>
          <p:cNvSpPr>
            <a:spLocks noChangeArrowheads="1"/>
          </p:cNvSpPr>
          <p:nvPr/>
        </p:nvSpPr>
        <p:spPr bwMode="auto">
          <a:xfrm>
            <a:off x="1466850" y="5391150"/>
            <a:ext cx="257175" cy="2476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5612" name="Rectangle 13"/>
          <p:cNvSpPr>
            <a:spLocks noChangeArrowheads="1"/>
          </p:cNvSpPr>
          <p:nvPr/>
        </p:nvSpPr>
        <p:spPr bwMode="auto">
          <a:xfrm>
            <a:off x="3990975" y="5391150"/>
            <a:ext cx="257175" cy="2476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5613" name="Rectangle 14"/>
          <p:cNvSpPr>
            <a:spLocks noChangeArrowheads="1"/>
          </p:cNvSpPr>
          <p:nvPr/>
        </p:nvSpPr>
        <p:spPr bwMode="auto">
          <a:xfrm>
            <a:off x="6391275" y="5391150"/>
            <a:ext cx="257175" cy="2476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5614" name="Rectangle 15"/>
          <p:cNvSpPr>
            <a:spLocks noChangeArrowheads="1"/>
          </p:cNvSpPr>
          <p:nvPr/>
        </p:nvSpPr>
        <p:spPr bwMode="auto">
          <a:xfrm>
            <a:off x="8610600" y="5391150"/>
            <a:ext cx="257175" cy="2476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5615" name="Rectangle 11"/>
          <p:cNvSpPr>
            <a:spLocks noChangeArrowheads="1"/>
          </p:cNvSpPr>
          <p:nvPr/>
        </p:nvSpPr>
        <p:spPr bwMode="auto">
          <a:xfrm>
            <a:off x="1574800" y="5241925"/>
            <a:ext cx="296863"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r>
              <a:rPr lang="en-US" altLang="zh-CN" sz="2000" i="1"/>
              <a:t>v</a:t>
            </a:r>
          </a:p>
        </p:txBody>
      </p:sp>
      <p:sp>
        <p:nvSpPr>
          <p:cNvPr id="25616" name="Rectangle 16"/>
          <p:cNvSpPr>
            <a:spLocks noChangeArrowheads="1"/>
          </p:cNvSpPr>
          <p:nvPr/>
        </p:nvSpPr>
        <p:spPr bwMode="auto">
          <a:xfrm>
            <a:off x="4060825" y="5260975"/>
            <a:ext cx="296863"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r>
              <a:rPr lang="en-US" altLang="zh-CN" sz="2000" i="1"/>
              <a:t>v</a:t>
            </a:r>
          </a:p>
        </p:txBody>
      </p:sp>
      <p:sp>
        <p:nvSpPr>
          <p:cNvPr id="25617" name="Rectangle 17"/>
          <p:cNvSpPr>
            <a:spLocks noChangeArrowheads="1"/>
          </p:cNvSpPr>
          <p:nvPr/>
        </p:nvSpPr>
        <p:spPr bwMode="auto">
          <a:xfrm>
            <a:off x="6480175" y="5270500"/>
            <a:ext cx="296863"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r>
              <a:rPr lang="en-US" altLang="zh-CN" sz="2000" i="1"/>
              <a:t>v</a:t>
            </a:r>
          </a:p>
        </p:txBody>
      </p:sp>
      <p:sp>
        <p:nvSpPr>
          <p:cNvPr id="25618" name="Rectangle 18"/>
          <p:cNvSpPr>
            <a:spLocks noChangeArrowheads="1"/>
          </p:cNvSpPr>
          <p:nvPr/>
        </p:nvSpPr>
        <p:spPr bwMode="auto">
          <a:xfrm>
            <a:off x="8699500" y="5241925"/>
            <a:ext cx="296863"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r>
              <a:rPr lang="en-US" altLang="zh-CN" sz="2000" i="1"/>
              <a:t>v</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82626">
                                            <p:txEl>
                                              <p:pRg st="1" end="1"/>
                                            </p:txEl>
                                          </p:spTgt>
                                        </p:tgtEl>
                                        <p:attrNameLst>
                                          <p:attrName>style.visibility</p:attrName>
                                        </p:attrNameLst>
                                      </p:cBhvr>
                                      <p:to>
                                        <p:strVal val="visible"/>
                                      </p:to>
                                    </p:set>
                                    <p:animEffect transition="in" filter="barn(inVertical)">
                                      <p:cBhvr>
                                        <p:cTn id="7" dur="500"/>
                                        <p:tgtEl>
                                          <p:spTgt spid="282626">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82626">
                                            <p:txEl>
                                              <p:pRg st="2" end="2"/>
                                            </p:txEl>
                                          </p:spTgt>
                                        </p:tgtEl>
                                        <p:attrNameLst>
                                          <p:attrName>style.visibility</p:attrName>
                                        </p:attrNameLst>
                                      </p:cBhvr>
                                      <p:to>
                                        <p:strVal val="visible"/>
                                      </p:to>
                                    </p:set>
                                    <p:animEffect transition="in" filter="barn(inVertical)">
                                      <p:cBhvr>
                                        <p:cTn id="10" dur="500"/>
                                        <p:tgtEl>
                                          <p:spTgt spid="28262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282626">
                                            <p:txEl>
                                              <p:pRg st="3" end="3"/>
                                            </p:txEl>
                                          </p:spTgt>
                                        </p:tgtEl>
                                        <p:attrNameLst>
                                          <p:attrName>style.visibility</p:attrName>
                                        </p:attrNameLst>
                                      </p:cBhvr>
                                      <p:to>
                                        <p:strVal val="visible"/>
                                      </p:to>
                                    </p:set>
                                    <p:animEffect transition="in" filter="barn(inVertical)">
                                      <p:cBhvr>
                                        <p:cTn id="15" dur="500"/>
                                        <p:tgtEl>
                                          <p:spTgt spid="282626">
                                            <p:txEl>
                                              <p:pRg st="3" end="3"/>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282626">
                                            <p:txEl>
                                              <p:pRg st="4" end="4"/>
                                            </p:txEl>
                                          </p:spTgt>
                                        </p:tgtEl>
                                        <p:attrNameLst>
                                          <p:attrName>style.visibility</p:attrName>
                                        </p:attrNameLst>
                                      </p:cBhvr>
                                      <p:to>
                                        <p:strVal val="visible"/>
                                      </p:to>
                                    </p:set>
                                    <p:animEffect transition="in" filter="barn(inVertical)">
                                      <p:cBhvr>
                                        <p:cTn id="18" dur="500"/>
                                        <p:tgtEl>
                                          <p:spTgt spid="282626">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282627"/>
                                        </p:tgtEl>
                                        <p:attrNameLst>
                                          <p:attrName>style.visibility</p:attrName>
                                        </p:attrNameLst>
                                      </p:cBhvr>
                                      <p:to>
                                        <p:strVal val="visible"/>
                                      </p:to>
                                    </p:set>
                                    <p:animEffect transition="in" filter="barn(inVertical)">
                                      <p:cBhvr>
                                        <p:cTn id="23" dur="500"/>
                                        <p:tgtEl>
                                          <p:spTgt spid="282627"/>
                                        </p:tgtEl>
                                      </p:cBhvr>
                                    </p:animEffect>
                                  </p:childTnLst>
                                </p:cTn>
                              </p:par>
                              <p:par>
                                <p:cTn id="24" presetID="16" presetClass="entr" presetSubtype="21" fill="hold" nodeType="withEffect">
                                  <p:stCondLst>
                                    <p:cond delay="0"/>
                                  </p:stCondLst>
                                  <p:childTnLst>
                                    <p:set>
                                      <p:cBhvr>
                                        <p:cTn id="25" dur="1" fill="hold">
                                          <p:stCondLst>
                                            <p:cond delay="0"/>
                                          </p:stCondLst>
                                        </p:cTn>
                                        <p:tgtEl>
                                          <p:spTgt spid="282628"/>
                                        </p:tgtEl>
                                        <p:attrNameLst>
                                          <p:attrName>style.visibility</p:attrName>
                                        </p:attrNameLst>
                                      </p:cBhvr>
                                      <p:to>
                                        <p:strVal val="visible"/>
                                      </p:to>
                                    </p:set>
                                    <p:animEffect transition="in" filter="barn(inVertical)">
                                      <p:cBhvr>
                                        <p:cTn id="26" dur="500"/>
                                        <p:tgtEl>
                                          <p:spTgt spid="282628"/>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25611"/>
                                        </p:tgtEl>
                                        <p:attrNameLst>
                                          <p:attrName>style.visibility</p:attrName>
                                        </p:attrNameLst>
                                      </p:cBhvr>
                                      <p:to>
                                        <p:strVal val="visible"/>
                                      </p:to>
                                    </p:set>
                                    <p:animEffect transition="in" filter="barn(inVertical)">
                                      <p:cBhvr>
                                        <p:cTn id="29" dur="500"/>
                                        <p:tgtEl>
                                          <p:spTgt spid="2561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5615"/>
                                        </p:tgtEl>
                                        <p:attrNameLst>
                                          <p:attrName>style.visibility</p:attrName>
                                        </p:attrNameLst>
                                      </p:cBhvr>
                                      <p:to>
                                        <p:strVal val="visible"/>
                                      </p:to>
                                    </p:set>
                                    <p:animEffect transition="in" filter="barn(inVertical)">
                                      <p:cBhvr>
                                        <p:cTn id="32" dur="500"/>
                                        <p:tgtEl>
                                          <p:spTgt spid="2561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82629"/>
                                        </p:tgtEl>
                                        <p:attrNameLst>
                                          <p:attrName>style.visibility</p:attrName>
                                        </p:attrNameLst>
                                      </p:cBhvr>
                                      <p:to>
                                        <p:strVal val="visible"/>
                                      </p:to>
                                    </p:set>
                                    <p:animEffect transition="in" filter="barn(inVertical)">
                                      <p:cBhvr>
                                        <p:cTn id="37" dur="500"/>
                                        <p:tgtEl>
                                          <p:spTgt spid="282629"/>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282632"/>
                                        </p:tgtEl>
                                        <p:attrNameLst>
                                          <p:attrName>style.visibility</p:attrName>
                                        </p:attrNameLst>
                                      </p:cBhvr>
                                      <p:to>
                                        <p:strVal val="visible"/>
                                      </p:to>
                                    </p:set>
                                    <p:animEffect transition="in" filter="barn(inVertical)">
                                      <p:cBhvr>
                                        <p:cTn id="40" dur="500"/>
                                        <p:tgtEl>
                                          <p:spTgt spid="282632"/>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25612"/>
                                        </p:tgtEl>
                                        <p:attrNameLst>
                                          <p:attrName>style.visibility</p:attrName>
                                        </p:attrNameLst>
                                      </p:cBhvr>
                                      <p:to>
                                        <p:strVal val="visible"/>
                                      </p:to>
                                    </p:set>
                                    <p:animEffect transition="in" filter="barn(inVertical)">
                                      <p:cBhvr>
                                        <p:cTn id="43" dur="500"/>
                                        <p:tgtEl>
                                          <p:spTgt spid="25612"/>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25616"/>
                                        </p:tgtEl>
                                        <p:attrNameLst>
                                          <p:attrName>style.visibility</p:attrName>
                                        </p:attrNameLst>
                                      </p:cBhvr>
                                      <p:to>
                                        <p:strVal val="visible"/>
                                      </p:to>
                                    </p:set>
                                    <p:animEffect transition="in" filter="barn(inVertical)">
                                      <p:cBhvr>
                                        <p:cTn id="46" dur="500"/>
                                        <p:tgtEl>
                                          <p:spTgt spid="25616"/>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nodeType="clickEffect">
                                  <p:stCondLst>
                                    <p:cond delay="0"/>
                                  </p:stCondLst>
                                  <p:childTnLst>
                                    <p:set>
                                      <p:cBhvr>
                                        <p:cTn id="50" dur="1" fill="hold">
                                          <p:stCondLst>
                                            <p:cond delay="0"/>
                                          </p:stCondLst>
                                        </p:cTn>
                                        <p:tgtEl>
                                          <p:spTgt spid="282630"/>
                                        </p:tgtEl>
                                        <p:attrNameLst>
                                          <p:attrName>style.visibility</p:attrName>
                                        </p:attrNameLst>
                                      </p:cBhvr>
                                      <p:to>
                                        <p:strVal val="visible"/>
                                      </p:to>
                                    </p:set>
                                    <p:animEffect transition="in" filter="barn(inVertical)">
                                      <p:cBhvr>
                                        <p:cTn id="51" dur="500"/>
                                        <p:tgtEl>
                                          <p:spTgt spid="282630"/>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282634"/>
                                        </p:tgtEl>
                                        <p:attrNameLst>
                                          <p:attrName>style.visibility</p:attrName>
                                        </p:attrNameLst>
                                      </p:cBhvr>
                                      <p:to>
                                        <p:strVal val="visible"/>
                                      </p:to>
                                    </p:set>
                                    <p:animEffect transition="in" filter="barn(inVertical)">
                                      <p:cBhvr>
                                        <p:cTn id="54" dur="500"/>
                                        <p:tgtEl>
                                          <p:spTgt spid="282634"/>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25613"/>
                                        </p:tgtEl>
                                        <p:attrNameLst>
                                          <p:attrName>style.visibility</p:attrName>
                                        </p:attrNameLst>
                                      </p:cBhvr>
                                      <p:to>
                                        <p:strVal val="visible"/>
                                      </p:to>
                                    </p:set>
                                    <p:animEffect transition="in" filter="barn(inVertical)">
                                      <p:cBhvr>
                                        <p:cTn id="57" dur="500"/>
                                        <p:tgtEl>
                                          <p:spTgt spid="25613"/>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25617"/>
                                        </p:tgtEl>
                                        <p:attrNameLst>
                                          <p:attrName>style.visibility</p:attrName>
                                        </p:attrNameLst>
                                      </p:cBhvr>
                                      <p:to>
                                        <p:strVal val="visible"/>
                                      </p:to>
                                    </p:set>
                                    <p:animEffect transition="in" filter="barn(inVertical)">
                                      <p:cBhvr>
                                        <p:cTn id="60" dur="500"/>
                                        <p:tgtEl>
                                          <p:spTgt spid="25617"/>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282631"/>
                                        </p:tgtEl>
                                        <p:attrNameLst>
                                          <p:attrName>style.visibility</p:attrName>
                                        </p:attrNameLst>
                                      </p:cBhvr>
                                      <p:to>
                                        <p:strVal val="visible"/>
                                      </p:to>
                                    </p:set>
                                    <p:animEffect transition="in" filter="barn(inVertical)">
                                      <p:cBhvr>
                                        <p:cTn id="65" dur="500"/>
                                        <p:tgtEl>
                                          <p:spTgt spid="282631"/>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282633"/>
                                        </p:tgtEl>
                                        <p:attrNameLst>
                                          <p:attrName>style.visibility</p:attrName>
                                        </p:attrNameLst>
                                      </p:cBhvr>
                                      <p:to>
                                        <p:strVal val="visible"/>
                                      </p:to>
                                    </p:set>
                                    <p:animEffect transition="in" filter="barn(inVertical)">
                                      <p:cBhvr>
                                        <p:cTn id="68" dur="500"/>
                                        <p:tgtEl>
                                          <p:spTgt spid="282633"/>
                                        </p:tgtEl>
                                      </p:cBhvr>
                                    </p:animEffect>
                                  </p:childTnLst>
                                </p:cTn>
                              </p:par>
                              <p:par>
                                <p:cTn id="69" presetID="16" presetClass="entr" presetSubtype="21" fill="hold" grpId="0" nodeType="withEffect">
                                  <p:stCondLst>
                                    <p:cond delay="0"/>
                                  </p:stCondLst>
                                  <p:childTnLst>
                                    <p:set>
                                      <p:cBhvr>
                                        <p:cTn id="70" dur="1" fill="hold">
                                          <p:stCondLst>
                                            <p:cond delay="0"/>
                                          </p:stCondLst>
                                        </p:cTn>
                                        <p:tgtEl>
                                          <p:spTgt spid="25614"/>
                                        </p:tgtEl>
                                        <p:attrNameLst>
                                          <p:attrName>style.visibility</p:attrName>
                                        </p:attrNameLst>
                                      </p:cBhvr>
                                      <p:to>
                                        <p:strVal val="visible"/>
                                      </p:to>
                                    </p:set>
                                    <p:animEffect transition="in" filter="barn(inVertical)">
                                      <p:cBhvr>
                                        <p:cTn id="71" dur="500"/>
                                        <p:tgtEl>
                                          <p:spTgt spid="25614"/>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25618"/>
                                        </p:tgtEl>
                                        <p:attrNameLst>
                                          <p:attrName>style.visibility</p:attrName>
                                        </p:attrNameLst>
                                      </p:cBhvr>
                                      <p:to>
                                        <p:strVal val="visible"/>
                                      </p:to>
                                    </p:set>
                                    <p:animEffect transition="in" filter="barn(inVertical)">
                                      <p:cBhvr>
                                        <p:cTn id="74" dur="500"/>
                                        <p:tgtEl>
                                          <p:spTgt spid="25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7" grpId="0"/>
      <p:bldP spid="282632" grpId="0"/>
      <p:bldP spid="282633" grpId="0"/>
      <p:bldP spid="282634" grpId="0"/>
      <p:bldP spid="25611" grpId="0" animBg="1"/>
      <p:bldP spid="25612" grpId="0" animBg="1"/>
      <p:bldP spid="25613" grpId="0" animBg="1"/>
      <p:bldP spid="25614" grpId="0" animBg="1"/>
      <p:bldP spid="25615" grpId="0"/>
      <p:bldP spid="25616" grpId="0"/>
      <p:bldP spid="25617" grpId="0"/>
      <p:bldP spid="2561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Text Box 2"/>
          <p:cNvSpPr txBox="1">
            <a:spLocks noChangeArrowheads="1"/>
          </p:cNvSpPr>
          <p:nvPr/>
        </p:nvSpPr>
        <p:spPr bwMode="auto">
          <a:xfrm>
            <a:off x="1081390" y="2946700"/>
            <a:ext cx="356681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dirty="0" smtClean="0">
                <a:solidFill>
                  <a:srgbClr val="0000CC"/>
                </a:solidFill>
              </a:rPr>
              <a:t>b.</a:t>
            </a:r>
            <a:r>
              <a:rPr lang="en-US" altLang="zh-CN" b="0" dirty="0" smtClean="0">
                <a:solidFill>
                  <a:srgbClr val="0000CC"/>
                </a:solidFill>
              </a:rPr>
              <a:t> </a:t>
            </a:r>
            <a:r>
              <a:rPr lang="zh-CN" altLang="en-US" dirty="0">
                <a:solidFill>
                  <a:srgbClr val="0000CC"/>
                </a:solidFill>
              </a:rPr>
              <a:t>欧姆定律 </a:t>
            </a:r>
            <a:r>
              <a:rPr lang="en-US" altLang="zh-CN" dirty="0">
                <a:solidFill>
                  <a:srgbClr val="0000CC"/>
                </a:solidFill>
              </a:rPr>
              <a:t>(Ohm’s Law)</a:t>
            </a:r>
            <a:endParaRPr lang="en-US" altLang="zh-CN" b="0" dirty="0">
              <a:solidFill>
                <a:srgbClr val="0000CC"/>
              </a:solidFill>
            </a:endParaRPr>
          </a:p>
        </p:txBody>
      </p:sp>
      <p:sp>
        <p:nvSpPr>
          <p:cNvPr id="280579" name="Text Box 3"/>
          <p:cNvSpPr txBox="1">
            <a:spLocks noChangeArrowheads="1"/>
          </p:cNvSpPr>
          <p:nvPr/>
        </p:nvSpPr>
        <p:spPr bwMode="auto">
          <a:xfrm>
            <a:off x="1244600" y="3675063"/>
            <a:ext cx="4292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a:solidFill>
                  <a:schemeClr val="tx2"/>
                </a:solidFill>
              </a:rPr>
              <a:t>(1) </a:t>
            </a:r>
            <a:r>
              <a:rPr lang="zh-CN" altLang="en-US">
                <a:solidFill>
                  <a:schemeClr val="tx2"/>
                </a:solidFill>
              </a:rPr>
              <a:t>电压与电流取关联参考方向</a:t>
            </a:r>
            <a:endParaRPr lang="zh-CN" altLang="en-US" sz="3200">
              <a:solidFill>
                <a:schemeClr val="tx2"/>
              </a:solidFill>
            </a:endParaRPr>
          </a:p>
        </p:txBody>
      </p:sp>
      <p:sp>
        <p:nvSpPr>
          <p:cNvPr id="280580" name="Rectangle 4"/>
          <p:cNvSpPr>
            <a:spLocks noChangeArrowheads="1"/>
          </p:cNvSpPr>
          <p:nvPr/>
        </p:nvSpPr>
        <p:spPr bwMode="auto">
          <a:xfrm>
            <a:off x="6102350" y="4395788"/>
            <a:ext cx="11953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lang="en-US" altLang="zh-CN" sz="2800" i="1" dirty="0">
                <a:solidFill>
                  <a:srgbClr val="FF0000"/>
                </a:solidFill>
              </a:rPr>
              <a:t>v</a:t>
            </a:r>
            <a:r>
              <a:rPr lang="en-US" altLang="zh-CN" sz="2800" dirty="0">
                <a:solidFill>
                  <a:srgbClr val="FF0000"/>
                </a:solidFill>
              </a:rPr>
              <a:t> </a:t>
            </a:r>
            <a:r>
              <a:rPr lang="en-US" altLang="zh-CN" sz="2800" dirty="0">
                <a:solidFill>
                  <a:srgbClr val="FF0000"/>
                </a:solidFill>
                <a:sym typeface="Symbol" pitchFamily="18" charset="2"/>
              </a:rPr>
              <a:t> </a:t>
            </a:r>
            <a:r>
              <a:rPr lang="en-US" altLang="zh-CN" sz="2800" i="1" dirty="0">
                <a:solidFill>
                  <a:srgbClr val="FF0000"/>
                </a:solidFill>
              </a:rPr>
              <a:t>R </a:t>
            </a:r>
            <a:r>
              <a:rPr lang="en-US" altLang="zh-CN" sz="2800" i="1" dirty="0" err="1">
                <a:solidFill>
                  <a:srgbClr val="FF0000"/>
                </a:solidFill>
              </a:rPr>
              <a:t>i</a:t>
            </a:r>
            <a:endParaRPr lang="en-US" altLang="zh-CN" dirty="0">
              <a:solidFill>
                <a:srgbClr val="FF0000"/>
              </a:solidFill>
            </a:endParaRPr>
          </a:p>
        </p:txBody>
      </p:sp>
      <p:sp>
        <p:nvSpPr>
          <p:cNvPr id="280581" name="Text Box 5"/>
          <p:cNvSpPr txBox="1">
            <a:spLocks noChangeArrowheads="1"/>
          </p:cNvSpPr>
          <p:nvPr/>
        </p:nvSpPr>
        <p:spPr bwMode="auto">
          <a:xfrm>
            <a:off x="1516063" y="5435600"/>
            <a:ext cx="60737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zh-CN" altLang="en-US">
                <a:solidFill>
                  <a:schemeClr val="tx2"/>
                </a:solidFill>
              </a:rPr>
              <a:t>电阻</a:t>
            </a:r>
            <a:r>
              <a:rPr lang="en-US" altLang="zh-CN" i="1">
                <a:solidFill>
                  <a:schemeClr val="tx2"/>
                </a:solidFill>
              </a:rPr>
              <a:t>R</a:t>
            </a:r>
            <a:r>
              <a:rPr lang="zh-CN" altLang="en-US">
                <a:solidFill>
                  <a:schemeClr val="tx2"/>
                </a:solidFill>
              </a:rPr>
              <a:t>单位名称：欧</a:t>
            </a:r>
            <a:r>
              <a:rPr lang="en-US" altLang="zh-CN">
                <a:solidFill>
                  <a:schemeClr val="tx2"/>
                </a:solidFill>
              </a:rPr>
              <a:t>(</a:t>
            </a:r>
            <a:r>
              <a:rPr lang="zh-CN" altLang="en-US">
                <a:solidFill>
                  <a:schemeClr val="tx2"/>
                </a:solidFill>
              </a:rPr>
              <a:t>姆</a:t>
            </a:r>
            <a:r>
              <a:rPr lang="en-US" altLang="zh-CN">
                <a:solidFill>
                  <a:schemeClr val="tx2"/>
                </a:solidFill>
              </a:rPr>
              <a:t>)        </a:t>
            </a:r>
            <a:r>
              <a:rPr lang="zh-CN" altLang="en-US">
                <a:solidFill>
                  <a:schemeClr val="tx2"/>
                </a:solidFill>
              </a:rPr>
              <a:t>符号</a:t>
            </a:r>
            <a:r>
              <a:rPr lang="en-US" altLang="zh-CN">
                <a:solidFill>
                  <a:schemeClr val="tx2"/>
                </a:solidFill>
              </a:rPr>
              <a:t>:  </a:t>
            </a:r>
            <a:r>
              <a:rPr lang="en-US" altLang="zh-CN">
                <a:solidFill>
                  <a:schemeClr val="tx2"/>
                </a:solidFill>
                <a:sym typeface="Symbol" pitchFamily="18" charset="2"/>
              </a:rPr>
              <a:t>       k </a:t>
            </a:r>
          </a:p>
        </p:txBody>
      </p:sp>
      <p:sp>
        <p:nvSpPr>
          <p:cNvPr id="280595" name="Text Box 19"/>
          <p:cNvSpPr txBox="1">
            <a:spLocks noChangeArrowheads="1"/>
          </p:cNvSpPr>
          <p:nvPr/>
        </p:nvSpPr>
        <p:spPr bwMode="auto">
          <a:xfrm>
            <a:off x="1016000" y="1698625"/>
            <a:ext cx="12795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lang="en-US" altLang="zh-CN" dirty="0" smtClean="0">
                <a:solidFill>
                  <a:srgbClr val="0000CC"/>
                </a:solidFill>
              </a:rPr>
              <a:t>a.</a:t>
            </a:r>
            <a:r>
              <a:rPr lang="en-US" altLang="zh-CN" b="0" dirty="0" smtClean="0">
                <a:solidFill>
                  <a:srgbClr val="0000CC"/>
                </a:solidFill>
              </a:rPr>
              <a:t> </a:t>
            </a:r>
            <a:r>
              <a:rPr lang="zh-CN" altLang="en-US" dirty="0">
                <a:solidFill>
                  <a:srgbClr val="0000CC"/>
                </a:solidFill>
              </a:rPr>
              <a:t>符号</a:t>
            </a:r>
          </a:p>
        </p:txBody>
      </p:sp>
      <p:grpSp>
        <p:nvGrpSpPr>
          <p:cNvPr id="280596" name="Group 20"/>
          <p:cNvGrpSpPr>
            <a:grpSpLocks/>
          </p:cNvGrpSpPr>
          <p:nvPr/>
        </p:nvGrpSpPr>
        <p:grpSpPr bwMode="auto">
          <a:xfrm>
            <a:off x="2578100" y="1430339"/>
            <a:ext cx="4719638" cy="804863"/>
            <a:chOff x="2568" y="1325"/>
            <a:chExt cx="2973" cy="507"/>
          </a:xfrm>
        </p:grpSpPr>
        <p:sp>
          <p:nvSpPr>
            <p:cNvPr id="280597" name="Text Box 21"/>
            <p:cNvSpPr txBox="1">
              <a:spLocks noChangeArrowheads="1"/>
            </p:cNvSpPr>
            <p:nvPr/>
          </p:nvSpPr>
          <p:spPr bwMode="auto">
            <a:xfrm>
              <a:off x="3228" y="1400"/>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i="1" dirty="0">
                  <a:solidFill>
                    <a:schemeClr val="tx2"/>
                  </a:solidFill>
                </a:rPr>
                <a:t>R</a:t>
              </a:r>
              <a:endParaRPr lang="en-US" altLang="zh-CN" sz="3200" dirty="0">
                <a:solidFill>
                  <a:schemeClr val="tx2"/>
                </a:solidFill>
              </a:endParaRPr>
            </a:p>
          </p:txBody>
        </p:sp>
        <p:sp>
          <p:nvSpPr>
            <p:cNvPr id="280598" name="Rectangle 22"/>
            <p:cNvSpPr>
              <a:spLocks noChangeArrowheads="1"/>
            </p:cNvSpPr>
            <p:nvPr/>
          </p:nvSpPr>
          <p:spPr bwMode="auto">
            <a:xfrm>
              <a:off x="3131" y="1664"/>
              <a:ext cx="492" cy="168"/>
            </a:xfrm>
            <a:prstGeom prst="rect">
              <a:avLst/>
            </a:prstGeom>
            <a:solidFill>
              <a:srgbClr val="00FF00"/>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80599" name="Group 23"/>
            <p:cNvGrpSpPr>
              <a:grpSpLocks/>
            </p:cNvGrpSpPr>
            <p:nvPr/>
          </p:nvGrpSpPr>
          <p:grpSpPr bwMode="auto">
            <a:xfrm>
              <a:off x="2568" y="1728"/>
              <a:ext cx="549" cy="56"/>
              <a:chOff x="680" y="2744"/>
              <a:chExt cx="549" cy="56"/>
            </a:xfrm>
          </p:grpSpPr>
          <p:sp>
            <p:nvSpPr>
              <p:cNvPr id="280600" name="Line 24"/>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0601" name="Oval 25"/>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80602" name="Group 26"/>
            <p:cNvGrpSpPr>
              <a:grpSpLocks/>
            </p:cNvGrpSpPr>
            <p:nvPr/>
          </p:nvGrpSpPr>
          <p:grpSpPr bwMode="auto">
            <a:xfrm flipH="1">
              <a:off x="3640" y="1720"/>
              <a:ext cx="549" cy="56"/>
              <a:chOff x="680" y="2744"/>
              <a:chExt cx="549" cy="56"/>
            </a:xfrm>
          </p:grpSpPr>
          <p:sp>
            <p:nvSpPr>
              <p:cNvPr id="280603" name="Line 27"/>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0604" name="Oval 28"/>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 name="Text Box 21"/>
            <p:cNvSpPr txBox="1">
              <a:spLocks noChangeArrowheads="1"/>
            </p:cNvSpPr>
            <p:nvPr/>
          </p:nvSpPr>
          <p:spPr bwMode="auto">
            <a:xfrm>
              <a:off x="5297" y="1325"/>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i="1" dirty="0">
                  <a:solidFill>
                    <a:schemeClr val="tx2"/>
                  </a:solidFill>
                </a:rPr>
                <a:t>R</a:t>
              </a:r>
              <a:endParaRPr lang="en-US" altLang="zh-CN" sz="3200" dirty="0">
                <a:solidFill>
                  <a:schemeClr val="tx2"/>
                </a:solidFill>
              </a:endParaRPr>
            </a:p>
          </p:txBody>
        </p:sp>
      </p:grpSp>
      <p:sp>
        <p:nvSpPr>
          <p:cNvPr id="280607" name="Text Box 31"/>
          <p:cNvSpPr txBox="1">
            <a:spLocks noChangeArrowheads="1"/>
          </p:cNvSpPr>
          <p:nvPr/>
        </p:nvSpPr>
        <p:spPr bwMode="auto">
          <a:xfrm>
            <a:off x="450850" y="720725"/>
            <a:ext cx="3721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a:solidFill>
                  <a:schemeClr val="tx1"/>
                </a:solidFill>
                <a:latin typeface="Times New Roman" pitchFamily="18" charset="0"/>
                <a:ea typeface="宋体" charset="-122"/>
              </a:defRPr>
            </a:lvl1pPr>
            <a:lvl2pPr marL="857250">
              <a:defRPr kumimoji="1" sz="2400">
                <a:solidFill>
                  <a:schemeClr val="tx1"/>
                </a:solidFill>
                <a:latin typeface="Times New Roman" pitchFamily="18" charset="0"/>
                <a:ea typeface="宋体" charset="-122"/>
              </a:defRPr>
            </a:lvl2pPr>
            <a:lvl3pPr marL="1047750">
              <a:defRPr kumimoji="1" sz="2400">
                <a:solidFill>
                  <a:schemeClr val="tx1"/>
                </a:solidFill>
                <a:latin typeface="Times New Roman" pitchFamily="18" charset="0"/>
                <a:ea typeface="宋体" charset="-122"/>
              </a:defRPr>
            </a:lvl3pPr>
            <a:lvl4pPr>
              <a:defRPr kumimoji="1" sz="2400">
                <a:solidFill>
                  <a:schemeClr val="tx1"/>
                </a:solidFill>
                <a:latin typeface="Times New Roman" pitchFamily="18" charset="0"/>
                <a:ea typeface="宋体" charset="-122"/>
              </a:defRPr>
            </a:lvl4pPr>
            <a:lvl5pPr>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marL="342900" indent="-342900" algn="just" eaLnBrk="0" hangingPunct="0">
              <a:buFont typeface="Wingdings" panose="05000000000000000000" pitchFamily="2" charset="2"/>
              <a:buChar char="l"/>
            </a:pPr>
            <a:r>
              <a:rPr lang="zh-CN" altLang="en-US" dirty="0" smtClean="0">
                <a:solidFill>
                  <a:srgbClr val="0000CC"/>
                </a:solidFill>
              </a:rPr>
              <a:t>线性</a:t>
            </a:r>
            <a:r>
              <a:rPr lang="zh-CN" altLang="en-US" dirty="0">
                <a:solidFill>
                  <a:srgbClr val="0000CC"/>
                </a:solidFill>
              </a:rPr>
              <a:t>定常电阻元件</a:t>
            </a:r>
          </a:p>
        </p:txBody>
      </p:sp>
      <p:sp>
        <p:nvSpPr>
          <p:cNvPr id="280608" name="Text Box 32"/>
          <p:cNvSpPr txBox="1">
            <a:spLocks noChangeArrowheads="1"/>
          </p:cNvSpPr>
          <p:nvPr/>
        </p:nvSpPr>
        <p:spPr bwMode="auto">
          <a:xfrm>
            <a:off x="5005388" y="1887538"/>
            <a:ext cx="12795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lang="zh-CN" altLang="en-US">
                <a:solidFill>
                  <a:srgbClr val="0000CC"/>
                </a:solidFill>
              </a:rPr>
              <a:t>或</a:t>
            </a:r>
          </a:p>
        </p:txBody>
      </p:sp>
      <p:graphicFrame>
        <p:nvGraphicFramePr>
          <p:cNvPr id="280612" name="Object 36"/>
          <p:cNvGraphicFramePr>
            <a:graphicFrameLocks noGrp="1" noChangeAspect="1"/>
          </p:cNvGraphicFramePr>
          <p:nvPr>
            <p:ph/>
          </p:nvPr>
        </p:nvGraphicFramePr>
        <p:xfrm>
          <a:off x="6083300" y="1903413"/>
          <a:ext cx="2038350" cy="415925"/>
        </p:xfrm>
        <a:graphic>
          <a:graphicData uri="http://schemas.openxmlformats.org/presentationml/2006/ole">
            <mc:AlternateContent xmlns:mc="http://schemas.openxmlformats.org/markup-compatibility/2006">
              <mc:Choice xmlns:v="urn:schemas-microsoft-com:vml" Requires="v">
                <p:oleObj spid="_x0000_s103554" name="Visio" r:id="rId4" imgW="979819" imgH="200025" progId="Visio.Drawing.11">
                  <p:embed/>
                </p:oleObj>
              </mc:Choice>
              <mc:Fallback>
                <p:oleObj name="Visio" r:id="rId4" imgW="979819" imgH="200025" progId="Visio.Drawing.11">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3300" y="1903413"/>
                        <a:ext cx="2038350" cy="41592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 name="Text Box 6"/>
          <p:cNvSpPr txBox="1">
            <a:spLocks noChangeArrowheads="1"/>
          </p:cNvSpPr>
          <p:nvPr/>
        </p:nvSpPr>
        <p:spPr bwMode="auto">
          <a:xfrm>
            <a:off x="3297238" y="4164013"/>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R</a:t>
            </a:r>
            <a:endParaRPr lang="en-US" altLang="zh-CN" sz="3200">
              <a:solidFill>
                <a:schemeClr val="tx2"/>
              </a:solidFill>
            </a:endParaRPr>
          </a:p>
        </p:txBody>
      </p:sp>
      <p:sp>
        <p:nvSpPr>
          <p:cNvPr id="34" name="Rectangle 7"/>
          <p:cNvSpPr>
            <a:spLocks noChangeArrowheads="1"/>
          </p:cNvSpPr>
          <p:nvPr/>
        </p:nvSpPr>
        <p:spPr bwMode="auto">
          <a:xfrm>
            <a:off x="3059113" y="4652963"/>
            <a:ext cx="781050" cy="266700"/>
          </a:xfrm>
          <a:prstGeom prst="rect">
            <a:avLst/>
          </a:prstGeom>
          <a:solidFill>
            <a:srgbClr val="00FF00"/>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5" name="Text Box 8"/>
          <p:cNvSpPr txBox="1">
            <a:spLocks noChangeArrowheads="1"/>
          </p:cNvSpPr>
          <p:nvPr/>
        </p:nvSpPr>
        <p:spPr bwMode="auto">
          <a:xfrm>
            <a:off x="2089150" y="4830763"/>
            <a:ext cx="293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a:solidFill>
                  <a:srgbClr val="993300"/>
                </a:solidFill>
                <a:sym typeface="CommonBullets" pitchFamily="34" charset="2"/>
              </a:rPr>
              <a:t>+</a:t>
            </a:r>
            <a:endParaRPr lang="en-US" altLang="zh-CN" sz="2800">
              <a:solidFill>
                <a:srgbClr val="993300"/>
              </a:solidFill>
            </a:endParaRPr>
          </a:p>
        </p:txBody>
      </p:sp>
      <p:grpSp>
        <p:nvGrpSpPr>
          <p:cNvPr id="36" name="Group 10"/>
          <p:cNvGrpSpPr>
            <a:grpSpLocks/>
          </p:cNvGrpSpPr>
          <p:nvPr/>
        </p:nvGrpSpPr>
        <p:grpSpPr bwMode="auto">
          <a:xfrm>
            <a:off x="2165350" y="4754563"/>
            <a:ext cx="871538" cy="88900"/>
            <a:chOff x="680" y="2744"/>
            <a:chExt cx="549" cy="56"/>
          </a:xfrm>
        </p:grpSpPr>
        <p:sp>
          <p:nvSpPr>
            <p:cNvPr id="37" name="Line 11"/>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Oval 12"/>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39" name="Group 13"/>
          <p:cNvGrpSpPr>
            <a:grpSpLocks/>
          </p:cNvGrpSpPr>
          <p:nvPr/>
        </p:nvGrpSpPr>
        <p:grpSpPr bwMode="auto">
          <a:xfrm flipH="1">
            <a:off x="3867150" y="4741863"/>
            <a:ext cx="871538" cy="88900"/>
            <a:chOff x="680" y="2744"/>
            <a:chExt cx="549" cy="56"/>
          </a:xfrm>
        </p:grpSpPr>
        <p:sp>
          <p:nvSpPr>
            <p:cNvPr id="40" name="Line 14"/>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Oval 15"/>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42" name="Line 16"/>
          <p:cNvSpPr>
            <a:spLocks noChangeShapeType="1"/>
          </p:cNvSpPr>
          <p:nvPr/>
        </p:nvSpPr>
        <p:spPr bwMode="auto">
          <a:xfrm>
            <a:off x="2419350" y="4779963"/>
            <a:ext cx="393700" cy="127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Text Box 17"/>
          <p:cNvSpPr txBox="1">
            <a:spLocks noChangeArrowheads="1"/>
          </p:cNvSpPr>
          <p:nvPr/>
        </p:nvSpPr>
        <p:spPr bwMode="auto">
          <a:xfrm>
            <a:off x="2565400" y="4271963"/>
            <a:ext cx="2682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sym typeface="Symbol" pitchFamily="18" charset="2"/>
              </a:rPr>
              <a:t>i</a:t>
            </a:r>
            <a:endParaRPr lang="en-US" altLang="zh-CN">
              <a:solidFill>
                <a:schemeClr val="tx2"/>
              </a:solidFill>
              <a:sym typeface="Symbol" pitchFamily="18" charset="2"/>
            </a:endParaRPr>
          </a:p>
        </p:txBody>
      </p:sp>
      <p:sp>
        <p:nvSpPr>
          <p:cNvPr id="44" name="Text Box 30"/>
          <p:cNvSpPr txBox="1">
            <a:spLocks noChangeArrowheads="1"/>
          </p:cNvSpPr>
          <p:nvPr/>
        </p:nvSpPr>
        <p:spPr bwMode="auto">
          <a:xfrm>
            <a:off x="3335338" y="4832350"/>
            <a:ext cx="319087"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i="1">
                <a:solidFill>
                  <a:srgbClr val="993300"/>
                </a:solidFill>
              </a:rPr>
              <a:t>v</a:t>
            </a:r>
          </a:p>
        </p:txBody>
      </p:sp>
      <p:sp>
        <p:nvSpPr>
          <p:cNvPr id="45" name="Text Box 36"/>
          <p:cNvSpPr txBox="1">
            <a:spLocks noChangeArrowheads="1"/>
          </p:cNvSpPr>
          <p:nvPr/>
        </p:nvSpPr>
        <p:spPr bwMode="auto">
          <a:xfrm>
            <a:off x="4564063" y="4905375"/>
            <a:ext cx="295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1600">
                <a:solidFill>
                  <a:srgbClr val="993300"/>
                </a:solidFill>
                <a:latin typeface="黑体" pitchFamily="49" charset="-122"/>
                <a:ea typeface="黑体" pitchFamily="49" charset="-122"/>
              </a:rPr>
              <a:t>－</a:t>
            </a:r>
            <a:endParaRPr lang="en-US" altLang="zh-CN" sz="1600">
              <a:solidFill>
                <a:srgbClr val="993300"/>
              </a:solidFill>
              <a:latin typeface="黑体" pitchFamily="49" charset="-122"/>
              <a:ea typeface="黑体" pitchFamily="49" charset="-122"/>
            </a:endParaRPr>
          </a:p>
        </p:txBody>
      </p:sp>
    </p:spTree>
    <p:extLst>
      <p:ext uri="{BB962C8B-B14F-4D97-AF65-F5344CB8AC3E}">
        <p14:creationId xmlns:p14="http://schemas.microsoft.com/office/powerpoint/2010/main" val="9131864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80595"/>
                                        </p:tgtEl>
                                        <p:attrNameLst>
                                          <p:attrName>style.visibility</p:attrName>
                                        </p:attrNameLst>
                                      </p:cBhvr>
                                      <p:to>
                                        <p:strVal val="visible"/>
                                      </p:to>
                                    </p:set>
                                    <p:animEffect transition="in" filter="barn(inVertical)">
                                      <p:cBhvr>
                                        <p:cTn id="7" dur="500"/>
                                        <p:tgtEl>
                                          <p:spTgt spid="280595"/>
                                        </p:tgtEl>
                                      </p:cBhvr>
                                    </p:animEffect>
                                  </p:childTnLst>
                                </p:cTn>
                              </p:par>
                              <p:par>
                                <p:cTn id="8" presetID="16" presetClass="entr" presetSubtype="21" fill="hold" nodeType="withEffect">
                                  <p:stCondLst>
                                    <p:cond delay="0"/>
                                  </p:stCondLst>
                                  <p:childTnLst>
                                    <p:set>
                                      <p:cBhvr>
                                        <p:cTn id="9" dur="1" fill="hold">
                                          <p:stCondLst>
                                            <p:cond delay="0"/>
                                          </p:stCondLst>
                                        </p:cTn>
                                        <p:tgtEl>
                                          <p:spTgt spid="280596"/>
                                        </p:tgtEl>
                                        <p:attrNameLst>
                                          <p:attrName>style.visibility</p:attrName>
                                        </p:attrNameLst>
                                      </p:cBhvr>
                                      <p:to>
                                        <p:strVal val="visible"/>
                                      </p:to>
                                    </p:set>
                                    <p:animEffect transition="in" filter="barn(inVertical)">
                                      <p:cBhvr>
                                        <p:cTn id="10" dur="500"/>
                                        <p:tgtEl>
                                          <p:spTgt spid="28059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80608"/>
                                        </p:tgtEl>
                                        <p:attrNameLst>
                                          <p:attrName>style.visibility</p:attrName>
                                        </p:attrNameLst>
                                      </p:cBhvr>
                                      <p:to>
                                        <p:strVal val="visible"/>
                                      </p:to>
                                    </p:set>
                                    <p:animEffect transition="in" filter="barn(inVertical)">
                                      <p:cBhvr>
                                        <p:cTn id="13" dur="500"/>
                                        <p:tgtEl>
                                          <p:spTgt spid="280608"/>
                                        </p:tgtEl>
                                      </p:cBhvr>
                                    </p:animEffect>
                                  </p:childTnLst>
                                </p:cTn>
                              </p:par>
                              <p:par>
                                <p:cTn id="14" presetID="16" presetClass="entr" presetSubtype="21" fill="hold" nodeType="withEffect">
                                  <p:stCondLst>
                                    <p:cond delay="0"/>
                                  </p:stCondLst>
                                  <p:childTnLst>
                                    <p:set>
                                      <p:cBhvr>
                                        <p:cTn id="15" dur="1" fill="hold">
                                          <p:stCondLst>
                                            <p:cond delay="0"/>
                                          </p:stCondLst>
                                        </p:cTn>
                                        <p:tgtEl>
                                          <p:spTgt spid="280612"/>
                                        </p:tgtEl>
                                        <p:attrNameLst>
                                          <p:attrName>style.visibility</p:attrName>
                                        </p:attrNameLst>
                                      </p:cBhvr>
                                      <p:to>
                                        <p:strVal val="visible"/>
                                      </p:to>
                                    </p:set>
                                    <p:animEffect transition="in" filter="barn(inVertical)">
                                      <p:cBhvr>
                                        <p:cTn id="16" dur="500"/>
                                        <p:tgtEl>
                                          <p:spTgt spid="28061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80578"/>
                                        </p:tgtEl>
                                        <p:attrNameLst>
                                          <p:attrName>style.visibility</p:attrName>
                                        </p:attrNameLst>
                                      </p:cBhvr>
                                      <p:to>
                                        <p:strVal val="visible"/>
                                      </p:to>
                                    </p:set>
                                    <p:animEffect transition="in" filter="barn(inVertical)">
                                      <p:cBhvr>
                                        <p:cTn id="21" dur="500"/>
                                        <p:tgtEl>
                                          <p:spTgt spid="280578"/>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280579"/>
                                        </p:tgtEl>
                                        <p:attrNameLst>
                                          <p:attrName>style.visibility</p:attrName>
                                        </p:attrNameLst>
                                      </p:cBhvr>
                                      <p:to>
                                        <p:strVal val="visible"/>
                                      </p:to>
                                    </p:set>
                                    <p:animEffect transition="in" filter="barn(inVertical)">
                                      <p:cBhvr>
                                        <p:cTn id="26" dur="500"/>
                                        <p:tgtEl>
                                          <p:spTgt spid="280579"/>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barn(inVertical)">
                                      <p:cBhvr>
                                        <p:cTn id="29" dur="500"/>
                                        <p:tgtEl>
                                          <p:spTgt spid="33"/>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barn(inVertical)">
                                      <p:cBhvr>
                                        <p:cTn id="32" dur="500"/>
                                        <p:tgtEl>
                                          <p:spTgt spid="34"/>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barn(inVertical)">
                                      <p:cBhvr>
                                        <p:cTn id="35" dur="500"/>
                                        <p:tgtEl>
                                          <p:spTgt spid="35"/>
                                        </p:tgtEl>
                                      </p:cBhvr>
                                    </p:animEffect>
                                  </p:childTnLst>
                                </p:cTn>
                              </p:par>
                              <p:par>
                                <p:cTn id="36" presetID="16" presetClass="entr" presetSubtype="21" fill="hold"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barn(inVertical)">
                                      <p:cBhvr>
                                        <p:cTn id="38" dur="500"/>
                                        <p:tgtEl>
                                          <p:spTgt spid="36"/>
                                        </p:tgtEl>
                                      </p:cBhvr>
                                    </p:animEffect>
                                  </p:childTnLst>
                                </p:cTn>
                              </p:par>
                              <p:par>
                                <p:cTn id="39" presetID="16" presetClass="entr" presetSubtype="21"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barn(inVertical)">
                                      <p:cBhvr>
                                        <p:cTn id="41" dur="500"/>
                                        <p:tgtEl>
                                          <p:spTgt spid="39"/>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barn(inVertical)">
                                      <p:cBhvr>
                                        <p:cTn id="44" dur="500"/>
                                        <p:tgtEl>
                                          <p:spTgt spid="42"/>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barn(inVertical)">
                                      <p:cBhvr>
                                        <p:cTn id="47" dur="500"/>
                                        <p:tgtEl>
                                          <p:spTgt spid="43"/>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barn(inVertical)">
                                      <p:cBhvr>
                                        <p:cTn id="50" dur="500"/>
                                        <p:tgtEl>
                                          <p:spTgt spid="44"/>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barn(inVertical)">
                                      <p:cBhvr>
                                        <p:cTn id="53" dur="500"/>
                                        <p:tgtEl>
                                          <p:spTgt spid="45"/>
                                        </p:tgtEl>
                                      </p:cBhvr>
                                    </p:animEffect>
                                  </p:childTnLst>
                                </p:cTn>
                              </p:par>
                            </p:childTnLst>
                          </p:cTn>
                        </p:par>
                        <p:par>
                          <p:cTn id="54" fill="hold">
                            <p:stCondLst>
                              <p:cond delay="500"/>
                            </p:stCondLst>
                            <p:childTnLst>
                              <p:par>
                                <p:cTn id="55" presetID="16" presetClass="entr" presetSubtype="21" fill="hold" grpId="0" nodeType="afterEffect">
                                  <p:stCondLst>
                                    <p:cond delay="0"/>
                                  </p:stCondLst>
                                  <p:childTnLst>
                                    <p:set>
                                      <p:cBhvr>
                                        <p:cTn id="56" dur="1" fill="hold">
                                          <p:stCondLst>
                                            <p:cond delay="0"/>
                                          </p:stCondLst>
                                        </p:cTn>
                                        <p:tgtEl>
                                          <p:spTgt spid="280580"/>
                                        </p:tgtEl>
                                        <p:attrNameLst>
                                          <p:attrName>style.visibility</p:attrName>
                                        </p:attrNameLst>
                                      </p:cBhvr>
                                      <p:to>
                                        <p:strVal val="visible"/>
                                      </p:to>
                                    </p:set>
                                    <p:animEffect transition="in" filter="barn(inVertical)">
                                      <p:cBhvr>
                                        <p:cTn id="57" dur="500"/>
                                        <p:tgtEl>
                                          <p:spTgt spid="280580"/>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280581"/>
                                        </p:tgtEl>
                                        <p:attrNameLst>
                                          <p:attrName>style.visibility</p:attrName>
                                        </p:attrNameLst>
                                      </p:cBhvr>
                                      <p:to>
                                        <p:strVal val="visible"/>
                                      </p:to>
                                    </p:set>
                                    <p:animEffect transition="in" filter="barn(inVertical)">
                                      <p:cBhvr>
                                        <p:cTn id="62" dur="500"/>
                                        <p:tgtEl>
                                          <p:spTgt spid="280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78" grpId="0"/>
      <p:bldP spid="280579" grpId="0"/>
      <p:bldP spid="280580" grpId="0"/>
      <p:bldP spid="280581" grpId="0"/>
      <p:bldP spid="280595" grpId="0"/>
      <p:bldP spid="280608" grpId="0"/>
      <p:bldP spid="33" grpId="0"/>
      <p:bldP spid="34" grpId="0" animBg="1"/>
      <p:bldP spid="35" grpId="0"/>
      <p:bldP spid="42" grpId="0" animBg="1"/>
      <p:bldP spid="43" grpId="0"/>
      <p:bldP spid="44" grpId="0"/>
      <p:bldP spid="4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Text Box 2"/>
          <p:cNvSpPr txBox="1">
            <a:spLocks noChangeArrowheads="1"/>
          </p:cNvSpPr>
          <p:nvPr/>
        </p:nvSpPr>
        <p:spPr bwMode="auto">
          <a:xfrm>
            <a:off x="711200" y="5483225"/>
            <a:ext cx="67135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dirty="0">
                <a:solidFill>
                  <a:schemeClr val="tx2"/>
                </a:solidFill>
                <a:sym typeface="Symbol" pitchFamily="18" charset="2"/>
              </a:rPr>
              <a:t>  </a:t>
            </a:r>
            <a:r>
              <a:rPr lang="zh-CN" altLang="en-US" dirty="0">
                <a:solidFill>
                  <a:schemeClr val="tx2"/>
                </a:solidFill>
              </a:rPr>
              <a:t>线性电阻 </a:t>
            </a:r>
            <a:r>
              <a:rPr lang="en-US" altLang="zh-CN" i="1" dirty="0">
                <a:solidFill>
                  <a:schemeClr val="tx2"/>
                </a:solidFill>
              </a:rPr>
              <a:t>R </a:t>
            </a:r>
            <a:r>
              <a:rPr lang="zh-CN" altLang="en-US" dirty="0">
                <a:solidFill>
                  <a:schemeClr val="tx2"/>
                </a:solidFill>
              </a:rPr>
              <a:t>是一个与电压、电流无关的常数。</a:t>
            </a:r>
          </a:p>
        </p:txBody>
      </p:sp>
      <p:sp>
        <p:nvSpPr>
          <p:cNvPr id="240644" name="Text Box 4"/>
          <p:cNvSpPr txBox="1">
            <a:spLocks noChangeArrowheads="1"/>
          </p:cNvSpPr>
          <p:nvPr/>
        </p:nvSpPr>
        <p:spPr bwMode="auto">
          <a:xfrm>
            <a:off x="1323975" y="4079875"/>
            <a:ext cx="16668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lang="en-US" altLang="zh-CN" dirty="0">
                <a:solidFill>
                  <a:schemeClr val="tx2"/>
                </a:solidFill>
              </a:rPr>
              <a:t> </a:t>
            </a:r>
            <a:r>
              <a:rPr lang="en-US" altLang="zh-CN" i="1" dirty="0">
                <a:solidFill>
                  <a:schemeClr val="tx2"/>
                </a:solidFill>
              </a:rPr>
              <a:t>R </a:t>
            </a:r>
            <a:r>
              <a:rPr lang="en-US" altLang="zh-CN" dirty="0">
                <a:solidFill>
                  <a:schemeClr val="tx2"/>
                </a:solidFill>
                <a:sym typeface="Symbol" pitchFamily="18" charset="2"/>
              </a:rPr>
              <a:t> </a:t>
            </a:r>
            <a:r>
              <a:rPr lang="en-US" altLang="zh-CN" dirty="0" err="1">
                <a:solidFill>
                  <a:schemeClr val="tx2"/>
                </a:solidFill>
                <a:sym typeface="Symbol" pitchFamily="18" charset="2"/>
              </a:rPr>
              <a:t>tg</a:t>
            </a:r>
            <a:r>
              <a:rPr lang="en-US" altLang="zh-CN" dirty="0">
                <a:solidFill>
                  <a:schemeClr val="tx2"/>
                </a:solidFill>
                <a:sym typeface="Symbol" pitchFamily="18" charset="2"/>
              </a:rPr>
              <a:t> </a:t>
            </a:r>
            <a:r>
              <a:rPr lang="en-US" altLang="zh-CN" i="1" dirty="0">
                <a:solidFill>
                  <a:schemeClr val="tx2"/>
                </a:solidFill>
                <a:sym typeface="Symbol" pitchFamily="18" charset="2"/>
              </a:rPr>
              <a:t></a:t>
            </a:r>
            <a:endParaRPr lang="en-US" altLang="zh-CN" dirty="0">
              <a:solidFill>
                <a:schemeClr val="tx2"/>
              </a:solidFill>
              <a:sym typeface="Symbol" pitchFamily="18" charset="2"/>
            </a:endParaRPr>
          </a:p>
        </p:txBody>
      </p:sp>
      <p:sp>
        <p:nvSpPr>
          <p:cNvPr id="240645" name="Text Box 5"/>
          <p:cNvSpPr txBox="1">
            <a:spLocks noChangeArrowheads="1"/>
          </p:cNvSpPr>
          <p:nvPr/>
        </p:nvSpPr>
        <p:spPr bwMode="auto">
          <a:xfrm>
            <a:off x="841375" y="2981325"/>
            <a:ext cx="384175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zh-CN" altLang="en-US" dirty="0">
                <a:solidFill>
                  <a:srgbClr val="0000CC"/>
                </a:solidFill>
              </a:rPr>
              <a:t>线性</a:t>
            </a:r>
            <a:r>
              <a:rPr lang="zh-CN" altLang="en-US" dirty="0">
                <a:solidFill>
                  <a:srgbClr val="0000CC"/>
                </a:solidFill>
                <a:sym typeface="Symbol" pitchFamily="18" charset="2"/>
              </a:rPr>
              <a:t>电阻元件的伏安特性为</a:t>
            </a:r>
          </a:p>
          <a:p>
            <a:pPr eaLnBrk="0" hangingPunct="0"/>
            <a:r>
              <a:rPr lang="zh-CN" altLang="en-US" dirty="0">
                <a:solidFill>
                  <a:srgbClr val="0000CC"/>
                </a:solidFill>
                <a:sym typeface="Symbol" pitchFamily="18" charset="2"/>
              </a:rPr>
              <a:t>一条过原点的直线</a:t>
            </a:r>
          </a:p>
        </p:txBody>
      </p:sp>
      <p:sp>
        <p:nvSpPr>
          <p:cNvPr id="240647" name="Text Box 7"/>
          <p:cNvSpPr txBox="1">
            <a:spLocks noChangeArrowheads="1"/>
          </p:cNvSpPr>
          <p:nvPr/>
        </p:nvSpPr>
        <p:spPr bwMode="auto">
          <a:xfrm>
            <a:off x="6445250" y="3706813"/>
            <a:ext cx="508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lang="en-US" altLang="zh-CN" i="1">
                <a:solidFill>
                  <a:schemeClr val="tx2"/>
                </a:solidFill>
                <a:sym typeface="Symbol" pitchFamily="18" charset="2"/>
              </a:rPr>
              <a:t></a:t>
            </a:r>
            <a:endParaRPr lang="en-US" altLang="zh-CN">
              <a:solidFill>
                <a:schemeClr val="tx2"/>
              </a:solidFill>
            </a:endParaRPr>
          </a:p>
        </p:txBody>
      </p:sp>
      <p:sp>
        <p:nvSpPr>
          <p:cNvPr id="240648" name="Line 8"/>
          <p:cNvSpPr>
            <a:spLocks noChangeShapeType="1"/>
          </p:cNvSpPr>
          <p:nvPr/>
        </p:nvSpPr>
        <p:spPr bwMode="auto">
          <a:xfrm rot="1371877">
            <a:off x="6438900" y="2930525"/>
            <a:ext cx="1588" cy="2005013"/>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49" name="Freeform 9"/>
          <p:cNvSpPr>
            <a:spLocks/>
          </p:cNvSpPr>
          <p:nvPr/>
        </p:nvSpPr>
        <p:spPr bwMode="auto">
          <a:xfrm>
            <a:off x="6432550" y="3951288"/>
            <a:ext cx="136525" cy="249237"/>
          </a:xfrm>
          <a:custGeom>
            <a:avLst/>
            <a:gdLst>
              <a:gd name="T0" fmla="*/ 0 w 114"/>
              <a:gd name="T1" fmla="*/ 0 h 201"/>
              <a:gd name="T2" fmla="*/ 51 w 114"/>
              <a:gd name="T3" fmla="*/ 30 h 201"/>
              <a:gd name="T4" fmla="*/ 90 w 114"/>
              <a:gd name="T5" fmla="*/ 78 h 201"/>
              <a:gd name="T6" fmla="*/ 108 w 114"/>
              <a:gd name="T7" fmla="*/ 129 h 201"/>
              <a:gd name="T8" fmla="*/ 114 w 114"/>
              <a:gd name="T9" fmla="*/ 201 h 201"/>
            </a:gdLst>
            <a:ahLst/>
            <a:cxnLst>
              <a:cxn ang="0">
                <a:pos x="T0" y="T1"/>
              </a:cxn>
              <a:cxn ang="0">
                <a:pos x="T2" y="T3"/>
              </a:cxn>
              <a:cxn ang="0">
                <a:pos x="T4" y="T5"/>
              </a:cxn>
              <a:cxn ang="0">
                <a:pos x="T6" y="T7"/>
              </a:cxn>
              <a:cxn ang="0">
                <a:pos x="T8" y="T9"/>
              </a:cxn>
            </a:cxnLst>
            <a:rect l="0" t="0" r="r" b="b"/>
            <a:pathLst>
              <a:path w="114" h="201">
                <a:moveTo>
                  <a:pt x="0" y="0"/>
                </a:moveTo>
                <a:cubicBezTo>
                  <a:pt x="8" y="5"/>
                  <a:pt x="36" y="17"/>
                  <a:pt x="51" y="30"/>
                </a:cubicBezTo>
                <a:cubicBezTo>
                  <a:pt x="66" y="43"/>
                  <a:pt x="80" y="62"/>
                  <a:pt x="90" y="78"/>
                </a:cubicBezTo>
                <a:cubicBezTo>
                  <a:pt x="100" y="94"/>
                  <a:pt x="104" y="109"/>
                  <a:pt x="108" y="129"/>
                </a:cubicBezTo>
                <a:cubicBezTo>
                  <a:pt x="112" y="149"/>
                  <a:pt x="113" y="186"/>
                  <a:pt x="114" y="201"/>
                </a:cubicBezTo>
              </a:path>
            </a:pathLst>
          </a:custGeom>
          <a:noFill/>
          <a:ln w="12700"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0650" name="Rectangle 10"/>
          <p:cNvSpPr>
            <a:spLocks noChangeArrowheads="1"/>
          </p:cNvSpPr>
          <p:nvPr/>
        </p:nvSpPr>
        <p:spPr bwMode="auto">
          <a:xfrm>
            <a:off x="5946775" y="2751138"/>
            <a:ext cx="3190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i="1">
                <a:solidFill>
                  <a:schemeClr val="tx2"/>
                </a:solidFill>
              </a:rPr>
              <a:t>v</a:t>
            </a:r>
            <a:endParaRPr lang="en-US" altLang="zh-CN">
              <a:solidFill>
                <a:schemeClr val="tx2"/>
              </a:solidFill>
            </a:endParaRPr>
          </a:p>
        </p:txBody>
      </p:sp>
      <p:sp>
        <p:nvSpPr>
          <p:cNvPr id="240651" name="Rectangle 11"/>
          <p:cNvSpPr>
            <a:spLocks noChangeArrowheads="1"/>
          </p:cNvSpPr>
          <p:nvPr/>
        </p:nvSpPr>
        <p:spPr bwMode="auto">
          <a:xfrm>
            <a:off x="7416800" y="4121150"/>
            <a:ext cx="2682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i="1">
                <a:solidFill>
                  <a:schemeClr val="tx2"/>
                </a:solidFill>
              </a:rPr>
              <a:t>i</a:t>
            </a:r>
            <a:endParaRPr lang="en-US" altLang="zh-CN">
              <a:solidFill>
                <a:schemeClr val="tx2"/>
              </a:solidFill>
            </a:endParaRPr>
          </a:p>
        </p:txBody>
      </p:sp>
      <p:sp>
        <p:nvSpPr>
          <p:cNvPr id="240652" name="Line 12"/>
          <p:cNvSpPr>
            <a:spLocks noChangeShapeType="1"/>
          </p:cNvSpPr>
          <p:nvPr/>
        </p:nvSpPr>
        <p:spPr bwMode="auto">
          <a:xfrm>
            <a:off x="5697538" y="4186238"/>
            <a:ext cx="1901825" cy="0"/>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53" name="Line 13"/>
          <p:cNvSpPr>
            <a:spLocks noChangeShapeType="1"/>
          </p:cNvSpPr>
          <p:nvPr/>
        </p:nvSpPr>
        <p:spPr bwMode="auto">
          <a:xfrm flipV="1">
            <a:off x="6327775" y="2871788"/>
            <a:ext cx="0" cy="1987550"/>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54" name="Text Box 14"/>
          <p:cNvSpPr txBox="1">
            <a:spLocks noChangeArrowheads="1"/>
          </p:cNvSpPr>
          <p:nvPr/>
        </p:nvSpPr>
        <p:spPr bwMode="auto">
          <a:xfrm>
            <a:off x="6261100" y="4108450"/>
            <a:ext cx="3111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zh-CN" sz="2000">
                <a:solidFill>
                  <a:srgbClr val="000000"/>
                </a:solidFill>
                <a:sym typeface="Symbol" pitchFamily="18" charset="2"/>
              </a:rPr>
              <a:t>0</a:t>
            </a:r>
            <a:endParaRPr lang="en-US" altLang="zh-CN" sz="2800">
              <a:solidFill>
                <a:srgbClr val="000000"/>
              </a:solidFill>
              <a:sym typeface="Symbol" pitchFamily="18" charset="2"/>
            </a:endParaRPr>
          </a:p>
        </p:txBody>
      </p:sp>
      <p:sp>
        <p:nvSpPr>
          <p:cNvPr id="240656" name="Text Box 16"/>
          <p:cNvSpPr txBox="1">
            <a:spLocks noChangeArrowheads="1"/>
          </p:cNvSpPr>
          <p:nvPr/>
        </p:nvSpPr>
        <p:spPr bwMode="auto">
          <a:xfrm>
            <a:off x="695325" y="425450"/>
            <a:ext cx="21494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lang="zh-CN" altLang="en-US">
                <a:solidFill>
                  <a:schemeClr val="tx2"/>
                </a:solidFill>
              </a:rPr>
              <a:t>令     </a:t>
            </a:r>
            <a:r>
              <a:rPr lang="en-US" altLang="zh-CN" i="1">
                <a:solidFill>
                  <a:schemeClr val="tx2"/>
                </a:solidFill>
              </a:rPr>
              <a:t>G</a:t>
            </a:r>
            <a:r>
              <a:rPr lang="en-US" altLang="zh-CN" b="0">
                <a:solidFill>
                  <a:schemeClr val="tx2"/>
                </a:solidFill>
              </a:rPr>
              <a:t> </a:t>
            </a:r>
            <a:r>
              <a:rPr lang="en-US" altLang="zh-CN">
                <a:solidFill>
                  <a:schemeClr val="tx2"/>
                </a:solidFill>
                <a:sym typeface="Symbol" pitchFamily="18" charset="2"/>
              </a:rPr>
              <a:t> 1/</a:t>
            </a:r>
            <a:r>
              <a:rPr lang="en-US" altLang="zh-CN" i="1">
                <a:solidFill>
                  <a:schemeClr val="tx2"/>
                </a:solidFill>
                <a:sym typeface="Symbol" pitchFamily="18" charset="2"/>
              </a:rPr>
              <a:t>R</a:t>
            </a:r>
            <a:endParaRPr lang="en-US" altLang="zh-CN">
              <a:solidFill>
                <a:schemeClr val="tx2"/>
              </a:solidFill>
              <a:sym typeface="Symbol" pitchFamily="18" charset="2"/>
            </a:endParaRPr>
          </a:p>
        </p:txBody>
      </p:sp>
      <p:sp>
        <p:nvSpPr>
          <p:cNvPr id="240657" name="Text Box 17"/>
          <p:cNvSpPr txBox="1">
            <a:spLocks noChangeArrowheads="1"/>
          </p:cNvSpPr>
          <p:nvPr/>
        </p:nvSpPr>
        <p:spPr bwMode="auto">
          <a:xfrm>
            <a:off x="3008313" y="393700"/>
            <a:ext cx="18049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lang="en-US" altLang="zh-CN" i="1" dirty="0">
                <a:solidFill>
                  <a:schemeClr val="tx2"/>
                </a:solidFill>
              </a:rPr>
              <a:t>G </a:t>
            </a:r>
            <a:r>
              <a:rPr lang="zh-CN" altLang="en-US" dirty="0">
                <a:solidFill>
                  <a:schemeClr val="tx2"/>
                </a:solidFill>
              </a:rPr>
              <a:t>称为</a:t>
            </a:r>
            <a:r>
              <a:rPr lang="zh-CN" altLang="en-US" dirty="0">
                <a:solidFill>
                  <a:srgbClr val="FF0000"/>
                </a:solidFill>
              </a:rPr>
              <a:t>电导</a:t>
            </a:r>
          </a:p>
        </p:txBody>
      </p:sp>
      <p:sp>
        <p:nvSpPr>
          <p:cNvPr id="240658" name="Text Box 18"/>
          <p:cNvSpPr txBox="1">
            <a:spLocks noChangeArrowheads="1"/>
          </p:cNvSpPr>
          <p:nvPr/>
        </p:nvSpPr>
        <p:spPr bwMode="auto">
          <a:xfrm>
            <a:off x="4259263" y="1733550"/>
            <a:ext cx="42687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lang="zh-CN" altLang="en-US" dirty="0">
                <a:solidFill>
                  <a:schemeClr val="tx2"/>
                </a:solidFill>
              </a:rPr>
              <a:t>则  欧姆定律表示为  </a:t>
            </a:r>
            <a:r>
              <a:rPr lang="zh-CN" altLang="en-US" i="1" dirty="0">
                <a:solidFill>
                  <a:schemeClr val="tx2"/>
                </a:solidFill>
              </a:rPr>
              <a:t> </a:t>
            </a:r>
            <a:r>
              <a:rPr lang="en-US" altLang="zh-CN" i="1" dirty="0" err="1">
                <a:solidFill>
                  <a:srgbClr val="FF0000"/>
                </a:solidFill>
              </a:rPr>
              <a:t>i</a:t>
            </a:r>
            <a:r>
              <a:rPr lang="en-US" altLang="zh-CN" i="1" dirty="0">
                <a:solidFill>
                  <a:srgbClr val="FF0000"/>
                </a:solidFill>
              </a:rPr>
              <a:t> </a:t>
            </a:r>
            <a:r>
              <a:rPr lang="en-US" altLang="zh-CN" dirty="0">
                <a:solidFill>
                  <a:srgbClr val="FF0000"/>
                </a:solidFill>
                <a:sym typeface="Symbol" pitchFamily="18" charset="2"/>
              </a:rPr>
              <a:t> </a:t>
            </a:r>
            <a:r>
              <a:rPr lang="en-US" altLang="zh-CN" i="1" dirty="0">
                <a:solidFill>
                  <a:srgbClr val="FF0000"/>
                </a:solidFill>
              </a:rPr>
              <a:t>G v</a:t>
            </a:r>
            <a:endParaRPr lang="en-US" altLang="zh-CN" dirty="0">
              <a:solidFill>
                <a:srgbClr val="FF0000"/>
              </a:solidFill>
            </a:endParaRPr>
          </a:p>
        </p:txBody>
      </p:sp>
      <p:sp>
        <p:nvSpPr>
          <p:cNvPr id="240659" name="Text Box 19"/>
          <p:cNvSpPr txBox="1">
            <a:spLocks noChangeArrowheads="1"/>
          </p:cNvSpPr>
          <p:nvPr/>
        </p:nvSpPr>
        <p:spPr bwMode="auto">
          <a:xfrm>
            <a:off x="803275" y="796925"/>
            <a:ext cx="6183313"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0" hangingPunct="0">
              <a:lnSpc>
                <a:spcPct val="150000"/>
              </a:lnSpc>
            </a:pPr>
            <a:r>
              <a:rPr lang="zh-CN" altLang="en-US">
                <a:solidFill>
                  <a:schemeClr val="tx2"/>
                </a:solidFill>
              </a:rPr>
              <a:t>单位名称：西</a:t>
            </a:r>
            <a:r>
              <a:rPr lang="en-US" altLang="zh-CN">
                <a:solidFill>
                  <a:schemeClr val="tx2"/>
                </a:solidFill>
              </a:rPr>
              <a:t>(</a:t>
            </a:r>
            <a:r>
              <a:rPr lang="zh-CN" altLang="en-US">
                <a:solidFill>
                  <a:schemeClr val="tx2"/>
                </a:solidFill>
              </a:rPr>
              <a:t>门子</a:t>
            </a:r>
            <a:r>
              <a:rPr lang="en-US" altLang="zh-CN">
                <a:solidFill>
                  <a:schemeClr val="tx2"/>
                </a:solidFill>
              </a:rPr>
              <a:t>)       </a:t>
            </a:r>
            <a:r>
              <a:rPr lang="zh-CN" altLang="en-US">
                <a:solidFill>
                  <a:schemeClr val="tx2"/>
                </a:solidFill>
              </a:rPr>
              <a:t>符号</a:t>
            </a:r>
            <a:r>
              <a:rPr lang="en-US" altLang="zh-CN">
                <a:solidFill>
                  <a:schemeClr val="tx2"/>
                </a:solidFill>
              </a:rPr>
              <a:t>:   S (Siemens)</a:t>
            </a:r>
          </a:p>
        </p:txBody>
      </p:sp>
      <p:sp>
        <p:nvSpPr>
          <p:cNvPr id="240674" name="Text Box 34"/>
          <p:cNvSpPr txBox="1">
            <a:spLocks noChangeArrowheads="1"/>
          </p:cNvSpPr>
          <p:nvPr/>
        </p:nvSpPr>
        <p:spPr bwMode="auto">
          <a:xfrm>
            <a:off x="2470150" y="1592263"/>
            <a:ext cx="4048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i="1">
                <a:solidFill>
                  <a:schemeClr val="tx2"/>
                </a:solidFill>
              </a:rPr>
              <a:t>G</a:t>
            </a:r>
            <a:endParaRPr lang="en-US" altLang="zh-CN" sz="3200">
              <a:solidFill>
                <a:schemeClr val="tx2"/>
              </a:solidFill>
            </a:endParaRPr>
          </a:p>
        </p:txBody>
      </p:sp>
      <p:sp>
        <p:nvSpPr>
          <p:cNvPr id="240675" name="Rectangle 35"/>
          <p:cNvSpPr>
            <a:spLocks noChangeArrowheads="1"/>
          </p:cNvSpPr>
          <p:nvPr/>
        </p:nvSpPr>
        <p:spPr bwMode="auto">
          <a:xfrm>
            <a:off x="2239963" y="2081213"/>
            <a:ext cx="781050" cy="266700"/>
          </a:xfrm>
          <a:prstGeom prst="rect">
            <a:avLst/>
          </a:prstGeom>
          <a:noFill/>
          <a:ln w="38100" cap="sq">
            <a:solidFill>
              <a:schemeClr val="tx1"/>
            </a:solidFill>
            <a:miter lim="800000"/>
            <a:headEnd/>
            <a:tailEnd/>
          </a:ln>
          <a:effectLst/>
          <a:extLst/>
        </p:spPr>
        <p:txBody>
          <a:bodyPr wrap="none" anchor="ctr"/>
          <a:lstStyle/>
          <a:p>
            <a:endParaRPr lang="zh-CN" altLang="en-US"/>
          </a:p>
        </p:txBody>
      </p:sp>
      <p:sp>
        <p:nvSpPr>
          <p:cNvPr id="240676" name="Text Box 36"/>
          <p:cNvSpPr txBox="1">
            <a:spLocks noChangeArrowheads="1"/>
          </p:cNvSpPr>
          <p:nvPr/>
        </p:nvSpPr>
        <p:spPr bwMode="auto">
          <a:xfrm>
            <a:off x="1270000" y="2259013"/>
            <a:ext cx="293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lang="en-US" altLang="zh-CN" sz="2800">
                <a:solidFill>
                  <a:srgbClr val="993300"/>
                </a:solidFill>
                <a:sym typeface="CommonBullets" pitchFamily="34" charset="2"/>
              </a:rPr>
              <a:t>+</a:t>
            </a:r>
            <a:endParaRPr lang="en-US" altLang="zh-CN" sz="2800">
              <a:solidFill>
                <a:srgbClr val="993300"/>
              </a:solidFill>
            </a:endParaRPr>
          </a:p>
        </p:txBody>
      </p:sp>
      <p:sp>
        <p:nvSpPr>
          <p:cNvPr id="240677" name="Line 37"/>
          <p:cNvSpPr>
            <a:spLocks noChangeShapeType="1"/>
          </p:cNvSpPr>
          <p:nvPr/>
        </p:nvSpPr>
        <p:spPr bwMode="auto">
          <a:xfrm flipV="1">
            <a:off x="3784599" y="2522537"/>
            <a:ext cx="199571" cy="3175"/>
          </a:xfrm>
          <a:prstGeom prst="line">
            <a:avLst/>
          </a:prstGeom>
          <a:noFill/>
          <a:ln w="28575" cap="sq">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40678" name="Group 38"/>
          <p:cNvGrpSpPr>
            <a:grpSpLocks/>
          </p:cNvGrpSpPr>
          <p:nvPr/>
        </p:nvGrpSpPr>
        <p:grpSpPr bwMode="auto">
          <a:xfrm>
            <a:off x="1346200" y="2182813"/>
            <a:ext cx="871538" cy="88900"/>
            <a:chOff x="680" y="2744"/>
            <a:chExt cx="549" cy="56"/>
          </a:xfrm>
        </p:grpSpPr>
        <p:sp>
          <p:nvSpPr>
            <p:cNvPr id="240679" name="Line 39"/>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80" name="Oval 40"/>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0681" name="Group 41"/>
          <p:cNvGrpSpPr>
            <a:grpSpLocks/>
          </p:cNvGrpSpPr>
          <p:nvPr/>
        </p:nvGrpSpPr>
        <p:grpSpPr bwMode="auto">
          <a:xfrm flipH="1">
            <a:off x="3048000" y="2170113"/>
            <a:ext cx="871538" cy="88900"/>
            <a:chOff x="680" y="2744"/>
            <a:chExt cx="549" cy="56"/>
          </a:xfrm>
        </p:grpSpPr>
        <p:sp>
          <p:nvSpPr>
            <p:cNvPr id="240682" name="Line 42"/>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83" name="Oval 43"/>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40684" name="Line 44"/>
          <p:cNvSpPr>
            <a:spLocks noChangeShapeType="1"/>
          </p:cNvSpPr>
          <p:nvPr/>
        </p:nvSpPr>
        <p:spPr bwMode="auto">
          <a:xfrm>
            <a:off x="1600200" y="2208213"/>
            <a:ext cx="393700" cy="127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0685" name="Text Box 45"/>
          <p:cNvSpPr txBox="1">
            <a:spLocks noChangeArrowheads="1"/>
          </p:cNvSpPr>
          <p:nvPr/>
        </p:nvSpPr>
        <p:spPr bwMode="auto">
          <a:xfrm>
            <a:off x="1746250" y="1700213"/>
            <a:ext cx="2682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i="1">
                <a:solidFill>
                  <a:schemeClr val="tx2"/>
                </a:solidFill>
                <a:sym typeface="Symbol" pitchFamily="18" charset="2"/>
              </a:rPr>
              <a:t>i</a:t>
            </a:r>
            <a:endParaRPr lang="en-US" altLang="zh-CN">
              <a:solidFill>
                <a:schemeClr val="tx2"/>
              </a:solidFill>
              <a:sym typeface="Symbol" pitchFamily="18" charset="2"/>
            </a:endParaRPr>
          </a:p>
        </p:txBody>
      </p:sp>
      <p:sp>
        <p:nvSpPr>
          <p:cNvPr id="240686" name="Text Box 46"/>
          <p:cNvSpPr txBox="1">
            <a:spLocks noChangeArrowheads="1"/>
          </p:cNvSpPr>
          <p:nvPr/>
        </p:nvSpPr>
        <p:spPr bwMode="auto">
          <a:xfrm>
            <a:off x="2517775" y="2260600"/>
            <a:ext cx="319088"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i="1">
                <a:solidFill>
                  <a:srgbClr val="993300"/>
                </a:solidFill>
              </a:rPr>
              <a:t>v</a:t>
            </a:r>
          </a:p>
        </p:txBody>
      </p:sp>
    </p:spTree>
    <p:extLst>
      <p:ext uri="{BB962C8B-B14F-4D97-AF65-F5344CB8AC3E}">
        <p14:creationId xmlns:p14="http://schemas.microsoft.com/office/powerpoint/2010/main" val="385599389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0656"/>
                                        </p:tgtEl>
                                        <p:attrNameLst>
                                          <p:attrName>style.visibility</p:attrName>
                                        </p:attrNameLst>
                                      </p:cBhvr>
                                      <p:to>
                                        <p:strVal val="visible"/>
                                      </p:to>
                                    </p:set>
                                    <p:animEffect transition="in" filter="barn(inVertical)">
                                      <p:cBhvr>
                                        <p:cTn id="7" dur="500"/>
                                        <p:tgtEl>
                                          <p:spTgt spid="24065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40657"/>
                                        </p:tgtEl>
                                        <p:attrNameLst>
                                          <p:attrName>style.visibility</p:attrName>
                                        </p:attrNameLst>
                                      </p:cBhvr>
                                      <p:to>
                                        <p:strVal val="visible"/>
                                      </p:to>
                                    </p:set>
                                    <p:animEffect transition="in" filter="barn(inVertical)">
                                      <p:cBhvr>
                                        <p:cTn id="10" dur="500"/>
                                        <p:tgtEl>
                                          <p:spTgt spid="24065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40659"/>
                                        </p:tgtEl>
                                        <p:attrNameLst>
                                          <p:attrName>style.visibility</p:attrName>
                                        </p:attrNameLst>
                                      </p:cBhvr>
                                      <p:to>
                                        <p:strVal val="visible"/>
                                      </p:to>
                                    </p:set>
                                    <p:animEffect transition="in" filter="barn(inVertical)">
                                      <p:cBhvr>
                                        <p:cTn id="13" dur="500"/>
                                        <p:tgtEl>
                                          <p:spTgt spid="240659"/>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240674"/>
                                        </p:tgtEl>
                                        <p:attrNameLst>
                                          <p:attrName>style.visibility</p:attrName>
                                        </p:attrNameLst>
                                      </p:cBhvr>
                                      <p:to>
                                        <p:strVal val="visible"/>
                                      </p:to>
                                    </p:set>
                                    <p:animEffect transition="in" filter="barn(inVertical)">
                                      <p:cBhvr>
                                        <p:cTn id="18" dur="500"/>
                                        <p:tgtEl>
                                          <p:spTgt spid="240674"/>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240675"/>
                                        </p:tgtEl>
                                        <p:attrNameLst>
                                          <p:attrName>style.visibility</p:attrName>
                                        </p:attrNameLst>
                                      </p:cBhvr>
                                      <p:to>
                                        <p:strVal val="visible"/>
                                      </p:to>
                                    </p:set>
                                    <p:animEffect transition="in" filter="barn(inVertical)">
                                      <p:cBhvr>
                                        <p:cTn id="21" dur="500"/>
                                        <p:tgtEl>
                                          <p:spTgt spid="240675"/>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240676"/>
                                        </p:tgtEl>
                                        <p:attrNameLst>
                                          <p:attrName>style.visibility</p:attrName>
                                        </p:attrNameLst>
                                      </p:cBhvr>
                                      <p:to>
                                        <p:strVal val="visible"/>
                                      </p:to>
                                    </p:set>
                                    <p:animEffect transition="in" filter="barn(inVertical)">
                                      <p:cBhvr>
                                        <p:cTn id="24" dur="500"/>
                                        <p:tgtEl>
                                          <p:spTgt spid="240676"/>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240677"/>
                                        </p:tgtEl>
                                        <p:attrNameLst>
                                          <p:attrName>style.visibility</p:attrName>
                                        </p:attrNameLst>
                                      </p:cBhvr>
                                      <p:to>
                                        <p:strVal val="visible"/>
                                      </p:to>
                                    </p:set>
                                    <p:animEffect transition="in" filter="barn(inVertical)">
                                      <p:cBhvr>
                                        <p:cTn id="27" dur="500"/>
                                        <p:tgtEl>
                                          <p:spTgt spid="240677"/>
                                        </p:tgtEl>
                                      </p:cBhvr>
                                    </p:animEffect>
                                  </p:childTnLst>
                                </p:cTn>
                              </p:par>
                              <p:par>
                                <p:cTn id="28" presetID="16" presetClass="entr" presetSubtype="21" fill="hold" nodeType="withEffect">
                                  <p:stCondLst>
                                    <p:cond delay="0"/>
                                  </p:stCondLst>
                                  <p:childTnLst>
                                    <p:set>
                                      <p:cBhvr>
                                        <p:cTn id="29" dur="1" fill="hold">
                                          <p:stCondLst>
                                            <p:cond delay="0"/>
                                          </p:stCondLst>
                                        </p:cTn>
                                        <p:tgtEl>
                                          <p:spTgt spid="240678"/>
                                        </p:tgtEl>
                                        <p:attrNameLst>
                                          <p:attrName>style.visibility</p:attrName>
                                        </p:attrNameLst>
                                      </p:cBhvr>
                                      <p:to>
                                        <p:strVal val="visible"/>
                                      </p:to>
                                    </p:set>
                                    <p:animEffect transition="in" filter="barn(inVertical)">
                                      <p:cBhvr>
                                        <p:cTn id="30" dur="500"/>
                                        <p:tgtEl>
                                          <p:spTgt spid="240678"/>
                                        </p:tgtEl>
                                      </p:cBhvr>
                                    </p:animEffect>
                                  </p:childTnLst>
                                </p:cTn>
                              </p:par>
                              <p:par>
                                <p:cTn id="31" presetID="16" presetClass="entr" presetSubtype="21" fill="hold" nodeType="withEffect">
                                  <p:stCondLst>
                                    <p:cond delay="0"/>
                                  </p:stCondLst>
                                  <p:childTnLst>
                                    <p:set>
                                      <p:cBhvr>
                                        <p:cTn id="32" dur="1" fill="hold">
                                          <p:stCondLst>
                                            <p:cond delay="0"/>
                                          </p:stCondLst>
                                        </p:cTn>
                                        <p:tgtEl>
                                          <p:spTgt spid="240681"/>
                                        </p:tgtEl>
                                        <p:attrNameLst>
                                          <p:attrName>style.visibility</p:attrName>
                                        </p:attrNameLst>
                                      </p:cBhvr>
                                      <p:to>
                                        <p:strVal val="visible"/>
                                      </p:to>
                                    </p:set>
                                    <p:animEffect transition="in" filter="barn(inVertical)">
                                      <p:cBhvr>
                                        <p:cTn id="33" dur="500"/>
                                        <p:tgtEl>
                                          <p:spTgt spid="240681"/>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240684"/>
                                        </p:tgtEl>
                                        <p:attrNameLst>
                                          <p:attrName>style.visibility</p:attrName>
                                        </p:attrNameLst>
                                      </p:cBhvr>
                                      <p:to>
                                        <p:strVal val="visible"/>
                                      </p:to>
                                    </p:set>
                                    <p:animEffect transition="in" filter="barn(inVertical)">
                                      <p:cBhvr>
                                        <p:cTn id="36" dur="500"/>
                                        <p:tgtEl>
                                          <p:spTgt spid="240684"/>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240685"/>
                                        </p:tgtEl>
                                        <p:attrNameLst>
                                          <p:attrName>style.visibility</p:attrName>
                                        </p:attrNameLst>
                                      </p:cBhvr>
                                      <p:to>
                                        <p:strVal val="visible"/>
                                      </p:to>
                                    </p:set>
                                    <p:animEffect transition="in" filter="barn(inVertical)">
                                      <p:cBhvr>
                                        <p:cTn id="39" dur="500"/>
                                        <p:tgtEl>
                                          <p:spTgt spid="240685"/>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240686"/>
                                        </p:tgtEl>
                                        <p:attrNameLst>
                                          <p:attrName>style.visibility</p:attrName>
                                        </p:attrNameLst>
                                      </p:cBhvr>
                                      <p:to>
                                        <p:strVal val="visible"/>
                                      </p:to>
                                    </p:set>
                                    <p:animEffect transition="in" filter="barn(inVertical)">
                                      <p:cBhvr>
                                        <p:cTn id="42" dur="500"/>
                                        <p:tgtEl>
                                          <p:spTgt spid="240686"/>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240658"/>
                                        </p:tgtEl>
                                        <p:attrNameLst>
                                          <p:attrName>style.visibility</p:attrName>
                                        </p:attrNameLst>
                                      </p:cBhvr>
                                      <p:to>
                                        <p:strVal val="visible"/>
                                      </p:to>
                                    </p:set>
                                    <p:animEffect transition="in" filter="barn(inVertical)">
                                      <p:cBhvr>
                                        <p:cTn id="47" dur="500"/>
                                        <p:tgtEl>
                                          <p:spTgt spid="240658"/>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240645"/>
                                        </p:tgtEl>
                                        <p:attrNameLst>
                                          <p:attrName>style.visibility</p:attrName>
                                        </p:attrNameLst>
                                      </p:cBhvr>
                                      <p:to>
                                        <p:strVal val="visible"/>
                                      </p:to>
                                    </p:set>
                                    <p:animEffect transition="in" filter="barn(inVertical)">
                                      <p:cBhvr>
                                        <p:cTn id="52" dur="500"/>
                                        <p:tgtEl>
                                          <p:spTgt spid="240645"/>
                                        </p:tgtEl>
                                      </p:cBhvr>
                                    </p:animEffect>
                                  </p:childTnLst>
                                </p:cTn>
                              </p:par>
                            </p:childTnLst>
                          </p:cTn>
                        </p:par>
                        <p:par>
                          <p:cTn id="53" fill="hold">
                            <p:stCondLst>
                              <p:cond delay="500"/>
                            </p:stCondLst>
                            <p:childTnLst>
                              <p:par>
                                <p:cTn id="54" presetID="16" presetClass="entr" presetSubtype="21" fill="hold" grpId="0" nodeType="afterEffect">
                                  <p:stCondLst>
                                    <p:cond delay="0"/>
                                  </p:stCondLst>
                                  <p:childTnLst>
                                    <p:set>
                                      <p:cBhvr>
                                        <p:cTn id="55" dur="1" fill="hold">
                                          <p:stCondLst>
                                            <p:cond delay="0"/>
                                          </p:stCondLst>
                                        </p:cTn>
                                        <p:tgtEl>
                                          <p:spTgt spid="240647"/>
                                        </p:tgtEl>
                                        <p:attrNameLst>
                                          <p:attrName>style.visibility</p:attrName>
                                        </p:attrNameLst>
                                      </p:cBhvr>
                                      <p:to>
                                        <p:strVal val="visible"/>
                                      </p:to>
                                    </p:set>
                                    <p:animEffect transition="in" filter="barn(inVertical)">
                                      <p:cBhvr>
                                        <p:cTn id="56" dur="500"/>
                                        <p:tgtEl>
                                          <p:spTgt spid="240647"/>
                                        </p:tgtEl>
                                      </p:cBhvr>
                                    </p:animEffect>
                                  </p:childTnLst>
                                </p:cTn>
                              </p:par>
                            </p:childTnLst>
                          </p:cTn>
                        </p:par>
                        <p:par>
                          <p:cTn id="57" fill="hold">
                            <p:stCondLst>
                              <p:cond delay="1000"/>
                            </p:stCondLst>
                            <p:childTnLst>
                              <p:par>
                                <p:cTn id="58" presetID="16" presetClass="entr" presetSubtype="21" fill="hold" grpId="0" nodeType="afterEffect">
                                  <p:stCondLst>
                                    <p:cond delay="0"/>
                                  </p:stCondLst>
                                  <p:childTnLst>
                                    <p:set>
                                      <p:cBhvr>
                                        <p:cTn id="59" dur="1" fill="hold">
                                          <p:stCondLst>
                                            <p:cond delay="0"/>
                                          </p:stCondLst>
                                        </p:cTn>
                                        <p:tgtEl>
                                          <p:spTgt spid="240648"/>
                                        </p:tgtEl>
                                        <p:attrNameLst>
                                          <p:attrName>style.visibility</p:attrName>
                                        </p:attrNameLst>
                                      </p:cBhvr>
                                      <p:to>
                                        <p:strVal val="visible"/>
                                      </p:to>
                                    </p:set>
                                    <p:animEffect transition="in" filter="barn(inVertical)">
                                      <p:cBhvr>
                                        <p:cTn id="60" dur="500"/>
                                        <p:tgtEl>
                                          <p:spTgt spid="240648"/>
                                        </p:tgtEl>
                                      </p:cBhvr>
                                    </p:animEffect>
                                  </p:childTnLst>
                                </p:cTn>
                              </p:par>
                            </p:childTnLst>
                          </p:cTn>
                        </p:par>
                        <p:par>
                          <p:cTn id="61" fill="hold">
                            <p:stCondLst>
                              <p:cond delay="1500"/>
                            </p:stCondLst>
                            <p:childTnLst>
                              <p:par>
                                <p:cTn id="62" presetID="16" presetClass="entr" presetSubtype="21" fill="hold" grpId="0" nodeType="afterEffect">
                                  <p:stCondLst>
                                    <p:cond delay="0"/>
                                  </p:stCondLst>
                                  <p:childTnLst>
                                    <p:set>
                                      <p:cBhvr>
                                        <p:cTn id="63" dur="1" fill="hold">
                                          <p:stCondLst>
                                            <p:cond delay="0"/>
                                          </p:stCondLst>
                                        </p:cTn>
                                        <p:tgtEl>
                                          <p:spTgt spid="240649"/>
                                        </p:tgtEl>
                                        <p:attrNameLst>
                                          <p:attrName>style.visibility</p:attrName>
                                        </p:attrNameLst>
                                      </p:cBhvr>
                                      <p:to>
                                        <p:strVal val="visible"/>
                                      </p:to>
                                    </p:set>
                                    <p:animEffect transition="in" filter="barn(inVertical)">
                                      <p:cBhvr>
                                        <p:cTn id="64" dur="500"/>
                                        <p:tgtEl>
                                          <p:spTgt spid="240649"/>
                                        </p:tgtEl>
                                      </p:cBhvr>
                                    </p:animEffect>
                                  </p:childTnLst>
                                </p:cTn>
                              </p:par>
                            </p:childTnLst>
                          </p:cTn>
                        </p:par>
                        <p:par>
                          <p:cTn id="65" fill="hold">
                            <p:stCondLst>
                              <p:cond delay="2000"/>
                            </p:stCondLst>
                            <p:childTnLst>
                              <p:par>
                                <p:cTn id="66" presetID="16" presetClass="entr" presetSubtype="21" fill="hold" grpId="0" nodeType="afterEffect">
                                  <p:stCondLst>
                                    <p:cond delay="0"/>
                                  </p:stCondLst>
                                  <p:childTnLst>
                                    <p:set>
                                      <p:cBhvr>
                                        <p:cTn id="67" dur="1" fill="hold">
                                          <p:stCondLst>
                                            <p:cond delay="0"/>
                                          </p:stCondLst>
                                        </p:cTn>
                                        <p:tgtEl>
                                          <p:spTgt spid="240650"/>
                                        </p:tgtEl>
                                        <p:attrNameLst>
                                          <p:attrName>style.visibility</p:attrName>
                                        </p:attrNameLst>
                                      </p:cBhvr>
                                      <p:to>
                                        <p:strVal val="visible"/>
                                      </p:to>
                                    </p:set>
                                    <p:animEffect transition="in" filter="barn(inVertical)">
                                      <p:cBhvr>
                                        <p:cTn id="68" dur="500"/>
                                        <p:tgtEl>
                                          <p:spTgt spid="240650"/>
                                        </p:tgtEl>
                                      </p:cBhvr>
                                    </p:animEffect>
                                  </p:childTnLst>
                                </p:cTn>
                              </p:par>
                            </p:childTnLst>
                          </p:cTn>
                        </p:par>
                        <p:par>
                          <p:cTn id="69" fill="hold">
                            <p:stCondLst>
                              <p:cond delay="2500"/>
                            </p:stCondLst>
                            <p:childTnLst>
                              <p:par>
                                <p:cTn id="70" presetID="16" presetClass="entr" presetSubtype="21" fill="hold" grpId="0" nodeType="afterEffect">
                                  <p:stCondLst>
                                    <p:cond delay="0"/>
                                  </p:stCondLst>
                                  <p:childTnLst>
                                    <p:set>
                                      <p:cBhvr>
                                        <p:cTn id="71" dur="1" fill="hold">
                                          <p:stCondLst>
                                            <p:cond delay="0"/>
                                          </p:stCondLst>
                                        </p:cTn>
                                        <p:tgtEl>
                                          <p:spTgt spid="240651"/>
                                        </p:tgtEl>
                                        <p:attrNameLst>
                                          <p:attrName>style.visibility</p:attrName>
                                        </p:attrNameLst>
                                      </p:cBhvr>
                                      <p:to>
                                        <p:strVal val="visible"/>
                                      </p:to>
                                    </p:set>
                                    <p:animEffect transition="in" filter="barn(inVertical)">
                                      <p:cBhvr>
                                        <p:cTn id="72" dur="500"/>
                                        <p:tgtEl>
                                          <p:spTgt spid="240651"/>
                                        </p:tgtEl>
                                      </p:cBhvr>
                                    </p:animEffect>
                                  </p:childTnLst>
                                </p:cTn>
                              </p:par>
                            </p:childTnLst>
                          </p:cTn>
                        </p:par>
                        <p:par>
                          <p:cTn id="73" fill="hold">
                            <p:stCondLst>
                              <p:cond delay="3000"/>
                            </p:stCondLst>
                            <p:childTnLst>
                              <p:par>
                                <p:cTn id="74" presetID="16" presetClass="entr" presetSubtype="21" fill="hold" grpId="0" nodeType="afterEffect">
                                  <p:stCondLst>
                                    <p:cond delay="0"/>
                                  </p:stCondLst>
                                  <p:childTnLst>
                                    <p:set>
                                      <p:cBhvr>
                                        <p:cTn id="75" dur="1" fill="hold">
                                          <p:stCondLst>
                                            <p:cond delay="0"/>
                                          </p:stCondLst>
                                        </p:cTn>
                                        <p:tgtEl>
                                          <p:spTgt spid="240652"/>
                                        </p:tgtEl>
                                        <p:attrNameLst>
                                          <p:attrName>style.visibility</p:attrName>
                                        </p:attrNameLst>
                                      </p:cBhvr>
                                      <p:to>
                                        <p:strVal val="visible"/>
                                      </p:to>
                                    </p:set>
                                    <p:animEffect transition="in" filter="barn(inVertical)">
                                      <p:cBhvr>
                                        <p:cTn id="76" dur="500"/>
                                        <p:tgtEl>
                                          <p:spTgt spid="240652"/>
                                        </p:tgtEl>
                                      </p:cBhvr>
                                    </p:animEffect>
                                  </p:childTnLst>
                                </p:cTn>
                              </p:par>
                            </p:childTnLst>
                          </p:cTn>
                        </p:par>
                        <p:par>
                          <p:cTn id="77" fill="hold">
                            <p:stCondLst>
                              <p:cond delay="3500"/>
                            </p:stCondLst>
                            <p:childTnLst>
                              <p:par>
                                <p:cTn id="78" presetID="16" presetClass="entr" presetSubtype="21" fill="hold" grpId="0" nodeType="afterEffect">
                                  <p:stCondLst>
                                    <p:cond delay="0"/>
                                  </p:stCondLst>
                                  <p:childTnLst>
                                    <p:set>
                                      <p:cBhvr>
                                        <p:cTn id="79" dur="1" fill="hold">
                                          <p:stCondLst>
                                            <p:cond delay="0"/>
                                          </p:stCondLst>
                                        </p:cTn>
                                        <p:tgtEl>
                                          <p:spTgt spid="240653"/>
                                        </p:tgtEl>
                                        <p:attrNameLst>
                                          <p:attrName>style.visibility</p:attrName>
                                        </p:attrNameLst>
                                      </p:cBhvr>
                                      <p:to>
                                        <p:strVal val="visible"/>
                                      </p:to>
                                    </p:set>
                                    <p:animEffect transition="in" filter="barn(inVertical)">
                                      <p:cBhvr>
                                        <p:cTn id="80" dur="500"/>
                                        <p:tgtEl>
                                          <p:spTgt spid="240653"/>
                                        </p:tgtEl>
                                      </p:cBhvr>
                                    </p:animEffect>
                                  </p:childTnLst>
                                </p:cTn>
                              </p:par>
                            </p:childTnLst>
                          </p:cTn>
                        </p:par>
                        <p:par>
                          <p:cTn id="81" fill="hold">
                            <p:stCondLst>
                              <p:cond delay="4000"/>
                            </p:stCondLst>
                            <p:childTnLst>
                              <p:par>
                                <p:cTn id="82" presetID="16" presetClass="entr" presetSubtype="21" fill="hold" grpId="0" nodeType="afterEffect">
                                  <p:stCondLst>
                                    <p:cond delay="0"/>
                                  </p:stCondLst>
                                  <p:childTnLst>
                                    <p:set>
                                      <p:cBhvr>
                                        <p:cTn id="83" dur="1" fill="hold">
                                          <p:stCondLst>
                                            <p:cond delay="0"/>
                                          </p:stCondLst>
                                        </p:cTn>
                                        <p:tgtEl>
                                          <p:spTgt spid="240654"/>
                                        </p:tgtEl>
                                        <p:attrNameLst>
                                          <p:attrName>style.visibility</p:attrName>
                                        </p:attrNameLst>
                                      </p:cBhvr>
                                      <p:to>
                                        <p:strVal val="visible"/>
                                      </p:to>
                                    </p:set>
                                    <p:animEffect transition="in" filter="barn(inVertical)">
                                      <p:cBhvr>
                                        <p:cTn id="84" dur="500"/>
                                        <p:tgtEl>
                                          <p:spTgt spid="240654"/>
                                        </p:tgtEl>
                                      </p:cBhvr>
                                    </p:animEffect>
                                  </p:childTnLst>
                                </p:cTn>
                              </p:par>
                            </p:childTnLst>
                          </p:cTn>
                        </p:par>
                      </p:childTnLst>
                    </p:cTn>
                  </p:par>
                  <p:par>
                    <p:cTn id="85" fill="hold">
                      <p:stCondLst>
                        <p:cond delay="indefinite"/>
                      </p:stCondLst>
                      <p:childTnLst>
                        <p:par>
                          <p:cTn id="86" fill="hold">
                            <p:stCondLst>
                              <p:cond delay="0"/>
                            </p:stCondLst>
                            <p:childTnLst>
                              <p:par>
                                <p:cTn id="87" presetID="16" presetClass="entr" presetSubtype="21" fill="hold" grpId="0" nodeType="clickEffect">
                                  <p:stCondLst>
                                    <p:cond delay="0"/>
                                  </p:stCondLst>
                                  <p:childTnLst>
                                    <p:set>
                                      <p:cBhvr>
                                        <p:cTn id="88" dur="1" fill="hold">
                                          <p:stCondLst>
                                            <p:cond delay="0"/>
                                          </p:stCondLst>
                                        </p:cTn>
                                        <p:tgtEl>
                                          <p:spTgt spid="240644"/>
                                        </p:tgtEl>
                                        <p:attrNameLst>
                                          <p:attrName>style.visibility</p:attrName>
                                        </p:attrNameLst>
                                      </p:cBhvr>
                                      <p:to>
                                        <p:strVal val="visible"/>
                                      </p:to>
                                    </p:set>
                                    <p:animEffect transition="in" filter="barn(inVertical)">
                                      <p:cBhvr>
                                        <p:cTn id="89" dur="500"/>
                                        <p:tgtEl>
                                          <p:spTgt spid="240644"/>
                                        </p:tgtEl>
                                      </p:cBhvr>
                                    </p:animEffect>
                                  </p:childTnLst>
                                </p:cTn>
                              </p:par>
                            </p:childTnLst>
                          </p:cTn>
                        </p:par>
                      </p:childTnLst>
                    </p:cTn>
                  </p:par>
                  <p:par>
                    <p:cTn id="90" fill="hold">
                      <p:stCondLst>
                        <p:cond delay="indefinite"/>
                      </p:stCondLst>
                      <p:childTnLst>
                        <p:par>
                          <p:cTn id="91" fill="hold">
                            <p:stCondLst>
                              <p:cond delay="0"/>
                            </p:stCondLst>
                            <p:childTnLst>
                              <p:par>
                                <p:cTn id="92" presetID="16" presetClass="entr" presetSubtype="21" fill="hold" grpId="0" nodeType="clickEffect">
                                  <p:stCondLst>
                                    <p:cond delay="0"/>
                                  </p:stCondLst>
                                  <p:childTnLst>
                                    <p:set>
                                      <p:cBhvr>
                                        <p:cTn id="93" dur="1" fill="hold">
                                          <p:stCondLst>
                                            <p:cond delay="0"/>
                                          </p:stCondLst>
                                        </p:cTn>
                                        <p:tgtEl>
                                          <p:spTgt spid="240642"/>
                                        </p:tgtEl>
                                        <p:attrNameLst>
                                          <p:attrName>style.visibility</p:attrName>
                                        </p:attrNameLst>
                                      </p:cBhvr>
                                      <p:to>
                                        <p:strVal val="visible"/>
                                      </p:to>
                                    </p:set>
                                    <p:animEffect transition="in" filter="barn(inVertical)">
                                      <p:cBhvr>
                                        <p:cTn id="94" dur="500"/>
                                        <p:tgtEl>
                                          <p:spTgt spid="240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2" grpId="0"/>
      <p:bldP spid="240644" grpId="0"/>
      <p:bldP spid="240645" grpId="0"/>
      <p:bldP spid="240647" grpId="0"/>
      <p:bldP spid="240648" grpId="0" animBg="1"/>
      <p:bldP spid="240649" grpId="0" animBg="1"/>
      <p:bldP spid="240650" grpId="0"/>
      <p:bldP spid="240651" grpId="0"/>
      <p:bldP spid="240652" grpId="0" animBg="1"/>
      <p:bldP spid="240653" grpId="0" animBg="1"/>
      <p:bldP spid="240654" grpId="0"/>
      <p:bldP spid="240656" grpId="0"/>
      <p:bldP spid="240657" grpId="0"/>
      <p:bldP spid="240658" grpId="0"/>
      <p:bldP spid="240659" grpId="0"/>
      <p:bldP spid="240674" grpId="0"/>
      <p:bldP spid="240675" grpId="0" animBg="1"/>
      <p:bldP spid="240676" grpId="0"/>
      <p:bldP spid="240677" grpId="0" animBg="1"/>
      <p:bldP spid="240684" grpId="0" animBg="1"/>
      <p:bldP spid="240685" grpId="0"/>
      <p:bldP spid="24068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7" name="Text Box 3"/>
          <p:cNvSpPr txBox="1">
            <a:spLocks noChangeArrowheads="1"/>
          </p:cNvSpPr>
          <p:nvPr/>
        </p:nvSpPr>
        <p:spPr bwMode="auto">
          <a:xfrm>
            <a:off x="742950" y="584200"/>
            <a:ext cx="52117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en-US" altLang="zh-CN" dirty="0">
                <a:solidFill>
                  <a:schemeClr val="tx2"/>
                </a:solidFill>
              </a:rPr>
              <a:t>(2) </a:t>
            </a:r>
            <a:r>
              <a:rPr lang="zh-CN" altLang="en-US" dirty="0">
                <a:solidFill>
                  <a:schemeClr val="tx2"/>
                </a:solidFill>
              </a:rPr>
              <a:t>电阻的电压和电流的参考方向相反</a:t>
            </a:r>
            <a:endParaRPr lang="zh-CN" altLang="en-US" b="0" dirty="0">
              <a:solidFill>
                <a:schemeClr val="tx2"/>
              </a:solidFill>
            </a:endParaRPr>
          </a:p>
        </p:txBody>
      </p:sp>
      <p:sp>
        <p:nvSpPr>
          <p:cNvPr id="241682" name="Text Box 18"/>
          <p:cNvSpPr txBox="1">
            <a:spLocks noChangeArrowheads="1"/>
          </p:cNvSpPr>
          <p:nvPr/>
        </p:nvSpPr>
        <p:spPr bwMode="auto">
          <a:xfrm>
            <a:off x="1752600" y="2590800"/>
            <a:ext cx="23288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zh-CN" altLang="en-US">
                <a:solidFill>
                  <a:schemeClr val="tx2"/>
                </a:solidFill>
              </a:rPr>
              <a:t>则欧姆定律写为</a:t>
            </a:r>
          </a:p>
        </p:txBody>
      </p:sp>
      <p:sp>
        <p:nvSpPr>
          <p:cNvPr id="241683" name="Rectangle 19"/>
          <p:cNvSpPr>
            <a:spLocks noChangeArrowheads="1"/>
          </p:cNvSpPr>
          <p:nvPr/>
        </p:nvSpPr>
        <p:spPr bwMode="auto">
          <a:xfrm>
            <a:off x="1847850" y="3005138"/>
            <a:ext cx="4708525" cy="5191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lang="en-US" altLang="zh-CN" sz="2800" i="1"/>
              <a:t>v</a:t>
            </a:r>
            <a:r>
              <a:rPr lang="en-US" altLang="zh-CN" sz="2800"/>
              <a:t> </a:t>
            </a:r>
            <a:r>
              <a:rPr lang="en-US" altLang="zh-CN" sz="2800">
                <a:sym typeface="Symbol" pitchFamily="18" charset="2"/>
              </a:rPr>
              <a:t> </a:t>
            </a:r>
            <a:r>
              <a:rPr lang="en-US" altLang="zh-CN" sz="2800">
                <a:solidFill>
                  <a:srgbClr val="FF0000"/>
                </a:solidFill>
                <a:ea typeface="黑体" pitchFamily="49" charset="-122"/>
                <a:sym typeface="Symbol" pitchFamily="18" charset="2"/>
              </a:rPr>
              <a:t>– </a:t>
            </a:r>
            <a:r>
              <a:rPr lang="en-US" altLang="zh-CN" sz="2800" i="1"/>
              <a:t>Ri</a:t>
            </a:r>
            <a:r>
              <a:rPr lang="en-US" altLang="zh-CN" sz="2800" i="1">
                <a:solidFill>
                  <a:schemeClr val="tx2"/>
                </a:solidFill>
              </a:rPr>
              <a:t>              </a:t>
            </a:r>
            <a:r>
              <a:rPr lang="en-US" altLang="zh-CN" sz="2800" i="1"/>
              <a:t>i</a:t>
            </a:r>
            <a:r>
              <a:rPr lang="en-US" altLang="zh-CN" sz="2800"/>
              <a:t> </a:t>
            </a:r>
            <a:r>
              <a:rPr lang="en-US" altLang="zh-CN" sz="2800">
                <a:sym typeface="Symbol" pitchFamily="18" charset="2"/>
              </a:rPr>
              <a:t> </a:t>
            </a:r>
            <a:r>
              <a:rPr lang="en-US" altLang="zh-CN" sz="2800">
                <a:solidFill>
                  <a:srgbClr val="FF0000"/>
                </a:solidFill>
                <a:ea typeface="黑体" pitchFamily="49" charset="-122"/>
                <a:sym typeface="Symbol" pitchFamily="18" charset="2"/>
              </a:rPr>
              <a:t>– </a:t>
            </a:r>
            <a:r>
              <a:rPr lang="en-US" altLang="zh-CN" sz="2800" i="1"/>
              <a:t>Gv</a:t>
            </a:r>
            <a:endParaRPr lang="en-US" altLang="zh-CN" sz="2800">
              <a:solidFill>
                <a:schemeClr val="tx2"/>
              </a:solidFill>
            </a:endParaRPr>
          </a:p>
        </p:txBody>
      </p:sp>
      <p:sp>
        <p:nvSpPr>
          <p:cNvPr id="241684" name="Text Box 20"/>
          <p:cNvSpPr txBox="1">
            <a:spLocks noChangeArrowheads="1"/>
          </p:cNvSpPr>
          <p:nvPr/>
        </p:nvSpPr>
        <p:spPr bwMode="auto">
          <a:xfrm>
            <a:off x="2925763" y="5707063"/>
            <a:ext cx="5437187" cy="512762"/>
          </a:xfrm>
          <a:prstGeom prst="rect">
            <a:avLst/>
          </a:prstGeom>
          <a:solidFill>
            <a:srgbClr val="0099FF"/>
          </a:solidFill>
          <a:ln>
            <a:noFill/>
          </a:ln>
          <a:effectLst/>
          <a:extLs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defRPr kumimoji="1" sz="2400">
                <a:solidFill>
                  <a:schemeClr val="tx1"/>
                </a:solidFill>
                <a:latin typeface="Times New Roman" pitchFamily="18" charset="0"/>
                <a:ea typeface="宋体" charset="-122"/>
              </a:defRPr>
            </a:lvl1pPr>
            <a:lvl2pPr marL="800100" indent="-342900">
              <a:defRPr kumimoji="1" sz="2400">
                <a:solidFill>
                  <a:schemeClr val="tx1"/>
                </a:solidFill>
                <a:latin typeface="Times New Roman" pitchFamily="18" charset="0"/>
                <a:ea typeface="宋体" charset="-122"/>
              </a:defRPr>
            </a:lvl2pPr>
            <a:lvl3pPr marL="1257300" indent="-342900">
              <a:defRPr kumimoji="1" sz="2400">
                <a:solidFill>
                  <a:schemeClr val="tx1"/>
                </a:solidFill>
                <a:latin typeface="Times New Roman" pitchFamily="18" charset="0"/>
                <a:ea typeface="宋体" charset="-122"/>
              </a:defRPr>
            </a:lvl3pPr>
            <a:lvl4pPr marL="1714500" indent="-342900">
              <a:defRPr kumimoji="1" sz="2400">
                <a:solidFill>
                  <a:schemeClr val="tx1"/>
                </a:solidFill>
                <a:latin typeface="Times New Roman" pitchFamily="18" charset="0"/>
                <a:ea typeface="宋体" charset="-122"/>
              </a:defRPr>
            </a:lvl4pPr>
            <a:lvl5pPr marL="2171700" indent="-342900">
              <a:defRPr kumimoji="1" sz="2400">
                <a:solidFill>
                  <a:schemeClr val="tx1"/>
                </a:solidFill>
                <a:latin typeface="Times New Roman" pitchFamily="18" charset="0"/>
                <a:ea typeface="宋体" charset="-122"/>
              </a:defRPr>
            </a:lvl5pPr>
            <a:lvl6pPr marL="2628900" indent="-342900" fontAlgn="base">
              <a:spcBef>
                <a:spcPct val="0"/>
              </a:spcBef>
              <a:spcAft>
                <a:spcPct val="0"/>
              </a:spcAft>
              <a:defRPr kumimoji="1" sz="2400">
                <a:solidFill>
                  <a:schemeClr val="tx1"/>
                </a:solidFill>
                <a:latin typeface="Times New Roman" pitchFamily="18" charset="0"/>
                <a:ea typeface="宋体" charset="-122"/>
              </a:defRPr>
            </a:lvl6pPr>
            <a:lvl7pPr marL="3086100" indent="-342900" fontAlgn="base">
              <a:spcBef>
                <a:spcPct val="0"/>
              </a:spcBef>
              <a:spcAft>
                <a:spcPct val="0"/>
              </a:spcAft>
              <a:defRPr kumimoji="1" sz="2400">
                <a:solidFill>
                  <a:schemeClr val="tx1"/>
                </a:solidFill>
                <a:latin typeface="Times New Roman" pitchFamily="18" charset="0"/>
                <a:ea typeface="宋体" charset="-122"/>
              </a:defRPr>
            </a:lvl7pPr>
            <a:lvl8pPr marL="3543300" indent="-342900" fontAlgn="base">
              <a:spcBef>
                <a:spcPct val="0"/>
              </a:spcBef>
              <a:spcAft>
                <a:spcPct val="0"/>
              </a:spcAft>
              <a:defRPr kumimoji="1" sz="2400">
                <a:solidFill>
                  <a:schemeClr val="tx1"/>
                </a:solidFill>
                <a:latin typeface="Times New Roman" pitchFamily="18" charset="0"/>
                <a:ea typeface="宋体" charset="-122"/>
              </a:defRPr>
            </a:lvl8pPr>
            <a:lvl9pPr marL="4000500" indent="-342900" fontAlgn="base">
              <a:spcBef>
                <a:spcPct val="0"/>
              </a:spcBef>
              <a:spcAft>
                <a:spcPct val="0"/>
              </a:spcAft>
              <a:defRPr kumimoji="1" sz="2400">
                <a:solidFill>
                  <a:schemeClr val="tx1"/>
                </a:solidFill>
                <a:latin typeface="Times New Roman" pitchFamily="18" charset="0"/>
                <a:ea typeface="宋体" charset="-122"/>
              </a:defRPr>
            </a:lvl9pPr>
          </a:lstStyle>
          <a:p>
            <a:pPr eaLnBrk="0" hangingPunct="0">
              <a:lnSpc>
                <a:spcPct val="115000"/>
              </a:lnSpc>
              <a:buFontTx/>
              <a:buAutoNum type="circleNumDbPlain" startAt="2"/>
            </a:pPr>
            <a:r>
              <a:rPr lang="zh-CN" altLang="en-US" dirty="0">
                <a:solidFill>
                  <a:srgbClr val="FFFF00"/>
                </a:solidFill>
              </a:rPr>
              <a:t>线性电阻是无记忆、双向性的元件。</a:t>
            </a:r>
          </a:p>
        </p:txBody>
      </p:sp>
      <p:sp>
        <p:nvSpPr>
          <p:cNvPr id="241686" name="Text Box 22"/>
          <p:cNvSpPr txBox="1">
            <a:spLocks noChangeArrowheads="1"/>
          </p:cNvSpPr>
          <p:nvPr/>
        </p:nvSpPr>
        <p:spPr bwMode="auto">
          <a:xfrm>
            <a:off x="866775" y="5302250"/>
            <a:ext cx="1482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zh-CN" altLang="en-US" dirty="0">
                <a:ea typeface="楷体_GB2312" pitchFamily="49" charset="-122"/>
                <a:sym typeface="Symbol" pitchFamily="18" charset="2"/>
              </a:rPr>
              <a:t>欧姆定律</a:t>
            </a:r>
          </a:p>
        </p:txBody>
      </p:sp>
      <p:sp>
        <p:nvSpPr>
          <p:cNvPr id="241687" name="AutoShape 23"/>
          <p:cNvSpPr>
            <a:spLocks/>
          </p:cNvSpPr>
          <p:nvPr/>
        </p:nvSpPr>
        <p:spPr bwMode="auto">
          <a:xfrm>
            <a:off x="2638425" y="4994275"/>
            <a:ext cx="168275" cy="1154113"/>
          </a:xfrm>
          <a:prstGeom prst="leftBrace">
            <a:avLst>
              <a:gd name="adj1" fmla="val 57154"/>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1688" name="Text Box 24"/>
          <p:cNvSpPr txBox="1">
            <a:spLocks noChangeArrowheads="1"/>
          </p:cNvSpPr>
          <p:nvPr/>
        </p:nvSpPr>
        <p:spPr bwMode="auto">
          <a:xfrm>
            <a:off x="2925763" y="4953000"/>
            <a:ext cx="5065712" cy="457200"/>
          </a:xfrm>
          <a:prstGeom prst="rect">
            <a:avLst/>
          </a:prstGeom>
          <a:solidFill>
            <a:srgbClr val="0099FF"/>
          </a:solidFill>
          <a:ln>
            <a:noFill/>
          </a:ln>
          <a:effectLst/>
          <a:extLs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defRPr kumimoji="1" sz="2400">
                <a:solidFill>
                  <a:schemeClr val="tx1"/>
                </a:solidFill>
                <a:latin typeface="Times New Roman" pitchFamily="18" charset="0"/>
                <a:ea typeface="宋体" charset="-122"/>
              </a:defRPr>
            </a:lvl1pPr>
            <a:lvl2pPr marL="800100" indent="-342900">
              <a:defRPr kumimoji="1" sz="2400">
                <a:solidFill>
                  <a:schemeClr val="tx1"/>
                </a:solidFill>
                <a:latin typeface="Times New Roman" pitchFamily="18" charset="0"/>
                <a:ea typeface="宋体" charset="-122"/>
              </a:defRPr>
            </a:lvl2pPr>
            <a:lvl3pPr marL="1257300" indent="-342900">
              <a:defRPr kumimoji="1" sz="2400">
                <a:solidFill>
                  <a:schemeClr val="tx1"/>
                </a:solidFill>
                <a:latin typeface="Times New Roman" pitchFamily="18" charset="0"/>
                <a:ea typeface="宋体" charset="-122"/>
              </a:defRPr>
            </a:lvl3pPr>
            <a:lvl4pPr marL="1714500" indent="-342900">
              <a:defRPr kumimoji="1" sz="2400">
                <a:solidFill>
                  <a:schemeClr val="tx1"/>
                </a:solidFill>
                <a:latin typeface="Times New Roman" pitchFamily="18" charset="0"/>
                <a:ea typeface="宋体" charset="-122"/>
              </a:defRPr>
            </a:lvl4pPr>
            <a:lvl5pPr marL="2171700" indent="-342900">
              <a:defRPr kumimoji="1" sz="2400">
                <a:solidFill>
                  <a:schemeClr val="tx1"/>
                </a:solidFill>
                <a:latin typeface="Times New Roman" pitchFamily="18" charset="0"/>
                <a:ea typeface="宋体" charset="-122"/>
              </a:defRPr>
            </a:lvl5pPr>
            <a:lvl6pPr marL="2628900" indent="-342900" fontAlgn="base">
              <a:spcBef>
                <a:spcPct val="0"/>
              </a:spcBef>
              <a:spcAft>
                <a:spcPct val="0"/>
              </a:spcAft>
              <a:defRPr kumimoji="1" sz="2400">
                <a:solidFill>
                  <a:schemeClr val="tx1"/>
                </a:solidFill>
                <a:latin typeface="Times New Roman" pitchFamily="18" charset="0"/>
                <a:ea typeface="宋体" charset="-122"/>
              </a:defRPr>
            </a:lvl6pPr>
            <a:lvl7pPr marL="3086100" indent="-342900" fontAlgn="base">
              <a:spcBef>
                <a:spcPct val="0"/>
              </a:spcBef>
              <a:spcAft>
                <a:spcPct val="0"/>
              </a:spcAft>
              <a:defRPr kumimoji="1" sz="2400">
                <a:solidFill>
                  <a:schemeClr val="tx1"/>
                </a:solidFill>
                <a:latin typeface="Times New Roman" pitchFamily="18" charset="0"/>
                <a:ea typeface="宋体" charset="-122"/>
              </a:defRPr>
            </a:lvl7pPr>
            <a:lvl8pPr marL="3543300" indent="-342900" fontAlgn="base">
              <a:spcBef>
                <a:spcPct val="0"/>
              </a:spcBef>
              <a:spcAft>
                <a:spcPct val="0"/>
              </a:spcAft>
              <a:defRPr kumimoji="1" sz="2400">
                <a:solidFill>
                  <a:schemeClr val="tx1"/>
                </a:solidFill>
                <a:latin typeface="Times New Roman" pitchFamily="18" charset="0"/>
                <a:ea typeface="宋体" charset="-122"/>
              </a:defRPr>
            </a:lvl8pPr>
            <a:lvl9pPr marL="4000500" indent="-342900" fontAlgn="base">
              <a:spcBef>
                <a:spcPct val="0"/>
              </a:spcBef>
              <a:spcAft>
                <a:spcPct val="0"/>
              </a:spcAft>
              <a:defRPr kumimoji="1" sz="2400">
                <a:solidFill>
                  <a:schemeClr val="tx1"/>
                </a:solidFill>
                <a:latin typeface="Times New Roman" pitchFamily="18" charset="0"/>
                <a:ea typeface="宋体" charset="-122"/>
              </a:defRPr>
            </a:lvl9pPr>
          </a:lstStyle>
          <a:p>
            <a:pPr eaLnBrk="0" hangingPunct="0">
              <a:buFontTx/>
              <a:buAutoNum type="circleNumDbPlain"/>
            </a:pPr>
            <a:r>
              <a:rPr lang="zh-CN" altLang="en-US" dirty="0">
                <a:solidFill>
                  <a:srgbClr val="FFFF00"/>
                </a:solidFill>
                <a:ea typeface="楷体_GB2312" pitchFamily="49" charset="-122"/>
                <a:sym typeface="Symbol" pitchFamily="18" charset="2"/>
              </a:rPr>
              <a:t>只适用于线性电阻</a:t>
            </a:r>
            <a:r>
              <a:rPr lang="en-US" altLang="zh-CN" dirty="0">
                <a:solidFill>
                  <a:srgbClr val="FFFF00"/>
                </a:solidFill>
                <a:ea typeface="仿宋_GB2312" pitchFamily="49" charset="-122"/>
                <a:sym typeface="Symbol" pitchFamily="18" charset="2"/>
              </a:rPr>
              <a:t>(</a:t>
            </a:r>
            <a:r>
              <a:rPr lang="en-US" altLang="zh-CN" i="1" dirty="0">
                <a:solidFill>
                  <a:srgbClr val="FFFF00"/>
                </a:solidFill>
                <a:ea typeface="仿宋_GB2312" pitchFamily="49" charset="-122"/>
                <a:sym typeface="Symbol" pitchFamily="18" charset="2"/>
              </a:rPr>
              <a:t> </a:t>
            </a:r>
            <a:r>
              <a:rPr lang="en-US" altLang="zh-CN" b="0" i="1" dirty="0">
                <a:solidFill>
                  <a:srgbClr val="FFFF00"/>
                </a:solidFill>
                <a:ea typeface="楷体_GB2312" pitchFamily="49" charset="-122"/>
                <a:sym typeface="Symbol" pitchFamily="18" charset="2"/>
              </a:rPr>
              <a:t>R </a:t>
            </a:r>
            <a:r>
              <a:rPr lang="zh-CN" altLang="en-US" dirty="0">
                <a:solidFill>
                  <a:srgbClr val="FFFF00"/>
                </a:solidFill>
                <a:ea typeface="楷体_GB2312" pitchFamily="49" charset="-122"/>
                <a:sym typeface="Symbol" pitchFamily="18" charset="2"/>
              </a:rPr>
              <a:t>为常数</a:t>
            </a:r>
            <a:r>
              <a:rPr lang="zh-CN" altLang="en-US" dirty="0">
                <a:solidFill>
                  <a:srgbClr val="FFFF00"/>
                </a:solidFill>
                <a:ea typeface="仿宋_GB2312" pitchFamily="49" charset="-122"/>
                <a:sym typeface="Symbol" pitchFamily="18" charset="2"/>
              </a:rPr>
              <a:t>）；</a:t>
            </a:r>
          </a:p>
        </p:txBody>
      </p:sp>
      <p:grpSp>
        <p:nvGrpSpPr>
          <p:cNvPr id="241689" name="Group 25"/>
          <p:cNvGrpSpPr>
            <a:grpSpLocks/>
          </p:cNvGrpSpPr>
          <p:nvPr/>
        </p:nvGrpSpPr>
        <p:grpSpPr bwMode="auto">
          <a:xfrm>
            <a:off x="314325" y="3917950"/>
            <a:ext cx="1441450" cy="850900"/>
            <a:chOff x="385" y="3022"/>
            <a:chExt cx="908" cy="536"/>
          </a:xfrm>
        </p:grpSpPr>
        <p:pic>
          <p:nvPicPr>
            <p:cNvPr id="241690" name="Picture 26" descr="1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extLst>
              <a:ext uri="{909E8E84-426E-40DD-AFC4-6F175D3DCCD1}">
                <a14:hiddenFill xmlns:a14="http://schemas.microsoft.com/office/drawing/2010/main">
                  <a:solidFill>
                    <a:srgbClr val="FFFFFF"/>
                  </a:solidFill>
                </a14:hiddenFill>
              </a:ext>
            </a:extLst>
          </p:spPr>
        </p:pic>
        <p:sp>
          <p:nvSpPr>
            <p:cNvPr id="241691" name="Text Box 27"/>
            <p:cNvSpPr txBox="1">
              <a:spLocks noChangeArrowheads="1"/>
            </p:cNvSpPr>
            <p:nvPr/>
          </p:nvSpPr>
          <p:spPr bwMode="auto">
            <a:xfrm>
              <a:off x="793" y="3182"/>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0" dirty="0">
                  <a:solidFill>
                    <a:srgbClr val="FA7748"/>
                  </a:solidFill>
                  <a:ea typeface="华文行楷" pitchFamily="2" charset="-122"/>
                </a:rPr>
                <a:t>注意</a:t>
              </a:r>
            </a:p>
          </p:txBody>
        </p:sp>
      </p:grpSp>
      <p:sp>
        <p:nvSpPr>
          <p:cNvPr id="25" name="Text Box 34"/>
          <p:cNvSpPr txBox="1">
            <a:spLocks noChangeArrowheads="1"/>
          </p:cNvSpPr>
          <p:nvPr/>
        </p:nvSpPr>
        <p:spPr bwMode="auto">
          <a:xfrm>
            <a:off x="3375025" y="1171575"/>
            <a:ext cx="388937"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R</a:t>
            </a:r>
          </a:p>
        </p:txBody>
      </p:sp>
      <p:sp>
        <p:nvSpPr>
          <p:cNvPr id="26" name="Rectangle 35"/>
          <p:cNvSpPr>
            <a:spLocks noChangeArrowheads="1"/>
          </p:cNvSpPr>
          <p:nvPr/>
        </p:nvSpPr>
        <p:spPr bwMode="auto">
          <a:xfrm>
            <a:off x="3136900" y="1662113"/>
            <a:ext cx="781050" cy="266700"/>
          </a:xfrm>
          <a:prstGeom prst="rect">
            <a:avLst/>
          </a:prstGeom>
          <a:noFill/>
          <a:ln w="38100" cap="sq">
            <a:solidFill>
              <a:schemeClr val="tx1"/>
            </a:solidFill>
            <a:miter lim="800000"/>
            <a:headEnd/>
            <a:tailEnd/>
          </a:ln>
          <a:effectLs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7" name="Text Box 36"/>
          <p:cNvSpPr txBox="1">
            <a:spLocks noChangeArrowheads="1"/>
          </p:cNvSpPr>
          <p:nvPr/>
        </p:nvSpPr>
        <p:spPr bwMode="auto">
          <a:xfrm>
            <a:off x="4662487" y="1839913"/>
            <a:ext cx="293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a:solidFill>
                  <a:srgbClr val="993300"/>
                </a:solidFill>
                <a:sym typeface="CommonBullets" pitchFamily="34" charset="2"/>
              </a:rPr>
              <a:t>+</a:t>
            </a:r>
            <a:endParaRPr lang="en-US" altLang="zh-CN" sz="2800">
              <a:solidFill>
                <a:srgbClr val="993300"/>
              </a:solidFill>
            </a:endParaRPr>
          </a:p>
        </p:txBody>
      </p:sp>
      <p:grpSp>
        <p:nvGrpSpPr>
          <p:cNvPr id="28" name="Group 38"/>
          <p:cNvGrpSpPr>
            <a:grpSpLocks/>
          </p:cNvGrpSpPr>
          <p:nvPr/>
        </p:nvGrpSpPr>
        <p:grpSpPr bwMode="auto">
          <a:xfrm>
            <a:off x="2243137" y="1763713"/>
            <a:ext cx="871538" cy="88900"/>
            <a:chOff x="680" y="2744"/>
            <a:chExt cx="549" cy="56"/>
          </a:xfrm>
        </p:grpSpPr>
        <p:sp>
          <p:nvSpPr>
            <p:cNvPr id="29" name="Line 39"/>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Oval 40"/>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31" name="Group 41"/>
          <p:cNvGrpSpPr>
            <a:grpSpLocks/>
          </p:cNvGrpSpPr>
          <p:nvPr/>
        </p:nvGrpSpPr>
        <p:grpSpPr bwMode="auto">
          <a:xfrm flipH="1">
            <a:off x="3944937" y="1751013"/>
            <a:ext cx="871538" cy="88900"/>
            <a:chOff x="680" y="2744"/>
            <a:chExt cx="549" cy="56"/>
          </a:xfrm>
        </p:grpSpPr>
        <p:sp>
          <p:nvSpPr>
            <p:cNvPr id="32" name="Line 42"/>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Oval 43"/>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34" name="Line 44"/>
          <p:cNvSpPr>
            <a:spLocks noChangeShapeType="1"/>
          </p:cNvSpPr>
          <p:nvPr/>
        </p:nvSpPr>
        <p:spPr bwMode="auto">
          <a:xfrm>
            <a:off x="2497137" y="1789113"/>
            <a:ext cx="393700" cy="127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Text Box 45"/>
          <p:cNvSpPr txBox="1">
            <a:spLocks noChangeArrowheads="1"/>
          </p:cNvSpPr>
          <p:nvPr/>
        </p:nvSpPr>
        <p:spPr bwMode="auto">
          <a:xfrm>
            <a:off x="2643187" y="1281113"/>
            <a:ext cx="2682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sym typeface="Symbol" pitchFamily="18" charset="2"/>
              </a:rPr>
              <a:t>i</a:t>
            </a:r>
            <a:endParaRPr lang="en-US" altLang="zh-CN">
              <a:solidFill>
                <a:schemeClr val="tx2"/>
              </a:solidFill>
              <a:sym typeface="Symbol" pitchFamily="18" charset="2"/>
            </a:endParaRPr>
          </a:p>
        </p:txBody>
      </p:sp>
      <p:sp>
        <p:nvSpPr>
          <p:cNvPr id="36" name="Text Box 46"/>
          <p:cNvSpPr txBox="1">
            <a:spLocks noChangeArrowheads="1"/>
          </p:cNvSpPr>
          <p:nvPr/>
        </p:nvSpPr>
        <p:spPr bwMode="auto">
          <a:xfrm>
            <a:off x="3414712" y="1841500"/>
            <a:ext cx="319088"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i="1">
                <a:solidFill>
                  <a:srgbClr val="993300"/>
                </a:solidFill>
              </a:rPr>
              <a:t>v</a:t>
            </a:r>
          </a:p>
        </p:txBody>
      </p:sp>
      <p:sp>
        <p:nvSpPr>
          <p:cNvPr id="37" name="Text Box 36"/>
          <p:cNvSpPr txBox="1">
            <a:spLocks noChangeArrowheads="1"/>
          </p:cNvSpPr>
          <p:nvPr/>
        </p:nvSpPr>
        <p:spPr bwMode="auto">
          <a:xfrm>
            <a:off x="2159000" y="1954213"/>
            <a:ext cx="293687"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1600">
                <a:solidFill>
                  <a:srgbClr val="993300"/>
                </a:solidFill>
                <a:latin typeface="黑体" pitchFamily="49" charset="-122"/>
                <a:ea typeface="黑体" pitchFamily="49" charset="-122"/>
              </a:rPr>
              <a:t>－</a:t>
            </a:r>
            <a:endParaRPr lang="en-US" altLang="zh-CN" sz="1600">
              <a:solidFill>
                <a:srgbClr val="993300"/>
              </a:solidFill>
              <a:latin typeface="黑体" pitchFamily="49" charset="-122"/>
              <a:ea typeface="黑体" pitchFamily="49" charset="-122"/>
            </a:endParaRPr>
          </a:p>
        </p:txBody>
      </p:sp>
    </p:spTree>
    <p:extLst>
      <p:ext uri="{BB962C8B-B14F-4D97-AF65-F5344CB8AC3E}">
        <p14:creationId xmlns:p14="http://schemas.microsoft.com/office/powerpoint/2010/main" val="218340160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inVertical)">
                                      <p:cBhvr>
                                        <p:cTn id="7" dur="500"/>
                                        <p:tgtEl>
                                          <p:spTgt spid="2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barn(inVertical)">
                                      <p:cBhvr>
                                        <p:cTn id="10" dur="500"/>
                                        <p:tgtEl>
                                          <p:spTgt spid="2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barn(inVertical)">
                                      <p:cBhvr>
                                        <p:cTn id="13" dur="500"/>
                                        <p:tgtEl>
                                          <p:spTgt spid="27"/>
                                        </p:tgtEl>
                                      </p:cBhvr>
                                    </p:animEffect>
                                  </p:childTnLst>
                                </p:cTn>
                              </p:par>
                              <p:par>
                                <p:cTn id="14" presetID="16" presetClass="entr" presetSubtype="21"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barn(inVertical)">
                                      <p:cBhvr>
                                        <p:cTn id="16" dur="500"/>
                                        <p:tgtEl>
                                          <p:spTgt spid="28"/>
                                        </p:tgtEl>
                                      </p:cBhvr>
                                    </p:animEffect>
                                  </p:childTnLst>
                                </p:cTn>
                              </p:par>
                              <p:par>
                                <p:cTn id="17" presetID="16" presetClass="entr" presetSubtype="21"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barn(inVertical)">
                                      <p:cBhvr>
                                        <p:cTn id="19" dur="500"/>
                                        <p:tgtEl>
                                          <p:spTgt spid="31"/>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barn(inVertical)">
                                      <p:cBhvr>
                                        <p:cTn id="22" dur="500"/>
                                        <p:tgtEl>
                                          <p:spTgt spid="34"/>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barn(inVertical)">
                                      <p:cBhvr>
                                        <p:cTn id="25" dur="500"/>
                                        <p:tgtEl>
                                          <p:spTgt spid="35"/>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barn(inVertical)">
                                      <p:cBhvr>
                                        <p:cTn id="28" dur="500"/>
                                        <p:tgtEl>
                                          <p:spTgt spid="36"/>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barn(inVertical)">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241682"/>
                                        </p:tgtEl>
                                        <p:attrNameLst>
                                          <p:attrName>style.visibility</p:attrName>
                                        </p:attrNameLst>
                                      </p:cBhvr>
                                      <p:to>
                                        <p:strVal val="visible"/>
                                      </p:to>
                                    </p:set>
                                    <p:animEffect transition="in" filter="barn(inVertical)">
                                      <p:cBhvr>
                                        <p:cTn id="36" dur="500"/>
                                        <p:tgtEl>
                                          <p:spTgt spid="241682"/>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241683"/>
                                        </p:tgtEl>
                                        <p:attrNameLst>
                                          <p:attrName>style.visibility</p:attrName>
                                        </p:attrNameLst>
                                      </p:cBhvr>
                                      <p:to>
                                        <p:strVal val="visible"/>
                                      </p:to>
                                    </p:set>
                                    <p:animEffect transition="in" filter="barn(inVertical)">
                                      <p:cBhvr>
                                        <p:cTn id="39" dur="500"/>
                                        <p:tgtEl>
                                          <p:spTgt spid="241683"/>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241689"/>
                                        </p:tgtEl>
                                        <p:attrNameLst>
                                          <p:attrName>style.visibility</p:attrName>
                                        </p:attrNameLst>
                                      </p:cBhvr>
                                      <p:to>
                                        <p:strVal val="visible"/>
                                      </p:to>
                                    </p:set>
                                    <p:animEffect transition="in" filter="barn(inVertical)">
                                      <p:cBhvr>
                                        <p:cTn id="44" dur="500"/>
                                        <p:tgtEl>
                                          <p:spTgt spid="241689"/>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241686"/>
                                        </p:tgtEl>
                                        <p:attrNameLst>
                                          <p:attrName>style.visibility</p:attrName>
                                        </p:attrNameLst>
                                      </p:cBhvr>
                                      <p:to>
                                        <p:strVal val="visible"/>
                                      </p:to>
                                    </p:set>
                                    <p:animEffect transition="in" filter="barn(inVertical)">
                                      <p:cBhvr>
                                        <p:cTn id="49" dur="500"/>
                                        <p:tgtEl>
                                          <p:spTgt spid="241686"/>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241687"/>
                                        </p:tgtEl>
                                        <p:attrNameLst>
                                          <p:attrName>style.visibility</p:attrName>
                                        </p:attrNameLst>
                                      </p:cBhvr>
                                      <p:to>
                                        <p:strVal val="visible"/>
                                      </p:to>
                                    </p:set>
                                    <p:animEffect transition="in" filter="barn(inVertical)">
                                      <p:cBhvr>
                                        <p:cTn id="54" dur="500"/>
                                        <p:tgtEl>
                                          <p:spTgt spid="24168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241688"/>
                                        </p:tgtEl>
                                        <p:attrNameLst>
                                          <p:attrName>style.visibility</p:attrName>
                                        </p:attrNameLst>
                                      </p:cBhvr>
                                      <p:to>
                                        <p:strVal val="visible"/>
                                      </p:to>
                                    </p:set>
                                    <p:animEffect transition="in" filter="wipe(down)">
                                      <p:cBhvr>
                                        <p:cTn id="59" dur="500"/>
                                        <p:tgtEl>
                                          <p:spTgt spid="241688"/>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241684"/>
                                        </p:tgtEl>
                                        <p:attrNameLst>
                                          <p:attrName>style.visibility</p:attrName>
                                        </p:attrNameLst>
                                      </p:cBhvr>
                                      <p:to>
                                        <p:strVal val="visible"/>
                                      </p:to>
                                    </p:set>
                                    <p:animEffect transition="in" filter="barn(inVertical)">
                                      <p:cBhvr>
                                        <p:cTn id="64" dur="500"/>
                                        <p:tgtEl>
                                          <p:spTgt spid="241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82" grpId="0"/>
      <p:bldP spid="241683" grpId="0"/>
      <p:bldP spid="241684" grpId="0" animBg="1"/>
      <p:bldP spid="241686" grpId="0"/>
      <p:bldP spid="241687" grpId="0" animBg="1"/>
      <p:bldP spid="241688" grpId="0" animBg="1"/>
      <p:bldP spid="25" grpId="0"/>
      <p:bldP spid="26" grpId="0" animBg="1"/>
      <p:bldP spid="27" grpId="0"/>
      <p:bldP spid="34" grpId="0" animBg="1"/>
      <p:bldP spid="35" grpId="0"/>
      <p:bldP spid="36" grpId="0"/>
      <p:bldP spid="3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319088" y="168275"/>
            <a:ext cx="2362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a:solidFill>
                  <a:srgbClr val="0000D0"/>
                </a:solidFill>
              </a:rPr>
              <a:t>c.  </a:t>
            </a:r>
            <a:r>
              <a:rPr lang="zh-CN" altLang="en-US">
                <a:solidFill>
                  <a:srgbClr val="0000D0"/>
                </a:solidFill>
              </a:rPr>
              <a:t>功率和能量</a:t>
            </a:r>
            <a:endParaRPr lang="zh-CN" altLang="en-US" b="0">
              <a:solidFill>
                <a:srgbClr val="0000D0"/>
              </a:solidFill>
            </a:endParaRPr>
          </a:p>
        </p:txBody>
      </p:sp>
      <p:sp>
        <p:nvSpPr>
          <p:cNvPr id="27657" name="Text Box 4"/>
          <p:cNvSpPr txBox="1">
            <a:spLocks noChangeArrowheads="1"/>
          </p:cNvSpPr>
          <p:nvPr/>
        </p:nvSpPr>
        <p:spPr bwMode="auto">
          <a:xfrm>
            <a:off x="5269516" y="2083763"/>
            <a:ext cx="3733800"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smtClean="0">
                <a:solidFill>
                  <a:srgbClr val="FF0000"/>
                </a:solidFill>
                <a:sym typeface="Symbol" pitchFamily="18" charset="2"/>
              </a:rPr>
              <a:t>–</a:t>
            </a:r>
            <a:r>
              <a:rPr lang="en-US" altLang="zh-CN" i="1" dirty="0">
                <a:solidFill>
                  <a:schemeClr val="tx2"/>
                </a:solidFill>
              </a:rPr>
              <a:t>vi </a:t>
            </a:r>
            <a:r>
              <a:rPr lang="en-US" altLang="zh-CN" dirty="0">
                <a:solidFill>
                  <a:schemeClr val="tx2"/>
                </a:solidFill>
                <a:sym typeface="Symbol" pitchFamily="18" charset="2"/>
              </a:rPr>
              <a:t> </a:t>
            </a:r>
            <a:r>
              <a:rPr lang="en-US" altLang="zh-CN" i="1" dirty="0">
                <a:solidFill>
                  <a:srgbClr val="FF0000"/>
                </a:solidFill>
                <a:sym typeface="Symbol" pitchFamily="18" charset="2"/>
              </a:rPr>
              <a:t>–</a:t>
            </a:r>
            <a:r>
              <a:rPr lang="en-US" altLang="zh-CN" dirty="0">
                <a:solidFill>
                  <a:schemeClr val="tx2"/>
                </a:solidFill>
                <a:sym typeface="Symbol" pitchFamily="18" charset="2"/>
              </a:rPr>
              <a:t>(</a:t>
            </a:r>
            <a:r>
              <a:rPr lang="en-US" altLang="zh-CN" i="1" dirty="0">
                <a:solidFill>
                  <a:srgbClr val="FF0000"/>
                </a:solidFill>
                <a:sym typeface="Symbol" pitchFamily="18" charset="2"/>
              </a:rPr>
              <a:t>–</a:t>
            </a:r>
            <a:r>
              <a:rPr lang="en-US" altLang="zh-CN" i="1" dirty="0">
                <a:solidFill>
                  <a:schemeClr val="tx2"/>
                </a:solidFill>
              </a:rPr>
              <a:t>R </a:t>
            </a:r>
            <a:r>
              <a:rPr lang="en-US" altLang="zh-CN" i="1" dirty="0" err="1">
                <a:solidFill>
                  <a:schemeClr val="tx2"/>
                </a:solidFill>
              </a:rPr>
              <a:t>i</a:t>
            </a:r>
            <a:r>
              <a:rPr lang="en-US" altLang="zh-CN" i="1" dirty="0">
                <a:solidFill>
                  <a:schemeClr val="tx2"/>
                </a:solidFill>
              </a:rPr>
              <a:t> </a:t>
            </a:r>
            <a:r>
              <a:rPr lang="en-US" altLang="zh-CN" dirty="0">
                <a:solidFill>
                  <a:schemeClr val="tx2"/>
                </a:solidFill>
              </a:rPr>
              <a:t>) </a:t>
            </a:r>
            <a:r>
              <a:rPr lang="en-US" altLang="zh-CN" i="1" dirty="0" err="1">
                <a:solidFill>
                  <a:schemeClr val="tx2"/>
                </a:solidFill>
              </a:rPr>
              <a:t>i</a:t>
            </a:r>
            <a:r>
              <a:rPr lang="en-US" altLang="zh-CN" i="1" dirty="0">
                <a:solidFill>
                  <a:schemeClr val="tx2"/>
                </a:solidFill>
              </a:rPr>
              <a:t> </a:t>
            </a:r>
            <a:r>
              <a:rPr lang="en-US" altLang="zh-CN" dirty="0">
                <a:solidFill>
                  <a:schemeClr val="tx2"/>
                </a:solidFill>
                <a:sym typeface="Symbol" pitchFamily="18" charset="2"/>
              </a:rPr>
              <a:t> </a:t>
            </a:r>
            <a:r>
              <a:rPr lang="en-US" altLang="zh-CN" i="1" dirty="0">
                <a:solidFill>
                  <a:schemeClr val="tx2"/>
                </a:solidFill>
              </a:rPr>
              <a:t>i</a:t>
            </a:r>
            <a:r>
              <a:rPr lang="en-US" altLang="zh-CN" baseline="30000" dirty="0">
                <a:solidFill>
                  <a:schemeClr val="tx2"/>
                </a:solidFill>
              </a:rPr>
              <a:t>2</a:t>
            </a:r>
            <a:r>
              <a:rPr lang="en-US" altLang="zh-CN" i="1" dirty="0">
                <a:solidFill>
                  <a:schemeClr val="tx2"/>
                </a:solidFill>
              </a:rPr>
              <a:t>R </a:t>
            </a:r>
            <a:endParaRPr lang="en-US" altLang="zh-CN" i="1" dirty="0" smtClean="0">
              <a:solidFill>
                <a:schemeClr val="tx2"/>
              </a:solidFill>
            </a:endParaRPr>
          </a:p>
          <a:p>
            <a:pPr algn="ctr">
              <a:spcBef>
                <a:spcPct val="50000"/>
              </a:spcBef>
            </a:pPr>
            <a:r>
              <a:rPr lang="en-US" altLang="zh-CN" i="1" dirty="0" smtClean="0">
                <a:solidFill>
                  <a:schemeClr val="tx2"/>
                </a:solidFill>
              </a:rPr>
              <a:t> </a:t>
            </a:r>
            <a:r>
              <a:rPr lang="en-US" altLang="zh-CN" dirty="0" smtClean="0">
                <a:solidFill>
                  <a:schemeClr val="tx2"/>
                </a:solidFill>
                <a:sym typeface="Symbol" pitchFamily="18" charset="2"/>
              </a:rPr>
              <a:t></a:t>
            </a:r>
            <a:r>
              <a:rPr lang="en-US" altLang="zh-CN" dirty="0" smtClean="0">
                <a:solidFill>
                  <a:schemeClr val="tx2"/>
                </a:solidFill>
              </a:rPr>
              <a:t> </a:t>
            </a:r>
            <a:r>
              <a:rPr lang="en-US" altLang="zh-CN" i="1" dirty="0" smtClean="0">
                <a:solidFill>
                  <a:srgbClr val="FF0000"/>
                </a:solidFill>
                <a:sym typeface="Symbol" pitchFamily="18" charset="2"/>
              </a:rPr>
              <a:t>–</a:t>
            </a:r>
            <a:r>
              <a:rPr lang="en-US" altLang="zh-CN" i="1" dirty="0" smtClean="0">
                <a:solidFill>
                  <a:schemeClr val="tx2"/>
                </a:solidFill>
              </a:rPr>
              <a:t>v</a:t>
            </a:r>
            <a:r>
              <a:rPr lang="en-US" altLang="zh-CN" dirty="0" smtClean="0">
                <a:solidFill>
                  <a:schemeClr val="tx2"/>
                </a:solidFill>
                <a:sym typeface="Symbol" pitchFamily="18" charset="2"/>
              </a:rPr>
              <a:t>(</a:t>
            </a:r>
            <a:r>
              <a:rPr lang="en-US" altLang="zh-CN" i="1" dirty="0" smtClean="0">
                <a:solidFill>
                  <a:srgbClr val="FF0000"/>
                </a:solidFill>
                <a:sym typeface="Symbol" pitchFamily="18" charset="2"/>
              </a:rPr>
              <a:t>–</a:t>
            </a:r>
            <a:r>
              <a:rPr lang="en-US" altLang="zh-CN" i="1" dirty="0" smtClean="0">
                <a:solidFill>
                  <a:schemeClr val="tx2"/>
                </a:solidFill>
              </a:rPr>
              <a:t>v/ R</a:t>
            </a:r>
            <a:r>
              <a:rPr lang="en-US" altLang="zh-CN" dirty="0" smtClean="0">
                <a:solidFill>
                  <a:schemeClr val="tx2"/>
                </a:solidFill>
              </a:rPr>
              <a:t>) </a:t>
            </a:r>
            <a:r>
              <a:rPr lang="en-US" altLang="zh-CN" i="1" dirty="0" smtClean="0">
                <a:solidFill>
                  <a:schemeClr val="tx2"/>
                </a:solidFill>
              </a:rPr>
              <a:t>= v</a:t>
            </a:r>
            <a:r>
              <a:rPr lang="en-US" altLang="zh-CN" baseline="30000" dirty="0" smtClean="0">
                <a:solidFill>
                  <a:schemeClr val="tx2"/>
                </a:solidFill>
              </a:rPr>
              <a:t>2</a:t>
            </a:r>
            <a:r>
              <a:rPr lang="en-US" altLang="zh-CN" i="1" dirty="0" smtClean="0">
                <a:solidFill>
                  <a:schemeClr val="tx2"/>
                </a:solidFill>
              </a:rPr>
              <a:t>/ R</a:t>
            </a:r>
            <a:endParaRPr lang="en-US" altLang="zh-CN" i="1" dirty="0">
              <a:solidFill>
                <a:schemeClr val="tx2"/>
              </a:solidFill>
            </a:endParaRPr>
          </a:p>
        </p:txBody>
      </p:sp>
      <p:sp>
        <p:nvSpPr>
          <p:cNvPr id="27658" name="Text Box 5"/>
          <p:cNvSpPr txBox="1">
            <a:spLocks noChangeArrowheads="1"/>
          </p:cNvSpPr>
          <p:nvPr/>
        </p:nvSpPr>
        <p:spPr bwMode="auto">
          <a:xfrm>
            <a:off x="4534227" y="1035050"/>
            <a:ext cx="4038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sym typeface="Symbol" pitchFamily="18" charset="2"/>
              </a:rPr>
              <a:t>p</a:t>
            </a:r>
            <a:r>
              <a:rPr lang="zh-CN" altLang="en-US" baseline="-25000" dirty="0">
                <a:solidFill>
                  <a:schemeClr val="tx2"/>
                </a:solidFill>
                <a:sym typeface="Symbol" pitchFamily="18" charset="2"/>
              </a:rPr>
              <a:t>吸</a:t>
            </a:r>
            <a:r>
              <a:rPr lang="zh-CN" altLang="en-US" b="0" i="1" dirty="0">
                <a:solidFill>
                  <a:schemeClr val="tx2"/>
                </a:solidFill>
                <a:sym typeface="Symbol" pitchFamily="18" charset="2"/>
              </a:rPr>
              <a:t> </a:t>
            </a:r>
            <a:r>
              <a:rPr lang="zh-CN" altLang="en-US" dirty="0">
                <a:solidFill>
                  <a:schemeClr val="tx2"/>
                </a:solidFill>
                <a:sym typeface="Symbol" pitchFamily="18" charset="2"/>
              </a:rPr>
              <a:t></a:t>
            </a:r>
            <a:r>
              <a:rPr lang="zh-CN" altLang="en-US" dirty="0">
                <a:solidFill>
                  <a:schemeClr val="tx2"/>
                </a:solidFill>
              </a:rPr>
              <a:t> </a:t>
            </a:r>
            <a:r>
              <a:rPr lang="en-US" altLang="zh-CN" i="1" dirty="0">
                <a:solidFill>
                  <a:schemeClr val="tx2"/>
                </a:solidFill>
              </a:rPr>
              <a:t>vi </a:t>
            </a:r>
            <a:r>
              <a:rPr lang="en-US" altLang="zh-CN" dirty="0">
                <a:solidFill>
                  <a:schemeClr val="tx2"/>
                </a:solidFill>
                <a:sym typeface="Symbol" pitchFamily="18" charset="2"/>
              </a:rPr>
              <a:t> </a:t>
            </a:r>
            <a:r>
              <a:rPr lang="en-US" altLang="zh-CN" i="1" dirty="0" err="1">
                <a:solidFill>
                  <a:schemeClr val="tx2"/>
                </a:solidFill>
              </a:rPr>
              <a:t>i</a:t>
            </a:r>
            <a:r>
              <a:rPr lang="en-US" altLang="zh-CN" i="1" dirty="0">
                <a:solidFill>
                  <a:schemeClr val="tx2"/>
                </a:solidFill>
              </a:rPr>
              <a:t> </a:t>
            </a:r>
            <a:r>
              <a:rPr lang="en-US" altLang="zh-CN" baseline="30000" dirty="0">
                <a:solidFill>
                  <a:schemeClr val="tx2"/>
                </a:solidFill>
              </a:rPr>
              <a:t>2</a:t>
            </a:r>
            <a:r>
              <a:rPr lang="en-US" altLang="zh-CN" i="1" dirty="0">
                <a:solidFill>
                  <a:schemeClr val="tx2"/>
                </a:solidFill>
              </a:rPr>
              <a:t>R </a:t>
            </a:r>
            <a:r>
              <a:rPr lang="en-US" altLang="zh-CN" dirty="0">
                <a:solidFill>
                  <a:schemeClr val="tx2"/>
                </a:solidFill>
                <a:sym typeface="Symbol" pitchFamily="18" charset="2"/>
              </a:rPr>
              <a:t> </a:t>
            </a:r>
            <a:r>
              <a:rPr lang="en-US" altLang="zh-CN" i="1" dirty="0">
                <a:solidFill>
                  <a:schemeClr val="tx2"/>
                </a:solidFill>
              </a:rPr>
              <a:t>v</a:t>
            </a:r>
            <a:r>
              <a:rPr lang="en-US" altLang="zh-CN" baseline="30000" dirty="0">
                <a:solidFill>
                  <a:schemeClr val="tx2"/>
                </a:solidFill>
              </a:rPr>
              <a:t>2</a:t>
            </a:r>
            <a:r>
              <a:rPr lang="en-US" altLang="zh-CN" i="1" dirty="0">
                <a:solidFill>
                  <a:schemeClr val="tx2"/>
                </a:solidFill>
              </a:rPr>
              <a:t>/ R</a:t>
            </a:r>
          </a:p>
        </p:txBody>
      </p:sp>
      <p:sp>
        <p:nvSpPr>
          <p:cNvPr id="27659" name="Text Box 6"/>
          <p:cNvSpPr txBox="1">
            <a:spLocks noChangeArrowheads="1"/>
          </p:cNvSpPr>
          <p:nvPr/>
        </p:nvSpPr>
        <p:spPr bwMode="auto">
          <a:xfrm>
            <a:off x="595313" y="577850"/>
            <a:ext cx="11033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dirty="0">
                <a:solidFill>
                  <a:srgbClr val="FF0000"/>
                </a:solidFill>
                <a:sym typeface="Monotype Sorts" pitchFamily="2" charset="2"/>
              </a:rPr>
              <a:t>功率：</a:t>
            </a:r>
            <a:endParaRPr lang="zh-CN" altLang="en-US" b="0" dirty="0">
              <a:solidFill>
                <a:srgbClr val="FF0000"/>
              </a:solidFill>
            </a:endParaRPr>
          </a:p>
        </p:txBody>
      </p:sp>
      <p:grpSp>
        <p:nvGrpSpPr>
          <p:cNvPr id="27660" name="Group 7"/>
          <p:cNvGrpSpPr>
            <a:grpSpLocks/>
          </p:cNvGrpSpPr>
          <p:nvPr/>
        </p:nvGrpSpPr>
        <p:grpSpPr bwMode="auto">
          <a:xfrm>
            <a:off x="1698625" y="1993900"/>
            <a:ext cx="2649537" cy="1185863"/>
            <a:chOff x="1064" y="1502"/>
            <a:chExt cx="1669" cy="747"/>
          </a:xfrm>
        </p:grpSpPr>
        <p:sp>
          <p:nvSpPr>
            <p:cNvPr id="27674" name="Text Box 8"/>
            <p:cNvSpPr txBox="1">
              <a:spLocks noChangeArrowheads="1"/>
            </p:cNvSpPr>
            <p:nvPr/>
          </p:nvSpPr>
          <p:spPr bwMode="auto">
            <a:xfrm>
              <a:off x="1825" y="1502"/>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R</a:t>
              </a:r>
              <a:endParaRPr lang="en-US" altLang="zh-CN" sz="3200">
                <a:solidFill>
                  <a:schemeClr val="tx2"/>
                </a:solidFill>
              </a:endParaRPr>
            </a:p>
          </p:txBody>
        </p:sp>
        <p:sp>
          <p:nvSpPr>
            <p:cNvPr id="27675" name="Rectangle 9"/>
            <p:cNvSpPr>
              <a:spLocks noChangeArrowheads="1"/>
            </p:cNvSpPr>
            <p:nvPr/>
          </p:nvSpPr>
          <p:spPr bwMode="auto">
            <a:xfrm>
              <a:off x="1675" y="1810"/>
              <a:ext cx="492" cy="168"/>
            </a:xfrm>
            <a:prstGeom prst="rect">
              <a:avLst/>
            </a:prstGeom>
            <a:no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7676" name="Text Box 10"/>
            <p:cNvSpPr txBox="1">
              <a:spLocks noChangeArrowheads="1"/>
            </p:cNvSpPr>
            <p:nvPr/>
          </p:nvSpPr>
          <p:spPr bwMode="auto">
            <a:xfrm>
              <a:off x="1064" y="1922"/>
              <a:ext cx="18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a:sym typeface="CommonBullets" pitchFamily="34" charset="2"/>
                </a:rPr>
                <a:t>+</a:t>
              </a:r>
              <a:endParaRPr lang="en-US" altLang="zh-CN" sz="3200"/>
            </a:p>
          </p:txBody>
        </p:sp>
        <p:sp>
          <p:nvSpPr>
            <p:cNvPr id="27677" name="Text Box 12"/>
            <p:cNvSpPr txBox="1">
              <a:spLocks noChangeArrowheads="1"/>
            </p:cNvSpPr>
            <p:nvPr/>
          </p:nvSpPr>
          <p:spPr bwMode="auto">
            <a:xfrm>
              <a:off x="1851" y="1994"/>
              <a:ext cx="18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000" i="1"/>
                <a:t>v</a:t>
              </a:r>
              <a:endParaRPr lang="en-US" altLang="zh-CN" sz="2000"/>
            </a:p>
          </p:txBody>
        </p:sp>
        <p:grpSp>
          <p:nvGrpSpPr>
            <p:cNvPr id="27678" name="Group 13"/>
            <p:cNvGrpSpPr>
              <a:grpSpLocks/>
            </p:cNvGrpSpPr>
            <p:nvPr/>
          </p:nvGrpSpPr>
          <p:grpSpPr bwMode="auto">
            <a:xfrm>
              <a:off x="1112" y="1874"/>
              <a:ext cx="549" cy="56"/>
              <a:chOff x="680" y="2744"/>
              <a:chExt cx="549" cy="56"/>
            </a:xfrm>
          </p:grpSpPr>
          <p:sp>
            <p:nvSpPr>
              <p:cNvPr id="27684" name="Line 14"/>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5" name="Oval 15"/>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27679" name="Group 16"/>
            <p:cNvGrpSpPr>
              <a:grpSpLocks/>
            </p:cNvGrpSpPr>
            <p:nvPr/>
          </p:nvGrpSpPr>
          <p:grpSpPr bwMode="auto">
            <a:xfrm flipH="1">
              <a:off x="2184" y="1866"/>
              <a:ext cx="549" cy="56"/>
              <a:chOff x="680" y="2744"/>
              <a:chExt cx="549" cy="56"/>
            </a:xfrm>
          </p:grpSpPr>
          <p:sp>
            <p:nvSpPr>
              <p:cNvPr id="27682" name="Line 17"/>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3" name="Oval 18"/>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27680" name="Line 19"/>
            <p:cNvSpPr>
              <a:spLocks noChangeShapeType="1"/>
            </p:cNvSpPr>
            <p:nvPr/>
          </p:nvSpPr>
          <p:spPr bwMode="auto">
            <a:xfrm flipH="1">
              <a:off x="1272" y="1830"/>
              <a:ext cx="248" cy="8"/>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1" name="Text Box 20"/>
            <p:cNvSpPr txBox="1">
              <a:spLocks noChangeArrowheads="1"/>
            </p:cNvSpPr>
            <p:nvPr/>
          </p:nvSpPr>
          <p:spPr bwMode="auto">
            <a:xfrm>
              <a:off x="1364" y="1570"/>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sym typeface="Symbol" pitchFamily="18" charset="2"/>
                </a:rPr>
                <a:t>i</a:t>
              </a:r>
              <a:endParaRPr lang="en-US" altLang="zh-CN">
                <a:solidFill>
                  <a:schemeClr val="tx2"/>
                </a:solidFill>
                <a:sym typeface="Symbol" pitchFamily="18" charset="2"/>
              </a:endParaRPr>
            </a:p>
          </p:txBody>
        </p:sp>
      </p:grpSp>
      <p:sp>
        <p:nvSpPr>
          <p:cNvPr id="27661" name="Text Box 21"/>
          <p:cNvSpPr txBox="1">
            <a:spLocks noChangeArrowheads="1"/>
          </p:cNvSpPr>
          <p:nvPr/>
        </p:nvSpPr>
        <p:spPr bwMode="auto">
          <a:xfrm>
            <a:off x="2881313" y="647700"/>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R</a:t>
            </a:r>
            <a:endParaRPr lang="en-US" altLang="zh-CN" sz="3200">
              <a:solidFill>
                <a:schemeClr val="tx2"/>
              </a:solidFill>
            </a:endParaRPr>
          </a:p>
        </p:txBody>
      </p:sp>
      <p:sp>
        <p:nvSpPr>
          <p:cNvPr id="27662" name="Rectangle 22"/>
          <p:cNvSpPr>
            <a:spLocks noChangeArrowheads="1"/>
          </p:cNvSpPr>
          <p:nvPr/>
        </p:nvSpPr>
        <p:spPr bwMode="auto">
          <a:xfrm>
            <a:off x="2643188" y="1136650"/>
            <a:ext cx="781050" cy="266700"/>
          </a:xfrm>
          <a:prstGeom prst="rect">
            <a:avLst/>
          </a:prstGeom>
          <a:noFill/>
          <a:ln w="38100" cap="sq">
            <a:solidFill>
              <a:schemeClr val="tx1"/>
            </a:solidFill>
            <a:miter lim="800000"/>
            <a:headEnd/>
            <a:tailEnd/>
          </a:ln>
          <a:effectLs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7663" name="Text Box 23"/>
          <p:cNvSpPr txBox="1">
            <a:spLocks noChangeArrowheads="1"/>
          </p:cNvSpPr>
          <p:nvPr/>
        </p:nvSpPr>
        <p:spPr bwMode="auto">
          <a:xfrm>
            <a:off x="1673225" y="1314450"/>
            <a:ext cx="2936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800">
                <a:sym typeface="CommonBullets" pitchFamily="34" charset="2"/>
              </a:rPr>
              <a:t>+</a:t>
            </a:r>
            <a:endParaRPr lang="en-US" altLang="zh-CN" sz="3200"/>
          </a:p>
        </p:txBody>
      </p:sp>
      <p:sp>
        <p:nvSpPr>
          <p:cNvPr id="27664" name="Text Box 25"/>
          <p:cNvSpPr txBox="1">
            <a:spLocks noChangeArrowheads="1"/>
          </p:cNvSpPr>
          <p:nvPr/>
        </p:nvSpPr>
        <p:spPr bwMode="auto">
          <a:xfrm>
            <a:off x="2922588" y="1428750"/>
            <a:ext cx="2984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000" i="1"/>
              <a:t>v</a:t>
            </a:r>
            <a:endParaRPr lang="en-US" altLang="zh-CN" sz="2000"/>
          </a:p>
        </p:txBody>
      </p:sp>
      <p:grpSp>
        <p:nvGrpSpPr>
          <p:cNvPr id="27665" name="Group 26"/>
          <p:cNvGrpSpPr>
            <a:grpSpLocks/>
          </p:cNvGrpSpPr>
          <p:nvPr/>
        </p:nvGrpSpPr>
        <p:grpSpPr bwMode="auto">
          <a:xfrm>
            <a:off x="1749425" y="1238250"/>
            <a:ext cx="871537" cy="88900"/>
            <a:chOff x="680" y="2744"/>
            <a:chExt cx="549" cy="56"/>
          </a:xfrm>
        </p:grpSpPr>
        <p:sp>
          <p:nvSpPr>
            <p:cNvPr id="27672" name="Line 27"/>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3" name="Oval 28"/>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27666" name="Group 29"/>
          <p:cNvGrpSpPr>
            <a:grpSpLocks/>
          </p:cNvGrpSpPr>
          <p:nvPr/>
        </p:nvGrpSpPr>
        <p:grpSpPr bwMode="auto">
          <a:xfrm flipH="1">
            <a:off x="3451225" y="1225550"/>
            <a:ext cx="871537" cy="88900"/>
            <a:chOff x="680" y="2744"/>
            <a:chExt cx="549" cy="56"/>
          </a:xfrm>
        </p:grpSpPr>
        <p:sp>
          <p:nvSpPr>
            <p:cNvPr id="27670" name="Line 30"/>
            <p:cNvSpPr>
              <a:spLocks noChangeShapeType="1"/>
            </p:cNvSpPr>
            <p:nvPr/>
          </p:nvSpPr>
          <p:spPr bwMode="auto">
            <a:xfrm flipH="1">
              <a:off x="737" y="2766"/>
              <a:ext cx="49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1" name="Oval 31"/>
            <p:cNvSpPr>
              <a:spLocks noChangeArrowheads="1"/>
            </p:cNvSpPr>
            <p:nvPr/>
          </p:nvSpPr>
          <p:spPr bwMode="auto">
            <a:xfrm>
              <a:off x="680" y="2744"/>
              <a:ext cx="47" cy="56"/>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27667" name="Line 32"/>
          <p:cNvSpPr>
            <a:spLocks noChangeShapeType="1"/>
          </p:cNvSpPr>
          <p:nvPr/>
        </p:nvSpPr>
        <p:spPr bwMode="auto">
          <a:xfrm>
            <a:off x="2022475" y="1149350"/>
            <a:ext cx="393700" cy="127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8" name="Text Box 33"/>
          <p:cNvSpPr txBox="1">
            <a:spLocks noChangeArrowheads="1"/>
          </p:cNvSpPr>
          <p:nvPr/>
        </p:nvSpPr>
        <p:spPr bwMode="auto">
          <a:xfrm>
            <a:off x="2149475" y="755650"/>
            <a:ext cx="2682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sym typeface="Symbol" pitchFamily="18" charset="2"/>
              </a:rPr>
              <a:t>i</a:t>
            </a:r>
            <a:endParaRPr lang="en-US" altLang="zh-CN">
              <a:solidFill>
                <a:schemeClr val="tx2"/>
              </a:solidFill>
              <a:sym typeface="Symbol" pitchFamily="18" charset="2"/>
            </a:endParaRPr>
          </a:p>
        </p:txBody>
      </p:sp>
      <p:sp>
        <p:nvSpPr>
          <p:cNvPr id="27669" name="Text Box 23"/>
          <p:cNvSpPr txBox="1">
            <a:spLocks noChangeArrowheads="1"/>
          </p:cNvSpPr>
          <p:nvPr/>
        </p:nvSpPr>
        <p:spPr bwMode="auto">
          <a:xfrm>
            <a:off x="4200525" y="1320800"/>
            <a:ext cx="29368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a:latin typeface="黑体" pitchFamily="49" charset="-122"/>
                <a:ea typeface="黑体" pitchFamily="49" charset="-122"/>
                <a:sym typeface="CommonBullets" pitchFamily="34" charset="2"/>
              </a:rPr>
              <a:t>-</a:t>
            </a:r>
            <a:endParaRPr lang="en-US" altLang="zh-CN" b="0">
              <a:latin typeface="黑体" pitchFamily="49" charset="-122"/>
              <a:ea typeface="黑体" pitchFamily="49" charset="-122"/>
            </a:endParaRPr>
          </a:p>
        </p:txBody>
      </p:sp>
      <p:sp>
        <p:nvSpPr>
          <p:cNvPr id="243747" name="Text Box 35"/>
          <p:cNvSpPr txBox="1">
            <a:spLocks noChangeArrowheads="1"/>
          </p:cNvSpPr>
          <p:nvPr/>
        </p:nvSpPr>
        <p:spPr bwMode="auto">
          <a:xfrm>
            <a:off x="595313" y="4988868"/>
            <a:ext cx="627057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dirty="0">
                <a:solidFill>
                  <a:srgbClr val="FF0000"/>
                </a:solidFill>
              </a:rPr>
              <a:t>能量：</a:t>
            </a:r>
            <a:r>
              <a:rPr lang="zh-CN" altLang="en-US" dirty="0">
                <a:solidFill>
                  <a:schemeClr val="tx2"/>
                </a:solidFill>
              </a:rPr>
              <a:t>可用功表示。从</a:t>
            </a:r>
            <a:r>
              <a:rPr lang="en-US" altLang="zh-CN" i="1" dirty="0">
                <a:solidFill>
                  <a:schemeClr val="tx2"/>
                </a:solidFill>
              </a:rPr>
              <a:t>t</a:t>
            </a:r>
            <a:r>
              <a:rPr lang="en-US" altLang="zh-CN" baseline="-25000" dirty="0">
                <a:solidFill>
                  <a:schemeClr val="tx2"/>
                </a:solidFill>
              </a:rPr>
              <a:t>0</a:t>
            </a:r>
            <a:r>
              <a:rPr lang="en-US" altLang="zh-CN" dirty="0">
                <a:solidFill>
                  <a:schemeClr val="tx2"/>
                </a:solidFill>
              </a:rPr>
              <a:t> </a:t>
            </a:r>
            <a:r>
              <a:rPr lang="zh-CN" altLang="en-US" dirty="0">
                <a:solidFill>
                  <a:schemeClr val="tx2"/>
                </a:solidFill>
              </a:rPr>
              <a:t>到</a:t>
            </a:r>
            <a:r>
              <a:rPr lang="zh-CN" altLang="en-US" baseline="-25000" dirty="0">
                <a:solidFill>
                  <a:schemeClr val="tx2"/>
                </a:solidFill>
              </a:rPr>
              <a:t> </a:t>
            </a:r>
            <a:r>
              <a:rPr lang="en-US" altLang="zh-CN" i="1" dirty="0">
                <a:solidFill>
                  <a:schemeClr val="tx2"/>
                </a:solidFill>
              </a:rPr>
              <a:t>t</a:t>
            </a:r>
            <a:r>
              <a:rPr lang="zh-CN" altLang="en-US" dirty="0">
                <a:solidFill>
                  <a:schemeClr val="tx2"/>
                </a:solidFill>
              </a:rPr>
              <a:t>电阻消耗的能量</a:t>
            </a:r>
          </a:p>
        </p:txBody>
      </p:sp>
      <p:graphicFrame>
        <p:nvGraphicFramePr>
          <p:cNvPr id="243748" name="Object 36"/>
          <p:cNvGraphicFramePr>
            <a:graphicFrameLocks noChangeAspect="1"/>
          </p:cNvGraphicFramePr>
          <p:nvPr/>
        </p:nvGraphicFramePr>
        <p:xfrm>
          <a:off x="2659063" y="5545138"/>
          <a:ext cx="2916237" cy="738187"/>
        </p:xfrm>
        <a:graphic>
          <a:graphicData uri="http://schemas.openxmlformats.org/presentationml/2006/ole">
            <mc:AlternateContent xmlns:mc="http://schemas.openxmlformats.org/markup-compatibility/2006">
              <mc:Choice xmlns:v="urn:schemas-microsoft-com:vml" Requires="v">
                <p:oleObj spid="_x0000_s113674" name="Equation" r:id="rId4" imgW="1244060" imgH="317362" progId="Equation.DSMT4">
                  <p:embed/>
                </p:oleObj>
              </mc:Choice>
              <mc:Fallback>
                <p:oleObj name="Equation" r:id="rId4" imgW="1244060" imgH="317362"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9063" y="5545138"/>
                        <a:ext cx="2916237" cy="73818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3749" name="Text Box 37"/>
          <p:cNvSpPr txBox="1">
            <a:spLocks noChangeArrowheads="1"/>
          </p:cNvSpPr>
          <p:nvPr/>
        </p:nvSpPr>
        <p:spPr bwMode="auto">
          <a:xfrm>
            <a:off x="639763" y="3446463"/>
            <a:ext cx="8005762"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spcBef>
                <a:spcPct val="50000"/>
              </a:spcBef>
            </a:pPr>
            <a:r>
              <a:rPr lang="zh-CN" altLang="en-US" dirty="0">
                <a:solidFill>
                  <a:srgbClr val="0000D0"/>
                </a:solidFill>
              </a:rPr>
              <a:t>注意：</a:t>
            </a:r>
            <a:r>
              <a:rPr kumimoji="0" lang="zh-CN" altLang="en-US" sz="2200" dirty="0"/>
              <a:t>根据电阻的一般性定义，</a:t>
            </a:r>
            <a:r>
              <a:rPr kumimoji="0" lang="en-US" altLang="zh-CN" sz="2200" i="1" dirty="0" smtClean="0"/>
              <a:t>v-</a:t>
            </a:r>
            <a:r>
              <a:rPr kumimoji="0" lang="en-US" altLang="zh-CN" sz="2200" i="1" dirty="0" err="1" smtClean="0"/>
              <a:t>i</a:t>
            </a:r>
            <a:r>
              <a:rPr kumimoji="0" lang="en-US" altLang="zh-CN" sz="2200" i="1" dirty="0" smtClean="0"/>
              <a:t> </a:t>
            </a:r>
            <a:r>
              <a:rPr kumimoji="0" lang="zh-CN" altLang="en-US" sz="2200" dirty="0" smtClean="0"/>
              <a:t>平面</a:t>
            </a:r>
            <a:r>
              <a:rPr kumimoji="0" lang="zh-CN" altLang="en-US" sz="2200" dirty="0"/>
              <a:t>上斜率为负的特性曲线</a:t>
            </a:r>
          </a:p>
          <a:p>
            <a:pPr eaLnBrk="1" hangingPunct="1">
              <a:spcBef>
                <a:spcPct val="50000"/>
              </a:spcBef>
            </a:pPr>
            <a:r>
              <a:rPr kumimoji="0" lang="zh-CN" altLang="en-US" sz="2200" dirty="0"/>
              <a:t>             表征的元件也属于电阻元件，称为</a:t>
            </a:r>
            <a:r>
              <a:rPr kumimoji="0" lang="zh-CN" altLang="en-US" sz="2200" dirty="0">
                <a:solidFill>
                  <a:srgbClr val="FF0000"/>
                </a:solidFill>
              </a:rPr>
              <a:t>负电阻</a:t>
            </a:r>
            <a:r>
              <a:rPr kumimoji="0" lang="zh-CN" altLang="en-US" sz="2200" dirty="0"/>
              <a:t>。</a:t>
            </a:r>
          </a:p>
          <a:p>
            <a:pPr eaLnBrk="1" hangingPunct="1">
              <a:spcBef>
                <a:spcPct val="50000"/>
              </a:spcBef>
            </a:pPr>
            <a:r>
              <a:rPr kumimoji="0" lang="zh-CN" altLang="en-US" sz="2200" dirty="0"/>
              <a:t>            （利用电子电路可以实现）</a:t>
            </a:r>
          </a:p>
        </p:txBody>
      </p:sp>
      <p:sp>
        <p:nvSpPr>
          <p:cNvPr id="27656" name="Text Box 23"/>
          <p:cNvSpPr txBox="1">
            <a:spLocks noChangeArrowheads="1"/>
          </p:cNvSpPr>
          <p:nvPr/>
        </p:nvSpPr>
        <p:spPr bwMode="auto">
          <a:xfrm>
            <a:off x="4181475" y="2625725"/>
            <a:ext cx="2936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a:latin typeface="黑体" pitchFamily="49" charset="-122"/>
                <a:ea typeface="黑体" pitchFamily="49" charset="-122"/>
                <a:sym typeface="CommonBullets" pitchFamily="34" charset="2"/>
              </a:rPr>
              <a:t>-</a:t>
            </a:r>
            <a:endParaRPr lang="en-US" altLang="zh-CN" b="0">
              <a:latin typeface="黑体" pitchFamily="49" charset="-122"/>
              <a:ea typeface="黑体" pitchFamily="49" charset="-122"/>
            </a:endParaRPr>
          </a:p>
        </p:txBody>
      </p:sp>
      <p:sp>
        <p:nvSpPr>
          <p:cNvPr id="2" name="矩形 1"/>
          <p:cNvSpPr/>
          <p:nvPr/>
        </p:nvSpPr>
        <p:spPr>
          <a:xfrm>
            <a:off x="5113941" y="2095633"/>
            <a:ext cx="841897" cy="461665"/>
          </a:xfrm>
          <a:prstGeom prst="rect">
            <a:avLst/>
          </a:prstGeom>
        </p:spPr>
        <p:txBody>
          <a:bodyPr wrap="none">
            <a:spAutoFit/>
          </a:bodyPr>
          <a:lstStyle/>
          <a:p>
            <a:r>
              <a:rPr lang="en-US" altLang="zh-CN" i="1" dirty="0">
                <a:solidFill>
                  <a:schemeClr val="tx2"/>
                </a:solidFill>
                <a:sym typeface="Symbol" pitchFamily="18" charset="2"/>
              </a:rPr>
              <a:t>p</a:t>
            </a:r>
            <a:r>
              <a:rPr lang="zh-CN" altLang="en-US" baseline="-25000" dirty="0">
                <a:solidFill>
                  <a:schemeClr val="tx2"/>
                </a:solidFill>
                <a:sym typeface="Symbol" pitchFamily="18" charset="2"/>
              </a:rPr>
              <a:t>吸</a:t>
            </a:r>
            <a:r>
              <a:rPr lang="zh-CN" altLang="en-US" b="0" baseline="-25000" dirty="0">
                <a:solidFill>
                  <a:schemeClr val="tx2"/>
                </a:solidFill>
                <a:sym typeface="Symbol" pitchFamily="18" charset="2"/>
              </a:rPr>
              <a:t> </a:t>
            </a:r>
            <a:r>
              <a:rPr lang="zh-CN" altLang="en-US" dirty="0">
                <a:solidFill>
                  <a:schemeClr val="tx2"/>
                </a:solidFill>
                <a:sym typeface="Symbol" pitchFamily="18" charset="2"/>
              </a:rPr>
              <a:t></a:t>
            </a:r>
            <a:r>
              <a:rPr lang="zh-CN" altLang="en-US" dirty="0">
                <a:solidFill>
                  <a:schemeClr val="tx2"/>
                </a:solidFill>
              </a:rPr>
              <a:t> </a:t>
            </a:r>
            <a:endParaRPr lang="zh-CN" altLang="en-US" dirty="0"/>
          </a:p>
        </p:txBody>
      </p:sp>
    </p:spTree>
    <p:extLst>
      <p:ext uri="{BB962C8B-B14F-4D97-AF65-F5344CB8AC3E}">
        <p14:creationId xmlns:p14="http://schemas.microsoft.com/office/powerpoint/2010/main" val="31900593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7659"/>
                                        </p:tgtEl>
                                        <p:attrNameLst>
                                          <p:attrName>style.visibility</p:attrName>
                                        </p:attrNameLst>
                                      </p:cBhvr>
                                      <p:to>
                                        <p:strVal val="visible"/>
                                      </p:to>
                                    </p:set>
                                    <p:animEffect transition="in" filter="barn(inVertical)">
                                      <p:cBhvr>
                                        <p:cTn id="7" dur="500"/>
                                        <p:tgtEl>
                                          <p:spTgt spid="2765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7661"/>
                                        </p:tgtEl>
                                        <p:attrNameLst>
                                          <p:attrName>style.visibility</p:attrName>
                                        </p:attrNameLst>
                                      </p:cBhvr>
                                      <p:to>
                                        <p:strVal val="visible"/>
                                      </p:to>
                                    </p:set>
                                    <p:animEffect transition="in" filter="barn(inVertical)">
                                      <p:cBhvr>
                                        <p:cTn id="12" dur="500"/>
                                        <p:tgtEl>
                                          <p:spTgt spid="27661"/>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27662"/>
                                        </p:tgtEl>
                                        <p:attrNameLst>
                                          <p:attrName>style.visibility</p:attrName>
                                        </p:attrNameLst>
                                      </p:cBhvr>
                                      <p:to>
                                        <p:strVal val="visible"/>
                                      </p:to>
                                    </p:set>
                                    <p:animEffect transition="in" filter="barn(inVertical)">
                                      <p:cBhvr>
                                        <p:cTn id="15" dur="500"/>
                                        <p:tgtEl>
                                          <p:spTgt spid="27662"/>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27663"/>
                                        </p:tgtEl>
                                        <p:attrNameLst>
                                          <p:attrName>style.visibility</p:attrName>
                                        </p:attrNameLst>
                                      </p:cBhvr>
                                      <p:to>
                                        <p:strVal val="visible"/>
                                      </p:to>
                                    </p:set>
                                    <p:animEffect transition="in" filter="barn(inVertical)">
                                      <p:cBhvr>
                                        <p:cTn id="18" dur="500"/>
                                        <p:tgtEl>
                                          <p:spTgt spid="27663"/>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27664"/>
                                        </p:tgtEl>
                                        <p:attrNameLst>
                                          <p:attrName>style.visibility</p:attrName>
                                        </p:attrNameLst>
                                      </p:cBhvr>
                                      <p:to>
                                        <p:strVal val="visible"/>
                                      </p:to>
                                    </p:set>
                                    <p:animEffect transition="in" filter="barn(inVertical)">
                                      <p:cBhvr>
                                        <p:cTn id="21" dur="500"/>
                                        <p:tgtEl>
                                          <p:spTgt spid="27664"/>
                                        </p:tgtEl>
                                      </p:cBhvr>
                                    </p:animEffect>
                                  </p:childTnLst>
                                </p:cTn>
                              </p:par>
                              <p:par>
                                <p:cTn id="22" presetID="16" presetClass="entr" presetSubtype="21" fill="hold" nodeType="withEffect">
                                  <p:stCondLst>
                                    <p:cond delay="0"/>
                                  </p:stCondLst>
                                  <p:childTnLst>
                                    <p:set>
                                      <p:cBhvr>
                                        <p:cTn id="23" dur="1" fill="hold">
                                          <p:stCondLst>
                                            <p:cond delay="0"/>
                                          </p:stCondLst>
                                        </p:cTn>
                                        <p:tgtEl>
                                          <p:spTgt spid="27665"/>
                                        </p:tgtEl>
                                        <p:attrNameLst>
                                          <p:attrName>style.visibility</p:attrName>
                                        </p:attrNameLst>
                                      </p:cBhvr>
                                      <p:to>
                                        <p:strVal val="visible"/>
                                      </p:to>
                                    </p:set>
                                    <p:animEffect transition="in" filter="barn(inVertical)">
                                      <p:cBhvr>
                                        <p:cTn id="24" dur="500"/>
                                        <p:tgtEl>
                                          <p:spTgt spid="27665"/>
                                        </p:tgtEl>
                                      </p:cBhvr>
                                    </p:animEffect>
                                  </p:childTnLst>
                                </p:cTn>
                              </p:par>
                              <p:par>
                                <p:cTn id="25" presetID="16" presetClass="entr" presetSubtype="21" fill="hold" nodeType="withEffect">
                                  <p:stCondLst>
                                    <p:cond delay="0"/>
                                  </p:stCondLst>
                                  <p:childTnLst>
                                    <p:set>
                                      <p:cBhvr>
                                        <p:cTn id="26" dur="1" fill="hold">
                                          <p:stCondLst>
                                            <p:cond delay="0"/>
                                          </p:stCondLst>
                                        </p:cTn>
                                        <p:tgtEl>
                                          <p:spTgt spid="27666"/>
                                        </p:tgtEl>
                                        <p:attrNameLst>
                                          <p:attrName>style.visibility</p:attrName>
                                        </p:attrNameLst>
                                      </p:cBhvr>
                                      <p:to>
                                        <p:strVal val="visible"/>
                                      </p:to>
                                    </p:set>
                                    <p:animEffect transition="in" filter="barn(inVertical)">
                                      <p:cBhvr>
                                        <p:cTn id="27" dur="500"/>
                                        <p:tgtEl>
                                          <p:spTgt spid="2766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27667"/>
                                        </p:tgtEl>
                                        <p:attrNameLst>
                                          <p:attrName>style.visibility</p:attrName>
                                        </p:attrNameLst>
                                      </p:cBhvr>
                                      <p:to>
                                        <p:strVal val="visible"/>
                                      </p:to>
                                    </p:set>
                                    <p:animEffect transition="in" filter="barn(inVertical)">
                                      <p:cBhvr>
                                        <p:cTn id="30" dur="500"/>
                                        <p:tgtEl>
                                          <p:spTgt spid="27667"/>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27668"/>
                                        </p:tgtEl>
                                        <p:attrNameLst>
                                          <p:attrName>style.visibility</p:attrName>
                                        </p:attrNameLst>
                                      </p:cBhvr>
                                      <p:to>
                                        <p:strVal val="visible"/>
                                      </p:to>
                                    </p:set>
                                    <p:animEffect transition="in" filter="barn(inVertical)">
                                      <p:cBhvr>
                                        <p:cTn id="33" dur="500"/>
                                        <p:tgtEl>
                                          <p:spTgt spid="27668"/>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27669"/>
                                        </p:tgtEl>
                                        <p:attrNameLst>
                                          <p:attrName>style.visibility</p:attrName>
                                        </p:attrNameLst>
                                      </p:cBhvr>
                                      <p:to>
                                        <p:strVal val="visible"/>
                                      </p:to>
                                    </p:set>
                                    <p:animEffect transition="in" filter="barn(inVertical)">
                                      <p:cBhvr>
                                        <p:cTn id="36" dur="500"/>
                                        <p:tgtEl>
                                          <p:spTgt spid="27669"/>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27658"/>
                                        </p:tgtEl>
                                        <p:attrNameLst>
                                          <p:attrName>style.visibility</p:attrName>
                                        </p:attrNameLst>
                                      </p:cBhvr>
                                      <p:to>
                                        <p:strVal val="visible"/>
                                      </p:to>
                                    </p:set>
                                    <p:animEffect transition="in" filter="barn(inVertical)">
                                      <p:cBhvr>
                                        <p:cTn id="41" dur="500"/>
                                        <p:tgtEl>
                                          <p:spTgt spid="27658"/>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27660"/>
                                        </p:tgtEl>
                                        <p:attrNameLst>
                                          <p:attrName>style.visibility</p:attrName>
                                        </p:attrNameLst>
                                      </p:cBhvr>
                                      <p:to>
                                        <p:strVal val="visible"/>
                                      </p:to>
                                    </p:set>
                                    <p:animEffect transition="in" filter="barn(inVertical)">
                                      <p:cBhvr>
                                        <p:cTn id="46" dur="500"/>
                                        <p:tgtEl>
                                          <p:spTgt spid="27660"/>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27656"/>
                                        </p:tgtEl>
                                        <p:attrNameLst>
                                          <p:attrName>style.visibility</p:attrName>
                                        </p:attrNameLst>
                                      </p:cBhvr>
                                      <p:to>
                                        <p:strVal val="visible"/>
                                      </p:to>
                                    </p:set>
                                    <p:animEffect transition="in" filter="barn(inVertical)">
                                      <p:cBhvr>
                                        <p:cTn id="49" dur="500"/>
                                        <p:tgtEl>
                                          <p:spTgt spid="27656"/>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barn(inVertical)">
                                      <p:cBhvr>
                                        <p:cTn id="54" dur="500"/>
                                        <p:tgtEl>
                                          <p:spTgt spid="2"/>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nodeType="clickEffect">
                                  <p:stCondLst>
                                    <p:cond delay="0"/>
                                  </p:stCondLst>
                                  <p:childTnLst>
                                    <p:set>
                                      <p:cBhvr>
                                        <p:cTn id="58" dur="1" fill="hold">
                                          <p:stCondLst>
                                            <p:cond delay="0"/>
                                          </p:stCondLst>
                                        </p:cTn>
                                        <p:tgtEl>
                                          <p:spTgt spid="27657">
                                            <p:txEl>
                                              <p:pRg st="0" end="0"/>
                                            </p:txEl>
                                          </p:spTgt>
                                        </p:tgtEl>
                                        <p:attrNameLst>
                                          <p:attrName>style.visibility</p:attrName>
                                        </p:attrNameLst>
                                      </p:cBhvr>
                                      <p:to>
                                        <p:strVal val="visible"/>
                                      </p:to>
                                    </p:set>
                                    <p:animEffect transition="in" filter="barn(inVertical)">
                                      <p:cBhvr>
                                        <p:cTn id="59" dur="500"/>
                                        <p:tgtEl>
                                          <p:spTgt spid="27657">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nodeType="clickEffect">
                                  <p:stCondLst>
                                    <p:cond delay="0"/>
                                  </p:stCondLst>
                                  <p:childTnLst>
                                    <p:set>
                                      <p:cBhvr>
                                        <p:cTn id="63" dur="1" fill="hold">
                                          <p:stCondLst>
                                            <p:cond delay="0"/>
                                          </p:stCondLst>
                                        </p:cTn>
                                        <p:tgtEl>
                                          <p:spTgt spid="27657">
                                            <p:txEl>
                                              <p:pRg st="1" end="1"/>
                                            </p:txEl>
                                          </p:spTgt>
                                        </p:tgtEl>
                                        <p:attrNameLst>
                                          <p:attrName>style.visibility</p:attrName>
                                        </p:attrNameLst>
                                      </p:cBhvr>
                                      <p:to>
                                        <p:strVal val="visible"/>
                                      </p:to>
                                    </p:set>
                                    <p:animEffect transition="in" filter="barn(inVertical)">
                                      <p:cBhvr>
                                        <p:cTn id="64" dur="500"/>
                                        <p:tgtEl>
                                          <p:spTgt spid="27657">
                                            <p:txEl>
                                              <p:pRg st="1" end="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21" fill="hold" grpId="0" nodeType="clickEffect">
                                  <p:stCondLst>
                                    <p:cond delay="0"/>
                                  </p:stCondLst>
                                  <p:childTnLst>
                                    <p:set>
                                      <p:cBhvr>
                                        <p:cTn id="68" dur="1" fill="hold">
                                          <p:stCondLst>
                                            <p:cond delay="0"/>
                                          </p:stCondLst>
                                        </p:cTn>
                                        <p:tgtEl>
                                          <p:spTgt spid="243749"/>
                                        </p:tgtEl>
                                        <p:attrNameLst>
                                          <p:attrName>style.visibility</p:attrName>
                                        </p:attrNameLst>
                                      </p:cBhvr>
                                      <p:to>
                                        <p:strVal val="visible"/>
                                      </p:to>
                                    </p:set>
                                    <p:animEffect transition="in" filter="barn(inVertical)">
                                      <p:cBhvr>
                                        <p:cTn id="69" dur="500"/>
                                        <p:tgtEl>
                                          <p:spTgt spid="243749"/>
                                        </p:tgtEl>
                                      </p:cBhvr>
                                    </p:animEffect>
                                  </p:childTnLst>
                                </p:cTn>
                              </p:par>
                            </p:childTnLst>
                          </p:cTn>
                        </p:par>
                      </p:childTnLst>
                    </p:cTn>
                  </p:par>
                  <p:par>
                    <p:cTn id="70" fill="hold">
                      <p:stCondLst>
                        <p:cond delay="indefinite"/>
                      </p:stCondLst>
                      <p:childTnLst>
                        <p:par>
                          <p:cTn id="71" fill="hold">
                            <p:stCondLst>
                              <p:cond delay="0"/>
                            </p:stCondLst>
                            <p:childTnLst>
                              <p:par>
                                <p:cTn id="72" presetID="16" presetClass="entr" presetSubtype="21" fill="hold" grpId="0" nodeType="clickEffect">
                                  <p:stCondLst>
                                    <p:cond delay="0"/>
                                  </p:stCondLst>
                                  <p:childTnLst>
                                    <p:set>
                                      <p:cBhvr>
                                        <p:cTn id="73" dur="1" fill="hold">
                                          <p:stCondLst>
                                            <p:cond delay="0"/>
                                          </p:stCondLst>
                                        </p:cTn>
                                        <p:tgtEl>
                                          <p:spTgt spid="243747"/>
                                        </p:tgtEl>
                                        <p:attrNameLst>
                                          <p:attrName>style.visibility</p:attrName>
                                        </p:attrNameLst>
                                      </p:cBhvr>
                                      <p:to>
                                        <p:strVal val="visible"/>
                                      </p:to>
                                    </p:set>
                                    <p:animEffect transition="in" filter="barn(inVertical)">
                                      <p:cBhvr>
                                        <p:cTn id="74" dur="500"/>
                                        <p:tgtEl>
                                          <p:spTgt spid="243747"/>
                                        </p:tgtEl>
                                      </p:cBhvr>
                                    </p:animEffect>
                                  </p:childTnLst>
                                </p:cTn>
                              </p:par>
                            </p:childTnLst>
                          </p:cTn>
                        </p:par>
                      </p:childTnLst>
                    </p:cTn>
                  </p:par>
                  <p:par>
                    <p:cTn id="75" fill="hold">
                      <p:stCondLst>
                        <p:cond delay="indefinite"/>
                      </p:stCondLst>
                      <p:childTnLst>
                        <p:par>
                          <p:cTn id="76" fill="hold">
                            <p:stCondLst>
                              <p:cond delay="0"/>
                            </p:stCondLst>
                            <p:childTnLst>
                              <p:par>
                                <p:cTn id="77" presetID="16" presetClass="entr" presetSubtype="21" fill="hold" nodeType="clickEffect">
                                  <p:stCondLst>
                                    <p:cond delay="0"/>
                                  </p:stCondLst>
                                  <p:childTnLst>
                                    <p:set>
                                      <p:cBhvr>
                                        <p:cTn id="78" dur="1" fill="hold">
                                          <p:stCondLst>
                                            <p:cond delay="0"/>
                                          </p:stCondLst>
                                        </p:cTn>
                                        <p:tgtEl>
                                          <p:spTgt spid="243748"/>
                                        </p:tgtEl>
                                        <p:attrNameLst>
                                          <p:attrName>style.visibility</p:attrName>
                                        </p:attrNameLst>
                                      </p:cBhvr>
                                      <p:to>
                                        <p:strVal val="visible"/>
                                      </p:to>
                                    </p:set>
                                    <p:animEffect transition="in" filter="barn(inVertical)">
                                      <p:cBhvr>
                                        <p:cTn id="79" dur="500"/>
                                        <p:tgtEl>
                                          <p:spTgt spid="243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8" grpId="0"/>
      <p:bldP spid="27659" grpId="0"/>
      <p:bldP spid="27661" grpId="0"/>
      <p:bldP spid="27662" grpId="0" animBg="1"/>
      <p:bldP spid="27663" grpId="0"/>
      <p:bldP spid="27664" grpId="0"/>
      <p:bldP spid="27667" grpId="0" animBg="1"/>
      <p:bldP spid="27668" grpId="0"/>
      <p:bldP spid="27669" grpId="0"/>
      <p:bldP spid="243747" grpId="0"/>
      <p:bldP spid="243749" grpId="0"/>
      <p:bldP spid="27656"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62" name="Group 2"/>
          <p:cNvGrpSpPr>
            <a:grpSpLocks/>
          </p:cNvGrpSpPr>
          <p:nvPr/>
        </p:nvGrpSpPr>
        <p:grpSpPr bwMode="auto">
          <a:xfrm>
            <a:off x="987425" y="966788"/>
            <a:ext cx="1768475" cy="2225675"/>
            <a:chOff x="622" y="609"/>
            <a:chExt cx="1114" cy="1402"/>
          </a:xfrm>
        </p:grpSpPr>
        <p:sp>
          <p:nvSpPr>
            <p:cNvPr id="28697" name="Text Box 3"/>
            <p:cNvSpPr txBox="1">
              <a:spLocks noChangeArrowheads="1"/>
            </p:cNvSpPr>
            <p:nvPr/>
          </p:nvSpPr>
          <p:spPr bwMode="auto">
            <a:xfrm>
              <a:off x="1438" y="1234"/>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R</a:t>
              </a:r>
            </a:p>
          </p:txBody>
        </p:sp>
        <p:sp>
          <p:nvSpPr>
            <p:cNvPr id="28698" name="Text Box 4"/>
            <p:cNvSpPr txBox="1">
              <a:spLocks noChangeArrowheads="1"/>
            </p:cNvSpPr>
            <p:nvPr/>
          </p:nvSpPr>
          <p:spPr bwMode="auto">
            <a:xfrm>
              <a:off x="1567" y="658"/>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i</a:t>
              </a:r>
            </a:p>
          </p:txBody>
        </p:sp>
        <p:sp>
          <p:nvSpPr>
            <p:cNvPr id="28699" name="Text Box 5"/>
            <p:cNvSpPr txBox="1">
              <a:spLocks noChangeArrowheads="1"/>
            </p:cNvSpPr>
            <p:nvPr/>
          </p:nvSpPr>
          <p:spPr bwMode="auto">
            <a:xfrm>
              <a:off x="647" y="1109"/>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v</a:t>
              </a:r>
            </a:p>
          </p:txBody>
        </p:sp>
        <p:sp>
          <p:nvSpPr>
            <p:cNvPr id="28700" name="Rectangle 6"/>
            <p:cNvSpPr>
              <a:spLocks noChangeArrowheads="1"/>
            </p:cNvSpPr>
            <p:nvPr/>
          </p:nvSpPr>
          <p:spPr bwMode="auto">
            <a:xfrm rot="5400000">
              <a:off x="653" y="627"/>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sym typeface="CommonBullets" pitchFamily="34" charset="2"/>
                </a:rPr>
                <a:t>+</a:t>
              </a:r>
            </a:p>
          </p:txBody>
        </p:sp>
        <p:sp>
          <p:nvSpPr>
            <p:cNvPr id="28701" name="Rectangle 7"/>
            <p:cNvSpPr>
              <a:spLocks noChangeArrowheads="1"/>
            </p:cNvSpPr>
            <p:nvPr/>
          </p:nvSpPr>
          <p:spPr bwMode="auto">
            <a:xfrm rot="5400000">
              <a:off x="1169" y="1233"/>
              <a:ext cx="391" cy="144"/>
            </a:xfrm>
            <a:prstGeom prst="rect">
              <a:avLst/>
            </a:prstGeom>
            <a:no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8702" name="Line 8"/>
            <p:cNvSpPr>
              <a:spLocks noChangeShapeType="1"/>
            </p:cNvSpPr>
            <p:nvPr/>
          </p:nvSpPr>
          <p:spPr bwMode="auto">
            <a:xfrm rot="5400000" flipH="1" flipV="1">
              <a:off x="1130" y="874"/>
              <a:ext cx="47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03" name="Line 9"/>
            <p:cNvSpPr>
              <a:spLocks noChangeShapeType="1"/>
            </p:cNvSpPr>
            <p:nvPr/>
          </p:nvSpPr>
          <p:spPr bwMode="auto">
            <a:xfrm rot="5400000">
              <a:off x="1130" y="1735"/>
              <a:ext cx="47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04" name="Oval 10"/>
            <p:cNvSpPr>
              <a:spLocks noChangeArrowheads="1"/>
            </p:cNvSpPr>
            <p:nvPr/>
          </p:nvSpPr>
          <p:spPr bwMode="auto">
            <a:xfrm rot="5400000">
              <a:off x="697" y="1943"/>
              <a:ext cx="68" cy="68"/>
            </a:xfrm>
            <a:prstGeom prst="ellipse">
              <a:avLst/>
            </a:prstGeom>
            <a:solidFill>
              <a:schemeClr val="accent2"/>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8705" name="Rectangle 11"/>
            <p:cNvSpPr>
              <a:spLocks noChangeArrowheads="1"/>
            </p:cNvSpPr>
            <p:nvPr/>
          </p:nvSpPr>
          <p:spPr bwMode="auto">
            <a:xfrm>
              <a:off x="636" y="168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sym typeface="CommonBullets" pitchFamily="34" charset="2"/>
                </a:rPr>
                <a:t>–</a:t>
              </a:r>
            </a:p>
          </p:txBody>
        </p:sp>
        <p:sp>
          <p:nvSpPr>
            <p:cNvPr id="28706" name="Line 12"/>
            <p:cNvSpPr>
              <a:spLocks noChangeShapeType="1"/>
            </p:cNvSpPr>
            <p:nvPr/>
          </p:nvSpPr>
          <p:spPr bwMode="auto">
            <a:xfrm>
              <a:off x="1542" y="609"/>
              <a:ext cx="0" cy="385"/>
            </a:xfrm>
            <a:prstGeom prst="line">
              <a:avLst/>
            </a:prstGeom>
            <a:noFill/>
            <a:ln w="28575">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8707" name="Line 13"/>
            <p:cNvSpPr>
              <a:spLocks noChangeShapeType="1"/>
            </p:cNvSpPr>
            <p:nvPr/>
          </p:nvSpPr>
          <p:spPr bwMode="auto">
            <a:xfrm flipH="1">
              <a:off x="766" y="1970"/>
              <a:ext cx="59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708" name="Oval 14"/>
            <p:cNvSpPr>
              <a:spLocks noChangeArrowheads="1"/>
            </p:cNvSpPr>
            <p:nvPr/>
          </p:nvSpPr>
          <p:spPr bwMode="auto">
            <a:xfrm rot="5400000">
              <a:off x="698" y="612"/>
              <a:ext cx="68" cy="68"/>
            </a:xfrm>
            <a:prstGeom prst="ellipse">
              <a:avLst/>
            </a:prstGeom>
            <a:solidFill>
              <a:schemeClr val="accent2"/>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28709" name="Line 15"/>
            <p:cNvSpPr>
              <a:spLocks noChangeShapeType="1"/>
            </p:cNvSpPr>
            <p:nvPr/>
          </p:nvSpPr>
          <p:spPr bwMode="auto">
            <a:xfrm flipH="1">
              <a:off x="767" y="639"/>
              <a:ext cx="59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28675" name="Text Box 16"/>
          <p:cNvSpPr txBox="1">
            <a:spLocks noChangeArrowheads="1"/>
          </p:cNvSpPr>
          <p:nvPr/>
        </p:nvSpPr>
        <p:spPr bwMode="auto">
          <a:xfrm>
            <a:off x="241300" y="209550"/>
            <a:ext cx="2362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0000D0"/>
                </a:solidFill>
              </a:rPr>
              <a:t>d. </a:t>
            </a:r>
            <a:r>
              <a:rPr lang="zh-CN" altLang="en-US">
                <a:solidFill>
                  <a:srgbClr val="0000D0"/>
                </a:solidFill>
              </a:rPr>
              <a:t>开路与短路</a:t>
            </a:r>
          </a:p>
        </p:txBody>
      </p:sp>
      <p:grpSp>
        <p:nvGrpSpPr>
          <p:cNvPr id="245777" name="Group 17"/>
          <p:cNvGrpSpPr>
            <a:grpSpLocks/>
          </p:cNvGrpSpPr>
          <p:nvPr/>
        </p:nvGrpSpPr>
        <p:grpSpPr bwMode="auto">
          <a:xfrm>
            <a:off x="479425" y="3594100"/>
            <a:ext cx="6491288" cy="2400300"/>
            <a:chOff x="302" y="2264"/>
            <a:chExt cx="4089" cy="1512"/>
          </a:xfrm>
        </p:grpSpPr>
        <p:sp>
          <p:nvSpPr>
            <p:cNvPr id="28687" name="Text Box 18"/>
            <p:cNvSpPr txBox="1">
              <a:spLocks noChangeArrowheads="1"/>
            </p:cNvSpPr>
            <p:nvPr/>
          </p:nvSpPr>
          <p:spPr bwMode="auto">
            <a:xfrm>
              <a:off x="302" y="2296"/>
              <a:ext cx="2962" cy="7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a:solidFill>
                    <a:schemeClr val="tx2"/>
                  </a:solidFill>
                </a:rPr>
                <a:t>当 </a:t>
              </a:r>
              <a:r>
                <a:rPr lang="en-US" altLang="zh-CN" i="1">
                  <a:solidFill>
                    <a:schemeClr val="tx2"/>
                  </a:solidFill>
                </a:rPr>
                <a:t>R </a:t>
              </a:r>
              <a:r>
                <a:rPr lang="en-US" altLang="zh-CN">
                  <a:solidFill>
                    <a:schemeClr val="tx2"/>
                  </a:solidFill>
                </a:rPr>
                <a:t>= </a:t>
              </a:r>
              <a:r>
                <a:rPr lang="en-US" altLang="zh-CN" sz="3200">
                  <a:solidFill>
                    <a:schemeClr val="tx2"/>
                  </a:solidFill>
                  <a:sym typeface="Symbol" pitchFamily="18" charset="2"/>
                </a:rPr>
                <a:t> </a:t>
              </a:r>
              <a:r>
                <a:rPr lang="en-US" altLang="zh-CN">
                  <a:solidFill>
                    <a:schemeClr val="tx2"/>
                  </a:solidFill>
                  <a:sym typeface="Symbol" pitchFamily="18" charset="2"/>
                </a:rPr>
                <a:t>(</a:t>
              </a:r>
              <a:r>
                <a:rPr lang="en-US" altLang="zh-CN" i="1">
                  <a:solidFill>
                    <a:schemeClr val="tx2"/>
                  </a:solidFill>
                </a:rPr>
                <a:t>G </a:t>
              </a:r>
              <a:r>
                <a:rPr lang="en-US" altLang="zh-CN">
                  <a:solidFill>
                    <a:schemeClr val="tx2"/>
                  </a:solidFill>
                </a:rPr>
                <a:t>= </a:t>
              </a:r>
              <a:r>
                <a:rPr lang="en-US" altLang="zh-CN">
                  <a:solidFill>
                    <a:schemeClr val="tx2"/>
                  </a:solidFill>
                  <a:sym typeface="Symbol" pitchFamily="18" charset="2"/>
                </a:rPr>
                <a:t>0</a:t>
              </a:r>
              <a:r>
                <a:rPr lang="en-US" altLang="zh-CN">
                  <a:solidFill>
                    <a:schemeClr val="tx2"/>
                  </a:solidFill>
                </a:rPr>
                <a:t>)</a:t>
              </a:r>
              <a:r>
                <a:rPr lang="zh-CN" altLang="en-US">
                  <a:solidFill>
                    <a:schemeClr val="tx2"/>
                  </a:solidFill>
                </a:rPr>
                <a:t>，视其为开路。</a:t>
              </a:r>
            </a:p>
            <a:p>
              <a:pPr>
                <a:spcBef>
                  <a:spcPct val="50000"/>
                </a:spcBef>
              </a:pPr>
              <a:r>
                <a:rPr lang="en-US" altLang="zh-CN" i="1">
                  <a:solidFill>
                    <a:schemeClr val="tx2"/>
                  </a:solidFill>
                </a:rPr>
                <a:t>i </a:t>
              </a:r>
              <a:r>
                <a:rPr lang="en-US" altLang="zh-CN">
                  <a:solidFill>
                    <a:schemeClr val="tx2"/>
                  </a:solidFill>
                </a:rPr>
                <a:t>= 0,  </a:t>
              </a:r>
              <a:r>
                <a:rPr lang="en-US" altLang="zh-CN" i="1">
                  <a:solidFill>
                    <a:schemeClr val="tx2"/>
                  </a:solidFill>
                </a:rPr>
                <a:t>v</a:t>
              </a:r>
              <a:r>
                <a:rPr lang="zh-CN" altLang="zh-CN">
                  <a:solidFill>
                    <a:schemeClr val="tx2"/>
                  </a:solidFill>
                </a:rPr>
                <a:t>由外电路决定</a:t>
              </a:r>
              <a:endParaRPr lang="zh-CN" altLang="en-US">
                <a:solidFill>
                  <a:schemeClr val="tx2"/>
                </a:solidFill>
              </a:endParaRPr>
            </a:p>
          </p:txBody>
        </p:sp>
        <p:grpSp>
          <p:nvGrpSpPr>
            <p:cNvPr id="28688" name="Group 19"/>
            <p:cNvGrpSpPr>
              <a:grpSpLocks/>
            </p:cNvGrpSpPr>
            <p:nvPr/>
          </p:nvGrpSpPr>
          <p:grpSpPr bwMode="auto">
            <a:xfrm>
              <a:off x="3139" y="2264"/>
              <a:ext cx="1252" cy="1512"/>
              <a:chOff x="2815" y="2624"/>
              <a:chExt cx="1252" cy="1512"/>
            </a:xfrm>
          </p:grpSpPr>
          <p:sp>
            <p:nvSpPr>
              <p:cNvPr id="28689" name="Rectangle 20"/>
              <p:cNvSpPr>
                <a:spLocks noChangeArrowheads="1"/>
              </p:cNvSpPr>
              <p:nvPr/>
            </p:nvSpPr>
            <p:spPr bwMode="auto">
              <a:xfrm>
                <a:off x="3036" y="2624"/>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v</a:t>
                </a:r>
                <a:endParaRPr lang="en-US" altLang="zh-CN">
                  <a:solidFill>
                    <a:schemeClr val="tx2"/>
                  </a:solidFill>
                </a:endParaRPr>
              </a:p>
            </p:txBody>
          </p:sp>
          <p:grpSp>
            <p:nvGrpSpPr>
              <p:cNvPr id="28690" name="Group 21"/>
              <p:cNvGrpSpPr>
                <a:grpSpLocks/>
              </p:cNvGrpSpPr>
              <p:nvPr/>
            </p:nvGrpSpPr>
            <p:grpSpPr bwMode="auto">
              <a:xfrm>
                <a:off x="2815" y="2780"/>
                <a:ext cx="1252" cy="1356"/>
                <a:chOff x="2815" y="2780"/>
                <a:chExt cx="1252" cy="1356"/>
              </a:xfrm>
            </p:grpSpPr>
            <p:sp>
              <p:nvSpPr>
                <p:cNvPr id="28691" name="Rectangle 22"/>
                <p:cNvSpPr>
                  <a:spLocks noChangeArrowheads="1"/>
                </p:cNvSpPr>
                <p:nvPr/>
              </p:nvSpPr>
              <p:spPr bwMode="auto">
                <a:xfrm>
                  <a:off x="3898" y="3487"/>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i</a:t>
                  </a:r>
                  <a:endParaRPr lang="en-US" altLang="zh-CN">
                    <a:solidFill>
                      <a:schemeClr val="tx2"/>
                    </a:solidFill>
                  </a:endParaRPr>
                </a:p>
              </p:txBody>
            </p:sp>
            <p:sp>
              <p:nvSpPr>
                <p:cNvPr id="28692" name="Line 23"/>
                <p:cNvSpPr>
                  <a:spLocks noChangeShapeType="1"/>
                </p:cNvSpPr>
                <p:nvPr/>
              </p:nvSpPr>
              <p:spPr bwMode="auto">
                <a:xfrm>
                  <a:off x="2815" y="3528"/>
                  <a:ext cx="1198" cy="0"/>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93" name="Line 24"/>
                <p:cNvSpPr>
                  <a:spLocks noChangeShapeType="1"/>
                </p:cNvSpPr>
                <p:nvPr/>
              </p:nvSpPr>
              <p:spPr bwMode="auto">
                <a:xfrm flipV="1">
                  <a:off x="2980" y="2780"/>
                  <a:ext cx="8" cy="1012"/>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94" name="Text Box 25"/>
                <p:cNvSpPr txBox="1">
                  <a:spLocks noChangeArrowheads="1"/>
                </p:cNvSpPr>
                <p:nvPr/>
              </p:nvSpPr>
              <p:spPr bwMode="auto">
                <a:xfrm>
                  <a:off x="2978" y="3519"/>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a:solidFill>
                        <a:srgbClr val="000000"/>
                      </a:solidFill>
                      <a:sym typeface="Symbol" pitchFamily="18" charset="2"/>
                    </a:rPr>
                    <a:t>0</a:t>
                  </a:r>
                  <a:endParaRPr lang="en-US" altLang="zh-CN" sz="2800">
                    <a:solidFill>
                      <a:srgbClr val="000000"/>
                    </a:solidFill>
                    <a:sym typeface="Symbol" pitchFamily="18" charset="2"/>
                  </a:endParaRPr>
                </a:p>
              </p:txBody>
            </p:sp>
            <p:sp>
              <p:nvSpPr>
                <p:cNvPr id="28695" name="Line 26"/>
                <p:cNvSpPr>
                  <a:spLocks noChangeShapeType="1"/>
                </p:cNvSpPr>
                <p:nvPr/>
              </p:nvSpPr>
              <p:spPr bwMode="auto">
                <a:xfrm>
                  <a:off x="2984" y="2936"/>
                  <a:ext cx="0" cy="720"/>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96" name="Text Box 27"/>
                <p:cNvSpPr txBox="1">
                  <a:spLocks noChangeArrowheads="1"/>
                </p:cNvSpPr>
                <p:nvPr/>
              </p:nvSpPr>
              <p:spPr bwMode="auto">
                <a:xfrm>
                  <a:off x="2828" y="3848"/>
                  <a:ext cx="5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a:solidFill>
                        <a:schemeClr val="tx2"/>
                      </a:solidFill>
                      <a:sym typeface="Symbol" pitchFamily="18" charset="2"/>
                    </a:rPr>
                    <a:t>开路</a:t>
                  </a:r>
                </a:p>
              </p:txBody>
            </p:sp>
          </p:grpSp>
        </p:grpSp>
      </p:grpSp>
      <p:grpSp>
        <p:nvGrpSpPr>
          <p:cNvPr id="245788" name="Group 28"/>
          <p:cNvGrpSpPr>
            <a:grpSpLocks/>
          </p:cNvGrpSpPr>
          <p:nvPr/>
        </p:nvGrpSpPr>
        <p:grpSpPr bwMode="auto">
          <a:xfrm>
            <a:off x="3178175" y="955675"/>
            <a:ext cx="5667375" cy="2968625"/>
            <a:chOff x="2002" y="602"/>
            <a:chExt cx="3570" cy="1870"/>
          </a:xfrm>
        </p:grpSpPr>
        <p:sp>
          <p:nvSpPr>
            <p:cNvPr id="28678" name="Text Box 29"/>
            <p:cNvSpPr txBox="1">
              <a:spLocks noChangeArrowheads="1"/>
            </p:cNvSpPr>
            <p:nvPr/>
          </p:nvSpPr>
          <p:spPr bwMode="auto">
            <a:xfrm>
              <a:off x="2002" y="602"/>
              <a:ext cx="3570" cy="7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a:solidFill>
                    <a:schemeClr val="tx2"/>
                  </a:solidFill>
                </a:rPr>
                <a:t>当 </a:t>
              </a:r>
              <a:r>
                <a:rPr lang="en-US" altLang="zh-CN" i="1">
                  <a:solidFill>
                    <a:schemeClr val="tx2"/>
                  </a:solidFill>
                </a:rPr>
                <a:t>R </a:t>
              </a:r>
              <a:r>
                <a:rPr lang="en-US" altLang="zh-CN">
                  <a:solidFill>
                    <a:schemeClr val="tx2"/>
                  </a:solidFill>
                </a:rPr>
                <a:t>= 0 (</a:t>
              </a:r>
              <a:r>
                <a:rPr lang="en-US" altLang="zh-CN" i="1">
                  <a:solidFill>
                    <a:schemeClr val="tx2"/>
                  </a:solidFill>
                </a:rPr>
                <a:t>G </a:t>
              </a:r>
              <a:r>
                <a:rPr lang="en-US" altLang="zh-CN">
                  <a:solidFill>
                    <a:schemeClr val="tx2"/>
                  </a:solidFill>
                </a:rPr>
                <a:t>=</a:t>
              </a:r>
              <a:r>
                <a:rPr lang="en-US" altLang="zh-CN" sz="3200">
                  <a:solidFill>
                    <a:schemeClr val="tx2"/>
                  </a:solidFill>
                  <a:sym typeface="Symbol" pitchFamily="18" charset="2"/>
                </a:rPr>
                <a:t></a:t>
              </a:r>
              <a:r>
                <a:rPr lang="en-US" altLang="zh-CN" i="1">
                  <a:solidFill>
                    <a:schemeClr val="tx2"/>
                  </a:solidFill>
                </a:rPr>
                <a:t> </a:t>
              </a:r>
              <a:r>
                <a:rPr lang="en-US" altLang="zh-CN">
                  <a:solidFill>
                    <a:schemeClr val="tx2"/>
                  </a:solidFill>
                </a:rPr>
                <a:t>)</a:t>
              </a:r>
              <a:r>
                <a:rPr lang="zh-CN" altLang="en-US">
                  <a:solidFill>
                    <a:schemeClr val="tx2"/>
                  </a:solidFill>
                </a:rPr>
                <a:t>，视其为短路。</a:t>
              </a:r>
            </a:p>
            <a:p>
              <a:pPr>
                <a:spcBef>
                  <a:spcPct val="50000"/>
                </a:spcBef>
              </a:pPr>
              <a:r>
                <a:rPr lang="en-US" altLang="zh-CN" i="1">
                  <a:solidFill>
                    <a:schemeClr val="tx2"/>
                  </a:solidFill>
                </a:rPr>
                <a:t>v </a:t>
              </a:r>
              <a:r>
                <a:rPr lang="en-US" altLang="zh-CN">
                  <a:solidFill>
                    <a:schemeClr val="tx2"/>
                  </a:solidFill>
                </a:rPr>
                <a:t>= 0   ,   </a:t>
              </a:r>
              <a:r>
                <a:rPr lang="en-US" altLang="zh-CN" i="1">
                  <a:solidFill>
                    <a:schemeClr val="tx2"/>
                  </a:solidFill>
                </a:rPr>
                <a:t>i</a:t>
              </a:r>
              <a:r>
                <a:rPr lang="zh-CN" altLang="zh-CN">
                  <a:solidFill>
                    <a:schemeClr val="tx2"/>
                  </a:solidFill>
                </a:rPr>
                <a:t>由外电路决定 </a:t>
              </a:r>
              <a:endParaRPr lang="zh-CN" altLang="en-US">
                <a:solidFill>
                  <a:schemeClr val="tx2"/>
                </a:solidFill>
              </a:endParaRPr>
            </a:p>
          </p:txBody>
        </p:sp>
        <p:grpSp>
          <p:nvGrpSpPr>
            <p:cNvPr id="28679" name="Group 30"/>
            <p:cNvGrpSpPr>
              <a:grpSpLocks/>
            </p:cNvGrpSpPr>
            <p:nvPr/>
          </p:nvGrpSpPr>
          <p:grpSpPr bwMode="auto">
            <a:xfrm>
              <a:off x="4127" y="960"/>
              <a:ext cx="1252" cy="1512"/>
              <a:chOff x="4127" y="960"/>
              <a:chExt cx="1252" cy="1512"/>
            </a:xfrm>
          </p:grpSpPr>
          <p:sp>
            <p:nvSpPr>
              <p:cNvPr id="28680" name="Rectangle 31"/>
              <p:cNvSpPr>
                <a:spLocks noChangeArrowheads="1"/>
              </p:cNvSpPr>
              <p:nvPr/>
            </p:nvSpPr>
            <p:spPr bwMode="auto">
              <a:xfrm>
                <a:off x="4348" y="960"/>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v</a:t>
                </a:r>
                <a:endParaRPr lang="en-US" altLang="zh-CN">
                  <a:solidFill>
                    <a:schemeClr val="tx2"/>
                  </a:solidFill>
                </a:endParaRPr>
              </a:p>
            </p:txBody>
          </p:sp>
          <p:sp>
            <p:nvSpPr>
              <p:cNvPr id="28681" name="Rectangle 32"/>
              <p:cNvSpPr>
                <a:spLocks noChangeArrowheads="1"/>
              </p:cNvSpPr>
              <p:nvPr/>
            </p:nvSpPr>
            <p:spPr bwMode="auto">
              <a:xfrm>
                <a:off x="5210" y="1823"/>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i</a:t>
                </a:r>
                <a:endParaRPr lang="en-US" altLang="zh-CN">
                  <a:solidFill>
                    <a:schemeClr val="tx2"/>
                  </a:solidFill>
                </a:endParaRPr>
              </a:p>
            </p:txBody>
          </p:sp>
          <p:sp>
            <p:nvSpPr>
              <p:cNvPr id="28682" name="Line 33"/>
              <p:cNvSpPr>
                <a:spLocks noChangeShapeType="1"/>
              </p:cNvSpPr>
              <p:nvPr/>
            </p:nvSpPr>
            <p:spPr bwMode="auto">
              <a:xfrm>
                <a:off x="4127" y="1864"/>
                <a:ext cx="1198" cy="0"/>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3" name="Line 34"/>
              <p:cNvSpPr>
                <a:spLocks noChangeShapeType="1"/>
              </p:cNvSpPr>
              <p:nvPr/>
            </p:nvSpPr>
            <p:spPr bwMode="auto">
              <a:xfrm flipV="1">
                <a:off x="4292" y="1116"/>
                <a:ext cx="8" cy="1012"/>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4" name="Text Box 35"/>
              <p:cNvSpPr txBox="1">
                <a:spLocks noChangeArrowheads="1"/>
              </p:cNvSpPr>
              <p:nvPr/>
            </p:nvSpPr>
            <p:spPr bwMode="auto">
              <a:xfrm>
                <a:off x="4290" y="1855"/>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a:solidFill>
                      <a:srgbClr val="000000"/>
                    </a:solidFill>
                    <a:sym typeface="Symbol" pitchFamily="18" charset="2"/>
                  </a:rPr>
                  <a:t>0</a:t>
                </a:r>
                <a:endParaRPr lang="en-US" altLang="zh-CN" sz="2800">
                  <a:solidFill>
                    <a:srgbClr val="000000"/>
                  </a:solidFill>
                  <a:sym typeface="Symbol" pitchFamily="18" charset="2"/>
                </a:endParaRPr>
              </a:p>
            </p:txBody>
          </p:sp>
          <p:sp>
            <p:nvSpPr>
              <p:cNvPr id="28685" name="Text Box 36"/>
              <p:cNvSpPr txBox="1">
                <a:spLocks noChangeArrowheads="1"/>
              </p:cNvSpPr>
              <p:nvPr/>
            </p:nvSpPr>
            <p:spPr bwMode="auto">
              <a:xfrm>
                <a:off x="4140" y="2184"/>
                <a:ext cx="5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a:solidFill>
                      <a:schemeClr val="tx2"/>
                    </a:solidFill>
                    <a:sym typeface="Symbol" pitchFamily="18" charset="2"/>
                  </a:rPr>
                  <a:t>短路</a:t>
                </a:r>
              </a:p>
            </p:txBody>
          </p:sp>
          <p:sp>
            <p:nvSpPr>
              <p:cNvPr id="28686" name="Line 37"/>
              <p:cNvSpPr>
                <a:spLocks noChangeShapeType="1"/>
              </p:cNvSpPr>
              <p:nvPr/>
            </p:nvSpPr>
            <p:spPr bwMode="auto">
              <a:xfrm>
                <a:off x="4224" y="1856"/>
                <a:ext cx="912" cy="0"/>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5762"/>
                                        </p:tgtEl>
                                        <p:attrNameLst>
                                          <p:attrName>style.visibility</p:attrName>
                                        </p:attrNameLst>
                                      </p:cBhvr>
                                      <p:to>
                                        <p:strVal val="visible"/>
                                      </p:to>
                                    </p:set>
                                    <p:animEffect transition="in" filter="wipe(left)">
                                      <p:cBhvr>
                                        <p:cTn id="7" dur="500"/>
                                        <p:tgtEl>
                                          <p:spTgt spid="2457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5788"/>
                                        </p:tgtEl>
                                        <p:attrNameLst>
                                          <p:attrName>style.visibility</p:attrName>
                                        </p:attrNameLst>
                                      </p:cBhvr>
                                      <p:to>
                                        <p:strVal val="visible"/>
                                      </p:to>
                                    </p:set>
                                    <p:animEffect transition="in" filter="wipe(left)">
                                      <p:cBhvr>
                                        <p:cTn id="12" dur="1000"/>
                                        <p:tgtEl>
                                          <p:spTgt spid="2457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5777"/>
                                        </p:tgtEl>
                                        <p:attrNameLst>
                                          <p:attrName>style.visibility</p:attrName>
                                        </p:attrNameLst>
                                      </p:cBhvr>
                                      <p:to>
                                        <p:strVal val="visible"/>
                                      </p:to>
                                    </p:set>
                                    <p:animEffect transition="in" filter="wipe(left)">
                                      <p:cBhvr>
                                        <p:cTn id="17" dur="1000"/>
                                        <p:tgtEl>
                                          <p:spTgt spid="245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3652" name="Object 4"/>
          <p:cNvGraphicFramePr>
            <a:graphicFrameLocks noChangeAspect="1"/>
          </p:cNvGraphicFramePr>
          <p:nvPr>
            <p:extLst/>
          </p:nvPr>
        </p:nvGraphicFramePr>
        <p:xfrm>
          <a:off x="2524125" y="2724150"/>
          <a:ext cx="4038600" cy="3697288"/>
        </p:xfrm>
        <a:graphic>
          <a:graphicData uri="http://schemas.openxmlformats.org/presentationml/2006/ole">
            <mc:AlternateContent xmlns:mc="http://schemas.openxmlformats.org/markup-compatibility/2006">
              <mc:Choice xmlns:v="urn:schemas-microsoft-com:vml" Requires="v">
                <p:oleObj spid="_x0000_s114697" name="Image" r:id="rId3" imgW="11576421" imgH="10597953" progId="Photoshop.Image.5">
                  <p:embed/>
                </p:oleObj>
              </mc:Choice>
              <mc:Fallback>
                <p:oleObj name="Image" r:id="rId3" imgW="11576421" imgH="10597953" progId="Photoshop.Image.5">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25" y="2724150"/>
                        <a:ext cx="4038600" cy="369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699" name="Text Box 3"/>
          <p:cNvSpPr txBox="1">
            <a:spLocks noChangeArrowheads="1"/>
          </p:cNvSpPr>
          <p:nvPr/>
        </p:nvSpPr>
        <p:spPr bwMode="auto">
          <a:xfrm>
            <a:off x="609600" y="786492"/>
            <a:ext cx="8001000" cy="168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lnSpc>
                <a:spcPct val="150000"/>
              </a:lnSpc>
              <a:spcBef>
                <a:spcPct val="50000"/>
              </a:spcBef>
            </a:pPr>
            <a:r>
              <a:rPr lang="en-US" altLang="zh-CN" dirty="0">
                <a:solidFill>
                  <a:schemeClr val="bg1"/>
                </a:solidFill>
                <a:ea typeface="楷体_GB2312" pitchFamily="49" charset="-122"/>
              </a:rPr>
              <a:t>        </a:t>
            </a:r>
            <a:r>
              <a:rPr lang="zh-CN" altLang="en-US" dirty="0"/>
              <a:t>在电子设备中使用的碳膜电位器、实心电位器和线绕</a:t>
            </a:r>
            <a:r>
              <a:rPr lang="zh-CN" altLang="en-US" dirty="0" smtClean="0"/>
              <a:t>电位器均是三</a:t>
            </a:r>
            <a:r>
              <a:rPr lang="zh-CN" altLang="en-US" dirty="0"/>
              <a:t>端电阻器件，它有一个滑动接触端和两个固定</a:t>
            </a:r>
            <a:r>
              <a:rPr lang="zh-CN" altLang="en-US" dirty="0" smtClean="0"/>
              <a:t>端。</a:t>
            </a:r>
            <a:endParaRPr lang="zh-CN" altLang="en-US" dirty="0"/>
          </a:p>
        </p:txBody>
      </p:sp>
      <p:sp>
        <p:nvSpPr>
          <p:cNvPr id="29701" name="Text Box 5"/>
          <p:cNvSpPr txBox="1">
            <a:spLocks noChangeArrowheads="1"/>
          </p:cNvSpPr>
          <p:nvPr/>
        </p:nvSpPr>
        <p:spPr bwMode="auto">
          <a:xfrm>
            <a:off x="307975" y="277813"/>
            <a:ext cx="37687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buFont typeface="Wingdings" pitchFamily="2" charset="2"/>
              <a:buChar char="l"/>
            </a:pPr>
            <a:r>
              <a:rPr lang="zh-CN" altLang="en-US">
                <a:solidFill>
                  <a:srgbClr val="0000CC"/>
                </a:solidFill>
              </a:rPr>
              <a:t>线性时变</a:t>
            </a:r>
            <a:r>
              <a:rPr lang="zh-CN" altLang="en-US">
                <a:solidFill>
                  <a:srgbClr val="0000CC"/>
                </a:solidFill>
                <a:sym typeface="Symbol" pitchFamily="18" charset="2"/>
              </a:rPr>
              <a:t>电阻元件</a:t>
            </a:r>
          </a:p>
        </p:txBody>
      </p:sp>
    </p:spTree>
    <p:extLst>
      <p:ext uri="{BB962C8B-B14F-4D97-AF65-F5344CB8AC3E}">
        <p14:creationId xmlns:p14="http://schemas.microsoft.com/office/powerpoint/2010/main" val="20379352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barn(inVertical)">
                                      <p:cBhvr>
                                        <p:cTn id="7" dur="500"/>
                                        <p:tgtEl>
                                          <p:spTgt spid="2969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83652"/>
                                        </p:tgtEl>
                                        <p:attrNameLst>
                                          <p:attrName>style.visibility</p:attrName>
                                        </p:attrNameLst>
                                      </p:cBhvr>
                                      <p:to>
                                        <p:strVal val="visible"/>
                                      </p:to>
                                    </p:set>
                                    <p:animEffect transition="in" filter="barn(inVertical)">
                                      <p:cBhvr>
                                        <p:cTn id="12" dur="500"/>
                                        <p:tgtEl>
                                          <p:spTgt spid="283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34"/>
          <p:cNvSpPr txBox="1">
            <a:spLocks noChangeArrowheads="1"/>
          </p:cNvSpPr>
          <p:nvPr/>
        </p:nvSpPr>
        <p:spPr bwMode="auto">
          <a:xfrm>
            <a:off x="622300" y="554038"/>
            <a:ext cx="24685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buFont typeface="Wingdings" pitchFamily="2" charset="2"/>
              <a:buChar char="l"/>
            </a:pPr>
            <a:r>
              <a:rPr lang="zh-CN" altLang="en-US">
                <a:solidFill>
                  <a:srgbClr val="0000CC"/>
                </a:solidFill>
              </a:rPr>
              <a:t>非线性</a:t>
            </a:r>
            <a:r>
              <a:rPr lang="zh-CN" altLang="en-US">
                <a:solidFill>
                  <a:srgbClr val="0000CC"/>
                </a:solidFill>
                <a:sym typeface="Symbol" pitchFamily="18" charset="2"/>
              </a:rPr>
              <a:t>电阻</a:t>
            </a:r>
          </a:p>
        </p:txBody>
      </p:sp>
      <p:sp>
        <p:nvSpPr>
          <p:cNvPr id="30723" name="Text Box 35"/>
          <p:cNvSpPr txBox="1">
            <a:spLocks noChangeArrowheads="1"/>
          </p:cNvSpPr>
          <p:nvPr/>
        </p:nvSpPr>
        <p:spPr bwMode="auto">
          <a:xfrm>
            <a:off x="1156012" y="1329035"/>
            <a:ext cx="7289175"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i="1" dirty="0"/>
              <a:t>vi </a:t>
            </a:r>
            <a:r>
              <a:rPr lang="zh-CN" altLang="en-US" dirty="0"/>
              <a:t>特性曲线为非线性。典型的器件为半导体二极管。</a:t>
            </a:r>
          </a:p>
        </p:txBody>
      </p:sp>
      <p:sp>
        <p:nvSpPr>
          <p:cNvPr id="279589" name="Line 37"/>
          <p:cNvSpPr>
            <a:spLocks noChangeShapeType="1"/>
          </p:cNvSpPr>
          <p:nvPr/>
        </p:nvSpPr>
        <p:spPr bwMode="auto">
          <a:xfrm flipV="1">
            <a:off x="4267200" y="4637088"/>
            <a:ext cx="442913" cy="20637"/>
          </a:xfrm>
          <a:prstGeom prst="line">
            <a:avLst/>
          </a:prstGeom>
          <a:noFill/>
          <a:ln w="38100">
            <a:solidFill>
              <a:srgbClr val="FF0000"/>
            </a:solidFill>
            <a:round/>
            <a:headEnd type="arrow" w="med" len="sm"/>
            <a:tailEnd type="arrow"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79591" name="Line 39"/>
          <p:cNvSpPr>
            <a:spLocks noChangeShapeType="1"/>
          </p:cNvSpPr>
          <p:nvPr/>
        </p:nvSpPr>
        <p:spPr bwMode="auto">
          <a:xfrm flipV="1">
            <a:off x="5105400" y="3057525"/>
            <a:ext cx="0" cy="1600200"/>
          </a:xfrm>
          <a:prstGeom prst="line">
            <a:avLst/>
          </a:prstGeom>
          <a:noFill/>
          <a:ln w="38100">
            <a:solidFill>
              <a:srgbClr val="FF00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279592" name="Line 40"/>
          <p:cNvSpPr>
            <a:spLocks noChangeShapeType="1"/>
          </p:cNvSpPr>
          <p:nvPr/>
        </p:nvSpPr>
        <p:spPr bwMode="auto">
          <a:xfrm>
            <a:off x="2590800" y="4584700"/>
            <a:ext cx="0" cy="301625"/>
          </a:xfrm>
          <a:prstGeom prst="line">
            <a:avLst/>
          </a:prstGeom>
          <a:noFill/>
          <a:ln w="38100">
            <a:solidFill>
              <a:srgbClr val="FF33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9593" name="AutoShape 41" descr="40%"/>
          <p:cNvSpPr>
            <a:spLocks noChangeArrowheads="1"/>
          </p:cNvSpPr>
          <p:nvPr/>
        </p:nvSpPr>
        <p:spPr bwMode="auto">
          <a:xfrm>
            <a:off x="1981200" y="3209925"/>
            <a:ext cx="1666875" cy="838200"/>
          </a:xfrm>
          <a:prstGeom prst="wedgeRoundRectCallout">
            <a:avLst>
              <a:gd name="adj1" fmla="val -14000"/>
              <a:gd name="adj2" fmla="val 119130"/>
              <a:gd name="adj3" fmla="val 16667"/>
            </a:avLst>
          </a:prstGeom>
          <a:pattFill prst="pct40">
            <a:fgClr>
              <a:srgbClr val="00FF00"/>
            </a:fgClr>
            <a:bgClr>
              <a:srgbClr val="FFFFFF"/>
            </a:bgClr>
          </a:pattFill>
          <a:ln w="2857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lnSpc>
                <a:spcPct val="90000"/>
              </a:lnSpc>
              <a:spcBef>
                <a:spcPct val="5000"/>
              </a:spcBef>
            </a:pPr>
            <a:r>
              <a:rPr lang="zh-CN" altLang="en-US" sz="2000">
                <a:solidFill>
                  <a:schemeClr val="accent2"/>
                </a:solidFill>
              </a:rPr>
              <a:t>反向击穿</a:t>
            </a:r>
          </a:p>
          <a:p>
            <a:pPr algn="ctr" eaLnBrk="1" hangingPunct="1">
              <a:lnSpc>
                <a:spcPct val="90000"/>
              </a:lnSpc>
              <a:spcBef>
                <a:spcPct val="5000"/>
              </a:spcBef>
            </a:pPr>
            <a:r>
              <a:rPr lang="zh-CN" altLang="en-US" sz="2000">
                <a:solidFill>
                  <a:schemeClr val="accent2"/>
                </a:solidFill>
              </a:rPr>
              <a:t>电压</a:t>
            </a:r>
            <a:r>
              <a:rPr lang="en-US" altLang="zh-CN" sz="2000" i="1">
                <a:solidFill>
                  <a:schemeClr val="accent2"/>
                </a:solidFill>
                <a:ea typeface="楷体_GB2312" pitchFamily="49" charset="-122"/>
              </a:rPr>
              <a:t>V</a:t>
            </a:r>
            <a:r>
              <a:rPr lang="en-US" altLang="zh-CN" sz="2000" baseline="-25000">
                <a:solidFill>
                  <a:schemeClr val="accent2"/>
                </a:solidFill>
                <a:ea typeface="楷体_GB2312" pitchFamily="49" charset="-122"/>
              </a:rPr>
              <a:t>(</a:t>
            </a:r>
            <a:r>
              <a:rPr lang="en-US" altLang="zh-CN" sz="2000" i="1" baseline="-25000">
                <a:solidFill>
                  <a:schemeClr val="accent2"/>
                </a:solidFill>
                <a:ea typeface="楷体_GB2312" pitchFamily="49" charset="-122"/>
              </a:rPr>
              <a:t>BR</a:t>
            </a:r>
            <a:r>
              <a:rPr lang="en-US" altLang="zh-CN" sz="2000" baseline="-25000">
                <a:solidFill>
                  <a:schemeClr val="accent2"/>
                </a:solidFill>
                <a:ea typeface="楷体_GB2312" pitchFamily="49" charset="-122"/>
              </a:rPr>
              <a:t>)</a:t>
            </a:r>
            <a:endParaRPr lang="en-US" altLang="zh-CN" sz="2000" u="sng">
              <a:solidFill>
                <a:schemeClr val="accent2"/>
              </a:solidFill>
              <a:ea typeface="楷体_GB2312" pitchFamily="49" charset="-122"/>
            </a:endParaRPr>
          </a:p>
        </p:txBody>
      </p:sp>
      <p:sp>
        <p:nvSpPr>
          <p:cNvPr id="279594" name="AutoShape 42" descr="40%"/>
          <p:cNvSpPr>
            <a:spLocks noChangeArrowheads="1"/>
          </p:cNvSpPr>
          <p:nvPr/>
        </p:nvSpPr>
        <p:spPr bwMode="auto">
          <a:xfrm>
            <a:off x="5267325" y="3771900"/>
            <a:ext cx="1514475" cy="581025"/>
          </a:xfrm>
          <a:prstGeom prst="wedgeRoundRectCallout">
            <a:avLst>
              <a:gd name="adj1" fmla="val -59014"/>
              <a:gd name="adj2" fmla="val 96176"/>
              <a:gd name="adj3" fmla="val 16667"/>
            </a:avLst>
          </a:prstGeom>
          <a:pattFill prst="pct40">
            <a:fgClr>
              <a:srgbClr val="FFFF00"/>
            </a:fgClr>
            <a:bgClr>
              <a:srgbClr val="FFFFFF"/>
            </a:bgClr>
          </a:pattFill>
          <a:ln w="28575">
            <a:solidFill>
              <a:srgbClr val="00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defRPr/>
            </a:pPr>
            <a:r>
              <a:rPr lang="zh-CN" altLang="en-US" sz="2000">
                <a:solidFill>
                  <a:schemeClr val="accent2"/>
                </a:solidFill>
                <a:effectLst>
                  <a:outerShdw blurRad="38100" dist="38100" dir="2700000" algn="tl">
                    <a:srgbClr val="C0C0C0"/>
                  </a:outerShdw>
                </a:effectLst>
                <a:latin typeface="宋体" charset="-122"/>
              </a:rPr>
              <a:t>导通压降</a:t>
            </a:r>
          </a:p>
        </p:txBody>
      </p:sp>
      <p:sp>
        <p:nvSpPr>
          <p:cNvPr id="279596" name="AutoShape 44" descr="80%"/>
          <p:cNvSpPr>
            <a:spLocks noChangeArrowheads="1"/>
          </p:cNvSpPr>
          <p:nvPr/>
        </p:nvSpPr>
        <p:spPr bwMode="auto">
          <a:xfrm>
            <a:off x="5410200" y="2190750"/>
            <a:ext cx="1590675" cy="485775"/>
          </a:xfrm>
          <a:prstGeom prst="wedgeRoundRectCallout">
            <a:avLst>
              <a:gd name="adj1" fmla="val -68662"/>
              <a:gd name="adj2" fmla="val 157519"/>
              <a:gd name="adj3" fmla="val 16667"/>
            </a:avLst>
          </a:prstGeom>
          <a:pattFill prst="pct80">
            <a:fgClr>
              <a:srgbClr val="FFCCCC"/>
            </a:fgClr>
            <a:bgClr>
              <a:srgbClr val="FFFFFF"/>
            </a:bgClr>
          </a:pattFill>
          <a:ln w="2857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defRPr/>
            </a:pPr>
            <a:r>
              <a:rPr lang="zh-CN" altLang="en-US" sz="2000">
                <a:solidFill>
                  <a:schemeClr val="accent2"/>
                </a:solidFill>
                <a:effectLst>
                  <a:outerShdw blurRad="38100" dist="38100" dir="2700000" algn="tl">
                    <a:srgbClr val="C0C0C0"/>
                  </a:outerShdw>
                </a:effectLst>
                <a:latin typeface="宋体" charset="-122"/>
              </a:rPr>
              <a:t>正向特性</a:t>
            </a:r>
          </a:p>
        </p:txBody>
      </p:sp>
      <p:sp>
        <p:nvSpPr>
          <p:cNvPr id="279597" name="AutoShape 45" descr="60%"/>
          <p:cNvSpPr>
            <a:spLocks noChangeArrowheads="1"/>
          </p:cNvSpPr>
          <p:nvPr/>
        </p:nvSpPr>
        <p:spPr bwMode="auto">
          <a:xfrm>
            <a:off x="2514600" y="5876925"/>
            <a:ext cx="1476375" cy="495300"/>
          </a:xfrm>
          <a:prstGeom prst="wedgeRoundRectCallout">
            <a:avLst>
              <a:gd name="adj1" fmla="val -48389"/>
              <a:gd name="adj2" fmla="val -108972"/>
              <a:gd name="adj3" fmla="val 16667"/>
            </a:avLst>
          </a:prstGeom>
          <a:pattFill prst="pct60">
            <a:fgClr>
              <a:srgbClr val="00FF00"/>
            </a:fgClr>
            <a:bgClr>
              <a:srgbClr val="FFFFFF"/>
            </a:bgClr>
          </a:pattFill>
          <a:ln w="2857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spcBef>
                <a:spcPct val="50000"/>
              </a:spcBef>
            </a:pPr>
            <a:r>
              <a:rPr lang="zh-CN" altLang="en-US" sz="2000">
                <a:solidFill>
                  <a:schemeClr val="accent2"/>
                </a:solidFill>
                <a:latin typeface="宋体" charset="-122"/>
              </a:rPr>
              <a:t>反向特性</a:t>
            </a:r>
          </a:p>
        </p:txBody>
      </p:sp>
      <p:grpSp>
        <p:nvGrpSpPr>
          <p:cNvPr id="279599" name="Group 47"/>
          <p:cNvGrpSpPr>
            <a:grpSpLocks/>
          </p:cNvGrpSpPr>
          <p:nvPr/>
        </p:nvGrpSpPr>
        <p:grpSpPr bwMode="auto">
          <a:xfrm>
            <a:off x="2057400" y="2309813"/>
            <a:ext cx="5362575" cy="4217987"/>
            <a:chOff x="1344" y="585"/>
            <a:chExt cx="3378" cy="2657"/>
          </a:xfrm>
        </p:grpSpPr>
        <p:sp>
          <p:nvSpPr>
            <p:cNvPr id="30747" name="Line 48"/>
            <p:cNvSpPr>
              <a:spLocks noChangeShapeType="1"/>
            </p:cNvSpPr>
            <p:nvPr/>
          </p:nvSpPr>
          <p:spPr bwMode="auto">
            <a:xfrm>
              <a:off x="2706" y="732"/>
              <a:ext cx="0" cy="2510"/>
            </a:xfrm>
            <a:prstGeom prst="line">
              <a:avLst/>
            </a:prstGeom>
            <a:noFill/>
            <a:ln w="25400">
              <a:solidFill>
                <a:schemeClr val="tx1"/>
              </a:solidFill>
              <a:round/>
              <a:headEnd type="arrow" w="sm"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0748" name="Line 49"/>
            <p:cNvSpPr>
              <a:spLocks noChangeShapeType="1"/>
            </p:cNvSpPr>
            <p:nvPr/>
          </p:nvSpPr>
          <p:spPr bwMode="auto">
            <a:xfrm rot="5400000">
              <a:off x="2775" y="630"/>
              <a:ext cx="0" cy="2862"/>
            </a:xfrm>
            <a:prstGeom prst="line">
              <a:avLst/>
            </a:prstGeom>
            <a:noFill/>
            <a:ln w="25400">
              <a:solidFill>
                <a:schemeClr val="tx1"/>
              </a:solidFill>
              <a:round/>
              <a:headEnd type="arrow" w="sm"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749" name="Freeform 50"/>
            <p:cNvSpPr>
              <a:spLocks/>
            </p:cNvSpPr>
            <p:nvPr/>
          </p:nvSpPr>
          <p:spPr bwMode="auto">
            <a:xfrm>
              <a:off x="2706" y="763"/>
              <a:ext cx="609" cy="1306"/>
            </a:xfrm>
            <a:custGeom>
              <a:avLst/>
              <a:gdLst>
                <a:gd name="T0" fmla="*/ 0 w 609"/>
                <a:gd name="T1" fmla="*/ 1303 h 1693"/>
                <a:gd name="T2" fmla="*/ 276 w 609"/>
                <a:gd name="T3" fmla="*/ 1294 h 1693"/>
                <a:gd name="T4" fmla="*/ 355 w 609"/>
                <a:gd name="T5" fmla="*/ 1227 h 1693"/>
                <a:gd name="T6" fmla="*/ 380 w 609"/>
                <a:gd name="T7" fmla="*/ 1183 h 1693"/>
                <a:gd name="T8" fmla="*/ 400 w 609"/>
                <a:gd name="T9" fmla="*/ 1124 h 1693"/>
                <a:gd name="T10" fmla="*/ 436 w 609"/>
                <a:gd name="T11" fmla="*/ 968 h 1693"/>
                <a:gd name="T12" fmla="*/ 609 w 609"/>
                <a:gd name="T13" fmla="*/ 0 h 169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9" h="1693">
                  <a:moveTo>
                    <a:pt x="0" y="1689"/>
                  </a:moveTo>
                  <a:cubicBezTo>
                    <a:pt x="46" y="1687"/>
                    <a:pt x="217" y="1693"/>
                    <a:pt x="276" y="1677"/>
                  </a:cubicBezTo>
                  <a:cubicBezTo>
                    <a:pt x="335" y="1661"/>
                    <a:pt x="338" y="1615"/>
                    <a:pt x="355" y="1591"/>
                  </a:cubicBezTo>
                  <a:cubicBezTo>
                    <a:pt x="372" y="1567"/>
                    <a:pt x="373" y="1555"/>
                    <a:pt x="380" y="1533"/>
                  </a:cubicBezTo>
                  <a:cubicBezTo>
                    <a:pt x="387" y="1511"/>
                    <a:pt x="391" y="1503"/>
                    <a:pt x="400" y="1457"/>
                  </a:cubicBezTo>
                  <a:cubicBezTo>
                    <a:pt x="409" y="1411"/>
                    <a:pt x="401" y="1498"/>
                    <a:pt x="436" y="1255"/>
                  </a:cubicBezTo>
                  <a:cubicBezTo>
                    <a:pt x="471" y="1012"/>
                    <a:pt x="580" y="209"/>
                    <a:pt x="609" y="0"/>
                  </a:cubicBezTo>
                </a:path>
              </a:pathLst>
            </a:custGeom>
            <a:noFill/>
            <a:ln w="38100" cap="flat"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0750" name="Line 51"/>
            <p:cNvSpPr>
              <a:spLocks noChangeShapeType="1"/>
            </p:cNvSpPr>
            <p:nvPr/>
          </p:nvSpPr>
          <p:spPr bwMode="auto">
            <a:xfrm>
              <a:off x="2706" y="2066"/>
              <a:ext cx="0" cy="0"/>
            </a:xfrm>
            <a:prstGeom prst="line">
              <a:avLst/>
            </a:prstGeom>
            <a:noFill/>
            <a:ln w="38100">
              <a:solidFill>
                <a:srgbClr val="FFFF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0751" name="Freeform 52"/>
            <p:cNvSpPr>
              <a:spLocks/>
            </p:cNvSpPr>
            <p:nvPr/>
          </p:nvSpPr>
          <p:spPr bwMode="auto">
            <a:xfrm>
              <a:off x="1554" y="2066"/>
              <a:ext cx="1152" cy="1065"/>
            </a:xfrm>
            <a:custGeom>
              <a:avLst/>
              <a:gdLst>
                <a:gd name="T0" fmla="*/ 1152 w 1152"/>
                <a:gd name="T1" fmla="*/ 0 h 1380"/>
                <a:gd name="T2" fmla="*/ 1086 w 1152"/>
                <a:gd name="T3" fmla="*/ 37 h 1380"/>
                <a:gd name="T4" fmla="*/ 966 w 1152"/>
                <a:gd name="T5" fmla="*/ 46 h 1380"/>
                <a:gd name="T6" fmla="*/ 558 w 1152"/>
                <a:gd name="T7" fmla="*/ 51 h 1380"/>
                <a:gd name="T8" fmla="*/ 258 w 1152"/>
                <a:gd name="T9" fmla="*/ 60 h 1380"/>
                <a:gd name="T10" fmla="*/ 162 w 1152"/>
                <a:gd name="T11" fmla="*/ 88 h 1380"/>
                <a:gd name="T12" fmla="*/ 114 w 1152"/>
                <a:gd name="T13" fmla="*/ 213 h 1380"/>
                <a:gd name="T14" fmla="*/ 0 w 1152"/>
                <a:gd name="T15" fmla="*/ 1065 h 13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52" h="1380">
                  <a:moveTo>
                    <a:pt x="1152" y="0"/>
                  </a:moveTo>
                  <a:cubicBezTo>
                    <a:pt x="1141" y="8"/>
                    <a:pt x="1117" y="38"/>
                    <a:pt x="1086" y="48"/>
                  </a:cubicBezTo>
                  <a:cubicBezTo>
                    <a:pt x="1055" y="58"/>
                    <a:pt x="1054" y="57"/>
                    <a:pt x="966" y="60"/>
                  </a:cubicBezTo>
                  <a:cubicBezTo>
                    <a:pt x="878" y="63"/>
                    <a:pt x="676" y="63"/>
                    <a:pt x="558" y="66"/>
                  </a:cubicBezTo>
                  <a:cubicBezTo>
                    <a:pt x="440" y="69"/>
                    <a:pt x="324" y="70"/>
                    <a:pt x="258" y="78"/>
                  </a:cubicBezTo>
                  <a:cubicBezTo>
                    <a:pt x="192" y="86"/>
                    <a:pt x="186" y="81"/>
                    <a:pt x="162" y="114"/>
                  </a:cubicBezTo>
                  <a:cubicBezTo>
                    <a:pt x="138" y="147"/>
                    <a:pt x="141" y="65"/>
                    <a:pt x="114" y="276"/>
                  </a:cubicBezTo>
                  <a:cubicBezTo>
                    <a:pt x="87" y="487"/>
                    <a:pt x="24" y="1150"/>
                    <a:pt x="0" y="1380"/>
                  </a:cubicBezTo>
                </a:path>
              </a:pathLst>
            </a:custGeom>
            <a:noFill/>
            <a:ln w="38100" cap="flat"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752" name="Text Box 53"/>
            <p:cNvSpPr txBox="1">
              <a:spLocks noChangeArrowheads="1"/>
            </p:cNvSpPr>
            <p:nvPr/>
          </p:nvSpPr>
          <p:spPr bwMode="auto">
            <a:xfrm>
              <a:off x="4002" y="1921"/>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99"/>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spcBef>
                  <a:spcPct val="50000"/>
                </a:spcBef>
              </a:pPr>
              <a:r>
                <a:rPr lang="en-US" altLang="zh-CN" sz="2000" i="1">
                  <a:solidFill>
                    <a:srgbClr val="FF0000"/>
                  </a:solidFill>
                  <a:ea typeface="楷体_GB2312" pitchFamily="49" charset="-122"/>
                </a:rPr>
                <a:t>v</a:t>
              </a:r>
              <a:endParaRPr lang="en-US" altLang="zh-CN" sz="2000">
                <a:solidFill>
                  <a:srgbClr val="FF0000"/>
                </a:solidFill>
                <a:ea typeface="楷体_GB2312" pitchFamily="49" charset="-122"/>
              </a:endParaRPr>
            </a:p>
          </p:txBody>
        </p:sp>
        <p:sp>
          <p:nvSpPr>
            <p:cNvPr id="30753" name="Text Box 54"/>
            <p:cNvSpPr txBox="1">
              <a:spLocks noChangeArrowheads="1"/>
            </p:cNvSpPr>
            <p:nvPr/>
          </p:nvSpPr>
          <p:spPr bwMode="auto">
            <a:xfrm>
              <a:off x="2736" y="585"/>
              <a:ext cx="2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99"/>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spcBef>
                  <a:spcPct val="50000"/>
                </a:spcBef>
              </a:pPr>
              <a:r>
                <a:rPr lang="en-US" altLang="zh-CN" sz="2000" i="1">
                  <a:solidFill>
                    <a:srgbClr val="FF0000"/>
                  </a:solidFill>
                  <a:ea typeface="楷体_GB2312" pitchFamily="49" charset="-122"/>
                </a:rPr>
                <a:t>i</a:t>
              </a:r>
              <a:endParaRPr lang="en-US" altLang="zh-CN" sz="2000">
                <a:solidFill>
                  <a:srgbClr val="FF0000"/>
                </a:solidFill>
                <a:ea typeface="楷体_GB2312" pitchFamily="49" charset="-122"/>
              </a:endParaRPr>
            </a:p>
          </p:txBody>
        </p:sp>
      </p:grpSp>
      <p:sp>
        <p:nvSpPr>
          <p:cNvPr id="279607" name="AutoShape 55" descr="40%"/>
          <p:cNvSpPr>
            <a:spLocks noChangeArrowheads="1"/>
          </p:cNvSpPr>
          <p:nvPr/>
        </p:nvSpPr>
        <p:spPr bwMode="auto">
          <a:xfrm>
            <a:off x="4800600" y="5267325"/>
            <a:ext cx="1476375" cy="552450"/>
          </a:xfrm>
          <a:prstGeom prst="wedgeRoundRectCallout">
            <a:avLst>
              <a:gd name="adj1" fmla="val -63120"/>
              <a:gd name="adj2" fmla="val -132759"/>
              <a:gd name="adj3" fmla="val 16667"/>
            </a:avLst>
          </a:prstGeom>
          <a:pattFill prst="pct40">
            <a:fgClr>
              <a:srgbClr val="FF9999"/>
            </a:fgClr>
            <a:bgClr>
              <a:srgbClr val="FFFFFF"/>
            </a:bgClr>
          </a:pattFill>
          <a:ln w="38100">
            <a:solidFill>
              <a:srgbClr val="0066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spcBef>
                <a:spcPct val="50000"/>
              </a:spcBef>
              <a:defRPr/>
            </a:pPr>
            <a:r>
              <a:rPr lang="zh-CN" altLang="en-US" sz="2000">
                <a:solidFill>
                  <a:schemeClr val="accent2"/>
                </a:solidFill>
                <a:effectLst>
                  <a:outerShdw blurRad="38100" dist="38100" dir="2700000" algn="tl">
                    <a:srgbClr val="C0C0C0"/>
                  </a:outerShdw>
                </a:effectLst>
                <a:latin typeface="宋体" charset="-122"/>
              </a:rPr>
              <a:t>死区电压</a:t>
            </a:r>
          </a:p>
        </p:txBody>
      </p:sp>
      <p:sp>
        <p:nvSpPr>
          <p:cNvPr id="30733" name="Line 58"/>
          <p:cNvSpPr>
            <a:spLocks noChangeShapeType="1"/>
          </p:cNvSpPr>
          <p:nvPr/>
        </p:nvSpPr>
        <p:spPr bwMode="auto">
          <a:xfrm rot="-5400000">
            <a:off x="3178969" y="5437982"/>
            <a:ext cx="573087" cy="0"/>
          </a:xfrm>
          <a:prstGeom prst="line">
            <a:avLst/>
          </a:prstGeom>
          <a:noFill/>
          <a:ln w="38100">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0734" name="Line 59"/>
          <p:cNvSpPr>
            <a:spLocks noChangeShapeType="1"/>
          </p:cNvSpPr>
          <p:nvPr/>
        </p:nvSpPr>
        <p:spPr bwMode="auto">
          <a:xfrm rot="5400000" flipV="1">
            <a:off x="3371850" y="4957763"/>
            <a:ext cx="0" cy="9144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735" name="Text Box 60"/>
          <p:cNvSpPr txBox="1">
            <a:spLocks noChangeArrowheads="1"/>
          </p:cNvSpPr>
          <p:nvPr/>
        </p:nvSpPr>
        <p:spPr bwMode="auto">
          <a:xfrm>
            <a:off x="2595563" y="5224463"/>
            <a:ext cx="282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99"/>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spcBef>
                <a:spcPct val="50000"/>
              </a:spcBef>
            </a:pPr>
            <a:r>
              <a:rPr lang="en-US" altLang="zh-CN" sz="2000">
                <a:ea typeface="楷体_GB2312" pitchFamily="49" charset="-122"/>
              </a:rPr>
              <a:t>P</a:t>
            </a:r>
          </a:p>
        </p:txBody>
      </p:sp>
      <p:sp>
        <p:nvSpPr>
          <p:cNvPr id="30736" name="Text Box 61"/>
          <p:cNvSpPr txBox="1">
            <a:spLocks noChangeArrowheads="1"/>
          </p:cNvSpPr>
          <p:nvPr/>
        </p:nvSpPr>
        <p:spPr bwMode="auto">
          <a:xfrm>
            <a:off x="3738563" y="5187950"/>
            <a:ext cx="6810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99"/>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spcBef>
                <a:spcPct val="50000"/>
              </a:spcBef>
            </a:pPr>
            <a:r>
              <a:rPr lang="en-US" altLang="zh-CN" sz="2000">
                <a:ea typeface="楷体_GB2312" pitchFamily="49" charset="-122"/>
              </a:rPr>
              <a:t>N</a:t>
            </a:r>
          </a:p>
        </p:txBody>
      </p:sp>
      <p:sp>
        <p:nvSpPr>
          <p:cNvPr id="30737" name="AutoShape 62"/>
          <p:cNvSpPr>
            <a:spLocks noChangeArrowheads="1"/>
          </p:cNvSpPr>
          <p:nvPr/>
        </p:nvSpPr>
        <p:spPr bwMode="auto">
          <a:xfrm rot="5400000">
            <a:off x="3073400" y="5289551"/>
            <a:ext cx="530225" cy="254000"/>
          </a:xfrm>
          <a:prstGeom prst="triangle">
            <a:avLst>
              <a:gd name="adj" fmla="val 50000"/>
            </a:avLst>
          </a:prstGeom>
          <a:solidFill>
            <a:srgbClr val="FF0066"/>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0738" name="Text Box 63"/>
          <p:cNvSpPr txBox="1">
            <a:spLocks noChangeArrowheads="1"/>
          </p:cNvSpPr>
          <p:nvPr/>
        </p:nvSpPr>
        <p:spPr bwMode="auto">
          <a:xfrm>
            <a:off x="3548063" y="5068888"/>
            <a:ext cx="328612"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sz="2000">
                <a:ea typeface="楷体_GB2312" pitchFamily="49" charset="-122"/>
              </a:rPr>
              <a:t>+</a:t>
            </a:r>
          </a:p>
        </p:txBody>
      </p:sp>
      <p:sp>
        <p:nvSpPr>
          <p:cNvPr id="30739" name="Text Box 64"/>
          <p:cNvSpPr txBox="1">
            <a:spLocks noChangeArrowheads="1"/>
          </p:cNvSpPr>
          <p:nvPr/>
        </p:nvSpPr>
        <p:spPr bwMode="auto">
          <a:xfrm>
            <a:off x="2855913" y="5016500"/>
            <a:ext cx="3111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sz="2000">
                <a:ea typeface="楷体_GB2312" pitchFamily="49" charset="-122"/>
              </a:rPr>
              <a:t>–</a:t>
            </a:r>
          </a:p>
        </p:txBody>
      </p:sp>
      <p:sp>
        <p:nvSpPr>
          <p:cNvPr id="30740" name="Line 66"/>
          <p:cNvSpPr>
            <a:spLocks noChangeShapeType="1"/>
          </p:cNvSpPr>
          <p:nvPr/>
        </p:nvSpPr>
        <p:spPr bwMode="auto">
          <a:xfrm rot="-5400000">
            <a:off x="6831806" y="3188494"/>
            <a:ext cx="573088" cy="0"/>
          </a:xfrm>
          <a:prstGeom prst="line">
            <a:avLst/>
          </a:prstGeom>
          <a:noFill/>
          <a:ln w="38100">
            <a:solidFill>
              <a:srgbClr val="FF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0741" name="Line 67"/>
          <p:cNvSpPr>
            <a:spLocks noChangeShapeType="1"/>
          </p:cNvSpPr>
          <p:nvPr/>
        </p:nvSpPr>
        <p:spPr bwMode="auto">
          <a:xfrm rot="5400000" flipV="1">
            <a:off x="7024688" y="2708275"/>
            <a:ext cx="0" cy="9144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zh-CN" altLang="en-US"/>
          </a:p>
        </p:txBody>
      </p:sp>
      <p:sp>
        <p:nvSpPr>
          <p:cNvPr id="30742" name="Text Box 68"/>
          <p:cNvSpPr txBox="1">
            <a:spLocks noChangeArrowheads="1"/>
          </p:cNvSpPr>
          <p:nvPr/>
        </p:nvSpPr>
        <p:spPr bwMode="auto">
          <a:xfrm>
            <a:off x="6248400" y="2974975"/>
            <a:ext cx="282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99"/>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spcBef>
                <a:spcPct val="50000"/>
              </a:spcBef>
            </a:pPr>
            <a:r>
              <a:rPr lang="en-US" altLang="zh-CN" sz="2000">
                <a:ea typeface="楷体_GB2312" pitchFamily="49" charset="-122"/>
              </a:rPr>
              <a:t>P</a:t>
            </a:r>
          </a:p>
        </p:txBody>
      </p:sp>
      <p:sp>
        <p:nvSpPr>
          <p:cNvPr id="30743" name="Text Box 69"/>
          <p:cNvSpPr txBox="1">
            <a:spLocks noChangeArrowheads="1"/>
          </p:cNvSpPr>
          <p:nvPr/>
        </p:nvSpPr>
        <p:spPr bwMode="auto">
          <a:xfrm>
            <a:off x="7467600" y="2938463"/>
            <a:ext cx="5286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FF99"/>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spcBef>
                <a:spcPct val="50000"/>
              </a:spcBef>
            </a:pPr>
            <a:r>
              <a:rPr lang="en-US" altLang="zh-CN" sz="2000">
                <a:ea typeface="楷体_GB2312" pitchFamily="49" charset="-122"/>
              </a:rPr>
              <a:t>N</a:t>
            </a:r>
          </a:p>
        </p:txBody>
      </p:sp>
      <p:sp>
        <p:nvSpPr>
          <p:cNvPr id="30744" name="AutoShape 70"/>
          <p:cNvSpPr>
            <a:spLocks noChangeArrowheads="1"/>
          </p:cNvSpPr>
          <p:nvPr/>
        </p:nvSpPr>
        <p:spPr bwMode="auto">
          <a:xfrm rot="5400000">
            <a:off x="6726237" y="3040063"/>
            <a:ext cx="530225" cy="254000"/>
          </a:xfrm>
          <a:prstGeom prst="triangle">
            <a:avLst>
              <a:gd name="adj" fmla="val 50000"/>
            </a:avLst>
          </a:prstGeom>
          <a:solidFill>
            <a:srgbClr val="FF0066"/>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0745" name="Text Box 71"/>
          <p:cNvSpPr txBox="1">
            <a:spLocks noChangeArrowheads="1"/>
          </p:cNvSpPr>
          <p:nvPr/>
        </p:nvSpPr>
        <p:spPr bwMode="auto">
          <a:xfrm>
            <a:off x="7212013" y="2736850"/>
            <a:ext cx="3111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sz="2000">
                <a:cs typeface="Times New Roman" pitchFamily="18" charset="0"/>
              </a:rPr>
              <a:t>–</a:t>
            </a:r>
            <a:endParaRPr lang="en-US" altLang="zh-CN" sz="2000">
              <a:ea typeface="楷体_GB2312" pitchFamily="49" charset="-122"/>
            </a:endParaRPr>
          </a:p>
        </p:txBody>
      </p:sp>
      <p:sp>
        <p:nvSpPr>
          <p:cNvPr id="30746" name="Text Box 72"/>
          <p:cNvSpPr txBox="1">
            <a:spLocks noChangeArrowheads="1"/>
          </p:cNvSpPr>
          <p:nvPr/>
        </p:nvSpPr>
        <p:spPr bwMode="auto">
          <a:xfrm>
            <a:off x="6499225" y="2767013"/>
            <a:ext cx="32861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sz="2000">
                <a:ea typeface="楷体_GB2312" pitchFamily="49" charset="-122"/>
              </a:rPr>
              <a:t>+</a:t>
            </a:r>
          </a:p>
        </p:txBody>
      </p:sp>
    </p:spTree>
    <p:extLst>
      <p:ext uri="{BB962C8B-B14F-4D97-AF65-F5344CB8AC3E}">
        <p14:creationId xmlns:p14="http://schemas.microsoft.com/office/powerpoint/2010/main" val="259155140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barn(inVertical)">
                                      <p:cBhvr>
                                        <p:cTn id="7" dur="500"/>
                                        <p:tgtEl>
                                          <p:spTgt spid="3072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79589"/>
                                        </p:tgtEl>
                                        <p:attrNameLst>
                                          <p:attrName>style.visibility</p:attrName>
                                        </p:attrNameLst>
                                      </p:cBhvr>
                                      <p:to>
                                        <p:strVal val="visible"/>
                                      </p:to>
                                    </p:set>
                                    <p:animEffect transition="in" filter="barn(inVertical)">
                                      <p:cBhvr>
                                        <p:cTn id="12" dur="500"/>
                                        <p:tgtEl>
                                          <p:spTgt spid="279589"/>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279591"/>
                                        </p:tgtEl>
                                        <p:attrNameLst>
                                          <p:attrName>style.visibility</p:attrName>
                                        </p:attrNameLst>
                                      </p:cBhvr>
                                      <p:to>
                                        <p:strVal val="visible"/>
                                      </p:to>
                                    </p:set>
                                    <p:animEffect transition="in" filter="barn(inVertical)">
                                      <p:cBhvr>
                                        <p:cTn id="15" dur="500"/>
                                        <p:tgtEl>
                                          <p:spTgt spid="279591"/>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279592"/>
                                        </p:tgtEl>
                                        <p:attrNameLst>
                                          <p:attrName>style.visibility</p:attrName>
                                        </p:attrNameLst>
                                      </p:cBhvr>
                                      <p:to>
                                        <p:strVal val="visible"/>
                                      </p:to>
                                    </p:set>
                                    <p:animEffect transition="in" filter="barn(inVertical)">
                                      <p:cBhvr>
                                        <p:cTn id="18" dur="500"/>
                                        <p:tgtEl>
                                          <p:spTgt spid="279592"/>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279593"/>
                                        </p:tgtEl>
                                        <p:attrNameLst>
                                          <p:attrName>style.visibility</p:attrName>
                                        </p:attrNameLst>
                                      </p:cBhvr>
                                      <p:to>
                                        <p:strVal val="visible"/>
                                      </p:to>
                                    </p:set>
                                    <p:animEffect transition="in" filter="barn(inVertical)">
                                      <p:cBhvr>
                                        <p:cTn id="21" dur="500"/>
                                        <p:tgtEl>
                                          <p:spTgt spid="279593"/>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279594"/>
                                        </p:tgtEl>
                                        <p:attrNameLst>
                                          <p:attrName>style.visibility</p:attrName>
                                        </p:attrNameLst>
                                      </p:cBhvr>
                                      <p:to>
                                        <p:strVal val="visible"/>
                                      </p:to>
                                    </p:set>
                                    <p:animEffect transition="in" filter="barn(inVertical)">
                                      <p:cBhvr>
                                        <p:cTn id="24" dur="500"/>
                                        <p:tgtEl>
                                          <p:spTgt spid="279594"/>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279596"/>
                                        </p:tgtEl>
                                        <p:attrNameLst>
                                          <p:attrName>style.visibility</p:attrName>
                                        </p:attrNameLst>
                                      </p:cBhvr>
                                      <p:to>
                                        <p:strVal val="visible"/>
                                      </p:to>
                                    </p:set>
                                    <p:animEffect transition="in" filter="barn(inVertical)">
                                      <p:cBhvr>
                                        <p:cTn id="27" dur="500"/>
                                        <p:tgtEl>
                                          <p:spTgt spid="27959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279597"/>
                                        </p:tgtEl>
                                        <p:attrNameLst>
                                          <p:attrName>style.visibility</p:attrName>
                                        </p:attrNameLst>
                                      </p:cBhvr>
                                      <p:to>
                                        <p:strVal val="visible"/>
                                      </p:to>
                                    </p:set>
                                    <p:animEffect transition="in" filter="barn(inVertical)">
                                      <p:cBhvr>
                                        <p:cTn id="30" dur="500"/>
                                        <p:tgtEl>
                                          <p:spTgt spid="279597"/>
                                        </p:tgtEl>
                                      </p:cBhvr>
                                    </p:animEffect>
                                  </p:childTnLst>
                                </p:cTn>
                              </p:par>
                              <p:par>
                                <p:cTn id="31" presetID="16" presetClass="entr" presetSubtype="21" fill="hold" nodeType="withEffect">
                                  <p:stCondLst>
                                    <p:cond delay="0"/>
                                  </p:stCondLst>
                                  <p:childTnLst>
                                    <p:set>
                                      <p:cBhvr>
                                        <p:cTn id="32" dur="1" fill="hold">
                                          <p:stCondLst>
                                            <p:cond delay="0"/>
                                          </p:stCondLst>
                                        </p:cTn>
                                        <p:tgtEl>
                                          <p:spTgt spid="279599"/>
                                        </p:tgtEl>
                                        <p:attrNameLst>
                                          <p:attrName>style.visibility</p:attrName>
                                        </p:attrNameLst>
                                      </p:cBhvr>
                                      <p:to>
                                        <p:strVal val="visible"/>
                                      </p:to>
                                    </p:set>
                                    <p:animEffect transition="in" filter="barn(inVertical)">
                                      <p:cBhvr>
                                        <p:cTn id="33" dur="500"/>
                                        <p:tgtEl>
                                          <p:spTgt spid="279599"/>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279607"/>
                                        </p:tgtEl>
                                        <p:attrNameLst>
                                          <p:attrName>style.visibility</p:attrName>
                                        </p:attrNameLst>
                                      </p:cBhvr>
                                      <p:to>
                                        <p:strVal val="visible"/>
                                      </p:to>
                                    </p:set>
                                    <p:animEffect transition="in" filter="barn(inVertical)">
                                      <p:cBhvr>
                                        <p:cTn id="36" dur="500"/>
                                        <p:tgtEl>
                                          <p:spTgt spid="279607"/>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30733"/>
                                        </p:tgtEl>
                                        <p:attrNameLst>
                                          <p:attrName>style.visibility</p:attrName>
                                        </p:attrNameLst>
                                      </p:cBhvr>
                                      <p:to>
                                        <p:strVal val="visible"/>
                                      </p:to>
                                    </p:set>
                                    <p:animEffect transition="in" filter="barn(inVertical)">
                                      <p:cBhvr>
                                        <p:cTn id="39" dur="500"/>
                                        <p:tgtEl>
                                          <p:spTgt spid="30733"/>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30734"/>
                                        </p:tgtEl>
                                        <p:attrNameLst>
                                          <p:attrName>style.visibility</p:attrName>
                                        </p:attrNameLst>
                                      </p:cBhvr>
                                      <p:to>
                                        <p:strVal val="visible"/>
                                      </p:to>
                                    </p:set>
                                    <p:animEffect transition="in" filter="barn(inVertical)">
                                      <p:cBhvr>
                                        <p:cTn id="42" dur="500"/>
                                        <p:tgtEl>
                                          <p:spTgt spid="30734"/>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30735"/>
                                        </p:tgtEl>
                                        <p:attrNameLst>
                                          <p:attrName>style.visibility</p:attrName>
                                        </p:attrNameLst>
                                      </p:cBhvr>
                                      <p:to>
                                        <p:strVal val="visible"/>
                                      </p:to>
                                    </p:set>
                                    <p:animEffect transition="in" filter="barn(inVertical)">
                                      <p:cBhvr>
                                        <p:cTn id="45" dur="500"/>
                                        <p:tgtEl>
                                          <p:spTgt spid="30735"/>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30736"/>
                                        </p:tgtEl>
                                        <p:attrNameLst>
                                          <p:attrName>style.visibility</p:attrName>
                                        </p:attrNameLst>
                                      </p:cBhvr>
                                      <p:to>
                                        <p:strVal val="visible"/>
                                      </p:to>
                                    </p:set>
                                    <p:animEffect transition="in" filter="barn(inVertical)">
                                      <p:cBhvr>
                                        <p:cTn id="48" dur="500"/>
                                        <p:tgtEl>
                                          <p:spTgt spid="30736"/>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30737"/>
                                        </p:tgtEl>
                                        <p:attrNameLst>
                                          <p:attrName>style.visibility</p:attrName>
                                        </p:attrNameLst>
                                      </p:cBhvr>
                                      <p:to>
                                        <p:strVal val="visible"/>
                                      </p:to>
                                    </p:set>
                                    <p:animEffect transition="in" filter="barn(inVertical)">
                                      <p:cBhvr>
                                        <p:cTn id="51" dur="500"/>
                                        <p:tgtEl>
                                          <p:spTgt spid="30737"/>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30738"/>
                                        </p:tgtEl>
                                        <p:attrNameLst>
                                          <p:attrName>style.visibility</p:attrName>
                                        </p:attrNameLst>
                                      </p:cBhvr>
                                      <p:to>
                                        <p:strVal val="visible"/>
                                      </p:to>
                                    </p:set>
                                    <p:animEffect transition="in" filter="barn(inVertical)">
                                      <p:cBhvr>
                                        <p:cTn id="54" dur="500"/>
                                        <p:tgtEl>
                                          <p:spTgt spid="30738"/>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30739"/>
                                        </p:tgtEl>
                                        <p:attrNameLst>
                                          <p:attrName>style.visibility</p:attrName>
                                        </p:attrNameLst>
                                      </p:cBhvr>
                                      <p:to>
                                        <p:strVal val="visible"/>
                                      </p:to>
                                    </p:set>
                                    <p:animEffect transition="in" filter="barn(inVertical)">
                                      <p:cBhvr>
                                        <p:cTn id="57" dur="500"/>
                                        <p:tgtEl>
                                          <p:spTgt spid="30739"/>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30740"/>
                                        </p:tgtEl>
                                        <p:attrNameLst>
                                          <p:attrName>style.visibility</p:attrName>
                                        </p:attrNameLst>
                                      </p:cBhvr>
                                      <p:to>
                                        <p:strVal val="visible"/>
                                      </p:to>
                                    </p:set>
                                    <p:animEffect transition="in" filter="barn(inVertical)">
                                      <p:cBhvr>
                                        <p:cTn id="60" dur="500"/>
                                        <p:tgtEl>
                                          <p:spTgt spid="30740"/>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30741"/>
                                        </p:tgtEl>
                                        <p:attrNameLst>
                                          <p:attrName>style.visibility</p:attrName>
                                        </p:attrNameLst>
                                      </p:cBhvr>
                                      <p:to>
                                        <p:strVal val="visible"/>
                                      </p:to>
                                    </p:set>
                                    <p:animEffect transition="in" filter="barn(inVertical)">
                                      <p:cBhvr>
                                        <p:cTn id="63" dur="500"/>
                                        <p:tgtEl>
                                          <p:spTgt spid="30741"/>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30742"/>
                                        </p:tgtEl>
                                        <p:attrNameLst>
                                          <p:attrName>style.visibility</p:attrName>
                                        </p:attrNameLst>
                                      </p:cBhvr>
                                      <p:to>
                                        <p:strVal val="visible"/>
                                      </p:to>
                                    </p:set>
                                    <p:animEffect transition="in" filter="barn(inVertical)">
                                      <p:cBhvr>
                                        <p:cTn id="66" dur="500"/>
                                        <p:tgtEl>
                                          <p:spTgt spid="30742"/>
                                        </p:tgtEl>
                                      </p:cBhvr>
                                    </p:animEffect>
                                  </p:childTnLst>
                                </p:cTn>
                              </p:par>
                              <p:par>
                                <p:cTn id="67" presetID="16" presetClass="entr" presetSubtype="21" fill="hold" grpId="0" nodeType="withEffect">
                                  <p:stCondLst>
                                    <p:cond delay="0"/>
                                  </p:stCondLst>
                                  <p:childTnLst>
                                    <p:set>
                                      <p:cBhvr>
                                        <p:cTn id="68" dur="1" fill="hold">
                                          <p:stCondLst>
                                            <p:cond delay="0"/>
                                          </p:stCondLst>
                                        </p:cTn>
                                        <p:tgtEl>
                                          <p:spTgt spid="30743"/>
                                        </p:tgtEl>
                                        <p:attrNameLst>
                                          <p:attrName>style.visibility</p:attrName>
                                        </p:attrNameLst>
                                      </p:cBhvr>
                                      <p:to>
                                        <p:strVal val="visible"/>
                                      </p:to>
                                    </p:set>
                                    <p:animEffect transition="in" filter="barn(inVertical)">
                                      <p:cBhvr>
                                        <p:cTn id="69" dur="500"/>
                                        <p:tgtEl>
                                          <p:spTgt spid="30743"/>
                                        </p:tgtEl>
                                      </p:cBhvr>
                                    </p:animEffect>
                                  </p:childTnLst>
                                </p:cTn>
                              </p:par>
                              <p:par>
                                <p:cTn id="70" presetID="16" presetClass="entr" presetSubtype="21" fill="hold" grpId="0" nodeType="withEffect">
                                  <p:stCondLst>
                                    <p:cond delay="0"/>
                                  </p:stCondLst>
                                  <p:childTnLst>
                                    <p:set>
                                      <p:cBhvr>
                                        <p:cTn id="71" dur="1" fill="hold">
                                          <p:stCondLst>
                                            <p:cond delay="0"/>
                                          </p:stCondLst>
                                        </p:cTn>
                                        <p:tgtEl>
                                          <p:spTgt spid="30744"/>
                                        </p:tgtEl>
                                        <p:attrNameLst>
                                          <p:attrName>style.visibility</p:attrName>
                                        </p:attrNameLst>
                                      </p:cBhvr>
                                      <p:to>
                                        <p:strVal val="visible"/>
                                      </p:to>
                                    </p:set>
                                    <p:animEffect transition="in" filter="barn(inVertical)">
                                      <p:cBhvr>
                                        <p:cTn id="72" dur="500"/>
                                        <p:tgtEl>
                                          <p:spTgt spid="30744"/>
                                        </p:tgtEl>
                                      </p:cBhvr>
                                    </p:animEffect>
                                  </p:childTnLst>
                                </p:cTn>
                              </p:par>
                              <p:par>
                                <p:cTn id="73" presetID="16" presetClass="entr" presetSubtype="21" fill="hold" grpId="0" nodeType="withEffect">
                                  <p:stCondLst>
                                    <p:cond delay="0"/>
                                  </p:stCondLst>
                                  <p:childTnLst>
                                    <p:set>
                                      <p:cBhvr>
                                        <p:cTn id="74" dur="1" fill="hold">
                                          <p:stCondLst>
                                            <p:cond delay="0"/>
                                          </p:stCondLst>
                                        </p:cTn>
                                        <p:tgtEl>
                                          <p:spTgt spid="30745"/>
                                        </p:tgtEl>
                                        <p:attrNameLst>
                                          <p:attrName>style.visibility</p:attrName>
                                        </p:attrNameLst>
                                      </p:cBhvr>
                                      <p:to>
                                        <p:strVal val="visible"/>
                                      </p:to>
                                    </p:set>
                                    <p:animEffect transition="in" filter="barn(inVertical)">
                                      <p:cBhvr>
                                        <p:cTn id="75" dur="500"/>
                                        <p:tgtEl>
                                          <p:spTgt spid="30745"/>
                                        </p:tgtEl>
                                      </p:cBhvr>
                                    </p:animEffect>
                                  </p:childTnLst>
                                </p:cTn>
                              </p:par>
                              <p:par>
                                <p:cTn id="76" presetID="16" presetClass="entr" presetSubtype="21" fill="hold" grpId="0" nodeType="withEffect">
                                  <p:stCondLst>
                                    <p:cond delay="0"/>
                                  </p:stCondLst>
                                  <p:childTnLst>
                                    <p:set>
                                      <p:cBhvr>
                                        <p:cTn id="77" dur="1" fill="hold">
                                          <p:stCondLst>
                                            <p:cond delay="0"/>
                                          </p:stCondLst>
                                        </p:cTn>
                                        <p:tgtEl>
                                          <p:spTgt spid="30746"/>
                                        </p:tgtEl>
                                        <p:attrNameLst>
                                          <p:attrName>style.visibility</p:attrName>
                                        </p:attrNameLst>
                                      </p:cBhvr>
                                      <p:to>
                                        <p:strVal val="visible"/>
                                      </p:to>
                                    </p:set>
                                    <p:animEffect transition="in" filter="barn(inVertical)">
                                      <p:cBhvr>
                                        <p:cTn id="78" dur="500"/>
                                        <p:tgtEl>
                                          <p:spTgt spid="30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p:bldP spid="279589" grpId="0" animBg="1"/>
      <p:bldP spid="279591" grpId="0" animBg="1"/>
      <p:bldP spid="279592" grpId="0" animBg="1"/>
      <p:bldP spid="279593" grpId="0" animBg="1"/>
      <p:bldP spid="279594" grpId="0" animBg="1"/>
      <p:bldP spid="279596" grpId="0" animBg="1"/>
      <p:bldP spid="279597" grpId="0" animBg="1"/>
      <p:bldP spid="279607" grpId="0" animBg="1"/>
      <p:bldP spid="30733" grpId="0" animBg="1"/>
      <p:bldP spid="30734" grpId="0" animBg="1"/>
      <p:bldP spid="30735" grpId="0"/>
      <p:bldP spid="30736" grpId="0"/>
      <p:bldP spid="30737" grpId="0" animBg="1"/>
      <p:bldP spid="30738" grpId="0"/>
      <p:bldP spid="30739" grpId="0"/>
      <p:bldP spid="30740" grpId="0" animBg="1"/>
      <p:bldP spid="30741" grpId="0" animBg="1"/>
      <p:bldP spid="30742" grpId="0"/>
      <p:bldP spid="30743" grpId="0"/>
      <p:bldP spid="30744" grpId="0" animBg="1"/>
      <p:bldP spid="30745" grpId="0"/>
      <p:bldP spid="3074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30"/>
          <p:cNvSpPr txBox="1">
            <a:spLocks noChangeArrowheads="1"/>
          </p:cNvSpPr>
          <p:nvPr/>
        </p:nvSpPr>
        <p:spPr bwMode="auto">
          <a:xfrm>
            <a:off x="263525" y="671513"/>
            <a:ext cx="59547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a:solidFill>
                  <a:srgbClr val="990033"/>
                </a:solidFill>
              </a:rPr>
              <a:t>二、储能元件</a:t>
            </a:r>
            <a:r>
              <a:rPr lang="zh-CN" altLang="en-US">
                <a:solidFill>
                  <a:schemeClr val="tx2"/>
                </a:solidFill>
              </a:rPr>
              <a:t>－－动态元件</a:t>
            </a:r>
          </a:p>
        </p:txBody>
      </p:sp>
      <p:sp>
        <p:nvSpPr>
          <p:cNvPr id="31747" name="Rectangle 31"/>
          <p:cNvSpPr>
            <a:spLocks noChangeArrowheads="1"/>
          </p:cNvSpPr>
          <p:nvPr/>
        </p:nvSpPr>
        <p:spPr bwMode="auto">
          <a:xfrm>
            <a:off x="650875" y="1476375"/>
            <a:ext cx="8074025" cy="82232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r>
              <a:rPr lang="en-US" altLang="zh-CN" dirty="0"/>
              <a:t>        </a:t>
            </a:r>
            <a:r>
              <a:rPr lang="zh-CN" altLang="en-US" dirty="0"/>
              <a:t>动态元件的</a:t>
            </a:r>
            <a:r>
              <a:rPr lang="en-US" altLang="zh-CN" i="1" dirty="0" err="1"/>
              <a:t>v~i</a:t>
            </a:r>
            <a:r>
              <a:rPr lang="zh-CN" altLang="en-US" dirty="0"/>
              <a:t>关系不能用简单的线性方程来描述，而要用微分的</a:t>
            </a:r>
            <a:r>
              <a:rPr lang="en-US" altLang="zh-CN" i="1" dirty="0" err="1"/>
              <a:t>v~i</a:t>
            </a:r>
            <a:r>
              <a:rPr lang="zh-CN" altLang="en-US" dirty="0"/>
              <a:t>关系来表征。 </a:t>
            </a:r>
          </a:p>
        </p:txBody>
      </p:sp>
      <p:sp>
        <p:nvSpPr>
          <p:cNvPr id="31748" name="Rectangle 32"/>
          <p:cNvSpPr>
            <a:spLocks noChangeArrowheads="1"/>
          </p:cNvSpPr>
          <p:nvPr/>
        </p:nvSpPr>
        <p:spPr bwMode="auto">
          <a:xfrm>
            <a:off x="668338" y="3071723"/>
            <a:ext cx="8053387" cy="120032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76225" eaLnBrk="0" hangingPunct="0">
              <a:tabLst>
                <a:tab pos="2776538" algn="ctr"/>
              </a:tabLst>
              <a:defRPr kumimoji="1" sz="2400" b="1">
                <a:solidFill>
                  <a:schemeClr val="tx1"/>
                </a:solidFill>
                <a:latin typeface="Times New Roman" pitchFamily="18" charset="0"/>
                <a:ea typeface="宋体" charset="-122"/>
              </a:defRPr>
            </a:lvl1pPr>
            <a:lvl2pPr marL="914400" indent="-457200" eaLnBrk="0" hangingPunct="0">
              <a:tabLst>
                <a:tab pos="2776538" algn="ctr"/>
              </a:tabLst>
              <a:defRPr kumimoji="1" sz="2400" b="1">
                <a:solidFill>
                  <a:schemeClr val="tx1"/>
                </a:solidFill>
                <a:latin typeface="Times New Roman" pitchFamily="18" charset="0"/>
                <a:ea typeface="宋体" charset="-122"/>
              </a:defRPr>
            </a:lvl2pPr>
            <a:lvl3pPr marL="1371600" indent="-457200" eaLnBrk="0" hangingPunct="0">
              <a:tabLst>
                <a:tab pos="2776538" algn="ctr"/>
              </a:tabLst>
              <a:defRPr kumimoji="1" sz="2400" b="1">
                <a:solidFill>
                  <a:schemeClr val="tx1"/>
                </a:solidFill>
                <a:latin typeface="Times New Roman" pitchFamily="18" charset="0"/>
                <a:ea typeface="宋体" charset="-122"/>
              </a:defRPr>
            </a:lvl3pPr>
            <a:lvl4pPr marL="1828800" indent="-457200" eaLnBrk="0" hangingPunct="0">
              <a:tabLst>
                <a:tab pos="2776538" algn="ctr"/>
              </a:tabLst>
              <a:defRPr kumimoji="1" sz="2400" b="1">
                <a:solidFill>
                  <a:schemeClr val="tx1"/>
                </a:solidFill>
                <a:latin typeface="Times New Roman" pitchFamily="18" charset="0"/>
                <a:ea typeface="宋体" charset="-122"/>
              </a:defRPr>
            </a:lvl4pPr>
            <a:lvl5pPr marL="2286000" indent="-457200" eaLnBrk="0" hangingPunct="0">
              <a:tabLst>
                <a:tab pos="2776538" algn="ctr"/>
              </a:tabLst>
              <a:defRPr kumimoji="1" sz="2400" b="1">
                <a:solidFill>
                  <a:schemeClr val="tx1"/>
                </a:solidFill>
                <a:latin typeface="Times New Roman" pitchFamily="18" charset="0"/>
                <a:ea typeface="宋体" charset="-122"/>
              </a:defRPr>
            </a:lvl5pPr>
            <a:lvl6pPr marL="2743200" indent="-457200" eaLnBrk="0" fontAlgn="base" hangingPunct="0">
              <a:spcBef>
                <a:spcPct val="0"/>
              </a:spcBef>
              <a:spcAft>
                <a:spcPct val="0"/>
              </a:spcAft>
              <a:tabLst>
                <a:tab pos="2776538" algn="ctr"/>
              </a:tabLst>
              <a:defRPr kumimoji="1" sz="2400" b="1">
                <a:solidFill>
                  <a:schemeClr val="tx1"/>
                </a:solidFill>
                <a:latin typeface="Times New Roman" pitchFamily="18" charset="0"/>
                <a:ea typeface="宋体" charset="-122"/>
              </a:defRPr>
            </a:lvl6pPr>
            <a:lvl7pPr marL="3200400" indent="-457200" eaLnBrk="0" fontAlgn="base" hangingPunct="0">
              <a:spcBef>
                <a:spcPct val="0"/>
              </a:spcBef>
              <a:spcAft>
                <a:spcPct val="0"/>
              </a:spcAft>
              <a:tabLst>
                <a:tab pos="2776538" algn="ctr"/>
              </a:tabLst>
              <a:defRPr kumimoji="1" sz="2400" b="1">
                <a:solidFill>
                  <a:schemeClr val="tx1"/>
                </a:solidFill>
                <a:latin typeface="Times New Roman" pitchFamily="18" charset="0"/>
                <a:ea typeface="宋体" charset="-122"/>
              </a:defRPr>
            </a:lvl7pPr>
            <a:lvl8pPr marL="3657600" indent="-457200" eaLnBrk="0" fontAlgn="base" hangingPunct="0">
              <a:spcBef>
                <a:spcPct val="0"/>
              </a:spcBef>
              <a:spcAft>
                <a:spcPct val="0"/>
              </a:spcAft>
              <a:tabLst>
                <a:tab pos="2776538" algn="ctr"/>
              </a:tabLst>
              <a:defRPr kumimoji="1" sz="2400" b="1">
                <a:solidFill>
                  <a:schemeClr val="tx1"/>
                </a:solidFill>
                <a:latin typeface="Times New Roman" pitchFamily="18" charset="0"/>
                <a:ea typeface="宋体" charset="-122"/>
              </a:defRPr>
            </a:lvl8pPr>
            <a:lvl9pPr marL="4114800" indent="-457200" eaLnBrk="0" fontAlgn="base" hangingPunct="0">
              <a:spcBef>
                <a:spcPct val="0"/>
              </a:spcBef>
              <a:spcAft>
                <a:spcPct val="0"/>
              </a:spcAft>
              <a:tabLst>
                <a:tab pos="2776538" algn="ctr"/>
              </a:tabLst>
              <a:defRPr kumimoji="1" sz="2400" b="1">
                <a:solidFill>
                  <a:schemeClr val="tx1"/>
                </a:solidFill>
                <a:latin typeface="Times New Roman" pitchFamily="18" charset="0"/>
                <a:ea typeface="宋体" charset="-122"/>
              </a:defRPr>
            </a:lvl9pPr>
          </a:lstStyle>
          <a:p>
            <a:pPr eaLnBrk="1" hangingPunct="1">
              <a:buFontTx/>
              <a:buAutoNum type="circleNumDbPlain"/>
            </a:pPr>
            <a:r>
              <a:rPr lang="en-US" altLang="zh-CN" dirty="0"/>
              <a:t>  </a:t>
            </a:r>
            <a:r>
              <a:rPr lang="zh-CN" altLang="en-US" dirty="0"/>
              <a:t>通过接入动态元件使电路实现某一特殊功能。</a:t>
            </a:r>
          </a:p>
          <a:p>
            <a:pPr eaLnBrk="1" hangingPunct="1">
              <a:buFontTx/>
              <a:buAutoNum type="circleNumDbPlain"/>
            </a:pPr>
            <a:endParaRPr lang="zh-CN" altLang="en-US" dirty="0"/>
          </a:p>
          <a:p>
            <a:pPr eaLnBrk="1" hangingPunct="1">
              <a:buFontTx/>
              <a:buAutoNum type="circleNumDbPlain"/>
            </a:pPr>
            <a:r>
              <a:rPr lang="zh-CN" altLang="en-US" dirty="0"/>
              <a:t>  在高频电路中，一些</a:t>
            </a:r>
            <a:r>
              <a:rPr lang="zh-CN" altLang="en-US" dirty="0" smtClean="0"/>
              <a:t>实际元件不能用</a:t>
            </a:r>
            <a:r>
              <a:rPr lang="zh-CN" altLang="en-US" dirty="0"/>
              <a:t>电阻性</a:t>
            </a:r>
            <a:r>
              <a:rPr lang="zh-CN" altLang="en-US" dirty="0" smtClean="0"/>
              <a:t>模型来</a:t>
            </a:r>
            <a:r>
              <a:rPr lang="zh-CN" altLang="en-US" dirty="0"/>
              <a:t>表示。</a:t>
            </a:r>
          </a:p>
        </p:txBody>
      </p:sp>
      <p:sp>
        <p:nvSpPr>
          <p:cNvPr id="31749" name="Rectangle 33"/>
          <p:cNvSpPr>
            <a:spLocks noChangeArrowheads="1"/>
          </p:cNvSpPr>
          <p:nvPr/>
        </p:nvSpPr>
        <p:spPr bwMode="auto">
          <a:xfrm>
            <a:off x="1204913" y="5029200"/>
            <a:ext cx="7000875"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r>
              <a:rPr lang="zh-CN" altLang="en-US" dirty="0"/>
              <a:t>下面介绍两种常用的动态元件：电容器和电感器。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barn(inVertical)">
                                      <p:cBhvr>
                                        <p:cTn id="7" dur="500"/>
                                        <p:tgtEl>
                                          <p:spTgt spid="3174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1748">
                                            <p:txEl>
                                              <p:pRg st="0" end="0"/>
                                            </p:txEl>
                                          </p:spTgt>
                                        </p:tgtEl>
                                        <p:attrNameLst>
                                          <p:attrName>style.visibility</p:attrName>
                                        </p:attrNameLst>
                                      </p:cBhvr>
                                      <p:to>
                                        <p:strVal val="visible"/>
                                      </p:to>
                                    </p:set>
                                    <p:animEffect transition="in" filter="barn(inVertical)">
                                      <p:cBhvr>
                                        <p:cTn id="12" dur="500"/>
                                        <p:tgtEl>
                                          <p:spTgt spid="3174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1748">
                                            <p:txEl>
                                              <p:pRg st="2" end="2"/>
                                            </p:txEl>
                                          </p:spTgt>
                                        </p:tgtEl>
                                        <p:attrNameLst>
                                          <p:attrName>style.visibility</p:attrName>
                                        </p:attrNameLst>
                                      </p:cBhvr>
                                      <p:to>
                                        <p:strVal val="visible"/>
                                      </p:to>
                                    </p:set>
                                    <p:animEffect transition="in" filter="barn(inVertical)">
                                      <p:cBhvr>
                                        <p:cTn id="17" dur="500"/>
                                        <p:tgtEl>
                                          <p:spTgt spid="3174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1749"/>
                                        </p:tgtEl>
                                        <p:attrNameLst>
                                          <p:attrName>style.visibility</p:attrName>
                                        </p:attrNameLst>
                                      </p:cBhvr>
                                      <p:to>
                                        <p:strVal val="visible"/>
                                      </p:to>
                                    </p:set>
                                    <p:animEffect transition="in" filter="barn(inVertical)">
                                      <p:cBhvr>
                                        <p:cTn id="22" dur="500"/>
                                        <p:tgtEl>
                                          <p:spTgt spid="31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p:bldP spid="3174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33"/>
          <p:cNvSpPr txBox="1">
            <a:spLocks noChangeArrowheads="1"/>
          </p:cNvSpPr>
          <p:nvPr/>
        </p:nvSpPr>
        <p:spPr bwMode="auto">
          <a:xfrm>
            <a:off x="909638" y="1385888"/>
            <a:ext cx="766445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20000"/>
              </a:lnSpc>
              <a:spcBef>
                <a:spcPct val="50000"/>
              </a:spcBef>
            </a:pPr>
            <a:r>
              <a:rPr lang="en-US" altLang="zh-CN" dirty="0">
                <a:latin typeface="楷体_GB2312" pitchFamily="49" charset="-122"/>
                <a:ea typeface="楷体_GB2312" pitchFamily="49" charset="-122"/>
                <a:sym typeface="Symbol" pitchFamily="18" charset="2"/>
              </a:rPr>
              <a:t>    </a:t>
            </a:r>
            <a:r>
              <a:rPr lang="zh-CN" altLang="en-US" dirty="0">
                <a:latin typeface="楷体_GB2312" pitchFamily="49" charset="-122"/>
                <a:ea typeface="楷体_GB2312" pitchFamily="49" charset="-122"/>
                <a:sym typeface="Symbol" pitchFamily="18" charset="2"/>
              </a:rPr>
              <a:t>在外电源作用下，正负电极上分别带上等量异号电荷，撤去电源，电极上的电荷仍可长久地聚集下去，是一种储存电能的部件。</a:t>
            </a:r>
          </a:p>
        </p:txBody>
      </p:sp>
      <p:grpSp>
        <p:nvGrpSpPr>
          <p:cNvPr id="32771" name="Group 34"/>
          <p:cNvGrpSpPr>
            <a:grpSpLocks/>
          </p:cNvGrpSpPr>
          <p:nvPr/>
        </p:nvGrpSpPr>
        <p:grpSpPr bwMode="auto">
          <a:xfrm>
            <a:off x="2700338" y="3024188"/>
            <a:ext cx="3313112" cy="2627312"/>
            <a:chOff x="1247" y="2341"/>
            <a:chExt cx="2087" cy="1655"/>
          </a:xfrm>
        </p:grpSpPr>
        <p:sp>
          <p:nvSpPr>
            <p:cNvPr id="32777" name="Line 35"/>
            <p:cNvSpPr>
              <a:spLocks noChangeShapeType="1"/>
            </p:cNvSpPr>
            <p:nvPr/>
          </p:nvSpPr>
          <p:spPr bwMode="auto">
            <a:xfrm>
              <a:off x="1937" y="2496"/>
              <a:ext cx="0" cy="951"/>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778" name="Line 36"/>
            <p:cNvSpPr>
              <a:spLocks noChangeShapeType="1"/>
            </p:cNvSpPr>
            <p:nvPr/>
          </p:nvSpPr>
          <p:spPr bwMode="auto">
            <a:xfrm>
              <a:off x="2763" y="2496"/>
              <a:ext cx="0" cy="951"/>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779" name="Line 37"/>
            <p:cNvSpPr>
              <a:spLocks noChangeShapeType="1"/>
            </p:cNvSpPr>
            <p:nvPr/>
          </p:nvSpPr>
          <p:spPr bwMode="auto">
            <a:xfrm>
              <a:off x="1429" y="2999"/>
              <a:ext cx="508"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780" name="Line 38"/>
            <p:cNvSpPr>
              <a:spLocks noChangeShapeType="1"/>
            </p:cNvSpPr>
            <p:nvPr/>
          </p:nvSpPr>
          <p:spPr bwMode="auto">
            <a:xfrm>
              <a:off x="1429" y="2999"/>
              <a:ext cx="0" cy="671"/>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781" name="Line 39"/>
            <p:cNvSpPr>
              <a:spLocks noChangeShapeType="1"/>
            </p:cNvSpPr>
            <p:nvPr/>
          </p:nvSpPr>
          <p:spPr bwMode="auto">
            <a:xfrm>
              <a:off x="1429" y="3670"/>
              <a:ext cx="889"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782" name="Line 40"/>
            <p:cNvSpPr>
              <a:spLocks noChangeShapeType="1"/>
            </p:cNvSpPr>
            <p:nvPr/>
          </p:nvSpPr>
          <p:spPr bwMode="auto">
            <a:xfrm>
              <a:off x="2318" y="3477"/>
              <a:ext cx="0" cy="392"/>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783" name="Line 41"/>
            <p:cNvSpPr>
              <a:spLocks noChangeShapeType="1"/>
            </p:cNvSpPr>
            <p:nvPr/>
          </p:nvSpPr>
          <p:spPr bwMode="auto">
            <a:xfrm>
              <a:off x="2445" y="3589"/>
              <a:ext cx="0" cy="168"/>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784" name="Line 42"/>
            <p:cNvSpPr>
              <a:spLocks noChangeShapeType="1"/>
            </p:cNvSpPr>
            <p:nvPr/>
          </p:nvSpPr>
          <p:spPr bwMode="auto">
            <a:xfrm>
              <a:off x="2763" y="2999"/>
              <a:ext cx="571"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785" name="Line 43"/>
            <p:cNvSpPr>
              <a:spLocks noChangeShapeType="1"/>
            </p:cNvSpPr>
            <p:nvPr/>
          </p:nvSpPr>
          <p:spPr bwMode="auto">
            <a:xfrm>
              <a:off x="3334" y="2999"/>
              <a:ext cx="0" cy="671"/>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786" name="Line 44"/>
            <p:cNvSpPr>
              <a:spLocks noChangeShapeType="1"/>
            </p:cNvSpPr>
            <p:nvPr/>
          </p:nvSpPr>
          <p:spPr bwMode="auto">
            <a:xfrm>
              <a:off x="2445" y="3670"/>
              <a:ext cx="889"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32787" name="Text Box 45"/>
            <p:cNvSpPr txBox="1">
              <a:spLocks noChangeArrowheads="1"/>
            </p:cNvSpPr>
            <p:nvPr/>
          </p:nvSpPr>
          <p:spPr bwMode="auto">
            <a:xfrm>
              <a:off x="2789" y="2341"/>
              <a:ext cx="3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a:ea typeface="仿宋_GB2312" pitchFamily="49" charset="-122"/>
                  <a:sym typeface="Symbol" pitchFamily="18" charset="2"/>
                </a:rPr>
                <a:t>_</a:t>
              </a:r>
            </a:p>
          </p:txBody>
        </p:sp>
        <p:sp>
          <p:nvSpPr>
            <p:cNvPr id="32788" name="Text Box 46"/>
            <p:cNvSpPr txBox="1">
              <a:spLocks noChangeArrowheads="1"/>
            </p:cNvSpPr>
            <p:nvPr/>
          </p:nvSpPr>
          <p:spPr bwMode="auto">
            <a:xfrm>
              <a:off x="1247" y="2466"/>
              <a:ext cx="7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dirty="0">
                  <a:ea typeface="仿宋_GB2312" pitchFamily="49" charset="-122"/>
                  <a:sym typeface="Symbol" pitchFamily="18" charset="2"/>
                </a:rPr>
                <a:t>+</a:t>
              </a:r>
              <a:r>
                <a:rPr lang="en-US" altLang="zh-CN" b="0" i="1" dirty="0">
                  <a:ea typeface="仿宋_GB2312" pitchFamily="49" charset="-122"/>
                  <a:sym typeface="Symbol" pitchFamily="18" charset="2"/>
                </a:rPr>
                <a:t> q</a:t>
              </a:r>
              <a:endParaRPr lang="en-US" altLang="zh-CN" b="0" dirty="0">
                <a:ea typeface="仿宋_GB2312" pitchFamily="49" charset="-122"/>
                <a:sym typeface="Symbol" pitchFamily="18" charset="2"/>
              </a:endParaRPr>
            </a:p>
          </p:txBody>
        </p:sp>
        <p:sp>
          <p:nvSpPr>
            <p:cNvPr id="32789" name="Text Box 47"/>
            <p:cNvSpPr txBox="1">
              <a:spLocks noChangeArrowheads="1"/>
            </p:cNvSpPr>
            <p:nvPr/>
          </p:nvSpPr>
          <p:spPr bwMode="auto">
            <a:xfrm>
              <a:off x="2953" y="2418"/>
              <a:ext cx="3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dirty="0">
                  <a:ea typeface="仿宋_GB2312" pitchFamily="49" charset="-122"/>
                  <a:sym typeface="Symbol" pitchFamily="18" charset="2"/>
                </a:rPr>
                <a:t>q</a:t>
              </a:r>
            </a:p>
          </p:txBody>
        </p:sp>
        <p:sp>
          <p:nvSpPr>
            <p:cNvPr id="32790" name="Rectangle 48" descr="信纸"/>
            <p:cNvSpPr>
              <a:spLocks noChangeArrowheads="1"/>
            </p:cNvSpPr>
            <p:nvPr/>
          </p:nvSpPr>
          <p:spPr bwMode="auto">
            <a:xfrm>
              <a:off x="2000" y="2551"/>
              <a:ext cx="699" cy="840"/>
            </a:xfrm>
            <a:prstGeom prst="rect">
              <a:avLst/>
            </a:prstGeom>
            <a:blipFill dpi="0" rotWithShape="1">
              <a:blip r:embed="rId3"/>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ea typeface="仿宋_GB2312" pitchFamily="49" charset="-122"/>
                  <a:sym typeface="Symbol" pitchFamily="18" charset="2"/>
                </a:rPr>
                <a:t></a:t>
              </a:r>
            </a:p>
          </p:txBody>
        </p:sp>
        <p:sp>
          <p:nvSpPr>
            <p:cNvPr id="32791" name="Text Box 49"/>
            <p:cNvSpPr txBox="1">
              <a:spLocks noChangeArrowheads="1"/>
            </p:cNvSpPr>
            <p:nvPr/>
          </p:nvSpPr>
          <p:spPr bwMode="auto">
            <a:xfrm>
              <a:off x="2342" y="3708"/>
              <a:ext cx="3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dirty="0">
                  <a:ea typeface="仿宋_GB2312" pitchFamily="49" charset="-122"/>
                  <a:sym typeface="Symbol" pitchFamily="18" charset="2"/>
                </a:rPr>
                <a:t>v</a:t>
              </a:r>
            </a:p>
          </p:txBody>
        </p:sp>
      </p:grpSp>
      <p:sp>
        <p:nvSpPr>
          <p:cNvPr id="32772" name="Text Box 50"/>
          <p:cNvSpPr txBox="1">
            <a:spLocks noChangeArrowheads="1"/>
          </p:cNvSpPr>
          <p:nvPr/>
        </p:nvSpPr>
        <p:spPr bwMode="auto">
          <a:xfrm>
            <a:off x="2628900" y="5861050"/>
            <a:ext cx="5670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dirty="0">
                <a:ea typeface="楷体_GB2312" pitchFamily="49" charset="-122"/>
                <a:sym typeface="Monotype Sorts" pitchFamily="2" charset="2"/>
              </a:rPr>
              <a:t>电导体由绝缘材料分开就可以产生电容。</a:t>
            </a:r>
            <a:endParaRPr lang="zh-CN" altLang="en-US" dirty="0">
              <a:ea typeface="楷体_GB2312" pitchFamily="49" charset="-122"/>
            </a:endParaRPr>
          </a:p>
        </p:txBody>
      </p:sp>
      <p:grpSp>
        <p:nvGrpSpPr>
          <p:cNvPr id="32773" name="Group 51"/>
          <p:cNvGrpSpPr>
            <a:grpSpLocks/>
          </p:cNvGrpSpPr>
          <p:nvPr/>
        </p:nvGrpSpPr>
        <p:grpSpPr bwMode="auto">
          <a:xfrm>
            <a:off x="395288" y="5614988"/>
            <a:ext cx="1441450" cy="850900"/>
            <a:chOff x="385" y="3022"/>
            <a:chExt cx="908" cy="536"/>
          </a:xfrm>
        </p:grpSpPr>
        <p:pic>
          <p:nvPicPr>
            <p:cNvPr id="32775" name="Picture 52" descr="1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Text Box 53"/>
            <p:cNvSpPr txBox="1">
              <a:spLocks noChangeArrowheads="1"/>
            </p:cNvSpPr>
            <p:nvPr/>
          </p:nvSpPr>
          <p:spPr bwMode="auto">
            <a:xfrm>
              <a:off x="793" y="3182"/>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r>
                <a:rPr lang="zh-CN" altLang="en-US" b="0">
                  <a:ea typeface="华文行楷" pitchFamily="2" charset="-122"/>
                </a:rPr>
                <a:t>注意</a:t>
              </a:r>
            </a:p>
          </p:txBody>
        </p:sp>
      </p:grpSp>
      <p:sp>
        <p:nvSpPr>
          <p:cNvPr id="32774" name="Text Box 55"/>
          <p:cNvSpPr txBox="1">
            <a:spLocks noChangeArrowheads="1"/>
          </p:cNvSpPr>
          <p:nvPr/>
        </p:nvSpPr>
        <p:spPr bwMode="auto">
          <a:xfrm>
            <a:off x="292100" y="655638"/>
            <a:ext cx="415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buFont typeface="Wingdings" pitchFamily="2" charset="2"/>
              <a:buChar char="l"/>
            </a:pPr>
            <a:r>
              <a:rPr lang="zh-CN" altLang="en-US" dirty="0">
                <a:solidFill>
                  <a:srgbClr val="990033"/>
                </a:solidFill>
              </a:rPr>
              <a:t>电容</a:t>
            </a:r>
            <a:r>
              <a:rPr lang="zh-CN" altLang="en-US" dirty="0" smtClean="0">
                <a:solidFill>
                  <a:srgbClr val="990033"/>
                </a:solidFill>
              </a:rPr>
              <a:t>元件</a:t>
            </a:r>
            <a:endParaRPr lang="zh-CN" altLang="en-US" dirty="0">
              <a:solidFill>
                <a:srgbClr val="990033"/>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barn(inVertical)">
                                      <p:cBhvr>
                                        <p:cTn id="7" dur="500"/>
                                        <p:tgtEl>
                                          <p:spTgt spid="3277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2771"/>
                                        </p:tgtEl>
                                        <p:attrNameLst>
                                          <p:attrName>style.visibility</p:attrName>
                                        </p:attrNameLst>
                                      </p:cBhvr>
                                      <p:to>
                                        <p:strVal val="visible"/>
                                      </p:to>
                                    </p:set>
                                    <p:animEffect transition="in" filter="barn(inVertical)">
                                      <p:cBhvr>
                                        <p:cTn id="12" dur="500"/>
                                        <p:tgtEl>
                                          <p:spTgt spid="3277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2772"/>
                                        </p:tgtEl>
                                        <p:attrNameLst>
                                          <p:attrName>style.visibility</p:attrName>
                                        </p:attrNameLst>
                                      </p:cBhvr>
                                      <p:to>
                                        <p:strVal val="visible"/>
                                      </p:to>
                                    </p:set>
                                    <p:animEffect transition="in" filter="barn(inVertical)">
                                      <p:cBhvr>
                                        <p:cTn id="17" dur="500"/>
                                        <p:tgtEl>
                                          <p:spTgt spid="32772"/>
                                        </p:tgtEl>
                                      </p:cBhvr>
                                    </p:animEffect>
                                  </p:childTnLst>
                                </p:cTn>
                              </p:par>
                              <p:par>
                                <p:cTn id="18" presetID="16" presetClass="entr" presetSubtype="21" fill="hold" nodeType="withEffect">
                                  <p:stCondLst>
                                    <p:cond delay="0"/>
                                  </p:stCondLst>
                                  <p:childTnLst>
                                    <p:set>
                                      <p:cBhvr>
                                        <p:cTn id="19" dur="1" fill="hold">
                                          <p:stCondLst>
                                            <p:cond delay="0"/>
                                          </p:stCondLst>
                                        </p:cTn>
                                        <p:tgtEl>
                                          <p:spTgt spid="32773"/>
                                        </p:tgtEl>
                                        <p:attrNameLst>
                                          <p:attrName>style.visibility</p:attrName>
                                        </p:attrNameLst>
                                      </p:cBhvr>
                                      <p:to>
                                        <p:strVal val="visible"/>
                                      </p:to>
                                    </p:set>
                                    <p:animEffect transition="in" filter="barn(inVertical)">
                                      <p:cBhvr>
                                        <p:cTn id="20" dur="500"/>
                                        <p:tgtEl>
                                          <p:spTgt spid="32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19" name="Text Box 4"/>
          <p:cNvSpPr txBox="1">
            <a:spLocks noChangeArrowheads="1"/>
          </p:cNvSpPr>
          <p:nvPr/>
        </p:nvSpPr>
        <p:spPr bwMode="auto">
          <a:xfrm>
            <a:off x="2819400" y="1755775"/>
            <a:ext cx="4743450" cy="157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spcBef>
                <a:spcPct val="50000"/>
              </a:spcBef>
            </a:pPr>
            <a:r>
              <a:rPr lang="zh-CN" altLang="en-US" dirty="0">
                <a:solidFill>
                  <a:schemeClr val="tx2"/>
                </a:solidFill>
              </a:rPr>
              <a:t>描述电容的两个基本变量</a:t>
            </a:r>
            <a:r>
              <a:rPr lang="en-US" altLang="zh-CN" dirty="0">
                <a:solidFill>
                  <a:schemeClr val="tx2"/>
                </a:solidFill>
              </a:rPr>
              <a:t>:   </a:t>
            </a:r>
            <a:r>
              <a:rPr lang="en-US" altLang="zh-CN" i="1" dirty="0" smtClean="0">
                <a:solidFill>
                  <a:schemeClr val="tx2"/>
                </a:solidFill>
              </a:rPr>
              <a:t>v</a:t>
            </a:r>
            <a:r>
              <a:rPr lang="en-US" altLang="zh-CN" dirty="0" smtClean="0">
                <a:solidFill>
                  <a:schemeClr val="tx2"/>
                </a:solidFill>
              </a:rPr>
              <a:t>, </a:t>
            </a:r>
            <a:r>
              <a:rPr lang="en-US" altLang="zh-CN" i="1" dirty="0">
                <a:solidFill>
                  <a:schemeClr val="tx2"/>
                </a:solidFill>
                <a:sym typeface="Symbol" pitchFamily="18" charset="2"/>
              </a:rPr>
              <a:t>q</a:t>
            </a:r>
            <a:endParaRPr lang="en-US" altLang="zh-CN" dirty="0">
              <a:solidFill>
                <a:schemeClr val="tx2"/>
              </a:solidFill>
              <a:sym typeface="Symbol" pitchFamily="18" charset="2"/>
            </a:endParaRPr>
          </a:p>
          <a:p>
            <a:pPr algn="just">
              <a:spcBef>
                <a:spcPct val="50000"/>
              </a:spcBef>
            </a:pPr>
            <a:r>
              <a:rPr lang="zh-CN" altLang="en-US" dirty="0">
                <a:solidFill>
                  <a:schemeClr val="tx2"/>
                </a:solidFill>
                <a:sym typeface="Symbol" pitchFamily="18" charset="2"/>
              </a:rPr>
              <a:t>对于线性电容，有：  </a:t>
            </a:r>
          </a:p>
          <a:p>
            <a:pPr algn="just">
              <a:spcBef>
                <a:spcPct val="50000"/>
              </a:spcBef>
            </a:pPr>
            <a:r>
              <a:rPr lang="zh-CN" altLang="en-US" dirty="0">
                <a:solidFill>
                  <a:srgbClr val="000000"/>
                </a:solidFill>
                <a:sym typeface="Symbol" pitchFamily="18" charset="2"/>
              </a:rPr>
              <a:t>                     </a:t>
            </a:r>
            <a:r>
              <a:rPr lang="en-US" altLang="zh-CN" i="1" dirty="0">
                <a:solidFill>
                  <a:srgbClr val="FF0000"/>
                </a:solidFill>
                <a:sym typeface="Symbol" pitchFamily="18" charset="2"/>
              </a:rPr>
              <a:t>q </a:t>
            </a:r>
            <a:r>
              <a:rPr lang="en-US" altLang="zh-CN" i="1" dirty="0" smtClean="0">
                <a:solidFill>
                  <a:srgbClr val="FF0000"/>
                </a:solidFill>
                <a:sym typeface="Symbol" pitchFamily="18" charset="2"/>
              </a:rPr>
              <a:t>= C v</a:t>
            </a:r>
            <a:r>
              <a:rPr lang="en-US" altLang="zh-CN" i="1" dirty="0" smtClean="0">
                <a:solidFill>
                  <a:srgbClr val="000000"/>
                </a:solidFill>
                <a:sym typeface="Symbol" pitchFamily="18" charset="2"/>
              </a:rPr>
              <a:t>    </a:t>
            </a:r>
            <a:endParaRPr lang="en-US" altLang="zh-CN" dirty="0">
              <a:solidFill>
                <a:srgbClr val="000000"/>
              </a:solidFill>
              <a:sym typeface="Symbol" pitchFamily="18" charset="2"/>
            </a:endParaRPr>
          </a:p>
        </p:txBody>
      </p:sp>
      <p:graphicFrame>
        <p:nvGraphicFramePr>
          <p:cNvPr id="33820" name="Object 5" descr="羊皮纸"/>
          <p:cNvGraphicFramePr>
            <a:graphicFrameLocks noChangeAspect="1"/>
          </p:cNvGraphicFramePr>
          <p:nvPr/>
        </p:nvGraphicFramePr>
        <p:xfrm>
          <a:off x="3481388" y="3563937"/>
          <a:ext cx="1068388" cy="998537"/>
        </p:xfrm>
        <a:graphic>
          <a:graphicData uri="http://schemas.openxmlformats.org/presentationml/2006/ole">
            <mc:AlternateContent xmlns:mc="http://schemas.openxmlformats.org/markup-compatibility/2006">
              <mc:Choice xmlns:v="urn:schemas-microsoft-com:vml" Requires="v">
                <p:oleObj spid="_x0000_s33954" name="Equation" r:id="rId4" imgW="380835" imgH="355446" progId="Equation.DSMT4">
                  <p:embed/>
                </p:oleObj>
              </mc:Choice>
              <mc:Fallback>
                <p:oleObj name="Equation" r:id="rId4" imgW="380835" imgH="355446" progId="Equation.DSMT4">
                  <p:embed/>
                  <p:pic>
                    <p:nvPicPr>
                      <p:cNvPr id="0" name="Object 5" descr="羊皮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1388" y="3563937"/>
                        <a:ext cx="1068388" cy="998537"/>
                      </a:xfrm>
                      <a:prstGeom prst="rect">
                        <a:avLst/>
                      </a:prstGeom>
                      <a:blipFill dpi="0" rotWithShape="0">
                        <a:blip r:embed="rId6"/>
                        <a:srcRect/>
                        <a:tile tx="0" ty="0" sx="100000" sy="100000" flip="none" algn="tl"/>
                      </a:blipFill>
                      <a:ln>
                        <a:noFill/>
                      </a:ln>
                      <a:effectLst>
                        <a:prstShdw prst="shdw17" dist="17961" dir="2700000">
                          <a:srgbClr val="99997A"/>
                        </a:prstShdw>
                      </a:effectLst>
                      <a:extLst/>
                    </p:spPr>
                  </p:pic>
                </p:oleObj>
              </mc:Fallback>
            </mc:AlternateContent>
          </a:graphicData>
        </a:graphic>
      </p:graphicFrame>
      <p:sp>
        <p:nvSpPr>
          <p:cNvPr id="33821" name="Text Box 6"/>
          <p:cNvSpPr txBox="1">
            <a:spLocks noChangeArrowheads="1"/>
          </p:cNvSpPr>
          <p:nvPr/>
        </p:nvSpPr>
        <p:spPr bwMode="auto">
          <a:xfrm>
            <a:off x="4875213" y="3798887"/>
            <a:ext cx="3352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rgbClr val="FF0000"/>
                </a:solidFill>
              </a:rPr>
              <a:t>C </a:t>
            </a:r>
            <a:r>
              <a:rPr lang="en-US" altLang="zh-CN" i="1">
                <a:solidFill>
                  <a:schemeClr val="tx2"/>
                </a:solidFill>
              </a:rPr>
              <a:t> </a:t>
            </a:r>
            <a:r>
              <a:rPr lang="zh-CN" altLang="en-US">
                <a:solidFill>
                  <a:schemeClr val="tx2"/>
                </a:solidFill>
              </a:rPr>
              <a:t>称为电容器的电容</a:t>
            </a:r>
          </a:p>
        </p:txBody>
      </p:sp>
      <p:grpSp>
        <p:nvGrpSpPr>
          <p:cNvPr id="322567" name="Group 7"/>
          <p:cNvGrpSpPr>
            <a:grpSpLocks/>
          </p:cNvGrpSpPr>
          <p:nvPr/>
        </p:nvGrpSpPr>
        <p:grpSpPr bwMode="auto">
          <a:xfrm>
            <a:off x="2635250" y="4891088"/>
            <a:ext cx="6197600" cy="985837"/>
            <a:chOff x="1648" y="2320"/>
            <a:chExt cx="3904" cy="621"/>
          </a:xfrm>
        </p:grpSpPr>
        <p:sp>
          <p:nvSpPr>
            <p:cNvPr id="33817" name="Text Box 8"/>
            <p:cNvSpPr txBox="1">
              <a:spLocks noChangeArrowheads="1"/>
            </p:cNvSpPr>
            <p:nvPr/>
          </p:nvSpPr>
          <p:spPr bwMode="auto">
            <a:xfrm>
              <a:off x="1648" y="2320"/>
              <a:ext cx="354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chemeClr val="tx2"/>
                  </a:solidFill>
                </a:rPr>
                <a:t>电容 </a:t>
              </a:r>
              <a:r>
                <a:rPr lang="en-US" altLang="zh-CN" i="1" dirty="0">
                  <a:solidFill>
                    <a:schemeClr val="tx2"/>
                  </a:solidFill>
                </a:rPr>
                <a:t>C </a:t>
              </a:r>
              <a:r>
                <a:rPr lang="zh-CN" altLang="en-US" dirty="0">
                  <a:solidFill>
                    <a:schemeClr val="tx2"/>
                  </a:solidFill>
                </a:rPr>
                <a:t>的单位：</a:t>
              </a:r>
              <a:r>
                <a:rPr lang="en-US" altLang="zh-CN" dirty="0">
                  <a:solidFill>
                    <a:schemeClr val="tx2"/>
                  </a:solidFill>
                </a:rPr>
                <a:t>F (</a:t>
              </a:r>
              <a:r>
                <a:rPr lang="zh-CN" altLang="en-US" dirty="0">
                  <a:solidFill>
                    <a:schemeClr val="tx2"/>
                  </a:solidFill>
                </a:rPr>
                <a:t>法</a:t>
              </a:r>
              <a:r>
                <a:rPr lang="en-US" altLang="zh-CN" dirty="0">
                  <a:solidFill>
                    <a:schemeClr val="tx2"/>
                  </a:solidFill>
                </a:rPr>
                <a:t>)    (Farad</a:t>
              </a:r>
              <a:r>
                <a:rPr lang="zh-CN" altLang="en-US" dirty="0">
                  <a:solidFill>
                    <a:schemeClr val="tx2"/>
                  </a:solidFill>
                </a:rPr>
                <a:t>，法拉</a:t>
              </a:r>
              <a:r>
                <a:rPr lang="en-US" altLang="zh-CN" dirty="0">
                  <a:solidFill>
                    <a:schemeClr val="tx2"/>
                  </a:solidFill>
                </a:rPr>
                <a:t>)                      </a:t>
              </a:r>
              <a:endParaRPr lang="en-US" altLang="zh-CN" dirty="0">
                <a:solidFill>
                  <a:schemeClr val="tx2"/>
                </a:solidFill>
                <a:sym typeface="Symbol" pitchFamily="18" charset="2"/>
              </a:endParaRPr>
            </a:p>
          </p:txBody>
        </p:sp>
        <p:sp>
          <p:nvSpPr>
            <p:cNvPr id="33818" name="Text Box 9"/>
            <p:cNvSpPr txBox="1">
              <a:spLocks noChangeArrowheads="1"/>
            </p:cNvSpPr>
            <p:nvPr/>
          </p:nvSpPr>
          <p:spPr bwMode="auto">
            <a:xfrm>
              <a:off x="2640" y="2653"/>
              <a:ext cx="29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rPr>
                <a:t>常用</a:t>
              </a:r>
              <a:r>
                <a:rPr lang="zh-CN" altLang="en-US">
                  <a:solidFill>
                    <a:schemeClr val="tx2"/>
                  </a:solidFill>
                  <a:sym typeface="Symbol" pitchFamily="18" charset="2"/>
                </a:rPr>
                <a:t></a:t>
              </a:r>
              <a:r>
                <a:rPr lang="en-US" altLang="zh-CN">
                  <a:solidFill>
                    <a:schemeClr val="tx2"/>
                  </a:solidFill>
                  <a:sym typeface="Symbol" pitchFamily="18" charset="2"/>
                </a:rPr>
                <a:t>F</a:t>
              </a:r>
              <a:r>
                <a:rPr lang="zh-CN" altLang="en-US">
                  <a:solidFill>
                    <a:schemeClr val="tx2"/>
                  </a:solidFill>
                  <a:sym typeface="Symbol" pitchFamily="18" charset="2"/>
                </a:rPr>
                <a:t>，</a:t>
              </a:r>
              <a:r>
                <a:rPr lang="en-US" altLang="zh-CN">
                  <a:solidFill>
                    <a:schemeClr val="tx2"/>
                  </a:solidFill>
                  <a:sym typeface="Symbol" pitchFamily="18" charset="2"/>
                </a:rPr>
                <a:t>pF</a:t>
              </a:r>
              <a:r>
                <a:rPr lang="zh-CN" altLang="en-US">
                  <a:solidFill>
                    <a:schemeClr val="tx2"/>
                  </a:solidFill>
                  <a:sym typeface="Symbol" pitchFamily="18" charset="2"/>
                </a:rPr>
                <a:t>等表示。</a:t>
              </a:r>
            </a:p>
          </p:txBody>
        </p:sp>
      </p:grpSp>
      <p:sp>
        <p:nvSpPr>
          <p:cNvPr id="33798" name="Text Box 11"/>
          <p:cNvSpPr txBox="1">
            <a:spLocks noChangeArrowheads="1"/>
          </p:cNvSpPr>
          <p:nvPr/>
        </p:nvSpPr>
        <p:spPr bwMode="auto">
          <a:xfrm>
            <a:off x="304800" y="728663"/>
            <a:ext cx="21320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a:solidFill>
                  <a:srgbClr val="A50021"/>
                </a:solidFill>
              </a:rPr>
              <a:t>1</a:t>
            </a:r>
            <a:r>
              <a:rPr lang="zh-CN" altLang="en-US">
                <a:solidFill>
                  <a:srgbClr val="A50021"/>
                </a:solidFill>
              </a:rPr>
              <a:t>、</a:t>
            </a:r>
            <a:r>
              <a:rPr lang="zh-CN" altLang="zh-CN">
                <a:solidFill>
                  <a:srgbClr val="A50021"/>
                </a:solidFill>
              </a:rPr>
              <a:t>元件特性</a:t>
            </a:r>
            <a:endParaRPr lang="zh-CN" altLang="en-US">
              <a:solidFill>
                <a:srgbClr val="A50021"/>
              </a:solidFill>
            </a:endParaRPr>
          </a:p>
        </p:txBody>
      </p:sp>
      <p:grpSp>
        <p:nvGrpSpPr>
          <p:cNvPr id="33799" name="Group 12"/>
          <p:cNvGrpSpPr>
            <a:grpSpLocks/>
          </p:cNvGrpSpPr>
          <p:nvPr/>
        </p:nvGrpSpPr>
        <p:grpSpPr bwMode="auto">
          <a:xfrm>
            <a:off x="609600" y="1643063"/>
            <a:ext cx="1997075" cy="2636837"/>
            <a:chOff x="366" y="490"/>
            <a:chExt cx="1258" cy="1661"/>
          </a:xfrm>
        </p:grpSpPr>
        <p:sp>
          <p:nvSpPr>
            <p:cNvPr id="33800" name="Text Box 13"/>
            <p:cNvSpPr txBox="1">
              <a:spLocks noChangeArrowheads="1"/>
            </p:cNvSpPr>
            <p:nvPr/>
          </p:nvSpPr>
          <p:spPr bwMode="auto">
            <a:xfrm>
              <a:off x="1380" y="1419"/>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C</a:t>
              </a:r>
            </a:p>
          </p:txBody>
        </p:sp>
        <p:sp>
          <p:nvSpPr>
            <p:cNvPr id="33801" name="Text Box 14"/>
            <p:cNvSpPr txBox="1">
              <a:spLocks noChangeArrowheads="1"/>
            </p:cNvSpPr>
            <p:nvPr/>
          </p:nvSpPr>
          <p:spPr bwMode="auto">
            <a:xfrm>
              <a:off x="578" y="490"/>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i</a:t>
              </a:r>
            </a:p>
          </p:txBody>
        </p:sp>
        <p:sp>
          <p:nvSpPr>
            <p:cNvPr id="33802" name="Text Box 15"/>
            <p:cNvSpPr txBox="1">
              <a:spLocks noChangeArrowheads="1"/>
            </p:cNvSpPr>
            <p:nvPr/>
          </p:nvSpPr>
          <p:spPr bwMode="auto">
            <a:xfrm>
              <a:off x="377" y="1351"/>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v</a:t>
              </a:r>
            </a:p>
          </p:txBody>
        </p:sp>
        <p:sp>
          <p:nvSpPr>
            <p:cNvPr id="33803" name="Rectangle 16"/>
            <p:cNvSpPr>
              <a:spLocks noChangeArrowheads="1"/>
            </p:cNvSpPr>
            <p:nvPr/>
          </p:nvSpPr>
          <p:spPr bwMode="auto">
            <a:xfrm>
              <a:off x="366" y="956"/>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sp>
          <p:nvSpPr>
            <p:cNvPr id="33804" name="Line 17"/>
            <p:cNvSpPr>
              <a:spLocks noChangeShapeType="1"/>
            </p:cNvSpPr>
            <p:nvPr/>
          </p:nvSpPr>
          <p:spPr bwMode="auto">
            <a:xfrm rot="5400000" flipH="1" flipV="1">
              <a:off x="776" y="1203"/>
              <a:ext cx="5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5" name="Line 18"/>
            <p:cNvSpPr>
              <a:spLocks noChangeShapeType="1"/>
            </p:cNvSpPr>
            <p:nvPr/>
          </p:nvSpPr>
          <p:spPr bwMode="auto">
            <a:xfrm rot="5400000">
              <a:off x="833" y="1874"/>
              <a:ext cx="4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6" name="Oval 19"/>
            <p:cNvSpPr>
              <a:spLocks noChangeArrowheads="1"/>
            </p:cNvSpPr>
            <p:nvPr/>
          </p:nvSpPr>
          <p:spPr bwMode="auto">
            <a:xfrm rot="5400000">
              <a:off x="487" y="865"/>
              <a:ext cx="91" cy="91"/>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3807" name="Oval 20"/>
            <p:cNvSpPr>
              <a:spLocks noChangeArrowheads="1"/>
            </p:cNvSpPr>
            <p:nvPr/>
          </p:nvSpPr>
          <p:spPr bwMode="auto">
            <a:xfrm rot="5400000">
              <a:off x="487" y="2060"/>
              <a:ext cx="91" cy="91"/>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3808" name="Rectangle 21"/>
            <p:cNvSpPr>
              <a:spLocks noChangeArrowheads="1"/>
            </p:cNvSpPr>
            <p:nvPr/>
          </p:nvSpPr>
          <p:spPr bwMode="auto">
            <a:xfrm>
              <a:off x="366" y="1735"/>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sp>
          <p:nvSpPr>
            <p:cNvPr id="33809" name="Line 22"/>
            <p:cNvSpPr>
              <a:spLocks noChangeShapeType="1"/>
            </p:cNvSpPr>
            <p:nvPr/>
          </p:nvSpPr>
          <p:spPr bwMode="auto">
            <a:xfrm>
              <a:off x="578" y="2108"/>
              <a:ext cx="4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0" name="Line 23"/>
            <p:cNvSpPr>
              <a:spLocks noChangeShapeType="1"/>
            </p:cNvSpPr>
            <p:nvPr/>
          </p:nvSpPr>
          <p:spPr bwMode="auto">
            <a:xfrm>
              <a:off x="578" y="911"/>
              <a:ext cx="4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1" name="Line 24"/>
            <p:cNvSpPr>
              <a:spLocks noChangeShapeType="1"/>
            </p:cNvSpPr>
            <p:nvPr/>
          </p:nvSpPr>
          <p:spPr bwMode="auto">
            <a:xfrm>
              <a:off x="541" y="778"/>
              <a:ext cx="266" cy="0"/>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812" name="Group 25"/>
            <p:cNvGrpSpPr>
              <a:grpSpLocks/>
            </p:cNvGrpSpPr>
            <p:nvPr/>
          </p:nvGrpSpPr>
          <p:grpSpPr bwMode="auto">
            <a:xfrm rot="-5400000">
              <a:off x="1001" y="1297"/>
              <a:ext cx="144" cy="539"/>
              <a:chOff x="3053" y="3083"/>
              <a:chExt cx="211" cy="576"/>
            </a:xfrm>
          </p:grpSpPr>
          <p:sp>
            <p:nvSpPr>
              <p:cNvPr id="33815" name="Line 26"/>
              <p:cNvSpPr>
                <a:spLocks noChangeShapeType="1"/>
              </p:cNvSpPr>
              <p:nvPr/>
            </p:nvSpPr>
            <p:spPr bwMode="auto">
              <a:xfrm>
                <a:off x="3053"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3816" name="Line 27"/>
              <p:cNvSpPr>
                <a:spLocks noChangeShapeType="1"/>
              </p:cNvSpPr>
              <p:nvPr/>
            </p:nvSpPr>
            <p:spPr bwMode="auto">
              <a:xfrm>
                <a:off x="3264"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33813" name="Rectangle 28"/>
            <p:cNvSpPr>
              <a:spLocks noChangeArrowheads="1"/>
            </p:cNvSpPr>
            <p:nvPr/>
          </p:nvSpPr>
          <p:spPr bwMode="auto">
            <a:xfrm>
              <a:off x="1116" y="1206"/>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sp>
          <p:nvSpPr>
            <p:cNvPr id="33814" name="Rectangle 29"/>
            <p:cNvSpPr>
              <a:spLocks noChangeArrowheads="1"/>
            </p:cNvSpPr>
            <p:nvPr/>
          </p:nvSpPr>
          <p:spPr bwMode="auto">
            <a:xfrm>
              <a:off x="1116" y="1644"/>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grpSp>
      <p:sp>
        <p:nvSpPr>
          <p:cNvPr id="33797" name="Text Box 30"/>
          <p:cNvSpPr txBox="1">
            <a:spLocks noChangeArrowheads="1"/>
          </p:cNvSpPr>
          <p:nvPr/>
        </p:nvSpPr>
        <p:spPr bwMode="auto">
          <a:xfrm>
            <a:off x="2212975" y="1162050"/>
            <a:ext cx="6005513"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dirty="0"/>
              <a:t>电容是一种能储存电荷或电场能量的元件。</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barn(inVertical)">
                                      <p:cBhvr>
                                        <p:cTn id="7" dur="500"/>
                                        <p:tgtEl>
                                          <p:spTgt spid="3379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3799"/>
                                        </p:tgtEl>
                                        <p:attrNameLst>
                                          <p:attrName>style.visibility</p:attrName>
                                        </p:attrNameLst>
                                      </p:cBhvr>
                                      <p:to>
                                        <p:strVal val="visible"/>
                                      </p:to>
                                    </p:set>
                                    <p:animEffect transition="in" filter="barn(inVertical)">
                                      <p:cBhvr>
                                        <p:cTn id="12" dur="500"/>
                                        <p:tgtEl>
                                          <p:spTgt spid="3379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3819">
                                            <p:txEl>
                                              <p:pRg st="0" end="0"/>
                                            </p:txEl>
                                          </p:spTgt>
                                        </p:tgtEl>
                                        <p:attrNameLst>
                                          <p:attrName>style.visibility</p:attrName>
                                        </p:attrNameLst>
                                      </p:cBhvr>
                                      <p:to>
                                        <p:strVal val="visible"/>
                                      </p:to>
                                    </p:set>
                                    <p:animEffect transition="in" filter="barn(inVertical)">
                                      <p:cBhvr>
                                        <p:cTn id="17" dur="500"/>
                                        <p:tgtEl>
                                          <p:spTgt spid="3381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3819">
                                            <p:txEl>
                                              <p:pRg st="1" end="1"/>
                                            </p:txEl>
                                          </p:spTgt>
                                        </p:tgtEl>
                                        <p:attrNameLst>
                                          <p:attrName>style.visibility</p:attrName>
                                        </p:attrNameLst>
                                      </p:cBhvr>
                                      <p:to>
                                        <p:strVal val="visible"/>
                                      </p:to>
                                    </p:set>
                                    <p:animEffect transition="in" filter="barn(inVertical)">
                                      <p:cBhvr>
                                        <p:cTn id="22" dur="500"/>
                                        <p:tgtEl>
                                          <p:spTgt spid="33819">
                                            <p:txEl>
                                              <p:pRg st="1" end="1"/>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33819">
                                            <p:txEl>
                                              <p:pRg st="2" end="2"/>
                                            </p:txEl>
                                          </p:spTgt>
                                        </p:tgtEl>
                                        <p:attrNameLst>
                                          <p:attrName>style.visibility</p:attrName>
                                        </p:attrNameLst>
                                      </p:cBhvr>
                                      <p:to>
                                        <p:strVal val="visible"/>
                                      </p:to>
                                    </p:set>
                                    <p:animEffect transition="in" filter="barn(inVertical)">
                                      <p:cBhvr>
                                        <p:cTn id="25" dur="500"/>
                                        <p:tgtEl>
                                          <p:spTgt spid="3381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33820"/>
                                        </p:tgtEl>
                                        <p:attrNameLst>
                                          <p:attrName>style.visibility</p:attrName>
                                        </p:attrNameLst>
                                      </p:cBhvr>
                                      <p:to>
                                        <p:strVal val="visible"/>
                                      </p:to>
                                    </p:set>
                                    <p:animEffect transition="in" filter="barn(inVertical)">
                                      <p:cBhvr>
                                        <p:cTn id="30" dur="500"/>
                                        <p:tgtEl>
                                          <p:spTgt spid="33820"/>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33821"/>
                                        </p:tgtEl>
                                        <p:attrNameLst>
                                          <p:attrName>style.visibility</p:attrName>
                                        </p:attrNameLst>
                                      </p:cBhvr>
                                      <p:to>
                                        <p:strVal val="visible"/>
                                      </p:to>
                                    </p:set>
                                    <p:animEffect transition="in" filter="barn(inVertical)">
                                      <p:cBhvr>
                                        <p:cTn id="33" dur="500"/>
                                        <p:tgtEl>
                                          <p:spTgt spid="33821"/>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322567"/>
                                        </p:tgtEl>
                                        <p:attrNameLst>
                                          <p:attrName>style.visibility</p:attrName>
                                        </p:attrNameLst>
                                      </p:cBhvr>
                                      <p:to>
                                        <p:strVal val="visible"/>
                                      </p:to>
                                    </p:set>
                                    <p:animEffect transition="in" filter="barn(inVertical)">
                                      <p:cBhvr>
                                        <p:cTn id="38" dur="500"/>
                                        <p:tgtEl>
                                          <p:spTgt spid="322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21" grpId="0"/>
      <p:bldP spid="3379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46" name="Text Box 3"/>
          <p:cNvSpPr txBox="1">
            <a:spLocks noChangeArrowheads="1"/>
          </p:cNvSpPr>
          <p:nvPr/>
        </p:nvSpPr>
        <p:spPr bwMode="auto">
          <a:xfrm>
            <a:off x="414338" y="438150"/>
            <a:ext cx="25352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chemeClr val="tx2"/>
                </a:solidFill>
              </a:rPr>
              <a:t>库伏（</a:t>
            </a:r>
            <a:r>
              <a:rPr lang="en-US" altLang="zh-CN" i="1" dirty="0" err="1">
                <a:solidFill>
                  <a:srgbClr val="FF0000"/>
                </a:solidFill>
                <a:sym typeface="Symbol" pitchFamily="18" charset="2"/>
              </a:rPr>
              <a:t>q</a:t>
            </a:r>
            <a:r>
              <a:rPr lang="en-US" altLang="zh-CN" dirty="0" err="1">
                <a:solidFill>
                  <a:srgbClr val="FF0000"/>
                </a:solidFill>
                <a:sym typeface="Symbol" pitchFamily="18" charset="2"/>
              </a:rPr>
              <a:t>~</a:t>
            </a:r>
            <a:r>
              <a:rPr lang="en-US" altLang="zh-CN" i="1" dirty="0" err="1">
                <a:solidFill>
                  <a:srgbClr val="FF0000"/>
                </a:solidFill>
                <a:sym typeface="Symbol" pitchFamily="18" charset="2"/>
              </a:rPr>
              <a:t>v</a:t>
            </a:r>
            <a:r>
              <a:rPr lang="zh-CN" altLang="en-US" dirty="0">
                <a:sym typeface="Symbol" pitchFamily="18" charset="2"/>
              </a:rPr>
              <a:t>）</a:t>
            </a:r>
            <a:r>
              <a:rPr lang="zh-CN" altLang="en-US" i="1" dirty="0">
                <a:solidFill>
                  <a:schemeClr val="tx2"/>
                </a:solidFill>
                <a:sym typeface="Symbol" pitchFamily="18" charset="2"/>
              </a:rPr>
              <a:t> </a:t>
            </a:r>
            <a:r>
              <a:rPr lang="zh-CN" altLang="en-US" dirty="0">
                <a:solidFill>
                  <a:schemeClr val="tx2"/>
                </a:solidFill>
                <a:sym typeface="Symbol" pitchFamily="18" charset="2"/>
              </a:rPr>
              <a:t>特性</a:t>
            </a:r>
            <a:endParaRPr lang="zh-CN" altLang="en-US" dirty="0">
              <a:solidFill>
                <a:schemeClr val="tx2"/>
              </a:solidFill>
            </a:endParaRPr>
          </a:p>
        </p:txBody>
      </p:sp>
      <p:sp>
        <p:nvSpPr>
          <p:cNvPr id="34847" name="Rectangle 4"/>
          <p:cNvSpPr>
            <a:spLocks noChangeArrowheads="1"/>
          </p:cNvSpPr>
          <p:nvPr/>
        </p:nvSpPr>
        <p:spPr bwMode="auto">
          <a:xfrm>
            <a:off x="5499101" y="800100"/>
            <a:ext cx="27320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sym typeface="Symbol" pitchFamily="18" charset="2"/>
              </a:rPr>
              <a:t>C  </a:t>
            </a:r>
            <a:r>
              <a:rPr lang="en-US" altLang="zh-CN" dirty="0">
                <a:solidFill>
                  <a:schemeClr val="tx2"/>
                </a:solidFill>
                <a:sym typeface="Symbol" pitchFamily="18" charset="2"/>
              </a:rPr>
              <a:t>  </a:t>
            </a:r>
            <a:r>
              <a:rPr lang="en-US" altLang="zh-CN" dirty="0" err="1">
                <a:solidFill>
                  <a:schemeClr val="tx2"/>
                </a:solidFill>
                <a:sym typeface="Symbol" pitchFamily="18" charset="2"/>
              </a:rPr>
              <a:t>tg</a:t>
            </a:r>
            <a:r>
              <a:rPr lang="en-US" altLang="zh-CN" i="1" dirty="0">
                <a:solidFill>
                  <a:schemeClr val="tx2"/>
                </a:solidFill>
                <a:sym typeface="Symbol" pitchFamily="18" charset="2"/>
              </a:rPr>
              <a:t></a:t>
            </a:r>
            <a:endParaRPr lang="en-US" altLang="zh-CN" dirty="0">
              <a:solidFill>
                <a:schemeClr val="tx2"/>
              </a:solidFill>
              <a:sym typeface="Symbol" pitchFamily="18" charset="2"/>
            </a:endParaRPr>
          </a:p>
        </p:txBody>
      </p:sp>
      <p:grpSp>
        <p:nvGrpSpPr>
          <p:cNvPr id="34848" name="Group 5"/>
          <p:cNvGrpSpPr>
            <a:grpSpLocks/>
          </p:cNvGrpSpPr>
          <p:nvPr/>
        </p:nvGrpSpPr>
        <p:grpSpPr bwMode="auto">
          <a:xfrm>
            <a:off x="3830639" y="28576"/>
            <a:ext cx="1858963" cy="2028826"/>
            <a:chOff x="1837" y="546"/>
            <a:chExt cx="1171" cy="1278"/>
          </a:xfrm>
        </p:grpSpPr>
        <p:sp>
          <p:nvSpPr>
            <p:cNvPr id="34849" name="Line 6"/>
            <p:cNvSpPr>
              <a:spLocks noChangeShapeType="1"/>
            </p:cNvSpPr>
            <p:nvPr/>
          </p:nvSpPr>
          <p:spPr bwMode="auto">
            <a:xfrm flipV="1">
              <a:off x="1874" y="960"/>
              <a:ext cx="816" cy="72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4850" name="Group 7"/>
            <p:cNvGrpSpPr>
              <a:grpSpLocks/>
            </p:cNvGrpSpPr>
            <p:nvPr/>
          </p:nvGrpSpPr>
          <p:grpSpPr bwMode="auto">
            <a:xfrm>
              <a:off x="1837" y="546"/>
              <a:ext cx="1171" cy="1278"/>
              <a:chOff x="336" y="1698"/>
              <a:chExt cx="1171" cy="1278"/>
            </a:xfrm>
          </p:grpSpPr>
          <p:grpSp>
            <p:nvGrpSpPr>
              <p:cNvPr id="34853" name="Group 8"/>
              <p:cNvGrpSpPr>
                <a:grpSpLocks/>
              </p:cNvGrpSpPr>
              <p:nvPr/>
            </p:nvGrpSpPr>
            <p:grpSpPr bwMode="auto">
              <a:xfrm>
                <a:off x="336" y="1872"/>
                <a:ext cx="1056" cy="1104"/>
                <a:chOff x="336" y="1872"/>
                <a:chExt cx="1056" cy="1104"/>
              </a:xfrm>
            </p:grpSpPr>
            <p:sp>
              <p:nvSpPr>
                <p:cNvPr id="34857" name="Line 9"/>
                <p:cNvSpPr>
                  <a:spLocks noChangeShapeType="1"/>
                </p:cNvSpPr>
                <p:nvPr/>
              </p:nvSpPr>
              <p:spPr bwMode="auto">
                <a:xfrm>
                  <a:off x="336" y="2544"/>
                  <a:ext cx="1056" cy="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8" name="Line 10"/>
                <p:cNvSpPr>
                  <a:spLocks noChangeShapeType="1"/>
                </p:cNvSpPr>
                <p:nvPr/>
              </p:nvSpPr>
              <p:spPr bwMode="auto">
                <a:xfrm flipV="1">
                  <a:off x="720" y="1872"/>
                  <a:ext cx="0" cy="1104"/>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4854" name="Text Box 11"/>
              <p:cNvSpPr txBox="1">
                <a:spLocks noChangeArrowheads="1"/>
              </p:cNvSpPr>
              <p:nvPr/>
            </p:nvSpPr>
            <p:spPr bwMode="auto">
              <a:xfrm>
                <a:off x="474" y="1698"/>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sym typeface="Symbol" pitchFamily="18" charset="2"/>
                  </a:rPr>
                  <a:t>q</a:t>
                </a:r>
                <a:endParaRPr lang="en-US" altLang="zh-CN" dirty="0">
                  <a:solidFill>
                    <a:schemeClr val="tx2"/>
                  </a:solidFill>
                </a:endParaRPr>
              </a:p>
            </p:txBody>
          </p:sp>
          <p:sp>
            <p:nvSpPr>
              <p:cNvPr id="34855" name="Text Box 12"/>
              <p:cNvSpPr txBox="1">
                <a:spLocks noChangeArrowheads="1"/>
              </p:cNvSpPr>
              <p:nvPr/>
            </p:nvSpPr>
            <p:spPr bwMode="auto">
              <a:xfrm>
                <a:off x="1306" y="2513"/>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rPr>
                  <a:t>v</a:t>
                </a:r>
                <a:endParaRPr lang="en-US" altLang="zh-CN" dirty="0">
                  <a:solidFill>
                    <a:schemeClr val="tx2"/>
                  </a:solidFill>
                </a:endParaRPr>
              </a:p>
            </p:txBody>
          </p:sp>
          <p:sp>
            <p:nvSpPr>
              <p:cNvPr id="34856" name="Text Box 13"/>
              <p:cNvSpPr txBox="1">
                <a:spLocks noChangeArrowheads="1"/>
              </p:cNvSpPr>
              <p:nvPr/>
            </p:nvSpPr>
            <p:spPr bwMode="auto">
              <a:xfrm>
                <a:off x="710" y="2520"/>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rPr>
                  <a:t>0</a:t>
                </a:r>
              </a:p>
            </p:txBody>
          </p:sp>
        </p:grpSp>
        <p:sp>
          <p:nvSpPr>
            <p:cNvPr id="34851" name="Freeform 14"/>
            <p:cNvSpPr>
              <a:spLocks/>
            </p:cNvSpPr>
            <p:nvPr/>
          </p:nvSpPr>
          <p:spPr bwMode="auto">
            <a:xfrm>
              <a:off x="2357" y="1275"/>
              <a:ext cx="55" cy="117"/>
            </a:xfrm>
            <a:custGeom>
              <a:avLst/>
              <a:gdLst>
                <a:gd name="T0" fmla="*/ 0 w 55"/>
                <a:gd name="T1" fmla="*/ 0 h 117"/>
                <a:gd name="T2" fmla="*/ 48 w 55"/>
                <a:gd name="T3" fmla="*/ 45 h 117"/>
                <a:gd name="T4" fmla="*/ 45 w 55"/>
                <a:gd name="T5" fmla="*/ 117 h 117"/>
                <a:gd name="T6" fmla="*/ 0 60000 65536"/>
                <a:gd name="T7" fmla="*/ 0 60000 65536"/>
                <a:gd name="T8" fmla="*/ 0 60000 65536"/>
              </a:gdLst>
              <a:ahLst/>
              <a:cxnLst>
                <a:cxn ang="T6">
                  <a:pos x="T0" y="T1"/>
                </a:cxn>
                <a:cxn ang="T7">
                  <a:pos x="T2" y="T3"/>
                </a:cxn>
                <a:cxn ang="T8">
                  <a:pos x="T4" y="T5"/>
                </a:cxn>
              </a:cxnLst>
              <a:rect l="0" t="0" r="r" b="b"/>
              <a:pathLst>
                <a:path w="55" h="117">
                  <a:moveTo>
                    <a:pt x="0" y="0"/>
                  </a:moveTo>
                  <a:cubicBezTo>
                    <a:pt x="8" y="7"/>
                    <a:pt x="41" y="25"/>
                    <a:pt x="48" y="45"/>
                  </a:cubicBezTo>
                  <a:cubicBezTo>
                    <a:pt x="55" y="65"/>
                    <a:pt x="46" y="102"/>
                    <a:pt x="45" y="117"/>
                  </a:cubicBezTo>
                </a:path>
              </a:pathLst>
            </a:custGeom>
            <a:noFill/>
            <a:ln w="127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852" name="Text Box 15"/>
            <p:cNvSpPr txBox="1">
              <a:spLocks noChangeArrowheads="1"/>
            </p:cNvSpPr>
            <p:nvPr/>
          </p:nvSpPr>
          <p:spPr bwMode="auto">
            <a:xfrm>
              <a:off x="2210" y="1140"/>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rgbClr val="000000"/>
                  </a:solidFill>
                  <a:sym typeface="Symbol" pitchFamily="18" charset="2"/>
                </a:rPr>
                <a:t>  </a:t>
              </a:r>
              <a:endParaRPr lang="en-US" altLang="zh-CN" dirty="0">
                <a:solidFill>
                  <a:srgbClr val="000000"/>
                </a:solidFill>
              </a:endParaRPr>
            </a:p>
          </p:txBody>
        </p:sp>
      </p:grpSp>
      <p:sp>
        <p:nvSpPr>
          <p:cNvPr id="34827" name="Text Box 18"/>
          <p:cNvSpPr txBox="1">
            <a:spLocks noChangeArrowheads="1"/>
          </p:cNvSpPr>
          <p:nvPr/>
        </p:nvSpPr>
        <p:spPr bwMode="auto">
          <a:xfrm>
            <a:off x="314325" y="2070100"/>
            <a:ext cx="4645309"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a:solidFill>
                  <a:srgbClr val="A50021"/>
                </a:solidFill>
              </a:rPr>
              <a:t>2</a:t>
            </a:r>
            <a:r>
              <a:rPr lang="zh-CN" altLang="en-US" dirty="0">
                <a:solidFill>
                  <a:srgbClr val="A50021"/>
                </a:solidFill>
              </a:rPr>
              <a:t>、线性电容的电压、电流关系</a:t>
            </a:r>
          </a:p>
        </p:txBody>
      </p:sp>
      <p:grpSp>
        <p:nvGrpSpPr>
          <p:cNvPr id="34828" name="Group 19"/>
          <p:cNvGrpSpPr>
            <a:grpSpLocks/>
          </p:cNvGrpSpPr>
          <p:nvPr/>
        </p:nvGrpSpPr>
        <p:grpSpPr bwMode="auto">
          <a:xfrm>
            <a:off x="886479" y="2736850"/>
            <a:ext cx="2035767" cy="2636838"/>
            <a:chOff x="567" y="1627"/>
            <a:chExt cx="1256" cy="1661"/>
          </a:xfrm>
        </p:grpSpPr>
        <p:sp>
          <p:nvSpPr>
            <p:cNvPr id="34829" name="Text Box 20"/>
            <p:cNvSpPr txBox="1">
              <a:spLocks noChangeArrowheads="1"/>
            </p:cNvSpPr>
            <p:nvPr/>
          </p:nvSpPr>
          <p:spPr bwMode="auto">
            <a:xfrm>
              <a:off x="1579" y="2556"/>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C</a:t>
              </a:r>
            </a:p>
          </p:txBody>
        </p:sp>
        <p:sp>
          <p:nvSpPr>
            <p:cNvPr id="34830" name="Text Box 21"/>
            <p:cNvSpPr txBox="1">
              <a:spLocks noChangeArrowheads="1"/>
            </p:cNvSpPr>
            <p:nvPr/>
          </p:nvSpPr>
          <p:spPr bwMode="auto">
            <a:xfrm>
              <a:off x="778" y="1627"/>
              <a:ext cx="1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i</a:t>
              </a:r>
            </a:p>
          </p:txBody>
        </p:sp>
        <p:sp>
          <p:nvSpPr>
            <p:cNvPr id="34831" name="Text Box 22"/>
            <p:cNvSpPr txBox="1">
              <a:spLocks noChangeArrowheads="1"/>
            </p:cNvSpPr>
            <p:nvPr/>
          </p:nvSpPr>
          <p:spPr bwMode="auto">
            <a:xfrm>
              <a:off x="578" y="2488"/>
              <a:ext cx="19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v</a:t>
              </a:r>
            </a:p>
          </p:txBody>
        </p:sp>
        <p:sp>
          <p:nvSpPr>
            <p:cNvPr id="34832" name="Rectangle 23"/>
            <p:cNvSpPr>
              <a:spLocks noChangeArrowheads="1"/>
            </p:cNvSpPr>
            <p:nvPr/>
          </p:nvSpPr>
          <p:spPr bwMode="auto">
            <a:xfrm>
              <a:off x="567" y="2093"/>
              <a:ext cx="2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sp>
          <p:nvSpPr>
            <p:cNvPr id="34833" name="Line 24"/>
            <p:cNvSpPr>
              <a:spLocks noChangeShapeType="1"/>
            </p:cNvSpPr>
            <p:nvPr/>
          </p:nvSpPr>
          <p:spPr bwMode="auto">
            <a:xfrm rot="5400000" flipH="1" flipV="1">
              <a:off x="975" y="2340"/>
              <a:ext cx="5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4" name="Line 25"/>
            <p:cNvSpPr>
              <a:spLocks noChangeShapeType="1"/>
            </p:cNvSpPr>
            <p:nvPr/>
          </p:nvSpPr>
          <p:spPr bwMode="auto">
            <a:xfrm rot="5400000">
              <a:off x="1032" y="3011"/>
              <a:ext cx="4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5" name="Oval 26"/>
            <p:cNvSpPr>
              <a:spLocks noChangeArrowheads="1"/>
            </p:cNvSpPr>
            <p:nvPr/>
          </p:nvSpPr>
          <p:spPr bwMode="auto">
            <a:xfrm rot="5400000">
              <a:off x="686" y="2002"/>
              <a:ext cx="91" cy="91"/>
            </a:xfrm>
            <a:prstGeom prst="ellipse">
              <a:avLst/>
            </a:prstGeom>
            <a:noFill/>
            <a:ln w="19050">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4836" name="Oval 27"/>
            <p:cNvSpPr>
              <a:spLocks noChangeArrowheads="1"/>
            </p:cNvSpPr>
            <p:nvPr/>
          </p:nvSpPr>
          <p:spPr bwMode="auto">
            <a:xfrm rot="5400000">
              <a:off x="686" y="3197"/>
              <a:ext cx="91" cy="91"/>
            </a:xfrm>
            <a:prstGeom prst="ellipse">
              <a:avLst/>
            </a:prstGeom>
            <a:noFill/>
            <a:ln w="19050">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4837" name="Rectangle 28"/>
            <p:cNvSpPr>
              <a:spLocks noChangeArrowheads="1"/>
            </p:cNvSpPr>
            <p:nvPr/>
          </p:nvSpPr>
          <p:spPr bwMode="auto">
            <a:xfrm>
              <a:off x="567" y="2872"/>
              <a:ext cx="2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sp>
          <p:nvSpPr>
            <p:cNvPr id="34838" name="Line 29"/>
            <p:cNvSpPr>
              <a:spLocks noChangeShapeType="1"/>
            </p:cNvSpPr>
            <p:nvPr/>
          </p:nvSpPr>
          <p:spPr bwMode="auto">
            <a:xfrm>
              <a:off x="777" y="3245"/>
              <a:ext cx="4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9" name="Line 30"/>
            <p:cNvSpPr>
              <a:spLocks noChangeShapeType="1"/>
            </p:cNvSpPr>
            <p:nvPr/>
          </p:nvSpPr>
          <p:spPr bwMode="auto">
            <a:xfrm>
              <a:off x="777" y="2048"/>
              <a:ext cx="4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0" name="Line 31"/>
            <p:cNvSpPr>
              <a:spLocks noChangeShapeType="1"/>
            </p:cNvSpPr>
            <p:nvPr/>
          </p:nvSpPr>
          <p:spPr bwMode="auto">
            <a:xfrm>
              <a:off x="740" y="1915"/>
              <a:ext cx="266" cy="0"/>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4841" name="Group 32"/>
            <p:cNvGrpSpPr>
              <a:grpSpLocks/>
            </p:cNvGrpSpPr>
            <p:nvPr/>
          </p:nvGrpSpPr>
          <p:grpSpPr bwMode="auto">
            <a:xfrm rot="-5400000">
              <a:off x="1200" y="2434"/>
              <a:ext cx="144" cy="539"/>
              <a:chOff x="3053" y="3083"/>
              <a:chExt cx="211" cy="576"/>
            </a:xfrm>
          </p:grpSpPr>
          <p:sp>
            <p:nvSpPr>
              <p:cNvPr id="34844" name="Line 33"/>
              <p:cNvSpPr>
                <a:spLocks noChangeShapeType="1"/>
              </p:cNvSpPr>
              <p:nvPr/>
            </p:nvSpPr>
            <p:spPr bwMode="auto">
              <a:xfrm>
                <a:off x="3053"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845" name="Line 34"/>
              <p:cNvSpPr>
                <a:spLocks noChangeShapeType="1"/>
              </p:cNvSpPr>
              <p:nvPr/>
            </p:nvSpPr>
            <p:spPr bwMode="auto">
              <a:xfrm>
                <a:off x="3264"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34842" name="Rectangle 35"/>
            <p:cNvSpPr>
              <a:spLocks noChangeArrowheads="1"/>
            </p:cNvSpPr>
            <p:nvPr/>
          </p:nvSpPr>
          <p:spPr bwMode="auto">
            <a:xfrm>
              <a:off x="1317" y="2343"/>
              <a:ext cx="2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sp>
          <p:nvSpPr>
            <p:cNvPr id="34843" name="Rectangle 36"/>
            <p:cNvSpPr>
              <a:spLocks noChangeArrowheads="1"/>
            </p:cNvSpPr>
            <p:nvPr/>
          </p:nvSpPr>
          <p:spPr bwMode="auto">
            <a:xfrm>
              <a:off x="1317" y="2781"/>
              <a:ext cx="2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grpSp>
      <p:graphicFrame>
        <p:nvGraphicFramePr>
          <p:cNvPr id="34826" name="Object 37"/>
          <p:cNvGraphicFramePr>
            <a:graphicFrameLocks noChangeAspect="1"/>
          </p:cNvGraphicFramePr>
          <p:nvPr/>
        </p:nvGraphicFramePr>
        <p:xfrm>
          <a:off x="4163805" y="2562225"/>
          <a:ext cx="1708358" cy="766763"/>
        </p:xfrm>
        <a:graphic>
          <a:graphicData uri="http://schemas.openxmlformats.org/presentationml/2006/ole">
            <mc:AlternateContent xmlns:mc="http://schemas.openxmlformats.org/markup-compatibility/2006">
              <mc:Choice xmlns:v="urn:schemas-microsoft-com:vml" Requires="v">
                <p:oleObj spid="_x0000_s34991" name="Equation" r:id="rId3" imgW="774364" imgH="355446" progId="Equation.DSMT4">
                  <p:embed/>
                </p:oleObj>
              </mc:Choice>
              <mc:Fallback>
                <p:oleObj name="Equation" r:id="rId3" imgW="774364" imgH="355446" progId="Equation.DSMT4">
                  <p:embed/>
                  <p:pic>
                    <p:nvPicPr>
                      <p:cNvPr id="0"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3805" y="2562225"/>
                        <a:ext cx="1708358" cy="766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0" name="Text Box 38"/>
          <p:cNvSpPr txBox="1">
            <a:spLocks noChangeArrowheads="1"/>
          </p:cNvSpPr>
          <p:nvPr/>
        </p:nvSpPr>
        <p:spPr bwMode="auto">
          <a:xfrm>
            <a:off x="3565525" y="369570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endParaRPr lang="zh-CN" altLang="zh-CN">
              <a:solidFill>
                <a:schemeClr val="tx2"/>
              </a:solidFill>
              <a:sym typeface="Symbol" pitchFamily="18" charset="2"/>
            </a:endParaRPr>
          </a:p>
        </p:txBody>
      </p:sp>
      <p:sp>
        <p:nvSpPr>
          <p:cNvPr id="34823" name="Text Box 41"/>
          <p:cNvSpPr txBox="1">
            <a:spLocks noChangeArrowheads="1"/>
          </p:cNvSpPr>
          <p:nvPr/>
        </p:nvSpPr>
        <p:spPr bwMode="auto">
          <a:xfrm>
            <a:off x="3143250" y="3579019"/>
            <a:ext cx="5202237"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57200" indent="-457200" eaLnBrk="0" hangingPunct="0">
              <a:defRPr kumimoji="1" sz="2400" b="1">
                <a:solidFill>
                  <a:schemeClr val="tx1"/>
                </a:solidFill>
                <a:latin typeface="Times New Roman" pitchFamily="18" charset="0"/>
                <a:ea typeface="宋体" charset="-122"/>
              </a:defRPr>
            </a:lvl1pPr>
            <a:lvl2pPr marL="914400" indent="-457200" eaLnBrk="0" hangingPunct="0">
              <a:defRPr kumimoji="1" sz="2400" b="1">
                <a:solidFill>
                  <a:schemeClr val="tx1"/>
                </a:solidFill>
                <a:latin typeface="Times New Roman" pitchFamily="18" charset="0"/>
                <a:ea typeface="宋体" charset="-122"/>
              </a:defRPr>
            </a:lvl2pPr>
            <a:lvl3pPr marL="1371600" indent="-457200" eaLnBrk="0" hangingPunct="0">
              <a:defRPr kumimoji="1" sz="2400" b="1">
                <a:solidFill>
                  <a:schemeClr val="tx1"/>
                </a:solidFill>
                <a:latin typeface="Times New Roman" pitchFamily="18" charset="0"/>
                <a:ea typeface="宋体" charset="-122"/>
              </a:defRPr>
            </a:lvl3pPr>
            <a:lvl4pPr marL="1828800" indent="-457200" eaLnBrk="0" hangingPunct="0">
              <a:defRPr kumimoji="1" sz="2400" b="1">
                <a:solidFill>
                  <a:schemeClr val="tx1"/>
                </a:solidFill>
                <a:latin typeface="Times New Roman" pitchFamily="18" charset="0"/>
                <a:ea typeface="宋体" charset="-122"/>
              </a:defRPr>
            </a:lvl4pPr>
            <a:lvl5pPr marL="2286000" indent="-457200" eaLnBrk="0" hangingPunct="0">
              <a:defRPr kumimoji="1" sz="2400" b="1">
                <a:solidFill>
                  <a:schemeClr val="tx1"/>
                </a:solidFill>
                <a:latin typeface="Times New Roman" pitchFamily="18" charset="0"/>
                <a:ea typeface="宋体" charset="-122"/>
              </a:defRPr>
            </a:lvl5pPr>
            <a:lvl6pPr marL="2743200" indent="-4572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200400" indent="-4572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657600" indent="-4572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114800" indent="-4572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a:solidFill>
                  <a:schemeClr val="tx2"/>
                </a:solidFill>
              </a:rPr>
              <a:t>(a)</a:t>
            </a:r>
            <a:r>
              <a:rPr lang="en-US" altLang="zh-CN" i="1" dirty="0">
                <a:solidFill>
                  <a:schemeClr val="tx2"/>
                </a:solidFill>
              </a:rPr>
              <a:t>  </a:t>
            </a:r>
            <a:r>
              <a:rPr lang="en-US" altLang="zh-CN" i="1" dirty="0" err="1">
                <a:solidFill>
                  <a:schemeClr val="tx2"/>
                </a:solidFill>
              </a:rPr>
              <a:t>i</a:t>
            </a:r>
            <a:r>
              <a:rPr lang="en-US" altLang="zh-CN" i="1" dirty="0">
                <a:solidFill>
                  <a:schemeClr val="tx2"/>
                </a:solidFill>
              </a:rPr>
              <a:t> </a:t>
            </a:r>
            <a:r>
              <a:rPr lang="zh-CN" altLang="zh-CN" dirty="0">
                <a:solidFill>
                  <a:schemeClr val="tx2"/>
                </a:solidFill>
              </a:rPr>
              <a:t>的大小与 </a:t>
            </a:r>
            <a:r>
              <a:rPr lang="en-US" altLang="zh-CN" i="1" dirty="0">
                <a:solidFill>
                  <a:schemeClr val="tx2"/>
                </a:solidFill>
              </a:rPr>
              <a:t>v</a:t>
            </a:r>
            <a:r>
              <a:rPr lang="en-US" altLang="zh-CN" dirty="0">
                <a:solidFill>
                  <a:schemeClr val="tx2"/>
                </a:solidFill>
              </a:rPr>
              <a:t> </a:t>
            </a:r>
            <a:r>
              <a:rPr lang="zh-CN" altLang="zh-CN" dirty="0">
                <a:solidFill>
                  <a:schemeClr val="tx2"/>
                </a:solidFill>
              </a:rPr>
              <a:t>的</a:t>
            </a:r>
            <a:r>
              <a:rPr lang="zh-CN" altLang="zh-CN" dirty="0">
                <a:solidFill>
                  <a:srgbClr val="FF0000"/>
                </a:solidFill>
              </a:rPr>
              <a:t>变化率成正比</a:t>
            </a:r>
            <a:r>
              <a:rPr lang="zh-CN" altLang="zh-CN" dirty="0">
                <a:solidFill>
                  <a:schemeClr val="tx2"/>
                </a:solidFill>
              </a:rPr>
              <a:t>，</a:t>
            </a:r>
            <a:endParaRPr lang="zh-CN" altLang="en-US" dirty="0">
              <a:solidFill>
                <a:schemeClr val="tx2"/>
              </a:solidFill>
            </a:endParaRPr>
          </a:p>
          <a:p>
            <a:pPr>
              <a:spcBef>
                <a:spcPct val="50000"/>
              </a:spcBef>
            </a:pPr>
            <a:r>
              <a:rPr lang="zh-CN" altLang="en-US" dirty="0">
                <a:solidFill>
                  <a:schemeClr val="tx2"/>
                </a:solidFill>
              </a:rPr>
              <a:t>      </a:t>
            </a:r>
            <a:r>
              <a:rPr lang="zh-CN" altLang="zh-CN" dirty="0" smtClean="0">
                <a:solidFill>
                  <a:schemeClr val="tx2"/>
                </a:solidFill>
              </a:rPr>
              <a:t>与 </a:t>
            </a:r>
            <a:r>
              <a:rPr lang="en-US" altLang="zh-CN" i="1" dirty="0">
                <a:solidFill>
                  <a:schemeClr val="tx2"/>
                </a:solidFill>
              </a:rPr>
              <a:t>v </a:t>
            </a:r>
            <a:r>
              <a:rPr lang="zh-CN" altLang="zh-CN" dirty="0">
                <a:solidFill>
                  <a:schemeClr val="tx2"/>
                </a:solidFill>
              </a:rPr>
              <a:t>的大小无关；</a:t>
            </a:r>
            <a:endParaRPr lang="zh-CN" altLang="en-US" dirty="0">
              <a:solidFill>
                <a:schemeClr val="tx2"/>
              </a:solidFill>
            </a:endParaRPr>
          </a:p>
        </p:txBody>
      </p:sp>
      <p:sp>
        <p:nvSpPr>
          <p:cNvPr id="34824" name="Text Box 42"/>
          <p:cNvSpPr txBox="1">
            <a:spLocks noChangeArrowheads="1"/>
          </p:cNvSpPr>
          <p:nvPr/>
        </p:nvSpPr>
        <p:spPr bwMode="auto">
          <a:xfrm>
            <a:off x="3178175" y="4560025"/>
            <a:ext cx="5434012" cy="1754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50000"/>
              </a:lnSpc>
            </a:pPr>
            <a:r>
              <a:rPr lang="en-US" altLang="zh-CN" dirty="0">
                <a:solidFill>
                  <a:schemeClr val="tx2"/>
                </a:solidFill>
              </a:rPr>
              <a:t>       </a:t>
            </a:r>
            <a:r>
              <a:rPr lang="zh-CN" altLang="en-US" dirty="0">
                <a:solidFill>
                  <a:schemeClr val="tx2"/>
                </a:solidFill>
              </a:rPr>
              <a:t>当 </a:t>
            </a:r>
            <a:r>
              <a:rPr lang="en-US" altLang="zh-CN" i="1" dirty="0">
                <a:solidFill>
                  <a:schemeClr val="tx2"/>
                </a:solidFill>
              </a:rPr>
              <a:t>v </a:t>
            </a:r>
            <a:r>
              <a:rPr lang="zh-CN" altLang="en-US" dirty="0">
                <a:solidFill>
                  <a:schemeClr val="tx2"/>
                </a:solidFill>
              </a:rPr>
              <a:t>为常数时，</a:t>
            </a:r>
            <a:r>
              <a:rPr lang="en-US" altLang="zh-CN" dirty="0">
                <a:solidFill>
                  <a:schemeClr val="tx2"/>
                </a:solidFill>
              </a:rPr>
              <a:t>d</a:t>
            </a:r>
            <a:r>
              <a:rPr lang="en-US" altLang="zh-CN" i="1" dirty="0">
                <a:solidFill>
                  <a:schemeClr val="tx2"/>
                </a:solidFill>
              </a:rPr>
              <a:t>v</a:t>
            </a:r>
            <a:r>
              <a:rPr lang="en-US" altLang="zh-CN" dirty="0">
                <a:solidFill>
                  <a:schemeClr val="tx2"/>
                </a:solidFill>
              </a:rPr>
              <a:t>/</a:t>
            </a:r>
            <a:r>
              <a:rPr lang="en-US" altLang="zh-CN" dirty="0" err="1">
                <a:solidFill>
                  <a:schemeClr val="tx2"/>
                </a:solidFill>
              </a:rPr>
              <a:t>d</a:t>
            </a:r>
            <a:r>
              <a:rPr lang="en-US" altLang="zh-CN" i="1" dirty="0" err="1">
                <a:solidFill>
                  <a:schemeClr val="tx2"/>
                </a:solidFill>
              </a:rPr>
              <a:t>t</a:t>
            </a:r>
            <a:r>
              <a:rPr lang="en-US" altLang="zh-CN" i="1" dirty="0">
                <a:solidFill>
                  <a:schemeClr val="tx2"/>
                </a:solidFill>
              </a:rPr>
              <a:t> </a:t>
            </a:r>
            <a:r>
              <a:rPr lang="en-US" altLang="zh-CN" dirty="0" smtClean="0">
                <a:solidFill>
                  <a:schemeClr val="tx2"/>
                </a:solidFill>
              </a:rPr>
              <a:t>= 0 </a:t>
            </a:r>
            <a:r>
              <a:rPr lang="en-US" altLang="zh-CN" dirty="0">
                <a:solidFill>
                  <a:schemeClr val="tx2"/>
                </a:solidFill>
                <a:sym typeface="Symbol" pitchFamily="18" charset="2"/>
              </a:rPr>
              <a:t> </a:t>
            </a:r>
            <a:r>
              <a:rPr lang="en-US" altLang="zh-CN" i="1" dirty="0" err="1" smtClean="0">
                <a:solidFill>
                  <a:schemeClr val="tx2"/>
                </a:solidFill>
                <a:sym typeface="Symbol" pitchFamily="18" charset="2"/>
              </a:rPr>
              <a:t>i</a:t>
            </a:r>
            <a:r>
              <a:rPr lang="en-US" altLang="zh-CN" i="1" dirty="0" smtClean="0">
                <a:solidFill>
                  <a:schemeClr val="tx2"/>
                </a:solidFill>
                <a:sym typeface="Symbol" pitchFamily="18" charset="2"/>
              </a:rPr>
              <a:t> </a:t>
            </a:r>
            <a:r>
              <a:rPr lang="en-US" altLang="zh-CN" dirty="0" smtClean="0">
                <a:solidFill>
                  <a:schemeClr val="tx2"/>
                </a:solidFill>
                <a:sym typeface="Symbol" pitchFamily="18" charset="2"/>
              </a:rPr>
              <a:t>= 0</a:t>
            </a:r>
            <a:r>
              <a:rPr lang="zh-CN" altLang="en-US" dirty="0">
                <a:solidFill>
                  <a:schemeClr val="tx2"/>
                </a:solidFill>
                <a:sym typeface="Symbol" pitchFamily="18" charset="2"/>
              </a:rPr>
              <a:t>。</a:t>
            </a:r>
          </a:p>
          <a:p>
            <a:pPr>
              <a:lnSpc>
                <a:spcPct val="150000"/>
              </a:lnSpc>
            </a:pPr>
            <a:r>
              <a:rPr lang="zh-CN" altLang="en-US" dirty="0">
                <a:solidFill>
                  <a:schemeClr val="tx2"/>
                </a:solidFill>
                <a:sym typeface="Symbol" pitchFamily="18" charset="2"/>
              </a:rPr>
              <a:t>电容在直流电路中相当于开路，电容有</a:t>
            </a:r>
            <a:r>
              <a:rPr lang="zh-CN" altLang="en-US" dirty="0">
                <a:solidFill>
                  <a:srgbClr val="FF0000"/>
                </a:solidFill>
                <a:sym typeface="Symbol" pitchFamily="18" charset="2"/>
              </a:rPr>
              <a:t>隔直作用</a:t>
            </a:r>
            <a:r>
              <a:rPr lang="zh-CN" altLang="en-US" dirty="0">
                <a:solidFill>
                  <a:schemeClr val="tx2"/>
                </a:solidFill>
                <a:sym typeface="Symbol" pitchFamily="18" charset="2"/>
              </a:rPr>
              <a:t>；</a:t>
            </a:r>
            <a:endParaRPr lang="zh-CN" altLang="en-US" dirty="0">
              <a:solidFill>
                <a:schemeClr val="tx2"/>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4848"/>
                                        </p:tgtEl>
                                        <p:attrNameLst>
                                          <p:attrName>style.visibility</p:attrName>
                                        </p:attrNameLst>
                                      </p:cBhvr>
                                      <p:to>
                                        <p:strVal val="visible"/>
                                      </p:to>
                                    </p:set>
                                    <p:animEffect transition="in" filter="barn(inVertical)">
                                      <p:cBhvr>
                                        <p:cTn id="7" dur="500"/>
                                        <p:tgtEl>
                                          <p:spTgt spid="348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4847"/>
                                        </p:tgtEl>
                                        <p:attrNameLst>
                                          <p:attrName>style.visibility</p:attrName>
                                        </p:attrNameLst>
                                      </p:cBhvr>
                                      <p:to>
                                        <p:strVal val="visible"/>
                                      </p:to>
                                    </p:set>
                                    <p:animEffect transition="in" filter="barn(inVertical)">
                                      <p:cBhvr>
                                        <p:cTn id="12" dur="500"/>
                                        <p:tgtEl>
                                          <p:spTgt spid="3484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4827"/>
                                        </p:tgtEl>
                                        <p:attrNameLst>
                                          <p:attrName>style.visibility</p:attrName>
                                        </p:attrNameLst>
                                      </p:cBhvr>
                                      <p:to>
                                        <p:strVal val="visible"/>
                                      </p:to>
                                    </p:set>
                                    <p:animEffect transition="in" filter="barn(inVertical)">
                                      <p:cBhvr>
                                        <p:cTn id="17" dur="500"/>
                                        <p:tgtEl>
                                          <p:spTgt spid="3482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4828"/>
                                        </p:tgtEl>
                                        <p:attrNameLst>
                                          <p:attrName>style.visibility</p:attrName>
                                        </p:attrNameLst>
                                      </p:cBhvr>
                                      <p:to>
                                        <p:strVal val="visible"/>
                                      </p:to>
                                    </p:set>
                                    <p:animEffect transition="in" filter="barn(inVertical)">
                                      <p:cBhvr>
                                        <p:cTn id="22" dur="500"/>
                                        <p:tgtEl>
                                          <p:spTgt spid="3482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4826"/>
                                        </p:tgtEl>
                                        <p:attrNameLst>
                                          <p:attrName>style.visibility</p:attrName>
                                        </p:attrNameLst>
                                      </p:cBhvr>
                                      <p:to>
                                        <p:strVal val="visible"/>
                                      </p:to>
                                    </p:set>
                                    <p:animEffect transition="in" filter="barn(inVertical)">
                                      <p:cBhvr>
                                        <p:cTn id="27" dur="500"/>
                                        <p:tgtEl>
                                          <p:spTgt spid="3482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4823"/>
                                        </p:tgtEl>
                                        <p:attrNameLst>
                                          <p:attrName>style.visibility</p:attrName>
                                        </p:attrNameLst>
                                      </p:cBhvr>
                                      <p:to>
                                        <p:strVal val="visible"/>
                                      </p:to>
                                    </p:set>
                                    <p:animEffect transition="in" filter="barn(inVertical)">
                                      <p:cBhvr>
                                        <p:cTn id="32" dur="500"/>
                                        <p:tgtEl>
                                          <p:spTgt spid="3482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4824"/>
                                        </p:tgtEl>
                                        <p:attrNameLst>
                                          <p:attrName>style.visibility</p:attrName>
                                        </p:attrNameLst>
                                      </p:cBhvr>
                                      <p:to>
                                        <p:strVal val="visible"/>
                                      </p:to>
                                    </p:set>
                                    <p:animEffect transition="in" filter="barn(inVertical)">
                                      <p:cBhvr>
                                        <p:cTn id="37" dur="500"/>
                                        <p:tgtEl>
                                          <p:spTgt spid="34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47" grpId="0"/>
      <p:bldP spid="34827" grpId="0"/>
      <p:bldP spid="34823" grpId="0"/>
      <p:bldP spid="3482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65" name="Object 3"/>
          <p:cNvGraphicFramePr>
            <a:graphicFrameLocks noChangeAspect="1"/>
          </p:cNvGraphicFramePr>
          <p:nvPr>
            <p:extLst>
              <p:ext uri="{D42A27DB-BD31-4B8C-83A1-F6EECF244321}">
                <p14:modId xmlns:p14="http://schemas.microsoft.com/office/powerpoint/2010/main" val="1310385841"/>
              </p:ext>
            </p:extLst>
          </p:nvPr>
        </p:nvGraphicFramePr>
        <p:xfrm>
          <a:off x="3079750" y="1646238"/>
          <a:ext cx="1946275" cy="790575"/>
        </p:xfrm>
        <a:graphic>
          <a:graphicData uri="http://schemas.openxmlformats.org/presentationml/2006/ole">
            <mc:AlternateContent xmlns:mc="http://schemas.openxmlformats.org/markup-compatibility/2006">
              <mc:Choice xmlns:v="urn:schemas-microsoft-com:vml" Requires="v">
                <p:oleObj spid="_x0000_s36524" name="Equation" r:id="rId3" imgW="965160" imgH="393480" progId="Equation.DSMT4">
                  <p:embed/>
                </p:oleObj>
              </mc:Choice>
              <mc:Fallback>
                <p:oleObj name="Equation" r:id="rId3" imgW="965160" imgH="393480" progId="Equation.DSMT4">
                  <p:embed/>
                  <p:pic>
                    <p:nvPicPr>
                      <p:cNvPr id="0" name="Object 3"/>
                      <p:cNvPicPr>
                        <a:picLocks noChangeAspect="1" noChangeArrowheads="1"/>
                      </p:cNvPicPr>
                      <p:nvPr/>
                    </p:nvPicPr>
                    <p:blipFill>
                      <a:blip r:embed="rId4"/>
                      <a:srcRect/>
                      <a:stretch>
                        <a:fillRect/>
                      </a:stretch>
                    </p:blipFill>
                    <p:spPr bwMode="auto">
                      <a:xfrm>
                        <a:off x="3079750" y="1646238"/>
                        <a:ext cx="1946275"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66" name="Object 4"/>
          <p:cNvGraphicFramePr>
            <a:graphicFrameLocks noChangeAspect="1"/>
          </p:cNvGraphicFramePr>
          <p:nvPr/>
        </p:nvGraphicFramePr>
        <p:xfrm>
          <a:off x="3068638" y="3471863"/>
          <a:ext cx="2524125" cy="725487"/>
        </p:xfrm>
        <a:graphic>
          <a:graphicData uri="http://schemas.openxmlformats.org/presentationml/2006/ole">
            <mc:AlternateContent xmlns:mc="http://schemas.openxmlformats.org/markup-compatibility/2006">
              <mc:Choice xmlns:v="urn:schemas-microsoft-com:vml" Requires="v">
                <p:oleObj spid="_x0000_s36525" name="公式" r:id="rId5" imgW="1231366" imgH="355446" progId="Equation.3">
                  <p:embed/>
                </p:oleObj>
              </mc:Choice>
              <mc:Fallback>
                <p:oleObj name="公式" r:id="rId5" imgW="1231366" imgH="355446"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8638" y="3471863"/>
                        <a:ext cx="2524125" cy="725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67" name="Object 5"/>
          <p:cNvGraphicFramePr>
            <a:graphicFrameLocks noChangeAspect="1"/>
          </p:cNvGraphicFramePr>
          <p:nvPr>
            <p:extLst>
              <p:ext uri="{D42A27DB-BD31-4B8C-83A1-F6EECF244321}">
                <p14:modId xmlns:p14="http://schemas.microsoft.com/office/powerpoint/2010/main" val="1740595897"/>
              </p:ext>
            </p:extLst>
          </p:nvPr>
        </p:nvGraphicFramePr>
        <p:xfrm>
          <a:off x="3035300" y="2428875"/>
          <a:ext cx="2663825" cy="766763"/>
        </p:xfrm>
        <a:graphic>
          <a:graphicData uri="http://schemas.openxmlformats.org/presentationml/2006/ole">
            <mc:AlternateContent xmlns:mc="http://schemas.openxmlformats.org/markup-compatibility/2006">
              <mc:Choice xmlns:v="urn:schemas-microsoft-com:vml" Requires="v">
                <p:oleObj spid="_x0000_s36526" name="Equation" r:id="rId7" imgW="1231560" imgH="355320" progId="Equation.DSMT4">
                  <p:embed/>
                </p:oleObj>
              </mc:Choice>
              <mc:Fallback>
                <p:oleObj name="Equation" r:id="rId7" imgW="1231560" imgH="355320" progId="Equation.DSMT4">
                  <p:embed/>
                  <p:pic>
                    <p:nvPicPr>
                      <p:cNvPr id="0" name="Object 5"/>
                      <p:cNvPicPr>
                        <a:picLocks noChangeAspect="1" noChangeArrowheads="1"/>
                      </p:cNvPicPr>
                      <p:nvPr/>
                    </p:nvPicPr>
                    <p:blipFill>
                      <a:blip r:embed="rId8"/>
                      <a:srcRect/>
                      <a:stretch>
                        <a:fillRect/>
                      </a:stretch>
                    </p:blipFill>
                    <p:spPr bwMode="auto">
                      <a:xfrm>
                        <a:off x="3035300" y="2428875"/>
                        <a:ext cx="2663825" cy="766763"/>
                      </a:xfrm>
                      <a:prstGeom prst="rect">
                        <a:avLst/>
                      </a:prstGeom>
                      <a:noFill/>
                      <a:ln>
                        <a:noFill/>
                      </a:ln>
                      <a:effectLst/>
                      <a:extLst/>
                    </p:spPr>
                  </p:pic>
                </p:oleObj>
              </mc:Fallback>
            </mc:AlternateContent>
          </a:graphicData>
        </a:graphic>
      </p:graphicFrame>
      <p:graphicFrame>
        <p:nvGraphicFramePr>
          <p:cNvPr id="35868" name="Object 6"/>
          <p:cNvGraphicFramePr>
            <a:graphicFrameLocks noChangeAspect="1"/>
          </p:cNvGraphicFramePr>
          <p:nvPr>
            <p:extLst>
              <p:ext uri="{D42A27DB-BD31-4B8C-83A1-F6EECF244321}">
                <p14:modId xmlns:p14="http://schemas.microsoft.com/office/powerpoint/2010/main" val="499675785"/>
              </p:ext>
            </p:extLst>
          </p:nvPr>
        </p:nvGraphicFramePr>
        <p:xfrm>
          <a:off x="5000625" y="1608138"/>
          <a:ext cx="2714625" cy="790575"/>
        </p:xfrm>
        <a:graphic>
          <a:graphicData uri="http://schemas.openxmlformats.org/presentationml/2006/ole">
            <mc:AlternateContent xmlns:mc="http://schemas.openxmlformats.org/markup-compatibility/2006">
              <mc:Choice xmlns:v="urn:schemas-microsoft-com:vml" Requires="v">
                <p:oleObj spid="_x0000_s36527" name="Equation" r:id="rId9" imgW="1346040" imgH="393480" progId="Equation.DSMT4">
                  <p:embed/>
                </p:oleObj>
              </mc:Choice>
              <mc:Fallback>
                <p:oleObj name="Equation" r:id="rId9" imgW="1346040" imgH="393480" progId="Equation.DSMT4">
                  <p:embed/>
                  <p:pic>
                    <p:nvPicPr>
                      <p:cNvPr id="0" name="Object 6"/>
                      <p:cNvPicPr>
                        <a:picLocks noChangeAspect="1" noChangeArrowheads="1"/>
                      </p:cNvPicPr>
                      <p:nvPr/>
                    </p:nvPicPr>
                    <p:blipFill>
                      <a:blip r:embed="rId10"/>
                      <a:srcRect/>
                      <a:stretch>
                        <a:fillRect/>
                      </a:stretch>
                    </p:blipFill>
                    <p:spPr bwMode="auto">
                      <a:xfrm>
                        <a:off x="5000625" y="1608138"/>
                        <a:ext cx="2714625"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1783" name="Text Box 7"/>
          <p:cNvSpPr txBox="1">
            <a:spLocks noChangeArrowheads="1"/>
          </p:cNvSpPr>
          <p:nvPr/>
        </p:nvSpPr>
        <p:spPr bwMode="auto">
          <a:xfrm>
            <a:off x="765175" y="4370388"/>
            <a:ext cx="6096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a:solidFill>
                  <a:schemeClr val="tx2"/>
                </a:solidFill>
              </a:rPr>
              <a:t>(b)  </a:t>
            </a:r>
            <a:r>
              <a:rPr lang="zh-CN" altLang="en-US" dirty="0">
                <a:solidFill>
                  <a:schemeClr val="tx2"/>
                </a:solidFill>
              </a:rPr>
              <a:t>电容元件是一种记忆元件；</a:t>
            </a:r>
          </a:p>
        </p:txBody>
      </p:sp>
      <p:grpSp>
        <p:nvGrpSpPr>
          <p:cNvPr id="35844" name="Group 8"/>
          <p:cNvGrpSpPr>
            <a:grpSpLocks/>
          </p:cNvGrpSpPr>
          <p:nvPr/>
        </p:nvGrpSpPr>
        <p:grpSpPr bwMode="auto">
          <a:xfrm>
            <a:off x="457200" y="452438"/>
            <a:ext cx="4046538" cy="2636837"/>
            <a:chOff x="300" y="110"/>
            <a:chExt cx="2549" cy="1661"/>
          </a:xfrm>
        </p:grpSpPr>
        <p:grpSp>
          <p:nvGrpSpPr>
            <p:cNvPr id="35846" name="Group 9"/>
            <p:cNvGrpSpPr>
              <a:grpSpLocks/>
            </p:cNvGrpSpPr>
            <p:nvPr/>
          </p:nvGrpSpPr>
          <p:grpSpPr bwMode="auto">
            <a:xfrm>
              <a:off x="300" y="110"/>
              <a:ext cx="1258" cy="1661"/>
              <a:chOff x="565" y="1627"/>
              <a:chExt cx="1258" cy="1661"/>
            </a:xfrm>
          </p:grpSpPr>
          <p:sp>
            <p:nvSpPr>
              <p:cNvPr id="35848" name="Text Box 10"/>
              <p:cNvSpPr txBox="1">
                <a:spLocks noChangeArrowheads="1"/>
              </p:cNvSpPr>
              <p:nvPr/>
            </p:nvSpPr>
            <p:spPr bwMode="auto">
              <a:xfrm>
                <a:off x="1579" y="2556"/>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C</a:t>
                </a:r>
              </a:p>
            </p:txBody>
          </p:sp>
          <p:sp>
            <p:nvSpPr>
              <p:cNvPr id="35849" name="Text Box 11"/>
              <p:cNvSpPr txBox="1">
                <a:spLocks noChangeArrowheads="1"/>
              </p:cNvSpPr>
              <p:nvPr/>
            </p:nvSpPr>
            <p:spPr bwMode="auto">
              <a:xfrm>
                <a:off x="777" y="1627"/>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i</a:t>
                </a:r>
              </a:p>
            </p:txBody>
          </p:sp>
          <p:sp>
            <p:nvSpPr>
              <p:cNvPr id="35850" name="Text Box 12"/>
              <p:cNvSpPr txBox="1">
                <a:spLocks noChangeArrowheads="1"/>
              </p:cNvSpPr>
              <p:nvPr/>
            </p:nvSpPr>
            <p:spPr bwMode="auto">
              <a:xfrm>
                <a:off x="576" y="2488"/>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v</a:t>
                </a:r>
              </a:p>
            </p:txBody>
          </p:sp>
          <p:sp>
            <p:nvSpPr>
              <p:cNvPr id="35851" name="Rectangle 13"/>
              <p:cNvSpPr>
                <a:spLocks noChangeArrowheads="1"/>
              </p:cNvSpPr>
              <p:nvPr/>
            </p:nvSpPr>
            <p:spPr bwMode="auto">
              <a:xfrm>
                <a:off x="565" y="2093"/>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sp>
            <p:nvSpPr>
              <p:cNvPr id="35852" name="Line 14"/>
              <p:cNvSpPr>
                <a:spLocks noChangeShapeType="1"/>
              </p:cNvSpPr>
              <p:nvPr/>
            </p:nvSpPr>
            <p:spPr bwMode="auto">
              <a:xfrm rot="5400000" flipH="1" flipV="1">
                <a:off x="975" y="2340"/>
                <a:ext cx="58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3" name="Line 15"/>
              <p:cNvSpPr>
                <a:spLocks noChangeShapeType="1"/>
              </p:cNvSpPr>
              <p:nvPr/>
            </p:nvSpPr>
            <p:spPr bwMode="auto">
              <a:xfrm rot="5400000">
                <a:off x="1032" y="3011"/>
                <a:ext cx="4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4" name="Oval 16"/>
              <p:cNvSpPr>
                <a:spLocks noChangeArrowheads="1"/>
              </p:cNvSpPr>
              <p:nvPr/>
            </p:nvSpPr>
            <p:spPr bwMode="auto">
              <a:xfrm rot="5400000">
                <a:off x="686" y="2002"/>
                <a:ext cx="91" cy="91"/>
              </a:xfrm>
              <a:prstGeom prst="ellipse">
                <a:avLst/>
              </a:prstGeom>
              <a:noFill/>
              <a:ln w="19050">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5855" name="Oval 17"/>
              <p:cNvSpPr>
                <a:spLocks noChangeArrowheads="1"/>
              </p:cNvSpPr>
              <p:nvPr/>
            </p:nvSpPr>
            <p:spPr bwMode="auto">
              <a:xfrm rot="5400000">
                <a:off x="686" y="3197"/>
                <a:ext cx="91" cy="91"/>
              </a:xfrm>
              <a:prstGeom prst="ellipse">
                <a:avLst/>
              </a:prstGeom>
              <a:noFill/>
              <a:ln w="19050">
                <a:solidFill>
                  <a:srgbClr val="000000"/>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5856" name="Rectangle 18"/>
              <p:cNvSpPr>
                <a:spLocks noChangeArrowheads="1"/>
              </p:cNvSpPr>
              <p:nvPr/>
            </p:nvSpPr>
            <p:spPr bwMode="auto">
              <a:xfrm>
                <a:off x="565" y="287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sp>
            <p:nvSpPr>
              <p:cNvPr id="35857" name="Line 19"/>
              <p:cNvSpPr>
                <a:spLocks noChangeShapeType="1"/>
              </p:cNvSpPr>
              <p:nvPr/>
            </p:nvSpPr>
            <p:spPr bwMode="auto">
              <a:xfrm>
                <a:off x="777" y="3245"/>
                <a:ext cx="4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8" name="Line 20"/>
              <p:cNvSpPr>
                <a:spLocks noChangeShapeType="1"/>
              </p:cNvSpPr>
              <p:nvPr/>
            </p:nvSpPr>
            <p:spPr bwMode="auto">
              <a:xfrm>
                <a:off x="777" y="2048"/>
                <a:ext cx="49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9" name="Line 21"/>
              <p:cNvSpPr>
                <a:spLocks noChangeShapeType="1"/>
              </p:cNvSpPr>
              <p:nvPr/>
            </p:nvSpPr>
            <p:spPr bwMode="auto">
              <a:xfrm>
                <a:off x="740" y="1915"/>
                <a:ext cx="266" cy="0"/>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860" name="Group 22"/>
              <p:cNvGrpSpPr>
                <a:grpSpLocks/>
              </p:cNvGrpSpPr>
              <p:nvPr/>
            </p:nvGrpSpPr>
            <p:grpSpPr bwMode="auto">
              <a:xfrm rot="-5400000">
                <a:off x="1200" y="2434"/>
                <a:ext cx="144" cy="539"/>
                <a:chOff x="3053" y="3083"/>
                <a:chExt cx="211" cy="576"/>
              </a:xfrm>
            </p:grpSpPr>
            <p:sp>
              <p:nvSpPr>
                <p:cNvPr id="35863" name="Line 23"/>
                <p:cNvSpPr>
                  <a:spLocks noChangeShapeType="1"/>
                </p:cNvSpPr>
                <p:nvPr/>
              </p:nvSpPr>
              <p:spPr bwMode="auto">
                <a:xfrm>
                  <a:off x="3053"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864" name="Line 24"/>
                <p:cNvSpPr>
                  <a:spLocks noChangeShapeType="1"/>
                </p:cNvSpPr>
                <p:nvPr/>
              </p:nvSpPr>
              <p:spPr bwMode="auto">
                <a:xfrm>
                  <a:off x="3264" y="3083"/>
                  <a:ext cx="0" cy="5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35861" name="Rectangle 25"/>
              <p:cNvSpPr>
                <a:spLocks noChangeArrowheads="1"/>
              </p:cNvSpPr>
              <p:nvPr/>
            </p:nvSpPr>
            <p:spPr bwMode="auto">
              <a:xfrm>
                <a:off x="1315" y="2343"/>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sp>
            <p:nvSpPr>
              <p:cNvPr id="35862" name="Rectangle 26"/>
              <p:cNvSpPr>
                <a:spLocks noChangeArrowheads="1"/>
              </p:cNvSpPr>
              <p:nvPr/>
            </p:nvSpPr>
            <p:spPr bwMode="auto">
              <a:xfrm>
                <a:off x="1315" y="2781"/>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grpSp>
        <p:graphicFrame>
          <p:nvGraphicFramePr>
            <p:cNvPr id="35847" name="Object 27"/>
            <p:cNvGraphicFramePr>
              <a:graphicFrameLocks noChangeAspect="1"/>
            </p:cNvGraphicFramePr>
            <p:nvPr/>
          </p:nvGraphicFramePr>
          <p:xfrm>
            <a:off x="1794" y="177"/>
            <a:ext cx="1055" cy="482"/>
          </p:xfrm>
          <a:graphic>
            <a:graphicData uri="http://schemas.openxmlformats.org/presentationml/2006/ole">
              <mc:AlternateContent xmlns:mc="http://schemas.openxmlformats.org/markup-compatibility/2006">
                <mc:Choice xmlns:v="urn:schemas-microsoft-com:vml" Requires="v">
                  <p:oleObj spid="_x0000_s36528" name="Equation" r:id="rId11" imgW="774364" imgH="355446" progId="Equation.DSMT4">
                    <p:embed/>
                  </p:oleObj>
                </mc:Choice>
                <mc:Fallback>
                  <p:oleObj name="Equation" r:id="rId11" imgW="774364" imgH="355446" progId="Equation.DSMT4">
                    <p:embed/>
                    <p:pic>
                      <p:nvPicPr>
                        <p:cNvPr id="0" name="Object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94" y="177"/>
                          <a:ext cx="1055" cy="4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31804" name="Rectangle 28"/>
          <p:cNvSpPr>
            <a:spLocks noChangeArrowheads="1"/>
          </p:cNvSpPr>
          <p:nvPr/>
        </p:nvSpPr>
        <p:spPr bwMode="auto">
          <a:xfrm>
            <a:off x="1295400" y="4972050"/>
            <a:ext cx="7410450"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lnSpc>
                <a:spcPct val="140000"/>
              </a:lnSpc>
              <a:spcBef>
                <a:spcPct val="50000"/>
              </a:spcBef>
            </a:pPr>
            <a:r>
              <a:rPr lang="en-US" altLang="zh-CN" dirty="0">
                <a:latin typeface="楷体_GB2312" pitchFamily="49" charset="-122"/>
                <a:ea typeface="楷体_GB2312" pitchFamily="49" charset="-122"/>
              </a:rPr>
              <a:t>    </a:t>
            </a:r>
            <a:r>
              <a:rPr lang="en-US" altLang="zh-CN" i="1" dirty="0"/>
              <a:t>v</a:t>
            </a:r>
            <a:r>
              <a:rPr lang="en-US" altLang="zh-CN" dirty="0"/>
              <a:t>(</a:t>
            </a:r>
            <a:r>
              <a:rPr lang="en-US" altLang="zh-CN" i="1" dirty="0"/>
              <a:t>t</a:t>
            </a:r>
            <a:r>
              <a:rPr lang="en-US" altLang="zh-CN" dirty="0"/>
              <a:t>)</a:t>
            </a:r>
            <a:r>
              <a:rPr lang="zh-CN" altLang="en-US" dirty="0"/>
              <a:t>取决于</a:t>
            </a:r>
            <a:r>
              <a:rPr lang="en-US" altLang="zh-CN" i="1" dirty="0" err="1"/>
              <a:t>i</a:t>
            </a:r>
            <a:r>
              <a:rPr lang="en-US" altLang="zh-CN" dirty="0"/>
              <a:t>(</a:t>
            </a:r>
            <a:r>
              <a:rPr lang="en-US" altLang="zh-CN" i="1" dirty="0"/>
              <a:t>t</a:t>
            </a:r>
            <a:r>
              <a:rPr lang="en-US" altLang="zh-CN" dirty="0"/>
              <a:t>)</a:t>
            </a:r>
            <a:r>
              <a:rPr lang="zh-CN" altLang="en-US" dirty="0"/>
              <a:t>从</a:t>
            </a:r>
            <a:r>
              <a:rPr lang="zh-CN" altLang="en-US" dirty="0">
                <a:sym typeface="Symbol" pitchFamily="18" charset="2"/>
              </a:rPr>
              <a:t>到 </a:t>
            </a:r>
            <a:r>
              <a:rPr lang="en-US" altLang="zh-CN" i="1" dirty="0">
                <a:sym typeface="Symbol" pitchFamily="18" charset="2"/>
              </a:rPr>
              <a:t>t </a:t>
            </a:r>
            <a:r>
              <a:rPr lang="zh-CN" altLang="en-US" dirty="0"/>
              <a:t>的积分，电容电压与</a:t>
            </a:r>
            <a:r>
              <a:rPr lang="zh-CN" altLang="en-US" dirty="0">
                <a:solidFill>
                  <a:srgbClr val="FF0000"/>
                </a:solidFill>
              </a:rPr>
              <a:t>电流过去历史</a:t>
            </a:r>
            <a:r>
              <a:rPr lang="zh-CN" altLang="en-US" dirty="0"/>
              <a:t>有关。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5865"/>
                                        </p:tgtEl>
                                        <p:attrNameLst>
                                          <p:attrName>style.visibility</p:attrName>
                                        </p:attrNameLst>
                                      </p:cBhvr>
                                      <p:to>
                                        <p:strVal val="visible"/>
                                      </p:to>
                                    </p:set>
                                    <p:animEffect transition="in" filter="barn(inVertical)">
                                      <p:cBhvr>
                                        <p:cTn id="7" dur="500"/>
                                        <p:tgtEl>
                                          <p:spTgt spid="3586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5868"/>
                                        </p:tgtEl>
                                        <p:attrNameLst>
                                          <p:attrName>style.visibility</p:attrName>
                                        </p:attrNameLst>
                                      </p:cBhvr>
                                      <p:to>
                                        <p:strVal val="visible"/>
                                      </p:to>
                                    </p:set>
                                    <p:animEffect transition="in" filter="barn(inVertical)">
                                      <p:cBhvr>
                                        <p:cTn id="12" dur="500"/>
                                        <p:tgtEl>
                                          <p:spTgt spid="3586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5867"/>
                                        </p:tgtEl>
                                        <p:attrNameLst>
                                          <p:attrName>style.visibility</p:attrName>
                                        </p:attrNameLst>
                                      </p:cBhvr>
                                      <p:to>
                                        <p:strVal val="visible"/>
                                      </p:to>
                                    </p:set>
                                    <p:animEffect transition="in" filter="barn(inVertical)">
                                      <p:cBhvr>
                                        <p:cTn id="17" dur="500"/>
                                        <p:tgtEl>
                                          <p:spTgt spid="3586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5866"/>
                                        </p:tgtEl>
                                        <p:attrNameLst>
                                          <p:attrName>style.visibility</p:attrName>
                                        </p:attrNameLst>
                                      </p:cBhvr>
                                      <p:to>
                                        <p:strVal val="visible"/>
                                      </p:to>
                                    </p:set>
                                    <p:animEffect transition="in" filter="barn(inVertical)">
                                      <p:cBhvr>
                                        <p:cTn id="22" dur="500"/>
                                        <p:tgtEl>
                                          <p:spTgt spid="3586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31783"/>
                                        </p:tgtEl>
                                        <p:attrNameLst>
                                          <p:attrName>style.visibility</p:attrName>
                                        </p:attrNameLst>
                                      </p:cBhvr>
                                      <p:to>
                                        <p:strVal val="visible"/>
                                      </p:to>
                                    </p:set>
                                    <p:animEffect transition="in" filter="barn(inVertical)">
                                      <p:cBhvr>
                                        <p:cTn id="27" dur="500"/>
                                        <p:tgtEl>
                                          <p:spTgt spid="33178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31804"/>
                                        </p:tgtEl>
                                        <p:attrNameLst>
                                          <p:attrName>style.visibility</p:attrName>
                                        </p:attrNameLst>
                                      </p:cBhvr>
                                      <p:to>
                                        <p:strVal val="visible"/>
                                      </p:to>
                                    </p:set>
                                    <p:animEffect transition="in" filter="barn(inVertical)">
                                      <p:cBhvr>
                                        <p:cTn id="32" dur="500"/>
                                        <p:tgtEl>
                                          <p:spTgt spid="331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83" grpId="0"/>
      <p:bldP spid="33180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384175" y="357188"/>
            <a:ext cx="7577138" cy="123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2400" b="1">
                <a:solidFill>
                  <a:schemeClr val="tx1"/>
                </a:solidFill>
                <a:latin typeface="Times New Roman" pitchFamily="18" charset="0"/>
                <a:ea typeface="宋体" charset="-122"/>
              </a:defRPr>
            </a:lvl1pPr>
            <a:lvl2pPr marL="914400" indent="-457200" eaLnBrk="0" hangingPunct="0">
              <a:defRPr kumimoji="1" sz="2400" b="1">
                <a:solidFill>
                  <a:schemeClr val="tx1"/>
                </a:solidFill>
                <a:latin typeface="Times New Roman" pitchFamily="18" charset="0"/>
                <a:ea typeface="宋体" charset="-122"/>
              </a:defRPr>
            </a:lvl2pPr>
            <a:lvl3pPr marL="1371600" indent="-457200" eaLnBrk="0" hangingPunct="0">
              <a:defRPr kumimoji="1" sz="2400" b="1">
                <a:solidFill>
                  <a:schemeClr val="tx1"/>
                </a:solidFill>
                <a:latin typeface="Times New Roman" pitchFamily="18" charset="0"/>
                <a:ea typeface="宋体" charset="-122"/>
              </a:defRPr>
            </a:lvl3pPr>
            <a:lvl4pPr marL="1828800" indent="-457200" eaLnBrk="0" hangingPunct="0">
              <a:defRPr kumimoji="1" sz="2400" b="1">
                <a:solidFill>
                  <a:schemeClr val="tx1"/>
                </a:solidFill>
                <a:latin typeface="Times New Roman" pitchFamily="18" charset="0"/>
                <a:ea typeface="宋体" charset="-122"/>
              </a:defRPr>
            </a:lvl4pPr>
            <a:lvl5pPr marL="2286000" indent="-457200" eaLnBrk="0" hangingPunct="0">
              <a:defRPr kumimoji="1" sz="2400" b="1">
                <a:solidFill>
                  <a:schemeClr val="tx1"/>
                </a:solidFill>
                <a:latin typeface="Times New Roman" pitchFamily="18" charset="0"/>
                <a:ea typeface="宋体" charset="-122"/>
              </a:defRPr>
            </a:lvl5pPr>
            <a:lvl6pPr marL="2743200" indent="-4572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200400" indent="-4572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657600" indent="-4572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114800" indent="-4572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30000"/>
              </a:lnSpc>
              <a:spcBef>
                <a:spcPct val="50000"/>
              </a:spcBef>
            </a:pPr>
            <a:r>
              <a:rPr lang="en-US" altLang="zh-CN" dirty="0">
                <a:solidFill>
                  <a:schemeClr val="tx2"/>
                </a:solidFill>
              </a:rPr>
              <a:t>(c)  </a:t>
            </a:r>
            <a:r>
              <a:rPr lang="zh-CN" altLang="en-US" dirty="0">
                <a:solidFill>
                  <a:schemeClr val="tx2"/>
                </a:solidFill>
              </a:rPr>
              <a:t>电容电压的</a:t>
            </a:r>
            <a:r>
              <a:rPr lang="zh-CN" altLang="en-US" dirty="0" smtClean="0">
                <a:solidFill>
                  <a:schemeClr val="tx2"/>
                </a:solidFill>
              </a:rPr>
              <a:t>连续性</a:t>
            </a:r>
            <a:endParaRPr lang="zh-CN" altLang="en-US" dirty="0">
              <a:solidFill>
                <a:schemeClr val="tx2"/>
              </a:solidFill>
            </a:endParaRPr>
          </a:p>
          <a:p>
            <a:pPr>
              <a:lnSpc>
                <a:spcPct val="130000"/>
              </a:lnSpc>
              <a:spcBef>
                <a:spcPct val="50000"/>
              </a:spcBef>
            </a:pPr>
            <a:r>
              <a:rPr lang="zh-CN" altLang="en-US" dirty="0">
                <a:solidFill>
                  <a:schemeClr val="tx2"/>
                </a:solidFill>
              </a:rPr>
              <a:t>      当电流 </a:t>
            </a:r>
            <a:r>
              <a:rPr lang="en-US" altLang="zh-CN" i="1" dirty="0" err="1">
                <a:solidFill>
                  <a:schemeClr val="tx2"/>
                </a:solidFill>
              </a:rPr>
              <a:t>i</a:t>
            </a:r>
            <a:r>
              <a:rPr lang="en-US" altLang="zh-CN" i="1" dirty="0">
                <a:solidFill>
                  <a:schemeClr val="tx2"/>
                </a:solidFill>
              </a:rPr>
              <a:t> </a:t>
            </a:r>
            <a:r>
              <a:rPr lang="zh-CN" altLang="en-US" dirty="0">
                <a:solidFill>
                  <a:schemeClr val="tx2"/>
                </a:solidFill>
              </a:rPr>
              <a:t>为有限值时，</a:t>
            </a:r>
            <a:r>
              <a:rPr lang="zh-CN" altLang="en-US" dirty="0"/>
              <a:t>电容电压不能跃变。</a:t>
            </a:r>
          </a:p>
        </p:txBody>
      </p:sp>
      <p:graphicFrame>
        <p:nvGraphicFramePr>
          <p:cNvPr id="36867" name="Object 3"/>
          <p:cNvGraphicFramePr>
            <a:graphicFrameLocks noChangeAspect="1"/>
          </p:cNvGraphicFramePr>
          <p:nvPr/>
        </p:nvGraphicFramePr>
        <p:xfrm>
          <a:off x="6827838" y="1081088"/>
          <a:ext cx="1749425" cy="438150"/>
        </p:xfrm>
        <a:graphic>
          <a:graphicData uri="http://schemas.openxmlformats.org/presentationml/2006/ole">
            <mc:AlternateContent xmlns:mc="http://schemas.openxmlformats.org/markup-compatibility/2006">
              <mc:Choice xmlns:v="urn:schemas-microsoft-com:vml" Requires="v">
                <p:oleObj spid="_x0000_s115763" name="Equation" r:id="rId3" imgW="812447" imgH="203112" progId="Equation.DSMT4">
                  <p:embed/>
                </p:oleObj>
              </mc:Choice>
              <mc:Fallback>
                <p:oleObj name="Equation" r:id="rId3" imgW="812447" imgH="20311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7838" y="1081088"/>
                        <a:ext cx="1749425" cy="438150"/>
                      </a:xfrm>
                      <a:prstGeom prst="rect">
                        <a:avLst/>
                      </a:prstGeom>
                      <a:solidFill>
                        <a:srgbClr val="66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2804" name="Text Box 4"/>
          <p:cNvSpPr txBox="1">
            <a:spLocks noChangeArrowheads="1"/>
          </p:cNvSpPr>
          <p:nvPr/>
        </p:nvSpPr>
        <p:spPr bwMode="auto">
          <a:xfrm>
            <a:off x="577850" y="1762125"/>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sz="2000" dirty="0">
                <a:ea typeface="楷体_GB2312" pitchFamily="49" charset="-122"/>
              </a:rPr>
              <a:t>证明如下：</a:t>
            </a:r>
          </a:p>
        </p:txBody>
      </p:sp>
      <p:sp>
        <p:nvSpPr>
          <p:cNvPr id="332805" name="Text Box 5"/>
          <p:cNvSpPr txBox="1">
            <a:spLocks noChangeArrowheads="1"/>
          </p:cNvSpPr>
          <p:nvPr/>
        </p:nvSpPr>
        <p:spPr bwMode="auto">
          <a:xfrm>
            <a:off x="936625" y="251142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sz="2000" dirty="0">
                <a:ea typeface="楷体_GB2312" pitchFamily="49" charset="-122"/>
              </a:rPr>
              <a:t>要证明</a:t>
            </a:r>
          </a:p>
        </p:txBody>
      </p:sp>
      <p:graphicFrame>
        <p:nvGraphicFramePr>
          <p:cNvPr id="332806" name="Object 6"/>
          <p:cNvGraphicFramePr>
            <a:graphicFrameLocks noChangeAspect="1"/>
          </p:cNvGraphicFramePr>
          <p:nvPr/>
        </p:nvGraphicFramePr>
        <p:xfrm>
          <a:off x="2262188" y="2125663"/>
          <a:ext cx="3643312" cy="1087437"/>
        </p:xfrm>
        <a:graphic>
          <a:graphicData uri="http://schemas.openxmlformats.org/presentationml/2006/ole">
            <mc:AlternateContent xmlns:mc="http://schemas.openxmlformats.org/markup-compatibility/2006">
              <mc:Choice xmlns:v="urn:schemas-microsoft-com:vml" Requires="v">
                <p:oleObj spid="_x0000_s115764" name="Equation" r:id="rId5" imgW="1447800" imgH="431800" progId="Equation.DSMT4">
                  <p:embed/>
                </p:oleObj>
              </mc:Choice>
              <mc:Fallback>
                <p:oleObj name="Equation" r:id="rId5" imgW="1447800" imgH="4318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2188" y="2125663"/>
                        <a:ext cx="3643312" cy="1087437"/>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2807" name="Text Box 7"/>
          <p:cNvSpPr txBox="1">
            <a:spLocks noChangeArrowheads="1"/>
          </p:cNvSpPr>
          <p:nvPr/>
        </p:nvSpPr>
        <p:spPr bwMode="auto">
          <a:xfrm>
            <a:off x="6045200" y="2538413"/>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sz="2000">
                <a:ea typeface="楷体_GB2312" pitchFamily="49" charset="-122"/>
              </a:rPr>
              <a:t>是连续的，</a:t>
            </a:r>
          </a:p>
        </p:txBody>
      </p:sp>
      <p:sp>
        <p:nvSpPr>
          <p:cNvPr id="332808" name="Rectangle 8"/>
          <p:cNvSpPr>
            <a:spLocks noChangeArrowheads="1"/>
          </p:cNvSpPr>
          <p:nvPr/>
        </p:nvSpPr>
        <p:spPr bwMode="auto">
          <a:xfrm>
            <a:off x="939313" y="3552825"/>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sz="2000" dirty="0">
                <a:ea typeface="楷体_GB2312" pitchFamily="49" charset="-122"/>
              </a:rPr>
              <a:t>必须</a:t>
            </a:r>
            <a:r>
              <a:rPr lang="zh-CN" altLang="en-US" sz="2000" dirty="0" smtClean="0">
                <a:ea typeface="楷体_GB2312" pitchFamily="49" charset="-122"/>
              </a:rPr>
              <a:t>证明</a:t>
            </a:r>
            <a:endParaRPr lang="zh-CN" altLang="en-US" sz="2000" dirty="0">
              <a:ea typeface="楷体_GB2312" pitchFamily="49" charset="-122"/>
            </a:endParaRPr>
          </a:p>
        </p:txBody>
      </p:sp>
      <p:graphicFrame>
        <p:nvGraphicFramePr>
          <p:cNvPr id="332809" name="Object 9"/>
          <p:cNvGraphicFramePr>
            <a:graphicFrameLocks noChangeAspect="1"/>
          </p:cNvGraphicFramePr>
          <p:nvPr>
            <p:extLst/>
          </p:nvPr>
        </p:nvGraphicFramePr>
        <p:xfrm>
          <a:off x="2568575" y="3335338"/>
          <a:ext cx="3255963" cy="731837"/>
        </p:xfrm>
        <a:graphic>
          <a:graphicData uri="http://schemas.openxmlformats.org/presentationml/2006/ole">
            <mc:AlternateContent xmlns:mc="http://schemas.openxmlformats.org/markup-compatibility/2006">
              <mc:Choice xmlns:v="urn:schemas-microsoft-com:vml" Requires="v">
                <p:oleObj spid="_x0000_s115765" name="Equation" r:id="rId7" imgW="1130040" imgH="253800" progId="Equation.DSMT4">
                  <p:embed/>
                </p:oleObj>
              </mc:Choice>
              <mc:Fallback>
                <p:oleObj name="Equation" r:id="rId7" imgW="1130040" imgH="253800" progId="Equation.DSMT4">
                  <p:embed/>
                  <p:pic>
                    <p:nvPicPr>
                      <p:cNvPr id="0" name=""/>
                      <p:cNvPicPr>
                        <a:picLocks noChangeAspect="1" noChangeArrowheads="1"/>
                      </p:cNvPicPr>
                      <p:nvPr/>
                    </p:nvPicPr>
                    <p:blipFill>
                      <a:blip r:embed="rId8"/>
                      <a:srcRect/>
                      <a:stretch>
                        <a:fillRect/>
                      </a:stretch>
                    </p:blipFill>
                    <p:spPr bwMode="auto">
                      <a:xfrm>
                        <a:off x="2568575" y="3335338"/>
                        <a:ext cx="3255963" cy="731837"/>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2810" name="Text Box 10"/>
          <p:cNvSpPr txBox="1">
            <a:spLocks noChangeArrowheads="1"/>
          </p:cNvSpPr>
          <p:nvPr/>
        </p:nvSpPr>
        <p:spPr bwMode="auto">
          <a:xfrm>
            <a:off x="950792" y="4520370"/>
            <a:ext cx="4427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sz="2000" dirty="0" smtClean="0">
                <a:ea typeface="楷体_GB2312" pitchFamily="49" charset="-122"/>
              </a:rPr>
              <a:t>而</a:t>
            </a:r>
            <a:endParaRPr lang="zh-CN" altLang="en-US" sz="2000" dirty="0">
              <a:ea typeface="楷体_GB2312" pitchFamily="49" charset="-122"/>
            </a:endParaRPr>
          </a:p>
        </p:txBody>
      </p:sp>
      <p:graphicFrame>
        <p:nvGraphicFramePr>
          <p:cNvPr id="332811" name="Object 11"/>
          <p:cNvGraphicFramePr>
            <a:graphicFrameLocks noChangeAspect="1"/>
          </p:cNvGraphicFramePr>
          <p:nvPr/>
        </p:nvGraphicFramePr>
        <p:xfrm>
          <a:off x="1719263" y="4281488"/>
          <a:ext cx="3941762" cy="942975"/>
        </p:xfrm>
        <a:graphic>
          <a:graphicData uri="http://schemas.openxmlformats.org/presentationml/2006/ole">
            <mc:AlternateContent xmlns:mc="http://schemas.openxmlformats.org/markup-compatibility/2006">
              <mc:Choice xmlns:v="urn:schemas-microsoft-com:vml" Requires="v">
                <p:oleObj spid="_x0000_s115766" name="Equation" r:id="rId9" imgW="1752600" imgH="419100" progId="Equation.DSMT4">
                  <p:embed/>
                </p:oleObj>
              </mc:Choice>
              <mc:Fallback>
                <p:oleObj name="Equation" r:id="rId9" imgW="1752600" imgH="4191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19263" y="4281488"/>
                        <a:ext cx="3941762" cy="942975"/>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2812" name="Text Box 12"/>
          <p:cNvSpPr txBox="1">
            <a:spLocks noChangeArrowheads="1"/>
          </p:cNvSpPr>
          <p:nvPr/>
        </p:nvSpPr>
        <p:spPr bwMode="auto">
          <a:xfrm>
            <a:off x="6077914" y="4544656"/>
            <a:ext cx="4427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sz="2000" dirty="0" smtClean="0">
                <a:ea typeface="楷体_GB2312" pitchFamily="49" charset="-122"/>
              </a:rPr>
              <a:t>且</a:t>
            </a:r>
            <a:endParaRPr lang="zh-CN" altLang="en-US" sz="2000" dirty="0">
              <a:ea typeface="楷体_GB2312" pitchFamily="49" charset="-122"/>
            </a:endParaRPr>
          </a:p>
        </p:txBody>
      </p:sp>
      <p:graphicFrame>
        <p:nvGraphicFramePr>
          <p:cNvPr id="332813" name="Object 13"/>
          <p:cNvGraphicFramePr>
            <a:graphicFrameLocks noChangeAspect="1"/>
          </p:cNvGraphicFramePr>
          <p:nvPr>
            <p:extLst/>
          </p:nvPr>
        </p:nvGraphicFramePr>
        <p:xfrm>
          <a:off x="6732677" y="4482743"/>
          <a:ext cx="1343025" cy="571500"/>
        </p:xfrm>
        <a:graphic>
          <a:graphicData uri="http://schemas.openxmlformats.org/presentationml/2006/ole">
            <mc:AlternateContent xmlns:mc="http://schemas.openxmlformats.org/markup-compatibility/2006">
              <mc:Choice xmlns:v="urn:schemas-microsoft-com:vml" Requires="v">
                <p:oleObj spid="_x0000_s115767" name="公式" r:id="rId11" imgW="596641" imgH="253890" progId="Equation.3">
                  <p:embed/>
                </p:oleObj>
              </mc:Choice>
              <mc:Fallback>
                <p:oleObj name="公式" r:id="rId11" imgW="596641" imgH="25389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32677" y="4482743"/>
                        <a:ext cx="1343025" cy="57150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2814" name="Object 14"/>
          <p:cNvGraphicFramePr>
            <a:graphicFrameLocks noChangeAspect="1"/>
          </p:cNvGraphicFramePr>
          <p:nvPr/>
        </p:nvGraphicFramePr>
        <p:xfrm>
          <a:off x="1806575" y="5541963"/>
          <a:ext cx="4881563" cy="942975"/>
        </p:xfrm>
        <a:graphic>
          <a:graphicData uri="http://schemas.openxmlformats.org/presentationml/2006/ole">
            <mc:AlternateContent xmlns:mc="http://schemas.openxmlformats.org/markup-compatibility/2006">
              <mc:Choice xmlns:v="urn:schemas-microsoft-com:vml" Requires="v">
                <p:oleObj spid="_x0000_s115768" name="Equation" r:id="rId13" imgW="2171700" imgH="419100" progId="Equation.DSMT4">
                  <p:embed/>
                </p:oleObj>
              </mc:Choice>
              <mc:Fallback>
                <p:oleObj name="Equation" r:id="rId13" imgW="2171700" imgH="4191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06575" y="5541963"/>
                        <a:ext cx="4881563" cy="942975"/>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2815" name="Text Box 15"/>
          <p:cNvSpPr txBox="1">
            <a:spLocks noChangeArrowheads="1"/>
          </p:cNvSpPr>
          <p:nvPr/>
        </p:nvSpPr>
        <p:spPr bwMode="auto">
          <a:xfrm>
            <a:off x="949431" y="5813395"/>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sz="2000" dirty="0" smtClean="0">
                <a:ea typeface="楷体_GB2312" pitchFamily="49" charset="-122"/>
              </a:rPr>
              <a:t>所以</a:t>
            </a:r>
            <a:endParaRPr lang="zh-CN" altLang="en-US" sz="2000" dirty="0">
              <a:ea typeface="楷体_GB2312" pitchFamily="49" charset="-122"/>
            </a:endParaRPr>
          </a:p>
        </p:txBody>
      </p:sp>
      <p:graphicFrame>
        <p:nvGraphicFramePr>
          <p:cNvPr id="332816" name="Object 16"/>
          <p:cNvGraphicFramePr>
            <a:graphicFrameLocks noChangeAspect="1"/>
          </p:cNvGraphicFramePr>
          <p:nvPr/>
        </p:nvGraphicFramePr>
        <p:xfrm>
          <a:off x="6927850" y="5734050"/>
          <a:ext cx="942975" cy="457200"/>
        </p:xfrm>
        <a:graphic>
          <a:graphicData uri="http://schemas.openxmlformats.org/presentationml/2006/ole">
            <mc:AlternateContent xmlns:mc="http://schemas.openxmlformats.org/markup-compatibility/2006">
              <mc:Choice xmlns:v="urn:schemas-microsoft-com:vml" Requires="v">
                <p:oleObj spid="_x0000_s115769" name="Equation" r:id="rId15" imgW="418918" imgH="203112" progId="Equation.DSMT4">
                  <p:embed/>
                </p:oleObj>
              </mc:Choice>
              <mc:Fallback>
                <p:oleObj name="Equation" r:id="rId15" imgW="418918" imgH="203112"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27850" y="5734050"/>
                        <a:ext cx="942975" cy="45720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8438806" y="1657611"/>
            <a:ext cx="429297" cy="5016758"/>
          </a:xfrm>
          <a:prstGeom prst="rect">
            <a:avLst/>
          </a:prstGeom>
          <a:solidFill>
            <a:srgbClr val="FF9900"/>
          </a:solidFill>
        </p:spPr>
        <p:txBody>
          <a:bodyPr wrap="square">
            <a:spAutoFit/>
          </a:bodyPr>
          <a:lstStyle/>
          <a:p>
            <a:pPr algn="ctr"/>
            <a:r>
              <a:rPr lang="zh-CN" altLang="en-US" sz="2000" dirty="0" smtClean="0">
                <a:solidFill>
                  <a:schemeClr val="tx2"/>
                </a:solidFill>
              </a:rPr>
              <a:t>那流过电容的电流是否具有连续性？</a:t>
            </a:r>
            <a:endParaRPr lang="zh-CN" altLang="en-US" sz="2000" dirty="0"/>
          </a:p>
        </p:txBody>
      </p:sp>
    </p:spTree>
    <p:extLst>
      <p:ext uri="{BB962C8B-B14F-4D97-AF65-F5344CB8AC3E}">
        <p14:creationId xmlns:p14="http://schemas.microsoft.com/office/powerpoint/2010/main" val="629548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6866">
                                            <p:txEl>
                                              <p:pRg st="1" end="1"/>
                                            </p:txEl>
                                          </p:spTgt>
                                        </p:tgtEl>
                                        <p:attrNameLst>
                                          <p:attrName>style.visibility</p:attrName>
                                        </p:attrNameLst>
                                      </p:cBhvr>
                                      <p:to>
                                        <p:strVal val="visible"/>
                                      </p:to>
                                    </p:set>
                                    <p:animEffect transition="in" filter="barn(inVertical)">
                                      <p:cBhvr>
                                        <p:cTn id="7" dur="500"/>
                                        <p:tgtEl>
                                          <p:spTgt spid="3686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6867"/>
                                        </p:tgtEl>
                                        <p:attrNameLst>
                                          <p:attrName>style.visibility</p:attrName>
                                        </p:attrNameLst>
                                      </p:cBhvr>
                                      <p:to>
                                        <p:strVal val="visible"/>
                                      </p:to>
                                    </p:set>
                                    <p:animEffect transition="in" filter="barn(inVertical)">
                                      <p:cBhvr>
                                        <p:cTn id="12" dur="500"/>
                                        <p:tgtEl>
                                          <p:spTgt spid="3686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32804"/>
                                        </p:tgtEl>
                                        <p:attrNameLst>
                                          <p:attrName>style.visibility</p:attrName>
                                        </p:attrNameLst>
                                      </p:cBhvr>
                                      <p:to>
                                        <p:strVal val="visible"/>
                                      </p:to>
                                    </p:set>
                                    <p:animEffect transition="in" filter="barn(inVertical)">
                                      <p:cBhvr>
                                        <p:cTn id="17" dur="500"/>
                                        <p:tgtEl>
                                          <p:spTgt spid="33280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32805"/>
                                        </p:tgtEl>
                                        <p:attrNameLst>
                                          <p:attrName>style.visibility</p:attrName>
                                        </p:attrNameLst>
                                      </p:cBhvr>
                                      <p:to>
                                        <p:strVal val="visible"/>
                                      </p:to>
                                    </p:set>
                                    <p:animEffect transition="in" filter="barn(inVertical)">
                                      <p:cBhvr>
                                        <p:cTn id="22" dur="500"/>
                                        <p:tgtEl>
                                          <p:spTgt spid="332805"/>
                                        </p:tgtEl>
                                      </p:cBhvr>
                                    </p:animEffect>
                                  </p:childTnLst>
                                </p:cTn>
                              </p:par>
                              <p:par>
                                <p:cTn id="23" presetID="16" presetClass="entr" presetSubtype="21" fill="hold" nodeType="withEffect">
                                  <p:stCondLst>
                                    <p:cond delay="0"/>
                                  </p:stCondLst>
                                  <p:childTnLst>
                                    <p:set>
                                      <p:cBhvr>
                                        <p:cTn id="24" dur="1" fill="hold">
                                          <p:stCondLst>
                                            <p:cond delay="0"/>
                                          </p:stCondLst>
                                        </p:cTn>
                                        <p:tgtEl>
                                          <p:spTgt spid="332806"/>
                                        </p:tgtEl>
                                        <p:attrNameLst>
                                          <p:attrName>style.visibility</p:attrName>
                                        </p:attrNameLst>
                                      </p:cBhvr>
                                      <p:to>
                                        <p:strVal val="visible"/>
                                      </p:to>
                                    </p:set>
                                    <p:animEffect transition="in" filter="barn(inVertical)">
                                      <p:cBhvr>
                                        <p:cTn id="25" dur="500"/>
                                        <p:tgtEl>
                                          <p:spTgt spid="332806"/>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32807"/>
                                        </p:tgtEl>
                                        <p:attrNameLst>
                                          <p:attrName>style.visibility</p:attrName>
                                        </p:attrNameLst>
                                      </p:cBhvr>
                                      <p:to>
                                        <p:strVal val="visible"/>
                                      </p:to>
                                    </p:set>
                                    <p:animEffect transition="in" filter="barn(inVertical)">
                                      <p:cBhvr>
                                        <p:cTn id="28" dur="500"/>
                                        <p:tgtEl>
                                          <p:spTgt spid="332807"/>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332808"/>
                                        </p:tgtEl>
                                        <p:attrNameLst>
                                          <p:attrName>style.visibility</p:attrName>
                                        </p:attrNameLst>
                                      </p:cBhvr>
                                      <p:to>
                                        <p:strVal val="visible"/>
                                      </p:to>
                                    </p:set>
                                    <p:animEffect transition="in" filter="barn(inVertical)">
                                      <p:cBhvr>
                                        <p:cTn id="33" dur="500"/>
                                        <p:tgtEl>
                                          <p:spTgt spid="332808"/>
                                        </p:tgtEl>
                                      </p:cBhvr>
                                    </p:animEffect>
                                  </p:childTnLst>
                                </p:cTn>
                              </p:par>
                              <p:par>
                                <p:cTn id="34" presetID="16" presetClass="entr" presetSubtype="21" fill="hold" nodeType="withEffect">
                                  <p:stCondLst>
                                    <p:cond delay="0"/>
                                  </p:stCondLst>
                                  <p:childTnLst>
                                    <p:set>
                                      <p:cBhvr>
                                        <p:cTn id="35" dur="1" fill="hold">
                                          <p:stCondLst>
                                            <p:cond delay="0"/>
                                          </p:stCondLst>
                                        </p:cTn>
                                        <p:tgtEl>
                                          <p:spTgt spid="332809"/>
                                        </p:tgtEl>
                                        <p:attrNameLst>
                                          <p:attrName>style.visibility</p:attrName>
                                        </p:attrNameLst>
                                      </p:cBhvr>
                                      <p:to>
                                        <p:strVal val="visible"/>
                                      </p:to>
                                    </p:set>
                                    <p:animEffect transition="in" filter="barn(inVertical)">
                                      <p:cBhvr>
                                        <p:cTn id="36" dur="500"/>
                                        <p:tgtEl>
                                          <p:spTgt spid="332809"/>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332810"/>
                                        </p:tgtEl>
                                        <p:attrNameLst>
                                          <p:attrName>style.visibility</p:attrName>
                                        </p:attrNameLst>
                                      </p:cBhvr>
                                      <p:to>
                                        <p:strVal val="visible"/>
                                      </p:to>
                                    </p:set>
                                    <p:animEffect transition="in" filter="barn(inVertical)">
                                      <p:cBhvr>
                                        <p:cTn id="41" dur="500"/>
                                        <p:tgtEl>
                                          <p:spTgt spid="332810"/>
                                        </p:tgtEl>
                                      </p:cBhvr>
                                    </p:animEffect>
                                  </p:childTnLst>
                                </p:cTn>
                              </p:par>
                              <p:par>
                                <p:cTn id="42" presetID="16" presetClass="entr" presetSubtype="21" fill="hold" nodeType="withEffect">
                                  <p:stCondLst>
                                    <p:cond delay="0"/>
                                  </p:stCondLst>
                                  <p:childTnLst>
                                    <p:set>
                                      <p:cBhvr>
                                        <p:cTn id="43" dur="1" fill="hold">
                                          <p:stCondLst>
                                            <p:cond delay="0"/>
                                          </p:stCondLst>
                                        </p:cTn>
                                        <p:tgtEl>
                                          <p:spTgt spid="332811"/>
                                        </p:tgtEl>
                                        <p:attrNameLst>
                                          <p:attrName>style.visibility</p:attrName>
                                        </p:attrNameLst>
                                      </p:cBhvr>
                                      <p:to>
                                        <p:strVal val="visible"/>
                                      </p:to>
                                    </p:set>
                                    <p:animEffect transition="in" filter="barn(inVertical)">
                                      <p:cBhvr>
                                        <p:cTn id="44" dur="500"/>
                                        <p:tgtEl>
                                          <p:spTgt spid="3328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332812"/>
                                        </p:tgtEl>
                                        <p:attrNameLst>
                                          <p:attrName>style.visibility</p:attrName>
                                        </p:attrNameLst>
                                      </p:cBhvr>
                                      <p:to>
                                        <p:strVal val="visible"/>
                                      </p:to>
                                    </p:set>
                                    <p:animEffect transition="in" filter="wipe(down)">
                                      <p:cBhvr>
                                        <p:cTn id="49" dur="500"/>
                                        <p:tgtEl>
                                          <p:spTgt spid="332812"/>
                                        </p:tgtEl>
                                      </p:cBhvr>
                                    </p:animEffect>
                                  </p:childTnLst>
                                </p:cTn>
                              </p:par>
                              <p:par>
                                <p:cTn id="50" presetID="22" presetClass="entr" presetSubtype="4" fill="hold" nodeType="withEffect">
                                  <p:stCondLst>
                                    <p:cond delay="0"/>
                                  </p:stCondLst>
                                  <p:childTnLst>
                                    <p:set>
                                      <p:cBhvr>
                                        <p:cTn id="51" dur="1" fill="hold">
                                          <p:stCondLst>
                                            <p:cond delay="0"/>
                                          </p:stCondLst>
                                        </p:cTn>
                                        <p:tgtEl>
                                          <p:spTgt spid="332813"/>
                                        </p:tgtEl>
                                        <p:attrNameLst>
                                          <p:attrName>style.visibility</p:attrName>
                                        </p:attrNameLst>
                                      </p:cBhvr>
                                      <p:to>
                                        <p:strVal val="visible"/>
                                      </p:to>
                                    </p:set>
                                    <p:animEffect transition="in" filter="wipe(down)">
                                      <p:cBhvr>
                                        <p:cTn id="52" dur="500"/>
                                        <p:tgtEl>
                                          <p:spTgt spid="332813"/>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332815"/>
                                        </p:tgtEl>
                                        <p:attrNameLst>
                                          <p:attrName>style.visibility</p:attrName>
                                        </p:attrNameLst>
                                      </p:cBhvr>
                                      <p:to>
                                        <p:strVal val="visible"/>
                                      </p:to>
                                    </p:set>
                                    <p:animEffect transition="in" filter="barn(inVertical)">
                                      <p:cBhvr>
                                        <p:cTn id="57" dur="500"/>
                                        <p:tgtEl>
                                          <p:spTgt spid="332815"/>
                                        </p:tgtEl>
                                      </p:cBhvr>
                                    </p:animEffect>
                                  </p:childTnLst>
                                </p:cTn>
                              </p:par>
                              <p:par>
                                <p:cTn id="58" presetID="16" presetClass="entr" presetSubtype="21" fill="hold" nodeType="withEffect">
                                  <p:stCondLst>
                                    <p:cond delay="0"/>
                                  </p:stCondLst>
                                  <p:childTnLst>
                                    <p:set>
                                      <p:cBhvr>
                                        <p:cTn id="59" dur="1" fill="hold">
                                          <p:stCondLst>
                                            <p:cond delay="0"/>
                                          </p:stCondLst>
                                        </p:cTn>
                                        <p:tgtEl>
                                          <p:spTgt spid="332814"/>
                                        </p:tgtEl>
                                        <p:attrNameLst>
                                          <p:attrName>style.visibility</p:attrName>
                                        </p:attrNameLst>
                                      </p:cBhvr>
                                      <p:to>
                                        <p:strVal val="visible"/>
                                      </p:to>
                                    </p:set>
                                    <p:animEffect transition="in" filter="barn(inVertical)">
                                      <p:cBhvr>
                                        <p:cTn id="60" dur="500"/>
                                        <p:tgtEl>
                                          <p:spTgt spid="332814"/>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332816"/>
                                        </p:tgtEl>
                                        <p:attrNameLst>
                                          <p:attrName>style.visibility</p:attrName>
                                        </p:attrNameLst>
                                      </p:cBhvr>
                                      <p:to>
                                        <p:strVal val="visible"/>
                                      </p:to>
                                    </p:set>
                                    <p:animEffect transition="in" filter="barn(inVertical)">
                                      <p:cBhvr>
                                        <p:cTn id="65" dur="500"/>
                                        <p:tgtEl>
                                          <p:spTgt spid="332816"/>
                                        </p:tgtEl>
                                      </p:cBhvr>
                                    </p:animEffect>
                                  </p:childTnLst>
                                </p:cTn>
                              </p:par>
                            </p:childTnLst>
                          </p:cTn>
                        </p:par>
                      </p:childTnLst>
                    </p:cTn>
                  </p:par>
                  <p:par>
                    <p:cTn id="66" fill="hold">
                      <p:stCondLst>
                        <p:cond delay="indefinite"/>
                      </p:stCondLst>
                      <p:childTnLst>
                        <p:par>
                          <p:cTn id="67" fill="hold">
                            <p:stCondLst>
                              <p:cond delay="0"/>
                            </p:stCondLst>
                            <p:childTnLst>
                              <p:par>
                                <p:cTn id="68" presetID="31" presetClass="entr" presetSubtype="0" fill="hold" grpId="0" nodeType="clickEffect">
                                  <p:stCondLst>
                                    <p:cond delay="0"/>
                                  </p:stCondLst>
                                  <p:childTnLst>
                                    <p:set>
                                      <p:cBhvr>
                                        <p:cTn id="69" dur="1" fill="hold">
                                          <p:stCondLst>
                                            <p:cond delay="0"/>
                                          </p:stCondLst>
                                        </p:cTn>
                                        <p:tgtEl>
                                          <p:spTgt spid="2"/>
                                        </p:tgtEl>
                                        <p:attrNameLst>
                                          <p:attrName>style.visibility</p:attrName>
                                        </p:attrNameLst>
                                      </p:cBhvr>
                                      <p:to>
                                        <p:strVal val="visible"/>
                                      </p:to>
                                    </p:set>
                                    <p:anim calcmode="lin" valueType="num">
                                      <p:cBhvr>
                                        <p:cTn id="70" dur="1000" fill="hold"/>
                                        <p:tgtEl>
                                          <p:spTgt spid="2"/>
                                        </p:tgtEl>
                                        <p:attrNameLst>
                                          <p:attrName>ppt_w</p:attrName>
                                        </p:attrNameLst>
                                      </p:cBhvr>
                                      <p:tavLst>
                                        <p:tav tm="0">
                                          <p:val>
                                            <p:fltVal val="0"/>
                                          </p:val>
                                        </p:tav>
                                        <p:tav tm="100000">
                                          <p:val>
                                            <p:strVal val="#ppt_w"/>
                                          </p:val>
                                        </p:tav>
                                      </p:tavLst>
                                    </p:anim>
                                    <p:anim calcmode="lin" valueType="num">
                                      <p:cBhvr>
                                        <p:cTn id="71" dur="1000" fill="hold"/>
                                        <p:tgtEl>
                                          <p:spTgt spid="2"/>
                                        </p:tgtEl>
                                        <p:attrNameLst>
                                          <p:attrName>ppt_h</p:attrName>
                                        </p:attrNameLst>
                                      </p:cBhvr>
                                      <p:tavLst>
                                        <p:tav tm="0">
                                          <p:val>
                                            <p:fltVal val="0"/>
                                          </p:val>
                                        </p:tav>
                                        <p:tav tm="100000">
                                          <p:val>
                                            <p:strVal val="#ppt_h"/>
                                          </p:val>
                                        </p:tav>
                                      </p:tavLst>
                                    </p:anim>
                                    <p:anim calcmode="lin" valueType="num">
                                      <p:cBhvr>
                                        <p:cTn id="72" dur="1000" fill="hold"/>
                                        <p:tgtEl>
                                          <p:spTgt spid="2"/>
                                        </p:tgtEl>
                                        <p:attrNameLst>
                                          <p:attrName>style.rotation</p:attrName>
                                        </p:attrNameLst>
                                      </p:cBhvr>
                                      <p:tavLst>
                                        <p:tav tm="0">
                                          <p:val>
                                            <p:fltVal val="90"/>
                                          </p:val>
                                        </p:tav>
                                        <p:tav tm="100000">
                                          <p:val>
                                            <p:fltVal val="0"/>
                                          </p:val>
                                        </p:tav>
                                      </p:tavLst>
                                    </p:anim>
                                    <p:animEffect transition="in" filter="fade">
                                      <p:cBhvr>
                                        <p:cTn id="7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4" grpId="0"/>
      <p:bldP spid="332805" grpId="0"/>
      <p:bldP spid="332807" grpId="0"/>
      <p:bldP spid="332808" grpId="0"/>
      <p:bldP spid="332810" grpId="0"/>
      <p:bldP spid="332812" grpId="0"/>
      <p:bldP spid="332815" grpId="0"/>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276225" y="444500"/>
            <a:ext cx="2743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a:solidFill>
                  <a:srgbClr val="A50021"/>
                </a:solidFill>
              </a:rPr>
              <a:t>3</a:t>
            </a:r>
            <a:r>
              <a:rPr lang="zh-CN" altLang="en-US">
                <a:solidFill>
                  <a:srgbClr val="A50021"/>
                </a:solidFill>
              </a:rPr>
              <a:t>、电容的储能</a:t>
            </a:r>
          </a:p>
        </p:txBody>
      </p:sp>
      <p:grpSp>
        <p:nvGrpSpPr>
          <p:cNvPr id="333827" name="Group 3"/>
          <p:cNvGrpSpPr>
            <a:grpSpLocks/>
          </p:cNvGrpSpPr>
          <p:nvPr/>
        </p:nvGrpSpPr>
        <p:grpSpPr bwMode="auto">
          <a:xfrm>
            <a:off x="649288" y="3840163"/>
            <a:ext cx="7288212" cy="777875"/>
            <a:chOff x="336" y="2163"/>
            <a:chExt cx="4591" cy="490"/>
          </a:xfrm>
        </p:grpSpPr>
        <p:sp>
          <p:nvSpPr>
            <p:cNvPr id="37899" name="Text Box 4"/>
            <p:cNvSpPr txBox="1">
              <a:spLocks noChangeArrowheads="1"/>
            </p:cNvSpPr>
            <p:nvPr/>
          </p:nvSpPr>
          <p:spPr bwMode="auto">
            <a:xfrm>
              <a:off x="336" y="2256"/>
              <a:ext cx="263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rPr>
                <a:t>从</a:t>
              </a:r>
              <a:r>
                <a:rPr lang="en-US" altLang="zh-CN" i="1">
                  <a:solidFill>
                    <a:schemeClr val="tx2"/>
                  </a:solidFill>
                </a:rPr>
                <a:t>t</a:t>
              </a:r>
              <a:r>
                <a:rPr lang="en-US" altLang="zh-CN" baseline="-25000">
                  <a:solidFill>
                    <a:schemeClr val="tx2"/>
                  </a:solidFill>
                </a:rPr>
                <a:t>0</a:t>
              </a:r>
              <a:r>
                <a:rPr lang="zh-CN" altLang="en-US">
                  <a:solidFill>
                    <a:schemeClr val="tx2"/>
                  </a:solidFill>
                </a:rPr>
                <a:t>到 </a:t>
              </a:r>
              <a:r>
                <a:rPr lang="en-US" altLang="zh-CN" i="1">
                  <a:solidFill>
                    <a:schemeClr val="tx2"/>
                  </a:solidFill>
                </a:rPr>
                <a:t>t</a:t>
              </a:r>
              <a:r>
                <a:rPr lang="en-US" altLang="zh-CN">
                  <a:solidFill>
                    <a:schemeClr val="tx2"/>
                  </a:solidFill>
                </a:rPr>
                <a:t> </a:t>
              </a:r>
              <a:r>
                <a:rPr lang="zh-CN" altLang="en-US">
                  <a:solidFill>
                    <a:schemeClr val="tx2"/>
                  </a:solidFill>
                </a:rPr>
                <a:t>电容储能的变化量：</a:t>
              </a:r>
            </a:p>
          </p:txBody>
        </p:sp>
        <p:graphicFrame>
          <p:nvGraphicFramePr>
            <p:cNvPr id="37900" name="Object 5"/>
            <p:cNvGraphicFramePr>
              <a:graphicFrameLocks noChangeAspect="1"/>
            </p:cNvGraphicFramePr>
            <p:nvPr/>
          </p:nvGraphicFramePr>
          <p:xfrm>
            <a:off x="2997" y="2163"/>
            <a:ext cx="1930" cy="490"/>
          </p:xfrm>
          <a:graphic>
            <a:graphicData uri="http://schemas.openxmlformats.org/presentationml/2006/ole">
              <mc:AlternateContent xmlns:mc="http://schemas.openxmlformats.org/markup-compatibility/2006">
                <mc:Choice xmlns:v="urn:schemas-microsoft-com:vml" Requires="v">
                  <p:oleObj spid="_x0000_s116759" name="Equation" r:id="rId3" imgW="1396394" imgH="355446" progId="Equation.DSMT4">
                    <p:embed/>
                  </p:oleObj>
                </mc:Choice>
                <mc:Fallback>
                  <p:oleObj name="Equation" r:id="rId3" imgW="1396394" imgH="35544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7" y="2163"/>
                          <a:ext cx="1930" cy="49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33830" name="Object 6"/>
          <p:cNvGraphicFramePr>
            <a:graphicFrameLocks noChangeAspect="1"/>
          </p:cNvGraphicFramePr>
          <p:nvPr>
            <p:extLst/>
          </p:nvPr>
        </p:nvGraphicFramePr>
        <p:xfrm>
          <a:off x="1103313" y="1033463"/>
          <a:ext cx="2251075" cy="806450"/>
        </p:xfrm>
        <a:graphic>
          <a:graphicData uri="http://schemas.openxmlformats.org/presentationml/2006/ole">
            <mc:AlternateContent xmlns:mc="http://schemas.openxmlformats.org/markup-compatibility/2006">
              <mc:Choice xmlns:v="urn:schemas-microsoft-com:vml" Requires="v">
                <p:oleObj spid="_x0000_s116760" name="Equation" r:id="rId5" imgW="990170" imgH="355446" progId="Equation.DSMT4">
                  <p:embed/>
                </p:oleObj>
              </mc:Choice>
              <mc:Fallback>
                <p:oleObj name="Equation" r:id="rId5" imgW="990170" imgH="35544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3313" y="1033463"/>
                        <a:ext cx="2251075"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3831" name="Object 7"/>
          <p:cNvGraphicFramePr>
            <a:graphicFrameLocks noChangeAspect="1"/>
          </p:cNvGraphicFramePr>
          <p:nvPr>
            <p:extLst/>
          </p:nvPr>
        </p:nvGraphicFramePr>
        <p:xfrm>
          <a:off x="1103313" y="1799311"/>
          <a:ext cx="6964362" cy="1900238"/>
        </p:xfrm>
        <a:graphic>
          <a:graphicData uri="http://schemas.openxmlformats.org/presentationml/2006/ole">
            <mc:AlternateContent xmlns:mc="http://schemas.openxmlformats.org/markup-compatibility/2006">
              <mc:Choice xmlns:v="urn:schemas-microsoft-com:vml" Requires="v">
                <p:oleObj spid="_x0000_s116761" name="Equation" r:id="rId7" imgW="3352800" imgH="914400" progId="Equation.DSMT4">
                  <p:embed/>
                </p:oleObj>
              </mc:Choice>
              <mc:Fallback>
                <p:oleObj name="Equation" r:id="rId7" imgW="3352800" imgH="9144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3313" y="1799311"/>
                        <a:ext cx="6964362" cy="1900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3832" name="Text Box 8"/>
          <p:cNvSpPr txBox="1">
            <a:spLocks noChangeArrowheads="1"/>
          </p:cNvSpPr>
          <p:nvPr/>
        </p:nvSpPr>
        <p:spPr bwMode="auto">
          <a:xfrm>
            <a:off x="2195513" y="6088063"/>
            <a:ext cx="47003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spcBef>
                <a:spcPct val="50000"/>
              </a:spcBef>
            </a:pPr>
            <a:r>
              <a:rPr lang="en-US" altLang="zh-CN" sz="2000" dirty="0">
                <a:ea typeface="楷体_GB2312" pitchFamily="49" charset="-122"/>
              </a:rPr>
              <a:t>2</a:t>
            </a:r>
            <a:r>
              <a:rPr lang="zh-CN" altLang="en-US" sz="2000" dirty="0">
                <a:ea typeface="楷体_GB2312" pitchFamily="49" charset="-122"/>
              </a:rPr>
              <a:t>）电容只是储能元件</a:t>
            </a:r>
            <a:r>
              <a:rPr lang="zh-CN" altLang="en-US" sz="2000" dirty="0" smtClean="0">
                <a:ea typeface="楷体_GB2312" pitchFamily="49" charset="-122"/>
              </a:rPr>
              <a:t>，没有</a:t>
            </a:r>
            <a:r>
              <a:rPr lang="zh-CN" altLang="en-US" sz="2000" dirty="0">
                <a:ea typeface="楷体_GB2312" pitchFamily="49" charset="-122"/>
              </a:rPr>
              <a:t>耗散能量。</a:t>
            </a:r>
          </a:p>
        </p:txBody>
      </p:sp>
      <p:grpSp>
        <p:nvGrpSpPr>
          <p:cNvPr id="37895" name="Group 9"/>
          <p:cNvGrpSpPr>
            <a:grpSpLocks/>
          </p:cNvGrpSpPr>
          <p:nvPr/>
        </p:nvGrpSpPr>
        <p:grpSpPr bwMode="auto">
          <a:xfrm>
            <a:off x="292100" y="4911725"/>
            <a:ext cx="1581150" cy="685800"/>
            <a:chOff x="322" y="2939"/>
            <a:chExt cx="996" cy="432"/>
          </a:xfrm>
        </p:grpSpPr>
        <p:sp>
          <p:nvSpPr>
            <p:cNvPr id="37897" name="Rectangle 10"/>
            <p:cNvSpPr>
              <a:spLocks noChangeArrowheads="1"/>
            </p:cNvSpPr>
            <p:nvPr/>
          </p:nvSpPr>
          <p:spPr bwMode="auto">
            <a:xfrm>
              <a:off x="447" y="2939"/>
              <a:ext cx="871" cy="432"/>
            </a:xfrm>
            <a:prstGeom prst="rect">
              <a:avLst/>
            </a:prstGeom>
            <a:solidFill>
              <a:srgbClr val="CCFFFF"/>
            </a:solidFill>
            <a:ln w="9525">
              <a:solidFill>
                <a:srgbClr val="000000"/>
              </a:solidFill>
              <a:miter lim="800000"/>
              <a:headEnd/>
              <a:tailEnd/>
            </a:ln>
            <a:effectLst>
              <a:outerShdw dist="107763" dir="13500000" algn="ctr" rotWithShape="0">
                <a:schemeClr val="bg2"/>
              </a:outerShdw>
            </a:effec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7898" name="Rectangle 11"/>
            <p:cNvSpPr>
              <a:spLocks noChangeArrowheads="1"/>
            </p:cNvSpPr>
            <p:nvPr/>
          </p:nvSpPr>
          <p:spPr bwMode="auto">
            <a:xfrm>
              <a:off x="322" y="2966"/>
              <a:ext cx="9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dirty="0">
                  <a:ea typeface="楷体_GB2312" pitchFamily="49" charset="-122"/>
                </a:rPr>
                <a:t>说明</a:t>
              </a:r>
            </a:p>
          </p:txBody>
        </p:sp>
      </p:grpSp>
      <p:sp>
        <p:nvSpPr>
          <p:cNvPr id="333836" name="Rectangle 12"/>
          <p:cNvSpPr>
            <a:spLocks noChangeArrowheads="1"/>
          </p:cNvSpPr>
          <p:nvPr/>
        </p:nvSpPr>
        <p:spPr bwMode="auto">
          <a:xfrm>
            <a:off x="2193925" y="5145088"/>
            <a:ext cx="66929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lnSpc>
                <a:spcPct val="120000"/>
              </a:lnSpc>
            </a:pPr>
            <a:r>
              <a:rPr lang="en-US" altLang="zh-CN" sz="2000">
                <a:ea typeface="楷体_GB2312" pitchFamily="49" charset="-122"/>
              </a:rPr>
              <a:t>1</a:t>
            </a:r>
            <a:r>
              <a:rPr lang="zh-CN" altLang="en-US" sz="2000">
                <a:ea typeface="楷体_GB2312" pitchFamily="49" charset="-122"/>
              </a:rPr>
              <a:t>）电容的储能取决于该时刻电容电压，与电流无关。电容电压反映了电容的 储能状态，也叫做状态变量。</a:t>
            </a:r>
          </a:p>
        </p:txBody>
      </p:sp>
    </p:spTree>
    <p:extLst>
      <p:ext uri="{BB962C8B-B14F-4D97-AF65-F5344CB8AC3E}">
        <p14:creationId xmlns:p14="http://schemas.microsoft.com/office/powerpoint/2010/main" val="184645021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33830"/>
                                        </p:tgtEl>
                                        <p:attrNameLst>
                                          <p:attrName>style.visibility</p:attrName>
                                        </p:attrNameLst>
                                      </p:cBhvr>
                                      <p:to>
                                        <p:strVal val="visible"/>
                                      </p:to>
                                    </p:set>
                                    <p:animEffect transition="in" filter="dissolve">
                                      <p:cBhvr>
                                        <p:cTn id="7" dur="500"/>
                                        <p:tgtEl>
                                          <p:spTgt spid="3338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33831"/>
                                        </p:tgtEl>
                                        <p:attrNameLst>
                                          <p:attrName>style.visibility</p:attrName>
                                        </p:attrNameLst>
                                      </p:cBhvr>
                                      <p:to>
                                        <p:strVal val="visible"/>
                                      </p:to>
                                    </p:set>
                                    <p:animEffect transition="in" filter="dissolve">
                                      <p:cBhvr>
                                        <p:cTn id="12" dur="500"/>
                                        <p:tgtEl>
                                          <p:spTgt spid="3338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33827"/>
                                        </p:tgtEl>
                                        <p:attrNameLst>
                                          <p:attrName>style.visibility</p:attrName>
                                        </p:attrNameLst>
                                      </p:cBhvr>
                                      <p:to>
                                        <p:strVal val="visible"/>
                                      </p:to>
                                    </p:set>
                                    <p:animEffect transition="in" filter="wipe(left)">
                                      <p:cBhvr>
                                        <p:cTn id="17" dur="500"/>
                                        <p:tgtEl>
                                          <p:spTgt spid="3338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37895"/>
                                        </p:tgtEl>
                                        <p:attrNameLst>
                                          <p:attrName>style.visibility</p:attrName>
                                        </p:attrNameLst>
                                      </p:cBhvr>
                                      <p:to>
                                        <p:strVal val="visible"/>
                                      </p:to>
                                    </p:set>
                                    <p:animEffect transition="in" filter="barn(inVertical)">
                                      <p:cBhvr>
                                        <p:cTn id="22" dur="500"/>
                                        <p:tgtEl>
                                          <p:spTgt spid="3789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33836"/>
                                        </p:tgtEl>
                                        <p:attrNameLst>
                                          <p:attrName>style.visibility</p:attrName>
                                        </p:attrNameLst>
                                      </p:cBhvr>
                                      <p:to>
                                        <p:strVal val="visible"/>
                                      </p:to>
                                    </p:set>
                                    <p:animEffect transition="in" filter="dissolve">
                                      <p:cBhvr>
                                        <p:cTn id="27" dur="500"/>
                                        <p:tgtEl>
                                          <p:spTgt spid="3338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3832">
                                            <p:txEl>
                                              <p:pRg st="0" end="0"/>
                                            </p:txEl>
                                          </p:spTgt>
                                        </p:tgtEl>
                                        <p:attrNameLst>
                                          <p:attrName>style.visibility</p:attrName>
                                        </p:attrNameLst>
                                      </p:cBhvr>
                                      <p:to>
                                        <p:strVal val="visible"/>
                                      </p:to>
                                    </p:set>
                                    <p:animEffect transition="in" filter="wipe(left)">
                                      <p:cBhvr>
                                        <p:cTn id="32" dur="500"/>
                                        <p:tgtEl>
                                          <p:spTgt spid="3338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32" grpId="0" build="p" autoUpdateAnimBg="0"/>
      <p:bldP spid="333836"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304800" y="749300"/>
            <a:ext cx="2743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a:solidFill>
                  <a:srgbClr val="A50021"/>
                </a:solidFill>
              </a:rPr>
              <a:t>4</a:t>
            </a:r>
            <a:r>
              <a:rPr lang="zh-CN" altLang="en-US">
                <a:solidFill>
                  <a:srgbClr val="A50021"/>
                </a:solidFill>
              </a:rPr>
              <a:t>、电容的模型</a:t>
            </a:r>
          </a:p>
        </p:txBody>
      </p:sp>
      <p:sp>
        <p:nvSpPr>
          <p:cNvPr id="44035" name="Text Box 49"/>
          <p:cNvSpPr txBox="1">
            <a:spLocks noChangeArrowheads="1"/>
          </p:cNvSpPr>
          <p:nvPr/>
        </p:nvSpPr>
        <p:spPr bwMode="auto">
          <a:xfrm>
            <a:off x="827088" y="5364163"/>
            <a:ext cx="1984375" cy="3667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sz="1800"/>
              <a:t>理想电容器模型</a:t>
            </a:r>
          </a:p>
        </p:txBody>
      </p:sp>
      <p:sp>
        <p:nvSpPr>
          <p:cNvPr id="44036" name="Text Box 50"/>
          <p:cNvSpPr txBox="1">
            <a:spLocks noChangeArrowheads="1"/>
          </p:cNvSpPr>
          <p:nvPr/>
        </p:nvSpPr>
        <p:spPr bwMode="auto">
          <a:xfrm>
            <a:off x="4956175" y="3065463"/>
            <a:ext cx="2716213" cy="3667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r>
              <a:rPr lang="zh-CN" altLang="en-US" sz="1800"/>
              <a:t>考虑漏电时的电容器模型</a:t>
            </a:r>
          </a:p>
        </p:txBody>
      </p:sp>
      <p:sp>
        <p:nvSpPr>
          <p:cNvPr id="44037" name="Text Box 51"/>
          <p:cNvSpPr txBox="1">
            <a:spLocks noChangeArrowheads="1"/>
          </p:cNvSpPr>
          <p:nvPr/>
        </p:nvSpPr>
        <p:spPr bwMode="auto">
          <a:xfrm>
            <a:off x="4802188" y="5799138"/>
            <a:ext cx="2887662" cy="3667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sz="1800"/>
              <a:t>高频时的电容器模型</a:t>
            </a:r>
          </a:p>
        </p:txBody>
      </p:sp>
      <p:grpSp>
        <p:nvGrpSpPr>
          <p:cNvPr id="44038" name="Group 68"/>
          <p:cNvGrpSpPr>
            <a:grpSpLocks/>
          </p:cNvGrpSpPr>
          <p:nvPr/>
        </p:nvGrpSpPr>
        <p:grpSpPr bwMode="auto">
          <a:xfrm>
            <a:off x="869950" y="1725613"/>
            <a:ext cx="1727200" cy="3390900"/>
            <a:chOff x="3194" y="2019"/>
            <a:chExt cx="1088" cy="2136"/>
          </a:xfrm>
        </p:grpSpPr>
        <p:sp>
          <p:nvSpPr>
            <p:cNvPr id="44082" name="Oval 29"/>
            <p:cNvSpPr>
              <a:spLocks noChangeArrowheads="1"/>
            </p:cNvSpPr>
            <p:nvPr/>
          </p:nvSpPr>
          <p:spPr bwMode="auto">
            <a:xfrm>
              <a:off x="3956" y="2638"/>
              <a:ext cx="53" cy="53"/>
            </a:xfrm>
            <a:prstGeom prst="ellipse">
              <a:avLst/>
            </a:prstGeom>
            <a:solidFill>
              <a:srgbClr val="FFFFFF"/>
            </a:solidFill>
            <a:ln w="9525">
              <a:solidFill>
                <a:srgbClr val="000000"/>
              </a:solidFill>
              <a:round/>
              <a:headEnd/>
              <a:tailEnd/>
            </a:ln>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4083" name="Text Box 54"/>
            <p:cNvSpPr txBox="1">
              <a:spLocks noChangeArrowheads="1"/>
            </p:cNvSpPr>
            <p:nvPr/>
          </p:nvSpPr>
          <p:spPr bwMode="auto">
            <a:xfrm rot="-126453">
              <a:off x="3989" y="2898"/>
              <a:ext cx="29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sym typeface="Symbol" pitchFamily="18" charset="2"/>
                </a:rPr>
                <a:t>C</a:t>
              </a:r>
              <a:endParaRPr lang="en-US" altLang="zh-CN" b="0">
                <a:ea typeface="仿宋_GB2312" pitchFamily="49" charset="-122"/>
                <a:sym typeface="Symbol" pitchFamily="18" charset="2"/>
              </a:endParaRPr>
            </a:p>
          </p:txBody>
        </p:sp>
        <p:sp>
          <p:nvSpPr>
            <p:cNvPr id="44084" name="Line 55"/>
            <p:cNvSpPr>
              <a:spLocks noChangeShapeType="1"/>
            </p:cNvSpPr>
            <p:nvPr/>
          </p:nvSpPr>
          <p:spPr bwMode="auto">
            <a:xfrm rot="5400000" flipH="1" flipV="1">
              <a:off x="3382" y="2586"/>
              <a:ext cx="773" cy="0"/>
            </a:xfrm>
            <a:prstGeom prst="line">
              <a:avLst/>
            </a:prstGeom>
            <a:noFill/>
            <a:ln w="4445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5" name="Line 56"/>
            <p:cNvSpPr>
              <a:spLocks noChangeShapeType="1"/>
            </p:cNvSpPr>
            <p:nvPr/>
          </p:nvSpPr>
          <p:spPr bwMode="auto">
            <a:xfrm rot="5400000">
              <a:off x="3359" y="3526"/>
              <a:ext cx="820" cy="0"/>
            </a:xfrm>
            <a:prstGeom prst="line">
              <a:avLst/>
            </a:prstGeom>
            <a:noFill/>
            <a:ln w="4445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6" name="Oval 57"/>
            <p:cNvSpPr>
              <a:spLocks noChangeArrowheads="1"/>
            </p:cNvSpPr>
            <p:nvPr/>
          </p:nvSpPr>
          <p:spPr bwMode="auto">
            <a:xfrm rot="5400000">
              <a:off x="3719" y="2117"/>
              <a:ext cx="91" cy="74"/>
            </a:xfrm>
            <a:prstGeom prst="ellipse">
              <a:avLst/>
            </a:prstGeom>
            <a:solidFill>
              <a:srgbClr val="FF9900"/>
            </a:solidFill>
            <a:ln>
              <a:noFill/>
            </a:ln>
            <a:effectLst/>
            <a:extLs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4087" name="Oval 58"/>
            <p:cNvSpPr>
              <a:spLocks noChangeArrowheads="1"/>
            </p:cNvSpPr>
            <p:nvPr/>
          </p:nvSpPr>
          <p:spPr bwMode="auto">
            <a:xfrm rot="5400000">
              <a:off x="3719" y="3945"/>
              <a:ext cx="91" cy="74"/>
            </a:xfrm>
            <a:prstGeom prst="ellipse">
              <a:avLst/>
            </a:prstGeom>
            <a:solidFill>
              <a:srgbClr val="FF9900"/>
            </a:solidFill>
            <a:ln>
              <a:noFill/>
            </a:ln>
            <a:effectLst/>
            <a:extLs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nvGrpSpPr>
            <p:cNvPr id="44088" name="Group 59"/>
            <p:cNvGrpSpPr>
              <a:grpSpLocks/>
            </p:cNvGrpSpPr>
            <p:nvPr/>
          </p:nvGrpSpPr>
          <p:grpSpPr bwMode="auto">
            <a:xfrm rot="5400000">
              <a:off x="3703" y="2826"/>
              <a:ext cx="144" cy="436"/>
              <a:chOff x="3053" y="3083"/>
              <a:chExt cx="211" cy="576"/>
            </a:xfrm>
          </p:grpSpPr>
          <p:sp>
            <p:nvSpPr>
              <p:cNvPr id="44094" name="Line 60"/>
              <p:cNvSpPr>
                <a:spLocks noChangeShapeType="1"/>
              </p:cNvSpPr>
              <p:nvPr/>
            </p:nvSpPr>
            <p:spPr bwMode="auto">
              <a:xfrm>
                <a:off x="3053" y="3083"/>
                <a:ext cx="0" cy="576"/>
              </a:xfrm>
              <a:prstGeom prst="line">
                <a:avLst/>
              </a:prstGeom>
              <a:noFill/>
              <a:ln w="508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4095" name="Line 61"/>
              <p:cNvSpPr>
                <a:spLocks noChangeShapeType="1"/>
              </p:cNvSpPr>
              <p:nvPr/>
            </p:nvSpPr>
            <p:spPr bwMode="auto">
              <a:xfrm>
                <a:off x="3264" y="3083"/>
                <a:ext cx="0" cy="576"/>
              </a:xfrm>
              <a:prstGeom prst="line">
                <a:avLst/>
              </a:prstGeom>
              <a:noFill/>
              <a:ln w="508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44089" name="Text Box 62"/>
            <p:cNvSpPr txBox="1">
              <a:spLocks noChangeArrowheads="1"/>
            </p:cNvSpPr>
            <p:nvPr/>
          </p:nvSpPr>
          <p:spPr bwMode="auto">
            <a:xfrm rot="5400000">
              <a:off x="3359" y="2057"/>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b="0">
                  <a:ea typeface="仿宋_GB2312" pitchFamily="49" charset="-122"/>
                  <a:sym typeface="Symbol" pitchFamily="18" charset="2"/>
                </a:rPr>
                <a:t>＋</a:t>
              </a:r>
            </a:p>
          </p:txBody>
        </p:sp>
        <p:sp>
          <p:nvSpPr>
            <p:cNvPr id="44090" name="Text Box 64"/>
            <p:cNvSpPr txBox="1">
              <a:spLocks noChangeArrowheads="1"/>
            </p:cNvSpPr>
            <p:nvPr/>
          </p:nvSpPr>
          <p:spPr bwMode="auto">
            <a:xfrm>
              <a:off x="3194" y="2851"/>
              <a:ext cx="3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ea typeface="仿宋_GB2312" pitchFamily="49" charset="-122"/>
                  <a:sym typeface="Symbol" pitchFamily="18" charset="2"/>
                </a:rPr>
                <a:t>v</a:t>
              </a:r>
              <a:endParaRPr lang="en-US" altLang="zh-CN" b="0">
                <a:ea typeface="仿宋_GB2312" pitchFamily="49" charset="-122"/>
                <a:sym typeface="Symbol" pitchFamily="18" charset="2"/>
              </a:endParaRPr>
            </a:p>
          </p:txBody>
        </p:sp>
        <p:sp>
          <p:nvSpPr>
            <p:cNvPr id="44091" name="Text Box 65"/>
            <p:cNvSpPr txBox="1">
              <a:spLocks noChangeArrowheads="1"/>
            </p:cNvSpPr>
            <p:nvPr/>
          </p:nvSpPr>
          <p:spPr bwMode="auto">
            <a:xfrm>
              <a:off x="3847" y="2223"/>
              <a:ext cx="3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ea typeface="仿宋_GB2312" pitchFamily="49" charset="-122"/>
                  <a:sym typeface="Symbol" pitchFamily="18" charset="2"/>
                </a:rPr>
                <a:t>i</a:t>
              </a:r>
              <a:endParaRPr lang="en-US" altLang="zh-CN" b="0">
                <a:ea typeface="仿宋_GB2312" pitchFamily="49" charset="-122"/>
                <a:sym typeface="Symbol" pitchFamily="18" charset="2"/>
              </a:endParaRPr>
            </a:p>
          </p:txBody>
        </p:sp>
        <p:sp>
          <p:nvSpPr>
            <p:cNvPr id="44092" name="Line 66"/>
            <p:cNvSpPr>
              <a:spLocks noChangeShapeType="1"/>
            </p:cNvSpPr>
            <p:nvPr/>
          </p:nvSpPr>
          <p:spPr bwMode="auto">
            <a:xfrm rot="5400000">
              <a:off x="3686" y="2404"/>
              <a:ext cx="409" cy="0"/>
            </a:xfrm>
            <a:prstGeom prst="line">
              <a:avLst/>
            </a:prstGeom>
            <a:noFill/>
            <a:ln w="28575"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093" name="Text Box 67"/>
            <p:cNvSpPr txBox="1">
              <a:spLocks noChangeArrowheads="1"/>
            </p:cNvSpPr>
            <p:nvPr/>
          </p:nvSpPr>
          <p:spPr bwMode="auto">
            <a:xfrm rot="10800000">
              <a:off x="3386" y="3867"/>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a:ea typeface="仿宋_GB2312" pitchFamily="49" charset="-122"/>
                  <a:sym typeface="Symbol" pitchFamily="18" charset="2"/>
                </a:rPr>
                <a:t>－</a:t>
              </a:r>
            </a:p>
          </p:txBody>
        </p:sp>
      </p:grpSp>
      <p:grpSp>
        <p:nvGrpSpPr>
          <p:cNvPr id="44039" name="Group 70"/>
          <p:cNvGrpSpPr>
            <a:grpSpLocks/>
          </p:cNvGrpSpPr>
          <p:nvPr/>
        </p:nvGrpSpPr>
        <p:grpSpPr bwMode="auto">
          <a:xfrm>
            <a:off x="4597400" y="1055688"/>
            <a:ext cx="3046413" cy="1179512"/>
            <a:chOff x="2256" y="2703"/>
            <a:chExt cx="1919" cy="919"/>
          </a:xfrm>
        </p:grpSpPr>
        <p:sp>
          <p:nvSpPr>
            <p:cNvPr id="44074" name="Text Box 71"/>
            <p:cNvSpPr txBox="1">
              <a:spLocks noChangeArrowheads="1"/>
            </p:cNvSpPr>
            <p:nvPr/>
          </p:nvSpPr>
          <p:spPr bwMode="auto">
            <a:xfrm>
              <a:off x="3053" y="2703"/>
              <a:ext cx="293" cy="3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sym typeface="Symbol" pitchFamily="18" charset="2"/>
                </a:rPr>
                <a:t>C</a:t>
              </a:r>
              <a:endParaRPr lang="en-US" altLang="zh-CN" b="0">
                <a:solidFill>
                  <a:srgbClr val="FFFF00"/>
                </a:solidFill>
                <a:ea typeface="仿宋_GB2312" pitchFamily="49" charset="-122"/>
                <a:sym typeface="Symbol" pitchFamily="18" charset="2"/>
              </a:endParaRPr>
            </a:p>
          </p:txBody>
        </p:sp>
        <p:sp>
          <p:nvSpPr>
            <p:cNvPr id="44075" name="Line 72"/>
            <p:cNvSpPr>
              <a:spLocks noChangeShapeType="1"/>
            </p:cNvSpPr>
            <p:nvPr/>
          </p:nvSpPr>
          <p:spPr bwMode="auto">
            <a:xfrm flipH="1" flipV="1">
              <a:off x="2347" y="3360"/>
              <a:ext cx="773" cy="0"/>
            </a:xfrm>
            <a:prstGeom prst="line">
              <a:avLst/>
            </a:prstGeom>
            <a:noFill/>
            <a:ln w="4445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6" name="Line 73"/>
            <p:cNvSpPr>
              <a:spLocks noChangeShapeType="1"/>
            </p:cNvSpPr>
            <p:nvPr/>
          </p:nvSpPr>
          <p:spPr bwMode="auto">
            <a:xfrm>
              <a:off x="3264" y="3360"/>
              <a:ext cx="820" cy="0"/>
            </a:xfrm>
            <a:prstGeom prst="line">
              <a:avLst/>
            </a:prstGeom>
            <a:noFill/>
            <a:ln w="4445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77" name="Oval 74"/>
            <p:cNvSpPr>
              <a:spLocks noChangeArrowheads="1"/>
            </p:cNvSpPr>
            <p:nvPr/>
          </p:nvSpPr>
          <p:spPr bwMode="auto">
            <a:xfrm>
              <a:off x="2256" y="3319"/>
              <a:ext cx="91" cy="91"/>
            </a:xfrm>
            <a:prstGeom prst="ellipse">
              <a:avLst/>
            </a:prstGeom>
            <a:solidFill>
              <a:srgbClr val="FF9900"/>
            </a:solidFill>
            <a:ln>
              <a:noFill/>
            </a:ln>
            <a:effectLst/>
            <a:extLs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4078" name="Oval 75"/>
            <p:cNvSpPr>
              <a:spLocks noChangeArrowheads="1"/>
            </p:cNvSpPr>
            <p:nvPr/>
          </p:nvSpPr>
          <p:spPr bwMode="auto">
            <a:xfrm>
              <a:off x="4084" y="3319"/>
              <a:ext cx="91" cy="91"/>
            </a:xfrm>
            <a:prstGeom prst="ellipse">
              <a:avLst/>
            </a:prstGeom>
            <a:solidFill>
              <a:srgbClr val="FF9900"/>
            </a:solidFill>
            <a:ln>
              <a:noFill/>
            </a:ln>
            <a:effectLst/>
            <a:extLs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nvGrpSpPr>
            <p:cNvPr id="44079" name="Group 76"/>
            <p:cNvGrpSpPr>
              <a:grpSpLocks/>
            </p:cNvGrpSpPr>
            <p:nvPr/>
          </p:nvGrpSpPr>
          <p:grpSpPr bwMode="auto">
            <a:xfrm>
              <a:off x="3120" y="3083"/>
              <a:ext cx="144" cy="539"/>
              <a:chOff x="3053" y="3083"/>
              <a:chExt cx="211" cy="576"/>
            </a:xfrm>
          </p:grpSpPr>
          <p:sp>
            <p:nvSpPr>
              <p:cNvPr id="44080" name="Line 77"/>
              <p:cNvSpPr>
                <a:spLocks noChangeShapeType="1"/>
              </p:cNvSpPr>
              <p:nvPr/>
            </p:nvSpPr>
            <p:spPr bwMode="auto">
              <a:xfrm>
                <a:off x="3053" y="3083"/>
                <a:ext cx="0" cy="576"/>
              </a:xfrm>
              <a:prstGeom prst="line">
                <a:avLst/>
              </a:prstGeom>
              <a:noFill/>
              <a:ln w="508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4081" name="Line 78"/>
              <p:cNvSpPr>
                <a:spLocks noChangeShapeType="1"/>
              </p:cNvSpPr>
              <p:nvPr/>
            </p:nvSpPr>
            <p:spPr bwMode="auto">
              <a:xfrm>
                <a:off x="3264" y="3083"/>
                <a:ext cx="0" cy="576"/>
              </a:xfrm>
              <a:prstGeom prst="line">
                <a:avLst/>
              </a:prstGeom>
              <a:noFill/>
              <a:ln w="508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sp>
        <p:nvSpPr>
          <p:cNvPr id="44040" name="Text Box 79"/>
          <p:cNvSpPr txBox="1">
            <a:spLocks noChangeArrowheads="1"/>
          </p:cNvSpPr>
          <p:nvPr/>
        </p:nvSpPr>
        <p:spPr bwMode="auto">
          <a:xfrm>
            <a:off x="4340225" y="195103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b="0">
                <a:ea typeface="仿宋_GB2312" pitchFamily="49" charset="-122"/>
                <a:sym typeface="Symbol" pitchFamily="18" charset="2"/>
              </a:rPr>
              <a:t>＋</a:t>
            </a:r>
          </a:p>
        </p:txBody>
      </p:sp>
      <p:sp>
        <p:nvSpPr>
          <p:cNvPr id="44041" name="Text Box 80"/>
          <p:cNvSpPr txBox="1">
            <a:spLocks noChangeArrowheads="1"/>
          </p:cNvSpPr>
          <p:nvPr/>
        </p:nvSpPr>
        <p:spPr bwMode="auto">
          <a:xfrm>
            <a:off x="7321550" y="199548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b="0">
                <a:ea typeface="仿宋_GB2312" pitchFamily="49" charset="-122"/>
                <a:sym typeface="Symbol" pitchFamily="18" charset="2"/>
              </a:rPr>
              <a:t>－</a:t>
            </a:r>
          </a:p>
        </p:txBody>
      </p:sp>
      <p:sp>
        <p:nvSpPr>
          <p:cNvPr id="44042" name="Text Box 82"/>
          <p:cNvSpPr txBox="1">
            <a:spLocks noChangeArrowheads="1"/>
          </p:cNvSpPr>
          <p:nvPr/>
        </p:nvSpPr>
        <p:spPr bwMode="auto">
          <a:xfrm>
            <a:off x="5751513" y="2198688"/>
            <a:ext cx="57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ea typeface="仿宋_GB2312" pitchFamily="49" charset="-122"/>
                <a:sym typeface="Symbol" pitchFamily="18" charset="2"/>
              </a:rPr>
              <a:t>R</a:t>
            </a:r>
            <a:endParaRPr lang="en-US" altLang="zh-CN" b="0">
              <a:solidFill>
                <a:srgbClr val="FFFF00"/>
              </a:solidFill>
              <a:ea typeface="仿宋_GB2312" pitchFamily="49" charset="-122"/>
              <a:sym typeface="Symbol" pitchFamily="18" charset="2"/>
            </a:endParaRPr>
          </a:p>
        </p:txBody>
      </p:sp>
      <p:sp>
        <p:nvSpPr>
          <p:cNvPr id="44043" name="Line 83"/>
          <p:cNvSpPr>
            <a:spLocks noChangeShapeType="1"/>
          </p:cNvSpPr>
          <p:nvPr/>
        </p:nvSpPr>
        <p:spPr bwMode="auto">
          <a:xfrm>
            <a:off x="4525963" y="1766888"/>
            <a:ext cx="504825" cy="0"/>
          </a:xfrm>
          <a:prstGeom prst="line">
            <a:avLst/>
          </a:prstGeom>
          <a:noFill/>
          <a:ln w="28575"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044" name="Line 84"/>
          <p:cNvSpPr>
            <a:spLocks noChangeShapeType="1"/>
          </p:cNvSpPr>
          <p:nvPr/>
        </p:nvSpPr>
        <p:spPr bwMode="auto">
          <a:xfrm>
            <a:off x="5102225" y="1911350"/>
            <a:ext cx="0" cy="792163"/>
          </a:xfrm>
          <a:prstGeom prst="line">
            <a:avLst/>
          </a:prstGeom>
          <a:noFill/>
          <a:ln w="28575"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045" name="Line 85"/>
          <p:cNvSpPr>
            <a:spLocks noChangeShapeType="1"/>
          </p:cNvSpPr>
          <p:nvPr/>
        </p:nvSpPr>
        <p:spPr bwMode="auto">
          <a:xfrm>
            <a:off x="6975475" y="1911350"/>
            <a:ext cx="0" cy="792163"/>
          </a:xfrm>
          <a:prstGeom prst="line">
            <a:avLst/>
          </a:prstGeom>
          <a:noFill/>
          <a:ln w="28575"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046" name="Line 86"/>
          <p:cNvSpPr>
            <a:spLocks noChangeShapeType="1"/>
          </p:cNvSpPr>
          <p:nvPr/>
        </p:nvSpPr>
        <p:spPr bwMode="auto">
          <a:xfrm>
            <a:off x="5102225" y="2703513"/>
            <a:ext cx="1873250" cy="0"/>
          </a:xfrm>
          <a:prstGeom prst="line">
            <a:avLst/>
          </a:prstGeom>
          <a:noFill/>
          <a:ln w="28575"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048" name="Text Box 90"/>
          <p:cNvSpPr txBox="1">
            <a:spLocks noChangeArrowheads="1"/>
          </p:cNvSpPr>
          <p:nvPr/>
        </p:nvSpPr>
        <p:spPr bwMode="auto">
          <a:xfrm>
            <a:off x="6427788" y="3954463"/>
            <a:ext cx="4651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sym typeface="Symbol" pitchFamily="18" charset="2"/>
              </a:rPr>
              <a:t>C</a:t>
            </a:r>
            <a:endParaRPr lang="en-US" altLang="zh-CN" b="0">
              <a:ea typeface="仿宋_GB2312" pitchFamily="49" charset="-122"/>
              <a:sym typeface="Symbol" pitchFamily="18" charset="2"/>
            </a:endParaRPr>
          </a:p>
        </p:txBody>
      </p:sp>
      <p:sp>
        <p:nvSpPr>
          <p:cNvPr id="44049" name="Line 91"/>
          <p:cNvSpPr>
            <a:spLocks noChangeShapeType="1"/>
          </p:cNvSpPr>
          <p:nvPr/>
        </p:nvSpPr>
        <p:spPr bwMode="auto">
          <a:xfrm>
            <a:off x="6746875" y="4594225"/>
            <a:ext cx="1301750" cy="0"/>
          </a:xfrm>
          <a:prstGeom prst="line">
            <a:avLst/>
          </a:prstGeom>
          <a:noFill/>
          <a:ln w="4445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0" name="Oval 92"/>
          <p:cNvSpPr>
            <a:spLocks noChangeArrowheads="1"/>
          </p:cNvSpPr>
          <p:nvPr/>
        </p:nvSpPr>
        <p:spPr bwMode="auto">
          <a:xfrm>
            <a:off x="8048625" y="4541838"/>
            <a:ext cx="144463" cy="117475"/>
          </a:xfrm>
          <a:prstGeom prst="ellipse">
            <a:avLst/>
          </a:prstGeom>
          <a:solidFill>
            <a:srgbClr val="FF9900"/>
          </a:solidFill>
          <a:ln>
            <a:noFill/>
          </a:ln>
          <a:effectLst/>
          <a:extLs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nvGrpSpPr>
          <p:cNvPr id="44051" name="Group 93"/>
          <p:cNvGrpSpPr>
            <a:grpSpLocks/>
          </p:cNvGrpSpPr>
          <p:nvPr/>
        </p:nvGrpSpPr>
        <p:grpSpPr bwMode="auto">
          <a:xfrm>
            <a:off x="6516688" y="4398963"/>
            <a:ext cx="214312" cy="449262"/>
            <a:chOff x="3053" y="3083"/>
            <a:chExt cx="211" cy="576"/>
          </a:xfrm>
        </p:grpSpPr>
        <p:sp>
          <p:nvSpPr>
            <p:cNvPr id="44072" name="Line 94"/>
            <p:cNvSpPr>
              <a:spLocks noChangeShapeType="1"/>
            </p:cNvSpPr>
            <p:nvPr/>
          </p:nvSpPr>
          <p:spPr bwMode="auto">
            <a:xfrm>
              <a:off x="3053" y="3083"/>
              <a:ext cx="0" cy="576"/>
            </a:xfrm>
            <a:prstGeom prst="line">
              <a:avLst/>
            </a:prstGeom>
            <a:noFill/>
            <a:ln w="508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4073" name="Line 95"/>
            <p:cNvSpPr>
              <a:spLocks noChangeShapeType="1"/>
            </p:cNvSpPr>
            <p:nvPr/>
          </p:nvSpPr>
          <p:spPr bwMode="auto">
            <a:xfrm>
              <a:off x="3264" y="3083"/>
              <a:ext cx="0" cy="576"/>
            </a:xfrm>
            <a:prstGeom prst="line">
              <a:avLst/>
            </a:prstGeom>
            <a:noFill/>
            <a:ln w="508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44052" name="Text Box 96"/>
          <p:cNvSpPr txBox="1">
            <a:spLocks noChangeArrowheads="1"/>
          </p:cNvSpPr>
          <p:nvPr/>
        </p:nvSpPr>
        <p:spPr bwMode="auto">
          <a:xfrm>
            <a:off x="3968750" y="4702175"/>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b="0">
                <a:ea typeface="仿宋_GB2312" pitchFamily="49" charset="-122"/>
                <a:sym typeface="Symbol" pitchFamily="18" charset="2"/>
              </a:rPr>
              <a:t>＋</a:t>
            </a:r>
          </a:p>
        </p:txBody>
      </p:sp>
      <p:sp>
        <p:nvSpPr>
          <p:cNvPr id="44053" name="Text Box 97"/>
          <p:cNvSpPr txBox="1">
            <a:spLocks noChangeArrowheads="1"/>
          </p:cNvSpPr>
          <p:nvPr/>
        </p:nvSpPr>
        <p:spPr bwMode="auto">
          <a:xfrm>
            <a:off x="7812088" y="4646613"/>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b="0">
                <a:ea typeface="仿宋_GB2312" pitchFamily="49" charset="-122"/>
                <a:sym typeface="Symbol" pitchFamily="18" charset="2"/>
              </a:rPr>
              <a:t>－</a:t>
            </a:r>
          </a:p>
        </p:txBody>
      </p:sp>
      <p:sp>
        <p:nvSpPr>
          <p:cNvPr id="44054" name="Text Box 99"/>
          <p:cNvSpPr txBox="1">
            <a:spLocks noChangeArrowheads="1"/>
          </p:cNvSpPr>
          <p:nvPr/>
        </p:nvSpPr>
        <p:spPr bwMode="auto">
          <a:xfrm>
            <a:off x="6359525" y="4889500"/>
            <a:ext cx="57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ea typeface="仿宋_GB2312" pitchFamily="49" charset="-122"/>
                <a:sym typeface="Symbol" pitchFamily="18" charset="2"/>
              </a:rPr>
              <a:t>R</a:t>
            </a:r>
            <a:endParaRPr lang="en-US" altLang="zh-CN" b="0">
              <a:ea typeface="仿宋_GB2312" pitchFamily="49" charset="-122"/>
              <a:sym typeface="Symbol" pitchFamily="18" charset="2"/>
            </a:endParaRPr>
          </a:p>
        </p:txBody>
      </p:sp>
      <p:sp>
        <p:nvSpPr>
          <p:cNvPr id="44055" name="Line 100"/>
          <p:cNvSpPr>
            <a:spLocks noChangeShapeType="1"/>
          </p:cNvSpPr>
          <p:nvPr/>
        </p:nvSpPr>
        <p:spPr bwMode="auto">
          <a:xfrm>
            <a:off x="4284663" y="4398963"/>
            <a:ext cx="504825" cy="0"/>
          </a:xfrm>
          <a:prstGeom prst="line">
            <a:avLst/>
          </a:prstGeom>
          <a:noFill/>
          <a:ln w="28575"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056" name="Line 101"/>
          <p:cNvSpPr>
            <a:spLocks noChangeShapeType="1"/>
          </p:cNvSpPr>
          <p:nvPr/>
        </p:nvSpPr>
        <p:spPr bwMode="auto">
          <a:xfrm>
            <a:off x="5940425" y="4624388"/>
            <a:ext cx="0" cy="792162"/>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057" name="Line 102"/>
          <p:cNvSpPr>
            <a:spLocks noChangeShapeType="1"/>
          </p:cNvSpPr>
          <p:nvPr/>
        </p:nvSpPr>
        <p:spPr bwMode="auto">
          <a:xfrm>
            <a:off x="7380288" y="4614863"/>
            <a:ext cx="0" cy="792162"/>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058" name="Line 103"/>
          <p:cNvSpPr>
            <a:spLocks noChangeShapeType="1"/>
          </p:cNvSpPr>
          <p:nvPr/>
        </p:nvSpPr>
        <p:spPr bwMode="auto">
          <a:xfrm>
            <a:off x="5940425" y="5416550"/>
            <a:ext cx="1439863"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059" name="Rectangle 104"/>
          <p:cNvSpPr>
            <a:spLocks noChangeArrowheads="1"/>
          </p:cNvSpPr>
          <p:nvPr/>
        </p:nvSpPr>
        <p:spPr bwMode="auto">
          <a:xfrm>
            <a:off x="6400800" y="5307013"/>
            <a:ext cx="574675" cy="215900"/>
          </a:xfrm>
          <a:prstGeom prst="rect">
            <a:avLst/>
          </a:prstGeom>
          <a:solidFill>
            <a:schemeClr val="bg1"/>
          </a:solidFill>
          <a:ln w="28575" cap="sq" algn="ctr">
            <a:solidFill>
              <a:srgbClr val="FF9900"/>
            </a:solidFill>
            <a:miter lim="800000"/>
            <a:headEnd/>
            <a:tailEnd/>
          </a:ln>
          <a:effectLs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aphicFrame>
        <p:nvGraphicFramePr>
          <p:cNvPr id="44060" name="Object 105"/>
          <p:cNvGraphicFramePr>
            <a:graphicFrameLocks noChangeAspect="1"/>
          </p:cNvGraphicFramePr>
          <p:nvPr/>
        </p:nvGraphicFramePr>
        <p:xfrm>
          <a:off x="4140200" y="4398963"/>
          <a:ext cx="1873250" cy="363537"/>
        </p:xfrm>
        <a:graphic>
          <a:graphicData uri="http://schemas.openxmlformats.org/presentationml/2006/ole">
            <mc:AlternateContent xmlns:mc="http://schemas.openxmlformats.org/markup-compatibility/2006">
              <mc:Choice xmlns:v="urn:schemas-microsoft-com:vml" Requires="v">
                <p:oleObj spid="_x0000_s44227" name="Visio" r:id="rId3" imgW="886592" imgH="116832" progId="Visio.Drawing.11">
                  <p:embed/>
                </p:oleObj>
              </mc:Choice>
              <mc:Fallback>
                <p:oleObj name="Visio" r:id="rId3" imgW="886592" imgH="116832" progId="Visio.Drawing.11">
                  <p:embed/>
                  <p:pic>
                    <p:nvPicPr>
                      <p:cNvPr id="0" name="Object 105"/>
                      <p:cNvPicPr>
                        <a:picLocks noChangeAspect="1" noChangeArrowheads="1"/>
                      </p:cNvPicPr>
                      <p:nvPr/>
                    </p:nvPicPr>
                    <p:blipFill>
                      <a:blip r:embed="rId4">
                        <a:extLst>
                          <a:ext uri="{28A0092B-C50C-407E-A947-70E740481C1C}">
                            <a14:useLocalDpi xmlns:a14="http://schemas.microsoft.com/office/drawing/2010/main" val="0"/>
                          </a:ext>
                        </a:extLst>
                      </a:blip>
                      <a:srcRect r="23584" b="-12411"/>
                      <a:stretch>
                        <a:fillRect/>
                      </a:stretch>
                    </p:blipFill>
                    <p:spPr bwMode="auto">
                      <a:xfrm>
                        <a:off x="4140200" y="4398963"/>
                        <a:ext cx="187325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061" name="Line 106"/>
          <p:cNvSpPr>
            <a:spLocks noChangeShapeType="1"/>
          </p:cNvSpPr>
          <p:nvPr/>
        </p:nvSpPr>
        <p:spPr bwMode="auto">
          <a:xfrm>
            <a:off x="6011863" y="4614863"/>
            <a:ext cx="504825" cy="0"/>
          </a:xfrm>
          <a:prstGeom prst="line">
            <a:avLst/>
          </a:prstGeom>
          <a:noFill/>
          <a:ln w="3810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062" name="Text Box 123"/>
          <p:cNvSpPr txBox="1">
            <a:spLocks noChangeArrowheads="1"/>
          </p:cNvSpPr>
          <p:nvPr/>
        </p:nvSpPr>
        <p:spPr bwMode="auto">
          <a:xfrm>
            <a:off x="5203825" y="3952875"/>
            <a:ext cx="354013"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r>
              <a:rPr lang="en-US" altLang="zh-CN" b="0" i="1"/>
              <a:t>L</a:t>
            </a:r>
          </a:p>
        </p:txBody>
      </p:sp>
      <p:sp>
        <p:nvSpPr>
          <p:cNvPr id="44063" name="Oval 137"/>
          <p:cNvSpPr>
            <a:spLocks noChangeArrowheads="1"/>
          </p:cNvSpPr>
          <p:nvPr/>
        </p:nvSpPr>
        <p:spPr bwMode="auto">
          <a:xfrm>
            <a:off x="5038725" y="1828800"/>
            <a:ext cx="133350" cy="133350"/>
          </a:xfrm>
          <a:prstGeom prst="ellipse">
            <a:avLst/>
          </a:prstGeom>
          <a:solidFill>
            <a:srgbClr val="99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4064" name="Oval 138"/>
          <p:cNvSpPr>
            <a:spLocks noChangeArrowheads="1"/>
          </p:cNvSpPr>
          <p:nvPr/>
        </p:nvSpPr>
        <p:spPr bwMode="auto">
          <a:xfrm>
            <a:off x="6915150" y="1838325"/>
            <a:ext cx="133350" cy="133350"/>
          </a:xfrm>
          <a:prstGeom prst="ellipse">
            <a:avLst/>
          </a:prstGeom>
          <a:solidFill>
            <a:srgbClr val="99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4065" name="Oval 139"/>
          <p:cNvSpPr>
            <a:spLocks noChangeArrowheads="1"/>
          </p:cNvSpPr>
          <p:nvPr/>
        </p:nvSpPr>
        <p:spPr bwMode="auto">
          <a:xfrm>
            <a:off x="5876925" y="4552950"/>
            <a:ext cx="133350" cy="133350"/>
          </a:xfrm>
          <a:prstGeom prst="ellipse">
            <a:avLst/>
          </a:prstGeom>
          <a:solidFill>
            <a:srgbClr val="99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4066" name="Oval 140"/>
          <p:cNvSpPr>
            <a:spLocks noChangeArrowheads="1"/>
          </p:cNvSpPr>
          <p:nvPr/>
        </p:nvSpPr>
        <p:spPr bwMode="auto">
          <a:xfrm>
            <a:off x="7324725" y="4524375"/>
            <a:ext cx="133350" cy="133350"/>
          </a:xfrm>
          <a:prstGeom prst="ellipse">
            <a:avLst/>
          </a:prstGeom>
          <a:solidFill>
            <a:srgbClr val="99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4068" name="Line 142"/>
          <p:cNvSpPr>
            <a:spLocks noChangeShapeType="1"/>
          </p:cNvSpPr>
          <p:nvPr/>
        </p:nvSpPr>
        <p:spPr bwMode="auto">
          <a:xfrm>
            <a:off x="5102225" y="2703513"/>
            <a:ext cx="1873250" cy="0"/>
          </a:xfrm>
          <a:prstGeom prst="line">
            <a:avLst/>
          </a:prstGeom>
          <a:noFill/>
          <a:ln w="28575"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44047" name="Rectangle 87"/>
          <p:cNvSpPr>
            <a:spLocks noChangeArrowheads="1"/>
          </p:cNvSpPr>
          <p:nvPr/>
        </p:nvSpPr>
        <p:spPr bwMode="auto">
          <a:xfrm>
            <a:off x="5751513" y="2592388"/>
            <a:ext cx="574675" cy="215900"/>
          </a:xfrm>
          <a:prstGeom prst="rect">
            <a:avLst/>
          </a:prstGeom>
          <a:solidFill>
            <a:schemeClr val="bg1"/>
          </a:solidFill>
          <a:ln w="28575" cap="sq" algn="ctr">
            <a:solidFill>
              <a:srgbClr val="FF9900"/>
            </a:solidFill>
            <a:miter lim="800000"/>
            <a:headEnd/>
            <a:tailEnd/>
          </a:ln>
          <a:effectLs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Tree>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Group 46"/>
          <p:cNvGrpSpPr>
            <a:grpSpLocks/>
          </p:cNvGrpSpPr>
          <p:nvPr/>
        </p:nvGrpSpPr>
        <p:grpSpPr bwMode="auto">
          <a:xfrm>
            <a:off x="2862263" y="3736975"/>
            <a:ext cx="4175125" cy="2255838"/>
            <a:chOff x="1656" y="2418"/>
            <a:chExt cx="2630" cy="1421"/>
          </a:xfrm>
        </p:grpSpPr>
        <p:grpSp>
          <p:nvGrpSpPr>
            <p:cNvPr id="46085" name="Group 31"/>
            <p:cNvGrpSpPr>
              <a:grpSpLocks/>
            </p:cNvGrpSpPr>
            <p:nvPr/>
          </p:nvGrpSpPr>
          <p:grpSpPr bwMode="auto">
            <a:xfrm>
              <a:off x="1974" y="3279"/>
              <a:ext cx="680" cy="318"/>
              <a:chOff x="1565" y="1525"/>
              <a:chExt cx="680" cy="318"/>
            </a:xfrm>
          </p:grpSpPr>
          <p:sp>
            <p:nvSpPr>
              <p:cNvPr id="46095" name="AutoShape 32"/>
              <p:cNvSpPr>
                <a:spLocks noChangeArrowheads="1"/>
              </p:cNvSpPr>
              <p:nvPr/>
            </p:nvSpPr>
            <p:spPr bwMode="auto">
              <a:xfrm>
                <a:off x="1565" y="1616"/>
                <a:ext cx="91" cy="227"/>
              </a:xfrm>
              <a:prstGeom prst="upArrow">
                <a:avLst>
                  <a:gd name="adj1" fmla="val 50000"/>
                  <a:gd name="adj2" fmla="val 62363"/>
                </a:avLst>
              </a:prstGeom>
              <a:solidFill>
                <a:schemeClr val="tx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6096" name="Text Box 33"/>
              <p:cNvSpPr txBox="1">
                <a:spLocks noChangeArrowheads="1"/>
              </p:cNvSpPr>
              <p:nvPr/>
            </p:nvSpPr>
            <p:spPr bwMode="auto">
              <a:xfrm>
                <a:off x="1746" y="1525"/>
                <a:ext cx="4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i (t)</a:t>
                </a:r>
              </a:p>
            </p:txBody>
          </p:sp>
        </p:grpSp>
        <p:grpSp>
          <p:nvGrpSpPr>
            <p:cNvPr id="46086" name="Group 34"/>
            <p:cNvGrpSpPr>
              <a:grpSpLocks/>
            </p:cNvGrpSpPr>
            <p:nvPr/>
          </p:nvGrpSpPr>
          <p:grpSpPr bwMode="auto">
            <a:xfrm>
              <a:off x="2110" y="3506"/>
              <a:ext cx="1724" cy="333"/>
              <a:chOff x="2789" y="1661"/>
              <a:chExt cx="1724" cy="333"/>
            </a:xfrm>
          </p:grpSpPr>
          <p:sp>
            <p:nvSpPr>
              <p:cNvPr id="46092" name="Text Box 35"/>
              <p:cNvSpPr txBox="1">
                <a:spLocks noChangeArrowheads="1"/>
              </p:cNvSpPr>
              <p:nvPr/>
            </p:nvSpPr>
            <p:spPr bwMode="auto">
              <a:xfrm>
                <a:off x="2789" y="1706"/>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ym typeface="Symbol" pitchFamily="18" charset="2"/>
                  </a:rPr>
                  <a:t>+</a:t>
                </a:r>
              </a:p>
            </p:txBody>
          </p:sp>
          <p:sp>
            <p:nvSpPr>
              <p:cNvPr id="46093" name="Text Box 36"/>
              <p:cNvSpPr txBox="1">
                <a:spLocks noChangeArrowheads="1"/>
              </p:cNvSpPr>
              <p:nvPr/>
            </p:nvSpPr>
            <p:spPr bwMode="auto">
              <a:xfrm>
                <a:off x="4150" y="1661"/>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ym typeface="Symbol" pitchFamily="18" charset="2"/>
                  </a:rPr>
                  <a:t>-</a:t>
                </a:r>
              </a:p>
            </p:txBody>
          </p:sp>
          <p:sp>
            <p:nvSpPr>
              <p:cNvPr id="46094" name="Text Box 37"/>
              <p:cNvSpPr txBox="1">
                <a:spLocks noChangeArrowheads="1"/>
              </p:cNvSpPr>
              <p:nvPr/>
            </p:nvSpPr>
            <p:spPr bwMode="auto">
              <a:xfrm>
                <a:off x="3334" y="1661"/>
                <a:ext cx="63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v </a:t>
                </a:r>
                <a:r>
                  <a:rPr lang="en-US" altLang="zh-CN" b="0">
                    <a:ea typeface="仿宋_GB2312" pitchFamily="49" charset="-122"/>
                    <a:sym typeface="Symbol" pitchFamily="18" charset="2"/>
                  </a:rPr>
                  <a:t>(</a:t>
                </a:r>
                <a:r>
                  <a:rPr lang="en-US" altLang="zh-CN" b="0" i="1">
                    <a:ea typeface="仿宋_GB2312" pitchFamily="49" charset="-122"/>
                    <a:sym typeface="Symbol" pitchFamily="18" charset="2"/>
                  </a:rPr>
                  <a:t>t</a:t>
                </a:r>
                <a:r>
                  <a:rPr lang="en-US" altLang="zh-CN" b="0">
                    <a:ea typeface="仿宋_GB2312" pitchFamily="49" charset="-122"/>
                    <a:sym typeface="Symbol" pitchFamily="18" charset="2"/>
                  </a:rPr>
                  <a:t>)</a:t>
                </a:r>
              </a:p>
            </p:txBody>
          </p:sp>
        </p:grpSp>
        <p:graphicFrame>
          <p:nvGraphicFramePr>
            <p:cNvPr id="46087" name="Object 38"/>
            <p:cNvGraphicFramePr>
              <a:graphicFrameLocks noChangeAspect="1"/>
            </p:cNvGraphicFramePr>
            <p:nvPr/>
          </p:nvGraphicFramePr>
          <p:xfrm>
            <a:off x="1928" y="2418"/>
            <a:ext cx="2041" cy="1208"/>
          </p:xfrm>
          <a:graphic>
            <a:graphicData uri="http://schemas.openxmlformats.org/presentationml/2006/ole">
              <mc:AlternateContent xmlns:mc="http://schemas.openxmlformats.org/markup-compatibility/2006">
                <mc:Choice xmlns:v="urn:schemas-microsoft-com:vml" Requires="v">
                  <p:oleObj spid="_x0000_s46229" name="Visio" r:id="rId3" imgW="1610563" imgH="953658" progId="Visio.Drawing.6">
                    <p:embed/>
                  </p:oleObj>
                </mc:Choice>
                <mc:Fallback>
                  <p:oleObj name="Visio" r:id="rId3" imgW="1610563" imgH="953658" progId="Visio.Drawing.6">
                    <p:embed/>
                    <p:pic>
                      <p:nvPicPr>
                        <p:cNvPr id="0"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 y="2418"/>
                          <a:ext cx="2041" cy="1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6088" name="Group 39"/>
            <p:cNvGrpSpPr>
              <a:grpSpLocks/>
            </p:cNvGrpSpPr>
            <p:nvPr/>
          </p:nvGrpSpPr>
          <p:grpSpPr bwMode="auto">
            <a:xfrm>
              <a:off x="1656" y="2554"/>
              <a:ext cx="2630" cy="680"/>
              <a:chOff x="2245" y="709"/>
              <a:chExt cx="2630" cy="680"/>
            </a:xfrm>
          </p:grpSpPr>
          <p:sp>
            <p:nvSpPr>
              <p:cNvPr id="46089" name="Line 40"/>
              <p:cNvSpPr>
                <a:spLocks noChangeShapeType="1"/>
              </p:cNvSpPr>
              <p:nvPr/>
            </p:nvSpPr>
            <p:spPr bwMode="auto">
              <a:xfrm>
                <a:off x="2245" y="1026"/>
                <a:ext cx="2585" cy="0"/>
              </a:xfrm>
              <a:prstGeom prst="line">
                <a:avLst/>
              </a:prstGeom>
              <a:noFill/>
              <a:ln w="38100">
                <a:solidFill>
                  <a:schemeClr val="tx1"/>
                </a:solidFill>
                <a:prstDash val="dashDot"/>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6090" name="Freeform 41"/>
              <p:cNvSpPr>
                <a:spLocks/>
              </p:cNvSpPr>
              <p:nvPr/>
            </p:nvSpPr>
            <p:spPr bwMode="auto">
              <a:xfrm>
                <a:off x="2290" y="709"/>
                <a:ext cx="2540" cy="196"/>
              </a:xfrm>
              <a:custGeom>
                <a:avLst/>
                <a:gdLst>
                  <a:gd name="T0" fmla="*/ 0 w 2540"/>
                  <a:gd name="T1" fmla="*/ 0 h 196"/>
                  <a:gd name="T2" fmla="*/ 771 w 2540"/>
                  <a:gd name="T3" fmla="*/ 181 h 196"/>
                  <a:gd name="T4" fmla="*/ 2540 w 2540"/>
                  <a:gd name="T5" fmla="*/ 91 h 196"/>
                  <a:gd name="T6" fmla="*/ 0 60000 65536"/>
                  <a:gd name="T7" fmla="*/ 0 60000 65536"/>
                  <a:gd name="T8" fmla="*/ 0 60000 65536"/>
                </a:gdLst>
                <a:ahLst/>
                <a:cxnLst>
                  <a:cxn ang="T6">
                    <a:pos x="T0" y="T1"/>
                  </a:cxn>
                  <a:cxn ang="T7">
                    <a:pos x="T2" y="T3"/>
                  </a:cxn>
                  <a:cxn ang="T8">
                    <a:pos x="T4" y="T5"/>
                  </a:cxn>
                </a:cxnLst>
                <a:rect l="0" t="0" r="r" b="b"/>
                <a:pathLst>
                  <a:path w="2540" h="196">
                    <a:moveTo>
                      <a:pt x="0" y="0"/>
                    </a:moveTo>
                    <a:cubicBezTo>
                      <a:pt x="174" y="83"/>
                      <a:pt x="348" y="166"/>
                      <a:pt x="771" y="181"/>
                    </a:cubicBezTo>
                    <a:cubicBezTo>
                      <a:pt x="1194" y="196"/>
                      <a:pt x="2238" y="106"/>
                      <a:pt x="2540" y="91"/>
                    </a:cubicBezTo>
                  </a:path>
                </a:pathLst>
              </a:custGeom>
              <a:noFill/>
              <a:ln w="38100" cap="flat" cmpd="sng">
                <a:solidFill>
                  <a:schemeClr val="tx1"/>
                </a:solidFill>
                <a:prstDash val="dashDot"/>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46091" name="Freeform 42"/>
              <p:cNvSpPr>
                <a:spLocks/>
              </p:cNvSpPr>
              <p:nvPr/>
            </p:nvSpPr>
            <p:spPr bwMode="auto">
              <a:xfrm>
                <a:off x="2290" y="1094"/>
                <a:ext cx="2585" cy="295"/>
              </a:xfrm>
              <a:custGeom>
                <a:avLst/>
                <a:gdLst>
                  <a:gd name="T0" fmla="*/ 0 w 2585"/>
                  <a:gd name="T1" fmla="*/ 295 h 295"/>
                  <a:gd name="T2" fmla="*/ 1134 w 2585"/>
                  <a:gd name="T3" fmla="*/ 23 h 295"/>
                  <a:gd name="T4" fmla="*/ 2585 w 2585"/>
                  <a:gd name="T5" fmla="*/ 159 h 295"/>
                  <a:gd name="T6" fmla="*/ 0 60000 65536"/>
                  <a:gd name="T7" fmla="*/ 0 60000 65536"/>
                  <a:gd name="T8" fmla="*/ 0 60000 65536"/>
                </a:gdLst>
                <a:ahLst/>
                <a:cxnLst>
                  <a:cxn ang="T6">
                    <a:pos x="T0" y="T1"/>
                  </a:cxn>
                  <a:cxn ang="T7">
                    <a:pos x="T2" y="T3"/>
                  </a:cxn>
                  <a:cxn ang="T8">
                    <a:pos x="T4" y="T5"/>
                  </a:cxn>
                </a:cxnLst>
                <a:rect l="0" t="0" r="r" b="b"/>
                <a:pathLst>
                  <a:path w="2585" h="295">
                    <a:moveTo>
                      <a:pt x="0" y="295"/>
                    </a:moveTo>
                    <a:cubicBezTo>
                      <a:pt x="351" y="170"/>
                      <a:pt x="703" y="46"/>
                      <a:pt x="1134" y="23"/>
                    </a:cubicBezTo>
                    <a:cubicBezTo>
                      <a:pt x="1565" y="0"/>
                      <a:pt x="2351" y="136"/>
                      <a:pt x="2585" y="159"/>
                    </a:cubicBezTo>
                  </a:path>
                </a:pathLst>
              </a:custGeom>
              <a:noFill/>
              <a:ln w="38100" cap="flat" cmpd="sng">
                <a:solidFill>
                  <a:schemeClr val="tx1"/>
                </a:solidFill>
                <a:prstDash val="dashDot"/>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grpSp>
      <p:sp>
        <p:nvSpPr>
          <p:cNvPr id="46083" name="Text Box 44"/>
          <p:cNvSpPr txBox="1">
            <a:spLocks noChangeArrowheads="1"/>
          </p:cNvSpPr>
          <p:nvPr/>
        </p:nvSpPr>
        <p:spPr bwMode="auto">
          <a:xfrm>
            <a:off x="1006475" y="1574800"/>
            <a:ext cx="7777163"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30000"/>
              </a:lnSpc>
              <a:spcBef>
                <a:spcPct val="50000"/>
              </a:spcBef>
            </a:pPr>
            <a:r>
              <a:rPr lang="en-US" altLang="zh-CN" dirty="0">
                <a:latin typeface="楷体_GB2312" pitchFamily="49" charset="-122"/>
                <a:ea typeface="楷体_GB2312" pitchFamily="49" charset="-122"/>
                <a:sym typeface="Symbol" pitchFamily="18" charset="2"/>
              </a:rPr>
              <a:t>    </a:t>
            </a:r>
            <a:r>
              <a:rPr lang="zh-CN" altLang="en-US" dirty="0">
                <a:latin typeface="楷体_GB2312" pitchFamily="49" charset="-122"/>
                <a:ea typeface="楷体_GB2312" pitchFamily="49" charset="-122"/>
                <a:sym typeface="Symbol" pitchFamily="18" charset="2"/>
              </a:rPr>
              <a:t>把金属导线绕在一骨架上构成一实际电感线圈，当电流通过线圈时，将产生磁通，是一种抵抗电流变化、储存磁能的部件。</a:t>
            </a:r>
          </a:p>
        </p:txBody>
      </p:sp>
      <p:sp>
        <p:nvSpPr>
          <p:cNvPr id="46084" name="Text Box 48"/>
          <p:cNvSpPr txBox="1">
            <a:spLocks noChangeArrowheads="1"/>
          </p:cNvSpPr>
          <p:nvPr/>
        </p:nvSpPr>
        <p:spPr bwMode="auto">
          <a:xfrm>
            <a:off x="292100" y="655638"/>
            <a:ext cx="4152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buFont typeface="Wingdings" pitchFamily="2" charset="2"/>
              <a:buChar char="l"/>
            </a:pPr>
            <a:r>
              <a:rPr lang="zh-CN" altLang="en-US" dirty="0">
                <a:solidFill>
                  <a:srgbClr val="990033"/>
                </a:solidFill>
              </a:rPr>
              <a:t>电感</a:t>
            </a:r>
            <a:r>
              <a:rPr lang="zh-CN" altLang="en-US" dirty="0" smtClean="0">
                <a:solidFill>
                  <a:srgbClr val="990033"/>
                </a:solidFill>
              </a:rPr>
              <a:t>元件</a:t>
            </a:r>
            <a:endParaRPr lang="zh-CN" altLang="en-US" dirty="0">
              <a:solidFill>
                <a:srgbClr val="990033"/>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6083"/>
                                        </p:tgtEl>
                                        <p:attrNameLst>
                                          <p:attrName>style.visibility</p:attrName>
                                        </p:attrNameLst>
                                      </p:cBhvr>
                                      <p:to>
                                        <p:strVal val="visible"/>
                                      </p:to>
                                    </p:set>
                                    <p:animEffect transition="in" filter="barn(inVertical)">
                                      <p:cBhvr>
                                        <p:cTn id="7" dur="500"/>
                                        <p:tgtEl>
                                          <p:spTgt spid="4608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6082"/>
                                        </p:tgtEl>
                                        <p:attrNameLst>
                                          <p:attrName>style.visibility</p:attrName>
                                        </p:attrNameLst>
                                      </p:cBhvr>
                                      <p:to>
                                        <p:strVal val="visible"/>
                                      </p:to>
                                    </p:set>
                                    <p:animEffect transition="in" filter="barn(inVertical)">
                                      <p:cBhvr>
                                        <p:cTn id="12" dur="500"/>
                                        <p:tgtEl>
                                          <p:spTgt spid="46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6" name="Group 3"/>
          <p:cNvGrpSpPr>
            <a:grpSpLocks/>
          </p:cNvGrpSpPr>
          <p:nvPr/>
        </p:nvGrpSpPr>
        <p:grpSpPr bwMode="auto">
          <a:xfrm>
            <a:off x="1454150" y="981075"/>
            <a:ext cx="6591300" cy="1077913"/>
            <a:chOff x="336" y="528"/>
            <a:chExt cx="4152" cy="679"/>
          </a:xfrm>
        </p:grpSpPr>
        <p:grpSp>
          <p:nvGrpSpPr>
            <p:cNvPr id="47117" name="Group 4"/>
            <p:cNvGrpSpPr>
              <a:grpSpLocks/>
            </p:cNvGrpSpPr>
            <p:nvPr/>
          </p:nvGrpSpPr>
          <p:grpSpPr bwMode="auto">
            <a:xfrm>
              <a:off x="336" y="528"/>
              <a:ext cx="1460" cy="679"/>
              <a:chOff x="340" y="730"/>
              <a:chExt cx="2000" cy="799"/>
            </a:xfrm>
          </p:grpSpPr>
          <p:sp>
            <p:nvSpPr>
              <p:cNvPr id="47119" name="Text Box 5"/>
              <p:cNvSpPr txBox="1">
                <a:spLocks noChangeArrowheads="1"/>
              </p:cNvSpPr>
              <p:nvPr/>
            </p:nvSpPr>
            <p:spPr bwMode="auto">
              <a:xfrm>
                <a:off x="1224" y="730"/>
                <a:ext cx="319"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L</a:t>
                </a:r>
              </a:p>
            </p:txBody>
          </p:sp>
          <p:sp>
            <p:nvSpPr>
              <p:cNvPr id="47120" name="Text Box 6"/>
              <p:cNvSpPr txBox="1">
                <a:spLocks noChangeArrowheads="1"/>
              </p:cNvSpPr>
              <p:nvPr/>
            </p:nvSpPr>
            <p:spPr bwMode="auto">
              <a:xfrm>
                <a:off x="528" y="762"/>
                <a:ext cx="23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i</a:t>
                </a:r>
              </a:p>
            </p:txBody>
          </p:sp>
          <p:sp>
            <p:nvSpPr>
              <p:cNvPr id="47121" name="Rectangle 7"/>
              <p:cNvSpPr>
                <a:spLocks noChangeArrowheads="1"/>
              </p:cNvSpPr>
              <p:nvPr/>
            </p:nvSpPr>
            <p:spPr bwMode="auto">
              <a:xfrm>
                <a:off x="395" y="1190"/>
                <a:ext cx="308"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endParaRPr lang="en-US" altLang="zh-CN" i="1">
                  <a:solidFill>
                    <a:schemeClr val="hlink"/>
                  </a:solidFill>
                  <a:sym typeface="CommonBullets" pitchFamily="34" charset="2"/>
                </a:endParaRPr>
              </a:p>
            </p:txBody>
          </p:sp>
          <p:sp>
            <p:nvSpPr>
              <p:cNvPr id="47122" name="Line 8"/>
              <p:cNvSpPr>
                <a:spLocks noChangeShapeType="1"/>
              </p:cNvSpPr>
              <p:nvPr/>
            </p:nvSpPr>
            <p:spPr bwMode="auto">
              <a:xfrm flipH="1" flipV="1">
                <a:off x="431" y="1169"/>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3" name="Line 9"/>
              <p:cNvSpPr>
                <a:spLocks noChangeShapeType="1"/>
              </p:cNvSpPr>
              <p:nvPr/>
            </p:nvSpPr>
            <p:spPr bwMode="auto">
              <a:xfrm>
                <a:off x="1659" y="1169"/>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24" name="Oval 10"/>
              <p:cNvSpPr>
                <a:spLocks noChangeArrowheads="1"/>
              </p:cNvSpPr>
              <p:nvPr/>
            </p:nvSpPr>
            <p:spPr bwMode="auto">
              <a:xfrm>
                <a:off x="340" y="1128"/>
                <a:ext cx="91" cy="91"/>
              </a:xfrm>
              <a:prstGeom prst="ellipse">
                <a:avLst/>
              </a:prstGeom>
              <a:solidFill>
                <a:schemeClr val="bg1"/>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7125" name="Oval 11"/>
              <p:cNvSpPr>
                <a:spLocks noChangeArrowheads="1"/>
              </p:cNvSpPr>
              <p:nvPr/>
            </p:nvSpPr>
            <p:spPr bwMode="auto">
              <a:xfrm>
                <a:off x="2235" y="1128"/>
                <a:ext cx="91" cy="91"/>
              </a:xfrm>
              <a:prstGeom prst="ellipse">
                <a:avLst/>
              </a:prstGeom>
              <a:solidFill>
                <a:schemeClr val="bg1"/>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7126" name="Oval 12"/>
              <p:cNvSpPr>
                <a:spLocks noChangeArrowheads="1"/>
              </p:cNvSpPr>
              <p:nvPr/>
            </p:nvSpPr>
            <p:spPr bwMode="auto">
              <a:xfrm rot="5400000">
                <a:off x="1453" y="1128"/>
                <a:ext cx="249" cy="162"/>
              </a:xfrm>
              <a:prstGeom prst="ellipse">
                <a:avLst/>
              </a:prstGeom>
              <a:solidFill>
                <a:schemeClr val="bg1"/>
              </a:solidFill>
              <a:ln w="38100">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7127" name="Oval 13"/>
              <p:cNvSpPr>
                <a:spLocks noChangeArrowheads="1"/>
              </p:cNvSpPr>
              <p:nvPr/>
            </p:nvSpPr>
            <p:spPr bwMode="auto">
              <a:xfrm rot="5400000">
                <a:off x="1288" y="1127"/>
                <a:ext cx="249" cy="162"/>
              </a:xfrm>
              <a:prstGeom prst="ellipse">
                <a:avLst/>
              </a:prstGeom>
              <a:solidFill>
                <a:schemeClr val="bg1"/>
              </a:solidFill>
              <a:ln w="38100">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7128" name="Oval 14"/>
              <p:cNvSpPr>
                <a:spLocks noChangeArrowheads="1"/>
              </p:cNvSpPr>
              <p:nvPr/>
            </p:nvSpPr>
            <p:spPr bwMode="auto">
              <a:xfrm rot="5400000">
                <a:off x="1124" y="1127"/>
                <a:ext cx="249" cy="161"/>
              </a:xfrm>
              <a:prstGeom prst="ellipse">
                <a:avLst/>
              </a:prstGeom>
              <a:solidFill>
                <a:schemeClr val="bg1"/>
              </a:solidFill>
              <a:ln w="38100">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7129" name="Oval 15"/>
              <p:cNvSpPr>
                <a:spLocks noChangeArrowheads="1"/>
              </p:cNvSpPr>
              <p:nvPr/>
            </p:nvSpPr>
            <p:spPr bwMode="auto">
              <a:xfrm rot="5400000">
                <a:off x="953" y="1127"/>
                <a:ext cx="249" cy="162"/>
              </a:xfrm>
              <a:prstGeom prst="ellipse">
                <a:avLst/>
              </a:prstGeom>
              <a:solidFill>
                <a:schemeClr val="bg1"/>
              </a:solidFill>
              <a:ln w="38100">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7130" name="Rectangle 16"/>
              <p:cNvSpPr>
                <a:spLocks noChangeArrowheads="1"/>
              </p:cNvSpPr>
              <p:nvPr/>
            </p:nvSpPr>
            <p:spPr bwMode="auto">
              <a:xfrm rot="5400000">
                <a:off x="1222" y="946"/>
                <a:ext cx="218" cy="698"/>
              </a:xfrm>
              <a:prstGeom prst="rect">
                <a:avLst/>
              </a:prstGeom>
              <a:solidFill>
                <a:schemeClr val="bg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7131" name="Rectangle 17"/>
              <p:cNvSpPr>
                <a:spLocks noChangeArrowheads="1"/>
              </p:cNvSpPr>
              <p:nvPr/>
            </p:nvSpPr>
            <p:spPr bwMode="auto">
              <a:xfrm>
                <a:off x="2049" y="1159"/>
                <a:ext cx="291"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sp>
            <p:nvSpPr>
              <p:cNvPr id="47132" name="Line 18"/>
              <p:cNvSpPr>
                <a:spLocks noChangeShapeType="1"/>
              </p:cNvSpPr>
              <p:nvPr/>
            </p:nvSpPr>
            <p:spPr bwMode="auto">
              <a:xfrm>
                <a:off x="528" y="1104"/>
                <a:ext cx="32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33" name="Text Box 19"/>
              <p:cNvSpPr txBox="1">
                <a:spLocks noChangeArrowheads="1"/>
              </p:cNvSpPr>
              <p:nvPr/>
            </p:nvSpPr>
            <p:spPr bwMode="auto">
              <a:xfrm>
                <a:off x="1215" y="1165"/>
                <a:ext cx="277" cy="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dirty="0" smtClean="0">
                    <a:solidFill>
                      <a:schemeClr val="tx2"/>
                    </a:solidFill>
                  </a:rPr>
                  <a:t>v</a:t>
                </a:r>
                <a:endParaRPr lang="en-US" altLang="zh-CN" i="1" dirty="0">
                  <a:solidFill>
                    <a:schemeClr val="tx2"/>
                  </a:solidFill>
                </a:endParaRPr>
              </a:p>
            </p:txBody>
          </p:sp>
        </p:grpSp>
        <p:sp>
          <p:nvSpPr>
            <p:cNvPr id="47118" name="Text Box 20"/>
            <p:cNvSpPr txBox="1">
              <a:spLocks noChangeArrowheads="1"/>
            </p:cNvSpPr>
            <p:nvPr/>
          </p:nvSpPr>
          <p:spPr bwMode="auto">
            <a:xfrm>
              <a:off x="2088" y="759"/>
              <a:ext cx="240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spcBef>
                  <a:spcPct val="50000"/>
                </a:spcBef>
              </a:pPr>
              <a:r>
                <a:rPr lang="zh-CN" altLang="en-US" dirty="0">
                  <a:solidFill>
                    <a:schemeClr val="tx2"/>
                  </a:solidFill>
                </a:rPr>
                <a:t>变量</a:t>
              </a:r>
              <a:r>
                <a:rPr lang="en-US" altLang="zh-CN" dirty="0">
                  <a:solidFill>
                    <a:schemeClr val="tx2"/>
                  </a:solidFill>
                </a:rPr>
                <a:t>:   </a:t>
              </a:r>
              <a:r>
                <a:rPr lang="zh-CN" altLang="en-US" dirty="0">
                  <a:solidFill>
                    <a:schemeClr val="tx2"/>
                  </a:solidFill>
                </a:rPr>
                <a:t>电流 </a:t>
              </a:r>
              <a:r>
                <a:rPr lang="en-US" altLang="zh-CN" i="1" dirty="0" err="1">
                  <a:solidFill>
                    <a:srgbClr val="FF0000"/>
                  </a:solidFill>
                  <a:sym typeface="Symbol" pitchFamily="18" charset="2"/>
                </a:rPr>
                <a:t>i</a:t>
              </a:r>
              <a:r>
                <a:rPr lang="en-US" altLang="zh-CN" i="1" dirty="0">
                  <a:solidFill>
                    <a:srgbClr val="FF0000"/>
                  </a:solidFill>
                  <a:sym typeface="Symbol" pitchFamily="18" charset="2"/>
                </a:rPr>
                <a:t> </a:t>
              </a:r>
              <a:r>
                <a:rPr lang="en-US" altLang="zh-CN" i="1" dirty="0">
                  <a:sym typeface="Symbol" pitchFamily="18" charset="2"/>
                </a:rPr>
                <a:t> ,</a:t>
              </a:r>
              <a:r>
                <a:rPr lang="en-US" altLang="zh-CN" i="1" dirty="0">
                  <a:solidFill>
                    <a:srgbClr val="FF0000"/>
                  </a:solidFill>
                  <a:sym typeface="Symbol" pitchFamily="18" charset="2"/>
                </a:rPr>
                <a:t>  </a:t>
              </a:r>
              <a:r>
                <a:rPr lang="zh-CN" altLang="en-US" dirty="0">
                  <a:solidFill>
                    <a:schemeClr val="tx2"/>
                  </a:solidFill>
                </a:rPr>
                <a:t>磁链</a:t>
              </a:r>
              <a:r>
                <a:rPr lang="zh-CN" altLang="en-US" i="1" dirty="0">
                  <a:solidFill>
                    <a:srgbClr val="FF0000"/>
                  </a:solidFill>
                  <a:sym typeface="Symbol" pitchFamily="18" charset="2"/>
                </a:rPr>
                <a:t></a:t>
              </a:r>
              <a:endParaRPr lang="zh-CN" altLang="en-US" i="1" dirty="0">
                <a:solidFill>
                  <a:srgbClr val="000000"/>
                </a:solidFill>
                <a:sym typeface="Symbol" pitchFamily="18" charset="2"/>
              </a:endParaRPr>
            </a:p>
          </p:txBody>
        </p:sp>
      </p:grpSp>
      <p:sp>
        <p:nvSpPr>
          <p:cNvPr id="335893" name="Text Box 21"/>
          <p:cNvSpPr txBox="1">
            <a:spLocks noChangeArrowheads="1"/>
          </p:cNvSpPr>
          <p:nvPr/>
        </p:nvSpPr>
        <p:spPr bwMode="auto">
          <a:xfrm>
            <a:off x="306388" y="2530475"/>
            <a:ext cx="3378200" cy="646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lnSpc>
                <a:spcPct val="150000"/>
              </a:lnSpc>
              <a:spcBef>
                <a:spcPct val="50000"/>
              </a:spcBef>
            </a:pPr>
            <a:r>
              <a:rPr lang="en-US" altLang="zh-CN">
                <a:solidFill>
                  <a:srgbClr val="A50021"/>
                </a:solidFill>
              </a:rPr>
              <a:t>1</a:t>
            </a:r>
            <a:r>
              <a:rPr lang="zh-CN" altLang="en-US">
                <a:solidFill>
                  <a:srgbClr val="A50021"/>
                </a:solidFill>
              </a:rPr>
              <a:t>、线性定常电感元件</a:t>
            </a:r>
            <a:endParaRPr lang="zh-CN" altLang="en-US">
              <a:solidFill>
                <a:srgbClr val="A50021"/>
              </a:solidFill>
              <a:sym typeface="Symbol" pitchFamily="18" charset="2"/>
            </a:endParaRPr>
          </a:p>
        </p:txBody>
      </p:sp>
      <p:grpSp>
        <p:nvGrpSpPr>
          <p:cNvPr id="335894" name="Group 22"/>
          <p:cNvGrpSpPr>
            <a:grpSpLocks/>
          </p:cNvGrpSpPr>
          <p:nvPr/>
        </p:nvGrpSpPr>
        <p:grpSpPr bwMode="auto">
          <a:xfrm>
            <a:off x="1779588" y="3548064"/>
            <a:ext cx="6740525" cy="1074738"/>
            <a:chOff x="806" y="1596"/>
            <a:chExt cx="4246" cy="677"/>
          </a:xfrm>
        </p:grpSpPr>
        <p:graphicFrame>
          <p:nvGraphicFramePr>
            <p:cNvPr id="47114" name="Object 23" descr="羊皮纸"/>
            <p:cNvGraphicFramePr>
              <a:graphicFrameLocks noChangeAspect="1"/>
            </p:cNvGraphicFramePr>
            <p:nvPr/>
          </p:nvGraphicFramePr>
          <p:xfrm>
            <a:off x="806" y="1622"/>
            <a:ext cx="790" cy="628"/>
          </p:xfrm>
          <a:graphic>
            <a:graphicData uri="http://schemas.openxmlformats.org/presentationml/2006/ole">
              <mc:AlternateContent xmlns:mc="http://schemas.openxmlformats.org/markup-compatibility/2006">
                <mc:Choice xmlns:v="urn:schemas-microsoft-com:vml" Requires="v">
                  <p:oleObj spid="_x0000_s122894" name="Equation" r:id="rId3" imgW="444114" imgH="355292" progId="Equation.DSMT4">
                    <p:embed/>
                  </p:oleObj>
                </mc:Choice>
                <mc:Fallback>
                  <p:oleObj name="Equation" r:id="rId3" imgW="444114" imgH="35529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 y="1622"/>
                          <a:ext cx="790" cy="628"/>
                        </a:xfrm>
                        <a:prstGeom prst="rect">
                          <a:avLst/>
                        </a:prstGeom>
                        <a:blipFill dpi="0" rotWithShape="0">
                          <a:blip r:embed="rId5"/>
                          <a:srcRect/>
                          <a:tile tx="0" ty="0" sx="100000" sy="100000" flip="none" algn="tl"/>
                        </a:blipFill>
                        <a:ln>
                          <a:noFill/>
                        </a:ln>
                        <a:effectLst>
                          <a:prstShdw prst="shdw17" dist="17961" dir="2700000">
                            <a:srgbClr val="99997A"/>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5" name="Text Box 24"/>
            <p:cNvSpPr txBox="1">
              <a:spLocks noChangeArrowheads="1"/>
            </p:cNvSpPr>
            <p:nvPr/>
          </p:nvSpPr>
          <p:spPr bwMode="auto">
            <a:xfrm>
              <a:off x="2000" y="1596"/>
              <a:ext cx="29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sym typeface="Symbol" pitchFamily="18" charset="2"/>
                </a:rPr>
                <a:t></a:t>
              </a:r>
              <a:r>
                <a:rPr lang="en-US" altLang="zh-CN" i="1" baseline="-25000" dirty="0">
                  <a:solidFill>
                    <a:schemeClr val="tx2"/>
                  </a:solidFill>
                  <a:sym typeface="Symbol" pitchFamily="18" charset="2"/>
                </a:rPr>
                <a:t> L</a:t>
              </a:r>
              <a:r>
                <a:rPr lang="en-US" altLang="zh-CN" dirty="0">
                  <a:solidFill>
                    <a:schemeClr val="tx2"/>
                  </a:solidFill>
                  <a:sym typeface="Symbol" pitchFamily="18" charset="2"/>
                </a:rPr>
                <a:t>= </a:t>
              </a:r>
              <a:r>
                <a:rPr lang="en-US" altLang="zh-CN" i="1" dirty="0">
                  <a:solidFill>
                    <a:schemeClr val="tx2"/>
                  </a:solidFill>
                  <a:sym typeface="Symbol" pitchFamily="18" charset="2"/>
                </a:rPr>
                <a:t>N  </a:t>
              </a:r>
              <a:r>
                <a:rPr lang="en-US" altLang="zh-CN" i="1" baseline="-25000" dirty="0">
                  <a:solidFill>
                    <a:schemeClr val="tx2"/>
                  </a:solidFill>
                  <a:sym typeface="Symbol" pitchFamily="18" charset="2"/>
                </a:rPr>
                <a:t>L</a:t>
              </a:r>
              <a:r>
                <a:rPr lang="en-US" altLang="zh-CN" i="1" dirty="0">
                  <a:solidFill>
                    <a:schemeClr val="tx2"/>
                  </a:solidFill>
                  <a:sym typeface="Symbol" pitchFamily="18" charset="2"/>
                </a:rPr>
                <a:t> </a:t>
              </a:r>
              <a:r>
                <a:rPr lang="zh-CN" altLang="en-US" dirty="0">
                  <a:solidFill>
                    <a:schemeClr val="tx2"/>
                  </a:solidFill>
                  <a:sym typeface="Symbol" pitchFamily="18" charset="2"/>
                </a:rPr>
                <a:t>为电感线圈的磁链</a:t>
              </a:r>
            </a:p>
          </p:txBody>
        </p:sp>
        <p:sp>
          <p:nvSpPr>
            <p:cNvPr id="47116" name="Text Box 25"/>
            <p:cNvSpPr txBox="1">
              <a:spLocks noChangeArrowheads="1"/>
            </p:cNvSpPr>
            <p:nvPr/>
          </p:nvSpPr>
          <p:spPr bwMode="auto">
            <a:xfrm>
              <a:off x="2233" y="1982"/>
              <a:ext cx="2819"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smtClean="0">
                  <a:solidFill>
                    <a:srgbClr val="FF0000"/>
                  </a:solidFill>
                </a:rPr>
                <a:t>N</a:t>
              </a:r>
              <a:r>
                <a:rPr lang="zh-CN" altLang="en-US" dirty="0">
                  <a:solidFill>
                    <a:schemeClr val="tx2"/>
                  </a:solidFill>
                </a:rPr>
                <a:t>是线圈匝数，</a:t>
              </a:r>
              <a:r>
                <a:rPr lang="en-US" altLang="zh-CN" i="1" dirty="0" smtClean="0">
                  <a:solidFill>
                    <a:srgbClr val="FF0000"/>
                  </a:solidFill>
                </a:rPr>
                <a:t>L</a:t>
              </a:r>
              <a:r>
                <a:rPr lang="en-US" altLang="zh-CN" i="1" dirty="0" smtClean="0">
                  <a:solidFill>
                    <a:schemeClr val="tx2"/>
                  </a:solidFill>
                </a:rPr>
                <a:t>  </a:t>
              </a:r>
              <a:r>
                <a:rPr lang="zh-CN" altLang="en-US" dirty="0">
                  <a:solidFill>
                    <a:schemeClr val="tx2"/>
                  </a:solidFill>
                </a:rPr>
                <a:t>称为自感系数</a:t>
              </a:r>
            </a:p>
          </p:txBody>
        </p:sp>
      </p:grpSp>
      <p:sp>
        <p:nvSpPr>
          <p:cNvPr id="47109" name="Text Box 26"/>
          <p:cNvSpPr txBox="1">
            <a:spLocks noChangeArrowheads="1"/>
          </p:cNvSpPr>
          <p:nvPr/>
        </p:nvSpPr>
        <p:spPr bwMode="auto">
          <a:xfrm>
            <a:off x="1550988" y="523875"/>
            <a:ext cx="5699125"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a:t>电感是一种将能量储存在磁场中的元件。</a:t>
            </a:r>
          </a:p>
        </p:txBody>
      </p:sp>
      <p:grpSp>
        <p:nvGrpSpPr>
          <p:cNvPr id="335899" name="Group 27"/>
          <p:cNvGrpSpPr>
            <a:grpSpLocks/>
          </p:cNvGrpSpPr>
          <p:nvPr/>
        </p:nvGrpSpPr>
        <p:grpSpPr bwMode="auto">
          <a:xfrm>
            <a:off x="1219200" y="5121275"/>
            <a:ext cx="6992938" cy="1173163"/>
            <a:chOff x="768" y="3334"/>
            <a:chExt cx="4405" cy="739"/>
          </a:xfrm>
        </p:grpSpPr>
        <p:sp>
          <p:nvSpPr>
            <p:cNvPr id="47112" name="Text Box 28"/>
            <p:cNvSpPr txBox="1">
              <a:spLocks noChangeArrowheads="1"/>
            </p:cNvSpPr>
            <p:nvPr/>
          </p:nvSpPr>
          <p:spPr bwMode="auto">
            <a:xfrm>
              <a:off x="768" y="3334"/>
              <a:ext cx="440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rPr>
                <a:t>L </a:t>
              </a:r>
              <a:r>
                <a:rPr lang="zh-CN" altLang="en-US">
                  <a:solidFill>
                    <a:schemeClr val="tx2"/>
                  </a:solidFill>
                </a:rPr>
                <a:t>的单位名称：亨（利）   符号：</a:t>
              </a:r>
              <a:r>
                <a:rPr lang="en-US" altLang="zh-CN">
                  <a:solidFill>
                    <a:schemeClr val="tx2"/>
                  </a:solidFill>
                </a:rPr>
                <a:t>H (Henry</a:t>
              </a:r>
              <a:r>
                <a:rPr lang="zh-CN" altLang="en-US">
                  <a:solidFill>
                    <a:schemeClr val="tx2"/>
                  </a:solidFill>
                </a:rPr>
                <a:t>）</a:t>
              </a:r>
              <a:endParaRPr lang="zh-CN" altLang="en-US">
                <a:solidFill>
                  <a:schemeClr val="tx2"/>
                </a:solidFill>
                <a:sym typeface="Symbol" pitchFamily="18" charset="2"/>
              </a:endParaRPr>
            </a:p>
          </p:txBody>
        </p:sp>
        <p:sp>
          <p:nvSpPr>
            <p:cNvPr id="47113" name="Text Box 29"/>
            <p:cNvSpPr txBox="1">
              <a:spLocks noChangeArrowheads="1"/>
            </p:cNvSpPr>
            <p:nvPr/>
          </p:nvSpPr>
          <p:spPr bwMode="auto">
            <a:xfrm>
              <a:off x="1000" y="3785"/>
              <a:ext cx="349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i="1">
                  <a:solidFill>
                    <a:schemeClr val="tx2"/>
                  </a:solidFill>
                  <a:sym typeface="Symbol" pitchFamily="18" charset="2"/>
                </a:rPr>
                <a:t> </a:t>
              </a:r>
              <a:r>
                <a:rPr lang="en-US" altLang="zh-CN" i="1" baseline="-25000">
                  <a:solidFill>
                    <a:schemeClr val="tx2"/>
                  </a:solidFill>
                  <a:sym typeface="Symbol" pitchFamily="18" charset="2"/>
                </a:rPr>
                <a:t>L</a:t>
              </a:r>
              <a:r>
                <a:rPr lang="en-US" altLang="zh-CN">
                  <a:sym typeface="Symbol" pitchFamily="18" charset="2"/>
                </a:rPr>
                <a:t> </a:t>
              </a:r>
              <a:r>
                <a:rPr lang="zh-CN" altLang="en-US" i="1">
                  <a:solidFill>
                    <a:schemeClr val="tx2"/>
                  </a:solidFill>
                  <a:sym typeface="Symbol" pitchFamily="18" charset="2"/>
                </a:rPr>
                <a:t>、  </a:t>
              </a:r>
              <a:r>
                <a:rPr lang="en-US" altLang="zh-CN" i="1" baseline="-25000">
                  <a:solidFill>
                    <a:schemeClr val="tx2"/>
                  </a:solidFill>
                  <a:sym typeface="Symbol" pitchFamily="18" charset="2"/>
                </a:rPr>
                <a:t>L</a:t>
              </a:r>
              <a:r>
                <a:rPr lang="zh-CN" altLang="en-US">
                  <a:solidFill>
                    <a:schemeClr val="tx2"/>
                  </a:solidFill>
                </a:rPr>
                <a:t>的单位名称：韦伯   符号：</a:t>
              </a:r>
              <a:r>
                <a:rPr lang="en-US" altLang="zh-CN">
                  <a:solidFill>
                    <a:schemeClr val="tx2"/>
                  </a:solidFill>
                </a:rPr>
                <a:t>Wb</a:t>
              </a:r>
            </a:p>
          </p:txBody>
        </p:sp>
      </p:grpSp>
      <p:graphicFrame>
        <p:nvGraphicFramePr>
          <p:cNvPr id="47111" name="Object 31"/>
          <p:cNvGraphicFramePr>
            <a:graphicFrameLocks noChangeAspect="1"/>
          </p:cNvGraphicFramePr>
          <p:nvPr/>
        </p:nvGraphicFramePr>
        <p:xfrm>
          <a:off x="1343025" y="2028825"/>
          <a:ext cx="2701925" cy="368300"/>
        </p:xfrm>
        <a:graphic>
          <a:graphicData uri="http://schemas.openxmlformats.org/presentationml/2006/ole">
            <mc:AlternateContent xmlns:mc="http://schemas.openxmlformats.org/markup-compatibility/2006">
              <mc:Choice xmlns:v="urn:schemas-microsoft-com:vml" Requires="v">
                <p:oleObj spid="_x0000_s122895" name="Visio" r:id="rId6" imgW="1735934" imgH="236246" progId="Visio.Drawing.11">
                  <p:embed/>
                </p:oleObj>
              </mc:Choice>
              <mc:Fallback>
                <p:oleObj name="Visio" r:id="rId6" imgW="1735934" imgH="236246"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3025" y="2028825"/>
                        <a:ext cx="2701925" cy="3683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32691767"/>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5893"/>
                                        </p:tgtEl>
                                        <p:attrNameLst>
                                          <p:attrName>style.visibility</p:attrName>
                                        </p:attrNameLst>
                                      </p:cBhvr>
                                      <p:to>
                                        <p:strVal val="visible"/>
                                      </p:to>
                                    </p:set>
                                    <p:animEffect transition="in" filter="blinds(horizontal)">
                                      <p:cBhvr>
                                        <p:cTn id="7" dur="500"/>
                                        <p:tgtEl>
                                          <p:spTgt spid="335893"/>
                                        </p:tgtEl>
                                      </p:cBhvr>
                                    </p:animEffect>
                                  </p:childTnLst>
                                </p:cTn>
                              </p:par>
                              <p:par>
                                <p:cTn id="8" presetID="3" presetClass="entr" presetSubtype="10" fill="hold" nodeType="withEffect">
                                  <p:stCondLst>
                                    <p:cond delay="0"/>
                                  </p:stCondLst>
                                  <p:childTnLst>
                                    <p:set>
                                      <p:cBhvr>
                                        <p:cTn id="9" dur="1" fill="hold">
                                          <p:stCondLst>
                                            <p:cond delay="0"/>
                                          </p:stCondLst>
                                        </p:cTn>
                                        <p:tgtEl>
                                          <p:spTgt spid="335894"/>
                                        </p:tgtEl>
                                        <p:attrNameLst>
                                          <p:attrName>style.visibility</p:attrName>
                                        </p:attrNameLst>
                                      </p:cBhvr>
                                      <p:to>
                                        <p:strVal val="visible"/>
                                      </p:to>
                                    </p:set>
                                    <p:animEffect transition="in" filter="blinds(horizontal)">
                                      <p:cBhvr>
                                        <p:cTn id="10" dur="500"/>
                                        <p:tgtEl>
                                          <p:spTgt spid="33589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8" presetClass="entr" presetSubtype="16" fill="hold" nodeType="clickEffect">
                                  <p:stCondLst>
                                    <p:cond delay="0"/>
                                  </p:stCondLst>
                                  <p:childTnLst>
                                    <p:set>
                                      <p:cBhvr>
                                        <p:cTn id="14" dur="1" fill="hold">
                                          <p:stCondLst>
                                            <p:cond delay="0"/>
                                          </p:stCondLst>
                                        </p:cTn>
                                        <p:tgtEl>
                                          <p:spTgt spid="335899"/>
                                        </p:tgtEl>
                                        <p:attrNameLst>
                                          <p:attrName>style.visibility</p:attrName>
                                        </p:attrNameLst>
                                      </p:cBhvr>
                                      <p:to>
                                        <p:strVal val="visible"/>
                                      </p:to>
                                    </p:set>
                                    <p:animEffect transition="in" filter="diamond(in)">
                                      <p:cBhvr>
                                        <p:cTn id="15" dur="2000"/>
                                        <p:tgtEl>
                                          <p:spTgt spid="335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9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ChangeArrowheads="1"/>
          </p:cNvSpPr>
          <p:nvPr/>
        </p:nvSpPr>
        <p:spPr bwMode="auto">
          <a:xfrm>
            <a:off x="522383" y="2917181"/>
            <a:ext cx="405110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dirty="0">
                <a:solidFill>
                  <a:srgbClr val="A50021"/>
                </a:solidFill>
              </a:rPr>
              <a:t>2</a:t>
            </a:r>
            <a:r>
              <a:rPr lang="zh-CN" altLang="en-US" dirty="0">
                <a:solidFill>
                  <a:srgbClr val="A50021"/>
                </a:solidFill>
              </a:rPr>
              <a:t>、线性电感电压、电流</a:t>
            </a:r>
            <a:r>
              <a:rPr lang="zh-CN" altLang="en-US" dirty="0" smtClean="0">
                <a:solidFill>
                  <a:srgbClr val="A50021"/>
                </a:solidFill>
              </a:rPr>
              <a:t>关系</a:t>
            </a:r>
            <a:endParaRPr lang="zh-CN" altLang="en-US" dirty="0">
              <a:solidFill>
                <a:srgbClr val="A50021"/>
              </a:solidFill>
            </a:endParaRPr>
          </a:p>
        </p:txBody>
      </p:sp>
      <p:sp>
        <p:nvSpPr>
          <p:cNvPr id="336899" name="Text Box 3"/>
          <p:cNvSpPr txBox="1">
            <a:spLocks noChangeArrowheads="1"/>
          </p:cNvSpPr>
          <p:nvPr/>
        </p:nvSpPr>
        <p:spPr bwMode="auto">
          <a:xfrm>
            <a:off x="4540250" y="4400550"/>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endParaRPr lang="zh-CN" altLang="zh-CN">
              <a:solidFill>
                <a:schemeClr val="tx2"/>
              </a:solidFill>
            </a:endParaRPr>
          </a:p>
        </p:txBody>
      </p:sp>
      <p:grpSp>
        <p:nvGrpSpPr>
          <p:cNvPr id="336950" name="Group 54"/>
          <p:cNvGrpSpPr>
            <a:grpSpLocks/>
          </p:cNvGrpSpPr>
          <p:nvPr/>
        </p:nvGrpSpPr>
        <p:grpSpPr bwMode="auto">
          <a:xfrm>
            <a:off x="1109663" y="3840163"/>
            <a:ext cx="1695450" cy="2019300"/>
            <a:chOff x="355" y="1951"/>
            <a:chExt cx="1068" cy="1272"/>
          </a:xfrm>
        </p:grpSpPr>
        <p:sp>
          <p:nvSpPr>
            <p:cNvPr id="48147" name="Text Box 7"/>
            <p:cNvSpPr txBox="1">
              <a:spLocks noChangeArrowheads="1"/>
            </p:cNvSpPr>
            <p:nvPr/>
          </p:nvSpPr>
          <p:spPr bwMode="auto">
            <a:xfrm>
              <a:off x="1076" y="1951"/>
              <a:ext cx="29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rgbClr val="000000"/>
                  </a:solidFill>
                  <a:sym typeface="Symbol" pitchFamily="18" charset="2"/>
                </a:rPr>
                <a:t></a:t>
              </a:r>
              <a:r>
                <a:rPr lang="en-US" altLang="zh-CN" i="1" baseline="-25000">
                  <a:solidFill>
                    <a:srgbClr val="000000"/>
                  </a:solidFill>
                  <a:sym typeface="Symbol" pitchFamily="18" charset="2"/>
                </a:rPr>
                <a:t>L</a:t>
              </a:r>
              <a:endParaRPr lang="en-US" altLang="zh-CN" i="1" baseline="-25000">
                <a:solidFill>
                  <a:srgbClr val="000000"/>
                </a:solidFill>
              </a:endParaRPr>
            </a:p>
          </p:txBody>
        </p:sp>
        <p:sp>
          <p:nvSpPr>
            <p:cNvPr id="48148" name="Line 8"/>
            <p:cNvSpPr>
              <a:spLocks noChangeShapeType="1"/>
            </p:cNvSpPr>
            <p:nvPr/>
          </p:nvSpPr>
          <p:spPr bwMode="auto">
            <a:xfrm>
              <a:off x="1247" y="2167"/>
              <a:ext cx="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9" name="Line 9"/>
            <p:cNvSpPr>
              <a:spLocks noChangeShapeType="1"/>
            </p:cNvSpPr>
            <p:nvPr/>
          </p:nvSpPr>
          <p:spPr bwMode="auto">
            <a:xfrm>
              <a:off x="1391" y="2167"/>
              <a:ext cx="0" cy="105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0" name="Line 10"/>
            <p:cNvSpPr>
              <a:spLocks noChangeShapeType="1"/>
            </p:cNvSpPr>
            <p:nvPr/>
          </p:nvSpPr>
          <p:spPr bwMode="auto">
            <a:xfrm flipH="1">
              <a:off x="527" y="3127"/>
              <a:ext cx="288"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1" name="Line 11"/>
            <p:cNvSpPr>
              <a:spLocks noChangeShapeType="1"/>
            </p:cNvSpPr>
            <p:nvPr/>
          </p:nvSpPr>
          <p:spPr bwMode="auto">
            <a:xfrm>
              <a:off x="527" y="2359"/>
              <a:ext cx="864"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2" name="Line 12"/>
            <p:cNvSpPr>
              <a:spLocks noChangeShapeType="1"/>
            </p:cNvSpPr>
            <p:nvPr/>
          </p:nvSpPr>
          <p:spPr bwMode="auto">
            <a:xfrm flipV="1">
              <a:off x="815" y="2167"/>
              <a:ext cx="0" cy="105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3" name="Line 13"/>
            <p:cNvSpPr>
              <a:spLocks noChangeShapeType="1"/>
            </p:cNvSpPr>
            <p:nvPr/>
          </p:nvSpPr>
          <p:spPr bwMode="auto">
            <a:xfrm>
              <a:off x="815" y="2503"/>
              <a:ext cx="576"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4" name="Line 14"/>
            <p:cNvSpPr>
              <a:spLocks noChangeShapeType="1"/>
            </p:cNvSpPr>
            <p:nvPr/>
          </p:nvSpPr>
          <p:spPr bwMode="auto">
            <a:xfrm>
              <a:off x="815" y="2647"/>
              <a:ext cx="576"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5" name="Line 15"/>
            <p:cNvSpPr>
              <a:spLocks noChangeShapeType="1"/>
            </p:cNvSpPr>
            <p:nvPr/>
          </p:nvSpPr>
          <p:spPr bwMode="auto">
            <a:xfrm>
              <a:off x="815" y="2791"/>
              <a:ext cx="576"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6" name="Line 16"/>
            <p:cNvSpPr>
              <a:spLocks noChangeShapeType="1"/>
            </p:cNvSpPr>
            <p:nvPr/>
          </p:nvSpPr>
          <p:spPr bwMode="auto">
            <a:xfrm>
              <a:off x="815" y="2935"/>
              <a:ext cx="576" cy="9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7" name="Freeform 17"/>
            <p:cNvSpPr>
              <a:spLocks/>
            </p:cNvSpPr>
            <p:nvPr/>
          </p:nvSpPr>
          <p:spPr bwMode="auto">
            <a:xfrm>
              <a:off x="788" y="2461"/>
              <a:ext cx="27" cy="54"/>
            </a:xfrm>
            <a:custGeom>
              <a:avLst/>
              <a:gdLst>
                <a:gd name="T0" fmla="*/ 21 w 27"/>
                <a:gd name="T1" fmla="*/ 0 h 54"/>
                <a:gd name="T2" fmla="*/ 3 w 27"/>
                <a:gd name="T3" fmla="*/ 36 h 54"/>
                <a:gd name="T4" fmla="*/ 27 w 27"/>
                <a:gd name="T5" fmla="*/ 54 h 54"/>
                <a:gd name="T6" fmla="*/ 0 60000 65536"/>
                <a:gd name="T7" fmla="*/ 0 60000 65536"/>
                <a:gd name="T8" fmla="*/ 0 60000 65536"/>
              </a:gdLst>
              <a:ahLst/>
              <a:cxnLst>
                <a:cxn ang="T6">
                  <a:pos x="T0" y="T1"/>
                </a:cxn>
                <a:cxn ang="T7">
                  <a:pos x="T2" y="T3"/>
                </a:cxn>
                <a:cxn ang="T8">
                  <a:pos x="T4" y="T5"/>
                </a:cxn>
              </a:cxnLst>
              <a:rect l="0" t="0" r="r" b="b"/>
              <a:pathLst>
                <a:path w="27" h="54">
                  <a:moveTo>
                    <a:pt x="21" y="0"/>
                  </a:moveTo>
                  <a:cubicBezTo>
                    <a:pt x="18" y="4"/>
                    <a:pt x="0" y="28"/>
                    <a:pt x="3" y="36"/>
                  </a:cubicBezTo>
                  <a:cubicBezTo>
                    <a:pt x="7" y="45"/>
                    <a:pt x="20" y="47"/>
                    <a:pt x="27" y="54"/>
                  </a:cubicBezTo>
                </a:path>
              </a:pathLst>
            </a:custGeom>
            <a:noFill/>
            <a:ln w="381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8" name="Freeform 18"/>
            <p:cNvSpPr>
              <a:spLocks/>
            </p:cNvSpPr>
            <p:nvPr/>
          </p:nvSpPr>
          <p:spPr bwMode="auto">
            <a:xfrm>
              <a:off x="1391" y="2599"/>
              <a:ext cx="19" cy="36"/>
            </a:xfrm>
            <a:custGeom>
              <a:avLst/>
              <a:gdLst>
                <a:gd name="T0" fmla="*/ 6 w 19"/>
                <a:gd name="T1" fmla="*/ 0 h 36"/>
                <a:gd name="T2" fmla="*/ 18 w 19"/>
                <a:gd name="T3" fmla="*/ 18 h 36"/>
                <a:gd name="T4" fmla="*/ 0 w 19"/>
                <a:gd name="T5" fmla="*/ 36 h 36"/>
                <a:gd name="T6" fmla="*/ 0 60000 65536"/>
                <a:gd name="T7" fmla="*/ 0 60000 65536"/>
                <a:gd name="T8" fmla="*/ 0 60000 65536"/>
              </a:gdLst>
              <a:ahLst/>
              <a:cxnLst>
                <a:cxn ang="T6">
                  <a:pos x="T0" y="T1"/>
                </a:cxn>
                <a:cxn ang="T7">
                  <a:pos x="T2" y="T3"/>
                </a:cxn>
                <a:cxn ang="T8">
                  <a:pos x="T4" y="T5"/>
                </a:cxn>
              </a:cxnLst>
              <a:rect l="0" t="0" r="r" b="b"/>
              <a:pathLst>
                <a:path w="19" h="36">
                  <a:moveTo>
                    <a:pt x="6" y="0"/>
                  </a:moveTo>
                  <a:cubicBezTo>
                    <a:pt x="10" y="6"/>
                    <a:pt x="19" y="11"/>
                    <a:pt x="18" y="18"/>
                  </a:cubicBezTo>
                  <a:cubicBezTo>
                    <a:pt x="17" y="26"/>
                    <a:pt x="0" y="36"/>
                    <a:pt x="0" y="36"/>
                  </a:cubicBezTo>
                </a:path>
              </a:pathLst>
            </a:custGeom>
            <a:noFill/>
            <a:ln w="381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59" name="Freeform 19"/>
            <p:cNvSpPr>
              <a:spLocks/>
            </p:cNvSpPr>
            <p:nvPr/>
          </p:nvSpPr>
          <p:spPr bwMode="auto">
            <a:xfrm>
              <a:off x="789" y="2621"/>
              <a:ext cx="22" cy="26"/>
            </a:xfrm>
            <a:custGeom>
              <a:avLst/>
              <a:gdLst>
                <a:gd name="T0" fmla="*/ 20 w 22"/>
                <a:gd name="T1" fmla="*/ 26 h 26"/>
                <a:gd name="T2" fmla="*/ 2 w 22"/>
                <a:gd name="T3" fmla="*/ 20 h 26"/>
                <a:gd name="T4" fmla="*/ 14 w 22"/>
                <a:gd name="T5" fmla="*/ 2 h 26"/>
                <a:gd name="T6" fmla="*/ 20 w 22"/>
                <a:gd name="T7" fmla="*/ 26 h 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26">
                  <a:moveTo>
                    <a:pt x="20" y="26"/>
                  </a:moveTo>
                  <a:cubicBezTo>
                    <a:pt x="14" y="24"/>
                    <a:pt x="4" y="26"/>
                    <a:pt x="2" y="20"/>
                  </a:cubicBezTo>
                  <a:cubicBezTo>
                    <a:pt x="0" y="13"/>
                    <a:pt x="7" y="0"/>
                    <a:pt x="14" y="2"/>
                  </a:cubicBezTo>
                  <a:cubicBezTo>
                    <a:pt x="22" y="5"/>
                    <a:pt x="18" y="18"/>
                    <a:pt x="20" y="26"/>
                  </a:cubicBezTo>
                  <a:close/>
                </a:path>
              </a:pathLst>
            </a:custGeom>
            <a:solidFill>
              <a:srgbClr val="FFFFFF"/>
            </a:solidFill>
            <a:ln w="3810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0" name="Freeform 20"/>
            <p:cNvSpPr>
              <a:spLocks/>
            </p:cNvSpPr>
            <p:nvPr/>
          </p:nvSpPr>
          <p:spPr bwMode="auto">
            <a:xfrm>
              <a:off x="1391" y="2743"/>
              <a:ext cx="28" cy="36"/>
            </a:xfrm>
            <a:custGeom>
              <a:avLst/>
              <a:gdLst>
                <a:gd name="T0" fmla="*/ 6 w 28"/>
                <a:gd name="T1" fmla="*/ 0 h 36"/>
                <a:gd name="T2" fmla="*/ 0 w 28"/>
                <a:gd name="T3" fmla="*/ 36 h 36"/>
                <a:gd name="T4" fmla="*/ 0 60000 65536"/>
                <a:gd name="T5" fmla="*/ 0 60000 65536"/>
              </a:gdLst>
              <a:ahLst/>
              <a:cxnLst>
                <a:cxn ang="T4">
                  <a:pos x="T0" y="T1"/>
                </a:cxn>
                <a:cxn ang="T5">
                  <a:pos x="T2" y="T3"/>
                </a:cxn>
              </a:cxnLst>
              <a:rect l="0" t="0" r="r" b="b"/>
              <a:pathLst>
                <a:path w="28" h="36">
                  <a:moveTo>
                    <a:pt x="6" y="0"/>
                  </a:moveTo>
                  <a:cubicBezTo>
                    <a:pt x="16" y="15"/>
                    <a:pt x="28" y="36"/>
                    <a:pt x="0" y="36"/>
                  </a:cubicBezTo>
                </a:path>
              </a:pathLst>
            </a:custGeom>
            <a:noFill/>
            <a:ln w="381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1" name="Freeform 21"/>
            <p:cNvSpPr>
              <a:spLocks/>
            </p:cNvSpPr>
            <p:nvPr/>
          </p:nvSpPr>
          <p:spPr bwMode="auto">
            <a:xfrm>
              <a:off x="789" y="2755"/>
              <a:ext cx="26" cy="36"/>
            </a:xfrm>
            <a:custGeom>
              <a:avLst/>
              <a:gdLst>
                <a:gd name="T0" fmla="*/ 20 w 26"/>
                <a:gd name="T1" fmla="*/ 0 h 36"/>
                <a:gd name="T2" fmla="*/ 2 w 26"/>
                <a:gd name="T3" fmla="*/ 12 h 36"/>
                <a:gd name="T4" fmla="*/ 8 w 26"/>
                <a:gd name="T5" fmla="*/ 30 h 36"/>
                <a:gd name="T6" fmla="*/ 26 w 26"/>
                <a:gd name="T7" fmla="*/ 36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36">
                  <a:moveTo>
                    <a:pt x="20" y="0"/>
                  </a:moveTo>
                  <a:cubicBezTo>
                    <a:pt x="14" y="4"/>
                    <a:pt x="5" y="5"/>
                    <a:pt x="2" y="12"/>
                  </a:cubicBezTo>
                  <a:cubicBezTo>
                    <a:pt x="0" y="18"/>
                    <a:pt x="4" y="26"/>
                    <a:pt x="8" y="30"/>
                  </a:cubicBezTo>
                  <a:cubicBezTo>
                    <a:pt x="12" y="34"/>
                    <a:pt x="26" y="36"/>
                    <a:pt x="26" y="36"/>
                  </a:cubicBezTo>
                </a:path>
              </a:pathLst>
            </a:custGeom>
            <a:noFill/>
            <a:ln w="381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2" name="Freeform 22"/>
            <p:cNvSpPr>
              <a:spLocks/>
            </p:cNvSpPr>
            <p:nvPr/>
          </p:nvSpPr>
          <p:spPr bwMode="auto">
            <a:xfrm>
              <a:off x="1385" y="2887"/>
              <a:ext cx="27" cy="33"/>
            </a:xfrm>
            <a:custGeom>
              <a:avLst/>
              <a:gdLst>
                <a:gd name="T0" fmla="*/ 0 w 27"/>
                <a:gd name="T1" fmla="*/ 0 h 33"/>
                <a:gd name="T2" fmla="*/ 24 w 27"/>
                <a:gd name="T3" fmla="*/ 12 h 33"/>
                <a:gd name="T4" fmla="*/ 18 w 27"/>
                <a:gd name="T5" fmla="*/ 30 h 33"/>
                <a:gd name="T6" fmla="*/ 0 w 27"/>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33">
                  <a:moveTo>
                    <a:pt x="0" y="0"/>
                  </a:moveTo>
                  <a:cubicBezTo>
                    <a:pt x="8" y="4"/>
                    <a:pt x="19" y="4"/>
                    <a:pt x="24" y="12"/>
                  </a:cubicBezTo>
                  <a:cubicBezTo>
                    <a:pt x="27" y="17"/>
                    <a:pt x="24" y="33"/>
                    <a:pt x="18" y="30"/>
                  </a:cubicBezTo>
                  <a:cubicBezTo>
                    <a:pt x="8" y="25"/>
                    <a:pt x="6" y="10"/>
                    <a:pt x="0" y="0"/>
                  </a:cubicBezTo>
                  <a:close/>
                </a:path>
              </a:pathLst>
            </a:custGeom>
            <a:solidFill>
              <a:srgbClr val="FFFFFF"/>
            </a:solidFill>
            <a:ln w="38100" cap="flat"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3" name="Freeform 23"/>
            <p:cNvSpPr>
              <a:spLocks/>
            </p:cNvSpPr>
            <p:nvPr/>
          </p:nvSpPr>
          <p:spPr bwMode="auto">
            <a:xfrm>
              <a:off x="795" y="2899"/>
              <a:ext cx="24" cy="48"/>
            </a:xfrm>
            <a:custGeom>
              <a:avLst/>
              <a:gdLst>
                <a:gd name="T0" fmla="*/ 14 w 24"/>
                <a:gd name="T1" fmla="*/ 0 h 48"/>
                <a:gd name="T2" fmla="*/ 2 w 24"/>
                <a:gd name="T3" fmla="*/ 36 h 48"/>
                <a:gd name="T4" fmla="*/ 20 w 24"/>
                <a:gd name="T5" fmla="*/ 48 h 48"/>
                <a:gd name="T6" fmla="*/ 20 w 24"/>
                <a:gd name="T7" fmla="*/ 36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48">
                  <a:moveTo>
                    <a:pt x="14" y="0"/>
                  </a:moveTo>
                  <a:cubicBezTo>
                    <a:pt x="10" y="12"/>
                    <a:pt x="6" y="24"/>
                    <a:pt x="2" y="36"/>
                  </a:cubicBezTo>
                  <a:cubicBezTo>
                    <a:pt x="0" y="43"/>
                    <a:pt x="13" y="48"/>
                    <a:pt x="20" y="48"/>
                  </a:cubicBezTo>
                  <a:cubicBezTo>
                    <a:pt x="24" y="48"/>
                    <a:pt x="20" y="40"/>
                    <a:pt x="20" y="36"/>
                  </a:cubicBezTo>
                </a:path>
              </a:pathLst>
            </a:custGeom>
            <a:noFill/>
            <a:ln w="381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4" name="Freeform 24"/>
            <p:cNvSpPr>
              <a:spLocks/>
            </p:cNvSpPr>
            <p:nvPr/>
          </p:nvSpPr>
          <p:spPr bwMode="auto">
            <a:xfrm>
              <a:off x="1391" y="3031"/>
              <a:ext cx="31" cy="48"/>
            </a:xfrm>
            <a:custGeom>
              <a:avLst/>
              <a:gdLst>
                <a:gd name="T0" fmla="*/ 0 w 31"/>
                <a:gd name="T1" fmla="*/ 0 h 48"/>
                <a:gd name="T2" fmla="*/ 6 w 31"/>
                <a:gd name="T3" fmla="*/ 18 h 48"/>
                <a:gd name="T4" fmla="*/ 24 w 31"/>
                <a:gd name="T5" fmla="*/ 24 h 48"/>
                <a:gd name="T6" fmla="*/ 6 w 31"/>
                <a:gd name="T7" fmla="*/ 48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48">
                  <a:moveTo>
                    <a:pt x="0" y="0"/>
                  </a:moveTo>
                  <a:cubicBezTo>
                    <a:pt x="2" y="6"/>
                    <a:pt x="2" y="14"/>
                    <a:pt x="6" y="18"/>
                  </a:cubicBezTo>
                  <a:cubicBezTo>
                    <a:pt x="10" y="22"/>
                    <a:pt x="21" y="18"/>
                    <a:pt x="24" y="24"/>
                  </a:cubicBezTo>
                  <a:cubicBezTo>
                    <a:pt x="31" y="39"/>
                    <a:pt x="13" y="44"/>
                    <a:pt x="6" y="48"/>
                  </a:cubicBezTo>
                </a:path>
              </a:pathLst>
            </a:custGeom>
            <a:noFill/>
            <a:ln w="381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5" name="Freeform 25"/>
            <p:cNvSpPr>
              <a:spLocks/>
            </p:cNvSpPr>
            <p:nvPr/>
          </p:nvSpPr>
          <p:spPr bwMode="auto">
            <a:xfrm>
              <a:off x="1391" y="2365"/>
              <a:ext cx="32" cy="42"/>
            </a:xfrm>
            <a:custGeom>
              <a:avLst/>
              <a:gdLst>
                <a:gd name="T0" fmla="*/ 0 w 32"/>
                <a:gd name="T1" fmla="*/ 0 h 42"/>
                <a:gd name="T2" fmla="*/ 6 w 32"/>
                <a:gd name="T3" fmla="*/ 42 h 42"/>
                <a:gd name="T4" fmla="*/ 0 60000 65536"/>
                <a:gd name="T5" fmla="*/ 0 60000 65536"/>
              </a:gdLst>
              <a:ahLst/>
              <a:cxnLst>
                <a:cxn ang="T4">
                  <a:pos x="T0" y="T1"/>
                </a:cxn>
                <a:cxn ang="T5">
                  <a:pos x="T2" y="T3"/>
                </a:cxn>
              </a:cxnLst>
              <a:rect l="0" t="0" r="r" b="b"/>
              <a:pathLst>
                <a:path w="32" h="42">
                  <a:moveTo>
                    <a:pt x="0" y="0"/>
                  </a:moveTo>
                  <a:cubicBezTo>
                    <a:pt x="32" y="11"/>
                    <a:pt x="19" y="17"/>
                    <a:pt x="6" y="42"/>
                  </a:cubicBezTo>
                </a:path>
              </a:pathLst>
            </a:custGeom>
            <a:noFill/>
            <a:ln w="381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6" name="AutoShape 26"/>
            <p:cNvSpPr>
              <a:spLocks noChangeArrowheads="1"/>
            </p:cNvSpPr>
            <p:nvPr/>
          </p:nvSpPr>
          <p:spPr bwMode="auto">
            <a:xfrm>
              <a:off x="959" y="2167"/>
              <a:ext cx="288" cy="1056"/>
            </a:xfrm>
            <a:prstGeom prst="upArrow">
              <a:avLst>
                <a:gd name="adj1" fmla="val 50000"/>
                <a:gd name="adj2" fmla="val 91667"/>
              </a:avLst>
            </a:prstGeom>
            <a:solidFill>
              <a:srgbClr val="FF0000">
                <a:alpha val="50195"/>
              </a:srgbClr>
            </a:solidFill>
            <a:ln w="12700" cap="rnd">
              <a:solidFill>
                <a:srgbClr val="000000"/>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8167" name="Line 27"/>
            <p:cNvSpPr>
              <a:spLocks noChangeShapeType="1"/>
            </p:cNvSpPr>
            <p:nvPr/>
          </p:nvSpPr>
          <p:spPr bwMode="auto">
            <a:xfrm>
              <a:off x="527" y="2293"/>
              <a:ext cx="192"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8" name="Text Box 28"/>
            <p:cNvSpPr txBox="1">
              <a:spLocks noChangeArrowheads="1"/>
            </p:cNvSpPr>
            <p:nvPr/>
          </p:nvSpPr>
          <p:spPr bwMode="auto">
            <a:xfrm>
              <a:off x="527" y="2023"/>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rgbClr val="000000"/>
                  </a:solidFill>
                </a:rPr>
                <a:t>i</a:t>
              </a:r>
              <a:endParaRPr lang="en-US" altLang="zh-CN">
                <a:solidFill>
                  <a:srgbClr val="000000"/>
                </a:solidFill>
              </a:endParaRPr>
            </a:p>
          </p:txBody>
        </p:sp>
        <p:sp>
          <p:nvSpPr>
            <p:cNvPr id="48169" name="Text Box 29"/>
            <p:cNvSpPr txBox="1">
              <a:spLocks noChangeArrowheads="1"/>
            </p:cNvSpPr>
            <p:nvPr/>
          </p:nvSpPr>
          <p:spPr bwMode="auto">
            <a:xfrm>
              <a:off x="367" y="2335"/>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000000"/>
                  </a:solidFill>
                </a:rPr>
                <a:t>+</a:t>
              </a:r>
            </a:p>
          </p:txBody>
        </p:sp>
        <p:sp>
          <p:nvSpPr>
            <p:cNvPr id="48170" name="Text Box 30"/>
            <p:cNvSpPr txBox="1">
              <a:spLocks noChangeArrowheads="1"/>
            </p:cNvSpPr>
            <p:nvPr/>
          </p:nvSpPr>
          <p:spPr bwMode="auto">
            <a:xfrm>
              <a:off x="397" y="2860"/>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000000"/>
                  </a:solidFill>
                </a:rPr>
                <a:t>–</a:t>
              </a:r>
            </a:p>
          </p:txBody>
        </p:sp>
        <p:sp>
          <p:nvSpPr>
            <p:cNvPr id="48171" name="Text Box 31"/>
            <p:cNvSpPr txBox="1">
              <a:spLocks noChangeArrowheads="1"/>
            </p:cNvSpPr>
            <p:nvPr/>
          </p:nvSpPr>
          <p:spPr bwMode="auto">
            <a:xfrm>
              <a:off x="355" y="2647"/>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rgbClr val="000000"/>
                  </a:solidFill>
                </a:rPr>
                <a:t>v</a:t>
              </a:r>
              <a:endParaRPr lang="en-US" altLang="zh-CN">
                <a:solidFill>
                  <a:srgbClr val="000000"/>
                </a:solidFill>
              </a:endParaRPr>
            </a:p>
          </p:txBody>
        </p:sp>
        <p:cxnSp>
          <p:nvCxnSpPr>
            <p:cNvPr id="48172" name="AutoShape 35"/>
            <p:cNvCxnSpPr>
              <a:cxnSpLocks noChangeShapeType="1"/>
            </p:cNvCxnSpPr>
            <p:nvPr/>
          </p:nvCxnSpPr>
          <p:spPr bwMode="auto">
            <a:xfrm>
              <a:off x="480" y="2110"/>
              <a:ext cx="0" cy="0"/>
            </a:xfrm>
            <a:prstGeom prst="straightConnector1">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173" name="Oval 36"/>
            <p:cNvSpPr>
              <a:spLocks noChangeArrowheads="1"/>
            </p:cNvSpPr>
            <p:nvPr/>
          </p:nvSpPr>
          <p:spPr bwMode="auto">
            <a:xfrm>
              <a:off x="472" y="3092"/>
              <a:ext cx="48" cy="56"/>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8174" name="Oval 37"/>
            <p:cNvSpPr>
              <a:spLocks noChangeArrowheads="1"/>
            </p:cNvSpPr>
            <p:nvPr/>
          </p:nvSpPr>
          <p:spPr bwMode="auto">
            <a:xfrm>
              <a:off x="480" y="2332"/>
              <a:ext cx="48" cy="56"/>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sp>
        <p:nvSpPr>
          <p:cNvPr id="336936" name="Text Box 40"/>
          <p:cNvSpPr txBox="1">
            <a:spLocks noChangeArrowheads="1"/>
          </p:cNvSpPr>
          <p:nvPr/>
        </p:nvSpPr>
        <p:spPr bwMode="auto">
          <a:xfrm>
            <a:off x="3527425" y="3656013"/>
            <a:ext cx="45085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rPr>
              <a:t>由电磁感应定律与楞次定律</a:t>
            </a:r>
            <a:endParaRPr lang="zh-CN" altLang="en-US">
              <a:solidFill>
                <a:srgbClr val="000000"/>
              </a:solidFill>
            </a:endParaRPr>
          </a:p>
        </p:txBody>
      </p:sp>
      <p:graphicFrame>
        <p:nvGraphicFramePr>
          <p:cNvPr id="336937" name="Object 41"/>
          <p:cNvGraphicFramePr>
            <a:graphicFrameLocks noChangeAspect="1"/>
          </p:cNvGraphicFramePr>
          <p:nvPr/>
        </p:nvGraphicFramePr>
        <p:xfrm>
          <a:off x="4851400" y="4533900"/>
          <a:ext cx="1603375" cy="1204913"/>
        </p:xfrm>
        <a:graphic>
          <a:graphicData uri="http://schemas.openxmlformats.org/presentationml/2006/ole">
            <mc:AlternateContent xmlns:mc="http://schemas.openxmlformats.org/markup-compatibility/2006">
              <mc:Choice xmlns:v="urn:schemas-microsoft-com:vml" Requires="v">
                <p:oleObj spid="_x0000_s123918" name="Equation" r:id="rId3" imgW="457123" imgH="343016" progId="Equation.DSMT4">
                  <p:embed/>
                </p:oleObj>
              </mc:Choice>
              <mc:Fallback>
                <p:oleObj name="Equation" r:id="rId3" imgW="457123" imgH="34301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1400" y="4533900"/>
                        <a:ext cx="1603375" cy="1204913"/>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6" name="Text Box 43"/>
          <p:cNvSpPr txBox="1">
            <a:spLocks noChangeArrowheads="1"/>
          </p:cNvSpPr>
          <p:nvPr/>
        </p:nvSpPr>
        <p:spPr bwMode="auto">
          <a:xfrm>
            <a:off x="1096963" y="1912938"/>
            <a:ext cx="2854325"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t>韦安</a:t>
            </a:r>
            <a:r>
              <a:rPr lang="zh-CN" altLang="en-US" dirty="0">
                <a:solidFill>
                  <a:schemeClr val="tx2"/>
                </a:solidFill>
                <a:sym typeface="Symbol" pitchFamily="18" charset="2"/>
              </a:rPr>
              <a:t>（</a:t>
            </a:r>
            <a:r>
              <a:rPr lang="zh-CN" altLang="en-US" i="1" dirty="0">
                <a:solidFill>
                  <a:srgbClr val="FF0000"/>
                </a:solidFill>
                <a:sym typeface="Symbol" pitchFamily="18" charset="2"/>
              </a:rPr>
              <a:t></a:t>
            </a:r>
            <a:r>
              <a:rPr lang="en-US" altLang="zh-CN" i="1" baseline="-25000" dirty="0">
                <a:solidFill>
                  <a:srgbClr val="FF0000"/>
                </a:solidFill>
                <a:sym typeface="Symbol" pitchFamily="18" charset="2"/>
              </a:rPr>
              <a:t>L</a:t>
            </a:r>
            <a:r>
              <a:rPr lang="en-US" altLang="zh-CN" dirty="0">
                <a:solidFill>
                  <a:schemeClr val="tx2"/>
                </a:solidFill>
                <a:sym typeface="Symbol" pitchFamily="18" charset="2"/>
              </a:rPr>
              <a:t> </a:t>
            </a:r>
            <a:r>
              <a:rPr lang="en-US" altLang="zh-CN" dirty="0" smtClean="0">
                <a:solidFill>
                  <a:srgbClr val="FF0000"/>
                </a:solidFill>
                <a:sym typeface="Symbol" pitchFamily="18" charset="2"/>
              </a:rPr>
              <a:t>~ </a:t>
            </a:r>
            <a:r>
              <a:rPr lang="en-US" altLang="zh-CN" i="1" dirty="0" err="1" smtClean="0">
                <a:solidFill>
                  <a:srgbClr val="FF0000"/>
                </a:solidFill>
                <a:sym typeface="Symbol" pitchFamily="18" charset="2"/>
              </a:rPr>
              <a:t>i</a:t>
            </a:r>
            <a:r>
              <a:rPr lang="en-US" altLang="zh-CN" i="1" dirty="0" smtClean="0">
                <a:solidFill>
                  <a:srgbClr val="FF0000"/>
                </a:solidFill>
                <a:sym typeface="Symbol" pitchFamily="18" charset="2"/>
              </a:rPr>
              <a:t> </a:t>
            </a:r>
            <a:r>
              <a:rPr lang="zh-CN" altLang="en-US" dirty="0"/>
              <a:t>）特性</a:t>
            </a:r>
          </a:p>
        </p:txBody>
      </p:sp>
      <p:grpSp>
        <p:nvGrpSpPr>
          <p:cNvPr id="48137" name="Group 44"/>
          <p:cNvGrpSpPr>
            <a:grpSpLocks/>
          </p:cNvGrpSpPr>
          <p:nvPr/>
        </p:nvGrpSpPr>
        <p:grpSpPr bwMode="auto">
          <a:xfrm>
            <a:off x="4743450" y="39688"/>
            <a:ext cx="1987550" cy="2432050"/>
            <a:chOff x="3855" y="804"/>
            <a:chExt cx="1252" cy="1532"/>
          </a:xfrm>
        </p:grpSpPr>
        <p:sp>
          <p:nvSpPr>
            <p:cNvPr id="48139" name="Text Box 45"/>
            <p:cNvSpPr txBox="1">
              <a:spLocks noChangeArrowheads="1"/>
            </p:cNvSpPr>
            <p:nvPr/>
          </p:nvSpPr>
          <p:spPr bwMode="auto">
            <a:xfrm>
              <a:off x="4272" y="1592"/>
              <a:ext cx="3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sym typeface="Symbol" pitchFamily="18" charset="2"/>
                </a:rPr>
                <a:t> </a:t>
              </a:r>
              <a:endParaRPr lang="en-US" altLang="zh-CN">
                <a:solidFill>
                  <a:schemeClr val="tx2"/>
                </a:solidFill>
              </a:endParaRPr>
            </a:p>
          </p:txBody>
        </p:sp>
        <p:sp>
          <p:nvSpPr>
            <p:cNvPr id="48140" name="Line 46"/>
            <p:cNvSpPr>
              <a:spLocks noChangeShapeType="1"/>
            </p:cNvSpPr>
            <p:nvPr/>
          </p:nvSpPr>
          <p:spPr bwMode="auto">
            <a:xfrm rot="1371877">
              <a:off x="4322" y="1073"/>
              <a:ext cx="1" cy="1263"/>
            </a:xfrm>
            <a:prstGeom prst="line">
              <a:avLst/>
            </a:prstGeom>
            <a:noFill/>
            <a:ln w="38100" cap="sq">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1" name="Freeform 47"/>
            <p:cNvSpPr>
              <a:spLocks/>
            </p:cNvSpPr>
            <p:nvPr/>
          </p:nvSpPr>
          <p:spPr bwMode="auto">
            <a:xfrm>
              <a:off x="4318" y="1716"/>
              <a:ext cx="86" cy="157"/>
            </a:xfrm>
            <a:custGeom>
              <a:avLst/>
              <a:gdLst>
                <a:gd name="T0" fmla="*/ 0 w 114"/>
                <a:gd name="T1" fmla="*/ 0 h 201"/>
                <a:gd name="T2" fmla="*/ 38 w 114"/>
                <a:gd name="T3" fmla="*/ 23 h 201"/>
                <a:gd name="T4" fmla="*/ 68 w 114"/>
                <a:gd name="T5" fmla="*/ 61 h 201"/>
                <a:gd name="T6" fmla="*/ 81 w 114"/>
                <a:gd name="T7" fmla="*/ 101 h 201"/>
                <a:gd name="T8" fmla="*/ 86 w 114"/>
                <a:gd name="T9" fmla="*/ 157 h 2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4" h="201">
                  <a:moveTo>
                    <a:pt x="0" y="0"/>
                  </a:moveTo>
                  <a:cubicBezTo>
                    <a:pt x="8" y="5"/>
                    <a:pt x="36" y="17"/>
                    <a:pt x="51" y="30"/>
                  </a:cubicBezTo>
                  <a:cubicBezTo>
                    <a:pt x="66" y="43"/>
                    <a:pt x="80" y="62"/>
                    <a:pt x="90" y="78"/>
                  </a:cubicBezTo>
                  <a:cubicBezTo>
                    <a:pt x="100" y="94"/>
                    <a:pt x="104" y="109"/>
                    <a:pt x="108" y="129"/>
                  </a:cubicBezTo>
                  <a:cubicBezTo>
                    <a:pt x="112" y="149"/>
                    <a:pt x="113" y="186"/>
                    <a:pt x="114" y="201"/>
                  </a:cubicBezTo>
                </a:path>
              </a:pathLst>
            </a:custGeom>
            <a:noFill/>
            <a:ln w="12700" cap="flat" cmpd="sng">
              <a:solidFill>
                <a:schemeClr val="tx2"/>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8142" name="Rectangle 48"/>
            <p:cNvSpPr>
              <a:spLocks noChangeArrowheads="1"/>
            </p:cNvSpPr>
            <p:nvPr/>
          </p:nvSpPr>
          <p:spPr bwMode="auto">
            <a:xfrm>
              <a:off x="3946" y="804"/>
              <a:ext cx="32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ym typeface="Symbol" pitchFamily="18" charset="2"/>
                </a:rPr>
                <a:t></a:t>
              </a:r>
              <a:r>
                <a:rPr lang="en-US" altLang="zh-CN" i="1" baseline="-25000" dirty="0">
                  <a:sym typeface="Symbol" pitchFamily="18" charset="2"/>
                </a:rPr>
                <a:t>L</a:t>
              </a:r>
              <a:endParaRPr lang="en-US" altLang="zh-CN" i="1" baseline="-25000" dirty="0"/>
            </a:p>
          </p:txBody>
        </p:sp>
        <p:sp>
          <p:nvSpPr>
            <p:cNvPr id="48143" name="Rectangle 49"/>
            <p:cNvSpPr>
              <a:spLocks noChangeArrowheads="1"/>
            </p:cNvSpPr>
            <p:nvPr/>
          </p:nvSpPr>
          <p:spPr bwMode="auto">
            <a:xfrm>
              <a:off x="4938" y="1823"/>
              <a:ext cx="1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i</a:t>
              </a:r>
              <a:endParaRPr lang="en-US" altLang="zh-CN">
                <a:solidFill>
                  <a:schemeClr val="tx2"/>
                </a:solidFill>
              </a:endParaRPr>
            </a:p>
          </p:txBody>
        </p:sp>
        <p:sp>
          <p:nvSpPr>
            <p:cNvPr id="48144" name="Line 50"/>
            <p:cNvSpPr>
              <a:spLocks noChangeShapeType="1"/>
            </p:cNvSpPr>
            <p:nvPr/>
          </p:nvSpPr>
          <p:spPr bwMode="auto">
            <a:xfrm>
              <a:off x="3855" y="1864"/>
              <a:ext cx="1198" cy="0"/>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5" name="Line 51"/>
            <p:cNvSpPr>
              <a:spLocks noChangeShapeType="1"/>
            </p:cNvSpPr>
            <p:nvPr/>
          </p:nvSpPr>
          <p:spPr bwMode="auto">
            <a:xfrm flipV="1">
              <a:off x="4244" y="1036"/>
              <a:ext cx="8" cy="1252"/>
            </a:xfrm>
            <a:prstGeom prst="line">
              <a:avLst/>
            </a:prstGeom>
            <a:noFill/>
            <a:ln w="28575" cap="sq">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6" name="Text Box 52"/>
            <p:cNvSpPr txBox="1">
              <a:spLocks noChangeArrowheads="1"/>
            </p:cNvSpPr>
            <p:nvPr/>
          </p:nvSpPr>
          <p:spPr bwMode="auto">
            <a:xfrm>
              <a:off x="4210" y="1815"/>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a:solidFill>
                    <a:srgbClr val="000000"/>
                  </a:solidFill>
                  <a:sym typeface="Symbol" pitchFamily="18" charset="2"/>
                </a:rPr>
                <a:t>0</a:t>
              </a:r>
              <a:endParaRPr lang="en-US" altLang="zh-CN" sz="2800">
                <a:solidFill>
                  <a:srgbClr val="000000"/>
                </a:solidFill>
                <a:sym typeface="Symbol" pitchFamily="18" charset="2"/>
              </a:endParaRPr>
            </a:p>
          </p:txBody>
        </p:sp>
      </p:grpSp>
      <p:graphicFrame>
        <p:nvGraphicFramePr>
          <p:cNvPr id="2" name="对象 1"/>
          <p:cNvGraphicFramePr>
            <a:graphicFrameLocks noChangeAspect="1"/>
          </p:cNvGraphicFramePr>
          <p:nvPr>
            <p:extLst/>
          </p:nvPr>
        </p:nvGraphicFramePr>
        <p:xfrm>
          <a:off x="1687513" y="862161"/>
          <a:ext cx="1255560" cy="565002"/>
        </p:xfrm>
        <a:graphic>
          <a:graphicData uri="http://schemas.openxmlformats.org/presentationml/2006/ole">
            <mc:AlternateContent xmlns:mc="http://schemas.openxmlformats.org/markup-compatibility/2006">
              <mc:Choice xmlns:v="urn:schemas-microsoft-com:vml" Requires="v">
                <p:oleObj spid="_x0000_s123919" name="Equation" r:id="rId5" imgW="507960" imgH="228600" progId="Equation.DSMT4">
                  <p:embed/>
                </p:oleObj>
              </mc:Choice>
              <mc:Fallback>
                <p:oleObj name="Equation" r:id="rId5" imgW="507960" imgH="228600" progId="Equation.DSMT4">
                  <p:embed/>
                  <p:pic>
                    <p:nvPicPr>
                      <p:cNvPr id="0" name=""/>
                      <p:cNvPicPr/>
                      <p:nvPr/>
                    </p:nvPicPr>
                    <p:blipFill>
                      <a:blip r:embed="rId6"/>
                      <a:stretch>
                        <a:fillRect/>
                      </a:stretch>
                    </p:blipFill>
                    <p:spPr>
                      <a:xfrm>
                        <a:off x="1687513" y="862161"/>
                        <a:ext cx="1255560" cy="565002"/>
                      </a:xfrm>
                      <a:prstGeom prst="rect">
                        <a:avLst/>
                      </a:prstGeom>
                    </p:spPr>
                  </p:pic>
                </p:oleObj>
              </mc:Fallback>
            </mc:AlternateContent>
          </a:graphicData>
        </a:graphic>
      </p:graphicFrame>
    </p:spTree>
    <p:extLst>
      <p:ext uri="{BB962C8B-B14F-4D97-AF65-F5344CB8AC3E}">
        <p14:creationId xmlns:p14="http://schemas.microsoft.com/office/powerpoint/2010/main" val="3230819920"/>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6898"/>
                                        </p:tgtEl>
                                        <p:attrNameLst>
                                          <p:attrName>style.visibility</p:attrName>
                                        </p:attrNameLst>
                                      </p:cBhvr>
                                      <p:to>
                                        <p:strVal val="visible"/>
                                      </p:to>
                                    </p:set>
                                    <p:anim calcmode="lin" valueType="num">
                                      <p:cBhvr additive="base">
                                        <p:cTn id="7" dur="500" fill="hold"/>
                                        <p:tgtEl>
                                          <p:spTgt spid="336898"/>
                                        </p:tgtEl>
                                        <p:attrNameLst>
                                          <p:attrName>ppt_x</p:attrName>
                                        </p:attrNameLst>
                                      </p:cBhvr>
                                      <p:tavLst>
                                        <p:tav tm="0">
                                          <p:val>
                                            <p:strVal val="#ppt_x"/>
                                          </p:val>
                                        </p:tav>
                                        <p:tav tm="100000">
                                          <p:val>
                                            <p:strVal val="#ppt_x"/>
                                          </p:val>
                                        </p:tav>
                                      </p:tavLst>
                                    </p:anim>
                                    <p:anim calcmode="lin" valueType="num">
                                      <p:cBhvr additive="base">
                                        <p:cTn id="8" dur="500" fill="hold"/>
                                        <p:tgtEl>
                                          <p:spTgt spid="33689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nodePh="1">
                                  <p:stCondLst>
                                    <p:cond delay="0"/>
                                  </p:stCondLst>
                                  <p:endCondLst>
                                    <p:cond evt="begin" delay="0">
                                      <p:tn val="9"/>
                                    </p:cond>
                                  </p:endCondLst>
                                  <p:childTnLst>
                                    <p:set>
                                      <p:cBhvr>
                                        <p:cTn id="10" dur="1" fill="hold">
                                          <p:stCondLst>
                                            <p:cond delay="0"/>
                                          </p:stCondLst>
                                        </p:cTn>
                                        <p:tgtEl>
                                          <p:spTgt spid="336899"/>
                                        </p:tgtEl>
                                        <p:attrNameLst>
                                          <p:attrName>style.visibility</p:attrName>
                                        </p:attrNameLst>
                                      </p:cBhvr>
                                      <p:to>
                                        <p:strVal val="visible"/>
                                      </p:to>
                                    </p:set>
                                    <p:anim calcmode="lin" valueType="num">
                                      <p:cBhvr additive="base">
                                        <p:cTn id="11" dur="500" fill="hold"/>
                                        <p:tgtEl>
                                          <p:spTgt spid="336899"/>
                                        </p:tgtEl>
                                        <p:attrNameLst>
                                          <p:attrName>ppt_x</p:attrName>
                                        </p:attrNameLst>
                                      </p:cBhvr>
                                      <p:tavLst>
                                        <p:tav tm="0">
                                          <p:val>
                                            <p:strVal val="#ppt_x"/>
                                          </p:val>
                                        </p:tav>
                                        <p:tav tm="100000">
                                          <p:val>
                                            <p:strVal val="#ppt_x"/>
                                          </p:val>
                                        </p:tav>
                                      </p:tavLst>
                                    </p:anim>
                                    <p:anim calcmode="lin" valueType="num">
                                      <p:cBhvr additive="base">
                                        <p:cTn id="12" dur="500" fill="hold"/>
                                        <p:tgtEl>
                                          <p:spTgt spid="33689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36950"/>
                                        </p:tgtEl>
                                        <p:attrNameLst>
                                          <p:attrName>style.visibility</p:attrName>
                                        </p:attrNameLst>
                                      </p:cBhvr>
                                      <p:to>
                                        <p:strVal val="visible"/>
                                      </p:to>
                                    </p:set>
                                    <p:anim calcmode="lin" valueType="num">
                                      <p:cBhvr additive="base">
                                        <p:cTn id="15" dur="500" fill="hold"/>
                                        <p:tgtEl>
                                          <p:spTgt spid="336950"/>
                                        </p:tgtEl>
                                        <p:attrNameLst>
                                          <p:attrName>ppt_x</p:attrName>
                                        </p:attrNameLst>
                                      </p:cBhvr>
                                      <p:tavLst>
                                        <p:tav tm="0">
                                          <p:val>
                                            <p:strVal val="#ppt_x"/>
                                          </p:val>
                                        </p:tav>
                                        <p:tav tm="100000">
                                          <p:val>
                                            <p:strVal val="#ppt_x"/>
                                          </p:val>
                                        </p:tav>
                                      </p:tavLst>
                                    </p:anim>
                                    <p:anim calcmode="lin" valueType="num">
                                      <p:cBhvr additive="base">
                                        <p:cTn id="16" dur="500" fill="hold"/>
                                        <p:tgtEl>
                                          <p:spTgt spid="33695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36936"/>
                                        </p:tgtEl>
                                        <p:attrNameLst>
                                          <p:attrName>style.visibility</p:attrName>
                                        </p:attrNameLst>
                                      </p:cBhvr>
                                      <p:to>
                                        <p:strVal val="visible"/>
                                      </p:to>
                                    </p:set>
                                    <p:anim calcmode="lin" valueType="num">
                                      <p:cBhvr additive="base">
                                        <p:cTn id="19" dur="500" fill="hold"/>
                                        <p:tgtEl>
                                          <p:spTgt spid="336936"/>
                                        </p:tgtEl>
                                        <p:attrNameLst>
                                          <p:attrName>ppt_x</p:attrName>
                                        </p:attrNameLst>
                                      </p:cBhvr>
                                      <p:tavLst>
                                        <p:tav tm="0">
                                          <p:val>
                                            <p:strVal val="#ppt_x"/>
                                          </p:val>
                                        </p:tav>
                                        <p:tav tm="100000">
                                          <p:val>
                                            <p:strVal val="#ppt_x"/>
                                          </p:val>
                                        </p:tav>
                                      </p:tavLst>
                                    </p:anim>
                                    <p:anim calcmode="lin" valueType="num">
                                      <p:cBhvr additive="base">
                                        <p:cTn id="20" dur="500" fill="hold"/>
                                        <p:tgtEl>
                                          <p:spTgt spid="33693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36937"/>
                                        </p:tgtEl>
                                        <p:attrNameLst>
                                          <p:attrName>style.visibility</p:attrName>
                                        </p:attrNameLst>
                                      </p:cBhvr>
                                      <p:to>
                                        <p:strVal val="visible"/>
                                      </p:to>
                                    </p:set>
                                    <p:anim calcmode="lin" valueType="num">
                                      <p:cBhvr additive="base">
                                        <p:cTn id="23" dur="500" fill="hold"/>
                                        <p:tgtEl>
                                          <p:spTgt spid="336937"/>
                                        </p:tgtEl>
                                        <p:attrNameLst>
                                          <p:attrName>ppt_x</p:attrName>
                                        </p:attrNameLst>
                                      </p:cBhvr>
                                      <p:tavLst>
                                        <p:tav tm="0">
                                          <p:val>
                                            <p:strVal val="#ppt_x"/>
                                          </p:val>
                                        </p:tav>
                                        <p:tav tm="100000">
                                          <p:val>
                                            <p:strVal val="#ppt_x"/>
                                          </p:val>
                                        </p:tav>
                                      </p:tavLst>
                                    </p:anim>
                                    <p:anim calcmode="lin" valueType="num">
                                      <p:cBhvr additive="base">
                                        <p:cTn id="24" dur="500" fill="hold"/>
                                        <p:tgtEl>
                                          <p:spTgt spid="3369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898" grpId="0"/>
      <p:bldP spid="336899" grpId="0"/>
      <p:bldP spid="33693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74" name="Text Box 3"/>
          <p:cNvSpPr txBox="1">
            <a:spLocks noChangeArrowheads="1"/>
          </p:cNvSpPr>
          <p:nvPr/>
        </p:nvSpPr>
        <p:spPr bwMode="auto">
          <a:xfrm>
            <a:off x="1066801" y="4719854"/>
            <a:ext cx="6337300" cy="8679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80000"/>
              </a:lnSpc>
              <a:spcBef>
                <a:spcPct val="50000"/>
              </a:spcBef>
            </a:pPr>
            <a:r>
              <a:rPr lang="zh-CN" altLang="en-US" dirty="0">
                <a:solidFill>
                  <a:schemeClr val="tx2"/>
                </a:solidFill>
              </a:rPr>
              <a:t>当 </a:t>
            </a:r>
            <a:r>
              <a:rPr lang="en-US" altLang="zh-CN" i="1" dirty="0" err="1">
                <a:solidFill>
                  <a:schemeClr val="tx2"/>
                </a:solidFill>
              </a:rPr>
              <a:t>i</a:t>
            </a:r>
            <a:r>
              <a:rPr lang="en-US" altLang="zh-CN" i="1" dirty="0">
                <a:solidFill>
                  <a:schemeClr val="tx2"/>
                </a:solidFill>
              </a:rPr>
              <a:t> </a:t>
            </a:r>
            <a:r>
              <a:rPr lang="zh-CN" altLang="en-US" dirty="0">
                <a:solidFill>
                  <a:schemeClr val="tx2"/>
                </a:solidFill>
              </a:rPr>
              <a:t>为常数时，</a:t>
            </a:r>
            <a:r>
              <a:rPr lang="en-US" altLang="zh-CN" dirty="0">
                <a:solidFill>
                  <a:schemeClr val="tx2"/>
                </a:solidFill>
              </a:rPr>
              <a:t>d</a:t>
            </a:r>
            <a:r>
              <a:rPr lang="en-US" altLang="zh-CN" i="1" dirty="0">
                <a:solidFill>
                  <a:schemeClr val="tx2"/>
                </a:solidFill>
              </a:rPr>
              <a:t>i </a:t>
            </a:r>
            <a:r>
              <a:rPr lang="en-US" altLang="zh-CN" dirty="0">
                <a:solidFill>
                  <a:schemeClr val="tx2"/>
                </a:solidFill>
              </a:rPr>
              <a:t>/ </a:t>
            </a:r>
            <a:r>
              <a:rPr lang="en-US" altLang="zh-CN" dirty="0" err="1">
                <a:solidFill>
                  <a:schemeClr val="tx2"/>
                </a:solidFill>
              </a:rPr>
              <a:t>d</a:t>
            </a:r>
            <a:r>
              <a:rPr lang="en-US" altLang="zh-CN" i="1" dirty="0" err="1">
                <a:solidFill>
                  <a:schemeClr val="tx2"/>
                </a:solidFill>
              </a:rPr>
              <a:t>t</a:t>
            </a:r>
            <a:r>
              <a:rPr lang="en-US" altLang="zh-CN" i="1" dirty="0">
                <a:solidFill>
                  <a:schemeClr val="tx2"/>
                </a:solidFill>
              </a:rPr>
              <a:t> </a:t>
            </a:r>
            <a:r>
              <a:rPr lang="en-US" altLang="zh-CN" dirty="0">
                <a:solidFill>
                  <a:schemeClr val="tx2"/>
                </a:solidFill>
              </a:rPr>
              <a:t>=0 </a:t>
            </a:r>
            <a:r>
              <a:rPr lang="en-US" altLang="zh-CN" dirty="0">
                <a:solidFill>
                  <a:schemeClr val="tx2"/>
                </a:solidFill>
                <a:sym typeface="Symbol" pitchFamily="18" charset="2"/>
              </a:rPr>
              <a:t> </a:t>
            </a:r>
            <a:r>
              <a:rPr lang="en-US" altLang="zh-CN" i="1" dirty="0">
                <a:solidFill>
                  <a:schemeClr val="tx2"/>
                </a:solidFill>
                <a:sym typeface="Symbol" pitchFamily="18" charset="2"/>
              </a:rPr>
              <a:t>v </a:t>
            </a:r>
            <a:r>
              <a:rPr lang="en-US" altLang="zh-CN" dirty="0">
                <a:solidFill>
                  <a:schemeClr val="tx2"/>
                </a:solidFill>
                <a:sym typeface="Symbol" pitchFamily="18" charset="2"/>
              </a:rPr>
              <a:t>= 0</a:t>
            </a:r>
            <a:r>
              <a:rPr lang="zh-CN" altLang="en-US" dirty="0">
                <a:solidFill>
                  <a:schemeClr val="tx2"/>
                </a:solidFill>
                <a:sym typeface="Symbol" pitchFamily="18" charset="2"/>
              </a:rPr>
              <a:t>。</a:t>
            </a:r>
          </a:p>
          <a:p>
            <a:pPr>
              <a:lnSpc>
                <a:spcPct val="80000"/>
              </a:lnSpc>
              <a:spcBef>
                <a:spcPct val="50000"/>
              </a:spcBef>
            </a:pPr>
            <a:r>
              <a:rPr lang="zh-CN" altLang="en-US" dirty="0">
                <a:solidFill>
                  <a:schemeClr val="tx2"/>
                </a:solidFill>
                <a:sym typeface="Symbol" pitchFamily="18" charset="2"/>
              </a:rPr>
              <a:t>      </a:t>
            </a:r>
            <a:r>
              <a:rPr lang="zh-CN" altLang="en-US" u="sng" dirty="0">
                <a:solidFill>
                  <a:srgbClr val="3366FF"/>
                </a:solidFill>
                <a:sym typeface="Symbol" pitchFamily="18" charset="2"/>
              </a:rPr>
              <a:t>电感在直流电路中相当于短路</a:t>
            </a:r>
            <a:r>
              <a:rPr lang="zh-CN" altLang="en-US" dirty="0">
                <a:solidFill>
                  <a:schemeClr val="tx2"/>
                </a:solidFill>
                <a:sym typeface="Symbol" pitchFamily="18" charset="2"/>
              </a:rPr>
              <a:t>。</a:t>
            </a:r>
            <a:endParaRPr lang="zh-CN" altLang="en-US" dirty="0">
              <a:solidFill>
                <a:schemeClr val="tx2"/>
              </a:solidFill>
            </a:endParaRPr>
          </a:p>
        </p:txBody>
      </p:sp>
      <p:sp>
        <p:nvSpPr>
          <p:cNvPr id="49175" name="Text Box 4"/>
          <p:cNvSpPr txBox="1">
            <a:spLocks noChangeArrowheads="1"/>
          </p:cNvSpPr>
          <p:nvPr/>
        </p:nvSpPr>
        <p:spPr bwMode="auto">
          <a:xfrm>
            <a:off x="1046163" y="4003675"/>
            <a:ext cx="7378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i="1" dirty="0" smtClean="0">
                <a:solidFill>
                  <a:schemeClr val="tx2"/>
                </a:solidFill>
              </a:rPr>
              <a:t>v </a:t>
            </a:r>
            <a:r>
              <a:rPr lang="zh-CN" altLang="zh-CN" dirty="0" smtClean="0">
                <a:solidFill>
                  <a:schemeClr val="tx2"/>
                </a:solidFill>
              </a:rPr>
              <a:t>的</a:t>
            </a:r>
            <a:r>
              <a:rPr lang="zh-CN" altLang="zh-CN" dirty="0">
                <a:solidFill>
                  <a:schemeClr val="tx2"/>
                </a:solidFill>
              </a:rPr>
              <a:t>大小与 </a:t>
            </a:r>
            <a:r>
              <a:rPr lang="en-US" altLang="zh-CN" i="1" dirty="0" err="1">
                <a:solidFill>
                  <a:schemeClr val="tx2"/>
                </a:solidFill>
              </a:rPr>
              <a:t>i</a:t>
            </a:r>
            <a:r>
              <a:rPr lang="en-US" altLang="zh-CN" dirty="0">
                <a:solidFill>
                  <a:schemeClr val="tx2"/>
                </a:solidFill>
              </a:rPr>
              <a:t> </a:t>
            </a:r>
            <a:r>
              <a:rPr lang="zh-CN" altLang="zh-CN" dirty="0">
                <a:solidFill>
                  <a:schemeClr val="tx2"/>
                </a:solidFill>
              </a:rPr>
              <a:t>的</a:t>
            </a:r>
            <a:r>
              <a:rPr lang="zh-CN" altLang="zh-CN" dirty="0">
                <a:solidFill>
                  <a:srgbClr val="FF00FF"/>
                </a:solidFill>
              </a:rPr>
              <a:t>变化率</a:t>
            </a:r>
            <a:r>
              <a:rPr lang="zh-CN" altLang="zh-CN" dirty="0">
                <a:solidFill>
                  <a:schemeClr val="tx2"/>
                </a:solidFill>
              </a:rPr>
              <a:t>成正比，与 </a:t>
            </a:r>
            <a:r>
              <a:rPr lang="en-US" altLang="zh-CN" i="1" dirty="0" err="1">
                <a:solidFill>
                  <a:schemeClr val="tx2"/>
                </a:solidFill>
              </a:rPr>
              <a:t>i</a:t>
            </a:r>
            <a:r>
              <a:rPr lang="en-US" altLang="zh-CN" i="1" dirty="0">
                <a:solidFill>
                  <a:schemeClr val="tx2"/>
                </a:solidFill>
              </a:rPr>
              <a:t> </a:t>
            </a:r>
            <a:r>
              <a:rPr lang="zh-CN" altLang="zh-CN" dirty="0">
                <a:solidFill>
                  <a:schemeClr val="tx2"/>
                </a:solidFill>
              </a:rPr>
              <a:t>的大小无关；</a:t>
            </a:r>
            <a:endParaRPr lang="zh-CN" altLang="en-US" dirty="0">
              <a:solidFill>
                <a:schemeClr val="tx2"/>
              </a:solidFill>
            </a:endParaRPr>
          </a:p>
        </p:txBody>
      </p:sp>
      <p:grpSp>
        <p:nvGrpSpPr>
          <p:cNvPr id="49155" name="Group 5"/>
          <p:cNvGrpSpPr>
            <a:grpSpLocks/>
          </p:cNvGrpSpPr>
          <p:nvPr/>
        </p:nvGrpSpPr>
        <p:grpSpPr bwMode="auto">
          <a:xfrm>
            <a:off x="1143000" y="157163"/>
            <a:ext cx="2165350" cy="1990725"/>
            <a:chOff x="720" y="96"/>
            <a:chExt cx="1364" cy="1254"/>
          </a:xfrm>
        </p:grpSpPr>
        <p:graphicFrame>
          <p:nvGraphicFramePr>
            <p:cNvPr id="49157" name="Object 6" descr="羊皮纸"/>
            <p:cNvGraphicFramePr>
              <a:graphicFrameLocks noChangeAspect="1"/>
            </p:cNvGraphicFramePr>
            <p:nvPr/>
          </p:nvGraphicFramePr>
          <p:xfrm>
            <a:off x="1055" y="861"/>
            <a:ext cx="648" cy="489"/>
          </p:xfrm>
          <a:graphic>
            <a:graphicData uri="http://schemas.openxmlformats.org/presentationml/2006/ole">
              <mc:AlternateContent xmlns:mc="http://schemas.openxmlformats.org/markup-compatibility/2006">
                <mc:Choice xmlns:v="urn:schemas-microsoft-com:vml" Requires="v">
                  <p:oleObj spid="_x0000_s124936" name="Equation" r:id="rId3" imgW="469696" imgH="355446" progId="Equation.DSMT4">
                    <p:embed/>
                  </p:oleObj>
                </mc:Choice>
                <mc:Fallback>
                  <p:oleObj name="Equation" r:id="rId3" imgW="469696" imgH="35544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 y="861"/>
                          <a:ext cx="648" cy="489"/>
                        </a:xfrm>
                        <a:prstGeom prst="rect">
                          <a:avLst/>
                        </a:prstGeom>
                        <a:blipFill dpi="0" rotWithShape="0">
                          <a:blip r:embed="rId5"/>
                          <a:srcRect/>
                          <a:tile tx="0" ty="0" sx="100000" sy="100000" flip="none" algn="tl"/>
                        </a:blipFill>
                        <a:ln>
                          <a:noFill/>
                        </a:ln>
                        <a:effectLst>
                          <a:prstShdw prst="shdw17" dist="17961" dir="2700000">
                            <a:srgbClr val="99997A"/>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9158" name="Group 7"/>
            <p:cNvGrpSpPr>
              <a:grpSpLocks/>
            </p:cNvGrpSpPr>
            <p:nvPr/>
          </p:nvGrpSpPr>
          <p:grpSpPr bwMode="auto">
            <a:xfrm>
              <a:off x="720" y="96"/>
              <a:ext cx="1364" cy="610"/>
              <a:chOff x="340" y="695"/>
              <a:chExt cx="2012" cy="871"/>
            </a:xfrm>
          </p:grpSpPr>
          <p:sp>
            <p:nvSpPr>
              <p:cNvPr id="49159" name="Text Box 8"/>
              <p:cNvSpPr txBox="1">
                <a:spLocks noChangeArrowheads="1"/>
              </p:cNvSpPr>
              <p:nvPr/>
            </p:nvSpPr>
            <p:spPr bwMode="auto">
              <a:xfrm>
                <a:off x="1212" y="695"/>
                <a:ext cx="343"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L</a:t>
                </a:r>
              </a:p>
            </p:txBody>
          </p:sp>
          <p:sp>
            <p:nvSpPr>
              <p:cNvPr id="49160" name="Text Box 9"/>
              <p:cNvSpPr txBox="1">
                <a:spLocks noChangeArrowheads="1"/>
              </p:cNvSpPr>
              <p:nvPr/>
            </p:nvSpPr>
            <p:spPr bwMode="auto">
              <a:xfrm>
                <a:off x="518" y="726"/>
                <a:ext cx="250"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i</a:t>
                </a:r>
              </a:p>
            </p:txBody>
          </p:sp>
          <p:sp>
            <p:nvSpPr>
              <p:cNvPr id="49161" name="Rectangle 10"/>
              <p:cNvSpPr>
                <a:spLocks noChangeArrowheads="1"/>
              </p:cNvSpPr>
              <p:nvPr/>
            </p:nvSpPr>
            <p:spPr bwMode="auto">
              <a:xfrm>
                <a:off x="383" y="1155"/>
                <a:ext cx="332"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endParaRPr lang="en-US" altLang="zh-CN" i="1">
                  <a:solidFill>
                    <a:schemeClr val="hlink"/>
                  </a:solidFill>
                  <a:sym typeface="CommonBullets" pitchFamily="34" charset="2"/>
                </a:endParaRPr>
              </a:p>
            </p:txBody>
          </p:sp>
          <p:sp>
            <p:nvSpPr>
              <p:cNvPr id="49162" name="Line 11"/>
              <p:cNvSpPr>
                <a:spLocks noChangeShapeType="1"/>
              </p:cNvSpPr>
              <p:nvPr/>
            </p:nvSpPr>
            <p:spPr bwMode="auto">
              <a:xfrm flipH="1" flipV="1">
                <a:off x="431" y="1169"/>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3" name="Line 12"/>
              <p:cNvSpPr>
                <a:spLocks noChangeShapeType="1"/>
              </p:cNvSpPr>
              <p:nvPr/>
            </p:nvSpPr>
            <p:spPr bwMode="auto">
              <a:xfrm>
                <a:off x="1659" y="1169"/>
                <a:ext cx="576"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4" name="Oval 13"/>
              <p:cNvSpPr>
                <a:spLocks noChangeArrowheads="1"/>
              </p:cNvSpPr>
              <p:nvPr/>
            </p:nvSpPr>
            <p:spPr bwMode="auto">
              <a:xfrm>
                <a:off x="340" y="1128"/>
                <a:ext cx="91" cy="91"/>
              </a:xfrm>
              <a:prstGeom prst="ellipse">
                <a:avLst/>
              </a:prstGeom>
              <a:solidFill>
                <a:schemeClr val="bg1"/>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9165" name="Oval 14"/>
              <p:cNvSpPr>
                <a:spLocks noChangeArrowheads="1"/>
              </p:cNvSpPr>
              <p:nvPr/>
            </p:nvSpPr>
            <p:spPr bwMode="auto">
              <a:xfrm>
                <a:off x="2235" y="1128"/>
                <a:ext cx="91" cy="91"/>
              </a:xfrm>
              <a:prstGeom prst="ellipse">
                <a:avLst/>
              </a:prstGeom>
              <a:solidFill>
                <a:schemeClr val="bg1"/>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9166" name="Oval 15"/>
              <p:cNvSpPr>
                <a:spLocks noChangeArrowheads="1"/>
              </p:cNvSpPr>
              <p:nvPr/>
            </p:nvSpPr>
            <p:spPr bwMode="auto">
              <a:xfrm rot="5400000">
                <a:off x="1453" y="1128"/>
                <a:ext cx="249" cy="162"/>
              </a:xfrm>
              <a:prstGeom prst="ellipse">
                <a:avLst/>
              </a:prstGeom>
              <a:solidFill>
                <a:schemeClr val="bg1"/>
              </a:solidFill>
              <a:ln w="38100">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9167" name="Oval 16"/>
              <p:cNvSpPr>
                <a:spLocks noChangeArrowheads="1"/>
              </p:cNvSpPr>
              <p:nvPr/>
            </p:nvSpPr>
            <p:spPr bwMode="auto">
              <a:xfrm rot="5400000">
                <a:off x="1288" y="1127"/>
                <a:ext cx="249" cy="162"/>
              </a:xfrm>
              <a:prstGeom prst="ellipse">
                <a:avLst/>
              </a:prstGeom>
              <a:solidFill>
                <a:schemeClr val="bg1"/>
              </a:solidFill>
              <a:ln w="38100">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9168" name="Oval 17"/>
              <p:cNvSpPr>
                <a:spLocks noChangeArrowheads="1"/>
              </p:cNvSpPr>
              <p:nvPr/>
            </p:nvSpPr>
            <p:spPr bwMode="auto">
              <a:xfrm rot="5400000">
                <a:off x="1124" y="1127"/>
                <a:ext cx="249" cy="161"/>
              </a:xfrm>
              <a:prstGeom prst="ellipse">
                <a:avLst/>
              </a:prstGeom>
              <a:solidFill>
                <a:schemeClr val="bg1"/>
              </a:solidFill>
              <a:ln w="38100">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9169" name="Oval 18"/>
              <p:cNvSpPr>
                <a:spLocks noChangeArrowheads="1"/>
              </p:cNvSpPr>
              <p:nvPr/>
            </p:nvSpPr>
            <p:spPr bwMode="auto">
              <a:xfrm rot="5400000">
                <a:off x="953" y="1127"/>
                <a:ext cx="249" cy="162"/>
              </a:xfrm>
              <a:prstGeom prst="ellipse">
                <a:avLst/>
              </a:prstGeom>
              <a:solidFill>
                <a:schemeClr val="bg1"/>
              </a:solidFill>
              <a:ln w="38100">
                <a:solidFill>
                  <a:srgbClr val="FF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9170" name="Rectangle 19"/>
              <p:cNvSpPr>
                <a:spLocks noChangeArrowheads="1"/>
              </p:cNvSpPr>
              <p:nvPr/>
            </p:nvSpPr>
            <p:spPr bwMode="auto">
              <a:xfrm rot="5400000">
                <a:off x="1222" y="946"/>
                <a:ext cx="218" cy="698"/>
              </a:xfrm>
              <a:prstGeom prst="rect">
                <a:avLst/>
              </a:prstGeom>
              <a:solidFill>
                <a:schemeClr val="bg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9171" name="Rectangle 20"/>
              <p:cNvSpPr>
                <a:spLocks noChangeArrowheads="1"/>
              </p:cNvSpPr>
              <p:nvPr/>
            </p:nvSpPr>
            <p:spPr bwMode="auto">
              <a:xfrm>
                <a:off x="2039" y="1123"/>
                <a:ext cx="313"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rgbClr val="FF0000"/>
                    </a:solidFill>
                    <a:sym typeface="CommonBullets" pitchFamily="34" charset="2"/>
                  </a:rPr>
                  <a:t>–</a:t>
                </a:r>
              </a:p>
            </p:txBody>
          </p:sp>
          <p:sp>
            <p:nvSpPr>
              <p:cNvPr id="49172" name="Line 21"/>
              <p:cNvSpPr>
                <a:spLocks noChangeShapeType="1"/>
              </p:cNvSpPr>
              <p:nvPr/>
            </p:nvSpPr>
            <p:spPr bwMode="auto">
              <a:xfrm>
                <a:off x="528" y="1104"/>
                <a:ext cx="32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3" name="Text Box 22"/>
              <p:cNvSpPr txBox="1">
                <a:spLocks noChangeArrowheads="1"/>
              </p:cNvSpPr>
              <p:nvPr/>
            </p:nvSpPr>
            <p:spPr bwMode="auto">
              <a:xfrm>
                <a:off x="1206" y="1131"/>
                <a:ext cx="296"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i="1">
                    <a:solidFill>
                      <a:schemeClr val="tx2"/>
                    </a:solidFill>
                  </a:rPr>
                  <a:t>v</a:t>
                </a:r>
              </a:p>
            </p:txBody>
          </p:sp>
        </p:grpSp>
      </p:grpSp>
      <p:sp>
        <p:nvSpPr>
          <p:cNvPr id="337943" name="Text Box 23"/>
          <p:cNvSpPr txBox="1">
            <a:spLocks noChangeArrowheads="1"/>
          </p:cNvSpPr>
          <p:nvPr/>
        </p:nvSpPr>
        <p:spPr bwMode="auto">
          <a:xfrm>
            <a:off x="838200" y="2662238"/>
            <a:ext cx="7162800"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571500" indent="-5715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spcBef>
                <a:spcPct val="50000"/>
              </a:spcBef>
            </a:pPr>
            <a:r>
              <a:rPr lang="en-US" altLang="zh-CN" dirty="0">
                <a:solidFill>
                  <a:schemeClr val="tx2"/>
                </a:solidFill>
              </a:rPr>
              <a:t>(a) </a:t>
            </a:r>
            <a:r>
              <a:rPr lang="zh-CN" altLang="zh-CN" dirty="0">
                <a:solidFill>
                  <a:schemeClr val="tx2"/>
                </a:solidFill>
              </a:rPr>
              <a:t>当 </a:t>
            </a:r>
            <a:r>
              <a:rPr lang="en-US" altLang="zh-CN" i="1" dirty="0">
                <a:solidFill>
                  <a:schemeClr val="tx2"/>
                </a:solidFill>
              </a:rPr>
              <a:t>v</a:t>
            </a:r>
            <a:r>
              <a:rPr lang="zh-CN" altLang="en-US" dirty="0">
                <a:solidFill>
                  <a:schemeClr val="tx2"/>
                </a:solidFill>
              </a:rPr>
              <a:t>，</a:t>
            </a:r>
            <a:r>
              <a:rPr lang="en-US" altLang="zh-CN" i="1" dirty="0" err="1">
                <a:solidFill>
                  <a:schemeClr val="tx2"/>
                </a:solidFill>
              </a:rPr>
              <a:t>i</a:t>
            </a:r>
            <a:r>
              <a:rPr lang="en-US" altLang="zh-CN" i="1" dirty="0">
                <a:solidFill>
                  <a:schemeClr val="tx2"/>
                </a:solidFill>
              </a:rPr>
              <a:t>  </a:t>
            </a:r>
            <a:r>
              <a:rPr lang="zh-CN" altLang="en-US" dirty="0">
                <a:solidFill>
                  <a:schemeClr val="tx2"/>
                </a:solidFill>
              </a:rPr>
              <a:t>为关联方向时，</a:t>
            </a:r>
            <a:r>
              <a:rPr lang="en-US" altLang="zh-CN" i="1" dirty="0">
                <a:solidFill>
                  <a:schemeClr val="tx2"/>
                </a:solidFill>
              </a:rPr>
              <a:t>v </a:t>
            </a:r>
            <a:r>
              <a:rPr lang="en-US" altLang="zh-CN" dirty="0">
                <a:solidFill>
                  <a:schemeClr val="tx2"/>
                </a:solidFill>
              </a:rPr>
              <a:t>= </a:t>
            </a:r>
            <a:r>
              <a:rPr lang="en-US" altLang="zh-CN" i="1" dirty="0">
                <a:solidFill>
                  <a:schemeClr val="tx2"/>
                </a:solidFill>
              </a:rPr>
              <a:t>L </a:t>
            </a:r>
            <a:r>
              <a:rPr lang="en-US" altLang="zh-CN" dirty="0">
                <a:solidFill>
                  <a:schemeClr val="tx2"/>
                </a:solidFill>
              </a:rPr>
              <a:t>d</a:t>
            </a:r>
            <a:r>
              <a:rPr lang="en-US" altLang="zh-CN" i="1" dirty="0">
                <a:solidFill>
                  <a:schemeClr val="tx2"/>
                </a:solidFill>
              </a:rPr>
              <a:t>i </a:t>
            </a:r>
            <a:r>
              <a:rPr lang="en-US" altLang="zh-CN" dirty="0">
                <a:solidFill>
                  <a:schemeClr val="tx2"/>
                </a:solidFill>
              </a:rPr>
              <a:t>/ </a:t>
            </a:r>
            <a:r>
              <a:rPr lang="en-US" altLang="zh-CN" dirty="0" err="1">
                <a:solidFill>
                  <a:schemeClr val="tx2"/>
                </a:solidFill>
              </a:rPr>
              <a:t>d</a:t>
            </a:r>
            <a:r>
              <a:rPr lang="en-US" altLang="zh-CN" i="1" dirty="0" err="1">
                <a:solidFill>
                  <a:schemeClr val="tx2"/>
                </a:solidFill>
              </a:rPr>
              <a:t>t</a:t>
            </a:r>
            <a:endParaRPr lang="en-US" altLang="zh-CN" dirty="0">
              <a:solidFill>
                <a:schemeClr val="tx2"/>
              </a:solidFill>
            </a:endParaRPr>
          </a:p>
          <a:p>
            <a:pPr algn="just">
              <a:spcBef>
                <a:spcPct val="50000"/>
              </a:spcBef>
            </a:pPr>
            <a:r>
              <a:rPr lang="en-US" altLang="zh-CN" dirty="0">
                <a:solidFill>
                  <a:schemeClr val="tx2"/>
                </a:solidFill>
              </a:rPr>
              <a:t>           </a:t>
            </a:r>
            <a:r>
              <a:rPr lang="en-US" altLang="zh-CN" i="1" dirty="0">
                <a:solidFill>
                  <a:schemeClr val="tx2"/>
                </a:solidFill>
              </a:rPr>
              <a:t>v</a:t>
            </a:r>
            <a:r>
              <a:rPr lang="zh-CN" altLang="en-US" dirty="0">
                <a:solidFill>
                  <a:schemeClr val="tx2"/>
                </a:solidFill>
              </a:rPr>
              <a:t>，</a:t>
            </a:r>
            <a:r>
              <a:rPr lang="en-US" altLang="zh-CN" i="1" dirty="0" err="1">
                <a:solidFill>
                  <a:schemeClr val="tx2"/>
                </a:solidFill>
              </a:rPr>
              <a:t>i</a:t>
            </a:r>
            <a:r>
              <a:rPr lang="en-US" altLang="zh-CN" i="1" dirty="0">
                <a:solidFill>
                  <a:schemeClr val="tx2"/>
                </a:solidFill>
              </a:rPr>
              <a:t> </a:t>
            </a:r>
            <a:r>
              <a:rPr lang="zh-CN" altLang="en-US" dirty="0">
                <a:solidFill>
                  <a:schemeClr val="tx2"/>
                </a:solidFill>
              </a:rPr>
              <a:t>为</a:t>
            </a:r>
            <a:r>
              <a:rPr lang="zh-CN" altLang="en-US" dirty="0">
                <a:solidFill>
                  <a:srgbClr val="FF0000"/>
                </a:solidFill>
              </a:rPr>
              <a:t>非</a:t>
            </a:r>
            <a:r>
              <a:rPr lang="zh-CN" altLang="en-US" dirty="0">
                <a:solidFill>
                  <a:schemeClr val="tx2"/>
                </a:solidFill>
              </a:rPr>
              <a:t>关联方向时，</a:t>
            </a:r>
            <a:r>
              <a:rPr lang="en-US" altLang="zh-CN" i="1" dirty="0">
                <a:solidFill>
                  <a:schemeClr val="tx2"/>
                </a:solidFill>
              </a:rPr>
              <a:t>v </a:t>
            </a:r>
            <a:r>
              <a:rPr lang="en-US" altLang="zh-CN" dirty="0">
                <a:solidFill>
                  <a:schemeClr val="tx2"/>
                </a:solidFill>
              </a:rPr>
              <a:t>=</a:t>
            </a:r>
            <a:r>
              <a:rPr lang="en-US" altLang="zh-CN" b="0" dirty="0">
                <a:solidFill>
                  <a:schemeClr val="tx2"/>
                </a:solidFill>
              </a:rPr>
              <a:t> </a:t>
            </a:r>
            <a:r>
              <a:rPr lang="en-US" altLang="zh-CN" b="0" dirty="0">
                <a:solidFill>
                  <a:srgbClr val="FF0000"/>
                </a:solidFill>
                <a:ea typeface="黑体" pitchFamily="49" charset="-122"/>
                <a:cs typeface="Times New Roman" pitchFamily="18" charset="0"/>
              </a:rPr>
              <a:t>−</a:t>
            </a:r>
            <a:r>
              <a:rPr lang="en-US" altLang="zh-CN" i="1" dirty="0">
                <a:solidFill>
                  <a:schemeClr val="tx2"/>
                </a:solidFill>
              </a:rPr>
              <a:t>L </a:t>
            </a:r>
            <a:r>
              <a:rPr lang="en-US" altLang="zh-CN" dirty="0">
                <a:solidFill>
                  <a:schemeClr val="tx2"/>
                </a:solidFill>
              </a:rPr>
              <a:t>d</a:t>
            </a:r>
            <a:r>
              <a:rPr lang="en-US" altLang="zh-CN" i="1" dirty="0">
                <a:solidFill>
                  <a:schemeClr val="tx2"/>
                </a:solidFill>
              </a:rPr>
              <a:t>i </a:t>
            </a:r>
            <a:r>
              <a:rPr lang="en-US" altLang="zh-CN" dirty="0">
                <a:solidFill>
                  <a:schemeClr val="tx2"/>
                </a:solidFill>
              </a:rPr>
              <a:t>/ </a:t>
            </a:r>
            <a:r>
              <a:rPr lang="en-US" altLang="zh-CN" dirty="0" err="1">
                <a:solidFill>
                  <a:schemeClr val="tx2"/>
                </a:solidFill>
              </a:rPr>
              <a:t>d</a:t>
            </a:r>
            <a:r>
              <a:rPr lang="en-US" altLang="zh-CN" i="1" dirty="0" err="1">
                <a:solidFill>
                  <a:schemeClr val="tx2"/>
                </a:solidFill>
              </a:rPr>
              <a:t>t</a:t>
            </a:r>
            <a:endParaRPr lang="en-US" altLang="zh-CN" i="1" dirty="0">
              <a:solidFill>
                <a:schemeClr val="tx2"/>
              </a:solidFill>
            </a:endParaRPr>
          </a:p>
        </p:txBody>
      </p:sp>
    </p:spTree>
    <p:extLst>
      <p:ext uri="{BB962C8B-B14F-4D97-AF65-F5344CB8AC3E}">
        <p14:creationId xmlns:p14="http://schemas.microsoft.com/office/powerpoint/2010/main" val="3846237701"/>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43"/>
                                        </p:tgtEl>
                                        <p:attrNameLst>
                                          <p:attrName>style.visibility</p:attrName>
                                        </p:attrNameLst>
                                      </p:cBhvr>
                                      <p:to>
                                        <p:strVal val="visible"/>
                                      </p:to>
                                    </p:set>
                                    <p:animEffect transition="in" filter="wipe(left)">
                                      <p:cBhvr>
                                        <p:cTn id="7" dur="500"/>
                                        <p:tgtEl>
                                          <p:spTgt spid="3379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9175"/>
                                        </p:tgtEl>
                                        <p:attrNameLst>
                                          <p:attrName>style.visibility</p:attrName>
                                        </p:attrNameLst>
                                      </p:cBhvr>
                                      <p:to>
                                        <p:strVal val="visible"/>
                                      </p:to>
                                    </p:set>
                                    <p:animEffect transition="in" filter="barn(inVertical)">
                                      <p:cBhvr>
                                        <p:cTn id="12" dur="500"/>
                                        <p:tgtEl>
                                          <p:spTgt spid="4917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9174">
                                            <p:txEl>
                                              <p:pRg st="0" end="0"/>
                                            </p:txEl>
                                          </p:spTgt>
                                        </p:tgtEl>
                                        <p:attrNameLst>
                                          <p:attrName>style.visibility</p:attrName>
                                        </p:attrNameLst>
                                      </p:cBhvr>
                                      <p:to>
                                        <p:strVal val="visible"/>
                                      </p:to>
                                    </p:set>
                                    <p:animEffect transition="in" filter="barn(inVertical)">
                                      <p:cBhvr>
                                        <p:cTn id="17" dur="500"/>
                                        <p:tgtEl>
                                          <p:spTgt spid="4917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9174">
                                            <p:txEl>
                                              <p:pRg st="1" end="1"/>
                                            </p:txEl>
                                          </p:spTgt>
                                        </p:tgtEl>
                                        <p:attrNameLst>
                                          <p:attrName>style.visibility</p:attrName>
                                        </p:attrNameLst>
                                      </p:cBhvr>
                                      <p:to>
                                        <p:strVal val="visible"/>
                                      </p:to>
                                    </p:set>
                                    <p:animEffect transition="in" filter="barn(inVertical)">
                                      <p:cBhvr>
                                        <p:cTn id="22" dur="500"/>
                                        <p:tgtEl>
                                          <p:spTgt spid="4917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75" grpId="0"/>
      <p:bldP spid="337943"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3"/>
          <p:cNvSpPr txBox="1">
            <a:spLocks noChangeArrowheads="1"/>
          </p:cNvSpPr>
          <p:nvPr/>
        </p:nvSpPr>
        <p:spPr bwMode="auto">
          <a:xfrm>
            <a:off x="609600" y="776288"/>
            <a:ext cx="6096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a:solidFill>
                  <a:schemeClr val="tx2"/>
                </a:solidFill>
              </a:rPr>
              <a:t>(b)  </a:t>
            </a:r>
            <a:r>
              <a:rPr lang="zh-CN" altLang="en-US">
                <a:solidFill>
                  <a:schemeClr val="tx2"/>
                </a:solidFill>
              </a:rPr>
              <a:t>电感元件是一种记忆元件；</a:t>
            </a:r>
          </a:p>
        </p:txBody>
      </p:sp>
      <p:graphicFrame>
        <p:nvGraphicFramePr>
          <p:cNvPr id="50179" name="Object 5"/>
          <p:cNvGraphicFramePr>
            <a:graphicFrameLocks noChangeAspect="1"/>
          </p:cNvGraphicFramePr>
          <p:nvPr/>
        </p:nvGraphicFramePr>
        <p:xfrm>
          <a:off x="4864100" y="1809750"/>
          <a:ext cx="285750" cy="538163"/>
        </p:xfrm>
        <a:graphic>
          <a:graphicData uri="http://schemas.openxmlformats.org/presentationml/2006/ole">
            <mc:AlternateContent xmlns:mc="http://schemas.openxmlformats.org/markup-compatibility/2006">
              <mc:Choice xmlns:v="urn:schemas-microsoft-com:vml" Requires="v">
                <p:oleObj spid="_x0000_s125984" name="公式" r:id="rId3" imgW="114151" imgH="215619" progId="Equation.3">
                  <p:embed/>
                </p:oleObj>
              </mc:Choice>
              <mc:Fallback>
                <p:oleObj name="公式" r:id="rId3"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4100" y="1809750"/>
                        <a:ext cx="285750"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0" name="Object 6"/>
          <p:cNvGraphicFramePr>
            <a:graphicFrameLocks noChangeAspect="1"/>
          </p:cNvGraphicFramePr>
          <p:nvPr>
            <p:extLst/>
          </p:nvPr>
        </p:nvGraphicFramePr>
        <p:xfrm>
          <a:off x="1182688" y="2616200"/>
          <a:ext cx="2824162" cy="792163"/>
        </p:xfrm>
        <a:graphic>
          <a:graphicData uri="http://schemas.openxmlformats.org/presentationml/2006/ole">
            <mc:AlternateContent xmlns:mc="http://schemas.openxmlformats.org/markup-compatibility/2006">
              <mc:Choice xmlns:v="urn:schemas-microsoft-com:vml" Requires="v">
                <p:oleObj spid="_x0000_s125985" name="Equation" r:id="rId5" imgW="1130040" imgH="317160" progId="Equation.DSMT4">
                  <p:embed/>
                </p:oleObj>
              </mc:Choice>
              <mc:Fallback>
                <p:oleObj name="Equation" r:id="rId5" imgW="1130040" imgH="317160" progId="Equation.DSMT4">
                  <p:embed/>
                  <p:pic>
                    <p:nvPicPr>
                      <p:cNvPr id="0" name=""/>
                      <p:cNvPicPr>
                        <a:picLocks noChangeAspect="1" noChangeArrowheads="1"/>
                      </p:cNvPicPr>
                      <p:nvPr/>
                    </p:nvPicPr>
                    <p:blipFill>
                      <a:blip r:embed="rId6"/>
                      <a:srcRect/>
                      <a:stretch>
                        <a:fillRect/>
                      </a:stretch>
                    </p:blipFill>
                    <p:spPr bwMode="auto">
                      <a:xfrm>
                        <a:off x="1182688" y="2616200"/>
                        <a:ext cx="2824162" cy="792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1" name="Object 7"/>
          <p:cNvGraphicFramePr>
            <a:graphicFrameLocks noChangeAspect="1"/>
          </p:cNvGraphicFramePr>
          <p:nvPr/>
        </p:nvGraphicFramePr>
        <p:xfrm>
          <a:off x="1211263" y="1635125"/>
          <a:ext cx="1776412" cy="887413"/>
        </p:xfrm>
        <a:graphic>
          <a:graphicData uri="http://schemas.openxmlformats.org/presentationml/2006/ole">
            <mc:AlternateContent xmlns:mc="http://schemas.openxmlformats.org/markup-compatibility/2006">
              <mc:Choice xmlns:v="urn:schemas-microsoft-com:vml" Requires="v">
                <p:oleObj spid="_x0000_s125986" name="Equation" r:id="rId7" imgW="710891" imgH="355446" progId="Equation.DSMT4">
                  <p:embed/>
                </p:oleObj>
              </mc:Choice>
              <mc:Fallback>
                <p:oleObj name="Equation" r:id="rId7" imgW="710891" imgH="355446"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1263" y="1635125"/>
                        <a:ext cx="1776412"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2" name="Object 8"/>
          <p:cNvGraphicFramePr>
            <a:graphicFrameLocks noChangeAspect="1"/>
          </p:cNvGraphicFramePr>
          <p:nvPr>
            <p:extLst/>
          </p:nvPr>
        </p:nvGraphicFramePr>
        <p:xfrm>
          <a:off x="3024188" y="1635125"/>
          <a:ext cx="3078162" cy="887413"/>
        </p:xfrm>
        <a:graphic>
          <a:graphicData uri="http://schemas.openxmlformats.org/presentationml/2006/ole">
            <mc:AlternateContent xmlns:mc="http://schemas.openxmlformats.org/markup-compatibility/2006">
              <mc:Choice xmlns:v="urn:schemas-microsoft-com:vml" Requires="v">
                <p:oleObj spid="_x0000_s125987" name="Equation" r:id="rId9" imgW="1231560" imgH="355320" progId="Equation.DSMT4">
                  <p:embed/>
                </p:oleObj>
              </mc:Choice>
              <mc:Fallback>
                <p:oleObj name="Equation" r:id="rId9" imgW="1231560" imgH="355320" progId="Equation.DSMT4">
                  <p:embed/>
                  <p:pic>
                    <p:nvPicPr>
                      <p:cNvPr id="0" name=""/>
                      <p:cNvPicPr>
                        <a:picLocks noChangeAspect="1" noChangeArrowheads="1"/>
                      </p:cNvPicPr>
                      <p:nvPr/>
                    </p:nvPicPr>
                    <p:blipFill>
                      <a:blip r:embed="rId10"/>
                      <a:srcRect/>
                      <a:stretch>
                        <a:fillRect/>
                      </a:stretch>
                    </p:blipFill>
                    <p:spPr bwMode="auto">
                      <a:xfrm>
                        <a:off x="3024188" y="1635125"/>
                        <a:ext cx="3078162"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3" name="Object 9"/>
          <p:cNvGraphicFramePr>
            <a:graphicFrameLocks noChangeAspect="1"/>
          </p:cNvGraphicFramePr>
          <p:nvPr>
            <p:extLst/>
          </p:nvPr>
        </p:nvGraphicFramePr>
        <p:xfrm>
          <a:off x="6076950" y="1635125"/>
          <a:ext cx="2411413" cy="887413"/>
        </p:xfrm>
        <a:graphic>
          <a:graphicData uri="http://schemas.openxmlformats.org/presentationml/2006/ole">
            <mc:AlternateContent xmlns:mc="http://schemas.openxmlformats.org/markup-compatibility/2006">
              <mc:Choice xmlns:v="urn:schemas-microsoft-com:vml" Requires="v">
                <p:oleObj spid="_x0000_s125988" name="Equation" r:id="rId11" imgW="965160" imgH="355320" progId="Equation.DSMT4">
                  <p:embed/>
                </p:oleObj>
              </mc:Choice>
              <mc:Fallback>
                <p:oleObj name="Equation" r:id="rId11" imgW="965160" imgH="355320" progId="Equation.DSMT4">
                  <p:embed/>
                  <p:pic>
                    <p:nvPicPr>
                      <p:cNvPr id="0" name=""/>
                      <p:cNvPicPr>
                        <a:picLocks noChangeAspect="1" noChangeArrowheads="1"/>
                      </p:cNvPicPr>
                      <p:nvPr/>
                    </p:nvPicPr>
                    <p:blipFill>
                      <a:blip r:embed="rId12"/>
                      <a:srcRect/>
                      <a:stretch>
                        <a:fillRect/>
                      </a:stretch>
                    </p:blipFill>
                    <p:spPr bwMode="auto">
                      <a:xfrm>
                        <a:off x="6076950" y="1635125"/>
                        <a:ext cx="2411413"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954" name="Text Box 10"/>
          <p:cNvSpPr txBox="1">
            <a:spLocks noChangeArrowheads="1"/>
          </p:cNvSpPr>
          <p:nvPr/>
        </p:nvSpPr>
        <p:spPr bwMode="auto">
          <a:xfrm>
            <a:off x="762000" y="4052888"/>
            <a:ext cx="689163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b="1">
                <a:solidFill>
                  <a:schemeClr val="tx1"/>
                </a:solidFill>
                <a:latin typeface="Times New Roman" pitchFamily="18" charset="0"/>
                <a:ea typeface="宋体" charset="-122"/>
              </a:defRPr>
            </a:lvl1pPr>
            <a:lvl2pPr marL="914400" indent="-457200" eaLnBrk="0" hangingPunct="0">
              <a:defRPr kumimoji="1" sz="2400" b="1">
                <a:solidFill>
                  <a:schemeClr val="tx1"/>
                </a:solidFill>
                <a:latin typeface="Times New Roman" pitchFamily="18" charset="0"/>
                <a:ea typeface="宋体" charset="-122"/>
              </a:defRPr>
            </a:lvl2pPr>
            <a:lvl3pPr marL="1371600" indent="-457200" eaLnBrk="0" hangingPunct="0">
              <a:defRPr kumimoji="1" sz="2400" b="1">
                <a:solidFill>
                  <a:schemeClr val="tx1"/>
                </a:solidFill>
                <a:latin typeface="Times New Roman" pitchFamily="18" charset="0"/>
                <a:ea typeface="宋体" charset="-122"/>
              </a:defRPr>
            </a:lvl3pPr>
            <a:lvl4pPr marL="1828800" indent="-457200" eaLnBrk="0" hangingPunct="0">
              <a:defRPr kumimoji="1" sz="2400" b="1">
                <a:solidFill>
                  <a:schemeClr val="tx1"/>
                </a:solidFill>
                <a:latin typeface="Times New Roman" pitchFamily="18" charset="0"/>
                <a:ea typeface="宋体" charset="-122"/>
              </a:defRPr>
            </a:lvl4pPr>
            <a:lvl5pPr marL="2286000" indent="-457200" eaLnBrk="0" hangingPunct="0">
              <a:defRPr kumimoji="1" sz="2400" b="1">
                <a:solidFill>
                  <a:schemeClr val="tx1"/>
                </a:solidFill>
                <a:latin typeface="Times New Roman" pitchFamily="18" charset="0"/>
                <a:ea typeface="宋体" charset="-122"/>
              </a:defRPr>
            </a:lvl5pPr>
            <a:lvl6pPr marL="2743200" indent="-4572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200400" indent="-4572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657600" indent="-4572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114800" indent="-4572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a:solidFill>
                  <a:schemeClr val="tx2"/>
                </a:solidFill>
              </a:rPr>
              <a:t>(c)  </a:t>
            </a:r>
            <a:r>
              <a:rPr lang="zh-CN" altLang="en-US" dirty="0">
                <a:solidFill>
                  <a:schemeClr val="tx2"/>
                </a:solidFill>
              </a:rPr>
              <a:t>电感电流的连续性质</a:t>
            </a:r>
          </a:p>
          <a:p>
            <a:pPr>
              <a:spcBef>
                <a:spcPct val="50000"/>
              </a:spcBef>
            </a:pPr>
            <a:r>
              <a:rPr lang="zh-CN" altLang="en-US" dirty="0">
                <a:solidFill>
                  <a:schemeClr val="tx2"/>
                </a:solidFill>
              </a:rPr>
              <a:t>       当电压 </a:t>
            </a:r>
            <a:r>
              <a:rPr lang="en-US" altLang="zh-CN" i="1" dirty="0">
                <a:solidFill>
                  <a:schemeClr val="tx2"/>
                </a:solidFill>
              </a:rPr>
              <a:t>v </a:t>
            </a:r>
            <a:r>
              <a:rPr lang="zh-CN" altLang="en-US" dirty="0">
                <a:solidFill>
                  <a:schemeClr val="tx2"/>
                </a:solidFill>
              </a:rPr>
              <a:t>为有限值时，</a:t>
            </a:r>
            <a:r>
              <a:rPr lang="zh-CN" altLang="en-US" u="sng" dirty="0">
                <a:solidFill>
                  <a:srgbClr val="3366FF"/>
                </a:solidFill>
              </a:rPr>
              <a:t>电感中电流不能跃变</a:t>
            </a:r>
            <a:r>
              <a:rPr lang="zh-CN" altLang="en-US" dirty="0"/>
              <a:t>。</a:t>
            </a:r>
          </a:p>
          <a:p>
            <a:pPr>
              <a:spcBef>
                <a:spcPct val="50000"/>
              </a:spcBef>
            </a:pPr>
            <a:r>
              <a:rPr lang="zh-CN" altLang="en-US" dirty="0"/>
              <a:t>       </a:t>
            </a:r>
            <a:r>
              <a:rPr lang="zh-CN" altLang="en-US" dirty="0" smtClean="0"/>
              <a:t>（电流</a:t>
            </a:r>
            <a:r>
              <a:rPr lang="zh-CN" altLang="en-US" dirty="0"/>
              <a:t>跃变需要一个无穷大的电压</a:t>
            </a:r>
            <a:r>
              <a:rPr lang="zh-CN" altLang="en-US" dirty="0" smtClean="0"/>
              <a:t>。）</a:t>
            </a:r>
            <a:endParaRPr lang="en-US" altLang="zh-CN" dirty="0" smtClean="0"/>
          </a:p>
          <a:p>
            <a:pPr>
              <a:spcBef>
                <a:spcPct val="50000"/>
              </a:spcBef>
            </a:pPr>
            <a:r>
              <a:rPr lang="en-US" altLang="zh-CN" dirty="0"/>
              <a:t> </a:t>
            </a:r>
            <a:r>
              <a:rPr lang="en-US" altLang="zh-CN" dirty="0" smtClean="0"/>
              <a:t>      </a:t>
            </a:r>
            <a:r>
              <a:rPr lang="zh-CN" altLang="en-US" dirty="0" smtClean="0"/>
              <a:t>但</a:t>
            </a:r>
            <a:r>
              <a:rPr lang="zh-CN" altLang="en-US" u="sng" dirty="0" smtClean="0">
                <a:solidFill>
                  <a:srgbClr val="3366FF"/>
                </a:solidFill>
              </a:rPr>
              <a:t>电压可以</a:t>
            </a:r>
            <a:r>
              <a:rPr lang="zh-CN" altLang="en-US" u="sng" dirty="0">
                <a:solidFill>
                  <a:srgbClr val="3366FF"/>
                </a:solidFill>
              </a:rPr>
              <a:t>跃变</a:t>
            </a:r>
            <a:r>
              <a:rPr lang="zh-CN" altLang="en-US" dirty="0"/>
              <a:t>。</a:t>
            </a:r>
          </a:p>
        </p:txBody>
      </p:sp>
    </p:spTree>
    <p:extLst>
      <p:ext uri="{BB962C8B-B14F-4D97-AF65-F5344CB8AC3E}">
        <p14:creationId xmlns:p14="http://schemas.microsoft.com/office/powerpoint/2010/main" val="28959677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0179"/>
                                        </p:tgtEl>
                                        <p:attrNameLst>
                                          <p:attrName>style.visibility</p:attrName>
                                        </p:attrNameLst>
                                      </p:cBhvr>
                                      <p:to>
                                        <p:strVal val="visible"/>
                                      </p:to>
                                    </p:set>
                                    <p:animEffect transition="in" filter="barn(inVertical)">
                                      <p:cBhvr>
                                        <p:cTn id="7" dur="500"/>
                                        <p:tgtEl>
                                          <p:spTgt spid="50179"/>
                                        </p:tgtEl>
                                      </p:cBhvr>
                                    </p:animEffect>
                                  </p:childTnLst>
                                </p:cTn>
                              </p:par>
                              <p:par>
                                <p:cTn id="8" presetID="16" presetClass="entr" presetSubtype="21" fill="hold" nodeType="withEffect">
                                  <p:stCondLst>
                                    <p:cond delay="0"/>
                                  </p:stCondLst>
                                  <p:childTnLst>
                                    <p:set>
                                      <p:cBhvr>
                                        <p:cTn id="9" dur="1" fill="hold">
                                          <p:stCondLst>
                                            <p:cond delay="0"/>
                                          </p:stCondLst>
                                        </p:cTn>
                                        <p:tgtEl>
                                          <p:spTgt spid="50181"/>
                                        </p:tgtEl>
                                        <p:attrNameLst>
                                          <p:attrName>style.visibility</p:attrName>
                                        </p:attrNameLst>
                                      </p:cBhvr>
                                      <p:to>
                                        <p:strVal val="visible"/>
                                      </p:to>
                                    </p:set>
                                    <p:animEffect transition="in" filter="barn(inVertical)">
                                      <p:cBhvr>
                                        <p:cTn id="10" dur="500"/>
                                        <p:tgtEl>
                                          <p:spTgt spid="50181"/>
                                        </p:tgtEl>
                                      </p:cBhvr>
                                    </p:animEffect>
                                  </p:childTnLst>
                                </p:cTn>
                              </p:par>
                              <p:par>
                                <p:cTn id="11" presetID="16" presetClass="entr" presetSubtype="21" fill="hold" nodeType="withEffect">
                                  <p:stCondLst>
                                    <p:cond delay="0"/>
                                  </p:stCondLst>
                                  <p:childTnLst>
                                    <p:set>
                                      <p:cBhvr>
                                        <p:cTn id="12" dur="1" fill="hold">
                                          <p:stCondLst>
                                            <p:cond delay="0"/>
                                          </p:stCondLst>
                                        </p:cTn>
                                        <p:tgtEl>
                                          <p:spTgt spid="50182"/>
                                        </p:tgtEl>
                                        <p:attrNameLst>
                                          <p:attrName>style.visibility</p:attrName>
                                        </p:attrNameLst>
                                      </p:cBhvr>
                                      <p:to>
                                        <p:strVal val="visible"/>
                                      </p:to>
                                    </p:set>
                                    <p:animEffect transition="in" filter="barn(inVertical)">
                                      <p:cBhvr>
                                        <p:cTn id="13" dur="500"/>
                                        <p:tgtEl>
                                          <p:spTgt spid="50182"/>
                                        </p:tgtEl>
                                      </p:cBhvr>
                                    </p:animEffect>
                                  </p:childTnLst>
                                </p:cTn>
                              </p:par>
                              <p:par>
                                <p:cTn id="14" presetID="16" presetClass="entr" presetSubtype="21" fill="hold" nodeType="withEffect">
                                  <p:stCondLst>
                                    <p:cond delay="0"/>
                                  </p:stCondLst>
                                  <p:childTnLst>
                                    <p:set>
                                      <p:cBhvr>
                                        <p:cTn id="15" dur="1" fill="hold">
                                          <p:stCondLst>
                                            <p:cond delay="0"/>
                                          </p:stCondLst>
                                        </p:cTn>
                                        <p:tgtEl>
                                          <p:spTgt spid="50183"/>
                                        </p:tgtEl>
                                        <p:attrNameLst>
                                          <p:attrName>style.visibility</p:attrName>
                                        </p:attrNameLst>
                                      </p:cBhvr>
                                      <p:to>
                                        <p:strVal val="visible"/>
                                      </p:to>
                                    </p:set>
                                    <p:animEffect transition="in" filter="barn(inVertical)">
                                      <p:cBhvr>
                                        <p:cTn id="16" dur="500"/>
                                        <p:tgtEl>
                                          <p:spTgt spid="50183"/>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50180"/>
                                        </p:tgtEl>
                                        <p:attrNameLst>
                                          <p:attrName>style.visibility</p:attrName>
                                        </p:attrNameLst>
                                      </p:cBhvr>
                                      <p:to>
                                        <p:strVal val="visible"/>
                                      </p:to>
                                    </p:set>
                                    <p:animEffect transition="in" filter="barn(inVertical)">
                                      <p:cBhvr>
                                        <p:cTn id="21" dur="500"/>
                                        <p:tgtEl>
                                          <p:spTgt spid="50180"/>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338954">
                                            <p:txEl>
                                              <p:pRg st="0" end="0"/>
                                            </p:txEl>
                                          </p:spTgt>
                                        </p:tgtEl>
                                        <p:attrNameLst>
                                          <p:attrName>style.visibility</p:attrName>
                                        </p:attrNameLst>
                                      </p:cBhvr>
                                      <p:to>
                                        <p:strVal val="visible"/>
                                      </p:to>
                                    </p:set>
                                    <p:animEffect transition="in" filter="barn(inVertical)">
                                      <p:cBhvr>
                                        <p:cTn id="26" dur="500"/>
                                        <p:tgtEl>
                                          <p:spTgt spid="338954">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338954">
                                            <p:txEl>
                                              <p:pRg st="1" end="1"/>
                                            </p:txEl>
                                          </p:spTgt>
                                        </p:tgtEl>
                                        <p:attrNameLst>
                                          <p:attrName>style.visibility</p:attrName>
                                        </p:attrNameLst>
                                      </p:cBhvr>
                                      <p:to>
                                        <p:strVal val="visible"/>
                                      </p:to>
                                    </p:set>
                                    <p:animEffect transition="in" filter="barn(inVertical)">
                                      <p:cBhvr>
                                        <p:cTn id="31" dur="500"/>
                                        <p:tgtEl>
                                          <p:spTgt spid="338954">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338954">
                                            <p:txEl>
                                              <p:pRg st="2" end="2"/>
                                            </p:txEl>
                                          </p:spTgt>
                                        </p:tgtEl>
                                        <p:attrNameLst>
                                          <p:attrName>style.visibility</p:attrName>
                                        </p:attrNameLst>
                                      </p:cBhvr>
                                      <p:to>
                                        <p:strVal val="visible"/>
                                      </p:to>
                                    </p:set>
                                    <p:animEffect transition="in" filter="barn(inVertical)">
                                      <p:cBhvr>
                                        <p:cTn id="36" dur="500"/>
                                        <p:tgtEl>
                                          <p:spTgt spid="338954">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338954">
                                            <p:txEl>
                                              <p:pRg st="3" end="3"/>
                                            </p:txEl>
                                          </p:spTgt>
                                        </p:tgtEl>
                                        <p:attrNameLst>
                                          <p:attrName>style.visibility</p:attrName>
                                        </p:attrNameLst>
                                      </p:cBhvr>
                                      <p:to>
                                        <p:strVal val="visible"/>
                                      </p:to>
                                    </p:set>
                                    <p:animEffect transition="in" filter="barn(inVertical)">
                                      <p:cBhvr>
                                        <p:cTn id="41" dur="500"/>
                                        <p:tgtEl>
                                          <p:spTgt spid="3389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304800" y="566738"/>
            <a:ext cx="2743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A50021"/>
                </a:solidFill>
              </a:rPr>
              <a:t>3</a:t>
            </a:r>
            <a:r>
              <a:rPr lang="zh-CN" altLang="en-US">
                <a:solidFill>
                  <a:srgbClr val="A50021"/>
                </a:solidFill>
              </a:rPr>
              <a:t>、电感的储能</a:t>
            </a:r>
          </a:p>
        </p:txBody>
      </p:sp>
      <p:graphicFrame>
        <p:nvGraphicFramePr>
          <p:cNvPr id="339971" name="Object 3"/>
          <p:cNvGraphicFramePr>
            <a:graphicFrameLocks noChangeAspect="1"/>
          </p:cNvGraphicFramePr>
          <p:nvPr/>
        </p:nvGraphicFramePr>
        <p:xfrm>
          <a:off x="1492250" y="1420813"/>
          <a:ext cx="2157413" cy="887412"/>
        </p:xfrm>
        <a:graphic>
          <a:graphicData uri="http://schemas.openxmlformats.org/presentationml/2006/ole">
            <mc:AlternateContent xmlns:mc="http://schemas.openxmlformats.org/markup-compatibility/2006">
              <mc:Choice xmlns:v="urn:schemas-microsoft-com:vml" Requires="v">
                <p:oleObj spid="_x0000_s127008" name="Equation" r:id="rId3" imgW="863225" imgH="355446" progId="Equation.DSMT4">
                  <p:embed/>
                </p:oleObj>
              </mc:Choice>
              <mc:Fallback>
                <p:oleObj name="Equation" r:id="rId3" imgW="863225" imgH="35544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2250" y="1420813"/>
                        <a:ext cx="2157413" cy="887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9972" name="Object 4"/>
          <p:cNvGraphicFramePr>
            <a:graphicFrameLocks noChangeAspect="1"/>
          </p:cNvGraphicFramePr>
          <p:nvPr/>
        </p:nvGraphicFramePr>
        <p:xfrm>
          <a:off x="1574800" y="3841750"/>
          <a:ext cx="2919413" cy="1014413"/>
        </p:xfrm>
        <a:graphic>
          <a:graphicData uri="http://schemas.openxmlformats.org/presentationml/2006/ole">
            <mc:AlternateContent xmlns:mc="http://schemas.openxmlformats.org/markup-compatibility/2006">
              <mc:Choice xmlns:v="urn:schemas-microsoft-com:vml" Requires="v">
                <p:oleObj spid="_x0000_s127009" name="Equation" r:id="rId5" imgW="1167893" imgH="406224" progId="Equation.DSMT4">
                  <p:embed/>
                </p:oleObj>
              </mc:Choice>
              <mc:Fallback>
                <p:oleObj name="Equation" r:id="rId5" imgW="1167893" imgH="40622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4800" y="3841750"/>
                        <a:ext cx="2919413" cy="1014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9973" name="Object 5"/>
          <p:cNvGraphicFramePr>
            <a:graphicFrameLocks noChangeAspect="1"/>
          </p:cNvGraphicFramePr>
          <p:nvPr/>
        </p:nvGraphicFramePr>
        <p:xfrm>
          <a:off x="1506538" y="2740025"/>
          <a:ext cx="2411412" cy="887413"/>
        </p:xfrm>
        <a:graphic>
          <a:graphicData uri="http://schemas.openxmlformats.org/presentationml/2006/ole">
            <mc:AlternateContent xmlns:mc="http://schemas.openxmlformats.org/markup-compatibility/2006">
              <mc:Choice xmlns:v="urn:schemas-microsoft-com:vml" Requires="v">
                <p:oleObj spid="_x0000_s127010" name="Equation" r:id="rId7" imgW="964781" imgH="355446" progId="Equation.DSMT4">
                  <p:embed/>
                </p:oleObj>
              </mc:Choice>
              <mc:Fallback>
                <p:oleObj name="Equation" r:id="rId7" imgW="964781" imgH="355446"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6538" y="2740025"/>
                        <a:ext cx="2411412"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9974" name="Object 6"/>
          <p:cNvGraphicFramePr>
            <a:graphicFrameLocks noChangeAspect="1"/>
          </p:cNvGraphicFramePr>
          <p:nvPr/>
        </p:nvGraphicFramePr>
        <p:xfrm>
          <a:off x="3889375" y="2640013"/>
          <a:ext cx="1619250" cy="1109662"/>
        </p:xfrm>
        <a:graphic>
          <a:graphicData uri="http://schemas.openxmlformats.org/presentationml/2006/ole">
            <mc:AlternateContent xmlns:mc="http://schemas.openxmlformats.org/markup-compatibility/2006">
              <mc:Choice xmlns:v="urn:schemas-microsoft-com:vml" Requires="v">
                <p:oleObj spid="_x0000_s127011" name="Equation" r:id="rId9" imgW="647419" imgH="444307" progId="Equation.DSMT4">
                  <p:embed/>
                </p:oleObj>
              </mc:Choice>
              <mc:Fallback>
                <p:oleObj name="Equation" r:id="rId9" imgW="647419" imgH="444307"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9375" y="2640013"/>
                        <a:ext cx="1619250" cy="1109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9975" name="Object 7"/>
          <p:cNvGraphicFramePr>
            <a:graphicFrameLocks noChangeAspect="1"/>
          </p:cNvGraphicFramePr>
          <p:nvPr/>
        </p:nvGraphicFramePr>
        <p:xfrm>
          <a:off x="5595938" y="2709863"/>
          <a:ext cx="3109912" cy="887412"/>
        </p:xfrm>
        <a:graphic>
          <a:graphicData uri="http://schemas.openxmlformats.org/presentationml/2006/ole">
            <mc:AlternateContent xmlns:mc="http://schemas.openxmlformats.org/markup-compatibility/2006">
              <mc:Choice xmlns:v="urn:schemas-microsoft-com:vml" Requires="v">
                <p:oleObj spid="_x0000_s127012" name="Equation" r:id="rId11" imgW="1244060" imgH="355446" progId="Equation.DSMT4">
                  <p:embed/>
                </p:oleObj>
              </mc:Choice>
              <mc:Fallback>
                <p:oleObj name="Equation" r:id="rId11" imgW="1244060" imgH="355446"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95938" y="2709863"/>
                        <a:ext cx="3109912" cy="887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9976" name="Text Box 8"/>
          <p:cNvSpPr txBox="1">
            <a:spLocks noChangeArrowheads="1"/>
          </p:cNvSpPr>
          <p:nvPr/>
        </p:nvSpPr>
        <p:spPr bwMode="auto">
          <a:xfrm>
            <a:off x="2419350" y="5403850"/>
            <a:ext cx="560441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lnSpc>
                <a:spcPct val="150000"/>
              </a:lnSpc>
              <a:spcBef>
                <a:spcPct val="50000"/>
              </a:spcBef>
            </a:pPr>
            <a:r>
              <a:rPr lang="zh-CN" altLang="en-US" sz="2000" dirty="0"/>
              <a:t>电感是无源元件，能量储藏在磁场中；</a:t>
            </a:r>
          </a:p>
          <a:p>
            <a:pPr eaLnBrk="1" hangingPunct="1">
              <a:lnSpc>
                <a:spcPct val="150000"/>
              </a:lnSpc>
            </a:pPr>
            <a:r>
              <a:rPr lang="zh-CN" altLang="en-US" sz="2000" dirty="0">
                <a:latin typeface="黑体" pitchFamily="49" charset="-122"/>
              </a:rPr>
              <a:t>电</a:t>
            </a:r>
            <a:r>
              <a:rPr lang="zh-CN" altLang="en-US" sz="2000" dirty="0"/>
              <a:t>感</a:t>
            </a:r>
            <a:r>
              <a:rPr lang="zh-CN" altLang="en-US" sz="2000" dirty="0">
                <a:latin typeface="黑体" pitchFamily="49" charset="-122"/>
              </a:rPr>
              <a:t>电流反映了电</a:t>
            </a:r>
            <a:r>
              <a:rPr lang="zh-CN" altLang="en-US" sz="2000" dirty="0"/>
              <a:t>感</a:t>
            </a:r>
            <a:r>
              <a:rPr lang="zh-CN" altLang="en-US" sz="2000" dirty="0">
                <a:latin typeface="黑体" pitchFamily="49" charset="-122"/>
              </a:rPr>
              <a:t>的储能状态，是状态变量。</a:t>
            </a:r>
          </a:p>
        </p:txBody>
      </p:sp>
      <p:grpSp>
        <p:nvGrpSpPr>
          <p:cNvPr id="339977" name="Group 9"/>
          <p:cNvGrpSpPr>
            <a:grpSpLocks/>
          </p:cNvGrpSpPr>
          <p:nvPr/>
        </p:nvGrpSpPr>
        <p:grpSpPr bwMode="auto">
          <a:xfrm>
            <a:off x="450850" y="5087938"/>
            <a:ext cx="1581150" cy="685800"/>
            <a:chOff x="322" y="2939"/>
            <a:chExt cx="996" cy="432"/>
          </a:xfrm>
        </p:grpSpPr>
        <p:sp>
          <p:nvSpPr>
            <p:cNvPr id="51210" name="Rectangle 10"/>
            <p:cNvSpPr>
              <a:spLocks noChangeArrowheads="1"/>
            </p:cNvSpPr>
            <p:nvPr/>
          </p:nvSpPr>
          <p:spPr bwMode="auto">
            <a:xfrm>
              <a:off x="447" y="2939"/>
              <a:ext cx="871" cy="432"/>
            </a:xfrm>
            <a:prstGeom prst="rect">
              <a:avLst/>
            </a:prstGeom>
            <a:solidFill>
              <a:srgbClr val="CCFFFF"/>
            </a:solidFill>
            <a:ln w="9525">
              <a:solidFill>
                <a:srgbClr val="000000"/>
              </a:solidFill>
              <a:miter lim="800000"/>
              <a:headEnd/>
              <a:tailEnd/>
            </a:ln>
            <a:effectLst>
              <a:outerShdw dist="107763" dir="13500000" algn="ctr" rotWithShape="0">
                <a:schemeClr val="bg2"/>
              </a:outerShdw>
            </a:effec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1211" name="Rectangle 11"/>
            <p:cNvSpPr>
              <a:spLocks noChangeArrowheads="1"/>
            </p:cNvSpPr>
            <p:nvPr/>
          </p:nvSpPr>
          <p:spPr bwMode="auto">
            <a:xfrm>
              <a:off x="322" y="2966"/>
              <a:ext cx="9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a:ea typeface="楷体_GB2312" pitchFamily="49" charset="-122"/>
                </a:rPr>
                <a:t>说明</a:t>
              </a:r>
            </a:p>
          </p:txBody>
        </p:sp>
      </p:grpSp>
    </p:spTree>
    <p:extLst>
      <p:ext uri="{BB962C8B-B14F-4D97-AF65-F5344CB8AC3E}">
        <p14:creationId xmlns:p14="http://schemas.microsoft.com/office/powerpoint/2010/main" val="3505091443"/>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9971"/>
                                        </p:tgtEl>
                                        <p:attrNameLst>
                                          <p:attrName>style.visibility</p:attrName>
                                        </p:attrNameLst>
                                      </p:cBhvr>
                                      <p:to>
                                        <p:strVal val="visible"/>
                                      </p:to>
                                    </p:set>
                                    <p:animEffect transition="in" filter="blinds(horizontal)">
                                      <p:cBhvr>
                                        <p:cTn id="7" dur="500"/>
                                        <p:tgtEl>
                                          <p:spTgt spid="3399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39972"/>
                                        </p:tgtEl>
                                        <p:attrNameLst>
                                          <p:attrName>style.visibility</p:attrName>
                                        </p:attrNameLst>
                                      </p:cBhvr>
                                      <p:to>
                                        <p:strVal val="visible"/>
                                      </p:to>
                                    </p:set>
                                    <p:animEffect transition="in" filter="box(in)">
                                      <p:cBhvr>
                                        <p:cTn id="12" dur="500"/>
                                        <p:tgtEl>
                                          <p:spTgt spid="339972"/>
                                        </p:tgtEl>
                                      </p:cBhvr>
                                    </p:animEffect>
                                  </p:childTnLst>
                                </p:cTn>
                              </p:par>
                              <p:par>
                                <p:cTn id="13" presetID="4" presetClass="entr" presetSubtype="16" fill="hold" nodeType="withEffect">
                                  <p:stCondLst>
                                    <p:cond delay="0"/>
                                  </p:stCondLst>
                                  <p:childTnLst>
                                    <p:set>
                                      <p:cBhvr>
                                        <p:cTn id="14" dur="1" fill="hold">
                                          <p:stCondLst>
                                            <p:cond delay="0"/>
                                          </p:stCondLst>
                                        </p:cTn>
                                        <p:tgtEl>
                                          <p:spTgt spid="339973"/>
                                        </p:tgtEl>
                                        <p:attrNameLst>
                                          <p:attrName>style.visibility</p:attrName>
                                        </p:attrNameLst>
                                      </p:cBhvr>
                                      <p:to>
                                        <p:strVal val="visible"/>
                                      </p:to>
                                    </p:set>
                                    <p:animEffect transition="in" filter="box(in)">
                                      <p:cBhvr>
                                        <p:cTn id="15" dur="500"/>
                                        <p:tgtEl>
                                          <p:spTgt spid="339973"/>
                                        </p:tgtEl>
                                      </p:cBhvr>
                                    </p:animEffect>
                                  </p:childTnLst>
                                </p:cTn>
                              </p:par>
                              <p:par>
                                <p:cTn id="16" presetID="4" presetClass="entr" presetSubtype="16" fill="hold" nodeType="withEffect">
                                  <p:stCondLst>
                                    <p:cond delay="0"/>
                                  </p:stCondLst>
                                  <p:childTnLst>
                                    <p:set>
                                      <p:cBhvr>
                                        <p:cTn id="17" dur="1" fill="hold">
                                          <p:stCondLst>
                                            <p:cond delay="0"/>
                                          </p:stCondLst>
                                        </p:cTn>
                                        <p:tgtEl>
                                          <p:spTgt spid="339974"/>
                                        </p:tgtEl>
                                        <p:attrNameLst>
                                          <p:attrName>style.visibility</p:attrName>
                                        </p:attrNameLst>
                                      </p:cBhvr>
                                      <p:to>
                                        <p:strVal val="visible"/>
                                      </p:to>
                                    </p:set>
                                    <p:animEffect transition="in" filter="box(in)">
                                      <p:cBhvr>
                                        <p:cTn id="18" dur="500"/>
                                        <p:tgtEl>
                                          <p:spTgt spid="339974"/>
                                        </p:tgtEl>
                                      </p:cBhvr>
                                    </p:animEffect>
                                  </p:childTnLst>
                                </p:cTn>
                              </p:par>
                              <p:par>
                                <p:cTn id="19" presetID="4" presetClass="entr" presetSubtype="16" fill="hold" nodeType="withEffect">
                                  <p:stCondLst>
                                    <p:cond delay="0"/>
                                  </p:stCondLst>
                                  <p:childTnLst>
                                    <p:set>
                                      <p:cBhvr>
                                        <p:cTn id="20" dur="1" fill="hold">
                                          <p:stCondLst>
                                            <p:cond delay="0"/>
                                          </p:stCondLst>
                                        </p:cTn>
                                        <p:tgtEl>
                                          <p:spTgt spid="339975"/>
                                        </p:tgtEl>
                                        <p:attrNameLst>
                                          <p:attrName>style.visibility</p:attrName>
                                        </p:attrNameLst>
                                      </p:cBhvr>
                                      <p:to>
                                        <p:strVal val="visible"/>
                                      </p:to>
                                    </p:set>
                                    <p:animEffect transition="in" filter="box(in)">
                                      <p:cBhvr>
                                        <p:cTn id="21" dur="500"/>
                                        <p:tgtEl>
                                          <p:spTgt spid="33997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39976"/>
                                        </p:tgtEl>
                                        <p:attrNameLst>
                                          <p:attrName>style.visibility</p:attrName>
                                        </p:attrNameLst>
                                      </p:cBhvr>
                                      <p:to>
                                        <p:strVal val="visible"/>
                                      </p:to>
                                    </p:set>
                                    <p:animEffect transition="in" filter="blinds(horizontal)">
                                      <p:cBhvr>
                                        <p:cTn id="26" dur="500"/>
                                        <p:tgtEl>
                                          <p:spTgt spid="339976"/>
                                        </p:tgtEl>
                                      </p:cBhvr>
                                    </p:animEffect>
                                  </p:childTnLst>
                                </p:cTn>
                              </p:par>
                              <p:par>
                                <p:cTn id="27" presetID="3" presetClass="entr" presetSubtype="10" fill="hold" nodeType="withEffect">
                                  <p:stCondLst>
                                    <p:cond delay="0"/>
                                  </p:stCondLst>
                                  <p:childTnLst>
                                    <p:set>
                                      <p:cBhvr>
                                        <p:cTn id="28" dur="1" fill="hold">
                                          <p:stCondLst>
                                            <p:cond delay="0"/>
                                          </p:stCondLst>
                                        </p:cTn>
                                        <p:tgtEl>
                                          <p:spTgt spid="339977"/>
                                        </p:tgtEl>
                                        <p:attrNameLst>
                                          <p:attrName>style.visibility</p:attrName>
                                        </p:attrNameLst>
                                      </p:cBhvr>
                                      <p:to>
                                        <p:strVal val="visible"/>
                                      </p:to>
                                    </p:set>
                                    <p:animEffect transition="in" filter="blinds(horizontal)">
                                      <p:cBhvr>
                                        <p:cTn id="29" dur="500"/>
                                        <p:tgtEl>
                                          <p:spTgt spid="3399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61950" y="619125"/>
            <a:ext cx="2743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A50021"/>
                </a:solidFill>
              </a:rPr>
              <a:t>4</a:t>
            </a:r>
            <a:r>
              <a:rPr lang="zh-CN" altLang="en-US">
                <a:solidFill>
                  <a:srgbClr val="A50021"/>
                </a:solidFill>
              </a:rPr>
              <a:t>、电感的模型</a:t>
            </a:r>
          </a:p>
        </p:txBody>
      </p:sp>
      <p:grpSp>
        <p:nvGrpSpPr>
          <p:cNvPr id="3" name="组合 2"/>
          <p:cNvGrpSpPr/>
          <p:nvPr/>
        </p:nvGrpSpPr>
        <p:grpSpPr>
          <a:xfrm>
            <a:off x="4805363" y="2122488"/>
            <a:ext cx="3805237" cy="2209800"/>
            <a:chOff x="4805363" y="2122488"/>
            <a:chExt cx="3805237" cy="2209800"/>
          </a:xfrm>
        </p:grpSpPr>
        <p:sp>
          <p:nvSpPr>
            <p:cNvPr id="52245" name="Line 27"/>
            <p:cNvSpPr>
              <a:spLocks noChangeShapeType="1"/>
            </p:cNvSpPr>
            <p:nvPr/>
          </p:nvSpPr>
          <p:spPr bwMode="auto">
            <a:xfrm flipV="1">
              <a:off x="5133975" y="3490913"/>
              <a:ext cx="0" cy="360362"/>
            </a:xfrm>
            <a:prstGeom prst="line">
              <a:avLst/>
            </a:prstGeom>
            <a:noFill/>
            <a:ln w="28575"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2246" name="Text Box 28"/>
            <p:cNvSpPr txBox="1">
              <a:spLocks noChangeArrowheads="1"/>
            </p:cNvSpPr>
            <p:nvPr/>
          </p:nvSpPr>
          <p:spPr bwMode="auto">
            <a:xfrm>
              <a:off x="5060950" y="3851275"/>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b="0">
                  <a:ea typeface="仿宋_GB2312" pitchFamily="49" charset="-122"/>
                  <a:sym typeface="Symbol" pitchFamily="18" charset="2"/>
                </a:rPr>
                <a:t>＋</a:t>
              </a:r>
            </a:p>
          </p:txBody>
        </p:sp>
        <p:graphicFrame>
          <p:nvGraphicFramePr>
            <p:cNvPr id="52247" name="Object 29"/>
            <p:cNvGraphicFramePr>
              <a:graphicFrameLocks noChangeAspect="1"/>
            </p:cNvGraphicFramePr>
            <p:nvPr>
              <p:extLst>
                <p:ext uri="{D42A27DB-BD31-4B8C-83A1-F6EECF244321}">
                  <p14:modId xmlns:p14="http://schemas.microsoft.com/office/powerpoint/2010/main" val="2597017935"/>
                </p:ext>
              </p:extLst>
            </p:nvPr>
          </p:nvGraphicFramePr>
          <p:xfrm>
            <a:off x="4805363" y="2455863"/>
            <a:ext cx="3805237" cy="1752600"/>
          </p:xfrm>
          <a:graphic>
            <a:graphicData uri="http://schemas.openxmlformats.org/presentationml/2006/ole">
              <mc:AlternateContent xmlns:mc="http://schemas.openxmlformats.org/markup-compatibility/2006">
                <mc:Choice xmlns:v="urn:schemas-microsoft-com:vml" Requires="v">
                  <p:oleObj spid="_x0000_s128020" name="Visio" r:id="rId4" imgW="971658" imgH="438150" progId="Visio.Drawing.11">
                    <p:embed/>
                  </p:oleObj>
                </mc:Choice>
                <mc:Fallback>
                  <p:oleObj name="Visio" r:id="rId4" imgW="971658" imgH="438150" progId="Visio.Drawing.11">
                    <p:embed/>
                    <p:pic>
                      <p:nvPicPr>
                        <p:cNvPr id="0" name=""/>
                        <p:cNvPicPr>
                          <a:picLocks noChangeAspect="1" noChangeArrowheads="1"/>
                        </p:cNvPicPr>
                        <p:nvPr/>
                      </p:nvPicPr>
                      <p:blipFill>
                        <a:blip r:embed="rId5"/>
                        <a:srcRect/>
                        <a:stretch>
                          <a:fillRect/>
                        </a:stretch>
                      </p:blipFill>
                      <p:spPr bwMode="auto">
                        <a:xfrm>
                          <a:off x="4805363" y="2455863"/>
                          <a:ext cx="3805237" cy="175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48" name="Text Box 30"/>
            <p:cNvSpPr txBox="1">
              <a:spLocks noChangeArrowheads="1"/>
            </p:cNvSpPr>
            <p:nvPr/>
          </p:nvSpPr>
          <p:spPr bwMode="auto">
            <a:xfrm>
              <a:off x="5853113" y="2122488"/>
              <a:ext cx="4651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sym typeface="Symbol" pitchFamily="18" charset="2"/>
                </a:rPr>
                <a:t>L</a:t>
              </a:r>
              <a:endParaRPr lang="en-US" altLang="zh-CN" b="0">
                <a:solidFill>
                  <a:srgbClr val="FFFF00"/>
                </a:solidFill>
                <a:ea typeface="仿宋_GB2312" pitchFamily="49" charset="-122"/>
                <a:sym typeface="Symbol" pitchFamily="18" charset="2"/>
              </a:endParaRPr>
            </a:p>
          </p:txBody>
        </p:sp>
        <p:sp>
          <p:nvSpPr>
            <p:cNvPr id="52249" name="Text Box 31"/>
            <p:cNvSpPr txBox="1">
              <a:spLocks noChangeArrowheads="1"/>
            </p:cNvSpPr>
            <p:nvPr/>
          </p:nvSpPr>
          <p:spPr bwMode="auto">
            <a:xfrm>
              <a:off x="7797800" y="3851275"/>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b="0">
                  <a:ea typeface="仿宋_GB2312" pitchFamily="49" charset="-122"/>
                  <a:sym typeface="Symbol" pitchFamily="18" charset="2"/>
                </a:rPr>
                <a:t>－</a:t>
              </a:r>
            </a:p>
          </p:txBody>
        </p:sp>
        <p:sp>
          <p:nvSpPr>
            <p:cNvPr id="52250" name="Text Box 32"/>
            <p:cNvSpPr txBox="1">
              <a:spLocks noChangeArrowheads="1"/>
            </p:cNvSpPr>
            <p:nvPr/>
          </p:nvSpPr>
          <p:spPr bwMode="auto">
            <a:xfrm>
              <a:off x="6429375" y="3875088"/>
              <a:ext cx="669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sym typeface="Symbol" pitchFamily="18" charset="2"/>
                </a:rPr>
                <a:t>v</a:t>
              </a:r>
              <a:r>
                <a:rPr lang="en-US" altLang="zh-CN" b="0">
                  <a:sym typeface="Symbol" pitchFamily="18" charset="2"/>
                </a:rPr>
                <a:t>(</a:t>
              </a:r>
              <a:r>
                <a:rPr lang="en-US" altLang="zh-CN" b="0" i="1">
                  <a:sym typeface="Symbol" pitchFamily="18" charset="2"/>
                </a:rPr>
                <a:t>t</a:t>
              </a:r>
              <a:r>
                <a:rPr lang="en-US" altLang="zh-CN" b="0">
                  <a:sym typeface="Symbol" pitchFamily="18" charset="2"/>
                </a:rPr>
                <a:t>)</a:t>
              </a:r>
            </a:p>
          </p:txBody>
        </p:sp>
        <p:sp>
          <p:nvSpPr>
            <p:cNvPr id="52251" name="Text Box 33"/>
            <p:cNvSpPr txBox="1">
              <a:spLocks noChangeArrowheads="1"/>
            </p:cNvSpPr>
            <p:nvPr/>
          </p:nvSpPr>
          <p:spPr bwMode="auto">
            <a:xfrm>
              <a:off x="7077075" y="2195513"/>
              <a:ext cx="57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ea typeface="仿宋_GB2312" pitchFamily="49" charset="-122"/>
                  <a:sym typeface="Symbol" pitchFamily="18" charset="2"/>
                </a:rPr>
                <a:t>R</a:t>
              </a:r>
              <a:endParaRPr lang="en-US" altLang="zh-CN" b="0">
                <a:solidFill>
                  <a:srgbClr val="FFFF00"/>
                </a:solidFill>
                <a:ea typeface="仿宋_GB2312" pitchFamily="49" charset="-122"/>
                <a:sym typeface="Symbol" pitchFamily="18" charset="2"/>
              </a:endParaRPr>
            </a:p>
          </p:txBody>
        </p:sp>
        <p:sp>
          <p:nvSpPr>
            <p:cNvPr id="52252" name="Text Box 34"/>
            <p:cNvSpPr txBox="1">
              <a:spLocks noChangeArrowheads="1"/>
            </p:cNvSpPr>
            <p:nvPr/>
          </p:nvSpPr>
          <p:spPr bwMode="auto">
            <a:xfrm>
              <a:off x="6069013" y="3562350"/>
              <a:ext cx="4651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sym typeface="Symbol" pitchFamily="18" charset="2"/>
                </a:rPr>
                <a:t>C</a:t>
              </a:r>
              <a:endParaRPr lang="en-US" altLang="zh-CN" b="0">
                <a:solidFill>
                  <a:srgbClr val="FFFF00"/>
                </a:solidFill>
                <a:ea typeface="仿宋_GB2312" pitchFamily="49" charset="-122"/>
                <a:sym typeface="Symbol" pitchFamily="18" charset="2"/>
              </a:endParaRPr>
            </a:p>
          </p:txBody>
        </p:sp>
      </p:grpSp>
      <p:sp>
        <p:nvSpPr>
          <p:cNvPr id="52253" name="Rectangle 35"/>
          <p:cNvSpPr>
            <a:spLocks noChangeArrowheads="1"/>
          </p:cNvSpPr>
          <p:nvPr/>
        </p:nvSpPr>
        <p:spPr bwMode="auto">
          <a:xfrm>
            <a:off x="5248275" y="4391025"/>
            <a:ext cx="2941638"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a:t>工作频率很高的情况</a:t>
            </a:r>
          </a:p>
        </p:txBody>
      </p:sp>
      <p:sp>
        <p:nvSpPr>
          <p:cNvPr id="52254" name="Rectangle 36"/>
          <p:cNvSpPr>
            <a:spLocks noChangeArrowheads="1"/>
          </p:cNvSpPr>
          <p:nvPr/>
        </p:nvSpPr>
        <p:spPr bwMode="auto">
          <a:xfrm>
            <a:off x="1851025" y="2849563"/>
            <a:ext cx="150495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a:t>理想电感</a:t>
            </a:r>
          </a:p>
        </p:txBody>
      </p:sp>
      <p:sp>
        <p:nvSpPr>
          <p:cNvPr id="52255" name="Rectangle 37"/>
          <p:cNvSpPr>
            <a:spLocks noChangeArrowheads="1"/>
          </p:cNvSpPr>
          <p:nvPr/>
        </p:nvSpPr>
        <p:spPr bwMode="auto">
          <a:xfrm>
            <a:off x="1808163" y="5694363"/>
            <a:ext cx="150495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a:t>考虑内阻</a:t>
            </a:r>
          </a:p>
        </p:txBody>
      </p:sp>
      <p:grpSp>
        <p:nvGrpSpPr>
          <p:cNvPr id="4" name="组合 3"/>
          <p:cNvGrpSpPr/>
          <p:nvPr/>
        </p:nvGrpSpPr>
        <p:grpSpPr>
          <a:xfrm>
            <a:off x="885825" y="4183063"/>
            <a:ext cx="3457575" cy="1196975"/>
            <a:chOff x="885825" y="4183063"/>
            <a:chExt cx="3457575" cy="1196975"/>
          </a:xfrm>
        </p:grpSpPr>
        <p:sp>
          <p:nvSpPr>
            <p:cNvPr id="52227" name="Text Box 6"/>
            <p:cNvSpPr txBox="1">
              <a:spLocks noChangeArrowheads="1"/>
            </p:cNvSpPr>
            <p:nvPr/>
          </p:nvSpPr>
          <p:spPr bwMode="auto">
            <a:xfrm>
              <a:off x="2457450" y="4184650"/>
              <a:ext cx="4651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sym typeface="Symbol" pitchFamily="18" charset="2"/>
                </a:rPr>
                <a:t>L</a:t>
              </a:r>
              <a:endParaRPr lang="en-US" altLang="zh-CN" b="0">
                <a:solidFill>
                  <a:srgbClr val="FFFF00"/>
                </a:solidFill>
                <a:ea typeface="仿宋_GB2312" pitchFamily="49" charset="-122"/>
                <a:sym typeface="Symbol" pitchFamily="18" charset="2"/>
              </a:endParaRPr>
            </a:p>
          </p:txBody>
        </p:sp>
        <p:sp>
          <p:nvSpPr>
            <p:cNvPr id="52228" name="Line 7"/>
            <p:cNvSpPr>
              <a:spLocks noChangeShapeType="1"/>
            </p:cNvSpPr>
            <p:nvPr/>
          </p:nvSpPr>
          <p:spPr bwMode="auto">
            <a:xfrm flipH="1" flipV="1">
              <a:off x="1317625" y="4808538"/>
              <a:ext cx="865188" cy="22225"/>
            </a:xfrm>
            <a:prstGeom prst="line">
              <a:avLst/>
            </a:prstGeom>
            <a:noFill/>
            <a:ln w="4445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29" name="Line 8"/>
            <p:cNvSpPr>
              <a:spLocks noChangeShapeType="1"/>
            </p:cNvSpPr>
            <p:nvPr/>
          </p:nvSpPr>
          <p:spPr bwMode="auto">
            <a:xfrm>
              <a:off x="3406775" y="4830763"/>
              <a:ext cx="647700" cy="0"/>
            </a:xfrm>
            <a:prstGeom prst="line">
              <a:avLst/>
            </a:prstGeom>
            <a:noFill/>
            <a:ln w="44450" cap="sq">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0" name="Oval 9"/>
            <p:cNvSpPr>
              <a:spLocks noChangeArrowheads="1"/>
            </p:cNvSpPr>
            <p:nvPr/>
          </p:nvSpPr>
          <p:spPr bwMode="auto">
            <a:xfrm>
              <a:off x="1173163" y="4756150"/>
              <a:ext cx="144462" cy="117475"/>
            </a:xfrm>
            <a:prstGeom prst="ellipse">
              <a:avLst/>
            </a:prstGeom>
            <a:solidFill>
              <a:srgbClr val="FF9900"/>
            </a:solidFill>
            <a:ln>
              <a:noFill/>
            </a:ln>
            <a:effectLst/>
            <a:extLs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2231" name="Oval 10"/>
            <p:cNvSpPr>
              <a:spLocks noChangeArrowheads="1"/>
            </p:cNvSpPr>
            <p:nvPr/>
          </p:nvSpPr>
          <p:spPr bwMode="auto">
            <a:xfrm>
              <a:off x="4054475" y="4757738"/>
              <a:ext cx="144463" cy="117475"/>
            </a:xfrm>
            <a:prstGeom prst="ellipse">
              <a:avLst/>
            </a:prstGeom>
            <a:solidFill>
              <a:srgbClr val="FF9900"/>
            </a:solidFill>
            <a:ln>
              <a:noFill/>
            </a:ln>
            <a:effectLst/>
            <a:extLs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2232" name="Text Box 11"/>
            <p:cNvSpPr txBox="1">
              <a:spLocks noChangeArrowheads="1"/>
            </p:cNvSpPr>
            <p:nvPr/>
          </p:nvSpPr>
          <p:spPr bwMode="auto">
            <a:xfrm>
              <a:off x="885825" y="4830763"/>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b="0">
                  <a:ea typeface="仿宋_GB2312" pitchFamily="49" charset="-122"/>
                  <a:sym typeface="Symbol" pitchFamily="18" charset="2"/>
                </a:rPr>
                <a:t>＋</a:t>
              </a:r>
            </a:p>
          </p:txBody>
        </p:sp>
        <p:sp>
          <p:nvSpPr>
            <p:cNvPr id="52233" name="Text Box 12"/>
            <p:cNvSpPr txBox="1">
              <a:spLocks noChangeArrowheads="1"/>
            </p:cNvSpPr>
            <p:nvPr/>
          </p:nvSpPr>
          <p:spPr bwMode="auto">
            <a:xfrm>
              <a:off x="3767138" y="4902200"/>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b="0">
                  <a:ea typeface="仿宋_GB2312" pitchFamily="49" charset="-122"/>
                  <a:sym typeface="Symbol" pitchFamily="18" charset="2"/>
                </a:rPr>
                <a:t>－</a:t>
              </a:r>
            </a:p>
          </p:txBody>
        </p:sp>
        <p:sp>
          <p:nvSpPr>
            <p:cNvPr id="52234" name="Text Box 13"/>
            <p:cNvSpPr txBox="1">
              <a:spLocks noChangeArrowheads="1"/>
            </p:cNvSpPr>
            <p:nvPr/>
          </p:nvSpPr>
          <p:spPr bwMode="auto">
            <a:xfrm>
              <a:off x="2254250" y="4922838"/>
              <a:ext cx="746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ea typeface="仿宋_GB2312" pitchFamily="49" charset="-122"/>
                  <a:sym typeface="Symbol" pitchFamily="18" charset="2"/>
                </a:rPr>
                <a:t>v</a:t>
              </a:r>
              <a:r>
                <a:rPr lang="en-US" altLang="zh-CN" b="0">
                  <a:ea typeface="仿宋_GB2312" pitchFamily="49" charset="-122"/>
                  <a:sym typeface="Symbol" pitchFamily="18" charset="2"/>
                </a:rPr>
                <a:t>(</a:t>
              </a:r>
              <a:r>
                <a:rPr lang="en-US" altLang="zh-CN" b="0" i="1">
                  <a:ea typeface="仿宋_GB2312" pitchFamily="49" charset="-122"/>
                  <a:sym typeface="Symbol" pitchFamily="18" charset="2"/>
                </a:rPr>
                <a:t>t</a:t>
              </a:r>
              <a:r>
                <a:rPr lang="en-US" altLang="zh-CN" b="0">
                  <a:ea typeface="仿宋_GB2312" pitchFamily="49" charset="-122"/>
                  <a:sym typeface="Symbol" pitchFamily="18" charset="2"/>
                </a:rPr>
                <a:t>)</a:t>
              </a:r>
              <a:endParaRPr lang="en-US" altLang="zh-CN" b="0">
                <a:solidFill>
                  <a:srgbClr val="FFFF00"/>
                </a:solidFill>
                <a:ea typeface="仿宋_GB2312" pitchFamily="49" charset="-122"/>
                <a:sym typeface="Symbol" pitchFamily="18" charset="2"/>
              </a:endParaRPr>
            </a:p>
          </p:txBody>
        </p:sp>
        <p:sp>
          <p:nvSpPr>
            <p:cNvPr id="52235" name="Text Box 14"/>
            <p:cNvSpPr txBox="1">
              <a:spLocks noChangeArrowheads="1"/>
            </p:cNvSpPr>
            <p:nvPr/>
          </p:nvSpPr>
          <p:spPr bwMode="auto">
            <a:xfrm>
              <a:off x="1598613" y="4248150"/>
              <a:ext cx="57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i="1">
                  <a:ea typeface="仿宋_GB2312" pitchFamily="49" charset="-122"/>
                  <a:sym typeface="Symbol" pitchFamily="18" charset="2"/>
                </a:rPr>
                <a:t>R</a:t>
              </a:r>
              <a:endParaRPr lang="en-US" altLang="zh-CN" b="0">
                <a:solidFill>
                  <a:srgbClr val="FFFF00"/>
                </a:solidFill>
                <a:ea typeface="仿宋_GB2312" pitchFamily="49" charset="-122"/>
                <a:sym typeface="Symbol" pitchFamily="18" charset="2"/>
              </a:endParaRPr>
            </a:p>
          </p:txBody>
        </p:sp>
        <p:sp>
          <p:nvSpPr>
            <p:cNvPr id="52236" name="Line 15"/>
            <p:cNvSpPr>
              <a:spLocks noChangeShapeType="1"/>
            </p:cNvSpPr>
            <p:nvPr/>
          </p:nvSpPr>
          <p:spPr bwMode="auto">
            <a:xfrm>
              <a:off x="1030288" y="4624388"/>
              <a:ext cx="504825" cy="0"/>
            </a:xfrm>
            <a:prstGeom prst="line">
              <a:avLst/>
            </a:prstGeom>
            <a:noFill/>
            <a:ln w="28575"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52237" name="Rectangle 16"/>
            <p:cNvSpPr>
              <a:spLocks noChangeArrowheads="1"/>
            </p:cNvSpPr>
            <p:nvPr/>
          </p:nvSpPr>
          <p:spPr bwMode="auto">
            <a:xfrm>
              <a:off x="1606550" y="4718956"/>
              <a:ext cx="574675" cy="215900"/>
            </a:xfrm>
            <a:prstGeom prst="rect">
              <a:avLst/>
            </a:prstGeom>
            <a:solidFill>
              <a:schemeClr val="bg1"/>
            </a:solidFill>
            <a:ln w="38100" cap="sq" algn="ctr">
              <a:solidFill>
                <a:srgbClr val="FF9933"/>
              </a:solid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aphicFrame>
          <p:nvGraphicFramePr>
            <p:cNvPr id="52238" name="Object 17"/>
            <p:cNvGraphicFramePr>
              <a:graphicFrameLocks noChangeAspect="1"/>
            </p:cNvGraphicFramePr>
            <p:nvPr>
              <p:extLst/>
            </p:nvPr>
          </p:nvGraphicFramePr>
          <p:xfrm>
            <a:off x="2182813" y="4614863"/>
            <a:ext cx="1296987" cy="363537"/>
          </p:xfrm>
          <a:graphic>
            <a:graphicData uri="http://schemas.openxmlformats.org/presentationml/2006/ole">
              <mc:AlternateContent xmlns:mc="http://schemas.openxmlformats.org/markup-compatibility/2006">
                <mc:Choice xmlns:v="urn:schemas-microsoft-com:vml" Requires="v">
                  <p:oleObj spid="_x0000_s128021" name="Visio" r:id="rId6" imgW="886592" imgH="116832" progId="Visio.Drawing.11">
                    <p:embed/>
                  </p:oleObj>
                </mc:Choice>
                <mc:Fallback>
                  <p:oleObj name="Visio" r:id="rId6" imgW="886592" imgH="116832"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23508" r="23584" b="-12411"/>
                        <a:stretch>
                          <a:fillRect/>
                        </a:stretch>
                      </p:blipFill>
                      <p:spPr bwMode="auto">
                        <a:xfrm>
                          <a:off x="2182813" y="4614863"/>
                          <a:ext cx="1296987"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56" name="Text Box 38"/>
            <p:cNvSpPr txBox="1">
              <a:spLocks noChangeArrowheads="1"/>
            </p:cNvSpPr>
            <p:nvPr/>
          </p:nvSpPr>
          <p:spPr bwMode="auto">
            <a:xfrm>
              <a:off x="987425" y="4183063"/>
              <a:ext cx="428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i</a:t>
              </a:r>
            </a:p>
          </p:txBody>
        </p:sp>
      </p:grpSp>
      <p:grpSp>
        <p:nvGrpSpPr>
          <p:cNvPr id="2" name="组合 1"/>
          <p:cNvGrpSpPr/>
          <p:nvPr/>
        </p:nvGrpSpPr>
        <p:grpSpPr>
          <a:xfrm>
            <a:off x="1116013" y="1443038"/>
            <a:ext cx="2952750" cy="1154112"/>
            <a:chOff x="1116013" y="1443038"/>
            <a:chExt cx="2952750" cy="1154112"/>
          </a:xfrm>
        </p:grpSpPr>
        <p:graphicFrame>
          <p:nvGraphicFramePr>
            <p:cNvPr id="52239" name="Object 19"/>
            <p:cNvGraphicFramePr>
              <a:graphicFrameLocks noChangeAspect="1"/>
            </p:cNvGraphicFramePr>
            <p:nvPr>
              <p:extLst/>
            </p:nvPr>
          </p:nvGraphicFramePr>
          <p:xfrm>
            <a:off x="1169988" y="1819275"/>
            <a:ext cx="2898775" cy="384175"/>
          </p:xfrm>
          <a:graphic>
            <a:graphicData uri="http://schemas.openxmlformats.org/presentationml/2006/ole">
              <mc:AlternateContent xmlns:mc="http://schemas.openxmlformats.org/markup-compatibility/2006">
                <mc:Choice xmlns:v="urn:schemas-microsoft-com:vml" Requires="v">
                  <p:oleObj spid="_x0000_s128022" name="Visio" r:id="rId8" imgW="886592" imgH="116832" progId="Visio.Drawing.11">
                    <p:embed/>
                  </p:oleObj>
                </mc:Choice>
                <mc:Fallback>
                  <p:oleObj name="Visio" r:id="rId8" imgW="886592" imgH="116832"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9988" y="1819275"/>
                          <a:ext cx="289877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40" name="Text Box 21"/>
            <p:cNvSpPr txBox="1">
              <a:spLocks noChangeArrowheads="1"/>
            </p:cNvSpPr>
            <p:nvPr/>
          </p:nvSpPr>
          <p:spPr bwMode="auto">
            <a:xfrm>
              <a:off x="1116013" y="2139950"/>
              <a:ext cx="450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a:sym typeface="Symbol" pitchFamily="18" charset="2"/>
                </a:rPr>
                <a:t>+</a:t>
              </a:r>
            </a:p>
          </p:txBody>
        </p:sp>
        <p:sp>
          <p:nvSpPr>
            <p:cNvPr id="52241" name="Text Box 22"/>
            <p:cNvSpPr txBox="1">
              <a:spLocks noChangeArrowheads="1"/>
            </p:cNvSpPr>
            <p:nvPr/>
          </p:nvSpPr>
          <p:spPr bwMode="auto">
            <a:xfrm>
              <a:off x="3614738" y="2139950"/>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b="0">
                  <a:latin typeface="Arial" charset="0"/>
                  <a:ea typeface="楷体_GB2312" pitchFamily="49" charset="-122"/>
                  <a:sym typeface="Symbol" pitchFamily="18" charset="2"/>
                </a:rPr>
                <a:t>－</a:t>
              </a:r>
            </a:p>
          </p:txBody>
        </p:sp>
        <p:sp>
          <p:nvSpPr>
            <p:cNvPr id="52242" name="Text Box 23"/>
            <p:cNvSpPr txBox="1">
              <a:spLocks noChangeArrowheads="1"/>
            </p:cNvSpPr>
            <p:nvPr/>
          </p:nvSpPr>
          <p:spPr bwMode="auto">
            <a:xfrm>
              <a:off x="2119313" y="2139950"/>
              <a:ext cx="7889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v </a:t>
              </a:r>
              <a:r>
                <a:rPr lang="en-US" altLang="zh-CN" b="0">
                  <a:ea typeface="仿宋_GB2312" pitchFamily="49" charset="-122"/>
                  <a:sym typeface="Symbol" pitchFamily="18" charset="2"/>
                </a:rPr>
                <a:t>(</a:t>
              </a:r>
              <a:r>
                <a:rPr lang="en-US" altLang="zh-CN" b="0" i="1">
                  <a:ea typeface="仿宋_GB2312" pitchFamily="49" charset="-122"/>
                  <a:sym typeface="Symbol" pitchFamily="18" charset="2"/>
                </a:rPr>
                <a:t>t</a:t>
              </a:r>
              <a:r>
                <a:rPr lang="en-US" altLang="zh-CN" b="0">
                  <a:ea typeface="仿宋_GB2312" pitchFamily="49" charset="-122"/>
                  <a:sym typeface="Symbol" pitchFamily="18" charset="2"/>
                </a:rPr>
                <a:t>)</a:t>
              </a:r>
            </a:p>
          </p:txBody>
        </p:sp>
        <p:sp>
          <p:nvSpPr>
            <p:cNvPr id="52243" name="Text Box 24"/>
            <p:cNvSpPr txBox="1">
              <a:spLocks noChangeArrowheads="1"/>
            </p:cNvSpPr>
            <p:nvPr/>
          </p:nvSpPr>
          <p:spPr bwMode="auto">
            <a:xfrm>
              <a:off x="1492250" y="1497013"/>
              <a:ext cx="428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i</a:t>
              </a:r>
            </a:p>
          </p:txBody>
        </p:sp>
        <p:sp>
          <p:nvSpPr>
            <p:cNvPr id="52244" name="Text Box 25"/>
            <p:cNvSpPr txBox="1">
              <a:spLocks noChangeArrowheads="1"/>
            </p:cNvSpPr>
            <p:nvPr/>
          </p:nvSpPr>
          <p:spPr bwMode="auto">
            <a:xfrm>
              <a:off x="2243138" y="1443038"/>
              <a:ext cx="592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L</a:t>
              </a:r>
            </a:p>
          </p:txBody>
        </p:sp>
        <p:sp>
          <p:nvSpPr>
            <p:cNvPr id="52257" name="Line 41"/>
            <p:cNvSpPr>
              <a:spLocks noChangeShapeType="1"/>
            </p:cNvSpPr>
            <p:nvPr/>
          </p:nvSpPr>
          <p:spPr bwMode="auto">
            <a:xfrm>
              <a:off x="1468438" y="1928813"/>
              <a:ext cx="504825" cy="0"/>
            </a:xfrm>
            <a:prstGeom prst="line">
              <a:avLst/>
            </a:prstGeom>
            <a:noFill/>
            <a:ln w="28575"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94545972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2254"/>
                                        </p:tgtEl>
                                        <p:attrNameLst>
                                          <p:attrName>style.visibility</p:attrName>
                                        </p:attrNameLst>
                                      </p:cBhvr>
                                      <p:to>
                                        <p:strVal val="visible"/>
                                      </p:to>
                                    </p:set>
                                    <p:animEffect transition="in" filter="barn(inVertical)">
                                      <p:cBhvr>
                                        <p:cTn id="7" dur="500"/>
                                        <p:tgtEl>
                                          <p:spTgt spid="52254"/>
                                        </p:tgtEl>
                                      </p:cBhvr>
                                    </p:animEffect>
                                  </p:childTnLst>
                                </p:cTn>
                              </p:par>
                              <p:par>
                                <p:cTn id="8" presetID="16" presetClass="entr" presetSubtype="21"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inVertic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2255"/>
                                        </p:tgtEl>
                                        <p:attrNameLst>
                                          <p:attrName>style.visibility</p:attrName>
                                        </p:attrNameLst>
                                      </p:cBhvr>
                                      <p:to>
                                        <p:strVal val="visible"/>
                                      </p:to>
                                    </p:set>
                                    <p:animEffect transition="in" filter="barn(inVertical)">
                                      <p:cBhvr>
                                        <p:cTn id="15" dur="500"/>
                                        <p:tgtEl>
                                          <p:spTgt spid="52255"/>
                                        </p:tgtEl>
                                      </p:cBhvr>
                                    </p:animEffect>
                                  </p:childTnLst>
                                </p:cTn>
                              </p:par>
                              <p:par>
                                <p:cTn id="16" presetID="16" presetClass="entr" presetSubtype="21"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arn(inVertical)">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arn(inVertical)">
                                      <p:cBhvr>
                                        <p:cTn id="23" dur="500"/>
                                        <p:tgtEl>
                                          <p:spTgt spid="3"/>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52253"/>
                                        </p:tgtEl>
                                        <p:attrNameLst>
                                          <p:attrName>style.visibility</p:attrName>
                                        </p:attrNameLst>
                                      </p:cBhvr>
                                      <p:to>
                                        <p:strVal val="visible"/>
                                      </p:to>
                                    </p:set>
                                    <p:animEffect transition="in" filter="barn(inVertical)">
                                      <p:cBhvr>
                                        <p:cTn id="26" dur="500"/>
                                        <p:tgtEl>
                                          <p:spTgt spid="52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53" grpId="0"/>
      <p:bldP spid="52254" grpId="0"/>
      <p:bldP spid="5225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3419475" y="2192338"/>
            <a:ext cx="5472113" cy="1081087"/>
          </a:xfrm>
          <a:prstGeom prst="rect">
            <a:avLst/>
          </a:prstGeom>
          <a:noFill/>
          <a:ln>
            <a:noFill/>
          </a:ln>
          <a:effectLst/>
          <a:extLst>
            <a:ext uri="{909E8E84-426E-40DD-AFC4-6F175D3DCCD1}">
              <a14:hiddenFill xmlns:a14="http://schemas.microsoft.com/office/drawing/2010/main">
                <a:solidFill>
                  <a:srgbClr val="FF0000">
                    <a:alpha val="50195"/>
                  </a:srgbClr>
                </a:solidFill>
              </a14:hiddenFill>
            </a:ext>
            <a:ext uri="{91240B29-F687-4F45-9708-019B960494DF}">
              <a14:hiddenLine xmlns:a14="http://schemas.microsoft.com/office/drawing/2010/main" w="12700" cap="rnd">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476500" indent="-24765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20000"/>
              </a:lnSpc>
            </a:pPr>
            <a:endParaRPr lang="en-US" altLang="zh-CN">
              <a:solidFill>
                <a:srgbClr val="FFFF00"/>
              </a:solidFill>
              <a:latin typeface="楷体_GB2312" pitchFamily="49" charset="-122"/>
              <a:ea typeface="楷体_GB2312" pitchFamily="49" charset="-122"/>
            </a:endParaRPr>
          </a:p>
          <a:p>
            <a:pPr>
              <a:lnSpc>
                <a:spcPct val="120000"/>
              </a:lnSpc>
            </a:pPr>
            <a:endParaRPr lang="en-US" altLang="zh-CN">
              <a:solidFill>
                <a:srgbClr val="FFFF00"/>
              </a:solidFill>
              <a:latin typeface="楷体_GB2312" pitchFamily="49" charset="-122"/>
              <a:ea typeface="楷体_GB2312" pitchFamily="49" charset="-122"/>
            </a:endParaRPr>
          </a:p>
        </p:txBody>
      </p:sp>
      <p:sp>
        <p:nvSpPr>
          <p:cNvPr id="397315" name="Text Box 3"/>
          <p:cNvSpPr txBox="1">
            <a:spLocks noChangeArrowheads="1"/>
          </p:cNvSpPr>
          <p:nvPr/>
        </p:nvSpPr>
        <p:spPr bwMode="auto">
          <a:xfrm>
            <a:off x="1042988" y="3122613"/>
            <a:ext cx="2087562" cy="576262"/>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lnSpc>
                <a:spcPct val="120000"/>
              </a:lnSpc>
              <a:spcBef>
                <a:spcPct val="50000"/>
              </a:spcBef>
              <a:defRPr/>
            </a:pPr>
            <a:r>
              <a:rPr lang="en-US" altLang="zh-CN" dirty="0">
                <a:latin typeface="+mn-lt"/>
                <a:ea typeface="楷体_GB2312" pitchFamily="49" charset="-122"/>
              </a:rPr>
              <a:t> 2</a:t>
            </a:r>
            <a:r>
              <a:rPr lang="zh-CN" altLang="en-US" dirty="0">
                <a:latin typeface="+mn-lt"/>
                <a:ea typeface="楷体_GB2312" pitchFamily="49" charset="-122"/>
              </a:rPr>
              <a:t>、</a:t>
            </a:r>
            <a:r>
              <a:rPr lang="zh-CN" altLang="en-US" dirty="0">
                <a:latin typeface="楷体_GB2312" pitchFamily="49" charset="-122"/>
                <a:ea typeface="楷体_GB2312" pitchFamily="49" charset="-122"/>
              </a:rPr>
              <a:t>电路符号</a:t>
            </a:r>
          </a:p>
        </p:txBody>
      </p:sp>
      <p:sp>
        <p:nvSpPr>
          <p:cNvPr id="397317" name="Text Box 5"/>
          <p:cNvSpPr txBox="1">
            <a:spLocks noChangeArrowheads="1"/>
          </p:cNvSpPr>
          <p:nvPr/>
        </p:nvSpPr>
        <p:spPr bwMode="auto">
          <a:xfrm>
            <a:off x="1042988" y="2120900"/>
            <a:ext cx="1368425" cy="461963"/>
          </a:xfrm>
          <a:prstGeom prst="rect">
            <a:avLst/>
          </a:prstGeom>
          <a:noFill/>
          <a:ln w="28575"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Clr>
                <a:schemeClr val="tx1"/>
              </a:buClr>
              <a:defRPr/>
            </a:pPr>
            <a:r>
              <a:rPr lang="en-US" altLang="zh-CN" dirty="0">
                <a:latin typeface="+mn-lt"/>
                <a:ea typeface="楷体_GB2312" pitchFamily="49" charset="-122"/>
                <a:sym typeface="Symbol" pitchFamily="18" charset="2"/>
              </a:rPr>
              <a:t>1</a:t>
            </a:r>
            <a:r>
              <a:rPr lang="zh-CN" altLang="en-US" dirty="0">
                <a:latin typeface="+mn-lt"/>
                <a:ea typeface="楷体_GB2312" pitchFamily="49" charset="-122"/>
                <a:sym typeface="Symbol" pitchFamily="18" charset="2"/>
              </a:rPr>
              <a:t>、</a:t>
            </a:r>
            <a:r>
              <a:rPr lang="zh-CN" altLang="en-US" dirty="0">
                <a:latin typeface="楷体_GB2312" pitchFamily="49" charset="-122"/>
                <a:ea typeface="楷体_GB2312" pitchFamily="49" charset="-122"/>
                <a:sym typeface="Symbol" pitchFamily="18" charset="2"/>
              </a:rPr>
              <a:t>定义</a:t>
            </a:r>
          </a:p>
        </p:txBody>
      </p:sp>
      <p:sp>
        <p:nvSpPr>
          <p:cNvPr id="55301" name="AutoShape 6"/>
          <p:cNvSpPr>
            <a:spLocks noChangeArrowheads="1"/>
          </p:cNvSpPr>
          <p:nvPr/>
        </p:nvSpPr>
        <p:spPr bwMode="auto">
          <a:xfrm>
            <a:off x="2627313" y="2336800"/>
            <a:ext cx="719137" cy="144463"/>
          </a:xfrm>
          <a:prstGeom prst="rightArrow">
            <a:avLst>
              <a:gd name="adj1" fmla="val 50000"/>
              <a:gd name="adj2" fmla="val 124450"/>
            </a:avLst>
          </a:prstGeom>
          <a:solidFill>
            <a:schemeClr val="hlink"/>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5302" name="Text Box 7"/>
          <p:cNvSpPr txBox="1">
            <a:spLocks noChangeArrowheads="1"/>
          </p:cNvSpPr>
          <p:nvPr/>
        </p:nvSpPr>
        <p:spPr bwMode="auto">
          <a:xfrm>
            <a:off x="4100513" y="4097338"/>
            <a:ext cx="322262" cy="457200"/>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a:sym typeface="Symbol" pitchFamily="18" charset="2"/>
              </a:rPr>
              <a:t>+</a:t>
            </a:r>
          </a:p>
        </p:txBody>
      </p:sp>
      <p:sp>
        <p:nvSpPr>
          <p:cNvPr id="55303" name="Text Box 8"/>
          <p:cNvSpPr txBox="1">
            <a:spLocks noChangeArrowheads="1"/>
          </p:cNvSpPr>
          <p:nvPr/>
        </p:nvSpPr>
        <p:spPr bwMode="auto">
          <a:xfrm>
            <a:off x="5197475" y="3925888"/>
            <a:ext cx="323850" cy="457200"/>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a:sym typeface="Symbol" pitchFamily="18" charset="2"/>
              </a:rPr>
              <a:t>_</a:t>
            </a:r>
            <a:endParaRPr lang="en-US" altLang="zh-CN" b="0">
              <a:ea typeface="仿宋_GB2312" pitchFamily="49" charset="-122"/>
              <a:sym typeface="Symbol" pitchFamily="18" charset="2"/>
            </a:endParaRPr>
          </a:p>
        </p:txBody>
      </p:sp>
      <p:sp>
        <p:nvSpPr>
          <p:cNvPr id="55304" name="AutoShape 9"/>
          <p:cNvSpPr>
            <a:spLocks noChangeArrowheads="1"/>
          </p:cNvSpPr>
          <p:nvPr/>
        </p:nvSpPr>
        <p:spPr bwMode="auto">
          <a:xfrm>
            <a:off x="3579813" y="3741738"/>
            <a:ext cx="809625" cy="107950"/>
          </a:xfrm>
          <a:prstGeom prst="leftArrow">
            <a:avLst>
              <a:gd name="adj1" fmla="val 50000"/>
              <a:gd name="adj2" fmla="val 187500"/>
            </a:avLst>
          </a:prstGeom>
          <a:solidFill>
            <a:srgbClr val="00CC00"/>
          </a:solidFill>
          <a:ln>
            <a:noFill/>
          </a:ln>
          <a:effectLst/>
          <a:extLs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5305" name="Oval 10"/>
          <p:cNvSpPr>
            <a:spLocks noChangeArrowheads="1"/>
          </p:cNvSpPr>
          <p:nvPr/>
        </p:nvSpPr>
        <p:spPr bwMode="auto">
          <a:xfrm>
            <a:off x="4475163" y="3697288"/>
            <a:ext cx="650875" cy="638175"/>
          </a:xfrm>
          <a:prstGeom prst="ellipse">
            <a:avLst/>
          </a:prstGeom>
          <a:solidFill>
            <a:srgbClr val="00CC00"/>
          </a:solidFill>
          <a:ln w="508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5306" name="Line 11"/>
          <p:cNvSpPr>
            <a:spLocks noChangeShapeType="1"/>
          </p:cNvSpPr>
          <p:nvPr/>
        </p:nvSpPr>
        <p:spPr bwMode="auto">
          <a:xfrm rot="5400000">
            <a:off x="4896644" y="2818607"/>
            <a:ext cx="0" cy="2436812"/>
          </a:xfrm>
          <a:prstGeom prst="line">
            <a:avLst/>
          </a:prstGeom>
          <a:noFill/>
          <a:ln w="38100">
            <a:solidFill>
              <a:srgbClr val="FF99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307" name="Rectangle 12"/>
          <p:cNvSpPr>
            <a:spLocks noChangeArrowheads="1"/>
          </p:cNvSpPr>
          <p:nvPr/>
        </p:nvSpPr>
        <p:spPr bwMode="auto">
          <a:xfrm>
            <a:off x="3419475" y="2029678"/>
            <a:ext cx="5545139" cy="795667"/>
          </a:xfrm>
          <a:prstGeom prst="rect">
            <a:avLst/>
          </a:prstGeom>
          <a:noFill/>
          <a:ln>
            <a:noFill/>
          </a:ln>
          <a:effectLst>
            <a:prstShdw prst="shdw17" dist="17961" dir="2700000">
              <a:schemeClr val="bg2"/>
            </a:prstShdw>
          </a:effectLs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lnSpc>
                <a:spcPct val="120000"/>
              </a:lnSpc>
            </a:pPr>
            <a:r>
              <a:rPr lang="zh-CN" altLang="en-US" sz="2000" dirty="0">
                <a:latin typeface="Arial" charset="0"/>
                <a:ea typeface="楷体_GB2312" pitchFamily="49" charset="-122"/>
              </a:rPr>
              <a:t>其两端电压总能保持定值或一定的时间函数，其值与流过它的电流 </a:t>
            </a:r>
            <a:r>
              <a:rPr lang="en-US" altLang="zh-CN" sz="2000" b="0" i="1" dirty="0" err="1">
                <a:ea typeface="楷体_GB2312" pitchFamily="49" charset="-122"/>
              </a:rPr>
              <a:t>i</a:t>
            </a:r>
            <a:r>
              <a:rPr lang="en-US" altLang="zh-CN" sz="2000" b="0" dirty="0">
                <a:ea typeface="楷体_GB2312" pitchFamily="49" charset="-122"/>
              </a:rPr>
              <a:t> </a:t>
            </a:r>
            <a:r>
              <a:rPr lang="zh-CN" altLang="en-US" sz="2000" dirty="0">
                <a:latin typeface="Arial" charset="0"/>
                <a:ea typeface="楷体_GB2312" pitchFamily="49" charset="-122"/>
              </a:rPr>
              <a:t>无关的元件叫理想电压源。</a:t>
            </a:r>
          </a:p>
        </p:txBody>
      </p:sp>
      <p:sp>
        <p:nvSpPr>
          <p:cNvPr id="55308" name="Line 14"/>
          <p:cNvSpPr>
            <a:spLocks noChangeShapeType="1"/>
          </p:cNvSpPr>
          <p:nvPr/>
        </p:nvSpPr>
        <p:spPr bwMode="auto">
          <a:xfrm rot="5400000" flipH="1" flipV="1">
            <a:off x="7096919" y="4093369"/>
            <a:ext cx="1352550" cy="1588"/>
          </a:xfrm>
          <a:prstGeom prst="line">
            <a:avLst/>
          </a:prstGeom>
          <a:noFill/>
          <a:ln w="38100">
            <a:solidFill>
              <a:srgbClr val="FF99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309" name="Line 15"/>
          <p:cNvSpPr>
            <a:spLocks noChangeShapeType="1"/>
          </p:cNvSpPr>
          <p:nvPr/>
        </p:nvSpPr>
        <p:spPr bwMode="auto">
          <a:xfrm>
            <a:off x="7524750" y="4010025"/>
            <a:ext cx="495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0" name="Line 16"/>
          <p:cNvSpPr>
            <a:spLocks noChangeShapeType="1"/>
          </p:cNvSpPr>
          <p:nvPr/>
        </p:nvSpPr>
        <p:spPr bwMode="auto">
          <a:xfrm>
            <a:off x="7629525" y="4124325"/>
            <a:ext cx="2857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1" name="Rectangle 17"/>
          <p:cNvSpPr>
            <a:spLocks noChangeArrowheads="1"/>
          </p:cNvSpPr>
          <p:nvPr/>
        </p:nvSpPr>
        <p:spPr bwMode="auto">
          <a:xfrm>
            <a:off x="7296150" y="4029075"/>
            <a:ext cx="971550" cy="889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5312" name="Text Box 18"/>
          <p:cNvSpPr txBox="1">
            <a:spLocks noChangeArrowheads="1"/>
          </p:cNvSpPr>
          <p:nvPr/>
        </p:nvSpPr>
        <p:spPr bwMode="auto">
          <a:xfrm>
            <a:off x="7319963" y="3573463"/>
            <a:ext cx="322262" cy="457200"/>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a:sym typeface="Symbol" pitchFamily="18" charset="2"/>
              </a:rPr>
              <a:t>+</a:t>
            </a:r>
          </a:p>
        </p:txBody>
      </p:sp>
      <p:sp>
        <p:nvSpPr>
          <p:cNvPr id="55313" name="Text Box 19"/>
          <p:cNvSpPr txBox="1">
            <a:spLocks noChangeArrowheads="1"/>
          </p:cNvSpPr>
          <p:nvPr/>
        </p:nvSpPr>
        <p:spPr bwMode="auto">
          <a:xfrm>
            <a:off x="7331075" y="3916363"/>
            <a:ext cx="323850" cy="457200"/>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b="0">
                <a:sym typeface="Symbol" pitchFamily="18" charset="2"/>
              </a:rPr>
              <a:t>_</a:t>
            </a:r>
            <a:endParaRPr lang="en-US" altLang="zh-CN" b="0">
              <a:ea typeface="仿宋_GB2312" pitchFamily="49" charset="-122"/>
              <a:sym typeface="Symbol" pitchFamily="18" charset="2"/>
            </a:endParaRPr>
          </a:p>
        </p:txBody>
      </p:sp>
      <p:sp>
        <p:nvSpPr>
          <p:cNvPr id="55314" name="Text Box 20"/>
          <p:cNvSpPr txBox="1">
            <a:spLocks noChangeArrowheads="1"/>
          </p:cNvSpPr>
          <p:nvPr/>
        </p:nvSpPr>
        <p:spPr bwMode="auto">
          <a:xfrm>
            <a:off x="7153275" y="6348413"/>
            <a:ext cx="1335088" cy="36671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sz="1800"/>
              <a:t>直流电压源</a:t>
            </a:r>
          </a:p>
        </p:txBody>
      </p:sp>
      <p:sp>
        <p:nvSpPr>
          <p:cNvPr id="55315" name="Text Box 21"/>
          <p:cNvSpPr txBox="1">
            <a:spLocks noChangeArrowheads="1"/>
          </p:cNvSpPr>
          <p:nvPr/>
        </p:nvSpPr>
        <p:spPr bwMode="auto">
          <a:xfrm>
            <a:off x="4067175" y="6305550"/>
            <a:ext cx="1335088" cy="36671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sz="1800"/>
              <a:t>一般电压源</a:t>
            </a:r>
          </a:p>
        </p:txBody>
      </p:sp>
      <p:sp>
        <p:nvSpPr>
          <p:cNvPr id="55316" name="Text Box 22"/>
          <p:cNvSpPr txBox="1">
            <a:spLocks noChangeArrowheads="1"/>
          </p:cNvSpPr>
          <p:nvPr/>
        </p:nvSpPr>
        <p:spPr bwMode="auto">
          <a:xfrm>
            <a:off x="3959225" y="3319463"/>
            <a:ext cx="254000"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sz="2000" i="1"/>
              <a:t>i</a:t>
            </a:r>
          </a:p>
        </p:txBody>
      </p:sp>
      <p:sp>
        <p:nvSpPr>
          <p:cNvPr id="55317" name="AutoShape 23"/>
          <p:cNvSpPr>
            <a:spLocks noChangeArrowheads="1"/>
          </p:cNvSpPr>
          <p:nvPr/>
        </p:nvSpPr>
        <p:spPr bwMode="auto">
          <a:xfrm rot="5400000">
            <a:off x="7789862" y="4017963"/>
            <a:ext cx="809625" cy="107950"/>
          </a:xfrm>
          <a:prstGeom prst="leftArrow">
            <a:avLst>
              <a:gd name="adj1" fmla="val 50000"/>
              <a:gd name="adj2" fmla="val 187500"/>
            </a:avLst>
          </a:prstGeom>
          <a:solidFill>
            <a:srgbClr val="00CC00"/>
          </a:solidFill>
          <a:ln>
            <a:noFill/>
          </a:ln>
          <a:effectLst/>
          <a:extLs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5318" name="Text Box 24"/>
          <p:cNvSpPr txBox="1">
            <a:spLocks noChangeArrowheads="1"/>
          </p:cNvSpPr>
          <p:nvPr/>
        </p:nvSpPr>
        <p:spPr bwMode="auto">
          <a:xfrm>
            <a:off x="8035925" y="3319463"/>
            <a:ext cx="254000"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sz="2000" i="1"/>
              <a:t>i</a:t>
            </a:r>
          </a:p>
        </p:txBody>
      </p:sp>
      <p:sp>
        <p:nvSpPr>
          <p:cNvPr id="55319" name="Text Box 25"/>
          <p:cNvSpPr txBox="1">
            <a:spLocks noChangeArrowheads="1"/>
          </p:cNvSpPr>
          <p:nvPr/>
        </p:nvSpPr>
        <p:spPr bwMode="auto">
          <a:xfrm>
            <a:off x="4451350" y="4443413"/>
            <a:ext cx="627063"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sz="2000" i="1"/>
              <a:t>v</a:t>
            </a:r>
            <a:r>
              <a:rPr lang="en-US" altLang="zh-CN" sz="2000" i="1" baseline="-25000"/>
              <a:t>S</a:t>
            </a:r>
            <a:r>
              <a:rPr lang="en-US" altLang="zh-CN" sz="2000"/>
              <a:t>(</a:t>
            </a:r>
            <a:r>
              <a:rPr lang="en-US" altLang="zh-CN" sz="2000" i="1"/>
              <a:t>t</a:t>
            </a:r>
            <a:r>
              <a:rPr lang="en-US" altLang="zh-CN" sz="2000"/>
              <a:t>)</a:t>
            </a:r>
          </a:p>
        </p:txBody>
      </p:sp>
      <p:sp>
        <p:nvSpPr>
          <p:cNvPr id="55320" name="Text Box 26"/>
          <p:cNvSpPr txBox="1">
            <a:spLocks noChangeArrowheads="1"/>
          </p:cNvSpPr>
          <p:nvPr/>
        </p:nvSpPr>
        <p:spPr bwMode="auto">
          <a:xfrm>
            <a:off x="6959600" y="3881438"/>
            <a:ext cx="446088"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sz="2000" i="1"/>
              <a:t>V</a:t>
            </a:r>
            <a:r>
              <a:rPr lang="en-US" altLang="zh-CN" sz="2000" i="1" baseline="-25000"/>
              <a:t>S</a:t>
            </a:r>
            <a:endParaRPr lang="en-US" altLang="zh-CN" sz="2000"/>
          </a:p>
        </p:txBody>
      </p:sp>
      <p:graphicFrame>
        <p:nvGraphicFramePr>
          <p:cNvPr id="55321" name="Object 27"/>
          <p:cNvGraphicFramePr>
            <a:graphicFrameLocks noChangeAspect="1"/>
          </p:cNvGraphicFramePr>
          <p:nvPr/>
        </p:nvGraphicFramePr>
        <p:xfrm>
          <a:off x="7429500" y="5013325"/>
          <a:ext cx="693738" cy="1244600"/>
        </p:xfrm>
        <a:graphic>
          <a:graphicData uri="http://schemas.openxmlformats.org/presentationml/2006/ole">
            <mc:AlternateContent xmlns:mc="http://schemas.openxmlformats.org/markup-compatibility/2006">
              <mc:Choice xmlns:v="urn:schemas-microsoft-com:vml" Requires="v">
                <p:oleObj spid="_x0000_s129038" name="Visio" r:id="rId3" imgW="325977" imgH="583857" progId="Visio.Drawing.11">
                  <p:embed/>
                </p:oleObj>
              </mc:Choice>
              <mc:Fallback>
                <p:oleObj name="Visio" r:id="rId3" imgW="325977" imgH="583857"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9500" y="5013325"/>
                        <a:ext cx="693738" cy="12446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2" name="Object 28"/>
          <p:cNvGraphicFramePr>
            <a:graphicFrameLocks noChangeAspect="1"/>
          </p:cNvGraphicFramePr>
          <p:nvPr/>
        </p:nvGraphicFramePr>
        <p:xfrm>
          <a:off x="4467225" y="5051425"/>
          <a:ext cx="704850" cy="1265238"/>
        </p:xfrm>
        <a:graphic>
          <a:graphicData uri="http://schemas.openxmlformats.org/presentationml/2006/ole">
            <mc:AlternateContent xmlns:mc="http://schemas.openxmlformats.org/markup-compatibility/2006">
              <mc:Choice xmlns:v="urn:schemas-microsoft-com:vml" Requires="v">
                <p:oleObj spid="_x0000_s129039" name="Visio" r:id="rId5" imgW="325977" imgH="583857" progId="Visio.Drawing.11">
                  <p:embed/>
                </p:oleObj>
              </mc:Choice>
              <mc:Fallback>
                <p:oleObj name="Visio" r:id="rId5" imgW="325977" imgH="583857"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7225" y="5051425"/>
                        <a:ext cx="704850" cy="126523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23" name="Text Box 29"/>
          <p:cNvSpPr txBox="1">
            <a:spLocks noChangeArrowheads="1"/>
          </p:cNvSpPr>
          <p:nvPr/>
        </p:nvSpPr>
        <p:spPr bwMode="auto">
          <a:xfrm>
            <a:off x="6038850" y="4699000"/>
            <a:ext cx="641350" cy="457200"/>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latin typeface="楷体_GB2312" pitchFamily="49" charset="-122"/>
                <a:ea typeface="楷体_GB2312" pitchFamily="49" charset="-122"/>
                <a:sym typeface="Symbol" pitchFamily="18" charset="2"/>
              </a:rPr>
              <a:t>或</a:t>
            </a:r>
          </a:p>
        </p:txBody>
      </p:sp>
      <p:sp>
        <p:nvSpPr>
          <p:cNvPr id="55324" name="Text Box 31"/>
          <p:cNvSpPr txBox="1">
            <a:spLocks noChangeArrowheads="1"/>
          </p:cNvSpPr>
          <p:nvPr/>
        </p:nvSpPr>
        <p:spPr bwMode="auto">
          <a:xfrm>
            <a:off x="541338" y="1501775"/>
            <a:ext cx="4979987"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buFont typeface="Wingdings" pitchFamily="2" charset="2"/>
              <a:buChar char="l"/>
            </a:pPr>
            <a:r>
              <a:rPr lang="zh-CN" altLang="zh-CN" dirty="0">
                <a:solidFill>
                  <a:srgbClr val="990033"/>
                </a:solidFill>
              </a:rPr>
              <a:t>电压源</a:t>
            </a:r>
            <a:r>
              <a:rPr lang="zh-CN" altLang="en-US" dirty="0">
                <a:solidFill>
                  <a:srgbClr val="990033"/>
                </a:solidFill>
              </a:rPr>
              <a:t>（</a:t>
            </a:r>
            <a:r>
              <a:rPr lang="en-US" altLang="zh-CN" dirty="0">
                <a:solidFill>
                  <a:srgbClr val="990033"/>
                </a:solidFill>
              </a:rPr>
              <a:t>voltage </a:t>
            </a:r>
            <a:r>
              <a:rPr lang="en-US" altLang="zh-CN" dirty="0" smtClean="0">
                <a:solidFill>
                  <a:srgbClr val="990033"/>
                </a:solidFill>
              </a:rPr>
              <a:t>source</a:t>
            </a:r>
            <a:r>
              <a:rPr lang="zh-CN" altLang="en-US" dirty="0" smtClean="0">
                <a:solidFill>
                  <a:srgbClr val="990033"/>
                </a:solidFill>
              </a:rPr>
              <a:t>）</a:t>
            </a:r>
            <a:endParaRPr lang="zh-CN" altLang="en-US" dirty="0">
              <a:solidFill>
                <a:srgbClr val="990033"/>
              </a:solidFill>
            </a:endParaRPr>
          </a:p>
        </p:txBody>
      </p:sp>
      <p:sp>
        <p:nvSpPr>
          <p:cNvPr id="55325" name="Text Box 32"/>
          <p:cNvSpPr txBox="1">
            <a:spLocks noChangeArrowheads="1"/>
          </p:cNvSpPr>
          <p:nvPr/>
        </p:nvSpPr>
        <p:spPr bwMode="auto">
          <a:xfrm>
            <a:off x="306388" y="995363"/>
            <a:ext cx="5532437"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dirty="0" smtClean="0">
                <a:solidFill>
                  <a:srgbClr val="990033"/>
                </a:solidFill>
              </a:rPr>
              <a:t>一、</a:t>
            </a:r>
            <a:r>
              <a:rPr lang="zh-CN" altLang="en-US" dirty="0">
                <a:solidFill>
                  <a:srgbClr val="990033"/>
                </a:solidFill>
              </a:rPr>
              <a:t>独立电源（</a:t>
            </a:r>
            <a:r>
              <a:rPr lang="en-US" altLang="zh-CN" dirty="0">
                <a:solidFill>
                  <a:srgbClr val="990033"/>
                </a:solidFill>
              </a:rPr>
              <a:t> independent </a:t>
            </a:r>
            <a:r>
              <a:rPr lang="en-US" altLang="zh-CN" dirty="0" smtClean="0">
                <a:solidFill>
                  <a:srgbClr val="990033"/>
                </a:solidFill>
              </a:rPr>
              <a:t>source</a:t>
            </a:r>
            <a:r>
              <a:rPr lang="zh-CN" altLang="en-US" dirty="0" smtClean="0">
                <a:solidFill>
                  <a:srgbClr val="990033"/>
                </a:solidFill>
              </a:rPr>
              <a:t>）</a:t>
            </a:r>
            <a:endParaRPr lang="zh-CN" altLang="en-US" dirty="0">
              <a:solidFill>
                <a:srgbClr val="990033"/>
              </a:solidFill>
            </a:endParaRPr>
          </a:p>
        </p:txBody>
      </p:sp>
      <p:sp>
        <p:nvSpPr>
          <p:cNvPr id="31" name="Text Box 2"/>
          <p:cNvSpPr txBox="1">
            <a:spLocks noChangeArrowheads="1"/>
          </p:cNvSpPr>
          <p:nvPr/>
        </p:nvSpPr>
        <p:spPr bwMode="auto">
          <a:xfrm>
            <a:off x="369888" y="490538"/>
            <a:ext cx="7734300"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smtClean="0">
                <a:solidFill>
                  <a:srgbClr val="990033"/>
                </a:solidFill>
              </a:rPr>
              <a:t>1.3.2 </a:t>
            </a:r>
            <a:r>
              <a:rPr lang="zh-CN" altLang="en-US" dirty="0" smtClean="0">
                <a:solidFill>
                  <a:srgbClr val="990033"/>
                </a:solidFill>
              </a:rPr>
              <a:t>独立</a:t>
            </a:r>
            <a:r>
              <a:rPr lang="zh-CN" altLang="en-US" dirty="0">
                <a:solidFill>
                  <a:srgbClr val="990033"/>
                </a:solidFill>
              </a:rPr>
              <a:t>电源和受控电源</a:t>
            </a:r>
            <a:endParaRPr lang="zh-CN" altLang="en-US" dirty="0">
              <a:solidFill>
                <a:schemeClr val="tx2"/>
              </a:solidFill>
            </a:endParaRPr>
          </a:p>
        </p:txBody>
      </p:sp>
    </p:spTree>
    <p:extLst>
      <p:ext uri="{BB962C8B-B14F-4D97-AF65-F5344CB8AC3E}">
        <p14:creationId xmlns:p14="http://schemas.microsoft.com/office/powerpoint/2010/main" val="78030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5324"/>
                                        </p:tgtEl>
                                        <p:attrNameLst>
                                          <p:attrName>style.visibility</p:attrName>
                                        </p:attrNameLst>
                                      </p:cBhvr>
                                      <p:to>
                                        <p:strVal val="visible"/>
                                      </p:to>
                                    </p:set>
                                    <p:animEffect transition="in" filter="barn(inVertical)">
                                      <p:cBhvr>
                                        <p:cTn id="7" dur="500"/>
                                        <p:tgtEl>
                                          <p:spTgt spid="5532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nodePh="1">
                                  <p:stCondLst>
                                    <p:cond delay="0"/>
                                  </p:stCondLst>
                                  <p:endCondLst>
                                    <p:cond evt="begin" delay="0">
                                      <p:tn val="10"/>
                                    </p:cond>
                                  </p:endCondLst>
                                  <p:childTnLst>
                                    <p:set>
                                      <p:cBhvr>
                                        <p:cTn id="11" dur="1" fill="hold">
                                          <p:stCondLst>
                                            <p:cond delay="0"/>
                                          </p:stCondLst>
                                        </p:cTn>
                                        <p:tgtEl>
                                          <p:spTgt spid="55298"/>
                                        </p:tgtEl>
                                        <p:attrNameLst>
                                          <p:attrName>style.visibility</p:attrName>
                                        </p:attrNameLst>
                                      </p:cBhvr>
                                      <p:to>
                                        <p:strVal val="visible"/>
                                      </p:to>
                                    </p:set>
                                    <p:animEffect transition="in" filter="barn(inVertical)">
                                      <p:cBhvr>
                                        <p:cTn id="12" dur="500"/>
                                        <p:tgtEl>
                                          <p:spTgt spid="55298"/>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397317"/>
                                        </p:tgtEl>
                                        <p:attrNameLst>
                                          <p:attrName>style.visibility</p:attrName>
                                        </p:attrNameLst>
                                      </p:cBhvr>
                                      <p:to>
                                        <p:strVal val="visible"/>
                                      </p:to>
                                    </p:set>
                                    <p:animEffect transition="in" filter="barn(inVertical)">
                                      <p:cBhvr>
                                        <p:cTn id="15" dur="500"/>
                                        <p:tgtEl>
                                          <p:spTgt spid="397317"/>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55301"/>
                                        </p:tgtEl>
                                        <p:attrNameLst>
                                          <p:attrName>style.visibility</p:attrName>
                                        </p:attrNameLst>
                                      </p:cBhvr>
                                      <p:to>
                                        <p:strVal val="visible"/>
                                      </p:to>
                                    </p:set>
                                    <p:animEffect transition="in" filter="barn(inVertical)">
                                      <p:cBhvr>
                                        <p:cTn id="18" dur="500"/>
                                        <p:tgtEl>
                                          <p:spTgt spid="55301"/>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55307"/>
                                        </p:tgtEl>
                                        <p:attrNameLst>
                                          <p:attrName>style.visibility</p:attrName>
                                        </p:attrNameLst>
                                      </p:cBhvr>
                                      <p:to>
                                        <p:strVal val="visible"/>
                                      </p:to>
                                    </p:set>
                                    <p:animEffect transition="in" filter="barn(inVertical)">
                                      <p:cBhvr>
                                        <p:cTn id="21" dur="500"/>
                                        <p:tgtEl>
                                          <p:spTgt spid="55307"/>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397315"/>
                                        </p:tgtEl>
                                        <p:attrNameLst>
                                          <p:attrName>style.visibility</p:attrName>
                                        </p:attrNameLst>
                                      </p:cBhvr>
                                      <p:to>
                                        <p:strVal val="visible"/>
                                      </p:to>
                                    </p:set>
                                    <p:animEffect transition="in" filter="barn(inVertical)">
                                      <p:cBhvr>
                                        <p:cTn id="26" dur="500"/>
                                        <p:tgtEl>
                                          <p:spTgt spid="397315"/>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55302"/>
                                        </p:tgtEl>
                                        <p:attrNameLst>
                                          <p:attrName>style.visibility</p:attrName>
                                        </p:attrNameLst>
                                      </p:cBhvr>
                                      <p:to>
                                        <p:strVal val="visible"/>
                                      </p:to>
                                    </p:set>
                                    <p:animEffect transition="in" filter="barn(inVertical)">
                                      <p:cBhvr>
                                        <p:cTn id="31" dur="500"/>
                                        <p:tgtEl>
                                          <p:spTgt spid="5530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55303"/>
                                        </p:tgtEl>
                                        <p:attrNameLst>
                                          <p:attrName>style.visibility</p:attrName>
                                        </p:attrNameLst>
                                      </p:cBhvr>
                                      <p:to>
                                        <p:strVal val="visible"/>
                                      </p:to>
                                    </p:set>
                                    <p:animEffect transition="in" filter="barn(inVertical)">
                                      <p:cBhvr>
                                        <p:cTn id="34" dur="500"/>
                                        <p:tgtEl>
                                          <p:spTgt spid="55303"/>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55304"/>
                                        </p:tgtEl>
                                        <p:attrNameLst>
                                          <p:attrName>style.visibility</p:attrName>
                                        </p:attrNameLst>
                                      </p:cBhvr>
                                      <p:to>
                                        <p:strVal val="visible"/>
                                      </p:to>
                                    </p:set>
                                    <p:animEffect transition="in" filter="barn(inVertical)">
                                      <p:cBhvr>
                                        <p:cTn id="37" dur="500"/>
                                        <p:tgtEl>
                                          <p:spTgt spid="55304"/>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55305"/>
                                        </p:tgtEl>
                                        <p:attrNameLst>
                                          <p:attrName>style.visibility</p:attrName>
                                        </p:attrNameLst>
                                      </p:cBhvr>
                                      <p:to>
                                        <p:strVal val="visible"/>
                                      </p:to>
                                    </p:set>
                                    <p:animEffect transition="in" filter="barn(inVertical)">
                                      <p:cBhvr>
                                        <p:cTn id="40" dur="500"/>
                                        <p:tgtEl>
                                          <p:spTgt spid="55305"/>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55306"/>
                                        </p:tgtEl>
                                        <p:attrNameLst>
                                          <p:attrName>style.visibility</p:attrName>
                                        </p:attrNameLst>
                                      </p:cBhvr>
                                      <p:to>
                                        <p:strVal val="visible"/>
                                      </p:to>
                                    </p:set>
                                    <p:animEffect transition="in" filter="barn(inVertical)">
                                      <p:cBhvr>
                                        <p:cTn id="43" dur="500"/>
                                        <p:tgtEl>
                                          <p:spTgt spid="55306"/>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55315"/>
                                        </p:tgtEl>
                                        <p:attrNameLst>
                                          <p:attrName>style.visibility</p:attrName>
                                        </p:attrNameLst>
                                      </p:cBhvr>
                                      <p:to>
                                        <p:strVal val="visible"/>
                                      </p:to>
                                    </p:set>
                                    <p:animEffect transition="in" filter="barn(inVertical)">
                                      <p:cBhvr>
                                        <p:cTn id="46" dur="500"/>
                                        <p:tgtEl>
                                          <p:spTgt spid="55315"/>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55316"/>
                                        </p:tgtEl>
                                        <p:attrNameLst>
                                          <p:attrName>style.visibility</p:attrName>
                                        </p:attrNameLst>
                                      </p:cBhvr>
                                      <p:to>
                                        <p:strVal val="visible"/>
                                      </p:to>
                                    </p:set>
                                    <p:animEffect transition="in" filter="barn(inVertical)">
                                      <p:cBhvr>
                                        <p:cTn id="49" dur="500"/>
                                        <p:tgtEl>
                                          <p:spTgt spid="55316"/>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55319"/>
                                        </p:tgtEl>
                                        <p:attrNameLst>
                                          <p:attrName>style.visibility</p:attrName>
                                        </p:attrNameLst>
                                      </p:cBhvr>
                                      <p:to>
                                        <p:strVal val="visible"/>
                                      </p:to>
                                    </p:set>
                                    <p:animEffect transition="in" filter="barn(inVertical)">
                                      <p:cBhvr>
                                        <p:cTn id="52" dur="500"/>
                                        <p:tgtEl>
                                          <p:spTgt spid="55319"/>
                                        </p:tgtEl>
                                      </p:cBhvr>
                                    </p:animEffect>
                                  </p:childTnLst>
                                </p:cTn>
                              </p:par>
                              <p:par>
                                <p:cTn id="53" presetID="16" presetClass="entr" presetSubtype="21" fill="hold" nodeType="withEffect">
                                  <p:stCondLst>
                                    <p:cond delay="0"/>
                                  </p:stCondLst>
                                  <p:childTnLst>
                                    <p:set>
                                      <p:cBhvr>
                                        <p:cTn id="54" dur="1" fill="hold">
                                          <p:stCondLst>
                                            <p:cond delay="0"/>
                                          </p:stCondLst>
                                        </p:cTn>
                                        <p:tgtEl>
                                          <p:spTgt spid="55322"/>
                                        </p:tgtEl>
                                        <p:attrNameLst>
                                          <p:attrName>style.visibility</p:attrName>
                                        </p:attrNameLst>
                                      </p:cBhvr>
                                      <p:to>
                                        <p:strVal val="visible"/>
                                      </p:to>
                                    </p:set>
                                    <p:animEffect transition="in" filter="barn(inVertical)">
                                      <p:cBhvr>
                                        <p:cTn id="55" dur="500"/>
                                        <p:tgtEl>
                                          <p:spTgt spid="55322"/>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55323"/>
                                        </p:tgtEl>
                                        <p:attrNameLst>
                                          <p:attrName>style.visibility</p:attrName>
                                        </p:attrNameLst>
                                      </p:cBhvr>
                                      <p:to>
                                        <p:strVal val="visible"/>
                                      </p:to>
                                    </p:set>
                                    <p:animEffect transition="in" filter="barn(inVertical)">
                                      <p:cBhvr>
                                        <p:cTn id="60" dur="500"/>
                                        <p:tgtEl>
                                          <p:spTgt spid="55323"/>
                                        </p:tgtEl>
                                      </p:cBhvr>
                                    </p:animEffect>
                                  </p:childTnLst>
                                </p:cTn>
                              </p:par>
                            </p:childTnLst>
                          </p:cTn>
                        </p:par>
                        <p:par>
                          <p:cTn id="61" fill="hold">
                            <p:stCondLst>
                              <p:cond delay="500"/>
                            </p:stCondLst>
                            <p:childTnLst>
                              <p:par>
                                <p:cTn id="62" presetID="16" presetClass="entr" presetSubtype="21" fill="hold" grpId="0" nodeType="afterEffect">
                                  <p:stCondLst>
                                    <p:cond delay="0"/>
                                  </p:stCondLst>
                                  <p:childTnLst>
                                    <p:set>
                                      <p:cBhvr>
                                        <p:cTn id="63" dur="1" fill="hold">
                                          <p:stCondLst>
                                            <p:cond delay="0"/>
                                          </p:stCondLst>
                                        </p:cTn>
                                        <p:tgtEl>
                                          <p:spTgt spid="55308"/>
                                        </p:tgtEl>
                                        <p:attrNameLst>
                                          <p:attrName>style.visibility</p:attrName>
                                        </p:attrNameLst>
                                      </p:cBhvr>
                                      <p:to>
                                        <p:strVal val="visible"/>
                                      </p:to>
                                    </p:set>
                                    <p:animEffect transition="in" filter="barn(inVertical)">
                                      <p:cBhvr>
                                        <p:cTn id="64" dur="500"/>
                                        <p:tgtEl>
                                          <p:spTgt spid="55308"/>
                                        </p:tgtEl>
                                      </p:cBhvr>
                                    </p:animEffect>
                                  </p:childTnLst>
                                </p:cTn>
                              </p:par>
                            </p:childTnLst>
                          </p:cTn>
                        </p:par>
                        <p:par>
                          <p:cTn id="65" fill="hold">
                            <p:stCondLst>
                              <p:cond delay="1000"/>
                            </p:stCondLst>
                            <p:childTnLst>
                              <p:par>
                                <p:cTn id="66" presetID="16" presetClass="entr" presetSubtype="21" fill="hold" grpId="0" nodeType="afterEffect">
                                  <p:stCondLst>
                                    <p:cond delay="0"/>
                                  </p:stCondLst>
                                  <p:childTnLst>
                                    <p:set>
                                      <p:cBhvr>
                                        <p:cTn id="67" dur="1" fill="hold">
                                          <p:stCondLst>
                                            <p:cond delay="0"/>
                                          </p:stCondLst>
                                        </p:cTn>
                                        <p:tgtEl>
                                          <p:spTgt spid="55309"/>
                                        </p:tgtEl>
                                        <p:attrNameLst>
                                          <p:attrName>style.visibility</p:attrName>
                                        </p:attrNameLst>
                                      </p:cBhvr>
                                      <p:to>
                                        <p:strVal val="visible"/>
                                      </p:to>
                                    </p:set>
                                    <p:animEffect transition="in" filter="barn(inVertical)">
                                      <p:cBhvr>
                                        <p:cTn id="68" dur="500"/>
                                        <p:tgtEl>
                                          <p:spTgt spid="55309"/>
                                        </p:tgtEl>
                                      </p:cBhvr>
                                    </p:animEffect>
                                  </p:childTnLst>
                                </p:cTn>
                              </p:par>
                            </p:childTnLst>
                          </p:cTn>
                        </p:par>
                        <p:par>
                          <p:cTn id="69" fill="hold">
                            <p:stCondLst>
                              <p:cond delay="1500"/>
                            </p:stCondLst>
                            <p:childTnLst>
                              <p:par>
                                <p:cTn id="70" presetID="16" presetClass="entr" presetSubtype="21" fill="hold" grpId="0" nodeType="afterEffect">
                                  <p:stCondLst>
                                    <p:cond delay="0"/>
                                  </p:stCondLst>
                                  <p:childTnLst>
                                    <p:set>
                                      <p:cBhvr>
                                        <p:cTn id="71" dur="1" fill="hold">
                                          <p:stCondLst>
                                            <p:cond delay="0"/>
                                          </p:stCondLst>
                                        </p:cTn>
                                        <p:tgtEl>
                                          <p:spTgt spid="55310"/>
                                        </p:tgtEl>
                                        <p:attrNameLst>
                                          <p:attrName>style.visibility</p:attrName>
                                        </p:attrNameLst>
                                      </p:cBhvr>
                                      <p:to>
                                        <p:strVal val="visible"/>
                                      </p:to>
                                    </p:set>
                                    <p:animEffect transition="in" filter="barn(inVertical)">
                                      <p:cBhvr>
                                        <p:cTn id="72" dur="500"/>
                                        <p:tgtEl>
                                          <p:spTgt spid="55310"/>
                                        </p:tgtEl>
                                      </p:cBhvr>
                                    </p:animEffect>
                                  </p:childTnLst>
                                </p:cTn>
                              </p:par>
                            </p:childTnLst>
                          </p:cTn>
                        </p:par>
                        <p:par>
                          <p:cTn id="73" fill="hold">
                            <p:stCondLst>
                              <p:cond delay="2000"/>
                            </p:stCondLst>
                            <p:childTnLst>
                              <p:par>
                                <p:cTn id="74" presetID="16" presetClass="entr" presetSubtype="21" fill="hold" grpId="0" nodeType="afterEffect">
                                  <p:stCondLst>
                                    <p:cond delay="0"/>
                                  </p:stCondLst>
                                  <p:childTnLst>
                                    <p:set>
                                      <p:cBhvr>
                                        <p:cTn id="75" dur="1" fill="hold">
                                          <p:stCondLst>
                                            <p:cond delay="0"/>
                                          </p:stCondLst>
                                        </p:cTn>
                                        <p:tgtEl>
                                          <p:spTgt spid="55311"/>
                                        </p:tgtEl>
                                        <p:attrNameLst>
                                          <p:attrName>style.visibility</p:attrName>
                                        </p:attrNameLst>
                                      </p:cBhvr>
                                      <p:to>
                                        <p:strVal val="visible"/>
                                      </p:to>
                                    </p:set>
                                    <p:animEffect transition="in" filter="barn(inVertical)">
                                      <p:cBhvr>
                                        <p:cTn id="76" dur="500"/>
                                        <p:tgtEl>
                                          <p:spTgt spid="55311"/>
                                        </p:tgtEl>
                                      </p:cBhvr>
                                    </p:animEffect>
                                  </p:childTnLst>
                                </p:cTn>
                              </p:par>
                            </p:childTnLst>
                          </p:cTn>
                        </p:par>
                        <p:par>
                          <p:cTn id="77" fill="hold">
                            <p:stCondLst>
                              <p:cond delay="2500"/>
                            </p:stCondLst>
                            <p:childTnLst>
                              <p:par>
                                <p:cTn id="78" presetID="16" presetClass="entr" presetSubtype="21" fill="hold" grpId="0" nodeType="afterEffect">
                                  <p:stCondLst>
                                    <p:cond delay="0"/>
                                  </p:stCondLst>
                                  <p:childTnLst>
                                    <p:set>
                                      <p:cBhvr>
                                        <p:cTn id="79" dur="1" fill="hold">
                                          <p:stCondLst>
                                            <p:cond delay="0"/>
                                          </p:stCondLst>
                                        </p:cTn>
                                        <p:tgtEl>
                                          <p:spTgt spid="55312"/>
                                        </p:tgtEl>
                                        <p:attrNameLst>
                                          <p:attrName>style.visibility</p:attrName>
                                        </p:attrNameLst>
                                      </p:cBhvr>
                                      <p:to>
                                        <p:strVal val="visible"/>
                                      </p:to>
                                    </p:set>
                                    <p:animEffect transition="in" filter="barn(inVertical)">
                                      <p:cBhvr>
                                        <p:cTn id="80" dur="500"/>
                                        <p:tgtEl>
                                          <p:spTgt spid="55312"/>
                                        </p:tgtEl>
                                      </p:cBhvr>
                                    </p:animEffect>
                                  </p:childTnLst>
                                </p:cTn>
                              </p:par>
                            </p:childTnLst>
                          </p:cTn>
                        </p:par>
                        <p:par>
                          <p:cTn id="81" fill="hold">
                            <p:stCondLst>
                              <p:cond delay="3000"/>
                            </p:stCondLst>
                            <p:childTnLst>
                              <p:par>
                                <p:cTn id="82" presetID="16" presetClass="entr" presetSubtype="21" fill="hold" grpId="0" nodeType="afterEffect">
                                  <p:stCondLst>
                                    <p:cond delay="0"/>
                                  </p:stCondLst>
                                  <p:childTnLst>
                                    <p:set>
                                      <p:cBhvr>
                                        <p:cTn id="83" dur="1" fill="hold">
                                          <p:stCondLst>
                                            <p:cond delay="0"/>
                                          </p:stCondLst>
                                        </p:cTn>
                                        <p:tgtEl>
                                          <p:spTgt spid="55313"/>
                                        </p:tgtEl>
                                        <p:attrNameLst>
                                          <p:attrName>style.visibility</p:attrName>
                                        </p:attrNameLst>
                                      </p:cBhvr>
                                      <p:to>
                                        <p:strVal val="visible"/>
                                      </p:to>
                                    </p:set>
                                    <p:animEffect transition="in" filter="barn(inVertical)">
                                      <p:cBhvr>
                                        <p:cTn id="84" dur="500"/>
                                        <p:tgtEl>
                                          <p:spTgt spid="55313"/>
                                        </p:tgtEl>
                                      </p:cBhvr>
                                    </p:animEffect>
                                  </p:childTnLst>
                                </p:cTn>
                              </p:par>
                            </p:childTnLst>
                          </p:cTn>
                        </p:par>
                        <p:par>
                          <p:cTn id="85" fill="hold">
                            <p:stCondLst>
                              <p:cond delay="3500"/>
                            </p:stCondLst>
                            <p:childTnLst>
                              <p:par>
                                <p:cTn id="86" presetID="16" presetClass="entr" presetSubtype="21" fill="hold" grpId="0" nodeType="afterEffect">
                                  <p:stCondLst>
                                    <p:cond delay="0"/>
                                  </p:stCondLst>
                                  <p:childTnLst>
                                    <p:set>
                                      <p:cBhvr>
                                        <p:cTn id="87" dur="1" fill="hold">
                                          <p:stCondLst>
                                            <p:cond delay="0"/>
                                          </p:stCondLst>
                                        </p:cTn>
                                        <p:tgtEl>
                                          <p:spTgt spid="55314"/>
                                        </p:tgtEl>
                                        <p:attrNameLst>
                                          <p:attrName>style.visibility</p:attrName>
                                        </p:attrNameLst>
                                      </p:cBhvr>
                                      <p:to>
                                        <p:strVal val="visible"/>
                                      </p:to>
                                    </p:set>
                                    <p:animEffect transition="in" filter="barn(inVertical)">
                                      <p:cBhvr>
                                        <p:cTn id="88" dur="500"/>
                                        <p:tgtEl>
                                          <p:spTgt spid="55314"/>
                                        </p:tgtEl>
                                      </p:cBhvr>
                                    </p:animEffect>
                                  </p:childTnLst>
                                </p:cTn>
                              </p:par>
                            </p:childTnLst>
                          </p:cTn>
                        </p:par>
                        <p:par>
                          <p:cTn id="89" fill="hold">
                            <p:stCondLst>
                              <p:cond delay="4000"/>
                            </p:stCondLst>
                            <p:childTnLst>
                              <p:par>
                                <p:cTn id="90" presetID="16" presetClass="entr" presetSubtype="21" fill="hold" grpId="0" nodeType="afterEffect">
                                  <p:stCondLst>
                                    <p:cond delay="0"/>
                                  </p:stCondLst>
                                  <p:childTnLst>
                                    <p:set>
                                      <p:cBhvr>
                                        <p:cTn id="91" dur="1" fill="hold">
                                          <p:stCondLst>
                                            <p:cond delay="0"/>
                                          </p:stCondLst>
                                        </p:cTn>
                                        <p:tgtEl>
                                          <p:spTgt spid="55317"/>
                                        </p:tgtEl>
                                        <p:attrNameLst>
                                          <p:attrName>style.visibility</p:attrName>
                                        </p:attrNameLst>
                                      </p:cBhvr>
                                      <p:to>
                                        <p:strVal val="visible"/>
                                      </p:to>
                                    </p:set>
                                    <p:animEffect transition="in" filter="barn(inVertical)">
                                      <p:cBhvr>
                                        <p:cTn id="92" dur="500"/>
                                        <p:tgtEl>
                                          <p:spTgt spid="55317"/>
                                        </p:tgtEl>
                                      </p:cBhvr>
                                    </p:animEffect>
                                  </p:childTnLst>
                                </p:cTn>
                              </p:par>
                            </p:childTnLst>
                          </p:cTn>
                        </p:par>
                        <p:par>
                          <p:cTn id="93" fill="hold">
                            <p:stCondLst>
                              <p:cond delay="4500"/>
                            </p:stCondLst>
                            <p:childTnLst>
                              <p:par>
                                <p:cTn id="94" presetID="16" presetClass="entr" presetSubtype="21" fill="hold" grpId="0" nodeType="afterEffect">
                                  <p:stCondLst>
                                    <p:cond delay="0"/>
                                  </p:stCondLst>
                                  <p:childTnLst>
                                    <p:set>
                                      <p:cBhvr>
                                        <p:cTn id="95" dur="1" fill="hold">
                                          <p:stCondLst>
                                            <p:cond delay="0"/>
                                          </p:stCondLst>
                                        </p:cTn>
                                        <p:tgtEl>
                                          <p:spTgt spid="55318"/>
                                        </p:tgtEl>
                                        <p:attrNameLst>
                                          <p:attrName>style.visibility</p:attrName>
                                        </p:attrNameLst>
                                      </p:cBhvr>
                                      <p:to>
                                        <p:strVal val="visible"/>
                                      </p:to>
                                    </p:set>
                                    <p:animEffect transition="in" filter="barn(inVertical)">
                                      <p:cBhvr>
                                        <p:cTn id="96" dur="500"/>
                                        <p:tgtEl>
                                          <p:spTgt spid="55318"/>
                                        </p:tgtEl>
                                      </p:cBhvr>
                                    </p:animEffect>
                                  </p:childTnLst>
                                </p:cTn>
                              </p:par>
                            </p:childTnLst>
                          </p:cTn>
                        </p:par>
                        <p:par>
                          <p:cTn id="97" fill="hold">
                            <p:stCondLst>
                              <p:cond delay="5000"/>
                            </p:stCondLst>
                            <p:childTnLst>
                              <p:par>
                                <p:cTn id="98" presetID="16" presetClass="entr" presetSubtype="21" fill="hold" grpId="0" nodeType="afterEffect">
                                  <p:stCondLst>
                                    <p:cond delay="0"/>
                                  </p:stCondLst>
                                  <p:childTnLst>
                                    <p:set>
                                      <p:cBhvr>
                                        <p:cTn id="99" dur="1" fill="hold">
                                          <p:stCondLst>
                                            <p:cond delay="0"/>
                                          </p:stCondLst>
                                        </p:cTn>
                                        <p:tgtEl>
                                          <p:spTgt spid="55320"/>
                                        </p:tgtEl>
                                        <p:attrNameLst>
                                          <p:attrName>style.visibility</p:attrName>
                                        </p:attrNameLst>
                                      </p:cBhvr>
                                      <p:to>
                                        <p:strVal val="visible"/>
                                      </p:to>
                                    </p:set>
                                    <p:animEffect transition="in" filter="barn(inVertical)">
                                      <p:cBhvr>
                                        <p:cTn id="100" dur="500"/>
                                        <p:tgtEl>
                                          <p:spTgt spid="55320"/>
                                        </p:tgtEl>
                                      </p:cBhvr>
                                    </p:animEffect>
                                  </p:childTnLst>
                                </p:cTn>
                              </p:par>
                            </p:childTnLst>
                          </p:cTn>
                        </p:par>
                        <p:par>
                          <p:cTn id="101" fill="hold">
                            <p:stCondLst>
                              <p:cond delay="5500"/>
                            </p:stCondLst>
                            <p:childTnLst>
                              <p:par>
                                <p:cTn id="102" presetID="16" presetClass="entr" presetSubtype="21" fill="hold" nodeType="afterEffect">
                                  <p:stCondLst>
                                    <p:cond delay="0"/>
                                  </p:stCondLst>
                                  <p:childTnLst>
                                    <p:set>
                                      <p:cBhvr>
                                        <p:cTn id="103" dur="1" fill="hold">
                                          <p:stCondLst>
                                            <p:cond delay="0"/>
                                          </p:stCondLst>
                                        </p:cTn>
                                        <p:tgtEl>
                                          <p:spTgt spid="55321"/>
                                        </p:tgtEl>
                                        <p:attrNameLst>
                                          <p:attrName>style.visibility</p:attrName>
                                        </p:attrNameLst>
                                      </p:cBhvr>
                                      <p:to>
                                        <p:strVal val="visible"/>
                                      </p:to>
                                    </p:set>
                                    <p:animEffect transition="in" filter="barn(inVertical)">
                                      <p:cBhvr>
                                        <p:cTn id="104" dur="500"/>
                                        <p:tgtEl>
                                          <p:spTgt spid="55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p:bldP spid="397315" grpId="0" animBg="1"/>
      <p:bldP spid="397317" grpId="0" animBg="1"/>
      <p:bldP spid="55301" grpId="0" animBg="1"/>
      <p:bldP spid="55302" grpId="0"/>
      <p:bldP spid="55303" grpId="0"/>
      <p:bldP spid="55304" grpId="0" animBg="1"/>
      <p:bldP spid="55305" grpId="0" animBg="1"/>
      <p:bldP spid="55306" grpId="0" animBg="1"/>
      <p:bldP spid="55307" grpId="0"/>
      <p:bldP spid="55308" grpId="0" animBg="1"/>
      <p:bldP spid="55309" grpId="0" animBg="1"/>
      <p:bldP spid="55310" grpId="0" animBg="1"/>
      <p:bldP spid="55311" grpId="0" animBg="1"/>
      <p:bldP spid="55312" grpId="0"/>
      <p:bldP spid="55313" grpId="0"/>
      <p:bldP spid="55314" grpId="0"/>
      <p:bldP spid="55315" grpId="0"/>
      <p:bldP spid="55316" grpId="0"/>
      <p:bldP spid="55317" grpId="0" animBg="1"/>
      <p:bldP spid="55318" grpId="0"/>
      <p:bldP spid="55319" grpId="0"/>
      <p:bldP spid="55320" grpId="0"/>
      <p:bldP spid="55323" grpId="0"/>
      <p:bldP spid="5532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3"/>
          <p:cNvSpPr>
            <a:spLocks noChangeArrowheads="1"/>
          </p:cNvSpPr>
          <p:nvPr/>
        </p:nvSpPr>
        <p:spPr bwMode="auto">
          <a:xfrm>
            <a:off x="702356" y="149672"/>
            <a:ext cx="7981950" cy="1200329"/>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50000"/>
              </a:lnSpc>
            </a:pPr>
            <a:r>
              <a:rPr lang="en-US" altLang="zh-CN" dirty="0">
                <a:latin typeface="+mn-lt"/>
              </a:rPr>
              <a:t>        </a:t>
            </a:r>
            <a:r>
              <a:rPr lang="zh-CN" altLang="en-US" dirty="0">
                <a:latin typeface="+mn-lt"/>
              </a:rPr>
              <a:t>电子电路中有一种习惯画法，即：电源不再用电源符号表示，而改为标出其电位的极性及数值。 </a:t>
            </a:r>
          </a:p>
        </p:txBody>
      </p:sp>
      <p:grpSp>
        <p:nvGrpSpPr>
          <p:cNvPr id="4" name="Group 108"/>
          <p:cNvGrpSpPr>
            <a:grpSpLocks/>
          </p:cNvGrpSpPr>
          <p:nvPr/>
        </p:nvGrpSpPr>
        <p:grpSpPr bwMode="auto">
          <a:xfrm>
            <a:off x="808858" y="2840427"/>
            <a:ext cx="3090863" cy="1939925"/>
            <a:chOff x="666" y="2710"/>
            <a:chExt cx="1947" cy="1222"/>
          </a:xfrm>
        </p:grpSpPr>
        <p:grpSp>
          <p:nvGrpSpPr>
            <p:cNvPr id="5" name="Group 99"/>
            <p:cNvGrpSpPr>
              <a:grpSpLocks/>
            </p:cNvGrpSpPr>
            <p:nvPr/>
          </p:nvGrpSpPr>
          <p:grpSpPr bwMode="auto">
            <a:xfrm>
              <a:off x="1005" y="3012"/>
              <a:ext cx="1333" cy="920"/>
              <a:chOff x="695" y="2902"/>
              <a:chExt cx="1013" cy="728"/>
            </a:xfrm>
          </p:grpSpPr>
          <p:sp>
            <p:nvSpPr>
              <p:cNvPr id="11" name="Freeform 87"/>
              <p:cNvSpPr>
                <a:spLocks/>
              </p:cNvSpPr>
              <p:nvPr/>
            </p:nvSpPr>
            <p:spPr bwMode="auto">
              <a:xfrm>
                <a:off x="811" y="2961"/>
                <a:ext cx="826" cy="669"/>
              </a:xfrm>
              <a:custGeom>
                <a:avLst/>
                <a:gdLst>
                  <a:gd name="T0" fmla="*/ 0 w 1440"/>
                  <a:gd name="T1" fmla="*/ 468 h 1092"/>
                  <a:gd name="T2" fmla="*/ 0 w 1440"/>
                  <a:gd name="T3" fmla="*/ 0 h 1092"/>
                  <a:gd name="T4" fmla="*/ 1440 w 1440"/>
                  <a:gd name="T5" fmla="*/ 0 h 1092"/>
                  <a:gd name="T6" fmla="*/ 1440 w 1440"/>
                  <a:gd name="T7" fmla="*/ 1092 h 1092"/>
                </a:gdLst>
                <a:ahLst/>
                <a:cxnLst>
                  <a:cxn ang="0">
                    <a:pos x="T0" y="T1"/>
                  </a:cxn>
                  <a:cxn ang="0">
                    <a:pos x="T2" y="T3"/>
                  </a:cxn>
                  <a:cxn ang="0">
                    <a:pos x="T4" y="T5"/>
                  </a:cxn>
                  <a:cxn ang="0">
                    <a:pos x="T6" y="T7"/>
                  </a:cxn>
                </a:cxnLst>
                <a:rect l="0" t="0" r="r" b="b"/>
                <a:pathLst>
                  <a:path w="1440" h="1092">
                    <a:moveTo>
                      <a:pt x="0" y="468"/>
                    </a:moveTo>
                    <a:lnTo>
                      <a:pt x="0" y="0"/>
                    </a:lnTo>
                    <a:lnTo>
                      <a:pt x="1440" y="0"/>
                    </a:lnTo>
                    <a:lnTo>
                      <a:pt x="1440" y="1092"/>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mn-lt"/>
                </a:endParaRPr>
              </a:p>
            </p:txBody>
          </p:sp>
          <p:sp>
            <p:nvSpPr>
              <p:cNvPr id="12" name="Freeform 86"/>
              <p:cNvSpPr>
                <a:spLocks/>
              </p:cNvSpPr>
              <p:nvPr/>
            </p:nvSpPr>
            <p:spPr bwMode="auto">
              <a:xfrm>
                <a:off x="811" y="3343"/>
                <a:ext cx="826" cy="191"/>
              </a:xfrm>
              <a:custGeom>
                <a:avLst/>
                <a:gdLst>
                  <a:gd name="T0" fmla="*/ 0 w 1440"/>
                  <a:gd name="T1" fmla="*/ 0 h 312"/>
                  <a:gd name="T2" fmla="*/ 0 w 1440"/>
                  <a:gd name="T3" fmla="*/ 312 h 312"/>
                  <a:gd name="T4" fmla="*/ 1440 w 1440"/>
                  <a:gd name="T5" fmla="*/ 312 h 312"/>
                </a:gdLst>
                <a:ahLst/>
                <a:cxnLst>
                  <a:cxn ang="0">
                    <a:pos x="T0" y="T1"/>
                  </a:cxn>
                  <a:cxn ang="0">
                    <a:pos x="T2" y="T3"/>
                  </a:cxn>
                  <a:cxn ang="0">
                    <a:pos x="T4" y="T5"/>
                  </a:cxn>
                </a:cxnLst>
                <a:rect l="0" t="0" r="r" b="b"/>
                <a:pathLst>
                  <a:path w="1440" h="312">
                    <a:moveTo>
                      <a:pt x="0" y="0"/>
                    </a:moveTo>
                    <a:lnTo>
                      <a:pt x="0" y="312"/>
                    </a:lnTo>
                    <a:lnTo>
                      <a:pt x="1440" y="312"/>
                    </a:lnTo>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mn-lt"/>
                </a:endParaRPr>
              </a:p>
            </p:txBody>
          </p:sp>
          <p:sp>
            <p:nvSpPr>
              <p:cNvPr id="13" name="Line 85"/>
              <p:cNvSpPr>
                <a:spLocks noChangeShapeType="1"/>
              </p:cNvSpPr>
              <p:nvPr/>
            </p:nvSpPr>
            <p:spPr bwMode="auto">
              <a:xfrm>
                <a:off x="695" y="3248"/>
                <a:ext cx="2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mn-lt"/>
                </a:endParaRPr>
              </a:p>
            </p:txBody>
          </p:sp>
          <p:sp>
            <p:nvSpPr>
              <p:cNvPr id="14" name="Line 84"/>
              <p:cNvSpPr>
                <a:spLocks noChangeShapeType="1"/>
              </p:cNvSpPr>
              <p:nvPr/>
            </p:nvSpPr>
            <p:spPr bwMode="auto">
              <a:xfrm>
                <a:off x="753" y="3338"/>
                <a:ext cx="1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mn-lt"/>
                </a:endParaRPr>
              </a:p>
            </p:txBody>
          </p:sp>
          <p:sp>
            <p:nvSpPr>
              <p:cNvPr id="15" name="Rectangle 83"/>
              <p:cNvSpPr>
                <a:spLocks noChangeArrowheads="1"/>
              </p:cNvSpPr>
              <p:nvPr/>
            </p:nvSpPr>
            <p:spPr bwMode="auto">
              <a:xfrm>
                <a:off x="1096" y="2902"/>
                <a:ext cx="219" cy="104"/>
              </a:xfrm>
              <a:prstGeom prst="rect">
                <a:avLst/>
              </a:prstGeom>
              <a:solidFill>
                <a:srgbClr val="FFFFFF"/>
              </a:solidFill>
              <a:ln w="22225">
                <a:solidFill>
                  <a:srgbClr val="000000"/>
                </a:solidFill>
                <a:miter lim="800000"/>
                <a:headEnd/>
                <a:tailEnd/>
              </a:ln>
            </p:spPr>
            <p:txBody>
              <a:bodyPr/>
              <a:lstStyle/>
              <a:p>
                <a:endParaRPr lang="zh-CN" altLang="en-US">
                  <a:latin typeface="+mn-lt"/>
                </a:endParaRPr>
              </a:p>
            </p:txBody>
          </p:sp>
          <p:sp>
            <p:nvSpPr>
              <p:cNvPr id="16" name="Rectangle 82"/>
              <p:cNvSpPr>
                <a:spLocks noChangeArrowheads="1"/>
              </p:cNvSpPr>
              <p:nvPr/>
            </p:nvSpPr>
            <p:spPr bwMode="auto">
              <a:xfrm rot="-5400000">
                <a:off x="1532" y="3154"/>
                <a:ext cx="209" cy="109"/>
              </a:xfrm>
              <a:prstGeom prst="rect">
                <a:avLst/>
              </a:prstGeom>
              <a:solidFill>
                <a:srgbClr val="FFFFFF"/>
              </a:solidFill>
              <a:ln w="22225">
                <a:solidFill>
                  <a:srgbClr val="000000"/>
                </a:solidFill>
                <a:miter lim="800000"/>
                <a:headEnd/>
                <a:tailEnd/>
              </a:ln>
            </p:spPr>
            <p:txBody>
              <a:bodyPr/>
              <a:lstStyle/>
              <a:p>
                <a:endParaRPr lang="zh-CN" altLang="en-US">
                  <a:latin typeface="+mn-lt"/>
                </a:endParaRPr>
              </a:p>
            </p:txBody>
          </p:sp>
          <p:sp>
            <p:nvSpPr>
              <p:cNvPr id="17" name="Line 81"/>
              <p:cNvSpPr>
                <a:spLocks noChangeShapeType="1"/>
              </p:cNvSpPr>
              <p:nvPr/>
            </p:nvSpPr>
            <p:spPr bwMode="auto">
              <a:xfrm>
                <a:off x="1562" y="3630"/>
                <a:ext cx="14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mn-lt"/>
                </a:endParaRPr>
              </a:p>
            </p:txBody>
          </p:sp>
          <p:sp>
            <p:nvSpPr>
              <p:cNvPr id="18" name="Oval 80"/>
              <p:cNvSpPr>
                <a:spLocks noChangeArrowheads="1"/>
              </p:cNvSpPr>
              <p:nvPr/>
            </p:nvSpPr>
            <p:spPr bwMode="auto">
              <a:xfrm>
                <a:off x="1616" y="3516"/>
                <a:ext cx="37" cy="35"/>
              </a:xfrm>
              <a:prstGeom prst="ellipse">
                <a:avLst/>
              </a:prstGeom>
              <a:solidFill>
                <a:srgbClr val="000000"/>
              </a:solidFill>
              <a:ln w="9525">
                <a:solidFill>
                  <a:srgbClr val="000000"/>
                </a:solidFill>
                <a:round/>
                <a:headEnd/>
                <a:tailEnd/>
              </a:ln>
            </p:spPr>
            <p:txBody>
              <a:bodyPr/>
              <a:lstStyle/>
              <a:p>
                <a:endParaRPr lang="zh-CN" altLang="en-US">
                  <a:latin typeface="+mn-lt"/>
                </a:endParaRPr>
              </a:p>
            </p:txBody>
          </p:sp>
        </p:grpSp>
        <p:sp>
          <p:nvSpPr>
            <p:cNvPr id="6" name="Rectangle 100"/>
            <p:cNvSpPr>
              <a:spLocks noChangeArrowheads="1"/>
            </p:cNvSpPr>
            <p:nvPr/>
          </p:nvSpPr>
          <p:spPr bwMode="auto">
            <a:xfrm>
              <a:off x="666" y="3341"/>
              <a:ext cx="297"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0" i="1">
                  <a:latin typeface="+mn-lt"/>
                </a:rPr>
                <a:t>V</a:t>
              </a:r>
              <a:r>
                <a:rPr lang="en-US" altLang="zh-CN" b="0" i="1" baseline="-25000">
                  <a:latin typeface="+mn-lt"/>
                </a:rPr>
                <a:t>S</a:t>
              </a:r>
            </a:p>
          </p:txBody>
        </p:sp>
        <p:sp>
          <p:nvSpPr>
            <p:cNvPr id="7" name="Rectangle 101"/>
            <p:cNvSpPr>
              <a:spLocks noChangeArrowheads="1"/>
            </p:cNvSpPr>
            <p:nvPr/>
          </p:nvSpPr>
          <p:spPr bwMode="auto">
            <a:xfrm>
              <a:off x="1544" y="2710"/>
              <a:ext cx="297"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0" i="1">
                  <a:latin typeface="+mn-lt"/>
                </a:rPr>
                <a:t>R</a:t>
              </a:r>
              <a:r>
                <a:rPr lang="en-US" altLang="zh-CN" b="0" baseline="-25000">
                  <a:latin typeface="+mn-lt"/>
                </a:rPr>
                <a:t>1</a:t>
              </a:r>
            </a:p>
          </p:txBody>
        </p:sp>
        <p:sp>
          <p:nvSpPr>
            <p:cNvPr id="8" name="Rectangle 102"/>
            <p:cNvSpPr>
              <a:spLocks noChangeArrowheads="1"/>
            </p:cNvSpPr>
            <p:nvPr/>
          </p:nvSpPr>
          <p:spPr bwMode="auto">
            <a:xfrm>
              <a:off x="2316" y="3241"/>
              <a:ext cx="297"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0" i="1" dirty="0">
                  <a:latin typeface="+mn-lt"/>
                </a:rPr>
                <a:t>R</a:t>
              </a:r>
              <a:r>
                <a:rPr lang="en-US" altLang="zh-CN" b="0" baseline="-25000" dirty="0">
                  <a:latin typeface="+mn-lt"/>
                </a:rPr>
                <a:t>2</a:t>
              </a:r>
            </a:p>
          </p:txBody>
        </p:sp>
        <p:sp>
          <p:nvSpPr>
            <p:cNvPr id="9" name="Rectangle 103"/>
            <p:cNvSpPr>
              <a:spLocks noChangeArrowheads="1"/>
            </p:cNvSpPr>
            <p:nvPr/>
          </p:nvSpPr>
          <p:spPr bwMode="auto">
            <a:xfrm>
              <a:off x="2226" y="2819"/>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0" i="1">
                  <a:latin typeface="+mn-lt"/>
                </a:rPr>
                <a:t>a</a:t>
              </a:r>
              <a:endParaRPr lang="en-US" altLang="zh-CN" b="0" baseline="-25000">
                <a:latin typeface="+mn-lt"/>
              </a:endParaRPr>
            </a:p>
          </p:txBody>
        </p:sp>
        <p:sp>
          <p:nvSpPr>
            <p:cNvPr id="10" name="Rectangle 104"/>
            <p:cNvSpPr>
              <a:spLocks noChangeArrowheads="1"/>
            </p:cNvSpPr>
            <p:nvPr/>
          </p:nvSpPr>
          <p:spPr bwMode="auto">
            <a:xfrm>
              <a:off x="2318" y="3615"/>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0" i="1">
                  <a:latin typeface="+mn-lt"/>
                </a:rPr>
                <a:t>b</a:t>
              </a:r>
              <a:endParaRPr lang="en-US" altLang="zh-CN" b="0" baseline="-25000">
                <a:latin typeface="+mn-lt"/>
              </a:endParaRPr>
            </a:p>
          </p:txBody>
        </p:sp>
      </p:grpSp>
      <p:grpSp>
        <p:nvGrpSpPr>
          <p:cNvPr id="19" name="Group 109"/>
          <p:cNvGrpSpPr>
            <a:grpSpLocks/>
          </p:cNvGrpSpPr>
          <p:nvPr/>
        </p:nvGrpSpPr>
        <p:grpSpPr bwMode="auto">
          <a:xfrm>
            <a:off x="5820608" y="1194190"/>
            <a:ext cx="2009775" cy="2773362"/>
            <a:chOff x="3701" y="2573"/>
            <a:chExt cx="1266" cy="1747"/>
          </a:xfrm>
        </p:grpSpPr>
        <p:grpSp>
          <p:nvGrpSpPr>
            <p:cNvPr id="20" name="Group 94"/>
            <p:cNvGrpSpPr>
              <a:grpSpLocks/>
            </p:cNvGrpSpPr>
            <p:nvPr/>
          </p:nvGrpSpPr>
          <p:grpSpPr bwMode="auto">
            <a:xfrm>
              <a:off x="3959" y="2742"/>
              <a:ext cx="701" cy="1503"/>
              <a:chOff x="3337" y="2817"/>
              <a:chExt cx="564" cy="891"/>
            </a:xfrm>
          </p:grpSpPr>
          <p:sp>
            <p:nvSpPr>
              <p:cNvPr id="27" name="Line 79"/>
              <p:cNvSpPr>
                <a:spLocks noChangeShapeType="1"/>
              </p:cNvSpPr>
              <p:nvPr/>
            </p:nvSpPr>
            <p:spPr bwMode="auto">
              <a:xfrm>
                <a:off x="3409" y="2856"/>
                <a:ext cx="0" cy="85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mn-lt"/>
                </a:endParaRPr>
              </a:p>
            </p:txBody>
          </p:sp>
          <p:sp>
            <p:nvSpPr>
              <p:cNvPr id="28" name="Rectangle 78"/>
              <p:cNvSpPr>
                <a:spLocks noChangeArrowheads="1"/>
              </p:cNvSpPr>
              <p:nvPr/>
            </p:nvSpPr>
            <p:spPr bwMode="auto">
              <a:xfrm rot="-5400000">
                <a:off x="3305" y="2981"/>
                <a:ext cx="209" cy="109"/>
              </a:xfrm>
              <a:prstGeom prst="rect">
                <a:avLst/>
              </a:prstGeom>
              <a:solidFill>
                <a:srgbClr val="FFFFFF"/>
              </a:solidFill>
              <a:ln w="22225">
                <a:solidFill>
                  <a:srgbClr val="000000"/>
                </a:solidFill>
                <a:miter lim="800000"/>
                <a:headEnd/>
                <a:tailEnd/>
              </a:ln>
            </p:spPr>
            <p:txBody>
              <a:bodyPr/>
              <a:lstStyle/>
              <a:p>
                <a:endParaRPr lang="zh-CN" altLang="en-US">
                  <a:latin typeface="+mn-lt"/>
                </a:endParaRPr>
              </a:p>
            </p:txBody>
          </p:sp>
          <p:sp>
            <p:nvSpPr>
              <p:cNvPr id="29" name="Rectangle 77"/>
              <p:cNvSpPr>
                <a:spLocks noChangeArrowheads="1"/>
              </p:cNvSpPr>
              <p:nvPr/>
            </p:nvSpPr>
            <p:spPr bwMode="auto">
              <a:xfrm rot="-5400000">
                <a:off x="3305" y="3404"/>
                <a:ext cx="209" cy="109"/>
              </a:xfrm>
              <a:prstGeom prst="rect">
                <a:avLst/>
              </a:prstGeom>
              <a:solidFill>
                <a:srgbClr val="FFFFFF"/>
              </a:solidFill>
              <a:ln w="22225">
                <a:solidFill>
                  <a:srgbClr val="000000"/>
                </a:solidFill>
                <a:miter lim="800000"/>
                <a:headEnd/>
                <a:tailEnd/>
              </a:ln>
            </p:spPr>
            <p:txBody>
              <a:bodyPr/>
              <a:lstStyle/>
              <a:p>
                <a:endParaRPr lang="zh-CN" altLang="en-US">
                  <a:latin typeface="+mn-lt"/>
                </a:endParaRPr>
              </a:p>
            </p:txBody>
          </p:sp>
          <p:sp>
            <p:nvSpPr>
              <p:cNvPr id="30" name="Line 76"/>
              <p:cNvSpPr>
                <a:spLocks noChangeShapeType="1"/>
              </p:cNvSpPr>
              <p:nvPr/>
            </p:nvSpPr>
            <p:spPr bwMode="auto">
              <a:xfrm>
                <a:off x="3409" y="3257"/>
                <a:ext cx="45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mn-lt"/>
                </a:endParaRPr>
              </a:p>
            </p:txBody>
          </p:sp>
          <p:sp>
            <p:nvSpPr>
              <p:cNvPr id="31" name="Oval 75"/>
              <p:cNvSpPr>
                <a:spLocks noChangeArrowheads="1"/>
              </p:cNvSpPr>
              <p:nvPr/>
            </p:nvSpPr>
            <p:spPr bwMode="auto">
              <a:xfrm>
                <a:off x="3393" y="3239"/>
                <a:ext cx="36" cy="34"/>
              </a:xfrm>
              <a:prstGeom prst="ellipse">
                <a:avLst/>
              </a:prstGeom>
              <a:solidFill>
                <a:srgbClr val="000000"/>
              </a:solidFill>
              <a:ln w="19050">
                <a:solidFill>
                  <a:srgbClr val="000000"/>
                </a:solidFill>
                <a:round/>
                <a:headEnd/>
                <a:tailEnd/>
              </a:ln>
            </p:spPr>
            <p:txBody>
              <a:bodyPr/>
              <a:lstStyle/>
              <a:p>
                <a:endParaRPr lang="zh-CN" altLang="en-US">
                  <a:latin typeface="+mn-lt"/>
                </a:endParaRPr>
              </a:p>
            </p:txBody>
          </p:sp>
          <p:sp>
            <p:nvSpPr>
              <p:cNvPr id="32" name="Oval 74"/>
              <p:cNvSpPr>
                <a:spLocks noChangeArrowheads="1"/>
              </p:cNvSpPr>
              <p:nvPr/>
            </p:nvSpPr>
            <p:spPr bwMode="auto">
              <a:xfrm>
                <a:off x="3864" y="3239"/>
                <a:ext cx="37" cy="34"/>
              </a:xfrm>
              <a:prstGeom prst="ellipse">
                <a:avLst/>
              </a:prstGeom>
              <a:solidFill>
                <a:srgbClr val="FFFFFF"/>
              </a:solidFill>
              <a:ln w="19050">
                <a:solidFill>
                  <a:srgbClr val="000000"/>
                </a:solidFill>
                <a:round/>
                <a:headEnd/>
                <a:tailEnd/>
              </a:ln>
            </p:spPr>
            <p:txBody>
              <a:bodyPr/>
              <a:lstStyle/>
              <a:p>
                <a:endParaRPr lang="zh-CN" altLang="en-US">
                  <a:latin typeface="+mn-lt"/>
                </a:endParaRPr>
              </a:p>
            </p:txBody>
          </p:sp>
          <p:sp>
            <p:nvSpPr>
              <p:cNvPr id="33" name="Oval 73"/>
              <p:cNvSpPr>
                <a:spLocks noChangeArrowheads="1"/>
              </p:cNvSpPr>
              <p:nvPr/>
            </p:nvSpPr>
            <p:spPr bwMode="auto">
              <a:xfrm>
                <a:off x="3393" y="2817"/>
                <a:ext cx="36" cy="35"/>
              </a:xfrm>
              <a:prstGeom prst="ellipse">
                <a:avLst/>
              </a:prstGeom>
              <a:solidFill>
                <a:srgbClr val="FFFFFF"/>
              </a:solidFill>
              <a:ln w="22225">
                <a:solidFill>
                  <a:srgbClr val="000000"/>
                </a:solidFill>
                <a:round/>
                <a:headEnd/>
                <a:tailEnd/>
              </a:ln>
            </p:spPr>
            <p:txBody>
              <a:bodyPr/>
              <a:lstStyle/>
              <a:p>
                <a:endParaRPr lang="zh-CN" altLang="en-US">
                  <a:latin typeface="+mn-lt"/>
                </a:endParaRPr>
              </a:p>
            </p:txBody>
          </p:sp>
          <p:sp>
            <p:nvSpPr>
              <p:cNvPr id="34" name="Line 72"/>
              <p:cNvSpPr>
                <a:spLocks noChangeShapeType="1"/>
              </p:cNvSpPr>
              <p:nvPr/>
            </p:nvSpPr>
            <p:spPr bwMode="auto">
              <a:xfrm>
                <a:off x="3337" y="3708"/>
                <a:ext cx="14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mn-lt"/>
                </a:endParaRPr>
              </a:p>
            </p:txBody>
          </p:sp>
        </p:grpSp>
        <p:sp>
          <p:nvSpPr>
            <p:cNvPr id="21" name="Rectangle 95"/>
            <p:cNvSpPr>
              <a:spLocks noChangeArrowheads="1"/>
            </p:cNvSpPr>
            <p:nvPr/>
          </p:nvSpPr>
          <p:spPr bwMode="auto">
            <a:xfrm>
              <a:off x="4642" y="3331"/>
              <a:ext cx="325"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0" i="1" dirty="0">
                  <a:latin typeface="+mn-lt"/>
                </a:rPr>
                <a:t>V</a:t>
              </a:r>
              <a:r>
                <a:rPr lang="en-US" altLang="zh-CN" b="0" i="1" baseline="-25000" dirty="0">
                  <a:latin typeface="+mn-lt"/>
                </a:rPr>
                <a:t>O</a:t>
              </a:r>
            </a:p>
          </p:txBody>
        </p:sp>
        <p:sp>
          <p:nvSpPr>
            <p:cNvPr id="22" name="Rectangle 96"/>
            <p:cNvSpPr>
              <a:spLocks noChangeArrowheads="1"/>
            </p:cNvSpPr>
            <p:nvPr/>
          </p:nvSpPr>
          <p:spPr bwMode="auto">
            <a:xfrm>
              <a:off x="3710" y="2947"/>
              <a:ext cx="297"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0" i="1" dirty="0">
                  <a:latin typeface="+mn-lt"/>
                </a:rPr>
                <a:t>R</a:t>
              </a:r>
              <a:r>
                <a:rPr lang="en-US" altLang="zh-CN" b="0" baseline="-25000" dirty="0">
                  <a:latin typeface="+mn-lt"/>
                </a:rPr>
                <a:t>1</a:t>
              </a:r>
            </a:p>
          </p:txBody>
        </p:sp>
        <p:sp>
          <p:nvSpPr>
            <p:cNvPr id="23" name="Rectangle 97"/>
            <p:cNvSpPr>
              <a:spLocks noChangeArrowheads="1"/>
            </p:cNvSpPr>
            <p:nvPr/>
          </p:nvSpPr>
          <p:spPr bwMode="auto">
            <a:xfrm>
              <a:off x="3701" y="3661"/>
              <a:ext cx="297"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0" i="1" dirty="0">
                  <a:latin typeface="+mn-lt"/>
                </a:rPr>
                <a:t>R</a:t>
              </a:r>
              <a:r>
                <a:rPr lang="en-US" altLang="zh-CN" b="0" baseline="-25000" dirty="0">
                  <a:latin typeface="+mn-lt"/>
                </a:rPr>
                <a:t>2</a:t>
              </a:r>
            </a:p>
          </p:txBody>
        </p:sp>
        <p:sp>
          <p:nvSpPr>
            <p:cNvPr id="24" name="Rectangle 98"/>
            <p:cNvSpPr>
              <a:spLocks noChangeArrowheads="1"/>
            </p:cNvSpPr>
            <p:nvPr/>
          </p:nvSpPr>
          <p:spPr bwMode="auto">
            <a:xfrm>
              <a:off x="3745" y="2573"/>
              <a:ext cx="297"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0" i="1" dirty="0">
                  <a:latin typeface="+mn-lt"/>
                </a:rPr>
                <a:t>V</a:t>
              </a:r>
              <a:r>
                <a:rPr lang="en-US" altLang="zh-CN" b="0" i="1" baseline="-25000" dirty="0">
                  <a:latin typeface="+mn-lt"/>
                </a:rPr>
                <a:t>S</a:t>
              </a:r>
            </a:p>
          </p:txBody>
        </p:sp>
        <p:sp>
          <p:nvSpPr>
            <p:cNvPr id="25" name="Rectangle 105"/>
            <p:cNvSpPr>
              <a:spLocks noChangeArrowheads="1"/>
            </p:cNvSpPr>
            <p:nvPr/>
          </p:nvSpPr>
          <p:spPr bwMode="auto">
            <a:xfrm>
              <a:off x="3789" y="3322"/>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0" i="1">
                  <a:latin typeface="+mn-lt"/>
                </a:rPr>
                <a:t>a</a:t>
              </a:r>
              <a:endParaRPr lang="en-US" altLang="zh-CN" b="0" baseline="-25000">
                <a:latin typeface="+mn-lt"/>
              </a:endParaRPr>
            </a:p>
          </p:txBody>
        </p:sp>
        <p:sp>
          <p:nvSpPr>
            <p:cNvPr id="26" name="Rectangle 106"/>
            <p:cNvSpPr>
              <a:spLocks noChangeArrowheads="1"/>
            </p:cNvSpPr>
            <p:nvPr/>
          </p:nvSpPr>
          <p:spPr bwMode="auto">
            <a:xfrm>
              <a:off x="3790" y="4032"/>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b="0" i="1">
                  <a:latin typeface="+mn-lt"/>
                </a:rPr>
                <a:t>b</a:t>
              </a:r>
              <a:endParaRPr lang="en-US" altLang="zh-CN" b="0" baseline="-25000">
                <a:latin typeface="+mn-lt"/>
              </a:endParaRPr>
            </a:p>
          </p:txBody>
        </p:sp>
      </p:grpSp>
      <p:sp>
        <p:nvSpPr>
          <p:cNvPr id="2" name="右箭头 1"/>
          <p:cNvSpPr/>
          <p:nvPr/>
        </p:nvSpPr>
        <p:spPr bwMode="auto">
          <a:xfrm rot="19720867">
            <a:off x="4394902" y="3585015"/>
            <a:ext cx="679268" cy="215489"/>
          </a:xfrm>
          <a:prstGeom prst="right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charset="-122"/>
            </a:endParaRPr>
          </a:p>
        </p:txBody>
      </p:sp>
      <p:sp>
        <p:nvSpPr>
          <p:cNvPr id="36" name="右箭头 35"/>
          <p:cNvSpPr/>
          <p:nvPr/>
        </p:nvSpPr>
        <p:spPr bwMode="auto">
          <a:xfrm rot="1879133" flipV="1">
            <a:off x="4409938" y="4355389"/>
            <a:ext cx="679268" cy="215489"/>
          </a:xfrm>
          <a:prstGeom prst="right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charset="-122"/>
            </a:endParaRPr>
          </a:p>
        </p:txBody>
      </p:sp>
      <p:pic>
        <p:nvPicPr>
          <p:cNvPr id="38" name="图片 37"/>
          <p:cNvPicPr>
            <a:picLocks noChangeAspect="1"/>
          </p:cNvPicPr>
          <p:nvPr/>
        </p:nvPicPr>
        <p:blipFill>
          <a:blip r:embed="rId2"/>
          <a:stretch>
            <a:fillRect/>
          </a:stretch>
        </p:blipFill>
        <p:spPr>
          <a:xfrm>
            <a:off x="5791500" y="4025231"/>
            <a:ext cx="2065182" cy="2821500"/>
          </a:xfrm>
          <a:prstGeom prst="rect">
            <a:avLst/>
          </a:prstGeom>
        </p:spPr>
      </p:pic>
    </p:spTree>
    <p:extLst>
      <p:ext uri="{BB962C8B-B14F-4D97-AF65-F5344CB8AC3E}">
        <p14:creationId xmlns:p14="http://schemas.microsoft.com/office/powerpoint/2010/main" val="212586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inVertical)">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barn(inVertical)">
                                      <p:cBhvr>
                                        <p:cTn id="21" dur="500"/>
                                        <p:tgtEl>
                                          <p:spTgt spid="36"/>
                                        </p:tgtEl>
                                      </p:cBhvr>
                                    </p:animEffect>
                                  </p:childTnLst>
                                </p:cTn>
                              </p:par>
                            </p:childTnLst>
                          </p:cTn>
                        </p:par>
                        <p:par>
                          <p:cTn id="22" fill="hold">
                            <p:stCondLst>
                              <p:cond delay="500"/>
                            </p:stCondLst>
                            <p:childTnLst>
                              <p:par>
                                <p:cTn id="23" presetID="16" presetClass="entr" presetSubtype="21" fill="hold" nodeType="after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barn(inVertical)">
                                      <p:cBhvr>
                                        <p:cTn id="2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Text Box 2"/>
          <p:cNvSpPr txBox="1">
            <a:spLocks noChangeArrowheads="1"/>
          </p:cNvSpPr>
          <p:nvPr/>
        </p:nvSpPr>
        <p:spPr bwMode="auto">
          <a:xfrm>
            <a:off x="939800" y="1268413"/>
            <a:ext cx="7689850" cy="831850"/>
          </a:xfrm>
          <a:prstGeom prst="rect">
            <a:avLst/>
          </a:prstGeom>
          <a:solidFill>
            <a:srgbClr val="3399FF"/>
          </a:solidFill>
          <a:ln>
            <a:noFill/>
          </a:ln>
          <a:effectLst/>
          <a:extLs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800100" indent="-342900" eaLnBrk="0" hangingPunct="0">
              <a:defRPr kumimoji="1" sz="2400" b="1">
                <a:solidFill>
                  <a:schemeClr val="tx1"/>
                </a:solidFill>
                <a:latin typeface="Times New Roman" pitchFamily="18" charset="0"/>
                <a:ea typeface="宋体" charset="-122"/>
              </a:defRPr>
            </a:lvl2pPr>
            <a:lvl3pPr marL="1257300" indent="-342900" eaLnBrk="0" hangingPunct="0">
              <a:defRPr kumimoji="1" sz="2400" b="1">
                <a:solidFill>
                  <a:schemeClr val="tx1"/>
                </a:solidFill>
                <a:latin typeface="Times New Roman" pitchFamily="18" charset="0"/>
                <a:ea typeface="宋体" charset="-122"/>
              </a:defRPr>
            </a:lvl3pPr>
            <a:lvl4pPr marL="1714500" indent="-342900" eaLnBrk="0" hangingPunct="0">
              <a:defRPr kumimoji="1" sz="2400" b="1">
                <a:solidFill>
                  <a:schemeClr val="tx1"/>
                </a:solidFill>
                <a:latin typeface="Times New Roman" pitchFamily="18" charset="0"/>
                <a:ea typeface="宋体" charset="-122"/>
              </a:defRPr>
            </a:lvl4pPr>
            <a:lvl5pPr marL="2171700" indent="-342900" eaLnBrk="0" hangingPunct="0">
              <a:defRPr kumimoji="1" sz="2400" b="1">
                <a:solidFill>
                  <a:schemeClr val="tx1"/>
                </a:solidFill>
                <a:latin typeface="Times New Roman" pitchFamily="18" charset="0"/>
                <a:ea typeface="宋体" charset="-122"/>
              </a:defRPr>
            </a:lvl5pPr>
            <a:lvl6pPr marL="2628900" indent="-3429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086100" indent="-3429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543300" indent="-3429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000500" indent="-3429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20000"/>
              </a:lnSpc>
              <a:spcBef>
                <a:spcPct val="50000"/>
              </a:spcBef>
              <a:buFontTx/>
              <a:buAutoNum type="circleNumDbPlain"/>
            </a:pPr>
            <a:r>
              <a:rPr lang="zh-CN" altLang="en-US" sz="2000" dirty="0">
                <a:solidFill>
                  <a:srgbClr val="FFFF00"/>
                </a:solidFill>
                <a:latin typeface="楷体_GB2312" pitchFamily="49" charset="-122"/>
                <a:ea typeface="楷体_GB2312" pitchFamily="49" charset="-122"/>
                <a:sym typeface="Symbol" pitchFamily="18" charset="2"/>
              </a:rPr>
              <a:t>电源两端电压由电源本身决定，与外电路无关；与流经它的电流方向、大小无关。</a:t>
            </a:r>
          </a:p>
        </p:txBody>
      </p:sp>
      <p:sp>
        <p:nvSpPr>
          <p:cNvPr id="398339" name="Text Box 3"/>
          <p:cNvSpPr txBox="1">
            <a:spLocks noChangeArrowheads="1"/>
          </p:cNvSpPr>
          <p:nvPr/>
        </p:nvSpPr>
        <p:spPr bwMode="auto">
          <a:xfrm>
            <a:off x="939800" y="2278063"/>
            <a:ext cx="5111750" cy="822325"/>
          </a:xfrm>
          <a:prstGeom prst="rect">
            <a:avLst/>
          </a:prstGeom>
          <a:solidFill>
            <a:srgbClr val="3399FF"/>
          </a:solidFill>
          <a:ln>
            <a:noFill/>
          </a:ln>
          <a:effectLst/>
          <a:extLs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800100" indent="-342900" eaLnBrk="0" hangingPunct="0">
              <a:defRPr kumimoji="1" sz="2400" b="1">
                <a:solidFill>
                  <a:schemeClr val="tx1"/>
                </a:solidFill>
                <a:latin typeface="Times New Roman" pitchFamily="18" charset="0"/>
                <a:ea typeface="宋体" charset="-122"/>
              </a:defRPr>
            </a:lvl2pPr>
            <a:lvl3pPr marL="1257300" indent="-342900" eaLnBrk="0" hangingPunct="0">
              <a:defRPr kumimoji="1" sz="2400" b="1">
                <a:solidFill>
                  <a:schemeClr val="tx1"/>
                </a:solidFill>
                <a:latin typeface="Times New Roman" pitchFamily="18" charset="0"/>
                <a:ea typeface="宋体" charset="-122"/>
              </a:defRPr>
            </a:lvl3pPr>
            <a:lvl4pPr marL="1714500" indent="-342900" eaLnBrk="0" hangingPunct="0">
              <a:defRPr kumimoji="1" sz="2400" b="1">
                <a:solidFill>
                  <a:schemeClr val="tx1"/>
                </a:solidFill>
                <a:latin typeface="Times New Roman" pitchFamily="18" charset="0"/>
                <a:ea typeface="宋体" charset="-122"/>
              </a:defRPr>
            </a:lvl4pPr>
            <a:lvl5pPr marL="2171700" indent="-342900" eaLnBrk="0" hangingPunct="0">
              <a:defRPr kumimoji="1" sz="2400" b="1">
                <a:solidFill>
                  <a:schemeClr val="tx1"/>
                </a:solidFill>
                <a:latin typeface="Times New Roman" pitchFamily="18" charset="0"/>
                <a:ea typeface="宋体" charset="-122"/>
              </a:defRPr>
            </a:lvl5pPr>
            <a:lvl6pPr marL="2628900" indent="-3429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086100" indent="-3429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543300" indent="-3429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000500" indent="-3429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20000"/>
              </a:lnSpc>
              <a:spcBef>
                <a:spcPct val="50000"/>
              </a:spcBef>
              <a:buFontTx/>
              <a:buAutoNum type="circleNumDbPlain" startAt="2"/>
            </a:pPr>
            <a:r>
              <a:rPr lang="zh-CN" altLang="en-US" sz="2000" dirty="0">
                <a:solidFill>
                  <a:srgbClr val="FFFF00"/>
                </a:solidFill>
                <a:latin typeface="楷体_GB2312" pitchFamily="49" charset="-122"/>
                <a:ea typeface="楷体_GB2312" pitchFamily="49" charset="-122"/>
                <a:sym typeface="Symbol" pitchFamily="18" charset="2"/>
              </a:rPr>
              <a:t>通过电压源的电流由电源及外电路共同决定。</a:t>
            </a:r>
          </a:p>
        </p:txBody>
      </p:sp>
      <p:sp>
        <p:nvSpPr>
          <p:cNvPr id="398340" name="Text Box 4"/>
          <p:cNvSpPr txBox="1">
            <a:spLocks noChangeArrowheads="1"/>
          </p:cNvSpPr>
          <p:nvPr/>
        </p:nvSpPr>
        <p:spPr bwMode="auto">
          <a:xfrm>
            <a:off x="539751" y="663575"/>
            <a:ext cx="4660900" cy="460375"/>
          </a:xfrm>
          <a:prstGeom prst="rect">
            <a:avLst/>
          </a:prstGeom>
          <a:noFill/>
          <a:ln w="28575">
            <a:solidFill>
              <a:srgbClr val="00CC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spcBef>
                <a:spcPct val="50000"/>
              </a:spcBef>
              <a:buClr>
                <a:schemeClr val="tx1"/>
              </a:buClr>
              <a:defRPr/>
            </a:pPr>
            <a:r>
              <a:rPr lang="en-US" altLang="zh-CN" dirty="0">
                <a:latin typeface="+mn-lt"/>
                <a:ea typeface="楷体_GB2312" pitchFamily="49" charset="-122"/>
                <a:sym typeface="Symbol" pitchFamily="18" charset="2"/>
              </a:rPr>
              <a:t>3</a:t>
            </a:r>
            <a:r>
              <a:rPr lang="zh-CN" altLang="en-US" dirty="0">
                <a:latin typeface="+mn-lt"/>
                <a:ea typeface="楷体_GB2312" pitchFamily="49" charset="-122"/>
                <a:sym typeface="Symbol" pitchFamily="18" charset="2"/>
              </a:rPr>
              <a:t>、</a:t>
            </a:r>
            <a:r>
              <a:rPr lang="zh-CN" altLang="en-US" dirty="0">
                <a:latin typeface="楷体_GB2312" pitchFamily="49" charset="-122"/>
                <a:ea typeface="楷体_GB2312" pitchFamily="49" charset="-122"/>
                <a:sym typeface="Symbol" pitchFamily="18" charset="2"/>
              </a:rPr>
              <a:t>理想电压源的电压、电流关系</a:t>
            </a:r>
          </a:p>
        </p:txBody>
      </p:sp>
      <p:sp>
        <p:nvSpPr>
          <p:cNvPr id="398341" name="Text Box 5"/>
          <p:cNvSpPr txBox="1">
            <a:spLocks noChangeArrowheads="1"/>
          </p:cNvSpPr>
          <p:nvPr/>
        </p:nvSpPr>
        <p:spPr bwMode="auto">
          <a:xfrm>
            <a:off x="468313" y="3429000"/>
            <a:ext cx="647700" cy="457200"/>
          </a:xfrm>
          <a:prstGeom prst="rect">
            <a:avLst/>
          </a:prstGeom>
          <a:noFill/>
          <a:ln>
            <a:noFill/>
          </a:ln>
          <a:effectLst/>
          <a:extLst>
            <a:ext uri="{909E8E84-426E-40DD-AFC4-6F175D3DCCD1}">
              <a14:hiddenFill xmlns:a14="http://schemas.microsoft.com/office/drawing/2010/main">
                <a:solidFill>
                  <a:srgbClr val="9933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rgbClr val="FFFFFF"/>
                </a:solidFill>
                <a:sym typeface="Symbol" pitchFamily="18" charset="2"/>
              </a:rPr>
              <a:t>例</a:t>
            </a:r>
          </a:p>
        </p:txBody>
      </p:sp>
      <p:grpSp>
        <p:nvGrpSpPr>
          <p:cNvPr id="398342" name="Group 6"/>
          <p:cNvGrpSpPr>
            <a:grpSpLocks/>
          </p:cNvGrpSpPr>
          <p:nvPr/>
        </p:nvGrpSpPr>
        <p:grpSpPr bwMode="auto">
          <a:xfrm>
            <a:off x="900113" y="3500438"/>
            <a:ext cx="1973262" cy="1871662"/>
            <a:chOff x="1973" y="1616"/>
            <a:chExt cx="1243" cy="1179"/>
          </a:xfrm>
        </p:grpSpPr>
        <p:sp>
          <p:nvSpPr>
            <p:cNvPr id="56344" name="Oval 7"/>
            <p:cNvSpPr>
              <a:spLocks noChangeArrowheads="1"/>
            </p:cNvSpPr>
            <p:nvPr/>
          </p:nvSpPr>
          <p:spPr bwMode="auto">
            <a:xfrm>
              <a:off x="1973" y="2024"/>
              <a:ext cx="363" cy="363"/>
            </a:xfrm>
            <a:prstGeom prst="ellipse">
              <a:avLst/>
            </a:prstGeom>
            <a:gradFill rotWithShape="1">
              <a:gsLst>
                <a:gs pos="0">
                  <a:srgbClr val="0099FF"/>
                </a:gs>
                <a:gs pos="100000">
                  <a:srgbClr val="004776"/>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endParaRPr kumimoji="0" lang="zh-CN" altLang="zh-CN" b="0">
                <a:solidFill>
                  <a:srgbClr val="FFFF00"/>
                </a:solidFill>
                <a:latin typeface="Arial" charset="0"/>
                <a:ea typeface="仿宋_GB2312" pitchFamily="49" charset="-122"/>
              </a:endParaRPr>
            </a:p>
          </p:txBody>
        </p:sp>
        <p:sp>
          <p:nvSpPr>
            <p:cNvPr id="56345" name="Rectangle 8"/>
            <p:cNvSpPr>
              <a:spLocks noChangeArrowheads="1"/>
            </p:cNvSpPr>
            <p:nvPr/>
          </p:nvSpPr>
          <p:spPr bwMode="auto">
            <a:xfrm>
              <a:off x="2154" y="1661"/>
              <a:ext cx="998" cy="1134"/>
            </a:xfrm>
            <a:prstGeom prst="rect">
              <a:avLst/>
            </a:prstGeom>
            <a:noFill/>
            <a:ln w="28575" algn="ctr">
              <a:solidFill>
                <a:srgbClr val="FF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6346" name="Text Box 9"/>
            <p:cNvSpPr txBox="1">
              <a:spLocks noChangeArrowheads="1"/>
            </p:cNvSpPr>
            <p:nvPr/>
          </p:nvSpPr>
          <p:spPr bwMode="auto">
            <a:xfrm>
              <a:off x="2825" y="2069"/>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dirty="0">
                  <a:ea typeface="仿宋_GB2312" pitchFamily="49" charset="-122"/>
                  <a:sym typeface="Symbol" pitchFamily="18" charset="2"/>
                </a:rPr>
                <a:t>R</a:t>
              </a:r>
            </a:p>
          </p:txBody>
        </p:sp>
        <p:sp>
          <p:nvSpPr>
            <p:cNvPr id="56347" name="Text Box 10"/>
            <p:cNvSpPr txBox="1">
              <a:spLocks noChangeArrowheads="1"/>
            </p:cNvSpPr>
            <p:nvPr/>
          </p:nvSpPr>
          <p:spPr bwMode="auto">
            <a:xfrm>
              <a:off x="2835" y="1616"/>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i</a:t>
              </a:r>
            </a:p>
          </p:txBody>
        </p:sp>
        <p:sp>
          <p:nvSpPr>
            <p:cNvPr id="56348" name="Text Box 11"/>
            <p:cNvSpPr txBox="1">
              <a:spLocks noChangeArrowheads="1"/>
            </p:cNvSpPr>
            <p:nvPr/>
          </p:nvSpPr>
          <p:spPr bwMode="auto">
            <a:xfrm>
              <a:off x="2260" y="2306"/>
              <a:ext cx="2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latin typeface="宋体" charset="-122"/>
                  <a:sym typeface="Symbol" pitchFamily="18" charset="2"/>
                </a:rPr>
                <a:t>-</a:t>
              </a:r>
            </a:p>
          </p:txBody>
        </p:sp>
        <p:sp>
          <p:nvSpPr>
            <p:cNvPr id="56349" name="Text Box 12"/>
            <p:cNvSpPr txBox="1">
              <a:spLocks noChangeArrowheads="1"/>
            </p:cNvSpPr>
            <p:nvPr/>
          </p:nvSpPr>
          <p:spPr bwMode="auto">
            <a:xfrm>
              <a:off x="2290" y="1833"/>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dirty="0">
                  <a:ea typeface="仿宋_GB2312" pitchFamily="49" charset="-122"/>
                  <a:sym typeface="Symbol" pitchFamily="18" charset="2"/>
                </a:rPr>
                <a:t>+</a:t>
              </a:r>
            </a:p>
          </p:txBody>
        </p:sp>
        <p:graphicFrame>
          <p:nvGraphicFramePr>
            <p:cNvPr id="56350" name="Object 13"/>
            <p:cNvGraphicFramePr>
              <a:graphicFrameLocks noChangeAspect="1"/>
            </p:cNvGraphicFramePr>
            <p:nvPr>
              <p:extLst/>
            </p:nvPr>
          </p:nvGraphicFramePr>
          <p:xfrm>
            <a:off x="2379" y="2040"/>
            <a:ext cx="229" cy="305"/>
          </p:xfrm>
          <a:graphic>
            <a:graphicData uri="http://schemas.openxmlformats.org/presentationml/2006/ole">
              <mc:AlternateContent xmlns:mc="http://schemas.openxmlformats.org/markup-compatibility/2006">
                <mc:Choice xmlns:v="urn:schemas-microsoft-com:vml" Requires="v">
                  <p:oleObj spid="_x0000_s130074" name="Equation" r:id="rId3" imgW="142750" imgH="190564" progId="Equation.DSMT4">
                    <p:embed/>
                  </p:oleObj>
                </mc:Choice>
                <mc:Fallback>
                  <p:oleObj name="Equation" r:id="rId3" imgW="142750" imgH="190564"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9" y="2040"/>
                          <a:ext cx="229"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51" name="Rectangle 14"/>
            <p:cNvSpPr>
              <a:spLocks noChangeArrowheads="1"/>
            </p:cNvSpPr>
            <p:nvPr/>
          </p:nvSpPr>
          <p:spPr bwMode="auto">
            <a:xfrm>
              <a:off x="3079" y="2024"/>
              <a:ext cx="137" cy="363"/>
            </a:xfrm>
            <a:prstGeom prst="rect">
              <a:avLst/>
            </a:prstGeom>
            <a:gradFill rotWithShape="1">
              <a:gsLst>
                <a:gs pos="0">
                  <a:srgbClr val="764700"/>
                </a:gs>
                <a:gs pos="50000">
                  <a:srgbClr val="FF9900"/>
                </a:gs>
                <a:gs pos="100000">
                  <a:srgbClr val="764700"/>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6352" name="Line 15"/>
            <p:cNvSpPr>
              <a:spLocks noChangeShapeType="1"/>
            </p:cNvSpPr>
            <p:nvPr/>
          </p:nvSpPr>
          <p:spPr bwMode="auto">
            <a:xfrm>
              <a:off x="2562" y="1752"/>
              <a:ext cx="273" cy="0"/>
            </a:xfrm>
            <a:prstGeom prst="line">
              <a:avLst/>
            </a:prstGeom>
            <a:noFill/>
            <a:ln w="28575" cap="sq">
              <a:solidFill>
                <a:srgbClr val="00CCFF"/>
              </a:solidFill>
              <a:round/>
              <a:headEnd/>
              <a:tailEnd type="triangle" w="med" len="med"/>
            </a:ln>
            <a:effectLst>
              <a:prstShdw prst="shdw17" dist="17961" dir="2700000">
                <a:schemeClr val="bg2"/>
              </a:prstShdw>
            </a:effectLst>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98352" name="AutoShape 16" descr="羊皮纸"/>
          <p:cNvSpPr>
            <a:spLocks noChangeArrowheads="1"/>
          </p:cNvSpPr>
          <p:nvPr/>
        </p:nvSpPr>
        <p:spPr bwMode="auto">
          <a:xfrm>
            <a:off x="1211263" y="5557838"/>
            <a:ext cx="1035050" cy="360362"/>
          </a:xfrm>
          <a:prstGeom prst="wedgeRoundRectCallout">
            <a:avLst>
              <a:gd name="adj1" fmla="val 85889"/>
              <a:gd name="adj2" fmla="val -320046"/>
              <a:gd name="adj3" fmla="val 16667"/>
            </a:avLst>
          </a:prstGeom>
          <a:blipFill dpi="0" rotWithShape="1">
            <a:blip r:embed="rId5"/>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1800">
                <a:solidFill>
                  <a:srgbClr val="000000"/>
                </a:solidFill>
                <a:ea typeface="楷体_GB2312" pitchFamily="49" charset="-122"/>
                <a:sym typeface="Symbol" pitchFamily="18" charset="2"/>
              </a:rPr>
              <a:t>外电路</a:t>
            </a:r>
          </a:p>
        </p:txBody>
      </p:sp>
      <p:sp>
        <p:nvSpPr>
          <p:cNvPr id="398353" name="AutoShape 17"/>
          <p:cNvSpPr>
            <a:spLocks noChangeArrowheads="1"/>
          </p:cNvSpPr>
          <p:nvPr/>
        </p:nvSpPr>
        <p:spPr bwMode="auto">
          <a:xfrm rot="20827372" flipV="1">
            <a:off x="3132138" y="3716338"/>
            <a:ext cx="719137" cy="144462"/>
          </a:xfrm>
          <a:prstGeom prst="rightArrow">
            <a:avLst>
              <a:gd name="adj1" fmla="val 50000"/>
              <a:gd name="adj2" fmla="val 124451"/>
            </a:avLst>
          </a:prstGeom>
          <a:solidFill>
            <a:srgbClr val="FF3300"/>
          </a:solidFill>
          <a:ln w="9525"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aphicFrame>
        <p:nvGraphicFramePr>
          <p:cNvPr id="398354" name="Object 18"/>
          <p:cNvGraphicFramePr>
            <a:graphicFrameLocks noChangeAspect="1"/>
          </p:cNvGraphicFramePr>
          <p:nvPr>
            <p:extLst/>
          </p:nvPr>
        </p:nvGraphicFramePr>
        <p:xfrm>
          <a:off x="3979863" y="3051175"/>
          <a:ext cx="1384300" cy="941388"/>
        </p:xfrm>
        <a:graphic>
          <a:graphicData uri="http://schemas.openxmlformats.org/presentationml/2006/ole">
            <mc:AlternateContent xmlns:mc="http://schemas.openxmlformats.org/markup-compatibility/2006">
              <mc:Choice xmlns:v="urn:schemas-microsoft-com:vml" Requires="v">
                <p:oleObj spid="_x0000_s130075" name="Equation" r:id="rId6" imgW="355320" imgH="355320" progId="Equation.DSMT4">
                  <p:embed/>
                </p:oleObj>
              </mc:Choice>
              <mc:Fallback>
                <p:oleObj name="Equation" r:id="rId6" imgW="355320" imgH="355320" progId="Equation.DSMT4">
                  <p:embed/>
                  <p:pic>
                    <p:nvPicPr>
                      <p:cNvPr id="0" name=""/>
                      <p:cNvPicPr>
                        <a:picLocks noChangeAspect="1" noChangeArrowheads="1"/>
                      </p:cNvPicPr>
                      <p:nvPr/>
                    </p:nvPicPr>
                    <p:blipFill>
                      <a:blip r:embed="rId7"/>
                      <a:srcRect/>
                      <a:stretch>
                        <a:fillRect/>
                      </a:stretch>
                    </p:blipFill>
                    <p:spPr bwMode="auto">
                      <a:xfrm>
                        <a:off x="3979863" y="3051175"/>
                        <a:ext cx="1384300" cy="941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8355" name="AutoShape 19"/>
          <p:cNvSpPr>
            <a:spLocks noChangeArrowheads="1"/>
          </p:cNvSpPr>
          <p:nvPr/>
        </p:nvSpPr>
        <p:spPr bwMode="auto">
          <a:xfrm>
            <a:off x="3132138" y="4292600"/>
            <a:ext cx="720725" cy="144463"/>
          </a:xfrm>
          <a:prstGeom prst="rightArrow">
            <a:avLst>
              <a:gd name="adj1" fmla="val 50000"/>
              <a:gd name="adj2" fmla="val 124725"/>
            </a:avLst>
          </a:prstGeom>
          <a:solidFill>
            <a:srgbClr val="FF3300"/>
          </a:solidFill>
          <a:ln w="9525"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aphicFrame>
        <p:nvGraphicFramePr>
          <p:cNvPr id="398356" name="Object 20"/>
          <p:cNvGraphicFramePr>
            <a:graphicFrameLocks noChangeAspect="1"/>
          </p:cNvGraphicFramePr>
          <p:nvPr/>
        </p:nvGraphicFramePr>
        <p:xfrm>
          <a:off x="3976688" y="4173538"/>
          <a:ext cx="2057400" cy="441325"/>
        </p:xfrm>
        <a:graphic>
          <a:graphicData uri="http://schemas.openxmlformats.org/presentationml/2006/ole">
            <mc:AlternateContent xmlns:mc="http://schemas.openxmlformats.org/markup-compatibility/2006">
              <mc:Choice xmlns:v="urn:schemas-microsoft-com:vml" Requires="v">
                <p:oleObj spid="_x0000_s130076" name="公式" r:id="rId8" imgW="1057265" imgH="218946" progId="Equation.3">
                  <p:embed/>
                </p:oleObj>
              </mc:Choice>
              <mc:Fallback>
                <p:oleObj name="公式" r:id="rId8" imgW="1057265" imgH="218946"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76688" y="4173538"/>
                        <a:ext cx="2057400"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8357" name="AutoShape 21"/>
          <p:cNvSpPr>
            <a:spLocks noChangeArrowheads="1"/>
          </p:cNvSpPr>
          <p:nvPr/>
        </p:nvSpPr>
        <p:spPr bwMode="auto">
          <a:xfrm rot="1047492">
            <a:off x="3059113" y="4868863"/>
            <a:ext cx="719137" cy="144462"/>
          </a:xfrm>
          <a:prstGeom prst="rightArrow">
            <a:avLst>
              <a:gd name="adj1" fmla="val 50000"/>
              <a:gd name="adj2" fmla="val 124451"/>
            </a:avLst>
          </a:prstGeom>
          <a:solidFill>
            <a:srgbClr val="FF3300"/>
          </a:solidFill>
          <a:ln w="9525"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aphicFrame>
        <p:nvGraphicFramePr>
          <p:cNvPr id="398358" name="Object 22"/>
          <p:cNvGraphicFramePr>
            <a:graphicFrameLocks noChangeAspect="1"/>
          </p:cNvGraphicFramePr>
          <p:nvPr/>
        </p:nvGraphicFramePr>
        <p:xfrm>
          <a:off x="3946525" y="4843463"/>
          <a:ext cx="2447925" cy="476250"/>
        </p:xfrm>
        <a:graphic>
          <a:graphicData uri="http://schemas.openxmlformats.org/presentationml/2006/ole">
            <mc:AlternateContent xmlns:mc="http://schemas.openxmlformats.org/markup-compatibility/2006">
              <mc:Choice xmlns:v="urn:schemas-microsoft-com:vml" Requires="v">
                <p:oleObj spid="_x0000_s130077" name="公式" r:id="rId10" imgW="1009772" imgH="218946" progId="Equation.3">
                  <p:embed/>
                </p:oleObj>
              </mc:Choice>
              <mc:Fallback>
                <p:oleObj name="公式" r:id="rId10" imgW="1009772" imgH="218946"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46525" y="4843463"/>
                        <a:ext cx="2447925"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8359" name="Text Box 23"/>
          <p:cNvSpPr txBox="1">
            <a:spLocks noChangeArrowheads="1"/>
          </p:cNvSpPr>
          <p:nvPr/>
        </p:nvSpPr>
        <p:spPr bwMode="auto">
          <a:xfrm>
            <a:off x="3540125" y="5803900"/>
            <a:ext cx="3529013" cy="457200"/>
          </a:xfrm>
          <a:prstGeom prst="rect">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ea typeface="楷体_GB2312" pitchFamily="49" charset="-122"/>
                <a:sym typeface="Symbol" pitchFamily="18" charset="2"/>
              </a:rPr>
              <a:t>电压源不能短路！</a:t>
            </a:r>
          </a:p>
        </p:txBody>
      </p:sp>
      <p:grpSp>
        <p:nvGrpSpPr>
          <p:cNvPr id="398369" name="Group 33"/>
          <p:cNvGrpSpPr>
            <a:grpSpLocks/>
          </p:cNvGrpSpPr>
          <p:nvPr/>
        </p:nvGrpSpPr>
        <p:grpSpPr bwMode="auto">
          <a:xfrm>
            <a:off x="6215063" y="2435225"/>
            <a:ext cx="2776537" cy="2076450"/>
            <a:chOff x="3915" y="1534"/>
            <a:chExt cx="1749" cy="1308"/>
          </a:xfrm>
        </p:grpSpPr>
        <p:sp>
          <p:nvSpPr>
            <p:cNvPr id="56336" name="Line 25"/>
            <p:cNvSpPr>
              <a:spLocks noChangeShapeType="1"/>
            </p:cNvSpPr>
            <p:nvPr/>
          </p:nvSpPr>
          <p:spPr bwMode="auto">
            <a:xfrm>
              <a:off x="3915" y="2508"/>
              <a:ext cx="126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6337" name="Line 26"/>
            <p:cNvSpPr>
              <a:spLocks noChangeShapeType="1"/>
            </p:cNvSpPr>
            <p:nvPr/>
          </p:nvSpPr>
          <p:spPr bwMode="auto">
            <a:xfrm>
              <a:off x="4472" y="1692"/>
              <a:ext cx="0" cy="115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6338" name="Line 27"/>
            <p:cNvSpPr>
              <a:spLocks noChangeShapeType="1"/>
            </p:cNvSpPr>
            <p:nvPr/>
          </p:nvSpPr>
          <p:spPr bwMode="auto">
            <a:xfrm flipV="1">
              <a:off x="3952" y="2174"/>
              <a:ext cx="107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6339" name="Text Box 28"/>
            <p:cNvSpPr txBox="1">
              <a:spLocks noChangeArrowheads="1"/>
            </p:cNvSpPr>
            <p:nvPr/>
          </p:nvSpPr>
          <p:spPr bwMode="auto">
            <a:xfrm>
              <a:off x="4472" y="154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dirty="0">
                  <a:ea typeface="仿宋_GB2312" pitchFamily="49" charset="-122"/>
                  <a:sym typeface="Symbol" pitchFamily="18" charset="2"/>
                </a:rPr>
                <a:t>v</a:t>
              </a:r>
            </a:p>
          </p:txBody>
        </p:sp>
        <p:sp>
          <p:nvSpPr>
            <p:cNvPr id="56340" name="Text Box 29"/>
            <p:cNvSpPr txBox="1">
              <a:spLocks noChangeArrowheads="1"/>
            </p:cNvSpPr>
            <p:nvPr/>
          </p:nvSpPr>
          <p:spPr bwMode="auto">
            <a:xfrm>
              <a:off x="5153" y="241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dirty="0" err="1">
                  <a:ea typeface="仿宋_GB2312" pitchFamily="49" charset="-122"/>
                  <a:sym typeface="Symbol" pitchFamily="18" charset="2"/>
                </a:rPr>
                <a:t>i</a:t>
              </a:r>
              <a:endParaRPr lang="en-US" altLang="zh-CN" b="0" i="1" dirty="0">
                <a:ea typeface="仿宋_GB2312" pitchFamily="49" charset="-122"/>
                <a:sym typeface="Symbol" pitchFamily="18" charset="2"/>
              </a:endParaRPr>
            </a:p>
          </p:txBody>
        </p:sp>
        <p:sp>
          <p:nvSpPr>
            <p:cNvPr id="56341" name="AutoShape 30" descr="羊皮纸"/>
            <p:cNvSpPr>
              <a:spLocks noChangeArrowheads="1"/>
            </p:cNvSpPr>
            <p:nvPr/>
          </p:nvSpPr>
          <p:spPr bwMode="auto">
            <a:xfrm>
              <a:off x="4745" y="1534"/>
              <a:ext cx="919" cy="397"/>
            </a:xfrm>
            <a:prstGeom prst="wedgeRoundRectCallout">
              <a:avLst>
                <a:gd name="adj1" fmla="val -61097"/>
                <a:gd name="adj2" fmla="val 108440"/>
                <a:gd name="adj3" fmla="val 16667"/>
              </a:avLst>
            </a:prstGeom>
            <a:blipFill dpi="0" rotWithShape="1">
              <a:blip r:embed="rId5"/>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sz="1800">
                  <a:solidFill>
                    <a:srgbClr val="000000"/>
                  </a:solidFill>
                  <a:ea typeface="楷体_GB2312" pitchFamily="49" charset="-122"/>
                  <a:sym typeface="Symbol" pitchFamily="18" charset="2"/>
                </a:rPr>
                <a:t>直流电压源的伏安关系</a:t>
              </a:r>
            </a:p>
          </p:txBody>
        </p:sp>
        <p:sp>
          <p:nvSpPr>
            <p:cNvPr id="56342" name="Text Box 31" descr="斜纹布"/>
            <p:cNvSpPr txBox="1">
              <a:spLocks noChangeArrowheads="1"/>
            </p:cNvSpPr>
            <p:nvPr/>
          </p:nvSpPr>
          <p:spPr bwMode="auto">
            <a:xfrm>
              <a:off x="4455" y="2478"/>
              <a:ext cx="227" cy="288"/>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spcBef>
                  <a:spcPct val="50000"/>
                </a:spcBef>
              </a:pPr>
              <a:r>
                <a:rPr kumimoji="0" lang="en-US" altLang="zh-CN" b="0">
                  <a:ea typeface="楷体_GB2312" pitchFamily="49" charset="-122"/>
                </a:rPr>
                <a:t>0</a:t>
              </a:r>
            </a:p>
          </p:txBody>
        </p:sp>
        <p:sp>
          <p:nvSpPr>
            <p:cNvPr id="56343" name="Text Box 32"/>
            <p:cNvSpPr txBox="1">
              <a:spLocks noChangeArrowheads="1"/>
            </p:cNvSpPr>
            <p:nvPr/>
          </p:nvSpPr>
          <p:spPr bwMode="auto">
            <a:xfrm>
              <a:off x="5050" y="2037"/>
              <a:ext cx="281" cy="2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en-US" altLang="zh-CN" sz="2000" i="1" dirty="0"/>
                <a:t>V</a:t>
              </a:r>
              <a:r>
                <a:rPr lang="en-US" altLang="zh-CN" sz="2000" i="1" baseline="-25000" dirty="0"/>
                <a:t>S</a:t>
              </a:r>
              <a:endParaRPr lang="en-US" altLang="zh-CN" sz="2000" dirty="0"/>
            </a:p>
          </p:txBody>
        </p:sp>
      </p:grpSp>
    </p:spTree>
    <p:extLst>
      <p:ext uri="{BB962C8B-B14F-4D97-AF65-F5344CB8AC3E}">
        <p14:creationId xmlns:p14="http://schemas.microsoft.com/office/powerpoint/2010/main" val="22125869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98340"/>
                                        </p:tgtEl>
                                        <p:attrNameLst>
                                          <p:attrName>style.visibility</p:attrName>
                                        </p:attrNameLst>
                                      </p:cBhvr>
                                      <p:to>
                                        <p:strVal val="visible"/>
                                      </p:to>
                                    </p:set>
                                    <p:animEffect transition="in" filter="blinds(horizontal)">
                                      <p:cBhvr>
                                        <p:cTn id="7" dur="500"/>
                                        <p:tgtEl>
                                          <p:spTgt spid="3983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98338"/>
                                        </p:tgtEl>
                                        <p:attrNameLst>
                                          <p:attrName>style.visibility</p:attrName>
                                        </p:attrNameLst>
                                      </p:cBhvr>
                                      <p:to>
                                        <p:strVal val="visible"/>
                                      </p:to>
                                    </p:set>
                                    <p:animEffect transition="in" filter="barn(inVertical)">
                                      <p:cBhvr>
                                        <p:cTn id="12" dur="500"/>
                                        <p:tgtEl>
                                          <p:spTgt spid="3983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8369"/>
                                        </p:tgtEl>
                                        <p:attrNameLst>
                                          <p:attrName>style.visibility</p:attrName>
                                        </p:attrNameLst>
                                      </p:cBhvr>
                                      <p:to>
                                        <p:strVal val="visible"/>
                                      </p:to>
                                    </p:set>
                                    <p:animEffect transition="in" filter="blinds(horizontal)">
                                      <p:cBhvr>
                                        <p:cTn id="17" dur="500"/>
                                        <p:tgtEl>
                                          <p:spTgt spid="3983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98339"/>
                                        </p:tgtEl>
                                        <p:attrNameLst>
                                          <p:attrName>style.visibility</p:attrName>
                                        </p:attrNameLst>
                                      </p:cBhvr>
                                      <p:to>
                                        <p:strVal val="visible"/>
                                      </p:to>
                                    </p:set>
                                    <p:animEffect transition="in" filter="barn(inVertical)">
                                      <p:cBhvr>
                                        <p:cTn id="22" dur="500"/>
                                        <p:tgtEl>
                                          <p:spTgt spid="398339"/>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398341"/>
                                        </p:tgtEl>
                                        <p:attrNameLst>
                                          <p:attrName>style.visibility</p:attrName>
                                        </p:attrNameLst>
                                      </p:cBhvr>
                                      <p:to>
                                        <p:strVal val="visible"/>
                                      </p:to>
                                    </p:set>
                                    <p:anim calcmode="lin" valueType="num">
                                      <p:cBhvr>
                                        <p:cTn id="27" dur="1000" fill="hold"/>
                                        <p:tgtEl>
                                          <p:spTgt spid="398341"/>
                                        </p:tgtEl>
                                        <p:attrNameLst>
                                          <p:attrName>ppt_w</p:attrName>
                                        </p:attrNameLst>
                                      </p:cBhvr>
                                      <p:tavLst>
                                        <p:tav tm="0">
                                          <p:val>
                                            <p:fltVal val="0"/>
                                          </p:val>
                                        </p:tav>
                                        <p:tav tm="100000">
                                          <p:val>
                                            <p:strVal val="#ppt_w"/>
                                          </p:val>
                                        </p:tav>
                                      </p:tavLst>
                                    </p:anim>
                                    <p:anim calcmode="lin" valueType="num">
                                      <p:cBhvr>
                                        <p:cTn id="28" dur="1000" fill="hold"/>
                                        <p:tgtEl>
                                          <p:spTgt spid="398341"/>
                                        </p:tgtEl>
                                        <p:attrNameLst>
                                          <p:attrName>ppt_h</p:attrName>
                                        </p:attrNameLst>
                                      </p:cBhvr>
                                      <p:tavLst>
                                        <p:tav tm="0">
                                          <p:val>
                                            <p:fltVal val="0"/>
                                          </p:val>
                                        </p:tav>
                                        <p:tav tm="100000">
                                          <p:val>
                                            <p:strVal val="#ppt_h"/>
                                          </p:val>
                                        </p:tav>
                                      </p:tavLst>
                                    </p:anim>
                                    <p:anim calcmode="lin" valueType="num">
                                      <p:cBhvr>
                                        <p:cTn id="29" dur="1000" fill="hold"/>
                                        <p:tgtEl>
                                          <p:spTgt spid="398341"/>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398341"/>
                                        </p:tgtEl>
                                        <p:attrNameLst>
                                          <p:attrName>ppt_y</p:attrName>
                                        </p:attrNameLst>
                                      </p:cBhvr>
                                      <p:tavLst>
                                        <p:tav tm="0" fmla="#ppt_y+(sin(-2*pi*(1-$))*-#ppt_x+cos(-2*pi*(1-$))*(1-#ppt_y))*(1-$)">
                                          <p:val>
                                            <p:fltVal val="0"/>
                                          </p:val>
                                        </p:tav>
                                        <p:tav tm="100000">
                                          <p:val>
                                            <p:fltVal val="1"/>
                                          </p:val>
                                        </p:tav>
                                      </p:tavLst>
                                    </p:anim>
                                  </p:childTnLst>
                                </p:cTn>
                              </p:par>
                            </p:childTnLst>
                          </p:cTn>
                        </p:par>
                        <p:par>
                          <p:cTn id="31" fill="hold" nodeType="afterGroup">
                            <p:stCondLst>
                              <p:cond delay="1000"/>
                            </p:stCondLst>
                            <p:childTnLst>
                              <p:par>
                                <p:cTn id="32" presetID="3" presetClass="entr" presetSubtype="10" fill="hold" nodeType="afterEffect">
                                  <p:stCondLst>
                                    <p:cond delay="0"/>
                                  </p:stCondLst>
                                  <p:childTnLst>
                                    <p:set>
                                      <p:cBhvr>
                                        <p:cTn id="33" dur="1" fill="hold">
                                          <p:stCondLst>
                                            <p:cond delay="0"/>
                                          </p:stCondLst>
                                        </p:cTn>
                                        <p:tgtEl>
                                          <p:spTgt spid="398342"/>
                                        </p:tgtEl>
                                        <p:attrNameLst>
                                          <p:attrName>style.visibility</p:attrName>
                                        </p:attrNameLst>
                                      </p:cBhvr>
                                      <p:to>
                                        <p:strVal val="visible"/>
                                      </p:to>
                                    </p:set>
                                    <p:animEffect transition="in" filter="blinds(horizontal)">
                                      <p:cBhvr>
                                        <p:cTn id="34" dur="500"/>
                                        <p:tgtEl>
                                          <p:spTgt spid="398342"/>
                                        </p:tgtEl>
                                      </p:cBhvr>
                                    </p:animEffect>
                                  </p:childTnLst>
                                </p:cTn>
                              </p:par>
                            </p:childTnLst>
                          </p:cTn>
                        </p:par>
                        <p:par>
                          <p:cTn id="35" fill="hold" nodeType="afterGroup">
                            <p:stCondLst>
                              <p:cond delay="1500"/>
                            </p:stCondLst>
                            <p:childTnLst>
                              <p:par>
                                <p:cTn id="36" presetID="49" presetClass="entr" presetSubtype="0" decel="100000" fill="hold" grpId="0" nodeType="afterEffect">
                                  <p:stCondLst>
                                    <p:cond delay="0"/>
                                  </p:stCondLst>
                                  <p:childTnLst>
                                    <p:set>
                                      <p:cBhvr>
                                        <p:cTn id="37" dur="1" fill="hold">
                                          <p:stCondLst>
                                            <p:cond delay="0"/>
                                          </p:stCondLst>
                                        </p:cTn>
                                        <p:tgtEl>
                                          <p:spTgt spid="398352"/>
                                        </p:tgtEl>
                                        <p:attrNameLst>
                                          <p:attrName>style.visibility</p:attrName>
                                        </p:attrNameLst>
                                      </p:cBhvr>
                                      <p:to>
                                        <p:strVal val="visible"/>
                                      </p:to>
                                    </p:set>
                                    <p:anim calcmode="lin" valueType="num">
                                      <p:cBhvr>
                                        <p:cTn id="38" dur="500" fill="hold"/>
                                        <p:tgtEl>
                                          <p:spTgt spid="398352"/>
                                        </p:tgtEl>
                                        <p:attrNameLst>
                                          <p:attrName>ppt_w</p:attrName>
                                        </p:attrNameLst>
                                      </p:cBhvr>
                                      <p:tavLst>
                                        <p:tav tm="0">
                                          <p:val>
                                            <p:fltVal val="0"/>
                                          </p:val>
                                        </p:tav>
                                        <p:tav tm="100000">
                                          <p:val>
                                            <p:strVal val="#ppt_w"/>
                                          </p:val>
                                        </p:tav>
                                      </p:tavLst>
                                    </p:anim>
                                    <p:anim calcmode="lin" valueType="num">
                                      <p:cBhvr>
                                        <p:cTn id="39" dur="500" fill="hold"/>
                                        <p:tgtEl>
                                          <p:spTgt spid="398352"/>
                                        </p:tgtEl>
                                        <p:attrNameLst>
                                          <p:attrName>ppt_h</p:attrName>
                                        </p:attrNameLst>
                                      </p:cBhvr>
                                      <p:tavLst>
                                        <p:tav tm="0">
                                          <p:val>
                                            <p:fltVal val="0"/>
                                          </p:val>
                                        </p:tav>
                                        <p:tav tm="100000">
                                          <p:val>
                                            <p:strVal val="#ppt_h"/>
                                          </p:val>
                                        </p:tav>
                                      </p:tavLst>
                                    </p:anim>
                                    <p:anim calcmode="lin" valueType="num">
                                      <p:cBhvr>
                                        <p:cTn id="40" dur="500" fill="hold"/>
                                        <p:tgtEl>
                                          <p:spTgt spid="398352"/>
                                        </p:tgtEl>
                                        <p:attrNameLst>
                                          <p:attrName>style.rotation</p:attrName>
                                        </p:attrNameLst>
                                      </p:cBhvr>
                                      <p:tavLst>
                                        <p:tav tm="0">
                                          <p:val>
                                            <p:fltVal val="360"/>
                                          </p:val>
                                        </p:tav>
                                        <p:tav tm="100000">
                                          <p:val>
                                            <p:fltVal val="0"/>
                                          </p:val>
                                        </p:tav>
                                      </p:tavLst>
                                    </p:anim>
                                    <p:animEffect transition="in" filter="fade">
                                      <p:cBhvr>
                                        <p:cTn id="41" dur="500"/>
                                        <p:tgtEl>
                                          <p:spTgt spid="39835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398353"/>
                                        </p:tgtEl>
                                        <p:attrNameLst>
                                          <p:attrName>style.visibility</p:attrName>
                                        </p:attrNameLst>
                                      </p:cBhvr>
                                      <p:to>
                                        <p:strVal val="visible"/>
                                      </p:to>
                                    </p:set>
                                    <p:animEffect transition="in" filter="wipe(down)">
                                      <p:cBhvr>
                                        <p:cTn id="46" dur="500"/>
                                        <p:tgtEl>
                                          <p:spTgt spid="398353"/>
                                        </p:tgtEl>
                                      </p:cBhvr>
                                    </p:animEffect>
                                  </p:childTnLst>
                                </p:cTn>
                              </p:par>
                            </p:childTnLst>
                          </p:cTn>
                        </p:par>
                        <p:par>
                          <p:cTn id="47" fill="hold" nodeType="afterGroup">
                            <p:stCondLst>
                              <p:cond delay="500"/>
                            </p:stCondLst>
                            <p:childTnLst>
                              <p:par>
                                <p:cTn id="48" presetID="18" presetClass="entr" presetSubtype="3" fill="hold" nodeType="afterEffect">
                                  <p:stCondLst>
                                    <p:cond delay="0"/>
                                  </p:stCondLst>
                                  <p:childTnLst>
                                    <p:set>
                                      <p:cBhvr>
                                        <p:cTn id="49" dur="1" fill="hold">
                                          <p:stCondLst>
                                            <p:cond delay="0"/>
                                          </p:stCondLst>
                                        </p:cTn>
                                        <p:tgtEl>
                                          <p:spTgt spid="398354"/>
                                        </p:tgtEl>
                                        <p:attrNameLst>
                                          <p:attrName>style.visibility</p:attrName>
                                        </p:attrNameLst>
                                      </p:cBhvr>
                                      <p:to>
                                        <p:strVal val="visible"/>
                                      </p:to>
                                    </p:set>
                                    <p:animEffect transition="in" filter="strips(upRight)">
                                      <p:cBhvr>
                                        <p:cTn id="50" dur="1000"/>
                                        <p:tgtEl>
                                          <p:spTgt spid="39835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8" fill="hold" grpId="0" nodeType="clickEffect">
                                  <p:stCondLst>
                                    <p:cond delay="0"/>
                                  </p:stCondLst>
                                  <p:childTnLst>
                                    <p:set>
                                      <p:cBhvr>
                                        <p:cTn id="54" dur="1" fill="hold">
                                          <p:stCondLst>
                                            <p:cond delay="0"/>
                                          </p:stCondLst>
                                        </p:cTn>
                                        <p:tgtEl>
                                          <p:spTgt spid="398355"/>
                                        </p:tgtEl>
                                        <p:attrNameLst>
                                          <p:attrName>style.visibility</p:attrName>
                                        </p:attrNameLst>
                                      </p:cBhvr>
                                      <p:to>
                                        <p:strVal val="visible"/>
                                      </p:to>
                                    </p:set>
                                    <p:animEffect transition="in" filter="slide(fromLeft)">
                                      <p:cBhvr>
                                        <p:cTn id="55" dur="500"/>
                                        <p:tgtEl>
                                          <p:spTgt spid="398355"/>
                                        </p:tgtEl>
                                      </p:cBhvr>
                                    </p:animEffect>
                                  </p:childTnLst>
                                </p:cTn>
                              </p:par>
                            </p:childTnLst>
                          </p:cTn>
                        </p:par>
                        <p:par>
                          <p:cTn id="56" fill="hold" nodeType="afterGroup">
                            <p:stCondLst>
                              <p:cond delay="500"/>
                            </p:stCondLst>
                            <p:childTnLst>
                              <p:par>
                                <p:cTn id="57" presetID="18" presetClass="entr" presetSubtype="6" fill="hold" nodeType="afterEffect">
                                  <p:stCondLst>
                                    <p:cond delay="0"/>
                                  </p:stCondLst>
                                  <p:childTnLst>
                                    <p:set>
                                      <p:cBhvr>
                                        <p:cTn id="58" dur="1" fill="hold">
                                          <p:stCondLst>
                                            <p:cond delay="0"/>
                                          </p:stCondLst>
                                        </p:cTn>
                                        <p:tgtEl>
                                          <p:spTgt spid="398356"/>
                                        </p:tgtEl>
                                        <p:attrNameLst>
                                          <p:attrName>style.visibility</p:attrName>
                                        </p:attrNameLst>
                                      </p:cBhvr>
                                      <p:to>
                                        <p:strVal val="visible"/>
                                      </p:to>
                                    </p:set>
                                    <p:animEffect transition="in" filter="strips(downRight)">
                                      <p:cBhvr>
                                        <p:cTn id="59" dur="1000"/>
                                        <p:tgtEl>
                                          <p:spTgt spid="39835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398357"/>
                                        </p:tgtEl>
                                        <p:attrNameLst>
                                          <p:attrName>style.visibility</p:attrName>
                                        </p:attrNameLst>
                                      </p:cBhvr>
                                      <p:to>
                                        <p:strVal val="visible"/>
                                      </p:to>
                                    </p:set>
                                    <p:animEffect transition="in" filter="wipe(up)">
                                      <p:cBhvr>
                                        <p:cTn id="64" dur="500"/>
                                        <p:tgtEl>
                                          <p:spTgt spid="398357"/>
                                        </p:tgtEl>
                                      </p:cBhvr>
                                    </p:animEffect>
                                  </p:childTnLst>
                                </p:cTn>
                              </p:par>
                            </p:childTnLst>
                          </p:cTn>
                        </p:par>
                        <p:par>
                          <p:cTn id="65" fill="hold" nodeType="afterGroup">
                            <p:stCondLst>
                              <p:cond delay="500"/>
                            </p:stCondLst>
                            <p:childTnLst>
                              <p:par>
                                <p:cTn id="66" presetID="18" presetClass="entr" presetSubtype="6" fill="hold" nodeType="afterEffect">
                                  <p:stCondLst>
                                    <p:cond delay="0"/>
                                  </p:stCondLst>
                                  <p:childTnLst>
                                    <p:set>
                                      <p:cBhvr>
                                        <p:cTn id="67" dur="1" fill="hold">
                                          <p:stCondLst>
                                            <p:cond delay="0"/>
                                          </p:stCondLst>
                                        </p:cTn>
                                        <p:tgtEl>
                                          <p:spTgt spid="398358"/>
                                        </p:tgtEl>
                                        <p:attrNameLst>
                                          <p:attrName>style.visibility</p:attrName>
                                        </p:attrNameLst>
                                      </p:cBhvr>
                                      <p:to>
                                        <p:strVal val="visible"/>
                                      </p:to>
                                    </p:set>
                                    <p:animEffect transition="in" filter="strips(downRight)">
                                      <p:cBhvr>
                                        <p:cTn id="68" dur="1000"/>
                                        <p:tgtEl>
                                          <p:spTgt spid="39835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3" presetClass="entr" presetSubtype="0" fill="hold" grpId="0" nodeType="clickEffect">
                                  <p:stCondLst>
                                    <p:cond delay="0"/>
                                  </p:stCondLst>
                                  <p:childTnLst>
                                    <p:set>
                                      <p:cBhvr>
                                        <p:cTn id="72" dur="1" fill="hold">
                                          <p:stCondLst>
                                            <p:cond delay="0"/>
                                          </p:stCondLst>
                                        </p:cTn>
                                        <p:tgtEl>
                                          <p:spTgt spid="398359"/>
                                        </p:tgtEl>
                                        <p:attrNameLst>
                                          <p:attrName>style.visibility</p:attrName>
                                        </p:attrNameLst>
                                      </p:cBhvr>
                                      <p:to>
                                        <p:strVal val="visible"/>
                                      </p:to>
                                    </p:set>
                                    <p:anim calcmode="lin" valueType="num">
                                      <p:cBhvr>
                                        <p:cTn id="73" dur="1000" fill="hold"/>
                                        <p:tgtEl>
                                          <p:spTgt spid="398359"/>
                                        </p:tgtEl>
                                        <p:attrNameLst>
                                          <p:attrName>ppt_w</p:attrName>
                                        </p:attrNameLst>
                                      </p:cBhvr>
                                      <p:tavLst>
                                        <p:tav tm="0">
                                          <p:val>
                                            <p:fltVal val="0"/>
                                          </p:val>
                                        </p:tav>
                                        <p:tav tm="100000">
                                          <p:val>
                                            <p:strVal val="#ppt_w"/>
                                          </p:val>
                                        </p:tav>
                                      </p:tavLst>
                                    </p:anim>
                                    <p:anim calcmode="lin" valueType="num">
                                      <p:cBhvr>
                                        <p:cTn id="74" dur="1000" fill="hold"/>
                                        <p:tgtEl>
                                          <p:spTgt spid="398359"/>
                                        </p:tgtEl>
                                        <p:attrNameLst>
                                          <p:attrName>ppt_h</p:attrName>
                                        </p:attrNameLst>
                                      </p:cBhvr>
                                      <p:tavLst>
                                        <p:tav tm="0">
                                          <p:val>
                                            <p:fltVal val="0"/>
                                          </p:val>
                                        </p:tav>
                                        <p:tav tm="100000">
                                          <p:val>
                                            <p:strVal val="#ppt_h"/>
                                          </p:val>
                                        </p:tav>
                                      </p:tavLst>
                                    </p:anim>
                                    <p:animEffect transition="in" filter="fade">
                                      <p:cBhvr>
                                        <p:cTn id="75" dur="1000"/>
                                        <p:tgtEl>
                                          <p:spTgt spid="398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8" grpId="0" animBg="1"/>
      <p:bldP spid="398339" grpId="0" animBg="1"/>
      <p:bldP spid="398340" grpId="0" animBg="1"/>
      <p:bldP spid="398341" grpId="0"/>
      <p:bldP spid="398352" grpId="0" animBg="1"/>
      <p:bldP spid="398353" grpId="0" animBg="1"/>
      <p:bldP spid="398355" grpId="0" animBg="1"/>
      <p:bldP spid="398357" grpId="0" animBg="1"/>
      <p:bldP spid="39835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Text Box 2"/>
          <p:cNvSpPr txBox="1">
            <a:spLocks noChangeArrowheads="1"/>
          </p:cNvSpPr>
          <p:nvPr/>
        </p:nvSpPr>
        <p:spPr bwMode="auto">
          <a:xfrm>
            <a:off x="611188" y="879475"/>
            <a:ext cx="2513012" cy="4603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buClr>
                <a:schemeClr val="tx1"/>
              </a:buClr>
            </a:pPr>
            <a:r>
              <a:rPr lang="en-US" altLang="zh-CN" dirty="0">
                <a:ea typeface="楷体_GB2312" pitchFamily="49" charset="-122"/>
                <a:sym typeface="Symbol" pitchFamily="18" charset="2"/>
              </a:rPr>
              <a:t>4</a:t>
            </a:r>
            <a:r>
              <a:rPr lang="zh-CN" altLang="en-US" dirty="0">
                <a:ea typeface="楷体_GB2312" pitchFamily="49" charset="-122"/>
                <a:sym typeface="Symbol" pitchFamily="18" charset="2"/>
              </a:rPr>
              <a:t>、电压源的功率</a:t>
            </a:r>
          </a:p>
        </p:txBody>
      </p:sp>
      <p:sp>
        <p:nvSpPr>
          <p:cNvPr id="399363" name="Text Box 3"/>
          <p:cNvSpPr txBox="1">
            <a:spLocks noChangeArrowheads="1"/>
          </p:cNvSpPr>
          <p:nvPr/>
        </p:nvSpPr>
        <p:spPr bwMode="auto">
          <a:xfrm>
            <a:off x="3059113" y="1401763"/>
            <a:ext cx="3849687" cy="396875"/>
          </a:xfrm>
          <a:prstGeom prst="rect">
            <a:avLst/>
          </a:prstGeom>
          <a:solidFill>
            <a:srgbClr val="3399FF"/>
          </a:solidFill>
          <a:ln>
            <a:noFill/>
          </a:ln>
          <a:effectLst/>
          <a:extLs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800100" indent="-342900" eaLnBrk="0" hangingPunct="0">
              <a:defRPr kumimoji="1" sz="2400" b="1">
                <a:solidFill>
                  <a:schemeClr val="tx1"/>
                </a:solidFill>
                <a:latin typeface="Times New Roman" pitchFamily="18" charset="0"/>
                <a:ea typeface="宋体" charset="-122"/>
              </a:defRPr>
            </a:lvl2pPr>
            <a:lvl3pPr marL="1257300" indent="-342900" eaLnBrk="0" hangingPunct="0">
              <a:defRPr kumimoji="1" sz="2400" b="1">
                <a:solidFill>
                  <a:schemeClr val="tx1"/>
                </a:solidFill>
                <a:latin typeface="Times New Roman" pitchFamily="18" charset="0"/>
                <a:ea typeface="宋体" charset="-122"/>
              </a:defRPr>
            </a:lvl3pPr>
            <a:lvl4pPr marL="1714500" indent="-342900" eaLnBrk="0" hangingPunct="0">
              <a:defRPr kumimoji="1" sz="2400" b="1">
                <a:solidFill>
                  <a:schemeClr val="tx1"/>
                </a:solidFill>
                <a:latin typeface="Times New Roman" pitchFamily="18" charset="0"/>
                <a:ea typeface="宋体" charset="-122"/>
              </a:defRPr>
            </a:lvl4pPr>
            <a:lvl5pPr marL="2171700" indent="-342900" eaLnBrk="0" hangingPunct="0">
              <a:defRPr kumimoji="1" sz="2400" b="1">
                <a:solidFill>
                  <a:schemeClr val="tx1"/>
                </a:solidFill>
                <a:latin typeface="Times New Roman" pitchFamily="18" charset="0"/>
                <a:ea typeface="宋体" charset="-122"/>
              </a:defRPr>
            </a:lvl5pPr>
            <a:lvl6pPr marL="2628900" indent="-3429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086100" indent="-3429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543300" indent="-3429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000500" indent="-3429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buFontTx/>
              <a:buAutoNum type="circleNumDbPlain"/>
            </a:pPr>
            <a:r>
              <a:rPr lang="zh-CN" altLang="en-US" sz="2000">
                <a:solidFill>
                  <a:srgbClr val="FFFF00"/>
                </a:solidFill>
                <a:latin typeface="楷体_GB2312" pitchFamily="49" charset="-122"/>
                <a:ea typeface="楷体_GB2312" pitchFamily="49" charset="-122"/>
                <a:sym typeface="Symbol" pitchFamily="18" charset="2"/>
              </a:rPr>
              <a:t>电压、电流参考方向非关联；</a:t>
            </a:r>
            <a:r>
              <a:rPr lang="zh-CN" altLang="en-US" sz="2000">
                <a:solidFill>
                  <a:schemeClr val="tx2"/>
                </a:solidFill>
                <a:latin typeface="楷体_GB2312" pitchFamily="49" charset="-122"/>
                <a:ea typeface="楷体_GB2312" pitchFamily="49" charset="-122"/>
                <a:sym typeface="Symbol" pitchFamily="18" charset="2"/>
              </a:rPr>
              <a:t>　　　　　　　　　　　　　　　</a:t>
            </a:r>
          </a:p>
        </p:txBody>
      </p:sp>
      <p:sp>
        <p:nvSpPr>
          <p:cNvPr id="399364" name="AutoShape 4"/>
          <p:cNvSpPr>
            <a:spLocks noChangeArrowheads="1"/>
          </p:cNvSpPr>
          <p:nvPr/>
        </p:nvSpPr>
        <p:spPr bwMode="auto">
          <a:xfrm>
            <a:off x="3727450" y="1008063"/>
            <a:ext cx="792163" cy="142875"/>
          </a:xfrm>
          <a:prstGeom prst="rightArrow">
            <a:avLst>
              <a:gd name="adj1" fmla="val 50000"/>
              <a:gd name="adj2" fmla="val 138611"/>
            </a:avLst>
          </a:prstGeom>
          <a:solidFill>
            <a:schemeClr val="hlink"/>
          </a:solidFill>
          <a:ln>
            <a:noFill/>
          </a:ln>
          <a:effectLst/>
          <a:extLs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99365" name="Text Box 5"/>
          <p:cNvSpPr txBox="1">
            <a:spLocks noChangeArrowheads="1"/>
          </p:cNvSpPr>
          <p:nvPr/>
        </p:nvSpPr>
        <p:spPr bwMode="auto">
          <a:xfrm>
            <a:off x="4576763" y="2151063"/>
            <a:ext cx="4443412" cy="787400"/>
          </a:xfrm>
          <a:prstGeom prst="rect">
            <a:avLst/>
          </a:prstGeom>
          <a:solidFill>
            <a:srgbClr val="6666FF"/>
          </a:solidFill>
          <a:ln>
            <a:noFill/>
          </a:ln>
          <a:effectLst/>
          <a:extLs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20000"/>
              </a:lnSpc>
              <a:spcBef>
                <a:spcPct val="50000"/>
              </a:spcBef>
            </a:pPr>
            <a:r>
              <a:rPr lang="zh-CN" altLang="en-US" sz="1800">
                <a:solidFill>
                  <a:srgbClr val="FFFF00"/>
                </a:solidFill>
                <a:latin typeface="楷体_GB2312" pitchFamily="49" charset="-122"/>
                <a:ea typeface="楷体_GB2312" pitchFamily="49" charset="-122"/>
                <a:sym typeface="Symbol" pitchFamily="18" charset="2"/>
              </a:rPr>
              <a:t>电流（正电荷 ）由低电位向高电位移动，外力克服电场力作功，电源发出功率。</a:t>
            </a:r>
            <a:r>
              <a:rPr lang="zh-CN" altLang="en-US" sz="1800">
                <a:solidFill>
                  <a:schemeClr val="tx2"/>
                </a:solidFill>
                <a:latin typeface="楷体_GB2312" pitchFamily="49" charset="-122"/>
                <a:ea typeface="楷体_GB2312" pitchFamily="49" charset="-122"/>
                <a:sym typeface="Symbol" pitchFamily="18" charset="2"/>
              </a:rPr>
              <a:t>　　</a:t>
            </a:r>
            <a:r>
              <a:rPr lang="zh-CN" altLang="en-US" sz="2000">
                <a:solidFill>
                  <a:schemeClr val="tx2"/>
                </a:solidFill>
                <a:latin typeface="楷体_GB2312" pitchFamily="49" charset="-122"/>
                <a:ea typeface="楷体_GB2312" pitchFamily="49" charset="-122"/>
                <a:sym typeface="Symbol" pitchFamily="18" charset="2"/>
              </a:rPr>
              <a:t>　　　　　　　　　　　　　　　</a:t>
            </a:r>
          </a:p>
        </p:txBody>
      </p:sp>
      <p:sp>
        <p:nvSpPr>
          <p:cNvPr id="399366" name="AutoShape 6"/>
          <p:cNvSpPr>
            <a:spLocks noChangeArrowheads="1"/>
          </p:cNvSpPr>
          <p:nvPr/>
        </p:nvSpPr>
        <p:spPr bwMode="auto">
          <a:xfrm>
            <a:off x="4494213" y="3321050"/>
            <a:ext cx="647700" cy="144463"/>
          </a:xfrm>
          <a:prstGeom prst="rightArrow">
            <a:avLst>
              <a:gd name="adj1" fmla="val 50000"/>
              <a:gd name="adj2" fmla="val 112088"/>
            </a:avLst>
          </a:prstGeom>
          <a:solidFill>
            <a:srgbClr val="66CCFF"/>
          </a:solidFill>
          <a:ln>
            <a:noFill/>
          </a:ln>
          <a:effectLst/>
          <a:extLst>
            <a:ext uri="{91240B29-F687-4F45-9708-019B960494DF}">
              <a14:hiddenLine xmlns:a14="http://schemas.microsoft.com/office/drawing/2010/main" w="9525" algn="ctr">
                <a:solidFill>
                  <a:srgbClr val="66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99367" name="Text Box 7"/>
          <p:cNvSpPr txBox="1">
            <a:spLocks noChangeArrowheads="1"/>
          </p:cNvSpPr>
          <p:nvPr/>
        </p:nvSpPr>
        <p:spPr bwMode="auto">
          <a:xfrm>
            <a:off x="5245100" y="3181350"/>
            <a:ext cx="2752725" cy="396875"/>
          </a:xfrm>
          <a:prstGeom prst="rect">
            <a:avLst/>
          </a:prstGeom>
          <a:solidFill>
            <a:srgbClr val="3399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sz="2000">
                <a:solidFill>
                  <a:srgbClr val="FFFF00"/>
                </a:solidFill>
                <a:ea typeface="楷体_GB2312" pitchFamily="49" charset="-122"/>
                <a:sym typeface="Symbol" pitchFamily="18" charset="2"/>
              </a:rPr>
              <a:t>发出功率，起电源作用</a:t>
            </a:r>
          </a:p>
        </p:txBody>
      </p:sp>
      <p:sp>
        <p:nvSpPr>
          <p:cNvPr id="399368" name="Rectangle 8"/>
          <p:cNvSpPr>
            <a:spLocks noChangeArrowheads="1"/>
          </p:cNvSpPr>
          <p:nvPr/>
        </p:nvSpPr>
        <p:spPr bwMode="auto">
          <a:xfrm>
            <a:off x="3100388" y="2049463"/>
            <a:ext cx="1454150" cy="396875"/>
          </a:xfrm>
          <a:prstGeom prst="rect">
            <a:avLst/>
          </a:prstGeom>
          <a:noFill/>
          <a:ln>
            <a:noFill/>
          </a:ln>
          <a:effectLst/>
          <a:extLst>
            <a:ext uri="{909E8E84-426E-40DD-AFC4-6F175D3DCCD1}">
              <a14:hiddenFill xmlns:a14="http://schemas.microsoft.com/office/drawing/2010/main">
                <a:solidFill>
                  <a:srgbClr val="993366"/>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sz="2000">
                <a:ea typeface="楷体_GB2312" pitchFamily="49" charset="-122"/>
                <a:sym typeface="Symbol" pitchFamily="18" charset="2"/>
              </a:rPr>
              <a:t>物理意义：</a:t>
            </a:r>
          </a:p>
        </p:txBody>
      </p:sp>
      <p:sp>
        <p:nvSpPr>
          <p:cNvPr id="399369" name="Text Box 9"/>
          <p:cNvSpPr txBox="1">
            <a:spLocks noChangeArrowheads="1"/>
          </p:cNvSpPr>
          <p:nvPr/>
        </p:nvSpPr>
        <p:spPr bwMode="auto">
          <a:xfrm>
            <a:off x="3098800" y="4203700"/>
            <a:ext cx="3698875" cy="396875"/>
          </a:xfrm>
          <a:prstGeom prst="rect">
            <a:avLst/>
          </a:prstGeom>
          <a:solidFill>
            <a:srgbClr val="3399FF"/>
          </a:solidFill>
          <a:ln>
            <a:noFill/>
          </a:ln>
          <a:effectLst/>
          <a:extLs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800100" indent="-342900" eaLnBrk="0" hangingPunct="0">
              <a:defRPr kumimoji="1" sz="2400" b="1">
                <a:solidFill>
                  <a:schemeClr val="tx1"/>
                </a:solidFill>
                <a:latin typeface="Times New Roman" pitchFamily="18" charset="0"/>
                <a:ea typeface="宋体" charset="-122"/>
              </a:defRPr>
            </a:lvl2pPr>
            <a:lvl3pPr marL="1257300" indent="-342900" eaLnBrk="0" hangingPunct="0">
              <a:defRPr kumimoji="1" sz="2400" b="1">
                <a:solidFill>
                  <a:schemeClr val="tx1"/>
                </a:solidFill>
                <a:latin typeface="Times New Roman" pitchFamily="18" charset="0"/>
                <a:ea typeface="宋体" charset="-122"/>
              </a:defRPr>
            </a:lvl3pPr>
            <a:lvl4pPr marL="1714500" indent="-342900" eaLnBrk="0" hangingPunct="0">
              <a:defRPr kumimoji="1" sz="2400" b="1">
                <a:solidFill>
                  <a:schemeClr val="tx1"/>
                </a:solidFill>
                <a:latin typeface="Times New Roman" pitchFamily="18" charset="0"/>
                <a:ea typeface="宋体" charset="-122"/>
              </a:defRPr>
            </a:lvl4pPr>
            <a:lvl5pPr marL="2171700" indent="-342900" eaLnBrk="0" hangingPunct="0">
              <a:defRPr kumimoji="1" sz="2400" b="1">
                <a:solidFill>
                  <a:schemeClr val="tx1"/>
                </a:solidFill>
                <a:latin typeface="Times New Roman" pitchFamily="18" charset="0"/>
                <a:ea typeface="宋体" charset="-122"/>
              </a:defRPr>
            </a:lvl5pPr>
            <a:lvl6pPr marL="2628900" indent="-3429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086100" indent="-3429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543300" indent="-3429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000500" indent="-3429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buFontTx/>
              <a:buAutoNum type="circleNumDbPlain" startAt="2"/>
            </a:pPr>
            <a:r>
              <a:rPr lang="zh-CN" altLang="en-US" sz="2000">
                <a:solidFill>
                  <a:srgbClr val="FFFF00"/>
                </a:solidFill>
                <a:ea typeface="楷体_GB2312" pitchFamily="49" charset="-122"/>
                <a:sym typeface="Symbol" pitchFamily="18" charset="2"/>
              </a:rPr>
              <a:t>电压、电流参考方向关联；</a:t>
            </a:r>
            <a:r>
              <a:rPr lang="zh-CN" altLang="en-US" sz="2000">
                <a:solidFill>
                  <a:schemeClr val="tx2"/>
                </a:solidFill>
                <a:ea typeface="楷体_GB2312" pitchFamily="49" charset="-122"/>
                <a:sym typeface="Symbol" pitchFamily="18" charset="2"/>
              </a:rPr>
              <a:t>　　　　　　　　　　　　　　　</a:t>
            </a:r>
          </a:p>
        </p:txBody>
      </p:sp>
      <p:sp>
        <p:nvSpPr>
          <p:cNvPr id="399370" name="Rectangle 10"/>
          <p:cNvSpPr>
            <a:spLocks noChangeArrowheads="1"/>
          </p:cNvSpPr>
          <p:nvPr/>
        </p:nvSpPr>
        <p:spPr bwMode="auto">
          <a:xfrm>
            <a:off x="2954338" y="4914900"/>
            <a:ext cx="1454150" cy="396875"/>
          </a:xfrm>
          <a:prstGeom prst="rect">
            <a:avLst/>
          </a:prstGeom>
          <a:noFill/>
          <a:ln>
            <a:noFill/>
          </a:ln>
          <a:effectLst/>
          <a:extLst>
            <a:ext uri="{909E8E84-426E-40DD-AFC4-6F175D3DCCD1}">
              <a14:hiddenFill xmlns:a14="http://schemas.microsoft.com/office/drawing/2010/main">
                <a:solidFill>
                  <a:srgbClr val="993366"/>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sz="2000">
                <a:ea typeface="楷体_GB2312" pitchFamily="49" charset="-122"/>
                <a:sym typeface="Symbol" pitchFamily="18" charset="2"/>
              </a:rPr>
              <a:t>物理意义：</a:t>
            </a:r>
          </a:p>
        </p:txBody>
      </p:sp>
      <p:sp>
        <p:nvSpPr>
          <p:cNvPr id="399371" name="Text Box 11"/>
          <p:cNvSpPr txBox="1">
            <a:spLocks noChangeArrowheads="1"/>
          </p:cNvSpPr>
          <p:nvPr/>
        </p:nvSpPr>
        <p:spPr bwMode="auto">
          <a:xfrm>
            <a:off x="4437063" y="4929188"/>
            <a:ext cx="2965450" cy="366712"/>
          </a:xfrm>
          <a:prstGeom prst="rect">
            <a:avLst/>
          </a:prstGeom>
          <a:solidFill>
            <a:srgbClr val="6666FF"/>
          </a:solidFill>
          <a:ln>
            <a:noFill/>
          </a:ln>
          <a:effectLst/>
          <a:extLs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zh-CN" altLang="en-US" sz="1800">
                <a:solidFill>
                  <a:srgbClr val="FFFF00"/>
                </a:solidFill>
                <a:latin typeface="楷体_GB2312" pitchFamily="49" charset="-122"/>
                <a:ea typeface="楷体_GB2312" pitchFamily="49" charset="-122"/>
                <a:sym typeface="Symbol" pitchFamily="18" charset="2"/>
              </a:rPr>
              <a:t>电场力做功，电源吸收功率</a:t>
            </a:r>
          </a:p>
        </p:txBody>
      </p:sp>
      <p:sp>
        <p:nvSpPr>
          <p:cNvPr id="399372" name="AutoShape 12"/>
          <p:cNvSpPr>
            <a:spLocks noChangeArrowheads="1"/>
          </p:cNvSpPr>
          <p:nvPr/>
        </p:nvSpPr>
        <p:spPr bwMode="auto">
          <a:xfrm>
            <a:off x="4284663" y="5734050"/>
            <a:ext cx="647700" cy="144463"/>
          </a:xfrm>
          <a:prstGeom prst="rightArrow">
            <a:avLst>
              <a:gd name="adj1" fmla="val 50000"/>
              <a:gd name="adj2" fmla="val 112088"/>
            </a:avLst>
          </a:prstGeom>
          <a:solidFill>
            <a:srgbClr val="66CCFF"/>
          </a:solidFill>
          <a:ln>
            <a:noFill/>
          </a:ln>
          <a:effectLst/>
          <a:extLst>
            <a:ext uri="{91240B29-F687-4F45-9708-019B960494DF}">
              <a14:hiddenLine xmlns:a14="http://schemas.microsoft.com/office/drawing/2010/main" w="9525" algn="ctr">
                <a:solidFill>
                  <a:srgbClr val="66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99373" name="Text Box 13"/>
          <p:cNvSpPr txBox="1">
            <a:spLocks noChangeArrowheads="1"/>
          </p:cNvSpPr>
          <p:nvPr/>
        </p:nvSpPr>
        <p:spPr bwMode="auto">
          <a:xfrm>
            <a:off x="5005388" y="5573713"/>
            <a:ext cx="2660650" cy="396875"/>
          </a:xfrm>
          <a:prstGeom prst="rect">
            <a:avLst/>
          </a:prstGeom>
          <a:solidFill>
            <a:srgbClr val="3399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sz="2000">
                <a:solidFill>
                  <a:srgbClr val="FFFF00"/>
                </a:solidFill>
                <a:ea typeface="楷体_GB2312" pitchFamily="49" charset="-122"/>
                <a:sym typeface="Symbol" pitchFamily="18" charset="2"/>
              </a:rPr>
              <a:t>吸收功率，充当负载</a:t>
            </a:r>
          </a:p>
        </p:txBody>
      </p:sp>
      <p:graphicFrame>
        <p:nvGraphicFramePr>
          <p:cNvPr id="399374" name="Object 14"/>
          <p:cNvGraphicFramePr>
            <a:graphicFrameLocks noChangeAspect="1"/>
          </p:cNvGraphicFramePr>
          <p:nvPr/>
        </p:nvGraphicFramePr>
        <p:xfrm>
          <a:off x="4689475" y="808038"/>
          <a:ext cx="974725" cy="473075"/>
        </p:xfrm>
        <a:graphic>
          <a:graphicData uri="http://schemas.openxmlformats.org/presentationml/2006/ole">
            <mc:AlternateContent xmlns:mc="http://schemas.openxmlformats.org/markup-compatibility/2006">
              <mc:Choice xmlns:v="urn:schemas-microsoft-com:vml" Requires="v">
                <p:oleObj spid="_x0000_s131092" name="Equation" r:id="rId3" imgW="418918" imgH="203112" progId="Equation.DSMT4">
                  <p:embed/>
                </p:oleObj>
              </mc:Choice>
              <mc:Fallback>
                <p:oleObj name="Equation" r:id="rId3" imgW="418918" imgH="20311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9475" y="808038"/>
                        <a:ext cx="97472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9375" name="Group 15"/>
          <p:cNvGrpSpPr>
            <a:grpSpLocks/>
          </p:cNvGrpSpPr>
          <p:nvPr/>
        </p:nvGrpSpPr>
        <p:grpSpPr bwMode="auto">
          <a:xfrm>
            <a:off x="444500" y="3935413"/>
            <a:ext cx="2012950" cy="2279650"/>
            <a:chOff x="280" y="2479"/>
            <a:chExt cx="1268" cy="1436"/>
          </a:xfrm>
        </p:grpSpPr>
        <p:sp>
          <p:nvSpPr>
            <p:cNvPr id="399376" name="Oval 16"/>
            <p:cNvSpPr>
              <a:spLocks noChangeArrowheads="1"/>
            </p:cNvSpPr>
            <p:nvPr/>
          </p:nvSpPr>
          <p:spPr bwMode="auto">
            <a:xfrm rot="10800000">
              <a:off x="571" y="3148"/>
              <a:ext cx="340" cy="340"/>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57378" name="Text Box 17"/>
            <p:cNvSpPr txBox="1">
              <a:spLocks noChangeArrowheads="1"/>
            </p:cNvSpPr>
            <p:nvPr/>
          </p:nvSpPr>
          <p:spPr bwMode="auto">
            <a:xfrm rot="10800000">
              <a:off x="525" y="2899"/>
              <a:ext cx="2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a:t>
              </a:r>
            </a:p>
          </p:txBody>
        </p:sp>
        <p:sp>
          <p:nvSpPr>
            <p:cNvPr id="57379" name="Text Box 18"/>
            <p:cNvSpPr txBox="1">
              <a:spLocks noChangeArrowheads="1"/>
            </p:cNvSpPr>
            <p:nvPr/>
          </p:nvSpPr>
          <p:spPr bwMode="auto">
            <a:xfrm>
              <a:off x="533" y="3445"/>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_</a:t>
              </a:r>
            </a:p>
          </p:txBody>
        </p:sp>
        <p:sp>
          <p:nvSpPr>
            <p:cNvPr id="57380" name="Text Box 19"/>
            <p:cNvSpPr txBox="1">
              <a:spLocks noChangeArrowheads="1"/>
            </p:cNvSpPr>
            <p:nvPr/>
          </p:nvSpPr>
          <p:spPr bwMode="auto">
            <a:xfrm>
              <a:off x="848" y="2479"/>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dirty="0" err="1">
                  <a:sym typeface="Symbol" pitchFamily="18" charset="2"/>
                </a:rPr>
                <a:t>i</a:t>
              </a:r>
              <a:endParaRPr lang="en-US" altLang="zh-CN" sz="2000" b="0" i="1" dirty="0">
                <a:sym typeface="Symbol" pitchFamily="18" charset="2"/>
              </a:endParaRPr>
            </a:p>
          </p:txBody>
        </p:sp>
        <p:sp>
          <p:nvSpPr>
            <p:cNvPr id="57381" name="Oval 20"/>
            <p:cNvSpPr>
              <a:spLocks noChangeArrowheads="1"/>
            </p:cNvSpPr>
            <p:nvPr/>
          </p:nvSpPr>
          <p:spPr bwMode="auto">
            <a:xfrm rot="10800000">
              <a:off x="1380" y="3847"/>
              <a:ext cx="68"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7382" name="Line 21"/>
            <p:cNvSpPr>
              <a:spLocks noChangeShapeType="1"/>
            </p:cNvSpPr>
            <p:nvPr/>
          </p:nvSpPr>
          <p:spPr bwMode="auto">
            <a:xfrm rot="5400000">
              <a:off x="1060" y="3561"/>
              <a:ext cx="0" cy="64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7383" name="Oval 22"/>
            <p:cNvSpPr>
              <a:spLocks noChangeArrowheads="1"/>
            </p:cNvSpPr>
            <p:nvPr/>
          </p:nvSpPr>
          <p:spPr bwMode="auto">
            <a:xfrm rot="10800000">
              <a:off x="1380" y="2672"/>
              <a:ext cx="68"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7384" name="Line 23"/>
            <p:cNvSpPr>
              <a:spLocks noChangeShapeType="1"/>
            </p:cNvSpPr>
            <p:nvPr/>
          </p:nvSpPr>
          <p:spPr bwMode="auto">
            <a:xfrm rot="5400000">
              <a:off x="1060" y="2386"/>
              <a:ext cx="0" cy="64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7385" name="Text Box 24"/>
            <p:cNvSpPr txBox="1">
              <a:spLocks noChangeArrowheads="1"/>
            </p:cNvSpPr>
            <p:nvPr/>
          </p:nvSpPr>
          <p:spPr bwMode="auto">
            <a:xfrm>
              <a:off x="1344" y="3148"/>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v</a:t>
              </a:r>
            </a:p>
          </p:txBody>
        </p:sp>
        <p:sp>
          <p:nvSpPr>
            <p:cNvPr id="57386" name="Text Box 25"/>
            <p:cNvSpPr txBox="1">
              <a:spLocks noChangeArrowheads="1"/>
            </p:cNvSpPr>
            <p:nvPr/>
          </p:nvSpPr>
          <p:spPr bwMode="auto">
            <a:xfrm rot="10800000">
              <a:off x="1324" y="2741"/>
              <a:ext cx="2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a:t>
              </a:r>
            </a:p>
          </p:txBody>
        </p:sp>
        <p:sp>
          <p:nvSpPr>
            <p:cNvPr id="57387" name="Text Box 26"/>
            <p:cNvSpPr txBox="1">
              <a:spLocks noChangeArrowheads="1"/>
            </p:cNvSpPr>
            <p:nvPr/>
          </p:nvSpPr>
          <p:spPr bwMode="auto">
            <a:xfrm>
              <a:off x="1343" y="350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_</a:t>
              </a:r>
            </a:p>
          </p:txBody>
        </p:sp>
        <p:sp>
          <p:nvSpPr>
            <p:cNvPr id="57388" name="Line 27"/>
            <p:cNvSpPr>
              <a:spLocks noChangeShapeType="1"/>
            </p:cNvSpPr>
            <p:nvPr/>
          </p:nvSpPr>
          <p:spPr bwMode="auto">
            <a:xfrm rot="10800000">
              <a:off x="740" y="2706"/>
              <a:ext cx="0" cy="117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7389" name="Line 28"/>
            <p:cNvSpPr>
              <a:spLocks noChangeShapeType="1"/>
            </p:cNvSpPr>
            <p:nvPr/>
          </p:nvSpPr>
          <p:spPr bwMode="auto">
            <a:xfrm>
              <a:off x="1066" y="2614"/>
              <a:ext cx="289" cy="0"/>
            </a:xfrm>
            <a:prstGeom prst="line">
              <a:avLst/>
            </a:prstGeom>
            <a:noFill/>
            <a:ln w="28575">
              <a:solidFill>
                <a:srgbClr val="00CC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7390" name="Text Box 29"/>
            <p:cNvSpPr txBox="1">
              <a:spLocks noChangeArrowheads="1"/>
            </p:cNvSpPr>
            <p:nvPr/>
          </p:nvSpPr>
          <p:spPr bwMode="auto">
            <a:xfrm>
              <a:off x="280" y="3196"/>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v</a:t>
              </a:r>
              <a:r>
                <a:rPr lang="en-US" altLang="zh-CN" sz="2000" b="0" i="1" baseline="-25000">
                  <a:sym typeface="Symbol" pitchFamily="18" charset="2"/>
                </a:rPr>
                <a:t>S</a:t>
              </a:r>
            </a:p>
          </p:txBody>
        </p:sp>
      </p:grpSp>
      <p:grpSp>
        <p:nvGrpSpPr>
          <p:cNvPr id="399390" name="Group 30"/>
          <p:cNvGrpSpPr>
            <a:grpSpLocks/>
          </p:cNvGrpSpPr>
          <p:nvPr/>
        </p:nvGrpSpPr>
        <p:grpSpPr bwMode="auto">
          <a:xfrm>
            <a:off x="425450" y="1333500"/>
            <a:ext cx="2028825" cy="2289175"/>
            <a:chOff x="268" y="840"/>
            <a:chExt cx="1278" cy="1442"/>
          </a:xfrm>
        </p:grpSpPr>
        <p:sp>
          <p:nvSpPr>
            <p:cNvPr id="57363" name="Line 31"/>
            <p:cNvSpPr>
              <a:spLocks noChangeShapeType="1"/>
            </p:cNvSpPr>
            <p:nvPr/>
          </p:nvSpPr>
          <p:spPr bwMode="auto">
            <a:xfrm>
              <a:off x="1020" y="981"/>
              <a:ext cx="289" cy="0"/>
            </a:xfrm>
            <a:prstGeom prst="line">
              <a:avLst/>
            </a:prstGeom>
            <a:noFill/>
            <a:ln w="28575">
              <a:solidFill>
                <a:srgbClr val="00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392" name="Oval 32"/>
            <p:cNvSpPr>
              <a:spLocks noChangeArrowheads="1"/>
            </p:cNvSpPr>
            <p:nvPr/>
          </p:nvSpPr>
          <p:spPr bwMode="auto">
            <a:xfrm rot="10800000">
              <a:off x="571" y="1515"/>
              <a:ext cx="340" cy="340"/>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57365" name="Text Box 33"/>
            <p:cNvSpPr txBox="1">
              <a:spLocks noChangeArrowheads="1"/>
            </p:cNvSpPr>
            <p:nvPr/>
          </p:nvSpPr>
          <p:spPr bwMode="auto">
            <a:xfrm rot="10800000">
              <a:off x="523" y="1266"/>
              <a:ext cx="2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a:t>
              </a:r>
            </a:p>
          </p:txBody>
        </p:sp>
        <p:sp>
          <p:nvSpPr>
            <p:cNvPr id="57366" name="Text Box 34"/>
            <p:cNvSpPr txBox="1">
              <a:spLocks noChangeArrowheads="1"/>
            </p:cNvSpPr>
            <p:nvPr/>
          </p:nvSpPr>
          <p:spPr bwMode="auto">
            <a:xfrm>
              <a:off x="533" y="181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_</a:t>
              </a:r>
            </a:p>
          </p:txBody>
        </p:sp>
        <p:sp>
          <p:nvSpPr>
            <p:cNvPr id="57367" name="Text Box 35"/>
            <p:cNvSpPr txBox="1">
              <a:spLocks noChangeArrowheads="1"/>
            </p:cNvSpPr>
            <p:nvPr/>
          </p:nvSpPr>
          <p:spPr bwMode="auto">
            <a:xfrm>
              <a:off x="848" y="840"/>
              <a:ext cx="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dirty="0" err="1">
                  <a:sym typeface="Symbol" pitchFamily="18" charset="2"/>
                </a:rPr>
                <a:t>i</a:t>
              </a:r>
              <a:endParaRPr lang="en-US" altLang="zh-CN" sz="2000" b="0" i="1" dirty="0">
                <a:sym typeface="Symbol" pitchFamily="18" charset="2"/>
              </a:endParaRPr>
            </a:p>
          </p:txBody>
        </p:sp>
        <p:sp>
          <p:nvSpPr>
            <p:cNvPr id="57368" name="Oval 36"/>
            <p:cNvSpPr>
              <a:spLocks noChangeArrowheads="1"/>
            </p:cNvSpPr>
            <p:nvPr/>
          </p:nvSpPr>
          <p:spPr bwMode="auto">
            <a:xfrm rot="10800000">
              <a:off x="1380" y="2214"/>
              <a:ext cx="68"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7369" name="Line 37"/>
            <p:cNvSpPr>
              <a:spLocks noChangeShapeType="1"/>
            </p:cNvSpPr>
            <p:nvPr/>
          </p:nvSpPr>
          <p:spPr bwMode="auto">
            <a:xfrm rot="5400000">
              <a:off x="1060" y="1928"/>
              <a:ext cx="0" cy="64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7370" name="Oval 38"/>
            <p:cNvSpPr>
              <a:spLocks noChangeArrowheads="1"/>
            </p:cNvSpPr>
            <p:nvPr/>
          </p:nvSpPr>
          <p:spPr bwMode="auto">
            <a:xfrm rot="10800000">
              <a:off x="1380" y="1039"/>
              <a:ext cx="68"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7371" name="Line 39"/>
            <p:cNvSpPr>
              <a:spLocks noChangeShapeType="1"/>
            </p:cNvSpPr>
            <p:nvPr/>
          </p:nvSpPr>
          <p:spPr bwMode="auto">
            <a:xfrm rot="5400000">
              <a:off x="1060" y="753"/>
              <a:ext cx="0" cy="64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7372" name="Text Box 40"/>
            <p:cNvSpPr txBox="1">
              <a:spLocks noChangeArrowheads="1"/>
            </p:cNvSpPr>
            <p:nvPr/>
          </p:nvSpPr>
          <p:spPr bwMode="auto">
            <a:xfrm>
              <a:off x="1344" y="1515"/>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v</a:t>
              </a:r>
            </a:p>
          </p:txBody>
        </p:sp>
        <p:sp>
          <p:nvSpPr>
            <p:cNvPr id="57373" name="Text Box 41"/>
            <p:cNvSpPr txBox="1">
              <a:spLocks noChangeArrowheads="1"/>
            </p:cNvSpPr>
            <p:nvPr/>
          </p:nvSpPr>
          <p:spPr bwMode="auto">
            <a:xfrm rot="10800000">
              <a:off x="1322" y="1108"/>
              <a:ext cx="2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a:t>
              </a:r>
            </a:p>
          </p:txBody>
        </p:sp>
        <p:sp>
          <p:nvSpPr>
            <p:cNvPr id="57374" name="Text Box 42"/>
            <p:cNvSpPr txBox="1">
              <a:spLocks noChangeArrowheads="1"/>
            </p:cNvSpPr>
            <p:nvPr/>
          </p:nvSpPr>
          <p:spPr bwMode="auto">
            <a:xfrm>
              <a:off x="1343" y="1874"/>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_</a:t>
              </a:r>
            </a:p>
          </p:txBody>
        </p:sp>
        <p:sp>
          <p:nvSpPr>
            <p:cNvPr id="57375" name="Line 43"/>
            <p:cNvSpPr>
              <a:spLocks noChangeShapeType="1"/>
            </p:cNvSpPr>
            <p:nvPr/>
          </p:nvSpPr>
          <p:spPr bwMode="auto">
            <a:xfrm rot="10800000">
              <a:off x="740" y="1073"/>
              <a:ext cx="0" cy="117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7376" name="Text Box 44"/>
            <p:cNvSpPr txBox="1">
              <a:spLocks noChangeArrowheads="1"/>
            </p:cNvSpPr>
            <p:nvPr/>
          </p:nvSpPr>
          <p:spPr bwMode="auto">
            <a:xfrm>
              <a:off x="268" y="1558"/>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v</a:t>
              </a:r>
              <a:r>
                <a:rPr lang="en-US" altLang="zh-CN" sz="2000" b="0" i="1" baseline="-25000">
                  <a:sym typeface="Symbol" pitchFamily="18" charset="2"/>
                </a:rPr>
                <a:t>S</a:t>
              </a:r>
            </a:p>
          </p:txBody>
        </p:sp>
      </p:grpSp>
      <p:graphicFrame>
        <p:nvGraphicFramePr>
          <p:cNvPr id="399405" name="Object 45"/>
          <p:cNvGraphicFramePr>
            <a:graphicFrameLocks noChangeAspect="1"/>
          </p:cNvGraphicFramePr>
          <p:nvPr/>
        </p:nvGraphicFramePr>
        <p:xfrm>
          <a:off x="3124200" y="3157538"/>
          <a:ext cx="974725" cy="473075"/>
        </p:xfrm>
        <a:graphic>
          <a:graphicData uri="http://schemas.openxmlformats.org/presentationml/2006/ole">
            <mc:AlternateContent xmlns:mc="http://schemas.openxmlformats.org/markup-compatibility/2006">
              <mc:Choice xmlns:v="urn:schemas-microsoft-com:vml" Requires="v">
                <p:oleObj spid="_x0000_s131093" name="Equation" r:id="rId5" imgW="418918" imgH="203112" progId="Equation.DSMT4">
                  <p:embed/>
                </p:oleObj>
              </mc:Choice>
              <mc:Fallback>
                <p:oleObj name="Equation" r:id="rId5" imgW="418918" imgH="203112"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0" y="3157538"/>
                        <a:ext cx="97472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06" name="Object 46"/>
          <p:cNvGraphicFramePr>
            <a:graphicFrameLocks noChangeAspect="1"/>
          </p:cNvGraphicFramePr>
          <p:nvPr/>
        </p:nvGraphicFramePr>
        <p:xfrm>
          <a:off x="3000375" y="5567363"/>
          <a:ext cx="974725" cy="473075"/>
        </p:xfrm>
        <a:graphic>
          <a:graphicData uri="http://schemas.openxmlformats.org/presentationml/2006/ole">
            <mc:AlternateContent xmlns:mc="http://schemas.openxmlformats.org/markup-compatibility/2006">
              <mc:Choice xmlns:v="urn:schemas-microsoft-com:vml" Requires="v">
                <p:oleObj spid="_x0000_s131094" name="Equation" r:id="rId7" imgW="418918" imgH="203112" progId="Equation.DSMT4">
                  <p:embed/>
                </p:oleObj>
              </mc:Choice>
              <mc:Fallback>
                <p:oleObj name="Equation" r:id="rId7" imgW="418918" imgH="203112"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00375" y="5567363"/>
                        <a:ext cx="974725"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215040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99362"/>
                                        </p:tgtEl>
                                        <p:attrNameLst>
                                          <p:attrName>style.visibility</p:attrName>
                                        </p:attrNameLst>
                                      </p:cBhvr>
                                      <p:to>
                                        <p:strVal val="visible"/>
                                      </p:to>
                                    </p:set>
                                    <p:animEffect transition="in" filter="blinds(horizontal)">
                                      <p:cBhvr>
                                        <p:cTn id="7" dur="500"/>
                                        <p:tgtEl>
                                          <p:spTgt spid="399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399364"/>
                                        </p:tgtEl>
                                        <p:attrNameLst>
                                          <p:attrName>style.visibility</p:attrName>
                                        </p:attrNameLst>
                                      </p:cBhvr>
                                      <p:to>
                                        <p:strVal val="visible"/>
                                      </p:to>
                                    </p:set>
                                    <p:animEffect transition="in" filter="slide(fromLeft)">
                                      <p:cBhvr>
                                        <p:cTn id="12" dur="500"/>
                                        <p:tgtEl>
                                          <p:spTgt spid="3993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99374"/>
                                        </p:tgtEl>
                                        <p:attrNameLst>
                                          <p:attrName>style.visibility</p:attrName>
                                        </p:attrNameLst>
                                      </p:cBhvr>
                                      <p:to>
                                        <p:strVal val="visible"/>
                                      </p:to>
                                    </p:set>
                                    <p:anim calcmode="lin" valueType="num">
                                      <p:cBhvr additive="base">
                                        <p:cTn id="17" dur="500" fill="hold"/>
                                        <p:tgtEl>
                                          <p:spTgt spid="399374"/>
                                        </p:tgtEl>
                                        <p:attrNameLst>
                                          <p:attrName>ppt_x</p:attrName>
                                        </p:attrNameLst>
                                      </p:cBhvr>
                                      <p:tavLst>
                                        <p:tav tm="0">
                                          <p:val>
                                            <p:strVal val="#ppt_x"/>
                                          </p:val>
                                        </p:tav>
                                        <p:tav tm="100000">
                                          <p:val>
                                            <p:strVal val="#ppt_x"/>
                                          </p:val>
                                        </p:tav>
                                      </p:tavLst>
                                    </p:anim>
                                    <p:anim calcmode="lin" valueType="num">
                                      <p:cBhvr additive="base">
                                        <p:cTn id="18" dur="500" fill="hold"/>
                                        <p:tgtEl>
                                          <p:spTgt spid="399374"/>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399390"/>
                                        </p:tgtEl>
                                        <p:attrNameLst>
                                          <p:attrName>style.visibility</p:attrName>
                                        </p:attrNameLst>
                                      </p:cBhvr>
                                      <p:to>
                                        <p:strVal val="visible"/>
                                      </p:to>
                                    </p:set>
                                    <p:animEffect transition="in" filter="checkerboard(across)">
                                      <p:cBhvr>
                                        <p:cTn id="23" dur="500"/>
                                        <p:tgtEl>
                                          <p:spTgt spid="399390"/>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399363"/>
                                        </p:tgtEl>
                                        <p:attrNameLst>
                                          <p:attrName>style.visibility</p:attrName>
                                        </p:attrNameLst>
                                      </p:cBhvr>
                                      <p:to>
                                        <p:strVal val="visible"/>
                                      </p:to>
                                    </p:set>
                                    <p:animEffect transition="in" filter="checkerboard(across)">
                                      <p:cBhvr>
                                        <p:cTn id="26" dur="500"/>
                                        <p:tgtEl>
                                          <p:spTgt spid="39936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399368"/>
                                        </p:tgtEl>
                                        <p:attrNameLst>
                                          <p:attrName>style.visibility</p:attrName>
                                        </p:attrNameLst>
                                      </p:cBhvr>
                                      <p:to>
                                        <p:strVal val="visible"/>
                                      </p:to>
                                    </p:set>
                                    <p:animEffect transition="in" filter="slide(fromLeft)">
                                      <p:cBhvr>
                                        <p:cTn id="31" dur="500"/>
                                        <p:tgtEl>
                                          <p:spTgt spid="399368"/>
                                        </p:tgtEl>
                                      </p:cBhvr>
                                    </p:animEffect>
                                  </p:childTnLst>
                                </p:cTn>
                              </p:par>
                            </p:childTnLst>
                          </p:cTn>
                        </p:par>
                        <p:par>
                          <p:cTn id="32" fill="hold" nodeType="afterGroup">
                            <p:stCondLst>
                              <p:cond delay="500"/>
                            </p:stCondLst>
                            <p:childTnLst>
                              <p:par>
                                <p:cTn id="33" presetID="18" presetClass="entr" presetSubtype="6" fill="hold" grpId="0" nodeType="afterEffect">
                                  <p:stCondLst>
                                    <p:cond delay="0"/>
                                  </p:stCondLst>
                                  <p:iterate type="lt">
                                    <p:tmPct val="100000"/>
                                  </p:iterate>
                                  <p:childTnLst>
                                    <p:set>
                                      <p:cBhvr>
                                        <p:cTn id="34" dur="1" fill="hold">
                                          <p:stCondLst>
                                            <p:cond delay="0"/>
                                          </p:stCondLst>
                                        </p:cTn>
                                        <p:tgtEl>
                                          <p:spTgt spid="399365"/>
                                        </p:tgtEl>
                                        <p:attrNameLst>
                                          <p:attrName>style.visibility</p:attrName>
                                        </p:attrNameLst>
                                      </p:cBhvr>
                                      <p:to>
                                        <p:strVal val="visible"/>
                                      </p:to>
                                    </p:set>
                                    <p:animEffect transition="in" filter="strips(downRight)">
                                      <p:cBhvr>
                                        <p:cTn id="35" dur="75"/>
                                        <p:tgtEl>
                                          <p:spTgt spid="39936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399405"/>
                                        </p:tgtEl>
                                        <p:attrNameLst>
                                          <p:attrName>style.visibility</p:attrName>
                                        </p:attrNameLst>
                                      </p:cBhvr>
                                      <p:to>
                                        <p:strVal val="visible"/>
                                      </p:to>
                                    </p:set>
                                    <p:anim calcmode="lin" valueType="num">
                                      <p:cBhvr additive="base">
                                        <p:cTn id="40" dur="500" fill="hold"/>
                                        <p:tgtEl>
                                          <p:spTgt spid="399405"/>
                                        </p:tgtEl>
                                        <p:attrNameLst>
                                          <p:attrName>ppt_x</p:attrName>
                                        </p:attrNameLst>
                                      </p:cBhvr>
                                      <p:tavLst>
                                        <p:tav tm="0">
                                          <p:val>
                                            <p:strVal val="#ppt_x"/>
                                          </p:val>
                                        </p:tav>
                                        <p:tav tm="100000">
                                          <p:val>
                                            <p:strVal val="#ppt_x"/>
                                          </p:val>
                                        </p:tav>
                                      </p:tavLst>
                                    </p:anim>
                                    <p:anim calcmode="lin" valueType="num">
                                      <p:cBhvr additive="base">
                                        <p:cTn id="41" dur="500" fill="hold"/>
                                        <p:tgtEl>
                                          <p:spTgt spid="399405"/>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8" fill="hold" grpId="0" nodeType="clickEffect">
                                  <p:stCondLst>
                                    <p:cond delay="0"/>
                                  </p:stCondLst>
                                  <p:childTnLst>
                                    <p:set>
                                      <p:cBhvr>
                                        <p:cTn id="45" dur="1" fill="hold">
                                          <p:stCondLst>
                                            <p:cond delay="0"/>
                                          </p:stCondLst>
                                        </p:cTn>
                                        <p:tgtEl>
                                          <p:spTgt spid="399366"/>
                                        </p:tgtEl>
                                        <p:attrNameLst>
                                          <p:attrName>style.visibility</p:attrName>
                                        </p:attrNameLst>
                                      </p:cBhvr>
                                      <p:to>
                                        <p:strVal val="visible"/>
                                      </p:to>
                                    </p:set>
                                    <p:animEffect transition="in" filter="slide(fromLeft)">
                                      <p:cBhvr>
                                        <p:cTn id="46" dur="500"/>
                                        <p:tgtEl>
                                          <p:spTgt spid="399366"/>
                                        </p:tgtEl>
                                      </p:cBhvr>
                                    </p:animEffect>
                                  </p:childTnLst>
                                </p:cTn>
                              </p:par>
                            </p:childTnLst>
                          </p:cTn>
                        </p:par>
                        <p:par>
                          <p:cTn id="47" fill="hold" nodeType="afterGroup">
                            <p:stCondLst>
                              <p:cond delay="500"/>
                            </p:stCondLst>
                            <p:childTnLst>
                              <p:par>
                                <p:cTn id="48" presetID="23" presetClass="entr" presetSubtype="16" fill="hold" grpId="0" nodeType="afterEffect">
                                  <p:stCondLst>
                                    <p:cond delay="0"/>
                                  </p:stCondLst>
                                  <p:childTnLst>
                                    <p:set>
                                      <p:cBhvr>
                                        <p:cTn id="49" dur="1" fill="hold">
                                          <p:stCondLst>
                                            <p:cond delay="0"/>
                                          </p:stCondLst>
                                        </p:cTn>
                                        <p:tgtEl>
                                          <p:spTgt spid="399367"/>
                                        </p:tgtEl>
                                        <p:attrNameLst>
                                          <p:attrName>style.visibility</p:attrName>
                                        </p:attrNameLst>
                                      </p:cBhvr>
                                      <p:to>
                                        <p:strVal val="visible"/>
                                      </p:to>
                                    </p:set>
                                    <p:anim calcmode="lin" valueType="num">
                                      <p:cBhvr>
                                        <p:cTn id="50" dur="500" fill="hold"/>
                                        <p:tgtEl>
                                          <p:spTgt spid="399367"/>
                                        </p:tgtEl>
                                        <p:attrNameLst>
                                          <p:attrName>ppt_w</p:attrName>
                                        </p:attrNameLst>
                                      </p:cBhvr>
                                      <p:tavLst>
                                        <p:tav tm="0">
                                          <p:val>
                                            <p:fltVal val="0"/>
                                          </p:val>
                                        </p:tav>
                                        <p:tav tm="100000">
                                          <p:val>
                                            <p:strVal val="#ppt_w"/>
                                          </p:val>
                                        </p:tav>
                                      </p:tavLst>
                                    </p:anim>
                                    <p:anim calcmode="lin" valueType="num">
                                      <p:cBhvr>
                                        <p:cTn id="51" dur="500" fill="hold"/>
                                        <p:tgtEl>
                                          <p:spTgt spid="399367"/>
                                        </p:tgtEl>
                                        <p:attrNameLst>
                                          <p:attrName>ppt_h</p:attrName>
                                        </p:attrNameLst>
                                      </p:cBhvr>
                                      <p:tavLst>
                                        <p:tav tm="0">
                                          <p:val>
                                            <p:fltVal val="0"/>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8" presetClass="entr" presetSubtype="16" fill="hold" nodeType="clickEffect">
                                  <p:stCondLst>
                                    <p:cond delay="0"/>
                                  </p:stCondLst>
                                  <p:childTnLst>
                                    <p:set>
                                      <p:cBhvr>
                                        <p:cTn id="55" dur="1" fill="hold">
                                          <p:stCondLst>
                                            <p:cond delay="0"/>
                                          </p:stCondLst>
                                        </p:cTn>
                                        <p:tgtEl>
                                          <p:spTgt spid="399375"/>
                                        </p:tgtEl>
                                        <p:attrNameLst>
                                          <p:attrName>style.visibility</p:attrName>
                                        </p:attrNameLst>
                                      </p:cBhvr>
                                      <p:to>
                                        <p:strVal val="visible"/>
                                      </p:to>
                                    </p:set>
                                    <p:animEffect transition="in" filter="diamond(in)">
                                      <p:cBhvr>
                                        <p:cTn id="56" dur="1000"/>
                                        <p:tgtEl>
                                          <p:spTgt spid="399375"/>
                                        </p:tgtEl>
                                      </p:cBhvr>
                                    </p:animEffect>
                                  </p:childTnLst>
                                </p:cTn>
                              </p:par>
                              <p:par>
                                <p:cTn id="57" presetID="8" presetClass="entr" presetSubtype="16" fill="hold" grpId="0" nodeType="withEffect">
                                  <p:stCondLst>
                                    <p:cond delay="0"/>
                                  </p:stCondLst>
                                  <p:childTnLst>
                                    <p:set>
                                      <p:cBhvr>
                                        <p:cTn id="58" dur="1" fill="hold">
                                          <p:stCondLst>
                                            <p:cond delay="0"/>
                                          </p:stCondLst>
                                        </p:cTn>
                                        <p:tgtEl>
                                          <p:spTgt spid="399369"/>
                                        </p:tgtEl>
                                        <p:attrNameLst>
                                          <p:attrName>style.visibility</p:attrName>
                                        </p:attrNameLst>
                                      </p:cBhvr>
                                      <p:to>
                                        <p:strVal val="visible"/>
                                      </p:to>
                                    </p:set>
                                    <p:animEffect transition="in" filter="diamond(in)">
                                      <p:cBhvr>
                                        <p:cTn id="59" dur="1000"/>
                                        <p:tgtEl>
                                          <p:spTgt spid="39936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2" presetClass="entr" presetSubtype="8" fill="hold" grpId="0" nodeType="clickEffect">
                                  <p:stCondLst>
                                    <p:cond delay="0"/>
                                  </p:stCondLst>
                                  <p:childTnLst>
                                    <p:set>
                                      <p:cBhvr>
                                        <p:cTn id="63" dur="1" fill="hold">
                                          <p:stCondLst>
                                            <p:cond delay="0"/>
                                          </p:stCondLst>
                                        </p:cTn>
                                        <p:tgtEl>
                                          <p:spTgt spid="399370"/>
                                        </p:tgtEl>
                                        <p:attrNameLst>
                                          <p:attrName>style.visibility</p:attrName>
                                        </p:attrNameLst>
                                      </p:cBhvr>
                                      <p:to>
                                        <p:strVal val="visible"/>
                                      </p:to>
                                    </p:set>
                                    <p:animEffect transition="in" filter="slide(fromLeft)">
                                      <p:cBhvr>
                                        <p:cTn id="64" dur="500"/>
                                        <p:tgtEl>
                                          <p:spTgt spid="399370"/>
                                        </p:tgtEl>
                                      </p:cBhvr>
                                    </p:animEffect>
                                  </p:childTnLst>
                                </p:cTn>
                              </p:par>
                            </p:childTnLst>
                          </p:cTn>
                        </p:par>
                        <p:par>
                          <p:cTn id="65" fill="hold" nodeType="afterGroup">
                            <p:stCondLst>
                              <p:cond delay="500"/>
                            </p:stCondLst>
                            <p:childTnLst>
                              <p:par>
                                <p:cTn id="66" presetID="18" presetClass="entr" presetSubtype="12" fill="hold" grpId="0" nodeType="afterEffect">
                                  <p:stCondLst>
                                    <p:cond delay="0"/>
                                  </p:stCondLst>
                                  <p:iterate type="lt">
                                    <p:tmPct val="100000"/>
                                  </p:iterate>
                                  <p:childTnLst>
                                    <p:set>
                                      <p:cBhvr>
                                        <p:cTn id="67" dur="1" fill="hold">
                                          <p:stCondLst>
                                            <p:cond delay="0"/>
                                          </p:stCondLst>
                                        </p:cTn>
                                        <p:tgtEl>
                                          <p:spTgt spid="399371"/>
                                        </p:tgtEl>
                                        <p:attrNameLst>
                                          <p:attrName>style.visibility</p:attrName>
                                        </p:attrNameLst>
                                      </p:cBhvr>
                                      <p:to>
                                        <p:strVal val="visible"/>
                                      </p:to>
                                    </p:set>
                                    <p:animEffect transition="in" filter="strips(downLeft)">
                                      <p:cBhvr>
                                        <p:cTn id="68" dur="100"/>
                                        <p:tgtEl>
                                          <p:spTgt spid="39937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4" presetClass="entr" presetSubtype="16" fill="hold" nodeType="clickEffect">
                                  <p:stCondLst>
                                    <p:cond delay="0"/>
                                  </p:stCondLst>
                                  <p:childTnLst>
                                    <p:set>
                                      <p:cBhvr>
                                        <p:cTn id="72" dur="1" fill="hold">
                                          <p:stCondLst>
                                            <p:cond delay="0"/>
                                          </p:stCondLst>
                                        </p:cTn>
                                        <p:tgtEl>
                                          <p:spTgt spid="399406"/>
                                        </p:tgtEl>
                                        <p:attrNameLst>
                                          <p:attrName>style.visibility</p:attrName>
                                        </p:attrNameLst>
                                      </p:cBhvr>
                                      <p:to>
                                        <p:strVal val="visible"/>
                                      </p:to>
                                    </p:set>
                                    <p:animEffect transition="in" filter="box(in)">
                                      <p:cBhvr>
                                        <p:cTn id="73" dur="500"/>
                                        <p:tgtEl>
                                          <p:spTgt spid="39940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2" presetClass="entr" presetSubtype="8" fill="hold" grpId="0" nodeType="clickEffect">
                                  <p:stCondLst>
                                    <p:cond delay="0"/>
                                  </p:stCondLst>
                                  <p:childTnLst>
                                    <p:set>
                                      <p:cBhvr>
                                        <p:cTn id="77" dur="1" fill="hold">
                                          <p:stCondLst>
                                            <p:cond delay="0"/>
                                          </p:stCondLst>
                                        </p:cTn>
                                        <p:tgtEl>
                                          <p:spTgt spid="399372"/>
                                        </p:tgtEl>
                                        <p:attrNameLst>
                                          <p:attrName>style.visibility</p:attrName>
                                        </p:attrNameLst>
                                      </p:cBhvr>
                                      <p:to>
                                        <p:strVal val="visible"/>
                                      </p:to>
                                    </p:set>
                                    <p:animEffect transition="in" filter="slide(fromLeft)">
                                      <p:cBhvr>
                                        <p:cTn id="78" dur="500"/>
                                        <p:tgtEl>
                                          <p:spTgt spid="399372"/>
                                        </p:tgtEl>
                                      </p:cBhvr>
                                    </p:animEffect>
                                  </p:childTnLst>
                                </p:cTn>
                              </p:par>
                            </p:childTnLst>
                          </p:cTn>
                        </p:par>
                        <p:par>
                          <p:cTn id="79" fill="hold" nodeType="afterGroup">
                            <p:stCondLst>
                              <p:cond delay="500"/>
                            </p:stCondLst>
                            <p:childTnLst>
                              <p:par>
                                <p:cTn id="80" presetID="23" presetClass="entr" presetSubtype="16" fill="hold" grpId="0" nodeType="afterEffect">
                                  <p:stCondLst>
                                    <p:cond delay="0"/>
                                  </p:stCondLst>
                                  <p:childTnLst>
                                    <p:set>
                                      <p:cBhvr>
                                        <p:cTn id="81" dur="1" fill="hold">
                                          <p:stCondLst>
                                            <p:cond delay="0"/>
                                          </p:stCondLst>
                                        </p:cTn>
                                        <p:tgtEl>
                                          <p:spTgt spid="399373"/>
                                        </p:tgtEl>
                                        <p:attrNameLst>
                                          <p:attrName>style.visibility</p:attrName>
                                        </p:attrNameLst>
                                      </p:cBhvr>
                                      <p:to>
                                        <p:strVal val="visible"/>
                                      </p:to>
                                    </p:set>
                                    <p:anim calcmode="lin" valueType="num">
                                      <p:cBhvr>
                                        <p:cTn id="82" dur="500" fill="hold"/>
                                        <p:tgtEl>
                                          <p:spTgt spid="399373"/>
                                        </p:tgtEl>
                                        <p:attrNameLst>
                                          <p:attrName>ppt_w</p:attrName>
                                        </p:attrNameLst>
                                      </p:cBhvr>
                                      <p:tavLst>
                                        <p:tav tm="0">
                                          <p:val>
                                            <p:fltVal val="0"/>
                                          </p:val>
                                        </p:tav>
                                        <p:tav tm="100000">
                                          <p:val>
                                            <p:strVal val="#ppt_w"/>
                                          </p:val>
                                        </p:tav>
                                      </p:tavLst>
                                    </p:anim>
                                    <p:anim calcmode="lin" valueType="num">
                                      <p:cBhvr>
                                        <p:cTn id="83" dur="500" fill="hold"/>
                                        <p:tgtEl>
                                          <p:spTgt spid="39937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2" grpId="0" animBg="1" autoUpdateAnimBg="0"/>
      <p:bldP spid="399363" grpId="0" animBg="1"/>
      <p:bldP spid="399364" grpId="0" animBg="1"/>
      <p:bldP spid="399365" grpId="0" animBg="1" autoUpdateAnimBg="0"/>
      <p:bldP spid="399366" grpId="0" animBg="1"/>
      <p:bldP spid="399367" grpId="0" animBg="1"/>
      <p:bldP spid="399368" grpId="0"/>
      <p:bldP spid="399369" grpId="0" animBg="1"/>
      <p:bldP spid="399370" grpId="0"/>
      <p:bldP spid="399371" grpId="0" animBg="1" autoUpdateAnimBg="0"/>
      <p:bldP spid="399372" grpId="0" animBg="1"/>
      <p:bldP spid="39937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611188" y="879475"/>
            <a:ext cx="2341562" cy="4603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buClr>
                <a:schemeClr val="tx1"/>
              </a:buClr>
            </a:pPr>
            <a:r>
              <a:rPr lang="en-US" altLang="zh-CN">
                <a:ea typeface="楷体_GB2312" pitchFamily="49" charset="-122"/>
                <a:sym typeface="Symbol" pitchFamily="18" charset="2"/>
              </a:rPr>
              <a:t>5</a:t>
            </a:r>
            <a:r>
              <a:rPr lang="zh-CN" altLang="en-US">
                <a:ea typeface="楷体_GB2312" pitchFamily="49" charset="-122"/>
                <a:sym typeface="Symbol" pitchFamily="18" charset="2"/>
              </a:rPr>
              <a:t>、实际电压源</a:t>
            </a:r>
          </a:p>
        </p:txBody>
      </p:sp>
      <p:sp>
        <p:nvSpPr>
          <p:cNvPr id="58371" name="Line 3"/>
          <p:cNvSpPr>
            <a:spLocks noChangeShapeType="1"/>
          </p:cNvSpPr>
          <p:nvPr/>
        </p:nvSpPr>
        <p:spPr bwMode="auto">
          <a:xfrm>
            <a:off x="1743075" y="3157538"/>
            <a:ext cx="458788" cy="0"/>
          </a:xfrm>
          <a:prstGeom prst="line">
            <a:avLst/>
          </a:prstGeom>
          <a:noFill/>
          <a:ln w="28575">
            <a:solidFill>
              <a:srgbClr val="00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0388" name="Oval 4"/>
          <p:cNvSpPr>
            <a:spLocks noChangeArrowheads="1"/>
          </p:cNvSpPr>
          <p:nvPr/>
        </p:nvSpPr>
        <p:spPr bwMode="auto">
          <a:xfrm rot="10800000">
            <a:off x="1030288" y="4005263"/>
            <a:ext cx="539750" cy="539750"/>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sp>
        <p:nvSpPr>
          <p:cNvPr id="58373" name="Text Box 5"/>
          <p:cNvSpPr txBox="1">
            <a:spLocks noChangeArrowheads="1"/>
          </p:cNvSpPr>
          <p:nvPr/>
        </p:nvSpPr>
        <p:spPr bwMode="auto">
          <a:xfrm rot="10800000">
            <a:off x="954088" y="3609975"/>
            <a:ext cx="355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a:t>
            </a:r>
          </a:p>
        </p:txBody>
      </p:sp>
      <p:sp>
        <p:nvSpPr>
          <p:cNvPr id="58374" name="Text Box 6"/>
          <p:cNvSpPr txBox="1">
            <a:spLocks noChangeArrowheads="1"/>
          </p:cNvSpPr>
          <p:nvPr/>
        </p:nvSpPr>
        <p:spPr bwMode="auto">
          <a:xfrm>
            <a:off x="969963" y="447675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_</a:t>
            </a:r>
          </a:p>
        </p:txBody>
      </p:sp>
      <p:sp>
        <p:nvSpPr>
          <p:cNvPr id="58375" name="Text Box 7"/>
          <p:cNvSpPr txBox="1">
            <a:spLocks noChangeArrowheads="1"/>
          </p:cNvSpPr>
          <p:nvPr/>
        </p:nvSpPr>
        <p:spPr bwMode="auto">
          <a:xfrm>
            <a:off x="1470025" y="2933700"/>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dirty="0" err="1">
                <a:sym typeface="Symbol" pitchFamily="18" charset="2"/>
              </a:rPr>
              <a:t>i</a:t>
            </a:r>
            <a:endParaRPr lang="en-US" altLang="zh-CN" sz="2000" b="0" i="1" dirty="0">
              <a:sym typeface="Symbol" pitchFamily="18" charset="2"/>
            </a:endParaRPr>
          </a:p>
        </p:txBody>
      </p:sp>
      <p:sp>
        <p:nvSpPr>
          <p:cNvPr id="58376" name="Oval 8"/>
          <p:cNvSpPr>
            <a:spLocks noChangeArrowheads="1"/>
          </p:cNvSpPr>
          <p:nvPr/>
        </p:nvSpPr>
        <p:spPr bwMode="auto">
          <a:xfrm rot="10800000">
            <a:off x="2314575" y="5114925"/>
            <a:ext cx="107950" cy="107950"/>
          </a:xfrm>
          <a:prstGeom prst="ellipse">
            <a:avLst/>
          </a:prstGeom>
          <a:noFill/>
          <a:ln w="2857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8377" name="Line 9"/>
          <p:cNvSpPr>
            <a:spLocks noChangeShapeType="1"/>
          </p:cNvSpPr>
          <p:nvPr/>
        </p:nvSpPr>
        <p:spPr bwMode="auto">
          <a:xfrm rot="5400000">
            <a:off x="1806575" y="4660900"/>
            <a:ext cx="0" cy="1016000"/>
          </a:xfrm>
          <a:prstGeom prst="line">
            <a:avLst/>
          </a:prstGeom>
          <a:noFill/>
          <a:ln w="28575">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8378" name="Oval 10"/>
          <p:cNvSpPr>
            <a:spLocks noChangeArrowheads="1"/>
          </p:cNvSpPr>
          <p:nvPr/>
        </p:nvSpPr>
        <p:spPr bwMode="auto">
          <a:xfrm rot="10800000">
            <a:off x="2314575" y="3249613"/>
            <a:ext cx="107950" cy="107950"/>
          </a:xfrm>
          <a:prstGeom prst="ellipse">
            <a:avLst/>
          </a:prstGeom>
          <a:noFill/>
          <a:ln w="2857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8379" name="Line 11"/>
          <p:cNvSpPr>
            <a:spLocks noChangeShapeType="1"/>
          </p:cNvSpPr>
          <p:nvPr/>
        </p:nvSpPr>
        <p:spPr bwMode="auto">
          <a:xfrm rot="5400000">
            <a:off x="1806575" y="2795588"/>
            <a:ext cx="0" cy="1016000"/>
          </a:xfrm>
          <a:prstGeom prst="line">
            <a:avLst/>
          </a:prstGeom>
          <a:noFill/>
          <a:ln w="28575">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8380" name="Text Box 12"/>
          <p:cNvSpPr txBox="1">
            <a:spLocks noChangeArrowheads="1"/>
          </p:cNvSpPr>
          <p:nvPr/>
        </p:nvSpPr>
        <p:spPr bwMode="auto">
          <a:xfrm>
            <a:off x="2257425" y="4005263"/>
            <a:ext cx="296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v</a:t>
            </a:r>
          </a:p>
        </p:txBody>
      </p:sp>
      <p:sp>
        <p:nvSpPr>
          <p:cNvPr id="58381" name="Text Box 13"/>
          <p:cNvSpPr txBox="1">
            <a:spLocks noChangeArrowheads="1"/>
          </p:cNvSpPr>
          <p:nvPr/>
        </p:nvSpPr>
        <p:spPr bwMode="auto">
          <a:xfrm rot="10800000">
            <a:off x="2222500" y="3359150"/>
            <a:ext cx="355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a:t>
            </a:r>
          </a:p>
        </p:txBody>
      </p:sp>
      <p:sp>
        <p:nvSpPr>
          <p:cNvPr id="58382" name="Text Box 14"/>
          <p:cNvSpPr txBox="1">
            <a:spLocks noChangeArrowheads="1"/>
          </p:cNvSpPr>
          <p:nvPr/>
        </p:nvSpPr>
        <p:spPr bwMode="auto">
          <a:xfrm>
            <a:off x="2255838" y="4575175"/>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_</a:t>
            </a:r>
          </a:p>
        </p:txBody>
      </p:sp>
      <p:sp>
        <p:nvSpPr>
          <p:cNvPr id="58383" name="Line 15"/>
          <p:cNvSpPr>
            <a:spLocks noChangeShapeType="1"/>
          </p:cNvSpPr>
          <p:nvPr/>
        </p:nvSpPr>
        <p:spPr bwMode="auto">
          <a:xfrm rot="10800000">
            <a:off x="1298575" y="3303588"/>
            <a:ext cx="0" cy="1865312"/>
          </a:xfrm>
          <a:prstGeom prst="line">
            <a:avLst/>
          </a:prstGeom>
          <a:noFill/>
          <a:ln w="28575">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8384" name="Text Box 16"/>
          <p:cNvSpPr txBox="1">
            <a:spLocks noChangeArrowheads="1"/>
          </p:cNvSpPr>
          <p:nvPr/>
        </p:nvSpPr>
        <p:spPr bwMode="auto">
          <a:xfrm>
            <a:off x="549275" y="4073525"/>
            <a:ext cx="379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v</a:t>
            </a:r>
            <a:r>
              <a:rPr lang="en-US" altLang="zh-CN" sz="2000" b="0" i="1" baseline="-25000">
                <a:sym typeface="Symbol" pitchFamily="18" charset="2"/>
              </a:rPr>
              <a:t>S</a:t>
            </a:r>
          </a:p>
        </p:txBody>
      </p:sp>
      <p:sp>
        <p:nvSpPr>
          <p:cNvPr id="58385" name="Rectangle 17"/>
          <p:cNvSpPr>
            <a:spLocks noChangeArrowheads="1"/>
          </p:cNvSpPr>
          <p:nvPr/>
        </p:nvSpPr>
        <p:spPr bwMode="auto">
          <a:xfrm>
            <a:off x="1581150" y="5086350"/>
            <a:ext cx="428625" cy="152400"/>
          </a:xfrm>
          <a:prstGeom prst="rect">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58386" name="Text Box 18"/>
          <p:cNvSpPr txBox="1">
            <a:spLocks noChangeArrowheads="1"/>
          </p:cNvSpPr>
          <p:nvPr/>
        </p:nvSpPr>
        <p:spPr bwMode="auto">
          <a:xfrm>
            <a:off x="1585913" y="5300663"/>
            <a:ext cx="4222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R</a:t>
            </a:r>
            <a:r>
              <a:rPr lang="en-US" altLang="zh-CN" sz="2000" b="0" i="1" baseline="-25000">
                <a:sym typeface="Symbol" pitchFamily="18" charset="2"/>
              </a:rPr>
              <a:t>S</a:t>
            </a:r>
          </a:p>
        </p:txBody>
      </p:sp>
      <p:sp>
        <p:nvSpPr>
          <p:cNvPr id="58387" name="Line 19"/>
          <p:cNvSpPr>
            <a:spLocks noChangeShapeType="1"/>
          </p:cNvSpPr>
          <p:nvPr/>
        </p:nvSpPr>
        <p:spPr bwMode="auto">
          <a:xfrm>
            <a:off x="4814888" y="5000625"/>
            <a:ext cx="20002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8388" name="Line 20"/>
          <p:cNvSpPr>
            <a:spLocks noChangeShapeType="1"/>
          </p:cNvSpPr>
          <p:nvPr/>
        </p:nvSpPr>
        <p:spPr bwMode="auto">
          <a:xfrm>
            <a:off x="4822825" y="3390900"/>
            <a:ext cx="0" cy="1616075"/>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8389" name="Line 21"/>
          <p:cNvSpPr>
            <a:spLocks noChangeShapeType="1"/>
          </p:cNvSpPr>
          <p:nvPr/>
        </p:nvSpPr>
        <p:spPr bwMode="auto">
          <a:xfrm>
            <a:off x="4826000" y="4175125"/>
            <a:ext cx="1687513" cy="238125"/>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58390" name="Text Box 22"/>
          <p:cNvSpPr txBox="1">
            <a:spLocks noChangeArrowheads="1"/>
          </p:cNvSpPr>
          <p:nvPr/>
        </p:nvSpPr>
        <p:spPr bwMode="auto">
          <a:xfrm>
            <a:off x="4451350" y="311943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v</a:t>
            </a:r>
          </a:p>
        </p:txBody>
      </p:sp>
      <p:sp>
        <p:nvSpPr>
          <p:cNvPr id="58391" name="Text Box 23"/>
          <p:cNvSpPr txBox="1">
            <a:spLocks noChangeArrowheads="1"/>
          </p:cNvSpPr>
          <p:nvPr/>
        </p:nvSpPr>
        <p:spPr bwMode="auto">
          <a:xfrm>
            <a:off x="6751638" y="4862513"/>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i</a:t>
            </a:r>
          </a:p>
        </p:txBody>
      </p:sp>
      <p:sp>
        <p:nvSpPr>
          <p:cNvPr id="58392" name="Text Box 24" descr="斜纹布"/>
          <p:cNvSpPr txBox="1">
            <a:spLocks noChangeArrowheads="1"/>
          </p:cNvSpPr>
          <p:nvPr/>
        </p:nvSpPr>
        <p:spPr bwMode="auto">
          <a:xfrm>
            <a:off x="4529138" y="4886325"/>
            <a:ext cx="360362" cy="457200"/>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spcBef>
                <a:spcPct val="50000"/>
              </a:spcBef>
            </a:pPr>
            <a:r>
              <a:rPr kumimoji="0" lang="en-US" altLang="zh-CN" b="0">
                <a:ea typeface="楷体_GB2312" pitchFamily="49" charset="-122"/>
              </a:rPr>
              <a:t>0</a:t>
            </a:r>
          </a:p>
        </p:txBody>
      </p:sp>
      <p:graphicFrame>
        <p:nvGraphicFramePr>
          <p:cNvPr id="58393" name="Object 25"/>
          <p:cNvGraphicFramePr>
            <a:graphicFrameLocks noChangeAspect="1"/>
          </p:cNvGraphicFramePr>
          <p:nvPr/>
        </p:nvGraphicFramePr>
        <p:xfrm>
          <a:off x="6642100" y="4183063"/>
          <a:ext cx="1503363" cy="461962"/>
        </p:xfrm>
        <a:graphic>
          <a:graphicData uri="http://schemas.openxmlformats.org/presentationml/2006/ole">
            <mc:AlternateContent xmlns:mc="http://schemas.openxmlformats.org/markup-compatibility/2006">
              <mc:Choice xmlns:v="urn:schemas-microsoft-com:vml" Requires="v">
                <p:oleObj spid="_x0000_s132104" name="Equation" r:id="rId3" imgW="660113" imgH="203112" progId="Equation.DSMT4">
                  <p:embed/>
                </p:oleObj>
              </mc:Choice>
              <mc:Fallback>
                <p:oleObj name="Equation" r:id="rId3" imgW="660113" imgH="203112"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2100" y="4183063"/>
                        <a:ext cx="1503363"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94" name="Text Box 26"/>
          <p:cNvSpPr txBox="1">
            <a:spLocks noChangeArrowheads="1"/>
          </p:cNvSpPr>
          <p:nvPr/>
        </p:nvSpPr>
        <p:spPr bwMode="auto">
          <a:xfrm>
            <a:off x="1069181" y="1565504"/>
            <a:ext cx="7280275" cy="858377"/>
          </a:xfrm>
          <a:prstGeom prst="rect">
            <a:avLst/>
          </a:prstGeom>
          <a:noFill/>
          <a:ln>
            <a:noFill/>
          </a:ln>
          <a:effectLs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50000"/>
              </a:lnSpc>
              <a:spcBef>
                <a:spcPct val="50000"/>
              </a:spcBef>
            </a:pPr>
            <a:r>
              <a:rPr lang="en-US" altLang="zh-CN" sz="1800" dirty="0">
                <a:latin typeface="楷体_GB2312" pitchFamily="49" charset="-122"/>
                <a:ea typeface="楷体_GB2312" pitchFamily="49" charset="-122"/>
                <a:sym typeface="Symbol" pitchFamily="18" charset="2"/>
              </a:rPr>
              <a:t>    </a:t>
            </a:r>
            <a:r>
              <a:rPr lang="zh-CN" altLang="en-US" sz="1800" dirty="0">
                <a:latin typeface="楷体_GB2312" pitchFamily="49" charset="-122"/>
                <a:ea typeface="楷体_GB2312" pitchFamily="49" charset="-122"/>
                <a:sym typeface="Symbol" pitchFamily="18" charset="2"/>
              </a:rPr>
              <a:t>实际的电压源存在内阻，我们常用理想电压源和内阻串联的电路模型来表征实际电压源。</a:t>
            </a:r>
          </a:p>
        </p:txBody>
      </p:sp>
    </p:spTree>
    <p:extLst>
      <p:ext uri="{BB962C8B-B14F-4D97-AF65-F5344CB8AC3E}">
        <p14:creationId xmlns:p14="http://schemas.microsoft.com/office/powerpoint/2010/main" val="3574526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8394"/>
                                        </p:tgtEl>
                                        <p:attrNameLst>
                                          <p:attrName>style.visibility</p:attrName>
                                        </p:attrNameLst>
                                      </p:cBhvr>
                                      <p:to>
                                        <p:strVal val="visible"/>
                                      </p:to>
                                    </p:set>
                                    <p:animEffect transition="in" filter="barn(inVertical)">
                                      <p:cBhvr>
                                        <p:cTn id="7" dur="500"/>
                                        <p:tgtEl>
                                          <p:spTgt spid="5839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8371"/>
                                        </p:tgtEl>
                                        <p:attrNameLst>
                                          <p:attrName>style.visibility</p:attrName>
                                        </p:attrNameLst>
                                      </p:cBhvr>
                                      <p:to>
                                        <p:strVal val="visible"/>
                                      </p:to>
                                    </p:set>
                                    <p:animEffect transition="in" filter="barn(inVertical)">
                                      <p:cBhvr>
                                        <p:cTn id="12" dur="500"/>
                                        <p:tgtEl>
                                          <p:spTgt spid="58371"/>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400388"/>
                                        </p:tgtEl>
                                        <p:attrNameLst>
                                          <p:attrName>style.visibility</p:attrName>
                                        </p:attrNameLst>
                                      </p:cBhvr>
                                      <p:to>
                                        <p:strVal val="visible"/>
                                      </p:to>
                                    </p:set>
                                    <p:animEffect transition="in" filter="barn(inVertical)">
                                      <p:cBhvr>
                                        <p:cTn id="15" dur="500"/>
                                        <p:tgtEl>
                                          <p:spTgt spid="400388"/>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58373"/>
                                        </p:tgtEl>
                                        <p:attrNameLst>
                                          <p:attrName>style.visibility</p:attrName>
                                        </p:attrNameLst>
                                      </p:cBhvr>
                                      <p:to>
                                        <p:strVal val="visible"/>
                                      </p:to>
                                    </p:set>
                                    <p:animEffect transition="in" filter="barn(inVertical)">
                                      <p:cBhvr>
                                        <p:cTn id="18" dur="500"/>
                                        <p:tgtEl>
                                          <p:spTgt spid="58373"/>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58374"/>
                                        </p:tgtEl>
                                        <p:attrNameLst>
                                          <p:attrName>style.visibility</p:attrName>
                                        </p:attrNameLst>
                                      </p:cBhvr>
                                      <p:to>
                                        <p:strVal val="visible"/>
                                      </p:to>
                                    </p:set>
                                    <p:animEffect transition="in" filter="barn(inVertical)">
                                      <p:cBhvr>
                                        <p:cTn id="21" dur="500"/>
                                        <p:tgtEl>
                                          <p:spTgt spid="58374"/>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58375"/>
                                        </p:tgtEl>
                                        <p:attrNameLst>
                                          <p:attrName>style.visibility</p:attrName>
                                        </p:attrNameLst>
                                      </p:cBhvr>
                                      <p:to>
                                        <p:strVal val="visible"/>
                                      </p:to>
                                    </p:set>
                                    <p:animEffect transition="in" filter="barn(inVertical)">
                                      <p:cBhvr>
                                        <p:cTn id="24" dur="500"/>
                                        <p:tgtEl>
                                          <p:spTgt spid="58375"/>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58376"/>
                                        </p:tgtEl>
                                        <p:attrNameLst>
                                          <p:attrName>style.visibility</p:attrName>
                                        </p:attrNameLst>
                                      </p:cBhvr>
                                      <p:to>
                                        <p:strVal val="visible"/>
                                      </p:to>
                                    </p:set>
                                    <p:animEffect transition="in" filter="barn(inVertical)">
                                      <p:cBhvr>
                                        <p:cTn id="27" dur="500"/>
                                        <p:tgtEl>
                                          <p:spTgt spid="5837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58377"/>
                                        </p:tgtEl>
                                        <p:attrNameLst>
                                          <p:attrName>style.visibility</p:attrName>
                                        </p:attrNameLst>
                                      </p:cBhvr>
                                      <p:to>
                                        <p:strVal val="visible"/>
                                      </p:to>
                                    </p:set>
                                    <p:animEffect transition="in" filter="barn(inVertical)">
                                      <p:cBhvr>
                                        <p:cTn id="30" dur="500"/>
                                        <p:tgtEl>
                                          <p:spTgt spid="58377"/>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58378"/>
                                        </p:tgtEl>
                                        <p:attrNameLst>
                                          <p:attrName>style.visibility</p:attrName>
                                        </p:attrNameLst>
                                      </p:cBhvr>
                                      <p:to>
                                        <p:strVal val="visible"/>
                                      </p:to>
                                    </p:set>
                                    <p:animEffect transition="in" filter="barn(inVertical)">
                                      <p:cBhvr>
                                        <p:cTn id="33" dur="500"/>
                                        <p:tgtEl>
                                          <p:spTgt spid="58378"/>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58379"/>
                                        </p:tgtEl>
                                        <p:attrNameLst>
                                          <p:attrName>style.visibility</p:attrName>
                                        </p:attrNameLst>
                                      </p:cBhvr>
                                      <p:to>
                                        <p:strVal val="visible"/>
                                      </p:to>
                                    </p:set>
                                    <p:animEffect transition="in" filter="barn(inVertical)">
                                      <p:cBhvr>
                                        <p:cTn id="36" dur="500"/>
                                        <p:tgtEl>
                                          <p:spTgt spid="58379"/>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58380"/>
                                        </p:tgtEl>
                                        <p:attrNameLst>
                                          <p:attrName>style.visibility</p:attrName>
                                        </p:attrNameLst>
                                      </p:cBhvr>
                                      <p:to>
                                        <p:strVal val="visible"/>
                                      </p:to>
                                    </p:set>
                                    <p:animEffect transition="in" filter="barn(inVertical)">
                                      <p:cBhvr>
                                        <p:cTn id="39" dur="500"/>
                                        <p:tgtEl>
                                          <p:spTgt spid="58380"/>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58381"/>
                                        </p:tgtEl>
                                        <p:attrNameLst>
                                          <p:attrName>style.visibility</p:attrName>
                                        </p:attrNameLst>
                                      </p:cBhvr>
                                      <p:to>
                                        <p:strVal val="visible"/>
                                      </p:to>
                                    </p:set>
                                    <p:animEffect transition="in" filter="barn(inVertical)">
                                      <p:cBhvr>
                                        <p:cTn id="42" dur="500"/>
                                        <p:tgtEl>
                                          <p:spTgt spid="58381"/>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58382"/>
                                        </p:tgtEl>
                                        <p:attrNameLst>
                                          <p:attrName>style.visibility</p:attrName>
                                        </p:attrNameLst>
                                      </p:cBhvr>
                                      <p:to>
                                        <p:strVal val="visible"/>
                                      </p:to>
                                    </p:set>
                                    <p:animEffect transition="in" filter="barn(inVertical)">
                                      <p:cBhvr>
                                        <p:cTn id="45" dur="500"/>
                                        <p:tgtEl>
                                          <p:spTgt spid="58382"/>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58383"/>
                                        </p:tgtEl>
                                        <p:attrNameLst>
                                          <p:attrName>style.visibility</p:attrName>
                                        </p:attrNameLst>
                                      </p:cBhvr>
                                      <p:to>
                                        <p:strVal val="visible"/>
                                      </p:to>
                                    </p:set>
                                    <p:animEffect transition="in" filter="barn(inVertical)">
                                      <p:cBhvr>
                                        <p:cTn id="48" dur="500"/>
                                        <p:tgtEl>
                                          <p:spTgt spid="58383"/>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58384"/>
                                        </p:tgtEl>
                                        <p:attrNameLst>
                                          <p:attrName>style.visibility</p:attrName>
                                        </p:attrNameLst>
                                      </p:cBhvr>
                                      <p:to>
                                        <p:strVal val="visible"/>
                                      </p:to>
                                    </p:set>
                                    <p:animEffect transition="in" filter="barn(inVertical)">
                                      <p:cBhvr>
                                        <p:cTn id="51" dur="500"/>
                                        <p:tgtEl>
                                          <p:spTgt spid="58384"/>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58385"/>
                                        </p:tgtEl>
                                        <p:attrNameLst>
                                          <p:attrName>style.visibility</p:attrName>
                                        </p:attrNameLst>
                                      </p:cBhvr>
                                      <p:to>
                                        <p:strVal val="visible"/>
                                      </p:to>
                                    </p:set>
                                    <p:animEffect transition="in" filter="barn(inVertical)">
                                      <p:cBhvr>
                                        <p:cTn id="54" dur="500"/>
                                        <p:tgtEl>
                                          <p:spTgt spid="58385"/>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58386"/>
                                        </p:tgtEl>
                                        <p:attrNameLst>
                                          <p:attrName>style.visibility</p:attrName>
                                        </p:attrNameLst>
                                      </p:cBhvr>
                                      <p:to>
                                        <p:strVal val="visible"/>
                                      </p:to>
                                    </p:set>
                                    <p:animEffect transition="in" filter="barn(inVertical)">
                                      <p:cBhvr>
                                        <p:cTn id="57" dur="500"/>
                                        <p:tgtEl>
                                          <p:spTgt spid="58386"/>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58387"/>
                                        </p:tgtEl>
                                        <p:attrNameLst>
                                          <p:attrName>style.visibility</p:attrName>
                                        </p:attrNameLst>
                                      </p:cBhvr>
                                      <p:to>
                                        <p:strVal val="visible"/>
                                      </p:to>
                                    </p:set>
                                    <p:animEffect transition="in" filter="barn(inVertical)">
                                      <p:cBhvr>
                                        <p:cTn id="62" dur="500"/>
                                        <p:tgtEl>
                                          <p:spTgt spid="58387"/>
                                        </p:tgtEl>
                                      </p:cBhvr>
                                    </p:animEffect>
                                  </p:childTnLst>
                                </p:cTn>
                              </p:par>
                              <p:par>
                                <p:cTn id="63" presetID="16" presetClass="entr" presetSubtype="21" fill="hold" grpId="0" nodeType="withEffect">
                                  <p:stCondLst>
                                    <p:cond delay="0"/>
                                  </p:stCondLst>
                                  <p:childTnLst>
                                    <p:set>
                                      <p:cBhvr>
                                        <p:cTn id="64" dur="1" fill="hold">
                                          <p:stCondLst>
                                            <p:cond delay="0"/>
                                          </p:stCondLst>
                                        </p:cTn>
                                        <p:tgtEl>
                                          <p:spTgt spid="58388"/>
                                        </p:tgtEl>
                                        <p:attrNameLst>
                                          <p:attrName>style.visibility</p:attrName>
                                        </p:attrNameLst>
                                      </p:cBhvr>
                                      <p:to>
                                        <p:strVal val="visible"/>
                                      </p:to>
                                    </p:set>
                                    <p:animEffect transition="in" filter="barn(inVertical)">
                                      <p:cBhvr>
                                        <p:cTn id="65" dur="500"/>
                                        <p:tgtEl>
                                          <p:spTgt spid="58388"/>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58389"/>
                                        </p:tgtEl>
                                        <p:attrNameLst>
                                          <p:attrName>style.visibility</p:attrName>
                                        </p:attrNameLst>
                                      </p:cBhvr>
                                      <p:to>
                                        <p:strVal val="visible"/>
                                      </p:to>
                                    </p:set>
                                    <p:animEffect transition="in" filter="barn(inVertical)">
                                      <p:cBhvr>
                                        <p:cTn id="68" dur="500"/>
                                        <p:tgtEl>
                                          <p:spTgt spid="58389"/>
                                        </p:tgtEl>
                                      </p:cBhvr>
                                    </p:animEffect>
                                  </p:childTnLst>
                                </p:cTn>
                              </p:par>
                              <p:par>
                                <p:cTn id="69" presetID="16" presetClass="entr" presetSubtype="21" fill="hold" grpId="0" nodeType="withEffect">
                                  <p:stCondLst>
                                    <p:cond delay="0"/>
                                  </p:stCondLst>
                                  <p:childTnLst>
                                    <p:set>
                                      <p:cBhvr>
                                        <p:cTn id="70" dur="1" fill="hold">
                                          <p:stCondLst>
                                            <p:cond delay="0"/>
                                          </p:stCondLst>
                                        </p:cTn>
                                        <p:tgtEl>
                                          <p:spTgt spid="58390"/>
                                        </p:tgtEl>
                                        <p:attrNameLst>
                                          <p:attrName>style.visibility</p:attrName>
                                        </p:attrNameLst>
                                      </p:cBhvr>
                                      <p:to>
                                        <p:strVal val="visible"/>
                                      </p:to>
                                    </p:set>
                                    <p:animEffect transition="in" filter="barn(inVertical)">
                                      <p:cBhvr>
                                        <p:cTn id="71" dur="500"/>
                                        <p:tgtEl>
                                          <p:spTgt spid="58390"/>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58391"/>
                                        </p:tgtEl>
                                        <p:attrNameLst>
                                          <p:attrName>style.visibility</p:attrName>
                                        </p:attrNameLst>
                                      </p:cBhvr>
                                      <p:to>
                                        <p:strVal val="visible"/>
                                      </p:to>
                                    </p:set>
                                    <p:animEffect transition="in" filter="barn(inVertical)">
                                      <p:cBhvr>
                                        <p:cTn id="74" dur="500"/>
                                        <p:tgtEl>
                                          <p:spTgt spid="58391"/>
                                        </p:tgtEl>
                                      </p:cBhvr>
                                    </p:animEffect>
                                  </p:childTnLst>
                                </p:cTn>
                              </p:par>
                              <p:par>
                                <p:cTn id="75" presetID="16" presetClass="entr" presetSubtype="21" fill="hold" grpId="0" nodeType="withEffect">
                                  <p:stCondLst>
                                    <p:cond delay="0"/>
                                  </p:stCondLst>
                                  <p:childTnLst>
                                    <p:set>
                                      <p:cBhvr>
                                        <p:cTn id="76" dur="1" fill="hold">
                                          <p:stCondLst>
                                            <p:cond delay="0"/>
                                          </p:stCondLst>
                                        </p:cTn>
                                        <p:tgtEl>
                                          <p:spTgt spid="58392"/>
                                        </p:tgtEl>
                                        <p:attrNameLst>
                                          <p:attrName>style.visibility</p:attrName>
                                        </p:attrNameLst>
                                      </p:cBhvr>
                                      <p:to>
                                        <p:strVal val="visible"/>
                                      </p:to>
                                    </p:set>
                                    <p:animEffect transition="in" filter="barn(inVertical)">
                                      <p:cBhvr>
                                        <p:cTn id="77" dur="500"/>
                                        <p:tgtEl>
                                          <p:spTgt spid="58392"/>
                                        </p:tgtEl>
                                      </p:cBhvr>
                                    </p:animEffect>
                                  </p:childTnLst>
                                </p:cTn>
                              </p:par>
                              <p:par>
                                <p:cTn id="78" presetID="16" presetClass="entr" presetSubtype="21" fill="hold" nodeType="withEffect">
                                  <p:stCondLst>
                                    <p:cond delay="0"/>
                                  </p:stCondLst>
                                  <p:childTnLst>
                                    <p:set>
                                      <p:cBhvr>
                                        <p:cTn id="79" dur="1" fill="hold">
                                          <p:stCondLst>
                                            <p:cond delay="0"/>
                                          </p:stCondLst>
                                        </p:cTn>
                                        <p:tgtEl>
                                          <p:spTgt spid="58393"/>
                                        </p:tgtEl>
                                        <p:attrNameLst>
                                          <p:attrName>style.visibility</p:attrName>
                                        </p:attrNameLst>
                                      </p:cBhvr>
                                      <p:to>
                                        <p:strVal val="visible"/>
                                      </p:to>
                                    </p:set>
                                    <p:animEffect transition="in" filter="barn(inVertical)">
                                      <p:cBhvr>
                                        <p:cTn id="80" dur="500"/>
                                        <p:tgtEl>
                                          <p:spTgt spid="58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animBg="1"/>
      <p:bldP spid="400388" grpId="0" animBg="1"/>
      <p:bldP spid="58373" grpId="0"/>
      <p:bldP spid="58374" grpId="0"/>
      <p:bldP spid="58375" grpId="0"/>
      <p:bldP spid="58376" grpId="0" animBg="1"/>
      <p:bldP spid="58377" grpId="0" animBg="1"/>
      <p:bldP spid="58378" grpId="0" animBg="1"/>
      <p:bldP spid="58379" grpId="0" animBg="1"/>
      <p:bldP spid="58380" grpId="0"/>
      <p:bldP spid="58381" grpId="0"/>
      <p:bldP spid="58382" grpId="0"/>
      <p:bldP spid="58383" grpId="0" animBg="1"/>
      <p:bldP spid="58384" grpId="0"/>
      <p:bldP spid="58385" grpId="0" animBg="1"/>
      <p:bldP spid="58386" grpId="0"/>
      <p:bldP spid="58387" grpId="0" animBg="1"/>
      <p:bldP spid="58388" grpId="0" animBg="1"/>
      <p:bldP spid="58389" grpId="0" animBg="1"/>
      <p:bldP spid="58390" grpId="0"/>
      <p:bldP spid="58391" grpId="0"/>
      <p:bldP spid="58392" grpId="0"/>
      <p:bldP spid="5839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Text Box 2"/>
          <p:cNvSpPr txBox="1">
            <a:spLocks noChangeArrowheads="1"/>
          </p:cNvSpPr>
          <p:nvPr/>
        </p:nvSpPr>
        <p:spPr bwMode="auto">
          <a:xfrm>
            <a:off x="682625" y="3068638"/>
            <a:ext cx="2087563" cy="6477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buSzPct val="80000"/>
            </a:pPr>
            <a:r>
              <a:rPr lang="en-US" altLang="zh-CN">
                <a:latin typeface="楷体_GB2312" pitchFamily="49" charset="-122"/>
                <a:ea typeface="楷体_GB2312" pitchFamily="49" charset="-122"/>
              </a:rPr>
              <a:t>2</a:t>
            </a:r>
            <a:r>
              <a:rPr lang="zh-CN" altLang="en-US">
                <a:latin typeface="楷体_GB2312" pitchFamily="49" charset="-122"/>
                <a:ea typeface="楷体_GB2312" pitchFamily="49" charset="-122"/>
              </a:rPr>
              <a:t>、电路符号</a:t>
            </a:r>
          </a:p>
        </p:txBody>
      </p:sp>
      <p:sp>
        <p:nvSpPr>
          <p:cNvPr id="402436" name="Text Box 4"/>
          <p:cNvSpPr txBox="1">
            <a:spLocks noChangeArrowheads="1"/>
          </p:cNvSpPr>
          <p:nvPr/>
        </p:nvSpPr>
        <p:spPr bwMode="auto">
          <a:xfrm>
            <a:off x="684213" y="1412875"/>
            <a:ext cx="1512887" cy="461963"/>
          </a:xfrm>
          <a:prstGeom prst="rect">
            <a:avLst/>
          </a:prstGeom>
          <a:noFill/>
          <a:ln w="28575"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buClr>
                <a:schemeClr val="tx1"/>
              </a:buClr>
              <a:buSzPct val="80000"/>
            </a:pPr>
            <a:r>
              <a:rPr lang="en-US" altLang="zh-CN">
                <a:latin typeface="楷体_GB2312" pitchFamily="49" charset="-122"/>
                <a:ea typeface="楷体_GB2312" pitchFamily="49" charset="-122"/>
                <a:sym typeface="Symbol" pitchFamily="18" charset="2"/>
              </a:rPr>
              <a:t>1</a:t>
            </a:r>
            <a:r>
              <a:rPr lang="zh-CN" altLang="en-US">
                <a:latin typeface="楷体_GB2312" pitchFamily="49" charset="-122"/>
                <a:ea typeface="楷体_GB2312" pitchFamily="49" charset="-122"/>
                <a:sym typeface="Symbol" pitchFamily="18" charset="2"/>
              </a:rPr>
              <a:t>、定义</a:t>
            </a:r>
          </a:p>
        </p:txBody>
      </p:sp>
      <p:sp>
        <p:nvSpPr>
          <p:cNvPr id="402437" name="AutoShape 5"/>
          <p:cNvSpPr>
            <a:spLocks noChangeArrowheads="1"/>
          </p:cNvSpPr>
          <p:nvPr/>
        </p:nvSpPr>
        <p:spPr bwMode="auto">
          <a:xfrm>
            <a:off x="2339975" y="1628775"/>
            <a:ext cx="647700" cy="144463"/>
          </a:xfrm>
          <a:prstGeom prst="rightArrow">
            <a:avLst>
              <a:gd name="adj1" fmla="val 50000"/>
              <a:gd name="adj2" fmla="val 112088"/>
            </a:avLst>
          </a:prstGeom>
          <a:solidFill>
            <a:schemeClr val="hlink"/>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nvGrpSpPr>
          <p:cNvPr id="402438" name="Group 6"/>
          <p:cNvGrpSpPr>
            <a:grpSpLocks/>
          </p:cNvGrpSpPr>
          <p:nvPr/>
        </p:nvGrpSpPr>
        <p:grpSpPr bwMode="auto">
          <a:xfrm>
            <a:off x="3408363" y="2560638"/>
            <a:ext cx="3251200" cy="1543050"/>
            <a:chOff x="2147" y="1613"/>
            <a:chExt cx="2048" cy="972"/>
          </a:xfrm>
        </p:grpSpPr>
        <p:sp>
          <p:nvSpPr>
            <p:cNvPr id="60429" name="Line 7"/>
            <p:cNvSpPr>
              <a:spLocks noChangeShapeType="1"/>
            </p:cNvSpPr>
            <p:nvPr/>
          </p:nvSpPr>
          <p:spPr bwMode="auto">
            <a:xfrm rot="5400000">
              <a:off x="3171" y="1078"/>
              <a:ext cx="0" cy="2048"/>
            </a:xfrm>
            <a:prstGeom prst="line">
              <a:avLst/>
            </a:prstGeom>
            <a:noFill/>
            <a:ln w="38100">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2440" name="Oval 8"/>
            <p:cNvSpPr>
              <a:spLocks noChangeArrowheads="1"/>
            </p:cNvSpPr>
            <p:nvPr/>
          </p:nvSpPr>
          <p:spPr bwMode="auto">
            <a:xfrm>
              <a:off x="2817" y="1817"/>
              <a:ext cx="547" cy="536"/>
            </a:xfrm>
            <a:prstGeom prst="ellipse">
              <a:avLst/>
            </a:prstGeom>
            <a:gradFill rotWithShape="1">
              <a:gsLst>
                <a:gs pos="0">
                  <a:schemeClr val="accent1"/>
                </a:gs>
                <a:gs pos="100000">
                  <a:schemeClr val="accent1">
                    <a:gamma/>
                    <a:shade val="46275"/>
                    <a:invGamma/>
                  </a:schemeClr>
                </a:gs>
              </a:gsLst>
              <a:path path="shape">
                <a:fillToRect l="50000" t="50000" r="50000" b="50000"/>
              </a:path>
            </a:gradFill>
            <a:ln w="508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60431" name="Text Box 9"/>
            <p:cNvSpPr txBox="1">
              <a:spLocks noChangeArrowheads="1"/>
            </p:cNvSpPr>
            <p:nvPr/>
          </p:nvSpPr>
          <p:spPr bwMode="auto">
            <a:xfrm>
              <a:off x="3036" y="2335"/>
              <a:ext cx="18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v</a:t>
              </a:r>
            </a:p>
          </p:txBody>
        </p:sp>
        <p:graphicFrame>
          <p:nvGraphicFramePr>
            <p:cNvPr id="60432" name="Object 10"/>
            <p:cNvGraphicFramePr>
              <a:graphicFrameLocks noChangeAspect="1"/>
            </p:cNvGraphicFramePr>
            <p:nvPr/>
          </p:nvGraphicFramePr>
          <p:xfrm>
            <a:off x="2595" y="1613"/>
            <a:ext cx="189" cy="326"/>
          </p:xfrm>
          <a:graphic>
            <a:graphicData uri="http://schemas.openxmlformats.org/presentationml/2006/ole">
              <mc:AlternateContent xmlns:mc="http://schemas.openxmlformats.org/markup-compatibility/2006">
                <mc:Choice xmlns:v="urn:schemas-microsoft-com:vml" Requires="v">
                  <p:oleObj spid="_x0000_s134158" name="公式" r:id="rId3" imgW="133305" imgH="228677" progId="Equation.3">
                    <p:embed/>
                  </p:oleObj>
                </mc:Choice>
                <mc:Fallback>
                  <p:oleObj name="公式" r:id="rId3" imgW="133305" imgH="22867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5" y="1613"/>
                          <a:ext cx="189" cy="326"/>
                        </a:xfrm>
                        <a:prstGeom prst="rect">
                          <a:avLst/>
                        </a:prstGeom>
                        <a:solidFill>
                          <a:srgbClr val="3399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33" name="Text Box 11"/>
            <p:cNvSpPr txBox="1">
              <a:spLocks noChangeArrowheads="1"/>
            </p:cNvSpPr>
            <p:nvPr/>
          </p:nvSpPr>
          <p:spPr bwMode="auto">
            <a:xfrm>
              <a:off x="2155" y="2115"/>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a:sym typeface="Symbol" pitchFamily="18" charset="2"/>
                </a:rPr>
                <a:t>+</a:t>
              </a:r>
            </a:p>
          </p:txBody>
        </p:sp>
        <p:sp>
          <p:nvSpPr>
            <p:cNvPr id="60434" name="Text Box 12"/>
            <p:cNvSpPr txBox="1">
              <a:spLocks noChangeArrowheads="1"/>
            </p:cNvSpPr>
            <p:nvPr/>
          </p:nvSpPr>
          <p:spPr bwMode="auto">
            <a:xfrm>
              <a:off x="3918" y="1998"/>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en-US" altLang="zh-CN" sz="2000" b="0">
                  <a:sym typeface="Symbol" pitchFamily="18" charset="2"/>
                </a:rPr>
                <a:t>_</a:t>
              </a:r>
              <a:endParaRPr lang="en-US" altLang="zh-CN" sz="2000" b="0">
                <a:ea typeface="仿宋_GB2312" pitchFamily="49" charset="-122"/>
                <a:sym typeface="Symbol" pitchFamily="18" charset="2"/>
              </a:endParaRPr>
            </a:p>
          </p:txBody>
        </p:sp>
        <p:sp>
          <p:nvSpPr>
            <p:cNvPr id="60435" name="AutoShape 13"/>
            <p:cNvSpPr>
              <a:spLocks noChangeArrowheads="1"/>
            </p:cNvSpPr>
            <p:nvPr/>
          </p:nvSpPr>
          <p:spPr bwMode="auto">
            <a:xfrm>
              <a:off x="2291" y="2069"/>
              <a:ext cx="317" cy="80"/>
            </a:xfrm>
            <a:prstGeom prst="leftArrow">
              <a:avLst>
                <a:gd name="adj1" fmla="val 50000"/>
                <a:gd name="adj2" fmla="val 99063"/>
              </a:avLst>
            </a:prstGeom>
            <a:solidFill>
              <a:srgbClr val="00FFFF"/>
            </a:solidFill>
            <a:ln w="9525" algn="ctr">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60436" name="Line 14"/>
            <p:cNvSpPr>
              <a:spLocks noChangeShapeType="1"/>
            </p:cNvSpPr>
            <p:nvPr/>
          </p:nvSpPr>
          <p:spPr bwMode="auto">
            <a:xfrm>
              <a:off x="3095" y="1809"/>
              <a:ext cx="0" cy="544"/>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sp>
        <p:nvSpPr>
          <p:cNvPr id="402447" name="Text Box 15"/>
          <p:cNvSpPr txBox="1">
            <a:spLocks noChangeArrowheads="1"/>
          </p:cNvSpPr>
          <p:nvPr/>
        </p:nvSpPr>
        <p:spPr bwMode="auto">
          <a:xfrm>
            <a:off x="682625" y="4340225"/>
            <a:ext cx="5689600" cy="4603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buClr>
                <a:schemeClr val="tx1"/>
              </a:buClr>
              <a:buSzPct val="80000"/>
            </a:pPr>
            <a:r>
              <a:rPr lang="en-US" altLang="zh-CN">
                <a:latin typeface="楷体_GB2312" pitchFamily="49" charset="-122"/>
                <a:ea typeface="楷体_GB2312" pitchFamily="49" charset="-122"/>
                <a:sym typeface="Symbol" pitchFamily="18" charset="2"/>
              </a:rPr>
              <a:t>3</a:t>
            </a:r>
            <a:r>
              <a:rPr lang="zh-CN" altLang="en-US">
                <a:latin typeface="楷体_GB2312" pitchFamily="49" charset="-122"/>
                <a:ea typeface="楷体_GB2312" pitchFamily="49" charset="-122"/>
                <a:sym typeface="Symbol" pitchFamily="18" charset="2"/>
              </a:rPr>
              <a:t>、理想电流源的电压、电流关系</a:t>
            </a:r>
          </a:p>
        </p:txBody>
      </p:sp>
      <p:sp>
        <p:nvSpPr>
          <p:cNvPr id="402448" name="Text Box 16"/>
          <p:cNvSpPr txBox="1">
            <a:spLocks noChangeArrowheads="1"/>
          </p:cNvSpPr>
          <p:nvPr/>
        </p:nvSpPr>
        <p:spPr bwMode="auto">
          <a:xfrm>
            <a:off x="1228725" y="5046663"/>
            <a:ext cx="7518400" cy="831850"/>
          </a:xfrm>
          <a:prstGeom prst="rect">
            <a:avLst/>
          </a:prstGeom>
          <a:noFill/>
          <a:ln>
            <a:noFill/>
          </a:ln>
          <a:effectLs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800100" indent="-342900" eaLnBrk="0" hangingPunct="0">
              <a:defRPr kumimoji="1" sz="2400" b="1">
                <a:solidFill>
                  <a:schemeClr val="tx1"/>
                </a:solidFill>
                <a:latin typeface="Times New Roman" pitchFamily="18" charset="0"/>
                <a:ea typeface="宋体" charset="-122"/>
              </a:defRPr>
            </a:lvl2pPr>
            <a:lvl3pPr marL="1257300" indent="-342900" eaLnBrk="0" hangingPunct="0">
              <a:defRPr kumimoji="1" sz="2400" b="1">
                <a:solidFill>
                  <a:schemeClr val="tx1"/>
                </a:solidFill>
                <a:latin typeface="Times New Roman" pitchFamily="18" charset="0"/>
                <a:ea typeface="宋体" charset="-122"/>
              </a:defRPr>
            </a:lvl3pPr>
            <a:lvl4pPr marL="1714500" indent="-342900" eaLnBrk="0" hangingPunct="0">
              <a:defRPr kumimoji="1" sz="2400" b="1">
                <a:solidFill>
                  <a:schemeClr val="tx1"/>
                </a:solidFill>
                <a:latin typeface="Times New Roman" pitchFamily="18" charset="0"/>
                <a:ea typeface="宋体" charset="-122"/>
              </a:defRPr>
            </a:lvl4pPr>
            <a:lvl5pPr marL="2171700" indent="-342900" eaLnBrk="0" hangingPunct="0">
              <a:defRPr kumimoji="1" sz="2400" b="1">
                <a:solidFill>
                  <a:schemeClr val="tx1"/>
                </a:solidFill>
                <a:latin typeface="Times New Roman" pitchFamily="18" charset="0"/>
                <a:ea typeface="宋体" charset="-122"/>
              </a:defRPr>
            </a:lvl5pPr>
            <a:lvl6pPr marL="2628900" indent="-3429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086100" indent="-3429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543300" indent="-3429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000500" indent="-3429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20000"/>
              </a:lnSpc>
              <a:spcBef>
                <a:spcPct val="50000"/>
              </a:spcBef>
              <a:buFontTx/>
              <a:buAutoNum type="circleNumDbPlain"/>
            </a:pPr>
            <a:r>
              <a:rPr lang="zh-CN" altLang="en-US" sz="2000" dirty="0">
                <a:ea typeface="楷体_GB2312" pitchFamily="49" charset="-122"/>
                <a:sym typeface="Symbol" pitchFamily="18" charset="2"/>
              </a:rPr>
              <a:t>电流源的输出电流由电源本身决定，与外电路无关；与它两端电压方向、大小无关。</a:t>
            </a:r>
          </a:p>
        </p:txBody>
      </p:sp>
      <p:sp>
        <p:nvSpPr>
          <p:cNvPr id="402449" name="Text Box 17"/>
          <p:cNvSpPr txBox="1">
            <a:spLocks noChangeArrowheads="1"/>
          </p:cNvSpPr>
          <p:nvPr/>
        </p:nvSpPr>
        <p:spPr bwMode="auto">
          <a:xfrm>
            <a:off x="3130550" y="1196350"/>
            <a:ext cx="5616575" cy="957250"/>
          </a:xfrm>
          <a:prstGeom prst="rect">
            <a:avLst/>
          </a:prstGeom>
          <a:noFill/>
          <a:ln>
            <a:noFill/>
          </a:ln>
          <a:effectLst/>
          <a:extLst/>
        </p:spPr>
        <p:txBody>
          <a:bodyPr wrap="squar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lnSpc>
                <a:spcPct val="150000"/>
              </a:lnSpc>
            </a:pPr>
            <a:r>
              <a:rPr lang="zh-CN" altLang="en-US" sz="2000" dirty="0"/>
              <a:t>其输出电流总能保持定值或一定的时间函数，其值与它的两</a:t>
            </a:r>
            <a:r>
              <a:rPr lang="zh-CN" altLang="en-US" sz="2000" dirty="0" smtClean="0"/>
              <a:t>端电压 </a:t>
            </a:r>
            <a:r>
              <a:rPr lang="en-US" altLang="zh-CN" sz="2000" b="0" i="1" dirty="0" smtClean="0"/>
              <a:t>v</a:t>
            </a:r>
            <a:r>
              <a:rPr lang="en-US" altLang="zh-CN" sz="2000" i="1" dirty="0" smtClean="0"/>
              <a:t> </a:t>
            </a:r>
            <a:r>
              <a:rPr lang="zh-CN" altLang="en-US" sz="2000" dirty="0"/>
              <a:t>无关的元件叫理想电流源。</a:t>
            </a:r>
          </a:p>
        </p:txBody>
      </p:sp>
      <p:graphicFrame>
        <p:nvGraphicFramePr>
          <p:cNvPr id="60425" name="Object 18"/>
          <p:cNvGraphicFramePr>
            <a:graphicFrameLocks noChangeAspect="1"/>
          </p:cNvGraphicFramePr>
          <p:nvPr/>
        </p:nvGraphicFramePr>
        <p:xfrm>
          <a:off x="8024813" y="2600325"/>
          <a:ext cx="774700" cy="1390650"/>
        </p:xfrm>
        <a:graphic>
          <a:graphicData uri="http://schemas.openxmlformats.org/presentationml/2006/ole">
            <mc:AlternateContent xmlns:mc="http://schemas.openxmlformats.org/markup-compatibility/2006">
              <mc:Choice xmlns:v="urn:schemas-microsoft-com:vml" Requires="v">
                <p:oleObj spid="_x0000_s134159" name="Visio" r:id="rId5" imgW="325977" imgH="583857" progId="Visio.Drawing.11">
                  <p:embed/>
                </p:oleObj>
              </mc:Choice>
              <mc:Fallback>
                <p:oleObj name="Visio" r:id="rId5" imgW="325977" imgH="583857"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4813" y="2600325"/>
                        <a:ext cx="774700" cy="13906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2451" name="Text Box 19"/>
          <p:cNvSpPr txBox="1">
            <a:spLocks noChangeArrowheads="1"/>
          </p:cNvSpPr>
          <p:nvPr/>
        </p:nvSpPr>
        <p:spPr bwMode="auto">
          <a:xfrm>
            <a:off x="7040563" y="3089275"/>
            <a:ext cx="641350" cy="457200"/>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latin typeface="楷体_GB2312" pitchFamily="49" charset="-122"/>
                <a:ea typeface="楷体_GB2312" pitchFamily="49" charset="-122"/>
                <a:sym typeface="Symbol" pitchFamily="18" charset="2"/>
              </a:rPr>
              <a:t>或</a:t>
            </a:r>
          </a:p>
        </p:txBody>
      </p:sp>
      <p:sp>
        <p:nvSpPr>
          <p:cNvPr id="60427" name="Text Box 20"/>
          <p:cNvSpPr txBox="1">
            <a:spLocks noChangeArrowheads="1"/>
          </p:cNvSpPr>
          <p:nvPr/>
        </p:nvSpPr>
        <p:spPr bwMode="auto">
          <a:xfrm>
            <a:off x="541338" y="515938"/>
            <a:ext cx="4427537"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buFont typeface="Wingdings" pitchFamily="2" charset="2"/>
              <a:buChar char="l"/>
            </a:pPr>
            <a:r>
              <a:rPr lang="zh-CN" altLang="en-US" dirty="0">
                <a:solidFill>
                  <a:srgbClr val="990033"/>
                </a:solidFill>
              </a:rPr>
              <a:t>电流</a:t>
            </a:r>
            <a:r>
              <a:rPr lang="zh-CN" altLang="zh-CN" dirty="0">
                <a:solidFill>
                  <a:srgbClr val="990033"/>
                </a:solidFill>
              </a:rPr>
              <a:t>源</a:t>
            </a:r>
            <a:r>
              <a:rPr lang="zh-CN" altLang="en-US" dirty="0">
                <a:solidFill>
                  <a:srgbClr val="990033"/>
                </a:solidFill>
              </a:rPr>
              <a:t>（</a:t>
            </a:r>
            <a:r>
              <a:rPr lang="en-US" altLang="zh-CN" dirty="0">
                <a:solidFill>
                  <a:srgbClr val="990033"/>
                </a:solidFill>
              </a:rPr>
              <a:t>current </a:t>
            </a:r>
            <a:r>
              <a:rPr lang="en-US" altLang="zh-CN" dirty="0" smtClean="0">
                <a:solidFill>
                  <a:srgbClr val="990033"/>
                </a:solidFill>
              </a:rPr>
              <a:t>source</a:t>
            </a:r>
            <a:r>
              <a:rPr lang="zh-CN" altLang="en-US" dirty="0" smtClean="0">
                <a:solidFill>
                  <a:srgbClr val="990033"/>
                </a:solidFill>
              </a:rPr>
              <a:t>）</a:t>
            </a:r>
            <a:endParaRPr lang="zh-CN" altLang="en-US" dirty="0">
              <a:solidFill>
                <a:srgbClr val="990033"/>
              </a:solidFill>
            </a:endParaRPr>
          </a:p>
        </p:txBody>
      </p:sp>
      <p:sp>
        <p:nvSpPr>
          <p:cNvPr id="60428" name="Text Box 2"/>
          <p:cNvSpPr txBox="1">
            <a:spLocks noChangeArrowheads="1"/>
          </p:cNvSpPr>
          <p:nvPr/>
        </p:nvSpPr>
        <p:spPr bwMode="auto">
          <a:xfrm>
            <a:off x="1206500" y="6072188"/>
            <a:ext cx="5692775" cy="457200"/>
          </a:xfrm>
          <a:prstGeom prst="rect">
            <a:avLst/>
          </a:prstGeom>
          <a:noFill/>
          <a:ln>
            <a:noFill/>
          </a:ln>
          <a:effectLs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800100" indent="-342900" eaLnBrk="0" hangingPunct="0">
              <a:defRPr kumimoji="1" sz="2400" b="1">
                <a:solidFill>
                  <a:schemeClr val="tx1"/>
                </a:solidFill>
                <a:latin typeface="Times New Roman" pitchFamily="18" charset="0"/>
                <a:ea typeface="宋体" charset="-122"/>
              </a:defRPr>
            </a:lvl2pPr>
            <a:lvl3pPr marL="1257300" indent="-342900" eaLnBrk="0" hangingPunct="0">
              <a:defRPr kumimoji="1" sz="2400" b="1">
                <a:solidFill>
                  <a:schemeClr val="tx1"/>
                </a:solidFill>
                <a:latin typeface="Times New Roman" pitchFamily="18" charset="0"/>
                <a:ea typeface="宋体" charset="-122"/>
              </a:defRPr>
            </a:lvl3pPr>
            <a:lvl4pPr marL="1714500" indent="-342900" eaLnBrk="0" hangingPunct="0">
              <a:defRPr kumimoji="1" sz="2400" b="1">
                <a:solidFill>
                  <a:schemeClr val="tx1"/>
                </a:solidFill>
                <a:latin typeface="Times New Roman" pitchFamily="18" charset="0"/>
                <a:ea typeface="宋体" charset="-122"/>
              </a:defRPr>
            </a:lvl4pPr>
            <a:lvl5pPr marL="2171700" indent="-342900" eaLnBrk="0" hangingPunct="0">
              <a:defRPr kumimoji="1" sz="2400" b="1">
                <a:solidFill>
                  <a:schemeClr val="tx1"/>
                </a:solidFill>
                <a:latin typeface="Times New Roman" pitchFamily="18" charset="0"/>
                <a:ea typeface="宋体" charset="-122"/>
              </a:defRPr>
            </a:lvl5pPr>
            <a:lvl6pPr marL="2628900" indent="-3429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086100" indent="-3429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543300" indent="-3429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000500" indent="-3429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20000"/>
              </a:lnSpc>
              <a:spcBef>
                <a:spcPct val="50000"/>
              </a:spcBef>
              <a:buFontTx/>
              <a:buAutoNum type="circleNumDbPlain" startAt="2"/>
            </a:pPr>
            <a:r>
              <a:rPr lang="zh-CN" altLang="en-US" sz="2000" dirty="0">
                <a:ea typeface="楷体_GB2312" pitchFamily="49" charset="-122"/>
                <a:sym typeface="Symbol" pitchFamily="18" charset="2"/>
              </a:rPr>
              <a:t>电流源两端的电压由电源及外电路共同决定。</a:t>
            </a:r>
          </a:p>
        </p:txBody>
      </p:sp>
    </p:spTree>
    <p:extLst>
      <p:ext uri="{BB962C8B-B14F-4D97-AF65-F5344CB8AC3E}">
        <p14:creationId xmlns:p14="http://schemas.microsoft.com/office/powerpoint/2010/main" val="2741188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24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24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24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402434"/>
                                        </p:tgtEl>
                                        <p:attrNameLst>
                                          <p:attrName>style.visibility</p:attrName>
                                        </p:attrNameLst>
                                      </p:cBhvr>
                                      <p:to>
                                        <p:strVal val="visible"/>
                                      </p:to>
                                    </p:set>
                                    <p:animEffect transition="in" filter="barn(inVertical)">
                                      <p:cBhvr>
                                        <p:cTn id="15" dur="500"/>
                                        <p:tgtEl>
                                          <p:spTgt spid="402434"/>
                                        </p:tgtEl>
                                      </p:cBhvr>
                                    </p:animEffect>
                                  </p:childTnLst>
                                </p:cTn>
                              </p:par>
                              <p:par>
                                <p:cTn id="16" presetID="16" presetClass="entr" presetSubtype="21" fill="hold" nodeType="withEffect">
                                  <p:stCondLst>
                                    <p:cond delay="0"/>
                                  </p:stCondLst>
                                  <p:childTnLst>
                                    <p:set>
                                      <p:cBhvr>
                                        <p:cTn id="17" dur="1" fill="hold">
                                          <p:stCondLst>
                                            <p:cond delay="0"/>
                                          </p:stCondLst>
                                        </p:cTn>
                                        <p:tgtEl>
                                          <p:spTgt spid="402438"/>
                                        </p:tgtEl>
                                        <p:attrNameLst>
                                          <p:attrName>style.visibility</p:attrName>
                                        </p:attrNameLst>
                                      </p:cBhvr>
                                      <p:to>
                                        <p:strVal val="visible"/>
                                      </p:to>
                                    </p:set>
                                    <p:animEffect transition="in" filter="barn(inVertical)">
                                      <p:cBhvr>
                                        <p:cTn id="18" dur="500"/>
                                        <p:tgtEl>
                                          <p:spTgt spid="402438"/>
                                        </p:tgtEl>
                                      </p:cBhvr>
                                    </p:animEffect>
                                  </p:childTnLst>
                                </p:cTn>
                              </p:par>
                              <p:par>
                                <p:cTn id="19" presetID="16" presetClass="entr" presetSubtype="21" fill="hold" nodeType="withEffect">
                                  <p:stCondLst>
                                    <p:cond delay="0"/>
                                  </p:stCondLst>
                                  <p:childTnLst>
                                    <p:set>
                                      <p:cBhvr>
                                        <p:cTn id="20" dur="1" fill="hold">
                                          <p:stCondLst>
                                            <p:cond delay="0"/>
                                          </p:stCondLst>
                                        </p:cTn>
                                        <p:tgtEl>
                                          <p:spTgt spid="60425"/>
                                        </p:tgtEl>
                                        <p:attrNameLst>
                                          <p:attrName>style.visibility</p:attrName>
                                        </p:attrNameLst>
                                      </p:cBhvr>
                                      <p:to>
                                        <p:strVal val="visible"/>
                                      </p:to>
                                    </p:set>
                                    <p:animEffect transition="in" filter="barn(inVertical)">
                                      <p:cBhvr>
                                        <p:cTn id="21" dur="500"/>
                                        <p:tgtEl>
                                          <p:spTgt spid="60425"/>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402451"/>
                                        </p:tgtEl>
                                        <p:attrNameLst>
                                          <p:attrName>style.visibility</p:attrName>
                                        </p:attrNameLst>
                                      </p:cBhvr>
                                      <p:to>
                                        <p:strVal val="visible"/>
                                      </p:to>
                                    </p:set>
                                    <p:animEffect transition="in" filter="barn(inVertical)">
                                      <p:cBhvr>
                                        <p:cTn id="24" dur="500"/>
                                        <p:tgtEl>
                                          <p:spTgt spid="40245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02447"/>
                                        </p:tgtEl>
                                        <p:attrNameLst>
                                          <p:attrName>style.visibility</p:attrName>
                                        </p:attrNameLst>
                                      </p:cBhvr>
                                      <p:to>
                                        <p:strVal val="visible"/>
                                      </p:to>
                                    </p:set>
                                    <p:animEffect transition="in" filter="fade">
                                      <p:cBhvr>
                                        <p:cTn id="29" dur="500"/>
                                        <p:tgtEl>
                                          <p:spTgt spid="402447"/>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02448"/>
                                        </p:tgtEl>
                                        <p:attrNameLst>
                                          <p:attrName>style.visibility</p:attrName>
                                        </p:attrNameLst>
                                      </p:cBhvr>
                                      <p:to>
                                        <p:strVal val="visible"/>
                                      </p:to>
                                    </p:set>
                                    <p:animEffect transition="in" filter="fade">
                                      <p:cBhvr>
                                        <p:cTn id="34" dur="1000"/>
                                        <p:tgtEl>
                                          <p:spTgt spid="402448"/>
                                        </p:tgtEl>
                                      </p:cBhvr>
                                    </p:animEffect>
                                    <p:anim calcmode="lin" valueType="num">
                                      <p:cBhvr>
                                        <p:cTn id="35" dur="1000" fill="hold"/>
                                        <p:tgtEl>
                                          <p:spTgt spid="402448"/>
                                        </p:tgtEl>
                                        <p:attrNameLst>
                                          <p:attrName>ppt_x</p:attrName>
                                        </p:attrNameLst>
                                      </p:cBhvr>
                                      <p:tavLst>
                                        <p:tav tm="0">
                                          <p:val>
                                            <p:strVal val="#ppt_x"/>
                                          </p:val>
                                        </p:tav>
                                        <p:tav tm="100000">
                                          <p:val>
                                            <p:strVal val="#ppt_x"/>
                                          </p:val>
                                        </p:tav>
                                      </p:tavLst>
                                    </p:anim>
                                    <p:anim calcmode="lin" valueType="num">
                                      <p:cBhvr>
                                        <p:cTn id="36" dur="1000" fill="hold"/>
                                        <p:tgtEl>
                                          <p:spTgt spid="40244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60428"/>
                                        </p:tgtEl>
                                        <p:attrNameLst>
                                          <p:attrName>style.visibility</p:attrName>
                                        </p:attrNameLst>
                                      </p:cBhvr>
                                      <p:to>
                                        <p:strVal val="visible"/>
                                      </p:to>
                                    </p:set>
                                    <p:animEffect transition="in" filter="fade">
                                      <p:cBhvr>
                                        <p:cTn id="41" dur="1000"/>
                                        <p:tgtEl>
                                          <p:spTgt spid="60428"/>
                                        </p:tgtEl>
                                      </p:cBhvr>
                                    </p:animEffect>
                                    <p:anim calcmode="lin" valueType="num">
                                      <p:cBhvr>
                                        <p:cTn id="42" dur="1000" fill="hold"/>
                                        <p:tgtEl>
                                          <p:spTgt spid="60428"/>
                                        </p:tgtEl>
                                        <p:attrNameLst>
                                          <p:attrName>ppt_x</p:attrName>
                                        </p:attrNameLst>
                                      </p:cBhvr>
                                      <p:tavLst>
                                        <p:tav tm="0">
                                          <p:val>
                                            <p:strVal val="#ppt_x"/>
                                          </p:val>
                                        </p:tav>
                                        <p:tav tm="100000">
                                          <p:val>
                                            <p:strVal val="#ppt_x"/>
                                          </p:val>
                                        </p:tav>
                                      </p:tavLst>
                                    </p:anim>
                                    <p:anim calcmode="lin" valueType="num">
                                      <p:cBhvr>
                                        <p:cTn id="43" dur="1000" fill="hold"/>
                                        <p:tgtEl>
                                          <p:spTgt spid="604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4" grpId="0" animBg="1"/>
      <p:bldP spid="402436" grpId="0" animBg="1"/>
      <p:bldP spid="402437" grpId="0" animBg="1"/>
      <p:bldP spid="402447" grpId="0" animBg="1"/>
      <p:bldP spid="402448" grpId="0"/>
      <p:bldP spid="402449" grpId="0"/>
      <p:bldP spid="402451" grpId="0"/>
      <p:bldP spid="6042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3459" name="Group 3"/>
          <p:cNvGrpSpPr>
            <a:grpSpLocks/>
          </p:cNvGrpSpPr>
          <p:nvPr/>
        </p:nvGrpSpPr>
        <p:grpSpPr bwMode="auto">
          <a:xfrm>
            <a:off x="5984876" y="2552700"/>
            <a:ext cx="2862263" cy="3844925"/>
            <a:chOff x="3922" y="249"/>
            <a:chExt cx="1803" cy="2422"/>
          </a:xfrm>
        </p:grpSpPr>
        <p:sp>
          <p:nvSpPr>
            <p:cNvPr id="61463" name="Line 4"/>
            <p:cNvSpPr>
              <a:spLocks noChangeShapeType="1"/>
            </p:cNvSpPr>
            <p:nvPr/>
          </p:nvSpPr>
          <p:spPr bwMode="auto">
            <a:xfrm flipV="1">
              <a:off x="3922" y="1351"/>
              <a:ext cx="123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1464" name="Line 5"/>
            <p:cNvSpPr>
              <a:spLocks noChangeShapeType="1"/>
            </p:cNvSpPr>
            <p:nvPr/>
          </p:nvSpPr>
          <p:spPr bwMode="auto">
            <a:xfrm flipH="1">
              <a:off x="4330" y="455"/>
              <a:ext cx="0" cy="1586"/>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1465" name="Line 6"/>
            <p:cNvSpPr>
              <a:spLocks noChangeShapeType="1"/>
            </p:cNvSpPr>
            <p:nvPr/>
          </p:nvSpPr>
          <p:spPr bwMode="auto">
            <a:xfrm>
              <a:off x="4813" y="662"/>
              <a:ext cx="1" cy="144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1466" name="Text Box 7"/>
            <p:cNvSpPr txBox="1">
              <a:spLocks noChangeArrowheads="1"/>
            </p:cNvSpPr>
            <p:nvPr/>
          </p:nvSpPr>
          <p:spPr bwMode="auto">
            <a:xfrm>
              <a:off x="4338" y="249"/>
              <a:ext cx="2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b="0" i="1" dirty="0">
                  <a:ea typeface="仿宋_GB2312" pitchFamily="49" charset="-122"/>
                  <a:sym typeface="Symbol" pitchFamily="18" charset="2"/>
                </a:rPr>
                <a:t>v</a:t>
              </a:r>
            </a:p>
          </p:txBody>
        </p:sp>
        <p:sp>
          <p:nvSpPr>
            <p:cNvPr id="61467" name="Text Box 8"/>
            <p:cNvSpPr txBox="1">
              <a:spLocks noChangeArrowheads="1"/>
            </p:cNvSpPr>
            <p:nvPr/>
          </p:nvSpPr>
          <p:spPr bwMode="auto">
            <a:xfrm>
              <a:off x="5013" y="1283"/>
              <a:ext cx="2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i</a:t>
              </a:r>
            </a:p>
          </p:txBody>
        </p:sp>
        <p:graphicFrame>
          <p:nvGraphicFramePr>
            <p:cNvPr id="61468" name="Object 9"/>
            <p:cNvGraphicFramePr>
              <a:graphicFrameLocks noChangeAspect="1"/>
            </p:cNvGraphicFramePr>
            <p:nvPr/>
          </p:nvGraphicFramePr>
          <p:xfrm>
            <a:off x="4913" y="437"/>
            <a:ext cx="129" cy="310"/>
          </p:xfrm>
          <a:graphic>
            <a:graphicData uri="http://schemas.openxmlformats.org/presentationml/2006/ole">
              <mc:AlternateContent xmlns:mc="http://schemas.openxmlformats.org/markup-compatibility/2006">
                <mc:Choice xmlns:v="urn:schemas-microsoft-com:vml" Requires="v">
                  <p:oleObj spid="_x0000_s135200" name="公式" r:id="rId3" imgW="133305" imgH="228677" progId="Equation.3">
                    <p:embed/>
                  </p:oleObj>
                </mc:Choice>
                <mc:Fallback>
                  <p:oleObj name="公式" r:id="rId3" imgW="133305" imgH="22867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3" y="437"/>
                          <a:ext cx="129" cy="310"/>
                        </a:xfrm>
                        <a:prstGeom prst="rect">
                          <a:avLst/>
                        </a:prstGeom>
                        <a:solidFill>
                          <a:srgbClr val="6666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69" name="AutoShape 10" descr="羊皮纸"/>
            <p:cNvSpPr>
              <a:spLocks noChangeArrowheads="1"/>
            </p:cNvSpPr>
            <p:nvPr/>
          </p:nvSpPr>
          <p:spPr bwMode="auto">
            <a:xfrm>
              <a:off x="4800" y="2127"/>
              <a:ext cx="925" cy="544"/>
            </a:xfrm>
            <a:prstGeom prst="wedgeRoundRectCallout">
              <a:avLst>
                <a:gd name="adj1" fmla="val -46667"/>
                <a:gd name="adj2" fmla="val -126472"/>
                <a:gd name="adj3" fmla="val 16667"/>
              </a:avLst>
            </a:prstGeom>
            <a:blipFill dpi="0" rotWithShape="1">
              <a:blip r:embed="rId5"/>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sz="1800" dirty="0">
                  <a:solidFill>
                    <a:srgbClr val="000000"/>
                  </a:solidFill>
                  <a:ea typeface="楷体_GB2312" pitchFamily="49" charset="-122"/>
                  <a:sym typeface="Symbol" pitchFamily="18" charset="2"/>
                </a:rPr>
                <a:t>直流电流源的伏安关系</a:t>
              </a:r>
            </a:p>
          </p:txBody>
        </p:sp>
        <p:sp>
          <p:nvSpPr>
            <p:cNvPr id="61470" name="Text Box 11" descr="斜纹布"/>
            <p:cNvSpPr txBox="1">
              <a:spLocks noChangeArrowheads="1"/>
            </p:cNvSpPr>
            <p:nvPr/>
          </p:nvSpPr>
          <p:spPr bwMode="auto">
            <a:xfrm>
              <a:off x="4332" y="1298"/>
              <a:ext cx="273" cy="288"/>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spcBef>
                  <a:spcPct val="50000"/>
                </a:spcBef>
              </a:pPr>
              <a:r>
                <a:rPr kumimoji="0" lang="en-US" altLang="zh-CN" b="0">
                  <a:ea typeface="楷体_GB2312" pitchFamily="49" charset="-122"/>
                </a:rPr>
                <a:t>0</a:t>
              </a:r>
            </a:p>
          </p:txBody>
        </p:sp>
      </p:grpSp>
      <p:sp>
        <p:nvSpPr>
          <p:cNvPr id="403468" name="Text Box 12"/>
          <p:cNvSpPr txBox="1">
            <a:spLocks noChangeArrowheads="1"/>
          </p:cNvSpPr>
          <p:nvPr/>
        </p:nvSpPr>
        <p:spPr bwMode="auto">
          <a:xfrm>
            <a:off x="611188" y="1217613"/>
            <a:ext cx="647700" cy="457200"/>
          </a:xfrm>
          <a:prstGeom prst="rect">
            <a:avLst/>
          </a:prstGeom>
          <a:noFill/>
          <a:ln>
            <a:noFill/>
          </a:ln>
          <a:effectLst/>
          <a:extLst>
            <a:ext uri="{909E8E84-426E-40DD-AFC4-6F175D3DCCD1}">
              <a14:hiddenFill xmlns:a14="http://schemas.microsoft.com/office/drawing/2010/main">
                <a:solidFill>
                  <a:srgbClr val="9933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rgbClr val="FFFFFF"/>
                </a:solidFill>
                <a:sym typeface="Symbol" pitchFamily="18" charset="2"/>
              </a:rPr>
              <a:t>例</a:t>
            </a:r>
          </a:p>
        </p:txBody>
      </p:sp>
      <p:grpSp>
        <p:nvGrpSpPr>
          <p:cNvPr id="403469" name="Group 13"/>
          <p:cNvGrpSpPr>
            <a:grpSpLocks/>
          </p:cNvGrpSpPr>
          <p:nvPr/>
        </p:nvGrpSpPr>
        <p:grpSpPr bwMode="auto">
          <a:xfrm>
            <a:off x="123825" y="639763"/>
            <a:ext cx="2424113" cy="1944687"/>
            <a:chOff x="606" y="1739"/>
            <a:chExt cx="1527" cy="1225"/>
          </a:xfrm>
        </p:grpSpPr>
        <p:sp>
          <p:nvSpPr>
            <p:cNvPr id="61453" name="Rectangle 14"/>
            <p:cNvSpPr>
              <a:spLocks noChangeArrowheads="1"/>
            </p:cNvSpPr>
            <p:nvPr/>
          </p:nvSpPr>
          <p:spPr bwMode="auto">
            <a:xfrm>
              <a:off x="1065" y="1739"/>
              <a:ext cx="998" cy="1225"/>
            </a:xfrm>
            <a:prstGeom prst="rect">
              <a:avLst/>
            </a:prstGeom>
            <a:noFill/>
            <a:ln w="28575" algn="ctr">
              <a:solidFill>
                <a:srgbClr val="FF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endParaRPr kumimoji="0" lang="zh-CN" altLang="zh-CN" b="0">
                <a:solidFill>
                  <a:srgbClr val="FFFF00"/>
                </a:solidFill>
                <a:latin typeface="Arial" charset="0"/>
                <a:ea typeface="楷体_GB2312" pitchFamily="49" charset="-122"/>
              </a:endParaRPr>
            </a:p>
          </p:txBody>
        </p:sp>
        <p:sp>
          <p:nvSpPr>
            <p:cNvPr id="61454" name="Oval 15"/>
            <p:cNvSpPr>
              <a:spLocks noChangeArrowheads="1"/>
            </p:cNvSpPr>
            <p:nvPr/>
          </p:nvSpPr>
          <p:spPr bwMode="auto">
            <a:xfrm>
              <a:off x="884" y="2147"/>
              <a:ext cx="363" cy="363"/>
            </a:xfrm>
            <a:prstGeom prst="ellipse">
              <a:avLst/>
            </a:prstGeom>
            <a:gradFill rotWithShape="1">
              <a:gsLst>
                <a:gs pos="0">
                  <a:srgbClr val="0099FF"/>
                </a:gs>
                <a:gs pos="100000">
                  <a:srgbClr val="004776"/>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endParaRPr kumimoji="0" lang="zh-CN" altLang="zh-CN" b="0">
                <a:solidFill>
                  <a:srgbClr val="FFFF00"/>
                </a:solidFill>
                <a:latin typeface="Arial" charset="0"/>
                <a:ea typeface="仿宋_GB2312" pitchFamily="49" charset="-122"/>
              </a:endParaRPr>
            </a:p>
          </p:txBody>
        </p:sp>
        <p:sp>
          <p:nvSpPr>
            <p:cNvPr id="61455" name="Text Box 16"/>
            <p:cNvSpPr txBox="1">
              <a:spLocks noChangeArrowheads="1"/>
            </p:cNvSpPr>
            <p:nvPr/>
          </p:nvSpPr>
          <p:spPr bwMode="auto">
            <a:xfrm>
              <a:off x="1746" y="2193"/>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R</a:t>
              </a:r>
            </a:p>
          </p:txBody>
        </p:sp>
        <p:sp>
          <p:nvSpPr>
            <p:cNvPr id="61456" name="Text Box 17"/>
            <p:cNvSpPr txBox="1">
              <a:spLocks noChangeArrowheads="1"/>
            </p:cNvSpPr>
            <p:nvPr/>
          </p:nvSpPr>
          <p:spPr bwMode="auto">
            <a:xfrm>
              <a:off x="606" y="2172"/>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dirty="0">
                  <a:ea typeface="仿宋_GB2312" pitchFamily="49" charset="-122"/>
                  <a:sym typeface="Symbol" pitchFamily="18" charset="2"/>
                </a:rPr>
                <a:t>v</a:t>
              </a:r>
            </a:p>
          </p:txBody>
        </p:sp>
        <p:sp>
          <p:nvSpPr>
            <p:cNvPr id="61457" name="Text Box 18"/>
            <p:cNvSpPr txBox="1">
              <a:spLocks noChangeArrowheads="1"/>
            </p:cNvSpPr>
            <p:nvPr/>
          </p:nvSpPr>
          <p:spPr bwMode="auto">
            <a:xfrm>
              <a:off x="757" y="2474"/>
              <a:ext cx="2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dirty="0">
                  <a:latin typeface="宋体" charset="-122"/>
                  <a:sym typeface="Symbol" pitchFamily="18" charset="2"/>
                </a:rPr>
                <a:t>-</a:t>
              </a:r>
            </a:p>
          </p:txBody>
        </p:sp>
        <p:sp>
          <p:nvSpPr>
            <p:cNvPr id="61458" name="Text Box 19"/>
            <p:cNvSpPr txBox="1">
              <a:spLocks noChangeArrowheads="1"/>
            </p:cNvSpPr>
            <p:nvPr/>
          </p:nvSpPr>
          <p:spPr bwMode="auto">
            <a:xfrm>
              <a:off x="748" y="1878"/>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dirty="0">
                  <a:ea typeface="仿宋_GB2312" pitchFamily="49" charset="-122"/>
                  <a:sym typeface="Symbol" pitchFamily="18" charset="2"/>
                </a:rPr>
                <a:t>+</a:t>
              </a:r>
            </a:p>
          </p:txBody>
        </p:sp>
        <p:graphicFrame>
          <p:nvGraphicFramePr>
            <p:cNvPr id="61459" name="Object 20"/>
            <p:cNvGraphicFramePr>
              <a:graphicFrameLocks noChangeAspect="1"/>
            </p:cNvGraphicFramePr>
            <p:nvPr/>
          </p:nvGraphicFramePr>
          <p:xfrm>
            <a:off x="1201" y="1785"/>
            <a:ext cx="238" cy="412"/>
          </p:xfrm>
          <a:graphic>
            <a:graphicData uri="http://schemas.openxmlformats.org/presentationml/2006/ole">
              <mc:AlternateContent xmlns:mc="http://schemas.openxmlformats.org/markup-compatibility/2006">
                <mc:Choice xmlns:v="urn:schemas-microsoft-com:vml" Requires="v">
                  <p:oleObj spid="_x0000_s135201" name="公式" r:id="rId6" imgW="133305" imgH="228677" progId="Equation.3">
                    <p:embed/>
                  </p:oleObj>
                </mc:Choice>
                <mc:Fallback>
                  <p:oleObj name="公式" r:id="rId6" imgW="133305" imgH="22867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1" y="1785"/>
                          <a:ext cx="238"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60" name="Line 21"/>
            <p:cNvSpPr>
              <a:spLocks noChangeShapeType="1"/>
            </p:cNvSpPr>
            <p:nvPr/>
          </p:nvSpPr>
          <p:spPr bwMode="auto">
            <a:xfrm>
              <a:off x="884" y="2329"/>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1461" name="Rectangle 22"/>
            <p:cNvSpPr>
              <a:spLocks noChangeArrowheads="1"/>
            </p:cNvSpPr>
            <p:nvPr/>
          </p:nvSpPr>
          <p:spPr bwMode="auto">
            <a:xfrm>
              <a:off x="2006" y="2147"/>
              <a:ext cx="127" cy="318"/>
            </a:xfrm>
            <a:prstGeom prst="rect">
              <a:avLst/>
            </a:prstGeom>
            <a:gradFill rotWithShape="1">
              <a:gsLst>
                <a:gs pos="0">
                  <a:srgbClr val="764700"/>
                </a:gs>
                <a:gs pos="50000">
                  <a:srgbClr val="FF9900"/>
                </a:gs>
                <a:gs pos="100000">
                  <a:srgbClr val="764700"/>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61462" name="Line 23"/>
            <p:cNvSpPr>
              <a:spLocks noChangeShapeType="1"/>
            </p:cNvSpPr>
            <p:nvPr/>
          </p:nvSpPr>
          <p:spPr bwMode="auto">
            <a:xfrm flipV="1">
              <a:off x="1066" y="1797"/>
              <a:ext cx="0" cy="317"/>
            </a:xfrm>
            <a:prstGeom prst="line">
              <a:avLst/>
            </a:prstGeom>
            <a:noFill/>
            <a:ln w="38100" cap="sq">
              <a:solidFill>
                <a:srgbClr val="00CC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403480" name="AutoShape 24" descr="羊皮纸"/>
          <p:cNvSpPr>
            <a:spLocks noChangeArrowheads="1"/>
          </p:cNvSpPr>
          <p:nvPr/>
        </p:nvSpPr>
        <p:spPr bwMode="auto">
          <a:xfrm>
            <a:off x="865188" y="2811463"/>
            <a:ext cx="1146175" cy="525462"/>
          </a:xfrm>
          <a:prstGeom prst="wedgeRoundRectCallout">
            <a:avLst>
              <a:gd name="adj1" fmla="val 79778"/>
              <a:gd name="adj2" fmla="val -279306"/>
              <a:gd name="adj3" fmla="val 16667"/>
            </a:avLst>
          </a:prstGeom>
          <a:blipFill dpi="0" rotWithShape="1">
            <a:blip r:embed="rId5"/>
            <a:srcRect/>
            <a:tile tx="0" ty="0" sx="100000" sy="100000" flip="none" algn="tl"/>
          </a:blip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sz="1800">
                <a:solidFill>
                  <a:srgbClr val="000000"/>
                </a:solidFill>
                <a:ea typeface="楷体_GB2312" pitchFamily="49" charset="-122"/>
                <a:sym typeface="Symbol" pitchFamily="18" charset="2"/>
              </a:rPr>
              <a:t>外电路</a:t>
            </a:r>
          </a:p>
        </p:txBody>
      </p:sp>
      <p:sp>
        <p:nvSpPr>
          <p:cNvPr id="403481" name="AutoShape 25"/>
          <p:cNvSpPr>
            <a:spLocks noChangeArrowheads="1"/>
          </p:cNvSpPr>
          <p:nvPr/>
        </p:nvSpPr>
        <p:spPr bwMode="auto">
          <a:xfrm rot="-1218513">
            <a:off x="2725738" y="1020763"/>
            <a:ext cx="812800" cy="146050"/>
          </a:xfrm>
          <a:prstGeom prst="rightArrow">
            <a:avLst>
              <a:gd name="adj1" fmla="val 50000"/>
              <a:gd name="adj2" fmla="val 139130"/>
            </a:avLst>
          </a:prstGeom>
          <a:solidFill>
            <a:srgbClr val="FF3300"/>
          </a:solidFill>
          <a:ln w="9525"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aphicFrame>
        <p:nvGraphicFramePr>
          <p:cNvPr id="403482" name="Object 26"/>
          <p:cNvGraphicFramePr>
            <a:graphicFrameLocks noChangeAspect="1"/>
          </p:cNvGraphicFramePr>
          <p:nvPr/>
        </p:nvGraphicFramePr>
        <p:xfrm>
          <a:off x="3767138" y="654050"/>
          <a:ext cx="1049337" cy="523875"/>
        </p:xfrm>
        <a:graphic>
          <a:graphicData uri="http://schemas.openxmlformats.org/presentationml/2006/ole">
            <mc:AlternateContent xmlns:mc="http://schemas.openxmlformats.org/markup-compatibility/2006">
              <mc:Choice xmlns:v="urn:schemas-microsoft-com:vml" Requires="v">
                <p:oleObj spid="_x0000_s135202" name="Equation" r:id="rId8" imgW="399915" imgH="190564" progId="Equation.DSMT4">
                  <p:embed/>
                </p:oleObj>
              </mc:Choice>
              <mc:Fallback>
                <p:oleObj name="Equation" r:id="rId8" imgW="399915" imgH="190564"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67138" y="654050"/>
                        <a:ext cx="104933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3483" name="AutoShape 27"/>
          <p:cNvSpPr>
            <a:spLocks noChangeArrowheads="1"/>
          </p:cNvSpPr>
          <p:nvPr/>
        </p:nvSpPr>
        <p:spPr bwMode="auto">
          <a:xfrm>
            <a:off x="2725738" y="1503363"/>
            <a:ext cx="792162" cy="142875"/>
          </a:xfrm>
          <a:prstGeom prst="rightArrow">
            <a:avLst>
              <a:gd name="adj1" fmla="val 50000"/>
              <a:gd name="adj2" fmla="val 138611"/>
            </a:avLst>
          </a:prstGeom>
          <a:solidFill>
            <a:srgbClr val="FF3300"/>
          </a:solidFill>
          <a:ln w="9525"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aphicFrame>
        <p:nvGraphicFramePr>
          <p:cNvPr id="403484" name="Object 28"/>
          <p:cNvGraphicFramePr>
            <a:graphicFrameLocks noChangeAspect="1"/>
          </p:cNvGraphicFramePr>
          <p:nvPr/>
        </p:nvGraphicFramePr>
        <p:xfrm>
          <a:off x="3729038" y="1289050"/>
          <a:ext cx="2336800" cy="536575"/>
        </p:xfrm>
        <a:graphic>
          <a:graphicData uri="http://schemas.openxmlformats.org/presentationml/2006/ole">
            <mc:AlternateContent xmlns:mc="http://schemas.openxmlformats.org/markup-compatibility/2006">
              <mc:Choice xmlns:v="urn:schemas-microsoft-com:vml" Requires="v">
                <p:oleObj spid="_x0000_s135203" name="Equation" r:id="rId10" imgW="819259" imgH="181104" progId="Equation.DSMT4">
                  <p:embed/>
                </p:oleObj>
              </mc:Choice>
              <mc:Fallback>
                <p:oleObj name="Equation" r:id="rId10" imgW="819259" imgH="181104"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29038" y="1289050"/>
                        <a:ext cx="233680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3485" name="AutoShape 29"/>
          <p:cNvSpPr>
            <a:spLocks noChangeArrowheads="1"/>
          </p:cNvSpPr>
          <p:nvPr/>
        </p:nvSpPr>
        <p:spPr bwMode="auto">
          <a:xfrm rot="1049089">
            <a:off x="2725738" y="2008188"/>
            <a:ext cx="792162" cy="144462"/>
          </a:xfrm>
          <a:prstGeom prst="rightArrow">
            <a:avLst>
              <a:gd name="adj1" fmla="val 50000"/>
              <a:gd name="adj2" fmla="val 137088"/>
            </a:avLst>
          </a:prstGeom>
          <a:solidFill>
            <a:srgbClr val="FF3300"/>
          </a:solidFill>
          <a:ln w="9525"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aphicFrame>
        <p:nvGraphicFramePr>
          <p:cNvPr id="403486" name="Object 30"/>
          <p:cNvGraphicFramePr>
            <a:graphicFrameLocks noChangeAspect="1"/>
          </p:cNvGraphicFramePr>
          <p:nvPr/>
        </p:nvGraphicFramePr>
        <p:xfrm>
          <a:off x="3786188" y="1974850"/>
          <a:ext cx="2913062" cy="565150"/>
        </p:xfrm>
        <a:graphic>
          <a:graphicData uri="http://schemas.openxmlformats.org/presentationml/2006/ole">
            <mc:AlternateContent xmlns:mc="http://schemas.openxmlformats.org/markup-compatibility/2006">
              <mc:Choice xmlns:v="urn:schemas-microsoft-com:vml" Requires="v">
                <p:oleObj spid="_x0000_s135204" name="Equation" r:id="rId12" imgW="838149" imgH="181104" progId="Equation.DSMT4">
                  <p:embed/>
                </p:oleObj>
              </mc:Choice>
              <mc:Fallback>
                <p:oleObj name="Equation" r:id="rId12" imgW="838149" imgH="181104"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86188" y="1974850"/>
                        <a:ext cx="2913062"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3487" name="Text Box 31"/>
          <p:cNvSpPr txBox="1">
            <a:spLocks noChangeArrowheads="1"/>
          </p:cNvSpPr>
          <p:nvPr/>
        </p:nvSpPr>
        <p:spPr bwMode="auto">
          <a:xfrm>
            <a:off x="1141413" y="4356100"/>
            <a:ext cx="3529012" cy="457200"/>
          </a:xfrm>
          <a:prstGeom prst="rect">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ea typeface="楷体_GB2312" pitchFamily="49" charset="-122"/>
                <a:sym typeface="Symbol" pitchFamily="18" charset="2"/>
              </a:rPr>
              <a:t>电流源不能开路！</a:t>
            </a:r>
          </a:p>
        </p:txBody>
      </p:sp>
    </p:spTree>
    <p:extLst>
      <p:ext uri="{BB962C8B-B14F-4D97-AF65-F5344CB8AC3E}">
        <p14:creationId xmlns:p14="http://schemas.microsoft.com/office/powerpoint/2010/main" val="27344845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03481"/>
                                        </p:tgtEl>
                                        <p:attrNameLst>
                                          <p:attrName>style.visibility</p:attrName>
                                        </p:attrNameLst>
                                      </p:cBhvr>
                                      <p:to>
                                        <p:strVal val="visible"/>
                                      </p:to>
                                    </p:set>
                                    <p:animEffect transition="in" filter="wipe(down)">
                                      <p:cBhvr>
                                        <p:cTn id="7" dur="500"/>
                                        <p:tgtEl>
                                          <p:spTgt spid="403481"/>
                                        </p:tgtEl>
                                      </p:cBhvr>
                                    </p:animEffect>
                                  </p:childTnLst>
                                </p:cTn>
                              </p:par>
                            </p:childTnLst>
                          </p:cTn>
                        </p:par>
                        <p:par>
                          <p:cTn id="8" fill="hold" nodeType="after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403482"/>
                                        </p:tgtEl>
                                        <p:attrNameLst>
                                          <p:attrName>style.visibility</p:attrName>
                                        </p:attrNameLst>
                                      </p:cBhvr>
                                      <p:to>
                                        <p:strVal val="visible"/>
                                      </p:to>
                                    </p:set>
                                    <p:animEffect transition="in" filter="strips(downRight)">
                                      <p:cBhvr>
                                        <p:cTn id="11" dur="1000"/>
                                        <p:tgtEl>
                                          <p:spTgt spid="40348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8" fill="hold" grpId="0" nodeType="clickEffect">
                                  <p:stCondLst>
                                    <p:cond delay="0"/>
                                  </p:stCondLst>
                                  <p:childTnLst>
                                    <p:set>
                                      <p:cBhvr>
                                        <p:cTn id="15" dur="1" fill="hold">
                                          <p:stCondLst>
                                            <p:cond delay="0"/>
                                          </p:stCondLst>
                                        </p:cTn>
                                        <p:tgtEl>
                                          <p:spTgt spid="403483"/>
                                        </p:tgtEl>
                                        <p:attrNameLst>
                                          <p:attrName>style.visibility</p:attrName>
                                        </p:attrNameLst>
                                      </p:cBhvr>
                                      <p:to>
                                        <p:strVal val="visible"/>
                                      </p:to>
                                    </p:set>
                                    <p:animEffect transition="in" filter="slide(fromLeft)">
                                      <p:cBhvr>
                                        <p:cTn id="16" dur="500"/>
                                        <p:tgtEl>
                                          <p:spTgt spid="403483"/>
                                        </p:tgtEl>
                                      </p:cBhvr>
                                    </p:animEffect>
                                  </p:childTnLst>
                                </p:cTn>
                              </p:par>
                            </p:childTnLst>
                          </p:cTn>
                        </p:par>
                        <p:par>
                          <p:cTn id="17" fill="hold" nodeType="afterGroup">
                            <p:stCondLst>
                              <p:cond delay="500"/>
                            </p:stCondLst>
                            <p:childTnLst>
                              <p:par>
                                <p:cTn id="18" presetID="18" presetClass="entr" presetSubtype="6" fill="hold" nodeType="afterEffect">
                                  <p:stCondLst>
                                    <p:cond delay="0"/>
                                  </p:stCondLst>
                                  <p:childTnLst>
                                    <p:set>
                                      <p:cBhvr>
                                        <p:cTn id="19" dur="1" fill="hold">
                                          <p:stCondLst>
                                            <p:cond delay="0"/>
                                          </p:stCondLst>
                                        </p:cTn>
                                        <p:tgtEl>
                                          <p:spTgt spid="403484"/>
                                        </p:tgtEl>
                                        <p:attrNameLst>
                                          <p:attrName>style.visibility</p:attrName>
                                        </p:attrNameLst>
                                      </p:cBhvr>
                                      <p:to>
                                        <p:strVal val="visible"/>
                                      </p:to>
                                    </p:set>
                                    <p:animEffect transition="in" filter="strips(downRight)">
                                      <p:cBhvr>
                                        <p:cTn id="20" dur="1000"/>
                                        <p:tgtEl>
                                          <p:spTgt spid="40348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403485"/>
                                        </p:tgtEl>
                                        <p:attrNameLst>
                                          <p:attrName>style.visibility</p:attrName>
                                        </p:attrNameLst>
                                      </p:cBhvr>
                                      <p:to>
                                        <p:strVal val="visible"/>
                                      </p:to>
                                    </p:set>
                                    <p:animEffect transition="in" filter="wipe(up)">
                                      <p:cBhvr>
                                        <p:cTn id="25" dur="500"/>
                                        <p:tgtEl>
                                          <p:spTgt spid="403485"/>
                                        </p:tgtEl>
                                      </p:cBhvr>
                                    </p:animEffect>
                                  </p:childTnLst>
                                </p:cTn>
                              </p:par>
                            </p:childTnLst>
                          </p:cTn>
                        </p:par>
                        <p:par>
                          <p:cTn id="26" fill="hold" nodeType="afterGroup">
                            <p:stCondLst>
                              <p:cond delay="500"/>
                            </p:stCondLst>
                            <p:childTnLst>
                              <p:par>
                                <p:cTn id="27" presetID="18" presetClass="entr" presetSubtype="6" fill="hold" nodeType="afterEffect">
                                  <p:stCondLst>
                                    <p:cond delay="0"/>
                                  </p:stCondLst>
                                  <p:childTnLst>
                                    <p:set>
                                      <p:cBhvr>
                                        <p:cTn id="28" dur="1" fill="hold">
                                          <p:stCondLst>
                                            <p:cond delay="0"/>
                                          </p:stCondLst>
                                        </p:cTn>
                                        <p:tgtEl>
                                          <p:spTgt spid="403486"/>
                                        </p:tgtEl>
                                        <p:attrNameLst>
                                          <p:attrName>style.visibility</p:attrName>
                                        </p:attrNameLst>
                                      </p:cBhvr>
                                      <p:to>
                                        <p:strVal val="visible"/>
                                      </p:to>
                                    </p:set>
                                    <p:animEffect transition="in" filter="strips(downRight)">
                                      <p:cBhvr>
                                        <p:cTn id="29" dur="1000"/>
                                        <p:tgtEl>
                                          <p:spTgt spid="40348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0" fill="hold" grpId="0" nodeType="clickEffect">
                                  <p:stCondLst>
                                    <p:cond delay="0"/>
                                  </p:stCondLst>
                                  <p:childTnLst>
                                    <p:set>
                                      <p:cBhvr>
                                        <p:cTn id="33" dur="1" fill="hold">
                                          <p:stCondLst>
                                            <p:cond delay="0"/>
                                          </p:stCondLst>
                                        </p:cTn>
                                        <p:tgtEl>
                                          <p:spTgt spid="403487"/>
                                        </p:tgtEl>
                                        <p:attrNameLst>
                                          <p:attrName>style.visibility</p:attrName>
                                        </p:attrNameLst>
                                      </p:cBhvr>
                                      <p:to>
                                        <p:strVal val="visible"/>
                                      </p:to>
                                    </p:set>
                                    <p:anim calcmode="lin" valueType="num">
                                      <p:cBhvr>
                                        <p:cTn id="34" dur="1000" fill="hold"/>
                                        <p:tgtEl>
                                          <p:spTgt spid="403487"/>
                                        </p:tgtEl>
                                        <p:attrNameLst>
                                          <p:attrName>ppt_w</p:attrName>
                                        </p:attrNameLst>
                                      </p:cBhvr>
                                      <p:tavLst>
                                        <p:tav tm="0">
                                          <p:val>
                                            <p:fltVal val="0"/>
                                          </p:val>
                                        </p:tav>
                                        <p:tav tm="100000">
                                          <p:val>
                                            <p:strVal val="#ppt_w"/>
                                          </p:val>
                                        </p:tav>
                                      </p:tavLst>
                                    </p:anim>
                                    <p:anim calcmode="lin" valueType="num">
                                      <p:cBhvr>
                                        <p:cTn id="35" dur="1000" fill="hold"/>
                                        <p:tgtEl>
                                          <p:spTgt spid="403487"/>
                                        </p:tgtEl>
                                        <p:attrNameLst>
                                          <p:attrName>ppt_h</p:attrName>
                                        </p:attrNameLst>
                                      </p:cBhvr>
                                      <p:tavLst>
                                        <p:tav tm="0">
                                          <p:val>
                                            <p:fltVal val="0"/>
                                          </p:val>
                                        </p:tav>
                                        <p:tav tm="100000">
                                          <p:val>
                                            <p:strVal val="#ppt_h"/>
                                          </p:val>
                                        </p:tav>
                                      </p:tavLst>
                                    </p:anim>
                                    <p:animEffect transition="in" filter="fade">
                                      <p:cBhvr>
                                        <p:cTn id="36" dur="1000"/>
                                        <p:tgtEl>
                                          <p:spTgt spid="40348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9" presetClass="entr" presetSubtype="0" fill="hold" nodeType="clickEffect">
                                  <p:stCondLst>
                                    <p:cond delay="0"/>
                                  </p:stCondLst>
                                  <p:childTnLst>
                                    <p:set>
                                      <p:cBhvr>
                                        <p:cTn id="40" dur="1" fill="hold">
                                          <p:stCondLst>
                                            <p:cond delay="0"/>
                                          </p:stCondLst>
                                        </p:cTn>
                                        <p:tgtEl>
                                          <p:spTgt spid="403459"/>
                                        </p:tgtEl>
                                        <p:attrNameLst>
                                          <p:attrName>style.visibility</p:attrName>
                                        </p:attrNameLst>
                                      </p:cBhvr>
                                      <p:to>
                                        <p:strVal val="visible"/>
                                      </p:to>
                                    </p:set>
                                    <p:anim calcmode="lin" valueType="num">
                                      <p:cBhvr>
                                        <p:cTn id="41" dur="1000" fill="hold"/>
                                        <p:tgtEl>
                                          <p:spTgt spid="403459"/>
                                        </p:tgtEl>
                                        <p:attrNameLst>
                                          <p:attrName>ppt_x</p:attrName>
                                        </p:attrNameLst>
                                      </p:cBhvr>
                                      <p:tavLst>
                                        <p:tav tm="0">
                                          <p:val>
                                            <p:strVal val="#ppt_x-.2"/>
                                          </p:val>
                                        </p:tav>
                                        <p:tav tm="100000">
                                          <p:val>
                                            <p:strVal val="#ppt_x"/>
                                          </p:val>
                                        </p:tav>
                                      </p:tavLst>
                                    </p:anim>
                                    <p:anim calcmode="lin" valueType="num">
                                      <p:cBhvr>
                                        <p:cTn id="42" dur="1000" fill="hold"/>
                                        <p:tgtEl>
                                          <p:spTgt spid="403459"/>
                                        </p:tgtEl>
                                        <p:attrNameLst>
                                          <p:attrName>ppt_y</p:attrName>
                                        </p:attrNameLst>
                                      </p:cBhvr>
                                      <p:tavLst>
                                        <p:tav tm="0">
                                          <p:val>
                                            <p:strVal val="#ppt_y"/>
                                          </p:val>
                                        </p:tav>
                                        <p:tav tm="100000">
                                          <p:val>
                                            <p:strVal val="#ppt_y"/>
                                          </p:val>
                                        </p:tav>
                                      </p:tavLst>
                                    </p:anim>
                                    <p:animEffect transition="in" filter="wipe(right)" prLst="gradientSize: 0.1">
                                      <p:cBhvr>
                                        <p:cTn id="43" dur="1000"/>
                                        <p:tgtEl>
                                          <p:spTgt spid="403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81" grpId="0" animBg="1"/>
      <p:bldP spid="403483" grpId="0" animBg="1"/>
      <p:bldP spid="403485" grpId="0" animBg="1"/>
      <p:bldP spid="40348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Text Box 2"/>
          <p:cNvSpPr txBox="1">
            <a:spLocks noChangeArrowheads="1"/>
          </p:cNvSpPr>
          <p:nvPr/>
        </p:nvSpPr>
        <p:spPr bwMode="auto">
          <a:xfrm>
            <a:off x="981075" y="1374775"/>
            <a:ext cx="7777163" cy="936625"/>
          </a:xfrm>
          <a:prstGeom prst="rect">
            <a:avLst/>
          </a:prstGeom>
          <a:noFill/>
          <a:ln>
            <a:noFill/>
          </a:ln>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lnSpc>
                <a:spcPct val="120000"/>
              </a:lnSpc>
            </a:pPr>
            <a:r>
              <a:rPr lang="en-US" altLang="zh-CN" dirty="0">
                <a:ea typeface="楷体_GB2312" pitchFamily="49" charset="-122"/>
                <a:sym typeface="Symbol" pitchFamily="18" charset="2"/>
              </a:rPr>
              <a:t>        </a:t>
            </a:r>
            <a:r>
              <a:rPr lang="zh-CN" altLang="en-US" sz="2000" dirty="0">
                <a:ea typeface="楷体_GB2312" pitchFamily="49" charset="-122"/>
                <a:sym typeface="Symbol" pitchFamily="18" charset="2"/>
              </a:rPr>
              <a:t>可由稳流电子设备产生，如晶体管的集电极电流与负载无关；光电池在一定光线照射下光电子被激发产生一定值的电流等。</a:t>
            </a:r>
          </a:p>
        </p:txBody>
      </p:sp>
      <p:sp>
        <p:nvSpPr>
          <p:cNvPr id="404483" name="Text Box 3"/>
          <p:cNvSpPr txBox="1">
            <a:spLocks noChangeArrowheads="1"/>
          </p:cNvSpPr>
          <p:nvPr/>
        </p:nvSpPr>
        <p:spPr bwMode="auto">
          <a:xfrm>
            <a:off x="539750" y="836613"/>
            <a:ext cx="4032250" cy="504825"/>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85750" indent="-28575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spcBef>
                <a:spcPct val="50000"/>
              </a:spcBef>
            </a:pPr>
            <a:r>
              <a:rPr lang="zh-CN" altLang="en-US" dirty="0">
                <a:ea typeface="楷体_GB2312" pitchFamily="49" charset="-122"/>
              </a:rPr>
              <a:t>实际电流源的制作</a:t>
            </a:r>
          </a:p>
        </p:txBody>
      </p:sp>
      <p:sp>
        <p:nvSpPr>
          <p:cNvPr id="404484" name="Text Box 4"/>
          <p:cNvSpPr txBox="1">
            <a:spLocks noChangeArrowheads="1"/>
          </p:cNvSpPr>
          <p:nvPr/>
        </p:nvSpPr>
        <p:spPr bwMode="auto">
          <a:xfrm>
            <a:off x="539750" y="2828925"/>
            <a:ext cx="2689225" cy="4603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buClr>
                <a:schemeClr val="tx1"/>
              </a:buClr>
              <a:buSzPct val="80000"/>
            </a:pPr>
            <a:r>
              <a:rPr lang="en-US" altLang="zh-CN">
                <a:ea typeface="楷体_GB2312" pitchFamily="49" charset="-122"/>
                <a:sym typeface="Symbol" pitchFamily="18" charset="2"/>
              </a:rPr>
              <a:t>4</a:t>
            </a:r>
            <a:r>
              <a:rPr lang="zh-CN" altLang="en-US">
                <a:ea typeface="楷体_GB2312" pitchFamily="49" charset="-122"/>
                <a:sym typeface="Symbol" pitchFamily="18" charset="2"/>
              </a:rPr>
              <a:t>、电流源的功率</a:t>
            </a:r>
          </a:p>
        </p:txBody>
      </p:sp>
      <p:grpSp>
        <p:nvGrpSpPr>
          <p:cNvPr id="404485" name="Group 5"/>
          <p:cNvGrpSpPr>
            <a:grpSpLocks/>
          </p:cNvGrpSpPr>
          <p:nvPr/>
        </p:nvGrpSpPr>
        <p:grpSpPr bwMode="auto">
          <a:xfrm>
            <a:off x="6372225" y="2349500"/>
            <a:ext cx="1398588" cy="1973263"/>
            <a:chOff x="4014" y="1480"/>
            <a:chExt cx="881" cy="1243"/>
          </a:xfrm>
        </p:grpSpPr>
        <p:sp>
          <p:nvSpPr>
            <p:cNvPr id="62493" name="Line 6"/>
            <p:cNvSpPr>
              <a:spLocks noChangeShapeType="1"/>
            </p:cNvSpPr>
            <p:nvPr/>
          </p:nvSpPr>
          <p:spPr bwMode="auto">
            <a:xfrm rot="10800000">
              <a:off x="4195" y="1514"/>
              <a:ext cx="0" cy="117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494" name="Oval 7"/>
            <p:cNvSpPr>
              <a:spLocks noChangeArrowheads="1"/>
            </p:cNvSpPr>
            <p:nvPr/>
          </p:nvSpPr>
          <p:spPr bwMode="auto">
            <a:xfrm>
              <a:off x="4014" y="1978"/>
              <a:ext cx="363" cy="363"/>
            </a:xfrm>
            <a:prstGeom prst="ellipse">
              <a:avLst/>
            </a:prstGeom>
            <a:gradFill rotWithShape="1">
              <a:gsLst>
                <a:gs pos="0">
                  <a:srgbClr val="0099FF"/>
                </a:gs>
                <a:gs pos="100000">
                  <a:srgbClr val="004776"/>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endParaRPr kumimoji="0" lang="zh-CN" altLang="zh-CN" b="0">
                <a:solidFill>
                  <a:srgbClr val="FFFF00"/>
                </a:solidFill>
                <a:latin typeface="Arial" charset="0"/>
                <a:ea typeface="仿宋_GB2312" pitchFamily="49" charset="-122"/>
              </a:endParaRPr>
            </a:p>
          </p:txBody>
        </p:sp>
        <p:sp>
          <p:nvSpPr>
            <p:cNvPr id="62495" name="Oval 8"/>
            <p:cNvSpPr>
              <a:spLocks noChangeArrowheads="1"/>
            </p:cNvSpPr>
            <p:nvPr/>
          </p:nvSpPr>
          <p:spPr bwMode="auto">
            <a:xfrm rot="10800000">
              <a:off x="4827" y="2655"/>
              <a:ext cx="68"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62496" name="Line 9"/>
            <p:cNvSpPr>
              <a:spLocks noChangeShapeType="1"/>
            </p:cNvSpPr>
            <p:nvPr/>
          </p:nvSpPr>
          <p:spPr bwMode="auto">
            <a:xfrm rot="5400000">
              <a:off x="4507" y="2369"/>
              <a:ext cx="0" cy="64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497" name="Oval 10"/>
            <p:cNvSpPr>
              <a:spLocks noChangeArrowheads="1"/>
            </p:cNvSpPr>
            <p:nvPr/>
          </p:nvSpPr>
          <p:spPr bwMode="auto">
            <a:xfrm rot="10800000">
              <a:off x="4827" y="1480"/>
              <a:ext cx="68"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62498" name="Line 11"/>
            <p:cNvSpPr>
              <a:spLocks noChangeShapeType="1"/>
            </p:cNvSpPr>
            <p:nvPr/>
          </p:nvSpPr>
          <p:spPr bwMode="auto">
            <a:xfrm rot="5400000">
              <a:off x="4507" y="1194"/>
              <a:ext cx="0" cy="64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499" name="Text Box 12"/>
            <p:cNvSpPr txBox="1">
              <a:spLocks noChangeArrowheads="1"/>
            </p:cNvSpPr>
            <p:nvPr/>
          </p:nvSpPr>
          <p:spPr bwMode="auto">
            <a:xfrm>
              <a:off x="4662" y="1952"/>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sym typeface="Symbol" pitchFamily="18" charset="2"/>
                </a:rPr>
                <a:t>v</a:t>
              </a:r>
            </a:p>
          </p:txBody>
        </p:sp>
        <p:sp>
          <p:nvSpPr>
            <p:cNvPr id="62500" name="Text Box 13"/>
            <p:cNvSpPr txBox="1">
              <a:spLocks noChangeArrowheads="1"/>
            </p:cNvSpPr>
            <p:nvPr/>
          </p:nvSpPr>
          <p:spPr bwMode="auto">
            <a:xfrm rot="10800000">
              <a:off x="4627" y="1519"/>
              <a:ext cx="2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sym typeface="Symbol" pitchFamily="18" charset="2"/>
                </a:rPr>
                <a:t>+</a:t>
              </a:r>
            </a:p>
          </p:txBody>
        </p:sp>
        <p:sp>
          <p:nvSpPr>
            <p:cNvPr id="62501" name="Text Box 14"/>
            <p:cNvSpPr txBox="1">
              <a:spLocks noChangeArrowheads="1"/>
            </p:cNvSpPr>
            <p:nvPr/>
          </p:nvSpPr>
          <p:spPr bwMode="auto">
            <a:xfrm>
              <a:off x="4649" y="2289"/>
              <a:ext cx="1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sym typeface="Symbol" pitchFamily="18" charset="2"/>
                </a:rPr>
                <a:t>_</a:t>
              </a:r>
            </a:p>
          </p:txBody>
        </p:sp>
        <p:graphicFrame>
          <p:nvGraphicFramePr>
            <p:cNvPr id="62502" name="Object 15"/>
            <p:cNvGraphicFramePr>
              <a:graphicFrameLocks noChangeAspect="1"/>
            </p:cNvGraphicFramePr>
            <p:nvPr/>
          </p:nvGraphicFramePr>
          <p:xfrm>
            <a:off x="4332" y="1670"/>
            <a:ext cx="194" cy="335"/>
          </p:xfrm>
          <a:graphic>
            <a:graphicData uri="http://schemas.openxmlformats.org/presentationml/2006/ole">
              <mc:AlternateContent xmlns:mc="http://schemas.openxmlformats.org/markup-compatibility/2006">
                <mc:Choice xmlns:v="urn:schemas-microsoft-com:vml" Requires="v">
                  <p:oleObj spid="_x0000_s136224" name="公式" r:id="rId3" imgW="133305" imgH="228677" progId="Equation.3">
                    <p:embed/>
                  </p:oleObj>
                </mc:Choice>
                <mc:Fallback>
                  <p:oleObj name="公式" r:id="rId3" imgW="133305" imgH="22867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2" y="1670"/>
                          <a:ext cx="194" cy="335"/>
                        </a:xfrm>
                        <a:prstGeom prst="rect">
                          <a:avLst/>
                        </a:prstGeom>
                        <a:solidFill>
                          <a:srgbClr val="6666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503" name="Line 16"/>
            <p:cNvSpPr>
              <a:spLocks noChangeShapeType="1"/>
            </p:cNvSpPr>
            <p:nvPr/>
          </p:nvSpPr>
          <p:spPr bwMode="auto">
            <a:xfrm>
              <a:off x="4014" y="2160"/>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2504" name="Line 17"/>
            <p:cNvSpPr>
              <a:spLocks noChangeShapeType="1"/>
            </p:cNvSpPr>
            <p:nvPr/>
          </p:nvSpPr>
          <p:spPr bwMode="auto">
            <a:xfrm flipV="1">
              <a:off x="4195" y="1616"/>
              <a:ext cx="0" cy="317"/>
            </a:xfrm>
            <a:prstGeom prst="line">
              <a:avLst/>
            </a:prstGeom>
            <a:noFill/>
            <a:ln w="28575" cap="sq">
              <a:solidFill>
                <a:srgbClr val="00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404498" name="AutoShape 18"/>
          <p:cNvSpPr>
            <a:spLocks noChangeArrowheads="1"/>
          </p:cNvSpPr>
          <p:nvPr/>
        </p:nvSpPr>
        <p:spPr bwMode="auto">
          <a:xfrm>
            <a:off x="3779838" y="2997200"/>
            <a:ext cx="647700" cy="142875"/>
          </a:xfrm>
          <a:prstGeom prst="rightArrow">
            <a:avLst>
              <a:gd name="adj1" fmla="val 50000"/>
              <a:gd name="adj2" fmla="val 113333"/>
            </a:avLst>
          </a:prstGeom>
          <a:solidFill>
            <a:schemeClr val="hlink"/>
          </a:solidFill>
          <a:ln>
            <a:noFill/>
          </a:ln>
          <a:effectLst/>
          <a:extLs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aphicFrame>
        <p:nvGraphicFramePr>
          <p:cNvPr id="404499" name="Object 19"/>
          <p:cNvGraphicFramePr>
            <a:graphicFrameLocks noChangeAspect="1"/>
          </p:cNvGraphicFramePr>
          <p:nvPr/>
        </p:nvGraphicFramePr>
        <p:xfrm>
          <a:off x="4708525" y="2825750"/>
          <a:ext cx="969963" cy="485775"/>
        </p:xfrm>
        <a:graphic>
          <a:graphicData uri="http://schemas.openxmlformats.org/presentationml/2006/ole">
            <mc:AlternateContent xmlns:mc="http://schemas.openxmlformats.org/markup-compatibility/2006">
              <mc:Choice xmlns:v="urn:schemas-microsoft-com:vml" Requires="v">
                <p:oleObj spid="_x0000_s136225" name="Equation" r:id="rId5" imgW="399915" imgH="190564" progId="Equation.DSMT4">
                  <p:embed/>
                </p:oleObj>
              </mc:Choice>
              <mc:Fallback>
                <p:oleObj name="Equation" r:id="rId5" imgW="399915" imgH="19056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8525" y="2825750"/>
                        <a:ext cx="969963"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4500" name="Text Box 20"/>
          <p:cNvSpPr txBox="1">
            <a:spLocks noChangeArrowheads="1"/>
          </p:cNvSpPr>
          <p:nvPr/>
        </p:nvSpPr>
        <p:spPr bwMode="auto">
          <a:xfrm>
            <a:off x="981075" y="3530600"/>
            <a:ext cx="5103813" cy="457200"/>
          </a:xfrm>
          <a:prstGeom prst="rect">
            <a:avLst/>
          </a:prstGeom>
          <a:solidFill>
            <a:schemeClr val="accent2"/>
          </a:solidFill>
          <a:ln>
            <a:noFill/>
          </a:ln>
          <a:effectLst/>
          <a:extLs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800100" indent="-342900" eaLnBrk="0" hangingPunct="0">
              <a:defRPr kumimoji="1" sz="2400" b="1">
                <a:solidFill>
                  <a:schemeClr val="tx1"/>
                </a:solidFill>
                <a:latin typeface="Times New Roman" pitchFamily="18" charset="0"/>
                <a:ea typeface="宋体" charset="-122"/>
              </a:defRPr>
            </a:lvl2pPr>
            <a:lvl3pPr marL="1257300" indent="-342900" eaLnBrk="0" hangingPunct="0">
              <a:defRPr kumimoji="1" sz="2400" b="1">
                <a:solidFill>
                  <a:schemeClr val="tx1"/>
                </a:solidFill>
                <a:latin typeface="Times New Roman" pitchFamily="18" charset="0"/>
                <a:ea typeface="宋体" charset="-122"/>
              </a:defRPr>
            </a:lvl3pPr>
            <a:lvl4pPr marL="1714500" indent="-342900" eaLnBrk="0" hangingPunct="0">
              <a:defRPr kumimoji="1" sz="2400" b="1">
                <a:solidFill>
                  <a:schemeClr val="tx1"/>
                </a:solidFill>
                <a:latin typeface="Times New Roman" pitchFamily="18" charset="0"/>
                <a:ea typeface="宋体" charset="-122"/>
              </a:defRPr>
            </a:lvl4pPr>
            <a:lvl5pPr marL="2171700" indent="-342900" eaLnBrk="0" hangingPunct="0">
              <a:defRPr kumimoji="1" sz="2400" b="1">
                <a:solidFill>
                  <a:schemeClr val="tx1"/>
                </a:solidFill>
                <a:latin typeface="Times New Roman" pitchFamily="18" charset="0"/>
                <a:ea typeface="宋体" charset="-122"/>
              </a:defRPr>
            </a:lvl5pPr>
            <a:lvl6pPr marL="2628900" indent="-3429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086100" indent="-3429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543300" indent="-3429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000500" indent="-3429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buFontTx/>
              <a:buAutoNum type="circleNumDbPlain"/>
            </a:pPr>
            <a:r>
              <a:rPr lang="zh-CN" altLang="en-US">
                <a:solidFill>
                  <a:srgbClr val="FFFF00"/>
                </a:solidFill>
                <a:ea typeface="楷体_GB2312" pitchFamily="49" charset="-122"/>
                <a:sym typeface="Symbol" pitchFamily="18" charset="2"/>
              </a:rPr>
              <a:t>电压、电流的参考方向非关联；</a:t>
            </a:r>
            <a:r>
              <a:rPr lang="zh-CN" altLang="en-US">
                <a:solidFill>
                  <a:schemeClr val="tx2"/>
                </a:solidFill>
                <a:ea typeface="楷体_GB2312" pitchFamily="49" charset="-122"/>
                <a:sym typeface="Symbol" pitchFamily="18" charset="2"/>
              </a:rPr>
              <a:t>　　　　　　　　　　　　　　　</a:t>
            </a:r>
          </a:p>
        </p:txBody>
      </p:sp>
      <p:sp>
        <p:nvSpPr>
          <p:cNvPr id="404501" name="AutoShape 21"/>
          <p:cNvSpPr>
            <a:spLocks noChangeArrowheads="1"/>
          </p:cNvSpPr>
          <p:nvPr/>
        </p:nvSpPr>
        <p:spPr bwMode="auto">
          <a:xfrm>
            <a:off x="1855788" y="4292600"/>
            <a:ext cx="574675" cy="144463"/>
          </a:xfrm>
          <a:prstGeom prst="rightArrow">
            <a:avLst>
              <a:gd name="adj1" fmla="val 50000"/>
              <a:gd name="adj2" fmla="val 99450"/>
            </a:avLst>
          </a:prstGeom>
          <a:solidFill>
            <a:schemeClr val="hlink"/>
          </a:solidFill>
          <a:ln>
            <a:noFill/>
          </a:ln>
          <a:effectLst/>
          <a:extLs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04502" name="Text Box 22"/>
          <p:cNvSpPr txBox="1">
            <a:spLocks noChangeArrowheads="1"/>
          </p:cNvSpPr>
          <p:nvPr/>
        </p:nvSpPr>
        <p:spPr bwMode="auto">
          <a:xfrm>
            <a:off x="2484438" y="4133850"/>
            <a:ext cx="3600450" cy="45720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rgbClr val="FFFF00"/>
                </a:solidFill>
                <a:ea typeface="楷体_GB2312" pitchFamily="49" charset="-122"/>
                <a:sym typeface="Symbol" pitchFamily="18" charset="2"/>
              </a:rPr>
              <a:t>发出功率，起电源作用</a:t>
            </a:r>
          </a:p>
        </p:txBody>
      </p:sp>
      <p:graphicFrame>
        <p:nvGraphicFramePr>
          <p:cNvPr id="404503" name="Object 23"/>
          <p:cNvGraphicFramePr>
            <a:graphicFrameLocks noChangeAspect="1"/>
          </p:cNvGraphicFramePr>
          <p:nvPr/>
        </p:nvGraphicFramePr>
        <p:xfrm>
          <a:off x="746125" y="4122738"/>
          <a:ext cx="968375" cy="482600"/>
        </p:xfrm>
        <a:graphic>
          <a:graphicData uri="http://schemas.openxmlformats.org/presentationml/2006/ole">
            <mc:AlternateContent xmlns:mc="http://schemas.openxmlformats.org/markup-compatibility/2006">
              <mc:Choice xmlns:v="urn:schemas-microsoft-com:vml" Requires="v">
                <p:oleObj spid="_x0000_s136226" name="Equation" r:id="rId7" imgW="399915" imgH="190564" progId="Equation.DSMT4">
                  <p:embed/>
                </p:oleObj>
              </mc:Choice>
              <mc:Fallback>
                <p:oleObj name="Equation" r:id="rId7" imgW="399915" imgH="190564"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6125" y="4122738"/>
                        <a:ext cx="96837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4504" name="Text Box 24"/>
          <p:cNvSpPr txBox="1">
            <a:spLocks noChangeArrowheads="1"/>
          </p:cNvSpPr>
          <p:nvPr/>
        </p:nvSpPr>
        <p:spPr bwMode="auto">
          <a:xfrm>
            <a:off x="981075" y="4754563"/>
            <a:ext cx="5103813" cy="457200"/>
          </a:xfrm>
          <a:prstGeom prst="rect">
            <a:avLst/>
          </a:prstGeom>
          <a:solidFill>
            <a:schemeClr val="accent2"/>
          </a:solidFill>
          <a:ln>
            <a:noFill/>
          </a:ln>
          <a:effectLst/>
          <a:extLs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eaLnBrk="0" hangingPunct="0">
              <a:defRPr kumimoji="1" sz="2400" b="1">
                <a:solidFill>
                  <a:schemeClr val="tx1"/>
                </a:solidFill>
                <a:latin typeface="Times New Roman" pitchFamily="18" charset="0"/>
                <a:ea typeface="宋体" charset="-122"/>
              </a:defRPr>
            </a:lvl1pPr>
            <a:lvl2pPr marL="800100" indent="-342900" eaLnBrk="0" hangingPunct="0">
              <a:defRPr kumimoji="1" sz="2400" b="1">
                <a:solidFill>
                  <a:schemeClr val="tx1"/>
                </a:solidFill>
                <a:latin typeface="Times New Roman" pitchFamily="18" charset="0"/>
                <a:ea typeface="宋体" charset="-122"/>
              </a:defRPr>
            </a:lvl2pPr>
            <a:lvl3pPr marL="1257300" indent="-342900" eaLnBrk="0" hangingPunct="0">
              <a:defRPr kumimoji="1" sz="2400" b="1">
                <a:solidFill>
                  <a:schemeClr val="tx1"/>
                </a:solidFill>
                <a:latin typeface="Times New Roman" pitchFamily="18" charset="0"/>
                <a:ea typeface="宋体" charset="-122"/>
              </a:defRPr>
            </a:lvl3pPr>
            <a:lvl4pPr marL="1714500" indent="-342900" eaLnBrk="0" hangingPunct="0">
              <a:defRPr kumimoji="1" sz="2400" b="1">
                <a:solidFill>
                  <a:schemeClr val="tx1"/>
                </a:solidFill>
                <a:latin typeface="Times New Roman" pitchFamily="18" charset="0"/>
                <a:ea typeface="宋体" charset="-122"/>
              </a:defRPr>
            </a:lvl4pPr>
            <a:lvl5pPr marL="2171700" indent="-342900" eaLnBrk="0" hangingPunct="0">
              <a:defRPr kumimoji="1" sz="2400" b="1">
                <a:solidFill>
                  <a:schemeClr val="tx1"/>
                </a:solidFill>
                <a:latin typeface="Times New Roman" pitchFamily="18" charset="0"/>
                <a:ea typeface="宋体" charset="-122"/>
              </a:defRPr>
            </a:lvl5pPr>
            <a:lvl6pPr marL="2628900" indent="-342900" eaLnBrk="0" fontAlgn="base" hangingPunct="0">
              <a:spcBef>
                <a:spcPct val="0"/>
              </a:spcBef>
              <a:spcAft>
                <a:spcPct val="0"/>
              </a:spcAft>
              <a:defRPr kumimoji="1" sz="2400" b="1">
                <a:solidFill>
                  <a:schemeClr val="tx1"/>
                </a:solidFill>
                <a:latin typeface="Times New Roman" pitchFamily="18" charset="0"/>
                <a:ea typeface="宋体" charset="-122"/>
              </a:defRPr>
            </a:lvl6pPr>
            <a:lvl7pPr marL="3086100" indent="-3429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543300" indent="-342900" eaLnBrk="0" fontAlgn="base" hangingPunct="0">
              <a:spcBef>
                <a:spcPct val="0"/>
              </a:spcBef>
              <a:spcAft>
                <a:spcPct val="0"/>
              </a:spcAft>
              <a:defRPr kumimoji="1" sz="2400" b="1">
                <a:solidFill>
                  <a:schemeClr val="tx1"/>
                </a:solidFill>
                <a:latin typeface="Times New Roman" pitchFamily="18" charset="0"/>
                <a:ea typeface="宋体" charset="-122"/>
              </a:defRPr>
            </a:lvl8pPr>
            <a:lvl9pPr marL="4000500" indent="-3429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buFontTx/>
              <a:buAutoNum type="circleNumDbPlain" startAt="2"/>
            </a:pPr>
            <a:r>
              <a:rPr lang="zh-CN" altLang="en-US">
                <a:solidFill>
                  <a:srgbClr val="FFFF00"/>
                </a:solidFill>
                <a:ea typeface="楷体_GB2312" pitchFamily="49" charset="-122"/>
                <a:sym typeface="Symbol" pitchFamily="18" charset="2"/>
              </a:rPr>
              <a:t>电压、电流的参考方向关联；</a:t>
            </a:r>
            <a:r>
              <a:rPr lang="zh-CN" altLang="en-US">
                <a:solidFill>
                  <a:schemeClr val="tx2"/>
                </a:solidFill>
                <a:ea typeface="楷体_GB2312" pitchFamily="49" charset="-122"/>
                <a:sym typeface="Symbol" pitchFamily="18" charset="2"/>
              </a:rPr>
              <a:t>　　　　　　　　　　　　　　　</a:t>
            </a:r>
          </a:p>
        </p:txBody>
      </p:sp>
      <p:grpSp>
        <p:nvGrpSpPr>
          <p:cNvPr id="404505" name="Group 25"/>
          <p:cNvGrpSpPr>
            <a:grpSpLocks/>
          </p:cNvGrpSpPr>
          <p:nvPr/>
        </p:nvGrpSpPr>
        <p:grpSpPr bwMode="auto">
          <a:xfrm>
            <a:off x="6372225" y="4437063"/>
            <a:ext cx="1398588" cy="1973262"/>
            <a:chOff x="4014" y="2795"/>
            <a:chExt cx="881" cy="1243"/>
          </a:xfrm>
        </p:grpSpPr>
        <p:sp>
          <p:nvSpPr>
            <p:cNvPr id="62481" name="Line 26"/>
            <p:cNvSpPr>
              <a:spLocks noChangeShapeType="1"/>
            </p:cNvSpPr>
            <p:nvPr/>
          </p:nvSpPr>
          <p:spPr bwMode="auto">
            <a:xfrm rot="10800000">
              <a:off x="4195" y="2829"/>
              <a:ext cx="0" cy="117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482" name="Oval 27"/>
            <p:cNvSpPr>
              <a:spLocks noChangeArrowheads="1"/>
            </p:cNvSpPr>
            <p:nvPr/>
          </p:nvSpPr>
          <p:spPr bwMode="auto">
            <a:xfrm>
              <a:off x="4014" y="3113"/>
              <a:ext cx="363" cy="363"/>
            </a:xfrm>
            <a:prstGeom prst="ellipse">
              <a:avLst/>
            </a:prstGeom>
            <a:gradFill rotWithShape="1">
              <a:gsLst>
                <a:gs pos="0">
                  <a:srgbClr val="0099FF"/>
                </a:gs>
                <a:gs pos="100000">
                  <a:srgbClr val="004776"/>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endParaRPr kumimoji="0" lang="zh-CN" altLang="zh-CN" b="0">
                <a:solidFill>
                  <a:srgbClr val="FFFF00"/>
                </a:solidFill>
                <a:latin typeface="Arial" charset="0"/>
                <a:ea typeface="仿宋_GB2312" pitchFamily="49" charset="-122"/>
              </a:endParaRPr>
            </a:p>
          </p:txBody>
        </p:sp>
        <p:sp>
          <p:nvSpPr>
            <p:cNvPr id="62483" name="Oval 28"/>
            <p:cNvSpPr>
              <a:spLocks noChangeArrowheads="1"/>
            </p:cNvSpPr>
            <p:nvPr/>
          </p:nvSpPr>
          <p:spPr bwMode="auto">
            <a:xfrm rot="10800000">
              <a:off x="4827" y="3970"/>
              <a:ext cx="68"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62484" name="Line 29"/>
            <p:cNvSpPr>
              <a:spLocks noChangeShapeType="1"/>
            </p:cNvSpPr>
            <p:nvPr/>
          </p:nvSpPr>
          <p:spPr bwMode="auto">
            <a:xfrm rot="5400000">
              <a:off x="4507" y="3684"/>
              <a:ext cx="0" cy="64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485" name="Oval 30"/>
            <p:cNvSpPr>
              <a:spLocks noChangeArrowheads="1"/>
            </p:cNvSpPr>
            <p:nvPr/>
          </p:nvSpPr>
          <p:spPr bwMode="auto">
            <a:xfrm rot="10800000">
              <a:off x="4827" y="2795"/>
              <a:ext cx="68"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62486" name="Line 31"/>
            <p:cNvSpPr>
              <a:spLocks noChangeShapeType="1"/>
            </p:cNvSpPr>
            <p:nvPr/>
          </p:nvSpPr>
          <p:spPr bwMode="auto">
            <a:xfrm rot="5400000">
              <a:off x="4507" y="2509"/>
              <a:ext cx="0" cy="64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2487" name="Text Box 32"/>
            <p:cNvSpPr txBox="1">
              <a:spLocks noChangeArrowheads="1"/>
            </p:cNvSpPr>
            <p:nvPr/>
          </p:nvSpPr>
          <p:spPr bwMode="auto">
            <a:xfrm>
              <a:off x="4662" y="3267"/>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sym typeface="Symbol" pitchFamily="18" charset="2"/>
                </a:rPr>
                <a:t>v</a:t>
              </a:r>
            </a:p>
          </p:txBody>
        </p:sp>
        <p:sp>
          <p:nvSpPr>
            <p:cNvPr id="62488" name="Text Box 33"/>
            <p:cNvSpPr txBox="1">
              <a:spLocks noChangeArrowheads="1"/>
            </p:cNvSpPr>
            <p:nvPr/>
          </p:nvSpPr>
          <p:spPr bwMode="auto">
            <a:xfrm rot="10800000">
              <a:off x="4627" y="2835"/>
              <a:ext cx="2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sym typeface="Symbol" pitchFamily="18" charset="2"/>
                </a:rPr>
                <a:t>+</a:t>
              </a:r>
            </a:p>
          </p:txBody>
        </p:sp>
        <p:sp>
          <p:nvSpPr>
            <p:cNvPr id="62489" name="Text Box 34"/>
            <p:cNvSpPr txBox="1">
              <a:spLocks noChangeArrowheads="1"/>
            </p:cNvSpPr>
            <p:nvPr/>
          </p:nvSpPr>
          <p:spPr bwMode="auto">
            <a:xfrm>
              <a:off x="4649" y="3604"/>
              <a:ext cx="1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sym typeface="Symbol" pitchFamily="18" charset="2"/>
                </a:rPr>
                <a:t>_</a:t>
              </a:r>
            </a:p>
          </p:txBody>
        </p:sp>
        <p:graphicFrame>
          <p:nvGraphicFramePr>
            <p:cNvPr id="62490" name="Object 35"/>
            <p:cNvGraphicFramePr>
              <a:graphicFrameLocks noChangeAspect="1"/>
            </p:cNvGraphicFramePr>
            <p:nvPr/>
          </p:nvGraphicFramePr>
          <p:xfrm>
            <a:off x="4410" y="2925"/>
            <a:ext cx="186" cy="321"/>
          </p:xfrm>
          <a:graphic>
            <a:graphicData uri="http://schemas.openxmlformats.org/presentationml/2006/ole">
              <mc:AlternateContent xmlns:mc="http://schemas.openxmlformats.org/markup-compatibility/2006">
                <mc:Choice xmlns:v="urn:schemas-microsoft-com:vml" Requires="v">
                  <p:oleObj spid="_x0000_s136227" name="公式" r:id="rId9" imgW="133305" imgH="228677" progId="Equation.3">
                    <p:embed/>
                  </p:oleObj>
                </mc:Choice>
                <mc:Fallback>
                  <p:oleObj name="公式" r:id="rId9" imgW="133305" imgH="22867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0" y="2925"/>
                          <a:ext cx="186" cy="321"/>
                        </a:xfrm>
                        <a:prstGeom prst="rect">
                          <a:avLst/>
                        </a:prstGeom>
                        <a:solidFill>
                          <a:srgbClr val="6666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91" name="Line 36"/>
            <p:cNvSpPr>
              <a:spLocks noChangeShapeType="1"/>
            </p:cNvSpPr>
            <p:nvPr/>
          </p:nvSpPr>
          <p:spPr bwMode="auto">
            <a:xfrm>
              <a:off x="4014" y="3294"/>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2492" name="Line 37"/>
            <p:cNvSpPr>
              <a:spLocks noChangeShapeType="1"/>
            </p:cNvSpPr>
            <p:nvPr/>
          </p:nvSpPr>
          <p:spPr bwMode="auto">
            <a:xfrm flipV="1">
              <a:off x="4195" y="3566"/>
              <a:ext cx="0" cy="317"/>
            </a:xfrm>
            <a:prstGeom prst="line">
              <a:avLst/>
            </a:prstGeom>
            <a:noFill/>
            <a:ln w="28575" cap="sq">
              <a:solidFill>
                <a:srgbClr val="00FF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grpSp>
      <p:sp>
        <p:nvSpPr>
          <p:cNvPr id="404518" name="AutoShape 38"/>
          <p:cNvSpPr>
            <a:spLocks noChangeArrowheads="1"/>
          </p:cNvSpPr>
          <p:nvPr/>
        </p:nvSpPr>
        <p:spPr bwMode="auto">
          <a:xfrm>
            <a:off x="1855788" y="5661025"/>
            <a:ext cx="574675" cy="142875"/>
          </a:xfrm>
          <a:prstGeom prst="rightArrow">
            <a:avLst>
              <a:gd name="adj1" fmla="val 50000"/>
              <a:gd name="adj2" fmla="val 113330"/>
            </a:avLst>
          </a:prstGeom>
          <a:solidFill>
            <a:schemeClr val="hlink"/>
          </a:solidFill>
          <a:ln>
            <a:noFill/>
          </a:ln>
          <a:effectLst/>
          <a:extLst>
            <a:ext uri="{91240B29-F687-4F45-9708-019B960494DF}">
              <a14:hiddenLine xmlns:a14="http://schemas.microsoft.com/office/drawing/2010/main" w="9525" algn="ctr">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404519" name="Text Box 39"/>
          <p:cNvSpPr txBox="1">
            <a:spLocks noChangeArrowheads="1"/>
          </p:cNvSpPr>
          <p:nvPr/>
        </p:nvSpPr>
        <p:spPr bwMode="auto">
          <a:xfrm>
            <a:off x="2565400" y="5492750"/>
            <a:ext cx="3529013" cy="457200"/>
          </a:xfrm>
          <a:prstGeom prst="rect">
            <a:avLst/>
          </a:prstGeom>
          <a:solidFill>
            <a:srgbClr val="00B0F0"/>
          </a:solidFill>
          <a:ln w="9525" algn="ctr">
            <a:solidFill>
              <a:schemeClr val="tx1"/>
            </a:solidFill>
            <a:miter lim="800000"/>
            <a:headEnd/>
            <a:tailEnd/>
          </a:ln>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r>
              <a:rPr lang="zh-CN" altLang="en-US">
                <a:solidFill>
                  <a:srgbClr val="FFFF00"/>
                </a:solidFill>
                <a:ea typeface="楷体_GB2312" pitchFamily="49" charset="-122"/>
                <a:sym typeface="Symbol" pitchFamily="18" charset="2"/>
              </a:rPr>
              <a:t>吸收功率，充当负载</a:t>
            </a:r>
          </a:p>
        </p:txBody>
      </p:sp>
      <p:graphicFrame>
        <p:nvGraphicFramePr>
          <p:cNvPr id="404520" name="Object 40"/>
          <p:cNvGraphicFramePr>
            <a:graphicFrameLocks noChangeAspect="1"/>
          </p:cNvGraphicFramePr>
          <p:nvPr/>
        </p:nvGraphicFramePr>
        <p:xfrm>
          <a:off x="738188" y="5486400"/>
          <a:ext cx="912812" cy="457200"/>
        </p:xfrm>
        <a:graphic>
          <a:graphicData uri="http://schemas.openxmlformats.org/presentationml/2006/ole">
            <mc:AlternateContent xmlns:mc="http://schemas.openxmlformats.org/markup-compatibility/2006">
              <mc:Choice xmlns:v="urn:schemas-microsoft-com:vml" Requires="v">
                <p:oleObj spid="_x0000_s136228" name="Equation" r:id="rId11" imgW="399915" imgH="190564" progId="Equation.DSMT4">
                  <p:embed/>
                </p:oleObj>
              </mc:Choice>
              <mc:Fallback>
                <p:oleObj name="Equation" r:id="rId11" imgW="399915" imgH="190564"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8188" y="5486400"/>
                        <a:ext cx="9128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809339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iterate type="lt">
                                    <p:tmPct val="100000"/>
                                  </p:iterate>
                                  <p:childTnLst>
                                    <p:set>
                                      <p:cBhvr>
                                        <p:cTn id="6" dur="1" fill="hold">
                                          <p:stCondLst>
                                            <p:cond delay="0"/>
                                          </p:stCondLst>
                                        </p:cTn>
                                        <p:tgtEl>
                                          <p:spTgt spid="404482"/>
                                        </p:tgtEl>
                                        <p:attrNameLst>
                                          <p:attrName>style.visibility</p:attrName>
                                        </p:attrNameLst>
                                      </p:cBhvr>
                                      <p:to>
                                        <p:strVal val="visible"/>
                                      </p:to>
                                    </p:set>
                                    <p:anim calcmode="lin" valueType="num">
                                      <p:cBhvr>
                                        <p:cTn id="7" dur="75" fill="hold"/>
                                        <p:tgtEl>
                                          <p:spTgt spid="404482"/>
                                        </p:tgtEl>
                                        <p:attrNameLst>
                                          <p:attrName>ppt_w</p:attrName>
                                        </p:attrNameLst>
                                      </p:cBhvr>
                                      <p:tavLst>
                                        <p:tav tm="0">
                                          <p:val>
                                            <p:fltVal val="0"/>
                                          </p:val>
                                        </p:tav>
                                        <p:tav tm="100000">
                                          <p:val>
                                            <p:strVal val="#ppt_w"/>
                                          </p:val>
                                        </p:tav>
                                      </p:tavLst>
                                    </p:anim>
                                    <p:anim calcmode="lin" valueType="num">
                                      <p:cBhvr>
                                        <p:cTn id="8" dur="75" fill="hold"/>
                                        <p:tgtEl>
                                          <p:spTgt spid="40448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04484"/>
                                        </p:tgtEl>
                                        <p:attrNameLst>
                                          <p:attrName>style.visibility</p:attrName>
                                        </p:attrNameLst>
                                      </p:cBhvr>
                                      <p:to>
                                        <p:strVal val="visible"/>
                                      </p:to>
                                    </p:set>
                                    <p:animEffect transition="in" filter="blinds(horizontal)">
                                      <p:cBhvr>
                                        <p:cTn id="13" dur="500"/>
                                        <p:tgtEl>
                                          <p:spTgt spid="40448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404498"/>
                                        </p:tgtEl>
                                        <p:attrNameLst>
                                          <p:attrName>style.visibility</p:attrName>
                                        </p:attrNameLst>
                                      </p:cBhvr>
                                      <p:to>
                                        <p:strVal val="visible"/>
                                      </p:to>
                                    </p:set>
                                    <p:animEffect transition="in" filter="slide(fromLeft)">
                                      <p:cBhvr>
                                        <p:cTn id="18" dur="500"/>
                                        <p:tgtEl>
                                          <p:spTgt spid="404498"/>
                                        </p:tgtEl>
                                      </p:cBhvr>
                                    </p:animEffect>
                                  </p:childTnLst>
                                </p:cTn>
                              </p:par>
                            </p:childTnLst>
                          </p:cTn>
                        </p:par>
                        <p:par>
                          <p:cTn id="19" fill="hold" nodeType="afterGroup">
                            <p:stCondLst>
                              <p:cond delay="500"/>
                            </p:stCondLst>
                            <p:childTnLst>
                              <p:par>
                                <p:cTn id="20" presetID="3" presetClass="entr" presetSubtype="10" fill="hold" nodeType="afterEffect">
                                  <p:stCondLst>
                                    <p:cond delay="0"/>
                                  </p:stCondLst>
                                  <p:childTnLst>
                                    <p:set>
                                      <p:cBhvr>
                                        <p:cTn id="21" dur="1" fill="hold">
                                          <p:stCondLst>
                                            <p:cond delay="0"/>
                                          </p:stCondLst>
                                        </p:cTn>
                                        <p:tgtEl>
                                          <p:spTgt spid="404499"/>
                                        </p:tgtEl>
                                        <p:attrNameLst>
                                          <p:attrName>style.visibility</p:attrName>
                                        </p:attrNameLst>
                                      </p:cBhvr>
                                      <p:to>
                                        <p:strVal val="visible"/>
                                      </p:to>
                                    </p:set>
                                    <p:animEffect transition="in" filter="blinds(horizontal)">
                                      <p:cBhvr>
                                        <p:cTn id="22" dur="500"/>
                                        <p:tgtEl>
                                          <p:spTgt spid="4044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iterate type="lt">
                                    <p:tmPct val="100000"/>
                                  </p:iterate>
                                  <p:childTnLst>
                                    <p:set>
                                      <p:cBhvr>
                                        <p:cTn id="26" dur="1" fill="hold">
                                          <p:stCondLst>
                                            <p:cond delay="0"/>
                                          </p:stCondLst>
                                        </p:cTn>
                                        <p:tgtEl>
                                          <p:spTgt spid="404500"/>
                                        </p:tgtEl>
                                        <p:attrNameLst>
                                          <p:attrName>style.visibility</p:attrName>
                                        </p:attrNameLst>
                                      </p:cBhvr>
                                      <p:to>
                                        <p:strVal val="visible"/>
                                      </p:to>
                                    </p:set>
                                    <p:animEffect transition="in" filter="strips(downRight)">
                                      <p:cBhvr>
                                        <p:cTn id="27" dur="75"/>
                                        <p:tgtEl>
                                          <p:spTgt spid="4045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3" presetClass="entr" presetSubtype="16" fill="hold" nodeType="clickEffect">
                                  <p:stCondLst>
                                    <p:cond delay="0"/>
                                  </p:stCondLst>
                                  <p:childTnLst>
                                    <p:set>
                                      <p:cBhvr>
                                        <p:cTn id="31" dur="1" fill="hold">
                                          <p:stCondLst>
                                            <p:cond delay="0"/>
                                          </p:stCondLst>
                                        </p:cTn>
                                        <p:tgtEl>
                                          <p:spTgt spid="404485"/>
                                        </p:tgtEl>
                                        <p:attrNameLst>
                                          <p:attrName>style.visibility</p:attrName>
                                        </p:attrNameLst>
                                      </p:cBhvr>
                                      <p:to>
                                        <p:strVal val="visible"/>
                                      </p:to>
                                    </p:set>
                                    <p:animEffect transition="in" filter="plus(in)">
                                      <p:cBhvr>
                                        <p:cTn id="32" dur="1000"/>
                                        <p:tgtEl>
                                          <p:spTgt spid="40448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04503"/>
                                        </p:tgtEl>
                                        <p:attrNameLst>
                                          <p:attrName>style.visibility</p:attrName>
                                        </p:attrNameLst>
                                      </p:cBhvr>
                                      <p:to>
                                        <p:strVal val="visible"/>
                                      </p:to>
                                    </p:set>
                                    <p:animEffect transition="in" filter="blinds(horizontal)">
                                      <p:cBhvr>
                                        <p:cTn id="37" dur="500"/>
                                        <p:tgtEl>
                                          <p:spTgt spid="4045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404501"/>
                                        </p:tgtEl>
                                        <p:attrNameLst>
                                          <p:attrName>style.visibility</p:attrName>
                                        </p:attrNameLst>
                                      </p:cBhvr>
                                      <p:to>
                                        <p:strVal val="visible"/>
                                      </p:to>
                                    </p:set>
                                    <p:animEffect transition="in" filter="slide(fromLeft)">
                                      <p:cBhvr>
                                        <p:cTn id="42" dur="500"/>
                                        <p:tgtEl>
                                          <p:spTgt spid="404501"/>
                                        </p:tgtEl>
                                      </p:cBhvr>
                                    </p:animEffect>
                                  </p:childTnLst>
                                </p:cTn>
                              </p:par>
                            </p:childTnLst>
                          </p:cTn>
                        </p:par>
                        <p:par>
                          <p:cTn id="43" fill="hold" nodeType="afterGroup">
                            <p:stCondLst>
                              <p:cond delay="500"/>
                            </p:stCondLst>
                            <p:childTnLst>
                              <p:par>
                                <p:cTn id="44" presetID="23" presetClass="entr" presetSubtype="16" fill="hold" grpId="0" nodeType="afterEffect">
                                  <p:stCondLst>
                                    <p:cond delay="0"/>
                                  </p:stCondLst>
                                  <p:childTnLst>
                                    <p:set>
                                      <p:cBhvr>
                                        <p:cTn id="45" dur="1" fill="hold">
                                          <p:stCondLst>
                                            <p:cond delay="0"/>
                                          </p:stCondLst>
                                        </p:cTn>
                                        <p:tgtEl>
                                          <p:spTgt spid="404502"/>
                                        </p:tgtEl>
                                        <p:attrNameLst>
                                          <p:attrName>style.visibility</p:attrName>
                                        </p:attrNameLst>
                                      </p:cBhvr>
                                      <p:to>
                                        <p:strVal val="visible"/>
                                      </p:to>
                                    </p:set>
                                    <p:anim calcmode="lin" valueType="num">
                                      <p:cBhvr>
                                        <p:cTn id="46" dur="500" fill="hold"/>
                                        <p:tgtEl>
                                          <p:spTgt spid="404502"/>
                                        </p:tgtEl>
                                        <p:attrNameLst>
                                          <p:attrName>ppt_w</p:attrName>
                                        </p:attrNameLst>
                                      </p:cBhvr>
                                      <p:tavLst>
                                        <p:tav tm="0">
                                          <p:val>
                                            <p:fltVal val="0"/>
                                          </p:val>
                                        </p:tav>
                                        <p:tav tm="100000">
                                          <p:val>
                                            <p:strVal val="#ppt_w"/>
                                          </p:val>
                                        </p:tav>
                                      </p:tavLst>
                                    </p:anim>
                                    <p:anim calcmode="lin" valueType="num">
                                      <p:cBhvr>
                                        <p:cTn id="47" dur="500" fill="hold"/>
                                        <p:tgtEl>
                                          <p:spTgt spid="404502"/>
                                        </p:tgtEl>
                                        <p:attrNameLst>
                                          <p:attrName>ppt_h</p:attrName>
                                        </p:attrNameLst>
                                      </p:cBhvr>
                                      <p:tavLst>
                                        <p:tav tm="0">
                                          <p:val>
                                            <p:fltVal val="0"/>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6" fill="hold" grpId="0" nodeType="clickEffect">
                                  <p:stCondLst>
                                    <p:cond delay="0"/>
                                  </p:stCondLst>
                                  <p:iterate type="lt">
                                    <p:tmPct val="100000"/>
                                  </p:iterate>
                                  <p:childTnLst>
                                    <p:set>
                                      <p:cBhvr>
                                        <p:cTn id="51" dur="1" fill="hold">
                                          <p:stCondLst>
                                            <p:cond delay="0"/>
                                          </p:stCondLst>
                                        </p:cTn>
                                        <p:tgtEl>
                                          <p:spTgt spid="404504"/>
                                        </p:tgtEl>
                                        <p:attrNameLst>
                                          <p:attrName>style.visibility</p:attrName>
                                        </p:attrNameLst>
                                      </p:cBhvr>
                                      <p:to>
                                        <p:strVal val="visible"/>
                                      </p:to>
                                    </p:set>
                                    <p:animEffect transition="in" filter="strips(downRight)">
                                      <p:cBhvr>
                                        <p:cTn id="52" dur="75"/>
                                        <p:tgtEl>
                                          <p:spTgt spid="40450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nodeType="clickEffect">
                                  <p:stCondLst>
                                    <p:cond delay="0"/>
                                  </p:stCondLst>
                                  <p:childTnLst>
                                    <p:set>
                                      <p:cBhvr>
                                        <p:cTn id="56" dur="1" fill="hold">
                                          <p:stCondLst>
                                            <p:cond delay="0"/>
                                          </p:stCondLst>
                                        </p:cTn>
                                        <p:tgtEl>
                                          <p:spTgt spid="404505"/>
                                        </p:tgtEl>
                                        <p:attrNameLst>
                                          <p:attrName>style.visibility</p:attrName>
                                        </p:attrNameLst>
                                      </p:cBhvr>
                                      <p:to>
                                        <p:strVal val="visible"/>
                                      </p:to>
                                    </p:set>
                                    <p:anim calcmode="lin" valueType="num">
                                      <p:cBhvr additive="base">
                                        <p:cTn id="57" dur="1000" fill="hold"/>
                                        <p:tgtEl>
                                          <p:spTgt spid="404505"/>
                                        </p:tgtEl>
                                        <p:attrNameLst>
                                          <p:attrName>ppt_x</p:attrName>
                                        </p:attrNameLst>
                                      </p:cBhvr>
                                      <p:tavLst>
                                        <p:tav tm="0">
                                          <p:val>
                                            <p:strVal val="#ppt_x"/>
                                          </p:val>
                                        </p:tav>
                                        <p:tav tm="100000">
                                          <p:val>
                                            <p:strVal val="#ppt_x"/>
                                          </p:val>
                                        </p:tav>
                                      </p:tavLst>
                                    </p:anim>
                                    <p:anim calcmode="lin" valueType="num">
                                      <p:cBhvr additive="base">
                                        <p:cTn id="58" dur="1000" fill="hold"/>
                                        <p:tgtEl>
                                          <p:spTgt spid="404505"/>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404520"/>
                                        </p:tgtEl>
                                        <p:attrNameLst>
                                          <p:attrName>style.visibility</p:attrName>
                                        </p:attrNameLst>
                                      </p:cBhvr>
                                      <p:to>
                                        <p:strVal val="visible"/>
                                      </p:to>
                                    </p:set>
                                    <p:animEffect transition="in" filter="blinds(horizontal)">
                                      <p:cBhvr>
                                        <p:cTn id="63" dur="500"/>
                                        <p:tgtEl>
                                          <p:spTgt spid="40452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2" presetClass="entr" presetSubtype="8" fill="hold" grpId="0" nodeType="clickEffect">
                                  <p:stCondLst>
                                    <p:cond delay="0"/>
                                  </p:stCondLst>
                                  <p:childTnLst>
                                    <p:set>
                                      <p:cBhvr>
                                        <p:cTn id="67" dur="1" fill="hold">
                                          <p:stCondLst>
                                            <p:cond delay="0"/>
                                          </p:stCondLst>
                                        </p:cTn>
                                        <p:tgtEl>
                                          <p:spTgt spid="404518"/>
                                        </p:tgtEl>
                                        <p:attrNameLst>
                                          <p:attrName>style.visibility</p:attrName>
                                        </p:attrNameLst>
                                      </p:cBhvr>
                                      <p:to>
                                        <p:strVal val="visible"/>
                                      </p:to>
                                    </p:set>
                                    <p:animEffect transition="in" filter="slide(fromLeft)">
                                      <p:cBhvr>
                                        <p:cTn id="68" dur="500"/>
                                        <p:tgtEl>
                                          <p:spTgt spid="404518"/>
                                        </p:tgtEl>
                                      </p:cBhvr>
                                    </p:animEffect>
                                  </p:childTnLst>
                                </p:cTn>
                              </p:par>
                            </p:childTnLst>
                          </p:cTn>
                        </p:par>
                        <p:par>
                          <p:cTn id="69" fill="hold" nodeType="afterGroup">
                            <p:stCondLst>
                              <p:cond delay="500"/>
                            </p:stCondLst>
                            <p:childTnLst>
                              <p:par>
                                <p:cTn id="70" presetID="23" presetClass="entr" presetSubtype="16" fill="hold" grpId="0" nodeType="afterEffect">
                                  <p:stCondLst>
                                    <p:cond delay="0"/>
                                  </p:stCondLst>
                                  <p:childTnLst>
                                    <p:set>
                                      <p:cBhvr>
                                        <p:cTn id="71" dur="1" fill="hold">
                                          <p:stCondLst>
                                            <p:cond delay="0"/>
                                          </p:stCondLst>
                                        </p:cTn>
                                        <p:tgtEl>
                                          <p:spTgt spid="404519"/>
                                        </p:tgtEl>
                                        <p:attrNameLst>
                                          <p:attrName>style.visibility</p:attrName>
                                        </p:attrNameLst>
                                      </p:cBhvr>
                                      <p:to>
                                        <p:strVal val="visible"/>
                                      </p:to>
                                    </p:set>
                                    <p:anim calcmode="lin" valueType="num">
                                      <p:cBhvr>
                                        <p:cTn id="72" dur="500" fill="hold"/>
                                        <p:tgtEl>
                                          <p:spTgt spid="404519"/>
                                        </p:tgtEl>
                                        <p:attrNameLst>
                                          <p:attrName>ppt_w</p:attrName>
                                        </p:attrNameLst>
                                      </p:cBhvr>
                                      <p:tavLst>
                                        <p:tav tm="0">
                                          <p:val>
                                            <p:fltVal val="0"/>
                                          </p:val>
                                        </p:tav>
                                        <p:tav tm="100000">
                                          <p:val>
                                            <p:strVal val="#ppt_w"/>
                                          </p:val>
                                        </p:tav>
                                      </p:tavLst>
                                    </p:anim>
                                    <p:anim calcmode="lin" valueType="num">
                                      <p:cBhvr>
                                        <p:cTn id="73" dur="500" fill="hold"/>
                                        <p:tgtEl>
                                          <p:spTgt spid="40451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p:bldP spid="404484" grpId="0" animBg="1" autoUpdateAnimBg="0"/>
      <p:bldP spid="404498" grpId="0" animBg="1"/>
      <p:bldP spid="404500" grpId="0" animBg="1" autoUpdateAnimBg="0"/>
      <p:bldP spid="404501" grpId="0" animBg="1"/>
      <p:bldP spid="404502" grpId="0" animBg="1"/>
      <p:bldP spid="404504" grpId="0" animBg="1" autoUpdateAnimBg="0"/>
      <p:bldP spid="404518" grpId="0" animBg="1"/>
      <p:bldP spid="40451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611188" y="879475"/>
            <a:ext cx="2736850" cy="4603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buClr>
                <a:schemeClr val="tx1"/>
              </a:buClr>
            </a:pPr>
            <a:r>
              <a:rPr lang="en-US" altLang="zh-CN">
                <a:ea typeface="楷体_GB2312" pitchFamily="49" charset="-122"/>
                <a:sym typeface="Symbol" pitchFamily="18" charset="2"/>
              </a:rPr>
              <a:t>5</a:t>
            </a:r>
            <a:r>
              <a:rPr lang="zh-CN" altLang="en-US">
                <a:ea typeface="楷体_GB2312" pitchFamily="49" charset="-122"/>
                <a:sym typeface="Symbol" pitchFamily="18" charset="2"/>
              </a:rPr>
              <a:t>、实际电流源</a:t>
            </a:r>
          </a:p>
        </p:txBody>
      </p:sp>
      <p:sp>
        <p:nvSpPr>
          <p:cNvPr id="64515" name="Text Box 3"/>
          <p:cNvSpPr txBox="1">
            <a:spLocks noChangeArrowheads="1"/>
          </p:cNvSpPr>
          <p:nvPr/>
        </p:nvSpPr>
        <p:spPr bwMode="auto">
          <a:xfrm>
            <a:off x="2290763" y="3870325"/>
            <a:ext cx="4222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2000" b="0" i="1">
                <a:sym typeface="Symbol" pitchFamily="18" charset="2"/>
              </a:rPr>
              <a:t>R</a:t>
            </a:r>
            <a:r>
              <a:rPr lang="en-US" altLang="zh-CN" sz="2000" b="0" i="1" baseline="-25000">
                <a:sym typeface="Symbol" pitchFamily="18" charset="2"/>
              </a:rPr>
              <a:t>S</a:t>
            </a:r>
          </a:p>
        </p:txBody>
      </p:sp>
      <p:sp>
        <p:nvSpPr>
          <p:cNvPr id="64516" name="Line 4"/>
          <p:cNvSpPr>
            <a:spLocks noChangeShapeType="1"/>
          </p:cNvSpPr>
          <p:nvPr/>
        </p:nvSpPr>
        <p:spPr bwMode="auto">
          <a:xfrm>
            <a:off x="4814888" y="5000625"/>
            <a:ext cx="20002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4517" name="Line 5"/>
          <p:cNvSpPr>
            <a:spLocks noChangeShapeType="1"/>
          </p:cNvSpPr>
          <p:nvPr/>
        </p:nvSpPr>
        <p:spPr bwMode="auto">
          <a:xfrm>
            <a:off x="4822825" y="3390900"/>
            <a:ext cx="0" cy="1616075"/>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4518" name="Line 6"/>
          <p:cNvSpPr>
            <a:spLocks noChangeShapeType="1"/>
          </p:cNvSpPr>
          <p:nvPr/>
        </p:nvSpPr>
        <p:spPr bwMode="auto">
          <a:xfrm>
            <a:off x="4826000" y="4175125"/>
            <a:ext cx="1687513" cy="238125"/>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4519" name="Text Box 7"/>
          <p:cNvSpPr txBox="1">
            <a:spLocks noChangeArrowheads="1"/>
          </p:cNvSpPr>
          <p:nvPr/>
        </p:nvSpPr>
        <p:spPr bwMode="auto">
          <a:xfrm>
            <a:off x="6784975" y="48529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v</a:t>
            </a:r>
          </a:p>
        </p:txBody>
      </p:sp>
      <p:sp>
        <p:nvSpPr>
          <p:cNvPr id="64520" name="Text Box 8"/>
          <p:cNvSpPr txBox="1">
            <a:spLocks noChangeArrowheads="1"/>
          </p:cNvSpPr>
          <p:nvPr/>
        </p:nvSpPr>
        <p:spPr bwMode="auto">
          <a:xfrm>
            <a:off x="4475163" y="3090863"/>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ea typeface="仿宋_GB2312" pitchFamily="49" charset="-122"/>
                <a:sym typeface="Symbol" pitchFamily="18" charset="2"/>
              </a:rPr>
              <a:t>i</a:t>
            </a:r>
          </a:p>
        </p:txBody>
      </p:sp>
      <p:sp>
        <p:nvSpPr>
          <p:cNvPr id="64521" name="Text Box 9" descr="斜纹布"/>
          <p:cNvSpPr txBox="1">
            <a:spLocks noChangeArrowheads="1"/>
          </p:cNvSpPr>
          <p:nvPr/>
        </p:nvSpPr>
        <p:spPr bwMode="auto">
          <a:xfrm>
            <a:off x="4529138" y="4886325"/>
            <a:ext cx="360362" cy="457200"/>
          </a:xfrm>
          <a:prstGeom prst="rect">
            <a:avLst/>
          </a:prstGeom>
          <a:noFill/>
          <a:ln>
            <a:noFill/>
          </a:ln>
          <a:effectLst>
            <a:prstShdw prst="shdw17" dist="17961" dir="2700000">
              <a:schemeClr val="bg2"/>
            </a:prstShdw>
          </a:effectLst>
          <a:extLst>
            <a:ext uri="{909E8E84-426E-40DD-AFC4-6F175D3DCCD1}">
              <a14:hiddenFill xmlns:a14="http://schemas.microsoft.com/office/drawing/2010/main">
                <a:blipFill dpi="0" rotWithShape="0">
                  <a:blip/>
                  <a:srcRect/>
                  <a:tile tx="0" ty="0" sx="100000" sy="100000" flip="none" algn="tl"/>
                </a:blipFill>
              </a14:hiddenFill>
            </a:ext>
            <a:ext uri="{91240B29-F687-4F45-9708-019B960494DF}">
              <a14:hiddenLine xmlns:a14="http://schemas.microsoft.com/office/drawing/2010/main" w="28575" cap="sq" algn="ctr">
                <a:solidFill>
                  <a:schemeClr val="tx1"/>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spcBef>
                <a:spcPct val="50000"/>
              </a:spcBef>
            </a:pPr>
            <a:r>
              <a:rPr kumimoji="0" lang="en-US" altLang="zh-CN" b="0">
                <a:ea typeface="楷体_GB2312" pitchFamily="49" charset="-122"/>
              </a:rPr>
              <a:t>0</a:t>
            </a:r>
          </a:p>
        </p:txBody>
      </p:sp>
      <p:graphicFrame>
        <p:nvGraphicFramePr>
          <p:cNvPr id="64522" name="Object 10"/>
          <p:cNvGraphicFramePr>
            <a:graphicFrameLocks noChangeAspect="1"/>
          </p:cNvGraphicFramePr>
          <p:nvPr/>
        </p:nvGraphicFramePr>
        <p:xfrm>
          <a:off x="6699250" y="3967163"/>
          <a:ext cx="1389063" cy="895350"/>
        </p:xfrm>
        <a:graphic>
          <a:graphicData uri="http://schemas.openxmlformats.org/presentationml/2006/ole">
            <mc:AlternateContent xmlns:mc="http://schemas.openxmlformats.org/markup-compatibility/2006">
              <mc:Choice xmlns:v="urn:schemas-microsoft-com:vml" Requires="v">
                <p:oleObj spid="_x0000_s138254" name="Equation" r:id="rId3" imgW="609336" imgH="393529" progId="Equation.DSMT4">
                  <p:embed/>
                </p:oleObj>
              </mc:Choice>
              <mc:Fallback>
                <p:oleObj name="Equation" r:id="rId3" imgW="609336" imgH="393529"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9250" y="3967163"/>
                        <a:ext cx="1389063"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23" name="Text Box 11"/>
          <p:cNvSpPr txBox="1">
            <a:spLocks noChangeArrowheads="1"/>
          </p:cNvSpPr>
          <p:nvPr/>
        </p:nvSpPr>
        <p:spPr bwMode="auto">
          <a:xfrm>
            <a:off x="1055688" y="1655199"/>
            <a:ext cx="7280275" cy="858377"/>
          </a:xfrm>
          <a:prstGeom prst="rect">
            <a:avLst/>
          </a:prstGeom>
          <a:noFill/>
          <a:ln>
            <a:noFill/>
          </a:ln>
          <a:effectLs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50000"/>
              </a:lnSpc>
              <a:spcBef>
                <a:spcPct val="50000"/>
              </a:spcBef>
            </a:pPr>
            <a:r>
              <a:rPr lang="en-US" altLang="zh-CN" sz="1800" dirty="0">
                <a:latin typeface="楷体_GB2312" pitchFamily="49" charset="-122"/>
                <a:ea typeface="楷体_GB2312" pitchFamily="49" charset="-122"/>
                <a:sym typeface="Symbol" pitchFamily="18" charset="2"/>
              </a:rPr>
              <a:t>    </a:t>
            </a:r>
            <a:r>
              <a:rPr lang="zh-CN" altLang="en-US" sz="1800" dirty="0">
                <a:latin typeface="楷体_GB2312" pitchFamily="49" charset="-122"/>
                <a:ea typeface="楷体_GB2312" pitchFamily="49" charset="-122"/>
                <a:sym typeface="Symbol" pitchFamily="18" charset="2"/>
              </a:rPr>
              <a:t>实际的电流源也存在内阻，我们常用理想电流源和内阻并联的电路模型来表征实际电流源。</a:t>
            </a:r>
          </a:p>
        </p:txBody>
      </p:sp>
      <p:sp>
        <p:nvSpPr>
          <p:cNvPr id="64524" name="Line 12"/>
          <p:cNvSpPr>
            <a:spLocks noChangeShapeType="1"/>
          </p:cNvSpPr>
          <p:nvPr/>
        </p:nvSpPr>
        <p:spPr bwMode="auto">
          <a:xfrm rot="10800000">
            <a:off x="1487488" y="3224213"/>
            <a:ext cx="0" cy="1865312"/>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525" name="Oval 13"/>
          <p:cNvSpPr>
            <a:spLocks noChangeArrowheads="1"/>
          </p:cNvSpPr>
          <p:nvPr/>
        </p:nvSpPr>
        <p:spPr bwMode="auto">
          <a:xfrm>
            <a:off x="1200150" y="3675063"/>
            <a:ext cx="576263" cy="576262"/>
          </a:xfrm>
          <a:prstGeom prst="ellipse">
            <a:avLst/>
          </a:prstGeom>
          <a:gradFill rotWithShape="1">
            <a:gsLst>
              <a:gs pos="0">
                <a:srgbClr val="0099FF"/>
              </a:gs>
              <a:gs pos="100000">
                <a:srgbClr val="004776"/>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endParaRPr kumimoji="0" lang="zh-CN" altLang="zh-CN" b="0">
              <a:solidFill>
                <a:srgbClr val="FFFF00"/>
              </a:solidFill>
              <a:latin typeface="Arial" charset="0"/>
              <a:ea typeface="仿宋_GB2312" pitchFamily="49" charset="-122"/>
            </a:endParaRPr>
          </a:p>
        </p:txBody>
      </p:sp>
      <p:sp>
        <p:nvSpPr>
          <p:cNvPr id="64526" name="Oval 14"/>
          <p:cNvSpPr>
            <a:spLocks noChangeArrowheads="1"/>
          </p:cNvSpPr>
          <p:nvPr/>
        </p:nvSpPr>
        <p:spPr bwMode="auto">
          <a:xfrm rot="10800000">
            <a:off x="2928938" y="5035550"/>
            <a:ext cx="107950"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64527" name="Line 15"/>
          <p:cNvSpPr>
            <a:spLocks noChangeShapeType="1"/>
          </p:cNvSpPr>
          <p:nvPr/>
        </p:nvSpPr>
        <p:spPr bwMode="auto">
          <a:xfrm rot="5400000">
            <a:off x="2206625" y="4348163"/>
            <a:ext cx="9525" cy="147320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528" name="Oval 16"/>
          <p:cNvSpPr>
            <a:spLocks noChangeArrowheads="1"/>
          </p:cNvSpPr>
          <p:nvPr/>
        </p:nvSpPr>
        <p:spPr bwMode="auto">
          <a:xfrm rot="10800000">
            <a:off x="2928938" y="3170238"/>
            <a:ext cx="107950" cy="107950"/>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64529" name="Line 17"/>
          <p:cNvSpPr>
            <a:spLocks noChangeShapeType="1"/>
          </p:cNvSpPr>
          <p:nvPr/>
        </p:nvSpPr>
        <p:spPr bwMode="auto">
          <a:xfrm rot="5400000">
            <a:off x="2192338" y="2487613"/>
            <a:ext cx="19050" cy="145415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530" name="Text Box 18"/>
          <p:cNvSpPr txBox="1">
            <a:spLocks noChangeArrowheads="1"/>
          </p:cNvSpPr>
          <p:nvPr/>
        </p:nvSpPr>
        <p:spPr bwMode="auto">
          <a:xfrm>
            <a:off x="3028950" y="3824288"/>
            <a:ext cx="31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sym typeface="Symbol" pitchFamily="18" charset="2"/>
              </a:rPr>
              <a:t>v</a:t>
            </a:r>
          </a:p>
        </p:txBody>
      </p:sp>
      <p:sp>
        <p:nvSpPr>
          <p:cNvPr id="64531" name="Text Box 19"/>
          <p:cNvSpPr txBox="1">
            <a:spLocks noChangeArrowheads="1"/>
          </p:cNvSpPr>
          <p:nvPr/>
        </p:nvSpPr>
        <p:spPr bwMode="auto">
          <a:xfrm rot="10800000">
            <a:off x="3030538" y="3043238"/>
            <a:ext cx="390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sym typeface="Symbol" pitchFamily="18" charset="2"/>
              </a:rPr>
              <a:t>+</a:t>
            </a:r>
          </a:p>
        </p:txBody>
      </p:sp>
      <p:sp>
        <p:nvSpPr>
          <p:cNvPr id="64532" name="Text Box 20"/>
          <p:cNvSpPr txBox="1">
            <a:spLocks noChangeArrowheads="1"/>
          </p:cNvSpPr>
          <p:nvPr/>
        </p:nvSpPr>
        <p:spPr bwMode="auto">
          <a:xfrm>
            <a:off x="3055938" y="4664075"/>
            <a:ext cx="311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i="1">
                <a:sym typeface="Symbol" pitchFamily="18" charset="2"/>
              </a:rPr>
              <a:t>_</a:t>
            </a:r>
          </a:p>
        </p:txBody>
      </p:sp>
      <p:graphicFrame>
        <p:nvGraphicFramePr>
          <p:cNvPr id="64533" name="Object 21"/>
          <p:cNvGraphicFramePr>
            <a:graphicFrameLocks noChangeAspect="1"/>
          </p:cNvGraphicFramePr>
          <p:nvPr/>
        </p:nvGraphicFramePr>
        <p:xfrm>
          <a:off x="771525" y="3776663"/>
          <a:ext cx="295275" cy="509587"/>
        </p:xfrm>
        <a:graphic>
          <a:graphicData uri="http://schemas.openxmlformats.org/presentationml/2006/ole">
            <mc:AlternateContent xmlns:mc="http://schemas.openxmlformats.org/markup-compatibility/2006">
              <mc:Choice xmlns:v="urn:schemas-microsoft-com:vml" Requires="v">
                <p:oleObj spid="_x0000_s138255" name="公式" r:id="rId5" imgW="133305" imgH="228677" progId="Equation.3">
                  <p:embed/>
                </p:oleObj>
              </mc:Choice>
              <mc:Fallback>
                <p:oleObj name="公式" r:id="rId5" imgW="133305" imgH="22867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1525" y="3776663"/>
                        <a:ext cx="295275" cy="509587"/>
                      </a:xfrm>
                      <a:prstGeom prst="rect">
                        <a:avLst/>
                      </a:prstGeom>
                      <a:solidFill>
                        <a:srgbClr val="6666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34" name="Line 22"/>
          <p:cNvSpPr>
            <a:spLocks noChangeShapeType="1"/>
          </p:cNvSpPr>
          <p:nvPr/>
        </p:nvSpPr>
        <p:spPr bwMode="auto">
          <a:xfrm>
            <a:off x="1200150" y="3962400"/>
            <a:ext cx="5762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64535" name="Line 23"/>
          <p:cNvSpPr>
            <a:spLocks noChangeShapeType="1"/>
          </p:cNvSpPr>
          <p:nvPr/>
        </p:nvSpPr>
        <p:spPr bwMode="auto">
          <a:xfrm flipV="1">
            <a:off x="1487488" y="4394200"/>
            <a:ext cx="0" cy="503238"/>
          </a:xfrm>
          <a:prstGeom prst="line">
            <a:avLst/>
          </a:prstGeom>
          <a:noFill/>
          <a:ln w="28575" cap="sq">
            <a:solidFill>
              <a:srgbClr val="00FF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anchor="ctr"/>
          <a:lstStyle/>
          <a:p>
            <a:endParaRPr lang="zh-CN" altLang="en-US"/>
          </a:p>
        </p:txBody>
      </p:sp>
      <p:sp>
        <p:nvSpPr>
          <p:cNvPr id="64536" name="Line 24"/>
          <p:cNvSpPr>
            <a:spLocks noChangeShapeType="1"/>
          </p:cNvSpPr>
          <p:nvPr/>
        </p:nvSpPr>
        <p:spPr bwMode="auto">
          <a:xfrm rot="10800000">
            <a:off x="2259013" y="3205163"/>
            <a:ext cx="0" cy="1865312"/>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64537" name="Rectangle 25"/>
          <p:cNvSpPr>
            <a:spLocks noChangeArrowheads="1"/>
          </p:cNvSpPr>
          <p:nvPr/>
        </p:nvSpPr>
        <p:spPr bwMode="auto">
          <a:xfrm flipH="1">
            <a:off x="2181225" y="3867150"/>
            <a:ext cx="133350" cy="409575"/>
          </a:xfrm>
          <a:prstGeom prst="rect">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64538" name="Oval 26"/>
          <p:cNvSpPr>
            <a:spLocks noChangeArrowheads="1"/>
          </p:cNvSpPr>
          <p:nvPr/>
        </p:nvSpPr>
        <p:spPr bwMode="auto">
          <a:xfrm>
            <a:off x="2219325" y="3181350"/>
            <a:ext cx="88900" cy="10477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64539" name="Oval 27"/>
          <p:cNvSpPr>
            <a:spLocks noChangeArrowheads="1"/>
          </p:cNvSpPr>
          <p:nvPr/>
        </p:nvSpPr>
        <p:spPr bwMode="auto">
          <a:xfrm>
            <a:off x="2208213" y="5018088"/>
            <a:ext cx="88900" cy="104775"/>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Tree>
    <p:extLst>
      <p:ext uri="{BB962C8B-B14F-4D97-AF65-F5344CB8AC3E}">
        <p14:creationId xmlns:p14="http://schemas.microsoft.com/office/powerpoint/2010/main" val="295872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4523"/>
                                        </p:tgtEl>
                                        <p:attrNameLst>
                                          <p:attrName>style.visibility</p:attrName>
                                        </p:attrNameLst>
                                      </p:cBhvr>
                                      <p:to>
                                        <p:strVal val="visible"/>
                                      </p:to>
                                    </p:set>
                                    <p:animEffect transition="in" filter="barn(inVertical)">
                                      <p:cBhvr>
                                        <p:cTn id="7" dur="500"/>
                                        <p:tgtEl>
                                          <p:spTgt spid="6452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4515"/>
                                        </p:tgtEl>
                                        <p:attrNameLst>
                                          <p:attrName>style.visibility</p:attrName>
                                        </p:attrNameLst>
                                      </p:cBhvr>
                                      <p:to>
                                        <p:strVal val="visible"/>
                                      </p:to>
                                    </p:set>
                                    <p:animEffect transition="in" filter="barn(inVertical)">
                                      <p:cBhvr>
                                        <p:cTn id="12" dur="500"/>
                                        <p:tgtEl>
                                          <p:spTgt spid="64515"/>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64524"/>
                                        </p:tgtEl>
                                        <p:attrNameLst>
                                          <p:attrName>style.visibility</p:attrName>
                                        </p:attrNameLst>
                                      </p:cBhvr>
                                      <p:to>
                                        <p:strVal val="visible"/>
                                      </p:to>
                                    </p:set>
                                    <p:animEffect transition="in" filter="barn(inVertical)">
                                      <p:cBhvr>
                                        <p:cTn id="15" dur="500"/>
                                        <p:tgtEl>
                                          <p:spTgt spid="64524"/>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64525"/>
                                        </p:tgtEl>
                                        <p:attrNameLst>
                                          <p:attrName>style.visibility</p:attrName>
                                        </p:attrNameLst>
                                      </p:cBhvr>
                                      <p:to>
                                        <p:strVal val="visible"/>
                                      </p:to>
                                    </p:set>
                                    <p:animEffect transition="in" filter="barn(inVertical)">
                                      <p:cBhvr>
                                        <p:cTn id="18" dur="500"/>
                                        <p:tgtEl>
                                          <p:spTgt spid="64525"/>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64526"/>
                                        </p:tgtEl>
                                        <p:attrNameLst>
                                          <p:attrName>style.visibility</p:attrName>
                                        </p:attrNameLst>
                                      </p:cBhvr>
                                      <p:to>
                                        <p:strVal val="visible"/>
                                      </p:to>
                                    </p:set>
                                    <p:animEffect transition="in" filter="barn(inVertical)">
                                      <p:cBhvr>
                                        <p:cTn id="21" dur="500"/>
                                        <p:tgtEl>
                                          <p:spTgt spid="64526"/>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64527"/>
                                        </p:tgtEl>
                                        <p:attrNameLst>
                                          <p:attrName>style.visibility</p:attrName>
                                        </p:attrNameLst>
                                      </p:cBhvr>
                                      <p:to>
                                        <p:strVal val="visible"/>
                                      </p:to>
                                    </p:set>
                                    <p:animEffect transition="in" filter="barn(inVertical)">
                                      <p:cBhvr>
                                        <p:cTn id="24" dur="500"/>
                                        <p:tgtEl>
                                          <p:spTgt spid="64527"/>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64528"/>
                                        </p:tgtEl>
                                        <p:attrNameLst>
                                          <p:attrName>style.visibility</p:attrName>
                                        </p:attrNameLst>
                                      </p:cBhvr>
                                      <p:to>
                                        <p:strVal val="visible"/>
                                      </p:to>
                                    </p:set>
                                    <p:animEffect transition="in" filter="barn(inVertical)">
                                      <p:cBhvr>
                                        <p:cTn id="27" dur="500"/>
                                        <p:tgtEl>
                                          <p:spTgt spid="64528"/>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64529"/>
                                        </p:tgtEl>
                                        <p:attrNameLst>
                                          <p:attrName>style.visibility</p:attrName>
                                        </p:attrNameLst>
                                      </p:cBhvr>
                                      <p:to>
                                        <p:strVal val="visible"/>
                                      </p:to>
                                    </p:set>
                                    <p:animEffect transition="in" filter="barn(inVertical)">
                                      <p:cBhvr>
                                        <p:cTn id="30" dur="500"/>
                                        <p:tgtEl>
                                          <p:spTgt spid="64529"/>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64530"/>
                                        </p:tgtEl>
                                        <p:attrNameLst>
                                          <p:attrName>style.visibility</p:attrName>
                                        </p:attrNameLst>
                                      </p:cBhvr>
                                      <p:to>
                                        <p:strVal val="visible"/>
                                      </p:to>
                                    </p:set>
                                    <p:animEffect transition="in" filter="barn(inVertical)">
                                      <p:cBhvr>
                                        <p:cTn id="33" dur="500"/>
                                        <p:tgtEl>
                                          <p:spTgt spid="64530"/>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64531"/>
                                        </p:tgtEl>
                                        <p:attrNameLst>
                                          <p:attrName>style.visibility</p:attrName>
                                        </p:attrNameLst>
                                      </p:cBhvr>
                                      <p:to>
                                        <p:strVal val="visible"/>
                                      </p:to>
                                    </p:set>
                                    <p:animEffect transition="in" filter="barn(inVertical)">
                                      <p:cBhvr>
                                        <p:cTn id="36" dur="500"/>
                                        <p:tgtEl>
                                          <p:spTgt spid="64531"/>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64532"/>
                                        </p:tgtEl>
                                        <p:attrNameLst>
                                          <p:attrName>style.visibility</p:attrName>
                                        </p:attrNameLst>
                                      </p:cBhvr>
                                      <p:to>
                                        <p:strVal val="visible"/>
                                      </p:to>
                                    </p:set>
                                    <p:animEffect transition="in" filter="barn(inVertical)">
                                      <p:cBhvr>
                                        <p:cTn id="39" dur="500"/>
                                        <p:tgtEl>
                                          <p:spTgt spid="64532"/>
                                        </p:tgtEl>
                                      </p:cBhvr>
                                    </p:animEffect>
                                  </p:childTnLst>
                                </p:cTn>
                              </p:par>
                              <p:par>
                                <p:cTn id="40" presetID="16" presetClass="entr" presetSubtype="21" fill="hold" nodeType="withEffect">
                                  <p:stCondLst>
                                    <p:cond delay="0"/>
                                  </p:stCondLst>
                                  <p:childTnLst>
                                    <p:set>
                                      <p:cBhvr>
                                        <p:cTn id="41" dur="1" fill="hold">
                                          <p:stCondLst>
                                            <p:cond delay="0"/>
                                          </p:stCondLst>
                                        </p:cTn>
                                        <p:tgtEl>
                                          <p:spTgt spid="64533"/>
                                        </p:tgtEl>
                                        <p:attrNameLst>
                                          <p:attrName>style.visibility</p:attrName>
                                        </p:attrNameLst>
                                      </p:cBhvr>
                                      <p:to>
                                        <p:strVal val="visible"/>
                                      </p:to>
                                    </p:set>
                                    <p:animEffect transition="in" filter="barn(inVertical)">
                                      <p:cBhvr>
                                        <p:cTn id="42" dur="500"/>
                                        <p:tgtEl>
                                          <p:spTgt spid="64533"/>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64534"/>
                                        </p:tgtEl>
                                        <p:attrNameLst>
                                          <p:attrName>style.visibility</p:attrName>
                                        </p:attrNameLst>
                                      </p:cBhvr>
                                      <p:to>
                                        <p:strVal val="visible"/>
                                      </p:to>
                                    </p:set>
                                    <p:animEffect transition="in" filter="barn(inVertical)">
                                      <p:cBhvr>
                                        <p:cTn id="45" dur="500"/>
                                        <p:tgtEl>
                                          <p:spTgt spid="64534"/>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64535"/>
                                        </p:tgtEl>
                                        <p:attrNameLst>
                                          <p:attrName>style.visibility</p:attrName>
                                        </p:attrNameLst>
                                      </p:cBhvr>
                                      <p:to>
                                        <p:strVal val="visible"/>
                                      </p:to>
                                    </p:set>
                                    <p:animEffect transition="in" filter="barn(inVertical)">
                                      <p:cBhvr>
                                        <p:cTn id="48" dur="500"/>
                                        <p:tgtEl>
                                          <p:spTgt spid="64535"/>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64536"/>
                                        </p:tgtEl>
                                        <p:attrNameLst>
                                          <p:attrName>style.visibility</p:attrName>
                                        </p:attrNameLst>
                                      </p:cBhvr>
                                      <p:to>
                                        <p:strVal val="visible"/>
                                      </p:to>
                                    </p:set>
                                    <p:animEffect transition="in" filter="barn(inVertical)">
                                      <p:cBhvr>
                                        <p:cTn id="51" dur="500"/>
                                        <p:tgtEl>
                                          <p:spTgt spid="64536"/>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64537"/>
                                        </p:tgtEl>
                                        <p:attrNameLst>
                                          <p:attrName>style.visibility</p:attrName>
                                        </p:attrNameLst>
                                      </p:cBhvr>
                                      <p:to>
                                        <p:strVal val="visible"/>
                                      </p:to>
                                    </p:set>
                                    <p:animEffect transition="in" filter="barn(inVertical)">
                                      <p:cBhvr>
                                        <p:cTn id="54" dur="500"/>
                                        <p:tgtEl>
                                          <p:spTgt spid="64537"/>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64538"/>
                                        </p:tgtEl>
                                        <p:attrNameLst>
                                          <p:attrName>style.visibility</p:attrName>
                                        </p:attrNameLst>
                                      </p:cBhvr>
                                      <p:to>
                                        <p:strVal val="visible"/>
                                      </p:to>
                                    </p:set>
                                    <p:animEffect transition="in" filter="barn(inVertical)">
                                      <p:cBhvr>
                                        <p:cTn id="57" dur="500"/>
                                        <p:tgtEl>
                                          <p:spTgt spid="64538"/>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64539"/>
                                        </p:tgtEl>
                                        <p:attrNameLst>
                                          <p:attrName>style.visibility</p:attrName>
                                        </p:attrNameLst>
                                      </p:cBhvr>
                                      <p:to>
                                        <p:strVal val="visible"/>
                                      </p:to>
                                    </p:set>
                                    <p:animEffect transition="in" filter="barn(inVertical)">
                                      <p:cBhvr>
                                        <p:cTn id="60" dur="500"/>
                                        <p:tgtEl>
                                          <p:spTgt spid="64539"/>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64516"/>
                                        </p:tgtEl>
                                        <p:attrNameLst>
                                          <p:attrName>style.visibility</p:attrName>
                                        </p:attrNameLst>
                                      </p:cBhvr>
                                      <p:to>
                                        <p:strVal val="visible"/>
                                      </p:to>
                                    </p:set>
                                    <p:animEffect transition="in" filter="barn(inVertical)">
                                      <p:cBhvr>
                                        <p:cTn id="65" dur="500"/>
                                        <p:tgtEl>
                                          <p:spTgt spid="64516"/>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64517"/>
                                        </p:tgtEl>
                                        <p:attrNameLst>
                                          <p:attrName>style.visibility</p:attrName>
                                        </p:attrNameLst>
                                      </p:cBhvr>
                                      <p:to>
                                        <p:strVal val="visible"/>
                                      </p:to>
                                    </p:set>
                                    <p:animEffect transition="in" filter="barn(inVertical)">
                                      <p:cBhvr>
                                        <p:cTn id="68" dur="500"/>
                                        <p:tgtEl>
                                          <p:spTgt spid="64517"/>
                                        </p:tgtEl>
                                      </p:cBhvr>
                                    </p:animEffect>
                                  </p:childTnLst>
                                </p:cTn>
                              </p:par>
                              <p:par>
                                <p:cTn id="69" presetID="16" presetClass="entr" presetSubtype="21" fill="hold" grpId="0" nodeType="withEffect">
                                  <p:stCondLst>
                                    <p:cond delay="0"/>
                                  </p:stCondLst>
                                  <p:childTnLst>
                                    <p:set>
                                      <p:cBhvr>
                                        <p:cTn id="70" dur="1" fill="hold">
                                          <p:stCondLst>
                                            <p:cond delay="0"/>
                                          </p:stCondLst>
                                        </p:cTn>
                                        <p:tgtEl>
                                          <p:spTgt spid="64518"/>
                                        </p:tgtEl>
                                        <p:attrNameLst>
                                          <p:attrName>style.visibility</p:attrName>
                                        </p:attrNameLst>
                                      </p:cBhvr>
                                      <p:to>
                                        <p:strVal val="visible"/>
                                      </p:to>
                                    </p:set>
                                    <p:animEffect transition="in" filter="barn(inVertical)">
                                      <p:cBhvr>
                                        <p:cTn id="71" dur="500"/>
                                        <p:tgtEl>
                                          <p:spTgt spid="64518"/>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64519"/>
                                        </p:tgtEl>
                                        <p:attrNameLst>
                                          <p:attrName>style.visibility</p:attrName>
                                        </p:attrNameLst>
                                      </p:cBhvr>
                                      <p:to>
                                        <p:strVal val="visible"/>
                                      </p:to>
                                    </p:set>
                                    <p:animEffect transition="in" filter="barn(inVertical)">
                                      <p:cBhvr>
                                        <p:cTn id="74" dur="500"/>
                                        <p:tgtEl>
                                          <p:spTgt spid="64519"/>
                                        </p:tgtEl>
                                      </p:cBhvr>
                                    </p:animEffect>
                                  </p:childTnLst>
                                </p:cTn>
                              </p:par>
                              <p:par>
                                <p:cTn id="75" presetID="16" presetClass="entr" presetSubtype="21" fill="hold" grpId="0" nodeType="withEffect">
                                  <p:stCondLst>
                                    <p:cond delay="0"/>
                                  </p:stCondLst>
                                  <p:childTnLst>
                                    <p:set>
                                      <p:cBhvr>
                                        <p:cTn id="76" dur="1" fill="hold">
                                          <p:stCondLst>
                                            <p:cond delay="0"/>
                                          </p:stCondLst>
                                        </p:cTn>
                                        <p:tgtEl>
                                          <p:spTgt spid="64520"/>
                                        </p:tgtEl>
                                        <p:attrNameLst>
                                          <p:attrName>style.visibility</p:attrName>
                                        </p:attrNameLst>
                                      </p:cBhvr>
                                      <p:to>
                                        <p:strVal val="visible"/>
                                      </p:to>
                                    </p:set>
                                    <p:animEffect transition="in" filter="barn(inVertical)">
                                      <p:cBhvr>
                                        <p:cTn id="77" dur="500"/>
                                        <p:tgtEl>
                                          <p:spTgt spid="64520"/>
                                        </p:tgtEl>
                                      </p:cBhvr>
                                    </p:animEffect>
                                  </p:childTnLst>
                                </p:cTn>
                              </p:par>
                              <p:par>
                                <p:cTn id="78" presetID="16" presetClass="entr" presetSubtype="21" fill="hold" grpId="0" nodeType="withEffect">
                                  <p:stCondLst>
                                    <p:cond delay="0"/>
                                  </p:stCondLst>
                                  <p:childTnLst>
                                    <p:set>
                                      <p:cBhvr>
                                        <p:cTn id="79" dur="1" fill="hold">
                                          <p:stCondLst>
                                            <p:cond delay="0"/>
                                          </p:stCondLst>
                                        </p:cTn>
                                        <p:tgtEl>
                                          <p:spTgt spid="64521"/>
                                        </p:tgtEl>
                                        <p:attrNameLst>
                                          <p:attrName>style.visibility</p:attrName>
                                        </p:attrNameLst>
                                      </p:cBhvr>
                                      <p:to>
                                        <p:strVal val="visible"/>
                                      </p:to>
                                    </p:set>
                                    <p:animEffect transition="in" filter="barn(inVertical)">
                                      <p:cBhvr>
                                        <p:cTn id="80" dur="500"/>
                                        <p:tgtEl>
                                          <p:spTgt spid="64521"/>
                                        </p:tgtEl>
                                      </p:cBhvr>
                                    </p:animEffect>
                                  </p:childTnLst>
                                </p:cTn>
                              </p:par>
                              <p:par>
                                <p:cTn id="81" presetID="16" presetClass="entr" presetSubtype="21" fill="hold" nodeType="withEffect">
                                  <p:stCondLst>
                                    <p:cond delay="0"/>
                                  </p:stCondLst>
                                  <p:childTnLst>
                                    <p:set>
                                      <p:cBhvr>
                                        <p:cTn id="82" dur="1" fill="hold">
                                          <p:stCondLst>
                                            <p:cond delay="0"/>
                                          </p:stCondLst>
                                        </p:cTn>
                                        <p:tgtEl>
                                          <p:spTgt spid="64522"/>
                                        </p:tgtEl>
                                        <p:attrNameLst>
                                          <p:attrName>style.visibility</p:attrName>
                                        </p:attrNameLst>
                                      </p:cBhvr>
                                      <p:to>
                                        <p:strVal val="visible"/>
                                      </p:to>
                                    </p:set>
                                    <p:animEffect transition="in" filter="barn(inVertical)">
                                      <p:cBhvr>
                                        <p:cTn id="83" dur="500"/>
                                        <p:tgtEl>
                                          <p:spTgt spid="64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p:bldP spid="64516" grpId="0" animBg="1"/>
      <p:bldP spid="64517" grpId="0" animBg="1"/>
      <p:bldP spid="64518" grpId="0" animBg="1"/>
      <p:bldP spid="64519" grpId="0"/>
      <p:bldP spid="64520" grpId="0"/>
      <p:bldP spid="64521" grpId="0"/>
      <p:bldP spid="64523" grpId="0"/>
      <p:bldP spid="64524" grpId="0" animBg="1"/>
      <p:bldP spid="64525" grpId="0" animBg="1"/>
      <p:bldP spid="64526" grpId="0" animBg="1"/>
      <p:bldP spid="64527" grpId="0" animBg="1"/>
      <p:bldP spid="64528" grpId="0" animBg="1"/>
      <p:bldP spid="64529" grpId="0" animBg="1"/>
      <p:bldP spid="64530" grpId="0"/>
      <p:bldP spid="64531" grpId="0"/>
      <p:bldP spid="64532" grpId="0"/>
      <p:bldP spid="64534" grpId="0" animBg="1"/>
      <p:bldP spid="64535" grpId="0" animBg="1"/>
      <p:bldP spid="64536" grpId="0" animBg="1"/>
      <p:bldP spid="64537" grpId="0" animBg="1"/>
      <p:bldP spid="64538" grpId="0" animBg="1"/>
      <p:bldP spid="6453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3"/>
          <p:cNvSpPr txBox="1">
            <a:spLocks noChangeArrowheads="1"/>
          </p:cNvSpPr>
          <p:nvPr/>
        </p:nvSpPr>
        <p:spPr bwMode="auto">
          <a:xfrm>
            <a:off x="457200" y="1220788"/>
            <a:ext cx="8210550" cy="2198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1333500" indent="-13335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nSpc>
                <a:spcPct val="120000"/>
              </a:lnSpc>
              <a:spcBef>
                <a:spcPct val="50000"/>
              </a:spcBef>
            </a:pPr>
            <a:r>
              <a:rPr lang="en-US" altLang="zh-CN" dirty="0">
                <a:solidFill>
                  <a:srgbClr val="A50021"/>
                </a:solidFill>
              </a:rPr>
              <a:t>1</a:t>
            </a:r>
            <a:r>
              <a:rPr lang="zh-CN" altLang="en-US" dirty="0">
                <a:solidFill>
                  <a:srgbClr val="A50021"/>
                </a:solidFill>
              </a:rPr>
              <a:t>、定义</a:t>
            </a:r>
            <a:endParaRPr lang="zh-CN" altLang="en-US" dirty="0">
              <a:solidFill>
                <a:schemeClr val="tx2"/>
              </a:solidFill>
            </a:endParaRPr>
          </a:p>
          <a:p>
            <a:pPr>
              <a:spcBef>
                <a:spcPct val="50000"/>
              </a:spcBef>
            </a:pPr>
            <a:r>
              <a:rPr lang="zh-CN" altLang="en-US" dirty="0">
                <a:solidFill>
                  <a:schemeClr val="tx2"/>
                </a:solidFill>
              </a:rPr>
              <a:t>       电压源电压或电流源电流不是给定函数，而是受电路</a:t>
            </a:r>
          </a:p>
          <a:p>
            <a:pPr>
              <a:spcBef>
                <a:spcPct val="50000"/>
              </a:spcBef>
            </a:pPr>
            <a:r>
              <a:rPr lang="zh-CN" altLang="en-US" dirty="0">
                <a:solidFill>
                  <a:schemeClr val="tx2"/>
                </a:solidFill>
              </a:rPr>
              <a:t>某个支路的</a:t>
            </a:r>
            <a:r>
              <a:rPr lang="zh-CN" altLang="en-US" dirty="0" smtClean="0">
                <a:solidFill>
                  <a:schemeClr val="tx2"/>
                </a:solidFill>
              </a:rPr>
              <a:t>电压（或电流）控制</a:t>
            </a:r>
            <a:r>
              <a:rPr lang="zh-CN" altLang="en-US" dirty="0">
                <a:solidFill>
                  <a:schemeClr val="tx2"/>
                </a:solidFill>
              </a:rPr>
              <a:t>。</a:t>
            </a:r>
          </a:p>
          <a:p>
            <a:pPr>
              <a:spcBef>
                <a:spcPct val="50000"/>
              </a:spcBef>
            </a:pPr>
            <a:r>
              <a:rPr lang="zh-CN" altLang="en-US" dirty="0">
                <a:solidFill>
                  <a:schemeClr val="tx2"/>
                </a:solidFill>
              </a:rPr>
              <a:t>        受控源是一种线性非时变四端元件。</a:t>
            </a:r>
          </a:p>
        </p:txBody>
      </p:sp>
      <p:sp>
        <p:nvSpPr>
          <p:cNvPr id="304133" name="Text Box 5"/>
          <p:cNvSpPr txBox="1">
            <a:spLocks noChangeArrowheads="1"/>
          </p:cNvSpPr>
          <p:nvPr/>
        </p:nvSpPr>
        <p:spPr bwMode="auto">
          <a:xfrm>
            <a:off x="1385888" y="4167188"/>
            <a:ext cx="14160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chemeClr val="tx2"/>
                </a:solidFill>
              </a:rPr>
              <a:t>电路符号</a:t>
            </a:r>
            <a:endParaRPr lang="zh-CN" altLang="en-US" dirty="0">
              <a:solidFill>
                <a:srgbClr val="000000"/>
              </a:solidFill>
            </a:endParaRPr>
          </a:p>
        </p:txBody>
      </p:sp>
      <p:grpSp>
        <p:nvGrpSpPr>
          <p:cNvPr id="304163" name="Group 35"/>
          <p:cNvGrpSpPr>
            <a:grpSpLocks/>
          </p:cNvGrpSpPr>
          <p:nvPr/>
        </p:nvGrpSpPr>
        <p:grpSpPr bwMode="auto">
          <a:xfrm>
            <a:off x="3584575" y="3817938"/>
            <a:ext cx="1600200" cy="690562"/>
            <a:chOff x="2258" y="2405"/>
            <a:chExt cx="1008" cy="435"/>
          </a:xfrm>
        </p:grpSpPr>
        <p:sp>
          <p:nvSpPr>
            <p:cNvPr id="70688" name="AutoShape 7"/>
            <p:cNvSpPr>
              <a:spLocks noChangeArrowheads="1"/>
            </p:cNvSpPr>
            <p:nvPr/>
          </p:nvSpPr>
          <p:spPr bwMode="auto">
            <a:xfrm rot="5400000">
              <a:off x="2628" y="2491"/>
              <a:ext cx="267" cy="432"/>
            </a:xfrm>
            <a:prstGeom prst="diamond">
              <a:avLst/>
            </a:prstGeom>
            <a:noFill/>
            <a:ln w="28575">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89" name="Line 8"/>
            <p:cNvSpPr>
              <a:spLocks noChangeShapeType="1"/>
            </p:cNvSpPr>
            <p:nvPr/>
          </p:nvSpPr>
          <p:spPr bwMode="auto">
            <a:xfrm>
              <a:off x="2306" y="2706"/>
              <a:ext cx="91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90" name="Oval 9"/>
            <p:cNvSpPr>
              <a:spLocks noChangeArrowheads="1"/>
            </p:cNvSpPr>
            <p:nvPr/>
          </p:nvSpPr>
          <p:spPr bwMode="auto">
            <a:xfrm>
              <a:off x="3218" y="2682"/>
              <a:ext cx="48" cy="4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91" name="Oval 10"/>
            <p:cNvSpPr>
              <a:spLocks noChangeArrowheads="1"/>
            </p:cNvSpPr>
            <p:nvPr/>
          </p:nvSpPr>
          <p:spPr bwMode="auto">
            <a:xfrm>
              <a:off x="2258" y="2682"/>
              <a:ext cx="48" cy="4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92" name="Text Box 11"/>
            <p:cNvSpPr txBox="1">
              <a:spLocks noChangeArrowheads="1"/>
            </p:cNvSpPr>
            <p:nvPr/>
          </p:nvSpPr>
          <p:spPr bwMode="auto">
            <a:xfrm>
              <a:off x="2354" y="2405"/>
              <a:ext cx="24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rPr>
                <a:t>+</a:t>
              </a:r>
              <a:endParaRPr lang="en-US" altLang="zh-CN">
                <a:solidFill>
                  <a:srgbClr val="000000"/>
                </a:solidFill>
              </a:endParaRPr>
            </a:p>
          </p:txBody>
        </p:sp>
        <p:sp>
          <p:nvSpPr>
            <p:cNvPr id="70693" name="Text Box 12"/>
            <p:cNvSpPr txBox="1">
              <a:spLocks noChangeArrowheads="1"/>
            </p:cNvSpPr>
            <p:nvPr/>
          </p:nvSpPr>
          <p:spPr bwMode="auto">
            <a:xfrm>
              <a:off x="2923" y="2405"/>
              <a:ext cx="24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rPr>
                <a:t>–</a:t>
              </a:r>
              <a:endParaRPr lang="en-US" altLang="zh-CN">
                <a:solidFill>
                  <a:srgbClr val="000000"/>
                </a:solidFill>
              </a:endParaRPr>
            </a:p>
          </p:txBody>
        </p:sp>
      </p:grpSp>
      <p:sp>
        <p:nvSpPr>
          <p:cNvPr id="304141" name="Text Box 13"/>
          <p:cNvSpPr txBox="1">
            <a:spLocks noChangeArrowheads="1"/>
          </p:cNvSpPr>
          <p:nvPr/>
        </p:nvSpPr>
        <p:spPr bwMode="auto">
          <a:xfrm>
            <a:off x="3443288" y="4624388"/>
            <a:ext cx="19605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dirty="0">
                <a:solidFill>
                  <a:schemeClr val="tx2"/>
                </a:solidFill>
              </a:rPr>
              <a:t>受控电压源</a:t>
            </a:r>
            <a:endParaRPr lang="zh-CN" altLang="en-US" dirty="0">
              <a:solidFill>
                <a:srgbClr val="000000"/>
              </a:solidFill>
            </a:endParaRPr>
          </a:p>
        </p:txBody>
      </p:sp>
      <p:grpSp>
        <p:nvGrpSpPr>
          <p:cNvPr id="304180" name="Group 52"/>
          <p:cNvGrpSpPr>
            <a:grpSpLocks/>
          </p:cNvGrpSpPr>
          <p:nvPr/>
        </p:nvGrpSpPr>
        <p:grpSpPr bwMode="auto">
          <a:xfrm>
            <a:off x="6034088" y="4014788"/>
            <a:ext cx="1752600" cy="493712"/>
            <a:chOff x="3801" y="2529"/>
            <a:chExt cx="1104" cy="311"/>
          </a:xfrm>
        </p:grpSpPr>
        <p:grpSp>
          <p:nvGrpSpPr>
            <p:cNvPr id="70680" name="Group 15"/>
            <p:cNvGrpSpPr>
              <a:grpSpLocks/>
            </p:cNvGrpSpPr>
            <p:nvPr/>
          </p:nvGrpSpPr>
          <p:grpSpPr bwMode="auto">
            <a:xfrm rot="5400000">
              <a:off x="4220" y="2491"/>
              <a:ext cx="266" cy="432"/>
              <a:chOff x="1983" y="1611"/>
              <a:chExt cx="360" cy="576"/>
            </a:xfrm>
          </p:grpSpPr>
          <p:sp>
            <p:nvSpPr>
              <p:cNvPr id="70686" name="AutoShape 16"/>
              <p:cNvSpPr>
                <a:spLocks noChangeArrowheads="1"/>
              </p:cNvSpPr>
              <p:nvPr/>
            </p:nvSpPr>
            <p:spPr bwMode="auto">
              <a:xfrm>
                <a:off x="1983" y="1611"/>
                <a:ext cx="360" cy="576"/>
              </a:xfrm>
              <a:prstGeom prst="diamond">
                <a:avLst/>
              </a:prstGeom>
              <a:noFill/>
              <a:ln w="28575">
                <a:solidFill>
                  <a:srgbClr val="000000"/>
                </a:solidFill>
                <a:miter lim="800000"/>
                <a:headEnd/>
                <a:tailEnd/>
              </a:ln>
              <a:extLst>
                <a:ext uri="{909E8E84-426E-40DD-AFC4-6F175D3DCCD1}">
                  <a14:hiddenFill xmlns:a14="http://schemas.microsoft.com/office/drawing/2010/main">
                    <a:solidFill>
                      <a:schemeClr val="accent2"/>
                    </a:solidFill>
                  </a14:hiddenFill>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87" name="Line 17"/>
              <p:cNvSpPr>
                <a:spLocks noChangeShapeType="1"/>
              </p:cNvSpPr>
              <p:nvPr/>
            </p:nvSpPr>
            <p:spPr bwMode="auto">
              <a:xfrm>
                <a:off x="1986" y="1899"/>
                <a:ext cx="35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0681" name="Line 18"/>
            <p:cNvSpPr>
              <a:spLocks noChangeShapeType="1"/>
            </p:cNvSpPr>
            <p:nvPr/>
          </p:nvSpPr>
          <p:spPr bwMode="auto">
            <a:xfrm>
              <a:off x="3849" y="2707"/>
              <a:ext cx="288"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82" name="Line 19"/>
            <p:cNvSpPr>
              <a:spLocks noChangeShapeType="1"/>
            </p:cNvSpPr>
            <p:nvPr/>
          </p:nvSpPr>
          <p:spPr bwMode="auto">
            <a:xfrm>
              <a:off x="4569" y="2707"/>
              <a:ext cx="288"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83" name="Oval 20"/>
            <p:cNvSpPr>
              <a:spLocks noChangeArrowheads="1"/>
            </p:cNvSpPr>
            <p:nvPr/>
          </p:nvSpPr>
          <p:spPr bwMode="auto">
            <a:xfrm>
              <a:off x="3801" y="2683"/>
              <a:ext cx="48" cy="4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84" name="Oval 21"/>
            <p:cNvSpPr>
              <a:spLocks noChangeArrowheads="1"/>
            </p:cNvSpPr>
            <p:nvPr/>
          </p:nvSpPr>
          <p:spPr bwMode="auto">
            <a:xfrm>
              <a:off x="4857" y="2683"/>
              <a:ext cx="48" cy="4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85" name="Line 22"/>
            <p:cNvSpPr>
              <a:spLocks noChangeShapeType="1"/>
            </p:cNvSpPr>
            <p:nvPr/>
          </p:nvSpPr>
          <p:spPr bwMode="auto">
            <a:xfrm>
              <a:off x="4089" y="2529"/>
              <a:ext cx="480" cy="0"/>
            </a:xfrm>
            <a:prstGeom prst="line">
              <a:avLst/>
            </a:prstGeom>
            <a:noFill/>
            <a:ln w="28575">
              <a:solidFill>
                <a:schemeClr val="tx2"/>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04151" name="Text Box 23"/>
          <p:cNvSpPr txBox="1">
            <a:spLocks noChangeArrowheads="1"/>
          </p:cNvSpPr>
          <p:nvPr/>
        </p:nvSpPr>
        <p:spPr bwMode="auto">
          <a:xfrm>
            <a:off x="6016625" y="4624388"/>
            <a:ext cx="19605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chemeClr val="tx2"/>
                </a:solidFill>
              </a:rPr>
              <a:t>受控电流源</a:t>
            </a:r>
            <a:endParaRPr lang="zh-CN" altLang="en-US">
              <a:solidFill>
                <a:srgbClr val="000000"/>
              </a:solidFill>
            </a:endParaRPr>
          </a:p>
        </p:txBody>
      </p:sp>
      <p:grpSp>
        <p:nvGrpSpPr>
          <p:cNvPr id="304162" name="Group 34"/>
          <p:cNvGrpSpPr>
            <a:grpSpLocks/>
          </p:cNvGrpSpPr>
          <p:nvPr/>
        </p:nvGrpSpPr>
        <p:grpSpPr bwMode="auto">
          <a:xfrm>
            <a:off x="4137025" y="5356225"/>
            <a:ext cx="571500" cy="1285875"/>
            <a:chOff x="3518" y="3332"/>
            <a:chExt cx="360" cy="810"/>
          </a:xfrm>
        </p:grpSpPr>
        <p:sp>
          <p:nvSpPr>
            <p:cNvPr id="70673" name="AutoShape 27"/>
            <p:cNvSpPr>
              <a:spLocks noChangeArrowheads="1"/>
            </p:cNvSpPr>
            <p:nvPr/>
          </p:nvSpPr>
          <p:spPr bwMode="auto">
            <a:xfrm rot="5400000">
              <a:off x="3519" y="3565"/>
              <a:ext cx="358" cy="360"/>
            </a:xfrm>
            <a:prstGeom prst="diamond">
              <a:avLst/>
            </a:prstGeom>
            <a:noFill/>
            <a:ln w="28575">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74" name="Line 28"/>
            <p:cNvSpPr>
              <a:spLocks noChangeShapeType="1"/>
            </p:cNvSpPr>
            <p:nvPr/>
          </p:nvSpPr>
          <p:spPr bwMode="auto">
            <a:xfrm flipV="1">
              <a:off x="3698" y="3373"/>
              <a:ext cx="0" cy="18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75" name="Oval 29"/>
            <p:cNvSpPr>
              <a:spLocks noChangeArrowheads="1"/>
            </p:cNvSpPr>
            <p:nvPr/>
          </p:nvSpPr>
          <p:spPr bwMode="auto">
            <a:xfrm>
              <a:off x="3673" y="4094"/>
              <a:ext cx="48" cy="4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76" name="Oval 30"/>
            <p:cNvSpPr>
              <a:spLocks noChangeArrowheads="1"/>
            </p:cNvSpPr>
            <p:nvPr/>
          </p:nvSpPr>
          <p:spPr bwMode="auto">
            <a:xfrm>
              <a:off x="3673" y="3332"/>
              <a:ext cx="48" cy="4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77" name="Text Box 31"/>
            <p:cNvSpPr txBox="1">
              <a:spLocks noChangeArrowheads="1"/>
            </p:cNvSpPr>
            <p:nvPr/>
          </p:nvSpPr>
          <p:spPr bwMode="auto">
            <a:xfrm>
              <a:off x="3573" y="3545"/>
              <a:ext cx="24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rPr>
                <a:t>+</a:t>
              </a:r>
              <a:endParaRPr lang="en-US" altLang="zh-CN">
                <a:solidFill>
                  <a:srgbClr val="000000"/>
                </a:solidFill>
              </a:endParaRPr>
            </a:p>
          </p:txBody>
        </p:sp>
        <p:sp>
          <p:nvSpPr>
            <p:cNvPr id="70678" name="Text Box 32"/>
            <p:cNvSpPr txBox="1">
              <a:spLocks noChangeArrowheads="1"/>
            </p:cNvSpPr>
            <p:nvPr/>
          </p:nvSpPr>
          <p:spPr bwMode="auto">
            <a:xfrm>
              <a:off x="3564" y="3647"/>
              <a:ext cx="24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rPr>
                <a:t>–</a:t>
              </a:r>
              <a:endParaRPr lang="en-US" altLang="zh-CN">
                <a:solidFill>
                  <a:srgbClr val="000000"/>
                </a:solidFill>
              </a:endParaRPr>
            </a:p>
          </p:txBody>
        </p:sp>
        <p:sp>
          <p:nvSpPr>
            <p:cNvPr id="70679" name="Line 33"/>
            <p:cNvSpPr>
              <a:spLocks noChangeShapeType="1"/>
            </p:cNvSpPr>
            <p:nvPr/>
          </p:nvSpPr>
          <p:spPr bwMode="auto">
            <a:xfrm flipV="1">
              <a:off x="3698" y="3907"/>
              <a:ext cx="0" cy="18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04179" name="Group 51"/>
          <p:cNvGrpSpPr>
            <a:grpSpLocks/>
          </p:cNvGrpSpPr>
          <p:nvPr/>
        </p:nvGrpSpPr>
        <p:grpSpPr bwMode="auto">
          <a:xfrm>
            <a:off x="6659563" y="5392738"/>
            <a:ext cx="571500" cy="1285875"/>
            <a:chOff x="4243" y="3397"/>
            <a:chExt cx="360" cy="810"/>
          </a:xfrm>
        </p:grpSpPr>
        <p:sp>
          <p:nvSpPr>
            <p:cNvPr id="70667" name="AutoShape 43"/>
            <p:cNvSpPr>
              <a:spLocks noChangeArrowheads="1"/>
            </p:cNvSpPr>
            <p:nvPr/>
          </p:nvSpPr>
          <p:spPr bwMode="auto">
            <a:xfrm rot="5400000">
              <a:off x="4244" y="3630"/>
              <a:ext cx="358" cy="360"/>
            </a:xfrm>
            <a:prstGeom prst="diamond">
              <a:avLst/>
            </a:prstGeom>
            <a:noFill/>
            <a:ln w="28575">
              <a:solidFill>
                <a:srgbClr val="000000"/>
              </a:solidFill>
              <a:miter lim="800000"/>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68" name="Line 44"/>
            <p:cNvSpPr>
              <a:spLocks noChangeShapeType="1"/>
            </p:cNvSpPr>
            <p:nvPr/>
          </p:nvSpPr>
          <p:spPr bwMode="auto">
            <a:xfrm flipV="1">
              <a:off x="4423" y="3438"/>
              <a:ext cx="0" cy="18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9" name="Oval 45"/>
            <p:cNvSpPr>
              <a:spLocks noChangeArrowheads="1"/>
            </p:cNvSpPr>
            <p:nvPr/>
          </p:nvSpPr>
          <p:spPr bwMode="auto">
            <a:xfrm>
              <a:off x="4398" y="4159"/>
              <a:ext cx="48" cy="4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70" name="Oval 46"/>
            <p:cNvSpPr>
              <a:spLocks noChangeArrowheads="1"/>
            </p:cNvSpPr>
            <p:nvPr/>
          </p:nvSpPr>
          <p:spPr bwMode="auto">
            <a:xfrm>
              <a:off x="4398" y="3397"/>
              <a:ext cx="48" cy="48"/>
            </a:xfrm>
            <a:prstGeom prst="ellipse">
              <a:avLst/>
            </a:prstGeom>
            <a:noFill/>
            <a:ln w="28575">
              <a:solidFill>
                <a:schemeClr val="tx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0671" name="Line 49"/>
            <p:cNvSpPr>
              <a:spLocks noChangeShapeType="1"/>
            </p:cNvSpPr>
            <p:nvPr/>
          </p:nvSpPr>
          <p:spPr bwMode="auto">
            <a:xfrm flipV="1">
              <a:off x="4423" y="3972"/>
              <a:ext cx="0" cy="186"/>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72" name="Line 50"/>
            <p:cNvSpPr>
              <a:spLocks noChangeShapeType="1"/>
            </p:cNvSpPr>
            <p:nvPr/>
          </p:nvSpPr>
          <p:spPr bwMode="auto">
            <a:xfrm flipV="1">
              <a:off x="4422" y="3696"/>
              <a:ext cx="0" cy="204"/>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0666" name="Text Box 54"/>
          <p:cNvSpPr txBox="1">
            <a:spLocks noChangeArrowheads="1"/>
          </p:cNvSpPr>
          <p:nvPr/>
        </p:nvSpPr>
        <p:spPr bwMode="auto">
          <a:xfrm>
            <a:off x="306388" y="511175"/>
            <a:ext cx="79232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r>
              <a:rPr lang="zh-CN" altLang="en-US" dirty="0">
                <a:solidFill>
                  <a:srgbClr val="990033"/>
                </a:solidFill>
              </a:rPr>
              <a:t>二</a:t>
            </a:r>
            <a:r>
              <a:rPr lang="zh-CN" altLang="en-US" dirty="0" smtClean="0">
                <a:solidFill>
                  <a:srgbClr val="990033"/>
                </a:solidFill>
              </a:rPr>
              <a:t>、</a:t>
            </a:r>
            <a:r>
              <a:rPr lang="zh-CN" altLang="en-US" dirty="0">
                <a:solidFill>
                  <a:srgbClr val="990033"/>
                </a:solidFill>
              </a:rPr>
              <a:t>受</a:t>
            </a:r>
            <a:r>
              <a:rPr lang="zh-CN" altLang="en-US" dirty="0" smtClean="0">
                <a:solidFill>
                  <a:srgbClr val="990033"/>
                </a:solidFill>
              </a:rPr>
              <a:t>控电源</a:t>
            </a:r>
            <a:r>
              <a:rPr lang="zh-CN" altLang="en-US" dirty="0">
                <a:solidFill>
                  <a:srgbClr val="990033"/>
                </a:solidFill>
              </a:rPr>
              <a:t>（非独立源）（</a:t>
            </a:r>
            <a:r>
              <a:rPr lang="en-US" altLang="zh-CN" dirty="0">
                <a:solidFill>
                  <a:srgbClr val="990033"/>
                </a:solidFill>
              </a:rPr>
              <a:t>dependent sources</a:t>
            </a:r>
            <a:r>
              <a:rPr lang="zh-CN" altLang="en-US" dirty="0">
                <a:solidFill>
                  <a:srgbClr val="990033"/>
                </a:solidFill>
              </a:rPr>
              <a:t>）</a:t>
            </a:r>
          </a:p>
        </p:txBody>
      </p:sp>
    </p:spTree>
    <p:extLst>
      <p:ext uri="{BB962C8B-B14F-4D97-AF65-F5344CB8AC3E}">
        <p14:creationId xmlns:p14="http://schemas.microsoft.com/office/powerpoint/2010/main" val="415106750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0658">
                                            <p:txEl>
                                              <p:pRg st="0" end="0"/>
                                            </p:txEl>
                                          </p:spTgt>
                                        </p:tgtEl>
                                        <p:attrNameLst>
                                          <p:attrName>style.visibility</p:attrName>
                                        </p:attrNameLst>
                                      </p:cBhvr>
                                      <p:to>
                                        <p:strVal val="visible"/>
                                      </p:to>
                                    </p:set>
                                    <p:animEffect transition="in" filter="barn(inVertical)">
                                      <p:cBhvr>
                                        <p:cTn id="7" dur="500"/>
                                        <p:tgtEl>
                                          <p:spTgt spid="70658">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70658">
                                            <p:txEl>
                                              <p:pRg st="1" end="1"/>
                                            </p:txEl>
                                          </p:spTgt>
                                        </p:tgtEl>
                                        <p:attrNameLst>
                                          <p:attrName>style.visibility</p:attrName>
                                        </p:attrNameLst>
                                      </p:cBhvr>
                                      <p:to>
                                        <p:strVal val="visible"/>
                                      </p:to>
                                    </p:set>
                                    <p:animEffect transition="in" filter="barn(inVertical)">
                                      <p:cBhvr>
                                        <p:cTn id="10" dur="500"/>
                                        <p:tgtEl>
                                          <p:spTgt spid="70658">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70658">
                                            <p:txEl>
                                              <p:pRg st="2" end="2"/>
                                            </p:txEl>
                                          </p:spTgt>
                                        </p:tgtEl>
                                        <p:attrNameLst>
                                          <p:attrName>style.visibility</p:attrName>
                                        </p:attrNameLst>
                                      </p:cBhvr>
                                      <p:to>
                                        <p:strVal val="visible"/>
                                      </p:to>
                                    </p:set>
                                    <p:animEffect transition="in" filter="barn(inVertical)">
                                      <p:cBhvr>
                                        <p:cTn id="13" dur="500"/>
                                        <p:tgtEl>
                                          <p:spTgt spid="7065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70658">
                                            <p:txEl>
                                              <p:pRg st="3" end="3"/>
                                            </p:txEl>
                                          </p:spTgt>
                                        </p:tgtEl>
                                        <p:attrNameLst>
                                          <p:attrName>style.visibility</p:attrName>
                                        </p:attrNameLst>
                                      </p:cBhvr>
                                      <p:to>
                                        <p:strVal val="visible"/>
                                      </p:to>
                                    </p:set>
                                    <p:animEffect transition="in" filter="barn(inVertical)">
                                      <p:cBhvr>
                                        <p:cTn id="18" dur="500"/>
                                        <p:tgtEl>
                                          <p:spTgt spid="70658">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304133"/>
                                        </p:tgtEl>
                                        <p:attrNameLst>
                                          <p:attrName>style.visibility</p:attrName>
                                        </p:attrNameLst>
                                      </p:cBhvr>
                                      <p:to>
                                        <p:strVal val="visible"/>
                                      </p:to>
                                    </p:set>
                                    <p:animEffect transition="in" filter="barn(inVertical)">
                                      <p:cBhvr>
                                        <p:cTn id="23" dur="500"/>
                                        <p:tgtEl>
                                          <p:spTgt spid="304133"/>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304163"/>
                                        </p:tgtEl>
                                        <p:attrNameLst>
                                          <p:attrName>style.visibility</p:attrName>
                                        </p:attrNameLst>
                                      </p:cBhvr>
                                      <p:to>
                                        <p:strVal val="visible"/>
                                      </p:to>
                                    </p:set>
                                    <p:animEffect transition="in" filter="barn(inVertical)">
                                      <p:cBhvr>
                                        <p:cTn id="28" dur="500"/>
                                        <p:tgtEl>
                                          <p:spTgt spid="304163"/>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04141"/>
                                        </p:tgtEl>
                                        <p:attrNameLst>
                                          <p:attrName>style.visibility</p:attrName>
                                        </p:attrNameLst>
                                      </p:cBhvr>
                                      <p:to>
                                        <p:strVal val="visible"/>
                                      </p:to>
                                    </p:set>
                                    <p:animEffect transition="in" filter="barn(inVertical)">
                                      <p:cBhvr>
                                        <p:cTn id="31" dur="500"/>
                                        <p:tgtEl>
                                          <p:spTgt spid="304141"/>
                                        </p:tgtEl>
                                      </p:cBhvr>
                                    </p:animEffect>
                                  </p:childTnLst>
                                </p:cTn>
                              </p:par>
                              <p:par>
                                <p:cTn id="32" presetID="16" presetClass="entr" presetSubtype="21" fill="hold" nodeType="withEffect">
                                  <p:stCondLst>
                                    <p:cond delay="0"/>
                                  </p:stCondLst>
                                  <p:childTnLst>
                                    <p:set>
                                      <p:cBhvr>
                                        <p:cTn id="33" dur="1" fill="hold">
                                          <p:stCondLst>
                                            <p:cond delay="0"/>
                                          </p:stCondLst>
                                        </p:cTn>
                                        <p:tgtEl>
                                          <p:spTgt spid="304162"/>
                                        </p:tgtEl>
                                        <p:attrNameLst>
                                          <p:attrName>style.visibility</p:attrName>
                                        </p:attrNameLst>
                                      </p:cBhvr>
                                      <p:to>
                                        <p:strVal val="visible"/>
                                      </p:to>
                                    </p:set>
                                    <p:animEffect transition="in" filter="barn(inVertical)">
                                      <p:cBhvr>
                                        <p:cTn id="34" dur="500"/>
                                        <p:tgtEl>
                                          <p:spTgt spid="304162"/>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304180"/>
                                        </p:tgtEl>
                                        <p:attrNameLst>
                                          <p:attrName>style.visibility</p:attrName>
                                        </p:attrNameLst>
                                      </p:cBhvr>
                                      <p:to>
                                        <p:strVal val="visible"/>
                                      </p:to>
                                    </p:set>
                                    <p:animEffect transition="in" filter="barn(inVertical)">
                                      <p:cBhvr>
                                        <p:cTn id="39" dur="500"/>
                                        <p:tgtEl>
                                          <p:spTgt spid="304180"/>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304151"/>
                                        </p:tgtEl>
                                        <p:attrNameLst>
                                          <p:attrName>style.visibility</p:attrName>
                                        </p:attrNameLst>
                                      </p:cBhvr>
                                      <p:to>
                                        <p:strVal val="visible"/>
                                      </p:to>
                                    </p:set>
                                    <p:animEffect transition="in" filter="barn(inVertical)">
                                      <p:cBhvr>
                                        <p:cTn id="42" dur="500"/>
                                        <p:tgtEl>
                                          <p:spTgt spid="304151"/>
                                        </p:tgtEl>
                                      </p:cBhvr>
                                    </p:animEffect>
                                  </p:childTnLst>
                                </p:cTn>
                              </p:par>
                              <p:par>
                                <p:cTn id="43" presetID="16" presetClass="entr" presetSubtype="21" fill="hold" nodeType="withEffect">
                                  <p:stCondLst>
                                    <p:cond delay="0"/>
                                  </p:stCondLst>
                                  <p:childTnLst>
                                    <p:set>
                                      <p:cBhvr>
                                        <p:cTn id="44" dur="1" fill="hold">
                                          <p:stCondLst>
                                            <p:cond delay="0"/>
                                          </p:stCondLst>
                                        </p:cTn>
                                        <p:tgtEl>
                                          <p:spTgt spid="304179"/>
                                        </p:tgtEl>
                                        <p:attrNameLst>
                                          <p:attrName>style.visibility</p:attrName>
                                        </p:attrNameLst>
                                      </p:cBhvr>
                                      <p:to>
                                        <p:strVal val="visible"/>
                                      </p:to>
                                    </p:set>
                                    <p:animEffect transition="in" filter="barn(inVertical)">
                                      <p:cBhvr>
                                        <p:cTn id="45" dur="500"/>
                                        <p:tgtEl>
                                          <p:spTgt spid="304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3" grpId="0"/>
      <p:bldP spid="304141" grpId="0"/>
      <p:bldP spid="30415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3" name="Text Box 3"/>
          <p:cNvSpPr txBox="1">
            <a:spLocks noChangeArrowheads="1"/>
          </p:cNvSpPr>
          <p:nvPr/>
        </p:nvSpPr>
        <p:spPr bwMode="auto">
          <a:xfrm>
            <a:off x="236538" y="895350"/>
            <a:ext cx="84820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(1) </a:t>
            </a:r>
            <a:r>
              <a:rPr lang="zh-CN" altLang="en-US">
                <a:solidFill>
                  <a:schemeClr val="tx2"/>
                </a:solidFill>
                <a:sym typeface="Symbol" pitchFamily="18" charset="2"/>
              </a:rPr>
              <a:t>电压控制的电压源 </a:t>
            </a:r>
            <a:r>
              <a:rPr lang="en-US" altLang="zh-CN">
                <a:solidFill>
                  <a:schemeClr val="tx2"/>
                </a:solidFill>
                <a:sym typeface="Symbol" pitchFamily="18" charset="2"/>
              </a:rPr>
              <a:t>( </a:t>
            </a:r>
            <a:r>
              <a:rPr lang="en-US" altLang="zh-CN">
                <a:solidFill>
                  <a:srgbClr val="FF33CC"/>
                </a:solidFill>
                <a:sym typeface="Symbol" pitchFamily="18" charset="2"/>
              </a:rPr>
              <a:t>V</a:t>
            </a:r>
            <a:r>
              <a:rPr lang="en-US" altLang="zh-CN">
                <a:solidFill>
                  <a:schemeClr val="tx2"/>
                </a:solidFill>
                <a:sym typeface="Symbol" pitchFamily="18" charset="2"/>
              </a:rPr>
              <a:t>oltage  </a:t>
            </a:r>
            <a:r>
              <a:rPr lang="en-US" altLang="zh-CN">
                <a:solidFill>
                  <a:srgbClr val="FF33CC"/>
                </a:solidFill>
                <a:sym typeface="Symbol" pitchFamily="18" charset="2"/>
              </a:rPr>
              <a:t>C</a:t>
            </a:r>
            <a:r>
              <a:rPr lang="en-US" altLang="zh-CN">
                <a:solidFill>
                  <a:schemeClr val="tx2"/>
                </a:solidFill>
                <a:sym typeface="Symbol" pitchFamily="18" charset="2"/>
              </a:rPr>
              <a:t>ontrolled </a:t>
            </a:r>
            <a:r>
              <a:rPr lang="en-US" altLang="zh-CN">
                <a:solidFill>
                  <a:srgbClr val="FF33CC"/>
                </a:solidFill>
                <a:sym typeface="Symbol" pitchFamily="18" charset="2"/>
              </a:rPr>
              <a:t>V</a:t>
            </a:r>
            <a:r>
              <a:rPr lang="en-US" altLang="zh-CN">
                <a:solidFill>
                  <a:schemeClr val="tx2"/>
                </a:solidFill>
                <a:sym typeface="Symbol" pitchFamily="18" charset="2"/>
              </a:rPr>
              <a:t>oltage </a:t>
            </a:r>
            <a:r>
              <a:rPr lang="en-US" altLang="zh-CN">
                <a:solidFill>
                  <a:srgbClr val="FF33CC"/>
                </a:solidFill>
                <a:sym typeface="Symbol" pitchFamily="18" charset="2"/>
              </a:rPr>
              <a:t>S</a:t>
            </a:r>
            <a:r>
              <a:rPr lang="en-US" altLang="zh-CN">
                <a:solidFill>
                  <a:schemeClr val="tx2"/>
                </a:solidFill>
                <a:sym typeface="Symbol" pitchFamily="18" charset="2"/>
              </a:rPr>
              <a:t>ource )</a:t>
            </a:r>
          </a:p>
        </p:txBody>
      </p:sp>
      <p:grpSp>
        <p:nvGrpSpPr>
          <p:cNvPr id="440355" name="Group 35"/>
          <p:cNvGrpSpPr>
            <a:grpSpLocks/>
          </p:cNvGrpSpPr>
          <p:nvPr/>
        </p:nvGrpSpPr>
        <p:grpSpPr bwMode="auto">
          <a:xfrm>
            <a:off x="1022350" y="1397000"/>
            <a:ext cx="6832600" cy="2006600"/>
            <a:chOff x="672" y="2304"/>
            <a:chExt cx="4304" cy="1264"/>
          </a:xfrm>
        </p:grpSpPr>
        <p:sp>
          <p:nvSpPr>
            <p:cNvPr id="71718" name="Text Box 36"/>
            <p:cNvSpPr txBox="1">
              <a:spLocks noChangeArrowheads="1"/>
            </p:cNvSpPr>
            <p:nvPr/>
          </p:nvSpPr>
          <p:spPr bwMode="auto">
            <a:xfrm>
              <a:off x="3392" y="3208"/>
              <a:ext cx="15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a:t>
              </a:r>
              <a:r>
                <a:rPr lang="en-US" altLang="zh-CN">
                  <a:solidFill>
                    <a:schemeClr val="tx2"/>
                  </a:solidFill>
                  <a:sym typeface="Symbol" pitchFamily="18" charset="2"/>
                </a:rPr>
                <a:t> :</a:t>
              </a:r>
              <a:r>
                <a:rPr lang="zh-CN" altLang="en-US">
                  <a:solidFill>
                    <a:schemeClr val="tx2"/>
                  </a:solidFill>
                  <a:sym typeface="Symbol" pitchFamily="18" charset="2"/>
                </a:rPr>
                <a:t>电压放大倍数</a:t>
              </a:r>
            </a:p>
          </p:txBody>
        </p:sp>
        <p:grpSp>
          <p:nvGrpSpPr>
            <p:cNvPr id="71719" name="Group 37"/>
            <p:cNvGrpSpPr>
              <a:grpSpLocks/>
            </p:cNvGrpSpPr>
            <p:nvPr/>
          </p:nvGrpSpPr>
          <p:grpSpPr bwMode="auto">
            <a:xfrm>
              <a:off x="3338" y="2472"/>
              <a:ext cx="1106" cy="671"/>
              <a:chOff x="2448" y="721"/>
              <a:chExt cx="960" cy="671"/>
            </a:xfrm>
          </p:grpSpPr>
          <p:sp>
            <p:nvSpPr>
              <p:cNvPr id="71746" name="Text Box 38"/>
              <p:cNvSpPr txBox="1">
                <a:spLocks noChangeArrowheads="1"/>
              </p:cNvSpPr>
              <p:nvPr/>
            </p:nvSpPr>
            <p:spPr bwMode="auto">
              <a:xfrm>
                <a:off x="2448" y="721"/>
                <a:ext cx="466"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6000" b="0">
                    <a:solidFill>
                      <a:schemeClr val="tx2"/>
                    </a:solidFill>
                    <a:sym typeface="Symbol" pitchFamily="18" charset="2"/>
                  </a:rPr>
                  <a:t>{</a:t>
                </a:r>
                <a:endParaRPr lang="en-US" altLang="zh-CN" sz="6000">
                  <a:solidFill>
                    <a:schemeClr val="tx2"/>
                  </a:solidFill>
                  <a:sym typeface="Symbol" pitchFamily="18" charset="2"/>
                </a:endParaRPr>
              </a:p>
            </p:txBody>
          </p:sp>
          <p:sp>
            <p:nvSpPr>
              <p:cNvPr id="71747" name="Text Box 39"/>
              <p:cNvSpPr txBox="1">
                <a:spLocks noChangeArrowheads="1"/>
              </p:cNvSpPr>
              <p:nvPr/>
            </p:nvSpPr>
            <p:spPr bwMode="auto">
              <a:xfrm>
                <a:off x="2640" y="768"/>
                <a:ext cx="6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 i</a:t>
                </a:r>
                <a:r>
                  <a:rPr lang="en-US" altLang="zh-CN" baseline="-25000">
                    <a:solidFill>
                      <a:schemeClr val="tx2"/>
                    </a:solidFill>
                    <a:sym typeface="Symbol" pitchFamily="18" charset="2"/>
                  </a:rPr>
                  <a:t>1</a:t>
                </a:r>
                <a:r>
                  <a:rPr lang="en-US" altLang="zh-CN">
                    <a:solidFill>
                      <a:schemeClr val="tx2"/>
                    </a:solidFill>
                    <a:sym typeface="Symbol" pitchFamily="18" charset="2"/>
                  </a:rPr>
                  <a:t>=0</a:t>
                </a:r>
              </a:p>
            </p:txBody>
          </p:sp>
          <p:sp>
            <p:nvSpPr>
              <p:cNvPr id="71748" name="Text Box 40"/>
              <p:cNvSpPr txBox="1">
                <a:spLocks noChangeArrowheads="1"/>
              </p:cNvSpPr>
              <p:nvPr/>
            </p:nvSpPr>
            <p:spPr bwMode="auto">
              <a:xfrm>
                <a:off x="2688" y="1104"/>
                <a:ext cx="7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sym typeface="Symbol" pitchFamily="18" charset="2"/>
                  </a:rPr>
                  <a:t>v</a:t>
                </a:r>
                <a:r>
                  <a:rPr lang="en-US" altLang="zh-CN" baseline="-25000" dirty="0">
                    <a:solidFill>
                      <a:schemeClr val="tx2"/>
                    </a:solidFill>
                    <a:sym typeface="Symbol" pitchFamily="18" charset="2"/>
                  </a:rPr>
                  <a:t>2</a:t>
                </a:r>
                <a:r>
                  <a:rPr lang="en-US" altLang="zh-CN" dirty="0">
                    <a:solidFill>
                      <a:schemeClr val="tx2"/>
                    </a:solidFill>
                    <a:sym typeface="Symbol" pitchFamily="18" charset="2"/>
                  </a:rPr>
                  <a:t>= </a:t>
                </a:r>
                <a:r>
                  <a:rPr lang="en-US" altLang="zh-CN" i="1" dirty="0" smtClean="0">
                    <a:solidFill>
                      <a:schemeClr val="tx2"/>
                    </a:solidFill>
                    <a:latin typeface="Symbol" pitchFamily="18" charset="2"/>
                    <a:sym typeface="Symbol" pitchFamily="18" charset="2"/>
                  </a:rPr>
                  <a:t></a:t>
                </a:r>
                <a:r>
                  <a:rPr lang="en-US" altLang="zh-CN" i="1" dirty="0" smtClean="0">
                    <a:solidFill>
                      <a:schemeClr val="tx2"/>
                    </a:solidFill>
                    <a:sym typeface="Symbol" pitchFamily="18" charset="2"/>
                  </a:rPr>
                  <a:t>v</a:t>
                </a:r>
                <a:r>
                  <a:rPr lang="en-US" altLang="zh-CN" baseline="-25000" dirty="0" smtClean="0">
                    <a:solidFill>
                      <a:schemeClr val="tx2"/>
                    </a:solidFill>
                    <a:sym typeface="Symbol" pitchFamily="18" charset="2"/>
                  </a:rPr>
                  <a:t>1</a:t>
                </a:r>
                <a:endParaRPr lang="en-US" altLang="zh-CN" baseline="-25000" dirty="0">
                  <a:solidFill>
                    <a:schemeClr val="tx2"/>
                  </a:solidFill>
                  <a:sym typeface="Symbol" pitchFamily="18" charset="2"/>
                </a:endParaRPr>
              </a:p>
            </p:txBody>
          </p:sp>
        </p:grpSp>
        <p:grpSp>
          <p:nvGrpSpPr>
            <p:cNvPr id="71720" name="Group 41"/>
            <p:cNvGrpSpPr>
              <a:grpSpLocks/>
            </p:cNvGrpSpPr>
            <p:nvPr/>
          </p:nvGrpSpPr>
          <p:grpSpPr bwMode="auto">
            <a:xfrm>
              <a:off x="672" y="2304"/>
              <a:ext cx="1920" cy="1264"/>
              <a:chOff x="688" y="2658"/>
              <a:chExt cx="1920" cy="1264"/>
            </a:xfrm>
          </p:grpSpPr>
          <p:sp>
            <p:nvSpPr>
              <p:cNvPr id="71721" name="Text Box 42"/>
              <p:cNvSpPr txBox="1">
                <a:spLocks noChangeArrowheads="1"/>
              </p:cNvSpPr>
              <p:nvPr/>
            </p:nvSpPr>
            <p:spPr bwMode="auto">
              <a:xfrm>
                <a:off x="988" y="3634"/>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FF33CC"/>
                    </a:solidFill>
                    <a:sym typeface="Symbol" pitchFamily="18" charset="2"/>
                  </a:rPr>
                  <a:t>VCVS</a:t>
                </a:r>
                <a:endParaRPr lang="en-US" altLang="zh-CN">
                  <a:solidFill>
                    <a:schemeClr val="tx2"/>
                  </a:solidFill>
                  <a:sym typeface="Symbol" pitchFamily="18" charset="2"/>
                </a:endParaRPr>
              </a:p>
            </p:txBody>
          </p:sp>
          <p:sp>
            <p:nvSpPr>
              <p:cNvPr id="71722" name="Line 43"/>
              <p:cNvSpPr>
                <a:spLocks noChangeShapeType="1"/>
              </p:cNvSpPr>
              <p:nvPr/>
            </p:nvSpPr>
            <p:spPr bwMode="auto">
              <a:xfrm>
                <a:off x="1516" y="3418"/>
                <a:ext cx="0" cy="16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723" name="Line 44"/>
              <p:cNvSpPr>
                <a:spLocks noChangeShapeType="1"/>
              </p:cNvSpPr>
              <p:nvPr/>
            </p:nvSpPr>
            <p:spPr bwMode="auto">
              <a:xfrm>
                <a:off x="1516" y="3586"/>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724" name="Line 45"/>
              <p:cNvSpPr>
                <a:spLocks noChangeShapeType="1"/>
              </p:cNvSpPr>
              <p:nvPr/>
            </p:nvSpPr>
            <p:spPr bwMode="auto">
              <a:xfrm flipV="1">
                <a:off x="1516" y="2938"/>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725" name="Line 46"/>
              <p:cNvSpPr>
                <a:spLocks noChangeShapeType="1"/>
              </p:cNvSpPr>
              <p:nvPr/>
            </p:nvSpPr>
            <p:spPr bwMode="auto">
              <a:xfrm>
                <a:off x="1516" y="2938"/>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726" name="Text Box 47"/>
              <p:cNvSpPr txBox="1">
                <a:spLocks noChangeArrowheads="1"/>
              </p:cNvSpPr>
              <p:nvPr/>
            </p:nvSpPr>
            <p:spPr bwMode="auto">
              <a:xfrm>
                <a:off x="1540" y="3102"/>
                <a:ext cx="4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smtClean="0">
                    <a:solidFill>
                      <a:schemeClr val="tx2"/>
                    </a:solidFill>
                    <a:latin typeface="Symbol" pitchFamily="18" charset="2"/>
                    <a:sym typeface="Symbol" pitchFamily="18" charset="2"/>
                  </a:rPr>
                  <a:t></a:t>
                </a:r>
                <a:r>
                  <a:rPr lang="en-US" altLang="zh-CN" i="1" dirty="0" smtClean="0">
                    <a:solidFill>
                      <a:schemeClr val="tx2"/>
                    </a:solidFill>
                    <a:sym typeface="Symbol" pitchFamily="18" charset="2"/>
                  </a:rPr>
                  <a:t>v</a:t>
                </a:r>
                <a:r>
                  <a:rPr lang="en-US" altLang="zh-CN" baseline="-25000" dirty="0" smtClean="0">
                    <a:solidFill>
                      <a:schemeClr val="tx2"/>
                    </a:solidFill>
                    <a:sym typeface="Symbol" pitchFamily="18" charset="2"/>
                  </a:rPr>
                  <a:t>1</a:t>
                </a:r>
                <a:endParaRPr lang="en-US" altLang="zh-CN" baseline="-25000" dirty="0">
                  <a:solidFill>
                    <a:schemeClr val="tx2"/>
                  </a:solidFill>
                  <a:sym typeface="Symbol" pitchFamily="18" charset="2"/>
                </a:endParaRPr>
              </a:p>
            </p:txBody>
          </p:sp>
          <p:sp>
            <p:nvSpPr>
              <p:cNvPr id="71727" name="Text Box 48"/>
              <p:cNvSpPr txBox="1">
                <a:spLocks noChangeArrowheads="1"/>
              </p:cNvSpPr>
              <p:nvPr/>
            </p:nvSpPr>
            <p:spPr bwMode="auto">
              <a:xfrm>
                <a:off x="2320" y="2842"/>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1728" name="Text Box 49"/>
              <p:cNvSpPr txBox="1">
                <a:spLocks noChangeArrowheads="1"/>
              </p:cNvSpPr>
              <p:nvPr/>
            </p:nvSpPr>
            <p:spPr bwMode="auto">
              <a:xfrm>
                <a:off x="2320" y="3346"/>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1729" name="Text Box 50"/>
              <p:cNvSpPr txBox="1">
                <a:spLocks noChangeArrowheads="1"/>
              </p:cNvSpPr>
              <p:nvPr/>
            </p:nvSpPr>
            <p:spPr bwMode="auto">
              <a:xfrm>
                <a:off x="2284" y="313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1730" name="Line 51"/>
              <p:cNvSpPr>
                <a:spLocks noChangeShapeType="1"/>
              </p:cNvSpPr>
              <p:nvPr/>
            </p:nvSpPr>
            <p:spPr bwMode="auto">
              <a:xfrm flipH="1">
                <a:off x="1672" y="2830"/>
                <a:ext cx="264"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731" name="Line 52"/>
              <p:cNvSpPr>
                <a:spLocks noChangeShapeType="1"/>
              </p:cNvSpPr>
              <p:nvPr/>
            </p:nvSpPr>
            <p:spPr bwMode="auto">
              <a:xfrm>
                <a:off x="880" y="2938"/>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732" name="Line 53"/>
              <p:cNvSpPr>
                <a:spLocks noChangeShapeType="1"/>
              </p:cNvSpPr>
              <p:nvPr/>
            </p:nvSpPr>
            <p:spPr bwMode="auto">
              <a:xfrm>
                <a:off x="1024" y="2830"/>
                <a:ext cx="240"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733" name="Line 54"/>
              <p:cNvSpPr>
                <a:spLocks noChangeShapeType="1"/>
              </p:cNvSpPr>
              <p:nvPr/>
            </p:nvSpPr>
            <p:spPr bwMode="auto">
              <a:xfrm flipH="1" flipV="1">
                <a:off x="880" y="3586"/>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734" name="Text Box 55"/>
              <p:cNvSpPr txBox="1">
                <a:spLocks noChangeArrowheads="1"/>
              </p:cNvSpPr>
              <p:nvPr/>
            </p:nvSpPr>
            <p:spPr bwMode="auto">
              <a:xfrm>
                <a:off x="782" y="2950"/>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1735" name="Text Box 56"/>
              <p:cNvSpPr txBox="1">
                <a:spLocks noChangeArrowheads="1"/>
              </p:cNvSpPr>
              <p:nvPr/>
            </p:nvSpPr>
            <p:spPr bwMode="auto">
              <a:xfrm>
                <a:off x="772" y="3226"/>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1736" name="Text Box 57"/>
              <p:cNvSpPr txBox="1">
                <a:spLocks noChangeArrowheads="1"/>
              </p:cNvSpPr>
              <p:nvPr/>
            </p:nvSpPr>
            <p:spPr bwMode="auto">
              <a:xfrm>
                <a:off x="688" y="313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1737" name="Oval 58"/>
              <p:cNvSpPr>
                <a:spLocks noChangeArrowheads="1"/>
              </p:cNvSpPr>
              <p:nvPr/>
            </p:nvSpPr>
            <p:spPr bwMode="auto">
              <a:xfrm>
                <a:off x="832" y="291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1738" name="Oval 59"/>
              <p:cNvSpPr>
                <a:spLocks noChangeArrowheads="1"/>
              </p:cNvSpPr>
              <p:nvPr/>
            </p:nvSpPr>
            <p:spPr bwMode="auto">
              <a:xfrm>
                <a:off x="832" y="355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1739" name="Oval 60"/>
              <p:cNvSpPr>
                <a:spLocks noChangeArrowheads="1"/>
              </p:cNvSpPr>
              <p:nvPr/>
            </p:nvSpPr>
            <p:spPr bwMode="auto">
              <a:xfrm>
                <a:off x="2176" y="3568"/>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1740" name="Oval 61"/>
              <p:cNvSpPr>
                <a:spLocks noChangeArrowheads="1"/>
              </p:cNvSpPr>
              <p:nvPr/>
            </p:nvSpPr>
            <p:spPr bwMode="auto">
              <a:xfrm>
                <a:off x="2176" y="2920"/>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1741" name="AutoShape 62"/>
              <p:cNvSpPr>
                <a:spLocks noChangeArrowheads="1"/>
              </p:cNvSpPr>
              <p:nvPr/>
            </p:nvSpPr>
            <p:spPr bwMode="auto">
              <a:xfrm rot="-5400000">
                <a:off x="1355" y="3155"/>
                <a:ext cx="318" cy="196"/>
              </a:xfrm>
              <a:prstGeom prst="flowChartSort">
                <a:avLst/>
              </a:prstGeom>
              <a:noFill/>
              <a:ln w="3810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1742" name="Text Box 63"/>
              <p:cNvSpPr txBox="1">
                <a:spLocks noChangeArrowheads="1"/>
              </p:cNvSpPr>
              <p:nvPr/>
            </p:nvSpPr>
            <p:spPr bwMode="auto">
              <a:xfrm>
                <a:off x="1544" y="2946"/>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1743" name="Text Box 64"/>
              <p:cNvSpPr txBox="1">
                <a:spLocks noChangeArrowheads="1"/>
              </p:cNvSpPr>
              <p:nvPr/>
            </p:nvSpPr>
            <p:spPr bwMode="auto">
              <a:xfrm>
                <a:off x="1528" y="3202"/>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1744" name="Text Box 65"/>
              <p:cNvSpPr txBox="1">
                <a:spLocks noChangeArrowheads="1"/>
              </p:cNvSpPr>
              <p:nvPr/>
            </p:nvSpPr>
            <p:spPr bwMode="auto">
              <a:xfrm>
                <a:off x="1928" y="2658"/>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1745" name="Text Box 66"/>
              <p:cNvSpPr txBox="1">
                <a:spLocks noChangeArrowheads="1"/>
              </p:cNvSpPr>
              <p:nvPr/>
            </p:nvSpPr>
            <p:spPr bwMode="auto">
              <a:xfrm>
                <a:off x="740" y="2658"/>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grpSp>
      </p:grpSp>
      <p:sp>
        <p:nvSpPr>
          <p:cNvPr id="71684" name="Text Box 67"/>
          <p:cNvSpPr txBox="1">
            <a:spLocks noChangeArrowheads="1"/>
          </p:cNvSpPr>
          <p:nvPr/>
        </p:nvSpPr>
        <p:spPr bwMode="auto">
          <a:xfrm>
            <a:off x="522288" y="233363"/>
            <a:ext cx="2132012"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1143000" indent="-11430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lnSpc>
                <a:spcPct val="120000"/>
              </a:lnSpc>
              <a:spcBef>
                <a:spcPct val="50000"/>
              </a:spcBef>
            </a:pPr>
            <a:r>
              <a:rPr lang="en-US" altLang="zh-CN">
                <a:solidFill>
                  <a:srgbClr val="A50021"/>
                </a:solidFill>
              </a:rPr>
              <a:t>2</a:t>
            </a:r>
            <a:r>
              <a:rPr lang="zh-CN" altLang="en-US">
                <a:solidFill>
                  <a:srgbClr val="A50021"/>
                </a:solidFill>
              </a:rPr>
              <a:t>、四种类型</a:t>
            </a:r>
          </a:p>
        </p:txBody>
      </p:sp>
      <p:sp>
        <p:nvSpPr>
          <p:cNvPr id="440388" name="Text Box 68"/>
          <p:cNvSpPr txBox="1">
            <a:spLocks noChangeArrowheads="1"/>
          </p:cNvSpPr>
          <p:nvPr/>
        </p:nvSpPr>
        <p:spPr bwMode="auto">
          <a:xfrm>
            <a:off x="342900" y="3716338"/>
            <a:ext cx="84820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(2) </a:t>
            </a:r>
            <a:r>
              <a:rPr lang="zh-CN" altLang="en-US">
                <a:solidFill>
                  <a:schemeClr val="tx2"/>
                </a:solidFill>
                <a:sym typeface="Symbol" pitchFamily="18" charset="2"/>
              </a:rPr>
              <a:t>电流控制的电压源 </a:t>
            </a:r>
            <a:r>
              <a:rPr lang="en-US" altLang="zh-CN">
                <a:solidFill>
                  <a:schemeClr val="tx2"/>
                </a:solidFill>
                <a:sym typeface="Symbol" pitchFamily="18" charset="2"/>
              </a:rPr>
              <a:t>( </a:t>
            </a:r>
            <a:r>
              <a:rPr lang="en-US" altLang="zh-CN">
                <a:solidFill>
                  <a:srgbClr val="FF33CC"/>
                </a:solidFill>
                <a:sym typeface="Symbol" pitchFamily="18" charset="2"/>
              </a:rPr>
              <a:t>C</a:t>
            </a:r>
            <a:r>
              <a:rPr lang="en-US" altLang="zh-CN">
                <a:solidFill>
                  <a:schemeClr val="tx2"/>
                </a:solidFill>
                <a:sym typeface="Symbol" pitchFamily="18" charset="2"/>
              </a:rPr>
              <a:t>urrent </a:t>
            </a:r>
            <a:r>
              <a:rPr lang="en-US" altLang="zh-CN">
                <a:solidFill>
                  <a:srgbClr val="FF33CC"/>
                </a:solidFill>
                <a:sym typeface="Symbol" pitchFamily="18" charset="2"/>
              </a:rPr>
              <a:t>C</a:t>
            </a:r>
            <a:r>
              <a:rPr lang="en-US" altLang="zh-CN">
                <a:solidFill>
                  <a:schemeClr val="tx2"/>
                </a:solidFill>
                <a:sym typeface="Symbol" pitchFamily="18" charset="2"/>
              </a:rPr>
              <a:t>ontrolled </a:t>
            </a:r>
            <a:r>
              <a:rPr lang="en-US" altLang="zh-CN">
                <a:solidFill>
                  <a:srgbClr val="FF33CC"/>
                </a:solidFill>
                <a:sym typeface="Symbol" pitchFamily="18" charset="2"/>
              </a:rPr>
              <a:t>V</a:t>
            </a:r>
            <a:r>
              <a:rPr lang="en-US" altLang="zh-CN">
                <a:solidFill>
                  <a:schemeClr val="tx2"/>
                </a:solidFill>
                <a:sym typeface="Symbol" pitchFamily="18" charset="2"/>
              </a:rPr>
              <a:t>oltage </a:t>
            </a:r>
            <a:r>
              <a:rPr lang="en-US" altLang="zh-CN">
                <a:solidFill>
                  <a:srgbClr val="FF33CC"/>
                </a:solidFill>
                <a:sym typeface="Symbol" pitchFamily="18" charset="2"/>
              </a:rPr>
              <a:t>S</a:t>
            </a:r>
            <a:r>
              <a:rPr lang="en-US" altLang="zh-CN">
                <a:solidFill>
                  <a:schemeClr val="tx2"/>
                </a:solidFill>
                <a:sym typeface="Symbol" pitchFamily="18" charset="2"/>
              </a:rPr>
              <a:t>ource )</a:t>
            </a:r>
          </a:p>
        </p:txBody>
      </p:sp>
      <p:sp>
        <p:nvSpPr>
          <p:cNvPr id="440389" name="Text Box 69"/>
          <p:cNvSpPr txBox="1">
            <a:spLocks noChangeArrowheads="1"/>
          </p:cNvSpPr>
          <p:nvPr/>
        </p:nvSpPr>
        <p:spPr bwMode="auto">
          <a:xfrm>
            <a:off x="5295900" y="5838825"/>
            <a:ext cx="1981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latin typeface="Symbol" pitchFamily="18" charset="2"/>
                <a:sym typeface="Symbol" pitchFamily="18" charset="2"/>
              </a:rPr>
              <a:t>g</a:t>
            </a:r>
            <a:r>
              <a:rPr lang="en-US" altLang="zh-CN" i="1" dirty="0">
                <a:solidFill>
                  <a:schemeClr val="tx2"/>
                </a:solidFill>
                <a:sym typeface="Symbol" pitchFamily="18" charset="2"/>
              </a:rPr>
              <a:t> </a:t>
            </a:r>
            <a:r>
              <a:rPr lang="en-US" altLang="zh-CN" dirty="0" smtClean="0">
                <a:solidFill>
                  <a:schemeClr val="tx2"/>
                </a:solidFill>
                <a:sym typeface="Symbol" pitchFamily="18" charset="2"/>
              </a:rPr>
              <a:t>: </a:t>
            </a:r>
            <a:r>
              <a:rPr lang="zh-CN" altLang="en-US" dirty="0">
                <a:solidFill>
                  <a:schemeClr val="tx2"/>
                </a:solidFill>
                <a:sym typeface="Symbol" pitchFamily="18" charset="2"/>
              </a:rPr>
              <a:t>转移电阻 </a:t>
            </a:r>
          </a:p>
        </p:txBody>
      </p:sp>
      <p:grpSp>
        <p:nvGrpSpPr>
          <p:cNvPr id="440390" name="Group 70"/>
          <p:cNvGrpSpPr>
            <a:grpSpLocks/>
          </p:cNvGrpSpPr>
          <p:nvPr/>
        </p:nvGrpSpPr>
        <p:grpSpPr bwMode="auto">
          <a:xfrm>
            <a:off x="5067300" y="4554538"/>
            <a:ext cx="1524000" cy="1065212"/>
            <a:chOff x="2448" y="721"/>
            <a:chExt cx="960" cy="671"/>
          </a:xfrm>
        </p:grpSpPr>
        <p:sp>
          <p:nvSpPr>
            <p:cNvPr id="71715" name="Text Box 71"/>
            <p:cNvSpPr txBox="1">
              <a:spLocks noChangeArrowheads="1"/>
            </p:cNvSpPr>
            <p:nvPr/>
          </p:nvSpPr>
          <p:spPr bwMode="auto">
            <a:xfrm>
              <a:off x="2448" y="721"/>
              <a:ext cx="466"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6000" b="0">
                  <a:solidFill>
                    <a:schemeClr val="tx2"/>
                  </a:solidFill>
                  <a:sym typeface="Symbol" pitchFamily="18" charset="2"/>
                </a:rPr>
                <a:t>{</a:t>
              </a:r>
              <a:endParaRPr lang="en-US" altLang="zh-CN" sz="6000">
                <a:solidFill>
                  <a:schemeClr val="tx2"/>
                </a:solidFill>
                <a:sym typeface="Symbol" pitchFamily="18" charset="2"/>
              </a:endParaRPr>
            </a:p>
          </p:txBody>
        </p:sp>
        <p:sp>
          <p:nvSpPr>
            <p:cNvPr id="71716" name="Text Box 72"/>
            <p:cNvSpPr txBox="1">
              <a:spLocks noChangeArrowheads="1"/>
            </p:cNvSpPr>
            <p:nvPr/>
          </p:nvSpPr>
          <p:spPr bwMode="auto">
            <a:xfrm>
              <a:off x="2640" y="768"/>
              <a:ext cx="6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 v</a:t>
              </a:r>
              <a:r>
                <a:rPr lang="en-US" altLang="zh-CN" baseline="-25000">
                  <a:solidFill>
                    <a:schemeClr val="tx2"/>
                  </a:solidFill>
                  <a:sym typeface="Symbol" pitchFamily="18" charset="2"/>
                </a:rPr>
                <a:t>1</a:t>
              </a:r>
              <a:r>
                <a:rPr lang="en-US" altLang="zh-CN">
                  <a:solidFill>
                    <a:schemeClr val="tx2"/>
                  </a:solidFill>
                  <a:sym typeface="Symbol" pitchFamily="18" charset="2"/>
                </a:rPr>
                <a:t>=0</a:t>
              </a:r>
            </a:p>
          </p:txBody>
        </p:sp>
        <p:sp>
          <p:nvSpPr>
            <p:cNvPr id="71717" name="Text Box 73"/>
            <p:cNvSpPr txBox="1">
              <a:spLocks noChangeArrowheads="1"/>
            </p:cNvSpPr>
            <p:nvPr/>
          </p:nvSpPr>
          <p:spPr bwMode="auto">
            <a:xfrm>
              <a:off x="2688" y="1104"/>
              <a:ext cx="7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sym typeface="Symbol" pitchFamily="18" charset="2"/>
                </a:rPr>
                <a:t> v</a:t>
              </a:r>
              <a:r>
                <a:rPr lang="en-US" altLang="zh-CN" baseline="-25000" dirty="0">
                  <a:solidFill>
                    <a:schemeClr val="tx2"/>
                  </a:solidFill>
                  <a:sym typeface="Symbol" pitchFamily="18" charset="2"/>
                </a:rPr>
                <a:t>2</a:t>
              </a:r>
              <a:r>
                <a:rPr lang="en-US" altLang="zh-CN" dirty="0">
                  <a:solidFill>
                    <a:schemeClr val="tx2"/>
                  </a:solidFill>
                  <a:sym typeface="Symbol" pitchFamily="18" charset="2"/>
                </a:rPr>
                <a:t>=</a:t>
              </a:r>
              <a:r>
                <a:rPr lang="en-US" altLang="zh-CN" i="1" dirty="0">
                  <a:solidFill>
                    <a:schemeClr val="tx2"/>
                  </a:solidFill>
                  <a:sym typeface="Symbol" pitchFamily="18" charset="2"/>
                </a:rPr>
                <a:t> </a:t>
              </a:r>
              <a:r>
                <a:rPr lang="en-US" altLang="zh-CN" i="1" dirty="0">
                  <a:solidFill>
                    <a:schemeClr val="tx2"/>
                  </a:solidFill>
                  <a:latin typeface="Symbol" pitchFamily="18" charset="2"/>
                  <a:sym typeface="Symbol" pitchFamily="18" charset="2"/>
                </a:rPr>
                <a:t>g</a:t>
              </a:r>
              <a:r>
                <a:rPr lang="en-US" altLang="zh-CN" i="1" dirty="0">
                  <a:solidFill>
                    <a:schemeClr val="tx2"/>
                  </a:solidFill>
                  <a:sym typeface="Symbol" pitchFamily="18" charset="2"/>
                </a:rPr>
                <a:t> i</a:t>
              </a:r>
              <a:r>
                <a:rPr lang="en-US" altLang="zh-CN" baseline="-25000" dirty="0">
                  <a:solidFill>
                    <a:schemeClr val="tx2"/>
                  </a:solidFill>
                  <a:sym typeface="Symbol" pitchFamily="18" charset="2"/>
                </a:rPr>
                <a:t>1</a:t>
              </a:r>
            </a:p>
          </p:txBody>
        </p:sp>
      </p:grpSp>
      <p:grpSp>
        <p:nvGrpSpPr>
          <p:cNvPr id="440394" name="Group 74"/>
          <p:cNvGrpSpPr>
            <a:grpSpLocks/>
          </p:cNvGrpSpPr>
          <p:nvPr/>
        </p:nvGrpSpPr>
        <p:grpSpPr bwMode="auto">
          <a:xfrm>
            <a:off x="1033463" y="4216400"/>
            <a:ext cx="3048000" cy="2095500"/>
            <a:chOff x="632" y="2314"/>
            <a:chExt cx="1920" cy="1320"/>
          </a:xfrm>
        </p:grpSpPr>
        <p:sp>
          <p:nvSpPr>
            <p:cNvPr id="71689" name="Text Box 75"/>
            <p:cNvSpPr txBox="1">
              <a:spLocks noChangeArrowheads="1"/>
            </p:cNvSpPr>
            <p:nvPr/>
          </p:nvSpPr>
          <p:spPr bwMode="auto">
            <a:xfrm>
              <a:off x="1880" y="2314"/>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1690" name="Text Box 76"/>
            <p:cNvSpPr txBox="1">
              <a:spLocks noChangeArrowheads="1"/>
            </p:cNvSpPr>
            <p:nvPr/>
          </p:nvSpPr>
          <p:spPr bwMode="auto">
            <a:xfrm>
              <a:off x="692" y="2314"/>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1691" name="Text Box 77"/>
            <p:cNvSpPr txBox="1">
              <a:spLocks noChangeArrowheads="1"/>
            </p:cNvSpPr>
            <p:nvPr/>
          </p:nvSpPr>
          <p:spPr bwMode="auto">
            <a:xfrm>
              <a:off x="932" y="3346"/>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FF33CC"/>
                  </a:solidFill>
                  <a:sym typeface="Symbol" pitchFamily="18" charset="2"/>
                </a:rPr>
                <a:t>CCVS</a:t>
              </a:r>
              <a:endParaRPr lang="en-US" altLang="zh-CN">
                <a:solidFill>
                  <a:schemeClr val="tx2"/>
                </a:solidFill>
                <a:sym typeface="Symbol" pitchFamily="18" charset="2"/>
              </a:endParaRPr>
            </a:p>
          </p:txBody>
        </p:sp>
        <p:sp>
          <p:nvSpPr>
            <p:cNvPr id="71692" name="Line 78"/>
            <p:cNvSpPr>
              <a:spLocks noChangeShapeType="1"/>
            </p:cNvSpPr>
            <p:nvPr/>
          </p:nvSpPr>
          <p:spPr bwMode="auto">
            <a:xfrm>
              <a:off x="1460" y="3130"/>
              <a:ext cx="0" cy="16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693" name="Line 79"/>
            <p:cNvSpPr>
              <a:spLocks noChangeShapeType="1"/>
            </p:cNvSpPr>
            <p:nvPr/>
          </p:nvSpPr>
          <p:spPr bwMode="auto">
            <a:xfrm>
              <a:off x="1460" y="3298"/>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694" name="Line 80"/>
            <p:cNvSpPr>
              <a:spLocks noChangeShapeType="1"/>
            </p:cNvSpPr>
            <p:nvPr/>
          </p:nvSpPr>
          <p:spPr bwMode="auto">
            <a:xfrm flipV="1">
              <a:off x="1460" y="2650"/>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695" name="Line 81"/>
            <p:cNvSpPr>
              <a:spLocks noChangeShapeType="1"/>
            </p:cNvSpPr>
            <p:nvPr/>
          </p:nvSpPr>
          <p:spPr bwMode="auto">
            <a:xfrm>
              <a:off x="1460" y="2650"/>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696" name="Text Box 82"/>
            <p:cNvSpPr txBox="1">
              <a:spLocks noChangeArrowheads="1"/>
            </p:cNvSpPr>
            <p:nvPr/>
          </p:nvSpPr>
          <p:spPr bwMode="auto">
            <a:xfrm>
              <a:off x="1484" y="2814"/>
              <a:ext cx="4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latin typeface="Symbol" pitchFamily="18" charset="2"/>
                  <a:sym typeface="Symbol" pitchFamily="18" charset="2"/>
                </a:rPr>
                <a:t>g</a:t>
              </a:r>
              <a:r>
                <a:rPr lang="en-US" altLang="zh-CN" i="1">
                  <a:solidFill>
                    <a:schemeClr val="tx2"/>
                  </a:solidFill>
                  <a:sym typeface="Symbol" pitchFamily="18" charset="2"/>
                </a:rPr>
                <a:t> 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1697" name="Text Box 83"/>
            <p:cNvSpPr txBox="1">
              <a:spLocks noChangeArrowheads="1"/>
            </p:cNvSpPr>
            <p:nvPr/>
          </p:nvSpPr>
          <p:spPr bwMode="auto">
            <a:xfrm>
              <a:off x="2264" y="2554"/>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1698" name="Text Box 84"/>
            <p:cNvSpPr txBox="1">
              <a:spLocks noChangeArrowheads="1"/>
            </p:cNvSpPr>
            <p:nvPr/>
          </p:nvSpPr>
          <p:spPr bwMode="auto">
            <a:xfrm>
              <a:off x="2264" y="3058"/>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1699" name="Text Box 85"/>
            <p:cNvSpPr txBox="1">
              <a:spLocks noChangeArrowheads="1"/>
            </p:cNvSpPr>
            <p:nvPr/>
          </p:nvSpPr>
          <p:spPr bwMode="auto">
            <a:xfrm>
              <a:off x="2228" y="2842"/>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1700" name="Line 86"/>
            <p:cNvSpPr>
              <a:spLocks noChangeShapeType="1"/>
            </p:cNvSpPr>
            <p:nvPr/>
          </p:nvSpPr>
          <p:spPr bwMode="auto">
            <a:xfrm flipH="1">
              <a:off x="1616" y="2542"/>
              <a:ext cx="264"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701" name="Line 87"/>
            <p:cNvSpPr>
              <a:spLocks noChangeShapeType="1"/>
            </p:cNvSpPr>
            <p:nvPr/>
          </p:nvSpPr>
          <p:spPr bwMode="auto">
            <a:xfrm>
              <a:off x="824" y="2650"/>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702" name="Line 88"/>
            <p:cNvSpPr>
              <a:spLocks noChangeShapeType="1"/>
            </p:cNvSpPr>
            <p:nvPr/>
          </p:nvSpPr>
          <p:spPr bwMode="auto">
            <a:xfrm>
              <a:off x="968" y="2542"/>
              <a:ext cx="240"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703" name="Line 89"/>
            <p:cNvSpPr>
              <a:spLocks noChangeShapeType="1"/>
            </p:cNvSpPr>
            <p:nvPr/>
          </p:nvSpPr>
          <p:spPr bwMode="auto">
            <a:xfrm>
              <a:off x="1208" y="2650"/>
              <a:ext cx="0" cy="64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1704" name="Line 90"/>
            <p:cNvSpPr>
              <a:spLocks noChangeShapeType="1"/>
            </p:cNvSpPr>
            <p:nvPr/>
          </p:nvSpPr>
          <p:spPr bwMode="auto">
            <a:xfrm flipH="1" flipV="1">
              <a:off x="824" y="3298"/>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705" name="Text Box 91"/>
            <p:cNvSpPr txBox="1">
              <a:spLocks noChangeArrowheads="1"/>
            </p:cNvSpPr>
            <p:nvPr/>
          </p:nvSpPr>
          <p:spPr bwMode="auto">
            <a:xfrm>
              <a:off x="726" y="2662"/>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1706" name="Text Box 92"/>
            <p:cNvSpPr txBox="1">
              <a:spLocks noChangeArrowheads="1"/>
            </p:cNvSpPr>
            <p:nvPr/>
          </p:nvSpPr>
          <p:spPr bwMode="auto">
            <a:xfrm>
              <a:off x="716" y="2938"/>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1707" name="Text Box 93"/>
            <p:cNvSpPr txBox="1">
              <a:spLocks noChangeArrowheads="1"/>
            </p:cNvSpPr>
            <p:nvPr/>
          </p:nvSpPr>
          <p:spPr bwMode="auto">
            <a:xfrm>
              <a:off x="632" y="2842"/>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1708" name="Oval 94"/>
            <p:cNvSpPr>
              <a:spLocks noChangeArrowheads="1"/>
            </p:cNvSpPr>
            <p:nvPr/>
          </p:nvSpPr>
          <p:spPr bwMode="auto">
            <a:xfrm>
              <a:off x="776" y="2624"/>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1709" name="Oval 95"/>
            <p:cNvSpPr>
              <a:spLocks noChangeArrowheads="1"/>
            </p:cNvSpPr>
            <p:nvPr/>
          </p:nvSpPr>
          <p:spPr bwMode="auto">
            <a:xfrm>
              <a:off x="776" y="3264"/>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1710" name="Oval 96"/>
            <p:cNvSpPr>
              <a:spLocks noChangeArrowheads="1"/>
            </p:cNvSpPr>
            <p:nvPr/>
          </p:nvSpPr>
          <p:spPr bwMode="auto">
            <a:xfrm>
              <a:off x="2120" y="3280"/>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1711" name="Oval 97"/>
            <p:cNvSpPr>
              <a:spLocks noChangeArrowheads="1"/>
            </p:cNvSpPr>
            <p:nvPr/>
          </p:nvSpPr>
          <p:spPr bwMode="auto">
            <a:xfrm>
              <a:off x="2120" y="263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1712" name="AutoShape 98"/>
            <p:cNvSpPr>
              <a:spLocks noChangeArrowheads="1"/>
            </p:cNvSpPr>
            <p:nvPr/>
          </p:nvSpPr>
          <p:spPr bwMode="auto">
            <a:xfrm rot="-5400000">
              <a:off x="1299" y="2867"/>
              <a:ext cx="318" cy="196"/>
            </a:xfrm>
            <a:prstGeom prst="flowChartSort">
              <a:avLst/>
            </a:prstGeom>
            <a:noFill/>
            <a:ln w="3810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1713" name="Text Box 99"/>
            <p:cNvSpPr txBox="1">
              <a:spLocks noChangeArrowheads="1"/>
            </p:cNvSpPr>
            <p:nvPr/>
          </p:nvSpPr>
          <p:spPr bwMode="auto">
            <a:xfrm>
              <a:off x="1488" y="2658"/>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1714" name="Text Box 100"/>
            <p:cNvSpPr txBox="1">
              <a:spLocks noChangeArrowheads="1"/>
            </p:cNvSpPr>
            <p:nvPr/>
          </p:nvSpPr>
          <p:spPr bwMode="auto">
            <a:xfrm>
              <a:off x="1472" y="2914"/>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endParaRPr lang="en-US" altLang="zh-CN">
                <a:solidFill>
                  <a:schemeClr val="tx2"/>
                </a:solidFill>
                <a:latin typeface="Symbol" pitchFamily="18" charset="2"/>
                <a:sym typeface="Symbol" pitchFamily="18" charset="2"/>
              </a:endParaRPr>
            </a:p>
          </p:txBody>
        </p:sp>
      </p:grpSp>
    </p:spTree>
    <p:extLst>
      <p:ext uri="{BB962C8B-B14F-4D97-AF65-F5344CB8AC3E}">
        <p14:creationId xmlns:p14="http://schemas.microsoft.com/office/powerpoint/2010/main" val="373311721"/>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40323"/>
                                        </p:tgtEl>
                                        <p:attrNameLst>
                                          <p:attrName>style.visibility</p:attrName>
                                        </p:attrNameLst>
                                      </p:cBhvr>
                                      <p:to>
                                        <p:strVal val="visible"/>
                                      </p:to>
                                    </p:set>
                                    <p:animEffect transition="in" filter="box(in)">
                                      <p:cBhvr>
                                        <p:cTn id="7" dur="500"/>
                                        <p:tgtEl>
                                          <p:spTgt spid="440323"/>
                                        </p:tgtEl>
                                      </p:cBhvr>
                                    </p:animEffect>
                                  </p:childTnLst>
                                </p:cTn>
                              </p:par>
                              <p:par>
                                <p:cTn id="8" presetID="4" presetClass="entr" presetSubtype="16" fill="hold" nodeType="withEffect">
                                  <p:stCondLst>
                                    <p:cond delay="0"/>
                                  </p:stCondLst>
                                  <p:childTnLst>
                                    <p:set>
                                      <p:cBhvr>
                                        <p:cTn id="9" dur="1" fill="hold">
                                          <p:stCondLst>
                                            <p:cond delay="0"/>
                                          </p:stCondLst>
                                        </p:cTn>
                                        <p:tgtEl>
                                          <p:spTgt spid="440355"/>
                                        </p:tgtEl>
                                        <p:attrNameLst>
                                          <p:attrName>style.visibility</p:attrName>
                                        </p:attrNameLst>
                                      </p:cBhvr>
                                      <p:to>
                                        <p:strVal val="visible"/>
                                      </p:to>
                                    </p:set>
                                    <p:animEffect transition="in" filter="box(in)">
                                      <p:cBhvr>
                                        <p:cTn id="10" dur="500"/>
                                        <p:tgtEl>
                                          <p:spTgt spid="44035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440388"/>
                                        </p:tgtEl>
                                        <p:attrNameLst>
                                          <p:attrName>style.visibility</p:attrName>
                                        </p:attrNameLst>
                                      </p:cBhvr>
                                      <p:to>
                                        <p:strVal val="visible"/>
                                      </p:to>
                                    </p:set>
                                    <p:animEffect transition="in" filter="box(in)">
                                      <p:cBhvr>
                                        <p:cTn id="15" dur="500"/>
                                        <p:tgtEl>
                                          <p:spTgt spid="440388"/>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440389"/>
                                        </p:tgtEl>
                                        <p:attrNameLst>
                                          <p:attrName>style.visibility</p:attrName>
                                        </p:attrNameLst>
                                      </p:cBhvr>
                                      <p:to>
                                        <p:strVal val="visible"/>
                                      </p:to>
                                    </p:set>
                                    <p:animEffect transition="in" filter="box(in)">
                                      <p:cBhvr>
                                        <p:cTn id="18" dur="500"/>
                                        <p:tgtEl>
                                          <p:spTgt spid="440389"/>
                                        </p:tgtEl>
                                      </p:cBhvr>
                                    </p:animEffect>
                                  </p:childTnLst>
                                </p:cTn>
                              </p:par>
                              <p:par>
                                <p:cTn id="19" presetID="4" presetClass="entr" presetSubtype="16" fill="hold" nodeType="withEffect">
                                  <p:stCondLst>
                                    <p:cond delay="0"/>
                                  </p:stCondLst>
                                  <p:childTnLst>
                                    <p:set>
                                      <p:cBhvr>
                                        <p:cTn id="20" dur="1" fill="hold">
                                          <p:stCondLst>
                                            <p:cond delay="0"/>
                                          </p:stCondLst>
                                        </p:cTn>
                                        <p:tgtEl>
                                          <p:spTgt spid="440390"/>
                                        </p:tgtEl>
                                        <p:attrNameLst>
                                          <p:attrName>style.visibility</p:attrName>
                                        </p:attrNameLst>
                                      </p:cBhvr>
                                      <p:to>
                                        <p:strVal val="visible"/>
                                      </p:to>
                                    </p:set>
                                    <p:animEffect transition="in" filter="box(in)">
                                      <p:cBhvr>
                                        <p:cTn id="21" dur="500"/>
                                        <p:tgtEl>
                                          <p:spTgt spid="440390"/>
                                        </p:tgtEl>
                                      </p:cBhvr>
                                    </p:animEffect>
                                  </p:childTnLst>
                                </p:cTn>
                              </p:par>
                              <p:par>
                                <p:cTn id="22" presetID="4" presetClass="entr" presetSubtype="16" fill="hold" nodeType="withEffect">
                                  <p:stCondLst>
                                    <p:cond delay="0"/>
                                  </p:stCondLst>
                                  <p:childTnLst>
                                    <p:set>
                                      <p:cBhvr>
                                        <p:cTn id="23" dur="1" fill="hold">
                                          <p:stCondLst>
                                            <p:cond delay="0"/>
                                          </p:stCondLst>
                                        </p:cTn>
                                        <p:tgtEl>
                                          <p:spTgt spid="440394"/>
                                        </p:tgtEl>
                                        <p:attrNameLst>
                                          <p:attrName>style.visibility</p:attrName>
                                        </p:attrNameLst>
                                      </p:cBhvr>
                                      <p:to>
                                        <p:strVal val="visible"/>
                                      </p:to>
                                    </p:set>
                                    <p:animEffect transition="in" filter="box(in)">
                                      <p:cBhvr>
                                        <p:cTn id="24" dur="500"/>
                                        <p:tgtEl>
                                          <p:spTgt spid="440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p:bldP spid="440388" grpId="0"/>
      <p:bldP spid="44038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Text Box 2"/>
          <p:cNvSpPr txBox="1">
            <a:spLocks noChangeArrowheads="1"/>
          </p:cNvSpPr>
          <p:nvPr/>
        </p:nvSpPr>
        <p:spPr bwMode="auto">
          <a:xfrm>
            <a:off x="212725" y="4167188"/>
            <a:ext cx="84820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(4) </a:t>
            </a:r>
            <a:r>
              <a:rPr lang="zh-CN" altLang="en-US">
                <a:solidFill>
                  <a:schemeClr val="tx2"/>
                </a:solidFill>
                <a:sym typeface="Symbol" pitchFamily="18" charset="2"/>
              </a:rPr>
              <a:t>电流控制的电流源 </a:t>
            </a:r>
            <a:r>
              <a:rPr lang="en-US" altLang="zh-CN">
                <a:solidFill>
                  <a:schemeClr val="tx2"/>
                </a:solidFill>
                <a:sym typeface="Symbol" pitchFamily="18" charset="2"/>
              </a:rPr>
              <a:t>( </a:t>
            </a:r>
            <a:r>
              <a:rPr lang="en-US" altLang="zh-CN">
                <a:solidFill>
                  <a:srgbClr val="FF33CC"/>
                </a:solidFill>
                <a:sym typeface="Symbol" pitchFamily="18" charset="2"/>
              </a:rPr>
              <a:t>C</a:t>
            </a:r>
            <a:r>
              <a:rPr lang="en-US" altLang="zh-CN">
                <a:solidFill>
                  <a:schemeClr val="tx2"/>
                </a:solidFill>
                <a:sym typeface="Symbol" pitchFamily="18" charset="2"/>
              </a:rPr>
              <a:t>urrent </a:t>
            </a:r>
            <a:r>
              <a:rPr lang="en-US" altLang="zh-CN">
                <a:solidFill>
                  <a:srgbClr val="FF33CC"/>
                </a:solidFill>
                <a:sym typeface="Symbol" pitchFamily="18" charset="2"/>
              </a:rPr>
              <a:t>C</a:t>
            </a:r>
            <a:r>
              <a:rPr lang="en-US" altLang="zh-CN">
                <a:solidFill>
                  <a:schemeClr val="tx2"/>
                </a:solidFill>
                <a:sym typeface="Symbol" pitchFamily="18" charset="2"/>
              </a:rPr>
              <a:t>ontrolled </a:t>
            </a:r>
            <a:r>
              <a:rPr lang="en-US" altLang="zh-CN">
                <a:solidFill>
                  <a:srgbClr val="FF33CC"/>
                </a:solidFill>
                <a:sym typeface="Symbol" pitchFamily="18" charset="2"/>
              </a:rPr>
              <a:t>C</a:t>
            </a:r>
            <a:r>
              <a:rPr lang="en-US" altLang="zh-CN">
                <a:solidFill>
                  <a:schemeClr val="tx2"/>
                </a:solidFill>
                <a:sym typeface="Symbol" pitchFamily="18" charset="2"/>
              </a:rPr>
              <a:t>urrent </a:t>
            </a:r>
            <a:r>
              <a:rPr lang="en-US" altLang="zh-CN">
                <a:solidFill>
                  <a:srgbClr val="FF33CC"/>
                </a:solidFill>
                <a:sym typeface="Symbol" pitchFamily="18" charset="2"/>
              </a:rPr>
              <a:t>S</a:t>
            </a:r>
            <a:r>
              <a:rPr lang="en-US" altLang="zh-CN">
                <a:solidFill>
                  <a:schemeClr val="tx2"/>
                </a:solidFill>
                <a:sym typeface="Symbol" pitchFamily="18" charset="2"/>
              </a:rPr>
              <a:t>ource )</a:t>
            </a:r>
          </a:p>
        </p:txBody>
      </p:sp>
      <p:grpSp>
        <p:nvGrpSpPr>
          <p:cNvPr id="306181" name="Group 5"/>
          <p:cNvGrpSpPr>
            <a:grpSpLocks/>
          </p:cNvGrpSpPr>
          <p:nvPr/>
        </p:nvGrpSpPr>
        <p:grpSpPr bwMode="auto">
          <a:xfrm>
            <a:off x="860425" y="4462463"/>
            <a:ext cx="6707188" cy="2095500"/>
            <a:chOff x="624" y="692"/>
            <a:chExt cx="4225" cy="1320"/>
          </a:xfrm>
        </p:grpSpPr>
        <p:sp>
          <p:nvSpPr>
            <p:cNvPr id="72740" name="Text Box 6"/>
            <p:cNvSpPr txBox="1">
              <a:spLocks noChangeArrowheads="1"/>
            </p:cNvSpPr>
            <p:nvPr/>
          </p:nvSpPr>
          <p:spPr bwMode="auto">
            <a:xfrm>
              <a:off x="3040" y="1708"/>
              <a:ext cx="180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latin typeface="Symbol" pitchFamily="18" charset="2"/>
                  <a:sym typeface="Symbol" pitchFamily="18" charset="2"/>
                </a:rPr>
                <a:t>  </a:t>
              </a:r>
              <a:r>
                <a:rPr lang="en-US" altLang="zh-CN">
                  <a:solidFill>
                    <a:schemeClr val="tx2"/>
                  </a:solidFill>
                  <a:latin typeface="Symbol" pitchFamily="18" charset="2"/>
                  <a:sym typeface="Symbol" pitchFamily="18" charset="2"/>
                </a:rPr>
                <a:t>: </a:t>
              </a:r>
              <a:r>
                <a:rPr lang="zh-CN" altLang="en-US">
                  <a:solidFill>
                    <a:schemeClr val="tx2"/>
                  </a:solidFill>
                  <a:sym typeface="Symbol" pitchFamily="18" charset="2"/>
                </a:rPr>
                <a:t>电流放大倍数</a:t>
              </a:r>
            </a:p>
          </p:txBody>
        </p:sp>
        <p:grpSp>
          <p:nvGrpSpPr>
            <p:cNvPr id="72741" name="Group 7"/>
            <p:cNvGrpSpPr>
              <a:grpSpLocks/>
            </p:cNvGrpSpPr>
            <p:nvPr/>
          </p:nvGrpSpPr>
          <p:grpSpPr bwMode="auto">
            <a:xfrm>
              <a:off x="2736" y="902"/>
              <a:ext cx="1168" cy="671"/>
              <a:chOff x="2448" y="721"/>
              <a:chExt cx="960" cy="671"/>
            </a:xfrm>
          </p:grpSpPr>
          <p:sp>
            <p:nvSpPr>
              <p:cNvPr id="72768" name="Text Box 8"/>
              <p:cNvSpPr txBox="1">
                <a:spLocks noChangeArrowheads="1"/>
              </p:cNvSpPr>
              <p:nvPr/>
            </p:nvSpPr>
            <p:spPr bwMode="auto">
              <a:xfrm>
                <a:off x="2448" y="721"/>
                <a:ext cx="466"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sz="6000" b="0">
                    <a:solidFill>
                      <a:schemeClr val="tx2"/>
                    </a:solidFill>
                    <a:sym typeface="Symbol" pitchFamily="18" charset="2"/>
                  </a:rPr>
                  <a:t>{</a:t>
                </a:r>
                <a:endParaRPr lang="en-US" altLang="zh-CN" sz="6000">
                  <a:solidFill>
                    <a:schemeClr val="tx2"/>
                  </a:solidFill>
                  <a:sym typeface="Symbol" pitchFamily="18" charset="2"/>
                </a:endParaRPr>
              </a:p>
            </p:txBody>
          </p:sp>
          <p:sp>
            <p:nvSpPr>
              <p:cNvPr id="72769" name="Text Box 9"/>
              <p:cNvSpPr txBox="1">
                <a:spLocks noChangeArrowheads="1"/>
              </p:cNvSpPr>
              <p:nvPr/>
            </p:nvSpPr>
            <p:spPr bwMode="auto">
              <a:xfrm>
                <a:off x="2640" y="768"/>
                <a:ext cx="6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  v</a:t>
                </a:r>
                <a:r>
                  <a:rPr lang="en-US" altLang="zh-CN" baseline="-25000">
                    <a:solidFill>
                      <a:schemeClr val="tx2"/>
                    </a:solidFill>
                    <a:sym typeface="Symbol" pitchFamily="18" charset="2"/>
                  </a:rPr>
                  <a:t>1</a:t>
                </a:r>
                <a:r>
                  <a:rPr lang="en-US" altLang="zh-CN">
                    <a:solidFill>
                      <a:schemeClr val="tx2"/>
                    </a:solidFill>
                    <a:sym typeface="Symbol" pitchFamily="18" charset="2"/>
                  </a:rPr>
                  <a:t>=0</a:t>
                </a:r>
              </a:p>
            </p:txBody>
          </p:sp>
          <p:sp>
            <p:nvSpPr>
              <p:cNvPr id="72770" name="Text Box 10"/>
              <p:cNvSpPr txBox="1">
                <a:spLocks noChangeArrowheads="1"/>
              </p:cNvSpPr>
              <p:nvPr/>
            </p:nvSpPr>
            <p:spPr bwMode="auto">
              <a:xfrm>
                <a:off x="2688" y="1104"/>
                <a:ext cx="7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dirty="0">
                    <a:solidFill>
                      <a:schemeClr val="tx2"/>
                    </a:solidFill>
                    <a:sym typeface="Symbol" pitchFamily="18" charset="2"/>
                  </a:rPr>
                  <a:t>  i</a:t>
                </a:r>
                <a:r>
                  <a:rPr lang="en-US" altLang="zh-CN" baseline="-25000" dirty="0">
                    <a:solidFill>
                      <a:schemeClr val="tx2"/>
                    </a:solidFill>
                    <a:sym typeface="Symbol" pitchFamily="18" charset="2"/>
                  </a:rPr>
                  <a:t>2</a:t>
                </a:r>
                <a:r>
                  <a:rPr lang="en-US" altLang="zh-CN" dirty="0">
                    <a:solidFill>
                      <a:schemeClr val="tx2"/>
                    </a:solidFill>
                    <a:sym typeface="Symbol" pitchFamily="18" charset="2"/>
                  </a:rPr>
                  <a:t>=</a:t>
                </a:r>
                <a:r>
                  <a:rPr lang="en-US" altLang="zh-CN" i="1" dirty="0">
                    <a:solidFill>
                      <a:schemeClr val="tx2"/>
                    </a:solidFill>
                    <a:latin typeface="Symbol" pitchFamily="18" charset="2"/>
                    <a:sym typeface="Symbol" pitchFamily="18" charset="2"/>
                  </a:rPr>
                  <a:t>b </a:t>
                </a:r>
                <a:r>
                  <a:rPr lang="en-US" altLang="zh-CN" i="1" dirty="0" smtClean="0">
                    <a:solidFill>
                      <a:schemeClr val="tx2"/>
                    </a:solidFill>
                    <a:sym typeface="Symbol" pitchFamily="18" charset="2"/>
                  </a:rPr>
                  <a:t>i</a:t>
                </a:r>
                <a:r>
                  <a:rPr lang="en-US" altLang="zh-CN" baseline="-25000" dirty="0" smtClean="0">
                    <a:solidFill>
                      <a:schemeClr val="tx2"/>
                    </a:solidFill>
                    <a:sym typeface="Symbol" pitchFamily="18" charset="2"/>
                  </a:rPr>
                  <a:t>1</a:t>
                </a:r>
                <a:endParaRPr lang="en-US" altLang="zh-CN" dirty="0">
                  <a:solidFill>
                    <a:schemeClr val="tx2"/>
                  </a:solidFill>
                  <a:sym typeface="Symbol" pitchFamily="18" charset="2"/>
                </a:endParaRPr>
              </a:p>
            </p:txBody>
          </p:sp>
        </p:grpSp>
        <p:grpSp>
          <p:nvGrpSpPr>
            <p:cNvPr id="72742" name="Group 11"/>
            <p:cNvGrpSpPr>
              <a:grpSpLocks/>
            </p:cNvGrpSpPr>
            <p:nvPr/>
          </p:nvGrpSpPr>
          <p:grpSpPr bwMode="auto">
            <a:xfrm>
              <a:off x="624" y="692"/>
              <a:ext cx="1920" cy="1320"/>
              <a:chOff x="624" y="882"/>
              <a:chExt cx="1920" cy="1320"/>
            </a:xfrm>
          </p:grpSpPr>
          <p:sp>
            <p:nvSpPr>
              <p:cNvPr id="72743" name="Text Box 12"/>
              <p:cNvSpPr txBox="1">
                <a:spLocks noChangeArrowheads="1"/>
              </p:cNvSpPr>
              <p:nvPr/>
            </p:nvSpPr>
            <p:spPr bwMode="auto">
              <a:xfrm>
                <a:off x="924" y="1914"/>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FF33CC"/>
                    </a:solidFill>
                    <a:sym typeface="Symbol" pitchFamily="18" charset="2"/>
                  </a:rPr>
                  <a:t>CCCS</a:t>
                </a:r>
                <a:endParaRPr lang="en-US" altLang="zh-CN">
                  <a:solidFill>
                    <a:schemeClr val="tx2"/>
                  </a:solidFill>
                  <a:sym typeface="Symbol" pitchFamily="18" charset="2"/>
                </a:endParaRPr>
              </a:p>
            </p:txBody>
          </p:sp>
          <p:sp>
            <p:nvSpPr>
              <p:cNvPr id="72744" name="AutoShape 13"/>
              <p:cNvSpPr>
                <a:spLocks noChangeArrowheads="1"/>
              </p:cNvSpPr>
              <p:nvPr/>
            </p:nvSpPr>
            <p:spPr bwMode="auto">
              <a:xfrm>
                <a:off x="1356" y="1410"/>
                <a:ext cx="192" cy="288"/>
              </a:xfrm>
              <a:prstGeom prst="flowChartSort">
                <a:avLst/>
              </a:prstGeom>
              <a:noFill/>
              <a:ln w="3810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2745" name="Line 14"/>
              <p:cNvSpPr>
                <a:spLocks noChangeShapeType="1"/>
              </p:cNvSpPr>
              <p:nvPr/>
            </p:nvSpPr>
            <p:spPr bwMode="auto">
              <a:xfrm>
                <a:off x="1452" y="1698"/>
                <a:ext cx="0" cy="16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2746" name="Line 15"/>
              <p:cNvSpPr>
                <a:spLocks noChangeShapeType="1"/>
              </p:cNvSpPr>
              <p:nvPr/>
            </p:nvSpPr>
            <p:spPr bwMode="auto">
              <a:xfrm>
                <a:off x="1452" y="1866"/>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2747" name="Line 16"/>
              <p:cNvSpPr>
                <a:spLocks noChangeShapeType="1"/>
              </p:cNvSpPr>
              <p:nvPr/>
            </p:nvSpPr>
            <p:spPr bwMode="auto">
              <a:xfrm flipV="1">
                <a:off x="1452" y="1218"/>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2748" name="Line 17"/>
              <p:cNvSpPr>
                <a:spLocks noChangeShapeType="1"/>
              </p:cNvSpPr>
              <p:nvPr/>
            </p:nvSpPr>
            <p:spPr bwMode="auto">
              <a:xfrm>
                <a:off x="1452" y="1218"/>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2749" name="Text Box 18"/>
              <p:cNvSpPr txBox="1">
                <a:spLocks noChangeArrowheads="1"/>
              </p:cNvSpPr>
              <p:nvPr/>
            </p:nvSpPr>
            <p:spPr bwMode="auto">
              <a:xfrm>
                <a:off x="1548" y="1398"/>
                <a:ext cx="4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latin typeface="Symbol" pitchFamily="18" charset="2"/>
                    <a:sym typeface="Symbol" pitchFamily="18" charset="2"/>
                  </a:rPr>
                  <a:t>b</a:t>
                </a:r>
                <a:r>
                  <a:rPr lang="en-US" altLang="zh-CN">
                    <a:solidFill>
                      <a:schemeClr val="tx2"/>
                    </a:solidFill>
                    <a:latin typeface="Symbol" pitchFamily="18" charset="2"/>
                    <a:sym typeface="Symbol" pitchFamily="18" charset="2"/>
                  </a:rPr>
                  <a:t> </a:t>
                </a: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2750" name="Text Box 19"/>
              <p:cNvSpPr txBox="1">
                <a:spLocks noChangeArrowheads="1"/>
              </p:cNvSpPr>
              <p:nvPr/>
            </p:nvSpPr>
            <p:spPr bwMode="auto">
              <a:xfrm>
                <a:off x="2256" y="1122"/>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2751" name="Text Box 20"/>
              <p:cNvSpPr txBox="1">
                <a:spLocks noChangeArrowheads="1"/>
              </p:cNvSpPr>
              <p:nvPr/>
            </p:nvSpPr>
            <p:spPr bwMode="auto">
              <a:xfrm>
                <a:off x="2256" y="1626"/>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2752" name="Text Box 21"/>
              <p:cNvSpPr txBox="1">
                <a:spLocks noChangeArrowheads="1"/>
              </p:cNvSpPr>
              <p:nvPr/>
            </p:nvSpPr>
            <p:spPr bwMode="auto">
              <a:xfrm>
                <a:off x="2220" y="141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2753" name="Line 22"/>
              <p:cNvSpPr>
                <a:spLocks noChangeShapeType="1"/>
              </p:cNvSpPr>
              <p:nvPr/>
            </p:nvSpPr>
            <p:spPr bwMode="auto">
              <a:xfrm flipH="1">
                <a:off x="1608" y="1110"/>
                <a:ext cx="264"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2754" name="Text Box 23"/>
              <p:cNvSpPr txBox="1">
                <a:spLocks noChangeArrowheads="1"/>
              </p:cNvSpPr>
              <p:nvPr/>
            </p:nvSpPr>
            <p:spPr bwMode="auto">
              <a:xfrm>
                <a:off x="1872" y="88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2755" name="Line 24"/>
              <p:cNvSpPr>
                <a:spLocks noChangeShapeType="1"/>
              </p:cNvSpPr>
              <p:nvPr/>
            </p:nvSpPr>
            <p:spPr bwMode="auto">
              <a:xfrm>
                <a:off x="816" y="1218"/>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2756" name="Line 25"/>
              <p:cNvSpPr>
                <a:spLocks noChangeShapeType="1"/>
              </p:cNvSpPr>
              <p:nvPr/>
            </p:nvSpPr>
            <p:spPr bwMode="auto">
              <a:xfrm>
                <a:off x="960" y="1110"/>
                <a:ext cx="240"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2757" name="Line 26"/>
              <p:cNvSpPr>
                <a:spLocks noChangeShapeType="1"/>
              </p:cNvSpPr>
              <p:nvPr/>
            </p:nvSpPr>
            <p:spPr bwMode="auto">
              <a:xfrm>
                <a:off x="1200" y="1218"/>
                <a:ext cx="0" cy="64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2758" name="Line 27"/>
              <p:cNvSpPr>
                <a:spLocks noChangeShapeType="1"/>
              </p:cNvSpPr>
              <p:nvPr/>
            </p:nvSpPr>
            <p:spPr bwMode="auto">
              <a:xfrm flipH="1" flipV="1">
                <a:off x="816" y="1866"/>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2759" name="Text Box 28"/>
              <p:cNvSpPr txBox="1">
                <a:spLocks noChangeArrowheads="1"/>
              </p:cNvSpPr>
              <p:nvPr/>
            </p:nvSpPr>
            <p:spPr bwMode="auto">
              <a:xfrm>
                <a:off x="718" y="1230"/>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2760" name="Text Box 29"/>
              <p:cNvSpPr txBox="1">
                <a:spLocks noChangeArrowheads="1"/>
              </p:cNvSpPr>
              <p:nvPr/>
            </p:nvSpPr>
            <p:spPr bwMode="auto">
              <a:xfrm>
                <a:off x="708" y="1506"/>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2761" name="Text Box 30"/>
              <p:cNvSpPr txBox="1">
                <a:spLocks noChangeArrowheads="1"/>
              </p:cNvSpPr>
              <p:nvPr/>
            </p:nvSpPr>
            <p:spPr bwMode="auto">
              <a:xfrm>
                <a:off x="624" y="141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2762" name="Text Box 31"/>
              <p:cNvSpPr txBox="1">
                <a:spLocks noChangeArrowheads="1"/>
              </p:cNvSpPr>
              <p:nvPr/>
            </p:nvSpPr>
            <p:spPr bwMode="auto">
              <a:xfrm>
                <a:off x="684" y="882"/>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2763" name="Line 32"/>
              <p:cNvSpPr>
                <a:spLocks noChangeShapeType="1"/>
              </p:cNvSpPr>
              <p:nvPr/>
            </p:nvSpPr>
            <p:spPr bwMode="auto">
              <a:xfrm>
                <a:off x="1584" y="1458"/>
                <a:ext cx="0" cy="246"/>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2764" name="Oval 33"/>
              <p:cNvSpPr>
                <a:spLocks noChangeArrowheads="1"/>
              </p:cNvSpPr>
              <p:nvPr/>
            </p:nvSpPr>
            <p:spPr bwMode="auto">
              <a:xfrm>
                <a:off x="768" y="119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2765" name="Oval 34"/>
              <p:cNvSpPr>
                <a:spLocks noChangeArrowheads="1"/>
              </p:cNvSpPr>
              <p:nvPr/>
            </p:nvSpPr>
            <p:spPr bwMode="auto">
              <a:xfrm>
                <a:off x="768" y="183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2766" name="Oval 35"/>
              <p:cNvSpPr>
                <a:spLocks noChangeArrowheads="1"/>
              </p:cNvSpPr>
              <p:nvPr/>
            </p:nvSpPr>
            <p:spPr bwMode="auto">
              <a:xfrm>
                <a:off x="2112" y="1848"/>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2767" name="Oval 36"/>
              <p:cNvSpPr>
                <a:spLocks noChangeArrowheads="1"/>
              </p:cNvSpPr>
              <p:nvPr/>
            </p:nvSpPr>
            <p:spPr bwMode="auto">
              <a:xfrm>
                <a:off x="2112" y="1200"/>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sp>
        <p:nvSpPr>
          <p:cNvPr id="306248" name="Text Box 72"/>
          <p:cNvSpPr txBox="1">
            <a:spLocks noChangeArrowheads="1"/>
          </p:cNvSpPr>
          <p:nvPr/>
        </p:nvSpPr>
        <p:spPr bwMode="auto">
          <a:xfrm>
            <a:off x="376238" y="950913"/>
            <a:ext cx="84820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(3) </a:t>
            </a:r>
            <a:r>
              <a:rPr lang="zh-CN" altLang="en-US">
                <a:solidFill>
                  <a:schemeClr val="tx2"/>
                </a:solidFill>
                <a:sym typeface="Symbol" pitchFamily="18" charset="2"/>
              </a:rPr>
              <a:t>电压控制的电流源 </a:t>
            </a:r>
            <a:r>
              <a:rPr lang="en-US" altLang="zh-CN">
                <a:solidFill>
                  <a:schemeClr val="tx2"/>
                </a:solidFill>
                <a:sym typeface="Symbol" pitchFamily="18" charset="2"/>
              </a:rPr>
              <a:t>( </a:t>
            </a:r>
            <a:r>
              <a:rPr lang="en-US" altLang="zh-CN">
                <a:solidFill>
                  <a:srgbClr val="FF33CC"/>
                </a:solidFill>
                <a:sym typeface="Symbol" pitchFamily="18" charset="2"/>
              </a:rPr>
              <a:t>V</a:t>
            </a:r>
            <a:r>
              <a:rPr lang="en-US" altLang="zh-CN">
                <a:solidFill>
                  <a:schemeClr val="tx2"/>
                </a:solidFill>
                <a:sym typeface="Symbol" pitchFamily="18" charset="2"/>
              </a:rPr>
              <a:t>oltage  </a:t>
            </a:r>
            <a:r>
              <a:rPr lang="en-US" altLang="zh-CN">
                <a:solidFill>
                  <a:srgbClr val="FF33CC"/>
                </a:solidFill>
                <a:sym typeface="Symbol" pitchFamily="18" charset="2"/>
              </a:rPr>
              <a:t>C</a:t>
            </a:r>
            <a:r>
              <a:rPr lang="en-US" altLang="zh-CN">
                <a:solidFill>
                  <a:schemeClr val="tx2"/>
                </a:solidFill>
                <a:sym typeface="Symbol" pitchFamily="18" charset="2"/>
              </a:rPr>
              <a:t>ontrolled </a:t>
            </a:r>
            <a:r>
              <a:rPr lang="en-US" altLang="zh-CN">
                <a:solidFill>
                  <a:srgbClr val="FF33CC"/>
                </a:solidFill>
                <a:sym typeface="Symbol" pitchFamily="18" charset="2"/>
              </a:rPr>
              <a:t>C</a:t>
            </a:r>
            <a:r>
              <a:rPr lang="en-US" altLang="zh-CN">
                <a:solidFill>
                  <a:schemeClr val="tx2"/>
                </a:solidFill>
                <a:sym typeface="Symbol" pitchFamily="18" charset="2"/>
              </a:rPr>
              <a:t>urrent </a:t>
            </a:r>
            <a:r>
              <a:rPr lang="en-US" altLang="zh-CN">
                <a:solidFill>
                  <a:srgbClr val="FF33CC"/>
                </a:solidFill>
                <a:sym typeface="Symbol" pitchFamily="18" charset="2"/>
              </a:rPr>
              <a:t>S</a:t>
            </a:r>
            <a:r>
              <a:rPr lang="en-US" altLang="zh-CN">
                <a:solidFill>
                  <a:schemeClr val="tx2"/>
                </a:solidFill>
                <a:sym typeface="Symbol" pitchFamily="18" charset="2"/>
              </a:rPr>
              <a:t>ource )</a:t>
            </a:r>
          </a:p>
        </p:txBody>
      </p:sp>
      <p:grpSp>
        <p:nvGrpSpPr>
          <p:cNvPr id="306249" name="Group 73"/>
          <p:cNvGrpSpPr>
            <a:grpSpLocks/>
          </p:cNvGrpSpPr>
          <p:nvPr/>
        </p:nvGrpSpPr>
        <p:grpSpPr bwMode="auto">
          <a:xfrm>
            <a:off x="1138238" y="1646238"/>
            <a:ext cx="6359525" cy="2095500"/>
            <a:chOff x="624" y="666"/>
            <a:chExt cx="4006" cy="1320"/>
          </a:xfrm>
        </p:grpSpPr>
        <p:sp>
          <p:nvSpPr>
            <p:cNvPr id="72710" name="Text Box 74"/>
            <p:cNvSpPr txBox="1">
              <a:spLocks noChangeArrowheads="1"/>
            </p:cNvSpPr>
            <p:nvPr/>
          </p:nvSpPr>
          <p:spPr bwMode="auto">
            <a:xfrm>
              <a:off x="3226" y="1680"/>
              <a:ext cx="140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g</a:t>
              </a:r>
              <a:r>
                <a:rPr lang="en-US" altLang="zh-CN">
                  <a:solidFill>
                    <a:schemeClr val="tx2"/>
                  </a:solidFill>
                  <a:sym typeface="Symbol" pitchFamily="18" charset="2"/>
                </a:rPr>
                <a:t>:  </a:t>
              </a:r>
              <a:r>
                <a:rPr lang="zh-CN" altLang="en-US">
                  <a:solidFill>
                    <a:schemeClr val="tx2"/>
                  </a:solidFill>
                  <a:sym typeface="Symbol" pitchFamily="18" charset="2"/>
                </a:rPr>
                <a:t>转移电导 </a:t>
              </a:r>
            </a:p>
          </p:txBody>
        </p:sp>
        <p:grpSp>
          <p:nvGrpSpPr>
            <p:cNvPr id="72711" name="Group 75"/>
            <p:cNvGrpSpPr>
              <a:grpSpLocks/>
            </p:cNvGrpSpPr>
            <p:nvPr/>
          </p:nvGrpSpPr>
          <p:grpSpPr bwMode="auto">
            <a:xfrm>
              <a:off x="3346" y="899"/>
              <a:ext cx="960" cy="624"/>
              <a:chOff x="2448" y="768"/>
              <a:chExt cx="960" cy="624"/>
            </a:xfrm>
          </p:grpSpPr>
          <p:sp>
            <p:nvSpPr>
              <p:cNvPr id="72737" name="Text Box 76"/>
              <p:cNvSpPr txBox="1">
                <a:spLocks noChangeArrowheads="1"/>
              </p:cNvSpPr>
              <p:nvPr/>
            </p:nvSpPr>
            <p:spPr bwMode="auto">
              <a:xfrm>
                <a:off x="2448" y="894"/>
                <a:ext cx="4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b="0">
                    <a:solidFill>
                      <a:schemeClr val="tx2"/>
                    </a:solidFill>
                    <a:sym typeface="Symbol" pitchFamily="18" charset="2"/>
                  </a:rPr>
                  <a:t>{</a:t>
                </a:r>
                <a:endParaRPr lang="en-US" altLang="zh-CN">
                  <a:solidFill>
                    <a:schemeClr val="tx2"/>
                  </a:solidFill>
                  <a:sym typeface="Symbol" pitchFamily="18" charset="2"/>
                </a:endParaRPr>
              </a:p>
            </p:txBody>
          </p:sp>
          <p:sp>
            <p:nvSpPr>
              <p:cNvPr id="72738" name="Text Box 77"/>
              <p:cNvSpPr txBox="1">
                <a:spLocks noChangeArrowheads="1"/>
              </p:cNvSpPr>
              <p:nvPr/>
            </p:nvSpPr>
            <p:spPr bwMode="auto">
              <a:xfrm>
                <a:off x="2640" y="768"/>
                <a:ext cx="67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 i</a:t>
                </a:r>
                <a:r>
                  <a:rPr lang="en-US" altLang="zh-CN" baseline="-25000">
                    <a:solidFill>
                      <a:schemeClr val="tx2"/>
                    </a:solidFill>
                    <a:sym typeface="Symbol" pitchFamily="18" charset="2"/>
                  </a:rPr>
                  <a:t>1</a:t>
                </a:r>
                <a:r>
                  <a:rPr lang="en-US" altLang="zh-CN">
                    <a:solidFill>
                      <a:schemeClr val="tx2"/>
                    </a:solidFill>
                    <a:sym typeface="Symbol" pitchFamily="18" charset="2"/>
                  </a:rPr>
                  <a:t>=0</a:t>
                </a:r>
              </a:p>
            </p:txBody>
          </p:sp>
          <p:sp>
            <p:nvSpPr>
              <p:cNvPr id="72739" name="Text Box 78"/>
              <p:cNvSpPr txBox="1">
                <a:spLocks noChangeArrowheads="1"/>
              </p:cNvSpPr>
              <p:nvPr/>
            </p:nvSpPr>
            <p:spPr bwMode="auto">
              <a:xfrm>
                <a:off x="2688" y="1104"/>
                <a:ext cx="7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r>
                  <a:rPr lang="en-US" altLang="zh-CN">
                    <a:solidFill>
                      <a:schemeClr val="tx2"/>
                    </a:solidFill>
                    <a:sym typeface="Symbol" pitchFamily="18" charset="2"/>
                  </a:rPr>
                  <a:t>=</a:t>
                </a:r>
                <a:r>
                  <a:rPr lang="en-US" altLang="zh-CN" i="1">
                    <a:solidFill>
                      <a:schemeClr val="tx2"/>
                    </a:solidFill>
                    <a:sym typeface="Symbol" pitchFamily="18" charset="2"/>
                  </a:rPr>
                  <a:t>gv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grpSp>
        <p:grpSp>
          <p:nvGrpSpPr>
            <p:cNvPr id="72712" name="Group 79"/>
            <p:cNvGrpSpPr>
              <a:grpSpLocks/>
            </p:cNvGrpSpPr>
            <p:nvPr/>
          </p:nvGrpSpPr>
          <p:grpSpPr bwMode="auto">
            <a:xfrm>
              <a:off x="624" y="666"/>
              <a:ext cx="1920" cy="1320"/>
              <a:chOff x="624" y="666"/>
              <a:chExt cx="1920" cy="1320"/>
            </a:xfrm>
          </p:grpSpPr>
          <p:sp>
            <p:nvSpPr>
              <p:cNvPr id="72713" name="Text Box 80"/>
              <p:cNvSpPr txBox="1">
                <a:spLocks noChangeArrowheads="1"/>
              </p:cNvSpPr>
              <p:nvPr/>
            </p:nvSpPr>
            <p:spPr bwMode="auto">
              <a:xfrm>
                <a:off x="924" y="1698"/>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rgbClr val="FF33CC"/>
                    </a:solidFill>
                    <a:sym typeface="Symbol" pitchFamily="18" charset="2"/>
                  </a:rPr>
                  <a:t>VCCS</a:t>
                </a:r>
                <a:endParaRPr lang="en-US" altLang="zh-CN">
                  <a:solidFill>
                    <a:schemeClr val="tx2"/>
                  </a:solidFill>
                  <a:sym typeface="Symbol" pitchFamily="18" charset="2"/>
                </a:endParaRPr>
              </a:p>
            </p:txBody>
          </p:sp>
          <p:sp>
            <p:nvSpPr>
              <p:cNvPr id="72714" name="AutoShape 81"/>
              <p:cNvSpPr>
                <a:spLocks noChangeArrowheads="1"/>
              </p:cNvSpPr>
              <p:nvPr/>
            </p:nvSpPr>
            <p:spPr bwMode="auto">
              <a:xfrm>
                <a:off x="1356" y="1194"/>
                <a:ext cx="192" cy="288"/>
              </a:xfrm>
              <a:prstGeom prst="flowChartSort">
                <a:avLst/>
              </a:prstGeom>
              <a:noFill/>
              <a:ln w="3810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2715" name="Line 82"/>
              <p:cNvSpPr>
                <a:spLocks noChangeShapeType="1"/>
              </p:cNvSpPr>
              <p:nvPr/>
            </p:nvSpPr>
            <p:spPr bwMode="auto">
              <a:xfrm>
                <a:off x="1452" y="1482"/>
                <a:ext cx="0" cy="16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2716" name="Line 83"/>
              <p:cNvSpPr>
                <a:spLocks noChangeShapeType="1"/>
              </p:cNvSpPr>
              <p:nvPr/>
            </p:nvSpPr>
            <p:spPr bwMode="auto">
              <a:xfrm>
                <a:off x="1452" y="1650"/>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2717" name="Line 84"/>
              <p:cNvSpPr>
                <a:spLocks noChangeShapeType="1"/>
              </p:cNvSpPr>
              <p:nvPr/>
            </p:nvSpPr>
            <p:spPr bwMode="auto">
              <a:xfrm flipV="1">
                <a:off x="1452" y="1002"/>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2718" name="Line 85"/>
              <p:cNvSpPr>
                <a:spLocks noChangeShapeType="1"/>
              </p:cNvSpPr>
              <p:nvPr/>
            </p:nvSpPr>
            <p:spPr bwMode="auto">
              <a:xfrm>
                <a:off x="1452" y="1002"/>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2719" name="Text Box 86"/>
              <p:cNvSpPr txBox="1">
                <a:spLocks noChangeArrowheads="1"/>
              </p:cNvSpPr>
              <p:nvPr/>
            </p:nvSpPr>
            <p:spPr bwMode="auto">
              <a:xfrm>
                <a:off x="1548" y="1182"/>
                <a:ext cx="4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gv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2720" name="Text Box 87"/>
              <p:cNvSpPr txBox="1">
                <a:spLocks noChangeArrowheads="1"/>
              </p:cNvSpPr>
              <p:nvPr/>
            </p:nvSpPr>
            <p:spPr bwMode="auto">
              <a:xfrm>
                <a:off x="2256" y="906"/>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2721" name="Text Box 88"/>
              <p:cNvSpPr txBox="1">
                <a:spLocks noChangeArrowheads="1"/>
              </p:cNvSpPr>
              <p:nvPr/>
            </p:nvSpPr>
            <p:spPr bwMode="auto">
              <a:xfrm>
                <a:off x="2256" y="1410"/>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2722" name="Text Box 89"/>
              <p:cNvSpPr txBox="1">
                <a:spLocks noChangeArrowheads="1"/>
              </p:cNvSpPr>
              <p:nvPr/>
            </p:nvSpPr>
            <p:spPr bwMode="auto">
              <a:xfrm>
                <a:off x="2220" y="1194"/>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2723" name="Line 90"/>
              <p:cNvSpPr>
                <a:spLocks noChangeShapeType="1"/>
              </p:cNvSpPr>
              <p:nvPr/>
            </p:nvSpPr>
            <p:spPr bwMode="auto">
              <a:xfrm flipH="1">
                <a:off x="1608" y="894"/>
                <a:ext cx="264"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2724" name="Text Box 91"/>
              <p:cNvSpPr txBox="1">
                <a:spLocks noChangeArrowheads="1"/>
              </p:cNvSpPr>
              <p:nvPr/>
            </p:nvSpPr>
            <p:spPr bwMode="auto">
              <a:xfrm>
                <a:off x="1872" y="666"/>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2725" name="Line 92"/>
              <p:cNvSpPr>
                <a:spLocks noChangeShapeType="1"/>
              </p:cNvSpPr>
              <p:nvPr/>
            </p:nvSpPr>
            <p:spPr bwMode="auto">
              <a:xfrm>
                <a:off x="816" y="1002"/>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2726" name="Line 93"/>
              <p:cNvSpPr>
                <a:spLocks noChangeShapeType="1"/>
              </p:cNvSpPr>
              <p:nvPr/>
            </p:nvSpPr>
            <p:spPr bwMode="auto">
              <a:xfrm>
                <a:off x="960" y="894"/>
                <a:ext cx="240"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2727" name="Line 94"/>
              <p:cNvSpPr>
                <a:spLocks noChangeShapeType="1"/>
              </p:cNvSpPr>
              <p:nvPr/>
            </p:nvSpPr>
            <p:spPr bwMode="auto">
              <a:xfrm flipH="1" flipV="1">
                <a:off x="816" y="1650"/>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2728" name="Text Box 95"/>
              <p:cNvSpPr txBox="1">
                <a:spLocks noChangeArrowheads="1"/>
              </p:cNvSpPr>
              <p:nvPr/>
            </p:nvSpPr>
            <p:spPr bwMode="auto">
              <a:xfrm>
                <a:off x="718" y="1014"/>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2729" name="Text Box 96"/>
              <p:cNvSpPr txBox="1">
                <a:spLocks noChangeArrowheads="1"/>
              </p:cNvSpPr>
              <p:nvPr/>
            </p:nvSpPr>
            <p:spPr bwMode="auto">
              <a:xfrm>
                <a:off x="708" y="1290"/>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2730" name="Text Box 97"/>
              <p:cNvSpPr txBox="1">
                <a:spLocks noChangeArrowheads="1"/>
              </p:cNvSpPr>
              <p:nvPr/>
            </p:nvSpPr>
            <p:spPr bwMode="auto">
              <a:xfrm>
                <a:off x="624" y="1194"/>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2731" name="Text Box 98"/>
              <p:cNvSpPr txBox="1">
                <a:spLocks noChangeArrowheads="1"/>
              </p:cNvSpPr>
              <p:nvPr/>
            </p:nvSpPr>
            <p:spPr bwMode="auto">
              <a:xfrm>
                <a:off x="684" y="666"/>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2732" name="Line 99"/>
              <p:cNvSpPr>
                <a:spLocks noChangeShapeType="1"/>
              </p:cNvSpPr>
              <p:nvPr/>
            </p:nvSpPr>
            <p:spPr bwMode="auto">
              <a:xfrm>
                <a:off x="1584" y="1242"/>
                <a:ext cx="0" cy="246"/>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2733" name="Oval 100"/>
              <p:cNvSpPr>
                <a:spLocks noChangeArrowheads="1"/>
              </p:cNvSpPr>
              <p:nvPr/>
            </p:nvSpPr>
            <p:spPr bwMode="auto">
              <a:xfrm>
                <a:off x="768" y="976"/>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2734" name="Oval 101"/>
              <p:cNvSpPr>
                <a:spLocks noChangeArrowheads="1"/>
              </p:cNvSpPr>
              <p:nvPr/>
            </p:nvSpPr>
            <p:spPr bwMode="auto">
              <a:xfrm>
                <a:off x="768" y="1616"/>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2735" name="Oval 102"/>
              <p:cNvSpPr>
                <a:spLocks noChangeArrowheads="1"/>
              </p:cNvSpPr>
              <p:nvPr/>
            </p:nvSpPr>
            <p:spPr bwMode="auto">
              <a:xfrm>
                <a:off x="2112" y="163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2736" name="Oval 103"/>
              <p:cNvSpPr>
                <a:spLocks noChangeArrowheads="1"/>
              </p:cNvSpPr>
              <p:nvPr/>
            </p:nvSpPr>
            <p:spPr bwMode="auto">
              <a:xfrm>
                <a:off x="2112" y="984"/>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spTree>
    <p:extLst>
      <p:ext uri="{BB962C8B-B14F-4D97-AF65-F5344CB8AC3E}">
        <p14:creationId xmlns:p14="http://schemas.microsoft.com/office/powerpoint/2010/main" val="3905140880"/>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6178"/>
                                        </p:tgtEl>
                                        <p:attrNameLst>
                                          <p:attrName>style.visibility</p:attrName>
                                        </p:attrNameLst>
                                      </p:cBhvr>
                                      <p:to>
                                        <p:strVal val="visible"/>
                                      </p:to>
                                    </p:set>
                                    <p:animEffect transition="in" filter="blinds(horizontal)">
                                      <p:cBhvr>
                                        <p:cTn id="7" dur="500"/>
                                        <p:tgtEl>
                                          <p:spTgt spid="306178"/>
                                        </p:tgtEl>
                                      </p:cBhvr>
                                    </p:animEffect>
                                  </p:childTnLst>
                                </p:cTn>
                              </p:par>
                              <p:par>
                                <p:cTn id="8" presetID="3" presetClass="entr" presetSubtype="10" fill="hold" nodeType="withEffect">
                                  <p:stCondLst>
                                    <p:cond delay="0"/>
                                  </p:stCondLst>
                                  <p:childTnLst>
                                    <p:set>
                                      <p:cBhvr>
                                        <p:cTn id="9" dur="1" fill="hold">
                                          <p:stCondLst>
                                            <p:cond delay="0"/>
                                          </p:stCondLst>
                                        </p:cTn>
                                        <p:tgtEl>
                                          <p:spTgt spid="306181"/>
                                        </p:tgtEl>
                                        <p:attrNameLst>
                                          <p:attrName>style.visibility</p:attrName>
                                        </p:attrNameLst>
                                      </p:cBhvr>
                                      <p:to>
                                        <p:strVal val="visible"/>
                                      </p:to>
                                    </p:set>
                                    <p:animEffect transition="in" filter="blinds(horizontal)">
                                      <p:cBhvr>
                                        <p:cTn id="10" dur="500"/>
                                        <p:tgtEl>
                                          <p:spTgt spid="306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8227" name="Group 3"/>
          <p:cNvGrpSpPr>
            <a:grpSpLocks/>
          </p:cNvGrpSpPr>
          <p:nvPr/>
        </p:nvGrpSpPr>
        <p:grpSpPr bwMode="auto">
          <a:xfrm>
            <a:off x="5227638" y="2979738"/>
            <a:ext cx="3048000" cy="2095500"/>
            <a:chOff x="624" y="882"/>
            <a:chExt cx="1920" cy="1320"/>
          </a:xfrm>
        </p:grpSpPr>
        <p:sp>
          <p:nvSpPr>
            <p:cNvPr id="73811" name="Text Box 4"/>
            <p:cNvSpPr txBox="1">
              <a:spLocks noChangeArrowheads="1"/>
            </p:cNvSpPr>
            <p:nvPr/>
          </p:nvSpPr>
          <p:spPr bwMode="auto">
            <a:xfrm>
              <a:off x="924" y="1914"/>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CCCS</a:t>
              </a:r>
            </a:p>
          </p:txBody>
        </p:sp>
        <p:sp>
          <p:nvSpPr>
            <p:cNvPr id="73812" name="AutoShape 5"/>
            <p:cNvSpPr>
              <a:spLocks noChangeArrowheads="1"/>
            </p:cNvSpPr>
            <p:nvPr/>
          </p:nvSpPr>
          <p:spPr bwMode="auto">
            <a:xfrm>
              <a:off x="1356" y="1410"/>
              <a:ext cx="192" cy="288"/>
            </a:xfrm>
            <a:prstGeom prst="flowChartSort">
              <a:avLst/>
            </a:prstGeom>
            <a:noFill/>
            <a:ln w="3810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813" name="Line 6"/>
            <p:cNvSpPr>
              <a:spLocks noChangeShapeType="1"/>
            </p:cNvSpPr>
            <p:nvPr/>
          </p:nvSpPr>
          <p:spPr bwMode="auto">
            <a:xfrm>
              <a:off x="1452" y="1698"/>
              <a:ext cx="0" cy="16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814" name="Line 7"/>
            <p:cNvSpPr>
              <a:spLocks noChangeShapeType="1"/>
            </p:cNvSpPr>
            <p:nvPr/>
          </p:nvSpPr>
          <p:spPr bwMode="auto">
            <a:xfrm>
              <a:off x="1452" y="1866"/>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815" name="Line 8"/>
            <p:cNvSpPr>
              <a:spLocks noChangeShapeType="1"/>
            </p:cNvSpPr>
            <p:nvPr/>
          </p:nvSpPr>
          <p:spPr bwMode="auto">
            <a:xfrm flipV="1">
              <a:off x="1452" y="1218"/>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816" name="Line 9"/>
            <p:cNvSpPr>
              <a:spLocks noChangeShapeType="1"/>
            </p:cNvSpPr>
            <p:nvPr/>
          </p:nvSpPr>
          <p:spPr bwMode="auto">
            <a:xfrm>
              <a:off x="1452" y="1218"/>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817" name="Text Box 10"/>
            <p:cNvSpPr txBox="1">
              <a:spLocks noChangeArrowheads="1"/>
            </p:cNvSpPr>
            <p:nvPr/>
          </p:nvSpPr>
          <p:spPr bwMode="auto">
            <a:xfrm>
              <a:off x="1548" y="1398"/>
              <a:ext cx="4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latin typeface="Symbol" pitchFamily="18" charset="2"/>
                  <a:sym typeface="Symbol" pitchFamily="18" charset="2"/>
                </a:rPr>
                <a:t>b</a:t>
              </a:r>
              <a:r>
                <a:rPr lang="en-US" altLang="zh-CN">
                  <a:solidFill>
                    <a:schemeClr val="tx2"/>
                  </a:solidFill>
                  <a:latin typeface="Symbol" pitchFamily="18" charset="2"/>
                  <a:sym typeface="Symbol" pitchFamily="18" charset="2"/>
                </a:rPr>
                <a:t> </a:t>
              </a: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3818" name="Text Box 11"/>
            <p:cNvSpPr txBox="1">
              <a:spLocks noChangeArrowheads="1"/>
            </p:cNvSpPr>
            <p:nvPr/>
          </p:nvSpPr>
          <p:spPr bwMode="auto">
            <a:xfrm>
              <a:off x="2256" y="1122"/>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3819" name="Text Box 12"/>
            <p:cNvSpPr txBox="1">
              <a:spLocks noChangeArrowheads="1"/>
            </p:cNvSpPr>
            <p:nvPr/>
          </p:nvSpPr>
          <p:spPr bwMode="auto">
            <a:xfrm>
              <a:off x="2256" y="1626"/>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3820" name="Text Box 13"/>
            <p:cNvSpPr txBox="1">
              <a:spLocks noChangeArrowheads="1"/>
            </p:cNvSpPr>
            <p:nvPr/>
          </p:nvSpPr>
          <p:spPr bwMode="auto">
            <a:xfrm>
              <a:off x="2220" y="141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3821" name="Line 14"/>
            <p:cNvSpPr>
              <a:spLocks noChangeShapeType="1"/>
            </p:cNvSpPr>
            <p:nvPr/>
          </p:nvSpPr>
          <p:spPr bwMode="auto">
            <a:xfrm flipH="1">
              <a:off x="1608" y="1110"/>
              <a:ext cx="264"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822" name="Text Box 15"/>
            <p:cNvSpPr txBox="1">
              <a:spLocks noChangeArrowheads="1"/>
            </p:cNvSpPr>
            <p:nvPr/>
          </p:nvSpPr>
          <p:spPr bwMode="auto">
            <a:xfrm>
              <a:off x="1872" y="88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3823" name="Line 16"/>
            <p:cNvSpPr>
              <a:spLocks noChangeShapeType="1"/>
            </p:cNvSpPr>
            <p:nvPr/>
          </p:nvSpPr>
          <p:spPr bwMode="auto">
            <a:xfrm>
              <a:off x="816" y="1218"/>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824" name="Line 17"/>
            <p:cNvSpPr>
              <a:spLocks noChangeShapeType="1"/>
            </p:cNvSpPr>
            <p:nvPr/>
          </p:nvSpPr>
          <p:spPr bwMode="auto">
            <a:xfrm>
              <a:off x="960" y="1110"/>
              <a:ext cx="240"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825" name="Line 18"/>
            <p:cNvSpPr>
              <a:spLocks noChangeShapeType="1"/>
            </p:cNvSpPr>
            <p:nvPr/>
          </p:nvSpPr>
          <p:spPr bwMode="auto">
            <a:xfrm>
              <a:off x="1200" y="1218"/>
              <a:ext cx="0" cy="64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826" name="Line 19"/>
            <p:cNvSpPr>
              <a:spLocks noChangeShapeType="1"/>
            </p:cNvSpPr>
            <p:nvPr/>
          </p:nvSpPr>
          <p:spPr bwMode="auto">
            <a:xfrm flipH="1" flipV="1">
              <a:off x="816" y="1866"/>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827" name="Text Box 20"/>
            <p:cNvSpPr txBox="1">
              <a:spLocks noChangeArrowheads="1"/>
            </p:cNvSpPr>
            <p:nvPr/>
          </p:nvSpPr>
          <p:spPr bwMode="auto">
            <a:xfrm>
              <a:off x="718" y="1230"/>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3828" name="Text Box 21"/>
            <p:cNvSpPr txBox="1">
              <a:spLocks noChangeArrowheads="1"/>
            </p:cNvSpPr>
            <p:nvPr/>
          </p:nvSpPr>
          <p:spPr bwMode="auto">
            <a:xfrm>
              <a:off x="708" y="1506"/>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3829" name="Text Box 22"/>
            <p:cNvSpPr txBox="1">
              <a:spLocks noChangeArrowheads="1"/>
            </p:cNvSpPr>
            <p:nvPr/>
          </p:nvSpPr>
          <p:spPr bwMode="auto">
            <a:xfrm>
              <a:off x="624" y="141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3830" name="Text Box 23"/>
            <p:cNvSpPr txBox="1">
              <a:spLocks noChangeArrowheads="1"/>
            </p:cNvSpPr>
            <p:nvPr/>
          </p:nvSpPr>
          <p:spPr bwMode="auto">
            <a:xfrm>
              <a:off x="684" y="882"/>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3831" name="Line 24"/>
            <p:cNvSpPr>
              <a:spLocks noChangeShapeType="1"/>
            </p:cNvSpPr>
            <p:nvPr/>
          </p:nvSpPr>
          <p:spPr bwMode="auto">
            <a:xfrm>
              <a:off x="1584" y="1458"/>
              <a:ext cx="0" cy="246"/>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832" name="Oval 25"/>
            <p:cNvSpPr>
              <a:spLocks noChangeArrowheads="1"/>
            </p:cNvSpPr>
            <p:nvPr/>
          </p:nvSpPr>
          <p:spPr bwMode="auto">
            <a:xfrm>
              <a:off x="768" y="119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833" name="Oval 26"/>
            <p:cNvSpPr>
              <a:spLocks noChangeArrowheads="1"/>
            </p:cNvSpPr>
            <p:nvPr/>
          </p:nvSpPr>
          <p:spPr bwMode="auto">
            <a:xfrm>
              <a:off x="768" y="183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834" name="Oval 27"/>
            <p:cNvSpPr>
              <a:spLocks noChangeArrowheads="1"/>
            </p:cNvSpPr>
            <p:nvPr/>
          </p:nvSpPr>
          <p:spPr bwMode="auto">
            <a:xfrm>
              <a:off x="2112" y="1848"/>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835" name="Oval 28"/>
            <p:cNvSpPr>
              <a:spLocks noChangeArrowheads="1"/>
            </p:cNvSpPr>
            <p:nvPr/>
          </p:nvSpPr>
          <p:spPr bwMode="auto">
            <a:xfrm>
              <a:off x="2112" y="1200"/>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308253" name="Group 29"/>
          <p:cNvGrpSpPr>
            <a:grpSpLocks/>
          </p:cNvGrpSpPr>
          <p:nvPr/>
        </p:nvGrpSpPr>
        <p:grpSpPr bwMode="auto">
          <a:xfrm>
            <a:off x="5138738" y="601663"/>
            <a:ext cx="3048000" cy="2095500"/>
            <a:chOff x="656" y="2722"/>
            <a:chExt cx="1920" cy="1320"/>
          </a:xfrm>
        </p:grpSpPr>
        <p:sp>
          <p:nvSpPr>
            <p:cNvPr id="73784" name="Text Box 30"/>
            <p:cNvSpPr txBox="1">
              <a:spLocks noChangeArrowheads="1"/>
            </p:cNvSpPr>
            <p:nvPr/>
          </p:nvSpPr>
          <p:spPr bwMode="auto">
            <a:xfrm>
              <a:off x="1904" y="2722"/>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3785" name="Text Box 31"/>
            <p:cNvSpPr txBox="1">
              <a:spLocks noChangeArrowheads="1"/>
            </p:cNvSpPr>
            <p:nvPr/>
          </p:nvSpPr>
          <p:spPr bwMode="auto">
            <a:xfrm>
              <a:off x="716" y="2722"/>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grpSp>
          <p:nvGrpSpPr>
            <p:cNvPr id="73786" name="Group 32"/>
            <p:cNvGrpSpPr>
              <a:grpSpLocks/>
            </p:cNvGrpSpPr>
            <p:nvPr/>
          </p:nvGrpSpPr>
          <p:grpSpPr bwMode="auto">
            <a:xfrm>
              <a:off x="656" y="2950"/>
              <a:ext cx="1920" cy="1092"/>
              <a:chOff x="656" y="2950"/>
              <a:chExt cx="1920" cy="1092"/>
            </a:xfrm>
          </p:grpSpPr>
          <p:sp>
            <p:nvSpPr>
              <p:cNvPr id="73787" name="Text Box 33"/>
              <p:cNvSpPr txBox="1">
                <a:spLocks noChangeArrowheads="1"/>
              </p:cNvSpPr>
              <p:nvPr/>
            </p:nvSpPr>
            <p:spPr bwMode="auto">
              <a:xfrm>
                <a:off x="956" y="3754"/>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CCVS</a:t>
                </a:r>
              </a:p>
            </p:txBody>
          </p:sp>
          <p:sp>
            <p:nvSpPr>
              <p:cNvPr id="73788" name="Line 34"/>
              <p:cNvSpPr>
                <a:spLocks noChangeShapeType="1"/>
              </p:cNvSpPr>
              <p:nvPr/>
            </p:nvSpPr>
            <p:spPr bwMode="auto">
              <a:xfrm>
                <a:off x="1484" y="3538"/>
                <a:ext cx="0" cy="16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789" name="Line 35"/>
              <p:cNvSpPr>
                <a:spLocks noChangeShapeType="1"/>
              </p:cNvSpPr>
              <p:nvPr/>
            </p:nvSpPr>
            <p:spPr bwMode="auto">
              <a:xfrm>
                <a:off x="1484" y="3706"/>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90" name="Line 36"/>
              <p:cNvSpPr>
                <a:spLocks noChangeShapeType="1"/>
              </p:cNvSpPr>
              <p:nvPr/>
            </p:nvSpPr>
            <p:spPr bwMode="auto">
              <a:xfrm flipV="1">
                <a:off x="1484" y="3058"/>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91" name="Line 37"/>
              <p:cNvSpPr>
                <a:spLocks noChangeShapeType="1"/>
              </p:cNvSpPr>
              <p:nvPr/>
            </p:nvSpPr>
            <p:spPr bwMode="auto">
              <a:xfrm>
                <a:off x="1484" y="3058"/>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92" name="Text Box 38"/>
              <p:cNvSpPr txBox="1">
                <a:spLocks noChangeArrowheads="1"/>
              </p:cNvSpPr>
              <p:nvPr/>
            </p:nvSpPr>
            <p:spPr bwMode="auto">
              <a:xfrm>
                <a:off x="1508" y="3222"/>
                <a:ext cx="4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r</a:t>
                </a:r>
                <a:r>
                  <a:rPr lang="en-US" altLang="zh-CN">
                    <a:solidFill>
                      <a:schemeClr val="tx2"/>
                    </a:solidFill>
                    <a:latin typeface="Symbol" pitchFamily="18" charset="2"/>
                    <a:sym typeface="Symbol" pitchFamily="18" charset="2"/>
                  </a:rPr>
                  <a:t> </a:t>
                </a: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3793" name="Text Box 39"/>
              <p:cNvSpPr txBox="1">
                <a:spLocks noChangeArrowheads="1"/>
              </p:cNvSpPr>
              <p:nvPr/>
            </p:nvSpPr>
            <p:spPr bwMode="auto">
              <a:xfrm>
                <a:off x="2288" y="2962"/>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3794" name="Text Box 40"/>
              <p:cNvSpPr txBox="1">
                <a:spLocks noChangeArrowheads="1"/>
              </p:cNvSpPr>
              <p:nvPr/>
            </p:nvSpPr>
            <p:spPr bwMode="auto">
              <a:xfrm>
                <a:off x="2288" y="3466"/>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3795" name="Text Box 41"/>
              <p:cNvSpPr txBox="1">
                <a:spLocks noChangeArrowheads="1"/>
              </p:cNvSpPr>
              <p:nvPr/>
            </p:nvSpPr>
            <p:spPr bwMode="auto">
              <a:xfrm>
                <a:off x="2252" y="325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3796" name="Line 42"/>
              <p:cNvSpPr>
                <a:spLocks noChangeShapeType="1"/>
              </p:cNvSpPr>
              <p:nvPr/>
            </p:nvSpPr>
            <p:spPr bwMode="auto">
              <a:xfrm flipH="1">
                <a:off x="1640" y="2950"/>
                <a:ext cx="264"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797" name="Line 43"/>
              <p:cNvSpPr>
                <a:spLocks noChangeShapeType="1"/>
              </p:cNvSpPr>
              <p:nvPr/>
            </p:nvSpPr>
            <p:spPr bwMode="auto">
              <a:xfrm>
                <a:off x="848" y="3058"/>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98" name="Line 44"/>
              <p:cNvSpPr>
                <a:spLocks noChangeShapeType="1"/>
              </p:cNvSpPr>
              <p:nvPr/>
            </p:nvSpPr>
            <p:spPr bwMode="auto">
              <a:xfrm>
                <a:off x="992" y="2950"/>
                <a:ext cx="240"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799" name="Line 45"/>
              <p:cNvSpPr>
                <a:spLocks noChangeShapeType="1"/>
              </p:cNvSpPr>
              <p:nvPr/>
            </p:nvSpPr>
            <p:spPr bwMode="auto">
              <a:xfrm>
                <a:off x="1232" y="3058"/>
                <a:ext cx="0" cy="64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800" name="Line 46"/>
              <p:cNvSpPr>
                <a:spLocks noChangeShapeType="1"/>
              </p:cNvSpPr>
              <p:nvPr/>
            </p:nvSpPr>
            <p:spPr bwMode="auto">
              <a:xfrm flipH="1" flipV="1">
                <a:off x="848" y="3706"/>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801" name="Text Box 47"/>
              <p:cNvSpPr txBox="1">
                <a:spLocks noChangeArrowheads="1"/>
              </p:cNvSpPr>
              <p:nvPr/>
            </p:nvSpPr>
            <p:spPr bwMode="auto">
              <a:xfrm>
                <a:off x="750" y="3070"/>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3802" name="Text Box 48"/>
              <p:cNvSpPr txBox="1">
                <a:spLocks noChangeArrowheads="1"/>
              </p:cNvSpPr>
              <p:nvPr/>
            </p:nvSpPr>
            <p:spPr bwMode="auto">
              <a:xfrm>
                <a:off x="740" y="3346"/>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3803" name="Text Box 49"/>
              <p:cNvSpPr txBox="1">
                <a:spLocks noChangeArrowheads="1"/>
              </p:cNvSpPr>
              <p:nvPr/>
            </p:nvSpPr>
            <p:spPr bwMode="auto">
              <a:xfrm>
                <a:off x="656" y="325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3804" name="Oval 50"/>
              <p:cNvSpPr>
                <a:spLocks noChangeArrowheads="1"/>
              </p:cNvSpPr>
              <p:nvPr/>
            </p:nvSpPr>
            <p:spPr bwMode="auto">
              <a:xfrm>
                <a:off x="800" y="303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805" name="Oval 51"/>
              <p:cNvSpPr>
                <a:spLocks noChangeArrowheads="1"/>
              </p:cNvSpPr>
              <p:nvPr/>
            </p:nvSpPr>
            <p:spPr bwMode="auto">
              <a:xfrm>
                <a:off x="800" y="367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806" name="Oval 52"/>
              <p:cNvSpPr>
                <a:spLocks noChangeArrowheads="1"/>
              </p:cNvSpPr>
              <p:nvPr/>
            </p:nvSpPr>
            <p:spPr bwMode="auto">
              <a:xfrm>
                <a:off x="2144" y="3688"/>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807" name="Oval 53"/>
              <p:cNvSpPr>
                <a:spLocks noChangeArrowheads="1"/>
              </p:cNvSpPr>
              <p:nvPr/>
            </p:nvSpPr>
            <p:spPr bwMode="auto">
              <a:xfrm>
                <a:off x="2144" y="3040"/>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808" name="AutoShape 54"/>
              <p:cNvSpPr>
                <a:spLocks noChangeArrowheads="1"/>
              </p:cNvSpPr>
              <p:nvPr/>
            </p:nvSpPr>
            <p:spPr bwMode="auto">
              <a:xfrm rot="-5400000">
                <a:off x="1323" y="3275"/>
                <a:ext cx="318" cy="196"/>
              </a:xfrm>
              <a:prstGeom prst="flowChartSort">
                <a:avLst/>
              </a:prstGeom>
              <a:noFill/>
              <a:ln w="3810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809" name="Text Box 55"/>
              <p:cNvSpPr txBox="1">
                <a:spLocks noChangeArrowheads="1"/>
              </p:cNvSpPr>
              <p:nvPr/>
            </p:nvSpPr>
            <p:spPr bwMode="auto">
              <a:xfrm>
                <a:off x="1512" y="3066"/>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3810" name="Text Box 56"/>
              <p:cNvSpPr txBox="1">
                <a:spLocks noChangeArrowheads="1"/>
              </p:cNvSpPr>
              <p:nvPr/>
            </p:nvSpPr>
            <p:spPr bwMode="auto">
              <a:xfrm>
                <a:off x="1496" y="3322"/>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grpSp>
      </p:grpSp>
      <p:grpSp>
        <p:nvGrpSpPr>
          <p:cNvPr id="308281" name="Group 57"/>
          <p:cNvGrpSpPr>
            <a:grpSpLocks/>
          </p:cNvGrpSpPr>
          <p:nvPr/>
        </p:nvGrpSpPr>
        <p:grpSpPr bwMode="auto">
          <a:xfrm>
            <a:off x="1216025" y="3076575"/>
            <a:ext cx="3048000" cy="2095500"/>
            <a:chOff x="624" y="666"/>
            <a:chExt cx="1920" cy="1320"/>
          </a:xfrm>
        </p:grpSpPr>
        <p:sp>
          <p:nvSpPr>
            <p:cNvPr id="73760" name="Text Box 58"/>
            <p:cNvSpPr txBox="1">
              <a:spLocks noChangeArrowheads="1"/>
            </p:cNvSpPr>
            <p:nvPr/>
          </p:nvSpPr>
          <p:spPr bwMode="auto">
            <a:xfrm>
              <a:off x="924" y="1698"/>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VCCS</a:t>
              </a:r>
            </a:p>
          </p:txBody>
        </p:sp>
        <p:sp>
          <p:nvSpPr>
            <p:cNvPr id="73761" name="AutoShape 59"/>
            <p:cNvSpPr>
              <a:spLocks noChangeArrowheads="1"/>
            </p:cNvSpPr>
            <p:nvPr/>
          </p:nvSpPr>
          <p:spPr bwMode="auto">
            <a:xfrm>
              <a:off x="1356" y="1194"/>
              <a:ext cx="192" cy="288"/>
            </a:xfrm>
            <a:prstGeom prst="flowChartSort">
              <a:avLst/>
            </a:prstGeom>
            <a:noFill/>
            <a:ln w="3810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762" name="Line 60"/>
            <p:cNvSpPr>
              <a:spLocks noChangeShapeType="1"/>
            </p:cNvSpPr>
            <p:nvPr/>
          </p:nvSpPr>
          <p:spPr bwMode="auto">
            <a:xfrm>
              <a:off x="1452" y="1482"/>
              <a:ext cx="0" cy="16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763" name="Line 61"/>
            <p:cNvSpPr>
              <a:spLocks noChangeShapeType="1"/>
            </p:cNvSpPr>
            <p:nvPr/>
          </p:nvSpPr>
          <p:spPr bwMode="auto">
            <a:xfrm>
              <a:off x="1452" y="1650"/>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64" name="Line 62"/>
            <p:cNvSpPr>
              <a:spLocks noChangeShapeType="1"/>
            </p:cNvSpPr>
            <p:nvPr/>
          </p:nvSpPr>
          <p:spPr bwMode="auto">
            <a:xfrm flipV="1">
              <a:off x="1452" y="1002"/>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765" name="Line 63"/>
            <p:cNvSpPr>
              <a:spLocks noChangeShapeType="1"/>
            </p:cNvSpPr>
            <p:nvPr/>
          </p:nvSpPr>
          <p:spPr bwMode="auto">
            <a:xfrm>
              <a:off x="1452" y="1002"/>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66" name="Text Box 64"/>
            <p:cNvSpPr txBox="1">
              <a:spLocks noChangeArrowheads="1"/>
            </p:cNvSpPr>
            <p:nvPr/>
          </p:nvSpPr>
          <p:spPr bwMode="auto">
            <a:xfrm>
              <a:off x="1548" y="1182"/>
              <a:ext cx="4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gv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3767" name="Text Box 65"/>
            <p:cNvSpPr txBox="1">
              <a:spLocks noChangeArrowheads="1"/>
            </p:cNvSpPr>
            <p:nvPr/>
          </p:nvSpPr>
          <p:spPr bwMode="auto">
            <a:xfrm>
              <a:off x="2256" y="906"/>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3768" name="Text Box 66"/>
            <p:cNvSpPr txBox="1">
              <a:spLocks noChangeArrowheads="1"/>
            </p:cNvSpPr>
            <p:nvPr/>
          </p:nvSpPr>
          <p:spPr bwMode="auto">
            <a:xfrm>
              <a:off x="2256" y="1410"/>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3769" name="Text Box 67"/>
            <p:cNvSpPr txBox="1">
              <a:spLocks noChangeArrowheads="1"/>
            </p:cNvSpPr>
            <p:nvPr/>
          </p:nvSpPr>
          <p:spPr bwMode="auto">
            <a:xfrm>
              <a:off x="2220" y="1194"/>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3770" name="Line 68"/>
            <p:cNvSpPr>
              <a:spLocks noChangeShapeType="1"/>
            </p:cNvSpPr>
            <p:nvPr/>
          </p:nvSpPr>
          <p:spPr bwMode="auto">
            <a:xfrm flipH="1">
              <a:off x="1608" y="894"/>
              <a:ext cx="264"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771" name="Text Box 69"/>
            <p:cNvSpPr txBox="1">
              <a:spLocks noChangeArrowheads="1"/>
            </p:cNvSpPr>
            <p:nvPr/>
          </p:nvSpPr>
          <p:spPr bwMode="auto">
            <a:xfrm>
              <a:off x="1872" y="666"/>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3772" name="Line 70"/>
            <p:cNvSpPr>
              <a:spLocks noChangeShapeType="1"/>
            </p:cNvSpPr>
            <p:nvPr/>
          </p:nvSpPr>
          <p:spPr bwMode="auto">
            <a:xfrm>
              <a:off x="816" y="1002"/>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73" name="Line 71"/>
            <p:cNvSpPr>
              <a:spLocks noChangeShapeType="1"/>
            </p:cNvSpPr>
            <p:nvPr/>
          </p:nvSpPr>
          <p:spPr bwMode="auto">
            <a:xfrm>
              <a:off x="960" y="894"/>
              <a:ext cx="240"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774" name="Line 72"/>
            <p:cNvSpPr>
              <a:spLocks noChangeShapeType="1"/>
            </p:cNvSpPr>
            <p:nvPr/>
          </p:nvSpPr>
          <p:spPr bwMode="auto">
            <a:xfrm flipH="1" flipV="1">
              <a:off x="816" y="1650"/>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75" name="Text Box 73"/>
            <p:cNvSpPr txBox="1">
              <a:spLocks noChangeArrowheads="1"/>
            </p:cNvSpPr>
            <p:nvPr/>
          </p:nvSpPr>
          <p:spPr bwMode="auto">
            <a:xfrm>
              <a:off x="718" y="1014"/>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3776" name="Text Box 74"/>
            <p:cNvSpPr txBox="1">
              <a:spLocks noChangeArrowheads="1"/>
            </p:cNvSpPr>
            <p:nvPr/>
          </p:nvSpPr>
          <p:spPr bwMode="auto">
            <a:xfrm>
              <a:off x="708" y="1290"/>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3777" name="Text Box 75"/>
            <p:cNvSpPr txBox="1">
              <a:spLocks noChangeArrowheads="1"/>
            </p:cNvSpPr>
            <p:nvPr/>
          </p:nvSpPr>
          <p:spPr bwMode="auto">
            <a:xfrm>
              <a:off x="624" y="1194"/>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3778" name="Text Box 76"/>
            <p:cNvSpPr txBox="1">
              <a:spLocks noChangeArrowheads="1"/>
            </p:cNvSpPr>
            <p:nvPr/>
          </p:nvSpPr>
          <p:spPr bwMode="auto">
            <a:xfrm>
              <a:off x="684" y="666"/>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3779" name="Line 77"/>
            <p:cNvSpPr>
              <a:spLocks noChangeShapeType="1"/>
            </p:cNvSpPr>
            <p:nvPr/>
          </p:nvSpPr>
          <p:spPr bwMode="auto">
            <a:xfrm>
              <a:off x="1584" y="1242"/>
              <a:ext cx="0" cy="246"/>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80" name="Oval 78"/>
            <p:cNvSpPr>
              <a:spLocks noChangeArrowheads="1"/>
            </p:cNvSpPr>
            <p:nvPr/>
          </p:nvSpPr>
          <p:spPr bwMode="auto">
            <a:xfrm>
              <a:off x="768" y="976"/>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781" name="Oval 79"/>
            <p:cNvSpPr>
              <a:spLocks noChangeArrowheads="1"/>
            </p:cNvSpPr>
            <p:nvPr/>
          </p:nvSpPr>
          <p:spPr bwMode="auto">
            <a:xfrm>
              <a:off x="768" y="1616"/>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782" name="Oval 80"/>
            <p:cNvSpPr>
              <a:spLocks noChangeArrowheads="1"/>
            </p:cNvSpPr>
            <p:nvPr/>
          </p:nvSpPr>
          <p:spPr bwMode="auto">
            <a:xfrm>
              <a:off x="2112" y="163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783" name="Oval 81"/>
            <p:cNvSpPr>
              <a:spLocks noChangeArrowheads="1"/>
            </p:cNvSpPr>
            <p:nvPr/>
          </p:nvSpPr>
          <p:spPr bwMode="auto">
            <a:xfrm>
              <a:off x="2112" y="984"/>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pSp>
      <p:grpSp>
        <p:nvGrpSpPr>
          <p:cNvPr id="308306" name="Group 82"/>
          <p:cNvGrpSpPr>
            <a:grpSpLocks/>
          </p:cNvGrpSpPr>
          <p:nvPr/>
        </p:nvGrpSpPr>
        <p:grpSpPr bwMode="auto">
          <a:xfrm>
            <a:off x="1141413" y="622300"/>
            <a:ext cx="3048000" cy="2006600"/>
            <a:chOff x="688" y="2658"/>
            <a:chExt cx="1920" cy="1264"/>
          </a:xfrm>
        </p:grpSpPr>
        <p:sp>
          <p:nvSpPr>
            <p:cNvPr id="73735" name="Text Box 83"/>
            <p:cNvSpPr txBox="1">
              <a:spLocks noChangeArrowheads="1"/>
            </p:cNvSpPr>
            <p:nvPr/>
          </p:nvSpPr>
          <p:spPr bwMode="auto">
            <a:xfrm>
              <a:off x="988" y="3634"/>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VCVS</a:t>
              </a:r>
            </a:p>
          </p:txBody>
        </p:sp>
        <p:sp>
          <p:nvSpPr>
            <p:cNvPr id="73736" name="Line 84"/>
            <p:cNvSpPr>
              <a:spLocks noChangeShapeType="1"/>
            </p:cNvSpPr>
            <p:nvPr/>
          </p:nvSpPr>
          <p:spPr bwMode="auto">
            <a:xfrm>
              <a:off x="1516" y="3418"/>
              <a:ext cx="0" cy="16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737" name="Line 85"/>
            <p:cNvSpPr>
              <a:spLocks noChangeShapeType="1"/>
            </p:cNvSpPr>
            <p:nvPr/>
          </p:nvSpPr>
          <p:spPr bwMode="auto">
            <a:xfrm>
              <a:off x="1516" y="3586"/>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38" name="Line 86"/>
            <p:cNvSpPr>
              <a:spLocks noChangeShapeType="1"/>
            </p:cNvSpPr>
            <p:nvPr/>
          </p:nvSpPr>
          <p:spPr bwMode="auto">
            <a:xfrm flipV="1">
              <a:off x="1516" y="2938"/>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39" name="Line 87"/>
            <p:cNvSpPr>
              <a:spLocks noChangeShapeType="1"/>
            </p:cNvSpPr>
            <p:nvPr/>
          </p:nvSpPr>
          <p:spPr bwMode="auto">
            <a:xfrm>
              <a:off x="1516" y="2938"/>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40" name="Text Box 88"/>
            <p:cNvSpPr txBox="1">
              <a:spLocks noChangeArrowheads="1"/>
            </p:cNvSpPr>
            <p:nvPr/>
          </p:nvSpPr>
          <p:spPr bwMode="auto">
            <a:xfrm>
              <a:off x="1540" y="3102"/>
              <a:ext cx="4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latin typeface="Symbol" pitchFamily="18" charset="2"/>
                  <a:sym typeface="Symbol" pitchFamily="18" charset="2"/>
                </a:rPr>
                <a:t></a:t>
              </a:r>
              <a:r>
                <a:rPr lang="en-US" altLang="zh-CN" i="1">
                  <a:solidFill>
                    <a:schemeClr val="tx2"/>
                  </a:solidFill>
                  <a:sym typeface="Symbol" pitchFamily="18" charset="2"/>
                </a:rPr>
                <a:t>v</a:t>
              </a:r>
              <a:r>
                <a:rPr lang="en-US" altLang="zh-CN" baseline="-25000">
                  <a:solidFill>
                    <a:schemeClr val="tx2"/>
                  </a:solidFill>
                  <a:sym typeface="Symbol" pitchFamily="18" charset="2"/>
                </a:rPr>
                <a:t>1</a:t>
              </a:r>
            </a:p>
          </p:txBody>
        </p:sp>
        <p:sp>
          <p:nvSpPr>
            <p:cNvPr id="73741" name="Text Box 89"/>
            <p:cNvSpPr txBox="1">
              <a:spLocks noChangeArrowheads="1"/>
            </p:cNvSpPr>
            <p:nvPr/>
          </p:nvSpPr>
          <p:spPr bwMode="auto">
            <a:xfrm>
              <a:off x="2320" y="2842"/>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3742" name="Text Box 90"/>
            <p:cNvSpPr txBox="1">
              <a:spLocks noChangeArrowheads="1"/>
            </p:cNvSpPr>
            <p:nvPr/>
          </p:nvSpPr>
          <p:spPr bwMode="auto">
            <a:xfrm>
              <a:off x="2320" y="3346"/>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3743" name="Text Box 91"/>
            <p:cNvSpPr txBox="1">
              <a:spLocks noChangeArrowheads="1"/>
            </p:cNvSpPr>
            <p:nvPr/>
          </p:nvSpPr>
          <p:spPr bwMode="auto">
            <a:xfrm>
              <a:off x="2284" y="313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3744" name="Line 92"/>
            <p:cNvSpPr>
              <a:spLocks noChangeShapeType="1"/>
            </p:cNvSpPr>
            <p:nvPr/>
          </p:nvSpPr>
          <p:spPr bwMode="auto">
            <a:xfrm flipH="1">
              <a:off x="1672" y="2830"/>
              <a:ext cx="264"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745" name="Line 93"/>
            <p:cNvSpPr>
              <a:spLocks noChangeShapeType="1"/>
            </p:cNvSpPr>
            <p:nvPr/>
          </p:nvSpPr>
          <p:spPr bwMode="auto">
            <a:xfrm>
              <a:off x="880" y="2938"/>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46" name="Line 94"/>
            <p:cNvSpPr>
              <a:spLocks noChangeShapeType="1"/>
            </p:cNvSpPr>
            <p:nvPr/>
          </p:nvSpPr>
          <p:spPr bwMode="auto">
            <a:xfrm>
              <a:off x="1024" y="2830"/>
              <a:ext cx="240"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3747" name="Line 95"/>
            <p:cNvSpPr>
              <a:spLocks noChangeShapeType="1"/>
            </p:cNvSpPr>
            <p:nvPr/>
          </p:nvSpPr>
          <p:spPr bwMode="auto">
            <a:xfrm flipH="1" flipV="1">
              <a:off x="880" y="3586"/>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48" name="Text Box 96"/>
            <p:cNvSpPr txBox="1">
              <a:spLocks noChangeArrowheads="1"/>
            </p:cNvSpPr>
            <p:nvPr/>
          </p:nvSpPr>
          <p:spPr bwMode="auto">
            <a:xfrm>
              <a:off x="782" y="2950"/>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3749" name="Text Box 97"/>
            <p:cNvSpPr txBox="1">
              <a:spLocks noChangeArrowheads="1"/>
            </p:cNvSpPr>
            <p:nvPr/>
          </p:nvSpPr>
          <p:spPr bwMode="auto">
            <a:xfrm>
              <a:off x="772" y="3226"/>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3750" name="Text Box 98"/>
            <p:cNvSpPr txBox="1">
              <a:spLocks noChangeArrowheads="1"/>
            </p:cNvSpPr>
            <p:nvPr/>
          </p:nvSpPr>
          <p:spPr bwMode="auto">
            <a:xfrm>
              <a:off x="688" y="3130"/>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3751" name="Oval 99"/>
            <p:cNvSpPr>
              <a:spLocks noChangeArrowheads="1"/>
            </p:cNvSpPr>
            <p:nvPr/>
          </p:nvSpPr>
          <p:spPr bwMode="auto">
            <a:xfrm>
              <a:off x="832" y="291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752" name="Oval 100"/>
            <p:cNvSpPr>
              <a:spLocks noChangeArrowheads="1"/>
            </p:cNvSpPr>
            <p:nvPr/>
          </p:nvSpPr>
          <p:spPr bwMode="auto">
            <a:xfrm>
              <a:off x="832" y="3552"/>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753" name="Oval 101"/>
            <p:cNvSpPr>
              <a:spLocks noChangeArrowheads="1"/>
            </p:cNvSpPr>
            <p:nvPr/>
          </p:nvSpPr>
          <p:spPr bwMode="auto">
            <a:xfrm>
              <a:off x="2176" y="3568"/>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754" name="Oval 102"/>
            <p:cNvSpPr>
              <a:spLocks noChangeArrowheads="1"/>
            </p:cNvSpPr>
            <p:nvPr/>
          </p:nvSpPr>
          <p:spPr bwMode="auto">
            <a:xfrm>
              <a:off x="2176" y="2920"/>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755" name="AutoShape 103"/>
            <p:cNvSpPr>
              <a:spLocks noChangeArrowheads="1"/>
            </p:cNvSpPr>
            <p:nvPr/>
          </p:nvSpPr>
          <p:spPr bwMode="auto">
            <a:xfrm rot="-5400000">
              <a:off x="1355" y="3155"/>
              <a:ext cx="318" cy="196"/>
            </a:xfrm>
            <a:prstGeom prst="flowChartSort">
              <a:avLst/>
            </a:prstGeom>
            <a:noFill/>
            <a:ln w="3810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3756" name="Text Box 104"/>
            <p:cNvSpPr txBox="1">
              <a:spLocks noChangeArrowheads="1"/>
            </p:cNvSpPr>
            <p:nvPr/>
          </p:nvSpPr>
          <p:spPr bwMode="auto">
            <a:xfrm>
              <a:off x="1544" y="2946"/>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3757" name="Text Box 105"/>
            <p:cNvSpPr txBox="1">
              <a:spLocks noChangeArrowheads="1"/>
            </p:cNvSpPr>
            <p:nvPr/>
          </p:nvSpPr>
          <p:spPr bwMode="auto">
            <a:xfrm>
              <a:off x="1528" y="3202"/>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endParaRPr lang="en-US" altLang="zh-CN" i="1">
                <a:solidFill>
                  <a:schemeClr val="tx2"/>
                </a:solidFill>
                <a:sym typeface="Symbol" pitchFamily="18" charset="2"/>
              </a:endParaRPr>
            </a:p>
          </p:txBody>
        </p:sp>
        <p:sp>
          <p:nvSpPr>
            <p:cNvPr id="73758" name="Text Box 106"/>
            <p:cNvSpPr txBox="1">
              <a:spLocks noChangeArrowheads="1"/>
            </p:cNvSpPr>
            <p:nvPr/>
          </p:nvSpPr>
          <p:spPr bwMode="auto">
            <a:xfrm>
              <a:off x="1928" y="2658"/>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3759" name="Text Box 107"/>
            <p:cNvSpPr txBox="1">
              <a:spLocks noChangeArrowheads="1"/>
            </p:cNvSpPr>
            <p:nvPr/>
          </p:nvSpPr>
          <p:spPr bwMode="auto">
            <a:xfrm>
              <a:off x="740" y="2658"/>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grpSp>
      <p:sp>
        <p:nvSpPr>
          <p:cNvPr id="308332" name="Text Box 108"/>
          <p:cNvSpPr txBox="1">
            <a:spLocks noChangeArrowheads="1"/>
          </p:cNvSpPr>
          <p:nvPr/>
        </p:nvSpPr>
        <p:spPr bwMode="auto">
          <a:xfrm>
            <a:off x="576263" y="5414963"/>
            <a:ext cx="8308975"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a:solidFill>
                  <a:srgbClr val="FF0000"/>
                </a:solidFill>
                <a:sym typeface="Symbol" pitchFamily="18" charset="2"/>
              </a:rPr>
              <a:t>* </a:t>
            </a:r>
            <a:r>
              <a:rPr lang="en-US" altLang="zh-CN" i="1">
                <a:solidFill>
                  <a:srgbClr val="FF0000"/>
                </a:solidFill>
                <a:sym typeface="Symbol" pitchFamily="18" charset="2"/>
              </a:rPr>
              <a:t></a:t>
            </a:r>
            <a:r>
              <a:rPr lang="zh-CN" altLang="en-US">
                <a:solidFill>
                  <a:srgbClr val="FF0000"/>
                </a:solidFill>
                <a:sym typeface="Symbol" pitchFamily="18" charset="2"/>
              </a:rPr>
              <a:t>，</a:t>
            </a:r>
            <a:r>
              <a:rPr lang="en-US" altLang="zh-CN" i="1">
                <a:solidFill>
                  <a:srgbClr val="FF0000"/>
                </a:solidFill>
                <a:sym typeface="Symbol" pitchFamily="18" charset="2"/>
              </a:rPr>
              <a:t>g</a:t>
            </a:r>
            <a:r>
              <a:rPr lang="zh-CN" altLang="en-US">
                <a:solidFill>
                  <a:srgbClr val="FF0000"/>
                </a:solidFill>
                <a:sym typeface="Symbol" pitchFamily="18" charset="2"/>
              </a:rPr>
              <a:t>， </a:t>
            </a:r>
            <a:r>
              <a:rPr lang="zh-CN" altLang="en-US" i="1">
                <a:solidFill>
                  <a:srgbClr val="FF0000"/>
                </a:solidFill>
                <a:latin typeface="Symbol" pitchFamily="18" charset="2"/>
                <a:sym typeface="Symbol" pitchFamily="18" charset="2"/>
              </a:rPr>
              <a:t> ，</a:t>
            </a:r>
            <a:r>
              <a:rPr lang="en-US" altLang="zh-CN" i="1">
                <a:solidFill>
                  <a:srgbClr val="FF0000"/>
                </a:solidFill>
                <a:latin typeface="Symbol" pitchFamily="18" charset="2"/>
                <a:sym typeface="Symbol" pitchFamily="18" charset="2"/>
              </a:rPr>
              <a:t>g</a:t>
            </a:r>
            <a:r>
              <a:rPr lang="en-US" altLang="zh-CN" i="1">
                <a:solidFill>
                  <a:srgbClr val="FF0000"/>
                </a:solidFill>
                <a:sym typeface="Symbol" pitchFamily="18" charset="2"/>
              </a:rPr>
              <a:t> </a:t>
            </a:r>
            <a:r>
              <a:rPr lang="zh-CN" altLang="zh-CN">
                <a:solidFill>
                  <a:srgbClr val="FF0000"/>
                </a:solidFill>
                <a:sym typeface="Symbol" pitchFamily="18" charset="2"/>
              </a:rPr>
              <a:t>为常数时，被控制量与控制量满足线性关系，</a:t>
            </a:r>
          </a:p>
          <a:p>
            <a:pPr>
              <a:spcBef>
                <a:spcPct val="50000"/>
              </a:spcBef>
            </a:pPr>
            <a:r>
              <a:rPr lang="zh-CN" altLang="zh-CN">
                <a:solidFill>
                  <a:srgbClr val="FF0000"/>
                </a:solidFill>
                <a:sym typeface="Symbol" pitchFamily="18" charset="2"/>
              </a:rPr>
              <a:t>称为线性受控源。</a:t>
            </a:r>
            <a:endParaRPr lang="zh-CN" altLang="en-US">
              <a:solidFill>
                <a:srgbClr val="FF0000"/>
              </a:solidFill>
              <a:sym typeface="Symbol" pitchFamily="18" charset="2"/>
            </a:endParaRPr>
          </a:p>
        </p:txBody>
      </p:sp>
    </p:spTree>
    <p:extLst>
      <p:ext uri="{BB962C8B-B14F-4D97-AF65-F5344CB8AC3E}">
        <p14:creationId xmlns:p14="http://schemas.microsoft.com/office/powerpoint/2010/main" val="1271485155"/>
      </p:ext>
    </p:extLst>
  </p:cSld>
  <p:clrMapOvr>
    <a:masterClrMapping/>
  </p:clrMapOvr>
  <p:transition spd="med"/>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Text Box 2"/>
          <p:cNvSpPr txBox="1">
            <a:spLocks noChangeArrowheads="1"/>
          </p:cNvSpPr>
          <p:nvPr/>
        </p:nvSpPr>
        <p:spPr bwMode="auto">
          <a:xfrm>
            <a:off x="463550" y="3211513"/>
            <a:ext cx="4038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a:solidFill>
                  <a:srgbClr val="A50021"/>
                </a:solidFill>
                <a:sym typeface="Symbol" pitchFamily="18" charset="2"/>
              </a:rPr>
              <a:t>4</a:t>
            </a:r>
            <a:r>
              <a:rPr lang="zh-CN" altLang="en-US">
                <a:solidFill>
                  <a:srgbClr val="A50021"/>
                </a:solidFill>
                <a:sym typeface="Symbol" pitchFamily="18" charset="2"/>
              </a:rPr>
              <a:t>、受控源与独立源的比较</a:t>
            </a:r>
          </a:p>
        </p:txBody>
      </p:sp>
      <p:sp>
        <p:nvSpPr>
          <p:cNvPr id="309251" name="Text Box 3"/>
          <p:cNvSpPr txBox="1">
            <a:spLocks noChangeArrowheads="1"/>
          </p:cNvSpPr>
          <p:nvPr/>
        </p:nvSpPr>
        <p:spPr bwMode="auto">
          <a:xfrm>
            <a:off x="533400" y="3702219"/>
            <a:ext cx="7939088"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81000" indent="-3810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lnSpc>
                <a:spcPct val="150000"/>
              </a:lnSpc>
              <a:spcBef>
                <a:spcPct val="50000"/>
              </a:spcBef>
            </a:pPr>
            <a:r>
              <a:rPr lang="en-US" altLang="zh-CN" sz="2000" dirty="0">
                <a:solidFill>
                  <a:schemeClr val="tx2"/>
                </a:solidFill>
                <a:sym typeface="Symbol" pitchFamily="18" charset="2"/>
              </a:rPr>
              <a:t>(1) </a:t>
            </a:r>
            <a:r>
              <a:rPr lang="zh-CN" altLang="en-US" sz="2000" dirty="0">
                <a:solidFill>
                  <a:schemeClr val="tx2"/>
                </a:solidFill>
                <a:sym typeface="Symbol" pitchFamily="18" charset="2"/>
              </a:rPr>
              <a:t>独立源</a:t>
            </a:r>
            <a:r>
              <a:rPr lang="zh-CN" altLang="en-US" sz="2000" dirty="0" smtClean="0">
                <a:solidFill>
                  <a:schemeClr val="tx2"/>
                </a:solidFill>
                <a:sym typeface="Symbol" pitchFamily="18" charset="2"/>
              </a:rPr>
              <a:t>电压（或电流）由</a:t>
            </a:r>
            <a:r>
              <a:rPr lang="zh-CN" altLang="en-US" sz="2000" dirty="0">
                <a:solidFill>
                  <a:schemeClr val="tx2"/>
                </a:solidFill>
                <a:sym typeface="Symbol" pitchFamily="18" charset="2"/>
              </a:rPr>
              <a:t>电源本身决定，与电路中其它电压、电流无关，而受控源</a:t>
            </a:r>
            <a:r>
              <a:rPr lang="zh-CN" altLang="en-US" sz="2000" dirty="0" smtClean="0">
                <a:solidFill>
                  <a:schemeClr val="tx2"/>
                </a:solidFill>
                <a:sym typeface="Symbol" pitchFamily="18" charset="2"/>
              </a:rPr>
              <a:t>电压（或电流）直接</a:t>
            </a:r>
            <a:r>
              <a:rPr lang="zh-CN" altLang="en-US" sz="2000" dirty="0">
                <a:solidFill>
                  <a:schemeClr val="tx2"/>
                </a:solidFill>
                <a:sym typeface="Symbol" pitchFamily="18" charset="2"/>
              </a:rPr>
              <a:t>由控制量决定。</a:t>
            </a:r>
          </a:p>
        </p:txBody>
      </p:sp>
      <p:sp>
        <p:nvSpPr>
          <p:cNvPr id="309252" name="Text Box 4"/>
          <p:cNvSpPr txBox="1">
            <a:spLocks noChangeArrowheads="1"/>
          </p:cNvSpPr>
          <p:nvPr/>
        </p:nvSpPr>
        <p:spPr bwMode="auto">
          <a:xfrm>
            <a:off x="519113" y="5029200"/>
            <a:ext cx="7967662" cy="1463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81000" indent="-381000"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just">
              <a:lnSpc>
                <a:spcPct val="150000"/>
              </a:lnSpc>
              <a:spcBef>
                <a:spcPct val="50000"/>
              </a:spcBef>
            </a:pPr>
            <a:r>
              <a:rPr lang="en-US" altLang="zh-CN" sz="2000">
                <a:solidFill>
                  <a:schemeClr val="tx2"/>
                </a:solidFill>
                <a:sym typeface="Symbol" pitchFamily="18" charset="2"/>
              </a:rPr>
              <a:t>(2) </a:t>
            </a:r>
            <a:r>
              <a:rPr lang="zh-CN" altLang="en-US" sz="2000">
                <a:solidFill>
                  <a:schemeClr val="tx2"/>
                </a:solidFill>
                <a:sym typeface="Symbol" pitchFamily="18" charset="2"/>
              </a:rPr>
              <a:t>独立源在电路中起“激励”作用，在电路中产生电压、电流，而受控源是反映电路中某处的电压或电流对另一处的电压或电流的控制关系，在电路中不能作为“激励”。</a:t>
            </a:r>
          </a:p>
        </p:txBody>
      </p:sp>
      <p:sp>
        <p:nvSpPr>
          <p:cNvPr id="74757" name="Text Box 5"/>
          <p:cNvSpPr txBox="1">
            <a:spLocks noChangeArrowheads="1"/>
          </p:cNvSpPr>
          <p:nvPr/>
        </p:nvSpPr>
        <p:spPr bwMode="auto">
          <a:xfrm>
            <a:off x="381000" y="228600"/>
            <a:ext cx="4572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a:solidFill>
                  <a:srgbClr val="A50021"/>
                </a:solidFill>
                <a:sym typeface="Symbol" pitchFamily="18" charset="2"/>
              </a:rPr>
              <a:t>3</a:t>
            </a:r>
            <a:r>
              <a:rPr lang="zh-CN" altLang="en-US">
                <a:solidFill>
                  <a:srgbClr val="A50021"/>
                </a:solidFill>
                <a:sym typeface="Symbol" pitchFamily="18" charset="2"/>
              </a:rPr>
              <a:t>、受控源的有源性和无源性</a:t>
            </a:r>
          </a:p>
        </p:txBody>
      </p:sp>
      <p:grpSp>
        <p:nvGrpSpPr>
          <p:cNvPr id="309286" name="Group 38"/>
          <p:cNvGrpSpPr>
            <a:grpSpLocks/>
          </p:cNvGrpSpPr>
          <p:nvPr/>
        </p:nvGrpSpPr>
        <p:grpSpPr bwMode="auto">
          <a:xfrm>
            <a:off x="4505325" y="750888"/>
            <a:ext cx="2851150" cy="2078038"/>
            <a:chOff x="2838" y="347"/>
            <a:chExt cx="1668" cy="1309"/>
          </a:xfrm>
        </p:grpSpPr>
        <p:sp>
          <p:nvSpPr>
            <p:cNvPr id="74790" name="Text Box 39"/>
            <p:cNvSpPr txBox="1">
              <a:spLocks noChangeArrowheads="1"/>
            </p:cNvSpPr>
            <p:nvPr/>
          </p:nvSpPr>
          <p:spPr bwMode="auto">
            <a:xfrm>
              <a:off x="2870" y="347"/>
              <a:ext cx="1430" cy="9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i="1" dirty="0">
                  <a:solidFill>
                    <a:schemeClr val="tx2"/>
                  </a:solidFill>
                  <a:sym typeface="Symbol" pitchFamily="18" charset="2"/>
                </a:rPr>
                <a:t>p</a:t>
              </a:r>
              <a:r>
                <a:rPr lang="zh-CN" altLang="en-US" baseline="-25000" dirty="0">
                  <a:solidFill>
                    <a:schemeClr val="tx2"/>
                  </a:solidFill>
                  <a:sym typeface="Symbol" pitchFamily="18" charset="2"/>
                </a:rPr>
                <a:t>吸 </a:t>
              </a:r>
              <a:r>
                <a:rPr lang="en-US" altLang="zh-CN" dirty="0">
                  <a:solidFill>
                    <a:schemeClr val="tx2"/>
                  </a:solidFill>
                  <a:sym typeface="Symbol" pitchFamily="18" charset="2"/>
                </a:rPr>
                <a:t>= </a:t>
              </a:r>
              <a:r>
                <a:rPr lang="en-US" altLang="zh-CN" i="1" dirty="0">
                  <a:solidFill>
                    <a:schemeClr val="tx2"/>
                  </a:solidFill>
                  <a:sym typeface="Symbol" pitchFamily="18" charset="2"/>
                </a:rPr>
                <a:t>v</a:t>
              </a:r>
              <a:r>
                <a:rPr lang="en-US" altLang="zh-CN" baseline="-25000" dirty="0">
                  <a:solidFill>
                    <a:schemeClr val="tx2"/>
                  </a:solidFill>
                  <a:sym typeface="Symbol" pitchFamily="18" charset="2"/>
                </a:rPr>
                <a:t>1</a:t>
              </a:r>
              <a:r>
                <a:rPr lang="en-US" altLang="zh-CN" i="1" dirty="0">
                  <a:solidFill>
                    <a:schemeClr val="tx2"/>
                  </a:solidFill>
                  <a:sym typeface="Symbol" pitchFamily="18" charset="2"/>
                </a:rPr>
                <a:t>i</a:t>
              </a:r>
              <a:r>
                <a:rPr lang="en-US" altLang="zh-CN" baseline="-25000" dirty="0">
                  <a:solidFill>
                    <a:schemeClr val="tx2"/>
                  </a:solidFill>
                  <a:sym typeface="Symbol" pitchFamily="18" charset="2"/>
                </a:rPr>
                <a:t>1 </a:t>
              </a:r>
              <a:r>
                <a:rPr lang="en-US" altLang="zh-CN" dirty="0">
                  <a:solidFill>
                    <a:schemeClr val="tx2"/>
                  </a:solidFill>
                  <a:sym typeface="Symbol" pitchFamily="18" charset="2"/>
                </a:rPr>
                <a:t>+ </a:t>
              </a:r>
              <a:r>
                <a:rPr lang="en-US" altLang="zh-CN" i="1" dirty="0">
                  <a:solidFill>
                    <a:schemeClr val="tx2"/>
                  </a:solidFill>
                  <a:sym typeface="Symbol" pitchFamily="18" charset="2"/>
                </a:rPr>
                <a:t>v</a:t>
              </a:r>
              <a:r>
                <a:rPr lang="en-US" altLang="zh-CN" baseline="-25000" dirty="0">
                  <a:solidFill>
                    <a:schemeClr val="tx2"/>
                  </a:solidFill>
                  <a:sym typeface="Symbol" pitchFamily="18" charset="2"/>
                </a:rPr>
                <a:t>2</a:t>
              </a:r>
              <a:r>
                <a:rPr lang="en-US" altLang="zh-CN" i="1" dirty="0">
                  <a:solidFill>
                    <a:schemeClr val="tx2"/>
                  </a:solidFill>
                  <a:sym typeface="Symbol" pitchFamily="18" charset="2"/>
                </a:rPr>
                <a:t>i</a:t>
              </a:r>
              <a:r>
                <a:rPr lang="en-US" altLang="zh-CN" baseline="-25000" dirty="0">
                  <a:solidFill>
                    <a:schemeClr val="tx2"/>
                  </a:solidFill>
                  <a:sym typeface="Symbol" pitchFamily="18" charset="2"/>
                </a:rPr>
                <a:t>2</a:t>
              </a:r>
              <a:endParaRPr lang="en-US" altLang="zh-CN" dirty="0">
                <a:solidFill>
                  <a:schemeClr val="tx2"/>
                </a:solidFill>
                <a:sym typeface="Symbol" pitchFamily="18" charset="2"/>
              </a:endParaRPr>
            </a:p>
            <a:p>
              <a:pPr>
                <a:spcBef>
                  <a:spcPct val="50000"/>
                </a:spcBef>
              </a:pPr>
              <a:r>
                <a:rPr lang="en-US" altLang="zh-CN" dirty="0">
                  <a:solidFill>
                    <a:schemeClr val="tx2"/>
                  </a:solidFill>
                  <a:sym typeface="Symbol" pitchFamily="18" charset="2"/>
                </a:rPr>
                <a:t>     = </a:t>
              </a:r>
              <a:r>
                <a:rPr lang="en-US" altLang="zh-CN" i="1" dirty="0">
                  <a:solidFill>
                    <a:schemeClr val="tx2"/>
                  </a:solidFill>
                  <a:sym typeface="Symbol" pitchFamily="18" charset="2"/>
                </a:rPr>
                <a:t>v</a:t>
              </a:r>
              <a:r>
                <a:rPr lang="en-US" altLang="zh-CN" baseline="-25000" dirty="0">
                  <a:solidFill>
                    <a:schemeClr val="tx2"/>
                  </a:solidFill>
                  <a:sym typeface="Symbol" pitchFamily="18" charset="2"/>
                </a:rPr>
                <a:t>2</a:t>
              </a:r>
              <a:r>
                <a:rPr lang="en-US" altLang="zh-CN" i="1" dirty="0">
                  <a:solidFill>
                    <a:schemeClr val="tx2"/>
                  </a:solidFill>
                  <a:sym typeface="Symbol" pitchFamily="18" charset="2"/>
                </a:rPr>
                <a:t>i</a:t>
              </a:r>
              <a:r>
                <a:rPr lang="en-US" altLang="zh-CN" baseline="-25000" dirty="0">
                  <a:solidFill>
                    <a:schemeClr val="tx2"/>
                  </a:solidFill>
                  <a:sym typeface="Symbol" pitchFamily="18" charset="2"/>
                </a:rPr>
                <a:t>2</a:t>
              </a:r>
            </a:p>
            <a:p>
              <a:pPr>
                <a:spcBef>
                  <a:spcPct val="50000"/>
                </a:spcBef>
              </a:pPr>
              <a:r>
                <a:rPr lang="en-US" altLang="zh-CN" baseline="-25000" dirty="0">
                  <a:solidFill>
                    <a:schemeClr val="tx2"/>
                  </a:solidFill>
                  <a:sym typeface="Symbol" pitchFamily="18" charset="2"/>
                </a:rPr>
                <a:t>        </a:t>
              </a:r>
              <a:r>
                <a:rPr lang="en-US" altLang="zh-CN" dirty="0">
                  <a:solidFill>
                    <a:schemeClr val="tx2"/>
                  </a:solidFill>
                  <a:sym typeface="Symbol" pitchFamily="18" charset="2"/>
                </a:rPr>
                <a:t>=</a:t>
              </a:r>
              <a:r>
                <a:rPr lang="en-US" altLang="zh-CN" i="1" dirty="0">
                  <a:solidFill>
                    <a:schemeClr val="tx2"/>
                  </a:solidFill>
                  <a:sym typeface="Symbol" pitchFamily="18" charset="2"/>
                </a:rPr>
                <a:t>v</a:t>
              </a:r>
              <a:r>
                <a:rPr lang="en-US" altLang="zh-CN" baseline="-25000" dirty="0">
                  <a:solidFill>
                    <a:schemeClr val="tx2"/>
                  </a:solidFill>
                  <a:sym typeface="Symbol" pitchFamily="18" charset="2"/>
                </a:rPr>
                <a:t>2 </a:t>
              </a:r>
              <a:r>
                <a:rPr lang="en-US" altLang="zh-CN" dirty="0" smtClean="0">
                  <a:solidFill>
                    <a:schemeClr val="tx2"/>
                  </a:solidFill>
                  <a:sym typeface="Symbol" pitchFamily="18" charset="2"/>
                </a:rPr>
                <a:t>(</a:t>
              </a:r>
              <a:r>
                <a:rPr lang="en-US" altLang="zh-CN" i="1" dirty="0" smtClean="0">
                  <a:solidFill>
                    <a:schemeClr val="tx2"/>
                  </a:solidFill>
                  <a:sym typeface="Symbol" pitchFamily="18" charset="2"/>
                </a:rPr>
                <a:t>v</a:t>
              </a:r>
              <a:r>
                <a:rPr lang="en-US" altLang="zh-CN" baseline="-25000" dirty="0" smtClean="0">
                  <a:solidFill>
                    <a:schemeClr val="tx2"/>
                  </a:solidFill>
                  <a:sym typeface="Symbol" pitchFamily="18" charset="2"/>
                </a:rPr>
                <a:t>2</a:t>
              </a:r>
              <a:r>
                <a:rPr lang="en-US" altLang="zh-CN" dirty="0" smtClean="0">
                  <a:solidFill>
                    <a:schemeClr val="tx2"/>
                  </a:solidFill>
                  <a:sym typeface="Symbol" pitchFamily="18" charset="2"/>
                </a:rPr>
                <a:t>/</a:t>
              </a:r>
              <a:r>
                <a:rPr lang="en-US" altLang="zh-CN" i="1" dirty="0" smtClean="0">
                  <a:solidFill>
                    <a:schemeClr val="tx2"/>
                  </a:solidFill>
                  <a:sym typeface="Symbol" pitchFamily="18" charset="2"/>
                </a:rPr>
                <a:t>R</a:t>
              </a:r>
              <a:r>
                <a:rPr lang="en-US" altLang="zh-CN" dirty="0">
                  <a:solidFill>
                    <a:schemeClr val="tx2"/>
                  </a:solidFill>
                  <a:sym typeface="Symbol" pitchFamily="18" charset="2"/>
                </a:rPr>
                <a:t>) </a:t>
              </a:r>
              <a:r>
                <a:rPr lang="en-US" altLang="zh-CN" dirty="0">
                  <a:solidFill>
                    <a:srgbClr val="FF0000"/>
                  </a:solidFill>
                  <a:sym typeface="Symbol" pitchFamily="18" charset="2"/>
                </a:rPr>
                <a:t>&lt; 0</a:t>
              </a:r>
              <a:endParaRPr lang="en-US" altLang="zh-CN" baseline="-25000" dirty="0">
                <a:solidFill>
                  <a:schemeClr val="tx2"/>
                </a:solidFill>
                <a:sym typeface="Symbol" pitchFamily="18" charset="2"/>
              </a:endParaRPr>
            </a:p>
          </p:txBody>
        </p:sp>
        <p:sp>
          <p:nvSpPr>
            <p:cNvPr id="74791" name="Text Box 40"/>
            <p:cNvSpPr txBox="1">
              <a:spLocks noChangeArrowheads="1"/>
            </p:cNvSpPr>
            <p:nvPr/>
          </p:nvSpPr>
          <p:spPr bwMode="auto">
            <a:xfrm>
              <a:off x="2838" y="1368"/>
              <a:ext cx="16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zh-CN" altLang="en-US">
                  <a:solidFill>
                    <a:srgbClr val="FF0000"/>
                  </a:solidFill>
                  <a:sym typeface="Symbol" pitchFamily="18" charset="2"/>
                </a:rPr>
                <a:t>受控源是有源元件</a:t>
              </a:r>
            </a:p>
          </p:txBody>
        </p:sp>
      </p:grpSp>
      <p:grpSp>
        <p:nvGrpSpPr>
          <p:cNvPr id="74759" name="Group 43"/>
          <p:cNvGrpSpPr>
            <a:grpSpLocks/>
          </p:cNvGrpSpPr>
          <p:nvPr/>
        </p:nvGrpSpPr>
        <p:grpSpPr bwMode="auto">
          <a:xfrm>
            <a:off x="863600" y="914400"/>
            <a:ext cx="3048000" cy="2006600"/>
            <a:chOff x="544" y="576"/>
            <a:chExt cx="1920" cy="1264"/>
          </a:xfrm>
        </p:grpSpPr>
        <p:sp>
          <p:nvSpPr>
            <p:cNvPr id="74760" name="Line 8"/>
            <p:cNvSpPr>
              <a:spLocks noChangeShapeType="1"/>
            </p:cNvSpPr>
            <p:nvPr/>
          </p:nvSpPr>
          <p:spPr bwMode="auto">
            <a:xfrm>
              <a:off x="2056" y="886"/>
              <a:ext cx="0" cy="61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761" name="Rectangle 9"/>
            <p:cNvSpPr>
              <a:spLocks noChangeArrowheads="1"/>
            </p:cNvSpPr>
            <p:nvPr/>
          </p:nvSpPr>
          <p:spPr bwMode="auto">
            <a:xfrm>
              <a:off x="944" y="614"/>
              <a:ext cx="688" cy="984"/>
            </a:xfrm>
            <a:prstGeom prst="rect">
              <a:avLst/>
            </a:prstGeom>
            <a:solidFill>
              <a:srgbClr val="FFFFFF"/>
            </a:solidFill>
            <a:ln w="28575">
              <a:solidFill>
                <a:srgbClr val="0000D0"/>
              </a:solidFill>
              <a:prstDash val="dash"/>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4762" name="Text Box 11"/>
            <p:cNvSpPr txBox="1">
              <a:spLocks noChangeArrowheads="1"/>
            </p:cNvSpPr>
            <p:nvPr/>
          </p:nvSpPr>
          <p:spPr bwMode="auto">
            <a:xfrm>
              <a:off x="844" y="1552"/>
              <a:ext cx="8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VCVS</a:t>
              </a:r>
            </a:p>
          </p:txBody>
        </p:sp>
        <p:sp>
          <p:nvSpPr>
            <p:cNvPr id="74763" name="Line 12"/>
            <p:cNvSpPr>
              <a:spLocks noChangeShapeType="1"/>
            </p:cNvSpPr>
            <p:nvPr/>
          </p:nvSpPr>
          <p:spPr bwMode="auto">
            <a:xfrm>
              <a:off x="1372" y="1336"/>
              <a:ext cx="0" cy="16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4764" name="Line 13"/>
            <p:cNvSpPr>
              <a:spLocks noChangeShapeType="1"/>
            </p:cNvSpPr>
            <p:nvPr/>
          </p:nvSpPr>
          <p:spPr bwMode="auto">
            <a:xfrm>
              <a:off x="1372" y="1504"/>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4765" name="Line 14"/>
            <p:cNvSpPr>
              <a:spLocks noChangeShapeType="1"/>
            </p:cNvSpPr>
            <p:nvPr/>
          </p:nvSpPr>
          <p:spPr bwMode="auto">
            <a:xfrm flipV="1">
              <a:off x="1372" y="856"/>
              <a:ext cx="0" cy="192"/>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4766" name="Line 15"/>
            <p:cNvSpPr>
              <a:spLocks noChangeShapeType="1"/>
            </p:cNvSpPr>
            <p:nvPr/>
          </p:nvSpPr>
          <p:spPr bwMode="auto">
            <a:xfrm>
              <a:off x="1372" y="856"/>
              <a:ext cx="67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4767" name="Text Box 16"/>
            <p:cNvSpPr txBox="1">
              <a:spLocks noChangeArrowheads="1"/>
            </p:cNvSpPr>
            <p:nvPr/>
          </p:nvSpPr>
          <p:spPr bwMode="auto">
            <a:xfrm>
              <a:off x="1396" y="1020"/>
              <a:ext cx="4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latin typeface="Symbol" pitchFamily="18" charset="2"/>
                  <a:sym typeface="Symbol" pitchFamily="18" charset="2"/>
                </a:rPr>
                <a:t></a:t>
              </a:r>
              <a:r>
                <a:rPr lang="en-US" altLang="zh-CN" i="1">
                  <a:solidFill>
                    <a:schemeClr val="tx2"/>
                  </a:solidFill>
                  <a:sym typeface="Symbol" pitchFamily="18" charset="2"/>
                </a:rPr>
                <a:t>v</a:t>
              </a:r>
              <a:r>
                <a:rPr lang="en-US" altLang="zh-CN" baseline="-25000">
                  <a:solidFill>
                    <a:schemeClr val="tx2"/>
                  </a:solidFill>
                  <a:sym typeface="Symbol" pitchFamily="18" charset="2"/>
                </a:rPr>
                <a:t>1</a:t>
              </a:r>
            </a:p>
          </p:txBody>
        </p:sp>
        <p:sp>
          <p:nvSpPr>
            <p:cNvPr id="74768" name="Text Box 17"/>
            <p:cNvSpPr txBox="1">
              <a:spLocks noChangeArrowheads="1"/>
            </p:cNvSpPr>
            <p:nvPr/>
          </p:nvSpPr>
          <p:spPr bwMode="auto">
            <a:xfrm>
              <a:off x="2176" y="760"/>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4769" name="Text Box 18"/>
            <p:cNvSpPr txBox="1">
              <a:spLocks noChangeArrowheads="1"/>
            </p:cNvSpPr>
            <p:nvPr/>
          </p:nvSpPr>
          <p:spPr bwMode="auto">
            <a:xfrm>
              <a:off x="2176" y="1264"/>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4770" name="Text Box 19"/>
            <p:cNvSpPr txBox="1">
              <a:spLocks noChangeArrowheads="1"/>
            </p:cNvSpPr>
            <p:nvPr/>
          </p:nvSpPr>
          <p:spPr bwMode="auto">
            <a:xfrm>
              <a:off x="2140" y="1048"/>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4771" name="Line 20"/>
            <p:cNvSpPr>
              <a:spLocks noChangeShapeType="1"/>
            </p:cNvSpPr>
            <p:nvPr/>
          </p:nvSpPr>
          <p:spPr bwMode="auto">
            <a:xfrm flipH="1">
              <a:off x="1528" y="748"/>
              <a:ext cx="264"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4772" name="Line 21"/>
            <p:cNvSpPr>
              <a:spLocks noChangeShapeType="1"/>
            </p:cNvSpPr>
            <p:nvPr/>
          </p:nvSpPr>
          <p:spPr bwMode="auto">
            <a:xfrm>
              <a:off x="736" y="856"/>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4773" name="Line 22"/>
            <p:cNvSpPr>
              <a:spLocks noChangeShapeType="1"/>
            </p:cNvSpPr>
            <p:nvPr/>
          </p:nvSpPr>
          <p:spPr bwMode="auto">
            <a:xfrm>
              <a:off x="880" y="748"/>
              <a:ext cx="240" cy="0"/>
            </a:xfrm>
            <a:prstGeom prst="line">
              <a:avLst/>
            </a:prstGeom>
            <a:noFill/>
            <a:ln w="28575">
              <a:solidFill>
                <a:schemeClr val="tx2"/>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74774" name="Line 23"/>
            <p:cNvSpPr>
              <a:spLocks noChangeShapeType="1"/>
            </p:cNvSpPr>
            <p:nvPr/>
          </p:nvSpPr>
          <p:spPr bwMode="auto">
            <a:xfrm flipH="1" flipV="1">
              <a:off x="736" y="1504"/>
              <a:ext cx="38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4775" name="Text Box 24"/>
            <p:cNvSpPr txBox="1">
              <a:spLocks noChangeArrowheads="1"/>
            </p:cNvSpPr>
            <p:nvPr/>
          </p:nvSpPr>
          <p:spPr bwMode="auto">
            <a:xfrm>
              <a:off x="638" y="868"/>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4776" name="Text Box 25"/>
            <p:cNvSpPr txBox="1">
              <a:spLocks noChangeArrowheads="1"/>
            </p:cNvSpPr>
            <p:nvPr/>
          </p:nvSpPr>
          <p:spPr bwMode="auto">
            <a:xfrm>
              <a:off x="628" y="1144"/>
              <a:ext cx="1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4777" name="Text Box 26"/>
            <p:cNvSpPr txBox="1">
              <a:spLocks noChangeArrowheads="1"/>
            </p:cNvSpPr>
            <p:nvPr/>
          </p:nvSpPr>
          <p:spPr bwMode="auto">
            <a:xfrm>
              <a:off x="544" y="1048"/>
              <a:ext cx="32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v</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4778" name="Oval 27"/>
            <p:cNvSpPr>
              <a:spLocks noChangeArrowheads="1"/>
            </p:cNvSpPr>
            <p:nvPr/>
          </p:nvSpPr>
          <p:spPr bwMode="auto">
            <a:xfrm>
              <a:off x="688" y="830"/>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4779" name="Oval 28"/>
            <p:cNvSpPr>
              <a:spLocks noChangeArrowheads="1"/>
            </p:cNvSpPr>
            <p:nvPr/>
          </p:nvSpPr>
          <p:spPr bwMode="auto">
            <a:xfrm>
              <a:off x="688" y="1470"/>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4780" name="Oval 29"/>
            <p:cNvSpPr>
              <a:spLocks noChangeArrowheads="1"/>
            </p:cNvSpPr>
            <p:nvPr/>
          </p:nvSpPr>
          <p:spPr bwMode="auto">
            <a:xfrm>
              <a:off x="2032" y="1486"/>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4781" name="Oval 30"/>
            <p:cNvSpPr>
              <a:spLocks noChangeArrowheads="1"/>
            </p:cNvSpPr>
            <p:nvPr/>
          </p:nvSpPr>
          <p:spPr bwMode="auto">
            <a:xfrm>
              <a:off x="2032" y="838"/>
              <a:ext cx="47" cy="47"/>
            </a:xfrm>
            <a:prstGeom prst="ellipse">
              <a:avLst/>
            </a:prstGeom>
            <a:solidFill>
              <a:srgbClr val="FF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4782" name="AutoShape 31"/>
            <p:cNvSpPr>
              <a:spLocks noChangeArrowheads="1"/>
            </p:cNvSpPr>
            <p:nvPr/>
          </p:nvSpPr>
          <p:spPr bwMode="auto">
            <a:xfrm rot="-5400000">
              <a:off x="1211" y="1073"/>
              <a:ext cx="318" cy="196"/>
            </a:xfrm>
            <a:prstGeom prst="flowChartSort">
              <a:avLst/>
            </a:prstGeom>
            <a:noFill/>
            <a:ln w="38100">
              <a:solidFill>
                <a:schemeClr val="tx2"/>
              </a:solidFill>
              <a:miter lim="800000"/>
              <a:headEnd/>
              <a:tailEnd/>
            </a:ln>
            <a:effectLst/>
            <a:extLst>
              <a:ext uri="{909E8E84-426E-40DD-AFC4-6F175D3DCCD1}">
                <a14:hiddenFill xmlns:a14="http://schemas.microsoft.com/office/drawing/2010/main">
                  <a:solidFill>
                    <a:srgbClr val="0000E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4783" name="Text Box 32"/>
            <p:cNvSpPr txBox="1">
              <a:spLocks noChangeArrowheads="1"/>
            </p:cNvSpPr>
            <p:nvPr/>
          </p:nvSpPr>
          <p:spPr bwMode="auto">
            <a:xfrm>
              <a:off x="1400" y="864"/>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a:t>
              </a:r>
            </a:p>
          </p:txBody>
        </p:sp>
        <p:sp>
          <p:nvSpPr>
            <p:cNvPr id="74784" name="Text Box 33"/>
            <p:cNvSpPr txBox="1">
              <a:spLocks noChangeArrowheads="1"/>
            </p:cNvSpPr>
            <p:nvPr/>
          </p:nvSpPr>
          <p:spPr bwMode="auto">
            <a:xfrm>
              <a:off x="1384" y="1120"/>
              <a:ext cx="22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a:solidFill>
                    <a:schemeClr val="tx2"/>
                  </a:solidFill>
                  <a:sym typeface="Symbol" pitchFamily="18" charset="2"/>
                </a:rPr>
                <a:t>_</a:t>
              </a:r>
            </a:p>
          </p:txBody>
        </p:sp>
        <p:sp>
          <p:nvSpPr>
            <p:cNvPr id="74785" name="Text Box 34"/>
            <p:cNvSpPr txBox="1">
              <a:spLocks noChangeArrowheads="1"/>
            </p:cNvSpPr>
            <p:nvPr/>
          </p:nvSpPr>
          <p:spPr bwMode="auto">
            <a:xfrm>
              <a:off x="1784" y="576"/>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2</a:t>
              </a:r>
              <a:endParaRPr lang="en-US" altLang="zh-CN">
                <a:solidFill>
                  <a:schemeClr val="tx2"/>
                </a:solidFill>
                <a:sym typeface="Symbol" pitchFamily="18" charset="2"/>
              </a:endParaRPr>
            </a:p>
          </p:txBody>
        </p:sp>
        <p:sp>
          <p:nvSpPr>
            <p:cNvPr id="74786" name="Text Box 35"/>
            <p:cNvSpPr txBox="1">
              <a:spLocks noChangeArrowheads="1"/>
            </p:cNvSpPr>
            <p:nvPr/>
          </p:nvSpPr>
          <p:spPr bwMode="auto">
            <a:xfrm>
              <a:off x="596" y="576"/>
              <a:ext cx="3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i</a:t>
              </a:r>
              <a:r>
                <a:rPr lang="en-US" altLang="zh-CN" baseline="-25000">
                  <a:solidFill>
                    <a:schemeClr val="tx2"/>
                  </a:solidFill>
                  <a:sym typeface="Symbol" pitchFamily="18" charset="2"/>
                </a:rPr>
                <a:t>1</a:t>
              </a:r>
              <a:endParaRPr lang="en-US" altLang="zh-CN">
                <a:solidFill>
                  <a:schemeClr val="tx2"/>
                </a:solidFill>
                <a:sym typeface="Symbol" pitchFamily="18" charset="2"/>
              </a:endParaRPr>
            </a:p>
          </p:txBody>
        </p:sp>
        <p:sp>
          <p:nvSpPr>
            <p:cNvPr id="74787" name="Rectangle 36"/>
            <p:cNvSpPr>
              <a:spLocks noChangeArrowheads="1"/>
            </p:cNvSpPr>
            <p:nvPr/>
          </p:nvSpPr>
          <p:spPr bwMode="auto">
            <a:xfrm>
              <a:off x="2008" y="1070"/>
              <a:ext cx="88" cy="232"/>
            </a:xfrm>
            <a:prstGeom prst="rect">
              <a:avLst/>
            </a:prstGeom>
            <a:solidFill>
              <a:srgbClr val="66FF33"/>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4788" name="Text Box 37"/>
            <p:cNvSpPr txBox="1">
              <a:spLocks noChangeArrowheads="1"/>
            </p:cNvSpPr>
            <p:nvPr/>
          </p:nvSpPr>
          <p:spPr bwMode="auto">
            <a:xfrm>
              <a:off x="1790" y="1014"/>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r>
                <a:rPr lang="en-US" altLang="zh-CN" i="1">
                  <a:solidFill>
                    <a:schemeClr val="tx2"/>
                  </a:solidFill>
                  <a:sym typeface="Symbol" pitchFamily="18" charset="2"/>
                </a:rPr>
                <a:t>R</a:t>
              </a:r>
              <a:endParaRPr lang="en-US" altLang="zh-CN">
                <a:solidFill>
                  <a:schemeClr val="tx2"/>
                </a:solidFill>
                <a:sym typeface="Symbol" pitchFamily="18" charset="2"/>
              </a:endParaRPr>
            </a:p>
          </p:txBody>
        </p:sp>
        <p:sp>
          <p:nvSpPr>
            <p:cNvPr id="74789" name="Text Box 42"/>
            <p:cNvSpPr txBox="1">
              <a:spLocks noChangeArrowheads="1"/>
            </p:cNvSpPr>
            <p:nvPr/>
          </p:nvSpPr>
          <p:spPr bwMode="auto">
            <a:xfrm>
              <a:off x="613" y="860"/>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a:spcBef>
                  <a:spcPct val="50000"/>
                </a:spcBef>
              </a:pPr>
              <a:endParaRPr lang="en-US" altLang="zh-CN" dirty="0">
                <a:solidFill>
                  <a:schemeClr val="tx2"/>
                </a:solidFill>
                <a:sym typeface="Symbol" pitchFamily="18" charset="2"/>
              </a:endParaRPr>
            </a:p>
          </p:txBody>
        </p:sp>
      </p:grpSp>
    </p:spTree>
    <p:extLst>
      <p:ext uri="{BB962C8B-B14F-4D97-AF65-F5344CB8AC3E}">
        <p14:creationId xmlns:p14="http://schemas.microsoft.com/office/powerpoint/2010/main" val="3935769955"/>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09286"/>
                                        </p:tgtEl>
                                        <p:attrNameLst>
                                          <p:attrName>style.visibility</p:attrName>
                                        </p:attrNameLst>
                                      </p:cBhvr>
                                      <p:to>
                                        <p:strVal val="visible"/>
                                      </p:to>
                                    </p:set>
                                    <p:animEffect transition="in" filter="wipe(left)">
                                      <p:cBhvr>
                                        <p:cTn id="7" dur="500"/>
                                        <p:tgtEl>
                                          <p:spTgt spid="3092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9250">
                                            <p:txEl>
                                              <p:pRg st="0" end="0"/>
                                            </p:txEl>
                                          </p:spTgt>
                                        </p:tgtEl>
                                        <p:attrNameLst>
                                          <p:attrName>style.visibility</p:attrName>
                                        </p:attrNameLst>
                                      </p:cBhvr>
                                      <p:to>
                                        <p:strVal val="visible"/>
                                      </p:to>
                                    </p:set>
                                    <p:animEffect transition="in" filter="wipe(left)">
                                      <p:cBhvr>
                                        <p:cTn id="12" dur="500"/>
                                        <p:tgtEl>
                                          <p:spTgt spid="30925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9251">
                                            <p:txEl>
                                              <p:pRg st="0" end="0"/>
                                            </p:txEl>
                                          </p:spTgt>
                                        </p:tgtEl>
                                        <p:attrNameLst>
                                          <p:attrName>style.visibility</p:attrName>
                                        </p:attrNameLst>
                                      </p:cBhvr>
                                      <p:to>
                                        <p:strVal val="visible"/>
                                      </p:to>
                                    </p:set>
                                    <p:animEffect transition="in" filter="wipe(left)">
                                      <p:cBhvr>
                                        <p:cTn id="17" dur="500"/>
                                        <p:tgtEl>
                                          <p:spTgt spid="30925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9252">
                                            <p:txEl>
                                              <p:pRg st="0" end="0"/>
                                            </p:txEl>
                                          </p:spTgt>
                                        </p:tgtEl>
                                        <p:attrNameLst>
                                          <p:attrName>style.visibility</p:attrName>
                                        </p:attrNameLst>
                                      </p:cBhvr>
                                      <p:to>
                                        <p:strVal val="visible"/>
                                      </p:to>
                                    </p:set>
                                    <p:animEffect transition="in" filter="wipe(left)">
                                      <p:cBhvr>
                                        <p:cTn id="22" dur="500"/>
                                        <p:tgtEl>
                                          <p:spTgt spid="3092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0" grpId="0" build="p" autoUpdateAnimBg="0"/>
      <p:bldP spid="309251" grpId="0" build="p" autoUpdateAnimBg="0"/>
      <p:bldP spid="309252"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5"/>
          <p:cNvSpPr txBox="1">
            <a:spLocks noChangeArrowheads="1"/>
          </p:cNvSpPr>
          <p:nvPr/>
        </p:nvSpPr>
        <p:spPr bwMode="auto">
          <a:xfrm>
            <a:off x="381000" y="228600"/>
            <a:ext cx="4572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spcBef>
                <a:spcPct val="50000"/>
              </a:spcBef>
            </a:pPr>
            <a:r>
              <a:rPr lang="en-US" altLang="zh-CN" dirty="0">
                <a:solidFill>
                  <a:srgbClr val="A50021"/>
                </a:solidFill>
                <a:sym typeface="Symbol" pitchFamily="18" charset="2"/>
              </a:rPr>
              <a:t>5</a:t>
            </a:r>
            <a:r>
              <a:rPr lang="zh-CN" altLang="en-US" dirty="0">
                <a:solidFill>
                  <a:srgbClr val="A50021"/>
                </a:solidFill>
                <a:sym typeface="Symbol" pitchFamily="18" charset="2"/>
              </a:rPr>
              <a:t>、理想受控源和非理想受控源</a:t>
            </a:r>
          </a:p>
        </p:txBody>
      </p:sp>
      <p:sp>
        <p:nvSpPr>
          <p:cNvPr id="75779" name="Text Box 40"/>
          <p:cNvSpPr txBox="1">
            <a:spLocks noChangeArrowheads="1"/>
          </p:cNvSpPr>
          <p:nvPr/>
        </p:nvSpPr>
        <p:spPr bwMode="auto">
          <a:xfrm>
            <a:off x="1682299" y="1233488"/>
            <a:ext cx="1671638"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dirty="0"/>
              <a:t>输入电阻</a:t>
            </a:r>
          </a:p>
        </p:txBody>
      </p:sp>
      <p:sp>
        <p:nvSpPr>
          <p:cNvPr id="75780" name="AutoShape 41"/>
          <p:cNvSpPr>
            <a:spLocks/>
          </p:cNvSpPr>
          <p:nvPr/>
        </p:nvSpPr>
        <p:spPr bwMode="auto">
          <a:xfrm>
            <a:off x="3388862" y="1028700"/>
            <a:ext cx="290512" cy="942975"/>
          </a:xfrm>
          <a:prstGeom prst="leftBrace">
            <a:avLst>
              <a:gd name="adj1" fmla="val 27049"/>
              <a:gd name="adj2" fmla="val 50000"/>
            </a:avLst>
          </a:prstGeom>
          <a:noFill/>
          <a:ln w="9525">
            <a:solidFill>
              <a:schemeClr val="tx1"/>
            </a:solidFill>
            <a:round/>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5781" name="Text Box 42"/>
          <p:cNvSpPr txBox="1">
            <a:spLocks noChangeArrowheads="1"/>
          </p:cNvSpPr>
          <p:nvPr/>
        </p:nvSpPr>
        <p:spPr bwMode="auto">
          <a:xfrm>
            <a:off x="3741287" y="892175"/>
            <a:ext cx="4011612"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dirty="0"/>
              <a:t>＝      （电压控制的受控源）</a:t>
            </a:r>
          </a:p>
        </p:txBody>
      </p:sp>
      <p:sp>
        <p:nvSpPr>
          <p:cNvPr id="75782" name="Text Box 43"/>
          <p:cNvSpPr txBox="1">
            <a:spLocks noChangeArrowheads="1"/>
          </p:cNvSpPr>
          <p:nvPr/>
        </p:nvSpPr>
        <p:spPr bwMode="auto">
          <a:xfrm>
            <a:off x="3741287" y="1633538"/>
            <a:ext cx="4011612"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a:t>＝  </a:t>
            </a:r>
            <a:r>
              <a:rPr lang="en-US" altLang="zh-CN"/>
              <a:t>0  </a:t>
            </a:r>
            <a:r>
              <a:rPr lang="zh-CN" altLang="en-US"/>
              <a:t>（电流控制的受控源）</a:t>
            </a:r>
          </a:p>
        </p:txBody>
      </p:sp>
      <p:graphicFrame>
        <p:nvGraphicFramePr>
          <p:cNvPr id="75783" name="Object 44"/>
          <p:cNvGraphicFramePr>
            <a:graphicFrameLocks noChangeAspect="1"/>
          </p:cNvGraphicFramePr>
          <p:nvPr>
            <p:extLst/>
          </p:nvPr>
        </p:nvGraphicFramePr>
        <p:xfrm>
          <a:off x="4198487" y="935038"/>
          <a:ext cx="428625" cy="350837"/>
        </p:xfrm>
        <a:graphic>
          <a:graphicData uri="http://schemas.openxmlformats.org/presentationml/2006/ole">
            <mc:AlternateContent xmlns:mc="http://schemas.openxmlformats.org/markup-compatibility/2006">
              <mc:Choice xmlns:v="urn:schemas-microsoft-com:vml" Requires="v">
                <p:oleObj spid="_x0000_s139290" name="Equation" r:id="rId3" imgW="139579" imgH="114201" progId="Equation.DSMT4">
                  <p:embed/>
                </p:oleObj>
              </mc:Choice>
              <mc:Fallback>
                <p:oleObj name="Equation" r:id="rId3" imgW="139579" imgH="114201"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8487" y="935038"/>
                        <a:ext cx="428625" cy="350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84" name="Text Box 45"/>
          <p:cNvSpPr txBox="1">
            <a:spLocks noChangeArrowheads="1"/>
          </p:cNvSpPr>
          <p:nvPr/>
        </p:nvSpPr>
        <p:spPr bwMode="auto">
          <a:xfrm>
            <a:off x="1728337" y="2655888"/>
            <a:ext cx="167005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a:t>输出电阻</a:t>
            </a:r>
          </a:p>
        </p:txBody>
      </p:sp>
      <p:sp>
        <p:nvSpPr>
          <p:cNvPr id="75785" name="AutoShape 46"/>
          <p:cNvSpPr>
            <a:spLocks/>
          </p:cNvSpPr>
          <p:nvPr/>
        </p:nvSpPr>
        <p:spPr bwMode="auto">
          <a:xfrm>
            <a:off x="3433312" y="2451100"/>
            <a:ext cx="290512" cy="942975"/>
          </a:xfrm>
          <a:prstGeom prst="leftBrace">
            <a:avLst>
              <a:gd name="adj1" fmla="val 27049"/>
              <a:gd name="adj2" fmla="val 50000"/>
            </a:avLst>
          </a:prstGeom>
          <a:noFill/>
          <a:ln w="9525">
            <a:solidFill>
              <a:schemeClr val="tx1"/>
            </a:solidFill>
            <a:round/>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75786" name="Text Box 47"/>
          <p:cNvSpPr txBox="1">
            <a:spLocks noChangeArrowheads="1"/>
          </p:cNvSpPr>
          <p:nvPr/>
        </p:nvSpPr>
        <p:spPr bwMode="auto">
          <a:xfrm>
            <a:off x="3741287" y="2314575"/>
            <a:ext cx="309245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a:t>＝      （受控电流源）</a:t>
            </a:r>
          </a:p>
        </p:txBody>
      </p:sp>
      <p:sp>
        <p:nvSpPr>
          <p:cNvPr id="75787" name="Text Box 48"/>
          <p:cNvSpPr txBox="1">
            <a:spLocks noChangeArrowheads="1"/>
          </p:cNvSpPr>
          <p:nvPr/>
        </p:nvSpPr>
        <p:spPr bwMode="auto">
          <a:xfrm>
            <a:off x="3741287" y="3055938"/>
            <a:ext cx="309245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a:t>＝  </a:t>
            </a:r>
            <a:r>
              <a:rPr lang="en-US" altLang="zh-CN"/>
              <a:t>0  </a:t>
            </a:r>
            <a:r>
              <a:rPr lang="zh-CN" altLang="en-US"/>
              <a:t>（受控电压源）</a:t>
            </a:r>
          </a:p>
        </p:txBody>
      </p:sp>
      <p:graphicFrame>
        <p:nvGraphicFramePr>
          <p:cNvPr id="75788" name="Object 49"/>
          <p:cNvGraphicFramePr>
            <a:graphicFrameLocks noChangeAspect="1"/>
          </p:cNvGraphicFramePr>
          <p:nvPr>
            <p:extLst/>
          </p:nvPr>
        </p:nvGraphicFramePr>
        <p:xfrm>
          <a:off x="4184199" y="2357438"/>
          <a:ext cx="428625" cy="350837"/>
        </p:xfrm>
        <a:graphic>
          <a:graphicData uri="http://schemas.openxmlformats.org/presentationml/2006/ole">
            <mc:AlternateContent xmlns:mc="http://schemas.openxmlformats.org/markup-compatibility/2006">
              <mc:Choice xmlns:v="urn:schemas-microsoft-com:vml" Requires="v">
                <p:oleObj spid="_x0000_s139291" name="Equation" r:id="rId5" imgW="139579" imgH="114201" progId="Equation.DSMT4">
                  <p:embed/>
                </p:oleObj>
              </mc:Choice>
              <mc:Fallback>
                <p:oleObj name="Equation" r:id="rId5" imgW="139579" imgH="114201"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4199" y="2357438"/>
                        <a:ext cx="428625" cy="350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950657" y="1233488"/>
            <a:ext cx="505334" cy="1938992"/>
          </a:xfrm>
          <a:prstGeom prst="rect">
            <a:avLst/>
          </a:prstGeom>
        </p:spPr>
        <p:txBody>
          <a:bodyPr wrap="square">
            <a:spAutoFit/>
          </a:bodyPr>
          <a:lstStyle/>
          <a:p>
            <a:r>
              <a:rPr lang="zh-CN" altLang="en-US" dirty="0">
                <a:solidFill>
                  <a:srgbClr val="A50021"/>
                </a:solidFill>
                <a:sym typeface="Symbol" pitchFamily="18" charset="2"/>
              </a:rPr>
              <a:t>理想受控源</a:t>
            </a:r>
            <a:endParaRPr lang="zh-CN" altLang="en-US" dirty="0"/>
          </a:p>
        </p:txBody>
      </p:sp>
      <p:sp>
        <p:nvSpPr>
          <p:cNvPr id="34" name="AutoShape 41"/>
          <p:cNvSpPr>
            <a:spLocks/>
          </p:cNvSpPr>
          <p:nvPr/>
        </p:nvSpPr>
        <p:spPr bwMode="auto">
          <a:xfrm>
            <a:off x="1450308" y="1349376"/>
            <a:ext cx="290512" cy="1706562"/>
          </a:xfrm>
          <a:prstGeom prst="leftBrace">
            <a:avLst>
              <a:gd name="adj1" fmla="val 27049"/>
              <a:gd name="adj2" fmla="val 50000"/>
            </a:avLst>
          </a:prstGeom>
          <a:noFill/>
          <a:ln w="9525">
            <a:solidFill>
              <a:schemeClr val="tx1"/>
            </a:solidFill>
            <a:round/>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sp>
        <p:nvSpPr>
          <p:cNvPr id="35" name="Text Box 40"/>
          <p:cNvSpPr txBox="1">
            <a:spLocks noChangeArrowheads="1"/>
          </p:cNvSpPr>
          <p:nvPr/>
        </p:nvSpPr>
        <p:spPr bwMode="auto">
          <a:xfrm>
            <a:off x="1671416" y="4218898"/>
            <a:ext cx="1671638"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dirty="0"/>
              <a:t>输入电阻</a:t>
            </a:r>
          </a:p>
        </p:txBody>
      </p:sp>
      <p:graphicFrame>
        <p:nvGraphicFramePr>
          <p:cNvPr id="39" name="Object 44"/>
          <p:cNvGraphicFramePr>
            <a:graphicFrameLocks noChangeAspect="1"/>
          </p:cNvGraphicFramePr>
          <p:nvPr>
            <p:extLst/>
          </p:nvPr>
        </p:nvGraphicFramePr>
        <p:xfrm>
          <a:off x="3657827" y="4193722"/>
          <a:ext cx="598488" cy="477838"/>
        </p:xfrm>
        <a:graphic>
          <a:graphicData uri="http://schemas.openxmlformats.org/presentationml/2006/ole">
            <mc:AlternateContent xmlns:mc="http://schemas.openxmlformats.org/markup-compatibility/2006">
              <mc:Choice xmlns:v="urn:schemas-microsoft-com:vml" Requires="v">
                <p:oleObj spid="_x0000_s139292" name="Equation" r:id="rId7" imgW="253800" imgH="203040" progId="Equation.DSMT4">
                  <p:embed/>
                </p:oleObj>
              </mc:Choice>
              <mc:Fallback>
                <p:oleObj name="Equation" r:id="rId7" imgW="253800" imgH="203040" progId="Equation.DSMT4">
                  <p:embed/>
                  <p:pic>
                    <p:nvPicPr>
                      <p:cNvPr id="0" name=""/>
                      <p:cNvPicPr>
                        <a:picLocks noChangeAspect="1" noChangeArrowheads="1"/>
                      </p:cNvPicPr>
                      <p:nvPr/>
                    </p:nvPicPr>
                    <p:blipFill>
                      <a:blip r:embed="rId8"/>
                      <a:srcRect/>
                      <a:stretch>
                        <a:fillRect/>
                      </a:stretch>
                    </p:blipFill>
                    <p:spPr bwMode="auto">
                      <a:xfrm>
                        <a:off x="3657827" y="4193722"/>
                        <a:ext cx="598488" cy="477838"/>
                      </a:xfrm>
                      <a:prstGeom prst="rect">
                        <a:avLst/>
                      </a:prstGeom>
                      <a:noFill/>
                      <a:ln>
                        <a:noFill/>
                      </a:ln>
                      <a:effectLst/>
                      <a:extLst/>
                    </p:spPr>
                  </p:pic>
                </p:oleObj>
              </mc:Fallback>
            </mc:AlternateContent>
          </a:graphicData>
        </a:graphic>
      </p:graphicFrame>
      <p:sp>
        <p:nvSpPr>
          <p:cNvPr id="40" name="Text Box 45"/>
          <p:cNvSpPr txBox="1">
            <a:spLocks noChangeArrowheads="1"/>
          </p:cNvSpPr>
          <p:nvPr/>
        </p:nvSpPr>
        <p:spPr bwMode="auto">
          <a:xfrm>
            <a:off x="1717454" y="5641298"/>
            <a:ext cx="167005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algn="ctr" eaLnBrk="1" hangingPunct="1"/>
            <a:r>
              <a:rPr lang="zh-CN" altLang="en-US"/>
              <a:t>输出电阻</a:t>
            </a:r>
          </a:p>
        </p:txBody>
      </p:sp>
      <p:sp>
        <p:nvSpPr>
          <p:cNvPr id="45" name="矩形 44"/>
          <p:cNvSpPr/>
          <p:nvPr/>
        </p:nvSpPr>
        <p:spPr>
          <a:xfrm>
            <a:off x="939774" y="4006626"/>
            <a:ext cx="505334" cy="2308324"/>
          </a:xfrm>
          <a:prstGeom prst="rect">
            <a:avLst/>
          </a:prstGeom>
        </p:spPr>
        <p:txBody>
          <a:bodyPr wrap="square">
            <a:spAutoFit/>
          </a:bodyPr>
          <a:lstStyle/>
          <a:p>
            <a:r>
              <a:rPr lang="zh-CN" altLang="en-US" dirty="0" smtClean="0">
                <a:solidFill>
                  <a:srgbClr val="A50021"/>
                </a:solidFill>
                <a:sym typeface="Symbol" pitchFamily="18" charset="2"/>
              </a:rPr>
              <a:t>非理想</a:t>
            </a:r>
            <a:r>
              <a:rPr lang="zh-CN" altLang="en-US" dirty="0">
                <a:solidFill>
                  <a:srgbClr val="A50021"/>
                </a:solidFill>
                <a:sym typeface="Symbol" pitchFamily="18" charset="2"/>
              </a:rPr>
              <a:t>受控源</a:t>
            </a:r>
            <a:endParaRPr lang="zh-CN" altLang="en-US" dirty="0"/>
          </a:p>
        </p:txBody>
      </p:sp>
      <p:sp>
        <p:nvSpPr>
          <p:cNvPr id="46" name="AutoShape 41"/>
          <p:cNvSpPr>
            <a:spLocks/>
          </p:cNvSpPr>
          <p:nvPr/>
        </p:nvSpPr>
        <p:spPr bwMode="auto">
          <a:xfrm>
            <a:off x="1439425" y="4334786"/>
            <a:ext cx="290512" cy="1706562"/>
          </a:xfrm>
          <a:prstGeom prst="leftBrace">
            <a:avLst>
              <a:gd name="adj1" fmla="val 27049"/>
              <a:gd name="adj2" fmla="val 50000"/>
            </a:avLst>
          </a:prstGeom>
          <a:noFill/>
          <a:ln w="9525">
            <a:solidFill>
              <a:schemeClr val="tx1"/>
            </a:solidFill>
            <a:round/>
            <a:headEnd/>
            <a:tailEnd/>
          </a:ln>
          <a:effectLst/>
          <a:extLst>
            <a:ext uri="{909E8E84-426E-40DD-AFC4-6F175D3DCCD1}">
              <a14:hiddenFill xmlns:a14="http://schemas.microsoft.com/office/drawing/2010/main">
                <a:solidFill>
                  <a:srgbClr val="99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宋体" charset="-122"/>
              </a:defRPr>
            </a:lvl1pPr>
            <a:lvl2pPr marL="742950" indent="-285750" eaLnBrk="0" hangingPunct="0">
              <a:defRPr kumimoji="1" sz="2400" b="1">
                <a:solidFill>
                  <a:schemeClr val="tx1"/>
                </a:solidFill>
                <a:latin typeface="Times New Roman" pitchFamily="18" charset="0"/>
                <a:ea typeface="宋体" charset="-122"/>
              </a:defRPr>
            </a:lvl2pPr>
            <a:lvl3pPr marL="1143000" indent="-228600" eaLnBrk="0" hangingPunct="0">
              <a:defRPr kumimoji="1" sz="2400" b="1">
                <a:solidFill>
                  <a:schemeClr val="tx1"/>
                </a:solidFill>
                <a:latin typeface="Times New Roman" pitchFamily="18" charset="0"/>
                <a:ea typeface="宋体" charset="-122"/>
              </a:defRPr>
            </a:lvl3pPr>
            <a:lvl4pPr marL="1600200" indent="-228600" eaLnBrk="0" hangingPunct="0">
              <a:defRPr kumimoji="1" sz="2400" b="1">
                <a:solidFill>
                  <a:schemeClr val="tx1"/>
                </a:solidFill>
                <a:latin typeface="Times New Roman" pitchFamily="18" charset="0"/>
                <a:ea typeface="宋体" charset="-122"/>
              </a:defRPr>
            </a:lvl4pPr>
            <a:lvl5pPr marL="2057400" indent="-228600" eaLnBrk="0" hangingPunct="0">
              <a:defRPr kumimoji="1" sz="24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charset="-122"/>
              </a:defRPr>
            </a:lvl9pPr>
          </a:lstStyle>
          <a:p>
            <a:pPr eaLnBrk="1" hangingPunct="1"/>
            <a:endParaRPr lang="zh-CN" altLang="en-US"/>
          </a:p>
        </p:txBody>
      </p:sp>
      <p:graphicFrame>
        <p:nvGraphicFramePr>
          <p:cNvPr id="47" name="Object 44"/>
          <p:cNvGraphicFramePr>
            <a:graphicFrameLocks noChangeAspect="1"/>
          </p:cNvGraphicFramePr>
          <p:nvPr>
            <p:extLst/>
          </p:nvPr>
        </p:nvGraphicFramePr>
        <p:xfrm>
          <a:off x="3657827" y="5638347"/>
          <a:ext cx="658812" cy="477838"/>
        </p:xfrm>
        <a:graphic>
          <a:graphicData uri="http://schemas.openxmlformats.org/presentationml/2006/ole">
            <mc:AlternateContent xmlns:mc="http://schemas.openxmlformats.org/markup-compatibility/2006">
              <mc:Choice xmlns:v="urn:schemas-microsoft-com:vml" Requires="v">
                <p:oleObj spid="_x0000_s139293" name="Equation" r:id="rId9" imgW="279360" imgH="203040" progId="Equation.DSMT4">
                  <p:embed/>
                </p:oleObj>
              </mc:Choice>
              <mc:Fallback>
                <p:oleObj name="Equation" r:id="rId9" imgW="279360" imgH="203040" progId="Equation.DSMT4">
                  <p:embed/>
                  <p:pic>
                    <p:nvPicPr>
                      <p:cNvPr id="0" name=""/>
                      <p:cNvPicPr>
                        <a:picLocks noChangeAspect="1" noChangeArrowheads="1"/>
                      </p:cNvPicPr>
                      <p:nvPr/>
                    </p:nvPicPr>
                    <p:blipFill>
                      <a:blip r:embed="rId10"/>
                      <a:srcRect/>
                      <a:stretch>
                        <a:fillRect/>
                      </a:stretch>
                    </p:blipFill>
                    <p:spPr bwMode="auto">
                      <a:xfrm>
                        <a:off x="3657827" y="5638347"/>
                        <a:ext cx="658812" cy="477838"/>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077107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barn(inVertical)">
                                      <p:cBhvr>
                                        <p:cTn id="12" dur="500"/>
                                        <p:tgtEl>
                                          <p:spTgt spid="34"/>
                                        </p:tgtEl>
                                      </p:cBhvr>
                                    </p:animEffect>
                                  </p:childTnLst>
                                </p:cTn>
                              </p:par>
                            </p:childTnLst>
                          </p:cTn>
                        </p:par>
                        <p:par>
                          <p:cTn id="13" fill="hold">
                            <p:stCondLst>
                              <p:cond delay="500"/>
                            </p:stCondLst>
                            <p:childTnLst>
                              <p:par>
                                <p:cTn id="14" presetID="16" presetClass="entr" presetSubtype="21" fill="hold" grpId="0" nodeType="afterEffect">
                                  <p:stCondLst>
                                    <p:cond delay="0"/>
                                  </p:stCondLst>
                                  <p:childTnLst>
                                    <p:set>
                                      <p:cBhvr>
                                        <p:cTn id="15" dur="1" fill="hold">
                                          <p:stCondLst>
                                            <p:cond delay="0"/>
                                          </p:stCondLst>
                                        </p:cTn>
                                        <p:tgtEl>
                                          <p:spTgt spid="75779"/>
                                        </p:tgtEl>
                                        <p:attrNameLst>
                                          <p:attrName>style.visibility</p:attrName>
                                        </p:attrNameLst>
                                      </p:cBhvr>
                                      <p:to>
                                        <p:strVal val="visible"/>
                                      </p:to>
                                    </p:set>
                                    <p:animEffect transition="in" filter="barn(inVertical)">
                                      <p:cBhvr>
                                        <p:cTn id="16" dur="500"/>
                                        <p:tgtEl>
                                          <p:spTgt spid="75779"/>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75780"/>
                                        </p:tgtEl>
                                        <p:attrNameLst>
                                          <p:attrName>style.visibility</p:attrName>
                                        </p:attrNameLst>
                                      </p:cBhvr>
                                      <p:to>
                                        <p:strVal val="visible"/>
                                      </p:to>
                                    </p:set>
                                    <p:animEffect transition="in" filter="barn(inVertical)">
                                      <p:cBhvr>
                                        <p:cTn id="19" dur="500"/>
                                        <p:tgtEl>
                                          <p:spTgt spid="75780"/>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75781"/>
                                        </p:tgtEl>
                                        <p:attrNameLst>
                                          <p:attrName>style.visibility</p:attrName>
                                        </p:attrNameLst>
                                      </p:cBhvr>
                                      <p:to>
                                        <p:strVal val="visible"/>
                                      </p:to>
                                    </p:set>
                                    <p:animEffect transition="in" filter="barn(inVertical)">
                                      <p:cBhvr>
                                        <p:cTn id="22" dur="500"/>
                                        <p:tgtEl>
                                          <p:spTgt spid="75781"/>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75782"/>
                                        </p:tgtEl>
                                        <p:attrNameLst>
                                          <p:attrName>style.visibility</p:attrName>
                                        </p:attrNameLst>
                                      </p:cBhvr>
                                      <p:to>
                                        <p:strVal val="visible"/>
                                      </p:to>
                                    </p:set>
                                    <p:animEffect transition="in" filter="barn(inVertical)">
                                      <p:cBhvr>
                                        <p:cTn id="25" dur="500"/>
                                        <p:tgtEl>
                                          <p:spTgt spid="75782"/>
                                        </p:tgtEl>
                                      </p:cBhvr>
                                    </p:animEffect>
                                  </p:childTnLst>
                                </p:cTn>
                              </p:par>
                              <p:par>
                                <p:cTn id="26" presetID="16" presetClass="entr" presetSubtype="21" fill="hold" nodeType="withEffect">
                                  <p:stCondLst>
                                    <p:cond delay="0"/>
                                  </p:stCondLst>
                                  <p:childTnLst>
                                    <p:set>
                                      <p:cBhvr>
                                        <p:cTn id="27" dur="1" fill="hold">
                                          <p:stCondLst>
                                            <p:cond delay="0"/>
                                          </p:stCondLst>
                                        </p:cTn>
                                        <p:tgtEl>
                                          <p:spTgt spid="75783"/>
                                        </p:tgtEl>
                                        <p:attrNameLst>
                                          <p:attrName>style.visibility</p:attrName>
                                        </p:attrNameLst>
                                      </p:cBhvr>
                                      <p:to>
                                        <p:strVal val="visible"/>
                                      </p:to>
                                    </p:set>
                                    <p:animEffect transition="in" filter="barn(inVertical)">
                                      <p:cBhvr>
                                        <p:cTn id="28" dur="500"/>
                                        <p:tgtEl>
                                          <p:spTgt spid="75783"/>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75784"/>
                                        </p:tgtEl>
                                        <p:attrNameLst>
                                          <p:attrName>style.visibility</p:attrName>
                                        </p:attrNameLst>
                                      </p:cBhvr>
                                      <p:to>
                                        <p:strVal val="visible"/>
                                      </p:to>
                                    </p:set>
                                    <p:animEffect transition="in" filter="barn(inVertical)">
                                      <p:cBhvr>
                                        <p:cTn id="33" dur="500"/>
                                        <p:tgtEl>
                                          <p:spTgt spid="75784"/>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75785"/>
                                        </p:tgtEl>
                                        <p:attrNameLst>
                                          <p:attrName>style.visibility</p:attrName>
                                        </p:attrNameLst>
                                      </p:cBhvr>
                                      <p:to>
                                        <p:strVal val="visible"/>
                                      </p:to>
                                    </p:set>
                                    <p:animEffect transition="in" filter="barn(inVertical)">
                                      <p:cBhvr>
                                        <p:cTn id="36" dur="500"/>
                                        <p:tgtEl>
                                          <p:spTgt spid="75785"/>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75786"/>
                                        </p:tgtEl>
                                        <p:attrNameLst>
                                          <p:attrName>style.visibility</p:attrName>
                                        </p:attrNameLst>
                                      </p:cBhvr>
                                      <p:to>
                                        <p:strVal val="visible"/>
                                      </p:to>
                                    </p:set>
                                    <p:animEffect transition="in" filter="barn(inVertical)">
                                      <p:cBhvr>
                                        <p:cTn id="39" dur="500"/>
                                        <p:tgtEl>
                                          <p:spTgt spid="75786"/>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75787"/>
                                        </p:tgtEl>
                                        <p:attrNameLst>
                                          <p:attrName>style.visibility</p:attrName>
                                        </p:attrNameLst>
                                      </p:cBhvr>
                                      <p:to>
                                        <p:strVal val="visible"/>
                                      </p:to>
                                    </p:set>
                                    <p:animEffect transition="in" filter="barn(inVertical)">
                                      <p:cBhvr>
                                        <p:cTn id="42" dur="500"/>
                                        <p:tgtEl>
                                          <p:spTgt spid="75787"/>
                                        </p:tgtEl>
                                      </p:cBhvr>
                                    </p:animEffect>
                                  </p:childTnLst>
                                </p:cTn>
                              </p:par>
                              <p:par>
                                <p:cTn id="43" presetID="16" presetClass="entr" presetSubtype="21" fill="hold" nodeType="withEffect">
                                  <p:stCondLst>
                                    <p:cond delay="0"/>
                                  </p:stCondLst>
                                  <p:childTnLst>
                                    <p:set>
                                      <p:cBhvr>
                                        <p:cTn id="44" dur="1" fill="hold">
                                          <p:stCondLst>
                                            <p:cond delay="0"/>
                                          </p:stCondLst>
                                        </p:cTn>
                                        <p:tgtEl>
                                          <p:spTgt spid="75788"/>
                                        </p:tgtEl>
                                        <p:attrNameLst>
                                          <p:attrName>style.visibility</p:attrName>
                                        </p:attrNameLst>
                                      </p:cBhvr>
                                      <p:to>
                                        <p:strVal val="visible"/>
                                      </p:to>
                                    </p:set>
                                    <p:animEffect transition="in" filter="barn(inVertical)">
                                      <p:cBhvr>
                                        <p:cTn id="45" dur="500"/>
                                        <p:tgtEl>
                                          <p:spTgt spid="75788"/>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barn(inVertical)">
                                      <p:cBhvr>
                                        <p:cTn id="50" dur="500"/>
                                        <p:tgtEl>
                                          <p:spTgt spid="45"/>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animEffect transition="in" filter="barn(inVertical)">
                                      <p:cBhvr>
                                        <p:cTn id="55" dur="500"/>
                                        <p:tgtEl>
                                          <p:spTgt spid="46"/>
                                        </p:tgtEl>
                                      </p:cBhvr>
                                    </p:animEffect>
                                  </p:childTnLst>
                                </p:cTn>
                              </p:par>
                            </p:childTnLst>
                          </p:cTn>
                        </p:par>
                        <p:par>
                          <p:cTn id="56" fill="hold">
                            <p:stCondLst>
                              <p:cond delay="500"/>
                            </p:stCondLst>
                            <p:childTnLst>
                              <p:par>
                                <p:cTn id="57" presetID="16" presetClass="entr" presetSubtype="21" fill="hold" grpId="0" nodeType="after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barn(inVertical)">
                                      <p:cBhvr>
                                        <p:cTn id="59" dur="500"/>
                                        <p:tgtEl>
                                          <p:spTgt spid="35"/>
                                        </p:tgtEl>
                                      </p:cBhvr>
                                    </p:animEffect>
                                  </p:childTnLst>
                                </p:cTn>
                              </p:par>
                              <p:par>
                                <p:cTn id="60" presetID="16" presetClass="entr" presetSubtype="21"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barn(inVertical)">
                                      <p:cBhvr>
                                        <p:cTn id="62" dur="500"/>
                                        <p:tgtEl>
                                          <p:spTgt spid="39"/>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barn(inVertical)">
                                      <p:cBhvr>
                                        <p:cTn id="67" dur="500"/>
                                        <p:tgtEl>
                                          <p:spTgt spid="40"/>
                                        </p:tgtEl>
                                      </p:cBhvr>
                                    </p:animEffect>
                                  </p:childTnLst>
                                </p:cTn>
                              </p:par>
                              <p:par>
                                <p:cTn id="68" presetID="16" presetClass="entr" presetSubtype="21" fill="hold" nodeType="with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barn(inVertical)">
                                      <p:cBhvr>
                                        <p:cTn id="7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p:bldP spid="75780" grpId="0" animBg="1"/>
      <p:bldP spid="75781" grpId="0"/>
      <p:bldP spid="75782" grpId="0"/>
      <p:bldP spid="75784" grpId="0"/>
      <p:bldP spid="75785" grpId="0" animBg="1"/>
      <p:bldP spid="75786" grpId="0"/>
      <p:bldP spid="75787" grpId="0"/>
      <p:bldP spid="2" grpId="0"/>
      <p:bldP spid="34" grpId="0" animBg="1"/>
      <p:bldP spid="35" grpId="0"/>
      <p:bldP spid="40" grpId="0"/>
      <p:bldP spid="45" grpId="0"/>
      <p:bldP spid="46"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8080"/>
      </a:dk2>
      <a:lt2>
        <a:srgbClr val="FFFFFF"/>
      </a:lt2>
      <a:accent1>
        <a:srgbClr val="FF0033"/>
      </a:accent1>
      <a:accent2>
        <a:srgbClr val="3333FF"/>
      </a:accent2>
      <a:accent3>
        <a:srgbClr val="AAC0C0"/>
      </a:accent3>
      <a:accent4>
        <a:srgbClr val="DADADA"/>
      </a:accent4>
      <a:accent5>
        <a:srgbClr val="FFAAAD"/>
      </a:accent5>
      <a:accent6>
        <a:srgbClr val="2D2DE7"/>
      </a:accent6>
      <a:hlink>
        <a:srgbClr val="CBCBCB"/>
      </a:hlink>
      <a:folHlink>
        <a:srgbClr val="00CCCC"/>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n-US" sz="2400" b="0" i="1"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n-US" sz="2400" b="0" i="1"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默认设计模板 1">
        <a:dk1>
          <a:srgbClr val="000000"/>
        </a:dk1>
        <a:lt1>
          <a:srgbClr val="FFFFFF"/>
        </a:lt1>
        <a:dk2>
          <a:srgbClr val="008080"/>
        </a:dk2>
        <a:lt2>
          <a:srgbClr val="FFFFFF"/>
        </a:lt2>
        <a:accent1>
          <a:srgbClr val="FF0033"/>
        </a:accent1>
        <a:accent2>
          <a:srgbClr val="3333FF"/>
        </a:accent2>
        <a:accent3>
          <a:srgbClr val="AAC0C0"/>
        </a:accent3>
        <a:accent4>
          <a:srgbClr val="DADADA"/>
        </a:accent4>
        <a:accent5>
          <a:srgbClr val="FFAAAD"/>
        </a:accent5>
        <a:accent6>
          <a:srgbClr val="2D2DE7"/>
        </a:accent6>
        <a:hlink>
          <a:srgbClr val="CBCBCB"/>
        </a:hlink>
        <a:folHlink>
          <a:srgbClr val="00CCCC"/>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FFFFFF"/>
        </a:lt2>
        <a:accent1>
          <a:srgbClr val="99FFFF"/>
        </a:accent1>
        <a:accent2>
          <a:srgbClr val="CCCCFF"/>
        </a:accent2>
        <a:accent3>
          <a:srgbClr val="FFFFFF"/>
        </a:accent3>
        <a:accent4>
          <a:srgbClr val="000000"/>
        </a:accent4>
        <a:accent5>
          <a:srgbClr val="CAFFFF"/>
        </a:accent5>
        <a:accent6>
          <a:srgbClr val="B9B9E7"/>
        </a:accent6>
        <a:hlink>
          <a:srgbClr val="CCECFF"/>
        </a:hlink>
        <a:folHlink>
          <a:srgbClr val="DDDDDD"/>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FFFFF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5F5F5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80"/>
        </a:dk2>
        <a:lt2>
          <a:srgbClr val="FFFFFF"/>
        </a:lt2>
        <a:accent1>
          <a:srgbClr val="00FFCC"/>
        </a:accent1>
        <a:accent2>
          <a:srgbClr val="9933FF"/>
        </a:accent2>
        <a:accent3>
          <a:srgbClr val="AAAAC0"/>
        </a:accent3>
        <a:accent4>
          <a:srgbClr val="DADADA"/>
        </a:accent4>
        <a:accent5>
          <a:srgbClr val="AAFFE2"/>
        </a:accent5>
        <a:accent6>
          <a:srgbClr val="8A2DE7"/>
        </a:accent6>
        <a:hlink>
          <a:srgbClr val="CCCCFF"/>
        </a:hlink>
        <a:folHlink>
          <a:srgbClr val="3333CC"/>
        </a:folHlink>
      </a:clrScheme>
      <a:clrMap bg1="dk2" tx1="lt1" bg2="dk1" tx2="lt2" accent1="accent1" accent2="accent2" accent3="accent3" accent4="accent4" accent5="accent5" accent6="accent6" hlink="hlink" folHlink="folHlink"/>
    </a:extraClrScheme>
    <a:extraClrScheme>
      <a:clrScheme name="默认设计模板 5">
        <a:dk1>
          <a:srgbClr val="000000"/>
        </a:dk1>
        <a:lt1>
          <a:srgbClr val="FFFFFF"/>
        </a:lt1>
        <a:dk2>
          <a:srgbClr val="990066"/>
        </a:dk2>
        <a:lt2>
          <a:srgbClr val="FFFFFF"/>
        </a:lt2>
        <a:accent1>
          <a:srgbClr val="FF9966"/>
        </a:accent1>
        <a:accent2>
          <a:srgbClr val="009966"/>
        </a:accent2>
        <a:accent3>
          <a:srgbClr val="CAAAB8"/>
        </a:accent3>
        <a:accent4>
          <a:srgbClr val="DADADA"/>
        </a:accent4>
        <a:accent5>
          <a:srgbClr val="FFCAB8"/>
        </a:accent5>
        <a:accent6>
          <a:srgbClr val="008A5C"/>
        </a:accent6>
        <a:hlink>
          <a:srgbClr val="3333CC"/>
        </a:hlink>
        <a:folHlink>
          <a:srgbClr val="FF00CC"/>
        </a:folHlink>
      </a:clrScheme>
      <a:clrMap bg1="dk2" tx1="lt1" bg2="dk1" tx2="lt2" accent1="accent1" accent2="accent2" accent3="accent3" accent4="accent4" accent5="accent5" accent6="accent6" hlink="hlink" folHlink="folHlink"/>
    </a:extraClrScheme>
    <a:extraClrScheme>
      <a:clrScheme name="默认设计模板 6">
        <a:dk1>
          <a:srgbClr val="000000"/>
        </a:dk1>
        <a:lt1>
          <a:srgbClr val="FFFFE1"/>
        </a:lt1>
        <a:dk2>
          <a:srgbClr val="000000"/>
        </a:dk2>
        <a:lt2>
          <a:srgbClr val="FFFFCC"/>
        </a:lt2>
        <a:accent1>
          <a:srgbClr val="FF9933"/>
        </a:accent1>
        <a:accent2>
          <a:srgbClr val="9999FF"/>
        </a:accent2>
        <a:accent3>
          <a:srgbClr val="FFFFEE"/>
        </a:accent3>
        <a:accent4>
          <a:srgbClr val="000000"/>
        </a:accent4>
        <a:accent5>
          <a:srgbClr val="FFCAAD"/>
        </a:accent5>
        <a:accent6>
          <a:srgbClr val="8A8AE7"/>
        </a:accent6>
        <a:hlink>
          <a:srgbClr val="FFCC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默认设计模板">
  <a:themeElements>
    <a:clrScheme name="默认设计模板 1">
      <a:dk1>
        <a:srgbClr val="000000"/>
      </a:dk1>
      <a:lt1>
        <a:srgbClr val="FFFFFF"/>
      </a:lt1>
      <a:dk2>
        <a:srgbClr val="008080"/>
      </a:dk2>
      <a:lt2>
        <a:srgbClr val="FFFFFF"/>
      </a:lt2>
      <a:accent1>
        <a:srgbClr val="FF0033"/>
      </a:accent1>
      <a:accent2>
        <a:srgbClr val="3333FF"/>
      </a:accent2>
      <a:accent3>
        <a:srgbClr val="AAC0C0"/>
      </a:accent3>
      <a:accent4>
        <a:srgbClr val="DADADA"/>
      </a:accent4>
      <a:accent5>
        <a:srgbClr val="FFAAAD"/>
      </a:accent5>
      <a:accent6>
        <a:srgbClr val="2D2DE7"/>
      </a:accent6>
      <a:hlink>
        <a:srgbClr val="CBCBCB"/>
      </a:hlink>
      <a:folHlink>
        <a:srgbClr val="00CCCC"/>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n-US" sz="2400" b="0" i="1"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n-US" sz="2400" b="0" i="1"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默认设计模板 1">
        <a:dk1>
          <a:srgbClr val="000000"/>
        </a:dk1>
        <a:lt1>
          <a:srgbClr val="FFFFFF"/>
        </a:lt1>
        <a:dk2>
          <a:srgbClr val="008080"/>
        </a:dk2>
        <a:lt2>
          <a:srgbClr val="FFFFFF"/>
        </a:lt2>
        <a:accent1>
          <a:srgbClr val="FF0033"/>
        </a:accent1>
        <a:accent2>
          <a:srgbClr val="3333FF"/>
        </a:accent2>
        <a:accent3>
          <a:srgbClr val="AAC0C0"/>
        </a:accent3>
        <a:accent4>
          <a:srgbClr val="DADADA"/>
        </a:accent4>
        <a:accent5>
          <a:srgbClr val="FFAAAD"/>
        </a:accent5>
        <a:accent6>
          <a:srgbClr val="2D2DE7"/>
        </a:accent6>
        <a:hlink>
          <a:srgbClr val="CBCBCB"/>
        </a:hlink>
        <a:folHlink>
          <a:srgbClr val="00CCCC"/>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FFFFFF"/>
        </a:lt2>
        <a:accent1>
          <a:srgbClr val="99FFFF"/>
        </a:accent1>
        <a:accent2>
          <a:srgbClr val="CCCCFF"/>
        </a:accent2>
        <a:accent3>
          <a:srgbClr val="FFFFFF"/>
        </a:accent3>
        <a:accent4>
          <a:srgbClr val="000000"/>
        </a:accent4>
        <a:accent5>
          <a:srgbClr val="CAFFFF"/>
        </a:accent5>
        <a:accent6>
          <a:srgbClr val="B9B9E7"/>
        </a:accent6>
        <a:hlink>
          <a:srgbClr val="CCECFF"/>
        </a:hlink>
        <a:folHlink>
          <a:srgbClr val="DDDDDD"/>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FFFFF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5F5F5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80"/>
        </a:dk2>
        <a:lt2>
          <a:srgbClr val="FFFFFF"/>
        </a:lt2>
        <a:accent1>
          <a:srgbClr val="00FFCC"/>
        </a:accent1>
        <a:accent2>
          <a:srgbClr val="9933FF"/>
        </a:accent2>
        <a:accent3>
          <a:srgbClr val="AAAAC0"/>
        </a:accent3>
        <a:accent4>
          <a:srgbClr val="DADADA"/>
        </a:accent4>
        <a:accent5>
          <a:srgbClr val="AAFFE2"/>
        </a:accent5>
        <a:accent6>
          <a:srgbClr val="8A2DE7"/>
        </a:accent6>
        <a:hlink>
          <a:srgbClr val="CCCCFF"/>
        </a:hlink>
        <a:folHlink>
          <a:srgbClr val="3333CC"/>
        </a:folHlink>
      </a:clrScheme>
      <a:clrMap bg1="dk2" tx1="lt1" bg2="dk1" tx2="lt2" accent1="accent1" accent2="accent2" accent3="accent3" accent4="accent4" accent5="accent5" accent6="accent6" hlink="hlink" folHlink="folHlink"/>
    </a:extraClrScheme>
    <a:extraClrScheme>
      <a:clrScheme name="默认设计模板 5">
        <a:dk1>
          <a:srgbClr val="000000"/>
        </a:dk1>
        <a:lt1>
          <a:srgbClr val="FFFFFF"/>
        </a:lt1>
        <a:dk2>
          <a:srgbClr val="990066"/>
        </a:dk2>
        <a:lt2>
          <a:srgbClr val="FFFFFF"/>
        </a:lt2>
        <a:accent1>
          <a:srgbClr val="FF9966"/>
        </a:accent1>
        <a:accent2>
          <a:srgbClr val="009966"/>
        </a:accent2>
        <a:accent3>
          <a:srgbClr val="CAAAB8"/>
        </a:accent3>
        <a:accent4>
          <a:srgbClr val="DADADA"/>
        </a:accent4>
        <a:accent5>
          <a:srgbClr val="FFCAB8"/>
        </a:accent5>
        <a:accent6>
          <a:srgbClr val="008A5C"/>
        </a:accent6>
        <a:hlink>
          <a:srgbClr val="3333CC"/>
        </a:hlink>
        <a:folHlink>
          <a:srgbClr val="FF00CC"/>
        </a:folHlink>
      </a:clrScheme>
      <a:clrMap bg1="dk2" tx1="lt1" bg2="dk1" tx2="lt2" accent1="accent1" accent2="accent2" accent3="accent3" accent4="accent4" accent5="accent5" accent6="accent6" hlink="hlink" folHlink="folHlink"/>
    </a:extraClrScheme>
    <a:extraClrScheme>
      <a:clrScheme name="默认设计模板 6">
        <a:dk1>
          <a:srgbClr val="000000"/>
        </a:dk1>
        <a:lt1>
          <a:srgbClr val="FFFFE1"/>
        </a:lt1>
        <a:dk2>
          <a:srgbClr val="000000"/>
        </a:dk2>
        <a:lt2>
          <a:srgbClr val="FFFFCC"/>
        </a:lt2>
        <a:accent1>
          <a:srgbClr val="FF9933"/>
        </a:accent1>
        <a:accent2>
          <a:srgbClr val="9999FF"/>
        </a:accent2>
        <a:accent3>
          <a:srgbClr val="FFFFEE"/>
        </a:accent3>
        <a:accent4>
          <a:srgbClr val="000000"/>
        </a:accent4>
        <a:accent5>
          <a:srgbClr val="FFCAAD"/>
        </a:accent5>
        <a:accent6>
          <a:srgbClr val="8A8AE7"/>
        </a:accent6>
        <a:hlink>
          <a:srgbClr val="FFCC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默认设计模板">
  <a:themeElements>
    <a:clrScheme name="默认设计模板 1">
      <a:dk1>
        <a:srgbClr val="000000"/>
      </a:dk1>
      <a:lt1>
        <a:srgbClr val="FFFFFF"/>
      </a:lt1>
      <a:dk2>
        <a:srgbClr val="008080"/>
      </a:dk2>
      <a:lt2>
        <a:srgbClr val="FFFFFF"/>
      </a:lt2>
      <a:accent1>
        <a:srgbClr val="FF0033"/>
      </a:accent1>
      <a:accent2>
        <a:srgbClr val="3333FF"/>
      </a:accent2>
      <a:accent3>
        <a:srgbClr val="AAC0C0"/>
      </a:accent3>
      <a:accent4>
        <a:srgbClr val="DADADA"/>
      </a:accent4>
      <a:accent5>
        <a:srgbClr val="FFAAAD"/>
      </a:accent5>
      <a:accent6>
        <a:srgbClr val="2D2DE7"/>
      </a:accent6>
      <a:hlink>
        <a:srgbClr val="CBCBCB"/>
      </a:hlink>
      <a:folHlink>
        <a:srgbClr val="00CCCC"/>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n-US" sz="2400" b="0" i="1"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n-US" sz="2400" b="0" i="1"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默认设计模板 1">
        <a:dk1>
          <a:srgbClr val="000000"/>
        </a:dk1>
        <a:lt1>
          <a:srgbClr val="FFFFFF"/>
        </a:lt1>
        <a:dk2>
          <a:srgbClr val="008080"/>
        </a:dk2>
        <a:lt2>
          <a:srgbClr val="FFFFFF"/>
        </a:lt2>
        <a:accent1>
          <a:srgbClr val="FF0033"/>
        </a:accent1>
        <a:accent2>
          <a:srgbClr val="3333FF"/>
        </a:accent2>
        <a:accent3>
          <a:srgbClr val="AAC0C0"/>
        </a:accent3>
        <a:accent4>
          <a:srgbClr val="DADADA"/>
        </a:accent4>
        <a:accent5>
          <a:srgbClr val="FFAAAD"/>
        </a:accent5>
        <a:accent6>
          <a:srgbClr val="2D2DE7"/>
        </a:accent6>
        <a:hlink>
          <a:srgbClr val="CBCBCB"/>
        </a:hlink>
        <a:folHlink>
          <a:srgbClr val="00CCCC"/>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FFFFFF"/>
        </a:lt2>
        <a:accent1>
          <a:srgbClr val="99FFFF"/>
        </a:accent1>
        <a:accent2>
          <a:srgbClr val="CCCCFF"/>
        </a:accent2>
        <a:accent3>
          <a:srgbClr val="FFFFFF"/>
        </a:accent3>
        <a:accent4>
          <a:srgbClr val="000000"/>
        </a:accent4>
        <a:accent5>
          <a:srgbClr val="CAFFFF"/>
        </a:accent5>
        <a:accent6>
          <a:srgbClr val="B9B9E7"/>
        </a:accent6>
        <a:hlink>
          <a:srgbClr val="CCECFF"/>
        </a:hlink>
        <a:folHlink>
          <a:srgbClr val="DDDDDD"/>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FFFFF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5F5F5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80"/>
        </a:dk2>
        <a:lt2>
          <a:srgbClr val="FFFFFF"/>
        </a:lt2>
        <a:accent1>
          <a:srgbClr val="00FFCC"/>
        </a:accent1>
        <a:accent2>
          <a:srgbClr val="9933FF"/>
        </a:accent2>
        <a:accent3>
          <a:srgbClr val="AAAAC0"/>
        </a:accent3>
        <a:accent4>
          <a:srgbClr val="DADADA"/>
        </a:accent4>
        <a:accent5>
          <a:srgbClr val="AAFFE2"/>
        </a:accent5>
        <a:accent6>
          <a:srgbClr val="8A2DE7"/>
        </a:accent6>
        <a:hlink>
          <a:srgbClr val="CCCCFF"/>
        </a:hlink>
        <a:folHlink>
          <a:srgbClr val="3333CC"/>
        </a:folHlink>
      </a:clrScheme>
      <a:clrMap bg1="dk2" tx1="lt1" bg2="dk1" tx2="lt2" accent1="accent1" accent2="accent2" accent3="accent3" accent4="accent4" accent5="accent5" accent6="accent6" hlink="hlink" folHlink="folHlink"/>
    </a:extraClrScheme>
    <a:extraClrScheme>
      <a:clrScheme name="默认设计模板 5">
        <a:dk1>
          <a:srgbClr val="000000"/>
        </a:dk1>
        <a:lt1>
          <a:srgbClr val="FFFFFF"/>
        </a:lt1>
        <a:dk2>
          <a:srgbClr val="990066"/>
        </a:dk2>
        <a:lt2>
          <a:srgbClr val="FFFFFF"/>
        </a:lt2>
        <a:accent1>
          <a:srgbClr val="FF9966"/>
        </a:accent1>
        <a:accent2>
          <a:srgbClr val="009966"/>
        </a:accent2>
        <a:accent3>
          <a:srgbClr val="CAAAB8"/>
        </a:accent3>
        <a:accent4>
          <a:srgbClr val="DADADA"/>
        </a:accent4>
        <a:accent5>
          <a:srgbClr val="FFCAB8"/>
        </a:accent5>
        <a:accent6>
          <a:srgbClr val="008A5C"/>
        </a:accent6>
        <a:hlink>
          <a:srgbClr val="3333CC"/>
        </a:hlink>
        <a:folHlink>
          <a:srgbClr val="FF00CC"/>
        </a:folHlink>
      </a:clrScheme>
      <a:clrMap bg1="dk2" tx1="lt1" bg2="dk1" tx2="lt2" accent1="accent1" accent2="accent2" accent3="accent3" accent4="accent4" accent5="accent5" accent6="accent6" hlink="hlink" folHlink="folHlink"/>
    </a:extraClrScheme>
    <a:extraClrScheme>
      <a:clrScheme name="默认设计模板 6">
        <a:dk1>
          <a:srgbClr val="000000"/>
        </a:dk1>
        <a:lt1>
          <a:srgbClr val="FFFFE1"/>
        </a:lt1>
        <a:dk2>
          <a:srgbClr val="000000"/>
        </a:dk2>
        <a:lt2>
          <a:srgbClr val="FFFFCC"/>
        </a:lt2>
        <a:accent1>
          <a:srgbClr val="FF9933"/>
        </a:accent1>
        <a:accent2>
          <a:srgbClr val="9999FF"/>
        </a:accent2>
        <a:accent3>
          <a:srgbClr val="FFFFEE"/>
        </a:accent3>
        <a:accent4>
          <a:srgbClr val="000000"/>
        </a:accent4>
        <a:accent5>
          <a:srgbClr val="FFCAAD"/>
        </a:accent5>
        <a:accent6>
          <a:srgbClr val="8A8AE7"/>
        </a:accent6>
        <a:hlink>
          <a:srgbClr val="FFCC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默认设计模板">
  <a:themeElements>
    <a:clrScheme name="默认设计模板 1">
      <a:dk1>
        <a:srgbClr val="000000"/>
      </a:dk1>
      <a:lt1>
        <a:srgbClr val="FFFFFF"/>
      </a:lt1>
      <a:dk2>
        <a:srgbClr val="008080"/>
      </a:dk2>
      <a:lt2>
        <a:srgbClr val="FFFFFF"/>
      </a:lt2>
      <a:accent1>
        <a:srgbClr val="FF0033"/>
      </a:accent1>
      <a:accent2>
        <a:srgbClr val="3333FF"/>
      </a:accent2>
      <a:accent3>
        <a:srgbClr val="AAC0C0"/>
      </a:accent3>
      <a:accent4>
        <a:srgbClr val="DADADA"/>
      </a:accent4>
      <a:accent5>
        <a:srgbClr val="FFAAAD"/>
      </a:accent5>
      <a:accent6>
        <a:srgbClr val="2D2DE7"/>
      </a:accent6>
      <a:hlink>
        <a:srgbClr val="CBCBCB"/>
      </a:hlink>
      <a:folHlink>
        <a:srgbClr val="00CCCC"/>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n-US" sz="2400" b="0" i="1"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en-US" sz="2400" b="0" i="1"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默认设计模板 1">
        <a:dk1>
          <a:srgbClr val="000000"/>
        </a:dk1>
        <a:lt1>
          <a:srgbClr val="FFFFFF"/>
        </a:lt1>
        <a:dk2>
          <a:srgbClr val="008080"/>
        </a:dk2>
        <a:lt2>
          <a:srgbClr val="FFFFFF"/>
        </a:lt2>
        <a:accent1>
          <a:srgbClr val="FF0033"/>
        </a:accent1>
        <a:accent2>
          <a:srgbClr val="3333FF"/>
        </a:accent2>
        <a:accent3>
          <a:srgbClr val="AAC0C0"/>
        </a:accent3>
        <a:accent4>
          <a:srgbClr val="DADADA"/>
        </a:accent4>
        <a:accent5>
          <a:srgbClr val="FFAAAD"/>
        </a:accent5>
        <a:accent6>
          <a:srgbClr val="2D2DE7"/>
        </a:accent6>
        <a:hlink>
          <a:srgbClr val="CBCBCB"/>
        </a:hlink>
        <a:folHlink>
          <a:srgbClr val="00CCCC"/>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FFFFFF"/>
        </a:lt2>
        <a:accent1>
          <a:srgbClr val="99FFFF"/>
        </a:accent1>
        <a:accent2>
          <a:srgbClr val="CCCCFF"/>
        </a:accent2>
        <a:accent3>
          <a:srgbClr val="FFFFFF"/>
        </a:accent3>
        <a:accent4>
          <a:srgbClr val="000000"/>
        </a:accent4>
        <a:accent5>
          <a:srgbClr val="CAFFFF"/>
        </a:accent5>
        <a:accent6>
          <a:srgbClr val="B9B9E7"/>
        </a:accent6>
        <a:hlink>
          <a:srgbClr val="CCECFF"/>
        </a:hlink>
        <a:folHlink>
          <a:srgbClr val="DDDDDD"/>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FFFFF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5F5F5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80"/>
        </a:dk2>
        <a:lt2>
          <a:srgbClr val="FFFFFF"/>
        </a:lt2>
        <a:accent1>
          <a:srgbClr val="00FFCC"/>
        </a:accent1>
        <a:accent2>
          <a:srgbClr val="9933FF"/>
        </a:accent2>
        <a:accent3>
          <a:srgbClr val="AAAAC0"/>
        </a:accent3>
        <a:accent4>
          <a:srgbClr val="DADADA"/>
        </a:accent4>
        <a:accent5>
          <a:srgbClr val="AAFFE2"/>
        </a:accent5>
        <a:accent6>
          <a:srgbClr val="8A2DE7"/>
        </a:accent6>
        <a:hlink>
          <a:srgbClr val="CCCCFF"/>
        </a:hlink>
        <a:folHlink>
          <a:srgbClr val="3333CC"/>
        </a:folHlink>
      </a:clrScheme>
      <a:clrMap bg1="dk2" tx1="lt1" bg2="dk1" tx2="lt2" accent1="accent1" accent2="accent2" accent3="accent3" accent4="accent4" accent5="accent5" accent6="accent6" hlink="hlink" folHlink="folHlink"/>
    </a:extraClrScheme>
    <a:extraClrScheme>
      <a:clrScheme name="默认设计模板 5">
        <a:dk1>
          <a:srgbClr val="000000"/>
        </a:dk1>
        <a:lt1>
          <a:srgbClr val="FFFFFF"/>
        </a:lt1>
        <a:dk2>
          <a:srgbClr val="990066"/>
        </a:dk2>
        <a:lt2>
          <a:srgbClr val="FFFFFF"/>
        </a:lt2>
        <a:accent1>
          <a:srgbClr val="FF9966"/>
        </a:accent1>
        <a:accent2>
          <a:srgbClr val="009966"/>
        </a:accent2>
        <a:accent3>
          <a:srgbClr val="CAAAB8"/>
        </a:accent3>
        <a:accent4>
          <a:srgbClr val="DADADA"/>
        </a:accent4>
        <a:accent5>
          <a:srgbClr val="FFCAB8"/>
        </a:accent5>
        <a:accent6>
          <a:srgbClr val="008A5C"/>
        </a:accent6>
        <a:hlink>
          <a:srgbClr val="3333CC"/>
        </a:hlink>
        <a:folHlink>
          <a:srgbClr val="FF00CC"/>
        </a:folHlink>
      </a:clrScheme>
      <a:clrMap bg1="dk2" tx1="lt1" bg2="dk1" tx2="lt2" accent1="accent1" accent2="accent2" accent3="accent3" accent4="accent4" accent5="accent5" accent6="accent6" hlink="hlink" folHlink="folHlink"/>
    </a:extraClrScheme>
    <a:extraClrScheme>
      <a:clrScheme name="默认设计模板 6">
        <a:dk1>
          <a:srgbClr val="000000"/>
        </a:dk1>
        <a:lt1>
          <a:srgbClr val="FFFFE1"/>
        </a:lt1>
        <a:dk2>
          <a:srgbClr val="000000"/>
        </a:dk2>
        <a:lt2>
          <a:srgbClr val="FFFFCC"/>
        </a:lt2>
        <a:accent1>
          <a:srgbClr val="FF9933"/>
        </a:accent1>
        <a:accent2>
          <a:srgbClr val="9999FF"/>
        </a:accent2>
        <a:accent3>
          <a:srgbClr val="FFFFEE"/>
        </a:accent3>
        <a:accent4>
          <a:srgbClr val="000000"/>
        </a:accent4>
        <a:accent5>
          <a:srgbClr val="FFCAAD"/>
        </a:accent5>
        <a:accent6>
          <a:srgbClr val="8A8AE7"/>
        </a:accent6>
        <a:hlink>
          <a:srgbClr val="FFCC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8944</TotalTime>
  <Words>3827</Words>
  <Application>Microsoft Office PowerPoint</Application>
  <PresentationFormat>全屏显示(4:3)</PresentationFormat>
  <Paragraphs>808</Paragraphs>
  <Slides>66</Slides>
  <Notes>8</Notes>
  <HiddenSlides>0</HiddenSlides>
  <MMClips>0</MMClips>
  <ScaleCrop>false</ScaleCrop>
  <HeadingPairs>
    <vt:vector size="8" baseType="variant">
      <vt:variant>
        <vt:lpstr>已用的字体</vt:lpstr>
      </vt:variant>
      <vt:variant>
        <vt:i4>17</vt:i4>
      </vt:variant>
      <vt:variant>
        <vt:lpstr>主题</vt:lpstr>
      </vt:variant>
      <vt:variant>
        <vt:i4>5</vt:i4>
      </vt:variant>
      <vt:variant>
        <vt:lpstr>嵌入 OLE 服务器</vt:lpstr>
      </vt:variant>
      <vt:variant>
        <vt:i4>6</vt:i4>
      </vt:variant>
      <vt:variant>
        <vt:lpstr>幻灯片标题</vt:lpstr>
      </vt:variant>
      <vt:variant>
        <vt:i4>66</vt:i4>
      </vt:variant>
    </vt:vector>
  </HeadingPairs>
  <TitlesOfParts>
    <vt:vector size="94" baseType="lpstr">
      <vt:lpstr>Aharoni</vt:lpstr>
      <vt:lpstr>CommonBullets</vt:lpstr>
      <vt:lpstr>Monotype Sorts</vt:lpstr>
      <vt:lpstr>仿宋_GB2312</vt:lpstr>
      <vt:lpstr>黑体</vt:lpstr>
      <vt:lpstr>华文琥珀</vt:lpstr>
      <vt:lpstr>华文楷体</vt:lpstr>
      <vt:lpstr>华文行楷</vt:lpstr>
      <vt:lpstr>楷体_GB2312</vt:lpstr>
      <vt:lpstr>隶书</vt:lpstr>
      <vt:lpstr>宋体</vt:lpstr>
      <vt:lpstr>Arial</vt:lpstr>
      <vt:lpstr>Symbol</vt:lpstr>
      <vt:lpstr>Times New Roman</vt:lpstr>
      <vt:lpstr>Webdings</vt:lpstr>
      <vt:lpstr>Wingdings</vt:lpstr>
      <vt:lpstr>Wingdings 2</vt:lpstr>
      <vt:lpstr>默认设计模板</vt:lpstr>
      <vt:lpstr>1_默认设计模板</vt:lpstr>
      <vt:lpstr>2_默认设计模板</vt:lpstr>
      <vt:lpstr>3_默认设计模板</vt:lpstr>
      <vt:lpstr>4_默认设计模板</vt:lpstr>
      <vt:lpstr>剪辑</vt:lpstr>
      <vt:lpstr>VISIO</vt:lpstr>
      <vt:lpstr>公式</vt:lpstr>
      <vt:lpstr>Equation</vt:lpstr>
      <vt:lpstr>Image</vt:lpstr>
      <vt:lpstr>Visio</vt:lpstr>
      <vt:lpstr>PowerPoint 演示文稿</vt:lpstr>
      <vt:lpstr>第1章  电路基本概述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thcic</dc:creator>
  <cp:lastModifiedBy>JT</cp:lastModifiedBy>
  <cp:revision>663</cp:revision>
  <dcterms:created xsi:type="dcterms:W3CDTF">1998-03-26T06:58:13Z</dcterms:created>
  <dcterms:modified xsi:type="dcterms:W3CDTF">2024-06-25T13:07:45Z</dcterms:modified>
</cp:coreProperties>
</file>
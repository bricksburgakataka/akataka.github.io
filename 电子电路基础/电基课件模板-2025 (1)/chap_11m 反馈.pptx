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303" r:id="rId2"/>
    <p:sldId id="313" r:id="rId3"/>
    <p:sldId id="316" r:id="rId4"/>
    <p:sldId id="327" r:id="rId5"/>
    <p:sldId id="317" r:id="rId6"/>
    <p:sldId id="318" r:id="rId7"/>
    <p:sldId id="319" r:id="rId8"/>
    <p:sldId id="320" r:id="rId9"/>
    <p:sldId id="315" r:id="rId10"/>
    <p:sldId id="314" r:id="rId11"/>
    <p:sldId id="419" r:id="rId12"/>
    <p:sldId id="321" r:id="rId13"/>
    <p:sldId id="322" r:id="rId14"/>
    <p:sldId id="422" r:id="rId15"/>
    <p:sldId id="391" r:id="rId16"/>
    <p:sldId id="329" r:id="rId17"/>
    <p:sldId id="323" r:id="rId18"/>
    <p:sldId id="324" r:id="rId19"/>
    <p:sldId id="325" r:id="rId20"/>
    <p:sldId id="326" r:id="rId21"/>
    <p:sldId id="330" r:id="rId22"/>
    <p:sldId id="336" r:id="rId23"/>
    <p:sldId id="332" r:id="rId24"/>
    <p:sldId id="333" r:id="rId25"/>
    <p:sldId id="337" r:id="rId26"/>
    <p:sldId id="334" r:id="rId27"/>
    <p:sldId id="335" r:id="rId28"/>
    <p:sldId id="338" r:id="rId29"/>
    <p:sldId id="421" r:id="rId30"/>
    <p:sldId id="342" r:id="rId31"/>
    <p:sldId id="343" r:id="rId32"/>
    <p:sldId id="344" r:id="rId33"/>
    <p:sldId id="345" r:id="rId34"/>
    <p:sldId id="346" r:id="rId35"/>
    <p:sldId id="347" r:id="rId36"/>
    <p:sldId id="420" r:id="rId37"/>
    <p:sldId id="426" r:id="rId38"/>
    <p:sldId id="352" r:id="rId39"/>
    <p:sldId id="427" r:id="rId40"/>
    <p:sldId id="358" r:id="rId41"/>
    <p:sldId id="435" r:id="rId42"/>
    <p:sldId id="359" r:id="rId43"/>
    <p:sldId id="437" r:id="rId44"/>
    <p:sldId id="371" r:id="rId45"/>
    <p:sldId id="372" r:id="rId46"/>
    <p:sldId id="373" r:id="rId47"/>
    <p:sldId id="374" r:id="rId48"/>
    <p:sldId id="375" r:id="rId49"/>
    <p:sldId id="376" r:id="rId50"/>
    <p:sldId id="377" r:id="rId51"/>
    <p:sldId id="378" r:id="rId52"/>
    <p:sldId id="379" r:id="rId53"/>
    <p:sldId id="380" r:id="rId54"/>
    <p:sldId id="381" r:id="rId55"/>
    <p:sldId id="382" r:id="rId56"/>
    <p:sldId id="383" r:id="rId57"/>
  </p:sldIdLst>
  <p:sldSz cx="9144000" cy="6858000" type="screen4x3"/>
  <p:notesSz cx="6858000" cy="9144000"/>
  <p:defaultTextStyle>
    <a:defPPr>
      <a:defRPr lang="zh-CN"/>
    </a:defPPr>
    <a:lvl1pPr algn="ctr" rtl="0" fontAlgn="base">
      <a:spcBef>
        <a:spcPct val="0"/>
      </a:spcBef>
      <a:spcAft>
        <a:spcPct val="0"/>
      </a:spcAft>
      <a:defRPr kumimoji="1" sz="2400" b="1" kern="1200">
        <a:solidFill>
          <a:schemeClr val="tx1"/>
        </a:solidFill>
        <a:latin typeface="Times New Roman" pitchFamily="18" charset="0"/>
        <a:ea typeface="宋体" pitchFamily="2" charset="-122"/>
        <a:cs typeface="+mn-cs"/>
      </a:defRPr>
    </a:lvl1pPr>
    <a:lvl2pPr marL="457200" algn="ctr" rtl="0" fontAlgn="base">
      <a:spcBef>
        <a:spcPct val="0"/>
      </a:spcBef>
      <a:spcAft>
        <a:spcPct val="0"/>
      </a:spcAft>
      <a:defRPr kumimoji="1" sz="2400" b="1" kern="1200">
        <a:solidFill>
          <a:schemeClr val="tx1"/>
        </a:solidFill>
        <a:latin typeface="Times New Roman" pitchFamily="18" charset="0"/>
        <a:ea typeface="宋体" pitchFamily="2" charset="-122"/>
        <a:cs typeface="+mn-cs"/>
      </a:defRPr>
    </a:lvl2pPr>
    <a:lvl3pPr marL="914400" algn="ctr" rtl="0" fontAlgn="base">
      <a:spcBef>
        <a:spcPct val="0"/>
      </a:spcBef>
      <a:spcAft>
        <a:spcPct val="0"/>
      </a:spcAft>
      <a:defRPr kumimoji="1" sz="2400" b="1" kern="1200">
        <a:solidFill>
          <a:schemeClr val="tx1"/>
        </a:solidFill>
        <a:latin typeface="Times New Roman" pitchFamily="18" charset="0"/>
        <a:ea typeface="宋体" pitchFamily="2" charset="-122"/>
        <a:cs typeface="+mn-cs"/>
      </a:defRPr>
    </a:lvl3pPr>
    <a:lvl4pPr marL="1371600" algn="ctr" rtl="0" fontAlgn="base">
      <a:spcBef>
        <a:spcPct val="0"/>
      </a:spcBef>
      <a:spcAft>
        <a:spcPct val="0"/>
      </a:spcAft>
      <a:defRPr kumimoji="1" sz="2400" b="1" kern="1200">
        <a:solidFill>
          <a:schemeClr val="tx1"/>
        </a:solidFill>
        <a:latin typeface="Times New Roman" pitchFamily="18" charset="0"/>
        <a:ea typeface="宋体" pitchFamily="2" charset="-122"/>
        <a:cs typeface="+mn-cs"/>
      </a:defRPr>
    </a:lvl4pPr>
    <a:lvl5pPr marL="1828800" algn="ctr" rtl="0" fontAlgn="base">
      <a:spcBef>
        <a:spcPct val="0"/>
      </a:spcBef>
      <a:spcAft>
        <a:spcPct val="0"/>
      </a:spcAft>
      <a:defRPr kumimoji="1" sz="2400" b="1"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b="1"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b="1"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b="1"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b="1"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6FFFF"/>
    <a:srgbClr val="FF0000"/>
    <a:srgbClr val="FF9900"/>
    <a:srgbClr val="FF0066"/>
    <a:srgbClr val="00FFFF"/>
    <a:srgbClr val="FF00FF"/>
    <a:srgbClr val="66FF33"/>
    <a:srgbClr val="FF33CC"/>
    <a:srgbClr val="99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60"/>
  </p:normalViewPr>
  <p:slideViewPr>
    <p:cSldViewPr snapToGrid="0">
      <p:cViewPr>
        <p:scale>
          <a:sx n="100" d="100"/>
          <a:sy n="100" d="100"/>
        </p:scale>
        <p:origin x="1914" y="55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37" d="100"/>
          <a:sy n="37" d="100"/>
        </p:scale>
        <p:origin x="-1470" y="-96"/>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image" Target="../media/image11.wmf"/><Relationship Id="rId7" Type="http://schemas.openxmlformats.org/officeDocument/2006/relationships/image" Target="../media/image15.wmf"/><Relationship Id="rId2" Type="http://schemas.openxmlformats.org/officeDocument/2006/relationships/image" Target="../media/image10.wmf"/><Relationship Id="rId1" Type="http://schemas.openxmlformats.org/officeDocument/2006/relationships/image" Target="../media/image9.wmf"/><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2.wmf"/><Relationship Id="rId9" Type="http://schemas.openxmlformats.org/officeDocument/2006/relationships/image" Target="../media/image1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9.wmf"/><Relationship Id="rId1" Type="http://schemas.openxmlformats.org/officeDocument/2006/relationships/image" Target="../media/image18.wmf"/><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 Id="rId4" Type="http://schemas.openxmlformats.org/officeDocument/2006/relationships/image" Target="../media/image2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image" Target="../media/image33.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 Id="rId5" Type="http://schemas.openxmlformats.org/officeDocument/2006/relationships/image" Target="../media/image43.wmf"/><Relationship Id="rId4" Type="http://schemas.openxmlformats.org/officeDocument/2006/relationships/image" Target="../media/image4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6" Type="http://schemas.openxmlformats.org/officeDocument/2006/relationships/image" Target="../media/image51.wmf"/><Relationship Id="rId5" Type="http://schemas.openxmlformats.org/officeDocument/2006/relationships/image" Target="../media/image50.wmf"/><Relationship Id="rId4" Type="http://schemas.openxmlformats.org/officeDocument/2006/relationships/image" Target="../media/image49.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 Id="rId4" Type="http://schemas.openxmlformats.org/officeDocument/2006/relationships/image" Target="../media/image5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2.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 Id="rId5" Type="http://schemas.openxmlformats.org/officeDocument/2006/relationships/image" Target="../media/image82.wmf"/><Relationship Id="rId4" Type="http://schemas.openxmlformats.org/officeDocument/2006/relationships/image" Target="../media/image8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6.wmf"/><Relationship Id="rId6" Type="http://schemas.openxmlformats.org/officeDocument/2006/relationships/image" Target="../media/image91.wmf"/><Relationship Id="rId5" Type="http://schemas.openxmlformats.org/officeDocument/2006/relationships/image" Target="../media/image90.wmf"/><Relationship Id="rId4" Type="http://schemas.openxmlformats.org/officeDocument/2006/relationships/image" Target="../media/image8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92.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 Id="rId6" Type="http://schemas.openxmlformats.org/officeDocument/2006/relationships/image" Target="../media/image99.wmf"/><Relationship Id="rId5" Type="http://schemas.openxmlformats.org/officeDocument/2006/relationships/image" Target="../media/image98.wmf"/><Relationship Id="rId4" Type="http://schemas.openxmlformats.org/officeDocument/2006/relationships/image" Target="../media/image82.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00.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96.wmf"/><Relationship Id="rId1" Type="http://schemas.openxmlformats.org/officeDocument/2006/relationships/image" Target="../media/image103.wmf"/><Relationship Id="rId6" Type="http://schemas.openxmlformats.org/officeDocument/2006/relationships/image" Target="../media/image104.wmf"/><Relationship Id="rId5" Type="http://schemas.openxmlformats.org/officeDocument/2006/relationships/image" Target="../media/image98.wmf"/><Relationship Id="rId4" Type="http://schemas.openxmlformats.org/officeDocument/2006/relationships/image" Target="../media/image91.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05.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image" Target="../media/image109.wmf"/><Relationship Id="rId1" Type="http://schemas.openxmlformats.org/officeDocument/2006/relationships/image" Target="../media/image108.wmf"/><Relationship Id="rId6" Type="http://schemas.openxmlformats.org/officeDocument/2006/relationships/image" Target="../media/image113.wmf"/><Relationship Id="rId5" Type="http://schemas.openxmlformats.org/officeDocument/2006/relationships/image" Target="../media/image112.png"/><Relationship Id="rId4" Type="http://schemas.openxmlformats.org/officeDocument/2006/relationships/image" Target="../media/image111.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14.png"/></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14.png"/></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20.wmf"/><Relationship Id="rId2" Type="http://schemas.openxmlformats.org/officeDocument/2006/relationships/image" Target="../media/image119.wmf"/><Relationship Id="rId1" Type="http://schemas.openxmlformats.org/officeDocument/2006/relationships/image" Target="../media/image118.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2.wmf"/><Relationship Id="rId4" Type="http://schemas.openxmlformats.org/officeDocument/2006/relationships/image" Target="../media/image125.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26.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29.wmf"/><Relationship Id="rId2" Type="http://schemas.openxmlformats.org/officeDocument/2006/relationships/image" Target="../media/image128.emf"/><Relationship Id="rId1" Type="http://schemas.openxmlformats.org/officeDocument/2006/relationships/image" Target="../media/image127.wmf"/><Relationship Id="rId5" Type="http://schemas.openxmlformats.org/officeDocument/2006/relationships/image" Target="../media/image131.wmf"/><Relationship Id="rId4" Type="http://schemas.openxmlformats.org/officeDocument/2006/relationships/image" Target="../media/image130.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34.wmf"/><Relationship Id="rId1" Type="http://schemas.openxmlformats.org/officeDocument/2006/relationships/image" Target="../media/image133.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37.wmf"/><Relationship Id="rId1" Type="http://schemas.openxmlformats.org/officeDocument/2006/relationships/image" Target="../media/image136.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41.wmf"/><Relationship Id="rId2" Type="http://schemas.openxmlformats.org/officeDocument/2006/relationships/image" Target="../media/image140.wmf"/><Relationship Id="rId1" Type="http://schemas.openxmlformats.org/officeDocument/2006/relationships/image" Target="../media/image139.wmf"/><Relationship Id="rId4" Type="http://schemas.openxmlformats.org/officeDocument/2006/relationships/image" Target="../media/image14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lvl1pPr algn="l">
              <a:defRPr sz="1200" b="0"/>
            </a:lvl1pPr>
          </a:lstStyle>
          <a:p>
            <a:pPr>
              <a:defRPr/>
            </a:pPr>
            <a:endParaRPr lang="en-US" altLang="zh-CN"/>
          </a:p>
        </p:txBody>
      </p:sp>
      <p:sp>
        <p:nvSpPr>
          <p:cNvPr id="2867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lvl1pPr algn="r">
              <a:defRPr sz="1200" b="0"/>
            </a:lvl1pPr>
          </a:lstStyle>
          <a:p>
            <a:pPr>
              <a:defRPr/>
            </a:pPr>
            <a:endParaRPr lang="en-US" altLang="zh-CN"/>
          </a:p>
        </p:txBody>
      </p:sp>
      <p:sp>
        <p:nvSpPr>
          <p:cNvPr id="819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867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867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bodyPr>
          <a:lstStyle>
            <a:lvl1pPr algn="l">
              <a:defRPr sz="1200" b="0"/>
            </a:lvl1pPr>
          </a:lstStyle>
          <a:p>
            <a:pPr>
              <a:defRPr/>
            </a:pPr>
            <a:endParaRPr lang="en-US" altLang="zh-CN"/>
          </a:p>
        </p:txBody>
      </p:sp>
      <p:sp>
        <p:nvSpPr>
          <p:cNvPr id="2867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b" anchorCtr="0" compatLnSpc="1">
            <a:prstTxWarp prst="textNoShape">
              <a:avLst/>
            </a:prstTxWarp>
          </a:bodyPr>
          <a:lstStyle>
            <a:lvl1pPr algn="r">
              <a:defRPr sz="1200" b="0"/>
            </a:lvl1pPr>
          </a:lstStyle>
          <a:p>
            <a:pPr>
              <a:defRPr/>
            </a:pPr>
            <a:fld id="{07C53C1A-6F2A-4F92-871C-1506AF31D43D}" type="slidenum">
              <a:rPr lang="en-US" altLang="zh-CN"/>
              <a:pPr>
                <a:defRPr/>
              </a:pPr>
              <a:t>‹#›</a:t>
            </a:fld>
            <a:endParaRPr lang="en-US" altLang="zh-CN"/>
          </a:p>
        </p:txBody>
      </p:sp>
    </p:spTree>
    <p:extLst>
      <p:ext uri="{BB962C8B-B14F-4D97-AF65-F5344CB8AC3E}">
        <p14:creationId xmlns:p14="http://schemas.microsoft.com/office/powerpoint/2010/main" val="32505896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07C53C1A-6F2A-4F92-871C-1506AF31D43D}" type="slidenum">
              <a:rPr lang="en-US" altLang="zh-CN" smtClean="0"/>
              <a:pPr>
                <a:defRPr/>
              </a:pPr>
              <a:t>31</a:t>
            </a:fld>
            <a:endParaRPr lang="en-US" altLang="zh-CN"/>
          </a:p>
        </p:txBody>
      </p:sp>
    </p:spTree>
    <p:extLst>
      <p:ext uri="{BB962C8B-B14F-4D97-AF65-F5344CB8AC3E}">
        <p14:creationId xmlns:p14="http://schemas.microsoft.com/office/powerpoint/2010/main" val="38914064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C8E642C-DB84-4D3E-9455-230CD75B652F}" type="slidenum">
              <a:rPr lang="en-US" altLang="zh-CN"/>
              <a:pPr>
                <a:defRPr/>
              </a:pPr>
              <a:t>‹#›</a:t>
            </a:fld>
            <a:endParaRPr lang="en-US" altLang="zh-CN"/>
          </a:p>
        </p:txBody>
      </p:sp>
    </p:spTree>
    <p:extLst>
      <p:ext uri="{BB962C8B-B14F-4D97-AF65-F5344CB8AC3E}">
        <p14:creationId xmlns:p14="http://schemas.microsoft.com/office/powerpoint/2010/main" val="2832920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CCF8849-048D-4D02-A9A5-F67A2240502D}" type="slidenum">
              <a:rPr lang="en-US" altLang="zh-CN"/>
              <a:pPr>
                <a:defRPr/>
              </a:pPr>
              <a:t>‹#›</a:t>
            </a:fld>
            <a:endParaRPr lang="en-US" altLang="zh-CN"/>
          </a:p>
        </p:txBody>
      </p:sp>
    </p:spTree>
    <p:extLst>
      <p:ext uri="{BB962C8B-B14F-4D97-AF65-F5344CB8AC3E}">
        <p14:creationId xmlns:p14="http://schemas.microsoft.com/office/powerpoint/2010/main" val="420516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BDE1F0B-8E27-410E-94F5-A4A9A3A95D98}" type="slidenum">
              <a:rPr lang="en-US" altLang="zh-CN"/>
              <a:pPr>
                <a:defRPr/>
              </a:pPr>
              <a:t>‹#›</a:t>
            </a:fld>
            <a:endParaRPr lang="en-US" altLang="zh-CN"/>
          </a:p>
        </p:txBody>
      </p:sp>
    </p:spTree>
    <p:extLst>
      <p:ext uri="{BB962C8B-B14F-4D97-AF65-F5344CB8AC3E}">
        <p14:creationId xmlns:p14="http://schemas.microsoft.com/office/powerpoint/2010/main" val="2810073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C1B67A0-A758-4426-A7ED-3666F6127518}" type="slidenum">
              <a:rPr lang="en-US" altLang="zh-CN"/>
              <a:pPr>
                <a:defRPr/>
              </a:pPr>
              <a:t>‹#›</a:t>
            </a:fld>
            <a:endParaRPr lang="en-US" altLang="zh-CN"/>
          </a:p>
        </p:txBody>
      </p:sp>
    </p:spTree>
    <p:extLst>
      <p:ext uri="{BB962C8B-B14F-4D97-AF65-F5344CB8AC3E}">
        <p14:creationId xmlns:p14="http://schemas.microsoft.com/office/powerpoint/2010/main" val="3853516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81970BEF-8BFC-4F7A-9CB6-86A79074ACBE}" type="slidenum">
              <a:rPr lang="en-US" altLang="zh-CN"/>
              <a:pPr>
                <a:defRPr/>
              </a:pPr>
              <a:t>‹#›</a:t>
            </a:fld>
            <a:endParaRPr lang="en-US" altLang="zh-CN"/>
          </a:p>
        </p:txBody>
      </p:sp>
    </p:spTree>
    <p:extLst>
      <p:ext uri="{BB962C8B-B14F-4D97-AF65-F5344CB8AC3E}">
        <p14:creationId xmlns:p14="http://schemas.microsoft.com/office/powerpoint/2010/main" val="669847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B4AE2AAD-85B6-4FCB-AC3B-4D9DF22C6EA4}" type="slidenum">
              <a:rPr lang="en-US" altLang="zh-CN"/>
              <a:pPr>
                <a:defRPr/>
              </a:pPr>
              <a:t>‹#›</a:t>
            </a:fld>
            <a:endParaRPr lang="en-US" altLang="zh-CN"/>
          </a:p>
        </p:txBody>
      </p:sp>
    </p:spTree>
    <p:extLst>
      <p:ext uri="{BB962C8B-B14F-4D97-AF65-F5344CB8AC3E}">
        <p14:creationId xmlns:p14="http://schemas.microsoft.com/office/powerpoint/2010/main" val="1910929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0EDB2D20-887D-491D-90C0-229DA5E63518}" type="slidenum">
              <a:rPr lang="en-US" altLang="zh-CN"/>
              <a:pPr>
                <a:defRPr/>
              </a:pPr>
              <a:t>‹#›</a:t>
            </a:fld>
            <a:endParaRPr lang="en-US" altLang="zh-CN"/>
          </a:p>
        </p:txBody>
      </p:sp>
    </p:spTree>
    <p:extLst>
      <p:ext uri="{BB962C8B-B14F-4D97-AF65-F5344CB8AC3E}">
        <p14:creationId xmlns:p14="http://schemas.microsoft.com/office/powerpoint/2010/main" val="1088515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238CE47-247C-468C-B20D-3B135341A22C}" type="slidenum">
              <a:rPr lang="en-US" altLang="zh-CN"/>
              <a:pPr>
                <a:defRPr/>
              </a:pPr>
              <a:t>‹#›</a:t>
            </a:fld>
            <a:endParaRPr lang="en-US" altLang="zh-CN"/>
          </a:p>
        </p:txBody>
      </p:sp>
    </p:spTree>
    <p:extLst>
      <p:ext uri="{BB962C8B-B14F-4D97-AF65-F5344CB8AC3E}">
        <p14:creationId xmlns:p14="http://schemas.microsoft.com/office/powerpoint/2010/main" val="3465723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E33A000-0DC4-4300-9CA0-DE4F23DF59EC}" type="slidenum">
              <a:rPr lang="en-US" altLang="zh-CN"/>
              <a:pPr>
                <a:defRPr/>
              </a:pPr>
              <a:t>‹#›</a:t>
            </a:fld>
            <a:endParaRPr lang="en-US" altLang="zh-CN"/>
          </a:p>
        </p:txBody>
      </p:sp>
    </p:spTree>
    <p:extLst>
      <p:ext uri="{BB962C8B-B14F-4D97-AF65-F5344CB8AC3E}">
        <p14:creationId xmlns:p14="http://schemas.microsoft.com/office/powerpoint/2010/main" val="534300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D4DB051-DF3F-4B8B-B740-2CED2AA077D0}" type="slidenum">
              <a:rPr lang="en-US" altLang="zh-CN"/>
              <a:pPr>
                <a:defRPr/>
              </a:pPr>
              <a:t>‹#›</a:t>
            </a:fld>
            <a:endParaRPr lang="en-US" altLang="zh-CN"/>
          </a:p>
        </p:txBody>
      </p:sp>
    </p:spTree>
    <p:extLst>
      <p:ext uri="{BB962C8B-B14F-4D97-AF65-F5344CB8AC3E}">
        <p14:creationId xmlns:p14="http://schemas.microsoft.com/office/powerpoint/2010/main" val="1389818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AEE62FF-399D-4E59-A31D-458C5C130395}" type="slidenum">
              <a:rPr lang="en-US" altLang="zh-CN"/>
              <a:pPr>
                <a:defRPr/>
              </a:pPr>
              <a:t>‹#›</a:t>
            </a:fld>
            <a:endParaRPr lang="en-US" altLang="zh-CN"/>
          </a:p>
        </p:txBody>
      </p:sp>
    </p:spTree>
    <p:extLst>
      <p:ext uri="{BB962C8B-B14F-4D97-AF65-F5344CB8AC3E}">
        <p14:creationId xmlns:p14="http://schemas.microsoft.com/office/powerpoint/2010/main" val="7371580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6932A6F6-5C0F-49CD-8707-7D6CA55EB096}" type="slidenum">
              <a:rPr lang="en-US" altLang="zh-CN"/>
              <a:pPr>
                <a:defRPr/>
              </a:pPr>
              <a:t>‹#›</a:t>
            </a:fld>
            <a:endParaRPr lang="en-US" altLang="zh-CN"/>
          </a:p>
        </p:txBody>
      </p:sp>
    </p:spTree>
    <p:extLst>
      <p:ext uri="{BB962C8B-B14F-4D97-AF65-F5344CB8AC3E}">
        <p14:creationId xmlns:p14="http://schemas.microsoft.com/office/powerpoint/2010/main" val="945329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b="0"/>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vl1pPr>
          </a:lstStyle>
          <a:p>
            <a:pPr>
              <a:defRPr/>
            </a:pPr>
            <a:fld id="{707304EC-231D-4867-96DF-89BCF93923F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 Target="slide2.xml"/><Relationship Id="rId1" Type="http://schemas.openxmlformats.org/officeDocument/2006/relationships/slideLayout" Target="../slideLayouts/slideLayout7.xml"/><Relationship Id="rId4" Type="http://schemas.openxmlformats.org/officeDocument/2006/relationships/slide" Target="slide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6.bin"/><Relationship Id="rId18" Type="http://schemas.openxmlformats.org/officeDocument/2006/relationships/image" Target="../media/image16.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13.wmf"/><Relationship Id="rId17" Type="http://schemas.openxmlformats.org/officeDocument/2006/relationships/oleObject" Target="../embeddings/oleObject8.bin"/><Relationship Id="rId2" Type="http://schemas.openxmlformats.org/officeDocument/2006/relationships/slideLayout" Target="../slideLayouts/slideLayout2.xml"/><Relationship Id="rId16" Type="http://schemas.openxmlformats.org/officeDocument/2006/relationships/image" Target="../media/image15.wmf"/><Relationship Id="rId20" Type="http://schemas.openxmlformats.org/officeDocument/2006/relationships/image" Target="../media/image17.wmf"/><Relationship Id="rId1" Type="http://schemas.openxmlformats.org/officeDocument/2006/relationships/vmlDrawing" Target="../drawings/vmlDrawing1.vml"/><Relationship Id="rId6" Type="http://schemas.openxmlformats.org/officeDocument/2006/relationships/image" Target="../media/image10.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12.wmf"/><Relationship Id="rId19" Type="http://schemas.openxmlformats.org/officeDocument/2006/relationships/oleObject" Target="../embeddings/oleObject9.bin"/><Relationship Id="rId4" Type="http://schemas.openxmlformats.org/officeDocument/2006/relationships/image" Target="../media/image9.wmf"/><Relationship Id="rId9" Type="http://schemas.openxmlformats.org/officeDocument/2006/relationships/oleObject" Target="../embeddings/oleObject4.bin"/><Relationship Id="rId14" Type="http://schemas.openxmlformats.org/officeDocument/2006/relationships/image" Target="../media/image14.wmf"/></Relationships>
</file>

<file path=ppt/slides/_rels/slide11.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oleObject" Target="../embeddings/oleObject15.bin"/><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21.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9.wmf"/><Relationship Id="rId11" Type="http://schemas.openxmlformats.org/officeDocument/2006/relationships/oleObject" Target="../embeddings/oleObject14.bin"/><Relationship Id="rId5" Type="http://schemas.openxmlformats.org/officeDocument/2006/relationships/oleObject" Target="../embeddings/oleObject11.bin"/><Relationship Id="rId10" Type="http://schemas.openxmlformats.org/officeDocument/2006/relationships/image" Target="../media/image20.wmf"/><Relationship Id="rId4" Type="http://schemas.openxmlformats.org/officeDocument/2006/relationships/image" Target="../media/image18.wmf"/><Relationship Id="rId9" Type="http://schemas.openxmlformats.org/officeDocument/2006/relationships/oleObject" Target="../embeddings/oleObject13.bin"/><Relationship Id="rId14" Type="http://schemas.openxmlformats.org/officeDocument/2006/relationships/image" Target="../media/image22.wmf"/></Relationships>
</file>

<file path=ppt/slides/_rels/slide12.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slideLayout" Target="../slideLayouts/slideLayout2.xml"/><Relationship Id="rId4" Type="http://schemas.openxmlformats.org/officeDocument/2006/relationships/image" Target="../media/image25.wmf"/></Relationships>
</file>

<file path=ppt/slides/_rels/slide13.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7.wmf"/><Relationship Id="rId5" Type="http://schemas.openxmlformats.org/officeDocument/2006/relationships/oleObject" Target="../embeddings/oleObject17.bin"/><Relationship Id="rId10" Type="http://schemas.openxmlformats.org/officeDocument/2006/relationships/image" Target="../media/image29.wmf"/><Relationship Id="rId4" Type="http://schemas.openxmlformats.org/officeDocument/2006/relationships/image" Target="../media/image26.wmf"/><Relationship Id="rId9" Type="http://schemas.openxmlformats.org/officeDocument/2006/relationships/oleObject" Target="../embeddings/oleObject19.bin"/></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34.png"/><Relationship Id="rId5" Type="http://schemas.openxmlformats.org/officeDocument/2006/relationships/oleObject" Target="../embeddings/oleObject21.bin"/><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36.png"/><Relationship Id="rId4" Type="http://schemas.openxmlformats.org/officeDocument/2006/relationships/image" Target="../media/image35.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38.png"/><Relationship Id="rId4" Type="http://schemas.openxmlformats.org/officeDocument/2006/relationships/image" Target="../media/image37.wmf"/></Relationships>
</file>

<file path=ppt/slides/_rels/slide19.xml.rels><?xml version="1.0" encoding="UTF-8" standalone="yes"?>
<Relationships xmlns="http://schemas.openxmlformats.org/package/2006/relationships"><Relationship Id="rId8" Type="http://schemas.openxmlformats.org/officeDocument/2006/relationships/image" Target="../media/image40.wmf"/><Relationship Id="rId13" Type="http://schemas.openxmlformats.org/officeDocument/2006/relationships/oleObject" Target="../embeddings/oleObject28.bin"/><Relationship Id="rId3" Type="http://schemas.openxmlformats.org/officeDocument/2006/relationships/oleObject" Target="../embeddings/oleObject24.bin"/><Relationship Id="rId7" Type="http://schemas.openxmlformats.org/officeDocument/2006/relationships/oleObject" Target="../embeddings/oleObject25.bin"/><Relationship Id="rId12" Type="http://schemas.openxmlformats.org/officeDocument/2006/relationships/image" Target="../media/image42.wmf"/><Relationship Id="rId2" Type="http://schemas.openxmlformats.org/officeDocument/2006/relationships/slideLayout" Target="../slideLayouts/slideLayout12.xml"/><Relationship Id="rId1" Type="http://schemas.openxmlformats.org/officeDocument/2006/relationships/vmlDrawing" Target="../drawings/vmlDrawing7.vml"/><Relationship Id="rId6" Type="http://schemas.openxmlformats.org/officeDocument/2006/relationships/image" Target="../media/image45.png"/><Relationship Id="rId11" Type="http://schemas.openxmlformats.org/officeDocument/2006/relationships/oleObject" Target="../embeddings/oleObject27.bin"/><Relationship Id="rId5" Type="http://schemas.openxmlformats.org/officeDocument/2006/relationships/image" Target="../media/image44.wmf"/><Relationship Id="rId10" Type="http://schemas.openxmlformats.org/officeDocument/2006/relationships/image" Target="../media/image41.wmf"/><Relationship Id="rId4" Type="http://schemas.openxmlformats.org/officeDocument/2006/relationships/image" Target="../media/image39.wmf"/><Relationship Id="rId9" Type="http://schemas.openxmlformats.org/officeDocument/2006/relationships/oleObject" Target="../embeddings/oleObject26.bin"/><Relationship Id="rId14" Type="http://schemas.openxmlformats.org/officeDocument/2006/relationships/image" Target="../media/image43.wmf"/></Relationships>
</file>

<file path=ppt/slides/_rels/slide20.xml.rels><?xml version="1.0" encoding="UTF-8" standalone="yes"?>
<Relationships xmlns="http://schemas.openxmlformats.org/package/2006/relationships"><Relationship Id="rId8" Type="http://schemas.openxmlformats.org/officeDocument/2006/relationships/image" Target="../media/image48.wmf"/><Relationship Id="rId13" Type="http://schemas.openxmlformats.org/officeDocument/2006/relationships/oleObject" Target="../embeddings/oleObject34.bin"/><Relationship Id="rId3" Type="http://schemas.openxmlformats.org/officeDocument/2006/relationships/oleObject" Target="../embeddings/oleObject29.bin"/><Relationship Id="rId7" Type="http://schemas.openxmlformats.org/officeDocument/2006/relationships/oleObject" Target="../embeddings/oleObject31.bin"/><Relationship Id="rId12" Type="http://schemas.openxmlformats.org/officeDocument/2006/relationships/image" Target="../media/image50.wmf"/><Relationship Id="rId2" Type="http://schemas.openxmlformats.org/officeDocument/2006/relationships/slideLayout" Target="../slideLayouts/slideLayout2.xml"/><Relationship Id="rId16" Type="http://schemas.openxmlformats.org/officeDocument/2006/relationships/image" Target="../media/image53.png"/><Relationship Id="rId1" Type="http://schemas.openxmlformats.org/officeDocument/2006/relationships/vmlDrawing" Target="../drawings/vmlDrawing8.vml"/><Relationship Id="rId6" Type="http://schemas.openxmlformats.org/officeDocument/2006/relationships/image" Target="../media/image47.wmf"/><Relationship Id="rId11" Type="http://schemas.openxmlformats.org/officeDocument/2006/relationships/oleObject" Target="../embeddings/oleObject33.bin"/><Relationship Id="rId5" Type="http://schemas.openxmlformats.org/officeDocument/2006/relationships/oleObject" Target="../embeddings/oleObject30.bin"/><Relationship Id="rId15" Type="http://schemas.openxmlformats.org/officeDocument/2006/relationships/image" Target="../media/image52.wmf"/><Relationship Id="rId10" Type="http://schemas.openxmlformats.org/officeDocument/2006/relationships/image" Target="../media/image49.wmf"/><Relationship Id="rId4" Type="http://schemas.openxmlformats.org/officeDocument/2006/relationships/image" Target="../media/image46.wmf"/><Relationship Id="rId9" Type="http://schemas.openxmlformats.org/officeDocument/2006/relationships/oleObject" Target="../embeddings/oleObject32.bin"/><Relationship Id="rId14" Type="http://schemas.openxmlformats.org/officeDocument/2006/relationships/image" Target="../media/image51.wmf"/></Relationships>
</file>

<file path=ppt/slides/_rels/slide21.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35.bin"/><Relationship Id="rId7"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55.wmf"/><Relationship Id="rId11" Type="http://schemas.openxmlformats.org/officeDocument/2006/relationships/image" Target="../media/image58.png"/><Relationship Id="rId5" Type="http://schemas.openxmlformats.org/officeDocument/2006/relationships/oleObject" Target="../embeddings/oleObject36.bin"/><Relationship Id="rId10" Type="http://schemas.openxmlformats.org/officeDocument/2006/relationships/image" Target="../media/image57.wmf"/><Relationship Id="rId4" Type="http://schemas.openxmlformats.org/officeDocument/2006/relationships/image" Target="../media/image54.wmf"/><Relationship Id="rId9" Type="http://schemas.openxmlformats.org/officeDocument/2006/relationships/oleObject" Target="../embeddings/oleObject38.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12.xml"/><Relationship Id="rId1" Type="http://schemas.openxmlformats.org/officeDocument/2006/relationships/vmlDrawing" Target="../drawings/vmlDrawing10.vml"/><Relationship Id="rId4" Type="http://schemas.openxmlformats.org/officeDocument/2006/relationships/image" Target="../media/image62.png"/></Relationships>
</file>

<file path=ppt/slides/_rels/slide2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3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75.wmf"/><Relationship Id="rId5" Type="http://schemas.openxmlformats.org/officeDocument/2006/relationships/oleObject" Target="../embeddings/oleObject40.bin"/><Relationship Id="rId4" Type="http://schemas.openxmlformats.org/officeDocument/2006/relationships/image" Target="../media/image77.png"/></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82.wmf"/><Relationship Id="rId3" Type="http://schemas.openxmlformats.org/officeDocument/2006/relationships/image" Target="../media/image76.png"/><Relationship Id="rId7" Type="http://schemas.openxmlformats.org/officeDocument/2006/relationships/image" Target="../media/image79.wmf"/><Relationship Id="rId12"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42.bin"/><Relationship Id="rId11" Type="http://schemas.openxmlformats.org/officeDocument/2006/relationships/image" Target="../media/image81.wmf"/><Relationship Id="rId5" Type="http://schemas.openxmlformats.org/officeDocument/2006/relationships/image" Target="../media/image78.wmf"/><Relationship Id="rId10" Type="http://schemas.openxmlformats.org/officeDocument/2006/relationships/oleObject" Target="../embeddings/oleObject44.bin"/><Relationship Id="rId4" Type="http://schemas.openxmlformats.org/officeDocument/2006/relationships/oleObject" Target="../embeddings/oleObject41.bin"/><Relationship Id="rId9" Type="http://schemas.openxmlformats.org/officeDocument/2006/relationships/image" Target="../media/image80.wmf"/></Relationships>
</file>

<file path=ppt/slides/_rels/slide3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83.wmf"/><Relationship Id="rId5" Type="http://schemas.openxmlformats.org/officeDocument/2006/relationships/oleObject" Target="../embeddings/oleObject46.bin"/><Relationship Id="rId4" Type="http://schemas.openxmlformats.org/officeDocument/2006/relationships/image" Target="../media/image85.png"/></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49.bin"/><Relationship Id="rId13" Type="http://schemas.openxmlformats.org/officeDocument/2006/relationships/image" Target="../media/image90.wmf"/><Relationship Id="rId3" Type="http://schemas.openxmlformats.org/officeDocument/2006/relationships/image" Target="../media/image84.png"/><Relationship Id="rId7" Type="http://schemas.openxmlformats.org/officeDocument/2006/relationships/image" Target="../media/image87.wmf"/><Relationship Id="rId12"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48.bin"/><Relationship Id="rId11" Type="http://schemas.openxmlformats.org/officeDocument/2006/relationships/image" Target="../media/image89.wmf"/><Relationship Id="rId5" Type="http://schemas.openxmlformats.org/officeDocument/2006/relationships/image" Target="../media/image86.wmf"/><Relationship Id="rId15" Type="http://schemas.openxmlformats.org/officeDocument/2006/relationships/image" Target="../media/image91.wmf"/><Relationship Id="rId10" Type="http://schemas.openxmlformats.org/officeDocument/2006/relationships/oleObject" Target="../embeddings/oleObject50.bin"/><Relationship Id="rId4" Type="http://schemas.openxmlformats.org/officeDocument/2006/relationships/oleObject" Target="../embeddings/oleObject47.bin"/><Relationship Id="rId9" Type="http://schemas.openxmlformats.org/officeDocument/2006/relationships/image" Target="../media/image88.wmf"/><Relationship Id="rId14" Type="http://schemas.openxmlformats.org/officeDocument/2006/relationships/oleObject" Target="../embeddings/oleObject52.bin"/></Relationships>
</file>

<file path=ppt/slides/_rels/slide4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92.wmf"/><Relationship Id="rId5" Type="http://schemas.openxmlformats.org/officeDocument/2006/relationships/oleObject" Target="../embeddings/oleObject53.bin"/><Relationship Id="rId4" Type="http://schemas.openxmlformats.org/officeDocument/2006/relationships/image" Target="../media/image94.png"/></Relationships>
</file>

<file path=ppt/slides/_rels/slide41.xml.rels><?xml version="1.0" encoding="UTF-8" standalone="yes"?>
<Relationships xmlns="http://schemas.openxmlformats.org/package/2006/relationships"><Relationship Id="rId8" Type="http://schemas.openxmlformats.org/officeDocument/2006/relationships/image" Target="../media/image97.wmf"/><Relationship Id="rId13" Type="http://schemas.openxmlformats.org/officeDocument/2006/relationships/image" Target="../media/image98.wmf"/><Relationship Id="rId3" Type="http://schemas.openxmlformats.org/officeDocument/2006/relationships/oleObject" Target="../embeddings/oleObject54.bin"/><Relationship Id="rId7" Type="http://schemas.openxmlformats.org/officeDocument/2006/relationships/oleObject" Target="../embeddings/oleObject56.bin"/><Relationship Id="rId12" Type="http://schemas.openxmlformats.org/officeDocument/2006/relationships/oleObject" Target="../embeddings/oleObject58.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96.wmf"/><Relationship Id="rId11" Type="http://schemas.openxmlformats.org/officeDocument/2006/relationships/image" Target="../media/image93.png"/><Relationship Id="rId5" Type="http://schemas.openxmlformats.org/officeDocument/2006/relationships/oleObject" Target="../embeddings/oleObject55.bin"/><Relationship Id="rId15" Type="http://schemas.openxmlformats.org/officeDocument/2006/relationships/image" Target="../media/image99.wmf"/><Relationship Id="rId10" Type="http://schemas.openxmlformats.org/officeDocument/2006/relationships/image" Target="../media/image82.wmf"/><Relationship Id="rId4" Type="http://schemas.openxmlformats.org/officeDocument/2006/relationships/image" Target="../media/image95.wmf"/><Relationship Id="rId9" Type="http://schemas.openxmlformats.org/officeDocument/2006/relationships/oleObject" Target="../embeddings/oleObject57.bin"/><Relationship Id="rId14" Type="http://schemas.openxmlformats.org/officeDocument/2006/relationships/oleObject" Target="../embeddings/oleObject59.bin"/></Relationships>
</file>

<file path=ppt/slides/_rels/slide4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100.wmf"/><Relationship Id="rId5" Type="http://schemas.openxmlformats.org/officeDocument/2006/relationships/oleObject" Target="../embeddings/oleObject60.bin"/><Relationship Id="rId4" Type="http://schemas.openxmlformats.org/officeDocument/2006/relationships/image" Target="../media/image102.png"/></Relationships>
</file>

<file path=ppt/slides/_rels/slide43.xml.rels><?xml version="1.0" encoding="UTF-8" standalone="yes"?>
<Relationships xmlns="http://schemas.openxmlformats.org/package/2006/relationships"><Relationship Id="rId8" Type="http://schemas.openxmlformats.org/officeDocument/2006/relationships/image" Target="../media/image90.wmf"/><Relationship Id="rId13" Type="http://schemas.openxmlformats.org/officeDocument/2006/relationships/image" Target="../media/image101.png"/><Relationship Id="rId3" Type="http://schemas.openxmlformats.org/officeDocument/2006/relationships/oleObject" Target="../embeddings/oleObject61.bin"/><Relationship Id="rId7" Type="http://schemas.openxmlformats.org/officeDocument/2006/relationships/oleObject" Target="../embeddings/oleObject63.bin"/><Relationship Id="rId12" Type="http://schemas.openxmlformats.org/officeDocument/2006/relationships/image" Target="../media/image98.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96.wmf"/><Relationship Id="rId11" Type="http://schemas.openxmlformats.org/officeDocument/2006/relationships/oleObject" Target="../embeddings/oleObject65.bin"/><Relationship Id="rId5" Type="http://schemas.openxmlformats.org/officeDocument/2006/relationships/oleObject" Target="../embeddings/oleObject62.bin"/><Relationship Id="rId15" Type="http://schemas.openxmlformats.org/officeDocument/2006/relationships/image" Target="../media/image104.wmf"/><Relationship Id="rId10" Type="http://schemas.openxmlformats.org/officeDocument/2006/relationships/image" Target="../media/image91.wmf"/><Relationship Id="rId4" Type="http://schemas.openxmlformats.org/officeDocument/2006/relationships/image" Target="../media/image103.wmf"/><Relationship Id="rId9" Type="http://schemas.openxmlformats.org/officeDocument/2006/relationships/oleObject" Target="../embeddings/oleObject64.bin"/><Relationship Id="rId14" Type="http://schemas.openxmlformats.org/officeDocument/2006/relationships/oleObject" Target="../embeddings/oleObject66.bin"/></Relationships>
</file>

<file path=ppt/slides/_rels/slide44.x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105.wmf"/><Relationship Id="rId5" Type="http://schemas.openxmlformats.org/officeDocument/2006/relationships/oleObject" Target="../embeddings/oleObject67.bin"/><Relationship Id="rId4" Type="http://schemas.openxmlformats.org/officeDocument/2006/relationships/image" Target="../media/image107.wmf"/></Relationships>
</file>

<file path=ppt/slides/_rels/slide45.xml.rels><?xml version="1.0" encoding="UTF-8" standalone="yes"?>
<Relationships xmlns="http://schemas.openxmlformats.org/package/2006/relationships"><Relationship Id="rId8" Type="http://schemas.openxmlformats.org/officeDocument/2006/relationships/image" Target="../media/image110.wmf"/><Relationship Id="rId13" Type="http://schemas.openxmlformats.org/officeDocument/2006/relationships/oleObject" Target="../embeddings/oleObject73.bin"/><Relationship Id="rId3" Type="http://schemas.openxmlformats.org/officeDocument/2006/relationships/oleObject" Target="../embeddings/oleObject68.bin"/><Relationship Id="rId7" Type="http://schemas.openxmlformats.org/officeDocument/2006/relationships/oleObject" Target="../embeddings/oleObject70.bin"/><Relationship Id="rId12" Type="http://schemas.openxmlformats.org/officeDocument/2006/relationships/image" Target="../media/image112.png"/><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109.wmf"/><Relationship Id="rId11" Type="http://schemas.openxmlformats.org/officeDocument/2006/relationships/oleObject" Target="../embeddings/oleObject72.bin"/><Relationship Id="rId5" Type="http://schemas.openxmlformats.org/officeDocument/2006/relationships/oleObject" Target="../embeddings/oleObject69.bin"/><Relationship Id="rId10" Type="http://schemas.openxmlformats.org/officeDocument/2006/relationships/image" Target="../media/image111.wmf"/><Relationship Id="rId4" Type="http://schemas.openxmlformats.org/officeDocument/2006/relationships/image" Target="../media/image108.wmf"/><Relationship Id="rId9" Type="http://schemas.openxmlformats.org/officeDocument/2006/relationships/oleObject" Target="../embeddings/oleObject71.bin"/><Relationship Id="rId14" Type="http://schemas.openxmlformats.org/officeDocument/2006/relationships/image" Target="../media/image113.w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oleObject" Target="../embeddings/oleObject75.bin"/><Relationship Id="rId4" Type="http://schemas.openxmlformats.org/officeDocument/2006/relationships/image" Target="../media/image114.png"/></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2.xml"/><Relationship Id="rId1" Type="http://schemas.openxmlformats.org/officeDocument/2006/relationships/vmlDrawing" Target="../drawings/vmlDrawing22.vml"/><Relationship Id="rId5" Type="http://schemas.openxmlformats.org/officeDocument/2006/relationships/oleObject" Target="../embeddings/oleObject77.bin"/><Relationship Id="rId4" Type="http://schemas.openxmlformats.org/officeDocument/2006/relationships/image" Target="../media/image114.png"/></Relationships>
</file>

<file path=ppt/slides/_rels/slide48.xml.rels><?xml version="1.0" encoding="UTF-8" standalone="yes"?>
<Relationships xmlns="http://schemas.openxmlformats.org/package/2006/relationships"><Relationship Id="rId8" Type="http://schemas.openxmlformats.org/officeDocument/2006/relationships/image" Target="../media/image117.wmf"/><Relationship Id="rId3" Type="http://schemas.openxmlformats.org/officeDocument/2006/relationships/oleObject" Target="../embeddings/oleObject78.bin"/><Relationship Id="rId7" Type="http://schemas.openxmlformats.org/officeDocument/2006/relationships/oleObject" Target="../embeddings/oleObject80.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116.wmf"/><Relationship Id="rId5" Type="http://schemas.openxmlformats.org/officeDocument/2006/relationships/oleObject" Target="../embeddings/oleObject79.bin"/><Relationship Id="rId4" Type="http://schemas.openxmlformats.org/officeDocument/2006/relationships/image" Target="../media/image115.w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83.bin"/><Relationship Id="rId3" Type="http://schemas.openxmlformats.org/officeDocument/2006/relationships/image" Target="../media/image121.jpeg"/><Relationship Id="rId7" Type="http://schemas.openxmlformats.org/officeDocument/2006/relationships/image" Target="../media/image119.wmf"/><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oleObject" Target="../embeddings/oleObject82.bin"/><Relationship Id="rId5" Type="http://schemas.openxmlformats.org/officeDocument/2006/relationships/image" Target="../media/image118.wmf"/><Relationship Id="rId4" Type="http://schemas.openxmlformats.org/officeDocument/2006/relationships/oleObject" Target="../embeddings/oleObject81.bin"/><Relationship Id="rId9" Type="http://schemas.openxmlformats.org/officeDocument/2006/relationships/image" Target="../media/image120.wmf"/></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86.bin"/><Relationship Id="rId3" Type="http://schemas.openxmlformats.org/officeDocument/2006/relationships/image" Target="../media/image121.jpeg"/><Relationship Id="rId7" Type="http://schemas.openxmlformats.org/officeDocument/2006/relationships/image" Target="../media/image123.wmf"/><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oleObject" Target="../embeddings/oleObject85.bin"/><Relationship Id="rId11" Type="http://schemas.openxmlformats.org/officeDocument/2006/relationships/image" Target="../media/image125.wmf"/><Relationship Id="rId5" Type="http://schemas.openxmlformats.org/officeDocument/2006/relationships/image" Target="../media/image122.wmf"/><Relationship Id="rId10" Type="http://schemas.openxmlformats.org/officeDocument/2006/relationships/oleObject" Target="../embeddings/oleObject87.bin"/><Relationship Id="rId4" Type="http://schemas.openxmlformats.org/officeDocument/2006/relationships/oleObject" Target="../embeddings/oleObject84.bin"/><Relationship Id="rId9" Type="http://schemas.openxmlformats.org/officeDocument/2006/relationships/image" Target="../media/image124.wmf"/></Relationships>
</file>

<file path=ppt/slides/_rels/slide51.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slideLayout" Target="../slideLayouts/slideLayout2.xml"/><Relationship Id="rId1" Type="http://schemas.openxmlformats.org/officeDocument/2006/relationships/vmlDrawing" Target="../drawings/vmlDrawing26.vml"/><Relationship Id="rId5" Type="http://schemas.openxmlformats.org/officeDocument/2006/relationships/image" Target="../media/image126.wmf"/><Relationship Id="rId4" Type="http://schemas.openxmlformats.org/officeDocument/2006/relationships/oleObject" Target="../embeddings/oleObject88.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91.bin"/><Relationship Id="rId13" Type="http://schemas.openxmlformats.org/officeDocument/2006/relationships/image" Target="../media/image131.wmf"/><Relationship Id="rId3" Type="http://schemas.openxmlformats.org/officeDocument/2006/relationships/image" Target="../media/image132.png"/><Relationship Id="rId7" Type="http://schemas.openxmlformats.org/officeDocument/2006/relationships/image" Target="../media/image128.emf"/><Relationship Id="rId12" Type="http://schemas.openxmlformats.org/officeDocument/2006/relationships/oleObject" Target="../embeddings/oleObject93.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oleObject" Target="../embeddings/oleObject90.bin"/><Relationship Id="rId11" Type="http://schemas.openxmlformats.org/officeDocument/2006/relationships/image" Target="../media/image130.wmf"/><Relationship Id="rId5" Type="http://schemas.openxmlformats.org/officeDocument/2006/relationships/image" Target="../media/image127.wmf"/><Relationship Id="rId10" Type="http://schemas.openxmlformats.org/officeDocument/2006/relationships/oleObject" Target="../embeddings/oleObject92.bin"/><Relationship Id="rId4" Type="http://schemas.openxmlformats.org/officeDocument/2006/relationships/oleObject" Target="../embeddings/oleObject89.bin"/><Relationship Id="rId9" Type="http://schemas.openxmlformats.org/officeDocument/2006/relationships/image" Target="../media/image129.wmf"/></Relationships>
</file>

<file path=ppt/slides/_rels/slide53.xml.rels><?xml version="1.0" encoding="UTF-8" standalone="yes"?>
<Relationships xmlns="http://schemas.openxmlformats.org/package/2006/relationships"><Relationship Id="rId3" Type="http://schemas.openxmlformats.org/officeDocument/2006/relationships/image" Target="../media/image135.png"/><Relationship Id="rId7" Type="http://schemas.openxmlformats.org/officeDocument/2006/relationships/image" Target="../media/image134.wmf"/><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oleObject" Target="../embeddings/oleObject95.bin"/><Relationship Id="rId5" Type="http://schemas.openxmlformats.org/officeDocument/2006/relationships/image" Target="../media/image133.wmf"/><Relationship Id="rId4" Type="http://schemas.openxmlformats.org/officeDocument/2006/relationships/oleObject" Target="../embeddings/oleObject94.bin"/></Relationships>
</file>

<file path=ppt/slides/_rels/slide54.xml.rels><?xml version="1.0" encoding="UTF-8" standalone="yes"?>
<Relationships xmlns="http://schemas.openxmlformats.org/package/2006/relationships"><Relationship Id="rId8" Type="http://schemas.openxmlformats.org/officeDocument/2006/relationships/image" Target="../media/image137.wmf"/><Relationship Id="rId3" Type="http://schemas.openxmlformats.org/officeDocument/2006/relationships/image" Target="../media/image138.png"/><Relationship Id="rId7" Type="http://schemas.openxmlformats.org/officeDocument/2006/relationships/oleObject" Target="../embeddings/oleObject97.bin"/><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image" Target="../media/image135.png"/><Relationship Id="rId5" Type="http://schemas.openxmlformats.org/officeDocument/2006/relationships/image" Target="../media/image136.wmf"/><Relationship Id="rId4" Type="http://schemas.openxmlformats.org/officeDocument/2006/relationships/oleObject" Target="../embeddings/oleObject96.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100.bin"/><Relationship Id="rId3" Type="http://schemas.openxmlformats.org/officeDocument/2006/relationships/image" Target="../media/image143.png"/><Relationship Id="rId7" Type="http://schemas.openxmlformats.org/officeDocument/2006/relationships/image" Target="../media/image140.wmf"/><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oleObject" Target="../embeddings/oleObject99.bin"/><Relationship Id="rId11" Type="http://schemas.openxmlformats.org/officeDocument/2006/relationships/image" Target="../media/image142.wmf"/><Relationship Id="rId5" Type="http://schemas.openxmlformats.org/officeDocument/2006/relationships/image" Target="../media/image139.wmf"/><Relationship Id="rId10" Type="http://schemas.openxmlformats.org/officeDocument/2006/relationships/oleObject" Target="../embeddings/oleObject101.bin"/><Relationship Id="rId4" Type="http://schemas.openxmlformats.org/officeDocument/2006/relationships/oleObject" Target="../embeddings/oleObject98.bin"/><Relationship Id="rId9" Type="http://schemas.openxmlformats.org/officeDocument/2006/relationships/image" Target="../media/image141.wmf"/></Relationships>
</file>

<file path=ppt/slides/_rels/slide56.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title" idx="4294967295"/>
          </p:nvPr>
        </p:nvSpPr>
        <p:spPr>
          <a:xfrm>
            <a:off x="203200" y="576263"/>
            <a:ext cx="8766175" cy="914400"/>
          </a:xfrm>
          <a:gradFill rotWithShape="0">
            <a:gsLst>
              <a:gs pos="0">
                <a:srgbClr val="FFFFFF"/>
              </a:gs>
              <a:gs pos="100000">
                <a:srgbClr val="FFFFFF">
                  <a:gamma/>
                  <a:shade val="46275"/>
                  <a:invGamma/>
                </a:srgbClr>
              </a:gs>
            </a:gsLst>
            <a:lin ang="5400000" scaled="1"/>
          </a:gradFill>
          <a:effectLst>
            <a:prstShdw prst="shdw17" dist="17961" dir="2700000">
              <a:srgbClr val="FFFFFF">
                <a:gamma/>
                <a:shade val="60000"/>
                <a:invGamma/>
              </a:srgbClr>
            </a:prstShdw>
          </a:effectLst>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pPr eaLnBrk="1" hangingPunct="1">
              <a:defRPr/>
            </a:pPr>
            <a:r>
              <a:rPr lang="zh-CN" altLang="en-US" b="1" dirty="0" smtClean="0">
                <a:solidFill>
                  <a:srgbClr val="FF0000"/>
                </a:solidFill>
                <a:effectLst>
                  <a:outerShdw blurRad="38100" dist="38100" dir="2700000" algn="tl">
                    <a:srgbClr val="C0C0C0"/>
                  </a:outerShdw>
                </a:effectLst>
                <a:latin typeface="隶书" pitchFamily="49" charset="-122"/>
                <a:ea typeface="隶书" pitchFamily="49" charset="-122"/>
              </a:rPr>
              <a:t>第十一章 反馈</a:t>
            </a:r>
          </a:p>
        </p:txBody>
      </p:sp>
      <p:sp>
        <p:nvSpPr>
          <p:cNvPr id="2051" name="Text Box 3" descr="蓝色砂纸">
            <a:hlinkClick r:id="rId2" action="ppaction://hlinksldjump"/>
          </p:cNvPr>
          <p:cNvSpPr txBox="1">
            <a:spLocks noChangeArrowheads="1"/>
          </p:cNvSpPr>
          <p:nvPr/>
        </p:nvSpPr>
        <p:spPr bwMode="auto">
          <a:xfrm>
            <a:off x="1741488" y="2282825"/>
            <a:ext cx="5232400" cy="579438"/>
          </a:xfrm>
          <a:prstGeom prst="rect">
            <a:avLst/>
          </a:prstGeom>
          <a:blipFill dpi="0" rotWithShape="0">
            <a:blip r:embed="rId3"/>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zh-CN" altLang="en-US">
                <a:solidFill>
                  <a:schemeClr val="tx2"/>
                </a:solidFill>
                <a:latin typeface="楷体_GB2312" pitchFamily="49" charset="-122"/>
                <a:ea typeface="楷体_GB2312" pitchFamily="49" charset="-122"/>
              </a:rPr>
              <a:t>反馈原理</a:t>
            </a:r>
          </a:p>
        </p:txBody>
      </p:sp>
      <p:sp>
        <p:nvSpPr>
          <p:cNvPr id="2052" name="Rectangle 4" descr="蓝色砂纸">
            <a:hlinkClick r:id="rId4" action="ppaction://hlinksldjump"/>
          </p:cNvPr>
          <p:cNvSpPr>
            <a:spLocks noChangeArrowheads="1"/>
          </p:cNvSpPr>
          <p:nvPr/>
        </p:nvSpPr>
        <p:spPr bwMode="auto">
          <a:xfrm>
            <a:off x="1755775" y="4349750"/>
            <a:ext cx="5270500" cy="579438"/>
          </a:xfrm>
          <a:prstGeom prst="rect">
            <a:avLst/>
          </a:prstGeom>
          <a:blipFill dpi="0" rotWithShape="0">
            <a:blip r:embed="rId3"/>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zh-CN" altLang="en-US" dirty="0">
                <a:solidFill>
                  <a:schemeClr val="tx2"/>
                </a:solidFill>
                <a:latin typeface="楷体_GB2312" pitchFamily="49" charset="-122"/>
                <a:ea typeface="楷体_GB2312" pitchFamily="49" charset="-122"/>
              </a:rPr>
              <a:t>负反馈电路的稳定性问题</a:t>
            </a:r>
          </a:p>
        </p:txBody>
      </p:sp>
      <p:sp>
        <p:nvSpPr>
          <p:cNvPr id="2053" name="Text Box 7" descr="蓝色砂纸">
            <a:hlinkClick r:id="rId2" action="ppaction://hlinksldjump"/>
          </p:cNvPr>
          <p:cNvSpPr txBox="1">
            <a:spLocks noChangeArrowheads="1"/>
          </p:cNvSpPr>
          <p:nvPr/>
        </p:nvSpPr>
        <p:spPr bwMode="auto">
          <a:xfrm>
            <a:off x="1739900" y="3319463"/>
            <a:ext cx="5232400" cy="579437"/>
          </a:xfrm>
          <a:prstGeom prst="rect">
            <a:avLst/>
          </a:prstGeom>
          <a:blipFill dpi="0" rotWithShape="0">
            <a:blip r:embed="rId3"/>
            <a:srcRect/>
            <a:tile tx="0" ty="0" sx="100000" sy="100000" flip="none" algn="tl"/>
          </a:blipFill>
          <a:ln>
            <a:noFill/>
          </a:ln>
          <a:effectLst>
            <a:outerShdw dist="107763" dir="189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zh-CN" altLang="en-US" dirty="0">
                <a:solidFill>
                  <a:schemeClr val="tx2"/>
                </a:solidFill>
                <a:latin typeface="楷体_GB2312" pitchFamily="49" charset="-122"/>
                <a:ea typeface="楷体_GB2312" pitchFamily="49" charset="-122"/>
              </a:rPr>
              <a:t>四种负反馈组态分析计算</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688158" y="627063"/>
            <a:ext cx="7515225" cy="519112"/>
          </a:xfrm>
          <a:prstGeom prst="rect">
            <a:avLst/>
          </a:prstGeom>
          <a:solidFill>
            <a:srgbClr val="CCFFCC"/>
          </a:solidFill>
          <a:ln>
            <a:noFill/>
          </a:ln>
          <a:effectLst>
            <a:outerShdw dist="35921" dir="2700000" algn="ctr" rotWithShape="0">
              <a:srgbClr val="808080"/>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2800" dirty="0" smtClean="0">
                <a:solidFill>
                  <a:schemeClr val="tx2"/>
                </a:solidFill>
              </a:rPr>
              <a:t>11.1  </a:t>
            </a:r>
            <a:r>
              <a:rPr lang="zh-CN" altLang="en-US" sz="2800" dirty="0">
                <a:solidFill>
                  <a:schemeClr val="tx2"/>
                </a:solidFill>
              </a:rPr>
              <a:t>反馈原理</a:t>
            </a:r>
          </a:p>
        </p:txBody>
      </p:sp>
      <p:sp>
        <p:nvSpPr>
          <p:cNvPr id="3075" name="Text Box 3"/>
          <p:cNvSpPr txBox="1">
            <a:spLocks noChangeArrowheads="1"/>
          </p:cNvSpPr>
          <p:nvPr/>
        </p:nvSpPr>
        <p:spPr bwMode="auto">
          <a:xfrm>
            <a:off x="623888" y="1490663"/>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smtClean="0">
                <a:solidFill>
                  <a:srgbClr val="990033"/>
                </a:solidFill>
              </a:rPr>
              <a:t>11.1.1 </a:t>
            </a:r>
            <a:r>
              <a:rPr lang="zh-CN" altLang="en-US" sz="2400" dirty="0" smtClean="0">
                <a:solidFill>
                  <a:srgbClr val="990033"/>
                </a:solidFill>
              </a:rPr>
              <a:t>反馈基本结构</a:t>
            </a:r>
            <a:endParaRPr lang="zh-CN" altLang="en-US" sz="2400" dirty="0">
              <a:solidFill>
                <a:srgbClr val="A50021"/>
              </a:solidFill>
            </a:endParaRPr>
          </a:p>
        </p:txBody>
      </p:sp>
      <p:pic>
        <p:nvPicPr>
          <p:cNvPr id="3076" name="图片 2374"/>
          <p:cNvPicPr>
            <a:picLocks noChangeAspect="1" noChangeArrowheads="1"/>
          </p:cNvPicPr>
          <p:nvPr/>
        </p:nvPicPr>
        <p:blipFill>
          <a:blip r:embed="rId2">
            <a:extLst>
              <a:ext uri="{28A0092B-C50C-407E-A947-70E740481C1C}">
                <a14:useLocalDpi xmlns:a14="http://schemas.microsoft.com/office/drawing/2010/main" val="0"/>
              </a:ext>
            </a:extLst>
          </a:blip>
          <a:srcRect b="20949"/>
          <a:stretch>
            <a:fillRect/>
          </a:stretch>
        </p:blipFill>
        <p:spPr bwMode="auto">
          <a:xfrm>
            <a:off x="2286001" y="3683000"/>
            <a:ext cx="4552950" cy="179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 Box 9"/>
          <p:cNvSpPr txBox="1">
            <a:spLocks noChangeArrowheads="1"/>
          </p:cNvSpPr>
          <p:nvPr/>
        </p:nvSpPr>
        <p:spPr bwMode="auto">
          <a:xfrm>
            <a:off x="723900" y="2192751"/>
            <a:ext cx="7942263" cy="101566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0"/>
              </a:spcBef>
              <a:buFontTx/>
              <a:buNone/>
            </a:pPr>
            <a:r>
              <a:rPr lang="en-US" altLang="zh-CN" sz="2000" dirty="0"/>
              <a:t>        </a:t>
            </a:r>
            <a:r>
              <a:rPr lang="zh-CN" altLang="en-US" sz="2000" dirty="0">
                <a:solidFill>
                  <a:srgbClr val="FF0000"/>
                </a:solidFill>
              </a:rPr>
              <a:t>反馈</a:t>
            </a:r>
            <a:r>
              <a:rPr lang="zh-CN" altLang="en-US" sz="2000" dirty="0"/>
              <a:t>就是通过一个相应的网络把放大器的输出信号的一部分或全部反送到输入端，并与原始信号相叠加。</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077"/>
                                        </p:tgtEl>
                                        <p:attrNameLst>
                                          <p:attrName>style.visibility</p:attrName>
                                        </p:attrNameLst>
                                      </p:cBhvr>
                                      <p:to>
                                        <p:strVal val="visible"/>
                                      </p:to>
                                    </p:set>
                                    <p:animEffect transition="in" filter="barn(inVertical)">
                                      <p:cBhvr>
                                        <p:cTn id="7" dur="500"/>
                                        <p:tgtEl>
                                          <p:spTgt spid="307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076"/>
                                        </p:tgtEl>
                                        <p:attrNameLst>
                                          <p:attrName>style.visibility</p:attrName>
                                        </p:attrNameLst>
                                      </p:cBhvr>
                                      <p:to>
                                        <p:strVal val="visible"/>
                                      </p:to>
                                    </p:set>
                                    <p:animEffect transition="in" filter="barn(inVertical)">
                                      <p:cBhvr>
                                        <p:cTn id="12"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7"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1507" name="Text Box 3"/>
          <p:cNvSpPr txBox="1">
            <a:spLocks noChangeArrowheads="1"/>
          </p:cNvSpPr>
          <p:nvPr/>
        </p:nvSpPr>
        <p:spPr bwMode="auto">
          <a:xfrm>
            <a:off x="244475" y="4824413"/>
            <a:ext cx="87471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a:t>反馈</a:t>
            </a:r>
          </a:p>
        </p:txBody>
      </p:sp>
      <p:sp>
        <p:nvSpPr>
          <p:cNvPr id="661508" name="Line 4"/>
          <p:cNvSpPr>
            <a:spLocks noChangeShapeType="1"/>
          </p:cNvSpPr>
          <p:nvPr/>
        </p:nvSpPr>
        <p:spPr bwMode="auto">
          <a:xfrm>
            <a:off x="1117600" y="5040313"/>
            <a:ext cx="5207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661509" name="Line 5"/>
          <p:cNvSpPr>
            <a:spLocks noChangeShapeType="1"/>
          </p:cNvSpPr>
          <p:nvPr/>
        </p:nvSpPr>
        <p:spPr bwMode="auto">
          <a:xfrm flipV="1">
            <a:off x="1611313" y="4575175"/>
            <a:ext cx="479425" cy="4635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661510" name="Line 6"/>
          <p:cNvSpPr>
            <a:spLocks noChangeShapeType="1"/>
          </p:cNvSpPr>
          <p:nvPr/>
        </p:nvSpPr>
        <p:spPr bwMode="auto">
          <a:xfrm>
            <a:off x="1624013" y="5038725"/>
            <a:ext cx="479425" cy="4635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661511" name="Text Box 7"/>
          <p:cNvSpPr txBox="1">
            <a:spLocks noChangeArrowheads="1"/>
          </p:cNvSpPr>
          <p:nvPr/>
        </p:nvSpPr>
        <p:spPr bwMode="auto">
          <a:xfrm>
            <a:off x="2090738" y="4346575"/>
            <a:ext cx="4459287"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a:t>直流反馈</a:t>
            </a:r>
            <a:r>
              <a:rPr lang="zh-CN" altLang="en-US" sz="2000" dirty="0">
                <a:solidFill>
                  <a:schemeClr val="accent2"/>
                </a:solidFill>
              </a:rPr>
              <a:t>（稳定静态工作点）</a:t>
            </a:r>
          </a:p>
        </p:txBody>
      </p:sp>
      <p:sp>
        <p:nvSpPr>
          <p:cNvPr id="661512" name="Text Box 8"/>
          <p:cNvSpPr txBox="1">
            <a:spLocks noChangeArrowheads="1"/>
          </p:cNvSpPr>
          <p:nvPr/>
        </p:nvSpPr>
        <p:spPr bwMode="auto">
          <a:xfrm>
            <a:off x="2163763" y="5319713"/>
            <a:ext cx="1427162"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a:t>交流反馈</a:t>
            </a:r>
          </a:p>
        </p:txBody>
      </p:sp>
      <p:sp>
        <p:nvSpPr>
          <p:cNvPr id="661513" name="Line 9"/>
          <p:cNvSpPr>
            <a:spLocks noChangeShapeType="1"/>
          </p:cNvSpPr>
          <p:nvPr/>
        </p:nvSpPr>
        <p:spPr bwMode="auto">
          <a:xfrm>
            <a:off x="3600450" y="5576888"/>
            <a:ext cx="434975"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661514" name="Line 10"/>
          <p:cNvSpPr>
            <a:spLocks noChangeShapeType="1"/>
          </p:cNvSpPr>
          <p:nvPr/>
        </p:nvSpPr>
        <p:spPr bwMode="auto">
          <a:xfrm flipV="1">
            <a:off x="4008438" y="5329238"/>
            <a:ext cx="276225" cy="24606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661515" name="Line 11"/>
          <p:cNvSpPr>
            <a:spLocks noChangeShapeType="1"/>
          </p:cNvSpPr>
          <p:nvPr/>
        </p:nvSpPr>
        <p:spPr bwMode="auto">
          <a:xfrm>
            <a:off x="4021138" y="5575300"/>
            <a:ext cx="261937" cy="2603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661516" name="Text Box 12"/>
          <p:cNvSpPr txBox="1">
            <a:spLocks noChangeArrowheads="1"/>
          </p:cNvSpPr>
          <p:nvPr/>
        </p:nvSpPr>
        <p:spPr bwMode="auto">
          <a:xfrm>
            <a:off x="4394200" y="5043488"/>
            <a:ext cx="4459288"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a:t>正反馈</a:t>
            </a:r>
            <a:r>
              <a:rPr lang="zh-CN" altLang="en-US" sz="2000" dirty="0">
                <a:solidFill>
                  <a:schemeClr val="accent2"/>
                </a:solidFill>
              </a:rPr>
              <a:t>（增大增益，使系统不稳定）</a:t>
            </a:r>
          </a:p>
        </p:txBody>
      </p:sp>
      <p:sp>
        <p:nvSpPr>
          <p:cNvPr id="661517" name="Text Box 13"/>
          <p:cNvSpPr txBox="1">
            <a:spLocks noChangeArrowheads="1"/>
          </p:cNvSpPr>
          <p:nvPr/>
        </p:nvSpPr>
        <p:spPr bwMode="auto">
          <a:xfrm>
            <a:off x="4379913" y="5783263"/>
            <a:ext cx="4459287"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a:t>负反馈</a:t>
            </a:r>
            <a:r>
              <a:rPr lang="zh-CN" altLang="en-US" sz="2000">
                <a:solidFill>
                  <a:schemeClr val="accent2"/>
                </a:solidFill>
              </a:rPr>
              <a:t>（减小增益，改善性能）</a:t>
            </a:r>
          </a:p>
        </p:txBody>
      </p:sp>
      <p:sp>
        <p:nvSpPr>
          <p:cNvPr id="661524" name="Text Box 20"/>
          <p:cNvSpPr txBox="1">
            <a:spLocks noChangeArrowheads="1"/>
          </p:cNvSpPr>
          <p:nvPr/>
        </p:nvSpPr>
        <p:spPr bwMode="auto">
          <a:xfrm>
            <a:off x="420688" y="579324"/>
            <a:ext cx="8153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50000"/>
              </a:spcBef>
              <a:buFontTx/>
              <a:buNone/>
            </a:pPr>
            <a:r>
              <a:rPr lang="en-US" altLang="zh-CN" sz="2000" b="0" dirty="0"/>
              <a:t>     </a:t>
            </a:r>
            <a:r>
              <a:rPr lang="zh-CN" altLang="en-US" sz="2000" dirty="0">
                <a:solidFill>
                  <a:schemeClr val="tx2"/>
                </a:solidFill>
              </a:rPr>
              <a:t>放大电路输出量的一部分或全部通过一定的方式引回到输入回路，影响输入，称为反馈。</a:t>
            </a:r>
          </a:p>
        </p:txBody>
      </p:sp>
      <p:grpSp>
        <p:nvGrpSpPr>
          <p:cNvPr id="661525" name="Group 21"/>
          <p:cNvGrpSpPr>
            <a:grpSpLocks/>
          </p:cNvGrpSpPr>
          <p:nvPr/>
        </p:nvGrpSpPr>
        <p:grpSpPr bwMode="auto">
          <a:xfrm>
            <a:off x="515937" y="1490734"/>
            <a:ext cx="1739107" cy="503873"/>
            <a:chOff x="528" y="2640"/>
            <a:chExt cx="1392" cy="480"/>
          </a:xfrm>
        </p:grpSpPr>
        <p:sp>
          <p:nvSpPr>
            <p:cNvPr id="4123" name="AutoShape 22"/>
            <p:cNvSpPr>
              <a:spLocks/>
            </p:cNvSpPr>
            <p:nvPr/>
          </p:nvSpPr>
          <p:spPr bwMode="auto">
            <a:xfrm>
              <a:off x="960" y="2784"/>
              <a:ext cx="960" cy="336"/>
            </a:xfrm>
            <a:prstGeom prst="borderCallout1">
              <a:avLst>
                <a:gd name="adj1" fmla="val 21431"/>
                <a:gd name="adj2" fmla="val -5000"/>
                <a:gd name="adj3" fmla="val -41667"/>
                <a:gd name="adj4" fmla="val -25523"/>
              </a:avLst>
            </a:prstGeom>
            <a:solidFill>
              <a:srgbClr val="66FFFF"/>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1800" dirty="0"/>
                <a:t>怎样引回</a:t>
              </a:r>
            </a:p>
          </p:txBody>
        </p:sp>
        <p:sp>
          <p:nvSpPr>
            <p:cNvPr id="4124" name="Line 23"/>
            <p:cNvSpPr>
              <a:spLocks noChangeShapeType="1"/>
            </p:cNvSpPr>
            <p:nvPr/>
          </p:nvSpPr>
          <p:spPr bwMode="auto">
            <a:xfrm>
              <a:off x="528" y="2640"/>
              <a:ext cx="384"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grpSp>
      <p:grpSp>
        <p:nvGrpSpPr>
          <p:cNvPr id="661528" name="Group 24"/>
          <p:cNvGrpSpPr>
            <a:grpSpLocks/>
          </p:cNvGrpSpPr>
          <p:nvPr/>
        </p:nvGrpSpPr>
        <p:grpSpPr bwMode="auto">
          <a:xfrm>
            <a:off x="1881982" y="1048957"/>
            <a:ext cx="2628901" cy="1169987"/>
            <a:chOff x="1680" y="2325"/>
            <a:chExt cx="1656" cy="737"/>
          </a:xfrm>
        </p:grpSpPr>
        <p:sp>
          <p:nvSpPr>
            <p:cNvPr id="4121" name="AutoShape 25"/>
            <p:cNvSpPr>
              <a:spLocks/>
            </p:cNvSpPr>
            <p:nvPr/>
          </p:nvSpPr>
          <p:spPr bwMode="auto">
            <a:xfrm>
              <a:off x="2596" y="2480"/>
              <a:ext cx="740" cy="582"/>
            </a:xfrm>
            <a:prstGeom prst="borderCallout1">
              <a:avLst>
                <a:gd name="adj1" fmla="val 7102"/>
                <a:gd name="adj2" fmla="val -4764"/>
                <a:gd name="adj3" fmla="val -27186"/>
                <a:gd name="adj4" fmla="val -63037"/>
              </a:avLst>
            </a:prstGeom>
            <a:solidFill>
              <a:srgbClr val="66FFFF"/>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1800" dirty="0" smtClean="0"/>
                <a:t>输出电压</a:t>
              </a:r>
              <a:endParaRPr lang="en-US" altLang="zh-CN" sz="1800" dirty="0" smtClean="0"/>
            </a:p>
            <a:p>
              <a:pPr eaLnBrk="1" hangingPunct="1">
                <a:spcBef>
                  <a:spcPct val="0"/>
                </a:spcBef>
                <a:buFontTx/>
                <a:buNone/>
              </a:pPr>
              <a:r>
                <a:rPr lang="en-US" altLang="zh-CN" sz="1800" dirty="0" smtClean="0"/>
                <a:t>OR</a:t>
              </a:r>
            </a:p>
            <a:p>
              <a:pPr eaLnBrk="1" hangingPunct="1">
                <a:spcBef>
                  <a:spcPct val="0"/>
                </a:spcBef>
                <a:buFontTx/>
                <a:buNone/>
              </a:pPr>
              <a:r>
                <a:rPr lang="zh-CN" altLang="en-US" sz="1800" dirty="0" smtClean="0"/>
                <a:t>输出电流</a:t>
              </a:r>
              <a:endParaRPr lang="zh-CN" altLang="en-US" sz="1800" dirty="0"/>
            </a:p>
          </p:txBody>
        </p:sp>
        <p:sp>
          <p:nvSpPr>
            <p:cNvPr id="4122" name="Line 26"/>
            <p:cNvSpPr>
              <a:spLocks noChangeShapeType="1"/>
            </p:cNvSpPr>
            <p:nvPr/>
          </p:nvSpPr>
          <p:spPr bwMode="auto">
            <a:xfrm>
              <a:off x="1680" y="2325"/>
              <a:ext cx="47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grpSp>
      <p:grpSp>
        <p:nvGrpSpPr>
          <p:cNvPr id="661540" name="Group 36"/>
          <p:cNvGrpSpPr>
            <a:grpSpLocks/>
          </p:cNvGrpSpPr>
          <p:nvPr/>
        </p:nvGrpSpPr>
        <p:grpSpPr bwMode="auto">
          <a:xfrm>
            <a:off x="2910682" y="1055014"/>
            <a:ext cx="2938044" cy="685006"/>
            <a:chOff x="2129" y="759"/>
            <a:chExt cx="1906" cy="635"/>
          </a:xfrm>
        </p:grpSpPr>
        <p:sp>
          <p:nvSpPr>
            <p:cNvPr id="4119" name="AutoShape 28"/>
            <p:cNvSpPr>
              <a:spLocks/>
            </p:cNvSpPr>
            <p:nvPr/>
          </p:nvSpPr>
          <p:spPr bwMode="auto">
            <a:xfrm>
              <a:off x="3509" y="1077"/>
              <a:ext cx="526" cy="317"/>
            </a:xfrm>
            <a:prstGeom prst="borderCallout1">
              <a:avLst>
                <a:gd name="adj1" fmla="val 22931"/>
                <a:gd name="adj2" fmla="val -7694"/>
                <a:gd name="adj3" fmla="val -97854"/>
                <a:gd name="adj4" fmla="val -81283"/>
              </a:avLst>
            </a:prstGeom>
            <a:solidFill>
              <a:srgbClr val="66FFFF"/>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1800"/>
                <a:t>多少</a:t>
              </a:r>
            </a:p>
          </p:txBody>
        </p:sp>
        <p:sp>
          <p:nvSpPr>
            <p:cNvPr id="4120" name="Line 29"/>
            <p:cNvSpPr>
              <a:spLocks noChangeShapeType="1"/>
            </p:cNvSpPr>
            <p:nvPr/>
          </p:nvSpPr>
          <p:spPr bwMode="auto">
            <a:xfrm flipV="1">
              <a:off x="2129" y="759"/>
              <a:ext cx="95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grpSp>
      <p:grpSp>
        <p:nvGrpSpPr>
          <p:cNvPr id="661537" name="Group 33"/>
          <p:cNvGrpSpPr>
            <a:grpSpLocks/>
          </p:cNvGrpSpPr>
          <p:nvPr/>
        </p:nvGrpSpPr>
        <p:grpSpPr bwMode="auto">
          <a:xfrm>
            <a:off x="2291556" y="1487011"/>
            <a:ext cx="2219325" cy="2181227"/>
            <a:chOff x="3186" y="2206"/>
            <a:chExt cx="1398" cy="1374"/>
          </a:xfrm>
        </p:grpSpPr>
        <p:sp>
          <p:nvSpPr>
            <p:cNvPr id="4115" name="AutoShape 34"/>
            <p:cNvSpPr>
              <a:spLocks/>
            </p:cNvSpPr>
            <p:nvPr/>
          </p:nvSpPr>
          <p:spPr bwMode="auto">
            <a:xfrm>
              <a:off x="3828" y="2841"/>
              <a:ext cx="756" cy="739"/>
            </a:xfrm>
            <a:prstGeom prst="borderCallout1">
              <a:avLst>
                <a:gd name="adj1" fmla="val 13634"/>
                <a:gd name="adj2" fmla="val -2514"/>
                <a:gd name="adj3" fmla="val -85205"/>
                <a:gd name="adj4" fmla="val -54817"/>
              </a:avLst>
            </a:prstGeom>
            <a:solidFill>
              <a:srgbClr val="66FFFF"/>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1800" dirty="0" smtClean="0"/>
                <a:t>影响</a:t>
              </a:r>
              <a:endParaRPr lang="en-US" altLang="zh-CN" sz="1800" dirty="0" smtClean="0"/>
            </a:p>
            <a:p>
              <a:pPr eaLnBrk="1" hangingPunct="1">
                <a:spcBef>
                  <a:spcPct val="0"/>
                </a:spcBef>
                <a:buFontTx/>
                <a:buNone/>
              </a:pPr>
              <a:r>
                <a:rPr lang="zh-CN" altLang="en-US" sz="1800" dirty="0" smtClean="0"/>
                <a:t>输入电压</a:t>
              </a:r>
              <a:endParaRPr lang="en-US" altLang="zh-CN" sz="1800" dirty="0" smtClean="0"/>
            </a:p>
            <a:p>
              <a:pPr eaLnBrk="1" hangingPunct="1">
                <a:spcBef>
                  <a:spcPct val="0"/>
                </a:spcBef>
                <a:buFontTx/>
                <a:buNone/>
              </a:pPr>
              <a:r>
                <a:rPr lang="en-US" altLang="zh-CN" sz="1800" dirty="0" smtClean="0"/>
                <a:t>OR</a:t>
              </a:r>
              <a:endParaRPr lang="en-US" altLang="zh-CN" sz="1800" dirty="0"/>
            </a:p>
            <a:p>
              <a:pPr eaLnBrk="1" hangingPunct="1">
                <a:spcBef>
                  <a:spcPct val="0"/>
                </a:spcBef>
                <a:buFontTx/>
                <a:buNone/>
              </a:pPr>
              <a:r>
                <a:rPr lang="zh-CN" altLang="en-US" sz="1800" dirty="0" smtClean="0"/>
                <a:t>输入</a:t>
              </a:r>
              <a:r>
                <a:rPr lang="zh-CN" altLang="en-US" sz="1800" dirty="0"/>
                <a:t>电流</a:t>
              </a:r>
            </a:p>
          </p:txBody>
        </p:sp>
        <p:sp>
          <p:nvSpPr>
            <p:cNvPr id="4116" name="Line 35"/>
            <p:cNvSpPr>
              <a:spLocks noChangeShapeType="1"/>
            </p:cNvSpPr>
            <p:nvPr/>
          </p:nvSpPr>
          <p:spPr bwMode="auto">
            <a:xfrm>
              <a:off x="3186" y="2206"/>
              <a:ext cx="39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grpSp>
      <p:grpSp>
        <p:nvGrpSpPr>
          <p:cNvPr id="29" name="Group 36"/>
          <p:cNvGrpSpPr>
            <a:grpSpLocks/>
          </p:cNvGrpSpPr>
          <p:nvPr/>
        </p:nvGrpSpPr>
        <p:grpSpPr bwMode="auto">
          <a:xfrm>
            <a:off x="4992451" y="1047734"/>
            <a:ext cx="2553563" cy="666667"/>
            <a:chOff x="2107" y="759"/>
            <a:chExt cx="1192" cy="618"/>
          </a:xfrm>
        </p:grpSpPr>
        <p:sp>
          <p:nvSpPr>
            <p:cNvPr id="30" name="AutoShape 28"/>
            <p:cNvSpPr>
              <a:spLocks/>
            </p:cNvSpPr>
            <p:nvPr/>
          </p:nvSpPr>
          <p:spPr bwMode="auto">
            <a:xfrm>
              <a:off x="2744" y="1060"/>
              <a:ext cx="555" cy="317"/>
            </a:xfrm>
            <a:prstGeom prst="borderCallout1">
              <a:avLst>
                <a:gd name="adj1" fmla="val 22931"/>
                <a:gd name="adj2" fmla="val -7694"/>
                <a:gd name="adj3" fmla="val -92283"/>
                <a:gd name="adj4" fmla="val -38688"/>
              </a:avLst>
            </a:prstGeom>
            <a:solidFill>
              <a:srgbClr val="66FFFF"/>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1800" dirty="0" smtClean="0"/>
                <a:t>怎样引出</a:t>
              </a:r>
              <a:endParaRPr lang="zh-CN" altLang="en-US" sz="1800" dirty="0"/>
            </a:p>
          </p:txBody>
        </p:sp>
        <p:sp>
          <p:nvSpPr>
            <p:cNvPr id="31" name="Line 29"/>
            <p:cNvSpPr>
              <a:spLocks noChangeShapeType="1"/>
            </p:cNvSpPr>
            <p:nvPr/>
          </p:nvSpPr>
          <p:spPr bwMode="auto">
            <a:xfrm flipV="1">
              <a:off x="2107" y="759"/>
              <a:ext cx="79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61524">
                                            <p:txEl>
                                              <p:pRg st="0" end="0"/>
                                            </p:txEl>
                                          </p:spTgt>
                                        </p:tgtEl>
                                        <p:attrNameLst>
                                          <p:attrName>style.visibility</p:attrName>
                                        </p:attrNameLst>
                                      </p:cBhvr>
                                      <p:to>
                                        <p:strVal val="visible"/>
                                      </p:to>
                                    </p:set>
                                    <p:animEffect transition="in" filter="wipe(left)">
                                      <p:cBhvr>
                                        <p:cTn id="7" dur="500"/>
                                        <p:tgtEl>
                                          <p:spTgt spid="6615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61528"/>
                                        </p:tgtEl>
                                        <p:attrNameLst>
                                          <p:attrName>style.visibility</p:attrName>
                                        </p:attrNameLst>
                                      </p:cBhvr>
                                      <p:to>
                                        <p:strVal val="visible"/>
                                      </p:to>
                                    </p:set>
                                    <p:animEffect transition="in" filter="wipe(left)">
                                      <p:cBhvr>
                                        <p:cTn id="12" dur="500"/>
                                        <p:tgtEl>
                                          <p:spTgt spid="6615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661540"/>
                                        </p:tgtEl>
                                        <p:attrNameLst>
                                          <p:attrName>style.visibility</p:attrName>
                                        </p:attrNameLst>
                                      </p:cBhvr>
                                      <p:to>
                                        <p:strVal val="visible"/>
                                      </p:to>
                                    </p:set>
                                    <p:animEffect transition="in" filter="diamond(in)">
                                      <p:cBhvr>
                                        <p:cTn id="17" dur="2000"/>
                                        <p:tgtEl>
                                          <p:spTgt spid="6615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diamond(in)">
                                      <p:cBhvr>
                                        <p:cTn id="22" dur="20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61525"/>
                                        </p:tgtEl>
                                        <p:attrNameLst>
                                          <p:attrName>style.visibility</p:attrName>
                                        </p:attrNameLst>
                                      </p:cBhvr>
                                      <p:to>
                                        <p:strVal val="visible"/>
                                      </p:to>
                                    </p:set>
                                    <p:animEffect transition="in" filter="wipe(left)">
                                      <p:cBhvr>
                                        <p:cTn id="27" dur="500"/>
                                        <p:tgtEl>
                                          <p:spTgt spid="6615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61537"/>
                                        </p:tgtEl>
                                        <p:attrNameLst>
                                          <p:attrName>style.visibility</p:attrName>
                                        </p:attrNameLst>
                                      </p:cBhvr>
                                      <p:to>
                                        <p:strVal val="visible"/>
                                      </p:to>
                                    </p:set>
                                    <p:animEffect transition="in" filter="wipe(left)">
                                      <p:cBhvr>
                                        <p:cTn id="32" dur="500"/>
                                        <p:tgtEl>
                                          <p:spTgt spid="661537"/>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661507"/>
                                        </p:tgtEl>
                                        <p:attrNameLst>
                                          <p:attrName>style.visibility</p:attrName>
                                        </p:attrNameLst>
                                      </p:cBhvr>
                                      <p:to>
                                        <p:strVal val="visible"/>
                                      </p:to>
                                    </p:set>
                                    <p:animEffect transition="in" filter="diamond(in)">
                                      <p:cBhvr>
                                        <p:cTn id="37" dur="500"/>
                                        <p:tgtEl>
                                          <p:spTgt spid="661507"/>
                                        </p:tgtEl>
                                      </p:cBhvr>
                                    </p:animEffect>
                                  </p:childTnLst>
                                </p:cTn>
                              </p:par>
                              <p:par>
                                <p:cTn id="38" presetID="8" presetClass="entr" presetSubtype="16" fill="hold" grpId="0" nodeType="withEffect">
                                  <p:stCondLst>
                                    <p:cond delay="0"/>
                                  </p:stCondLst>
                                  <p:childTnLst>
                                    <p:set>
                                      <p:cBhvr>
                                        <p:cTn id="39" dur="1" fill="hold">
                                          <p:stCondLst>
                                            <p:cond delay="0"/>
                                          </p:stCondLst>
                                        </p:cTn>
                                        <p:tgtEl>
                                          <p:spTgt spid="661508"/>
                                        </p:tgtEl>
                                        <p:attrNameLst>
                                          <p:attrName>style.visibility</p:attrName>
                                        </p:attrNameLst>
                                      </p:cBhvr>
                                      <p:to>
                                        <p:strVal val="visible"/>
                                      </p:to>
                                    </p:set>
                                    <p:animEffect transition="in" filter="diamond(in)">
                                      <p:cBhvr>
                                        <p:cTn id="40" dur="500"/>
                                        <p:tgtEl>
                                          <p:spTgt spid="661508"/>
                                        </p:tgtEl>
                                      </p:cBhvr>
                                    </p:animEffect>
                                  </p:childTnLst>
                                </p:cTn>
                              </p:par>
                              <p:par>
                                <p:cTn id="41" presetID="8" presetClass="entr" presetSubtype="16" fill="hold" grpId="0" nodeType="withEffect">
                                  <p:stCondLst>
                                    <p:cond delay="0"/>
                                  </p:stCondLst>
                                  <p:childTnLst>
                                    <p:set>
                                      <p:cBhvr>
                                        <p:cTn id="42" dur="1" fill="hold">
                                          <p:stCondLst>
                                            <p:cond delay="0"/>
                                          </p:stCondLst>
                                        </p:cTn>
                                        <p:tgtEl>
                                          <p:spTgt spid="661509"/>
                                        </p:tgtEl>
                                        <p:attrNameLst>
                                          <p:attrName>style.visibility</p:attrName>
                                        </p:attrNameLst>
                                      </p:cBhvr>
                                      <p:to>
                                        <p:strVal val="visible"/>
                                      </p:to>
                                    </p:set>
                                    <p:animEffect transition="in" filter="diamond(in)">
                                      <p:cBhvr>
                                        <p:cTn id="43" dur="500"/>
                                        <p:tgtEl>
                                          <p:spTgt spid="661509"/>
                                        </p:tgtEl>
                                      </p:cBhvr>
                                    </p:animEffect>
                                  </p:childTnLst>
                                </p:cTn>
                              </p:par>
                              <p:par>
                                <p:cTn id="44" presetID="8" presetClass="entr" presetSubtype="16" fill="hold" grpId="0" nodeType="withEffect">
                                  <p:stCondLst>
                                    <p:cond delay="0"/>
                                  </p:stCondLst>
                                  <p:childTnLst>
                                    <p:set>
                                      <p:cBhvr>
                                        <p:cTn id="45" dur="1" fill="hold">
                                          <p:stCondLst>
                                            <p:cond delay="0"/>
                                          </p:stCondLst>
                                        </p:cTn>
                                        <p:tgtEl>
                                          <p:spTgt spid="661510"/>
                                        </p:tgtEl>
                                        <p:attrNameLst>
                                          <p:attrName>style.visibility</p:attrName>
                                        </p:attrNameLst>
                                      </p:cBhvr>
                                      <p:to>
                                        <p:strVal val="visible"/>
                                      </p:to>
                                    </p:set>
                                    <p:animEffect transition="in" filter="diamond(in)">
                                      <p:cBhvr>
                                        <p:cTn id="46" dur="500"/>
                                        <p:tgtEl>
                                          <p:spTgt spid="661510"/>
                                        </p:tgtEl>
                                      </p:cBhvr>
                                    </p:animEffect>
                                  </p:childTnLst>
                                </p:cTn>
                              </p:par>
                              <p:par>
                                <p:cTn id="47" presetID="8" presetClass="entr" presetSubtype="16" fill="hold" grpId="0" nodeType="withEffect">
                                  <p:stCondLst>
                                    <p:cond delay="0"/>
                                  </p:stCondLst>
                                  <p:childTnLst>
                                    <p:set>
                                      <p:cBhvr>
                                        <p:cTn id="48" dur="1" fill="hold">
                                          <p:stCondLst>
                                            <p:cond delay="0"/>
                                          </p:stCondLst>
                                        </p:cTn>
                                        <p:tgtEl>
                                          <p:spTgt spid="661511"/>
                                        </p:tgtEl>
                                        <p:attrNameLst>
                                          <p:attrName>style.visibility</p:attrName>
                                        </p:attrNameLst>
                                      </p:cBhvr>
                                      <p:to>
                                        <p:strVal val="visible"/>
                                      </p:to>
                                    </p:set>
                                    <p:animEffect transition="in" filter="diamond(in)">
                                      <p:cBhvr>
                                        <p:cTn id="49" dur="500"/>
                                        <p:tgtEl>
                                          <p:spTgt spid="661511"/>
                                        </p:tgtEl>
                                      </p:cBhvr>
                                    </p:animEffect>
                                  </p:childTnLst>
                                </p:cTn>
                              </p:par>
                              <p:par>
                                <p:cTn id="50" presetID="8" presetClass="entr" presetSubtype="16" fill="hold" grpId="0" nodeType="withEffect">
                                  <p:stCondLst>
                                    <p:cond delay="0"/>
                                  </p:stCondLst>
                                  <p:childTnLst>
                                    <p:set>
                                      <p:cBhvr>
                                        <p:cTn id="51" dur="1" fill="hold">
                                          <p:stCondLst>
                                            <p:cond delay="0"/>
                                          </p:stCondLst>
                                        </p:cTn>
                                        <p:tgtEl>
                                          <p:spTgt spid="661512"/>
                                        </p:tgtEl>
                                        <p:attrNameLst>
                                          <p:attrName>style.visibility</p:attrName>
                                        </p:attrNameLst>
                                      </p:cBhvr>
                                      <p:to>
                                        <p:strVal val="visible"/>
                                      </p:to>
                                    </p:set>
                                    <p:animEffect transition="in" filter="diamond(in)">
                                      <p:cBhvr>
                                        <p:cTn id="52" dur="500"/>
                                        <p:tgtEl>
                                          <p:spTgt spid="661512"/>
                                        </p:tgtEl>
                                      </p:cBhvr>
                                    </p:animEffect>
                                  </p:childTnLst>
                                </p:cTn>
                              </p:par>
                              <p:par>
                                <p:cTn id="53" presetID="8" presetClass="entr" presetSubtype="16" fill="hold" grpId="0" nodeType="withEffect">
                                  <p:stCondLst>
                                    <p:cond delay="0"/>
                                  </p:stCondLst>
                                  <p:childTnLst>
                                    <p:set>
                                      <p:cBhvr>
                                        <p:cTn id="54" dur="1" fill="hold">
                                          <p:stCondLst>
                                            <p:cond delay="0"/>
                                          </p:stCondLst>
                                        </p:cTn>
                                        <p:tgtEl>
                                          <p:spTgt spid="661513"/>
                                        </p:tgtEl>
                                        <p:attrNameLst>
                                          <p:attrName>style.visibility</p:attrName>
                                        </p:attrNameLst>
                                      </p:cBhvr>
                                      <p:to>
                                        <p:strVal val="visible"/>
                                      </p:to>
                                    </p:set>
                                    <p:animEffect transition="in" filter="diamond(in)">
                                      <p:cBhvr>
                                        <p:cTn id="55" dur="500"/>
                                        <p:tgtEl>
                                          <p:spTgt spid="661513"/>
                                        </p:tgtEl>
                                      </p:cBhvr>
                                    </p:animEffect>
                                  </p:childTnLst>
                                </p:cTn>
                              </p:par>
                              <p:par>
                                <p:cTn id="56" presetID="8" presetClass="entr" presetSubtype="16" fill="hold" grpId="0" nodeType="withEffect">
                                  <p:stCondLst>
                                    <p:cond delay="0"/>
                                  </p:stCondLst>
                                  <p:childTnLst>
                                    <p:set>
                                      <p:cBhvr>
                                        <p:cTn id="57" dur="1" fill="hold">
                                          <p:stCondLst>
                                            <p:cond delay="0"/>
                                          </p:stCondLst>
                                        </p:cTn>
                                        <p:tgtEl>
                                          <p:spTgt spid="661514"/>
                                        </p:tgtEl>
                                        <p:attrNameLst>
                                          <p:attrName>style.visibility</p:attrName>
                                        </p:attrNameLst>
                                      </p:cBhvr>
                                      <p:to>
                                        <p:strVal val="visible"/>
                                      </p:to>
                                    </p:set>
                                    <p:animEffect transition="in" filter="diamond(in)">
                                      <p:cBhvr>
                                        <p:cTn id="58" dur="500"/>
                                        <p:tgtEl>
                                          <p:spTgt spid="661514"/>
                                        </p:tgtEl>
                                      </p:cBhvr>
                                    </p:animEffect>
                                  </p:childTnLst>
                                </p:cTn>
                              </p:par>
                              <p:par>
                                <p:cTn id="59" presetID="8" presetClass="entr" presetSubtype="16" fill="hold" grpId="0" nodeType="withEffect">
                                  <p:stCondLst>
                                    <p:cond delay="0"/>
                                  </p:stCondLst>
                                  <p:childTnLst>
                                    <p:set>
                                      <p:cBhvr>
                                        <p:cTn id="60" dur="1" fill="hold">
                                          <p:stCondLst>
                                            <p:cond delay="0"/>
                                          </p:stCondLst>
                                        </p:cTn>
                                        <p:tgtEl>
                                          <p:spTgt spid="661515"/>
                                        </p:tgtEl>
                                        <p:attrNameLst>
                                          <p:attrName>style.visibility</p:attrName>
                                        </p:attrNameLst>
                                      </p:cBhvr>
                                      <p:to>
                                        <p:strVal val="visible"/>
                                      </p:to>
                                    </p:set>
                                    <p:animEffect transition="in" filter="diamond(in)">
                                      <p:cBhvr>
                                        <p:cTn id="61" dur="500"/>
                                        <p:tgtEl>
                                          <p:spTgt spid="661515"/>
                                        </p:tgtEl>
                                      </p:cBhvr>
                                    </p:animEffect>
                                  </p:childTnLst>
                                </p:cTn>
                              </p:par>
                              <p:par>
                                <p:cTn id="62" presetID="8" presetClass="entr" presetSubtype="16" fill="hold" grpId="0" nodeType="withEffect">
                                  <p:stCondLst>
                                    <p:cond delay="0"/>
                                  </p:stCondLst>
                                  <p:childTnLst>
                                    <p:set>
                                      <p:cBhvr>
                                        <p:cTn id="63" dur="1" fill="hold">
                                          <p:stCondLst>
                                            <p:cond delay="0"/>
                                          </p:stCondLst>
                                        </p:cTn>
                                        <p:tgtEl>
                                          <p:spTgt spid="661516"/>
                                        </p:tgtEl>
                                        <p:attrNameLst>
                                          <p:attrName>style.visibility</p:attrName>
                                        </p:attrNameLst>
                                      </p:cBhvr>
                                      <p:to>
                                        <p:strVal val="visible"/>
                                      </p:to>
                                    </p:set>
                                    <p:animEffect transition="in" filter="diamond(in)">
                                      <p:cBhvr>
                                        <p:cTn id="64" dur="500"/>
                                        <p:tgtEl>
                                          <p:spTgt spid="661516"/>
                                        </p:tgtEl>
                                      </p:cBhvr>
                                    </p:animEffect>
                                  </p:childTnLst>
                                </p:cTn>
                              </p:par>
                              <p:par>
                                <p:cTn id="65" presetID="8" presetClass="entr" presetSubtype="16" fill="hold" grpId="0" nodeType="withEffect">
                                  <p:stCondLst>
                                    <p:cond delay="0"/>
                                  </p:stCondLst>
                                  <p:childTnLst>
                                    <p:set>
                                      <p:cBhvr>
                                        <p:cTn id="66" dur="1" fill="hold">
                                          <p:stCondLst>
                                            <p:cond delay="0"/>
                                          </p:stCondLst>
                                        </p:cTn>
                                        <p:tgtEl>
                                          <p:spTgt spid="661517"/>
                                        </p:tgtEl>
                                        <p:attrNameLst>
                                          <p:attrName>style.visibility</p:attrName>
                                        </p:attrNameLst>
                                      </p:cBhvr>
                                      <p:to>
                                        <p:strVal val="visible"/>
                                      </p:to>
                                    </p:set>
                                    <p:animEffect transition="in" filter="diamond(in)">
                                      <p:cBhvr>
                                        <p:cTn id="67" dur="500"/>
                                        <p:tgtEl>
                                          <p:spTgt spid="661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1507" grpId="0"/>
      <p:bldP spid="661508" grpId="0" animBg="1"/>
      <p:bldP spid="661509" grpId="0" animBg="1"/>
      <p:bldP spid="661510" grpId="0" animBg="1"/>
      <p:bldP spid="661511" grpId="0"/>
      <p:bldP spid="661512" grpId="0"/>
      <p:bldP spid="661513" grpId="0" animBg="1"/>
      <p:bldP spid="661514" grpId="0" animBg="1"/>
      <p:bldP spid="661515" grpId="0" animBg="1"/>
      <p:bldP spid="661516" grpId="0"/>
      <p:bldP spid="661517" grpId="0"/>
      <p:bldP spid="661524"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5122" name="Text Box 13"/>
          <p:cNvSpPr txBox="1">
            <a:spLocks noChangeArrowheads="1"/>
          </p:cNvSpPr>
          <p:nvPr/>
        </p:nvSpPr>
        <p:spPr bwMode="auto">
          <a:xfrm>
            <a:off x="492125" y="904875"/>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smtClean="0">
                <a:solidFill>
                  <a:srgbClr val="990033"/>
                </a:solidFill>
              </a:rPr>
              <a:t>11.1.2  </a:t>
            </a:r>
            <a:r>
              <a:rPr lang="zh-CN" altLang="en-US" sz="2400" dirty="0">
                <a:solidFill>
                  <a:srgbClr val="A50021"/>
                </a:solidFill>
              </a:rPr>
              <a:t>负反馈放大电路的四种组态</a:t>
            </a:r>
          </a:p>
        </p:txBody>
      </p:sp>
      <p:sp>
        <p:nvSpPr>
          <p:cNvPr id="5123" name="Rectangle 14"/>
          <p:cNvSpPr>
            <a:spLocks noChangeArrowheads="1"/>
          </p:cNvSpPr>
          <p:nvPr/>
        </p:nvSpPr>
        <p:spPr bwMode="auto">
          <a:xfrm>
            <a:off x="596900" y="1800592"/>
            <a:ext cx="7823200" cy="163121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a:t>负反馈放大电路有四种组态。</a:t>
            </a:r>
          </a:p>
          <a:p>
            <a:pPr eaLnBrk="1" hangingPunct="1">
              <a:spcBef>
                <a:spcPct val="0"/>
              </a:spcBef>
              <a:buFontTx/>
              <a:buNone/>
            </a:pPr>
            <a:endParaRPr lang="zh-CN" altLang="en-US" sz="2000" dirty="0"/>
          </a:p>
          <a:p>
            <a:pPr eaLnBrk="1" hangingPunct="1">
              <a:lnSpc>
                <a:spcPct val="150000"/>
              </a:lnSpc>
              <a:spcBef>
                <a:spcPct val="0"/>
              </a:spcBef>
              <a:buFontTx/>
              <a:buNone/>
            </a:pPr>
            <a:r>
              <a:rPr lang="zh-CN" altLang="en-US" sz="2000" dirty="0"/>
              <a:t>        若将反馈放大电路的基本放大电路与反馈网络均看成二端口网络，那么不同的反馈组态表明了两个网络的不同的连接方式。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barn(inVertical)">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123">
                                            <p:txEl>
                                              <p:pRg st="2" end="2"/>
                                            </p:txEl>
                                          </p:spTgt>
                                        </p:tgtEl>
                                        <p:attrNameLst>
                                          <p:attrName>style.visibility</p:attrName>
                                        </p:attrNameLst>
                                      </p:cBhvr>
                                      <p:to>
                                        <p:strVal val="visible"/>
                                      </p:to>
                                    </p:set>
                                    <p:animEffect transition="in" filter="barn(inVertical)">
                                      <p:cBhvr>
                                        <p:cTn id="12" dur="500"/>
                                        <p:tgtEl>
                                          <p:spTgt spid="51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Text Box 3"/>
          <p:cNvSpPr txBox="1">
            <a:spLocks noChangeArrowheads="1"/>
          </p:cNvSpPr>
          <p:nvPr/>
        </p:nvSpPr>
        <p:spPr bwMode="auto">
          <a:xfrm>
            <a:off x="523875" y="466725"/>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zh-CN" altLang="en-US" sz="2400" dirty="0" smtClean="0">
                <a:solidFill>
                  <a:srgbClr val="A50021"/>
                </a:solidFill>
              </a:rPr>
              <a:t>一、</a:t>
            </a:r>
            <a:r>
              <a:rPr lang="zh-CN" altLang="en-US" sz="2400" dirty="0">
                <a:solidFill>
                  <a:srgbClr val="A50021"/>
                </a:solidFill>
              </a:rPr>
              <a:t>电压采样串联</a:t>
            </a:r>
            <a:r>
              <a:rPr lang="zh-CN" altLang="en-US" sz="2400" dirty="0" smtClean="0">
                <a:solidFill>
                  <a:srgbClr val="A50021"/>
                </a:solidFill>
              </a:rPr>
              <a:t>接入</a:t>
            </a:r>
            <a:endParaRPr lang="zh-CN" altLang="en-US" sz="2400" dirty="0">
              <a:solidFill>
                <a:srgbClr val="A50021"/>
              </a:solidFill>
            </a:endParaRPr>
          </a:p>
        </p:txBody>
      </p:sp>
      <p:pic>
        <p:nvPicPr>
          <p:cNvPr id="6147" name="图片 2375"/>
          <p:cNvPicPr>
            <a:picLocks noChangeAspect="1" noChangeArrowheads="1"/>
          </p:cNvPicPr>
          <p:nvPr/>
        </p:nvPicPr>
        <p:blipFill>
          <a:blip r:embed="rId2">
            <a:extLst>
              <a:ext uri="{28A0092B-C50C-407E-A947-70E740481C1C}">
                <a14:useLocalDpi xmlns:a14="http://schemas.microsoft.com/office/drawing/2010/main" val="0"/>
              </a:ext>
            </a:extLst>
          </a:blip>
          <a:srcRect b="14070"/>
          <a:stretch>
            <a:fillRect/>
          </a:stretch>
        </p:blipFill>
        <p:spPr bwMode="auto">
          <a:xfrm>
            <a:off x="1744240" y="2271087"/>
            <a:ext cx="5952382" cy="2865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8" name="Rectangle 5"/>
          <p:cNvSpPr>
            <a:spLocks noChangeArrowheads="1"/>
          </p:cNvSpPr>
          <p:nvPr/>
        </p:nvSpPr>
        <p:spPr bwMode="auto">
          <a:xfrm>
            <a:off x="1293813" y="1003252"/>
            <a:ext cx="7450138" cy="95725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0"/>
              </a:spcBef>
              <a:buFontTx/>
              <a:buNone/>
            </a:pPr>
            <a:r>
              <a:rPr kumimoji="0" lang="zh-CN" altLang="en-US" sz="2000" dirty="0"/>
              <a:t>又称为</a:t>
            </a:r>
            <a:r>
              <a:rPr lang="zh-CN" altLang="en-US" sz="2000" dirty="0">
                <a:solidFill>
                  <a:schemeClr val="accent2"/>
                </a:solidFill>
              </a:rPr>
              <a:t>电压串联反馈</a:t>
            </a:r>
            <a:r>
              <a:rPr kumimoji="0" lang="zh-CN" altLang="en-US" sz="2000" dirty="0"/>
              <a:t>，</a:t>
            </a:r>
            <a:r>
              <a:rPr lang="zh-CN" altLang="en-US" sz="2000" dirty="0">
                <a:solidFill>
                  <a:schemeClr val="accent2"/>
                </a:solidFill>
              </a:rPr>
              <a:t>串联并联</a:t>
            </a:r>
            <a:r>
              <a:rPr lang="zh-CN" altLang="en-US" sz="2000" dirty="0" smtClean="0">
                <a:solidFill>
                  <a:schemeClr val="accent2"/>
                </a:solidFill>
              </a:rPr>
              <a:t>反馈（</a:t>
            </a:r>
            <a:r>
              <a:rPr lang="en-US" altLang="zh-CN" sz="2000" dirty="0" smtClean="0">
                <a:solidFill>
                  <a:schemeClr val="accent2"/>
                </a:solidFill>
              </a:rPr>
              <a:t>series–shunt feedback</a:t>
            </a:r>
            <a:r>
              <a:rPr lang="zh-CN" altLang="en-US" sz="2000" dirty="0" smtClean="0">
                <a:solidFill>
                  <a:schemeClr val="accent2"/>
                </a:solidFill>
              </a:rPr>
              <a:t>），即电压采样电压反馈（</a:t>
            </a:r>
            <a:r>
              <a:rPr lang="en-US" altLang="zh-CN" sz="2000" dirty="0" smtClean="0">
                <a:solidFill>
                  <a:schemeClr val="accent2"/>
                </a:solidFill>
              </a:rPr>
              <a:t>voltage-sampling, voltage-mixing</a:t>
            </a:r>
            <a:r>
              <a:rPr lang="zh-CN" altLang="en-US" sz="2000" dirty="0" smtClean="0">
                <a:solidFill>
                  <a:schemeClr val="accent2"/>
                </a:solidFill>
              </a:rPr>
              <a:t>）</a:t>
            </a:r>
            <a:r>
              <a:rPr kumimoji="0" lang="zh-CN" altLang="en-US" sz="2000" dirty="0" smtClean="0"/>
              <a:t>。</a:t>
            </a:r>
            <a:endParaRPr kumimoji="0" lang="zh-CN" altLang="en-US" sz="2000" dirty="0"/>
          </a:p>
        </p:txBody>
      </p:sp>
      <p:sp>
        <p:nvSpPr>
          <p:cNvPr id="2" name="矩形 1"/>
          <p:cNvSpPr/>
          <p:nvPr/>
        </p:nvSpPr>
        <p:spPr>
          <a:xfrm>
            <a:off x="3057063" y="5436483"/>
            <a:ext cx="3923638" cy="400110"/>
          </a:xfrm>
          <a:prstGeom prst="rect">
            <a:avLst/>
          </a:prstGeom>
        </p:spPr>
        <p:txBody>
          <a:bodyPr wrap="none">
            <a:spAutoFit/>
          </a:bodyPr>
          <a:lstStyle/>
          <a:p>
            <a:r>
              <a:rPr lang="zh-CN" altLang="en-US" sz="2000" dirty="0" smtClean="0"/>
              <a:t>电压放大器（</a:t>
            </a:r>
            <a:r>
              <a:rPr lang="en-US" altLang="zh-CN" sz="2000" dirty="0" smtClean="0"/>
              <a:t>Voltage Amplifier</a:t>
            </a:r>
            <a:r>
              <a:rPr lang="zh-CN" altLang="en-US" sz="2000" dirty="0" smtClean="0"/>
              <a:t>）</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148"/>
                                        </p:tgtEl>
                                        <p:attrNameLst>
                                          <p:attrName>style.visibility</p:attrName>
                                        </p:attrNameLst>
                                      </p:cBhvr>
                                      <p:to>
                                        <p:strVal val="visible"/>
                                      </p:to>
                                    </p:set>
                                    <p:animEffect transition="in" filter="barn(inVertical)">
                                      <p:cBhvr>
                                        <p:cTn id="7" dur="500"/>
                                        <p:tgtEl>
                                          <p:spTgt spid="61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147"/>
                                        </p:tgtEl>
                                        <p:attrNameLst>
                                          <p:attrName>style.visibility</p:attrName>
                                        </p:attrNameLst>
                                      </p:cBhvr>
                                      <p:to>
                                        <p:strVal val="visible"/>
                                      </p:to>
                                    </p:set>
                                    <p:animEffect transition="in" filter="barn(inVertical)">
                                      <p:cBhvr>
                                        <p:cTn id="12" dur="500"/>
                                        <p:tgtEl>
                                          <p:spTgt spid="6147"/>
                                        </p:tgtEl>
                                      </p:cBhvr>
                                    </p:animEffect>
                                  </p:childTnLst>
                                </p:cTn>
                              </p:par>
                            </p:childTnLst>
                          </p:cTn>
                        </p:par>
                        <p:par>
                          <p:cTn id="13" fill="hold">
                            <p:stCondLst>
                              <p:cond delay="500"/>
                            </p:stCondLst>
                            <p:childTnLst>
                              <p:par>
                                <p:cTn id="14" presetID="16" presetClass="entr" presetSubtype="21"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arn(inVertical)">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739775" y="709613"/>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eaLnBrk="1" hangingPunct="1">
              <a:spcBef>
                <a:spcPct val="50000"/>
              </a:spcBef>
              <a:buFontTx/>
              <a:buNone/>
              <a:defRPr>
                <a:solidFill>
                  <a:srgbClr val="A50021"/>
                </a:solidFill>
              </a:defRPr>
            </a:lvl1pPr>
            <a:lvl2pPr marL="742950" indent="-285750" algn="l" eaLnBrk="0" hangingPunct="0">
              <a:spcBef>
                <a:spcPct val="20000"/>
              </a:spcBef>
              <a:buChar char="–"/>
              <a:defRPr sz="2800"/>
            </a:lvl2pPr>
            <a:lvl3pPr marL="1143000" indent="-228600" algn="l" eaLnBrk="0" hangingPunct="0">
              <a:spcBef>
                <a:spcPct val="20000"/>
              </a:spcBef>
              <a:buChar char="•"/>
            </a:lvl3pPr>
            <a:lvl4pPr marL="1600200" indent="-228600" algn="l" eaLnBrk="0" hangingPunct="0">
              <a:spcBef>
                <a:spcPct val="20000"/>
              </a:spcBef>
              <a:buChar char="–"/>
              <a:defRPr sz="2000"/>
            </a:lvl4pPr>
            <a:lvl5pPr marL="2057400" indent="-228600" algn="l" eaLnBrk="0" hangingPunct="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zh-CN" altLang="en-US" dirty="0" smtClean="0"/>
              <a:t>二、</a:t>
            </a:r>
            <a:r>
              <a:rPr lang="zh-CN" altLang="en-US" dirty="0"/>
              <a:t>电流采样串联接入</a:t>
            </a:r>
          </a:p>
        </p:txBody>
      </p:sp>
      <p:pic>
        <p:nvPicPr>
          <p:cNvPr id="7171" name="图片 2376"/>
          <p:cNvPicPr>
            <a:picLocks noChangeAspect="1" noChangeArrowheads="1"/>
          </p:cNvPicPr>
          <p:nvPr/>
        </p:nvPicPr>
        <p:blipFill>
          <a:blip r:embed="rId2">
            <a:extLst>
              <a:ext uri="{28A0092B-C50C-407E-A947-70E740481C1C}">
                <a14:useLocalDpi xmlns:a14="http://schemas.microsoft.com/office/drawing/2010/main" val="0"/>
              </a:ext>
            </a:extLst>
          </a:blip>
          <a:srcRect b="12672"/>
          <a:stretch>
            <a:fillRect/>
          </a:stretch>
        </p:blipFill>
        <p:spPr bwMode="auto">
          <a:xfrm>
            <a:off x="1798639" y="2454633"/>
            <a:ext cx="5952382" cy="2911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Rectangle 5"/>
          <p:cNvSpPr>
            <a:spLocks noChangeArrowheads="1"/>
          </p:cNvSpPr>
          <p:nvPr/>
        </p:nvSpPr>
        <p:spPr bwMode="auto">
          <a:xfrm>
            <a:off x="1489075" y="1230913"/>
            <a:ext cx="7331075" cy="95725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0"/>
              </a:spcBef>
              <a:buFontTx/>
              <a:buNone/>
            </a:pPr>
            <a:r>
              <a:rPr kumimoji="0" lang="zh-CN" altLang="en-US" sz="2000" dirty="0"/>
              <a:t>又称为</a:t>
            </a:r>
            <a:r>
              <a:rPr lang="zh-CN" altLang="en-US" sz="2000" dirty="0">
                <a:solidFill>
                  <a:schemeClr val="accent2"/>
                </a:solidFill>
              </a:rPr>
              <a:t>电流串联反馈</a:t>
            </a:r>
            <a:r>
              <a:rPr kumimoji="0" lang="zh-CN" altLang="en-US" sz="2000" dirty="0"/>
              <a:t>，</a:t>
            </a:r>
            <a:r>
              <a:rPr lang="zh-CN" altLang="en-US" sz="2000" dirty="0">
                <a:solidFill>
                  <a:schemeClr val="accent2"/>
                </a:solidFill>
              </a:rPr>
              <a:t>串联串联</a:t>
            </a:r>
            <a:r>
              <a:rPr lang="zh-CN" altLang="en-US" sz="2000" dirty="0" smtClean="0">
                <a:solidFill>
                  <a:schemeClr val="accent2"/>
                </a:solidFill>
              </a:rPr>
              <a:t>反馈（</a:t>
            </a:r>
            <a:r>
              <a:rPr lang="en-US" altLang="zh-CN" sz="2000" dirty="0" smtClean="0">
                <a:solidFill>
                  <a:schemeClr val="accent2"/>
                </a:solidFill>
              </a:rPr>
              <a:t>series–series feedback</a:t>
            </a:r>
            <a:r>
              <a:rPr lang="zh-CN" altLang="en-US" sz="2000" dirty="0" smtClean="0">
                <a:solidFill>
                  <a:schemeClr val="accent2"/>
                </a:solidFill>
              </a:rPr>
              <a:t>），即电流采样电压反馈（</a:t>
            </a:r>
            <a:r>
              <a:rPr lang="en-US" altLang="zh-CN" sz="2000" dirty="0" smtClean="0">
                <a:solidFill>
                  <a:schemeClr val="accent2"/>
                </a:solidFill>
              </a:rPr>
              <a:t>current-sampling , voltage-mixing</a:t>
            </a:r>
            <a:r>
              <a:rPr lang="zh-CN" altLang="en-US" sz="2000" dirty="0" smtClean="0">
                <a:solidFill>
                  <a:schemeClr val="accent2"/>
                </a:solidFill>
              </a:rPr>
              <a:t>）</a:t>
            </a:r>
            <a:r>
              <a:rPr kumimoji="0" lang="zh-CN" altLang="en-US" sz="2000" dirty="0" smtClean="0"/>
              <a:t>。</a:t>
            </a:r>
            <a:endParaRPr kumimoji="0" lang="zh-CN" altLang="en-US" sz="2000" dirty="0"/>
          </a:p>
        </p:txBody>
      </p:sp>
      <p:sp>
        <p:nvSpPr>
          <p:cNvPr id="2" name="矩形 1"/>
          <p:cNvSpPr/>
          <p:nvPr/>
        </p:nvSpPr>
        <p:spPr>
          <a:xfrm>
            <a:off x="2530778" y="5569893"/>
            <a:ext cx="5111143" cy="400110"/>
          </a:xfrm>
          <a:prstGeom prst="rect">
            <a:avLst/>
          </a:prstGeom>
        </p:spPr>
        <p:txBody>
          <a:bodyPr wrap="none">
            <a:spAutoFit/>
          </a:bodyPr>
          <a:lstStyle/>
          <a:p>
            <a:r>
              <a:rPr lang="zh-CN" altLang="en-US" sz="2000" dirty="0" smtClean="0"/>
              <a:t>跨导放大器（</a:t>
            </a:r>
            <a:r>
              <a:rPr lang="en-US" altLang="zh-CN" sz="2000" dirty="0" err="1" smtClean="0"/>
              <a:t>Transconductance</a:t>
            </a:r>
            <a:r>
              <a:rPr lang="en-US" altLang="zh-CN" sz="2000" dirty="0" smtClean="0"/>
              <a:t> Amplifier</a:t>
            </a:r>
            <a:r>
              <a:rPr lang="zh-CN" altLang="en-US" sz="2000" dirty="0" smtClean="0"/>
              <a:t>）</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172"/>
                                        </p:tgtEl>
                                        <p:attrNameLst>
                                          <p:attrName>style.visibility</p:attrName>
                                        </p:attrNameLst>
                                      </p:cBhvr>
                                      <p:to>
                                        <p:strVal val="visible"/>
                                      </p:to>
                                    </p:set>
                                    <p:animEffect transition="in" filter="barn(inVertical)">
                                      <p:cBhvr>
                                        <p:cTn id="7" dur="500"/>
                                        <p:tgtEl>
                                          <p:spTgt spid="717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171"/>
                                        </p:tgtEl>
                                        <p:attrNameLst>
                                          <p:attrName>style.visibility</p:attrName>
                                        </p:attrNameLst>
                                      </p:cBhvr>
                                      <p:to>
                                        <p:strVal val="visible"/>
                                      </p:to>
                                    </p:set>
                                    <p:animEffect transition="in" filter="barn(inVertical)">
                                      <p:cBhvr>
                                        <p:cTn id="12" dur="500"/>
                                        <p:tgtEl>
                                          <p:spTgt spid="7171"/>
                                        </p:tgtEl>
                                      </p:cBhvr>
                                    </p:animEffect>
                                  </p:childTnLst>
                                </p:cTn>
                              </p:par>
                            </p:childTnLst>
                          </p:cTn>
                        </p:par>
                        <p:par>
                          <p:cTn id="13" fill="hold">
                            <p:stCondLst>
                              <p:cond delay="500"/>
                            </p:stCondLst>
                            <p:childTnLst>
                              <p:par>
                                <p:cTn id="14" presetID="16" presetClass="entr" presetSubtype="21"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arn(inVertical)">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755650" y="709613"/>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eaLnBrk="1" hangingPunct="1">
              <a:spcBef>
                <a:spcPct val="50000"/>
              </a:spcBef>
              <a:buFontTx/>
              <a:buNone/>
              <a:defRPr>
                <a:solidFill>
                  <a:srgbClr val="A50021"/>
                </a:solidFill>
              </a:defRPr>
            </a:lvl1pPr>
            <a:lvl2pPr marL="742950" indent="-285750" algn="l" eaLnBrk="0" hangingPunct="0">
              <a:spcBef>
                <a:spcPct val="20000"/>
              </a:spcBef>
              <a:buChar char="–"/>
              <a:defRPr sz="2800"/>
            </a:lvl2pPr>
            <a:lvl3pPr marL="1143000" indent="-228600" algn="l" eaLnBrk="0" hangingPunct="0">
              <a:spcBef>
                <a:spcPct val="20000"/>
              </a:spcBef>
              <a:buChar char="•"/>
            </a:lvl3pPr>
            <a:lvl4pPr marL="1600200" indent="-228600" algn="l" eaLnBrk="0" hangingPunct="0">
              <a:spcBef>
                <a:spcPct val="20000"/>
              </a:spcBef>
              <a:buChar char="–"/>
              <a:defRPr sz="2000"/>
            </a:lvl4pPr>
            <a:lvl5pPr marL="2057400" indent="-228600" algn="l" eaLnBrk="0" hangingPunct="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zh-CN" altLang="en-US" dirty="0" smtClean="0"/>
              <a:t>三、 </a:t>
            </a:r>
            <a:r>
              <a:rPr lang="zh-CN" altLang="en-US" dirty="0"/>
              <a:t>电流采样并联接入</a:t>
            </a:r>
          </a:p>
        </p:txBody>
      </p:sp>
      <p:pic>
        <p:nvPicPr>
          <p:cNvPr id="8195" name="图片 2377"/>
          <p:cNvPicPr>
            <a:picLocks noChangeAspect="1" noChangeArrowheads="1"/>
          </p:cNvPicPr>
          <p:nvPr/>
        </p:nvPicPr>
        <p:blipFill>
          <a:blip r:embed="rId2">
            <a:extLst>
              <a:ext uri="{28A0092B-C50C-407E-A947-70E740481C1C}">
                <a14:useLocalDpi xmlns:a14="http://schemas.microsoft.com/office/drawing/2010/main" val="0"/>
              </a:ext>
            </a:extLst>
          </a:blip>
          <a:srcRect r="856" b="13486"/>
          <a:stretch>
            <a:fillRect/>
          </a:stretch>
        </p:blipFill>
        <p:spPr bwMode="auto">
          <a:xfrm>
            <a:off x="1559821" y="2193925"/>
            <a:ext cx="5901429" cy="288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6" name="Rectangle 5"/>
          <p:cNvSpPr>
            <a:spLocks noChangeArrowheads="1"/>
          </p:cNvSpPr>
          <p:nvPr/>
        </p:nvSpPr>
        <p:spPr bwMode="auto">
          <a:xfrm>
            <a:off x="1454150" y="1174349"/>
            <a:ext cx="6526213" cy="95725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0"/>
              </a:spcBef>
              <a:buFontTx/>
              <a:buNone/>
            </a:pPr>
            <a:r>
              <a:rPr kumimoji="0" lang="zh-CN" altLang="en-US" sz="2000" dirty="0"/>
              <a:t>又称为</a:t>
            </a:r>
            <a:r>
              <a:rPr lang="zh-CN" altLang="en-US" sz="2000" dirty="0">
                <a:solidFill>
                  <a:schemeClr val="accent2"/>
                </a:solidFill>
              </a:rPr>
              <a:t>电流并联反馈</a:t>
            </a:r>
            <a:r>
              <a:rPr kumimoji="0" lang="zh-CN" altLang="en-US" sz="2000" dirty="0"/>
              <a:t>，</a:t>
            </a:r>
            <a:r>
              <a:rPr lang="zh-CN" altLang="en-US" sz="2000" dirty="0">
                <a:solidFill>
                  <a:schemeClr val="accent2"/>
                </a:solidFill>
              </a:rPr>
              <a:t>并联串联</a:t>
            </a:r>
            <a:r>
              <a:rPr lang="zh-CN" altLang="en-US" sz="2000" dirty="0" smtClean="0">
                <a:solidFill>
                  <a:schemeClr val="accent2"/>
                </a:solidFill>
              </a:rPr>
              <a:t>反馈，</a:t>
            </a:r>
            <a:r>
              <a:rPr lang="zh-CN" altLang="en-US" sz="2000" dirty="0">
                <a:solidFill>
                  <a:schemeClr val="accent2"/>
                </a:solidFill>
              </a:rPr>
              <a:t>即电流</a:t>
            </a:r>
            <a:r>
              <a:rPr lang="zh-CN" altLang="en-US" sz="2000" dirty="0" smtClean="0">
                <a:solidFill>
                  <a:schemeClr val="accent2"/>
                </a:solidFill>
              </a:rPr>
              <a:t>采样电流反馈（</a:t>
            </a:r>
            <a:r>
              <a:rPr lang="en-US" altLang="zh-CN" sz="2000" dirty="0" smtClean="0">
                <a:solidFill>
                  <a:schemeClr val="accent2"/>
                </a:solidFill>
              </a:rPr>
              <a:t>current-sampling</a:t>
            </a:r>
            <a:r>
              <a:rPr lang="en-US" altLang="zh-CN" sz="2000" dirty="0">
                <a:solidFill>
                  <a:schemeClr val="accent2"/>
                </a:solidFill>
              </a:rPr>
              <a:t>, </a:t>
            </a:r>
            <a:r>
              <a:rPr lang="en-US" altLang="zh-CN" sz="2000" dirty="0" smtClean="0">
                <a:solidFill>
                  <a:schemeClr val="accent2"/>
                </a:solidFill>
              </a:rPr>
              <a:t>current-mixing</a:t>
            </a:r>
            <a:r>
              <a:rPr lang="zh-CN" altLang="en-US" sz="2000" dirty="0" smtClean="0">
                <a:solidFill>
                  <a:schemeClr val="accent2"/>
                </a:solidFill>
              </a:rPr>
              <a:t>）</a:t>
            </a:r>
            <a:r>
              <a:rPr kumimoji="0" lang="zh-CN" altLang="en-US" sz="2000" dirty="0" smtClean="0"/>
              <a:t>。</a:t>
            </a:r>
            <a:endParaRPr kumimoji="0" lang="zh-CN" altLang="en-US" sz="2000" dirty="0"/>
          </a:p>
        </p:txBody>
      </p:sp>
      <p:sp>
        <p:nvSpPr>
          <p:cNvPr id="5" name="矩形 4"/>
          <p:cNvSpPr/>
          <p:nvPr/>
        </p:nvSpPr>
        <p:spPr>
          <a:xfrm>
            <a:off x="2819518" y="5369838"/>
            <a:ext cx="4000262" cy="400110"/>
          </a:xfrm>
          <a:prstGeom prst="rect">
            <a:avLst/>
          </a:prstGeom>
        </p:spPr>
        <p:txBody>
          <a:bodyPr wrap="none">
            <a:spAutoFit/>
          </a:bodyPr>
          <a:lstStyle/>
          <a:p>
            <a:r>
              <a:rPr lang="zh-CN" altLang="en-US" sz="2000" dirty="0" smtClean="0"/>
              <a:t>电流放大器（</a:t>
            </a:r>
            <a:r>
              <a:rPr lang="en-US" altLang="zh-CN" sz="2000" dirty="0"/>
              <a:t>Current </a:t>
            </a:r>
            <a:r>
              <a:rPr lang="en-US" altLang="zh-CN" sz="2000" dirty="0" smtClean="0"/>
              <a:t>Amplifier</a:t>
            </a:r>
            <a:r>
              <a:rPr lang="zh-CN" altLang="en-US" sz="2000" dirty="0" smtClean="0"/>
              <a:t>）</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196"/>
                                        </p:tgtEl>
                                        <p:attrNameLst>
                                          <p:attrName>style.visibility</p:attrName>
                                        </p:attrNameLst>
                                      </p:cBhvr>
                                      <p:to>
                                        <p:strVal val="visible"/>
                                      </p:to>
                                    </p:set>
                                    <p:animEffect transition="in" filter="barn(inVertical)">
                                      <p:cBhvr>
                                        <p:cTn id="7" dur="500"/>
                                        <p:tgtEl>
                                          <p:spTgt spid="819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195"/>
                                        </p:tgtEl>
                                        <p:attrNameLst>
                                          <p:attrName>style.visibility</p:attrName>
                                        </p:attrNameLst>
                                      </p:cBhvr>
                                      <p:to>
                                        <p:strVal val="visible"/>
                                      </p:to>
                                    </p:set>
                                    <p:animEffect transition="in" filter="barn(inVertical)">
                                      <p:cBhvr>
                                        <p:cTn id="12" dur="500"/>
                                        <p:tgtEl>
                                          <p:spTgt spid="8195"/>
                                        </p:tgtEl>
                                      </p:cBhvr>
                                    </p:animEffect>
                                  </p:childTnLst>
                                </p:cTn>
                              </p:par>
                            </p:childTnLst>
                          </p:cTn>
                        </p:par>
                        <p:par>
                          <p:cTn id="13" fill="hold">
                            <p:stCondLst>
                              <p:cond delay="500"/>
                            </p:stCondLst>
                            <p:childTnLst>
                              <p:par>
                                <p:cTn id="14" presetID="16" presetClass="entr" presetSubtype="21"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inVertical)">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741363" y="709613"/>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eaLnBrk="1" hangingPunct="1">
              <a:spcBef>
                <a:spcPct val="50000"/>
              </a:spcBef>
              <a:buFontTx/>
              <a:buNone/>
              <a:defRPr>
                <a:solidFill>
                  <a:srgbClr val="A50021"/>
                </a:solidFill>
              </a:defRPr>
            </a:lvl1pPr>
            <a:lvl2pPr marL="742950" indent="-285750" algn="l" eaLnBrk="0" hangingPunct="0">
              <a:spcBef>
                <a:spcPct val="20000"/>
              </a:spcBef>
              <a:buChar char="–"/>
              <a:defRPr sz="2800"/>
            </a:lvl2pPr>
            <a:lvl3pPr marL="1143000" indent="-228600" algn="l" eaLnBrk="0" hangingPunct="0">
              <a:spcBef>
                <a:spcPct val="20000"/>
              </a:spcBef>
              <a:buChar char="•"/>
            </a:lvl3pPr>
            <a:lvl4pPr marL="1600200" indent="-228600" algn="l" eaLnBrk="0" hangingPunct="0">
              <a:spcBef>
                <a:spcPct val="20000"/>
              </a:spcBef>
              <a:buChar char="–"/>
              <a:defRPr sz="2000"/>
            </a:lvl4pPr>
            <a:lvl5pPr marL="2057400" indent="-228600" algn="l" eaLnBrk="0" hangingPunct="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zh-CN" altLang="en-US" dirty="0" smtClean="0"/>
              <a:t>四、 </a:t>
            </a:r>
            <a:r>
              <a:rPr lang="zh-CN" altLang="en-US" dirty="0"/>
              <a:t>电压采样并联接入</a:t>
            </a:r>
          </a:p>
        </p:txBody>
      </p:sp>
      <p:pic>
        <p:nvPicPr>
          <p:cNvPr id="9219" name="图片 2380"/>
          <p:cNvPicPr>
            <a:picLocks noChangeAspect="1" noChangeArrowheads="1"/>
          </p:cNvPicPr>
          <p:nvPr/>
        </p:nvPicPr>
        <p:blipFill>
          <a:blip r:embed="rId2">
            <a:extLst>
              <a:ext uri="{28A0092B-C50C-407E-A947-70E740481C1C}">
                <a14:useLocalDpi xmlns:a14="http://schemas.microsoft.com/office/drawing/2010/main" val="0"/>
              </a:ext>
            </a:extLst>
          </a:blip>
          <a:srcRect b="12376"/>
          <a:stretch>
            <a:fillRect/>
          </a:stretch>
        </p:blipFill>
        <p:spPr bwMode="auto">
          <a:xfrm>
            <a:off x="1418381" y="2132014"/>
            <a:ext cx="5952382" cy="2921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Rectangle 5"/>
          <p:cNvSpPr>
            <a:spLocks noChangeArrowheads="1"/>
          </p:cNvSpPr>
          <p:nvPr/>
        </p:nvSpPr>
        <p:spPr bwMode="auto">
          <a:xfrm>
            <a:off x="1265238" y="1200981"/>
            <a:ext cx="6526212" cy="95725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0"/>
              </a:spcBef>
              <a:buFontTx/>
              <a:buNone/>
            </a:pPr>
            <a:r>
              <a:rPr kumimoji="0" lang="zh-CN" altLang="en-US" sz="2000" dirty="0"/>
              <a:t>又称为</a:t>
            </a:r>
            <a:r>
              <a:rPr lang="zh-CN" altLang="en-US" sz="2000" dirty="0">
                <a:solidFill>
                  <a:schemeClr val="accent2"/>
                </a:solidFill>
              </a:rPr>
              <a:t>电压并联反馈</a:t>
            </a:r>
            <a:r>
              <a:rPr kumimoji="0" lang="zh-CN" altLang="en-US" sz="2000" dirty="0"/>
              <a:t>，</a:t>
            </a:r>
            <a:r>
              <a:rPr lang="zh-CN" altLang="en-US" sz="2000" dirty="0">
                <a:solidFill>
                  <a:schemeClr val="accent2"/>
                </a:solidFill>
              </a:rPr>
              <a:t>并联并联反馈，</a:t>
            </a:r>
            <a:r>
              <a:rPr lang="zh-CN" altLang="en-US" sz="2000" dirty="0" smtClean="0">
                <a:solidFill>
                  <a:schemeClr val="accent2"/>
                </a:solidFill>
              </a:rPr>
              <a:t>即电压采样</a:t>
            </a:r>
            <a:r>
              <a:rPr lang="zh-CN" altLang="en-US" sz="2000" dirty="0">
                <a:solidFill>
                  <a:schemeClr val="accent2"/>
                </a:solidFill>
              </a:rPr>
              <a:t>电流反馈</a:t>
            </a:r>
            <a:r>
              <a:rPr lang="zh-CN" altLang="en-US" sz="2000" dirty="0" smtClean="0">
                <a:solidFill>
                  <a:schemeClr val="accent2"/>
                </a:solidFill>
              </a:rPr>
              <a:t>（</a:t>
            </a:r>
            <a:r>
              <a:rPr lang="en-US" altLang="zh-CN" sz="2000" dirty="0" smtClean="0">
                <a:solidFill>
                  <a:schemeClr val="accent2"/>
                </a:solidFill>
              </a:rPr>
              <a:t>voltage-sampling</a:t>
            </a:r>
            <a:r>
              <a:rPr lang="en-US" altLang="zh-CN" sz="2000" dirty="0">
                <a:solidFill>
                  <a:schemeClr val="accent2"/>
                </a:solidFill>
              </a:rPr>
              <a:t>, current-mixing</a:t>
            </a:r>
            <a:r>
              <a:rPr lang="zh-CN" altLang="en-US" sz="2000" dirty="0">
                <a:solidFill>
                  <a:schemeClr val="accent2"/>
                </a:solidFill>
              </a:rPr>
              <a:t>） </a:t>
            </a:r>
            <a:r>
              <a:rPr kumimoji="0" lang="zh-CN" altLang="en-US" sz="2000" dirty="0" smtClean="0"/>
              <a:t>。</a:t>
            </a:r>
            <a:endParaRPr kumimoji="0" lang="zh-CN" altLang="en-US" sz="2000" dirty="0"/>
          </a:p>
        </p:txBody>
      </p:sp>
      <p:sp>
        <p:nvSpPr>
          <p:cNvPr id="5" name="矩形 4"/>
          <p:cNvSpPr/>
          <p:nvPr/>
        </p:nvSpPr>
        <p:spPr>
          <a:xfrm>
            <a:off x="2377795" y="5369838"/>
            <a:ext cx="4883709" cy="400110"/>
          </a:xfrm>
          <a:prstGeom prst="rect">
            <a:avLst/>
          </a:prstGeom>
        </p:spPr>
        <p:txBody>
          <a:bodyPr wrap="none">
            <a:spAutoFit/>
          </a:bodyPr>
          <a:lstStyle/>
          <a:p>
            <a:r>
              <a:rPr lang="zh-CN" altLang="en-US" sz="2000" dirty="0" smtClean="0"/>
              <a:t>跨阻放大器（</a:t>
            </a:r>
            <a:r>
              <a:rPr lang="en-US" altLang="zh-CN" sz="2000" dirty="0" err="1" smtClean="0"/>
              <a:t>Transresistance</a:t>
            </a:r>
            <a:r>
              <a:rPr lang="en-US" altLang="zh-CN" sz="2000" dirty="0" smtClean="0"/>
              <a:t>  Amplifier</a:t>
            </a:r>
            <a:r>
              <a:rPr lang="zh-CN" altLang="en-US" sz="2000" dirty="0" smtClean="0"/>
              <a:t>）</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barn(inVertical)">
                                      <p:cBhvr>
                                        <p:cTn id="7" dur="500"/>
                                        <p:tgtEl>
                                          <p:spTgt spid="922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219"/>
                                        </p:tgtEl>
                                        <p:attrNameLst>
                                          <p:attrName>style.visibility</p:attrName>
                                        </p:attrNameLst>
                                      </p:cBhvr>
                                      <p:to>
                                        <p:strVal val="visible"/>
                                      </p:to>
                                    </p:set>
                                    <p:animEffect transition="in" filter="barn(inVertical)">
                                      <p:cBhvr>
                                        <p:cTn id="12" dur="500"/>
                                        <p:tgtEl>
                                          <p:spTgt spid="9219"/>
                                        </p:tgtEl>
                                      </p:cBhvr>
                                    </p:animEffect>
                                  </p:childTnLst>
                                </p:cTn>
                              </p:par>
                            </p:childTnLst>
                          </p:cTn>
                        </p:par>
                        <p:par>
                          <p:cTn id="13" fill="hold">
                            <p:stCondLst>
                              <p:cond delay="500"/>
                            </p:stCondLst>
                            <p:childTnLst>
                              <p:par>
                                <p:cTn id="14" presetID="16" presetClass="entr" presetSubtype="21"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inVertical)">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0242" name="图片 2381"/>
          <p:cNvPicPr>
            <a:picLocks noChangeAspect="1" noChangeArrowheads="1"/>
          </p:cNvPicPr>
          <p:nvPr/>
        </p:nvPicPr>
        <p:blipFill>
          <a:blip r:embed="rId2">
            <a:extLst>
              <a:ext uri="{28A0092B-C50C-407E-A947-70E740481C1C}">
                <a14:useLocalDpi xmlns:a14="http://schemas.microsoft.com/office/drawing/2010/main" val="0"/>
              </a:ext>
            </a:extLst>
          </a:blip>
          <a:srcRect b="19344"/>
          <a:stretch>
            <a:fillRect/>
          </a:stretch>
        </p:blipFill>
        <p:spPr bwMode="auto">
          <a:xfrm>
            <a:off x="1887835" y="2378075"/>
            <a:ext cx="4761905" cy="1920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8"/>
          <p:cNvSpPr>
            <a:spLocks noChangeArrowheads="1"/>
          </p:cNvSpPr>
          <p:nvPr/>
        </p:nvSpPr>
        <p:spPr bwMode="auto">
          <a:xfrm>
            <a:off x="6374448" y="4808538"/>
            <a:ext cx="800100" cy="849948"/>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sp>
        <p:nvSpPr>
          <p:cNvPr id="10244" name="Text Box 3"/>
          <p:cNvSpPr txBox="1">
            <a:spLocks noChangeArrowheads="1"/>
          </p:cNvSpPr>
          <p:nvPr/>
        </p:nvSpPr>
        <p:spPr bwMode="auto">
          <a:xfrm>
            <a:off x="566738" y="642938"/>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smtClean="0">
                <a:solidFill>
                  <a:srgbClr val="990033"/>
                </a:solidFill>
              </a:rPr>
              <a:t>11.1.3  </a:t>
            </a:r>
            <a:r>
              <a:rPr lang="zh-CN" altLang="en-US" sz="2400" dirty="0">
                <a:solidFill>
                  <a:srgbClr val="A50021"/>
                </a:solidFill>
              </a:rPr>
              <a:t>负反馈对放大器性能的影响</a:t>
            </a:r>
          </a:p>
        </p:txBody>
      </p:sp>
      <p:sp>
        <p:nvSpPr>
          <p:cNvPr id="10245" name="Text Box 4"/>
          <p:cNvSpPr txBox="1">
            <a:spLocks noChangeArrowheads="1"/>
          </p:cNvSpPr>
          <p:nvPr/>
        </p:nvSpPr>
        <p:spPr bwMode="auto">
          <a:xfrm>
            <a:off x="915987" y="1354138"/>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eaLnBrk="1" hangingPunct="1">
              <a:spcBef>
                <a:spcPct val="50000"/>
              </a:spcBef>
              <a:buFontTx/>
              <a:buNone/>
              <a:defRPr>
                <a:solidFill>
                  <a:srgbClr val="990033"/>
                </a:solidFill>
              </a:defRPr>
            </a:lvl1pPr>
            <a:lvl2pPr marL="742950" indent="-285750" algn="l" eaLnBrk="0" hangingPunct="0">
              <a:spcBef>
                <a:spcPct val="20000"/>
              </a:spcBef>
              <a:buChar char="–"/>
              <a:defRPr sz="2800"/>
            </a:lvl2pPr>
            <a:lvl3pPr marL="1143000" indent="-228600" algn="l" eaLnBrk="0" hangingPunct="0">
              <a:spcBef>
                <a:spcPct val="20000"/>
              </a:spcBef>
              <a:buChar char="•"/>
            </a:lvl3pPr>
            <a:lvl4pPr marL="1600200" indent="-228600" algn="l" eaLnBrk="0" hangingPunct="0">
              <a:spcBef>
                <a:spcPct val="20000"/>
              </a:spcBef>
              <a:buChar char="–"/>
              <a:defRPr sz="2000"/>
            </a:lvl4pPr>
            <a:lvl5pPr marL="2057400" indent="-228600" algn="l" eaLnBrk="0" hangingPunct="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zh-CN" altLang="en-US" dirty="0" smtClean="0"/>
              <a:t>一、</a:t>
            </a:r>
            <a:r>
              <a:rPr lang="zh-CN" altLang="en-US" dirty="0"/>
              <a:t>负反馈网络对放大器增益的影响</a:t>
            </a:r>
          </a:p>
        </p:txBody>
      </p:sp>
      <p:pic>
        <p:nvPicPr>
          <p:cNvPr id="10246" name="图片 253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79563" y="4846638"/>
            <a:ext cx="5623560" cy="822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animEffect transition="in" filter="barn(inVertical)">
                                      <p:cBhvr>
                                        <p:cTn id="7" dur="500"/>
                                        <p:tgtEl>
                                          <p:spTgt spid="1024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242"/>
                                        </p:tgtEl>
                                        <p:attrNameLst>
                                          <p:attrName>style.visibility</p:attrName>
                                        </p:attrNameLst>
                                      </p:cBhvr>
                                      <p:to>
                                        <p:strVal val="visible"/>
                                      </p:to>
                                    </p:set>
                                    <p:animEffect transition="in" filter="barn(inVertical)">
                                      <p:cBhvr>
                                        <p:cTn id="12" dur="500"/>
                                        <p:tgtEl>
                                          <p:spTgt spid="1024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0246"/>
                                        </p:tgtEl>
                                        <p:attrNameLst>
                                          <p:attrName>style.visibility</p:attrName>
                                        </p:attrNameLst>
                                      </p:cBhvr>
                                      <p:to>
                                        <p:strVal val="visible"/>
                                      </p:to>
                                    </p:set>
                                    <p:animEffect transition="in" filter="barn(inVertical)">
                                      <p:cBhvr>
                                        <p:cTn id="17" dur="500"/>
                                        <p:tgtEl>
                                          <p:spTgt spid="10246"/>
                                        </p:tgtEl>
                                      </p:cBhvr>
                                    </p:animEffect>
                                  </p:childTnLst>
                                </p:cTn>
                              </p:par>
                            </p:childTnLst>
                          </p:cTn>
                        </p:par>
                        <p:par>
                          <p:cTn id="18" fill="hold">
                            <p:stCondLst>
                              <p:cond delay="500"/>
                            </p:stCondLst>
                            <p:childTnLst>
                              <p:par>
                                <p:cTn id="19" presetID="16" presetClass="entr" presetSubtype="21" fill="hold" grpId="0" nodeType="afterEffect">
                                  <p:stCondLst>
                                    <p:cond delay="0"/>
                                  </p:stCondLst>
                                  <p:childTnLst>
                                    <p:set>
                                      <p:cBhvr>
                                        <p:cTn id="20" dur="1" fill="hold">
                                          <p:stCondLst>
                                            <p:cond delay="0"/>
                                          </p:stCondLst>
                                        </p:cTn>
                                        <p:tgtEl>
                                          <p:spTgt spid="10243"/>
                                        </p:tgtEl>
                                        <p:attrNameLst>
                                          <p:attrName>style.visibility</p:attrName>
                                        </p:attrNameLst>
                                      </p:cBhvr>
                                      <p:to>
                                        <p:strVal val="visible"/>
                                      </p:to>
                                    </p:set>
                                    <p:animEffect transition="in" filter="barn(inVertical)">
                                      <p:cBhvr>
                                        <p:cTn id="21" dur="500"/>
                                        <p:tgtEl>
                                          <p:spTgt spid="10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animBg="1"/>
      <p:bldP spid="10245"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Text Box 28"/>
          <p:cNvSpPr txBox="1">
            <a:spLocks noChangeArrowheads="1"/>
          </p:cNvSpPr>
          <p:nvPr/>
        </p:nvSpPr>
        <p:spPr bwMode="auto">
          <a:xfrm>
            <a:off x="1390650" y="1925638"/>
            <a:ext cx="1541462"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a:t>闭环增益</a:t>
            </a:r>
          </a:p>
        </p:txBody>
      </p:sp>
      <p:graphicFrame>
        <p:nvGraphicFramePr>
          <p:cNvPr id="11267" name="Object 29"/>
          <p:cNvGraphicFramePr>
            <a:graphicFrameLocks noChangeAspect="1"/>
          </p:cNvGraphicFramePr>
          <p:nvPr>
            <p:extLst>
              <p:ext uri="{D42A27DB-BD31-4B8C-83A1-F6EECF244321}">
                <p14:modId xmlns:p14="http://schemas.microsoft.com/office/powerpoint/2010/main" val="2277402746"/>
              </p:ext>
            </p:extLst>
          </p:nvPr>
        </p:nvGraphicFramePr>
        <p:xfrm>
          <a:off x="3427413" y="760413"/>
          <a:ext cx="1416704" cy="708352"/>
        </p:xfrm>
        <a:graphic>
          <a:graphicData uri="http://schemas.openxmlformats.org/presentationml/2006/ole">
            <mc:AlternateContent xmlns:mc="http://schemas.openxmlformats.org/markup-compatibility/2006">
              <mc:Choice xmlns:v="urn:schemas-microsoft-com:vml" Requires="v">
                <p:oleObj spid="_x0000_s105220" name="Equation" r:id="rId3" imgW="787058" imgH="393529" progId="Equation.DSMT4">
                  <p:embed/>
                </p:oleObj>
              </mc:Choice>
              <mc:Fallback>
                <p:oleObj name="Equation" r:id="rId3" imgW="787058" imgH="393529" progId="Equation.DSMT4">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7413" y="760413"/>
                        <a:ext cx="1416704" cy="708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8" name="Object 30"/>
          <p:cNvGraphicFramePr>
            <a:graphicFrameLocks noChangeAspect="1"/>
          </p:cNvGraphicFramePr>
          <p:nvPr>
            <p:extLst>
              <p:ext uri="{D42A27DB-BD31-4B8C-83A1-F6EECF244321}">
                <p14:modId xmlns:p14="http://schemas.microsoft.com/office/powerpoint/2010/main" val="1989383647"/>
              </p:ext>
            </p:extLst>
          </p:nvPr>
        </p:nvGraphicFramePr>
        <p:xfrm>
          <a:off x="2793762" y="1910677"/>
          <a:ext cx="365602" cy="434151"/>
        </p:xfrm>
        <a:graphic>
          <a:graphicData uri="http://schemas.openxmlformats.org/presentationml/2006/ole">
            <mc:AlternateContent xmlns:mc="http://schemas.openxmlformats.org/markup-compatibility/2006">
              <mc:Choice xmlns:v="urn:schemas-microsoft-com:vml" Requires="v">
                <p:oleObj spid="_x0000_s105221" name="Equation" r:id="rId5" imgW="203112" imgH="241195" progId="Equation.DSMT4">
                  <p:embed/>
                </p:oleObj>
              </mc:Choice>
              <mc:Fallback>
                <p:oleObj name="Equation" r:id="rId5" imgW="203112" imgH="241195" progId="Equation.DSMT4">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3762" y="1910677"/>
                        <a:ext cx="365602" cy="434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9" name="Text Box 31"/>
          <p:cNvSpPr txBox="1">
            <a:spLocks noChangeArrowheads="1"/>
          </p:cNvSpPr>
          <p:nvPr/>
        </p:nvSpPr>
        <p:spPr bwMode="auto">
          <a:xfrm>
            <a:off x="1390650" y="2801938"/>
            <a:ext cx="154146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a:t>开环增益</a:t>
            </a:r>
          </a:p>
        </p:txBody>
      </p:sp>
      <p:graphicFrame>
        <p:nvGraphicFramePr>
          <p:cNvPr id="11270" name="Object 32"/>
          <p:cNvGraphicFramePr>
            <a:graphicFrameLocks noChangeAspect="1"/>
          </p:cNvGraphicFramePr>
          <p:nvPr>
            <p:extLst>
              <p:ext uri="{D42A27DB-BD31-4B8C-83A1-F6EECF244321}">
                <p14:modId xmlns:p14="http://schemas.microsoft.com/office/powerpoint/2010/main" val="3972325490"/>
              </p:ext>
            </p:extLst>
          </p:nvPr>
        </p:nvGraphicFramePr>
        <p:xfrm>
          <a:off x="2839522" y="2824193"/>
          <a:ext cx="274082" cy="296923"/>
        </p:xfrm>
        <a:graphic>
          <a:graphicData uri="http://schemas.openxmlformats.org/presentationml/2006/ole">
            <mc:AlternateContent xmlns:mc="http://schemas.openxmlformats.org/markup-compatibility/2006">
              <mc:Choice xmlns:v="urn:schemas-microsoft-com:vml" Requires="v">
                <p:oleObj spid="_x0000_s105222" name="Equation" r:id="rId7" imgW="152268" imgH="164957" progId="Equation.DSMT4">
                  <p:embed/>
                </p:oleObj>
              </mc:Choice>
              <mc:Fallback>
                <p:oleObj name="Equation" r:id="rId7" imgW="152268" imgH="164957" progId="Equation.DSMT4">
                  <p:embed/>
                  <p:pic>
                    <p:nvPicPr>
                      <p:cNvPr id="0" name="Object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9522" y="2824193"/>
                        <a:ext cx="274082" cy="2969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1" name="Text Box 33"/>
          <p:cNvSpPr txBox="1">
            <a:spLocks noChangeArrowheads="1"/>
          </p:cNvSpPr>
          <p:nvPr/>
        </p:nvSpPr>
        <p:spPr bwMode="auto">
          <a:xfrm>
            <a:off x="1390650" y="3687763"/>
            <a:ext cx="1242191"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a:t>反馈系数</a:t>
            </a:r>
          </a:p>
        </p:txBody>
      </p:sp>
      <p:graphicFrame>
        <p:nvGraphicFramePr>
          <p:cNvPr id="11272" name="Object 34"/>
          <p:cNvGraphicFramePr>
            <a:graphicFrameLocks noChangeAspect="1"/>
          </p:cNvGraphicFramePr>
          <p:nvPr>
            <p:extLst>
              <p:ext uri="{D42A27DB-BD31-4B8C-83A1-F6EECF244321}">
                <p14:modId xmlns:p14="http://schemas.microsoft.com/office/powerpoint/2010/main" val="1906608671"/>
              </p:ext>
            </p:extLst>
          </p:nvPr>
        </p:nvGraphicFramePr>
        <p:xfrm>
          <a:off x="2828166" y="3739421"/>
          <a:ext cx="296793" cy="296793"/>
        </p:xfrm>
        <a:graphic>
          <a:graphicData uri="http://schemas.openxmlformats.org/presentationml/2006/ole">
            <mc:AlternateContent xmlns:mc="http://schemas.openxmlformats.org/markup-compatibility/2006">
              <mc:Choice xmlns:v="urn:schemas-microsoft-com:vml" Requires="v">
                <p:oleObj spid="_x0000_s105223" name="Equation" r:id="rId9" imgW="164885" imgH="164885" progId="Equation.DSMT4">
                  <p:embed/>
                </p:oleObj>
              </mc:Choice>
              <mc:Fallback>
                <p:oleObj name="Equation" r:id="rId9" imgW="164885" imgH="164885" progId="Equation.DSMT4">
                  <p:embed/>
                  <p:pic>
                    <p:nvPicPr>
                      <p:cNvPr id="0" name="Object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28166" y="3739421"/>
                        <a:ext cx="296793" cy="2967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3" name="Text Box 35"/>
          <p:cNvSpPr txBox="1">
            <a:spLocks noChangeArrowheads="1"/>
          </p:cNvSpPr>
          <p:nvPr/>
        </p:nvSpPr>
        <p:spPr bwMode="auto">
          <a:xfrm>
            <a:off x="4759325" y="1990725"/>
            <a:ext cx="154146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a:t>环路增益</a:t>
            </a:r>
          </a:p>
        </p:txBody>
      </p:sp>
      <p:graphicFrame>
        <p:nvGraphicFramePr>
          <p:cNvPr id="11274" name="Object 36"/>
          <p:cNvGraphicFramePr>
            <a:graphicFrameLocks noChangeAspect="1"/>
          </p:cNvGraphicFramePr>
          <p:nvPr>
            <p:extLst>
              <p:ext uri="{D42A27DB-BD31-4B8C-83A1-F6EECF244321}">
                <p14:modId xmlns:p14="http://schemas.microsoft.com/office/powerpoint/2010/main" val="1640596163"/>
              </p:ext>
            </p:extLst>
          </p:nvPr>
        </p:nvGraphicFramePr>
        <p:xfrm>
          <a:off x="6300788" y="2042383"/>
          <a:ext cx="479435" cy="296793"/>
        </p:xfrm>
        <a:graphic>
          <a:graphicData uri="http://schemas.openxmlformats.org/presentationml/2006/ole">
            <mc:AlternateContent xmlns:mc="http://schemas.openxmlformats.org/markup-compatibility/2006">
              <mc:Choice xmlns:v="urn:schemas-microsoft-com:vml" Requires="v">
                <p:oleObj spid="_x0000_s105224" name="Equation" r:id="rId11" imgW="266353" imgH="164885" progId="Equation.DSMT4">
                  <p:embed/>
                </p:oleObj>
              </mc:Choice>
              <mc:Fallback>
                <p:oleObj name="Equation" r:id="rId11" imgW="266353" imgH="164885" progId="Equation.DSMT4">
                  <p:embed/>
                  <p:pic>
                    <p:nvPicPr>
                      <p:cNvPr id="0" name="Object 3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00788" y="2042383"/>
                        <a:ext cx="479435" cy="2967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5" name="Text Box 37"/>
          <p:cNvSpPr txBox="1">
            <a:spLocks noChangeArrowheads="1"/>
          </p:cNvSpPr>
          <p:nvPr/>
        </p:nvSpPr>
        <p:spPr bwMode="auto">
          <a:xfrm>
            <a:off x="4411663" y="2921000"/>
            <a:ext cx="1889125" cy="70788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a:t>反馈量</a:t>
            </a:r>
          </a:p>
          <a:p>
            <a:pPr algn="ctr" eaLnBrk="1" hangingPunct="1">
              <a:spcBef>
                <a:spcPct val="0"/>
              </a:spcBef>
              <a:buFontTx/>
              <a:buNone/>
            </a:pPr>
            <a:r>
              <a:rPr lang="zh-CN" altLang="en-US" sz="2000" dirty="0"/>
              <a:t>（反馈深度）</a:t>
            </a:r>
          </a:p>
        </p:txBody>
      </p:sp>
      <p:graphicFrame>
        <p:nvGraphicFramePr>
          <p:cNvPr id="11276" name="Object 38"/>
          <p:cNvGraphicFramePr>
            <a:graphicFrameLocks noChangeAspect="1"/>
          </p:cNvGraphicFramePr>
          <p:nvPr>
            <p:extLst>
              <p:ext uri="{D42A27DB-BD31-4B8C-83A1-F6EECF244321}">
                <p14:modId xmlns:p14="http://schemas.microsoft.com/office/powerpoint/2010/main" val="3396825691"/>
              </p:ext>
            </p:extLst>
          </p:nvPr>
        </p:nvGraphicFramePr>
        <p:xfrm>
          <a:off x="6384925" y="3106768"/>
          <a:ext cx="799405" cy="296923"/>
        </p:xfrm>
        <a:graphic>
          <a:graphicData uri="http://schemas.openxmlformats.org/presentationml/2006/ole">
            <mc:AlternateContent xmlns:mc="http://schemas.openxmlformats.org/markup-compatibility/2006">
              <mc:Choice xmlns:v="urn:schemas-microsoft-com:vml" Requires="v">
                <p:oleObj spid="_x0000_s105225" name="Equation" r:id="rId13" imgW="444114" imgH="164957" progId="Equation.DSMT4">
                  <p:embed/>
                </p:oleObj>
              </mc:Choice>
              <mc:Fallback>
                <p:oleObj name="Equation" r:id="rId13" imgW="444114" imgH="164957" progId="Equation.DSMT4">
                  <p:embed/>
                  <p:pic>
                    <p:nvPicPr>
                      <p:cNvPr id="0" name="Object 3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84925" y="3106768"/>
                        <a:ext cx="799405" cy="296923"/>
                      </a:xfrm>
                      <a:prstGeom prst="rect">
                        <a:avLst/>
                      </a:prstGeom>
                      <a:noFill/>
                      <a:ln>
                        <a:noFill/>
                      </a:ln>
                      <a:effectLst/>
                      <a:extLst/>
                    </p:spPr>
                  </p:pic>
                </p:oleObj>
              </mc:Fallback>
            </mc:AlternateContent>
          </a:graphicData>
        </a:graphic>
      </p:graphicFrame>
      <p:sp>
        <p:nvSpPr>
          <p:cNvPr id="626727" name="Text Box 39"/>
          <p:cNvSpPr txBox="1">
            <a:spLocks noChangeArrowheads="1"/>
          </p:cNvSpPr>
          <p:nvPr/>
        </p:nvSpPr>
        <p:spPr bwMode="auto">
          <a:xfrm>
            <a:off x="1390650" y="4529138"/>
            <a:ext cx="5010150"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a:t>深度负反馈时，</a:t>
            </a:r>
          </a:p>
        </p:txBody>
      </p:sp>
      <p:graphicFrame>
        <p:nvGraphicFramePr>
          <p:cNvPr id="626729" name="Object 41"/>
          <p:cNvGraphicFramePr>
            <a:graphicFrameLocks noChangeAspect="1"/>
          </p:cNvGraphicFramePr>
          <p:nvPr>
            <p:extLst>
              <p:ext uri="{D42A27DB-BD31-4B8C-83A1-F6EECF244321}">
                <p14:modId xmlns:p14="http://schemas.microsoft.com/office/powerpoint/2010/main" val="2047234768"/>
              </p:ext>
            </p:extLst>
          </p:nvPr>
        </p:nvGraphicFramePr>
        <p:xfrm>
          <a:off x="3498850" y="4580762"/>
          <a:ext cx="1301750" cy="296862"/>
        </p:xfrm>
        <a:graphic>
          <a:graphicData uri="http://schemas.openxmlformats.org/presentationml/2006/ole">
            <mc:AlternateContent xmlns:mc="http://schemas.openxmlformats.org/markup-compatibility/2006">
              <mc:Choice xmlns:v="urn:schemas-microsoft-com:vml" Requires="v">
                <p:oleObj spid="_x0000_s105226" name="Equation" r:id="rId15" imgW="723600" imgH="164880" progId="Equation.DSMT4">
                  <p:embed/>
                </p:oleObj>
              </mc:Choice>
              <mc:Fallback>
                <p:oleObj name="Equation" r:id="rId15" imgW="723600" imgH="164880" progId="Equation.DSMT4">
                  <p:embed/>
                  <p:pic>
                    <p:nvPicPr>
                      <p:cNvPr id="0" name="Object 41"/>
                      <p:cNvPicPr>
                        <a:picLocks noChangeAspect="1" noChangeArrowheads="1"/>
                      </p:cNvPicPr>
                      <p:nvPr/>
                    </p:nvPicPr>
                    <p:blipFill>
                      <a:blip r:embed="rId16"/>
                      <a:srcRect/>
                      <a:stretch>
                        <a:fillRect/>
                      </a:stretch>
                    </p:blipFill>
                    <p:spPr bwMode="auto">
                      <a:xfrm>
                        <a:off x="3498850" y="4580762"/>
                        <a:ext cx="1301750" cy="296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6730" name="AutoShape 42"/>
          <p:cNvSpPr>
            <a:spLocks noChangeArrowheads="1"/>
          </p:cNvSpPr>
          <p:nvPr/>
        </p:nvSpPr>
        <p:spPr bwMode="auto">
          <a:xfrm rot="2674370">
            <a:off x="4905375" y="5110163"/>
            <a:ext cx="595313" cy="174625"/>
          </a:xfrm>
          <a:prstGeom prst="rightArrow">
            <a:avLst>
              <a:gd name="adj1" fmla="val 50000"/>
              <a:gd name="adj2" fmla="val 85227"/>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000"/>
          </a:p>
        </p:txBody>
      </p:sp>
      <p:graphicFrame>
        <p:nvGraphicFramePr>
          <p:cNvPr id="626731" name="Object 43"/>
          <p:cNvGraphicFramePr>
            <a:graphicFrameLocks noChangeAspect="1"/>
          </p:cNvGraphicFramePr>
          <p:nvPr>
            <p:extLst>
              <p:ext uri="{D42A27DB-BD31-4B8C-83A1-F6EECF244321}">
                <p14:modId xmlns:p14="http://schemas.microsoft.com/office/powerpoint/2010/main" val="147477644"/>
              </p:ext>
            </p:extLst>
          </p:nvPr>
        </p:nvGraphicFramePr>
        <p:xfrm>
          <a:off x="5201920" y="5394325"/>
          <a:ext cx="2651760" cy="708660"/>
        </p:xfrm>
        <a:graphic>
          <a:graphicData uri="http://schemas.openxmlformats.org/presentationml/2006/ole">
            <mc:AlternateContent xmlns:mc="http://schemas.openxmlformats.org/markup-compatibility/2006">
              <mc:Choice xmlns:v="urn:schemas-microsoft-com:vml" Requires="v">
                <p:oleObj spid="_x0000_s105227" name="Equation" r:id="rId17" imgW="1473200" imgH="393700" progId="Equation.DSMT4">
                  <p:embed/>
                </p:oleObj>
              </mc:Choice>
              <mc:Fallback>
                <p:oleObj name="Equation" r:id="rId17" imgW="1473200" imgH="393700" progId="Equation.DSMT4">
                  <p:embed/>
                  <p:pic>
                    <p:nvPicPr>
                      <p:cNvPr id="0" name="Object 4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201920" y="5394325"/>
                        <a:ext cx="2651760" cy="7086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Text Box 33"/>
          <p:cNvSpPr txBox="1">
            <a:spLocks noChangeArrowheads="1"/>
          </p:cNvSpPr>
          <p:nvPr/>
        </p:nvSpPr>
        <p:spPr bwMode="auto">
          <a:xfrm>
            <a:off x="3077564" y="3702190"/>
            <a:ext cx="2424598"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smtClean="0"/>
              <a:t>（或       ）</a:t>
            </a:r>
            <a:endParaRPr lang="zh-CN" altLang="en-US" sz="2000" dirty="0"/>
          </a:p>
        </p:txBody>
      </p:sp>
      <p:graphicFrame>
        <p:nvGraphicFramePr>
          <p:cNvPr id="18" name="Object 34"/>
          <p:cNvGraphicFramePr>
            <a:graphicFrameLocks noChangeAspect="1"/>
          </p:cNvGraphicFramePr>
          <p:nvPr>
            <p:extLst>
              <p:ext uri="{D42A27DB-BD31-4B8C-83A1-F6EECF244321}">
                <p14:modId xmlns:p14="http://schemas.microsoft.com/office/powerpoint/2010/main" val="3800171110"/>
              </p:ext>
            </p:extLst>
          </p:nvPr>
        </p:nvGraphicFramePr>
        <p:xfrm>
          <a:off x="3774414" y="3713887"/>
          <a:ext cx="274638" cy="365125"/>
        </p:xfrm>
        <a:graphic>
          <a:graphicData uri="http://schemas.openxmlformats.org/presentationml/2006/ole">
            <mc:AlternateContent xmlns:mc="http://schemas.openxmlformats.org/markup-compatibility/2006">
              <mc:Choice xmlns:v="urn:schemas-microsoft-com:vml" Requires="v">
                <p:oleObj spid="_x0000_s105228" name="Equation" r:id="rId19" imgW="152280" imgH="203040" progId="Equation.DSMT4">
                  <p:embed/>
                </p:oleObj>
              </mc:Choice>
              <mc:Fallback>
                <p:oleObj name="Equation" r:id="rId19" imgW="152280" imgH="203040" progId="Equation.DSMT4">
                  <p:embed/>
                  <p:pic>
                    <p:nvPicPr>
                      <p:cNvPr id="0" name=""/>
                      <p:cNvPicPr>
                        <a:picLocks noChangeAspect="1" noChangeArrowheads="1"/>
                      </p:cNvPicPr>
                      <p:nvPr/>
                    </p:nvPicPr>
                    <p:blipFill>
                      <a:blip r:embed="rId20"/>
                      <a:srcRect/>
                      <a:stretch>
                        <a:fillRect/>
                      </a:stretch>
                    </p:blipFill>
                    <p:spPr bwMode="auto">
                      <a:xfrm>
                        <a:off x="3774414" y="3713887"/>
                        <a:ext cx="274638"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barn(inVertical)">
                                      <p:cBhvr>
                                        <p:cTn id="7" dur="500"/>
                                        <p:tgtEl>
                                          <p:spTgt spid="11266"/>
                                        </p:tgtEl>
                                      </p:cBhvr>
                                    </p:animEffect>
                                  </p:childTnLst>
                                </p:cTn>
                              </p:par>
                              <p:par>
                                <p:cTn id="8" presetID="16" presetClass="entr" presetSubtype="21" fill="hold" nodeType="withEffect">
                                  <p:stCondLst>
                                    <p:cond delay="0"/>
                                  </p:stCondLst>
                                  <p:childTnLst>
                                    <p:set>
                                      <p:cBhvr>
                                        <p:cTn id="9" dur="1" fill="hold">
                                          <p:stCondLst>
                                            <p:cond delay="0"/>
                                          </p:stCondLst>
                                        </p:cTn>
                                        <p:tgtEl>
                                          <p:spTgt spid="11268"/>
                                        </p:tgtEl>
                                        <p:attrNameLst>
                                          <p:attrName>style.visibility</p:attrName>
                                        </p:attrNameLst>
                                      </p:cBhvr>
                                      <p:to>
                                        <p:strVal val="visible"/>
                                      </p:to>
                                    </p:set>
                                    <p:animEffect transition="in" filter="barn(inVertical)">
                                      <p:cBhvr>
                                        <p:cTn id="10" dur="500"/>
                                        <p:tgtEl>
                                          <p:spTgt spid="11268"/>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1269"/>
                                        </p:tgtEl>
                                        <p:attrNameLst>
                                          <p:attrName>style.visibility</p:attrName>
                                        </p:attrNameLst>
                                      </p:cBhvr>
                                      <p:to>
                                        <p:strVal val="visible"/>
                                      </p:to>
                                    </p:set>
                                    <p:animEffect transition="in" filter="barn(inVertical)">
                                      <p:cBhvr>
                                        <p:cTn id="13" dur="500"/>
                                        <p:tgtEl>
                                          <p:spTgt spid="11269"/>
                                        </p:tgtEl>
                                      </p:cBhvr>
                                    </p:animEffect>
                                  </p:childTnLst>
                                </p:cTn>
                              </p:par>
                              <p:par>
                                <p:cTn id="14" presetID="16" presetClass="entr" presetSubtype="21" fill="hold" nodeType="withEffect">
                                  <p:stCondLst>
                                    <p:cond delay="0"/>
                                  </p:stCondLst>
                                  <p:childTnLst>
                                    <p:set>
                                      <p:cBhvr>
                                        <p:cTn id="15" dur="1" fill="hold">
                                          <p:stCondLst>
                                            <p:cond delay="0"/>
                                          </p:stCondLst>
                                        </p:cTn>
                                        <p:tgtEl>
                                          <p:spTgt spid="11270"/>
                                        </p:tgtEl>
                                        <p:attrNameLst>
                                          <p:attrName>style.visibility</p:attrName>
                                        </p:attrNameLst>
                                      </p:cBhvr>
                                      <p:to>
                                        <p:strVal val="visible"/>
                                      </p:to>
                                    </p:set>
                                    <p:animEffect transition="in" filter="barn(inVertical)">
                                      <p:cBhvr>
                                        <p:cTn id="16" dur="500"/>
                                        <p:tgtEl>
                                          <p:spTgt spid="11270"/>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11271"/>
                                        </p:tgtEl>
                                        <p:attrNameLst>
                                          <p:attrName>style.visibility</p:attrName>
                                        </p:attrNameLst>
                                      </p:cBhvr>
                                      <p:to>
                                        <p:strVal val="visible"/>
                                      </p:to>
                                    </p:set>
                                    <p:animEffect transition="in" filter="barn(inVertical)">
                                      <p:cBhvr>
                                        <p:cTn id="19" dur="500"/>
                                        <p:tgtEl>
                                          <p:spTgt spid="11271"/>
                                        </p:tgtEl>
                                      </p:cBhvr>
                                    </p:animEffect>
                                  </p:childTnLst>
                                </p:cTn>
                              </p:par>
                              <p:par>
                                <p:cTn id="20" presetID="16" presetClass="entr" presetSubtype="21" fill="hold" nodeType="withEffect">
                                  <p:stCondLst>
                                    <p:cond delay="0"/>
                                  </p:stCondLst>
                                  <p:childTnLst>
                                    <p:set>
                                      <p:cBhvr>
                                        <p:cTn id="21" dur="1" fill="hold">
                                          <p:stCondLst>
                                            <p:cond delay="0"/>
                                          </p:stCondLst>
                                        </p:cTn>
                                        <p:tgtEl>
                                          <p:spTgt spid="11272"/>
                                        </p:tgtEl>
                                        <p:attrNameLst>
                                          <p:attrName>style.visibility</p:attrName>
                                        </p:attrNameLst>
                                      </p:cBhvr>
                                      <p:to>
                                        <p:strVal val="visible"/>
                                      </p:to>
                                    </p:set>
                                    <p:animEffect transition="in" filter="barn(inVertical)">
                                      <p:cBhvr>
                                        <p:cTn id="22" dur="500"/>
                                        <p:tgtEl>
                                          <p:spTgt spid="11272"/>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1273"/>
                                        </p:tgtEl>
                                        <p:attrNameLst>
                                          <p:attrName>style.visibility</p:attrName>
                                        </p:attrNameLst>
                                      </p:cBhvr>
                                      <p:to>
                                        <p:strVal val="visible"/>
                                      </p:to>
                                    </p:set>
                                    <p:animEffect transition="in" filter="barn(inVertical)">
                                      <p:cBhvr>
                                        <p:cTn id="25" dur="500"/>
                                        <p:tgtEl>
                                          <p:spTgt spid="11273"/>
                                        </p:tgtEl>
                                      </p:cBhvr>
                                    </p:animEffect>
                                  </p:childTnLst>
                                </p:cTn>
                              </p:par>
                              <p:par>
                                <p:cTn id="26" presetID="16" presetClass="entr" presetSubtype="21" fill="hold" nodeType="withEffect">
                                  <p:stCondLst>
                                    <p:cond delay="0"/>
                                  </p:stCondLst>
                                  <p:childTnLst>
                                    <p:set>
                                      <p:cBhvr>
                                        <p:cTn id="27" dur="1" fill="hold">
                                          <p:stCondLst>
                                            <p:cond delay="0"/>
                                          </p:stCondLst>
                                        </p:cTn>
                                        <p:tgtEl>
                                          <p:spTgt spid="11274"/>
                                        </p:tgtEl>
                                        <p:attrNameLst>
                                          <p:attrName>style.visibility</p:attrName>
                                        </p:attrNameLst>
                                      </p:cBhvr>
                                      <p:to>
                                        <p:strVal val="visible"/>
                                      </p:to>
                                    </p:set>
                                    <p:animEffect transition="in" filter="barn(inVertical)">
                                      <p:cBhvr>
                                        <p:cTn id="28" dur="500"/>
                                        <p:tgtEl>
                                          <p:spTgt spid="11274"/>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1275"/>
                                        </p:tgtEl>
                                        <p:attrNameLst>
                                          <p:attrName>style.visibility</p:attrName>
                                        </p:attrNameLst>
                                      </p:cBhvr>
                                      <p:to>
                                        <p:strVal val="visible"/>
                                      </p:to>
                                    </p:set>
                                    <p:animEffect transition="in" filter="barn(inVertical)">
                                      <p:cBhvr>
                                        <p:cTn id="31" dur="500"/>
                                        <p:tgtEl>
                                          <p:spTgt spid="11275"/>
                                        </p:tgtEl>
                                      </p:cBhvr>
                                    </p:animEffect>
                                  </p:childTnLst>
                                </p:cTn>
                              </p:par>
                              <p:par>
                                <p:cTn id="32" presetID="16" presetClass="entr" presetSubtype="21" fill="hold" nodeType="withEffect">
                                  <p:stCondLst>
                                    <p:cond delay="0"/>
                                  </p:stCondLst>
                                  <p:childTnLst>
                                    <p:set>
                                      <p:cBhvr>
                                        <p:cTn id="33" dur="1" fill="hold">
                                          <p:stCondLst>
                                            <p:cond delay="0"/>
                                          </p:stCondLst>
                                        </p:cTn>
                                        <p:tgtEl>
                                          <p:spTgt spid="11276"/>
                                        </p:tgtEl>
                                        <p:attrNameLst>
                                          <p:attrName>style.visibility</p:attrName>
                                        </p:attrNameLst>
                                      </p:cBhvr>
                                      <p:to>
                                        <p:strVal val="visible"/>
                                      </p:to>
                                    </p:set>
                                    <p:animEffect transition="in" filter="barn(inVertical)">
                                      <p:cBhvr>
                                        <p:cTn id="34" dur="500"/>
                                        <p:tgtEl>
                                          <p:spTgt spid="11276"/>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barn(inVertical)">
                                      <p:cBhvr>
                                        <p:cTn id="37" dur="500"/>
                                        <p:tgtEl>
                                          <p:spTgt spid="17"/>
                                        </p:tgtEl>
                                      </p:cBhvr>
                                    </p:animEffect>
                                  </p:childTnLst>
                                </p:cTn>
                              </p:par>
                              <p:par>
                                <p:cTn id="38" presetID="16" presetClass="entr" presetSubtype="21" fill="hold"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barn(inVertical)">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626727"/>
                                        </p:tgtEl>
                                        <p:attrNameLst>
                                          <p:attrName>style.visibility</p:attrName>
                                        </p:attrNameLst>
                                      </p:cBhvr>
                                      <p:to>
                                        <p:strVal val="visible"/>
                                      </p:to>
                                    </p:set>
                                    <p:animEffect transition="in" filter="barn(inVertical)">
                                      <p:cBhvr>
                                        <p:cTn id="45" dur="500"/>
                                        <p:tgtEl>
                                          <p:spTgt spid="626727"/>
                                        </p:tgtEl>
                                      </p:cBhvr>
                                    </p:animEffect>
                                  </p:childTnLst>
                                </p:cTn>
                              </p:par>
                              <p:par>
                                <p:cTn id="46" presetID="16" presetClass="entr" presetSubtype="21" fill="hold" nodeType="withEffect">
                                  <p:stCondLst>
                                    <p:cond delay="0"/>
                                  </p:stCondLst>
                                  <p:childTnLst>
                                    <p:set>
                                      <p:cBhvr>
                                        <p:cTn id="47" dur="1" fill="hold">
                                          <p:stCondLst>
                                            <p:cond delay="0"/>
                                          </p:stCondLst>
                                        </p:cTn>
                                        <p:tgtEl>
                                          <p:spTgt spid="626729"/>
                                        </p:tgtEl>
                                        <p:attrNameLst>
                                          <p:attrName>style.visibility</p:attrName>
                                        </p:attrNameLst>
                                      </p:cBhvr>
                                      <p:to>
                                        <p:strVal val="visible"/>
                                      </p:to>
                                    </p:set>
                                    <p:animEffect transition="in" filter="barn(inVertical)">
                                      <p:cBhvr>
                                        <p:cTn id="48" dur="500"/>
                                        <p:tgtEl>
                                          <p:spTgt spid="62672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626730"/>
                                        </p:tgtEl>
                                        <p:attrNameLst>
                                          <p:attrName>style.visibility</p:attrName>
                                        </p:attrNameLst>
                                      </p:cBhvr>
                                      <p:to>
                                        <p:strVal val="visible"/>
                                      </p:to>
                                    </p:set>
                                    <p:animEffect transition="in" filter="wipe(down)">
                                      <p:cBhvr>
                                        <p:cTn id="53" dur="500"/>
                                        <p:tgtEl>
                                          <p:spTgt spid="626730"/>
                                        </p:tgtEl>
                                      </p:cBhvr>
                                    </p:animEffect>
                                  </p:childTnLst>
                                </p:cTn>
                              </p:par>
                            </p:childTnLst>
                          </p:cTn>
                        </p:par>
                        <p:par>
                          <p:cTn id="54" fill="hold">
                            <p:stCondLst>
                              <p:cond delay="500"/>
                            </p:stCondLst>
                            <p:childTnLst>
                              <p:par>
                                <p:cTn id="55" presetID="16" presetClass="entr" presetSubtype="21" fill="hold" nodeType="afterEffect">
                                  <p:stCondLst>
                                    <p:cond delay="0"/>
                                  </p:stCondLst>
                                  <p:childTnLst>
                                    <p:set>
                                      <p:cBhvr>
                                        <p:cTn id="56" dur="1" fill="hold">
                                          <p:stCondLst>
                                            <p:cond delay="0"/>
                                          </p:stCondLst>
                                        </p:cTn>
                                        <p:tgtEl>
                                          <p:spTgt spid="626731"/>
                                        </p:tgtEl>
                                        <p:attrNameLst>
                                          <p:attrName>style.visibility</p:attrName>
                                        </p:attrNameLst>
                                      </p:cBhvr>
                                      <p:to>
                                        <p:strVal val="visible"/>
                                      </p:to>
                                    </p:set>
                                    <p:animEffect transition="in" filter="barn(inVertical)">
                                      <p:cBhvr>
                                        <p:cTn id="57" dur="500"/>
                                        <p:tgtEl>
                                          <p:spTgt spid="626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269" grpId="0"/>
      <p:bldP spid="11271" grpId="0"/>
      <p:bldP spid="11273" grpId="0"/>
      <p:bldP spid="11275" grpId="0"/>
      <p:bldP spid="626727" grpId="0"/>
      <p:bldP spid="626730" grpId="0" animBg="1"/>
      <p:bldP spid="17"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1267" name="Object 29"/>
          <p:cNvGraphicFramePr>
            <a:graphicFrameLocks noChangeAspect="1"/>
          </p:cNvGraphicFramePr>
          <p:nvPr>
            <p:extLst>
              <p:ext uri="{D42A27DB-BD31-4B8C-83A1-F6EECF244321}">
                <p14:modId xmlns:p14="http://schemas.microsoft.com/office/powerpoint/2010/main" val="1724918823"/>
              </p:ext>
            </p:extLst>
          </p:nvPr>
        </p:nvGraphicFramePr>
        <p:xfrm>
          <a:off x="1009935" y="1194850"/>
          <a:ext cx="1462087" cy="1416050"/>
        </p:xfrm>
        <a:graphic>
          <a:graphicData uri="http://schemas.openxmlformats.org/presentationml/2006/ole">
            <mc:AlternateContent xmlns:mc="http://schemas.openxmlformats.org/markup-compatibility/2006">
              <mc:Choice xmlns:v="urn:schemas-microsoft-com:vml" Requires="v">
                <p:oleObj spid="_x0000_s112014" name="Equation" r:id="rId3" imgW="812520" imgH="787320" progId="Equation.DSMT4">
                  <p:embed/>
                </p:oleObj>
              </mc:Choice>
              <mc:Fallback>
                <p:oleObj name="Equation" r:id="rId3" imgW="812520" imgH="787320" progId="Equation.DSMT4">
                  <p:embed/>
                  <p:pic>
                    <p:nvPicPr>
                      <p:cNvPr id="0" name=""/>
                      <p:cNvPicPr>
                        <a:picLocks noChangeAspect="1" noChangeArrowheads="1"/>
                      </p:cNvPicPr>
                      <p:nvPr/>
                    </p:nvPicPr>
                    <p:blipFill>
                      <a:blip r:embed="rId4"/>
                      <a:srcRect/>
                      <a:stretch>
                        <a:fillRect/>
                      </a:stretch>
                    </p:blipFill>
                    <p:spPr bwMode="auto">
                      <a:xfrm>
                        <a:off x="1009935" y="1194850"/>
                        <a:ext cx="1462087" cy="1416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6730" name="AutoShape 42"/>
          <p:cNvSpPr>
            <a:spLocks noChangeArrowheads="1"/>
          </p:cNvSpPr>
          <p:nvPr/>
        </p:nvSpPr>
        <p:spPr bwMode="auto">
          <a:xfrm>
            <a:off x="2997767" y="1815562"/>
            <a:ext cx="595313" cy="174625"/>
          </a:xfrm>
          <a:prstGeom prst="rightArrow">
            <a:avLst>
              <a:gd name="adj1" fmla="val 50000"/>
              <a:gd name="adj2" fmla="val 85227"/>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000"/>
          </a:p>
        </p:txBody>
      </p:sp>
      <p:graphicFrame>
        <p:nvGraphicFramePr>
          <p:cNvPr id="626731" name="Object 43"/>
          <p:cNvGraphicFramePr>
            <a:graphicFrameLocks noChangeAspect="1"/>
          </p:cNvGraphicFramePr>
          <p:nvPr>
            <p:extLst>
              <p:ext uri="{D42A27DB-BD31-4B8C-83A1-F6EECF244321}">
                <p14:modId xmlns:p14="http://schemas.microsoft.com/office/powerpoint/2010/main" val="1229417828"/>
              </p:ext>
            </p:extLst>
          </p:nvPr>
        </p:nvGraphicFramePr>
        <p:xfrm>
          <a:off x="4118825" y="1548861"/>
          <a:ext cx="1622425" cy="708025"/>
        </p:xfrm>
        <a:graphic>
          <a:graphicData uri="http://schemas.openxmlformats.org/presentationml/2006/ole">
            <mc:AlternateContent xmlns:mc="http://schemas.openxmlformats.org/markup-compatibility/2006">
              <mc:Choice xmlns:v="urn:schemas-microsoft-com:vml" Requires="v">
                <p:oleObj spid="_x0000_s112015" name="Equation" r:id="rId5" imgW="901440" imgH="393480" progId="Equation.DSMT4">
                  <p:embed/>
                </p:oleObj>
              </mc:Choice>
              <mc:Fallback>
                <p:oleObj name="Equation" r:id="rId5" imgW="901440" imgH="393480" progId="Equation.DSMT4">
                  <p:embed/>
                  <p:pic>
                    <p:nvPicPr>
                      <p:cNvPr id="0" name=""/>
                      <p:cNvPicPr>
                        <a:picLocks noChangeAspect="1" noChangeArrowheads="1"/>
                      </p:cNvPicPr>
                      <p:nvPr/>
                    </p:nvPicPr>
                    <p:blipFill>
                      <a:blip r:embed="rId6"/>
                      <a:srcRect/>
                      <a:stretch>
                        <a:fillRect/>
                      </a:stretch>
                    </p:blipFill>
                    <p:spPr bwMode="auto">
                      <a:xfrm>
                        <a:off x="4118825" y="1548861"/>
                        <a:ext cx="1622425"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41"/>
          <p:cNvGraphicFramePr>
            <a:graphicFrameLocks noChangeAspect="1"/>
          </p:cNvGraphicFramePr>
          <p:nvPr>
            <p:extLst>
              <p:ext uri="{D42A27DB-BD31-4B8C-83A1-F6EECF244321}">
                <p14:modId xmlns:p14="http://schemas.microsoft.com/office/powerpoint/2010/main" val="2685584242"/>
              </p:ext>
            </p:extLst>
          </p:nvPr>
        </p:nvGraphicFramePr>
        <p:xfrm>
          <a:off x="6103371" y="2815121"/>
          <a:ext cx="1301750" cy="296862"/>
        </p:xfrm>
        <a:graphic>
          <a:graphicData uri="http://schemas.openxmlformats.org/presentationml/2006/ole">
            <mc:AlternateContent xmlns:mc="http://schemas.openxmlformats.org/markup-compatibility/2006">
              <mc:Choice xmlns:v="urn:schemas-microsoft-com:vml" Requires="v">
                <p:oleObj spid="_x0000_s112016" name="Equation" r:id="rId7" imgW="723600" imgH="164880" progId="Equation.DSMT4">
                  <p:embed/>
                </p:oleObj>
              </mc:Choice>
              <mc:Fallback>
                <p:oleObj name="Equation" r:id="rId7" imgW="723600" imgH="164880" progId="Equation.DSMT4">
                  <p:embed/>
                  <p:pic>
                    <p:nvPicPr>
                      <p:cNvPr id="0" name=""/>
                      <p:cNvPicPr>
                        <a:picLocks noChangeAspect="1" noChangeArrowheads="1"/>
                      </p:cNvPicPr>
                      <p:nvPr/>
                    </p:nvPicPr>
                    <p:blipFill>
                      <a:blip r:embed="rId8"/>
                      <a:srcRect/>
                      <a:stretch>
                        <a:fillRect/>
                      </a:stretch>
                    </p:blipFill>
                    <p:spPr bwMode="auto">
                      <a:xfrm>
                        <a:off x="6103371" y="2815121"/>
                        <a:ext cx="1301750" cy="296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AutoShape 42"/>
          <p:cNvSpPr>
            <a:spLocks noChangeArrowheads="1"/>
          </p:cNvSpPr>
          <p:nvPr/>
        </p:nvSpPr>
        <p:spPr bwMode="auto">
          <a:xfrm rot="5400000">
            <a:off x="5606483" y="2927380"/>
            <a:ext cx="595313" cy="174625"/>
          </a:xfrm>
          <a:prstGeom prst="rightArrow">
            <a:avLst>
              <a:gd name="adj1" fmla="val 50000"/>
              <a:gd name="adj2" fmla="val 85227"/>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000"/>
          </a:p>
        </p:txBody>
      </p:sp>
      <p:graphicFrame>
        <p:nvGraphicFramePr>
          <p:cNvPr id="20" name="Object 43"/>
          <p:cNvGraphicFramePr>
            <a:graphicFrameLocks noChangeAspect="1"/>
          </p:cNvGraphicFramePr>
          <p:nvPr>
            <p:extLst>
              <p:ext uri="{D42A27DB-BD31-4B8C-83A1-F6EECF244321}">
                <p14:modId xmlns:p14="http://schemas.microsoft.com/office/powerpoint/2010/main" val="1070414708"/>
              </p:ext>
            </p:extLst>
          </p:nvPr>
        </p:nvGraphicFramePr>
        <p:xfrm>
          <a:off x="4506968" y="3657658"/>
          <a:ext cx="846137" cy="434975"/>
        </p:xfrm>
        <a:graphic>
          <a:graphicData uri="http://schemas.openxmlformats.org/presentationml/2006/ole">
            <mc:AlternateContent xmlns:mc="http://schemas.openxmlformats.org/markup-compatibility/2006">
              <mc:Choice xmlns:v="urn:schemas-microsoft-com:vml" Requires="v">
                <p:oleObj spid="_x0000_s112017" name="Equation" r:id="rId9" imgW="469800" imgH="241200" progId="Equation.DSMT4">
                  <p:embed/>
                </p:oleObj>
              </mc:Choice>
              <mc:Fallback>
                <p:oleObj name="Equation" r:id="rId9" imgW="469800" imgH="241200" progId="Equation.DSMT4">
                  <p:embed/>
                  <p:pic>
                    <p:nvPicPr>
                      <p:cNvPr id="0" name=""/>
                      <p:cNvPicPr>
                        <a:picLocks noChangeAspect="1" noChangeArrowheads="1"/>
                      </p:cNvPicPr>
                      <p:nvPr/>
                    </p:nvPicPr>
                    <p:blipFill>
                      <a:blip r:embed="rId10"/>
                      <a:srcRect/>
                      <a:stretch>
                        <a:fillRect/>
                      </a:stretch>
                    </p:blipFill>
                    <p:spPr bwMode="auto">
                      <a:xfrm>
                        <a:off x="4506968" y="3657658"/>
                        <a:ext cx="846137"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43"/>
          <p:cNvGraphicFramePr>
            <a:graphicFrameLocks noChangeAspect="1"/>
          </p:cNvGraphicFramePr>
          <p:nvPr>
            <p:extLst>
              <p:ext uri="{D42A27DB-BD31-4B8C-83A1-F6EECF244321}">
                <p14:modId xmlns:p14="http://schemas.microsoft.com/office/powerpoint/2010/main" val="1650227639"/>
              </p:ext>
            </p:extLst>
          </p:nvPr>
        </p:nvGraphicFramePr>
        <p:xfrm>
          <a:off x="6650038" y="3680052"/>
          <a:ext cx="801687" cy="412750"/>
        </p:xfrm>
        <a:graphic>
          <a:graphicData uri="http://schemas.openxmlformats.org/presentationml/2006/ole">
            <mc:AlternateContent xmlns:mc="http://schemas.openxmlformats.org/markup-compatibility/2006">
              <mc:Choice xmlns:v="urn:schemas-microsoft-com:vml" Requires="v">
                <p:oleObj spid="_x0000_s112018" name="Equation" r:id="rId11" imgW="444240" imgH="228600" progId="Equation.DSMT4">
                  <p:embed/>
                </p:oleObj>
              </mc:Choice>
              <mc:Fallback>
                <p:oleObj name="Equation" r:id="rId11" imgW="444240" imgH="228600" progId="Equation.DSMT4">
                  <p:embed/>
                  <p:pic>
                    <p:nvPicPr>
                      <p:cNvPr id="0" name=""/>
                      <p:cNvPicPr>
                        <a:picLocks noChangeAspect="1" noChangeArrowheads="1"/>
                      </p:cNvPicPr>
                      <p:nvPr/>
                    </p:nvPicPr>
                    <p:blipFill>
                      <a:blip r:embed="rId12"/>
                      <a:srcRect/>
                      <a:stretch>
                        <a:fillRect/>
                      </a:stretch>
                    </p:blipFill>
                    <p:spPr bwMode="auto">
                      <a:xfrm>
                        <a:off x="6650038" y="3680052"/>
                        <a:ext cx="801687"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43"/>
          <p:cNvGraphicFramePr>
            <a:graphicFrameLocks noChangeAspect="1"/>
          </p:cNvGraphicFramePr>
          <p:nvPr>
            <p:extLst>
              <p:ext uri="{D42A27DB-BD31-4B8C-83A1-F6EECF244321}">
                <p14:modId xmlns:p14="http://schemas.microsoft.com/office/powerpoint/2010/main" val="751912971"/>
              </p:ext>
            </p:extLst>
          </p:nvPr>
        </p:nvGraphicFramePr>
        <p:xfrm>
          <a:off x="6193400" y="1548861"/>
          <a:ext cx="1576387" cy="708025"/>
        </p:xfrm>
        <a:graphic>
          <a:graphicData uri="http://schemas.openxmlformats.org/presentationml/2006/ole">
            <mc:AlternateContent xmlns:mc="http://schemas.openxmlformats.org/markup-compatibility/2006">
              <mc:Choice xmlns:v="urn:schemas-microsoft-com:vml" Requires="v">
                <p:oleObj spid="_x0000_s112019" name="Equation" r:id="rId13" imgW="876240" imgH="393480" progId="Equation.DSMT4">
                  <p:embed/>
                </p:oleObj>
              </mc:Choice>
              <mc:Fallback>
                <p:oleObj name="Equation" r:id="rId13" imgW="876240" imgH="393480" progId="Equation.DSMT4">
                  <p:embed/>
                  <p:pic>
                    <p:nvPicPr>
                      <p:cNvPr id="0" name=""/>
                      <p:cNvPicPr>
                        <a:picLocks noChangeAspect="1" noChangeArrowheads="1"/>
                      </p:cNvPicPr>
                      <p:nvPr/>
                    </p:nvPicPr>
                    <p:blipFill>
                      <a:blip r:embed="rId14"/>
                      <a:srcRect/>
                      <a:stretch>
                        <a:fillRect/>
                      </a:stretch>
                    </p:blipFill>
                    <p:spPr bwMode="auto">
                      <a:xfrm>
                        <a:off x="6193400" y="1548861"/>
                        <a:ext cx="1576387"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 name="Text Box 35"/>
          <p:cNvSpPr txBox="1">
            <a:spLocks noChangeArrowheads="1"/>
          </p:cNvSpPr>
          <p:nvPr/>
        </p:nvSpPr>
        <p:spPr bwMode="auto">
          <a:xfrm>
            <a:off x="6076265" y="4092633"/>
            <a:ext cx="2010575" cy="70788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smtClean="0"/>
              <a:t>误差信号</a:t>
            </a:r>
            <a:endParaRPr lang="en-US" altLang="zh-CN" sz="2000" dirty="0" smtClean="0"/>
          </a:p>
          <a:p>
            <a:pPr algn="ctr" eaLnBrk="1" hangingPunct="1">
              <a:spcBef>
                <a:spcPct val="0"/>
              </a:spcBef>
              <a:buFontTx/>
              <a:buNone/>
            </a:pPr>
            <a:r>
              <a:rPr lang="zh-CN" altLang="en-US" sz="2000" dirty="0" smtClean="0"/>
              <a:t>（</a:t>
            </a:r>
            <a:r>
              <a:rPr lang="en-US" altLang="zh-CN" sz="2000" dirty="0" smtClean="0"/>
              <a:t>error signal</a:t>
            </a:r>
            <a:r>
              <a:rPr lang="zh-CN" altLang="en-US" sz="2000" dirty="0" smtClean="0"/>
              <a:t>）</a:t>
            </a:r>
            <a:endParaRPr lang="zh-CN" altLang="en-US" sz="2000" dirty="0"/>
          </a:p>
        </p:txBody>
      </p:sp>
    </p:spTree>
    <p:extLst>
      <p:ext uri="{BB962C8B-B14F-4D97-AF65-F5344CB8AC3E}">
        <p14:creationId xmlns:p14="http://schemas.microsoft.com/office/powerpoint/2010/main" val="14838998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26730"/>
                                        </p:tgtEl>
                                        <p:attrNameLst>
                                          <p:attrName>style.visibility</p:attrName>
                                        </p:attrNameLst>
                                      </p:cBhvr>
                                      <p:to>
                                        <p:strVal val="visible"/>
                                      </p:to>
                                    </p:set>
                                    <p:animEffect transition="in" filter="barn(inVertical)">
                                      <p:cBhvr>
                                        <p:cTn id="7" dur="500"/>
                                        <p:tgtEl>
                                          <p:spTgt spid="626730"/>
                                        </p:tgtEl>
                                      </p:cBhvr>
                                    </p:animEffect>
                                  </p:childTnLst>
                                </p:cTn>
                              </p:par>
                              <p:par>
                                <p:cTn id="8" presetID="16" presetClass="entr" presetSubtype="21" fill="hold" nodeType="withEffect">
                                  <p:stCondLst>
                                    <p:cond delay="0"/>
                                  </p:stCondLst>
                                  <p:childTnLst>
                                    <p:set>
                                      <p:cBhvr>
                                        <p:cTn id="9" dur="1" fill="hold">
                                          <p:stCondLst>
                                            <p:cond delay="0"/>
                                          </p:stCondLst>
                                        </p:cTn>
                                        <p:tgtEl>
                                          <p:spTgt spid="626731"/>
                                        </p:tgtEl>
                                        <p:attrNameLst>
                                          <p:attrName>style.visibility</p:attrName>
                                        </p:attrNameLst>
                                      </p:cBhvr>
                                      <p:to>
                                        <p:strVal val="visible"/>
                                      </p:to>
                                    </p:set>
                                    <p:animEffect transition="in" filter="barn(inVertical)">
                                      <p:cBhvr>
                                        <p:cTn id="10" dur="500"/>
                                        <p:tgtEl>
                                          <p:spTgt spid="626731"/>
                                        </p:tgtEl>
                                      </p:cBhvr>
                                    </p:animEffect>
                                  </p:childTnLst>
                                </p:cTn>
                              </p:par>
                              <p:par>
                                <p:cTn id="11" presetID="16" presetClass="entr" presetSubtype="21"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barn(inVertical)">
                                      <p:cBhvr>
                                        <p:cTn id="13" dur="50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arn(inVertical)">
                                      <p:cBhvr>
                                        <p:cTn id="18" dur="500"/>
                                        <p:tgtEl>
                                          <p:spTgt spid="18"/>
                                        </p:tgtEl>
                                      </p:cBhvr>
                                    </p:animEffect>
                                  </p:childTnLst>
                                </p:cTn>
                              </p:par>
                              <p:par>
                                <p:cTn id="19" presetID="16" presetClass="entr" presetSubtype="21"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Vertical)">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barn(inVertical)">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barn(inVertical)">
                                      <p:cBhvr>
                                        <p:cTn id="31" dur="500"/>
                                        <p:tgtEl>
                                          <p:spTgt spid="22"/>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barn(inVertical)">
                                      <p:cBhvr>
                                        <p:cTn id="3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6730" grpId="0" animBg="1"/>
      <p:bldP spid="18" grpId="0" animBg="1"/>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7659" name="Rectangle 11"/>
          <p:cNvSpPr>
            <a:spLocks noChangeArrowheads="1"/>
          </p:cNvSpPr>
          <p:nvPr/>
        </p:nvSpPr>
        <p:spPr bwMode="auto">
          <a:xfrm>
            <a:off x="5830888" y="4229100"/>
            <a:ext cx="1552257" cy="992187"/>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sp>
        <p:nvSpPr>
          <p:cNvPr id="667658" name="Rectangle 10"/>
          <p:cNvSpPr>
            <a:spLocks noChangeArrowheads="1"/>
          </p:cNvSpPr>
          <p:nvPr/>
        </p:nvSpPr>
        <p:spPr bwMode="auto">
          <a:xfrm>
            <a:off x="1279525" y="4229100"/>
            <a:ext cx="530225" cy="992187"/>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dirty="0"/>
          </a:p>
        </p:txBody>
      </p:sp>
      <p:sp>
        <p:nvSpPr>
          <p:cNvPr id="12292" name="Text Box 5"/>
          <p:cNvSpPr txBox="1">
            <a:spLocks noChangeArrowheads="1"/>
          </p:cNvSpPr>
          <p:nvPr/>
        </p:nvSpPr>
        <p:spPr bwMode="auto">
          <a:xfrm>
            <a:off x="814388" y="755651"/>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eaLnBrk="1" hangingPunct="1">
              <a:spcBef>
                <a:spcPct val="50000"/>
              </a:spcBef>
              <a:buFontTx/>
              <a:buNone/>
              <a:defRPr>
                <a:solidFill>
                  <a:srgbClr val="990033"/>
                </a:solidFill>
              </a:defRPr>
            </a:lvl1pPr>
            <a:lvl2pPr marL="742950" indent="-285750" algn="l" eaLnBrk="0" hangingPunct="0">
              <a:spcBef>
                <a:spcPct val="20000"/>
              </a:spcBef>
              <a:buChar char="–"/>
              <a:defRPr sz="2800"/>
            </a:lvl2pPr>
            <a:lvl3pPr marL="1143000" indent="-228600" algn="l" eaLnBrk="0" hangingPunct="0">
              <a:spcBef>
                <a:spcPct val="20000"/>
              </a:spcBef>
              <a:buChar char="•"/>
            </a:lvl3pPr>
            <a:lvl4pPr marL="1600200" indent="-228600" algn="l" eaLnBrk="0" hangingPunct="0">
              <a:spcBef>
                <a:spcPct val="20000"/>
              </a:spcBef>
              <a:buChar char="–"/>
              <a:defRPr sz="2000"/>
            </a:lvl4pPr>
            <a:lvl5pPr marL="2057400" indent="-228600" algn="l" eaLnBrk="0" hangingPunct="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zh-CN" altLang="en-US" dirty="0" smtClean="0"/>
              <a:t>二、</a:t>
            </a:r>
            <a:r>
              <a:rPr lang="zh-CN" altLang="en-US" dirty="0"/>
              <a:t>负反馈网络提高放大器增益稳定性</a:t>
            </a:r>
          </a:p>
        </p:txBody>
      </p:sp>
      <p:pic>
        <p:nvPicPr>
          <p:cNvPr id="12293" name="图片 4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62326" y="1550987"/>
            <a:ext cx="1439555" cy="70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7656" name="图片 4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7916" y="2816388"/>
            <a:ext cx="42291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7657" name="图片 40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79525" y="4284663"/>
            <a:ext cx="6103620" cy="1097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67656"/>
                                        </p:tgtEl>
                                        <p:attrNameLst>
                                          <p:attrName>style.visibility</p:attrName>
                                        </p:attrNameLst>
                                      </p:cBhvr>
                                      <p:to>
                                        <p:strVal val="visible"/>
                                      </p:to>
                                    </p:set>
                                    <p:animEffect transition="in" filter="blinds(horizontal)">
                                      <p:cBhvr>
                                        <p:cTn id="7" dur="500"/>
                                        <p:tgtEl>
                                          <p:spTgt spid="6676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67659"/>
                                        </p:tgtEl>
                                        <p:attrNameLst>
                                          <p:attrName>style.visibility</p:attrName>
                                        </p:attrNameLst>
                                      </p:cBhvr>
                                      <p:to>
                                        <p:strVal val="visible"/>
                                      </p:to>
                                    </p:set>
                                    <p:animEffect transition="in" filter="box(in)">
                                      <p:cBhvr>
                                        <p:cTn id="12" dur="500"/>
                                        <p:tgtEl>
                                          <p:spTgt spid="667659"/>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667658"/>
                                        </p:tgtEl>
                                        <p:attrNameLst>
                                          <p:attrName>style.visibility</p:attrName>
                                        </p:attrNameLst>
                                      </p:cBhvr>
                                      <p:to>
                                        <p:strVal val="visible"/>
                                      </p:to>
                                    </p:set>
                                    <p:animEffect transition="in" filter="box(in)">
                                      <p:cBhvr>
                                        <p:cTn id="15" dur="500"/>
                                        <p:tgtEl>
                                          <p:spTgt spid="667658"/>
                                        </p:tgtEl>
                                      </p:cBhvr>
                                    </p:animEffect>
                                  </p:childTnLst>
                                </p:cTn>
                              </p:par>
                              <p:par>
                                <p:cTn id="16" presetID="4" presetClass="entr" presetSubtype="16" fill="hold" nodeType="withEffect">
                                  <p:stCondLst>
                                    <p:cond delay="0"/>
                                  </p:stCondLst>
                                  <p:childTnLst>
                                    <p:set>
                                      <p:cBhvr>
                                        <p:cTn id="17" dur="1" fill="hold">
                                          <p:stCondLst>
                                            <p:cond delay="0"/>
                                          </p:stCondLst>
                                        </p:cTn>
                                        <p:tgtEl>
                                          <p:spTgt spid="667657"/>
                                        </p:tgtEl>
                                        <p:attrNameLst>
                                          <p:attrName>style.visibility</p:attrName>
                                        </p:attrNameLst>
                                      </p:cBhvr>
                                      <p:to>
                                        <p:strVal val="visible"/>
                                      </p:to>
                                    </p:set>
                                    <p:animEffect transition="in" filter="box(in)">
                                      <p:cBhvr>
                                        <p:cTn id="18" dur="500"/>
                                        <p:tgtEl>
                                          <p:spTgt spid="6676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7659" grpId="0" animBg="1"/>
      <p:bldP spid="667658"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Text Box 4"/>
          <p:cNvSpPr txBox="1">
            <a:spLocks noChangeArrowheads="1"/>
          </p:cNvSpPr>
          <p:nvPr/>
        </p:nvSpPr>
        <p:spPr bwMode="auto">
          <a:xfrm>
            <a:off x="420688" y="617538"/>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eaLnBrk="1" hangingPunct="1">
              <a:spcBef>
                <a:spcPct val="50000"/>
              </a:spcBef>
              <a:buFontTx/>
              <a:buNone/>
              <a:defRPr>
                <a:solidFill>
                  <a:srgbClr val="990033"/>
                </a:solidFill>
              </a:defRPr>
            </a:lvl1pPr>
            <a:lvl2pPr marL="742950" indent="-285750" algn="l" eaLnBrk="0" hangingPunct="0">
              <a:spcBef>
                <a:spcPct val="20000"/>
              </a:spcBef>
              <a:buChar char="–"/>
              <a:defRPr sz="2800"/>
            </a:lvl2pPr>
            <a:lvl3pPr marL="1143000" indent="-228600" algn="l" eaLnBrk="0" hangingPunct="0">
              <a:spcBef>
                <a:spcPct val="20000"/>
              </a:spcBef>
              <a:buChar char="•"/>
            </a:lvl3pPr>
            <a:lvl4pPr marL="1600200" indent="-228600" algn="l" eaLnBrk="0" hangingPunct="0">
              <a:spcBef>
                <a:spcPct val="20000"/>
              </a:spcBef>
              <a:buChar char="–"/>
              <a:defRPr sz="2000"/>
            </a:lvl4pPr>
            <a:lvl5pPr marL="2057400" indent="-228600" algn="l" eaLnBrk="0" hangingPunct="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zh-CN" altLang="en-US" dirty="0" smtClean="0"/>
              <a:t>三、</a:t>
            </a:r>
            <a:r>
              <a:rPr lang="zh-CN" altLang="en-US" dirty="0"/>
              <a:t>负反馈网络扩展放大器的带宽</a:t>
            </a:r>
          </a:p>
        </p:txBody>
      </p:sp>
      <p:graphicFrame>
        <p:nvGraphicFramePr>
          <p:cNvPr id="13320" name="Object 18"/>
          <p:cNvGraphicFramePr>
            <a:graphicFrameLocks noChangeAspect="1"/>
          </p:cNvGraphicFramePr>
          <p:nvPr>
            <p:extLst>
              <p:ext uri="{D42A27DB-BD31-4B8C-83A1-F6EECF244321}">
                <p14:modId xmlns:p14="http://schemas.microsoft.com/office/powerpoint/2010/main" val="383933657"/>
              </p:ext>
            </p:extLst>
          </p:nvPr>
        </p:nvGraphicFramePr>
        <p:xfrm>
          <a:off x="3642311" y="1867650"/>
          <a:ext cx="1920875" cy="800100"/>
        </p:xfrm>
        <a:graphic>
          <a:graphicData uri="http://schemas.openxmlformats.org/presentationml/2006/ole">
            <mc:AlternateContent xmlns:mc="http://schemas.openxmlformats.org/markup-compatibility/2006">
              <mc:Choice xmlns:v="urn:schemas-microsoft-com:vml" Requires="v">
                <p:oleObj spid="_x0000_s113917" name="Equation" r:id="rId3" imgW="914400" imgH="380880" progId="Equation.DSMT4">
                  <p:embed/>
                </p:oleObj>
              </mc:Choice>
              <mc:Fallback>
                <p:oleObj name="Equation" r:id="rId3" imgW="914400" imgH="380880" progId="Equation.DSMT4">
                  <p:embed/>
                  <p:pic>
                    <p:nvPicPr>
                      <p:cNvPr id="0" name="Object 18"/>
                      <p:cNvPicPr>
                        <a:picLocks noChangeAspect="1" noChangeArrowheads="1"/>
                      </p:cNvPicPr>
                      <p:nvPr/>
                    </p:nvPicPr>
                    <p:blipFill>
                      <a:blip r:embed="rId4"/>
                      <a:srcRect/>
                      <a:stretch>
                        <a:fillRect/>
                      </a:stretch>
                    </p:blipFill>
                    <p:spPr bwMode="auto">
                      <a:xfrm>
                        <a:off x="3642311" y="1867650"/>
                        <a:ext cx="1920875"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 name="Object 18"/>
          <p:cNvGraphicFramePr>
            <a:graphicFrameLocks noChangeAspect="1"/>
          </p:cNvGraphicFramePr>
          <p:nvPr>
            <p:extLst>
              <p:ext uri="{D42A27DB-BD31-4B8C-83A1-F6EECF244321}">
                <p14:modId xmlns:p14="http://schemas.microsoft.com/office/powerpoint/2010/main" val="3412447536"/>
              </p:ext>
            </p:extLst>
          </p:nvPr>
        </p:nvGraphicFramePr>
        <p:xfrm>
          <a:off x="2165350" y="2851032"/>
          <a:ext cx="4960938" cy="906463"/>
        </p:xfrm>
        <a:graphic>
          <a:graphicData uri="http://schemas.openxmlformats.org/presentationml/2006/ole">
            <mc:AlternateContent xmlns:mc="http://schemas.openxmlformats.org/markup-compatibility/2006">
              <mc:Choice xmlns:v="urn:schemas-microsoft-com:vml" Requires="v">
                <p:oleObj spid="_x0000_s113918" name="Equation" r:id="rId5" imgW="2361960" imgH="431640" progId="Equation.DSMT4">
                  <p:embed/>
                </p:oleObj>
              </mc:Choice>
              <mc:Fallback>
                <p:oleObj name="Equation" r:id="rId5" imgW="2361960" imgH="431640" progId="Equation.DSMT4">
                  <p:embed/>
                  <p:pic>
                    <p:nvPicPr>
                      <p:cNvPr id="0" name=""/>
                      <p:cNvPicPr>
                        <a:picLocks noChangeAspect="1" noChangeArrowheads="1"/>
                      </p:cNvPicPr>
                      <p:nvPr/>
                    </p:nvPicPr>
                    <p:blipFill>
                      <a:blip r:embed="rId6"/>
                      <a:srcRect/>
                      <a:stretch>
                        <a:fillRect/>
                      </a:stretch>
                    </p:blipFill>
                    <p:spPr bwMode="auto">
                      <a:xfrm>
                        <a:off x="2165350" y="2851032"/>
                        <a:ext cx="4960938"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 name="Rectangle 6"/>
          <p:cNvSpPr>
            <a:spLocks noChangeArrowheads="1"/>
          </p:cNvSpPr>
          <p:nvPr/>
        </p:nvSpPr>
        <p:spPr bwMode="auto">
          <a:xfrm>
            <a:off x="1300163" y="1284258"/>
            <a:ext cx="5197257"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dirty="0" smtClean="0"/>
              <a:t>若原基本放大器的增益为单极点的高频响应</a:t>
            </a:r>
            <a:endParaRPr lang="zh-CN" altLang="en-US" sz="2000" dirty="0"/>
          </a:p>
        </p:txBody>
      </p:sp>
      <p:graphicFrame>
        <p:nvGraphicFramePr>
          <p:cNvPr id="35" name="Object 18"/>
          <p:cNvGraphicFramePr>
            <a:graphicFrameLocks noChangeAspect="1"/>
          </p:cNvGraphicFramePr>
          <p:nvPr>
            <p:extLst>
              <p:ext uri="{D42A27DB-BD31-4B8C-83A1-F6EECF244321}">
                <p14:modId xmlns:p14="http://schemas.microsoft.com/office/powerpoint/2010/main" val="3121682635"/>
              </p:ext>
            </p:extLst>
          </p:nvPr>
        </p:nvGraphicFramePr>
        <p:xfrm>
          <a:off x="3690522" y="3963032"/>
          <a:ext cx="2293937" cy="481012"/>
        </p:xfrm>
        <a:graphic>
          <a:graphicData uri="http://schemas.openxmlformats.org/presentationml/2006/ole">
            <mc:AlternateContent xmlns:mc="http://schemas.openxmlformats.org/markup-compatibility/2006">
              <mc:Choice xmlns:v="urn:schemas-microsoft-com:vml" Requires="v">
                <p:oleObj spid="_x0000_s113919" name="Equation" r:id="rId7" imgW="1091880" imgH="228600" progId="Equation.DSMT4">
                  <p:embed/>
                </p:oleObj>
              </mc:Choice>
              <mc:Fallback>
                <p:oleObj name="Equation" r:id="rId7" imgW="1091880" imgH="228600" progId="Equation.DSMT4">
                  <p:embed/>
                  <p:pic>
                    <p:nvPicPr>
                      <p:cNvPr id="0" name=""/>
                      <p:cNvPicPr>
                        <a:picLocks noChangeAspect="1" noChangeArrowheads="1"/>
                      </p:cNvPicPr>
                      <p:nvPr/>
                    </p:nvPicPr>
                    <p:blipFill>
                      <a:blip r:embed="rId8"/>
                      <a:srcRect/>
                      <a:stretch>
                        <a:fillRect/>
                      </a:stretch>
                    </p:blipFill>
                    <p:spPr bwMode="auto">
                      <a:xfrm>
                        <a:off x="3690522" y="3963032"/>
                        <a:ext cx="2293937"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 name="Rectangle 6"/>
          <p:cNvSpPr>
            <a:spLocks noChangeArrowheads="1"/>
          </p:cNvSpPr>
          <p:nvPr/>
        </p:nvSpPr>
        <p:spPr bwMode="auto">
          <a:xfrm>
            <a:off x="1302786" y="4668596"/>
            <a:ext cx="648767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dirty="0" smtClean="0"/>
              <a:t>若原基本放大器的增益为单极点的低频响应，同理可得</a:t>
            </a:r>
            <a:endParaRPr lang="zh-CN" altLang="en-US" sz="2000" dirty="0"/>
          </a:p>
        </p:txBody>
      </p:sp>
      <p:graphicFrame>
        <p:nvGraphicFramePr>
          <p:cNvPr id="37" name="Object 18"/>
          <p:cNvGraphicFramePr>
            <a:graphicFrameLocks noChangeAspect="1"/>
          </p:cNvGraphicFramePr>
          <p:nvPr>
            <p:extLst>
              <p:ext uri="{D42A27DB-BD31-4B8C-83A1-F6EECF244321}">
                <p14:modId xmlns:p14="http://schemas.microsoft.com/office/powerpoint/2010/main" val="1067956802"/>
              </p:ext>
            </p:extLst>
          </p:nvPr>
        </p:nvGraphicFramePr>
        <p:xfrm>
          <a:off x="3970338" y="5194300"/>
          <a:ext cx="1733550" cy="801688"/>
        </p:xfrm>
        <a:graphic>
          <a:graphicData uri="http://schemas.openxmlformats.org/presentationml/2006/ole">
            <mc:AlternateContent xmlns:mc="http://schemas.openxmlformats.org/markup-compatibility/2006">
              <mc:Choice xmlns:v="urn:schemas-microsoft-com:vml" Requires="v">
                <p:oleObj spid="_x0000_s113920" name="Equation" r:id="rId9" imgW="825480" imgH="380880" progId="Equation.DSMT4">
                  <p:embed/>
                </p:oleObj>
              </mc:Choice>
              <mc:Fallback>
                <p:oleObj name="Equation" r:id="rId9" imgW="825480" imgH="380880" progId="Equation.DSMT4">
                  <p:embed/>
                  <p:pic>
                    <p:nvPicPr>
                      <p:cNvPr id="0" name=""/>
                      <p:cNvPicPr>
                        <a:picLocks noChangeAspect="1" noChangeArrowheads="1"/>
                      </p:cNvPicPr>
                      <p:nvPr/>
                    </p:nvPicPr>
                    <p:blipFill>
                      <a:blip r:embed="rId10"/>
                      <a:srcRect/>
                      <a:stretch>
                        <a:fillRect/>
                      </a:stretch>
                    </p:blipFill>
                    <p:spPr bwMode="auto">
                      <a:xfrm>
                        <a:off x="3970338" y="5194300"/>
                        <a:ext cx="1733550" cy="801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linds(horizontal)">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3320"/>
                                        </p:tgtEl>
                                        <p:attrNameLst>
                                          <p:attrName>style.visibility</p:attrName>
                                        </p:attrNameLst>
                                      </p:cBhvr>
                                      <p:to>
                                        <p:strVal val="visible"/>
                                      </p:to>
                                    </p:set>
                                    <p:animEffect transition="in" filter="barn(inVertical)">
                                      <p:cBhvr>
                                        <p:cTn id="12" dur="500"/>
                                        <p:tgtEl>
                                          <p:spTgt spid="1332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barn(inVertical)">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barn(inVertical)">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blinds(horizontal)">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barn(inVertical)">
                                      <p:cBhvr>
                                        <p:cTn id="3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6"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 name="Rectangle 6"/>
          <p:cNvSpPr>
            <a:spLocks noChangeArrowheads="1"/>
          </p:cNvSpPr>
          <p:nvPr/>
        </p:nvSpPr>
        <p:spPr bwMode="auto">
          <a:xfrm>
            <a:off x="1300163" y="677281"/>
            <a:ext cx="2249334"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l" eaLnBrk="1" hangingPunct="1"/>
            <a:r>
              <a:rPr lang="zh-CN" altLang="en-US" sz="2000" dirty="0" smtClean="0"/>
              <a:t>放大器的幅频响应</a:t>
            </a:r>
            <a:endParaRPr lang="zh-CN" altLang="en-US" sz="2000" dirty="0"/>
          </a:p>
        </p:txBody>
      </p:sp>
      <p:pic>
        <p:nvPicPr>
          <p:cNvPr id="3" name="图片 2"/>
          <p:cNvPicPr>
            <a:picLocks noChangeAspect="1"/>
          </p:cNvPicPr>
          <p:nvPr/>
        </p:nvPicPr>
        <p:blipFill>
          <a:blip r:embed="rId2"/>
          <a:stretch>
            <a:fillRect/>
          </a:stretch>
        </p:blipFill>
        <p:spPr>
          <a:xfrm>
            <a:off x="1563085" y="1429079"/>
            <a:ext cx="6792639" cy="3918172"/>
          </a:xfrm>
          <a:prstGeom prst="rect">
            <a:avLst/>
          </a:prstGeom>
        </p:spPr>
      </p:pic>
    </p:spTree>
    <p:extLst>
      <p:ext uri="{BB962C8B-B14F-4D97-AF65-F5344CB8AC3E}">
        <p14:creationId xmlns:p14="http://schemas.microsoft.com/office/powerpoint/2010/main" val="300355036"/>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40" name="Text Box 7"/>
          <p:cNvSpPr txBox="1">
            <a:spLocks noChangeArrowheads="1"/>
          </p:cNvSpPr>
          <p:nvPr/>
        </p:nvSpPr>
        <p:spPr bwMode="auto">
          <a:xfrm>
            <a:off x="471488" y="665163"/>
            <a:ext cx="7850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eaLnBrk="1" hangingPunct="1">
              <a:spcBef>
                <a:spcPct val="50000"/>
              </a:spcBef>
              <a:buFontTx/>
              <a:buNone/>
              <a:defRPr>
                <a:solidFill>
                  <a:srgbClr val="990033"/>
                </a:solidFill>
              </a:defRPr>
            </a:lvl1pPr>
            <a:lvl2pPr marL="742950" indent="-285750" algn="l" eaLnBrk="0" hangingPunct="0">
              <a:spcBef>
                <a:spcPct val="20000"/>
              </a:spcBef>
              <a:buChar char="–"/>
              <a:defRPr sz="2800"/>
            </a:lvl2pPr>
            <a:lvl3pPr marL="1143000" indent="-228600" algn="l" eaLnBrk="0" hangingPunct="0">
              <a:spcBef>
                <a:spcPct val="20000"/>
              </a:spcBef>
              <a:buChar char="•"/>
            </a:lvl3pPr>
            <a:lvl4pPr marL="1600200" indent="-228600" algn="l" eaLnBrk="0" hangingPunct="0">
              <a:spcBef>
                <a:spcPct val="20000"/>
              </a:spcBef>
              <a:buChar char="–"/>
              <a:defRPr sz="2000"/>
            </a:lvl4pPr>
            <a:lvl5pPr marL="2057400" indent="-228600" algn="l" eaLnBrk="0" hangingPunct="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zh-CN" altLang="en-US" dirty="0" smtClean="0"/>
              <a:t>四、</a:t>
            </a:r>
            <a:r>
              <a:rPr lang="zh-CN" altLang="en-US" dirty="0"/>
              <a:t>负反馈网络减小放大器的非线性失真</a:t>
            </a:r>
          </a:p>
        </p:txBody>
      </p:sp>
      <p:pic>
        <p:nvPicPr>
          <p:cNvPr id="14341" name="Picture 8" descr="Dz060506"/>
          <p:cNvPicPr>
            <a:picLocks noChangeAspect="1" noChangeArrowheads="1"/>
          </p:cNvPicPr>
          <p:nvPr/>
        </p:nvPicPr>
        <p:blipFill>
          <a:blip r:embed="rId2">
            <a:extLst>
              <a:ext uri="{28A0092B-C50C-407E-A947-70E740481C1C}">
                <a14:useLocalDpi xmlns:a14="http://schemas.microsoft.com/office/drawing/2010/main" val="0"/>
              </a:ext>
            </a:extLst>
          </a:blip>
          <a:srcRect r="55357" b="8281"/>
          <a:stretch>
            <a:fillRect/>
          </a:stretch>
        </p:blipFill>
        <p:spPr bwMode="auto">
          <a:xfrm>
            <a:off x="1387475" y="1924050"/>
            <a:ext cx="1905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Text Box 9"/>
          <p:cNvSpPr txBox="1">
            <a:spLocks noChangeArrowheads="1"/>
          </p:cNvSpPr>
          <p:nvPr/>
        </p:nvSpPr>
        <p:spPr bwMode="auto">
          <a:xfrm>
            <a:off x="3716045" y="1548010"/>
            <a:ext cx="5037138" cy="1418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50000"/>
              </a:spcBef>
              <a:buFontTx/>
              <a:buNone/>
            </a:pPr>
            <a:r>
              <a:rPr lang="en-US" altLang="zh-CN" sz="2000" b="0" dirty="0"/>
              <a:t>     </a:t>
            </a:r>
            <a:r>
              <a:rPr lang="zh-CN" altLang="en-US" sz="2000" dirty="0">
                <a:solidFill>
                  <a:srgbClr val="000000"/>
                </a:solidFill>
              </a:rPr>
              <a:t>由于晶体管输入特性的非线性，当</a:t>
            </a:r>
            <a:r>
              <a:rPr lang="en-US" altLang="zh-CN" sz="2000" dirty="0">
                <a:solidFill>
                  <a:srgbClr val="000000"/>
                </a:solidFill>
              </a:rPr>
              <a:t>b-e</a:t>
            </a:r>
            <a:r>
              <a:rPr lang="zh-CN" altLang="zh-CN" sz="2000" dirty="0">
                <a:solidFill>
                  <a:srgbClr val="000000"/>
                </a:solidFill>
              </a:rPr>
              <a:t>间加正弦波信号电压时，基极电流的变化不是正弦波。</a:t>
            </a:r>
            <a:endParaRPr lang="zh-CN" altLang="en-US" sz="2000" dirty="0">
              <a:solidFill>
                <a:srgbClr val="000000"/>
              </a:solidFill>
            </a:endParaRPr>
          </a:p>
        </p:txBody>
      </p:sp>
      <p:pic>
        <p:nvPicPr>
          <p:cNvPr id="14343" name="Picture 10" descr="Dz060506"/>
          <p:cNvPicPr>
            <a:picLocks noChangeAspect="1" noChangeArrowheads="1"/>
          </p:cNvPicPr>
          <p:nvPr/>
        </p:nvPicPr>
        <p:blipFill>
          <a:blip r:embed="rId3">
            <a:extLst>
              <a:ext uri="{28A0092B-C50C-407E-A947-70E740481C1C}">
                <a14:useLocalDpi xmlns:a14="http://schemas.microsoft.com/office/drawing/2010/main" val="0"/>
              </a:ext>
            </a:extLst>
          </a:blip>
          <a:srcRect l="53572" b="8281"/>
          <a:stretch>
            <a:fillRect/>
          </a:stretch>
        </p:blipFill>
        <p:spPr bwMode="auto">
          <a:xfrm>
            <a:off x="5024438" y="3829050"/>
            <a:ext cx="2112962"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Text Box 11"/>
          <p:cNvSpPr txBox="1">
            <a:spLocks noChangeArrowheads="1"/>
          </p:cNvSpPr>
          <p:nvPr/>
        </p:nvSpPr>
        <p:spPr bwMode="auto">
          <a:xfrm>
            <a:off x="706438" y="4386871"/>
            <a:ext cx="4038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50000"/>
              </a:spcBef>
              <a:buFontTx/>
              <a:buNone/>
            </a:pPr>
            <a:r>
              <a:rPr lang="en-US" altLang="zh-CN" sz="2000" dirty="0"/>
              <a:t>        </a:t>
            </a:r>
            <a:r>
              <a:rPr lang="zh-CN" altLang="en-US" sz="2000" dirty="0"/>
              <a:t>可以设想，若加在</a:t>
            </a:r>
            <a:r>
              <a:rPr lang="en-US" altLang="zh-CN" sz="2000" dirty="0"/>
              <a:t>b-e</a:t>
            </a:r>
            <a:r>
              <a:rPr lang="zh-CN" altLang="en-US" sz="2000" dirty="0"/>
              <a:t>之间的电压正半周幅</a:t>
            </a:r>
            <a:r>
              <a:rPr lang="zh-CN" altLang="en-US" sz="2000" dirty="0" smtClean="0"/>
              <a:t>值小于</a:t>
            </a:r>
            <a:r>
              <a:rPr lang="zh-CN" altLang="en-US" sz="2000" dirty="0"/>
              <a:t>负半周的幅值，则其电流失真会减小，甚至为正弦波。</a:t>
            </a:r>
          </a:p>
        </p:txBody>
      </p:sp>
      <p:sp>
        <p:nvSpPr>
          <p:cNvPr id="14345" name="AutoShape 12"/>
          <p:cNvSpPr>
            <a:spLocks/>
          </p:cNvSpPr>
          <p:nvPr/>
        </p:nvSpPr>
        <p:spPr bwMode="auto">
          <a:xfrm>
            <a:off x="7416800" y="5657849"/>
            <a:ext cx="1222375" cy="361951"/>
          </a:xfrm>
          <a:prstGeom prst="borderCallout1">
            <a:avLst>
              <a:gd name="adj1" fmla="val 20870"/>
              <a:gd name="adj2" fmla="val -5292"/>
              <a:gd name="adj3" fmla="val 67641"/>
              <a:gd name="adj4" fmla="val -86733"/>
            </a:avLst>
          </a:prstGeom>
          <a:solidFill>
            <a:srgbClr val="66FFFF"/>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1800" dirty="0"/>
              <a:t>非正弦波</a:t>
            </a:r>
          </a:p>
        </p:txBody>
      </p:sp>
      <p:sp>
        <p:nvSpPr>
          <p:cNvPr id="14346" name="AutoShape 13"/>
          <p:cNvSpPr>
            <a:spLocks/>
          </p:cNvSpPr>
          <p:nvPr/>
        </p:nvSpPr>
        <p:spPr bwMode="auto">
          <a:xfrm>
            <a:off x="7331076" y="3538539"/>
            <a:ext cx="1098550" cy="671512"/>
          </a:xfrm>
          <a:prstGeom prst="borderCallout1">
            <a:avLst>
              <a:gd name="adj1" fmla="val 13713"/>
              <a:gd name="adj2" fmla="val -5292"/>
              <a:gd name="adj3" fmla="val 113174"/>
              <a:gd name="adj4" fmla="val -65539"/>
            </a:avLst>
          </a:prstGeom>
          <a:solidFill>
            <a:srgbClr val="66FFFF"/>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1800" dirty="0"/>
              <a:t>近似</a:t>
            </a:r>
          </a:p>
          <a:p>
            <a:pPr algn="ctr" eaLnBrk="1" hangingPunct="1">
              <a:spcBef>
                <a:spcPct val="0"/>
              </a:spcBef>
              <a:buFontTx/>
              <a:buNone/>
            </a:pPr>
            <a:r>
              <a:rPr lang="zh-CN" altLang="en-US" sz="1800" dirty="0"/>
              <a:t>正弦波</a:t>
            </a:r>
          </a:p>
        </p:txBody>
      </p:sp>
    </p:spTree>
    <p:extLst>
      <p:ext uri="{BB962C8B-B14F-4D97-AF65-F5344CB8AC3E}">
        <p14:creationId xmlns:p14="http://schemas.microsoft.com/office/powerpoint/2010/main" val="3020774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4342"/>
                                        </p:tgtEl>
                                        <p:attrNameLst>
                                          <p:attrName>style.visibility</p:attrName>
                                        </p:attrNameLst>
                                      </p:cBhvr>
                                      <p:to>
                                        <p:strVal val="visible"/>
                                      </p:to>
                                    </p:set>
                                    <p:animEffect transition="in" filter="barn(inVertical)">
                                      <p:cBhvr>
                                        <p:cTn id="7" dur="500"/>
                                        <p:tgtEl>
                                          <p:spTgt spid="1434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4341"/>
                                        </p:tgtEl>
                                        <p:attrNameLst>
                                          <p:attrName>style.visibility</p:attrName>
                                        </p:attrNameLst>
                                      </p:cBhvr>
                                      <p:to>
                                        <p:strVal val="visible"/>
                                      </p:to>
                                    </p:set>
                                    <p:animEffect transition="in" filter="barn(inVertical)">
                                      <p:cBhvr>
                                        <p:cTn id="12" dur="500"/>
                                        <p:tgtEl>
                                          <p:spTgt spid="1434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4344"/>
                                        </p:tgtEl>
                                        <p:attrNameLst>
                                          <p:attrName>style.visibility</p:attrName>
                                        </p:attrNameLst>
                                      </p:cBhvr>
                                      <p:to>
                                        <p:strVal val="visible"/>
                                      </p:to>
                                    </p:set>
                                    <p:animEffect transition="in" filter="barn(inVertical)">
                                      <p:cBhvr>
                                        <p:cTn id="17" dur="500"/>
                                        <p:tgtEl>
                                          <p:spTgt spid="1434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4343"/>
                                        </p:tgtEl>
                                        <p:attrNameLst>
                                          <p:attrName>style.visibility</p:attrName>
                                        </p:attrNameLst>
                                      </p:cBhvr>
                                      <p:to>
                                        <p:strVal val="visible"/>
                                      </p:to>
                                    </p:set>
                                    <p:animEffect transition="in" filter="barn(inVertical)">
                                      <p:cBhvr>
                                        <p:cTn id="22" dur="500"/>
                                        <p:tgtEl>
                                          <p:spTgt spid="14343"/>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4345"/>
                                        </p:tgtEl>
                                        <p:attrNameLst>
                                          <p:attrName>style.visibility</p:attrName>
                                        </p:attrNameLst>
                                      </p:cBhvr>
                                      <p:to>
                                        <p:strVal val="visible"/>
                                      </p:to>
                                    </p:set>
                                    <p:animEffect transition="in" filter="barn(inVertical)">
                                      <p:cBhvr>
                                        <p:cTn id="25" dur="500"/>
                                        <p:tgtEl>
                                          <p:spTgt spid="14345"/>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4346"/>
                                        </p:tgtEl>
                                        <p:attrNameLst>
                                          <p:attrName>style.visibility</p:attrName>
                                        </p:attrNameLst>
                                      </p:cBhvr>
                                      <p:to>
                                        <p:strVal val="visible"/>
                                      </p:to>
                                    </p:set>
                                    <p:animEffect transition="in" filter="barn(inVertical)">
                                      <p:cBhvr>
                                        <p:cTn id="28" dur="500"/>
                                        <p:tgtEl>
                                          <p:spTgt spid="14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2" grpId="0"/>
      <p:bldP spid="14344" grpId="0"/>
      <p:bldP spid="14345" grpId="0" animBg="1"/>
      <p:bldP spid="14346"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675851" name="Object 11"/>
          <p:cNvGraphicFramePr>
            <a:graphicFrameLocks noChangeAspect="1"/>
          </p:cNvGraphicFramePr>
          <p:nvPr/>
        </p:nvGraphicFramePr>
        <p:xfrm>
          <a:off x="1116013" y="3084513"/>
          <a:ext cx="2328862" cy="2895600"/>
        </p:xfrm>
        <a:graphic>
          <a:graphicData uri="http://schemas.openxmlformats.org/presentationml/2006/ole">
            <mc:AlternateContent xmlns:mc="http://schemas.openxmlformats.org/markup-compatibility/2006">
              <mc:Choice xmlns:v="urn:schemas-microsoft-com:vml" Requires="v">
                <p:oleObj spid="_x0000_s15797" name="Photo Editor 照片" r:id="rId3" imgW="8923810" imgH="11095238" progId="MSPhotoEd.3">
                  <p:embed/>
                </p:oleObj>
              </mc:Choice>
              <mc:Fallback>
                <p:oleObj name="Photo Editor 照片" r:id="rId3" imgW="8923810" imgH="11095238" progId="MSPhotoEd.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084513"/>
                        <a:ext cx="2328862"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75852" name="Text Box 12"/>
          <p:cNvSpPr txBox="1">
            <a:spLocks noChangeArrowheads="1"/>
          </p:cNvSpPr>
          <p:nvPr/>
        </p:nvSpPr>
        <p:spPr bwMode="auto">
          <a:xfrm>
            <a:off x="4325939" y="4589463"/>
            <a:ext cx="3875086" cy="1880579"/>
          </a:xfrm>
          <a:prstGeom prst="rect">
            <a:avLst/>
          </a:prstGeom>
          <a:solidFill>
            <a:srgbClr val="66FFFF"/>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50000"/>
              </a:spcBef>
              <a:buFontTx/>
              <a:buNone/>
            </a:pPr>
            <a:r>
              <a:rPr lang="en-US" altLang="zh-CN" sz="2000" b="0" dirty="0"/>
              <a:t>     </a:t>
            </a:r>
            <a:r>
              <a:rPr lang="zh-CN" altLang="en-US" sz="2000" dirty="0"/>
              <a:t>可以证明，</a:t>
            </a:r>
            <a:r>
              <a:rPr lang="zh-CN" altLang="en-US" sz="2000" dirty="0">
                <a:solidFill>
                  <a:srgbClr val="000000"/>
                </a:solidFill>
                <a:latin typeface="宋体" pitchFamily="2" charset="-122"/>
              </a:rPr>
              <a:t>在引入负反馈前后输出量基波幅值相同的情况下，非线性失真减小到基本放大电路的</a:t>
            </a:r>
            <a:r>
              <a:rPr lang="en-US" altLang="zh-CN" sz="2000" dirty="0">
                <a:solidFill>
                  <a:srgbClr val="000000"/>
                </a:solidFill>
              </a:rPr>
              <a:t>1</a:t>
            </a:r>
            <a:r>
              <a:rPr lang="en-US" altLang="zh-CN" sz="2000" dirty="0">
                <a:solidFill>
                  <a:srgbClr val="000000"/>
                </a:solidFill>
                <a:latin typeface="宋体" pitchFamily="2" charset="-122"/>
              </a:rPr>
              <a:t>/(</a:t>
            </a:r>
            <a:r>
              <a:rPr lang="en-US" altLang="zh-CN" sz="2000" dirty="0">
                <a:solidFill>
                  <a:srgbClr val="000000"/>
                </a:solidFill>
              </a:rPr>
              <a:t>1</a:t>
            </a:r>
            <a:r>
              <a:rPr lang="zh-CN" altLang="en-US" sz="2000" dirty="0">
                <a:solidFill>
                  <a:srgbClr val="000000"/>
                </a:solidFill>
              </a:rPr>
              <a:t>＋</a:t>
            </a:r>
            <a:r>
              <a:rPr lang="en-US" altLang="zh-CN" sz="2000" i="1" dirty="0">
                <a:solidFill>
                  <a:srgbClr val="000000"/>
                </a:solidFill>
              </a:rPr>
              <a:t>AF </a:t>
            </a:r>
            <a:r>
              <a:rPr lang="en-US" altLang="zh-CN" sz="2000" dirty="0">
                <a:solidFill>
                  <a:srgbClr val="000000"/>
                </a:solidFill>
                <a:latin typeface="宋体" pitchFamily="2" charset="-122"/>
              </a:rPr>
              <a:t>)</a:t>
            </a:r>
            <a:r>
              <a:rPr lang="zh-CN" altLang="zh-CN" sz="2000" dirty="0">
                <a:solidFill>
                  <a:srgbClr val="000000"/>
                </a:solidFill>
                <a:latin typeface="宋体" pitchFamily="2" charset="-122"/>
              </a:rPr>
              <a:t>。</a:t>
            </a:r>
            <a:endParaRPr lang="zh-CN" altLang="en-US" sz="2000" dirty="0">
              <a:solidFill>
                <a:srgbClr val="000000"/>
              </a:solidFill>
              <a:latin typeface="宋体" pitchFamily="2" charset="-122"/>
            </a:endParaRPr>
          </a:p>
        </p:txBody>
      </p:sp>
      <p:graphicFrame>
        <p:nvGraphicFramePr>
          <p:cNvPr id="675853" name="Object 13"/>
          <p:cNvGraphicFramePr>
            <a:graphicFrameLocks noChangeAspect="1"/>
          </p:cNvGraphicFramePr>
          <p:nvPr/>
        </p:nvGraphicFramePr>
        <p:xfrm>
          <a:off x="2220913" y="1646238"/>
          <a:ext cx="4343400" cy="1323975"/>
        </p:xfrm>
        <a:graphic>
          <a:graphicData uri="http://schemas.openxmlformats.org/presentationml/2006/ole">
            <mc:AlternateContent xmlns:mc="http://schemas.openxmlformats.org/markup-compatibility/2006">
              <mc:Choice xmlns:v="urn:schemas-microsoft-com:vml" Requires="v">
                <p:oleObj spid="_x0000_s15798" name="Photo Editor 照片" r:id="rId5" imgW="13647619" imgH="4161905" progId="MSPhotoEd.3">
                  <p:embed/>
                </p:oleObj>
              </mc:Choice>
              <mc:Fallback>
                <p:oleObj name="Photo Editor 照片" r:id="rId5" imgW="13647619" imgH="4161905" progId="MSPhotoEd.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20913" y="1646238"/>
                        <a:ext cx="4343400"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75854" name="AutoShape 14"/>
          <p:cNvSpPr>
            <a:spLocks/>
          </p:cNvSpPr>
          <p:nvPr/>
        </p:nvSpPr>
        <p:spPr bwMode="auto">
          <a:xfrm>
            <a:off x="4325939" y="3324166"/>
            <a:ext cx="3875086" cy="1027172"/>
          </a:xfrm>
          <a:prstGeom prst="borderCallout1">
            <a:avLst>
              <a:gd name="adj1" fmla="val 14144"/>
              <a:gd name="adj2" fmla="val -1773"/>
              <a:gd name="adj3" fmla="val 197668"/>
              <a:gd name="adj4" fmla="val -27548"/>
            </a:avLst>
          </a:prstGeom>
          <a:solidFill>
            <a:srgbClr val="FFFFCC"/>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0"/>
              </a:spcBef>
              <a:buFontTx/>
              <a:buNone/>
            </a:pPr>
            <a:r>
              <a:rPr lang="zh-CN" altLang="en-US" sz="2000" dirty="0"/>
              <a:t>净输入信号的正半周幅值小于负半周幅值</a:t>
            </a:r>
          </a:p>
        </p:txBody>
      </p:sp>
      <p:sp>
        <p:nvSpPr>
          <p:cNvPr id="15366" name="Rectangle 15"/>
          <p:cNvSpPr>
            <a:spLocks noChangeArrowheads="1"/>
          </p:cNvSpPr>
          <p:nvPr/>
        </p:nvSpPr>
        <p:spPr bwMode="auto">
          <a:xfrm>
            <a:off x="1551170" y="892175"/>
            <a:ext cx="5346335"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kumimoji="0" lang="zh-CN" altLang="en-US" sz="2000" dirty="0">
                <a:solidFill>
                  <a:srgbClr val="000000"/>
                </a:solidFill>
              </a:rPr>
              <a:t>设基本放大电路的输出信号与输入信号同相。</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75853"/>
                                        </p:tgtEl>
                                        <p:attrNameLst>
                                          <p:attrName>style.visibility</p:attrName>
                                        </p:attrNameLst>
                                      </p:cBhvr>
                                      <p:to>
                                        <p:strVal val="visible"/>
                                      </p:to>
                                    </p:set>
                                    <p:animEffect transition="in" filter="wipe(left)">
                                      <p:cBhvr>
                                        <p:cTn id="7" dur="500"/>
                                        <p:tgtEl>
                                          <p:spTgt spid="6758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75851"/>
                                        </p:tgtEl>
                                        <p:attrNameLst>
                                          <p:attrName>style.visibility</p:attrName>
                                        </p:attrNameLst>
                                      </p:cBhvr>
                                      <p:to>
                                        <p:strVal val="visible"/>
                                      </p:to>
                                    </p:set>
                                    <p:animEffect transition="in" filter="wipe(left)">
                                      <p:cBhvr>
                                        <p:cTn id="12" dur="500"/>
                                        <p:tgtEl>
                                          <p:spTgt spid="6758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75854"/>
                                        </p:tgtEl>
                                        <p:attrNameLst>
                                          <p:attrName>style.visibility</p:attrName>
                                        </p:attrNameLst>
                                      </p:cBhvr>
                                      <p:to>
                                        <p:strVal val="visible"/>
                                      </p:to>
                                    </p:set>
                                    <p:animEffect transition="in" filter="wipe(left)">
                                      <p:cBhvr>
                                        <p:cTn id="17" dur="500"/>
                                        <p:tgtEl>
                                          <p:spTgt spid="6758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75852"/>
                                        </p:tgtEl>
                                        <p:attrNameLst>
                                          <p:attrName>style.visibility</p:attrName>
                                        </p:attrNameLst>
                                      </p:cBhvr>
                                      <p:to>
                                        <p:strVal val="visible"/>
                                      </p:to>
                                    </p:set>
                                    <p:animEffect transition="in" filter="wipe(left)">
                                      <p:cBhvr>
                                        <p:cTn id="22" dur="500"/>
                                        <p:tgtEl>
                                          <p:spTgt spid="6758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52" grpId="0" animBg="1" autoUpdateAnimBg="0"/>
      <p:bldP spid="675854"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Text Box 4"/>
          <p:cNvSpPr txBox="1">
            <a:spLocks noChangeArrowheads="1"/>
          </p:cNvSpPr>
          <p:nvPr/>
        </p:nvSpPr>
        <p:spPr bwMode="auto">
          <a:xfrm>
            <a:off x="660400" y="763588"/>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eaLnBrk="1" hangingPunct="1">
              <a:spcBef>
                <a:spcPct val="50000"/>
              </a:spcBef>
              <a:buFontTx/>
              <a:buNone/>
              <a:defRPr>
                <a:solidFill>
                  <a:srgbClr val="990033"/>
                </a:solidFill>
              </a:defRPr>
            </a:lvl1pPr>
            <a:lvl2pPr marL="742950" indent="-285750" algn="l" eaLnBrk="0" hangingPunct="0">
              <a:spcBef>
                <a:spcPct val="20000"/>
              </a:spcBef>
              <a:buChar char="–"/>
              <a:defRPr sz="2800"/>
            </a:lvl2pPr>
            <a:lvl3pPr marL="1143000" indent="-228600" algn="l" eaLnBrk="0" hangingPunct="0">
              <a:spcBef>
                <a:spcPct val="20000"/>
              </a:spcBef>
              <a:buChar char="•"/>
            </a:lvl3pPr>
            <a:lvl4pPr marL="1600200" indent="-228600" algn="l" eaLnBrk="0" hangingPunct="0">
              <a:spcBef>
                <a:spcPct val="20000"/>
              </a:spcBef>
              <a:buChar char="–"/>
              <a:defRPr sz="2000"/>
            </a:lvl4pPr>
            <a:lvl5pPr marL="2057400" indent="-228600" algn="l" eaLnBrk="0" hangingPunct="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zh-CN" altLang="en-US" dirty="0"/>
              <a:t>五</a:t>
            </a:r>
            <a:r>
              <a:rPr lang="zh-CN" altLang="en-US" dirty="0" smtClean="0"/>
              <a:t>、</a:t>
            </a:r>
            <a:r>
              <a:rPr lang="zh-CN" altLang="en-US" dirty="0"/>
              <a:t>负反馈网络控制放大器的输入电阻</a:t>
            </a:r>
          </a:p>
        </p:txBody>
      </p:sp>
      <p:sp>
        <p:nvSpPr>
          <p:cNvPr id="16387" name="Rectangle 8"/>
          <p:cNvSpPr>
            <a:spLocks noChangeArrowheads="1"/>
          </p:cNvSpPr>
          <p:nvPr/>
        </p:nvSpPr>
        <p:spPr bwMode="auto">
          <a:xfrm>
            <a:off x="1060450" y="1498570"/>
            <a:ext cx="6571030"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dirty="0">
                <a:solidFill>
                  <a:srgbClr val="0000CC"/>
                </a:solidFill>
                <a:ea typeface="宋体" charset="-122"/>
              </a:rPr>
              <a:t>1</a:t>
            </a:r>
            <a:r>
              <a:rPr lang="zh-CN" altLang="en-US" sz="2000" dirty="0">
                <a:solidFill>
                  <a:srgbClr val="0000CC"/>
                </a:solidFill>
                <a:ea typeface="宋体" charset="-122"/>
              </a:rPr>
              <a:t>、</a:t>
            </a:r>
            <a:r>
              <a:rPr lang="zh-CN" altLang="en-US" sz="2000" dirty="0" smtClean="0">
                <a:solidFill>
                  <a:srgbClr val="0000CC"/>
                </a:solidFill>
                <a:ea typeface="宋体" charset="-122"/>
              </a:rPr>
              <a:t>串联</a:t>
            </a:r>
            <a:r>
              <a:rPr lang="zh-CN" altLang="en-US" sz="2000" dirty="0">
                <a:solidFill>
                  <a:srgbClr val="0000CC"/>
                </a:solidFill>
                <a:ea typeface="宋体" charset="-122"/>
              </a:rPr>
              <a:t>反馈放大器的输入电阻增大，与采样对象无关。 </a:t>
            </a:r>
          </a:p>
        </p:txBody>
      </p:sp>
      <p:graphicFrame>
        <p:nvGraphicFramePr>
          <p:cNvPr id="16389" name="Object 10"/>
          <p:cNvGraphicFramePr>
            <a:graphicFrameLocks noChangeAspect="1"/>
          </p:cNvGraphicFramePr>
          <p:nvPr>
            <p:extLst>
              <p:ext uri="{D42A27DB-BD31-4B8C-83A1-F6EECF244321}">
                <p14:modId xmlns:p14="http://schemas.microsoft.com/office/powerpoint/2010/main" val="4139518332"/>
              </p:ext>
            </p:extLst>
          </p:nvPr>
        </p:nvGraphicFramePr>
        <p:xfrm>
          <a:off x="6086475" y="2614295"/>
          <a:ext cx="2125980" cy="3383280"/>
        </p:xfrm>
        <a:graphic>
          <a:graphicData uri="http://schemas.openxmlformats.org/presentationml/2006/ole">
            <mc:AlternateContent xmlns:mc="http://schemas.openxmlformats.org/markup-compatibility/2006">
              <mc:Choice xmlns:v="urn:schemas-microsoft-com:vml" Requires="v">
                <p:oleObj spid="_x0000_s16608" name="Equation" r:id="rId3" imgW="1181100" imgH="1879600" progId="Equation.DSMT4">
                  <p:embed/>
                </p:oleObj>
              </mc:Choice>
              <mc:Fallback>
                <p:oleObj name="Equation" r:id="rId3" imgW="1181100" imgH="187960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6475" y="2614295"/>
                        <a:ext cx="2125980" cy="3383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 name="图片 1"/>
          <p:cNvPicPr>
            <a:picLocks noChangeAspect="1"/>
          </p:cNvPicPr>
          <p:nvPr/>
        </p:nvPicPr>
        <p:blipFill>
          <a:blip r:embed="rId5"/>
          <a:stretch>
            <a:fillRect/>
          </a:stretch>
        </p:blipFill>
        <p:spPr>
          <a:xfrm>
            <a:off x="466725" y="2439035"/>
            <a:ext cx="5372100" cy="37338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387"/>
                                        </p:tgtEl>
                                        <p:attrNameLst>
                                          <p:attrName>style.visibility</p:attrName>
                                        </p:attrNameLst>
                                      </p:cBhvr>
                                      <p:to>
                                        <p:strVal val="visible"/>
                                      </p:to>
                                    </p:set>
                                    <p:animEffect transition="in" filter="barn(inVertical)">
                                      <p:cBhvr>
                                        <p:cTn id="7" dur="500"/>
                                        <p:tgtEl>
                                          <p:spTgt spid="1638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6389"/>
                                        </p:tgtEl>
                                        <p:attrNameLst>
                                          <p:attrName>style.visibility</p:attrName>
                                        </p:attrNameLst>
                                      </p:cBhvr>
                                      <p:to>
                                        <p:strVal val="visible"/>
                                      </p:to>
                                    </p:set>
                                    <p:animEffect transition="in" filter="barn(inVertical)">
                                      <p:cBhvr>
                                        <p:cTn id="17" dur="500"/>
                                        <p:tgtEl>
                                          <p:spTgt spid="16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3"/>
          <p:cNvSpPr>
            <a:spLocks noChangeArrowheads="1"/>
          </p:cNvSpPr>
          <p:nvPr/>
        </p:nvSpPr>
        <p:spPr bwMode="auto">
          <a:xfrm>
            <a:off x="587375" y="568325"/>
            <a:ext cx="6571030"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sz="2000" dirty="0" smtClean="0">
                <a:solidFill>
                  <a:srgbClr val="0000CC"/>
                </a:solidFill>
                <a:ea typeface="宋体" charset="-122"/>
              </a:rPr>
              <a:t>2</a:t>
            </a:r>
            <a:r>
              <a:rPr lang="zh-CN" altLang="en-US" sz="2000" dirty="0" smtClean="0">
                <a:solidFill>
                  <a:srgbClr val="0000CC"/>
                </a:solidFill>
                <a:ea typeface="宋体" charset="-122"/>
              </a:rPr>
              <a:t>、并联</a:t>
            </a:r>
            <a:r>
              <a:rPr lang="zh-CN" altLang="en-US" sz="2000" dirty="0">
                <a:solidFill>
                  <a:srgbClr val="0000CC"/>
                </a:solidFill>
                <a:ea typeface="宋体" charset="-122"/>
              </a:rPr>
              <a:t>反馈放大器的输入电阻减小，与采样对象无关。 </a:t>
            </a:r>
          </a:p>
        </p:txBody>
      </p:sp>
      <p:graphicFrame>
        <p:nvGraphicFramePr>
          <p:cNvPr id="17411" name="Object 5"/>
          <p:cNvGraphicFramePr>
            <a:graphicFrameLocks noChangeAspect="1"/>
          </p:cNvGraphicFramePr>
          <p:nvPr>
            <p:extLst>
              <p:ext uri="{D42A27DB-BD31-4B8C-83A1-F6EECF244321}">
                <p14:modId xmlns:p14="http://schemas.microsoft.com/office/powerpoint/2010/main" val="1841949230"/>
              </p:ext>
            </p:extLst>
          </p:nvPr>
        </p:nvGraphicFramePr>
        <p:xfrm>
          <a:off x="6324600" y="1782763"/>
          <a:ext cx="1851660" cy="4160520"/>
        </p:xfrm>
        <a:graphic>
          <a:graphicData uri="http://schemas.openxmlformats.org/presentationml/2006/ole">
            <mc:AlternateContent xmlns:mc="http://schemas.openxmlformats.org/markup-compatibility/2006">
              <mc:Choice xmlns:v="urn:schemas-microsoft-com:vml" Requires="v">
                <p:oleObj spid="_x0000_s17629" name="Equation" r:id="rId3" imgW="1028700" imgH="2311400" progId="Equation.DSMT4">
                  <p:embed/>
                </p:oleObj>
              </mc:Choice>
              <mc:Fallback>
                <p:oleObj name="Equation" r:id="rId3" imgW="1028700" imgH="23114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1782763"/>
                        <a:ext cx="1851660" cy="416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7412" name="图片 2302"/>
          <p:cNvPicPr>
            <a:picLocks noChangeAspect="1" noChangeArrowheads="1"/>
          </p:cNvPicPr>
          <p:nvPr/>
        </p:nvPicPr>
        <p:blipFill>
          <a:blip r:embed="rId5">
            <a:extLst>
              <a:ext uri="{28A0092B-C50C-407E-A947-70E740481C1C}">
                <a14:useLocalDpi xmlns:a14="http://schemas.microsoft.com/office/drawing/2010/main" val="0"/>
              </a:ext>
            </a:extLst>
          </a:blip>
          <a:srcRect b="14412"/>
          <a:stretch>
            <a:fillRect/>
          </a:stretch>
        </p:blipFill>
        <p:spPr bwMode="auto">
          <a:xfrm>
            <a:off x="485775" y="1665288"/>
            <a:ext cx="5589588" cy="319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412"/>
                                        </p:tgtEl>
                                        <p:attrNameLst>
                                          <p:attrName>style.visibility</p:attrName>
                                        </p:attrNameLst>
                                      </p:cBhvr>
                                      <p:to>
                                        <p:strVal val="visible"/>
                                      </p:to>
                                    </p:set>
                                    <p:animEffect transition="in" filter="barn(inVertical)">
                                      <p:cBhvr>
                                        <p:cTn id="7" dur="500"/>
                                        <p:tgtEl>
                                          <p:spTgt spid="174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7411"/>
                                        </p:tgtEl>
                                        <p:attrNameLst>
                                          <p:attrName>style.visibility</p:attrName>
                                        </p:attrNameLst>
                                      </p:cBhvr>
                                      <p:to>
                                        <p:strVal val="visible"/>
                                      </p:to>
                                    </p:set>
                                    <p:animEffect transition="in" filter="barn(inVertical)">
                                      <p:cBhvr>
                                        <p:cTn id="12" dur="500"/>
                                        <p:tgtEl>
                                          <p:spTgt spid="17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509588" y="411163"/>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eaLnBrk="1" hangingPunct="1">
              <a:spcBef>
                <a:spcPct val="50000"/>
              </a:spcBef>
              <a:buFontTx/>
              <a:buNone/>
              <a:defRPr>
                <a:solidFill>
                  <a:srgbClr val="990033"/>
                </a:solidFill>
              </a:defRPr>
            </a:lvl1pPr>
            <a:lvl2pPr marL="742950" indent="-285750" algn="l" eaLnBrk="0" hangingPunct="0">
              <a:spcBef>
                <a:spcPct val="20000"/>
              </a:spcBef>
              <a:buChar char="–"/>
              <a:defRPr sz="2800"/>
            </a:lvl2pPr>
            <a:lvl3pPr marL="1143000" indent="-228600" algn="l" eaLnBrk="0" hangingPunct="0">
              <a:spcBef>
                <a:spcPct val="20000"/>
              </a:spcBef>
              <a:buChar char="•"/>
            </a:lvl3pPr>
            <a:lvl4pPr marL="1600200" indent="-228600" algn="l" eaLnBrk="0" hangingPunct="0">
              <a:spcBef>
                <a:spcPct val="20000"/>
              </a:spcBef>
              <a:buChar char="–"/>
              <a:defRPr sz="2000"/>
            </a:lvl4pPr>
            <a:lvl5pPr marL="2057400" indent="-228600" algn="l" eaLnBrk="0" hangingPunct="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zh-CN" altLang="en-US" dirty="0" smtClean="0"/>
              <a:t>六、</a:t>
            </a:r>
            <a:r>
              <a:rPr lang="zh-CN" altLang="en-US" dirty="0"/>
              <a:t>负反馈网络控制放大器的输出电阻</a:t>
            </a:r>
          </a:p>
        </p:txBody>
      </p:sp>
      <p:sp>
        <p:nvSpPr>
          <p:cNvPr id="18435" name="Rectangle 3"/>
          <p:cNvSpPr>
            <a:spLocks noChangeArrowheads="1"/>
          </p:cNvSpPr>
          <p:nvPr/>
        </p:nvSpPr>
        <p:spPr bwMode="auto">
          <a:xfrm>
            <a:off x="962024" y="1031693"/>
            <a:ext cx="760336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sz="2000" dirty="0" smtClean="0">
                <a:solidFill>
                  <a:srgbClr val="0000CC"/>
                </a:solidFill>
                <a:ea typeface="宋体" charset="-122"/>
              </a:rPr>
              <a:t>1</a:t>
            </a:r>
            <a:r>
              <a:rPr lang="zh-CN" altLang="en-US" sz="2000" dirty="0" smtClean="0">
                <a:solidFill>
                  <a:srgbClr val="0000CC"/>
                </a:solidFill>
                <a:ea typeface="宋体" charset="-122"/>
              </a:rPr>
              <a:t>、</a:t>
            </a:r>
            <a:r>
              <a:rPr lang="zh-CN" altLang="zh-CN" sz="2000" dirty="0" smtClean="0">
                <a:solidFill>
                  <a:srgbClr val="0000CC"/>
                </a:solidFill>
                <a:ea typeface="宋体" charset="-122"/>
              </a:rPr>
              <a:t>电压</a:t>
            </a:r>
            <a:r>
              <a:rPr lang="zh-CN" altLang="zh-CN" sz="2000" dirty="0">
                <a:solidFill>
                  <a:srgbClr val="0000CC"/>
                </a:solidFill>
                <a:ea typeface="宋体" charset="-122"/>
              </a:rPr>
              <a:t>采样使放大器的输出电阻减小，与</a:t>
            </a:r>
            <a:r>
              <a:rPr lang="zh-CN" altLang="zh-CN" sz="2000" dirty="0" smtClean="0">
                <a:solidFill>
                  <a:srgbClr val="0000CC"/>
                </a:solidFill>
                <a:ea typeface="宋体" charset="-122"/>
              </a:rPr>
              <a:t>输</a:t>
            </a:r>
            <a:r>
              <a:rPr lang="zh-CN" altLang="en-US" sz="2000" dirty="0" smtClean="0">
                <a:solidFill>
                  <a:srgbClr val="0000CC"/>
                </a:solidFill>
                <a:ea typeface="宋体" charset="-122"/>
              </a:rPr>
              <a:t>入</a:t>
            </a:r>
            <a:r>
              <a:rPr lang="zh-CN" altLang="zh-CN" sz="2000" dirty="0" smtClean="0">
                <a:solidFill>
                  <a:srgbClr val="0000CC"/>
                </a:solidFill>
                <a:ea typeface="宋体" charset="-122"/>
              </a:rPr>
              <a:t>端</a:t>
            </a:r>
            <a:r>
              <a:rPr lang="zh-CN" altLang="zh-CN" sz="2000" dirty="0">
                <a:solidFill>
                  <a:srgbClr val="0000CC"/>
                </a:solidFill>
                <a:ea typeface="宋体" charset="-122"/>
              </a:rPr>
              <a:t>接入方式无关</a:t>
            </a:r>
            <a:r>
              <a:rPr lang="zh-CN" altLang="en-US" sz="2000" dirty="0">
                <a:solidFill>
                  <a:srgbClr val="0000CC"/>
                </a:solidFill>
                <a:ea typeface="宋体" charset="-122"/>
              </a:rPr>
              <a:t>。 </a:t>
            </a:r>
          </a:p>
        </p:txBody>
      </p:sp>
      <p:sp>
        <p:nvSpPr>
          <p:cNvPr id="18437" name="Rectangle 8"/>
          <p:cNvSpPr>
            <a:spLocks noChangeArrowheads="1"/>
          </p:cNvSpPr>
          <p:nvPr/>
        </p:nvSpPr>
        <p:spPr bwMode="auto">
          <a:xfrm>
            <a:off x="5777334" y="2487613"/>
            <a:ext cx="70083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a:t>假设</a:t>
            </a:r>
          </a:p>
        </p:txBody>
      </p:sp>
      <p:graphicFrame>
        <p:nvGraphicFramePr>
          <p:cNvPr id="18438" name="Object 12"/>
          <p:cNvGraphicFramePr>
            <a:graphicFrameLocks noChangeAspect="1"/>
          </p:cNvGraphicFramePr>
          <p:nvPr>
            <p:extLst>
              <p:ext uri="{D42A27DB-BD31-4B8C-83A1-F6EECF244321}">
                <p14:modId xmlns:p14="http://schemas.microsoft.com/office/powerpoint/2010/main" val="3201677999"/>
              </p:ext>
            </p:extLst>
          </p:nvPr>
        </p:nvGraphicFramePr>
        <p:xfrm>
          <a:off x="6570663" y="2409825"/>
          <a:ext cx="776903" cy="502702"/>
        </p:xfrm>
        <a:graphic>
          <a:graphicData uri="http://schemas.openxmlformats.org/presentationml/2006/ole">
            <mc:AlternateContent xmlns:mc="http://schemas.openxmlformats.org/markup-compatibility/2006">
              <mc:Choice xmlns:v="urn:schemas-microsoft-com:vml" Requires="v">
                <p:oleObj spid="_x0000_s133201" name="Equation" r:id="rId3" imgW="431613" imgH="279279" progId="Equation.DSMT4">
                  <p:embed/>
                </p:oleObj>
              </mc:Choice>
              <mc:Fallback>
                <p:oleObj name="Equation" r:id="rId3" imgW="431613" imgH="279279"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0663" y="2409825"/>
                        <a:ext cx="776903" cy="5027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8439" name="图片 229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08713" y="3117850"/>
            <a:ext cx="1828800" cy="41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0" name="Text Box 20"/>
          <p:cNvSpPr txBox="1">
            <a:spLocks noChangeArrowheads="1"/>
          </p:cNvSpPr>
          <p:nvPr/>
        </p:nvSpPr>
        <p:spPr bwMode="auto">
          <a:xfrm>
            <a:off x="5353050" y="1897192"/>
            <a:ext cx="1447800" cy="400110"/>
          </a:xfrm>
          <a:prstGeom prst="rect">
            <a:avLst/>
          </a:prstGeom>
          <a:solidFill>
            <a:srgbClr val="FF9900"/>
          </a:solidFill>
          <a:ln>
            <a:noFill/>
          </a:ln>
          <a:effectLs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50000"/>
              </a:spcBef>
              <a:buFontTx/>
              <a:buNone/>
            </a:pPr>
            <a:r>
              <a:rPr lang="zh-CN" altLang="en-US" sz="2000" dirty="0">
                <a:solidFill>
                  <a:schemeClr val="accent2"/>
                </a:solidFill>
              </a:rPr>
              <a:t>串联接入</a:t>
            </a:r>
          </a:p>
        </p:txBody>
      </p:sp>
      <p:grpSp>
        <p:nvGrpSpPr>
          <p:cNvPr id="2" name="组合 1"/>
          <p:cNvGrpSpPr/>
          <p:nvPr/>
        </p:nvGrpSpPr>
        <p:grpSpPr>
          <a:xfrm>
            <a:off x="0" y="1958975"/>
            <a:ext cx="5353050" cy="3589338"/>
            <a:chOff x="0" y="1958975"/>
            <a:chExt cx="5353050" cy="3589338"/>
          </a:xfrm>
        </p:grpSpPr>
        <p:pic>
          <p:nvPicPr>
            <p:cNvPr id="18436" name="图片 2305"/>
            <p:cNvPicPr>
              <a:picLocks noChangeAspect="1" noChangeArrowheads="1"/>
            </p:cNvPicPr>
            <p:nvPr/>
          </p:nvPicPr>
          <p:blipFill>
            <a:blip r:embed="rId6">
              <a:extLst>
                <a:ext uri="{28A0092B-C50C-407E-A947-70E740481C1C}">
                  <a14:useLocalDpi xmlns:a14="http://schemas.microsoft.com/office/drawing/2010/main" val="0"/>
                </a:ext>
              </a:extLst>
            </a:blip>
            <a:srcRect b="10591"/>
            <a:stretch>
              <a:fillRect/>
            </a:stretch>
          </p:blipFill>
          <p:spPr bwMode="auto">
            <a:xfrm>
              <a:off x="0" y="1958975"/>
              <a:ext cx="5353050" cy="358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1" name="Rectangle 21"/>
            <p:cNvSpPr>
              <a:spLocks noChangeArrowheads="1"/>
            </p:cNvSpPr>
            <p:nvPr/>
          </p:nvSpPr>
          <p:spPr bwMode="auto">
            <a:xfrm>
              <a:off x="2441575" y="3316288"/>
              <a:ext cx="354013" cy="39687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en-US" altLang="zh-CN" sz="2000" i="1" dirty="0"/>
                <a:t>A</a:t>
              </a:r>
            </a:p>
          </p:txBody>
        </p:sp>
      </p:grpSp>
      <p:graphicFrame>
        <p:nvGraphicFramePr>
          <p:cNvPr id="18442" name="Object 22"/>
          <p:cNvGraphicFramePr>
            <a:graphicFrameLocks noGrp="1" noChangeAspect="1"/>
          </p:cNvGraphicFramePr>
          <p:nvPr>
            <p:ph/>
            <p:extLst>
              <p:ext uri="{D42A27DB-BD31-4B8C-83A1-F6EECF244321}">
                <p14:modId xmlns:p14="http://schemas.microsoft.com/office/powerpoint/2010/main" val="3670943033"/>
              </p:ext>
            </p:extLst>
          </p:nvPr>
        </p:nvGraphicFramePr>
        <p:xfrm>
          <a:off x="6497217" y="3773488"/>
          <a:ext cx="891153" cy="411302"/>
        </p:xfrm>
        <a:graphic>
          <a:graphicData uri="http://schemas.openxmlformats.org/presentationml/2006/ole">
            <mc:AlternateContent xmlns:mc="http://schemas.openxmlformats.org/markup-compatibility/2006">
              <mc:Choice xmlns:v="urn:schemas-microsoft-com:vml" Requires="v">
                <p:oleObj spid="_x0000_s133202" name="Equation" r:id="rId7" imgW="495085" imgH="228501" progId="Equation.DSMT4">
                  <p:embed/>
                </p:oleObj>
              </mc:Choice>
              <mc:Fallback>
                <p:oleObj name="Equation" r:id="rId7" imgW="495085" imgH="228501" progId="Equation.DSMT4">
                  <p:embed/>
                  <p:pic>
                    <p:nvPicPr>
                      <p:cNvPr id="0"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97217" y="3773488"/>
                        <a:ext cx="891153" cy="41130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43" name="Rectangle 24"/>
          <p:cNvSpPr>
            <a:spLocks noChangeArrowheads="1"/>
          </p:cNvSpPr>
          <p:nvPr/>
        </p:nvSpPr>
        <p:spPr bwMode="auto">
          <a:xfrm>
            <a:off x="5796384" y="3773488"/>
            <a:ext cx="70083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a:t>假设</a:t>
            </a:r>
          </a:p>
        </p:txBody>
      </p:sp>
      <p:graphicFrame>
        <p:nvGraphicFramePr>
          <p:cNvPr id="18444" name="Object 26"/>
          <p:cNvGraphicFramePr>
            <a:graphicFrameLocks noChangeAspect="1"/>
          </p:cNvGraphicFramePr>
          <p:nvPr>
            <p:extLst>
              <p:ext uri="{D42A27DB-BD31-4B8C-83A1-F6EECF244321}">
                <p14:modId xmlns:p14="http://schemas.microsoft.com/office/powerpoint/2010/main" val="3463783252"/>
              </p:ext>
            </p:extLst>
          </p:nvPr>
        </p:nvGraphicFramePr>
        <p:xfrm>
          <a:off x="6208713" y="4284663"/>
          <a:ext cx="1920240" cy="525780"/>
        </p:xfrm>
        <a:graphic>
          <a:graphicData uri="http://schemas.openxmlformats.org/presentationml/2006/ole">
            <mc:AlternateContent xmlns:mc="http://schemas.openxmlformats.org/markup-compatibility/2006">
              <mc:Choice xmlns:v="urn:schemas-microsoft-com:vml" Requires="v">
                <p:oleObj spid="_x0000_s133203" name="Equation" r:id="rId9" imgW="1066800" imgH="292100" progId="Equation.DSMT4">
                  <p:embed/>
                </p:oleObj>
              </mc:Choice>
              <mc:Fallback>
                <p:oleObj name="Equation" r:id="rId9" imgW="1066800" imgH="292100" progId="Equation.DSMT4">
                  <p:embed/>
                  <p:pic>
                    <p:nvPicPr>
                      <p:cNvPr id="0" name="Object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08713" y="4284663"/>
                        <a:ext cx="1920240" cy="5257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5" name="Object 27"/>
          <p:cNvGraphicFramePr>
            <a:graphicFrameLocks noChangeAspect="1"/>
          </p:cNvGraphicFramePr>
          <p:nvPr>
            <p:extLst>
              <p:ext uri="{D42A27DB-BD31-4B8C-83A1-F6EECF244321}">
                <p14:modId xmlns:p14="http://schemas.microsoft.com/office/powerpoint/2010/main" val="3795299201"/>
              </p:ext>
            </p:extLst>
          </p:nvPr>
        </p:nvGraphicFramePr>
        <p:xfrm>
          <a:off x="6048693" y="5040313"/>
          <a:ext cx="2148840" cy="411480"/>
        </p:xfrm>
        <a:graphic>
          <a:graphicData uri="http://schemas.openxmlformats.org/presentationml/2006/ole">
            <mc:AlternateContent xmlns:mc="http://schemas.openxmlformats.org/markup-compatibility/2006">
              <mc:Choice xmlns:v="urn:schemas-microsoft-com:vml" Requires="v">
                <p:oleObj spid="_x0000_s133204" name="Equation" r:id="rId11" imgW="1193800" imgH="228600" progId="Equation.DSMT4">
                  <p:embed/>
                </p:oleObj>
              </mc:Choice>
              <mc:Fallback>
                <p:oleObj name="Equation" r:id="rId11" imgW="1193800" imgH="228600" progId="Equation.DSMT4">
                  <p:embed/>
                  <p:pic>
                    <p:nvPicPr>
                      <p:cNvPr id="0" name="Object 2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48693" y="5040313"/>
                        <a:ext cx="2148840" cy="411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6" name="Object 28"/>
          <p:cNvGraphicFramePr>
            <a:graphicFrameLocks noChangeAspect="1"/>
          </p:cNvGraphicFramePr>
          <p:nvPr>
            <p:extLst>
              <p:ext uri="{D42A27DB-BD31-4B8C-83A1-F6EECF244321}">
                <p14:modId xmlns:p14="http://schemas.microsoft.com/office/powerpoint/2010/main" val="2478864290"/>
              </p:ext>
            </p:extLst>
          </p:nvPr>
        </p:nvGraphicFramePr>
        <p:xfrm>
          <a:off x="6208713" y="5565776"/>
          <a:ext cx="2033587" cy="777875"/>
        </p:xfrm>
        <a:graphic>
          <a:graphicData uri="http://schemas.openxmlformats.org/presentationml/2006/ole">
            <mc:AlternateContent xmlns:mc="http://schemas.openxmlformats.org/markup-compatibility/2006">
              <mc:Choice xmlns:v="urn:schemas-microsoft-com:vml" Requires="v">
                <p:oleObj spid="_x0000_s133205" name="Equation" r:id="rId13" imgW="1130040" imgH="431640" progId="Equation.DSMT4">
                  <p:embed/>
                </p:oleObj>
              </mc:Choice>
              <mc:Fallback>
                <p:oleObj name="Equation" r:id="rId13" imgW="1130040" imgH="431640" progId="Equation.DSMT4">
                  <p:embed/>
                  <p:pic>
                    <p:nvPicPr>
                      <p:cNvPr id="0" name="Object 28"/>
                      <p:cNvPicPr>
                        <a:picLocks noChangeAspect="1" noChangeArrowheads="1"/>
                      </p:cNvPicPr>
                      <p:nvPr/>
                    </p:nvPicPr>
                    <p:blipFill>
                      <a:blip r:embed="rId14"/>
                      <a:srcRect/>
                      <a:stretch>
                        <a:fillRect/>
                      </a:stretch>
                    </p:blipFill>
                    <p:spPr bwMode="auto">
                      <a:xfrm>
                        <a:off x="6208713" y="5565776"/>
                        <a:ext cx="2033587"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barn(inVertical)">
                                      <p:cBhvr>
                                        <p:cTn id="7" dur="500"/>
                                        <p:tgtEl>
                                          <p:spTgt spid="1843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8440"/>
                                        </p:tgtEl>
                                        <p:attrNameLst>
                                          <p:attrName>style.visibility</p:attrName>
                                        </p:attrNameLst>
                                      </p:cBhvr>
                                      <p:to>
                                        <p:strVal val="visible"/>
                                      </p:to>
                                    </p:set>
                                    <p:animEffect transition="in" filter="barn(inVertical)">
                                      <p:cBhvr>
                                        <p:cTn id="17" dur="500"/>
                                        <p:tgtEl>
                                          <p:spTgt spid="1844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8437"/>
                                        </p:tgtEl>
                                        <p:attrNameLst>
                                          <p:attrName>style.visibility</p:attrName>
                                        </p:attrNameLst>
                                      </p:cBhvr>
                                      <p:to>
                                        <p:strVal val="visible"/>
                                      </p:to>
                                    </p:set>
                                    <p:animEffect transition="in" filter="barn(inVertical)">
                                      <p:cBhvr>
                                        <p:cTn id="22" dur="500"/>
                                        <p:tgtEl>
                                          <p:spTgt spid="18437"/>
                                        </p:tgtEl>
                                      </p:cBhvr>
                                    </p:animEffect>
                                  </p:childTnLst>
                                </p:cTn>
                              </p:par>
                              <p:par>
                                <p:cTn id="23" presetID="16" presetClass="entr" presetSubtype="21" fill="hold" nodeType="withEffect">
                                  <p:stCondLst>
                                    <p:cond delay="0"/>
                                  </p:stCondLst>
                                  <p:childTnLst>
                                    <p:set>
                                      <p:cBhvr>
                                        <p:cTn id="24" dur="1" fill="hold">
                                          <p:stCondLst>
                                            <p:cond delay="0"/>
                                          </p:stCondLst>
                                        </p:cTn>
                                        <p:tgtEl>
                                          <p:spTgt spid="18438"/>
                                        </p:tgtEl>
                                        <p:attrNameLst>
                                          <p:attrName>style.visibility</p:attrName>
                                        </p:attrNameLst>
                                      </p:cBhvr>
                                      <p:to>
                                        <p:strVal val="visible"/>
                                      </p:to>
                                    </p:set>
                                    <p:animEffect transition="in" filter="barn(inVertical)">
                                      <p:cBhvr>
                                        <p:cTn id="25" dur="500"/>
                                        <p:tgtEl>
                                          <p:spTgt spid="18438"/>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18439"/>
                                        </p:tgtEl>
                                        <p:attrNameLst>
                                          <p:attrName>style.visibility</p:attrName>
                                        </p:attrNameLst>
                                      </p:cBhvr>
                                      <p:to>
                                        <p:strVal val="visible"/>
                                      </p:to>
                                    </p:set>
                                    <p:animEffect transition="in" filter="barn(inVertical)">
                                      <p:cBhvr>
                                        <p:cTn id="30" dur="500"/>
                                        <p:tgtEl>
                                          <p:spTgt spid="18439"/>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18442"/>
                                        </p:tgtEl>
                                        <p:attrNameLst>
                                          <p:attrName>style.visibility</p:attrName>
                                        </p:attrNameLst>
                                      </p:cBhvr>
                                      <p:to>
                                        <p:strVal val="visible"/>
                                      </p:to>
                                    </p:set>
                                    <p:animEffect transition="in" filter="barn(inVertical)">
                                      <p:cBhvr>
                                        <p:cTn id="35" dur="500"/>
                                        <p:tgtEl>
                                          <p:spTgt spid="18442"/>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18443"/>
                                        </p:tgtEl>
                                        <p:attrNameLst>
                                          <p:attrName>style.visibility</p:attrName>
                                        </p:attrNameLst>
                                      </p:cBhvr>
                                      <p:to>
                                        <p:strVal val="visible"/>
                                      </p:to>
                                    </p:set>
                                    <p:animEffect transition="in" filter="barn(inVertical)">
                                      <p:cBhvr>
                                        <p:cTn id="38" dur="500"/>
                                        <p:tgtEl>
                                          <p:spTgt spid="18443"/>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18444"/>
                                        </p:tgtEl>
                                        <p:attrNameLst>
                                          <p:attrName>style.visibility</p:attrName>
                                        </p:attrNameLst>
                                      </p:cBhvr>
                                      <p:to>
                                        <p:strVal val="visible"/>
                                      </p:to>
                                    </p:set>
                                    <p:animEffect transition="in" filter="barn(inVertical)">
                                      <p:cBhvr>
                                        <p:cTn id="43" dur="500"/>
                                        <p:tgtEl>
                                          <p:spTgt spid="18444"/>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nodeType="clickEffect">
                                  <p:stCondLst>
                                    <p:cond delay="0"/>
                                  </p:stCondLst>
                                  <p:childTnLst>
                                    <p:set>
                                      <p:cBhvr>
                                        <p:cTn id="47" dur="1" fill="hold">
                                          <p:stCondLst>
                                            <p:cond delay="0"/>
                                          </p:stCondLst>
                                        </p:cTn>
                                        <p:tgtEl>
                                          <p:spTgt spid="18445"/>
                                        </p:tgtEl>
                                        <p:attrNameLst>
                                          <p:attrName>style.visibility</p:attrName>
                                        </p:attrNameLst>
                                      </p:cBhvr>
                                      <p:to>
                                        <p:strVal val="visible"/>
                                      </p:to>
                                    </p:set>
                                    <p:animEffect transition="in" filter="barn(inVertical)">
                                      <p:cBhvr>
                                        <p:cTn id="48" dur="500"/>
                                        <p:tgtEl>
                                          <p:spTgt spid="18445"/>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nodeType="clickEffect">
                                  <p:stCondLst>
                                    <p:cond delay="0"/>
                                  </p:stCondLst>
                                  <p:childTnLst>
                                    <p:set>
                                      <p:cBhvr>
                                        <p:cTn id="52" dur="1" fill="hold">
                                          <p:stCondLst>
                                            <p:cond delay="0"/>
                                          </p:stCondLst>
                                        </p:cTn>
                                        <p:tgtEl>
                                          <p:spTgt spid="18446"/>
                                        </p:tgtEl>
                                        <p:attrNameLst>
                                          <p:attrName>style.visibility</p:attrName>
                                        </p:attrNameLst>
                                      </p:cBhvr>
                                      <p:to>
                                        <p:strVal val="visible"/>
                                      </p:to>
                                    </p:set>
                                    <p:animEffect transition="in" filter="barn(inVertical)">
                                      <p:cBhvr>
                                        <p:cTn id="53" dur="500"/>
                                        <p:tgtEl>
                                          <p:spTgt spid="18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p:bldP spid="18437" grpId="0"/>
      <p:bldP spid="18440" grpId="0" animBg="1"/>
      <p:bldP spid="18443"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9" name="Rectangle 7"/>
          <p:cNvSpPr>
            <a:spLocks noChangeArrowheads="1"/>
          </p:cNvSpPr>
          <p:nvPr/>
        </p:nvSpPr>
        <p:spPr bwMode="auto">
          <a:xfrm>
            <a:off x="5540796" y="1011238"/>
            <a:ext cx="70083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a:t>假设</a:t>
            </a:r>
          </a:p>
        </p:txBody>
      </p:sp>
      <p:graphicFrame>
        <p:nvGraphicFramePr>
          <p:cNvPr id="19460" name="Object 8"/>
          <p:cNvGraphicFramePr>
            <a:graphicFrameLocks noChangeAspect="1"/>
          </p:cNvGraphicFramePr>
          <p:nvPr>
            <p:extLst>
              <p:ext uri="{D42A27DB-BD31-4B8C-83A1-F6EECF244321}">
                <p14:modId xmlns:p14="http://schemas.microsoft.com/office/powerpoint/2010/main" val="636986115"/>
              </p:ext>
            </p:extLst>
          </p:nvPr>
        </p:nvGraphicFramePr>
        <p:xfrm>
          <a:off x="6407150" y="936686"/>
          <a:ext cx="776903" cy="502702"/>
        </p:xfrm>
        <a:graphic>
          <a:graphicData uri="http://schemas.openxmlformats.org/presentationml/2006/ole">
            <mc:AlternateContent xmlns:mc="http://schemas.openxmlformats.org/markup-compatibility/2006">
              <mc:Choice xmlns:v="urn:schemas-microsoft-com:vml" Requires="v">
                <p:oleObj spid="_x0000_s113007" name="Equation" r:id="rId3" imgW="431613" imgH="279279" progId="Equation.DSMT4">
                  <p:embed/>
                </p:oleObj>
              </mc:Choice>
              <mc:Fallback>
                <p:oleObj name="Equation" r:id="rId3" imgW="431613" imgH="279279"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7150" y="936686"/>
                        <a:ext cx="776903" cy="5027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1" name="Text Box 15"/>
          <p:cNvSpPr txBox="1">
            <a:spLocks noChangeArrowheads="1"/>
          </p:cNvSpPr>
          <p:nvPr/>
        </p:nvSpPr>
        <p:spPr bwMode="auto">
          <a:xfrm>
            <a:off x="4986128" y="501276"/>
            <a:ext cx="1447800" cy="400110"/>
          </a:xfrm>
          <a:prstGeom prst="rect">
            <a:avLst/>
          </a:prstGeom>
          <a:solidFill>
            <a:srgbClr val="FFC000"/>
          </a:solidFill>
          <a:ln>
            <a:noFill/>
          </a:ln>
          <a:effectLs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50000"/>
              </a:spcBef>
              <a:buFontTx/>
              <a:buNone/>
            </a:pPr>
            <a:r>
              <a:rPr lang="zh-CN" altLang="en-US" sz="2000" dirty="0">
                <a:solidFill>
                  <a:schemeClr val="accent2"/>
                </a:solidFill>
              </a:rPr>
              <a:t>并联接入</a:t>
            </a:r>
          </a:p>
        </p:txBody>
      </p:sp>
      <p:graphicFrame>
        <p:nvGraphicFramePr>
          <p:cNvPr id="19464" name="Object 19"/>
          <p:cNvGraphicFramePr>
            <a:graphicFrameLocks noChangeAspect="1"/>
          </p:cNvGraphicFramePr>
          <p:nvPr>
            <p:extLst>
              <p:ext uri="{D42A27DB-BD31-4B8C-83A1-F6EECF244321}">
                <p14:modId xmlns:p14="http://schemas.microsoft.com/office/powerpoint/2010/main" val="3650193822"/>
              </p:ext>
            </p:extLst>
          </p:nvPr>
        </p:nvGraphicFramePr>
        <p:xfrm>
          <a:off x="6251154" y="1500188"/>
          <a:ext cx="1737360" cy="502920"/>
        </p:xfrm>
        <a:graphic>
          <a:graphicData uri="http://schemas.openxmlformats.org/presentationml/2006/ole">
            <mc:AlternateContent xmlns:mc="http://schemas.openxmlformats.org/markup-compatibility/2006">
              <mc:Choice xmlns:v="urn:schemas-microsoft-com:vml" Requires="v">
                <p:oleObj spid="_x0000_s113008" name="Equation" r:id="rId5" imgW="965200" imgH="279400" progId="Equation.DSMT4">
                  <p:embed/>
                </p:oleObj>
              </mc:Choice>
              <mc:Fallback>
                <p:oleObj name="Equation" r:id="rId5" imgW="965200" imgH="279400" progId="Equation.DSMT4">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51154" y="1500188"/>
                        <a:ext cx="1737360" cy="502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5" name="Rectangle 20"/>
          <p:cNvSpPr>
            <a:spLocks noChangeArrowheads="1"/>
          </p:cNvSpPr>
          <p:nvPr/>
        </p:nvSpPr>
        <p:spPr bwMode="auto">
          <a:xfrm>
            <a:off x="5550321" y="2171732"/>
            <a:ext cx="70083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a:t>假设</a:t>
            </a:r>
          </a:p>
        </p:txBody>
      </p:sp>
      <p:graphicFrame>
        <p:nvGraphicFramePr>
          <p:cNvPr id="19466" name="Object 21"/>
          <p:cNvGraphicFramePr>
            <a:graphicFrameLocks noChangeAspect="1"/>
          </p:cNvGraphicFramePr>
          <p:nvPr>
            <p:extLst>
              <p:ext uri="{D42A27DB-BD31-4B8C-83A1-F6EECF244321}">
                <p14:modId xmlns:p14="http://schemas.microsoft.com/office/powerpoint/2010/main" val="2803092554"/>
              </p:ext>
            </p:extLst>
          </p:nvPr>
        </p:nvGraphicFramePr>
        <p:xfrm>
          <a:off x="6251154" y="2173001"/>
          <a:ext cx="937260" cy="411480"/>
        </p:xfrm>
        <a:graphic>
          <a:graphicData uri="http://schemas.openxmlformats.org/presentationml/2006/ole">
            <mc:AlternateContent xmlns:mc="http://schemas.openxmlformats.org/markup-compatibility/2006">
              <mc:Choice xmlns:v="urn:schemas-microsoft-com:vml" Requires="v">
                <p:oleObj spid="_x0000_s113009" name="Equation" r:id="rId7" imgW="520700" imgH="228600" progId="Equation.DSMT4">
                  <p:embed/>
                </p:oleObj>
              </mc:Choice>
              <mc:Fallback>
                <p:oleObj name="Equation" r:id="rId7" imgW="520700" imgH="228600" progId="Equation.DSMT4">
                  <p:embed/>
                  <p:pic>
                    <p:nvPicPr>
                      <p:cNvPr id="0"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51154" y="2173001"/>
                        <a:ext cx="937260" cy="411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7" name="Object 22"/>
          <p:cNvGraphicFramePr>
            <a:graphicFrameLocks noChangeAspect="1"/>
          </p:cNvGraphicFramePr>
          <p:nvPr>
            <p:extLst>
              <p:ext uri="{D42A27DB-BD31-4B8C-83A1-F6EECF244321}">
                <p14:modId xmlns:p14="http://schemas.microsoft.com/office/powerpoint/2010/main" val="621333593"/>
              </p:ext>
            </p:extLst>
          </p:nvPr>
        </p:nvGraphicFramePr>
        <p:xfrm>
          <a:off x="6251154" y="2728074"/>
          <a:ext cx="1005404" cy="525551"/>
        </p:xfrm>
        <a:graphic>
          <a:graphicData uri="http://schemas.openxmlformats.org/presentationml/2006/ole">
            <mc:AlternateContent xmlns:mc="http://schemas.openxmlformats.org/markup-compatibility/2006">
              <mc:Choice xmlns:v="urn:schemas-microsoft-com:vml" Requires="v">
                <p:oleObj spid="_x0000_s113010" name="Equation" r:id="rId9" imgW="558558" imgH="291973" progId="Equation.DSMT4">
                  <p:embed/>
                </p:oleObj>
              </mc:Choice>
              <mc:Fallback>
                <p:oleObj name="Equation" r:id="rId9" imgW="558558" imgH="291973" progId="Equation.DSMT4">
                  <p:embed/>
                  <p:pic>
                    <p:nvPicPr>
                      <p:cNvPr id="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51154" y="2728074"/>
                        <a:ext cx="1005404" cy="5255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8" name="Object 23"/>
          <p:cNvGraphicFramePr>
            <a:graphicFrameLocks noChangeAspect="1"/>
          </p:cNvGraphicFramePr>
          <p:nvPr>
            <p:extLst>
              <p:ext uri="{D42A27DB-BD31-4B8C-83A1-F6EECF244321}">
                <p14:modId xmlns:p14="http://schemas.microsoft.com/office/powerpoint/2010/main" val="2846136892"/>
              </p:ext>
            </p:extLst>
          </p:nvPr>
        </p:nvGraphicFramePr>
        <p:xfrm>
          <a:off x="5068888" y="3324225"/>
          <a:ext cx="3589020" cy="434340"/>
        </p:xfrm>
        <a:graphic>
          <a:graphicData uri="http://schemas.openxmlformats.org/presentationml/2006/ole">
            <mc:AlternateContent xmlns:mc="http://schemas.openxmlformats.org/markup-compatibility/2006">
              <mc:Choice xmlns:v="urn:schemas-microsoft-com:vml" Requires="v">
                <p:oleObj spid="_x0000_s113011" name="Equation" r:id="rId11" imgW="1993900" imgH="241300" progId="Equation.DSMT4">
                  <p:embed/>
                </p:oleObj>
              </mc:Choice>
              <mc:Fallback>
                <p:oleObj name="Equation" r:id="rId11" imgW="1993900" imgH="241300" progId="Equation.DSMT4">
                  <p:embed/>
                  <p:pic>
                    <p:nvPicPr>
                      <p:cNvPr id="0" name="Object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68888" y="3324225"/>
                        <a:ext cx="3589020" cy="4343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9" name="Object 24"/>
          <p:cNvGraphicFramePr>
            <a:graphicFrameLocks noChangeAspect="1"/>
          </p:cNvGraphicFramePr>
          <p:nvPr>
            <p:extLst>
              <p:ext uri="{D42A27DB-BD31-4B8C-83A1-F6EECF244321}">
                <p14:modId xmlns:p14="http://schemas.microsoft.com/office/powerpoint/2010/main" val="2873526632"/>
              </p:ext>
            </p:extLst>
          </p:nvPr>
        </p:nvGraphicFramePr>
        <p:xfrm>
          <a:off x="5683250" y="3939560"/>
          <a:ext cx="2033658" cy="776903"/>
        </p:xfrm>
        <a:graphic>
          <a:graphicData uri="http://schemas.openxmlformats.org/presentationml/2006/ole">
            <mc:AlternateContent xmlns:mc="http://schemas.openxmlformats.org/markup-compatibility/2006">
              <mc:Choice xmlns:v="urn:schemas-microsoft-com:vml" Requires="v">
                <p:oleObj spid="_x0000_s113012" name="Equation" r:id="rId13" imgW="1129810" imgH="431613" progId="Equation.DSMT4">
                  <p:embed/>
                </p:oleObj>
              </mc:Choice>
              <mc:Fallback>
                <p:oleObj name="Equation" r:id="rId13" imgW="1129810" imgH="431613" progId="Equation.DSMT4">
                  <p:embed/>
                  <p:pic>
                    <p:nvPicPr>
                      <p:cNvPr id="0"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83250" y="3939560"/>
                        <a:ext cx="2033658" cy="7769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Rectangle 2"/>
          <p:cNvSpPr>
            <a:spLocks noChangeArrowheads="1"/>
          </p:cNvSpPr>
          <p:nvPr/>
        </p:nvSpPr>
        <p:spPr bwMode="auto">
          <a:xfrm>
            <a:off x="898897" y="5495984"/>
            <a:ext cx="760336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sz="2000" dirty="0" smtClean="0">
                <a:solidFill>
                  <a:srgbClr val="0000CC"/>
                </a:solidFill>
                <a:ea typeface="宋体" charset="-122"/>
              </a:rPr>
              <a:t>2</a:t>
            </a:r>
            <a:r>
              <a:rPr lang="zh-CN" altLang="en-US" sz="2000" dirty="0" smtClean="0">
                <a:solidFill>
                  <a:srgbClr val="0000CC"/>
                </a:solidFill>
                <a:ea typeface="宋体" charset="-122"/>
              </a:rPr>
              <a:t>、电流</a:t>
            </a:r>
            <a:r>
              <a:rPr lang="zh-CN" altLang="zh-CN" sz="2000" dirty="0">
                <a:solidFill>
                  <a:srgbClr val="0000CC"/>
                </a:solidFill>
                <a:ea typeface="宋体" charset="-122"/>
              </a:rPr>
              <a:t>采样使放大器的输出电阻</a:t>
            </a:r>
            <a:r>
              <a:rPr lang="zh-CN" altLang="en-US" sz="2000" dirty="0">
                <a:solidFill>
                  <a:srgbClr val="0000CC"/>
                </a:solidFill>
                <a:ea typeface="宋体" charset="-122"/>
              </a:rPr>
              <a:t>增大</a:t>
            </a:r>
            <a:r>
              <a:rPr lang="zh-CN" altLang="zh-CN" sz="2000" dirty="0">
                <a:solidFill>
                  <a:srgbClr val="0000CC"/>
                </a:solidFill>
                <a:ea typeface="宋体" charset="-122"/>
              </a:rPr>
              <a:t>，与</a:t>
            </a:r>
            <a:r>
              <a:rPr lang="zh-CN" altLang="zh-CN" sz="2000" dirty="0" smtClean="0">
                <a:solidFill>
                  <a:srgbClr val="0000CC"/>
                </a:solidFill>
                <a:ea typeface="宋体" charset="-122"/>
              </a:rPr>
              <a:t>输</a:t>
            </a:r>
            <a:r>
              <a:rPr lang="zh-CN" altLang="en-US" sz="2000" dirty="0" smtClean="0">
                <a:solidFill>
                  <a:srgbClr val="0000CC"/>
                </a:solidFill>
                <a:ea typeface="宋体" charset="-122"/>
              </a:rPr>
              <a:t>入</a:t>
            </a:r>
            <a:r>
              <a:rPr lang="zh-CN" altLang="zh-CN" sz="2000" dirty="0" smtClean="0">
                <a:solidFill>
                  <a:srgbClr val="0000CC"/>
                </a:solidFill>
                <a:ea typeface="宋体" charset="-122"/>
              </a:rPr>
              <a:t>端</a:t>
            </a:r>
            <a:r>
              <a:rPr lang="zh-CN" altLang="zh-CN" sz="2000" dirty="0">
                <a:solidFill>
                  <a:srgbClr val="0000CC"/>
                </a:solidFill>
                <a:ea typeface="宋体" charset="-122"/>
              </a:rPr>
              <a:t>接入方式无关</a:t>
            </a:r>
            <a:r>
              <a:rPr lang="zh-CN" altLang="en-US" sz="2000" dirty="0">
                <a:solidFill>
                  <a:srgbClr val="0000CC"/>
                </a:solidFill>
                <a:ea typeface="宋体" charset="-122"/>
              </a:rPr>
              <a:t>。 </a:t>
            </a:r>
          </a:p>
        </p:txBody>
      </p:sp>
      <p:pic>
        <p:nvPicPr>
          <p:cNvPr id="15" name="图片 2301"/>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3598538" y="6057053"/>
            <a:ext cx="1942258" cy="434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16"/>
          <a:stretch>
            <a:fillRect/>
          </a:stretch>
        </p:blipFill>
        <p:spPr>
          <a:xfrm>
            <a:off x="71228" y="827118"/>
            <a:ext cx="4914900" cy="3514725"/>
          </a:xfrm>
          <a:prstGeom prst="rect">
            <a:avLst/>
          </a:prstGeom>
        </p:spPr>
      </p:pic>
      <p:sp>
        <p:nvSpPr>
          <p:cNvPr id="3" name="矩形 2"/>
          <p:cNvSpPr/>
          <p:nvPr/>
        </p:nvSpPr>
        <p:spPr>
          <a:xfrm>
            <a:off x="563113" y="5096030"/>
            <a:ext cx="1475084" cy="400110"/>
          </a:xfrm>
          <a:prstGeom prst="rect">
            <a:avLst/>
          </a:prstGeom>
        </p:spPr>
        <p:txBody>
          <a:bodyPr wrap="none">
            <a:spAutoFit/>
          </a:bodyPr>
          <a:lstStyle/>
          <a:p>
            <a:r>
              <a:rPr lang="zh-CN" altLang="en-US" sz="2000" dirty="0" smtClean="0">
                <a:ea typeface="宋体" charset="-122"/>
              </a:rPr>
              <a:t>同理可得</a:t>
            </a:r>
            <a:r>
              <a:rPr lang="zh-CN" altLang="en-US" sz="2000" dirty="0">
                <a:ea typeface="宋体" charset="-122"/>
              </a:rPr>
              <a:t>：</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9461"/>
                                        </p:tgtEl>
                                        <p:attrNameLst>
                                          <p:attrName>style.visibility</p:attrName>
                                        </p:attrNameLst>
                                      </p:cBhvr>
                                      <p:to>
                                        <p:strVal val="visible"/>
                                      </p:to>
                                    </p:set>
                                    <p:animEffect transition="in" filter="barn(inVertical)">
                                      <p:cBhvr>
                                        <p:cTn id="7" dur="500"/>
                                        <p:tgtEl>
                                          <p:spTgt spid="194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9459"/>
                                        </p:tgtEl>
                                        <p:attrNameLst>
                                          <p:attrName>style.visibility</p:attrName>
                                        </p:attrNameLst>
                                      </p:cBhvr>
                                      <p:to>
                                        <p:strVal val="visible"/>
                                      </p:to>
                                    </p:set>
                                    <p:animEffect transition="in" filter="wipe(down)">
                                      <p:cBhvr>
                                        <p:cTn id="12" dur="500"/>
                                        <p:tgtEl>
                                          <p:spTgt spid="19459"/>
                                        </p:tgtEl>
                                      </p:cBhvr>
                                    </p:animEffect>
                                  </p:childTnLst>
                                </p:cTn>
                              </p:par>
                              <p:par>
                                <p:cTn id="13" presetID="22" presetClass="entr" presetSubtype="4" fill="hold" nodeType="withEffect">
                                  <p:stCondLst>
                                    <p:cond delay="0"/>
                                  </p:stCondLst>
                                  <p:childTnLst>
                                    <p:set>
                                      <p:cBhvr>
                                        <p:cTn id="14" dur="1" fill="hold">
                                          <p:stCondLst>
                                            <p:cond delay="0"/>
                                          </p:stCondLst>
                                        </p:cTn>
                                        <p:tgtEl>
                                          <p:spTgt spid="19460"/>
                                        </p:tgtEl>
                                        <p:attrNameLst>
                                          <p:attrName>style.visibility</p:attrName>
                                        </p:attrNameLst>
                                      </p:cBhvr>
                                      <p:to>
                                        <p:strVal val="visible"/>
                                      </p:to>
                                    </p:set>
                                    <p:animEffect transition="in" filter="wipe(down)">
                                      <p:cBhvr>
                                        <p:cTn id="15" dur="500"/>
                                        <p:tgtEl>
                                          <p:spTgt spid="1946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9464"/>
                                        </p:tgtEl>
                                        <p:attrNameLst>
                                          <p:attrName>style.visibility</p:attrName>
                                        </p:attrNameLst>
                                      </p:cBhvr>
                                      <p:to>
                                        <p:strVal val="visible"/>
                                      </p:to>
                                    </p:set>
                                    <p:animEffect transition="in" filter="wipe(down)">
                                      <p:cBhvr>
                                        <p:cTn id="20" dur="500"/>
                                        <p:tgtEl>
                                          <p:spTgt spid="1946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9465"/>
                                        </p:tgtEl>
                                        <p:attrNameLst>
                                          <p:attrName>style.visibility</p:attrName>
                                        </p:attrNameLst>
                                      </p:cBhvr>
                                      <p:to>
                                        <p:strVal val="visible"/>
                                      </p:to>
                                    </p:set>
                                    <p:animEffect transition="in" filter="wipe(down)">
                                      <p:cBhvr>
                                        <p:cTn id="25" dur="500"/>
                                        <p:tgtEl>
                                          <p:spTgt spid="19465"/>
                                        </p:tgtEl>
                                      </p:cBhvr>
                                    </p:animEffect>
                                  </p:childTnLst>
                                </p:cTn>
                              </p:par>
                              <p:par>
                                <p:cTn id="26" presetID="22" presetClass="entr" presetSubtype="4" fill="hold" nodeType="withEffect">
                                  <p:stCondLst>
                                    <p:cond delay="0"/>
                                  </p:stCondLst>
                                  <p:childTnLst>
                                    <p:set>
                                      <p:cBhvr>
                                        <p:cTn id="27" dur="1" fill="hold">
                                          <p:stCondLst>
                                            <p:cond delay="0"/>
                                          </p:stCondLst>
                                        </p:cTn>
                                        <p:tgtEl>
                                          <p:spTgt spid="19466"/>
                                        </p:tgtEl>
                                        <p:attrNameLst>
                                          <p:attrName>style.visibility</p:attrName>
                                        </p:attrNameLst>
                                      </p:cBhvr>
                                      <p:to>
                                        <p:strVal val="visible"/>
                                      </p:to>
                                    </p:set>
                                    <p:animEffect transition="in" filter="wipe(down)">
                                      <p:cBhvr>
                                        <p:cTn id="28" dur="500"/>
                                        <p:tgtEl>
                                          <p:spTgt spid="19466"/>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19467"/>
                                        </p:tgtEl>
                                        <p:attrNameLst>
                                          <p:attrName>style.visibility</p:attrName>
                                        </p:attrNameLst>
                                      </p:cBhvr>
                                      <p:to>
                                        <p:strVal val="visible"/>
                                      </p:to>
                                    </p:set>
                                    <p:animEffect transition="in" filter="barn(inVertical)">
                                      <p:cBhvr>
                                        <p:cTn id="33" dur="500"/>
                                        <p:tgtEl>
                                          <p:spTgt spid="19467"/>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19468"/>
                                        </p:tgtEl>
                                        <p:attrNameLst>
                                          <p:attrName>style.visibility</p:attrName>
                                        </p:attrNameLst>
                                      </p:cBhvr>
                                      <p:to>
                                        <p:strVal val="visible"/>
                                      </p:to>
                                    </p:set>
                                    <p:animEffect transition="in" filter="barn(inVertical)">
                                      <p:cBhvr>
                                        <p:cTn id="38" dur="500"/>
                                        <p:tgtEl>
                                          <p:spTgt spid="19468"/>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19469"/>
                                        </p:tgtEl>
                                        <p:attrNameLst>
                                          <p:attrName>style.visibility</p:attrName>
                                        </p:attrNameLst>
                                      </p:cBhvr>
                                      <p:to>
                                        <p:strVal val="visible"/>
                                      </p:to>
                                    </p:set>
                                    <p:animEffect transition="in" filter="barn(inVertical)">
                                      <p:cBhvr>
                                        <p:cTn id="43" dur="500"/>
                                        <p:tgtEl>
                                          <p:spTgt spid="19469"/>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barn(inVertical)">
                                      <p:cBhvr>
                                        <p:cTn id="48" dur="500"/>
                                        <p:tgtEl>
                                          <p:spTgt spid="3"/>
                                        </p:tgtEl>
                                      </p:cBhvr>
                                    </p:animEffect>
                                  </p:childTnLst>
                                </p:cTn>
                              </p:par>
                            </p:childTnLst>
                          </p:cTn>
                        </p:par>
                        <p:par>
                          <p:cTn id="49" fill="hold">
                            <p:stCondLst>
                              <p:cond delay="500"/>
                            </p:stCondLst>
                            <p:childTnLst>
                              <p:par>
                                <p:cTn id="50" presetID="16" presetClass="entr" presetSubtype="21" fill="hold" grpId="0" nodeType="after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barn(inVertical)">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barn(inVertical)">
                                      <p:cBhvr>
                                        <p:cTn id="5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19461" grpId="0" animBg="1"/>
      <p:bldP spid="19465" grpId="0"/>
      <p:bldP spid="14"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AutoShape 364"/>
          <p:cNvSpPr>
            <a:spLocks/>
          </p:cNvSpPr>
          <p:nvPr/>
        </p:nvSpPr>
        <p:spPr bwMode="auto">
          <a:xfrm>
            <a:off x="2540000" y="1754188"/>
            <a:ext cx="317500" cy="1144587"/>
          </a:xfrm>
          <a:prstGeom prst="leftBrace">
            <a:avLst>
              <a:gd name="adj1" fmla="val 30042"/>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000"/>
          </a:p>
        </p:txBody>
      </p:sp>
      <p:sp>
        <p:nvSpPr>
          <p:cNvPr id="21508" name="Rectangle 16"/>
          <p:cNvSpPr>
            <a:spLocks noChangeArrowheads="1"/>
          </p:cNvSpPr>
          <p:nvPr/>
        </p:nvSpPr>
        <p:spPr bwMode="auto">
          <a:xfrm>
            <a:off x="2863850" y="1566833"/>
            <a:ext cx="1217000"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a:t>串联接入</a:t>
            </a:r>
          </a:p>
        </p:txBody>
      </p:sp>
      <p:sp>
        <p:nvSpPr>
          <p:cNvPr id="21509" name="Rectangle 17"/>
          <p:cNvSpPr>
            <a:spLocks noChangeArrowheads="1"/>
          </p:cNvSpPr>
          <p:nvPr/>
        </p:nvSpPr>
        <p:spPr bwMode="auto">
          <a:xfrm>
            <a:off x="990600" y="2157383"/>
            <a:ext cx="1495922"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76225"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a:t>输入电阻</a:t>
            </a:r>
          </a:p>
        </p:txBody>
      </p:sp>
      <p:sp>
        <p:nvSpPr>
          <p:cNvPr id="21510" name="Rectangle 18"/>
          <p:cNvSpPr>
            <a:spLocks noChangeArrowheads="1"/>
          </p:cNvSpPr>
          <p:nvPr/>
        </p:nvSpPr>
        <p:spPr bwMode="auto">
          <a:xfrm>
            <a:off x="2894013" y="2557433"/>
            <a:ext cx="1217000"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a:t>并联接入</a:t>
            </a:r>
          </a:p>
        </p:txBody>
      </p:sp>
      <p:sp>
        <p:nvSpPr>
          <p:cNvPr id="21511" name="Rectangle 23"/>
          <p:cNvSpPr>
            <a:spLocks noChangeArrowheads="1"/>
          </p:cNvSpPr>
          <p:nvPr/>
        </p:nvSpPr>
        <p:spPr bwMode="auto">
          <a:xfrm>
            <a:off x="4345408" y="1225550"/>
            <a:ext cx="70083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a:t>增大</a:t>
            </a:r>
          </a:p>
        </p:txBody>
      </p:sp>
      <p:sp>
        <p:nvSpPr>
          <p:cNvPr id="21512" name="Rectangle 24"/>
          <p:cNvSpPr>
            <a:spLocks noChangeArrowheads="1"/>
          </p:cNvSpPr>
          <p:nvPr/>
        </p:nvSpPr>
        <p:spPr bwMode="auto">
          <a:xfrm>
            <a:off x="4359696" y="2243138"/>
            <a:ext cx="70083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a:t>减小</a:t>
            </a:r>
          </a:p>
        </p:txBody>
      </p:sp>
      <p:sp>
        <p:nvSpPr>
          <p:cNvPr id="21513" name="Line 365"/>
          <p:cNvSpPr>
            <a:spLocks noChangeShapeType="1"/>
          </p:cNvSpPr>
          <p:nvPr/>
        </p:nvSpPr>
        <p:spPr bwMode="auto">
          <a:xfrm flipV="1">
            <a:off x="4268788" y="1752599"/>
            <a:ext cx="977900" cy="0"/>
          </a:xfrm>
          <a:prstGeom prst="line">
            <a:avLst/>
          </a:prstGeom>
          <a:noFill/>
          <a:ln w="635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p>
        </p:txBody>
      </p:sp>
      <p:graphicFrame>
        <p:nvGraphicFramePr>
          <p:cNvPr id="21514" name="Object 26"/>
          <p:cNvGraphicFramePr>
            <a:graphicFrameLocks noChangeAspect="1"/>
          </p:cNvGraphicFramePr>
          <p:nvPr>
            <p:extLst>
              <p:ext uri="{D42A27DB-BD31-4B8C-83A1-F6EECF244321}">
                <p14:modId xmlns:p14="http://schemas.microsoft.com/office/powerpoint/2010/main" val="396086001"/>
              </p:ext>
            </p:extLst>
          </p:nvPr>
        </p:nvGraphicFramePr>
        <p:xfrm>
          <a:off x="5554663" y="1562100"/>
          <a:ext cx="1668780" cy="411480"/>
        </p:xfrm>
        <a:graphic>
          <a:graphicData uri="http://schemas.openxmlformats.org/presentationml/2006/ole">
            <mc:AlternateContent xmlns:mc="http://schemas.openxmlformats.org/markup-compatibility/2006">
              <mc:Choice xmlns:v="urn:schemas-microsoft-com:vml" Requires="v">
                <p:oleObj spid="_x0000_s22391" name="Equation" r:id="rId3" imgW="927100" imgH="228600" progId="Equation.DSMT4">
                  <p:embed/>
                </p:oleObj>
              </mc:Choice>
              <mc:Fallback>
                <p:oleObj name="Equation" r:id="rId3" imgW="927100" imgH="228600" progId="Equation.DSMT4">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4663" y="1562100"/>
                        <a:ext cx="1668780" cy="411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5" name="Line 365"/>
          <p:cNvSpPr>
            <a:spLocks noChangeShapeType="1"/>
          </p:cNvSpPr>
          <p:nvPr/>
        </p:nvSpPr>
        <p:spPr bwMode="auto">
          <a:xfrm flipV="1">
            <a:off x="4240213" y="2768599"/>
            <a:ext cx="977900" cy="0"/>
          </a:xfrm>
          <a:prstGeom prst="line">
            <a:avLst/>
          </a:prstGeom>
          <a:noFill/>
          <a:ln w="635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p>
        </p:txBody>
      </p:sp>
      <p:graphicFrame>
        <p:nvGraphicFramePr>
          <p:cNvPr id="21516" name="Object 28"/>
          <p:cNvGraphicFramePr>
            <a:graphicFrameLocks noChangeAspect="1"/>
          </p:cNvGraphicFramePr>
          <p:nvPr>
            <p:extLst>
              <p:ext uri="{D42A27DB-BD31-4B8C-83A1-F6EECF244321}">
                <p14:modId xmlns:p14="http://schemas.microsoft.com/office/powerpoint/2010/main" val="1934685032"/>
              </p:ext>
            </p:extLst>
          </p:nvPr>
        </p:nvGraphicFramePr>
        <p:xfrm>
          <a:off x="5570538" y="2427288"/>
          <a:ext cx="1279604" cy="639803"/>
        </p:xfrm>
        <a:graphic>
          <a:graphicData uri="http://schemas.openxmlformats.org/presentationml/2006/ole">
            <mc:AlternateContent xmlns:mc="http://schemas.openxmlformats.org/markup-compatibility/2006">
              <mc:Choice xmlns:v="urn:schemas-microsoft-com:vml" Requires="v">
                <p:oleObj spid="_x0000_s22392" name="Equation" r:id="rId5" imgW="710891" imgH="355446" progId="Equation.DSMT4">
                  <p:embed/>
                </p:oleObj>
              </mc:Choice>
              <mc:Fallback>
                <p:oleObj name="Equation" r:id="rId5" imgW="710891" imgH="355446" progId="Equation.DSMT4">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70538" y="2427288"/>
                        <a:ext cx="1279604" cy="6398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7" name="AutoShape 364"/>
          <p:cNvSpPr>
            <a:spLocks/>
          </p:cNvSpPr>
          <p:nvPr/>
        </p:nvSpPr>
        <p:spPr bwMode="auto">
          <a:xfrm>
            <a:off x="2547938" y="4468813"/>
            <a:ext cx="317500" cy="1144587"/>
          </a:xfrm>
          <a:prstGeom prst="leftBrace">
            <a:avLst>
              <a:gd name="adj1" fmla="val 30042"/>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000"/>
          </a:p>
        </p:txBody>
      </p:sp>
      <p:sp>
        <p:nvSpPr>
          <p:cNvPr id="21518" name="Rectangle 30"/>
          <p:cNvSpPr>
            <a:spLocks noChangeArrowheads="1"/>
          </p:cNvSpPr>
          <p:nvPr/>
        </p:nvSpPr>
        <p:spPr bwMode="auto">
          <a:xfrm>
            <a:off x="2912575" y="4127569"/>
            <a:ext cx="1217000" cy="70788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a:t>电流采样</a:t>
            </a:r>
          </a:p>
          <a:p>
            <a:pPr algn="ctr" eaLnBrk="1" hangingPunct="1">
              <a:spcBef>
                <a:spcPct val="0"/>
              </a:spcBef>
              <a:buFontTx/>
              <a:buNone/>
            </a:pPr>
            <a:r>
              <a:rPr lang="zh-CN" altLang="en-US" sz="2000"/>
              <a:t>（串联）</a:t>
            </a:r>
          </a:p>
        </p:txBody>
      </p:sp>
      <p:sp>
        <p:nvSpPr>
          <p:cNvPr id="21519" name="Rectangle 31"/>
          <p:cNvSpPr>
            <a:spLocks noChangeArrowheads="1"/>
          </p:cNvSpPr>
          <p:nvPr/>
        </p:nvSpPr>
        <p:spPr bwMode="auto">
          <a:xfrm>
            <a:off x="1008063" y="4872008"/>
            <a:ext cx="1495922"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76225"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a:t>输出电阻</a:t>
            </a:r>
          </a:p>
        </p:txBody>
      </p:sp>
      <p:sp>
        <p:nvSpPr>
          <p:cNvPr id="21520" name="Rectangle 32"/>
          <p:cNvSpPr>
            <a:spLocks noChangeArrowheads="1"/>
          </p:cNvSpPr>
          <p:nvPr/>
        </p:nvSpPr>
        <p:spPr bwMode="auto">
          <a:xfrm>
            <a:off x="2904637" y="5118169"/>
            <a:ext cx="1217000" cy="70788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a:t>电压采样</a:t>
            </a:r>
          </a:p>
          <a:p>
            <a:pPr algn="ctr" eaLnBrk="1" hangingPunct="1">
              <a:spcBef>
                <a:spcPct val="0"/>
              </a:spcBef>
              <a:buFontTx/>
              <a:buNone/>
            </a:pPr>
            <a:r>
              <a:rPr lang="zh-CN" altLang="en-US" sz="2000" dirty="0"/>
              <a:t>（并联）</a:t>
            </a:r>
          </a:p>
        </p:txBody>
      </p:sp>
      <p:sp>
        <p:nvSpPr>
          <p:cNvPr id="21521" name="Rectangle 33"/>
          <p:cNvSpPr>
            <a:spLocks noChangeArrowheads="1"/>
          </p:cNvSpPr>
          <p:nvPr/>
        </p:nvSpPr>
        <p:spPr bwMode="auto">
          <a:xfrm>
            <a:off x="4439071" y="4025900"/>
            <a:ext cx="70083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a:t>增大</a:t>
            </a:r>
          </a:p>
        </p:txBody>
      </p:sp>
      <p:sp>
        <p:nvSpPr>
          <p:cNvPr id="21522" name="Rectangle 34"/>
          <p:cNvSpPr>
            <a:spLocks noChangeArrowheads="1"/>
          </p:cNvSpPr>
          <p:nvPr/>
        </p:nvSpPr>
        <p:spPr bwMode="auto">
          <a:xfrm>
            <a:off x="4453358" y="5043488"/>
            <a:ext cx="700833"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a:t>减小</a:t>
            </a:r>
          </a:p>
        </p:txBody>
      </p:sp>
      <p:sp>
        <p:nvSpPr>
          <p:cNvPr id="21523" name="Line 365"/>
          <p:cNvSpPr>
            <a:spLocks noChangeShapeType="1"/>
          </p:cNvSpPr>
          <p:nvPr/>
        </p:nvSpPr>
        <p:spPr bwMode="auto">
          <a:xfrm flipV="1">
            <a:off x="4362450" y="4552949"/>
            <a:ext cx="977900" cy="0"/>
          </a:xfrm>
          <a:prstGeom prst="line">
            <a:avLst/>
          </a:prstGeom>
          <a:noFill/>
          <a:ln w="635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p>
        </p:txBody>
      </p:sp>
      <p:graphicFrame>
        <p:nvGraphicFramePr>
          <p:cNvPr id="21524" name="Object 36"/>
          <p:cNvGraphicFramePr>
            <a:graphicFrameLocks noChangeAspect="1"/>
          </p:cNvGraphicFramePr>
          <p:nvPr>
            <p:extLst>
              <p:ext uri="{D42A27DB-BD31-4B8C-83A1-F6EECF244321}">
                <p14:modId xmlns:p14="http://schemas.microsoft.com/office/powerpoint/2010/main" val="1357245255"/>
              </p:ext>
            </p:extLst>
          </p:nvPr>
        </p:nvGraphicFramePr>
        <p:xfrm>
          <a:off x="5591175" y="4343400"/>
          <a:ext cx="1737360" cy="411480"/>
        </p:xfrm>
        <a:graphic>
          <a:graphicData uri="http://schemas.openxmlformats.org/presentationml/2006/ole">
            <mc:AlternateContent xmlns:mc="http://schemas.openxmlformats.org/markup-compatibility/2006">
              <mc:Choice xmlns:v="urn:schemas-microsoft-com:vml" Requires="v">
                <p:oleObj spid="_x0000_s22393" name="Equation" r:id="rId7" imgW="965200" imgH="228600" progId="Equation.DSMT4">
                  <p:embed/>
                </p:oleObj>
              </mc:Choice>
              <mc:Fallback>
                <p:oleObj name="Equation" r:id="rId7" imgW="965200" imgH="228600" progId="Equation.DSMT4">
                  <p:embed/>
                  <p:pic>
                    <p:nvPicPr>
                      <p:cNvPr id="0" name="Object 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91175" y="4343400"/>
                        <a:ext cx="1737360" cy="411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25" name="Line 365"/>
          <p:cNvSpPr>
            <a:spLocks noChangeShapeType="1"/>
          </p:cNvSpPr>
          <p:nvPr/>
        </p:nvSpPr>
        <p:spPr bwMode="auto">
          <a:xfrm flipV="1">
            <a:off x="4333875" y="5568949"/>
            <a:ext cx="977900" cy="0"/>
          </a:xfrm>
          <a:prstGeom prst="line">
            <a:avLst/>
          </a:prstGeom>
          <a:noFill/>
          <a:ln w="635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p>
        </p:txBody>
      </p:sp>
      <p:graphicFrame>
        <p:nvGraphicFramePr>
          <p:cNvPr id="21526" name="Object 38"/>
          <p:cNvGraphicFramePr>
            <a:graphicFrameLocks noChangeAspect="1"/>
          </p:cNvGraphicFramePr>
          <p:nvPr>
            <p:extLst>
              <p:ext uri="{D42A27DB-BD31-4B8C-83A1-F6EECF244321}">
                <p14:modId xmlns:p14="http://schemas.microsoft.com/office/powerpoint/2010/main" val="2627205005"/>
              </p:ext>
            </p:extLst>
          </p:nvPr>
        </p:nvGraphicFramePr>
        <p:xfrm>
          <a:off x="5597525" y="5208588"/>
          <a:ext cx="1325304" cy="639803"/>
        </p:xfrm>
        <a:graphic>
          <a:graphicData uri="http://schemas.openxmlformats.org/presentationml/2006/ole">
            <mc:AlternateContent xmlns:mc="http://schemas.openxmlformats.org/markup-compatibility/2006">
              <mc:Choice xmlns:v="urn:schemas-microsoft-com:vml" Requires="v">
                <p:oleObj spid="_x0000_s22394" name="Equation" r:id="rId9" imgW="736280" imgH="355446" progId="Equation.DSMT4">
                  <p:embed/>
                </p:oleObj>
              </mc:Choice>
              <mc:Fallback>
                <p:oleObj name="Equation" r:id="rId9" imgW="736280" imgH="355446" progId="Equation.DSMT4">
                  <p:embed/>
                  <p:pic>
                    <p:nvPicPr>
                      <p:cNvPr id="0" name="Object 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97525" y="5208588"/>
                        <a:ext cx="1325304" cy="6398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3" name="Group 7"/>
          <p:cNvGrpSpPr>
            <a:grpSpLocks/>
          </p:cNvGrpSpPr>
          <p:nvPr/>
        </p:nvGrpSpPr>
        <p:grpSpPr bwMode="auto">
          <a:xfrm>
            <a:off x="269875" y="374650"/>
            <a:ext cx="1447800" cy="850900"/>
            <a:chOff x="385" y="3022"/>
            <a:chExt cx="912" cy="536"/>
          </a:xfrm>
        </p:grpSpPr>
        <p:pic>
          <p:nvPicPr>
            <p:cNvPr id="24" name="Picture 8" descr="1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5" y="3022"/>
              <a:ext cx="590" cy="536"/>
            </a:xfrm>
            <a:prstGeom prst="rect">
              <a:avLst/>
            </a:prstGeom>
            <a:noFill/>
            <a:extLst>
              <a:ext uri="{909E8E84-426E-40DD-AFC4-6F175D3DCCD1}">
                <a14:hiddenFill xmlns:a14="http://schemas.microsoft.com/office/drawing/2010/main">
                  <a:solidFill>
                    <a:srgbClr val="FFFFFF"/>
                  </a:solidFill>
                </a14:hiddenFill>
              </a:ext>
            </a:extLst>
          </p:spPr>
        </p:pic>
        <p:sp>
          <p:nvSpPr>
            <p:cNvPr id="25" name="Text Box 9"/>
            <p:cNvSpPr txBox="1">
              <a:spLocks noChangeArrowheads="1"/>
            </p:cNvSpPr>
            <p:nvPr/>
          </p:nvSpPr>
          <p:spPr bwMode="auto">
            <a:xfrm>
              <a:off x="793" y="3182"/>
              <a:ext cx="50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dirty="0" smtClean="0">
                  <a:solidFill>
                    <a:srgbClr val="FF0000"/>
                  </a:solidFill>
                  <a:ea typeface="华文行楷" pitchFamily="2" charset="-122"/>
                </a:rPr>
                <a:t>小结</a:t>
              </a:r>
              <a:endParaRPr lang="zh-CN" altLang="en-US" dirty="0">
                <a:solidFill>
                  <a:srgbClr val="FF0000"/>
                </a:solidFill>
                <a:ea typeface="华文行楷"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barn(inVertical)">
                                      <p:cBhvr>
                                        <p:cTn id="7" dur="500"/>
                                        <p:tgtEl>
                                          <p:spTgt spid="2150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1508"/>
                                        </p:tgtEl>
                                        <p:attrNameLst>
                                          <p:attrName>style.visibility</p:attrName>
                                        </p:attrNameLst>
                                      </p:cBhvr>
                                      <p:to>
                                        <p:strVal val="visible"/>
                                      </p:to>
                                    </p:set>
                                    <p:animEffect transition="in" filter="barn(inVertical)">
                                      <p:cBhvr>
                                        <p:cTn id="10" dur="500"/>
                                        <p:tgtEl>
                                          <p:spTgt spid="21508"/>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1509"/>
                                        </p:tgtEl>
                                        <p:attrNameLst>
                                          <p:attrName>style.visibility</p:attrName>
                                        </p:attrNameLst>
                                      </p:cBhvr>
                                      <p:to>
                                        <p:strVal val="visible"/>
                                      </p:to>
                                    </p:set>
                                    <p:animEffect transition="in" filter="barn(inVertical)">
                                      <p:cBhvr>
                                        <p:cTn id="13" dur="500"/>
                                        <p:tgtEl>
                                          <p:spTgt spid="21509"/>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21510"/>
                                        </p:tgtEl>
                                        <p:attrNameLst>
                                          <p:attrName>style.visibility</p:attrName>
                                        </p:attrNameLst>
                                      </p:cBhvr>
                                      <p:to>
                                        <p:strVal val="visible"/>
                                      </p:to>
                                    </p:set>
                                    <p:animEffect transition="in" filter="barn(inVertical)">
                                      <p:cBhvr>
                                        <p:cTn id="16" dur="500"/>
                                        <p:tgtEl>
                                          <p:spTgt spid="21510"/>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21511"/>
                                        </p:tgtEl>
                                        <p:attrNameLst>
                                          <p:attrName>style.visibility</p:attrName>
                                        </p:attrNameLst>
                                      </p:cBhvr>
                                      <p:to>
                                        <p:strVal val="visible"/>
                                      </p:to>
                                    </p:set>
                                    <p:animEffect transition="in" filter="barn(inVertical)">
                                      <p:cBhvr>
                                        <p:cTn id="19" dur="500"/>
                                        <p:tgtEl>
                                          <p:spTgt spid="21511"/>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21512"/>
                                        </p:tgtEl>
                                        <p:attrNameLst>
                                          <p:attrName>style.visibility</p:attrName>
                                        </p:attrNameLst>
                                      </p:cBhvr>
                                      <p:to>
                                        <p:strVal val="visible"/>
                                      </p:to>
                                    </p:set>
                                    <p:animEffect transition="in" filter="barn(inVertical)">
                                      <p:cBhvr>
                                        <p:cTn id="22" dur="500"/>
                                        <p:tgtEl>
                                          <p:spTgt spid="21512"/>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21513"/>
                                        </p:tgtEl>
                                        <p:attrNameLst>
                                          <p:attrName>style.visibility</p:attrName>
                                        </p:attrNameLst>
                                      </p:cBhvr>
                                      <p:to>
                                        <p:strVal val="visible"/>
                                      </p:to>
                                    </p:set>
                                    <p:animEffect transition="in" filter="barn(inVertical)">
                                      <p:cBhvr>
                                        <p:cTn id="25" dur="500"/>
                                        <p:tgtEl>
                                          <p:spTgt spid="21513"/>
                                        </p:tgtEl>
                                      </p:cBhvr>
                                    </p:animEffect>
                                  </p:childTnLst>
                                </p:cTn>
                              </p:par>
                              <p:par>
                                <p:cTn id="26" presetID="16" presetClass="entr" presetSubtype="21" fill="hold" nodeType="withEffect">
                                  <p:stCondLst>
                                    <p:cond delay="0"/>
                                  </p:stCondLst>
                                  <p:childTnLst>
                                    <p:set>
                                      <p:cBhvr>
                                        <p:cTn id="27" dur="1" fill="hold">
                                          <p:stCondLst>
                                            <p:cond delay="0"/>
                                          </p:stCondLst>
                                        </p:cTn>
                                        <p:tgtEl>
                                          <p:spTgt spid="21514"/>
                                        </p:tgtEl>
                                        <p:attrNameLst>
                                          <p:attrName>style.visibility</p:attrName>
                                        </p:attrNameLst>
                                      </p:cBhvr>
                                      <p:to>
                                        <p:strVal val="visible"/>
                                      </p:to>
                                    </p:set>
                                    <p:animEffect transition="in" filter="barn(inVertical)">
                                      <p:cBhvr>
                                        <p:cTn id="28" dur="500"/>
                                        <p:tgtEl>
                                          <p:spTgt spid="21514"/>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21515"/>
                                        </p:tgtEl>
                                        <p:attrNameLst>
                                          <p:attrName>style.visibility</p:attrName>
                                        </p:attrNameLst>
                                      </p:cBhvr>
                                      <p:to>
                                        <p:strVal val="visible"/>
                                      </p:to>
                                    </p:set>
                                    <p:animEffect transition="in" filter="barn(inVertical)">
                                      <p:cBhvr>
                                        <p:cTn id="31" dur="500"/>
                                        <p:tgtEl>
                                          <p:spTgt spid="21515"/>
                                        </p:tgtEl>
                                      </p:cBhvr>
                                    </p:animEffect>
                                  </p:childTnLst>
                                </p:cTn>
                              </p:par>
                              <p:par>
                                <p:cTn id="32" presetID="16" presetClass="entr" presetSubtype="21" fill="hold" nodeType="withEffect">
                                  <p:stCondLst>
                                    <p:cond delay="0"/>
                                  </p:stCondLst>
                                  <p:childTnLst>
                                    <p:set>
                                      <p:cBhvr>
                                        <p:cTn id="33" dur="1" fill="hold">
                                          <p:stCondLst>
                                            <p:cond delay="0"/>
                                          </p:stCondLst>
                                        </p:cTn>
                                        <p:tgtEl>
                                          <p:spTgt spid="21516"/>
                                        </p:tgtEl>
                                        <p:attrNameLst>
                                          <p:attrName>style.visibility</p:attrName>
                                        </p:attrNameLst>
                                      </p:cBhvr>
                                      <p:to>
                                        <p:strVal val="visible"/>
                                      </p:to>
                                    </p:set>
                                    <p:animEffect transition="in" filter="barn(inVertical)">
                                      <p:cBhvr>
                                        <p:cTn id="34" dur="500"/>
                                        <p:tgtEl>
                                          <p:spTgt spid="21516"/>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21517"/>
                                        </p:tgtEl>
                                        <p:attrNameLst>
                                          <p:attrName>style.visibility</p:attrName>
                                        </p:attrNameLst>
                                      </p:cBhvr>
                                      <p:to>
                                        <p:strVal val="visible"/>
                                      </p:to>
                                    </p:set>
                                    <p:animEffect transition="in" filter="barn(inVertical)">
                                      <p:cBhvr>
                                        <p:cTn id="39" dur="500"/>
                                        <p:tgtEl>
                                          <p:spTgt spid="21517"/>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21518"/>
                                        </p:tgtEl>
                                        <p:attrNameLst>
                                          <p:attrName>style.visibility</p:attrName>
                                        </p:attrNameLst>
                                      </p:cBhvr>
                                      <p:to>
                                        <p:strVal val="visible"/>
                                      </p:to>
                                    </p:set>
                                    <p:animEffect transition="in" filter="barn(inVertical)">
                                      <p:cBhvr>
                                        <p:cTn id="42" dur="500"/>
                                        <p:tgtEl>
                                          <p:spTgt spid="21518"/>
                                        </p:tgtEl>
                                      </p:cBhvr>
                                    </p:animEffect>
                                  </p:childTnLst>
                                </p:cTn>
                              </p:par>
                              <p:par>
                                <p:cTn id="43" presetID="16" presetClass="entr" presetSubtype="21" fill="hold" grpId="0" nodeType="withEffect">
                                  <p:stCondLst>
                                    <p:cond delay="0"/>
                                  </p:stCondLst>
                                  <p:childTnLst>
                                    <p:set>
                                      <p:cBhvr>
                                        <p:cTn id="44" dur="1" fill="hold">
                                          <p:stCondLst>
                                            <p:cond delay="0"/>
                                          </p:stCondLst>
                                        </p:cTn>
                                        <p:tgtEl>
                                          <p:spTgt spid="21519"/>
                                        </p:tgtEl>
                                        <p:attrNameLst>
                                          <p:attrName>style.visibility</p:attrName>
                                        </p:attrNameLst>
                                      </p:cBhvr>
                                      <p:to>
                                        <p:strVal val="visible"/>
                                      </p:to>
                                    </p:set>
                                    <p:animEffect transition="in" filter="barn(inVertical)">
                                      <p:cBhvr>
                                        <p:cTn id="45" dur="500"/>
                                        <p:tgtEl>
                                          <p:spTgt spid="21519"/>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21520"/>
                                        </p:tgtEl>
                                        <p:attrNameLst>
                                          <p:attrName>style.visibility</p:attrName>
                                        </p:attrNameLst>
                                      </p:cBhvr>
                                      <p:to>
                                        <p:strVal val="visible"/>
                                      </p:to>
                                    </p:set>
                                    <p:animEffect transition="in" filter="barn(inVertical)">
                                      <p:cBhvr>
                                        <p:cTn id="48" dur="500"/>
                                        <p:tgtEl>
                                          <p:spTgt spid="21520"/>
                                        </p:tgtEl>
                                      </p:cBhvr>
                                    </p:animEffect>
                                  </p:childTnLst>
                                </p:cTn>
                              </p:par>
                              <p:par>
                                <p:cTn id="49" presetID="16" presetClass="entr" presetSubtype="21" fill="hold" grpId="0" nodeType="withEffect">
                                  <p:stCondLst>
                                    <p:cond delay="0"/>
                                  </p:stCondLst>
                                  <p:childTnLst>
                                    <p:set>
                                      <p:cBhvr>
                                        <p:cTn id="50" dur="1" fill="hold">
                                          <p:stCondLst>
                                            <p:cond delay="0"/>
                                          </p:stCondLst>
                                        </p:cTn>
                                        <p:tgtEl>
                                          <p:spTgt spid="21521"/>
                                        </p:tgtEl>
                                        <p:attrNameLst>
                                          <p:attrName>style.visibility</p:attrName>
                                        </p:attrNameLst>
                                      </p:cBhvr>
                                      <p:to>
                                        <p:strVal val="visible"/>
                                      </p:to>
                                    </p:set>
                                    <p:animEffect transition="in" filter="barn(inVertical)">
                                      <p:cBhvr>
                                        <p:cTn id="51" dur="500"/>
                                        <p:tgtEl>
                                          <p:spTgt spid="21521"/>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21522"/>
                                        </p:tgtEl>
                                        <p:attrNameLst>
                                          <p:attrName>style.visibility</p:attrName>
                                        </p:attrNameLst>
                                      </p:cBhvr>
                                      <p:to>
                                        <p:strVal val="visible"/>
                                      </p:to>
                                    </p:set>
                                    <p:animEffect transition="in" filter="barn(inVertical)">
                                      <p:cBhvr>
                                        <p:cTn id="54" dur="500"/>
                                        <p:tgtEl>
                                          <p:spTgt spid="21522"/>
                                        </p:tgtEl>
                                      </p:cBhvr>
                                    </p:animEffect>
                                  </p:childTnLst>
                                </p:cTn>
                              </p:par>
                              <p:par>
                                <p:cTn id="55" presetID="16" presetClass="entr" presetSubtype="21" fill="hold" grpId="0" nodeType="withEffect">
                                  <p:stCondLst>
                                    <p:cond delay="0"/>
                                  </p:stCondLst>
                                  <p:childTnLst>
                                    <p:set>
                                      <p:cBhvr>
                                        <p:cTn id="56" dur="1" fill="hold">
                                          <p:stCondLst>
                                            <p:cond delay="0"/>
                                          </p:stCondLst>
                                        </p:cTn>
                                        <p:tgtEl>
                                          <p:spTgt spid="21523"/>
                                        </p:tgtEl>
                                        <p:attrNameLst>
                                          <p:attrName>style.visibility</p:attrName>
                                        </p:attrNameLst>
                                      </p:cBhvr>
                                      <p:to>
                                        <p:strVal val="visible"/>
                                      </p:to>
                                    </p:set>
                                    <p:animEffect transition="in" filter="barn(inVertical)">
                                      <p:cBhvr>
                                        <p:cTn id="57" dur="500"/>
                                        <p:tgtEl>
                                          <p:spTgt spid="21523"/>
                                        </p:tgtEl>
                                      </p:cBhvr>
                                    </p:animEffect>
                                  </p:childTnLst>
                                </p:cTn>
                              </p:par>
                              <p:par>
                                <p:cTn id="58" presetID="16" presetClass="entr" presetSubtype="21" fill="hold" nodeType="withEffect">
                                  <p:stCondLst>
                                    <p:cond delay="0"/>
                                  </p:stCondLst>
                                  <p:childTnLst>
                                    <p:set>
                                      <p:cBhvr>
                                        <p:cTn id="59" dur="1" fill="hold">
                                          <p:stCondLst>
                                            <p:cond delay="0"/>
                                          </p:stCondLst>
                                        </p:cTn>
                                        <p:tgtEl>
                                          <p:spTgt spid="21524"/>
                                        </p:tgtEl>
                                        <p:attrNameLst>
                                          <p:attrName>style.visibility</p:attrName>
                                        </p:attrNameLst>
                                      </p:cBhvr>
                                      <p:to>
                                        <p:strVal val="visible"/>
                                      </p:to>
                                    </p:set>
                                    <p:animEffect transition="in" filter="barn(inVertical)">
                                      <p:cBhvr>
                                        <p:cTn id="60" dur="500"/>
                                        <p:tgtEl>
                                          <p:spTgt spid="21524"/>
                                        </p:tgtEl>
                                      </p:cBhvr>
                                    </p:animEffect>
                                  </p:childTnLst>
                                </p:cTn>
                              </p:par>
                              <p:par>
                                <p:cTn id="61" presetID="16" presetClass="entr" presetSubtype="21" fill="hold" grpId="0" nodeType="withEffect">
                                  <p:stCondLst>
                                    <p:cond delay="0"/>
                                  </p:stCondLst>
                                  <p:childTnLst>
                                    <p:set>
                                      <p:cBhvr>
                                        <p:cTn id="62" dur="1" fill="hold">
                                          <p:stCondLst>
                                            <p:cond delay="0"/>
                                          </p:stCondLst>
                                        </p:cTn>
                                        <p:tgtEl>
                                          <p:spTgt spid="21525"/>
                                        </p:tgtEl>
                                        <p:attrNameLst>
                                          <p:attrName>style.visibility</p:attrName>
                                        </p:attrNameLst>
                                      </p:cBhvr>
                                      <p:to>
                                        <p:strVal val="visible"/>
                                      </p:to>
                                    </p:set>
                                    <p:animEffect transition="in" filter="barn(inVertical)">
                                      <p:cBhvr>
                                        <p:cTn id="63" dur="500"/>
                                        <p:tgtEl>
                                          <p:spTgt spid="21525"/>
                                        </p:tgtEl>
                                      </p:cBhvr>
                                    </p:animEffect>
                                  </p:childTnLst>
                                </p:cTn>
                              </p:par>
                              <p:par>
                                <p:cTn id="64" presetID="16" presetClass="entr" presetSubtype="21" fill="hold" nodeType="withEffect">
                                  <p:stCondLst>
                                    <p:cond delay="0"/>
                                  </p:stCondLst>
                                  <p:childTnLst>
                                    <p:set>
                                      <p:cBhvr>
                                        <p:cTn id="65" dur="1" fill="hold">
                                          <p:stCondLst>
                                            <p:cond delay="0"/>
                                          </p:stCondLst>
                                        </p:cTn>
                                        <p:tgtEl>
                                          <p:spTgt spid="21526"/>
                                        </p:tgtEl>
                                        <p:attrNameLst>
                                          <p:attrName>style.visibility</p:attrName>
                                        </p:attrNameLst>
                                      </p:cBhvr>
                                      <p:to>
                                        <p:strVal val="visible"/>
                                      </p:to>
                                    </p:set>
                                    <p:animEffect transition="in" filter="barn(inVertical)">
                                      <p:cBhvr>
                                        <p:cTn id="66" dur="500"/>
                                        <p:tgtEl>
                                          <p:spTgt spid="21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animBg="1"/>
      <p:bldP spid="21508" grpId="0"/>
      <p:bldP spid="21509" grpId="0"/>
      <p:bldP spid="21510" grpId="0"/>
      <p:bldP spid="21511" grpId="0"/>
      <p:bldP spid="21512" grpId="0"/>
      <p:bldP spid="21513" grpId="0" animBg="1"/>
      <p:bldP spid="21515" grpId="0" animBg="1"/>
      <p:bldP spid="21517" grpId="0" animBg="1"/>
      <p:bldP spid="21518" grpId="0"/>
      <p:bldP spid="21519" grpId="0"/>
      <p:bldP spid="21520" grpId="0"/>
      <p:bldP spid="21521" grpId="0"/>
      <p:bldP spid="21522" grpId="0"/>
      <p:bldP spid="21523" grpId="0" animBg="1"/>
      <p:bldP spid="21525"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481013" y="739775"/>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smtClean="0">
                <a:solidFill>
                  <a:srgbClr val="990033"/>
                </a:solidFill>
              </a:rPr>
              <a:t>11.1.4  </a:t>
            </a:r>
            <a:r>
              <a:rPr lang="zh-CN" altLang="en-US" sz="2400" dirty="0" smtClean="0">
                <a:solidFill>
                  <a:srgbClr val="A50021"/>
                </a:solidFill>
              </a:rPr>
              <a:t>反馈组态判别</a:t>
            </a:r>
            <a:endParaRPr lang="zh-CN" altLang="en-US" sz="2400" dirty="0">
              <a:solidFill>
                <a:srgbClr val="A50021"/>
              </a:solidFill>
            </a:endParaRPr>
          </a:p>
        </p:txBody>
      </p:sp>
      <p:sp>
        <p:nvSpPr>
          <p:cNvPr id="22531" name="Text Box 3"/>
          <p:cNvSpPr txBox="1">
            <a:spLocks noChangeArrowheads="1"/>
          </p:cNvSpPr>
          <p:nvPr/>
        </p:nvSpPr>
        <p:spPr bwMode="auto">
          <a:xfrm>
            <a:off x="830263" y="1368425"/>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eaLnBrk="1" hangingPunct="1">
              <a:spcBef>
                <a:spcPct val="50000"/>
              </a:spcBef>
              <a:buFontTx/>
              <a:buNone/>
              <a:defRPr>
                <a:solidFill>
                  <a:srgbClr val="990033"/>
                </a:solidFill>
              </a:defRPr>
            </a:lvl1pPr>
            <a:lvl2pPr marL="742950" indent="-285750" algn="l" eaLnBrk="0" hangingPunct="0">
              <a:spcBef>
                <a:spcPct val="20000"/>
              </a:spcBef>
              <a:buChar char="–"/>
              <a:defRPr sz="2800"/>
            </a:lvl2pPr>
            <a:lvl3pPr marL="1143000" indent="-228600" algn="l" eaLnBrk="0" hangingPunct="0">
              <a:spcBef>
                <a:spcPct val="20000"/>
              </a:spcBef>
              <a:buChar char="•"/>
            </a:lvl3pPr>
            <a:lvl4pPr marL="1600200" indent="-228600" algn="l" eaLnBrk="0" hangingPunct="0">
              <a:spcBef>
                <a:spcPct val="20000"/>
              </a:spcBef>
              <a:buChar char="–"/>
              <a:defRPr sz="2000"/>
            </a:lvl4pPr>
            <a:lvl5pPr marL="2057400" indent="-228600" algn="l" eaLnBrk="0" hangingPunct="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zh-CN" altLang="en-US" dirty="0" smtClean="0"/>
              <a:t>一、</a:t>
            </a:r>
            <a:r>
              <a:rPr lang="zh-CN" altLang="en-US" dirty="0"/>
              <a:t>判断方法</a:t>
            </a:r>
          </a:p>
        </p:txBody>
      </p:sp>
      <p:sp>
        <p:nvSpPr>
          <p:cNvPr id="22532" name="Rectangle 4"/>
          <p:cNvSpPr>
            <a:spLocks noChangeArrowheads="1"/>
          </p:cNvSpPr>
          <p:nvPr/>
        </p:nvSpPr>
        <p:spPr bwMode="auto">
          <a:xfrm>
            <a:off x="1255714" y="2140973"/>
            <a:ext cx="717807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l">
              <a:lnSpc>
                <a:spcPct val="150000"/>
              </a:lnSpc>
              <a:spcBef>
                <a:spcPct val="50000"/>
              </a:spcBef>
              <a:buFont typeface="+mj-lt"/>
              <a:buAutoNum type="arabicPeriod"/>
            </a:pPr>
            <a:r>
              <a:rPr lang="zh-CN" altLang="en-US" sz="2000" dirty="0" smtClean="0">
                <a:solidFill>
                  <a:schemeClr val="accent2"/>
                </a:solidFill>
              </a:rPr>
              <a:t>根据反馈网络感知的是输出电压还是输出电流，判断</a:t>
            </a:r>
            <a:r>
              <a:rPr lang="zh-CN" altLang="en-US" sz="2000" dirty="0">
                <a:solidFill>
                  <a:schemeClr val="accent2"/>
                </a:solidFill>
              </a:rPr>
              <a:t>是</a:t>
            </a:r>
            <a:r>
              <a:rPr lang="zh-CN" altLang="en-US" sz="2000" dirty="0" smtClean="0">
                <a:solidFill>
                  <a:schemeClr val="accent2"/>
                </a:solidFill>
              </a:rPr>
              <a:t>电压采样或电流采样。 </a:t>
            </a:r>
          </a:p>
          <a:p>
            <a:pPr marL="457200" indent="-457200" algn="l">
              <a:lnSpc>
                <a:spcPct val="150000"/>
              </a:lnSpc>
              <a:spcBef>
                <a:spcPct val="50000"/>
              </a:spcBef>
              <a:buFont typeface="+mj-lt"/>
              <a:buAutoNum type="arabicPeriod"/>
            </a:pPr>
            <a:r>
              <a:rPr lang="zh-CN" altLang="en-US" sz="2000" dirty="0" smtClean="0">
                <a:solidFill>
                  <a:schemeClr val="accent2"/>
                </a:solidFill>
              </a:rPr>
              <a:t>根据反馈网络输出信号影响的是放大器的净输入电压还是净输入电流，判断是串联接入或并联接入。</a:t>
            </a:r>
          </a:p>
          <a:p>
            <a:pPr marL="457200" indent="-457200" algn="l">
              <a:spcBef>
                <a:spcPct val="50000"/>
              </a:spcBef>
              <a:buFont typeface="+mj-lt"/>
              <a:buAutoNum type="arabicPeriod"/>
            </a:pPr>
            <a:r>
              <a:rPr lang="zh-CN" altLang="en-US" sz="2000" dirty="0" smtClean="0">
                <a:solidFill>
                  <a:schemeClr val="accent2"/>
                </a:solidFill>
              </a:rPr>
              <a:t>判断</a:t>
            </a:r>
            <a:r>
              <a:rPr lang="zh-CN" altLang="en-US" sz="2000" dirty="0">
                <a:solidFill>
                  <a:schemeClr val="accent2"/>
                </a:solidFill>
              </a:rPr>
              <a:t>是正反馈还是负反馈用</a:t>
            </a:r>
            <a:r>
              <a:rPr lang="zh-CN" altLang="en-US" sz="2000" dirty="0">
                <a:solidFill>
                  <a:srgbClr val="FF0000"/>
                </a:solidFill>
              </a:rPr>
              <a:t>瞬时极性法</a:t>
            </a:r>
            <a:r>
              <a:rPr lang="zh-CN" altLang="en-US" sz="2000" dirty="0">
                <a:solidFill>
                  <a:schemeClr val="accent2"/>
                </a:solidFill>
              </a:rPr>
              <a:t>。</a:t>
            </a:r>
            <a:br>
              <a:rPr lang="zh-CN" altLang="en-US" sz="2000" dirty="0">
                <a:solidFill>
                  <a:schemeClr val="accent2"/>
                </a:solidFill>
              </a:rPr>
            </a:br>
            <a:endParaRPr lang="zh-CN" altLang="en-US" sz="2000" dirty="0">
              <a:solidFill>
                <a:schemeClr val="accent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531"/>
                                        </p:tgtEl>
                                        <p:attrNameLst>
                                          <p:attrName>style.visibility</p:attrName>
                                        </p:attrNameLst>
                                      </p:cBhvr>
                                      <p:to>
                                        <p:strVal val="visible"/>
                                      </p:to>
                                    </p:set>
                                    <p:animEffect transition="in" filter="barn(inVertical)">
                                      <p:cBhvr>
                                        <p:cTn id="7" dur="500"/>
                                        <p:tgtEl>
                                          <p:spTgt spid="2253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2532">
                                            <p:txEl>
                                              <p:pRg st="0" end="0"/>
                                            </p:txEl>
                                          </p:spTgt>
                                        </p:tgtEl>
                                        <p:attrNameLst>
                                          <p:attrName>style.visibility</p:attrName>
                                        </p:attrNameLst>
                                      </p:cBhvr>
                                      <p:to>
                                        <p:strVal val="visible"/>
                                      </p:to>
                                    </p:set>
                                    <p:animEffect transition="in" filter="barn(inVertical)">
                                      <p:cBhvr>
                                        <p:cTn id="12" dur="500"/>
                                        <p:tgtEl>
                                          <p:spTgt spid="2253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2532">
                                            <p:txEl>
                                              <p:pRg st="1" end="1"/>
                                            </p:txEl>
                                          </p:spTgt>
                                        </p:tgtEl>
                                        <p:attrNameLst>
                                          <p:attrName>style.visibility</p:attrName>
                                        </p:attrNameLst>
                                      </p:cBhvr>
                                      <p:to>
                                        <p:strVal val="visible"/>
                                      </p:to>
                                    </p:set>
                                    <p:animEffect transition="in" filter="barn(inVertical)">
                                      <p:cBhvr>
                                        <p:cTn id="17" dur="500"/>
                                        <p:tgtEl>
                                          <p:spTgt spid="2253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2532">
                                            <p:txEl>
                                              <p:pRg st="2" end="2"/>
                                            </p:txEl>
                                          </p:spTgt>
                                        </p:tgtEl>
                                        <p:attrNameLst>
                                          <p:attrName>style.visibility</p:attrName>
                                        </p:attrNameLst>
                                      </p:cBhvr>
                                      <p:to>
                                        <p:strVal val="visible"/>
                                      </p:to>
                                    </p:set>
                                    <p:animEffect transition="in" filter="barn(inVertical)">
                                      <p:cBhvr>
                                        <p:cTn id="22" dur="500"/>
                                        <p:tgtEl>
                                          <p:spTgt spid="225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88913" y="3273752"/>
            <a:ext cx="4248150" cy="2619375"/>
          </a:xfrm>
          <a:prstGeom prst="rect">
            <a:avLst/>
          </a:prstGeom>
        </p:spPr>
      </p:pic>
      <p:sp>
        <p:nvSpPr>
          <p:cNvPr id="678919" name="Rectangle 7"/>
          <p:cNvSpPr>
            <a:spLocks noChangeArrowheads="1"/>
          </p:cNvSpPr>
          <p:nvPr/>
        </p:nvSpPr>
        <p:spPr bwMode="auto">
          <a:xfrm>
            <a:off x="7006935" y="4396628"/>
            <a:ext cx="184731"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000"/>
          </a:p>
        </p:txBody>
      </p:sp>
      <p:sp>
        <p:nvSpPr>
          <p:cNvPr id="678920" name="Rectangle 8"/>
          <p:cNvSpPr>
            <a:spLocks noChangeArrowheads="1"/>
          </p:cNvSpPr>
          <p:nvPr/>
        </p:nvSpPr>
        <p:spPr bwMode="auto">
          <a:xfrm>
            <a:off x="6710239" y="6026088"/>
            <a:ext cx="1217000"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smtClean="0">
                <a:solidFill>
                  <a:srgbClr val="990099"/>
                </a:solidFill>
              </a:rPr>
              <a:t>电流采样</a:t>
            </a:r>
            <a:endParaRPr lang="zh-CN" altLang="en-US" sz="2000" dirty="0">
              <a:solidFill>
                <a:srgbClr val="990099"/>
              </a:solidFill>
            </a:endParaRPr>
          </a:p>
        </p:txBody>
      </p:sp>
      <p:sp>
        <p:nvSpPr>
          <p:cNvPr id="678928" name="Rectangle 16"/>
          <p:cNvSpPr>
            <a:spLocks noChangeArrowheads="1"/>
          </p:cNvSpPr>
          <p:nvPr/>
        </p:nvSpPr>
        <p:spPr bwMode="auto">
          <a:xfrm>
            <a:off x="2187089" y="5954090"/>
            <a:ext cx="1217000"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smtClean="0">
                <a:solidFill>
                  <a:srgbClr val="990099"/>
                </a:solidFill>
              </a:rPr>
              <a:t>电压采样</a:t>
            </a:r>
            <a:endParaRPr lang="zh-CN" altLang="en-US" sz="2000" dirty="0">
              <a:solidFill>
                <a:srgbClr val="990099"/>
              </a:solidFill>
            </a:endParaRPr>
          </a:p>
        </p:txBody>
      </p:sp>
      <p:sp>
        <p:nvSpPr>
          <p:cNvPr id="23561" name="Rectangle 17"/>
          <p:cNvSpPr>
            <a:spLocks noChangeArrowheads="1"/>
          </p:cNvSpPr>
          <p:nvPr/>
        </p:nvSpPr>
        <p:spPr bwMode="auto">
          <a:xfrm>
            <a:off x="863829" y="1841219"/>
            <a:ext cx="2998424"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smtClean="0"/>
              <a:t>将</a:t>
            </a:r>
            <a:r>
              <a:rPr lang="zh-CN" altLang="en-US" sz="2000" dirty="0"/>
              <a:t>电路的输出端交流</a:t>
            </a:r>
            <a:r>
              <a:rPr lang="zh-CN" altLang="en-US" sz="2000" dirty="0" smtClean="0"/>
              <a:t>短路</a:t>
            </a:r>
            <a:endParaRPr lang="zh-CN" altLang="en-US" sz="2000" dirty="0"/>
          </a:p>
        </p:txBody>
      </p:sp>
      <p:cxnSp>
        <p:nvCxnSpPr>
          <p:cNvPr id="11" name="直接连接符 10"/>
          <p:cNvCxnSpPr/>
          <p:nvPr/>
        </p:nvCxnSpPr>
        <p:spPr bwMode="auto">
          <a:xfrm flipH="1" flipV="1">
            <a:off x="4365354" y="3704650"/>
            <a:ext cx="320" cy="611601"/>
          </a:xfrm>
          <a:prstGeom prst="line">
            <a:avLst/>
          </a:prstGeom>
          <a:solidFill>
            <a:srgbClr val="99FF99"/>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7" name="图片 6"/>
          <p:cNvPicPr>
            <a:picLocks noChangeAspect="1"/>
          </p:cNvPicPr>
          <p:nvPr/>
        </p:nvPicPr>
        <p:blipFill>
          <a:blip r:embed="rId3"/>
          <a:stretch>
            <a:fillRect/>
          </a:stretch>
        </p:blipFill>
        <p:spPr>
          <a:xfrm>
            <a:off x="4878388" y="3352143"/>
            <a:ext cx="4048125" cy="2457450"/>
          </a:xfrm>
          <a:prstGeom prst="rect">
            <a:avLst/>
          </a:prstGeom>
        </p:spPr>
      </p:pic>
      <p:cxnSp>
        <p:nvCxnSpPr>
          <p:cNvPr id="17" name="直接连接符 16"/>
          <p:cNvCxnSpPr/>
          <p:nvPr/>
        </p:nvCxnSpPr>
        <p:spPr bwMode="auto">
          <a:xfrm flipV="1">
            <a:off x="8850768" y="3749163"/>
            <a:ext cx="2464" cy="575884"/>
          </a:xfrm>
          <a:prstGeom prst="line">
            <a:avLst/>
          </a:prstGeom>
          <a:solidFill>
            <a:srgbClr val="99FF99"/>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矩形 8"/>
          <p:cNvSpPr/>
          <p:nvPr/>
        </p:nvSpPr>
        <p:spPr>
          <a:xfrm>
            <a:off x="4687573" y="2266958"/>
            <a:ext cx="3393983" cy="400110"/>
          </a:xfrm>
          <a:prstGeom prst="rect">
            <a:avLst/>
          </a:prstGeom>
        </p:spPr>
        <p:txBody>
          <a:bodyPr wrap="square">
            <a:spAutoFit/>
          </a:bodyPr>
          <a:lstStyle/>
          <a:p>
            <a:pPr algn="l"/>
            <a:r>
              <a:rPr lang="zh-CN" altLang="en-US" sz="2000" dirty="0" smtClean="0"/>
              <a:t>反馈</a:t>
            </a:r>
            <a:r>
              <a:rPr lang="zh-CN" altLang="en-US" sz="2000" dirty="0"/>
              <a:t>继续存在的为</a:t>
            </a:r>
            <a:r>
              <a:rPr lang="zh-CN" altLang="en-US" sz="2000" dirty="0">
                <a:solidFill>
                  <a:srgbClr val="990099"/>
                </a:solidFill>
              </a:rPr>
              <a:t>电流采样</a:t>
            </a:r>
          </a:p>
        </p:txBody>
      </p:sp>
      <p:sp>
        <p:nvSpPr>
          <p:cNvPr id="10" name="矩形 9"/>
          <p:cNvSpPr/>
          <p:nvPr/>
        </p:nvSpPr>
        <p:spPr>
          <a:xfrm>
            <a:off x="4687573" y="1374837"/>
            <a:ext cx="2765501" cy="400110"/>
          </a:xfrm>
          <a:prstGeom prst="rect">
            <a:avLst/>
          </a:prstGeom>
        </p:spPr>
        <p:txBody>
          <a:bodyPr wrap="none">
            <a:spAutoFit/>
          </a:bodyPr>
          <a:lstStyle/>
          <a:p>
            <a:r>
              <a:rPr lang="zh-CN" altLang="en-US" sz="2000" dirty="0"/>
              <a:t>反馈消失者为</a:t>
            </a:r>
            <a:r>
              <a:rPr lang="zh-CN" altLang="en-US" sz="2000" dirty="0">
                <a:solidFill>
                  <a:srgbClr val="990099"/>
                </a:solidFill>
              </a:rPr>
              <a:t>电压采样</a:t>
            </a:r>
          </a:p>
        </p:txBody>
      </p:sp>
      <p:cxnSp>
        <p:nvCxnSpPr>
          <p:cNvPr id="16" name="直接箭头连接符 15"/>
          <p:cNvCxnSpPr/>
          <p:nvPr/>
        </p:nvCxnSpPr>
        <p:spPr bwMode="auto">
          <a:xfrm flipV="1">
            <a:off x="3862253" y="1583600"/>
            <a:ext cx="825320" cy="370583"/>
          </a:xfrm>
          <a:prstGeom prst="straightConnector1">
            <a:avLst/>
          </a:prstGeom>
          <a:solidFill>
            <a:srgbClr val="99FF99"/>
          </a:solidFill>
          <a:ln w="762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箭头连接符 25"/>
          <p:cNvCxnSpPr/>
          <p:nvPr/>
        </p:nvCxnSpPr>
        <p:spPr bwMode="auto">
          <a:xfrm>
            <a:off x="3862253" y="2116003"/>
            <a:ext cx="825320" cy="370583"/>
          </a:xfrm>
          <a:prstGeom prst="straightConnector1">
            <a:avLst/>
          </a:prstGeom>
          <a:solidFill>
            <a:srgbClr val="99FF99"/>
          </a:solidFill>
          <a:ln w="762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矩形 13"/>
          <p:cNvSpPr/>
          <p:nvPr/>
        </p:nvSpPr>
        <p:spPr>
          <a:xfrm>
            <a:off x="435007" y="484645"/>
            <a:ext cx="2969082" cy="461665"/>
          </a:xfrm>
          <a:prstGeom prst="rect">
            <a:avLst/>
          </a:prstGeom>
        </p:spPr>
        <p:txBody>
          <a:bodyPr wrap="none">
            <a:spAutoFit/>
          </a:bodyPr>
          <a:lstStyle/>
          <a:p>
            <a:r>
              <a:rPr lang="zh-CN" altLang="en-US" dirty="0" smtClean="0">
                <a:solidFill>
                  <a:srgbClr val="0070C0"/>
                </a:solidFill>
              </a:rPr>
              <a:t>反馈组态判断的经验</a:t>
            </a:r>
            <a:endParaRPr lang="zh-CN" altLang="en-US" dirty="0">
              <a:solidFill>
                <a:srgbClr val="0070C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3561"/>
                                        </p:tgtEl>
                                        <p:attrNameLst>
                                          <p:attrName>style.visibility</p:attrName>
                                        </p:attrNameLst>
                                      </p:cBhvr>
                                      <p:to>
                                        <p:strVal val="visible"/>
                                      </p:to>
                                    </p:set>
                                    <p:animEffect transition="in" filter="barn(inVertical)">
                                      <p:cBhvr>
                                        <p:cTn id="7" dur="500"/>
                                        <p:tgtEl>
                                          <p:spTgt spid="2356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 calcmode="lin" valueType="num">
                                      <p:cBhvr additive="base">
                                        <p:cTn id="18" dur="500" fill="hold"/>
                                        <p:tgtEl>
                                          <p:spTgt spid="17"/>
                                        </p:tgtEl>
                                        <p:attrNameLst>
                                          <p:attrName>ppt_x</p:attrName>
                                        </p:attrNameLst>
                                      </p:cBhvr>
                                      <p:tavLst>
                                        <p:tav tm="0">
                                          <p:val>
                                            <p:strVal val="#ppt_x"/>
                                          </p:val>
                                        </p:tav>
                                        <p:tav tm="100000">
                                          <p:val>
                                            <p:strVal val="#ppt_x"/>
                                          </p:val>
                                        </p:tav>
                                      </p:tavLst>
                                    </p:anim>
                                    <p:anim calcmode="lin" valueType="num">
                                      <p:cBhvr additive="base">
                                        <p:cTn id="1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barn(inVertical)">
                                      <p:cBhvr>
                                        <p:cTn id="24" dur="500"/>
                                        <p:tgtEl>
                                          <p:spTgt spid="16"/>
                                        </p:tgtEl>
                                      </p:cBhvr>
                                    </p:animEffect>
                                  </p:childTnLst>
                                </p:cTn>
                              </p:par>
                            </p:childTnLst>
                          </p:cTn>
                        </p:par>
                        <p:par>
                          <p:cTn id="25" fill="hold">
                            <p:stCondLst>
                              <p:cond delay="500"/>
                            </p:stCondLst>
                            <p:childTnLst>
                              <p:par>
                                <p:cTn id="26" presetID="16" presetClass="entr" presetSubtype="21"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barn(inVertical)">
                                      <p:cBhvr>
                                        <p:cTn id="28" dur="500"/>
                                        <p:tgtEl>
                                          <p:spTgt spid="10"/>
                                        </p:tgtEl>
                                      </p:cBhvr>
                                    </p:animEffect>
                                  </p:childTnLst>
                                </p:cTn>
                              </p:par>
                            </p:childTnLst>
                          </p:cTn>
                        </p:par>
                        <p:par>
                          <p:cTn id="29" fill="hold">
                            <p:stCondLst>
                              <p:cond delay="1000"/>
                            </p:stCondLst>
                            <p:childTnLst>
                              <p:par>
                                <p:cTn id="30" presetID="16" presetClass="entr" presetSubtype="21" fill="hold" grpId="0" nodeType="afterEffect">
                                  <p:stCondLst>
                                    <p:cond delay="0"/>
                                  </p:stCondLst>
                                  <p:childTnLst>
                                    <p:set>
                                      <p:cBhvr>
                                        <p:cTn id="31" dur="1" fill="hold">
                                          <p:stCondLst>
                                            <p:cond delay="0"/>
                                          </p:stCondLst>
                                        </p:cTn>
                                        <p:tgtEl>
                                          <p:spTgt spid="678928"/>
                                        </p:tgtEl>
                                        <p:attrNameLst>
                                          <p:attrName>style.visibility</p:attrName>
                                        </p:attrNameLst>
                                      </p:cBhvr>
                                      <p:to>
                                        <p:strVal val="visible"/>
                                      </p:to>
                                    </p:set>
                                    <p:animEffect transition="in" filter="barn(inVertical)">
                                      <p:cBhvr>
                                        <p:cTn id="32" dur="500"/>
                                        <p:tgtEl>
                                          <p:spTgt spid="678928"/>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barn(inVertical)">
                                      <p:cBhvr>
                                        <p:cTn id="37" dur="500"/>
                                        <p:tgtEl>
                                          <p:spTgt spid="26"/>
                                        </p:tgtEl>
                                      </p:cBhvr>
                                    </p:animEffect>
                                  </p:childTnLst>
                                </p:cTn>
                              </p:par>
                            </p:childTnLst>
                          </p:cTn>
                        </p:par>
                        <p:par>
                          <p:cTn id="38" fill="hold">
                            <p:stCondLst>
                              <p:cond delay="500"/>
                            </p:stCondLst>
                            <p:childTnLst>
                              <p:par>
                                <p:cTn id="39" presetID="16" presetClass="entr" presetSubtype="21" fill="hold" grpId="0" nodeType="after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barn(inVertical)">
                                      <p:cBhvr>
                                        <p:cTn id="41" dur="500"/>
                                        <p:tgtEl>
                                          <p:spTgt spid="9"/>
                                        </p:tgtEl>
                                      </p:cBhvr>
                                    </p:animEffect>
                                  </p:childTnLst>
                                </p:cTn>
                              </p:par>
                            </p:childTnLst>
                          </p:cTn>
                        </p:par>
                        <p:par>
                          <p:cTn id="42" fill="hold">
                            <p:stCondLst>
                              <p:cond delay="1000"/>
                            </p:stCondLst>
                            <p:childTnLst>
                              <p:par>
                                <p:cTn id="43" presetID="16" presetClass="entr" presetSubtype="21" fill="hold" grpId="0" nodeType="afterEffect">
                                  <p:stCondLst>
                                    <p:cond delay="0"/>
                                  </p:stCondLst>
                                  <p:childTnLst>
                                    <p:set>
                                      <p:cBhvr>
                                        <p:cTn id="44" dur="1" fill="hold">
                                          <p:stCondLst>
                                            <p:cond delay="0"/>
                                          </p:stCondLst>
                                        </p:cTn>
                                        <p:tgtEl>
                                          <p:spTgt spid="678920"/>
                                        </p:tgtEl>
                                        <p:attrNameLst>
                                          <p:attrName>style.visibility</p:attrName>
                                        </p:attrNameLst>
                                      </p:cBhvr>
                                      <p:to>
                                        <p:strVal val="visible"/>
                                      </p:to>
                                    </p:set>
                                    <p:animEffect transition="in" filter="barn(inVertical)">
                                      <p:cBhvr>
                                        <p:cTn id="45" dur="500"/>
                                        <p:tgtEl>
                                          <p:spTgt spid="678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8920" grpId="0"/>
      <p:bldP spid="678928" grpId="0"/>
      <p:bldP spid="23561" grpId="0"/>
      <p:bldP spid="9" grpId="0"/>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5" name="图片 24"/>
          <p:cNvPicPr>
            <a:picLocks noChangeAspect="1"/>
          </p:cNvPicPr>
          <p:nvPr/>
        </p:nvPicPr>
        <p:blipFill>
          <a:blip r:embed="rId2"/>
          <a:stretch>
            <a:fillRect/>
          </a:stretch>
        </p:blipFill>
        <p:spPr>
          <a:xfrm>
            <a:off x="4622327" y="2801680"/>
            <a:ext cx="4048125" cy="2457450"/>
          </a:xfrm>
          <a:prstGeom prst="rect">
            <a:avLst/>
          </a:prstGeom>
        </p:spPr>
      </p:pic>
      <p:sp>
        <p:nvSpPr>
          <p:cNvPr id="679939" name="Rectangle 3"/>
          <p:cNvSpPr>
            <a:spLocks noChangeArrowheads="1"/>
          </p:cNvSpPr>
          <p:nvPr/>
        </p:nvSpPr>
        <p:spPr bwMode="auto">
          <a:xfrm>
            <a:off x="6384564" y="5326123"/>
            <a:ext cx="1217000"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smtClean="0">
                <a:solidFill>
                  <a:srgbClr val="990099"/>
                </a:solidFill>
              </a:rPr>
              <a:t>串联接入</a:t>
            </a:r>
            <a:endParaRPr lang="zh-CN" altLang="en-US" sz="2000" dirty="0">
              <a:solidFill>
                <a:srgbClr val="990099"/>
              </a:solidFill>
            </a:endParaRPr>
          </a:p>
        </p:txBody>
      </p:sp>
      <p:sp>
        <p:nvSpPr>
          <p:cNvPr id="679944" name="Rectangle 8"/>
          <p:cNvSpPr>
            <a:spLocks noChangeArrowheads="1"/>
          </p:cNvSpPr>
          <p:nvPr/>
        </p:nvSpPr>
        <p:spPr bwMode="auto">
          <a:xfrm>
            <a:off x="1951231" y="5326123"/>
            <a:ext cx="1217000"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smtClean="0">
                <a:solidFill>
                  <a:srgbClr val="990099"/>
                </a:solidFill>
              </a:rPr>
              <a:t>并联接入</a:t>
            </a:r>
            <a:endParaRPr lang="zh-CN" altLang="en-US" sz="2000" dirty="0">
              <a:solidFill>
                <a:srgbClr val="990099"/>
              </a:solidFill>
            </a:endParaRPr>
          </a:p>
        </p:txBody>
      </p:sp>
      <p:pic>
        <p:nvPicPr>
          <p:cNvPr id="679946" name="图片 2333"/>
          <p:cNvPicPr>
            <a:picLocks noChangeAspect="1" noChangeArrowheads="1"/>
          </p:cNvPicPr>
          <p:nvPr/>
        </p:nvPicPr>
        <p:blipFill>
          <a:blip r:embed="rId3">
            <a:extLst>
              <a:ext uri="{28A0092B-C50C-407E-A947-70E740481C1C}">
                <a14:useLocalDpi xmlns:a14="http://schemas.microsoft.com/office/drawing/2010/main" val="0"/>
              </a:ext>
            </a:extLst>
          </a:blip>
          <a:srcRect r="241" b="13103"/>
          <a:stretch>
            <a:fillRect/>
          </a:stretch>
        </p:blipFill>
        <p:spPr bwMode="auto">
          <a:xfrm>
            <a:off x="461781" y="2731105"/>
            <a:ext cx="3892550"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9947" name="Rectangle 11"/>
          <p:cNvSpPr>
            <a:spLocks noChangeArrowheads="1"/>
          </p:cNvSpPr>
          <p:nvPr/>
        </p:nvSpPr>
        <p:spPr bwMode="auto">
          <a:xfrm>
            <a:off x="4622327" y="3186688"/>
            <a:ext cx="184731"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000"/>
          </a:p>
        </p:txBody>
      </p:sp>
      <p:cxnSp>
        <p:nvCxnSpPr>
          <p:cNvPr id="5" name="直接连接符 4"/>
          <p:cNvCxnSpPr/>
          <p:nvPr/>
        </p:nvCxnSpPr>
        <p:spPr bwMode="auto">
          <a:xfrm flipH="1" flipV="1">
            <a:off x="1311519" y="3166856"/>
            <a:ext cx="1995" cy="557172"/>
          </a:xfrm>
          <a:prstGeom prst="line">
            <a:avLst/>
          </a:prstGeom>
          <a:solidFill>
            <a:srgbClr val="99FF99"/>
          </a:solidFill>
          <a:ln w="28575" cap="flat" cmpd="sng" algn="ctr">
            <a:solidFill>
              <a:srgbClr val="FF0000"/>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p:cNvCxnSpPr/>
          <p:nvPr/>
        </p:nvCxnSpPr>
        <p:spPr bwMode="auto">
          <a:xfrm flipV="1">
            <a:off x="5605816" y="3159840"/>
            <a:ext cx="228438" cy="643954"/>
          </a:xfrm>
          <a:prstGeom prst="line">
            <a:avLst/>
          </a:prstGeom>
          <a:solidFill>
            <a:srgbClr val="99FF99"/>
          </a:solidFill>
          <a:ln w="28575" cap="flat" cmpd="sng" algn="ctr">
            <a:solidFill>
              <a:srgbClr val="FF0000"/>
            </a:solidFill>
            <a:prstDash val="solid"/>
            <a:round/>
            <a:headEnd type="oval"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Rectangle 17"/>
          <p:cNvSpPr>
            <a:spLocks noChangeArrowheads="1"/>
          </p:cNvSpPr>
          <p:nvPr/>
        </p:nvSpPr>
        <p:spPr bwMode="auto">
          <a:xfrm>
            <a:off x="863829" y="1450694"/>
            <a:ext cx="2998424"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smtClean="0"/>
              <a:t>将</a:t>
            </a:r>
            <a:r>
              <a:rPr lang="zh-CN" altLang="en-US" sz="2000" dirty="0"/>
              <a:t>电路</a:t>
            </a:r>
            <a:r>
              <a:rPr lang="zh-CN" altLang="en-US" sz="2000" dirty="0" smtClean="0"/>
              <a:t>的</a:t>
            </a:r>
            <a:r>
              <a:rPr lang="zh-CN" altLang="en-US" sz="2000" dirty="0"/>
              <a:t>输入</a:t>
            </a:r>
            <a:r>
              <a:rPr lang="zh-CN" altLang="en-US" sz="2000" dirty="0" smtClean="0"/>
              <a:t>端</a:t>
            </a:r>
            <a:r>
              <a:rPr lang="zh-CN" altLang="en-US" sz="2000" dirty="0"/>
              <a:t>交流</a:t>
            </a:r>
            <a:r>
              <a:rPr lang="zh-CN" altLang="en-US" sz="2000" dirty="0" smtClean="0"/>
              <a:t>短路</a:t>
            </a:r>
            <a:endParaRPr lang="zh-CN" altLang="en-US" sz="2000" dirty="0"/>
          </a:p>
        </p:txBody>
      </p:sp>
      <p:sp>
        <p:nvSpPr>
          <p:cNvPr id="21" name="矩形 20"/>
          <p:cNvSpPr/>
          <p:nvPr/>
        </p:nvSpPr>
        <p:spPr>
          <a:xfrm>
            <a:off x="4687573" y="1876433"/>
            <a:ext cx="3393983" cy="400110"/>
          </a:xfrm>
          <a:prstGeom prst="rect">
            <a:avLst/>
          </a:prstGeom>
        </p:spPr>
        <p:txBody>
          <a:bodyPr wrap="square">
            <a:spAutoFit/>
          </a:bodyPr>
          <a:lstStyle/>
          <a:p>
            <a:pPr algn="l"/>
            <a:r>
              <a:rPr lang="zh-CN" altLang="en-US" sz="2000" dirty="0" smtClean="0"/>
              <a:t>反馈</a:t>
            </a:r>
            <a:r>
              <a:rPr lang="zh-CN" altLang="en-US" sz="2000" dirty="0"/>
              <a:t>仍能加上的为</a:t>
            </a:r>
            <a:r>
              <a:rPr lang="zh-CN" altLang="en-US" sz="2000" dirty="0">
                <a:solidFill>
                  <a:srgbClr val="990099"/>
                </a:solidFill>
              </a:rPr>
              <a:t>串联接入</a:t>
            </a:r>
          </a:p>
        </p:txBody>
      </p:sp>
      <p:sp>
        <p:nvSpPr>
          <p:cNvPr id="22" name="矩形 21"/>
          <p:cNvSpPr/>
          <p:nvPr/>
        </p:nvSpPr>
        <p:spPr>
          <a:xfrm>
            <a:off x="4687573" y="984312"/>
            <a:ext cx="4012035" cy="400110"/>
          </a:xfrm>
          <a:prstGeom prst="rect">
            <a:avLst/>
          </a:prstGeom>
        </p:spPr>
        <p:txBody>
          <a:bodyPr wrap="square">
            <a:spAutoFit/>
          </a:bodyPr>
          <a:lstStyle/>
          <a:p>
            <a:pPr algn="l"/>
            <a:r>
              <a:rPr lang="zh-CN" altLang="en-US" sz="2000" dirty="0" smtClean="0"/>
              <a:t>反馈</a:t>
            </a:r>
            <a:r>
              <a:rPr lang="zh-CN" altLang="en-US" sz="2000" dirty="0"/>
              <a:t>加不上者为</a:t>
            </a:r>
            <a:r>
              <a:rPr lang="zh-CN" altLang="en-US" sz="2000" dirty="0">
                <a:solidFill>
                  <a:srgbClr val="990099"/>
                </a:solidFill>
              </a:rPr>
              <a:t>并联接入</a:t>
            </a:r>
          </a:p>
        </p:txBody>
      </p:sp>
      <p:cxnSp>
        <p:nvCxnSpPr>
          <p:cNvPr id="23" name="直接箭头连接符 22"/>
          <p:cNvCxnSpPr/>
          <p:nvPr/>
        </p:nvCxnSpPr>
        <p:spPr bwMode="auto">
          <a:xfrm flipV="1">
            <a:off x="3862253" y="1193075"/>
            <a:ext cx="825320" cy="370583"/>
          </a:xfrm>
          <a:prstGeom prst="straightConnector1">
            <a:avLst/>
          </a:prstGeom>
          <a:solidFill>
            <a:srgbClr val="99FF99"/>
          </a:solidFill>
          <a:ln w="762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箭头连接符 23"/>
          <p:cNvCxnSpPr/>
          <p:nvPr/>
        </p:nvCxnSpPr>
        <p:spPr bwMode="auto">
          <a:xfrm>
            <a:off x="3862253" y="1725478"/>
            <a:ext cx="825320" cy="370583"/>
          </a:xfrm>
          <a:prstGeom prst="straightConnector1">
            <a:avLst/>
          </a:prstGeom>
          <a:solidFill>
            <a:srgbClr val="99FF99"/>
          </a:solidFill>
          <a:ln w="762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Vertic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par>
                          <p:cTn id="13" fill="hold">
                            <p:stCondLst>
                              <p:cond delay="500"/>
                            </p:stCondLst>
                            <p:childTnLst>
                              <p:par>
                                <p:cTn id="14" presetID="16" presetClass="entr" presetSubtype="21" fill="hold"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barn(inVertical)">
                                      <p:cBhvr>
                                        <p:cTn id="21" dur="500"/>
                                        <p:tgtEl>
                                          <p:spTgt spid="23"/>
                                        </p:tgtEl>
                                      </p:cBhvr>
                                    </p:animEffect>
                                  </p:childTnLst>
                                </p:cTn>
                              </p:par>
                            </p:childTnLst>
                          </p:cTn>
                        </p:par>
                        <p:par>
                          <p:cTn id="22" fill="hold">
                            <p:stCondLst>
                              <p:cond delay="500"/>
                            </p:stCondLst>
                            <p:childTnLst>
                              <p:par>
                                <p:cTn id="23" presetID="16" presetClass="entr" presetSubtype="21"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barn(inVertical)">
                                      <p:cBhvr>
                                        <p:cTn id="25" dur="500"/>
                                        <p:tgtEl>
                                          <p:spTgt spid="22"/>
                                        </p:tgtEl>
                                      </p:cBhvr>
                                    </p:animEffect>
                                  </p:childTnLst>
                                </p:cTn>
                              </p:par>
                            </p:childTnLst>
                          </p:cTn>
                        </p:par>
                        <p:par>
                          <p:cTn id="26" fill="hold">
                            <p:stCondLst>
                              <p:cond delay="1000"/>
                            </p:stCondLst>
                            <p:childTnLst>
                              <p:par>
                                <p:cTn id="27" presetID="16" presetClass="entr" presetSubtype="21" fill="hold" grpId="0" nodeType="afterEffect">
                                  <p:stCondLst>
                                    <p:cond delay="0"/>
                                  </p:stCondLst>
                                  <p:childTnLst>
                                    <p:set>
                                      <p:cBhvr>
                                        <p:cTn id="28" dur="1" fill="hold">
                                          <p:stCondLst>
                                            <p:cond delay="0"/>
                                          </p:stCondLst>
                                        </p:cTn>
                                        <p:tgtEl>
                                          <p:spTgt spid="679944"/>
                                        </p:tgtEl>
                                        <p:attrNameLst>
                                          <p:attrName>style.visibility</p:attrName>
                                        </p:attrNameLst>
                                      </p:cBhvr>
                                      <p:to>
                                        <p:strVal val="visible"/>
                                      </p:to>
                                    </p:set>
                                    <p:animEffect transition="in" filter="barn(inVertical)">
                                      <p:cBhvr>
                                        <p:cTn id="29" dur="500"/>
                                        <p:tgtEl>
                                          <p:spTgt spid="679944"/>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barn(inVertical)">
                                      <p:cBhvr>
                                        <p:cTn id="34" dur="500"/>
                                        <p:tgtEl>
                                          <p:spTgt spid="24"/>
                                        </p:tgtEl>
                                      </p:cBhvr>
                                    </p:animEffect>
                                  </p:childTnLst>
                                </p:cTn>
                              </p:par>
                            </p:childTnLst>
                          </p:cTn>
                        </p:par>
                        <p:par>
                          <p:cTn id="35" fill="hold">
                            <p:stCondLst>
                              <p:cond delay="500"/>
                            </p:stCondLst>
                            <p:childTnLst>
                              <p:par>
                                <p:cTn id="36" presetID="16" presetClass="entr" presetSubtype="21" fill="hold" grpId="0" nodeType="after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arn(inVertical)">
                                      <p:cBhvr>
                                        <p:cTn id="38" dur="500"/>
                                        <p:tgtEl>
                                          <p:spTgt spid="21"/>
                                        </p:tgtEl>
                                      </p:cBhvr>
                                    </p:animEffect>
                                  </p:childTnLst>
                                </p:cTn>
                              </p:par>
                            </p:childTnLst>
                          </p:cTn>
                        </p:par>
                        <p:par>
                          <p:cTn id="39" fill="hold">
                            <p:stCondLst>
                              <p:cond delay="1000"/>
                            </p:stCondLst>
                            <p:childTnLst>
                              <p:par>
                                <p:cTn id="40" presetID="16" presetClass="entr" presetSubtype="21" fill="hold" grpId="0" nodeType="afterEffect">
                                  <p:stCondLst>
                                    <p:cond delay="0"/>
                                  </p:stCondLst>
                                  <p:childTnLst>
                                    <p:set>
                                      <p:cBhvr>
                                        <p:cTn id="41" dur="1" fill="hold">
                                          <p:stCondLst>
                                            <p:cond delay="0"/>
                                          </p:stCondLst>
                                        </p:cTn>
                                        <p:tgtEl>
                                          <p:spTgt spid="679939"/>
                                        </p:tgtEl>
                                        <p:attrNameLst>
                                          <p:attrName>style.visibility</p:attrName>
                                        </p:attrNameLst>
                                      </p:cBhvr>
                                      <p:to>
                                        <p:strVal val="visible"/>
                                      </p:to>
                                    </p:set>
                                    <p:animEffect transition="in" filter="barn(inVertical)">
                                      <p:cBhvr>
                                        <p:cTn id="42" dur="500"/>
                                        <p:tgtEl>
                                          <p:spTgt spid="679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9939" grpId="0"/>
      <p:bldP spid="679944" grpId="0"/>
      <p:bldP spid="20" grpId="0"/>
      <p:bldP spid="21" grpId="0"/>
      <p:bldP spid="22"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5"/>
          <p:cNvSpPr>
            <a:spLocks noChangeArrowheads="1"/>
          </p:cNvSpPr>
          <p:nvPr/>
        </p:nvSpPr>
        <p:spPr bwMode="auto">
          <a:xfrm>
            <a:off x="481013" y="408942"/>
            <a:ext cx="8316912" cy="193899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0"/>
              </a:spcBef>
              <a:buFontTx/>
              <a:buNone/>
            </a:pPr>
            <a:r>
              <a:rPr lang="en-US" altLang="zh-CN" sz="2000" dirty="0"/>
              <a:t>        </a:t>
            </a:r>
            <a:r>
              <a:rPr lang="zh-CN" altLang="en-US" sz="2000" dirty="0"/>
              <a:t>规定电路输入信号在某一时刻对地的极性，然后</a:t>
            </a:r>
            <a:r>
              <a:rPr lang="zh-CN" altLang="en-US" sz="2000" dirty="0">
                <a:solidFill>
                  <a:srgbClr val="FF0000"/>
                </a:solidFill>
              </a:rPr>
              <a:t>逐级判断</a:t>
            </a:r>
            <a:r>
              <a:rPr lang="zh-CN" altLang="en-US" sz="2000" dirty="0"/>
              <a:t>电路中各相关点电流的流向或电位的极性，从而得出输出信号的极性；根据输出信号的极性判断反馈信号的极性；若反馈信号使基本放大器的净输入信号增大，则引入的是</a:t>
            </a:r>
            <a:r>
              <a:rPr lang="zh-CN" altLang="en-US" sz="2000" dirty="0">
                <a:solidFill>
                  <a:srgbClr val="FF0000"/>
                </a:solidFill>
              </a:rPr>
              <a:t>正反馈</a:t>
            </a:r>
            <a:r>
              <a:rPr lang="zh-CN" altLang="en-US" sz="2000" dirty="0"/>
              <a:t>；反之引入的是</a:t>
            </a:r>
            <a:r>
              <a:rPr lang="zh-CN" altLang="en-US" sz="2000" dirty="0" smtClean="0">
                <a:solidFill>
                  <a:srgbClr val="FF0000"/>
                </a:solidFill>
              </a:rPr>
              <a:t>负反馈</a:t>
            </a:r>
            <a:r>
              <a:rPr lang="zh-CN" altLang="en-US" sz="2000" dirty="0" smtClean="0"/>
              <a:t>。</a:t>
            </a:r>
            <a:endParaRPr lang="zh-CN" altLang="en-US" sz="2000" dirty="0">
              <a:solidFill>
                <a:srgbClr val="FF0000"/>
              </a:solidFill>
            </a:endParaRPr>
          </a:p>
        </p:txBody>
      </p:sp>
      <p:graphicFrame>
        <p:nvGraphicFramePr>
          <p:cNvPr id="685062" name="Object 6"/>
          <p:cNvGraphicFramePr>
            <a:graphicFrameLocks noGrp="1" noChangeAspect="1"/>
          </p:cNvGraphicFramePr>
          <p:nvPr>
            <p:ph/>
            <p:extLst>
              <p:ext uri="{D42A27DB-BD31-4B8C-83A1-F6EECF244321}">
                <p14:modId xmlns:p14="http://schemas.microsoft.com/office/powerpoint/2010/main" val="3456999887"/>
              </p:ext>
            </p:extLst>
          </p:nvPr>
        </p:nvGraphicFramePr>
        <p:xfrm>
          <a:off x="1530350" y="2573338"/>
          <a:ext cx="6378575" cy="3429000"/>
        </p:xfrm>
        <a:graphic>
          <a:graphicData uri="http://schemas.openxmlformats.org/presentationml/2006/ole">
            <mc:AlternateContent xmlns:mc="http://schemas.openxmlformats.org/markup-compatibility/2006">
              <mc:Choice xmlns:v="urn:schemas-microsoft-com:vml" Requires="v">
                <p:oleObj spid="_x0000_s25834" name="Photo Editor 照片" r:id="rId3" imgW="17380952" imgH="9345329" progId="MSPhotoEd.3">
                  <p:embed/>
                </p:oleObj>
              </mc:Choice>
              <mc:Fallback>
                <p:oleObj name="Photo Editor 照片" r:id="rId3" imgW="17380952" imgH="9345329" progId="MSPhotoEd.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0350" y="2573338"/>
                        <a:ext cx="6378575"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85070" name="Group 14"/>
          <p:cNvGrpSpPr>
            <a:grpSpLocks/>
          </p:cNvGrpSpPr>
          <p:nvPr/>
        </p:nvGrpSpPr>
        <p:grpSpPr bwMode="auto">
          <a:xfrm>
            <a:off x="2695575" y="4281488"/>
            <a:ext cx="381000" cy="457200"/>
            <a:chOff x="451" y="2050"/>
            <a:chExt cx="240" cy="288"/>
          </a:xfrm>
        </p:grpSpPr>
        <p:sp>
          <p:nvSpPr>
            <p:cNvPr id="25617" name="Text Box 9"/>
            <p:cNvSpPr txBox="1">
              <a:spLocks noChangeArrowheads="1"/>
            </p:cNvSpPr>
            <p:nvPr/>
          </p:nvSpPr>
          <p:spPr bwMode="auto">
            <a:xfrm>
              <a:off x="451" y="205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a:solidFill>
                    <a:srgbClr val="FF0000"/>
                  </a:solidFill>
                </a:rPr>
                <a:t>+</a:t>
              </a:r>
            </a:p>
          </p:txBody>
        </p:sp>
        <p:sp>
          <p:nvSpPr>
            <p:cNvPr id="25618" name="Oval 12"/>
            <p:cNvSpPr>
              <a:spLocks noChangeArrowheads="1"/>
            </p:cNvSpPr>
            <p:nvPr/>
          </p:nvSpPr>
          <p:spPr bwMode="auto">
            <a:xfrm>
              <a:off x="490" y="2131"/>
              <a:ext cx="144" cy="144"/>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grpSp>
      <p:grpSp>
        <p:nvGrpSpPr>
          <p:cNvPr id="685072" name="Group 16"/>
          <p:cNvGrpSpPr>
            <a:grpSpLocks/>
          </p:cNvGrpSpPr>
          <p:nvPr/>
        </p:nvGrpSpPr>
        <p:grpSpPr bwMode="auto">
          <a:xfrm>
            <a:off x="3511550" y="4770438"/>
            <a:ext cx="381000" cy="457200"/>
            <a:chOff x="451" y="2050"/>
            <a:chExt cx="240" cy="288"/>
          </a:xfrm>
        </p:grpSpPr>
        <p:sp>
          <p:nvSpPr>
            <p:cNvPr id="25615" name="Text Box 17"/>
            <p:cNvSpPr txBox="1">
              <a:spLocks noChangeArrowheads="1"/>
            </p:cNvSpPr>
            <p:nvPr/>
          </p:nvSpPr>
          <p:spPr bwMode="auto">
            <a:xfrm>
              <a:off x="451" y="205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a:solidFill>
                    <a:srgbClr val="FF0000"/>
                  </a:solidFill>
                </a:rPr>
                <a:t>+</a:t>
              </a:r>
            </a:p>
          </p:txBody>
        </p:sp>
        <p:sp>
          <p:nvSpPr>
            <p:cNvPr id="25616" name="Oval 18"/>
            <p:cNvSpPr>
              <a:spLocks noChangeArrowheads="1"/>
            </p:cNvSpPr>
            <p:nvPr/>
          </p:nvSpPr>
          <p:spPr bwMode="auto">
            <a:xfrm>
              <a:off x="490" y="2131"/>
              <a:ext cx="144" cy="144"/>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grpSp>
      <p:grpSp>
        <p:nvGrpSpPr>
          <p:cNvPr id="685075" name="Group 19"/>
          <p:cNvGrpSpPr>
            <a:grpSpLocks/>
          </p:cNvGrpSpPr>
          <p:nvPr/>
        </p:nvGrpSpPr>
        <p:grpSpPr bwMode="auto">
          <a:xfrm>
            <a:off x="6242050" y="4662488"/>
            <a:ext cx="381000" cy="457200"/>
            <a:chOff x="451" y="2050"/>
            <a:chExt cx="240" cy="288"/>
          </a:xfrm>
        </p:grpSpPr>
        <p:sp>
          <p:nvSpPr>
            <p:cNvPr id="25613" name="Text Box 20"/>
            <p:cNvSpPr txBox="1">
              <a:spLocks noChangeArrowheads="1"/>
            </p:cNvSpPr>
            <p:nvPr/>
          </p:nvSpPr>
          <p:spPr bwMode="auto">
            <a:xfrm>
              <a:off x="451" y="205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a:solidFill>
                    <a:srgbClr val="FF0000"/>
                  </a:solidFill>
                </a:rPr>
                <a:t>+</a:t>
              </a:r>
            </a:p>
          </p:txBody>
        </p:sp>
        <p:sp>
          <p:nvSpPr>
            <p:cNvPr id="25614" name="Oval 21"/>
            <p:cNvSpPr>
              <a:spLocks noChangeArrowheads="1"/>
            </p:cNvSpPr>
            <p:nvPr/>
          </p:nvSpPr>
          <p:spPr bwMode="auto">
            <a:xfrm>
              <a:off x="490" y="2131"/>
              <a:ext cx="144" cy="144"/>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grpSp>
      <p:grpSp>
        <p:nvGrpSpPr>
          <p:cNvPr id="685078" name="Group 22"/>
          <p:cNvGrpSpPr>
            <a:grpSpLocks/>
          </p:cNvGrpSpPr>
          <p:nvPr/>
        </p:nvGrpSpPr>
        <p:grpSpPr bwMode="auto">
          <a:xfrm>
            <a:off x="3475038" y="3687763"/>
            <a:ext cx="381000" cy="514350"/>
            <a:chOff x="451" y="2560"/>
            <a:chExt cx="240" cy="324"/>
          </a:xfrm>
        </p:grpSpPr>
        <p:sp>
          <p:nvSpPr>
            <p:cNvPr id="25611" name="Text Box 23"/>
            <p:cNvSpPr txBox="1">
              <a:spLocks noChangeArrowheads="1"/>
            </p:cNvSpPr>
            <p:nvPr/>
          </p:nvSpPr>
          <p:spPr bwMode="auto">
            <a:xfrm>
              <a:off x="451" y="256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a:solidFill>
                    <a:srgbClr val="FF0000"/>
                  </a:solidFill>
                </a:rPr>
                <a:t>_</a:t>
              </a:r>
            </a:p>
          </p:txBody>
        </p:sp>
        <p:sp>
          <p:nvSpPr>
            <p:cNvPr id="25612" name="Oval 24"/>
            <p:cNvSpPr>
              <a:spLocks noChangeArrowheads="1"/>
            </p:cNvSpPr>
            <p:nvPr/>
          </p:nvSpPr>
          <p:spPr bwMode="auto">
            <a:xfrm>
              <a:off x="484" y="2740"/>
              <a:ext cx="144" cy="144"/>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grpSp>
      <p:grpSp>
        <p:nvGrpSpPr>
          <p:cNvPr id="685081" name="Group 25"/>
          <p:cNvGrpSpPr>
            <a:grpSpLocks/>
          </p:cNvGrpSpPr>
          <p:nvPr/>
        </p:nvGrpSpPr>
        <p:grpSpPr bwMode="auto">
          <a:xfrm>
            <a:off x="4967288" y="4251325"/>
            <a:ext cx="381000" cy="457200"/>
            <a:chOff x="451" y="2050"/>
            <a:chExt cx="240" cy="288"/>
          </a:xfrm>
        </p:grpSpPr>
        <p:sp>
          <p:nvSpPr>
            <p:cNvPr id="25609" name="Text Box 26"/>
            <p:cNvSpPr txBox="1">
              <a:spLocks noChangeArrowheads="1"/>
            </p:cNvSpPr>
            <p:nvPr/>
          </p:nvSpPr>
          <p:spPr bwMode="auto">
            <a:xfrm>
              <a:off x="451" y="2050"/>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a:solidFill>
                    <a:srgbClr val="FF0000"/>
                  </a:solidFill>
                </a:rPr>
                <a:t>+</a:t>
              </a:r>
            </a:p>
          </p:txBody>
        </p:sp>
        <p:sp>
          <p:nvSpPr>
            <p:cNvPr id="25610" name="Oval 27"/>
            <p:cNvSpPr>
              <a:spLocks noChangeArrowheads="1"/>
            </p:cNvSpPr>
            <p:nvPr/>
          </p:nvSpPr>
          <p:spPr bwMode="auto">
            <a:xfrm>
              <a:off x="490" y="2131"/>
              <a:ext cx="144" cy="144"/>
            </a:xfrm>
            <a:prstGeom prst="ellipse">
              <a:avLst/>
            </a:prstGeom>
            <a:noFill/>
            <a:ln w="190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85062"/>
                                        </p:tgtEl>
                                        <p:attrNameLst>
                                          <p:attrName>style.visibility</p:attrName>
                                        </p:attrNameLst>
                                      </p:cBhvr>
                                      <p:to>
                                        <p:strVal val="visible"/>
                                      </p:to>
                                    </p:set>
                                    <p:animEffect transition="in" filter="blinds(horizontal)">
                                      <p:cBhvr>
                                        <p:cTn id="7" dur="500"/>
                                        <p:tgtEl>
                                          <p:spTgt spid="6850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685070"/>
                                        </p:tgtEl>
                                        <p:attrNameLst>
                                          <p:attrName>style.visibility</p:attrName>
                                        </p:attrNameLst>
                                      </p:cBhvr>
                                      <p:to>
                                        <p:strVal val="visible"/>
                                      </p:to>
                                    </p:set>
                                    <p:anim calcmode="lin" valueType="num">
                                      <p:cBhvr additive="base">
                                        <p:cTn id="12" dur="500" fill="hold"/>
                                        <p:tgtEl>
                                          <p:spTgt spid="685070"/>
                                        </p:tgtEl>
                                        <p:attrNameLst>
                                          <p:attrName>ppt_x</p:attrName>
                                        </p:attrNameLst>
                                      </p:cBhvr>
                                      <p:tavLst>
                                        <p:tav tm="0">
                                          <p:val>
                                            <p:strVal val="#ppt_x"/>
                                          </p:val>
                                        </p:tav>
                                        <p:tav tm="100000">
                                          <p:val>
                                            <p:strVal val="#ppt_x"/>
                                          </p:val>
                                        </p:tav>
                                      </p:tavLst>
                                    </p:anim>
                                    <p:anim calcmode="lin" valueType="num">
                                      <p:cBhvr additive="base">
                                        <p:cTn id="13" dur="500" fill="hold"/>
                                        <p:tgtEl>
                                          <p:spTgt spid="685070"/>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nodeType="clickEffect">
                                  <p:stCondLst>
                                    <p:cond delay="0"/>
                                  </p:stCondLst>
                                  <p:childTnLst>
                                    <p:set>
                                      <p:cBhvr>
                                        <p:cTn id="17" dur="1" fill="hold">
                                          <p:stCondLst>
                                            <p:cond delay="0"/>
                                          </p:stCondLst>
                                        </p:cTn>
                                        <p:tgtEl>
                                          <p:spTgt spid="685078"/>
                                        </p:tgtEl>
                                        <p:attrNameLst>
                                          <p:attrName>style.visibility</p:attrName>
                                        </p:attrNameLst>
                                      </p:cBhvr>
                                      <p:to>
                                        <p:strVal val="visible"/>
                                      </p:to>
                                    </p:set>
                                    <p:animEffect transition="in" filter="box(in)">
                                      <p:cBhvr>
                                        <p:cTn id="18" dur="500"/>
                                        <p:tgtEl>
                                          <p:spTgt spid="68507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8" presetClass="entr" presetSubtype="16" fill="hold" nodeType="clickEffect">
                                  <p:stCondLst>
                                    <p:cond delay="0"/>
                                  </p:stCondLst>
                                  <p:childTnLst>
                                    <p:set>
                                      <p:cBhvr>
                                        <p:cTn id="22" dur="1" fill="hold">
                                          <p:stCondLst>
                                            <p:cond delay="0"/>
                                          </p:stCondLst>
                                        </p:cTn>
                                        <p:tgtEl>
                                          <p:spTgt spid="685081"/>
                                        </p:tgtEl>
                                        <p:attrNameLst>
                                          <p:attrName>style.visibility</p:attrName>
                                        </p:attrNameLst>
                                      </p:cBhvr>
                                      <p:to>
                                        <p:strVal val="visible"/>
                                      </p:to>
                                    </p:set>
                                    <p:animEffect transition="in" filter="diamond(in)">
                                      <p:cBhvr>
                                        <p:cTn id="23" dur="1000"/>
                                        <p:tgtEl>
                                          <p:spTgt spid="68508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nodeType="clickEffect">
                                  <p:stCondLst>
                                    <p:cond delay="0"/>
                                  </p:stCondLst>
                                  <p:childTnLst>
                                    <p:set>
                                      <p:cBhvr>
                                        <p:cTn id="27" dur="1" fill="hold">
                                          <p:stCondLst>
                                            <p:cond delay="0"/>
                                          </p:stCondLst>
                                        </p:cTn>
                                        <p:tgtEl>
                                          <p:spTgt spid="685075"/>
                                        </p:tgtEl>
                                        <p:attrNameLst>
                                          <p:attrName>style.visibility</p:attrName>
                                        </p:attrNameLst>
                                      </p:cBhvr>
                                      <p:to>
                                        <p:strVal val="visible"/>
                                      </p:to>
                                    </p:set>
                                    <p:animEffect transition="in" filter="box(in)">
                                      <p:cBhvr>
                                        <p:cTn id="28" dur="500"/>
                                        <p:tgtEl>
                                          <p:spTgt spid="68507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 presetClass="entr" presetSubtype="10" fill="hold" nodeType="clickEffect">
                                  <p:stCondLst>
                                    <p:cond delay="0"/>
                                  </p:stCondLst>
                                  <p:childTnLst>
                                    <p:set>
                                      <p:cBhvr>
                                        <p:cTn id="32" dur="1" fill="hold">
                                          <p:stCondLst>
                                            <p:cond delay="0"/>
                                          </p:stCondLst>
                                        </p:cTn>
                                        <p:tgtEl>
                                          <p:spTgt spid="685072"/>
                                        </p:tgtEl>
                                        <p:attrNameLst>
                                          <p:attrName>style.visibility</p:attrName>
                                        </p:attrNameLst>
                                      </p:cBhvr>
                                      <p:to>
                                        <p:strVal val="visible"/>
                                      </p:to>
                                    </p:set>
                                    <p:animEffect transition="in" filter="checkerboard(across)">
                                      <p:cBhvr>
                                        <p:cTn id="33" dur="500"/>
                                        <p:tgtEl>
                                          <p:spTgt spid="685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Text Box 3"/>
          <p:cNvSpPr txBox="1">
            <a:spLocks noChangeArrowheads="1"/>
          </p:cNvSpPr>
          <p:nvPr/>
        </p:nvSpPr>
        <p:spPr bwMode="auto">
          <a:xfrm>
            <a:off x="554038" y="604838"/>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l" eaLnBrk="1" hangingPunct="1">
              <a:spcBef>
                <a:spcPct val="50000"/>
              </a:spcBef>
              <a:buFontTx/>
              <a:buNone/>
              <a:defRPr>
                <a:solidFill>
                  <a:srgbClr val="990033"/>
                </a:solidFill>
              </a:defRPr>
            </a:lvl1pPr>
            <a:lvl2pPr marL="742950" indent="-285750" algn="l" eaLnBrk="0" hangingPunct="0">
              <a:spcBef>
                <a:spcPct val="20000"/>
              </a:spcBef>
              <a:buChar char="–"/>
              <a:defRPr sz="2800"/>
            </a:lvl2pPr>
            <a:lvl3pPr marL="1143000" indent="-228600" algn="l" eaLnBrk="0" hangingPunct="0">
              <a:spcBef>
                <a:spcPct val="20000"/>
              </a:spcBef>
              <a:buChar char="•"/>
            </a:lvl3pPr>
            <a:lvl4pPr marL="1600200" indent="-228600" algn="l" eaLnBrk="0" hangingPunct="0">
              <a:spcBef>
                <a:spcPct val="20000"/>
              </a:spcBef>
              <a:buChar char="–"/>
              <a:defRPr sz="2000"/>
            </a:lvl4pPr>
            <a:lvl5pPr marL="2057400" indent="-228600" algn="l" eaLnBrk="0" hangingPunct="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r>
              <a:rPr lang="zh-CN" altLang="en-US" dirty="0" smtClean="0"/>
              <a:t>二、</a:t>
            </a:r>
            <a:r>
              <a:rPr lang="zh-CN" altLang="en-US" dirty="0"/>
              <a:t>举例说明</a:t>
            </a:r>
          </a:p>
        </p:txBody>
      </p:sp>
      <p:sp>
        <p:nvSpPr>
          <p:cNvPr id="26627" name="Rectangle 6"/>
          <p:cNvSpPr>
            <a:spLocks noChangeArrowheads="1"/>
          </p:cNvSpPr>
          <p:nvPr/>
        </p:nvSpPr>
        <p:spPr bwMode="auto">
          <a:xfrm>
            <a:off x="965200" y="1527115"/>
            <a:ext cx="7723188"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smtClean="0"/>
              <a:t>例</a:t>
            </a:r>
            <a:r>
              <a:rPr lang="en-US" altLang="zh-CN" sz="2000" dirty="0" smtClean="0"/>
              <a:t>1 </a:t>
            </a:r>
            <a:r>
              <a:rPr lang="zh-CN" altLang="en-US" sz="2000" dirty="0" smtClean="0"/>
              <a:t>判断</a:t>
            </a:r>
            <a:r>
              <a:rPr lang="zh-CN" altLang="en-US" sz="2000" dirty="0"/>
              <a:t>下图电路为直流反馈，还是交流反馈？并说明反馈的作用。</a:t>
            </a:r>
          </a:p>
        </p:txBody>
      </p:sp>
      <p:pic>
        <p:nvPicPr>
          <p:cNvPr id="26628" name="图片 2337" descr="说明: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500" y="2833688"/>
            <a:ext cx="432752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图片 2338" descr="说明: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3588" y="2743200"/>
            <a:ext cx="4484687" cy="339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0" name="Rectangle 9"/>
          <p:cNvSpPr>
            <a:spLocks noChangeArrowheads="1"/>
          </p:cNvSpPr>
          <p:nvPr/>
        </p:nvSpPr>
        <p:spPr bwMode="auto">
          <a:xfrm>
            <a:off x="0" y="1614488"/>
            <a:ext cx="9144000" cy="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sp>
        <p:nvSpPr>
          <p:cNvPr id="26631" name="Rectangle 10"/>
          <p:cNvSpPr>
            <a:spLocks noChangeArrowheads="1"/>
          </p:cNvSpPr>
          <p:nvPr/>
        </p:nvSpPr>
        <p:spPr bwMode="auto">
          <a:xfrm>
            <a:off x="0" y="5243513"/>
            <a:ext cx="9144000" cy="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zh-CN" sz="2400" b="0"/>
          </a:p>
        </p:txBody>
      </p:sp>
      <p:sp>
        <p:nvSpPr>
          <p:cNvPr id="2" name="矩形 1"/>
          <p:cNvSpPr/>
          <p:nvPr/>
        </p:nvSpPr>
        <p:spPr>
          <a:xfrm>
            <a:off x="1677500" y="5911205"/>
            <a:ext cx="1217000" cy="400110"/>
          </a:xfrm>
          <a:prstGeom prst="rect">
            <a:avLst/>
          </a:prstGeom>
        </p:spPr>
        <p:txBody>
          <a:bodyPr wrap="none">
            <a:spAutoFit/>
          </a:bodyPr>
          <a:lstStyle/>
          <a:p>
            <a:r>
              <a:rPr lang="zh-CN" altLang="en-US" sz="2000" dirty="0"/>
              <a:t>直流反馈</a:t>
            </a:r>
          </a:p>
        </p:txBody>
      </p:sp>
      <p:sp>
        <p:nvSpPr>
          <p:cNvPr id="9" name="矩形 8"/>
          <p:cNvSpPr/>
          <p:nvPr/>
        </p:nvSpPr>
        <p:spPr>
          <a:xfrm>
            <a:off x="6148125" y="5910233"/>
            <a:ext cx="1991251" cy="400110"/>
          </a:xfrm>
          <a:prstGeom prst="rect">
            <a:avLst/>
          </a:prstGeom>
        </p:spPr>
        <p:txBody>
          <a:bodyPr wrap="none">
            <a:spAutoFit/>
          </a:bodyPr>
          <a:lstStyle/>
          <a:p>
            <a:r>
              <a:rPr lang="zh-CN" altLang="en-US" sz="2000" dirty="0" smtClean="0"/>
              <a:t>直流和交流反馈</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3"/>
          <p:cNvSpPr>
            <a:spLocks noChangeArrowheads="1"/>
          </p:cNvSpPr>
          <p:nvPr/>
        </p:nvSpPr>
        <p:spPr bwMode="auto">
          <a:xfrm>
            <a:off x="731838" y="819120"/>
            <a:ext cx="7723187"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smtClean="0"/>
              <a:t>例</a:t>
            </a:r>
            <a:r>
              <a:rPr lang="en-US" altLang="zh-CN" sz="2000" dirty="0" smtClean="0"/>
              <a:t>2 </a:t>
            </a:r>
            <a:r>
              <a:rPr lang="zh-CN" altLang="en-US" sz="2000" dirty="0" smtClean="0"/>
              <a:t>判断</a:t>
            </a:r>
            <a:r>
              <a:rPr lang="zh-CN" altLang="en-US" sz="2000" dirty="0"/>
              <a:t>下图所示电路为什么反馈？</a:t>
            </a:r>
          </a:p>
        </p:txBody>
      </p:sp>
      <p:sp>
        <p:nvSpPr>
          <p:cNvPr id="27651" name="Rectangle 7"/>
          <p:cNvSpPr>
            <a:spLocks noChangeArrowheads="1"/>
          </p:cNvSpPr>
          <p:nvPr/>
        </p:nvSpPr>
        <p:spPr bwMode="auto">
          <a:xfrm>
            <a:off x="0" y="5243513"/>
            <a:ext cx="9144000" cy="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endParaRPr lang="zh-CN" altLang="zh-CN" sz="2400" b="0"/>
          </a:p>
        </p:txBody>
      </p:sp>
      <p:pic>
        <p:nvPicPr>
          <p:cNvPr id="27652" name="图片 2341"/>
          <p:cNvPicPr>
            <a:picLocks noChangeAspect="1" noChangeArrowheads="1"/>
          </p:cNvPicPr>
          <p:nvPr/>
        </p:nvPicPr>
        <p:blipFill>
          <a:blip r:embed="rId2">
            <a:extLst>
              <a:ext uri="{28A0092B-C50C-407E-A947-70E740481C1C}">
                <a14:useLocalDpi xmlns:a14="http://schemas.microsoft.com/office/drawing/2010/main" val="0"/>
              </a:ext>
            </a:extLst>
          </a:blip>
          <a:srcRect b="12308"/>
          <a:stretch>
            <a:fillRect/>
          </a:stretch>
        </p:blipFill>
        <p:spPr bwMode="auto">
          <a:xfrm>
            <a:off x="814388" y="1597025"/>
            <a:ext cx="7612062"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203009" y="5786736"/>
            <a:ext cx="3023585" cy="400110"/>
          </a:xfrm>
          <a:prstGeom prst="rect">
            <a:avLst/>
          </a:prstGeom>
        </p:spPr>
        <p:txBody>
          <a:bodyPr wrap="none">
            <a:spAutoFit/>
          </a:bodyPr>
          <a:lstStyle/>
          <a:p>
            <a:r>
              <a:rPr lang="zh-CN" altLang="en-US" sz="2000" dirty="0" smtClean="0"/>
              <a:t>电压采样串联接入负反馈</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731838" y="819120"/>
            <a:ext cx="7723187"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smtClean="0"/>
              <a:t>例</a:t>
            </a:r>
            <a:r>
              <a:rPr lang="en-US" altLang="zh-CN" sz="2000" dirty="0" smtClean="0"/>
              <a:t>3 </a:t>
            </a:r>
            <a:r>
              <a:rPr lang="zh-CN" altLang="en-US" sz="2000" dirty="0" smtClean="0"/>
              <a:t>判断</a:t>
            </a:r>
            <a:r>
              <a:rPr lang="zh-CN" altLang="en-US" sz="2000" dirty="0"/>
              <a:t>下图所示电路为什么反馈？</a:t>
            </a:r>
          </a:p>
        </p:txBody>
      </p:sp>
      <p:pic>
        <p:nvPicPr>
          <p:cNvPr id="28676" name="图片 2345"/>
          <p:cNvPicPr>
            <a:picLocks noChangeAspect="1" noChangeArrowheads="1"/>
          </p:cNvPicPr>
          <p:nvPr/>
        </p:nvPicPr>
        <p:blipFill>
          <a:blip r:embed="rId2">
            <a:extLst>
              <a:ext uri="{28A0092B-C50C-407E-A947-70E740481C1C}">
                <a14:useLocalDpi xmlns:a14="http://schemas.microsoft.com/office/drawing/2010/main" val="0"/>
              </a:ext>
            </a:extLst>
          </a:blip>
          <a:srcRect b="10300"/>
          <a:stretch>
            <a:fillRect/>
          </a:stretch>
        </p:blipFill>
        <p:spPr bwMode="auto">
          <a:xfrm>
            <a:off x="1962149" y="1762124"/>
            <a:ext cx="4410075" cy="3175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3081638" y="5372637"/>
            <a:ext cx="3023585" cy="400110"/>
          </a:xfrm>
          <a:prstGeom prst="rect">
            <a:avLst/>
          </a:prstGeom>
        </p:spPr>
        <p:txBody>
          <a:bodyPr wrap="none">
            <a:spAutoFit/>
          </a:bodyPr>
          <a:lstStyle/>
          <a:p>
            <a:r>
              <a:rPr lang="zh-CN" altLang="en-US" sz="2000" dirty="0" smtClean="0"/>
              <a:t>电压采样并联接入负反馈</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481013" y="511175"/>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smtClean="0">
                <a:solidFill>
                  <a:srgbClr val="990033"/>
                </a:solidFill>
              </a:rPr>
              <a:t>11.1.5  </a:t>
            </a:r>
            <a:r>
              <a:rPr lang="zh-CN" altLang="en-US" sz="2400" dirty="0" smtClean="0">
                <a:solidFill>
                  <a:srgbClr val="990033"/>
                </a:solidFill>
              </a:rPr>
              <a:t>负反馈电路</a:t>
            </a:r>
            <a:r>
              <a:rPr lang="zh-CN" altLang="en-US" sz="2400" dirty="0" smtClean="0">
                <a:solidFill>
                  <a:srgbClr val="A50021"/>
                </a:solidFill>
              </a:rPr>
              <a:t>的拆环</a:t>
            </a:r>
            <a:endParaRPr lang="zh-CN" altLang="en-US" sz="2400" dirty="0">
              <a:solidFill>
                <a:srgbClr val="A50021"/>
              </a:solidFill>
            </a:endParaRPr>
          </a:p>
        </p:txBody>
      </p:sp>
      <p:sp>
        <p:nvSpPr>
          <p:cNvPr id="33795" name="Text Box 3"/>
          <p:cNvSpPr txBox="1">
            <a:spLocks noChangeArrowheads="1"/>
          </p:cNvSpPr>
          <p:nvPr/>
        </p:nvSpPr>
        <p:spPr bwMode="auto">
          <a:xfrm>
            <a:off x="815975" y="3498030"/>
            <a:ext cx="7969250"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marL="342900" indent="-342900" eaLnBrk="1" hangingPunct="1">
              <a:lnSpc>
                <a:spcPct val="150000"/>
              </a:lnSpc>
              <a:spcBef>
                <a:spcPct val="50000"/>
              </a:spcBef>
              <a:buFont typeface="Wingdings" panose="05000000000000000000" pitchFamily="2" charset="2"/>
              <a:buChar char="l"/>
            </a:pPr>
            <a:r>
              <a:rPr lang="zh-CN" altLang="en-US" sz="2000" dirty="0" smtClean="0"/>
              <a:t>理论上，假设放大电路和反馈网络都是单向传输电路。</a:t>
            </a:r>
            <a:endParaRPr lang="en-US" altLang="zh-CN" sz="2000" dirty="0" smtClean="0"/>
          </a:p>
          <a:p>
            <a:pPr marL="342900" indent="-342900" eaLnBrk="1" hangingPunct="1">
              <a:lnSpc>
                <a:spcPct val="150000"/>
              </a:lnSpc>
              <a:spcBef>
                <a:spcPct val="50000"/>
              </a:spcBef>
              <a:buFont typeface="Wingdings" panose="05000000000000000000" pitchFamily="2" charset="2"/>
              <a:buChar char="l"/>
            </a:pPr>
            <a:r>
              <a:rPr lang="zh-CN" altLang="en-US" sz="2000" dirty="0" smtClean="0"/>
              <a:t>理论上，理想的反馈网络对放大电路没有负载效应。</a:t>
            </a:r>
            <a:endParaRPr lang="en-US" altLang="zh-CN" sz="2000" dirty="0" smtClean="0"/>
          </a:p>
          <a:p>
            <a:pPr marL="342900" indent="-342900" eaLnBrk="1" hangingPunct="1">
              <a:lnSpc>
                <a:spcPct val="150000"/>
              </a:lnSpc>
              <a:spcBef>
                <a:spcPct val="50000"/>
              </a:spcBef>
              <a:buFont typeface="Wingdings" panose="05000000000000000000" pitchFamily="2" charset="2"/>
              <a:buChar char="l"/>
            </a:pPr>
            <a:r>
              <a:rPr lang="zh-CN" altLang="en-US" sz="2000" dirty="0" smtClean="0"/>
              <a:t>实际的反馈网络或多或少对放大电路有负载效应。</a:t>
            </a:r>
            <a:endParaRPr lang="en-US" altLang="zh-CN" sz="2000" dirty="0" smtClean="0"/>
          </a:p>
          <a:p>
            <a:pPr marL="342900" indent="-342900" eaLnBrk="1" hangingPunct="1">
              <a:lnSpc>
                <a:spcPct val="150000"/>
              </a:lnSpc>
              <a:spcBef>
                <a:spcPct val="50000"/>
              </a:spcBef>
              <a:buFont typeface="Wingdings" panose="05000000000000000000" pitchFamily="2" charset="2"/>
              <a:buChar char="l"/>
            </a:pPr>
            <a:r>
              <a:rPr lang="zh-CN" altLang="en-US" sz="2000" dirty="0" smtClean="0"/>
              <a:t>对反馈网络进行拆环的目的是分析其对放大电路的负载效应。 </a:t>
            </a:r>
            <a:endParaRPr lang="zh-CN" altLang="en-US" sz="2000" dirty="0"/>
          </a:p>
        </p:txBody>
      </p:sp>
      <p:pic>
        <p:nvPicPr>
          <p:cNvPr id="6" name="图片 2374"/>
          <p:cNvPicPr>
            <a:picLocks noChangeAspect="1" noChangeArrowheads="1"/>
          </p:cNvPicPr>
          <p:nvPr/>
        </p:nvPicPr>
        <p:blipFill>
          <a:blip r:embed="rId2">
            <a:extLst>
              <a:ext uri="{28A0092B-C50C-407E-A947-70E740481C1C}">
                <a14:useLocalDpi xmlns:a14="http://schemas.microsoft.com/office/drawing/2010/main" val="0"/>
              </a:ext>
            </a:extLst>
          </a:blip>
          <a:srcRect b="20949"/>
          <a:stretch>
            <a:fillRect/>
          </a:stretch>
        </p:blipFill>
        <p:spPr bwMode="auto">
          <a:xfrm>
            <a:off x="2171701" y="1323005"/>
            <a:ext cx="4552950" cy="179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12979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3795">
                                            <p:txEl>
                                              <p:pRg st="0" end="0"/>
                                            </p:txEl>
                                          </p:spTgt>
                                        </p:tgtEl>
                                        <p:attrNameLst>
                                          <p:attrName>style.visibility</p:attrName>
                                        </p:attrNameLst>
                                      </p:cBhvr>
                                      <p:to>
                                        <p:strVal val="visible"/>
                                      </p:to>
                                    </p:set>
                                    <p:animEffect transition="in" filter="barn(inVertical)">
                                      <p:cBhvr>
                                        <p:cTn id="12" dur="500"/>
                                        <p:tgtEl>
                                          <p:spTgt spid="3379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3795">
                                            <p:txEl>
                                              <p:pRg st="1" end="1"/>
                                            </p:txEl>
                                          </p:spTgt>
                                        </p:tgtEl>
                                        <p:attrNameLst>
                                          <p:attrName>style.visibility</p:attrName>
                                        </p:attrNameLst>
                                      </p:cBhvr>
                                      <p:to>
                                        <p:strVal val="visible"/>
                                      </p:to>
                                    </p:set>
                                    <p:animEffect transition="in" filter="barn(inVertical)">
                                      <p:cBhvr>
                                        <p:cTn id="17" dur="500"/>
                                        <p:tgtEl>
                                          <p:spTgt spid="3379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3795">
                                            <p:txEl>
                                              <p:pRg st="2" end="2"/>
                                            </p:txEl>
                                          </p:spTgt>
                                        </p:tgtEl>
                                        <p:attrNameLst>
                                          <p:attrName>style.visibility</p:attrName>
                                        </p:attrNameLst>
                                      </p:cBhvr>
                                      <p:to>
                                        <p:strVal val="visible"/>
                                      </p:to>
                                    </p:set>
                                    <p:animEffect transition="in" filter="barn(inVertical)">
                                      <p:cBhvr>
                                        <p:cTn id="22" dur="500"/>
                                        <p:tgtEl>
                                          <p:spTgt spid="3379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3795">
                                            <p:txEl>
                                              <p:pRg st="3" end="3"/>
                                            </p:txEl>
                                          </p:spTgt>
                                        </p:tgtEl>
                                        <p:attrNameLst>
                                          <p:attrName>style.visibility</p:attrName>
                                        </p:attrNameLst>
                                      </p:cBhvr>
                                      <p:to>
                                        <p:strVal val="visible"/>
                                      </p:to>
                                    </p:set>
                                    <p:animEffect transition="in" filter="barn(inVertical)">
                                      <p:cBhvr>
                                        <p:cTn id="27" dur="500"/>
                                        <p:tgtEl>
                                          <p:spTgt spid="337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Text Box 3"/>
          <p:cNvSpPr txBox="1">
            <a:spLocks noChangeArrowheads="1"/>
          </p:cNvSpPr>
          <p:nvPr/>
        </p:nvSpPr>
        <p:spPr bwMode="auto">
          <a:xfrm>
            <a:off x="744538" y="1706563"/>
            <a:ext cx="796925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0"/>
              </a:spcBef>
              <a:buFontTx/>
              <a:buNone/>
            </a:pPr>
            <a:r>
              <a:rPr lang="zh-CN" altLang="en-US" sz="2000" dirty="0" smtClean="0">
                <a:solidFill>
                  <a:srgbClr val="FF0000"/>
                </a:solidFill>
              </a:rPr>
              <a:t>画</a:t>
            </a:r>
            <a:r>
              <a:rPr lang="zh-CN" altLang="en-US" sz="2000" dirty="0">
                <a:solidFill>
                  <a:srgbClr val="FF0000"/>
                </a:solidFill>
              </a:rPr>
              <a:t>输入，看输出</a:t>
            </a:r>
            <a:r>
              <a:rPr lang="zh-CN" altLang="en-US" sz="2000" dirty="0"/>
              <a:t>：</a:t>
            </a:r>
          </a:p>
          <a:p>
            <a:pPr eaLnBrk="1" hangingPunct="1">
              <a:lnSpc>
                <a:spcPct val="150000"/>
              </a:lnSpc>
              <a:spcBef>
                <a:spcPct val="0"/>
              </a:spcBef>
              <a:buFontTx/>
              <a:buNone/>
            </a:pPr>
            <a:r>
              <a:rPr lang="zh-CN" altLang="en-US" sz="2000" dirty="0"/>
              <a:t>        输出端如果是电压采样，则将输出端对地短路；如果是电流采样，则将输出端开路。</a:t>
            </a:r>
          </a:p>
          <a:p>
            <a:pPr eaLnBrk="1" hangingPunct="1">
              <a:lnSpc>
                <a:spcPct val="150000"/>
              </a:lnSpc>
              <a:spcBef>
                <a:spcPct val="0"/>
              </a:spcBef>
              <a:buFontTx/>
              <a:buNone/>
            </a:pPr>
            <a:endParaRPr lang="zh-CN" altLang="en-US" sz="2000" dirty="0"/>
          </a:p>
          <a:p>
            <a:pPr eaLnBrk="1" hangingPunct="1">
              <a:lnSpc>
                <a:spcPct val="150000"/>
              </a:lnSpc>
              <a:spcBef>
                <a:spcPct val="0"/>
              </a:spcBef>
              <a:buFontTx/>
              <a:buNone/>
            </a:pPr>
            <a:r>
              <a:rPr lang="zh-CN" altLang="en-US" sz="2000" dirty="0">
                <a:solidFill>
                  <a:srgbClr val="FF0000"/>
                </a:solidFill>
              </a:rPr>
              <a:t>画输出，看输入</a:t>
            </a:r>
            <a:r>
              <a:rPr lang="zh-CN" altLang="en-US" sz="2000" dirty="0"/>
              <a:t>：</a:t>
            </a:r>
          </a:p>
          <a:p>
            <a:pPr eaLnBrk="1" hangingPunct="1">
              <a:lnSpc>
                <a:spcPct val="150000"/>
              </a:lnSpc>
              <a:spcBef>
                <a:spcPct val="0"/>
              </a:spcBef>
              <a:buFontTx/>
              <a:buNone/>
            </a:pPr>
            <a:r>
              <a:rPr lang="zh-CN" altLang="en-US" sz="2000" dirty="0"/>
              <a:t>        输入端如果是并联接入，则将输入端对地短路；如果是串联接入，则将输入端开路。</a:t>
            </a:r>
          </a:p>
        </p:txBody>
      </p:sp>
      <p:sp>
        <p:nvSpPr>
          <p:cNvPr id="2" name="矩形 1"/>
          <p:cNvSpPr/>
          <p:nvPr/>
        </p:nvSpPr>
        <p:spPr>
          <a:xfrm>
            <a:off x="576768" y="994420"/>
            <a:ext cx="1422184" cy="461665"/>
          </a:xfrm>
          <a:prstGeom prst="rect">
            <a:avLst/>
          </a:prstGeom>
          <a:solidFill>
            <a:srgbClr val="FFC000"/>
          </a:solidFill>
        </p:spPr>
        <p:txBody>
          <a:bodyPr wrap="none">
            <a:spAutoFit/>
          </a:bodyPr>
          <a:lstStyle/>
          <a:p>
            <a:pPr lvl="0"/>
            <a:r>
              <a:rPr lang="zh-CN" altLang="en-US" dirty="0">
                <a:solidFill>
                  <a:srgbClr val="000000"/>
                </a:solidFill>
              </a:rPr>
              <a:t>拆环</a:t>
            </a:r>
            <a:r>
              <a:rPr lang="zh-CN" altLang="en-US" dirty="0" smtClean="0">
                <a:solidFill>
                  <a:srgbClr val="000000"/>
                </a:solidFill>
              </a:rPr>
              <a:t>方法</a:t>
            </a:r>
            <a:endParaRPr lang="zh-CN" altLang="en-US" dirty="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4818">
                                            <p:txEl>
                                              <p:pRg st="0" end="0"/>
                                            </p:txEl>
                                          </p:spTgt>
                                        </p:tgtEl>
                                        <p:attrNameLst>
                                          <p:attrName>style.visibility</p:attrName>
                                        </p:attrNameLst>
                                      </p:cBhvr>
                                      <p:to>
                                        <p:strVal val="visible"/>
                                      </p:to>
                                    </p:set>
                                    <p:animEffect transition="in" filter="barn(inVertical)">
                                      <p:cBhvr>
                                        <p:cTn id="7" dur="500"/>
                                        <p:tgtEl>
                                          <p:spTgt spid="348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4818">
                                            <p:txEl>
                                              <p:pRg st="1" end="1"/>
                                            </p:txEl>
                                          </p:spTgt>
                                        </p:tgtEl>
                                        <p:attrNameLst>
                                          <p:attrName>style.visibility</p:attrName>
                                        </p:attrNameLst>
                                      </p:cBhvr>
                                      <p:to>
                                        <p:strVal val="visible"/>
                                      </p:to>
                                    </p:set>
                                    <p:animEffect transition="in" filter="barn(inVertical)">
                                      <p:cBhvr>
                                        <p:cTn id="12" dur="500"/>
                                        <p:tgtEl>
                                          <p:spTgt spid="348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4818">
                                            <p:txEl>
                                              <p:pRg st="3" end="3"/>
                                            </p:txEl>
                                          </p:spTgt>
                                        </p:tgtEl>
                                        <p:attrNameLst>
                                          <p:attrName>style.visibility</p:attrName>
                                        </p:attrNameLst>
                                      </p:cBhvr>
                                      <p:to>
                                        <p:strVal val="visible"/>
                                      </p:to>
                                    </p:set>
                                    <p:animEffect transition="in" filter="barn(inVertical)">
                                      <p:cBhvr>
                                        <p:cTn id="17" dur="500"/>
                                        <p:tgtEl>
                                          <p:spTgt spid="3481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4818">
                                            <p:txEl>
                                              <p:pRg st="4" end="4"/>
                                            </p:txEl>
                                          </p:spTgt>
                                        </p:tgtEl>
                                        <p:attrNameLst>
                                          <p:attrName>style.visibility</p:attrName>
                                        </p:attrNameLst>
                                      </p:cBhvr>
                                      <p:to>
                                        <p:strVal val="visible"/>
                                      </p:to>
                                    </p:set>
                                    <p:animEffect transition="in" filter="barn(inVertical)">
                                      <p:cBhvr>
                                        <p:cTn id="22" dur="500"/>
                                        <p:tgtEl>
                                          <p:spTgt spid="348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468313" y="314325"/>
            <a:ext cx="21351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a:t>举例</a:t>
            </a:r>
          </a:p>
        </p:txBody>
      </p:sp>
      <p:sp>
        <p:nvSpPr>
          <p:cNvPr id="35843" name="Rectangle 3"/>
          <p:cNvSpPr>
            <a:spLocks noChangeArrowheads="1"/>
          </p:cNvSpPr>
          <p:nvPr/>
        </p:nvSpPr>
        <p:spPr bwMode="auto">
          <a:xfrm>
            <a:off x="1023938" y="892145"/>
            <a:ext cx="2997937"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t>(1)  </a:t>
            </a:r>
            <a:r>
              <a:rPr lang="zh-CN" altLang="en-US" sz="2000"/>
              <a:t>电压串联负反馈电路 </a:t>
            </a:r>
          </a:p>
        </p:txBody>
      </p:sp>
      <p:pic>
        <p:nvPicPr>
          <p:cNvPr id="35844" name="图片 2355"/>
          <p:cNvPicPr>
            <a:picLocks noChangeAspect="1" noChangeArrowheads="1"/>
          </p:cNvPicPr>
          <p:nvPr/>
        </p:nvPicPr>
        <p:blipFill>
          <a:blip r:embed="rId3">
            <a:extLst>
              <a:ext uri="{28A0092B-C50C-407E-A947-70E740481C1C}">
                <a14:useLocalDpi xmlns:a14="http://schemas.microsoft.com/office/drawing/2010/main" val="0"/>
              </a:ext>
            </a:extLst>
          </a:blip>
          <a:srcRect r="957" b="12051"/>
          <a:stretch>
            <a:fillRect/>
          </a:stretch>
        </p:blipFill>
        <p:spPr bwMode="auto">
          <a:xfrm>
            <a:off x="1565275" y="1306513"/>
            <a:ext cx="6234113" cy="325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图片 2357"/>
          <p:cNvPicPr>
            <a:picLocks noChangeAspect="1" noChangeArrowheads="1"/>
          </p:cNvPicPr>
          <p:nvPr/>
        </p:nvPicPr>
        <p:blipFill>
          <a:blip r:embed="rId4">
            <a:extLst>
              <a:ext uri="{28A0092B-C50C-407E-A947-70E740481C1C}">
                <a14:useLocalDpi xmlns:a14="http://schemas.microsoft.com/office/drawing/2010/main" val="0"/>
              </a:ext>
            </a:extLst>
          </a:blip>
          <a:srcRect b="14912"/>
          <a:stretch>
            <a:fillRect/>
          </a:stretch>
        </p:blipFill>
        <p:spPr bwMode="auto">
          <a:xfrm>
            <a:off x="1830388" y="4759325"/>
            <a:ext cx="6151562" cy="198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5845"/>
                                        </p:tgtEl>
                                        <p:attrNameLst>
                                          <p:attrName>style.visibility</p:attrName>
                                        </p:attrNameLst>
                                      </p:cBhvr>
                                      <p:to>
                                        <p:strVal val="visible"/>
                                      </p:to>
                                    </p:set>
                                    <p:animEffect transition="in" filter="barn(inVertical)">
                                      <p:cBhvr>
                                        <p:cTn id="7" dur="500"/>
                                        <p:tgtEl>
                                          <p:spTgt spid="35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3"/>
          <p:cNvSpPr>
            <a:spLocks noChangeArrowheads="1"/>
          </p:cNvSpPr>
          <p:nvPr/>
        </p:nvSpPr>
        <p:spPr bwMode="auto">
          <a:xfrm>
            <a:off x="908050" y="514320"/>
            <a:ext cx="2481770"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dirty="0"/>
              <a:t>(2)  </a:t>
            </a:r>
            <a:r>
              <a:rPr lang="zh-CN" altLang="en-US" sz="2000" dirty="0"/>
              <a:t>电压并联负反馈 </a:t>
            </a:r>
          </a:p>
        </p:txBody>
      </p:sp>
      <p:pic>
        <p:nvPicPr>
          <p:cNvPr id="36867" name="图片 2359"/>
          <p:cNvPicPr>
            <a:picLocks noChangeAspect="1" noChangeArrowheads="1"/>
          </p:cNvPicPr>
          <p:nvPr/>
        </p:nvPicPr>
        <p:blipFill>
          <a:blip r:embed="rId2">
            <a:extLst>
              <a:ext uri="{28A0092B-C50C-407E-A947-70E740481C1C}">
                <a14:useLocalDpi xmlns:a14="http://schemas.microsoft.com/office/drawing/2010/main" val="0"/>
              </a:ext>
            </a:extLst>
          </a:blip>
          <a:srcRect b="10294"/>
          <a:stretch>
            <a:fillRect/>
          </a:stretch>
        </p:blipFill>
        <p:spPr bwMode="auto">
          <a:xfrm>
            <a:off x="2308225" y="912813"/>
            <a:ext cx="4316413"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8" name="图片 2361"/>
          <p:cNvPicPr>
            <a:picLocks noChangeAspect="1" noChangeArrowheads="1"/>
          </p:cNvPicPr>
          <p:nvPr/>
        </p:nvPicPr>
        <p:blipFill>
          <a:blip r:embed="rId3">
            <a:extLst>
              <a:ext uri="{28A0092B-C50C-407E-A947-70E740481C1C}">
                <a14:useLocalDpi xmlns:a14="http://schemas.microsoft.com/office/drawing/2010/main" val="0"/>
              </a:ext>
            </a:extLst>
          </a:blip>
          <a:srcRect b="15309"/>
          <a:stretch>
            <a:fillRect/>
          </a:stretch>
        </p:blipFill>
        <p:spPr bwMode="auto">
          <a:xfrm>
            <a:off x="2584450" y="4035425"/>
            <a:ext cx="4137025" cy="262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6868"/>
                                        </p:tgtEl>
                                        <p:attrNameLst>
                                          <p:attrName>style.visibility</p:attrName>
                                        </p:attrNameLst>
                                      </p:cBhvr>
                                      <p:to>
                                        <p:strVal val="visible"/>
                                      </p:to>
                                    </p:set>
                                    <p:animEffect transition="in" filter="barn(inVertical)">
                                      <p:cBhvr>
                                        <p:cTn id="7" dur="500"/>
                                        <p:tgtEl>
                                          <p:spTgt spid="36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908050" y="514320"/>
            <a:ext cx="2481770"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dirty="0"/>
              <a:t>(3)  </a:t>
            </a:r>
            <a:r>
              <a:rPr lang="zh-CN" altLang="en-US" sz="2000" dirty="0"/>
              <a:t>电流并联负反馈 </a:t>
            </a:r>
          </a:p>
        </p:txBody>
      </p:sp>
      <p:pic>
        <p:nvPicPr>
          <p:cNvPr id="37891" name="图片 2363"/>
          <p:cNvPicPr>
            <a:picLocks noChangeAspect="1" noChangeArrowheads="1"/>
          </p:cNvPicPr>
          <p:nvPr/>
        </p:nvPicPr>
        <p:blipFill>
          <a:blip r:embed="rId2">
            <a:extLst>
              <a:ext uri="{28A0092B-C50C-407E-A947-70E740481C1C}">
                <a14:useLocalDpi xmlns:a14="http://schemas.microsoft.com/office/drawing/2010/main" val="0"/>
              </a:ext>
            </a:extLst>
          </a:blip>
          <a:srcRect b="7285"/>
          <a:stretch>
            <a:fillRect/>
          </a:stretch>
        </p:blipFill>
        <p:spPr bwMode="auto">
          <a:xfrm>
            <a:off x="2090738" y="1073150"/>
            <a:ext cx="5534025" cy="316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2" name="图片 2365"/>
          <p:cNvPicPr>
            <a:picLocks noChangeAspect="1" noChangeArrowheads="1"/>
          </p:cNvPicPr>
          <p:nvPr/>
        </p:nvPicPr>
        <p:blipFill>
          <a:blip r:embed="rId3">
            <a:extLst>
              <a:ext uri="{28A0092B-C50C-407E-A947-70E740481C1C}">
                <a14:useLocalDpi xmlns:a14="http://schemas.microsoft.com/office/drawing/2010/main" val="0"/>
              </a:ext>
            </a:extLst>
          </a:blip>
          <a:srcRect r="204" b="14973"/>
          <a:stretch>
            <a:fillRect/>
          </a:stretch>
        </p:blipFill>
        <p:spPr bwMode="auto">
          <a:xfrm>
            <a:off x="1985963" y="4541838"/>
            <a:ext cx="6578600" cy="214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7892"/>
                                        </p:tgtEl>
                                        <p:attrNameLst>
                                          <p:attrName>style.visibility</p:attrName>
                                        </p:attrNameLst>
                                      </p:cBhvr>
                                      <p:to>
                                        <p:strVal val="visible"/>
                                      </p:to>
                                    </p:set>
                                    <p:animEffect transition="in" filter="barn(inVertical)">
                                      <p:cBhvr>
                                        <p:cTn id="7" dur="500"/>
                                        <p:tgtEl>
                                          <p:spTgt spid="37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908050" y="514320"/>
            <a:ext cx="2481770"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dirty="0"/>
              <a:t>(4)  </a:t>
            </a:r>
            <a:r>
              <a:rPr lang="zh-CN" altLang="en-US" sz="2000" dirty="0"/>
              <a:t>电流串联负反馈 </a:t>
            </a:r>
          </a:p>
        </p:txBody>
      </p:sp>
      <p:pic>
        <p:nvPicPr>
          <p:cNvPr id="38915" name="图片 2367"/>
          <p:cNvPicPr>
            <a:picLocks noChangeAspect="1" noChangeArrowheads="1"/>
          </p:cNvPicPr>
          <p:nvPr/>
        </p:nvPicPr>
        <p:blipFill>
          <a:blip r:embed="rId2">
            <a:extLst>
              <a:ext uri="{28A0092B-C50C-407E-A947-70E740481C1C}">
                <a14:useLocalDpi xmlns:a14="http://schemas.microsoft.com/office/drawing/2010/main" val="0"/>
              </a:ext>
            </a:extLst>
          </a:blip>
          <a:srcRect b="10507"/>
          <a:stretch>
            <a:fillRect/>
          </a:stretch>
        </p:blipFill>
        <p:spPr bwMode="auto">
          <a:xfrm>
            <a:off x="2770188" y="1085850"/>
            <a:ext cx="3990975"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6" name="图片 2308"/>
          <p:cNvPicPr>
            <a:picLocks noChangeAspect="1" noChangeArrowheads="1"/>
          </p:cNvPicPr>
          <p:nvPr/>
        </p:nvPicPr>
        <p:blipFill>
          <a:blip r:embed="rId3">
            <a:extLst>
              <a:ext uri="{28A0092B-C50C-407E-A947-70E740481C1C}">
                <a14:useLocalDpi xmlns:a14="http://schemas.microsoft.com/office/drawing/2010/main" val="0"/>
              </a:ext>
            </a:extLst>
          </a:blip>
          <a:srcRect b="12903"/>
          <a:stretch>
            <a:fillRect/>
          </a:stretch>
        </p:blipFill>
        <p:spPr bwMode="auto">
          <a:xfrm>
            <a:off x="2744788" y="4064000"/>
            <a:ext cx="4127500" cy="270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8916"/>
                                        </p:tgtEl>
                                        <p:attrNameLst>
                                          <p:attrName>style.visibility</p:attrName>
                                        </p:attrNameLst>
                                      </p:cBhvr>
                                      <p:to>
                                        <p:strVal val="visible"/>
                                      </p:to>
                                    </p:set>
                                    <p:animEffect transition="in" filter="barn(inVertical)">
                                      <p:cBhvr>
                                        <p:cTn id="7" dur="500"/>
                                        <p:tgtEl>
                                          <p:spTgt spid="38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884238" y="627063"/>
            <a:ext cx="7515225" cy="519112"/>
          </a:xfrm>
          <a:prstGeom prst="rect">
            <a:avLst/>
          </a:prstGeom>
          <a:solidFill>
            <a:srgbClr val="CCFFCC"/>
          </a:solidFill>
          <a:ln>
            <a:noFill/>
          </a:ln>
          <a:effectLst>
            <a:outerShdw dist="35921" dir="2700000" algn="ctr" rotWithShape="0">
              <a:srgbClr val="808080"/>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2800" dirty="0" smtClean="0">
                <a:solidFill>
                  <a:schemeClr val="tx2"/>
                </a:solidFill>
              </a:rPr>
              <a:t>11.2  </a:t>
            </a:r>
            <a:r>
              <a:rPr lang="zh-CN" altLang="en-US" sz="2800" dirty="0" smtClean="0">
                <a:solidFill>
                  <a:schemeClr val="tx2"/>
                </a:solidFill>
              </a:rPr>
              <a:t>四种负反馈</a:t>
            </a:r>
            <a:r>
              <a:rPr lang="zh-CN" altLang="en-US" sz="2800" dirty="0">
                <a:solidFill>
                  <a:schemeClr val="tx2"/>
                </a:solidFill>
              </a:rPr>
              <a:t>组态</a:t>
            </a:r>
            <a:r>
              <a:rPr lang="zh-CN" altLang="en-US" sz="2800" dirty="0" smtClean="0">
                <a:solidFill>
                  <a:schemeClr val="tx2"/>
                </a:solidFill>
              </a:rPr>
              <a:t>分析计算</a:t>
            </a:r>
            <a:endParaRPr lang="zh-CN" altLang="en-US" sz="2800" dirty="0">
              <a:solidFill>
                <a:schemeClr val="tx2"/>
              </a:solidFill>
            </a:endParaRPr>
          </a:p>
        </p:txBody>
      </p:sp>
      <p:sp>
        <p:nvSpPr>
          <p:cNvPr id="39939" name="Text Box 3"/>
          <p:cNvSpPr txBox="1">
            <a:spLocks noChangeArrowheads="1"/>
          </p:cNvSpPr>
          <p:nvPr/>
        </p:nvSpPr>
        <p:spPr bwMode="auto">
          <a:xfrm>
            <a:off x="671513" y="1824038"/>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zh-CN" altLang="en-US" sz="2400" dirty="0" smtClean="0">
                <a:solidFill>
                  <a:srgbClr val="A50021"/>
                </a:solidFill>
              </a:rPr>
              <a:t>负反馈电路分析计算的步骤：</a:t>
            </a:r>
            <a:endParaRPr lang="zh-CN" altLang="en-US" sz="2400" dirty="0">
              <a:solidFill>
                <a:srgbClr val="A50021"/>
              </a:solidFill>
            </a:endParaRPr>
          </a:p>
        </p:txBody>
      </p:sp>
      <p:sp>
        <p:nvSpPr>
          <p:cNvPr id="6" name="Rectangle 4"/>
          <p:cNvSpPr>
            <a:spLocks noChangeArrowheads="1"/>
          </p:cNvSpPr>
          <p:nvPr/>
        </p:nvSpPr>
        <p:spPr bwMode="auto">
          <a:xfrm>
            <a:off x="1182688" y="2784134"/>
            <a:ext cx="7602537" cy="2342244"/>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57200" indent="-457200"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0"/>
              </a:spcBef>
              <a:buFontTx/>
              <a:buAutoNum type="arabicPeriod"/>
            </a:pPr>
            <a:r>
              <a:rPr lang="zh-CN" altLang="en-US" sz="2000" dirty="0"/>
              <a:t>判定反馈类型</a:t>
            </a:r>
          </a:p>
          <a:p>
            <a:pPr eaLnBrk="1" hangingPunct="1">
              <a:lnSpc>
                <a:spcPct val="150000"/>
              </a:lnSpc>
              <a:spcBef>
                <a:spcPct val="0"/>
              </a:spcBef>
              <a:buFontTx/>
              <a:buAutoNum type="arabicPeriod"/>
            </a:pPr>
            <a:r>
              <a:rPr lang="zh-CN" altLang="en-US" sz="2000" dirty="0"/>
              <a:t>画出基本放大器交流通路（带反馈网络负载效应）</a:t>
            </a:r>
          </a:p>
          <a:p>
            <a:pPr eaLnBrk="1" hangingPunct="1">
              <a:lnSpc>
                <a:spcPct val="150000"/>
              </a:lnSpc>
              <a:spcBef>
                <a:spcPct val="0"/>
              </a:spcBef>
              <a:buFontTx/>
              <a:buAutoNum type="arabicPeriod"/>
            </a:pPr>
            <a:r>
              <a:rPr lang="zh-CN" altLang="en-US" sz="2000" dirty="0"/>
              <a:t>计算基本放大器的增益、输入电阻、输出电阻</a:t>
            </a:r>
          </a:p>
          <a:p>
            <a:pPr eaLnBrk="1" hangingPunct="1">
              <a:lnSpc>
                <a:spcPct val="150000"/>
              </a:lnSpc>
              <a:spcBef>
                <a:spcPct val="0"/>
              </a:spcBef>
              <a:buFontTx/>
              <a:buAutoNum type="arabicPeriod"/>
            </a:pPr>
            <a:r>
              <a:rPr lang="zh-CN" altLang="en-US" sz="2000" dirty="0"/>
              <a:t>计算反馈网络的反馈系数</a:t>
            </a:r>
          </a:p>
          <a:p>
            <a:pPr eaLnBrk="1" hangingPunct="1">
              <a:lnSpc>
                <a:spcPct val="150000"/>
              </a:lnSpc>
              <a:spcBef>
                <a:spcPct val="0"/>
              </a:spcBef>
              <a:buFontTx/>
              <a:buAutoNum type="arabicPeriod"/>
            </a:pPr>
            <a:r>
              <a:rPr lang="zh-CN" altLang="en-US" sz="2000" dirty="0"/>
              <a:t>求出闭环增益、输入阻抗、输出阻抗</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9939"/>
                                        </p:tgtEl>
                                        <p:attrNameLst>
                                          <p:attrName>style.visibility</p:attrName>
                                        </p:attrNameLst>
                                      </p:cBhvr>
                                      <p:to>
                                        <p:strVal val="visible"/>
                                      </p:to>
                                    </p:set>
                                    <p:animEffect transition="in" filter="barn(inVertical)">
                                      <p:cBhvr>
                                        <p:cTn id="7" dur="500"/>
                                        <p:tgtEl>
                                          <p:spTgt spid="3993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barn(inVertical)">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barn(inVertical)">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barn(inVertical)">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barn(inVertical)">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barn(inVertical)">
                                      <p:cBhvr>
                                        <p:cTn id="32"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9" name="Text Box 3"/>
          <p:cNvSpPr txBox="1">
            <a:spLocks noChangeArrowheads="1"/>
          </p:cNvSpPr>
          <p:nvPr/>
        </p:nvSpPr>
        <p:spPr bwMode="auto">
          <a:xfrm>
            <a:off x="623888" y="690563"/>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smtClean="0">
                <a:solidFill>
                  <a:srgbClr val="990033"/>
                </a:solidFill>
              </a:rPr>
              <a:t>11.2.1  </a:t>
            </a:r>
            <a:r>
              <a:rPr lang="zh-CN" altLang="en-US" sz="2400" dirty="0">
                <a:solidFill>
                  <a:srgbClr val="A50021"/>
                </a:solidFill>
              </a:rPr>
              <a:t>电压串联</a:t>
            </a:r>
            <a:r>
              <a:rPr lang="zh-CN" altLang="en-US" sz="2400" dirty="0" smtClean="0">
                <a:solidFill>
                  <a:srgbClr val="A50021"/>
                </a:solidFill>
              </a:rPr>
              <a:t>负反馈电路分析计算</a:t>
            </a:r>
            <a:endParaRPr lang="zh-CN" altLang="en-US" sz="2400" dirty="0">
              <a:solidFill>
                <a:srgbClr val="A50021"/>
              </a:solidFill>
            </a:endParaRPr>
          </a:p>
        </p:txBody>
      </p:sp>
      <p:pic>
        <p:nvPicPr>
          <p:cNvPr id="2" name="图片 1"/>
          <p:cNvPicPr>
            <a:picLocks noChangeAspect="1"/>
          </p:cNvPicPr>
          <p:nvPr/>
        </p:nvPicPr>
        <p:blipFill>
          <a:blip r:embed="rId3"/>
          <a:stretch>
            <a:fillRect/>
          </a:stretch>
        </p:blipFill>
        <p:spPr>
          <a:xfrm>
            <a:off x="1256971" y="1463072"/>
            <a:ext cx="6724650" cy="2276475"/>
          </a:xfrm>
          <a:prstGeom prst="rect">
            <a:avLst/>
          </a:prstGeom>
        </p:spPr>
      </p:pic>
      <p:pic>
        <p:nvPicPr>
          <p:cNvPr id="3" name="图片 2"/>
          <p:cNvPicPr>
            <a:picLocks noChangeAspect="1"/>
          </p:cNvPicPr>
          <p:nvPr/>
        </p:nvPicPr>
        <p:blipFill>
          <a:blip r:embed="rId4"/>
          <a:stretch>
            <a:fillRect/>
          </a:stretch>
        </p:blipFill>
        <p:spPr>
          <a:xfrm>
            <a:off x="1256971" y="4768905"/>
            <a:ext cx="4543425" cy="962025"/>
          </a:xfrm>
          <a:prstGeom prst="rect">
            <a:avLst/>
          </a:prstGeom>
        </p:spPr>
      </p:pic>
      <p:graphicFrame>
        <p:nvGraphicFramePr>
          <p:cNvPr id="12" name="Object 23"/>
          <p:cNvGraphicFramePr>
            <a:graphicFrameLocks noChangeAspect="1"/>
          </p:cNvGraphicFramePr>
          <p:nvPr>
            <p:extLst>
              <p:ext uri="{D42A27DB-BD31-4B8C-83A1-F6EECF244321}">
                <p14:modId xmlns:p14="http://schemas.microsoft.com/office/powerpoint/2010/main" val="674840213"/>
              </p:ext>
            </p:extLst>
          </p:nvPr>
        </p:nvGraphicFramePr>
        <p:xfrm>
          <a:off x="6721475" y="4740275"/>
          <a:ext cx="1149350" cy="879475"/>
        </p:xfrm>
        <a:graphic>
          <a:graphicData uri="http://schemas.openxmlformats.org/presentationml/2006/ole">
            <mc:AlternateContent xmlns:mc="http://schemas.openxmlformats.org/markup-compatibility/2006">
              <mc:Choice xmlns:v="urn:schemas-microsoft-com:vml" Requires="v">
                <p:oleObj spid="_x0000_s117796" name="Equation" r:id="rId5" imgW="596880" imgH="457200" progId="Equation.DSMT4">
                  <p:embed/>
                </p:oleObj>
              </mc:Choice>
              <mc:Fallback>
                <p:oleObj name="Equation" r:id="rId5" imgW="596880" imgH="457200" progId="Equation.DSMT4">
                  <p:embed/>
                  <p:pic>
                    <p:nvPicPr>
                      <p:cNvPr id="0" name=""/>
                      <p:cNvPicPr>
                        <a:picLocks noChangeAspect="1" noChangeArrowheads="1"/>
                      </p:cNvPicPr>
                      <p:nvPr/>
                    </p:nvPicPr>
                    <p:blipFill>
                      <a:blip r:embed="rId6"/>
                      <a:srcRect/>
                      <a:stretch>
                        <a:fillRect/>
                      </a:stretch>
                    </p:blipFill>
                    <p:spPr bwMode="auto">
                      <a:xfrm>
                        <a:off x="6721475" y="4740275"/>
                        <a:ext cx="1149350" cy="879475"/>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29238280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arn(inVertical)">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402912" y="769389"/>
            <a:ext cx="6724650" cy="2276475"/>
          </a:xfrm>
          <a:prstGeom prst="rect">
            <a:avLst/>
          </a:prstGeom>
        </p:spPr>
      </p:pic>
      <p:graphicFrame>
        <p:nvGraphicFramePr>
          <p:cNvPr id="6" name="Object 23"/>
          <p:cNvGraphicFramePr>
            <a:graphicFrameLocks noChangeAspect="1"/>
          </p:cNvGraphicFramePr>
          <p:nvPr>
            <p:extLst>
              <p:ext uri="{D42A27DB-BD31-4B8C-83A1-F6EECF244321}">
                <p14:modId xmlns:p14="http://schemas.microsoft.com/office/powerpoint/2010/main" val="1197183369"/>
              </p:ext>
            </p:extLst>
          </p:nvPr>
        </p:nvGraphicFramePr>
        <p:xfrm>
          <a:off x="3722141" y="3501420"/>
          <a:ext cx="1884362" cy="757238"/>
        </p:xfrm>
        <a:graphic>
          <a:graphicData uri="http://schemas.openxmlformats.org/presentationml/2006/ole">
            <mc:AlternateContent xmlns:mc="http://schemas.openxmlformats.org/markup-compatibility/2006">
              <mc:Choice xmlns:v="urn:schemas-microsoft-com:vml" Requires="v">
                <p:oleObj spid="_x0000_s118901" name="Equation" r:id="rId4" imgW="977760" imgH="393480" progId="Equation.DSMT4">
                  <p:embed/>
                </p:oleObj>
              </mc:Choice>
              <mc:Fallback>
                <p:oleObj name="Equation" r:id="rId4" imgW="977760" imgH="393480" progId="Equation.DSMT4">
                  <p:embed/>
                  <p:pic>
                    <p:nvPicPr>
                      <p:cNvPr id="0" name=""/>
                      <p:cNvPicPr>
                        <a:picLocks noChangeAspect="1" noChangeArrowheads="1"/>
                      </p:cNvPicPr>
                      <p:nvPr/>
                    </p:nvPicPr>
                    <p:blipFill>
                      <a:blip r:embed="rId5"/>
                      <a:srcRect/>
                      <a:stretch>
                        <a:fillRect/>
                      </a:stretch>
                    </p:blipFill>
                    <p:spPr bwMode="auto">
                      <a:xfrm>
                        <a:off x="3722141" y="3501420"/>
                        <a:ext cx="1884362" cy="757238"/>
                      </a:xfrm>
                      <a:prstGeom prst="rect">
                        <a:avLst/>
                      </a:prstGeom>
                      <a:noFill/>
                      <a:ln>
                        <a:noFill/>
                      </a:ln>
                      <a:effectLst/>
                      <a:extLst/>
                    </p:spPr>
                  </p:pic>
                </p:oleObj>
              </mc:Fallback>
            </mc:AlternateContent>
          </a:graphicData>
        </a:graphic>
      </p:graphicFrame>
      <p:graphicFrame>
        <p:nvGraphicFramePr>
          <p:cNvPr id="7" name="对象 5"/>
          <p:cNvGraphicFramePr>
            <a:graphicFrameLocks noChangeAspect="1"/>
          </p:cNvGraphicFramePr>
          <p:nvPr>
            <p:extLst>
              <p:ext uri="{D42A27DB-BD31-4B8C-83A1-F6EECF244321}">
                <p14:modId xmlns:p14="http://schemas.microsoft.com/office/powerpoint/2010/main" val="1162371992"/>
              </p:ext>
            </p:extLst>
          </p:nvPr>
        </p:nvGraphicFramePr>
        <p:xfrm>
          <a:off x="1839475" y="4714216"/>
          <a:ext cx="2925762" cy="434975"/>
        </p:xfrm>
        <a:graphic>
          <a:graphicData uri="http://schemas.openxmlformats.org/presentationml/2006/ole">
            <mc:AlternateContent xmlns:mc="http://schemas.openxmlformats.org/markup-compatibility/2006">
              <mc:Choice xmlns:v="urn:schemas-microsoft-com:vml" Requires="v">
                <p:oleObj spid="_x0000_s118902" name="Equation" r:id="rId6" imgW="1625400" imgH="241200" progId="Equation.DSMT4">
                  <p:embed/>
                </p:oleObj>
              </mc:Choice>
              <mc:Fallback>
                <p:oleObj name="Equation" r:id="rId6" imgW="1625400" imgH="241200" progId="Equation.DSMT4">
                  <p:embed/>
                  <p:pic>
                    <p:nvPicPr>
                      <p:cNvPr id="0" name=""/>
                      <p:cNvPicPr>
                        <a:picLocks noChangeAspect="1" noChangeArrowheads="1"/>
                      </p:cNvPicPr>
                      <p:nvPr/>
                    </p:nvPicPr>
                    <p:blipFill>
                      <a:blip r:embed="rId7"/>
                      <a:srcRect/>
                      <a:stretch>
                        <a:fillRect/>
                      </a:stretch>
                    </p:blipFill>
                    <p:spPr bwMode="auto">
                      <a:xfrm>
                        <a:off x="1839475" y="4714216"/>
                        <a:ext cx="292576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5"/>
          <p:cNvGraphicFramePr>
            <a:graphicFrameLocks noChangeAspect="1"/>
          </p:cNvGraphicFramePr>
          <p:nvPr>
            <p:extLst>
              <p:ext uri="{D42A27DB-BD31-4B8C-83A1-F6EECF244321}">
                <p14:modId xmlns:p14="http://schemas.microsoft.com/office/powerpoint/2010/main" val="1280063954"/>
              </p:ext>
            </p:extLst>
          </p:nvPr>
        </p:nvGraphicFramePr>
        <p:xfrm>
          <a:off x="6023293" y="4714215"/>
          <a:ext cx="1508125" cy="434975"/>
        </p:xfrm>
        <a:graphic>
          <a:graphicData uri="http://schemas.openxmlformats.org/presentationml/2006/ole">
            <mc:AlternateContent xmlns:mc="http://schemas.openxmlformats.org/markup-compatibility/2006">
              <mc:Choice xmlns:v="urn:schemas-microsoft-com:vml" Requires="v">
                <p:oleObj spid="_x0000_s118903" name="Equation" r:id="rId8" imgW="838080" imgH="241200" progId="Equation.DSMT4">
                  <p:embed/>
                </p:oleObj>
              </mc:Choice>
              <mc:Fallback>
                <p:oleObj name="Equation" r:id="rId8" imgW="838080" imgH="241200" progId="Equation.DSMT4">
                  <p:embed/>
                  <p:pic>
                    <p:nvPicPr>
                      <p:cNvPr id="0" name=""/>
                      <p:cNvPicPr>
                        <a:picLocks noChangeAspect="1" noChangeArrowheads="1"/>
                      </p:cNvPicPr>
                      <p:nvPr/>
                    </p:nvPicPr>
                    <p:blipFill>
                      <a:blip r:embed="rId9"/>
                      <a:srcRect/>
                      <a:stretch>
                        <a:fillRect/>
                      </a:stretch>
                    </p:blipFill>
                    <p:spPr bwMode="auto">
                      <a:xfrm>
                        <a:off x="6023293" y="4714215"/>
                        <a:ext cx="150812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6"/>
          <p:cNvGraphicFramePr>
            <a:graphicFrameLocks noChangeAspect="1"/>
          </p:cNvGraphicFramePr>
          <p:nvPr>
            <p:extLst>
              <p:ext uri="{D42A27DB-BD31-4B8C-83A1-F6EECF244321}">
                <p14:modId xmlns:p14="http://schemas.microsoft.com/office/powerpoint/2010/main" val="2483748708"/>
              </p:ext>
            </p:extLst>
          </p:nvPr>
        </p:nvGraphicFramePr>
        <p:xfrm>
          <a:off x="1851025" y="5474629"/>
          <a:ext cx="2581275" cy="708025"/>
        </p:xfrm>
        <a:graphic>
          <a:graphicData uri="http://schemas.openxmlformats.org/presentationml/2006/ole">
            <mc:AlternateContent xmlns:mc="http://schemas.openxmlformats.org/markup-compatibility/2006">
              <mc:Choice xmlns:v="urn:schemas-microsoft-com:vml" Requires="v">
                <p:oleObj spid="_x0000_s118904" name="Equation" r:id="rId10" imgW="1434960" imgH="393480" progId="Equation.DSMT4">
                  <p:embed/>
                </p:oleObj>
              </mc:Choice>
              <mc:Fallback>
                <p:oleObj name="Equation" r:id="rId10" imgW="1434960" imgH="393480" progId="Equation.DSMT4">
                  <p:embed/>
                  <p:pic>
                    <p:nvPicPr>
                      <p:cNvPr id="0" name=""/>
                      <p:cNvPicPr>
                        <a:picLocks noChangeAspect="1" noChangeArrowheads="1"/>
                      </p:cNvPicPr>
                      <p:nvPr/>
                    </p:nvPicPr>
                    <p:blipFill>
                      <a:blip r:embed="rId11"/>
                      <a:srcRect/>
                      <a:stretch>
                        <a:fillRect/>
                      </a:stretch>
                    </p:blipFill>
                    <p:spPr bwMode="auto">
                      <a:xfrm>
                        <a:off x="1851025" y="5474629"/>
                        <a:ext cx="25812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8"/>
          <p:cNvGraphicFramePr>
            <a:graphicFrameLocks noChangeAspect="1"/>
          </p:cNvGraphicFramePr>
          <p:nvPr>
            <p:extLst>
              <p:ext uri="{D42A27DB-BD31-4B8C-83A1-F6EECF244321}">
                <p14:modId xmlns:p14="http://schemas.microsoft.com/office/powerpoint/2010/main" val="2201767811"/>
              </p:ext>
            </p:extLst>
          </p:nvPr>
        </p:nvGraphicFramePr>
        <p:xfrm>
          <a:off x="6022658" y="5371441"/>
          <a:ext cx="2308860" cy="914400"/>
        </p:xfrm>
        <a:graphic>
          <a:graphicData uri="http://schemas.openxmlformats.org/presentationml/2006/ole">
            <mc:AlternateContent xmlns:mc="http://schemas.openxmlformats.org/markup-compatibility/2006">
              <mc:Choice xmlns:v="urn:schemas-microsoft-com:vml" Requires="v">
                <p:oleObj spid="_x0000_s118905" name="Equation" r:id="rId12" imgW="1282700" imgH="508000" progId="Equation.DSMT4">
                  <p:embed/>
                </p:oleObj>
              </mc:Choice>
              <mc:Fallback>
                <p:oleObj name="Equation" r:id="rId12" imgW="1282700" imgH="5080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22658" y="5371441"/>
                        <a:ext cx="230886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7163824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arn(inVertic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Vertic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arn(inVertical)">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581025" y="414338"/>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smtClean="0">
                <a:solidFill>
                  <a:srgbClr val="990033"/>
                </a:solidFill>
              </a:rPr>
              <a:t>11.2.2  </a:t>
            </a:r>
            <a:r>
              <a:rPr lang="zh-CN" altLang="en-US" sz="2400" dirty="0">
                <a:solidFill>
                  <a:srgbClr val="A50021"/>
                </a:solidFill>
              </a:rPr>
              <a:t>电流串联</a:t>
            </a:r>
            <a:r>
              <a:rPr lang="zh-CN" altLang="en-US" sz="2400" dirty="0" smtClean="0">
                <a:solidFill>
                  <a:srgbClr val="A50021"/>
                </a:solidFill>
              </a:rPr>
              <a:t>负反馈电路分析计算</a:t>
            </a:r>
            <a:endParaRPr lang="zh-CN" altLang="en-US" sz="2400" dirty="0">
              <a:solidFill>
                <a:srgbClr val="A50021"/>
              </a:solidFill>
            </a:endParaRPr>
          </a:p>
        </p:txBody>
      </p:sp>
      <p:pic>
        <p:nvPicPr>
          <p:cNvPr id="3" name="图片 2"/>
          <p:cNvPicPr>
            <a:picLocks noChangeAspect="1"/>
          </p:cNvPicPr>
          <p:nvPr/>
        </p:nvPicPr>
        <p:blipFill>
          <a:blip r:embed="rId3"/>
          <a:stretch>
            <a:fillRect/>
          </a:stretch>
        </p:blipFill>
        <p:spPr>
          <a:xfrm>
            <a:off x="1540751" y="1275036"/>
            <a:ext cx="6267450" cy="2400300"/>
          </a:xfrm>
          <a:prstGeom prst="rect">
            <a:avLst/>
          </a:prstGeom>
        </p:spPr>
      </p:pic>
      <p:pic>
        <p:nvPicPr>
          <p:cNvPr id="4" name="图片 3"/>
          <p:cNvPicPr>
            <a:picLocks noChangeAspect="1"/>
          </p:cNvPicPr>
          <p:nvPr/>
        </p:nvPicPr>
        <p:blipFill>
          <a:blip r:embed="rId4"/>
          <a:stretch>
            <a:fillRect/>
          </a:stretch>
        </p:blipFill>
        <p:spPr>
          <a:xfrm>
            <a:off x="1045451" y="4563461"/>
            <a:ext cx="4514850" cy="1104900"/>
          </a:xfrm>
          <a:prstGeom prst="rect">
            <a:avLst/>
          </a:prstGeom>
        </p:spPr>
      </p:pic>
      <p:graphicFrame>
        <p:nvGraphicFramePr>
          <p:cNvPr id="7" name="Object 23"/>
          <p:cNvGraphicFramePr>
            <a:graphicFrameLocks noChangeAspect="1"/>
          </p:cNvGraphicFramePr>
          <p:nvPr>
            <p:extLst>
              <p:ext uri="{D42A27DB-BD31-4B8C-83A1-F6EECF244321}">
                <p14:modId xmlns:p14="http://schemas.microsoft.com/office/powerpoint/2010/main" val="3812260148"/>
              </p:ext>
            </p:extLst>
          </p:nvPr>
        </p:nvGraphicFramePr>
        <p:xfrm>
          <a:off x="6729413" y="4676775"/>
          <a:ext cx="1149350" cy="879475"/>
        </p:xfrm>
        <a:graphic>
          <a:graphicData uri="http://schemas.openxmlformats.org/presentationml/2006/ole">
            <mc:AlternateContent xmlns:mc="http://schemas.openxmlformats.org/markup-compatibility/2006">
              <mc:Choice xmlns:v="urn:schemas-microsoft-com:vml" Requires="v">
                <p:oleObj spid="_x0000_s119841" name="Equation" r:id="rId5" imgW="596880" imgH="457200" progId="Equation.DSMT4">
                  <p:embed/>
                </p:oleObj>
              </mc:Choice>
              <mc:Fallback>
                <p:oleObj name="Equation" r:id="rId5" imgW="596880" imgH="457200" progId="Equation.DSMT4">
                  <p:embed/>
                  <p:pic>
                    <p:nvPicPr>
                      <p:cNvPr id="0" name=""/>
                      <p:cNvPicPr>
                        <a:picLocks noChangeAspect="1" noChangeArrowheads="1"/>
                      </p:cNvPicPr>
                      <p:nvPr/>
                    </p:nvPicPr>
                    <p:blipFill>
                      <a:blip r:embed="rId6"/>
                      <a:srcRect/>
                      <a:stretch>
                        <a:fillRect/>
                      </a:stretch>
                    </p:blipFill>
                    <p:spPr bwMode="auto">
                      <a:xfrm>
                        <a:off x="6729413" y="4676775"/>
                        <a:ext cx="1149350" cy="879475"/>
                      </a:xfrm>
                      <a:prstGeom prst="rect">
                        <a:avLst/>
                      </a:prstGeom>
                      <a:noFill/>
                      <a:ln>
                        <a:noFill/>
                      </a:ln>
                      <a:effectLs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1509220" y="518291"/>
            <a:ext cx="6267450" cy="2400300"/>
          </a:xfrm>
          <a:prstGeom prst="rect">
            <a:avLst/>
          </a:prstGeom>
        </p:spPr>
      </p:pic>
      <p:graphicFrame>
        <p:nvGraphicFramePr>
          <p:cNvPr id="8" name="Object 23"/>
          <p:cNvGraphicFramePr>
            <a:graphicFrameLocks noChangeAspect="1"/>
          </p:cNvGraphicFramePr>
          <p:nvPr>
            <p:extLst>
              <p:ext uri="{D42A27DB-BD31-4B8C-83A1-F6EECF244321}">
                <p14:modId xmlns:p14="http://schemas.microsoft.com/office/powerpoint/2010/main" val="1731406355"/>
              </p:ext>
            </p:extLst>
          </p:nvPr>
        </p:nvGraphicFramePr>
        <p:xfrm>
          <a:off x="1950352" y="3340482"/>
          <a:ext cx="1884362" cy="757238"/>
        </p:xfrm>
        <a:graphic>
          <a:graphicData uri="http://schemas.openxmlformats.org/presentationml/2006/ole">
            <mc:AlternateContent xmlns:mc="http://schemas.openxmlformats.org/markup-compatibility/2006">
              <mc:Choice xmlns:v="urn:schemas-microsoft-com:vml" Requires="v">
                <p:oleObj spid="_x0000_s121007" name="Equation" r:id="rId4" imgW="977760" imgH="393480" progId="Equation.DSMT4">
                  <p:embed/>
                </p:oleObj>
              </mc:Choice>
              <mc:Fallback>
                <p:oleObj name="Equation" r:id="rId4" imgW="977760" imgH="393480" progId="Equation.DSMT4">
                  <p:embed/>
                  <p:pic>
                    <p:nvPicPr>
                      <p:cNvPr id="0" name=""/>
                      <p:cNvPicPr>
                        <a:picLocks noChangeAspect="1" noChangeArrowheads="1"/>
                      </p:cNvPicPr>
                      <p:nvPr/>
                    </p:nvPicPr>
                    <p:blipFill>
                      <a:blip r:embed="rId5"/>
                      <a:srcRect/>
                      <a:stretch>
                        <a:fillRect/>
                      </a:stretch>
                    </p:blipFill>
                    <p:spPr bwMode="auto">
                      <a:xfrm>
                        <a:off x="1950352" y="3340482"/>
                        <a:ext cx="1884362" cy="757238"/>
                      </a:xfrm>
                      <a:prstGeom prst="rect">
                        <a:avLst/>
                      </a:prstGeom>
                      <a:noFill/>
                      <a:ln>
                        <a:noFill/>
                      </a:ln>
                      <a:effectLst/>
                      <a:extLst/>
                    </p:spPr>
                  </p:pic>
                </p:oleObj>
              </mc:Fallback>
            </mc:AlternateContent>
          </a:graphicData>
        </a:graphic>
      </p:graphicFrame>
      <p:graphicFrame>
        <p:nvGraphicFramePr>
          <p:cNvPr id="9" name="对象 3"/>
          <p:cNvGraphicFramePr>
            <a:graphicFrameLocks noChangeAspect="1"/>
          </p:cNvGraphicFramePr>
          <p:nvPr>
            <p:extLst>
              <p:ext uri="{D42A27DB-BD31-4B8C-83A1-F6EECF244321}">
                <p14:modId xmlns:p14="http://schemas.microsoft.com/office/powerpoint/2010/main" val="3200397718"/>
              </p:ext>
            </p:extLst>
          </p:nvPr>
        </p:nvGraphicFramePr>
        <p:xfrm>
          <a:off x="1649521" y="4720765"/>
          <a:ext cx="2925763" cy="434975"/>
        </p:xfrm>
        <a:graphic>
          <a:graphicData uri="http://schemas.openxmlformats.org/presentationml/2006/ole">
            <mc:AlternateContent xmlns:mc="http://schemas.openxmlformats.org/markup-compatibility/2006">
              <mc:Choice xmlns:v="urn:schemas-microsoft-com:vml" Requires="v">
                <p:oleObj spid="_x0000_s121008" name="Equation" r:id="rId6" imgW="1625400" imgH="241200" progId="Equation.DSMT4">
                  <p:embed/>
                </p:oleObj>
              </mc:Choice>
              <mc:Fallback>
                <p:oleObj name="Equation" r:id="rId6" imgW="1625400" imgH="241200" progId="Equation.DSMT4">
                  <p:embed/>
                  <p:pic>
                    <p:nvPicPr>
                      <p:cNvPr id="0" name=""/>
                      <p:cNvPicPr>
                        <a:picLocks noChangeAspect="1" noChangeArrowheads="1"/>
                      </p:cNvPicPr>
                      <p:nvPr/>
                    </p:nvPicPr>
                    <p:blipFill>
                      <a:blip r:embed="rId7"/>
                      <a:srcRect/>
                      <a:stretch>
                        <a:fillRect/>
                      </a:stretch>
                    </p:blipFill>
                    <p:spPr bwMode="auto">
                      <a:xfrm>
                        <a:off x="1649521" y="4720765"/>
                        <a:ext cx="2925763"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428789153"/>
              </p:ext>
            </p:extLst>
          </p:nvPr>
        </p:nvGraphicFramePr>
        <p:xfrm>
          <a:off x="6051550" y="4721400"/>
          <a:ext cx="1508760" cy="434340"/>
        </p:xfrm>
        <a:graphic>
          <a:graphicData uri="http://schemas.openxmlformats.org/presentationml/2006/ole">
            <mc:AlternateContent xmlns:mc="http://schemas.openxmlformats.org/markup-compatibility/2006">
              <mc:Choice xmlns:v="urn:schemas-microsoft-com:vml" Requires="v">
                <p:oleObj spid="_x0000_s121009" name="Equation" r:id="rId8" imgW="838200" imgH="241300" progId="Equation.DSMT4">
                  <p:embed/>
                </p:oleObj>
              </mc:Choice>
              <mc:Fallback>
                <p:oleObj name="Equation" r:id="rId8" imgW="838200" imgH="2413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51550" y="4721400"/>
                        <a:ext cx="1508760" cy="434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23"/>
          <p:cNvGraphicFramePr>
            <a:graphicFrameLocks noChangeAspect="1"/>
          </p:cNvGraphicFramePr>
          <p:nvPr>
            <p:extLst>
              <p:ext uri="{D42A27DB-BD31-4B8C-83A1-F6EECF244321}">
                <p14:modId xmlns:p14="http://schemas.microsoft.com/office/powerpoint/2010/main" val="1516967072"/>
              </p:ext>
            </p:extLst>
          </p:nvPr>
        </p:nvGraphicFramePr>
        <p:xfrm>
          <a:off x="4448175" y="3340100"/>
          <a:ext cx="2690813" cy="757238"/>
        </p:xfrm>
        <a:graphic>
          <a:graphicData uri="http://schemas.openxmlformats.org/presentationml/2006/ole">
            <mc:AlternateContent xmlns:mc="http://schemas.openxmlformats.org/markup-compatibility/2006">
              <mc:Choice xmlns:v="urn:schemas-microsoft-com:vml" Requires="v">
                <p:oleObj spid="_x0000_s121010" name="Equation" r:id="rId10" imgW="1396800" imgH="393480" progId="Equation.DSMT4">
                  <p:embed/>
                </p:oleObj>
              </mc:Choice>
              <mc:Fallback>
                <p:oleObj name="Equation" r:id="rId10" imgW="1396800" imgH="393480" progId="Equation.DSMT4">
                  <p:embed/>
                  <p:pic>
                    <p:nvPicPr>
                      <p:cNvPr id="0" name=""/>
                      <p:cNvPicPr>
                        <a:picLocks noChangeAspect="1" noChangeArrowheads="1"/>
                      </p:cNvPicPr>
                      <p:nvPr/>
                    </p:nvPicPr>
                    <p:blipFill>
                      <a:blip r:embed="rId11"/>
                      <a:srcRect/>
                      <a:stretch>
                        <a:fillRect/>
                      </a:stretch>
                    </p:blipFill>
                    <p:spPr bwMode="auto">
                      <a:xfrm>
                        <a:off x="4448175" y="3340100"/>
                        <a:ext cx="2690813" cy="757238"/>
                      </a:xfrm>
                      <a:prstGeom prst="rect">
                        <a:avLst/>
                      </a:prstGeom>
                      <a:noFill/>
                      <a:ln>
                        <a:noFill/>
                      </a:ln>
                      <a:effectLst/>
                      <a:extLst/>
                    </p:spPr>
                  </p:pic>
                </p:oleObj>
              </mc:Fallback>
            </mc:AlternateContent>
          </a:graphicData>
        </a:graphic>
      </p:graphicFrame>
      <p:graphicFrame>
        <p:nvGraphicFramePr>
          <p:cNvPr id="14" name="对象 3"/>
          <p:cNvGraphicFramePr>
            <a:graphicFrameLocks noChangeAspect="1"/>
          </p:cNvGraphicFramePr>
          <p:nvPr>
            <p:extLst>
              <p:ext uri="{D42A27DB-BD31-4B8C-83A1-F6EECF244321}">
                <p14:modId xmlns:p14="http://schemas.microsoft.com/office/powerpoint/2010/main" val="505442268"/>
              </p:ext>
            </p:extLst>
          </p:nvPr>
        </p:nvGraphicFramePr>
        <p:xfrm>
          <a:off x="1649521" y="5671294"/>
          <a:ext cx="3063875" cy="457200"/>
        </p:xfrm>
        <a:graphic>
          <a:graphicData uri="http://schemas.openxmlformats.org/presentationml/2006/ole">
            <mc:AlternateContent xmlns:mc="http://schemas.openxmlformats.org/markup-compatibility/2006">
              <mc:Choice xmlns:v="urn:schemas-microsoft-com:vml" Requires="v">
                <p:oleObj spid="_x0000_s121011" name="Equation" r:id="rId12" imgW="1701720" imgH="253800" progId="Equation.DSMT4">
                  <p:embed/>
                </p:oleObj>
              </mc:Choice>
              <mc:Fallback>
                <p:oleObj name="Equation" r:id="rId12" imgW="1701720" imgH="253800" progId="Equation.DSMT4">
                  <p:embed/>
                  <p:pic>
                    <p:nvPicPr>
                      <p:cNvPr id="0" name=""/>
                      <p:cNvPicPr>
                        <a:picLocks noChangeAspect="1" noChangeArrowheads="1"/>
                      </p:cNvPicPr>
                      <p:nvPr/>
                    </p:nvPicPr>
                    <p:blipFill>
                      <a:blip r:embed="rId13"/>
                      <a:srcRect/>
                      <a:stretch>
                        <a:fillRect/>
                      </a:stretch>
                    </p:blipFill>
                    <p:spPr bwMode="auto">
                      <a:xfrm>
                        <a:off x="1649521" y="5671294"/>
                        <a:ext cx="306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2"/>
          <p:cNvGraphicFramePr>
            <a:graphicFrameLocks noChangeAspect="1"/>
          </p:cNvGraphicFramePr>
          <p:nvPr>
            <p:extLst>
              <p:ext uri="{D42A27DB-BD31-4B8C-83A1-F6EECF244321}">
                <p14:modId xmlns:p14="http://schemas.microsoft.com/office/powerpoint/2010/main" val="2903872270"/>
              </p:ext>
            </p:extLst>
          </p:nvPr>
        </p:nvGraphicFramePr>
        <p:xfrm>
          <a:off x="6051550" y="5682406"/>
          <a:ext cx="1622425" cy="434975"/>
        </p:xfrm>
        <a:graphic>
          <a:graphicData uri="http://schemas.openxmlformats.org/presentationml/2006/ole">
            <mc:AlternateContent xmlns:mc="http://schemas.openxmlformats.org/markup-compatibility/2006">
              <mc:Choice xmlns:v="urn:schemas-microsoft-com:vml" Requires="v">
                <p:oleObj spid="_x0000_s121012" name="Equation" r:id="rId14" imgW="901440" imgH="241200" progId="Equation.DSMT4">
                  <p:embed/>
                </p:oleObj>
              </mc:Choice>
              <mc:Fallback>
                <p:oleObj name="Equation" r:id="rId14" imgW="901440" imgH="241200" progId="Equation.DSMT4">
                  <p:embed/>
                  <p:pic>
                    <p:nvPicPr>
                      <p:cNvPr id="0" name=""/>
                      <p:cNvPicPr>
                        <a:picLocks noChangeAspect="1" noChangeArrowheads="1"/>
                      </p:cNvPicPr>
                      <p:nvPr/>
                    </p:nvPicPr>
                    <p:blipFill>
                      <a:blip r:embed="rId15"/>
                      <a:srcRect/>
                      <a:stretch>
                        <a:fillRect/>
                      </a:stretch>
                    </p:blipFill>
                    <p:spPr bwMode="auto">
                      <a:xfrm>
                        <a:off x="6051550" y="5682406"/>
                        <a:ext cx="162242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610723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arn(inVertic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par>
                          <p:cTn id="18" fill="hold">
                            <p:stCondLst>
                              <p:cond delay="500"/>
                            </p:stCondLst>
                            <p:childTnLst>
                              <p:par>
                                <p:cTn id="19" presetID="16" presetClass="entr" presetSubtype="21"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arn(inVertical)">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barn(inVertical)">
                                      <p:cBhvr>
                                        <p:cTn id="26" dur="500"/>
                                        <p:tgtEl>
                                          <p:spTgt spid="14"/>
                                        </p:tgtEl>
                                      </p:cBhvr>
                                    </p:animEffect>
                                  </p:childTnLst>
                                </p:cTn>
                              </p:par>
                            </p:childTnLst>
                          </p:cTn>
                        </p:par>
                        <p:par>
                          <p:cTn id="27" fill="hold">
                            <p:stCondLst>
                              <p:cond delay="500"/>
                            </p:stCondLst>
                            <p:childTnLst>
                              <p:par>
                                <p:cTn id="28" presetID="16" presetClass="entr" presetSubtype="21" fill="hold" nodeType="after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barn(inVertical)">
                                      <p:cBhvr>
                                        <p:cTn id="3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581025" y="414338"/>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smtClean="0">
                <a:solidFill>
                  <a:srgbClr val="990033"/>
                </a:solidFill>
              </a:rPr>
              <a:t>11.2.3  </a:t>
            </a:r>
            <a:r>
              <a:rPr lang="zh-CN" altLang="en-US" sz="2400" dirty="0">
                <a:solidFill>
                  <a:srgbClr val="A50021"/>
                </a:solidFill>
              </a:rPr>
              <a:t>电压并联</a:t>
            </a:r>
            <a:r>
              <a:rPr lang="zh-CN" altLang="en-US" sz="2400" dirty="0" smtClean="0">
                <a:solidFill>
                  <a:srgbClr val="A50021"/>
                </a:solidFill>
              </a:rPr>
              <a:t>负反馈电路分析计算</a:t>
            </a:r>
            <a:endParaRPr lang="zh-CN" altLang="en-US" sz="2400" dirty="0">
              <a:solidFill>
                <a:srgbClr val="A50021"/>
              </a:solidFill>
            </a:endParaRPr>
          </a:p>
        </p:txBody>
      </p:sp>
      <p:pic>
        <p:nvPicPr>
          <p:cNvPr id="2" name="图片 1"/>
          <p:cNvPicPr>
            <a:picLocks noChangeAspect="1"/>
          </p:cNvPicPr>
          <p:nvPr/>
        </p:nvPicPr>
        <p:blipFill>
          <a:blip r:embed="rId3"/>
          <a:stretch>
            <a:fillRect/>
          </a:stretch>
        </p:blipFill>
        <p:spPr>
          <a:xfrm>
            <a:off x="1466850" y="1247775"/>
            <a:ext cx="6457950" cy="2171700"/>
          </a:xfrm>
          <a:prstGeom prst="rect">
            <a:avLst/>
          </a:prstGeom>
        </p:spPr>
      </p:pic>
      <p:pic>
        <p:nvPicPr>
          <p:cNvPr id="4" name="图片 3"/>
          <p:cNvPicPr>
            <a:picLocks noChangeAspect="1"/>
          </p:cNvPicPr>
          <p:nvPr/>
        </p:nvPicPr>
        <p:blipFill>
          <a:blip r:embed="rId4"/>
          <a:stretch>
            <a:fillRect/>
          </a:stretch>
        </p:blipFill>
        <p:spPr>
          <a:xfrm>
            <a:off x="704850" y="4357687"/>
            <a:ext cx="4743450" cy="942975"/>
          </a:xfrm>
          <a:prstGeom prst="rect">
            <a:avLst/>
          </a:prstGeom>
        </p:spPr>
      </p:pic>
      <p:graphicFrame>
        <p:nvGraphicFramePr>
          <p:cNvPr id="8" name="Object 23"/>
          <p:cNvGraphicFramePr>
            <a:graphicFrameLocks noChangeAspect="1"/>
          </p:cNvGraphicFramePr>
          <p:nvPr>
            <p:extLst>
              <p:ext uri="{D42A27DB-BD31-4B8C-83A1-F6EECF244321}">
                <p14:modId xmlns:p14="http://schemas.microsoft.com/office/powerpoint/2010/main" val="3426253966"/>
              </p:ext>
            </p:extLst>
          </p:nvPr>
        </p:nvGraphicFramePr>
        <p:xfrm>
          <a:off x="6740525" y="4321175"/>
          <a:ext cx="1127125" cy="879475"/>
        </p:xfrm>
        <a:graphic>
          <a:graphicData uri="http://schemas.openxmlformats.org/presentationml/2006/ole">
            <mc:AlternateContent xmlns:mc="http://schemas.openxmlformats.org/markup-compatibility/2006">
              <mc:Choice xmlns:v="urn:schemas-microsoft-com:vml" Requires="v">
                <p:oleObj spid="_x0000_s126998" name="Equation" r:id="rId5" imgW="583920" imgH="457200" progId="Equation.DSMT4">
                  <p:embed/>
                </p:oleObj>
              </mc:Choice>
              <mc:Fallback>
                <p:oleObj name="Equation" r:id="rId5" imgW="583920" imgH="457200" progId="Equation.DSMT4">
                  <p:embed/>
                  <p:pic>
                    <p:nvPicPr>
                      <p:cNvPr id="0" name=""/>
                      <p:cNvPicPr>
                        <a:picLocks noChangeAspect="1" noChangeArrowheads="1"/>
                      </p:cNvPicPr>
                      <p:nvPr/>
                    </p:nvPicPr>
                    <p:blipFill>
                      <a:blip r:embed="rId6"/>
                      <a:srcRect/>
                      <a:stretch>
                        <a:fillRect/>
                      </a:stretch>
                    </p:blipFill>
                    <p:spPr bwMode="auto">
                      <a:xfrm>
                        <a:off x="6740525" y="4321175"/>
                        <a:ext cx="1127125" cy="879475"/>
                      </a:xfrm>
                      <a:prstGeom prst="rect">
                        <a:avLst/>
                      </a:prstGeom>
                      <a:noFill/>
                      <a:ln>
                        <a:noFill/>
                      </a:ln>
                      <a:effectLs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8" name="Object 23"/>
          <p:cNvGraphicFramePr>
            <a:graphicFrameLocks noChangeAspect="1"/>
          </p:cNvGraphicFramePr>
          <p:nvPr>
            <p:extLst>
              <p:ext uri="{D42A27DB-BD31-4B8C-83A1-F6EECF244321}">
                <p14:modId xmlns:p14="http://schemas.microsoft.com/office/powerpoint/2010/main" val="1521132408"/>
              </p:ext>
            </p:extLst>
          </p:nvPr>
        </p:nvGraphicFramePr>
        <p:xfrm>
          <a:off x="1931441" y="3130550"/>
          <a:ext cx="1884362" cy="757238"/>
        </p:xfrm>
        <a:graphic>
          <a:graphicData uri="http://schemas.openxmlformats.org/presentationml/2006/ole">
            <mc:AlternateContent xmlns:mc="http://schemas.openxmlformats.org/markup-compatibility/2006">
              <mc:Choice xmlns:v="urn:schemas-microsoft-com:vml" Requires="v">
                <p:oleObj spid="_x0000_s128130" name="Equation" r:id="rId3" imgW="977760" imgH="393480" progId="Equation.DSMT4">
                  <p:embed/>
                </p:oleObj>
              </mc:Choice>
              <mc:Fallback>
                <p:oleObj name="Equation" r:id="rId3" imgW="977760" imgH="393480" progId="Equation.DSMT4">
                  <p:embed/>
                  <p:pic>
                    <p:nvPicPr>
                      <p:cNvPr id="0" name=""/>
                      <p:cNvPicPr>
                        <a:picLocks noChangeAspect="1" noChangeArrowheads="1"/>
                      </p:cNvPicPr>
                      <p:nvPr/>
                    </p:nvPicPr>
                    <p:blipFill>
                      <a:blip r:embed="rId4"/>
                      <a:srcRect/>
                      <a:stretch>
                        <a:fillRect/>
                      </a:stretch>
                    </p:blipFill>
                    <p:spPr bwMode="auto">
                      <a:xfrm>
                        <a:off x="1931441" y="3130550"/>
                        <a:ext cx="1884362" cy="757238"/>
                      </a:xfrm>
                      <a:prstGeom prst="rect">
                        <a:avLst/>
                      </a:prstGeom>
                      <a:noFill/>
                      <a:ln>
                        <a:noFill/>
                      </a:ln>
                      <a:effectLst/>
                      <a:extLst/>
                    </p:spPr>
                  </p:pic>
                </p:oleObj>
              </mc:Fallback>
            </mc:AlternateContent>
          </a:graphicData>
        </a:graphic>
      </p:graphicFrame>
      <p:graphicFrame>
        <p:nvGraphicFramePr>
          <p:cNvPr id="9" name="对象 3"/>
          <p:cNvGraphicFramePr>
            <a:graphicFrameLocks noChangeAspect="1"/>
          </p:cNvGraphicFramePr>
          <p:nvPr>
            <p:extLst>
              <p:ext uri="{D42A27DB-BD31-4B8C-83A1-F6EECF244321}">
                <p14:modId xmlns:p14="http://schemas.microsoft.com/office/powerpoint/2010/main" val="268044981"/>
              </p:ext>
            </p:extLst>
          </p:nvPr>
        </p:nvGraphicFramePr>
        <p:xfrm>
          <a:off x="1441062" y="4242769"/>
          <a:ext cx="2444750" cy="709613"/>
        </p:xfrm>
        <a:graphic>
          <a:graphicData uri="http://schemas.openxmlformats.org/presentationml/2006/ole">
            <mc:AlternateContent xmlns:mc="http://schemas.openxmlformats.org/markup-compatibility/2006">
              <mc:Choice xmlns:v="urn:schemas-microsoft-com:vml" Requires="v">
                <p:oleObj spid="_x0000_s128131" name="Equation" r:id="rId5" imgW="1358640" imgH="393480" progId="Equation.DSMT4">
                  <p:embed/>
                </p:oleObj>
              </mc:Choice>
              <mc:Fallback>
                <p:oleObj name="Equation" r:id="rId5" imgW="1358640" imgH="393480" progId="Equation.DSMT4">
                  <p:embed/>
                  <p:pic>
                    <p:nvPicPr>
                      <p:cNvPr id="0" name=""/>
                      <p:cNvPicPr>
                        <a:picLocks noChangeAspect="1" noChangeArrowheads="1"/>
                      </p:cNvPicPr>
                      <p:nvPr/>
                    </p:nvPicPr>
                    <p:blipFill>
                      <a:blip r:embed="rId6"/>
                      <a:srcRect/>
                      <a:stretch>
                        <a:fillRect/>
                      </a:stretch>
                    </p:blipFill>
                    <p:spPr bwMode="auto">
                      <a:xfrm>
                        <a:off x="1441062" y="4242769"/>
                        <a:ext cx="2444750"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3"/>
          <p:cNvGraphicFramePr>
            <a:graphicFrameLocks noChangeAspect="1"/>
          </p:cNvGraphicFramePr>
          <p:nvPr>
            <p:extLst>
              <p:ext uri="{D42A27DB-BD31-4B8C-83A1-F6EECF244321}">
                <p14:modId xmlns:p14="http://schemas.microsoft.com/office/powerpoint/2010/main" val="880108611"/>
              </p:ext>
            </p:extLst>
          </p:nvPr>
        </p:nvGraphicFramePr>
        <p:xfrm>
          <a:off x="1314450" y="5481638"/>
          <a:ext cx="2584450" cy="709612"/>
        </p:xfrm>
        <a:graphic>
          <a:graphicData uri="http://schemas.openxmlformats.org/presentationml/2006/ole">
            <mc:AlternateContent xmlns:mc="http://schemas.openxmlformats.org/markup-compatibility/2006">
              <mc:Choice xmlns:v="urn:schemas-microsoft-com:vml" Requires="v">
                <p:oleObj spid="_x0000_s128132" name="Equation" r:id="rId7" imgW="1434960" imgH="393480" progId="Equation.DSMT4">
                  <p:embed/>
                </p:oleObj>
              </mc:Choice>
              <mc:Fallback>
                <p:oleObj name="Equation" r:id="rId7" imgW="1434960" imgH="393480" progId="Equation.DSMT4">
                  <p:embed/>
                  <p:pic>
                    <p:nvPicPr>
                      <p:cNvPr id="0" name=""/>
                      <p:cNvPicPr>
                        <a:picLocks noChangeAspect="1" noChangeArrowheads="1"/>
                      </p:cNvPicPr>
                      <p:nvPr/>
                    </p:nvPicPr>
                    <p:blipFill>
                      <a:blip r:embed="rId8"/>
                      <a:srcRect/>
                      <a:stretch>
                        <a:fillRect/>
                      </a:stretch>
                    </p:blipFill>
                    <p:spPr bwMode="auto">
                      <a:xfrm>
                        <a:off x="1314450" y="5481638"/>
                        <a:ext cx="2584450" cy="7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2"/>
          <p:cNvGraphicFramePr>
            <a:graphicFrameLocks noChangeAspect="1"/>
          </p:cNvGraphicFramePr>
          <p:nvPr>
            <p:extLst>
              <p:ext uri="{D42A27DB-BD31-4B8C-83A1-F6EECF244321}">
                <p14:modId xmlns:p14="http://schemas.microsoft.com/office/powerpoint/2010/main" val="1434872372"/>
              </p:ext>
            </p:extLst>
          </p:nvPr>
        </p:nvGraphicFramePr>
        <p:xfrm>
          <a:off x="5487599" y="5403997"/>
          <a:ext cx="2308860" cy="914400"/>
        </p:xfrm>
        <a:graphic>
          <a:graphicData uri="http://schemas.openxmlformats.org/presentationml/2006/ole">
            <mc:AlternateContent xmlns:mc="http://schemas.openxmlformats.org/markup-compatibility/2006">
              <mc:Choice xmlns:v="urn:schemas-microsoft-com:vml" Requires="v">
                <p:oleObj spid="_x0000_s128133" name="Equation" r:id="rId9" imgW="1282700" imgH="508000" progId="Equation.DSMT4">
                  <p:embed/>
                </p:oleObj>
              </mc:Choice>
              <mc:Fallback>
                <p:oleObj name="Equation" r:id="rId9" imgW="1282700" imgH="5080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87599" y="5403997"/>
                        <a:ext cx="230886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3" name="图片 12"/>
          <p:cNvPicPr>
            <a:picLocks noChangeAspect="1"/>
          </p:cNvPicPr>
          <p:nvPr/>
        </p:nvPicPr>
        <p:blipFill>
          <a:blip r:embed="rId11"/>
          <a:stretch>
            <a:fillRect/>
          </a:stretch>
        </p:blipFill>
        <p:spPr>
          <a:xfrm>
            <a:off x="1435347" y="705053"/>
            <a:ext cx="6457950" cy="2171700"/>
          </a:xfrm>
          <a:prstGeom prst="rect">
            <a:avLst/>
          </a:prstGeom>
        </p:spPr>
      </p:pic>
      <p:graphicFrame>
        <p:nvGraphicFramePr>
          <p:cNvPr id="14" name="对象 13"/>
          <p:cNvGraphicFramePr>
            <a:graphicFrameLocks noChangeAspect="1"/>
          </p:cNvGraphicFramePr>
          <p:nvPr>
            <p:extLst>
              <p:ext uri="{D42A27DB-BD31-4B8C-83A1-F6EECF244321}">
                <p14:modId xmlns:p14="http://schemas.microsoft.com/office/powerpoint/2010/main" val="4237279851"/>
              </p:ext>
            </p:extLst>
          </p:nvPr>
        </p:nvGraphicFramePr>
        <p:xfrm>
          <a:off x="5487599" y="4140375"/>
          <a:ext cx="2171700" cy="914400"/>
        </p:xfrm>
        <a:graphic>
          <a:graphicData uri="http://schemas.openxmlformats.org/presentationml/2006/ole">
            <mc:AlternateContent xmlns:mc="http://schemas.openxmlformats.org/markup-compatibility/2006">
              <mc:Choice xmlns:v="urn:schemas-microsoft-com:vml" Requires="v">
                <p:oleObj spid="_x0000_s128134" name="Equation" r:id="rId12" imgW="1206500" imgH="508000" progId="Equation.DSMT4">
                  <p:embed/>
                </p:oleObj>
              </mc:Choice>
              <mc:Fallback>
                <p:oleObj name="Equation" r:id="rId12" imgW="1206500" imgH="5080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87599" y="4140375"/>
                        <a:ext cx="21717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23"/>
          <p:cNvGraphicFramePr>
            <a:graphicFrameLocks noChangeAspect="1"/>
          </p:cNvGraphicFramePr>
          <p:nvPr>
            <p:extLst>
              <p:ext uri="{D42A27DB-BD31-4B8C-83A1-F6EECF244321}">
                <p14:modId xmlns:p14="http://schemas.microsoft.com/office/powerpoint/2010/main" val="135558773"/>
              </p:ext>
            </p:extLst>
          </p:nvPr>
        </p:nvGraphicFramePr>
        <p:xfrm>
          <a:off x="4700588" y="3130550"/>
          <a:ext cx="2595562" cy="757238"/>
        </p:xfrm>
        <a:graphic>
          <a:graphicData uri="http://schemas.openxmlformats.org/presentationml/2006/ole">
            <mc:AlternateContent xmlns:mc="http://schemas.openxmlformats.org/markup-compatibility/2006">
              <mc:Choice xmlns:v="urn:schemas-microsoft-com:vml" Requires="v">
                <p:oleObj spid="_x0000_s128135" name="Equation" r:id="rId14" imgW="1346040" imgH="393480" progId="Equation.DSMT4">
                  <p:embed/>
                </p:oleObj>
              </mc:Choice>
              <mc:Fallback>
                <p:oleObj name="Equation" r:id="rId14" imgW="1346040" imgH="393480" progId="Equation.DSMT4">
                  <p:embed/>
                  <p:pic>
                    <p:nvPicPr>
                      <p:cNvPr id="0" name=""/>
                      <p:cNvPicPr>
                        <a:picLocks noChangeAspect="1" noChangeArrowheads="1"/>
                      </p:cNvPicPr>
                      <p:nvPr/>
                    </p:nvPicPr>
                    <p:blipFill>
                      <a:blip r:embed="rId15"/>
                      <a:srcRect/>
                      <a:stretch>
                        <a:fillRect/>
                      </a:stretch>
                    </p:blipFill>
                    <p:spPr bwMode="auto">
                      <a:xfrm>
                        <a:off x="4700588" y="3130550"/>
                        <a:ext cx="2595562" cy="757238"/>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35472465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arn(inVertic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arn(inVertic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arn(inVertic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arn(inVertical)">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581025" y="414338"/>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smtClean="0">
                <a:solidFill>
                  <a:srgbClr val="990033"/>
                </a:solidFill>
              </a:rPr>
              <a:t>11.2.4  </a:t>
            </a:r>
            <a:r>
              <a:rPr lang="zh-CN" altLang="en-US" sz="2400" dirty="0">
                <a:solidFill>
                  <a:srgbClr val="A50021"/>
                </a:solidFill>
              </a:rPr>
              <a:t>电流并联</a:t>
            </a:r>
            <a:r>
              <a:rPr lang="zh-CN" altLang="en-US" sz="2400" dirty="0" smtClean="0">
                <a:solidFill>
                  <a:srgbClr val="A50021"/>
                </a:solidFill>
              </a:rPr>
              <a:t>负反馈电路分析计算</a:t>
            </a:r>
            <a:endParaRPr lang="zh-CN" altLang="en-US" sz="2400" dirty="0">
              <a:solidFill>
                <a:srgbClr val="A50021"/>
              </a:solidFill>
            </a:endParaRPr>
          </a:p>
        </p:txBody>
      </p:sp>
      <p:pic>
        <p:nvPicPr>
          <p:cNvPr id="2" name="图片 1"/>
          <p:cNvPicPr>
            <a:picLocks noChangeAspect="1"/>
          </p:cNvPicPr>
          <p:nvPr/>
        </p:nvPicPr>
        <p:blipFill>
          <a:blip r:embed="rId3"/>
          <a:stretch>
            <a:fillRect/>
          </a:stretch>
        </p:blipFill>
        <p:spPr>
          <a:xfrm>
            <a:off x="1671637" y="1314450"/>
            <a:ext cx="6353175" cy="2381250"/>
          </a:xfrm>
          <a:prstGeom prst="rect">
            <a:avLst/>
          </a:prstGeom>
        </p:spPr>
      </p:pic>
      <p:pic>
        <p:nvPicPr>
          <p:cNvPr id="3" name="图片 2"/>
          <p:cNvPicPr>
            <a:picLocks noChangeAspect="1"/>
          </p:cNvPicPr>
          <p:nvPr/>
        </p:nvPicPr>
        <p:blipFill>
          <a:blip r:embed="rId4"/>
          <a:stretch>
            <a:fillRect/>
          </a:stretch>
        </p:blipFill>
        <p:spPr>
          <a:xfrm>
            <a:off x="1243012" y="4648200"/>
            <a:ext cx="4581525" cy="857250"/>
          </a:xfrm>
          <a:prstGeom prst="rect">
            <a:avLst/>
          </a:prstGeom>
        </p:spPr>
      </p:pic>
      <p:graphicFrame>
        <p:nvGraphicFramePr>
          <p:cNvPr id="7" name="Object 10"/>
          <p:cNvGraphicFramePr>
            <a:graphicFrameLocks noChangeAspect="1"/>
          </p:cNvGraphicFramePr>
          <p:nvPr>
            <p:extLst>
              <p:ext uri="{D42A27DB-BD31-4B8C-83A1-F6EECF244321}">
                <p14:modId xmlns:p14="http://schemas.microsoft.com/office/powerpoint/2010/main" val="1296335612"/>
              </p:ext>
            </p:extLst>
          </p:nvPr>
        </p:nvGraphicFramePr>
        <p:xfrm>
          <a:off x="6781800" y="4667250"/>
          <a:ext cx="1050925" cy="820738"/>
        </p:xfrm>
        <a:graphic>
          <a:graphicData uri="http://schemas.openxmlformats.org/presentationml/2006/ole">
            <mc:AlternateContent xmlns:mc="http://schemas.openxmlformats.org/markup-compatibility/2006">
              <mc:Choice xmlns:v="urn:schemas-microsoft-com:vml" Requires="v">
                <p:oleObj spid="_x0000_s129047" name="Equation" r:id="rId5" imgW="583920" imgH="457200" progId="Equation.DSMT4">
                  <p:embed/>
                </p:oleObj>
              </mc:Choice>
              <mc:Fallback>
                <p:oleObj name="Equation" r:id="rId5" imgW="583920" imgH="457200" progId="Equation.DSMT4">
                  <p:embed/>
                  <p:pic>
                    <p:nvPicPr>
                      <p:cNvPr id="0" name=""/>
                      <p:cNvPicPr>
                        <a:picLocks noChangeAspect="1" noChangeArrowheads="1"/>
                      </p:cNvPicPr>
                      <p:nvPr/>
                    </p:nvPicPr>
                    <p:blipFill>
                      <a:blip r:embed="rId6"/>
                      <a:srcRect/>
                      <a:stretch>
                        <a:fillRect/>
                      </a:stretch>
                    </p:blipFill>
                    <p:spPr bwMode="auto">
                      <a:xfrm>
                        <a:off x="6781800" y="4667250"/>
                        <a:ext cx="1050925" cy="82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8" name="Object 23"/>
          <p:cNvGraphicFramePr>
            <a:graphicFrameLocks noChangeAspect="1"/>
          </p:cNvGraphicFramePr>
          <p:nvPr>
            <p:extLst>
              <p:ext uri="{D42A27DB-BD31-4B8C-83A1-F6EECF244321}">
                <p14:modId xmlns:p14="http://schemas.microsoft.com/office/powerpoint/2010/main" val="471072313"/>
              </p:ext>
            </p:extLst>
          </p:nvPr>
        </p:nvGraphicFramePr>
        <p:xfrm>
          <a:off x="2055424" y="3183935"/>
          <a:ext cx="1835150" cy="757238"/>
        </p:xfrm>
        <a:graphic>
          <a:graphicData uri="http://schemas.openxmlformats.org/presentationml/2006/ole">
            <mc:AlternateContent xmlns:mc="http://schemas.openxmlformats.org/markup-compatibility/2006">
              <mc:Choice xmlns:v="urn:schemas-microsoft-com:vml" Requires="v">
                <p:oleObj spid="_x0000_s130173" name="Equation" r:id="rId3" imgW="952200" imgH="393480" progId="Equation.DSMT4">
                  <p:embed/>
                </p:oleObj>
              </mc:Choice>
              <mc:Fallback>
                <p:oleObj name="Equation" r:id="rId3" imgW="952200" imgH="393480" progId="Equation.DSMT4">
                  <p:embed/>
                  <p:pic>
                    <p:nvPicPr>
                      <p:cNvPr id="0" name=""/>
                      <p:cNvPicPr>
                        <a:picLocks noChangeAspect="1" noChangeArrowheads="1"/>
                      </p:cNvPicPr>
                      <p:nvPr/>
                    </p:nvPicPr>
                    <p:blipFill>
                      <a:blip r:embed="rId4"/>
                      <a:srcRect/>
                      <a:stretch>
                        <a:fillRect/>
                      </a:stretch>
                    </p:blipFill>
                    <p:spPr bwMode="auto">
                      <a:xfrm>
                        <a:off x="2055424" y="3183935"/>
                        <a:ext cx="1835150" cy="757238"/>
                      </a:xfrm>
                      <a:prstGeom prst="rect">
                        <a:avLst/>
                      </a:prstGeom>
                      <a:noFill/>
                      <a:ln>
                        <a:noFill/>
                      </a:ln>
                      <a:effectLst/>
                      <a:extLst/>
                    </p:spPr>
                  </p:pic>
                </p:oleObj>
              </mc:Fallback>
            </mc:AlternateContent>
          </a:graphicData>
        </a:graphic>
      </p:graphicFrame>
      <p:graphicFrame>
        <p:nvGraphicFramePr>
          <p:cNvPr id="9" name="对象 3"/>
          <p:cNvGraphicFramePr>
            <a:graphicFrameLocks noChangeAspect="1"/>
          </p:cNvGraphicFramePr>
          <p:nvPr>
            <p:extLst/>
          </p:nvPr>
        </p:nvGraphicFramePr>
        <p:xfrm>
          <a:off x="1441062" y="4242769"/>
          <a:ext cx="2444750" cy="709613"/>
        </p:xfrm>
        <a:graphic>
          <a:graphicData uri="http://schemas.openxmlformats.org/presentationml/2006/ole">
            <mc:AlternateContent xmlns:mc="http://schemas.openxmlformats.org/markup-compatibility/2006">
              <mc:Choice xmlns:v="urn:schemas-microsoft-com:vml" Requires="v">
                <p:oleObj spid="_x0000_s130174" name="Equation" r:id="rId5" imgW="1358640" imgH="393480" progId="Equation.DSMT4">
                  <p:embed/>
                </p:oleObj>
              </mc:Choice>
              <mc:Fallback>
                <p:oleObj name="Equation" r:id="rId5" imgW="1358640" imgH="393480" progId="Equation.DSMT4">
                  <p:embed/>
                  <p:pic>
                    <p:nvPicPr>
                      <p:cNvPr id="0" name=""/>
                      <p:cNvPicPr>
                        <a:picLocks noChangeAspect="1" noChangeArrowheads="1"/>
                      </p:cNvPicPr>
                      <p:nvPr/>
                    </p:nvPicPr>
                    <p:blipFill>
                      <a:blip r:embed="rId6"/>
                      <a:srcRect/>
                      <a:stretch>
                        <a:fillRect/>
                      </a:stretch>
                    </p:blipFill>
                    <p:spPr bwMode="auto">
                      <a:xfrm>
                        <a:off x="1441062" y="4242769"/>
                        <a:ext cx="2444750"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3"/>
          <p:cNvGraphicFramePr>
            <a:graphicFrameLocks noChangeAspect="1"/>
          </p:cNvGraphicFramePr>
          <p:nvPr>
            <p:extLst>
              <p:ext uri="{D42A27DB-BD31-4B8C-83A1-F6EECF244321}">
                <p14:modId xmlns:p14="http://schemas.microsoft.com/office/powerpoint/2010/main" val="1895541345"/>
              </p:ext>
            </p:extLst>
          </p:nvPr>
        </p:nvGraphicFramePr>
        <p:xfrm>
          <a:off x="1441062" y="5632597"/>
          <a:ext cx="3063875" cy="457200"/>
        </p:xfrm>
        <a:graphic>
          <a:graphicData uri="http://schemas.openxmlformats.org/presentationml/2006/ole">
            <mc:AlternateContent xmlns:mc="http://schemas.openxmlformats.org/markup-compatibility/2006">
              <mc:Choice xmlns:v="urn:schemas-microsoft-com:vml" Requires="v">
                <p:oleObj spid="_x0000_s130175" name="Equation" r:id="rId7" imgW="1701720" imgH="253800" progId="Equation.DSMT4">
                  <p:embed/>
                </p:oleObj>
              </mc:Choice>
              <mc:Fallback>
                <p:oleObj name="Equation" r:id="rId7" imgW="1701720" imgH="253800" progId="Equation.DSMT4">
                  <p:embed/>
                  <p:pic>
                    <p:nvPicPr>
                      <p:cNvPr id="0" name=""/>
                      <p:cNvPicPr>
                        <a:picLocks noChangeAspect="1" noChangeArrowheads="1"/>
                      </p:cNvPicPr>
                      <p:nvPr/>
                    </p:nvPicPr>
                    <p:blipFill>
                      <a:blip r:embed="rId8"/>
                      <a:srcRect/>
                      <a:stretch>
                        <a:fillRect/>
                      </a:stretch>
                    </p:blipFill>
                    <p:spPr bwMode="auto">
                      <a:xfrm>
                        <a:off x="1441062" y="5632597"/>
                        <a:ext cx="306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2"/>
          <p:cNvGraphicFramePr>
            <a:graphicFrameLocks noChangeAspect="1"/>
          </p:cNvGraphicFramePr>
          <p:nvPr>
            <p:extLst>
              <p:ext uri="{D42A27DB-BD31-4B8C-83A1-F6EECF244321}">
                <p14:modId xmlns:p14="http://schemas.microsoft.com/office/powerpoint/2010/main" val="614319774"/>
              </p:ext>
            </p:extLst>
          </p:nvPr>
        </p:nvGraphicFramePr>
        <p:xfrm>
          <a:off x="5487599" y="5643709"/>
          <a:ext cx="1622425" cy="434975"/>
        </p:xfrm>
        <a:graphic>
          <a:graphicData uri="http://schemas.openxmlformats.org/presentationml/2006/ole">
            <mc:AlternateContent xmlns:mc="http://schemas.openxmlformats.org/markup-compatibility/2006">
              <mc:Choice xmlns:v="urn:schemas-microsoft-com:vml" Requires="v">
                <p:oleObj spid="_x0000_s130176" name="Equation" r:id="rId9" imgW="901440" imgH="241200" progId="Equation.DSMT4">
                  <p:embed/>
                </p:oleObj>
              </mc:Choice>
              <mc:Fallback>
                <p:oleObj name="Equation" r:id="rId9" imgW="901440" imgH="241200" progId="Equation.DSMT4">
                  <p:embed/>
                  <p:pic>
                    <p:nvPicPr>
                      <p:cNvPr id="0" name=""/>
                      <p:cNvPicPr>
                        <a:picLocks noChangeAspect="1" noChangeArrowheads="1"/>
                      </p:cNvPicPr>
                      <p:nvPr/>
                    </p:nvPicPr>
                    <p:blipFill>
                      <a:blip r:embed="rId10"/>
                      <a:srcRect/>
                      <a:stretch>
                        <a:fillRect/>
                      </a:stretch>
                    </p:blipFill>
                    <p:spPr bwMode="auto">
                      <a:xfrm>
                        <a:off x="5487599" y="5643709"/>
                        <a:ext cx="162242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extLst/>
          </p:nvPr>
        </p:nvGraphicFramePr>
        <p:xfrm>
          <a:off x="5487599" y="4140375"/>
          <a:ext cx="2171700" cy="914400"/>
        </p:xfrm>
        <a:graphic>
          <a:graphicData uri="http://schemas.openxmlformats.org/presentationml/2006/ole">
            <mc:AlternateContent xmlns:mc="http://schemas.openxmlformats.org/markup-compatibility/2006">
              <mc:Choice xmlns:v="urn:schemas-microsoft-com:vml" Requires="v">
                <p:oleObj spid="_x0000_s130177" name="Equation" r:id="rId11" imgW="1206500" imgH="508000" progId="Equation.DSMT4">
                  <p:embed/>
                </p:oleObj>
              </mc:Choice>
              <mc:Fallback>
                <p:oleObj name="Equation" r:id="rId11" imgW="1206500" imgH="5080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87599" y="4140375"/>
                        <a:ext cx="21717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0" name="图片 9"/>
          <p:cNvPicPr>
            <a:picLocks noChangeAspect="1"/>
          </p:cNvPicPr>
          <p:nvPr/>
        </p:nvPicPr>
        <p:blipFill>
          <a:blip r:embed="rId13"/>
          <a:stretch>
            <a:fillRect/>
          </a:stretch>
        </p:blipFill>
        <p:spPr>
          <a:xfrm>
            <a:off x="1585912" y="505007"/>
            <a:ext cx="6353175" cy="2381250"/>
          </a:xfrm>
          <a:prstGeom prst="rect">
            <a:avLst/>
          </a:prstGeom>
        </p:spPr>
      </p:pic>
      <p:graphicFrame>
        <p:nvGraphicFramePr>
          <p:cNvPr id="15" name="Object 23"/>
          <p:cNvGraphicFramePr>
            <a:graphicFrameLocks noChangeAspect="1"/>
          </p:cNvGraphicFramePr>
          <p:nvPr>
            <p:extLst>
              <p:ext uri="{D42A27DB-BD31-4B8C-83A1-F6EECF244321}">
                <p14:modId xmlns:p14="http://schemas.microsoft.com/office/powerpoint/2010/main" val="1867211873"/>
              </p:ext>
            </p:extLst>
          </p:nvPr>
        </p:nvGraphicFramePr>
        <p:xfrm>
          <a:off x="4608513" y="3184525"/>
          <a:ext cx="2520950" cy="757238"/>
        </p:xfrm>
        <a:graphic>
          <a:graphicData uri="http://schemas.openxmlformats.org/presentationml/2006/ole">
            <mc:AlternateContent xmlns:mc="http://schemas.openxmlformats.org/markup-compatibility/2006">
              <mc:Choice xmlns:v="urn:schemas-microsoft-com:vml" Requires="v">
                <p:oleObj spid="_x0000_s130178" name="Equation" r:id="rId14" imgW="1307880" imgH="393480" progId="Equation.DSMT4">
                  <p:embed/>
                </p:oleObj>
              </mc:Choice>
              <mc:Fallback>
                <p:oleObj name="Equation" r:id="rId14" imgW="1307880" imgH="393480" progId="Equation.DSMT4">
                  <p:embed/>
                  <p:pic>
                    <p:nvPicPr>
                      <p:cNvPr id="0" name=""/>
                      <p:cNvPicPr>
                        <a:picLocks noChangeAspect="1" noChangeArrowheads="1"/>
                      </p:cNvPicPr>
                      <p:nvPr/>
                    </p:nvPicPr>
                    <p:blipFill>
                      <a:blip r:embed="rId15"/>
                      <a:srcRect/>
                      <a:stretch>
                        <a:fillRect/>
                      </a:stretch>
                    </p:blipFill>
                    <p:spPr bwMode="auto">
                      <a:xfrm>
                        <a:off x="4608513" y="3184525"/>
                        <a:ext cx="2520950" cy="757238"/>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333926792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arn(inVertic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arn(inVertic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arn(inVertic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arn(inVertical)">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2"/>
          <p:cNvSpPr>
            <a:spLocks noChangeArrowheads="1"/>
          </p:cNvSpPr>
          <p:nvPr/>
        </p:nvSpPr>
        <p:spPr bwMode="auto">
          <a:xfrm>
            <a:off x="341313" y="627063"/>
            <a:ext cx="7515225" cy="519112"/>
          </a:xfrm>
          <a:prstGeom prst="rect">
            <a:avLst/>
          </a:prstGeom>
          <a:solidFill>
            <a:srgbClr val="CCFFCC"/>
          </a:solidFill>
          <a:ln>
            <a:noFill/>
          </a:ln>
          <a:effectLst>
            <a:outerShdw dist="35921" dir="2700000" algn="ctr" rotWithShape="0">
              <a:srgbClr val="808080"/>
            </a:outerShdw>
          </a:effectLst>
          <a:extLs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a:spcBef>
                <a:spcPct val="0"/>
              </a:spcBef>
              <a:buFontTx/>
              <a:buNone/>
            </a:pPr>
            <a:r>
              <a:rPr lang="en-US" altLang="zh-CN" sz="2800" dirty="0" smtClean="0">
                <a:solidFill>
                  <a:schemeClr val="tx2"/>
                </a:solidFill>
              </a:rPr>
              <a:t>11.3  </a:t>
            </a:r>
            <a:r>
              <a:rPr lang="zh-CN" altLang="en-US" sz="2800" dirty="0" smtClean="0">
                <a:solidFill>
                  <a:schemeClr val="tx2"/>
                </a:solidFill>
              </a:rPr>
              <a:t>负反馈电路的稳定性</a:t>
            </a:r>
            <a:r>
              <a:rPr lang="zh-CN" altLang="en-US" sz="2800" dirty="0">
                <a:solidFill>
                  <a:schemeClr val="tx2"/>
                </a:solidFill>
              </a:rPr>
              <a:t>问题</a:t>
            </a:r>
          </a:p>
        </p:txBody>
      </p:sp>
      <p:sp>
        <p:nvSpPr>
          <p:cNvPr id="67587" name="Text Box 3"/>
          <p:cNvSpPr txBox="1">
            <a:spLocks noChangeArrowheads="1"/>
          </p:cNvSpPr>
          <p:nvPr/>
        </p:nvSpPr>
        <p:spPr bwMode="auto">
          <a:xfrm>
            <a:off x="623888" y="1385888"/>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smtClean="0">
                <a:solidFill>
                  <a:srgbClr val="990033"/>
                </a:solidFill>
              </a:rPr>
              <a:t>11.3.1  </a:t>
            </a:r>
            <a:r>
              <a:rPr lang="zh-CN" altLang="en-US" sz="2400" dirty="0" smtClean="0">
                <a:solidFill>
                  <a:srgbClr val="A50021"/>
                </a:solidFill>
              </a:rPr>
              <a:t>稳定性问题</a:t>
            </a:r>
            <a:endParaRPr lang="zh-CN" altLang="en-US" sz="2400" dirty="0">
              <a:solidFill>
                <a:srgbClr val="A50021"/>
              </a:solidFill>
            </a:endParaRPr>
          </a:p>
        </p:txBody>
      </p:sp>
      <p:pic>
        <p:nvPicPr>
          <p:cNvPr id="67588" name="图片 27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78835" y="2482215"/>
            <a:ext cx="144018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9" name="图片 27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14550" y="3892550"/>
            <a:ext cx="100584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0" name="AutoShape 11"/>
          <p:cNvSpPr>
            <a:spLocks noChangeArrowheads="1"/>
          </p:cNvSpPr>
          <p:nvPr/>
        </p:nvSpPr>
        <p:spPr bwMode="auto">
          <a:xfrm>
            <a:off x="3864293" y="3969543"/>
            <a:ext cx="857250" cy="188913"/>
          </a:xfrm>
          <a:prstGeom prst="rightArrow">
            <a:avLst>
              <a:gd name="adj1" fmla="val 50000"/>
              <a:gd name="adj2" fmla="val 113445"/>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graphicFrame>
        <p:nvGraphicFramePr>
          <p:cNvPr id="67591" name="Object 12"/>
          <p:cNvGraphicFramePr>
            <a:graphicFrameLocks noChangeAspect="1"/>
          </p:cNvGraphicFramePr>
          <p:nvPr>
            <p:extLst>
              <p:ext uri="{D42A27DB-BD31-4B8C-83A1-F6EECF244321}">
                <p14:modId xmlns:p14="http://schemas.microsoft.com/office/powerpoint/2010/main" val="334853495"/>
              </p:ext>
            </p:extLst>
          </p:nvPr>
        </p:nvGraphicFramePr>
        <p:xfrm>
          <a:off x="5370513" y="3844955"/>
          <a:ext cx="868304" cy="434151"/>
        </p:xfrm>
        <a:graphic>
          <a:graphicData uri="http://schemas.openxmlformats.org/presentationml/2006/ole">
            <mc:AlternateContent xmlns:mc="http://schemas.openxmlformats.org/markup-compatibility/2006">
              <mc:Choice xmlns:v="urn:schemas-microsoft-com:vml" Requires="v">
                <p:oleObj spid="_x0000_s67808" name="Equation" r:id="rId5" imgW="482391" imgH="241195" progId="Equation.DSMT4">
                  <p:embed/>
                </p:oleObj>
              </mc:Choice>
              <mc:Fallback>
                <p:oleObj name="Equation" r:id="rId5" imgW="482391" imgH="241195"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0513" y="3844955"/>
                        <a:ext cx="868304" cy="434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2" name="Rectangle 13"/>
          <p:cNvSpPr>
            <a:spLocks noChangeArrowheads="1"/>
          </p:cNvSpPr>
          <p:nvPr/>
        </p:nvSpPr>
        <p:spPr bwMode="auto">
          <a:xfrm>
            <a:off x="2700338" y="5100608"/>
            <a:ext cx="3345788" cy="40011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a:t>系统不稳定，出现自激振荡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7587"/>
                                        </p:tgtEl>
                                        <p:attrNameLst>
                                          <p:attrName>style.visibility</p:attrName>
                                        </p:attrNameLst>
                                      </p:cBhvr>
                                      <p:to>
                                        <p:strVal val="visible"/>
                                      </p:to>
                                    </p:set>
                                    <p:animEffect transition="in" filter="barn(inVertical)">
                                      <p:cBhvr>
                                        <p:cTn id="7" dur="500"/>
                                        <p:tgtEl>
                                          <p:spTgt spid="6758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7588"/>
                                        </p:tgtEl>
                                        <p:attrNameLst>
                                          <p:attrName>style.visibility</p:attrName>
                                        </p:attrNameLst>
                                      </p:cBhvr>
                                      <p:to>
                                        <p:strVal val="visible"/>
                                      </p:to>
                                    </p:set>
                                    <p:animEffect transition="in" filter="barn(inVertical)">
                                      <p:cBhvr>
                                        <p:cTn id="12" dur="500"/>
                                        <p:tgtEl>
                                          <p:spTgt spid="6758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7589"/>
                                        </p:tgtEl>
                                        <p:attrNameLst>
                                          <p:attrName>style.visibility</p:attrName>
                                        </p:attrNameLst>
                                      </p:cBhvr>
                                      <p:to>
                                        <p:strVal val="visible"/>
                                      </p:to>
                                    </p:set>
                                    <p:animEffect transition="in" filter="barn(inVertical)">
                                      <p:cBhvr>
                                        <p:cTn id="17" dur="500"/>
                                        <p:tgtEl>
                                          <p:spTgt spid="6758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67590"/>
                                        </p:tgtEl>
                                        <p:attrNameLst>
                                          <p:attrName>style.visibility</p:attrName>
                                        </p:attrNameLst>
                                      </p:cBhvr>
                                      <p:to>
                                        <p:strVal val="visible"/>
                                      </p:to>
                                    </p:set>
                                    <p:animEffect transition="in" filter="barn(inVertical)">
                                      <p:cBhvr>
                                        <p:cTn id="22" dur="500"/>
                                        <p:tgtEl>
                                          <p:spTgt spid="67590"/>
                                        </p:tgtEl>
                                      </p:cBhvr>
                                    </p:animEffect>
                                  </p:childTnLst>
                                </p:cTn>
                              </p:par>
                            </p:childTnLst>
                          </p:cTn>
                        </p:par>
                        <p:par>
                          <p:cTn id="23" fill="hold">
                            <p:stCondLst>
                              <p:cond delay="500"/>
                            </p:stCondLst>
                            <p:childTnLst>
                              <p:par>
                                <p:cTn id="24" presetID="16" presetClass="entr" presetSubtype="21" fill="hold" nodeType="afterEffect">
                                  <p:stCondLst>
                                    <p:cond delay="0"/>
                                  </p:stCondLst>
                                  <p:childTnLst>
                                    <p:set>
                                      <p:cBhvr>
                                        <p:cTn id="25" dur="1" fill="hold">
                                          <p:stCondLst>
                                            <p:cond delay="0"/>
                                          </p:stCondLst>
                                        </p:cTn>
                                        <p:tgtEl>
                                          <p:spTgt spid="67591"/>
                                        </p:tgtEl>
                                        <p:attrNameLst>
                                          <p:attrName>style.visibility</p:attrName>
                                        </p:attrNameLst>
                                      </p:cBhvr>
                                      <p:to>
                                        <p:strVal val="visible"/>
                                      </p:to>
                                    </p:set>
                                    <p:animEffect transition="in" filter="barn(inVertical)">
                                      <p:cBhvr>
                                        <p:cTn id="26" dur="500"/>
                                        <p:tgtEl>
                                          <p:spTgt spid="67591"/>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67592"/>
                                        </p:tgtEl>
                                        <p:attrNameLst>
                                          <p:attrName>style.visibility</p:attrName>
                                        </p:attrNameLst>
                                      </p:cBhvr>
                                      <p:to>
                                        <p:strVal val="visible"/>
                                      </p:to>
                                    </p:set>
                                    <p:animEffect transition="in" filter="barn(inVertical)">
                                      <p:cBhvr>
                                        <p:cTn id="31" dur="500"/>
                                        <p:tgtEl>
                                          <p:spTgt spid="675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p:bldP spid="67590" grpId="0" animBg="1"/>
      <p:bldP spid="67592" grpId="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Text Box 3"/>
          <p:cNvSpPr txBox="1">
            <a:spLocks noChangeArrowheads="1"/>
          </p:cNvSpPr>
          <p:nvPr/>
        </p:nvSpPr>
        <p:spPr bwMode="auto">
          <a:xfrm>
            <a:off x="493713" y="527229"/>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smtClean="0">
                <a:solidFill>
                  <a:srgbClr val="990033"/>
                </a:solidFill>
              </a:rPr>
              <a:t>11.3.2  </a:t>
            </a:r>
            <a:r>
              <a:rPr lang="zh-CN" altLang="en-US" sz="2400" dirty="0">
                <a:solidFill>
                  <a:srgbClr val="A50021"/>
                </a:solidFill>
              </a:rPr>
              <a:t>稳定判据和稳定裕度</a:t>
            </a:r>
          </a:p>
        </p:txBody>
      </p:sp>
      <p:graphicFrame>
        <p:nvGraphicFramePr>
          <p:cNvPr id="728088" name="Object 24"/>
          <p:cNvGraphicFramePr>
            <a:graphicFrameLocks noChangeAspect="1"/>
          </p:cNvGraphicFramePr>
          <p:nvPr>
            <p:extLst>
              <p:ext uri="{D42A27DB-BD31-4B8C-83A1-F6EECF244321}">
                <p14:modId xmlns:p14="http://schemas.microsoft.com/office/powerpoint/2010/main" val="3520082600"/>
              </p:ext>
            </p:extLst>
          </p:nvPr>
        </p:nvGraphicFramePr>
        <p:xfrm>
          <a:off x="5106988" y="1279704"/>
          <a:ext cx="2491740" cy="434340"/>
        </p:xfrm>
        <a:graphic>
          <a:graphicData uri="http://schemas.openxmlformats.org/presentationml/2006/ole">
            <mc:AlternateContent xmlns:mc="http://schemas.openxmlformats.org/markup-compatibility/2006">
              <mc:Choice xmlns:v="urn:schemas-microsoft-com:vml" Requires="v">
                <p:oleObj spid="_x0000_s115999" name="公式" r:id="rId3" imgW="1384300" imgH="241300" progId="Equation.3">
                  <p:embed/>
                </p:oleObj>
              </mc:Choice>
              <mc:Fallback>
                <p:oleObj name="公式" r:id="rId3" imgW="1384300" imgH="241300" progId="Equation.3">
                  <p:embed/>
                  <p:pic>
                    <p:nvPicPr>
                      <p:cNvPr id="0"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6988" y="1279704"/>
                        <a:ext cx="2491740" cy="43434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8089" name="Object 25"/>
          <p:cNvGraphicFramePr>
            <a:graphicFrameLocks noChangeAspect="1"/>
          </p:cNvGraphicFramePr>
          <p:nvPr>
            <p:extLst>
              <p:ext uri="{D42A27DB-BD31-4B8C-83A1-F6EECF244321}">
                <p14:modId xmlns:p14="http://schemas.microsoft.com/office/powerpoint/2010/main" val="1055570676"/>
              </p:ext>
            </p:extLst>
          </p:nvPr>
        </p:nvGraphicFramePr>
        <p:xfrm>
          <a:off x="5148263" y="1782942"/>
          <a:ext cx="1485900" cy="434340"/>
        </p:xfrm>
        <a:graphic>
          <a:graphicData uri="http://schemas.openxmlformats.org/presentationml/2006/ole">
            <mc:AlternateContent xmlns:mc="http://schemas.openxmlformats.org/markup-compatibility/2006">
              <mc:Choice xmlns:v="urn:schemas-microsoft-com:vml" Requires="v">
                <p:oleObj spid="_x0000_s116000" name="公式" r:id="rId5" imgW="825500" imgH="241300" progId="Equation.3">
                  <p:embed/>
                </p:oleObj>
              </mc:Choice>
              <mc:Fallback>
                <p:oleObj name="公式" r:id="rId5" imgW="825500" imgH="241300" progId="Equation.3">
                  <p:embed/>
                  <p:pic>
                    <p:nvPicPr>
                      <p:cNvPr id="0"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8263" y="1782942"/>
                        <a:ext cx="1485900" cy="43434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8090" name="Object 26"/>
          <p:cNvGraphicFramePr>
            <a:graphicFrameLocks noChangeAspect="1"/>
          </p:cNvGraphicFramePr>
          <p:nvPr>
            <p:extLst>
              <p:ext uri="{D42A27DB-BD31-4B8C-83A1-F6EECF244321}">
                <p14:modId xmlns:p14="http://schemas.microsoft.com/office/powerpoint/2010/main" val="2181830673"/>
              </p:ext>
            </p:extLst>
          </p:nvPr>
        </p:nvGraphicFramePr>
        <p:xfrm>
          <a:off x="1277938" y="3895905"/>
          <a:ext cx="1005840" cy="342900"/>
        </p:xfrm>
        <a:graphic>
          <a:graphicData uri="http://schemas.openxmlformats.org/presentationml/2006/ole">
            <mc:AlternateContent xmlns:mc="http://schemas.openxmlformats.org/markup-compatibility/2006">
              <mc:Choice xmlns:v="urn:schemas-microsoft-com:vml" Requires="v">
                <p:oleObj spid="_x0000_s116001" name="Equation" r:id="rId7" imgW="558800" imgH="190500" progId="Equation.3">
                  <p:embed/>
                </p:oleObj>
              </mc:Choice>
              <mc:Fallback>
                <p:oleObj name="Equation" r:id="rId7" imgW="558800" imgH="190500" progId="Equation.3">
                  <p:embed/>
                  <p:pic>
                    <p:nvPicPr>
                      <p:cNvPr id="0" name="Object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77938" y="3895905"/>
                        <a:ext cx="1005840" cy="342900"/>
                      </a:xfrm>
                      <a:prstGeom prst="rect">
                        <a:avLst/>
                      </a:prstGeom>
                      <a:solidFill>
                        <a:srgbClr val="66FFFF"/>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8092" name="Object 28"/>
          <p:cNvGraphicFramePr>
            <a:graphicFrameLocks noChangeAspect="1"/>
          </p:cNvGraphicFramePr>
          <p:nvPr>
            <p:extLst>
              <p:ext uri="{D42A27DB-BD31-4B8C-83A1-F6EECF244321}">
                <p14:modId xmlns:p14="http://schemas.microsoft.com/office/powerpoint/2010/main" val="2885030547"/>
              </p:ext>
            </p:extLst>
          </p:nvPr>
        </p:nvGraphicFramePr>
        <p:xfrm>
          <a:off x="4140200" y="5918891"/>
          <a:ext cx="914400" cy="502920"/>
        </p:xfrm>
        <a:graphic>
          <a:graphicData uri="http://schemas.openxmlformats.org/presentationml/2006/ole">
            <mc:AlternateContent xmlns:mc="http://schemas.openxmlformats.org/markup-compatibility/2006">
              <mc:Choice xmlns:v="urn:schemas-microsoft-com:vml" Requires="v">
                <p:oleObj spid="_x0000_s116002" name="Equation" r:id="rId9" imgW="508000" imgH="279400" progId="Equation.3">
                  <p:embed/>
                </p:oleObj>
              </mc:Choice>
              <mc:Fallback>
                <p:oleObj name="Equation" r:id="rId9" imgW="508000" imgH="279400" progId="Equation.3">
                  <p:embed/>
                  <p:pic>
                    <p:nvPicPr>
                      <p:cNvPr id="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40200" y="5918891"/>
                        <a:ext cx="914400" cy="502920"/>
                      </a:xfrm>
                      <a:prstGeom prst="rect">
                        <a:avLst/>
                      </a:prstGeom>
                      <a:solidFill>
                        <a:srgbClr val="66FFFF"/>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8093" name="Object 29"/>
          <p:cNvGraphicFramePr>
            <a:graphicFrameLocks noChangeAspect="1"/>
          </p:cNvGraphicFramePr>
          <p:nvPr>
            <p:extLst>
              <p:ext uri="{D42A27DB-BD31-4B8C-83A1-F6EECF244321}">
                <p14:modId xmlns:p14="http://schemas.microsoft.com/office/powerpoint/2010/main" val="4126618980"/>
              </p:ext>
            </p:extLst>
          </p:nvPr>
        </p:nvGraphicFramePr>
        <p:xfrm>
          <a:off x="900113" y="1422579"/>
          <a:ext cx="3657600" cy="1857375"/>
        </p:xfrm>
        <a:graphic>
          <a:graphicData uri="http://schemas.openxmlformats.org/presentationml/2006/ole">
            <mc:AlternateContent xmlns:mc="http://schemas.openxmlformats.org/markup-compatibility/2006">
              <mc:Choice xmlns:v="urn:schemas-microsoft-com:vml" Requires="v">
                <p:oleObj spid="_x0000_s116003" name="Photo Editor 照片" r:id="rId11" imgW="11761905" imgH="5971429" progId="MSPhotoEd.3">
                  <p:embed/>
                </p:oleObj>
              </mc:Choice>
              <mc:Fallback>
                <p:oleObj name="Photo Editor 照片" r:id="rId11" imgW="11761905" imgH="5971429" progId="MSPhotoEd.3">
                  <p:embed/>
                  <p:pic>
                    <p:nvPicPr>
                      <p:cNvPr id="0" name="Object 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00113" y="1422579"/>
                        <a:ext cx="3657600" cy="185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28094" name="Group 30"/>
          <p:cNvGrpSpPr>
            <a:grpSpLocks/>
          </p:cNvGrpSpPr>
          <p:nvPr/>
        </p:nvGrpSpPr>
        <p:grpSpPr bwMode="auto">
          <a:xfrm>
            <a:off x="2834482" y="3621267"/>
            <a:ext cx="4360863" cy="892175"/>
            <a:chOff x="1728" y="2287"/>
            <a:chExt cx="2747" cy="562"/>
          </a:xfrm>
        </p:grpSpPr>
        <p:graphicFrame>
          <p:nvGraphicFramePr>
            <p:cNvPr id="68621" name="Object 31"/>
            <p:cNvGraphicFramePr>
              <a:graphicFrameLocks noChangeAspect="1"/>
            </p:cNvGraphicFramePr>
            <p:nvPr>
              <p:extLst>
                <p:ext uri="{D42A27DB-BD31-4B8C-83A1-F6EECF244321}">
                  <p14:modId xmlns:p14="http://schemas.microsoft.com/office/powerpoint/2010/main" val="3118146209"/>
                </p:ext>
              </p:extLst>
            </p:nvPr>
          </p:nvGraphicFramePr>
          <p:xfrm>
            <a:off x="2401" y="2287"/>
            <a:ext cx="2074" cy="562"/>
          </p:xfrm>
          <a:graphic>
            <a:graphicData uri="http://schemas.openxmlformats.org/presentationml/2006/ole">
              <mc:AlternateContent xmlns:mc="http://schemas.openxmlformats.org/markup-compatibility/2006">
                <mc:Choice xmlns:v="urn:schemas-microsoft-com:vml" Requires="v">
                  <p:oleObj spid="_x0000_s116004" name="Equation" r:id="rId13" imgW="1828800" imgH="495300" progId="Equation.DSMT4">
                    <p:embed/>
                  </p:oleObj>
                </mc:Choice>
                <mc:Fallback>
                  <p:oleObj name="Equation" r:id="rId13" imgW="1828800" imgH="495300" progId="Equation.DSMT4">
                    <p:embed/>
                    <p:pic>
                      <p:nvPicPr>
                        <p:cNvPr id="0" name="Object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01" y="2287"/>
                          <a:ext cx="2074" cy="562"/>
                        </a:xfrm>
                        <a:prstGeom prst="rect">
                          <a:avLst/>
                        </a:prstGeom>
                        <a:solidFill>
                          <a:srgbClr val="66FFFF"/>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622" name="AutoShape 32"/>
            <p:cNvSpPr>
              <a:spLocks noChangeArrowheads="1"/>
            </p:cNvSpPr>
            <p:nvPr/>
          </p:nvSpPr>
          <p:spPr bwMode="auto">
            <a:xfrm>
              <a:off x="1728" y="2496"/>
              <a:ext cx="336" cy="144"/>
            </a:xfrm>
            <a:prstGeom prst="rightArrow">
              <a:avLst>
                <a:gd name="adj1" fmla="val 50000"/>
                <a:gd name="adj2" fmla="val 58333"/>
              </a:avLst>
            </a:prstGeom>
            <a:solidFill>
              <a:srgbClr val="CCFFFF"/>
            </a:solidFill>
            <a:ln w="2857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grpSp>
      <p:sp>
        <p:nvSpPr>
          <p:cNvPr id="728097" name="Text Box 33"/>
          <p:cNvSpPr txBox="1">
            <a:spLocks noChangeArrowheads="1"/>
          </p:cNvSpPr>
          <p:nvPr/>
        </p:nvSpPr>
        <p:spPr bwMode="auto">
          <a:xfrm>
            <a:off x="1066800" y="4802367"/>
            <a:ext cx="7467600" cy="9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50000"/>
              </a:spcBef>
              <a:buFontTx/>
              <a:buNone/>
            </a:pPr>
            <a:r>
              <a:rPr lang="en-US" altLang="zh-CN" sz="2000" dirty="0"/>
              <a:t>    </a:t>
            </a:r>
            <a:r>
              <a:rPr lang="en-US" altLang="zh-CN" sz="2000" dirty="0" smtClean="0"/>
              <a:t>    </a:t>
            </a:r>
            <a:r>
              <a:rPr lang="zh-CN" altLang="en-US" sz="2000" dirty="0" smtClean="0"/>
              <a:t>由于</a:t>
            </a:r>
            <a:r>
              <a:rPr lang="zh-CN" altLang="en-US" sz="2000" dirty="0"/>
              <a:t>电路通电后输出量有一个从小到大直至稳幅的过程，起振条件为</a:t>
            </a:r>
          </a:p>
        </p:txBody>
      </p:sp>
      <p:grpSp>
        <p:nvGrpSpPr>
          <p:cNvPr id="728098" name="Group 34"/>
          <p:cNvGrpSpPr>
            <a:grpSpLocks/>
          </p:cNvGrpSpPr>
          <p:nvPr/>
        </p:nvGrpSpPr>
        <p:grpSpPr bwMode="auto">
          <a:xfrm>
            <a:off x="5091114" y="2314754"/>
            <a:ext cx="2719388" cy="1011238"/>
            <a:chOff x="3198" y="1433"/>
            <a:chExt cx="1713" cy="637"/>
          </a:xfrm>
        </p:grpSpPr>
        <p:sp>
          <p:nvSpPr>
            <p:cNvPr id="68619" name="AutoShape 35"/>
            <p:cNvSpPr>
              <a:spLocks/>
            </p:cNvSpPr>
            <p:nvPr/>
          </p:nvSpPr>
          <p:spPr bwMode="auto">
            <a:xfrm>
              <a:off x="3198" y="1433"/>
              <a:ext cx="1151" cy="273"/>
            </a:xfrm>
            <a:prstGeom prst="borderCallout1">
              <a:avLst>
                <a:gd name="adj1" fmla="val 22713"/>
                <a:gd name="adj2" fmla="val -3213"/>
                <a:gd name="adj3" fmla="val 302695"/>
                <a:gd name="adj4" fmla="val -30317"/>
              </a:avLst>
            </a:prstGeom>
            <a:solidFill>
              <a:srgbClr val="FFFFCC"/>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a:t>幅值平衡条件</a:t>
              </a:r>
            </a:p>
          </p:txBody>
        </p:sp>
        <p:sp>
          <p:nvSpPr>
            <p:cNvPr id="68620" name="AutoShape 36"/>
            <p:cNvSpPr>
              <a:spLocks/>
            </p:cNvSpPr>
            <p:nvPr/>
          </p:nvSpPr>
          <p:spPr bwMode="auto">
            <a:xfrm>
              <a:off x="3787" y="1805"/>
              <a:ext cx="1124" cy="265"/>
            </a:xfrm>
            <a:prstGeom prst="borderCallout1">
              <a:avLst>
                <a:gd name="adj1" fmla="val 22644"/>
                <a:gd name="adj2" fmla="val -3315"/>
                <a:gd name="adj3" fmla="val 279560"/>
                <a:gd name="adj4" fmla="val -40306"/>
              </a:avLst>
            </a:prstGeom>
            <a:solidFill>
              <a:srgbClr val="FFFFCC"/>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a:t>相位平衡条件</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28093"/>
                                        </p:tgtEl>
                                        <p:attrNameLst>
                                          <p:attrName>style.visibility</p:attrName>
                                        </p:attrNameLst>
                                      </p:cBhvr>
                                      <p:to>
                                        <p:strVal val="visible"/>
                                      </p:to>
                                    </p:set>
                                    <p:animEffect transition="in" filter="wipe(left)">
                                      <p:cBhvr>
                                        <p:cTn id="7" dur="500"/>
                                        <p:tgtEl>
                                          <p:spTgt spid="7280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28088"/>
                                        </p:tgtEl>
                                        <p:attrNameLst>
                                          <p:attrName>style.visibility</p:attrName>
                                        </p:attrNameLst>
                                      </p:cBhvr>
                                      <p:to>
                                        <p:strVal val="visible"/>
                                      </p:to>
                                    </p:set>
                                    <p:animEffect transition="in" filter="wipe(left)">
                                      <p:cBhvr>
                                        <p:cTn id="12" dur="500"/>
                                        <p:tgtEl>
                                          <p:spTgt spid="7280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28089"/>
                                        </p:tgtEl>
                                        <p:attrNameLst>
                                          <p:attrName>style.visibility</p:attrName>
                                        </p:attrNameLst>
                                      </p:cBhvr>
                                      <p:to>
                                        <p:strVal val="visible"/>
                                      </p:to>
                                    </p:set>
                                    <p:animEffect transition="in" filter="wipe(left)">
                                      <p:cBhvr>
                                        <p:cTn id="17" dur="500"/>
                                        <p:tgtEl>
                                          <p:spTgt spid="7280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28090"/>
                                        </p:tgtEl>
                                        <p:attrNameLst>
                                          <p:attrName>style.visibility</p:attrName>
                                        </p:attrNameLst>
                                      </p:cBhvr>
                                      <p:to>
                                        <p:strVal val="visible"/>
                                      </p:to>
                                    </p:set>
                                    <p:animEffect transition="in" filter="wipe(left)">
                                      <p:cBhvr>
                                        <p:cTn id="22" dur="500"/>
                                        <p:tgtEl>
                                          <p:spTgt spid="72809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28094"/>
                                        </p:tgtEl>
                                        <p:attrNameLst>
                                          <p:attrName>style.visibility</p:attrName>
                                        </p:attrNameLst>
                                      </p:cBhvr>
                                      <p:to>
                                        <p:strVal val="visible"/>
                                      </p:to>
                                    </p:set>
                                    <p:animEffect transition="in" filter="wipe(left)">
                                      <p:cBhvr>
                                        <p:cTn id="27" dur="500"/>
                                        <p:tgtEl>
                                          <p:spTgt spid="72809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28098"/>
                                        </p:tgtEl>
                                        <p:attrNameLst>
                                          <p:attrName>style.visibility</p:attrName>
                                        </p:attrNameLst>
                                      </p:cBhvr>
                                      <p:to>
                                        <p:strVal val="visible"/>
                                      </p:to>
                                    </p:set>
                                    <p:animEffect transition="in" filter="wipe(left)">
                                      <p:cBhvr>
                                        <p:cTn id="32" dur="500"/>
                                        <p:tgtEl>
                                          <p:spTgt spid="72809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28097">
                                            <p:txEl>
                                              <p:pRg st="0" end="0"/>
                                            </p:txEl>
                                          </p:spTgt>
                                        </p:tgtEl>
                                        <p:attrNameLst>
                                          <p:attrName>style.visibility</p:attrName>
                                        </p:attrNameLst>
                                      </p:cBhvr>
                                      <p:to>
                                        <p:strVal val="visible"/>
                                      </p:to>
                                    </p:set>
                                    <p:animEffect transition="in" filter="wipe(left)">
                                      <p:cBhvr>
                                        <p:cTn id="37" dur="500"/>
                                        <p:tgtEl>
                                          <p:spTgt spid="728097">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28092"/>
                                        </p:tgtEl>
                                        <p:attrNameLst>
                                          <p:attrName>style.visibility</p:attrName>
                                        </p:attrNameLst>
                                      </p:cBhvr>
                                      <p:to>
                                        <p:strVal val="visible"/>
                                      </p:to>
                                    </p:set>
                                    <p:animEffect transition="in" filter="wipe(left)">
                                      <p:cBhvr>
                                        <p:cTn id="42" dur="500"/>
                                        <p:tgtEl>
                                          <p:spTgt spid="728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8097"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92" name="Text Box 4"/>
          <p:cNvSpPr txBox="1">
            <a:spLocks noChangeArrowheads="1"/>
          </p:cNvSpPr>
          <p:nvPr/>
        </p:nvSpPr>
        <p:spPr bwMode="auto">
          <a:xfrm>
            <a:off x="622300" y="608013"/>
            <a:ext cx="7848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zh-CN" altLang="en-US" sz="2000" dirty="0" smtClean="0">
                <a:latin typeface="宋体" pitchFamily="2" charset="-122"/>
              </a:rPr>
              <a:t>由环路增益</a:t>
            </a:r>
            <a:r>
              <a:rPr lang="zh-CN" altLang="en-US" sz="2000" dirty="0">
                <a:latin typeface="宋体" pitchFamily="2" charset="-122"/>
              </a:rPr>
              <a:t>的频率特性来判断闭环后电路的稳定性。</a:t>
            </a:r>
          </a:p>
        </p:txBody>
      </p:sp>
      <p:sp>
        <p:nvSpPr>
          <p:cNvPr id="729093" name="Text Box 5"/>
          <p:cNvSpPr txBox="1">
            <a:spLocks noChangeArrowheads="1"/>
          </p:cNvSpPr>
          <p:nvPr/>
        </p:nvSpPr>
        <p:spPr bwMode="auto">
          <a:xfrm>
            <a:off x="612775" y="1078806"/>
            <a:ext cx="70104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0"/>
              </a:spcBef>
              <a:buFontTx/>
              <a:buNone/>
            </a:pPr>
            <a:r>
              <a:rPr lang="zh-CN" altLang="en-US" sz="2000" dirty="0"/>
              <a:t>使环路增益下降</a:t>
            </a:r>
            <a:r>
              <a:rPr lang="zh-CN" altLang="en-US" sz="2000" dirty="0" smtClean="0"/>
              <a:t>到 </a:t>
            </a:r>
            <a:r>
              <a:rPr lang="en-US" altLang="zh-CN" sz="2000" dirty="0" smtClean="0"/>
              <a:t>0 dB </a:t>
            </a:r>
            <a:r>
              <a:rPr lang="zh-CN" altLang="en-US" sz="2000" dirty="0" smtClean="0"/>
              <a:t>的</a:t>
            </a:r>
            <a:r>
              <a:rPr lang="zh-CN" altLang="en-US" sz="2000" dirty="0"/>
              <a:t>频率，记作 </a:t>
            </a:r>
            <a:r>
              <a:rPr lang="en-US" altLang="zh-CN" sz="2000" i="1" dirty="0" smtClean="0">
                <a:solidFill>
                  <a:srgbClr val="FF0000"/>
                </a:solidFill>
              </a:rPr>
              <a:t>f</a:t>
            </a:r>
            <a:r>
              <a:rPr lang="en-US" altLang="zh-CN" sz="2000" baseline="-25000" dirty="0" smtClean="0">
                <a:solidFill>
                  <a:srgbClr val="FF0000"/>
                </a:solidFill>
              </a:rPr>
              <a:t>0 </a:t>
            </a:r>
            <a:r>
              <a:rPr lang="zh-CN" altLang="en-US" sz="2000" dirty="0" smtClean="0"/>
              <a:t>；</a:t>
            </a:r>
            <a:endParaRPr lang="zh-CN" altLang="en-US" sz="2000" dirty="0"/>
          </a:p>
          <a:p>
            <a:pPr eaLnBrk="1" hangingPunct="1">
              <a:lnSpc>
                <a:spcPct val="120000"/>
              </a:lnSpc>
              <a:spcBef>
                <a:spcPct val="0"/>
              </a:spcBef>
              <a:buFontTx/>
              <a:buNone/>
            </a:pPr>
            <a:r>
              <a:rPr lang="zh-CN" altLang="en-US" sz="2000" dirty="0" smtClean="0"/>
              <a:t>使  </a:t>
            </a:r>
            <a:r>
              <a:rPr lang="el-GR" altLang="zh-CN" sz="2000" i="1" dirty="0" smtClean="0">
                <a:cs typeface="Times New Roman" pitchFamily="18" charset="0"/>
              </a:rPr>
              <a:t>φ</a:t>
            </a:r>
            <a:r>
              <a:rPr lang="en-US" altLang="zh-CN" sz="2000" i="1" baseline="-25000" dirty="0">
                <a:cs typeface="Times New Roman" pitchFamily="18" charset="0"/>
              </a:rPr>
              <a:t>A </a:t>
            </a:r>
            <a:r>
              <a:rPr lang="en-US" altLang="zh-CN" sz="2000" dirty="0"/>
              <a:t>+</a:t>
            </a:r>
            <a:r>
              <a:rPr lang="en-US" altLang="zh-CN" sz="2000" i="1" dirty="0" err="1">
                <a:cs typeface="Times New Roman" pitchFamily="18" charset="0"/>
              </a:rPr>
              <a:t>φ</a:t>
            </a:r>
            <a:r>
              <a:rPr lang="en-US" altLang="zh-CN" sz="2000" i="1" baseline="-25000" dirty="0" err="1">
                <a:cs typeface="Times New Roman" pitchFamily="18" charset="0"/>
              </a:rPr>
              <a:t>F</a:t>
            </a:r>
            <a:r>
              <a:rPr lang="en-US" altLang="zh-CN" sz="2000" i="1" baseline="-25000" dirty="0">
                <a:cs typeface="Times New Roman" pitchFamily="18" charset="0"/>
              </a:rPr>
              <a:t> </a:t>
            </a:r>
            <a:r>
              <a:rPr lang="en-US" altLang="zh-CN" sz="2000" i="1" dirty="0">
                <a:cs typeface="Times New Roman" pitchFamily="18" charset="0"/>
              </a:rPr>
              <a:t>=</a:t>
            </a:r>
            <a:r>
              <a:rPr lang="en-US" altLang="zh-CN" sz="2000" dirty="0"/>
              <a:t> </a:t>
            </a:r>
            <a:r>
              <a:rPr lang="en-US" altLang="zh-CN" sz="2000" dirty="0">
                <a:sym typeface="Symbol" pitchFamily="18" charset="2"/>
              </a:rPr>
              <a:t> </a:t>
            </a:r>
            <a:r>
              <a:rPr lang="en-US" altLang="zh-CN" sz="2000" dirty="0"/>
              <a:t>(2</a:t>
            </a:r>
            <a:r>
              <a:rPr lang="en-US" altLang="zh-CN" sz="2000" i="1" dirty="0"/>
              <a:t>n</a:t>
            </a:r>
            <a:r>
              <a:rPr lang="zh-CN" altLang="en-US" sz="2000" dirty="0"/>
              <a:t>＋</a:t>
            </a:r>
            <a:r>
              <a:rPr lang="en-US" altLang="zh-CN" sz="2000" dirty="0"/>
              <a:t>1)</a:t>
            </a:r>
            <a:r>
              <a:rPr lang="en-US" altLang="zh-CN" sz="2000" i="1" dirty="0">
                <a:cs typeface="Times New Roman" pitchFamily="18" charset="0"/>
                <a:sym typeface="Symbol" pitchFamily="18" charset="2"/>
              </a:rPr>
              <a:t></a:t>
            </a:r>
            <a:r>
              <a:rPr lang="en-US" altLang="zh-CN" sz="2000" dirty="0">
                <a:cs typeface="Times New Roman" pitchFamily="18" charset="0"/>
              </a:rPr>
              <a:t> </a:t>
            </a:r>
            <a:r>
              <a:rPr lang="en-US" altLang="zh-CN" sz="2000" dirty="0" smtClean="0">
                <a:cs typeface="Times New Roman" pitchFamily="18" charset="0"/>
              </a:rPr>
              <a:t>  </a:t>
            </a:r>
            <a:r>
              <a:rPr lang="zh-CN" altLang="en-US" sz="2000" dirty="0" smtClean="0"/>
              <a:t>的</a:t>
            </a:r>
            <a:r>
              <a:rPr lang="zh-CN" altLang="en-US" sz="2000" dirty="0"/>
              <a:t>频率，记作 </a:t>
            </a:r>
            <a:r>
              <a:rPr lang="en-US" altLang="zh-CN" sz="2000" i="1" dirty="0" smtClean="0">
                <a:solidFill>
                  <a:srgbClr val="FF0000"/>
                </a:solidFill>
              </a:rPr>
              <a:t>f</a:t>
            </a:r>
            <a:r>
              <a:rPr lang="en-US" altLang="zh-CN" sz="2000" i="1" baseline="-25000" dirty="0" smtClean="0">
                <a:solidFill>
                  <a:srgbClr val="FF0000"/>
                </a:solidFill>
              </a:rPr>
              <a:t>c </a:t>
            </a:r>
            <a:r>
              <a:rPr lang="zh-CN" altLang="en-US" sz="2000" dirty="0" smtClean="0"/>
              <a:t>。</a:t>
            </a:r>
            <a:endParaRPr lang="zh-CN" altLang="en-US" sz="2000" baseline="-25000" dirty="0"/>
          </a:p>
        </p:txBody>
      </p:sp>
      <p:graphicFrame>
        <p:nvGraphicFramePr>
          <p:cNvPr id="729094" name="Object 6"/>
          <p:cNvGraphicFramePr>
            <a:graphicFrameLocks noChangeAspect="1"/>
          </p:cNvGraphicFramePr>
          <p:nvPr>
            <p:extLst>
              <p:ext uri="{D42A27DB-BD31-4B8C-83A1-F6EECF244321}">
                <p14:modId xmlns:p14="http://schemas.microsoft.com/office/powerpoint/2010/main" val="3045858849"/>
              </p:ext>
            </p:extLst>
          </p:nvPr>
        </p:nvGraphicFramePr>
        <p:xfrm>
          <a:off x="1384300" y="2521837"/>
          <a:ext cx="2895600" cy="3770313"/>
        </p:xfrm>
        <a:graphic>
          <a:graphicData uri="http://schemas.openxmlformats.org/presentationml/2006/ole">
            <mc:AlternateContent xmlns:mc="http://schemas.openxmlformats.org/markup-compatibility/2006">
              <mc:Choice xmlns:v="urn:schemas-microsoft-com:vml" Requires="v">
                <p:oleObj spid="_x0000_s70082" name="Photo Editor 照片" r:id="rId3" imgW="24733333" imgH="15933333" progId="MSPhotoEd.3">
                  <p:embed/>
                </p:oleObj>
              </mc:Choice>
              <mc:Fallback>
                <p:oleObj name="Photo Editor 照片" r:id="rId3" imgW="24733333" imgH="15933333" progId="MSPhotoEd.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r="53087"/>
                      <a:stretch>
                        <a:fillRect/>
                      </a:stretch>
                    </p:blipFill>
                    <p:spPr bwMode="auto">
                      <a:xfrm>
                        <a:off x="1384300" y="2521837"/>
                        <a:ext cx="2895600" cy="377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9095" name="Object 7"/>
          <p:cNvGraphicFramePr>
            <a:graphicFrameLocks noChangeAspect="1"/>
          </p:cNvGraphicFramePr>
          <p:nvPr>
            <p:extLst>
              <p:ext uri="{D42A27DB-BD31-4B8C-83A1-F6EECF244321}">
                <p14:modId xmlns:p14="http://schemas.microsoft.com/office/powerpoint/2010/main" val="201628574"/>
              </p:ext>
            </p:extLst>
          </p:nvPr>
        </p:nvGraphicFramePr>
        <p:xfrm>
          <a:off x="4356100" y="2521837"/>
          <a:ext cx="3200400" cy="3770313"/>
        </p:xfrm>
        <a:graphic>
          <a:graphicData uri="http://schemas.openxmlformats.org/presentationml/2006/ole">
            <mc:AlternateContent xmlns:mc="http://schemas.openxmlformats.org/markup-compatibility/2006">
              <mc:Choice xmlns:v="urn:schemas-microsoft-com:vml" Requires="v">
                <p:oleObj spid="_x0000_s70083" name="Photo Editor 照片" r:id="rId5" imgW="24733333" imgH="15933333" progId="MSPhotoEd.3">
                  <p:embed/>
                </p:oleObj>
              </mc:Choice>
              <mc:Fallback>
                <p:oleObj name="Photo Editor 照片" r:id="rId5" imgW="24733333" imgH="15933333" progId="MSPhotoEd.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l="48148"/>
                      <a:stretch>
                        <a:fillRect/>
                      </a:stretch>
                    </p:blipFill>
                    <p:spPr bwMode="auto">
                      <a:xfrm>
                        <a:off x="4356100" y="2521837"/>
                        <a:ext cx="3200400" cy="377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29096" name="Group 8"/>
          <p:cNvGrpSpPr>
            <a:grpSpLocks/>
          </p:cNvGrpSpPr>
          <p:nvPr/>
        </p:nvGrpSpPr>
        <p:grpSpPr bwMode="auto">
          <a:xfrm>
            <a:off x="1917700" y="3850575"/>
            <a:ext cx="2057400" cy="1828800"/>
            <a:chOff x="1200" y="2469"/>
            <a:chExt cx="1296" cy="1152"/>
          </a:xfrm>
        </p:grpSpPr>
        <p:sp>
          <p:nvSpPr>
            <p:cNvPr id="69645" name="Text Box 9"/>
            <p:cNvSpPr txBox="1">
              <a:spLocks noChangeArrowheads="1"/>
            </p:cNvSpPr>
            <p:nvPr/>
          </p:nvSpPr>
          <p:spPr bwMode="auto">
            <a:xfrm>
              <a:off x="2256" y="2469"/>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i="1">
                  <a:solidFill>
                    <a:srgbClr val="FF0000"/>
                  </a:solidFill>
                </a:rPr>
                <a:t>f</a:t>
              </a:r>
              <a:r>
                <a:rPr lang="en-US" altLang="zh-CN" sz="2000" baseline="-25000">
                  <a:solidFill>
                    <a:srgbClr val="FF0000"/>
                  </a:solidFill>
                </a:rPr>
                <a:t>0</a:t>
              </a:r>
              <a:endParaRPr lang="en-US" altLang="zh-CN" sz="2000">
                <a:solidFill>
                  <a:srgbClr val="FF0000"/>
                </a:solidFill>
              </a:endParaRPr>
            </a:p>
          </p:txBody>
        </p:sp>
        <p:sp>
          <p:nvSpPr>
            <p:cNvPr id="69646" name="Line 10"/>
            <p:cNvSpPr>
              <a:spLocks noChangeShapeType="1"/>
            </p:cNvSpPr>
            <p:nvPr/>
          </p:nvSpPr>
          <p:spPr bwMode="auto">
            <a:xfrm>
              <a:off x="1200" y="3621"/>
              <a:ext cx="912" cy="0"/>
            </a:xfrm>
            <a:prstGeom prst="line">
              <a:avLst/>
            </a:prstGeom>
            <a:noFill/>
            <a:ln w="9525">
              <a:solidFill>
                <a:srgbClr val="CC33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7" name="Line 11"/>
            <p:cNvSpPr>
              <a:spLocks noChangeShapeType="1"/>
            </p:cNvSpPr>
            <p:nvPr/>
          </p:nvSpPr>
          <p:spPr bwMode="auto">
            <a:xfrm flipV="1">
              <a:off x="2090" y="3189"/>
              <a:ext cx="0" cy="432"/>
            </a:xfrm>
            <a:prstGeom prst="line">
              <a:avLst/>
            </a:prstGeom>
            <a:noFill/>
            <a:ln w="9525">
              <a:solidFill>
                <a:srgbClr val="CC33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8" name="Text Box 12"/>
            <p:cNvSpPr txBox="1">
              <a:spLocks noChangeArrowheads="1"/>
            </p:cNvSpPr>
            <p:nvPr/>
          </p:nvSpPr>
          <p:spPr bwMode="auto">
            <a:xfrm>
              <a:off x="1968" y="2949"/>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i="1">
                  <a:solidFill>
                    <a:srgbClr val="FF0000"/>
                  </a:solidFill>
                </a:rPr>
                <a:t>f</a:t>
              </a:r>
              <a:r>
                <a:rPr lang="en-US" altLang="zh-CN" sz="2000" i="1" baseline="-25000">
                  <a:solidFill>
                    <a:srgbClr val="FF0000"/>
                  </a:solidFill>
                </a:rPr>
                <a:t>c</a:t>
              </a:r>
              <a:endParaRPr lang="en-US" altLang="zh-CN" sz="2000" i="1">
                <a:solidFill>
                  <a:srgbClr val="FF0000"/>
                </a:solidFill>
              </a:endParaRPr>
            </a:p>
          </p:txBody>
        </p:sp>
        <p:sp>
          <p:nvSpPr>
            <p:cNvPr id="69649" name="Oval 13"/>
            <p:cNvSpPr>
              <a:spLocks noChangeArrowheads="1"/>
            </p:cNvSpPr>
            <p:nvPr/>
          </p:nvSpPr>
          <p:spPr bwMode="auto">
            <a:xfrm>
              <a:off x="2064" y="3189"/>
              <a:ext cx="48" cy="48"/>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grpSp>
      <p:grpSp>
        <p:nvGrpSpPr>
          <p:cNvPr id="729102" name="Group 14"/>
          <p:cNvGrpSpPr>
            <a:grpSpLocks/>
          </p:cNvGrpSpPr>
          <p:nvPr/>
        </p:nvGrpSpPr>
        <p:grpSpPr bwMode="auto">
          <a:xfrm>
            <a:off x="4889500" y="3850575"/>
            <a:ext cx="2438400" cy="1828800"/>
            <a:chOff x="3072" y="2469"/>
            <a:chExt cx="1536" cy="1152"/>
          </a:xfrm>
        </p:grpSpPr>
        <p:sp>
          <p:nvSpPr>
            <p:cNvPr id="69640" name="Text Box 15"/>
            <p:cNvSpPr txBox="1">
              <a:spLocks noChangeArrowheads="1"/>
            </p:cNvSpPr>
            <p:nvPr/>
          </p:nvSpPr>
          <p:spPr bwMode="auto">
            <a:xfrm>
              <a:off x="4320" y="2469"/>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i="1">
                  <a:solidFill>
                    <a:srgbClr val="FF3300"/>
                  </a:solidFill>
                </a:rPr>
                <a:t>f</a:t>
              </a:r>
              <a:r>
                <a:rPr lang="en-US" altLang="zh-CN" sz="2000" baseline="-25000">
                  <a:solidFill>
                    <a:srgbClr val="FF3300"/>
                  </a:solidFill>
                </a:rPr>
                <a:t>0</a:t>
              </a:r>
              <a:endParaRPr lang="en-US" altLang="zh-CN" sz="2000">
                <a:solidFill>
                  <a:srgbClr val="FF3300"/>
                </a:solidFill>
              </a:endParaRPr>
            </a:p>
          </p:txBody>
        </p:sp>
        <p:sp>
          <p:nvSpPr>
            <p:cNvPr id="69641" name="Line 16"/>
            <p:cNvSpPr>
              <a:spLocks noChangeShapeType="1"/>
            </p:cNvSpPr>
            <p:nvPr/>
          </p:nvSpPr>
          <p:spPr bwMode="auto">
            <a:xfrm>
              <a:off x="3072" y="3621"/>
              <a:ext cx="1440" cy="0"/>
            </a:xfrm>
            <a:prstGeom prst="line">
              <a:avLst/>
            </a:prstGeom>
            <a:noFill/>
            <a:ln w="9525">
              <a:solidFill>
                <a:srgbClr val="CC33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2" name="Line 17"/>
            <p:cNvSpPr>
              <a:spLocks noChangeShapeType="1"/>
            </p:cNvSpPr>
            <p:nvPr/>
          </p:nvSpPr>
          <p:spPr bwMode="auto">
            <a:xfrm flipV="1">
              <a:off x="4500" y="3189"/>
              <a:ext cx="0" cy="432"/>
            </a:xfrm>
            <a:prstGeom prst="line">
              <a:avLst/>
            </a:prstGeom>
            <a:noFill/>
            <a:ln w="9525">
              <a:solidFill>
                <a:srgbClr val="CC33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3" name="Text Box 18"/>
            <p:cNvSpPr txBox="1">
              <a:spLocks noChangeArrowheads="1"/>
            </p:cNvSpPr>
            <p:nvPr/>
          </p:nvSpPr>
          <p:spPr bwMode="auto">
            <a:xfrm>
              <a:off x="4368" y="2949"/>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i="1">
                  <a:solidFill>
                    <a:srgbClr val="FF3300"/>
                  </a:solidFill>
                </a:rPr>
                <a:t>f</a:t>
              </a:r>
              <a:r>
                <a:rPr lang="en-US" altLang="zh-CN" sz="2000" i="1" baseline="-25000">
                  <a:solidFill>
                    <a:srgbClr val="FF3300"/>
                  </a:solidFill>
                </a:rPr>
                <a:t>c</a:t>
              </a:r>
              <a:endParaRPr lang="en-US" altLang="zh-CN" sz="2000" i="1">
                <a:solidFill>
                  <a:srgbClr val="FF3300"/>
                </a:solidFill>
              </a:endParaRPr>
            </a:p>
          </p:txBody>
        </p:sp>
        <p:sp>
          <p:nvSpPr>
            <p:cNvPr id="69644" name="Oval 19"/>
            <p:cNvSpPr>
              <a:spLocks noChangeArrowheads="1"/>
            </p:cNvSpPr>
            <p:nvPr/>
          </p:nvSpPr>
          <p:spPr bwMode="auto">
            <a:xfrm>
              <a:off x="4470" y="3195"/>
              <a:ext cx="48" cy="48"/>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9093">
                                            <p:txEl>
                                              <p:pRg st="0" end="0"/>
                                            </p:txEl>
                                          </p:spTgt>
                                        </p:tgtEl>
                                        <p:attrNameLst>
                                          <p:attrName>style.visibility</p:attrName>
                                        </p:attrNameLst>
                                      </p:cBhvr>
                                      <p:to>
                                        <p:strVal val="visible"/>
                                      </p:to>
                                    </p:set>
                                    <p:animEffect transition="in" filter="wipe(left)">
                                      <p:cBhvr>
                                        <p:cTn id="7" dur="500"/>
                                        <p:tgtEl>
                                          <p:spTgt spid="72909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29093">
                                            <p:txEl>
                                              <p:pRg st="1" end="1"/>
                                            </p:txEl>
                                          </p:spTgt>
                                        </p:tgtEl>
                                        <p:attrNameLst>
                                          <p:attrName>style.visibility</p:attrName>
                                        </p:attrNameLst>
                                      </p:cBhvr>
                                      <p:to>
                                        <p:strVal val="visible"/>
                                      </p:to>
                                    </p:set>
                                    <p:animEffect transition="in" filter="wipe(left)">
                                      <p:cBhvr>
                                        <p:cTn id="12" dur="500"/>
                                        <p:tgtEl>
                                          <p:spTgt spid="72909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29094"/>
                                        </p:tgtEl>
                                        <p:attrNameLst>
                                          <p:attrName>style.visibility</p:attrName>
                                        </p:attrNameLst>
                                      </p:cBhvr>
                                      <p:to>
                                        <p:strVal val="visible"/>
                                      </p:to>
                                    </p:set>
                                    <p:animEffect transition="in" filter="wipe(left)">
                                      <p:cBhvr>
                                        <p:cTn id="17" dur="500"/>
                                        <p:tgtEl>
                                          <p:spTgt spid="7290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729096"/>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729095"/>
                                        </p:tgtEl>
                                        <p:attrNameLst>
                                          <p:attrName>style.visibility</p:attrName>
                                        </p:attrNameLst>
                                      </p:cBhvr>
                                      <p:to>
                                        <p:strVal val="visible"/>
                                      </p:to>
                                    </p:set>
                                    <p:animEffect transition="in" filter="wipe(left)">
                                      <p:cBhvr>
                                        <p:cTn id="26" dur="500"/>
                                        <p:tgtEl>
                                          <p:spTgt spid="72909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29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9093"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222250" y="446088"/>
            <a:ext cx="7467600" cy="609600"/>
          </a:xfrm>
          <a:extLst>
            <a:ext uri="{909E8E84-426E-40DD-AFC4-6F175D3DCCD1}">
              <a14:hiddenFill xmlns:a14="http://schemas.microsoft.com/office/drawing/2010/main">
                <a:gradFill rotWithShape="0">
                  <a:gsLst>
                    <a:gs pos="0">
                      <a:srgbClr val="76765E"/>
                    </a:gs>
                    <a:gs pos="50000">
                      <a:srgbClr val="FFFFCC"/>
                    </a:gs>
                    <a:gs pos="100000">
                      <a:srgbClr val="76765E"/>
                    </a:gs>
                  </a:gsLst>
                  <a:lin ang="5400000" scaled="1"/>
                </a:gradFill>
              </a14:hiddenFill>
            </a:ext>
          </a:extLst>
        </p:spPr>
        <p:txBody>
          <a:bodyPr/>
          <a:lstStyle/>
          <a:p>
            <a:pPr algn="l" eaLnBrk="1" hangingPunct="1"/>
            <a:r>
              <a:rPr lang="zh-CN" altLang="en-US" sz="2000" b="1" dirty="0" smtClean="0"/>
              <a:t>稳定性的判断</a:t>
            </a:r>
          </a:p>
        </p:txBody>
      </p:sp>
      <p:graphicFrame>
        <p:nvGraphicFramePr>
          <p:cNvPr id="70659" name="Object 3"/>
          <p:cNvGraphicFramePr>
            <a:graphicFrameLocks noChangeAspect="1"/>
          </p:cNvGraphicFramePr>
          <p:nvPr/>
        </p:nvGraphicFramePr>
        <p:xfrm>
          <a:off x="1187450" y="1412875"/>
          <a:ext cx="2895600" cy="3770313"/>
        </p:xfrm>
        <a:graphic>
          <a:graphicData uri="http://schemas.openxmlformats.org/presentationml/2006/ole">
            <mc:AlternateContent xmlns:mc="http://schemas.openxmlformats.org/markup-compatibility/2006">
              <mc:Choice xmlns:v="urn:schemas-microsoft-com:vml" Requires="v">
                <p:oleObj spid="_x0000_s71131" name="Photo Editor 照片" r:id="rId3" imgW="24733333" imgH="15933333" progId="MSPhotoEd.3">
                  <p:embed/>
                </p:oleObj>
              </mc:Choice>
              <mc:Fallback>
                <p:oleObj name="Photo Editor 照片" r:id="rId3" imgW="24733333" imgH="15933333" progId="MSPhotoEd.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r="53087"/>
                      <a:stretch>
                        <a:fillRect/>
                      </a:stretch>
                    </p:blipFill>
                    <p:spPr bwMode="auto">
                      <a:xfrm>
                        <a:off x="1187450" y="1412875"/>
                        <a:ext cx="2895600" cy="377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0660" name="Text Box 4"/>
          <p:cNvSpPr txBox="1">
            <a:spLocks noChangeArrowheads="1"/>
          </p:cNvSpPr>
          <p:nvPr/>
        </p:nvSpPr>
        <p:spPr bwMode="auto">
          <a:xfrm>
            <a:off x="3397250" y="2741613"/>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i="1">
                <a:solidFill>
                  <a:srgbClr val="FF3300"/>
                </a:solidFill>
              </a:rPr>
              <a:t>f</a:t>
            </a:r>
            <a:r>
              <a:rPr lang="en-US" altLang="zh-CN" sz="2000" baseline="-25000">
                <a:solidFill>
                  <a:srgbClr val="FF3300"/>
                </a:solidFill>
              </a:rPr>
              <a:t>0</a:t>
            </a:r>
            <a:endParaRPr lang="en-US" altLang="zh-CN" sz="2000">
              <a:solidFill>
                <a:srgbClr val="FF3300"/>
              </a:solidFill>
            </a:endParaRPr>
          </a:p>
        </p:txBody>
      </p:sp>
      <p:sp>
        <p:nvSpPr>
          <p:cNvPr id="70661" name="Line 5"/>
          <p:cNvSpPr>
            <a:spLocks noChangeShapeType="1"/>
          </p:cNvSpPr>
          <p:nvPr/>
        </p:nvSpPr>
        <p:spPr bwMode="auto">
          <a:xfrm flipV="1">
            <a:off x="1693334" y="4582582"/>
            <a:ext cx="1440392" cy="1"/>
          </a:xfrm>
          <a:prstGeom prst="line">
            <a:avLst/>
          </a:prstGeom>
          <a:noFill/>
          <a:ln w="9525">
            <a:solidFill>
              <a:srgbClr val="CC33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62" name="Line 6"/>
          <p:cNvSpPr>
            <a:spLocks noChangeShapeType="1"/>
          </p:cNvSpPr>
          <p:nvPr/>
        </p:nvSpPr>
        <p:spPr bwMode="auto">
          <a:xfrm flipV="1">
            <a:off x="3136903" y="3892550"/>
            <a:ext cx="0" cy="685800"/>
          </a:xfrm>
          <a:prstGeom prst="line">
            <a:avLst/>
          </a:prstGeom>
          <a:noFill/>
          <a:ln w="9525">
            <a:solidFill>
              <a:srgbClr val="CC33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63" name="Text Box 7"/>
          <p:cNvSpPr txBox="1">
            <a:spLocks noChangeArrowheads="1"/>
          </p:cNvSpPr>
          <p:nvPr/>
        </p:nvSpPr>
        <p:spPr bwMode="auto">
          <a:xfrm>
            <a:off x="2811463" y="3475038"/>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i="1">
                <a:solidFill>
                  <a:srgbClr val="FF3300"/>
                </a:solidFill>
              </a:rPr>
              <a:t>f</a:t>
            </a:r>
            <a:r>
              <a:rPr lang="en-US" altLang="zh-CN" sz="2000" i="1" baseline="-25000">
                <a:solidFill>
                  <a:srgbClr val="FF3300"/>
                </a:solidFill>
              </a:rPr>
              <a:t>c</a:t>
            </a:r>
            <a:endParaRPr lang="en-US" altLang="zh-CN" sz="2000" i="1">
              <a:solidFill>
                <a:srgbClr val="FF3300"/>
              </a:solidFill>
            </a:endParaRPr>
          </a:p>
        </p:txBody>
      </p:sp>
      <p:grpSp>
        <p:nvGrpSpPr>
          <p:cNvPr id="730120" name="Group 8"/>
          <p:cNvGrpSpPr>
            <a:grpSpLocks/>
          </p:cNvGrpSpPr>
          <p:nvPr/>
        </p:nvGrpSpPr>
        <p:grpSpPr bwMode="auto">
          <a:xfrm>
            <a:off x="1668462" y="2561167"/>
            <a:ext cx="1466854" cy="1366309"/>
            <a:chOff x="1056" y="1513"/>
            <a:chExt cx="934" cy="887"/>
          </a:xfrm>
        </p:grpSpPr>
        <p:sp>
          <p:nvSpPr>
            <p:cNvPr id="70697" name="Line 9"/>
            <p:cNvSpPr>
              <a:spLocks noChangeShapeType="1"/>
            </p:cNvSpPr>
            <p:nvPr/>
          </p:nvSpPr>
          <p:spPr bwMode="auto">
            <a:xfrm flipH="1" flipV="1">
              <a:off x="1988" y="1513"/>
              <a:ext cx="2" cy="887"/>
            </a:xfrm>
            <a:prstGeom prst="line">
              <a:avLst/>
            </a:prstGeom>
            <a:noFill/>
            <a:ln w="9525">
              <a:solidFill>
                <a:schemeClr val="accent2"/>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98" name="Line 10"/>
            <p:cNvSpPr>
              <a:spLocks noChangeShapeType="1"/>
            </p:cNvSpPr>
            <p:nvPr/>
          </p:nvSpPr>
          <p:spPr bwMode="auto">
            <a:xfrm flipH="1">
              <a:off x="1056" y="1513"/>
              <a:ext cx="912" cy="0"/>
            </a:xfrm>
            <a:prstGeom prst="line">
              <a:avLst/>
            </a:prstGeom>
            <a:noFill/>
            <a:ln w="9525">
              <a:solidFill>
                <a:schemeClr val="accent2"/>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0665" name="Oval 11"/>
          <p:cNvSpPr>
            <a:spLocks noChangeArrowheads="1"/>
          </p:cNvSpPr>
          <p:nvPr/>
        </p:nvSpPr>
        <p:spPr bwMode="auto">
          <a:xfrm>
            <a:off x="3092450" y="3886200"/>
            <a:ext cx="76200" cy="76200"/>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sp>
        <p:nvSpPr>
          <p:cNvPr id="730124" name="AutoShape 12"/>
          <p:cNvSpPr>
            <a:spLocks/>
          </p:cNvSpPr>
          <p:nvPr/>
        </p:nvSpPr>
        <p:spPr bwMode="auto">
          <a:xfrm>
            <a:off x="2973388" y="1538288"/>
            <a:ext cx="1019175" cy="682625"/>
          </a:xfrm>
          <a:prstGeom prst="borderCallout1">
            <a:avLst>
              <a:gd name="adj1" fmla="val 16745"/>
              <a:gd name="adj2" fmla="val -7477"/>
              <a:gd name="adj3" fmla="val 148915"/>
              <a:gd name="adj4" fmla="val -127517"/>
            </a:avLst>
          </a:prstGeom>
          <a:solidFill>
            <a:srgbClr val="FFFFCC"/>
          </a:solidFill>
          <a:ln w="1905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a:t>满足起振条件</a:t>
            </a:r>
          </a:p>
        </p:txBody>
      </p:sp>
      <p:sp>
        <p:nvSpPr>
          <p:cNvPr id="730125" name="Text Box 13"/>
          <p:cNvSpPr txBox="1">
            <a:spLocks noChangeArrowheads="1"/>
          </p:cNvSpPr>
          <p:nvPr/>
        </p:nvSpPr>
        <p:spPr bwMode="auto">
          <a:xfrm>
            <a:off x="1731963" y="4986338"/>
            <a:ext cx="1752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50000"/>
              </a:spcBef>
              <a:buFontTx/>
              <a:buNone/>
            </a:pPr>
            <a:r>
              <a:rPr lang="zh-CN" altLang="en-US" sz="2000" dirty="0">
                <a:solidFill>
                  <a:srgbClr val="990033"/>
                </a:solidFill>
              </a:rPr>
              <a:t>电路不稳定</a:t>
            </a:r>
          </a:p>
        </p:txBody>
      </p:sp>
      <p:sp>
        <p:nvSpPr>
          <p:cNvPr id="70668" name="Text Box 14"/>
          <p:cNvSpPr txBox="1">
            <a:spLocks noChangeArrowheads="1"/>
          </p:cNvSpPr>
          <p:nvPr/>
        </p:nvSpPr>
        <p:spPr bwMode="auto">
          <a:xfrm>
            <a:off x="5226050" y="4841875"/>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zh-CN" altLang="en-US" sz="2400">
                <a:solidFill>
                  <a:srgbClr val="D60093"/>
                </a:solidFill>
              </a:rPr>
              <a:t>电路稳定</a:t>
            </a:r>
          </a:p>
        </p:txBody>
      </p:sp>
      <p:sp>
        <p:nvSpPr>
          <p:cNvPr id="730127" name="Text Box 15"/>
          <p:cNvSpPr txBox="1">
            <a:spLocks noChangeArrowheads="1"/>
          </p:cNvSpPr>
          <p:nvPr/>
        </p:nvSpPr>
        <p:spPr bwMode="auto">
          <a:xfrm>
            <a:off x="1720850" y="5700713"/>
            <a:ext cx="5648325" cy="861774"/>
          </a:xfrm>
          <a:prstGeom prst="rect">
            <a:avLst/>
          </a:prstGeom>
          <a:solidFill>
            <a:srgbClr val="66FFFF"/>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i="1"/>
              <a:t>f</a:t>
            </a:r>
            <a:r>
              <a:rPr lang="en-US" altLang="zh-CN" sz="2000" baseline="-25000"/>
              <a:t>0 </a:t>
            </a:r>
            <a:r>
              <a:rPr lang="en-US" altLang="zh-CN" sz="2000"/>
              <a:t>&gt; </a:t>
            </a:r>
            <a:r>
              <a:rPr lang="en-US" altLang="zh-CN" sz="2000" i="1"/>
              <a:t>f</a:t>
            </a:r>
            <a:r>
              <a:rPr lang="en-US" altLang="zh-CN" sz="2000" baseline="-25000"/>
              <a:t>c</a:t>
            </a:r>
            <a:r>
              <a:rPr lang="zh-CN" altLang="en-US" sz="2000"/>
              <a:t>，电路不稳定，会产生自激振荡； </a:t>
            </a:r>
          </a:p>
          <a:p>
            <a:pPr eaLnBrk="1" hangingPunct="1">
              <a:spcBef>
                <a:spcPct val="50000"/>
              </a:spcBef>
              <a:buFontTx/>
              <a:buNone/>
            </a:pPr>
            <a:r>
              <a:rPr lang="en-US" altLang="zh-CN" sz="2000" i="1"/>
              <a:t>f</a:t>
            </a:r>
            <a:r>
              <a:rPr lang="en-US" altLang="zh-CN" sz="2000" baseline="-25000"/>
              <a:t>0 </a:t>
            </a:r>
            <a:r>
              <a:rPr lang="en-US" altLang="zh-CN" sz="2000"/>
              <a:t>&lt;</a:t>
            </a:r>
            <a:r>
              <a:rPr lang="en-US" altLang="zh-CN" sz="2000" baseline="-25000"/>
              <a:t> </a:t>
            </a:r>
            <a:r>
              <a:rPr lang="en-US" altLang="zh-CN" sz="2000"/>
              <a:t> </a:t>
            </a:r>
            <a:r>
              <a:rPr lang="en-US" altLang="zh-CN" sz="2000" i="1"/>
              <a:t>f</a:t>
            </a:r>
            <a:r>
              <a:rPr lang="en-US" altLang="zh-CN" sz="2000" baseline="-25000"/>
              <a:t>c</a:t>
            </a:r>
            <a:r>
              <a:rPr lang="zh-CN" altLang="en-US" sz="2000"/>
              <a:t>，电路稳定，不会产生自激振荡。</a:t>
            </a:r>
          </a:p>
        </p:txBody>
      </p:sp>
      <p:grpSp>
        <p:nvGrpSpPr>
          <p:cNvPr id="70670" name="Group 16"/>
          <p:cNvGrpSpPr>
            <a:grpSpLocks/>
          </p:cNvGrpSpPr>
          <p:nvPr/>
        </p:nvGrpSpPr>
        <p:grpSpPr bwMode="auto">
          <a:xfrm>
            <a:off x="4179888" y="1530350"/>
            <a:ext cx="3200400" cy="3770313"/>
            <a:chOff x="2304" y="672"/>
            <a:chExt cx="2016" cy="2375"/>
          </a:xfrm>
        </p:grpSpPr>
        <p:graphicFrame>
          <p:nvGraphicFramePr>
            <p:cNvPr id="70691" name="Object 17"/>
            <p:cNvGraphicFramePr>
              <a:graphicFrameLocks noChangeAspect="1"/>
            </p:cNvGraphicFramePr>
            <p:nvPr/>
          </p:nvGraphicFramePr>
          <p:xfrm>
            <a:off x="2304" y="672"/>
            <a:ext cx="2016" cy="2375"/>
          </p:xfrm>
          <a:graphic>
            <a:graphicData uri="http://schemas.openxmlformats.org/presentationml/2006/ole">
              <mc:AlternateContent xmlns:mc="http://schemas.openxmlformats.org/markup-compatibility/2006">
                <mc:Choice xmlns:v="urn:schemas-microsoft-com:vml" Requires="v">
                  <p:oleObj spid="_x0000_s71132" name="Photo Editor 照片" r:id="rId5" imgW="24733333" imgH="15933333" progId="MSPhotoEd.3">
                    <p:embed/>
                  </p:oleObj>
                </mc:Choice>
                <mc:Fallback>
                  <p:oleObj name="Photo Editor 照片" r:id="rId5" imgW="24733333" imgH="15933333" progId="MSPhotoEd.3">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l="48148"/>
                        <a:stretch>
                          <a:fillRect/>
                        </a:stretch>
                      </p:blipFill>
                      <p:spPr bwMode="auto">
                        <a:xfrm>
                          <a:off x="2304" y="672"/>
                          <a:ext cx="2016" cy="2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0692" name="Text Box 18"/>
            <p:cNvSpPr txBox="1">
              <a:spLocks noChangeArrowheads="1"/>
            </p:cNvSpPr>
            <p:nvPr/>
          </p:nvSpPr>
          <p:spPr bwMode="auto">
            <a:xfrm>
              <a:off x="3888" y="1509"/>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i="1">
                  <a:solidFill>
                    <a:srgbClr val="FF3300"/>
                  </a:solidFill>
                </a:rPr>
                <a:t>f</a:t>
              </a:r>
              <a:r>
                <a:rPr lang="en-US" altLang="zh-CN" sz="2000" baseline="-25000">
                  <a:solidFill>
                    <a:srgbClr val="FF3300"/>
                  </a:solidFill>
                </a:rPr>
                <a:t>0</a:t>
              </a:r>
              <a:endParaRPr lang="en-US" altLang="zh-CN" sz="2000">
                <a:solidFill>
                  <a:srgbClr val="FF3300"/>
                </a:solidFill>
              </a:endParaRPr>
            </a:p>
          </p:txBody>
        </p:sp>
        <p:sp>
          <p:nvSpPr>
            <p:cNvPr id="70693" name="Line 19"/>
            <p:cNvSpPr>
              <a:spLocks noChangeShapeType="1"/>
            </p:cNvSpPr>
            <p:nvPr/>
          </p:nvSpPr>
          <p:spPr bwMode="auto">
            <a:xfrm>
              <a:off x="2640" y="2661"/>
              <a:ext cx="1440" cy="0"/>
            </a:xfrm>
            <a:prstGeom prst="line">
              <a:avLst/>
            </a:prstGeom>
            <a:noFill/>
            <a:ln w="9525">
              <a:solidFill>
                <a:srgbClr val="CC33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94" name="Line 20"/>
            <p:cNvSpPr>
              <a:spLocks noChangeShapeType="1"/>
            </p:cNvSpPr>
            <p:nvPr/>
          </p:nvSpPr>
          <p:spPr bwMode="auto">
            <a:xfrm flipV="1">
              <a:off x="4068" y="2229"/>
              <a:ext cx="0" cy="432"/>
            </a:xfrm>
            <a:prstGeom prst="line">
              <a:avLst/>
            </a:prstGeom>
            <a:noFill/>
            <a:ln w="9525">
              <a:solidFill>
                <a:srgbClr val="CC33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95" name="Text Box 21"/>
            <p:cNvSpPr txBox="1">
              <a:spLocks noChangeArrowheads="1"/>
            </p:cNvSpPr>
            <p:nvPr/>
          </p:nvSpPr>
          <p:spPr bwMode="auto">
            <a:xfrm>
              <a:off x="3840" y="2016"/>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i="1">
                  <a:solidFill>
                    <a:srgbClr val="FF3300"/>
                  </a:solidFill>
                </a:rPr>
                <a:t>f</a:t>
              </a:r>
              <a:r>
                <a:rPr lang="en-US" altLang="zh-CN" sz="2000" i="1" baseline="-25000">
                  <a:solidFill>
                    <a:srgbClr val="FF3300"/>
                  </a:solidFill>
                </a:rPr>
                <a:t>c</a:t>
              </a:r>
              <a:endParaRPr lang="en-US" altLang="zh-CN" sz="2000" i="1">
                <a:solidFill>
                  <a:srgbClr val="FF3300"/>
                </a:solidFill>
              </a:endParaRPr>
            </a:p>
          </p:txBody>
        </p:sp>
        <p:sp>
          <p:nvSpPr>
            <p:cNvPr id="70696" name="Oval 22"/>
            <p:cNvSpPr>
              <a:spLocks noChangeArrowheads="1"/>
            </p:cNvSpPr>
            <p:nvPr/>
          </p:nvSpPr>
          <p:spPr bwMode="auto">
            <a:xfrm>
              <a:off x="4038" y="2235"/>
              <a:ext cx="48" cy="48"/>
            </a:xfrm>
            <a:prstGeom prst="ellipse">
              <a:avLst/>
            </a:prstGeom>
            <a:solidFill>
              <a:srgbClr val="FF3300"/>
            </a:solidFill>
            <a:ln w="9525">
              <a:solidFill>
                <a:srgbClr val="FF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grpSp>
      <p:grpSp>
        <p:nvGrpSpPr>
          <p:cNvPr id="730135" name="Group 23"/>
          <p:cNvGrpSpPr>
            <a:grpSpLocks/>
          </p:cNvGrpSpPr>
          <p:nvPr/>
        </p:nvGrpSpPr>
        <p:grpSpPr bwMode="auto">
          <a:xfrm>
            <a:off x="6999288" y="3089275"/>
            <a:ext cx="1066800" cy="803275"/>
            <a:chOff x="4429" y="1872"/>
            <a:chExt cx="672" cy="506"/>
          </a:xfrm>
        </p:grpSpPr>
        <p:grpSp>
          <p:nvGrpSpPr>
            <p:cNvPr id="70685" name="Group 24"/>
            <p:cNvGrpSpPr>
              <a:grpSpLocks/>
            </p:cNvGrpSpPr>
            <p:nvPr/>
          </p:nvGrpSpPr>
          <p:grpSpPr bwMode="auto">
            <a:xfrm>
              <a:off x="4429" y="1872"/>
              <a:ext cx="480" cy="506"/>
              <a:chOff x="4080" y="1654"/>
              <a:chExt cx="480" cy="506"/>
            </a:xfrm>
          </p:grpSpPr>
          <p:sp>
            <p:nvSpPr>
              <p:cNvPr id="70687" name="Line 25"/>
              <p:cNvSpPr>
                <a:spLocks noChangeShapeType="1"/>
              </p:cNvSpPr>
              <p:nvPr/>
            </p:nvSpPr>
            <p:spPr bwMode="auto">
              <a:xfrm>
                <a:off x="4080" y="2016"/>
                <a:ext cx="48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88" name="Line 26"/>
              <p:cNvSpPr>
                <a:spLocks noChangeShapeType="1"/>
              </p:cNvSpPr>
              <p:nvPr/>
            </p:nvSpPr>
            <p:spPr bwMode="auto">
              <a:xfrm>
                <a:off x="4464" y="1654"/>
                <a:ext cx="0" cy="144"/>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89" name="Line 27"/>
              <p:cNvSpPr>
                <a:spLocks noChangeShapeType="1"/>
              </p:cNvSpPr>
              <p:nvPr/>
            </p:nvSpPr>
            <p:spPr bwMode="auto">
              <a:xfrm flipV="1">
                <a:off x="4464" y="2016"/>
                <a:ext cx="0" cy="144"/>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90" name="Line 28"/>
              <p:cNvSpPr>
                <a:spLocks noChangeShapeType="1"/>
              </p:cNvSpPr>
              <p:nvPr/>
            </p:nvSpPr>
            <p:spPr bwMode="auto">
              <a:xfrm>
                <a:off x="4223" y="1802"/>
                <a:ext cx="336"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0686" name="Text Box 29"/>
            <p:cNvSpPr txBox="1">
              <a:spLocks noChangeArrowheads="1"/>
            </p:cNvSpPr>
            <p:nvPr/>
          </p:nvSpPr>
          <p:spPr bwMode="auto">
            <a:xfrm>
              <a:off x="4621" y="1994"/>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800" i="1">
                  <a:solidFill>
                    <a:schemeClr val="accent2"/>
                  </a:solidFill>
                </a:rPr>
                <a:t>  L</a:t>
              </a:r>
              <a:endParaRPr lang="en-US" altLang="zh-CN" sz="1800">
                <a:solidFill>
                  <a:schemeClr val="accent2"/>
                </a:solidFill>
              </a:endParaRPr>
            </a:p>
          </p:txBody>
        </p:sp>
      </p:grpSp>
      <p:sp>
        <p:nvSpPr>
          <p:cNvPr id="730142" name="AutoShape 30"/>
          <p:cNvSpPr>
            <a:spLocks/>
          </p:cNvSpPr>
          <p:nvPr/>
        </p:nvSpPr>
        <p:spPr bwMode="auto">
          <a:xfrm>
            <a:off x="7996239" y="2741612"/>
            <a:ext cx="787400" cy="724693"/>
          </a:xfrm>
          <a:prstGeom prst="borderCallout1">
            <a:avLst>
              <a:gd name="adj1" fmla="val 13236"/>
              <a:gd name="adj2" fmla="val -8134"/>
              <a:gd name="adj3" fmla="val 95725"/>
              <a:gd name="adj4" fmla="val -33585"/>
            </a:avLst>
          </a:prstGeom>
          <a:solidFill>
            <a:srgbClr val="FFFFCC"/>
          </a:solidFill>
          <a:ln w="1905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a:t>幅值裕度</a:t>
            </a:r>
          </a:p>
        </p:txBody>
      </p:sp>
      <p:grpSp>
        <p:nvGrpSpPr>
          <p:cNvPr id="730143" name="Group 31"/>
          <p:cNvGrpSpPr>
            <a:grpSpLocks/>
          </p:cNvGrpSpPr>
          <p:nvPr/>
        </p:nvGrpSpPr>
        <p:grpSpPr bwMode="auto">
          <a:xfrm>
            <a:off x="6694488" y="3359150"/>
            <a:ext cx="284162" cy="1219200"/>
            <a:chOff x="4237" y="2042"/>
            <a:chExt cx="179" cy="768"/>
          </a:xfrm>
        </p:grpSpPr>
        <p:sp>
          <p:nvSpPr>
            <p:cNvPr id="70683" name="Line 32"/>
            <p:cNvSpPr>
              <a:spLocks noChangeShapeType="1"/>
            </p:cNvSpPr>
            <p:nvPr/>
          </p:nvSpPr>
          <p:spPr bwMode="auto">
            <a:xfrm flipV="1">
              <a:off x="4416" y="2234"/>
              <a:ext cx="0" cy="240"/>
            </a:xfrm>
            <a:prstGeom prst="line">
              <a:avLst/>
            </a:prstGeom>
            <a:noFill/>
            <a:ln w="9525">
              <a:solidFill>
                <a:schemeClr val="accent2"/>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84" name="Line 33"/>
            <p:cNvSpPr>
              <a:spLocks noChangeShapeType="1"/>
            </p:cNvSpPr>
            <p:nvPr/>
          </p:nvSpPr>
          <p:spPr bwMode="auto">
            <a:xfrm>
              <a:off x="4237" y="2042"/>
              <a:ext cx="0" cy="768"/>
            </a:xfrm>
            <a:prstGeom prst="line">
              <a:avLst/>
            </a:prstGeom>
            <a:noFill/>
            <a:ln w="9525">
              <a:solidFill>
                <a:schemeClr val="accent2"/>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30156" name="Group 44"/>
          <p:cNvGrpSpPr>
            <a:grpSpLocks/>
          </p:cNvGrpSpPr>
          <p:nvPr/>
        </p:nvGrpSpPr>
        <p:grpSpPr bwMode="auto">
          <a:xfrm>
            <a:off x="5407025" y="4251325"/>
            <a:ext cx="1287463" cy="669925"/>
            <a:chOff x="3406" y="2678"/>
            <a:chExt cx="811" cy="422"/>
          </a:xfrm>
        </p:grpSpPr>
        <p:sp>
          <p:nvSpPr>
            <p:cNvPr id="70679" name="Line 35"/>
            <p:cNvSpPr>
              <a:spLocks noChangeShapeType="1"/>
            </p:cNvSpPr>
            <p:nvPr/>
          </p:nvSpPr>
          <p:spPr bwMode="auto">
            <a:xfrm flipH="1">
              <a:off x="3406" y="2821"/>
              <a:ext cx="811" cy="0"/>
            </a:xfrm>
            <a:prstGeom prst="line">
              <a:avLst/>
            </a:prstGeom>
            <a:noFill/>
            <a:ln w="63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80" name="Line 37"/>
            <p:cNvSpPr>
              <a:spLocks noChangeShapeType="1"/>
            </p:cNvSpPr>
            <p:nvPr/>
          </p:nvSpPr>
          <p:spPr bwMode="auto">
            <a:xfrm>
              <a:off x="3731" y="2678"/>
              <a:ext cx="0" cy="144"/>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81" name="Line 38"/>
            <p:cNvSpPr>
              <a:spLocks noChangeShapeType="1"/>
            </p:cNvSpPr>
            <p:nvPr/>
          </p:nvSpPr>
          <p:spPr bwMode="auto">
            <a:xfrm flipV="1">
              <a:off x="3731" y="2956"/>
              <a:ext cx="0" cy="144"/>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82" name="Text Box 39"/>
            <p:cNvSpPr txBox="1">
              <a:spLocks noChangeArrowheads="1"/>
            </p:cNvSpPr>
            <p:nvPr/>
          </p:nvSpPr>
          <p:spPr bwMode="auto">
            <a:xfrm>
              <a:off x="3574" y="2770"/>
              <a:ext cx="4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1600">
                  <a:latin typeface="Symbol" pitchFamily="18" charset="2"/>
                  <a:cs typeface="Times New Roman" pitchFamily="18" charset="0"/>
                </a:rPr>
                <a:t>D</a:t>
              </a:r>
              <a:r>
                <a:rPr lang="el-GR" altLang="zh-CN" sz="1600" i="1">
                  <a:cs typeface="Times New Roman" pitchFamily="18" charset="0"/>
                  <a:sym typeface="Symbol" pitchFamily="18" charset="2"/>
                </a:rPr>
                <a:t></a:t>
              </a:r>
            </a:p>
          </p:txBody>
        </p:sp>
      </p:grpSp>
      <p:sp>
        <p:nvSpPr>
          <p:cNvPr id="730152" name="AutoShape 40"/>
          <p:cNvSpPr>
            <a:spLocks/>
          </p:cNvSpPr>
          <p:nvPr/>
        </p:nvSpPr>
        <p:spPr bwMode="auto">
          <a:xfrm>
            <a:off x="7204075" y="4841875"/>
            <a:ext cx="1292225" cy="373063"/>
          </a:xfrm>
          <a:prstGeom prst="borderCallout1">
            <a:avLst>
              <a:gd name="adj1" fmla="val 25000"/>
              <a:gd name="adj2" fmla="val -5000"/>
              <a:gd name="adj3" fmla="val -64134"/>
              <a:gd name="adj4" fmla="val -83822"/>
            </a:avLst>
          </a:prstGeom>
          <a:solidFill>
            <a:srgbClr val="FFFFCC"/>
          </a:solidFill>
          <a:ln w="1905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a:t>相位裕度</a:t>
            </a:r>
          </a:p>
        </p:txBody>
      </p:sp>
      <p:sp>
        <p:nvSpPr>
          <p:cNvPr id="730153" name="Text Box 41"/>
          <p:cNvSpPr txBox="1">
            <a:spLocks noChangeArrowheads="1"/>
          </p:cNvSpPr>
          <p:nvPr/>
        </p:nvSpPr>
        <p:spPr bwMode="auto">
          <a:xfrm>
            <a:off x="4972050" y="4986338"/>
            <a:ext cx="19431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50000"/>
              </a:spcBef>
              <a:buFontTx/>
              <a:buNone/>
            </a:pPr>
            <a:r>
              <a:rPr lang="zh-CN" altLang="en-US" sz="2000" dirty="0">
                <a:solidFill>
                  <a:srgbClr val="990033"/>
                </a:solidFill>
              </a:rPr>
              <a:t>电路稳定</a:t>
            </a:r>
          </a:p>
        </p:txBody>
      </p:sp>
      <p:sp>
        <p:nvSpPr>
          <p:cNvPr id="730154" name="Text Box 42"/>
          <p:cNvSpPr txBox="1">
            <a:spLocks noChangeArrowheads="1"/>
          </p:cNvSpPr>
          <p:nvPr/>
        </p:nvSpPr>
        <p:spPr bwMode="auto">
          <a:xfrm>
            <a:off x="4572001" y="352426"/>
            <a:ext cx="4211638"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50000"/>
              </a:spcBef>
              <a:buFontTx/>
              <a:buNone/>
            </a:pPr>
            <a:r>
              <a:rPr lang="zh-CN" altLang="en-US" sz="2000" dirty="0" smtClean="0">
                <a:solidFill>
                  <a:srgbClr val="990033"/>
                </a:solidFill>
              </a:rPr>
              <a:t>当 </a:t>
            </a:r>
            <a:r>
              <a:rPr lang="en-US" altLang="zh-CN" sz="2000" dirty="0" smtClean="0">
                <a:solidFill>
                  <a:srgbClr val="990033"/>
                </a:solidFill>
              </a:rPr>
              <a:t>|</a:t>
            </a:r>
            <a:r>
              <a:rPr lang="en-US" altLang="zh-CN" sz="2000" i="1" dirty="0">
                <a:solidFill>
                  <a:srgbClr val="990033"/>
                </a:solidFill>
              </a:rPr>
              <a:t>L</a:t>
            </a:r>
            <a:r>
              <a:rPr lang="en-US" altLang="zh-CN" sz="2000" i="1" dirty="0" smtClean="0">
                <a:solidFill>
                  <a:srgbClr val="990033"/>
                </a:solidFill>
              </a:rPr>
              <a:t>| </a:t>
            </a:r>
            <a:r>
              <a:rPr lang="en-US" altLang="zh-CN" sz="2000" dirty="0" smtClean="0">
                <a:solidFill>
                  <a:srgbClr val="990033"/>
                </a:solidFill>
                <a:latin typeface="宋体" pitchFamily="2" charset="-122"/>
              </a:rPr>
              <a:t>≥ </a:t>
            </a:r>
            <a:r>
              <a:rPr lang="en-US" altLang="zh-CN" sz="2000" dirty="0" smtClean="0">
                <a:solidFill>
                  <a:srgbClr val="990033"/>
                </a:solidFill>
              </a:rPr>
              <a:t>10 </a:t>
            </a:r>
            <a:r>
              <a:rPr lang="en-US" altLang="zh-CN" sz="2000" dirty="0">
                <a:solidFill>
                  <a:srgbClr val="990033"/>
                </a:solidFill>
              </a:rPr>
              <a:t>dB</a:t>
            </a:r>
            <a:r>
              <a:rPr lang="zh-CN" altLang="en-US" sz="2000" dirty="0" smtClean="0">
                <a:solidFill>
                  <a:srgbClr val="990033"/>
                </a:solidFill>
              </a:rPr>
              <a:t>且 </a:t>
            </a:r>
            <a:r>
              <a:rPr lang="en-US" altLang="zh-CN" sz="2000" dirty="0" smtClean="0">
                <a:solidFill>
                  <a:srgbClr val="990033"/>
                </a:solidFill>
                <a:latin typeface="Symbol" pitchFamily="18" charset="2"/>
              </a:rPr>
              <a:t>D</a:t>
            </a:r>
            <a:r>
              <a:rPr lang="el-GR" altLang="zh-CN" sz="2000" i="1" dirty="0" smtClean="0">
                <a:solidFill>
                  <a:srgbClr val="990033"/>
                </a:solidFill>
                <a:cs typeface="Times New Roman" pitchFamily="18" charset="0"/>
              </a:rPr>
              <a:t>φ</a:t>
            </a:r>
            <a:r>
              <a:rPr lang="en-US" altLang="zh-CN" sz="2000" i="1" dirty="0" smtClean="0">
                <a:solidFill>
                  <a:srgbClr val="990033"/>
                </a:solidFill>
                <a:cs typeface="Times New Roman" pitchFamily="18" charset="0"/>
              </a:rPr>
              <a:t> </a:t>
            </a:r>
            <a:r>
              <a:rPr lang="zh-CN" altLang="en-US" sz="2000" dirty="0" smtClean="0">
                <a:solidFill>
                  <a:srgbClr val="990033"/>
                </a:solidFill>
                <a:cs typeface="Times New Roman" pitchFamily="18" charset="0"/>
              </a:rPr>
              <a:t>＞ </a:t>
            </a:r>
            <a:r>
              <a:rPr lang="en-US" altLang="zh-CN" sz="2000" dirty="0" smtClean="0">
                <a:solidFill>
                  <a:srgbClr val="990033"/>
                </a:solidFill>
                <a:cs typeface="Times New Roman" pitchFamily="18" charset="0"/>
              </a:rPr>
              <a:t>45º </a:t>
            </a:r>
            <a:r>
              <a:rPr lang="zh-CN" altLang="en-US" sz="2000" dirty="0" smtClean="0">
                <a:solidFill>
                  <a:srgbClr val="990033"/>
                </a:solidFill>
                <a:cs typeface="Times New Roman" pitchFamily="18" charset="0"/>
              </a:rPr>
              <a:t>时，电路才具</a:t>
            </a:r>
            <a:r>
              <a:rPr lang="zh-CN" altLang="en-US" sz="2000" dirty="0">
                <a:solidFill>
                  <a:srgbClr val="990033"/>
                </a:solidFill>
                <a:cs typeface="Times New Roman" pitchFamily="18" charset="0"/>
              </a:rPr>
              <a:t>有可靠的稳定性。</a:t>
            </a:r>
          </a:p>
        </p:txBody>
      </p:sp>
      <p:sp>
        <p:nvSpPr>
          <p:cNvPr id="730155" name="AutoShape 43"/>
          <p:cNvSpPr>
            <a:spLocks/>
          </p:cNvSpPr>
          <p:nvPr/>
        </p:nvSpPr>
        <p:spPr bwMode="auto">
          <a:xfrm>
            <a:off x="7427119" y="1543049"/>
            <a:ext cx="1296988" cy="690563"/>
          </a:xfrm>
          <a:prstGeom prst="borderCallout1">
            <a:avLst>
              <a:gd name="adj1" fmla="val 16551"/>
              <a:gd name="adj2" fmla="val -5875"/>
              <a:gd name="adj3" fmla="val 305213"/>
              <a:gd name="adj4" fmla="val -33125"/>
            </a:avLst>
          </a:prstGeom>
          <a:solidFill>
            <a:srgbClr val="FFFFCC"/>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a:t>不满足</a:t>
            </a:r>
          </a:p>
          <a:p>
            <a:pPr algn="ctr" eaLnBrk="1" hangingPunct="1">
              <a:spcBef>
                <a:spcPct val="0"/>
              </a:spcBef>
              <a:buFontTx/>
              <a:buNone/>
            </a:pPr>
            <a:r>
              <a:rPr lang="zh-CN" altLang="en-US" sz="2000" dirty="0"/>
              <a:t>起振条件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730120"/>
                                        </p:tgtEl>
                                        <p:attrNameLst>
                                          <p:attrName>style.visibility</p:attrName>
                                        </p:attrNameLst>
                                      </p:cBhvr>
                                      <p:to>
                                        <p:strVal val="visible"/>
                                      </p:to>
                                    </p:set>
                                    <p:animEffect transition="in" filter="wipe(down)">
                                      <p:cBhvr>
                                        <p:cTn id="7" dur="500"/>
                                        <p:tgtEl>
                                          <p:spTgt spid="7301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30124"/>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30125"/>
                                        </p:tgtEl>
                                        <p:attrNameLst>
                                          <p:attrName>style.visibility</p:attrName>
                                        </p:attrNameLst>
                                      </p:cBhvr>
                                      <p:to>
                                        <p:strVal val="visible"/>
                                      </p:to>
                                    </p:set>
                                    <p:animEffect transition="in" filter="wipe(left)">
                                      <p:cBhvr>
                                        <p:cTn id="16" dur="500"/>
                                        <p:tgtEl>
                                          <p:spTgt spid="73012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730143"/>
                                        </p:tgtEl>
                                        <p:attrNameLst>
                                          <p:attrName>style.visibility</p:attrName>
                                        </p:attrNameLst>
                                      </p:cBhvr>
                                      <p:to>
                                        <p:strVal val="visible"/>
                                      </p:to>
                                    </p:set>
                                    <p:animEffect transition="in" filter="wipe(down)">
                                      <p:cBhvr>
                                        <p:cTn id="21" dur="500"/>
                                        <p:tgtEl>
                                          <p:spTgt spid="73014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730155"/>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30153"/>
                                        </p:tgtEl>
                                        <p:attrNameLst>
                                          <p:attrName>style.visibility</p:attrName>
                                        </p:attrNameLst>
                                      </p:cBhvr>
                                      <p:to>
                                        <p:strVal val="visible"/>
                                      </p:to>
                                    </p:set>
                                    <p:animEffect transition="in" filter="wipe(left)">
                                      <p:cBhvr>
                                        <p:cTn id="30" dur="500"/>
                                        <p:tgtEl>
                                          <p:spTgt spid="73015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730127"/>
                                        </p:tgtEl>
                                        <p:attrNameLst>
                                          <p:attrName>style.visibility</p:attrName>
                                        </p:attrNameLst>
                                      </p:cBhvr>
                                      <p:to>
                                        <p:strVal val="visible"/>
                                      </p:to>
                                    </p:set>
                                    <p:animEffect transition="in" filter="wipe(left)">
                                      <p:cBhvr>
                                        <p:cTn id="35" dur="500"/>
                                        <p:tgtEl>
                                          <p:spTgt spid="73012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730135"/>
                                        </p:tgtEl>
                                        <p:attrNameLst>
                                          <p:attrName>style.visibility</p:attrName>
                                        </p:attrNameLst>
                                      </p:cBhvr>
                                      <p:to>
                                        <p:strVal val="visible"/>
                                      </p:to>
                                    </p:set>
                                    <p:animEffect transition="in" filter="wipe(left)">
                                      <p:cBhvr>
                                        <p:cTn id="40" dur="500"/>
                                        <p:tgtEl>
                                          <p:spTgt spid="73013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30142"/>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4" presetClass="entr" presetSubtype="16" fill="hold" nodeType="clickEffect">
                                  <p:stCondLst>
                                    <p:cond delay="0"/>
                                  </p:stCondLst>
                                  <p:childTnLst>
                                    <p:set>
                                      <p:cBhvr>
                                        <p:cTn id="48" dur="1" fill="hold">
                                          <p:stCondLst>
                                            <p:cond delay="0"/>
                                          </p:stCondLst>
                                        </p:cTn>
                                        <p:tgtEl>
                                          <p:spTgt spid="730156"/>
                                        </p:tgtEl>
                                        <p:attrNameLst>
                                          <p:attrName>style.visibility</p:attrName>
                                        </p:attrNameLst>
                                      </p:cBhvr>
                                      <p:to>
                                        <p:strVal val="visible"/>
                                      </p:to>
                                    </p:set>
                                    <p:animEffect transition="in" filter="box(in)">
                                      <p:cBhvr>
                                        <p:cTn id="49" dur="500"/>
                                        <p:tgtEl>
                                          <p:spTgt spid="73015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730152"/>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730154"/>
                                        </p:tgtEl>
                                        <p:attrNameLst>
                                          <p:attrName>style.visibility</p:attrName>
                                        </p:attrNameLst>
                                      </p:cBhvr>
                                      <p:to>
                                        <p:strVal val="visible"/>
                                      </p:to>
                                    </p:set>
                                    <p:animEffect transition="in" filter="wipe(left)">
                                      <p:cBhvr>
                                        <p:cTn id="58" dur="500"/>
                                        <p:tgtEl>
                                          <p:spTgt spid="730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0124" grpId="0" animBg="1"/>
      <p:bldP spid="730125" grpId="0"/>
      <p:bldP spid="730127" grpId="0" animBg="1"/>
      <p:bldP spid="730142" grpId="0" animBg="1"/>
      <p:bldP spid="730152" grpId="0" animBg="1"/>
      <p:bldP spid="730153" grpId="0"/>
      <p:bldP spid="730154" grpId="0"/>
      <p:bldP spid="730155" grpId="0" animBg="1"/>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Text Box 3"/>
          <p:cNvSpPr txBox="1">
            <a:spLocks noChangeArrowheads="1"/>
          </p:cNvSpPr>
          <p:nvPr/>
        </p:nvSpPr>
        <p:spPr bwMode="auto">
          <a:xfrm>
            <a:off x="406400" y="500063"/>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smtClean="0">
                <a:solidFill>
                  <a:srgbClr val="990033"/>
                </a:solidFill>
              </a:rPr>
              <a:t>11.3.3 </a:t>
            </a:r>
            <a:r>
              <a:rPr lang="zh-CN" altLang="en-US" sz="2400" dirty="0" smtClean="0">
                <a:solidFill>
                  <a:srgbClr val="990033"/>
                </a:solidFill>
              </a:rPr>
              <a:t>负反馈</a:t>
            </a:r>
            <a:r>
              <a:rPr lang="zh-CN" altLang="en-US" sz="2400" dirty="0">
                <a:solidFill>
                  <a:srgbClr val="990033"/>
                </a:solidFill>
              </a:rPr>
              <a:t>电路稳定性分析</a:t>
            </a:r>
            <a:endParaRPr lang="zh-CN" altLang="en-US" sz="2400" dirty="0">
              <a:solidFill>
                <a:srgbClr val="A50021"/>
              </a:solidFill>
            </a:endParaRPr>
          </a:p>
        </p:txBody>
      </p:sp>
      <p:sp>
        <p:nvSpPr>
          <p:cNvPr id="71683" name="Rectangle 10"/>
          <p:cNvSpPr>
            <a:spLocks noGrp="1" noChangeArrowheads="1"/>
          </p:cNvSpPr>
          <p:nvPr>
            <p:ph type="title"/>
          </p:nvPr>
        </p:nvSpPr>
        <p:spPr>
          <a:xfrm>
            <a:off x="803275" y="1057275"/>
            <a:ext cx="7467600" cy="609600"/>
          </a:xfrm>
          <a:extLst>
            <a:ext uri="{909E8E84-426E-40DD-AFC4-6F175D3DCCD1}">
              <a14:hiddenFill xmlns:a14="http://schemas.microsoft.com/office/drawing/2010/main">
                <a:gradFill rotWithShape="0">
                  <a:gsLst>
                    <a:gs pos="0">
                      <a:srgbClr val="76765E"/>
                    </a:gs>
                    <a:gs pos="50000">
                      <a:srgbClr val="FFFFCC"/>
                    </a:gs>
                    <a:gs pos="100000">
                      <a:srgbClr val="76765E"/>
                    </a:gs>
                  </a:gsLst>
                  <a:lin ang="5400000" scaled="1"/>
                </a:gradFill>
              </a14:hiddenFill>
            </a:ext>
          </a:extLst>
        </p:spPr>
        <p:txBody>
          <a:bodyPr/>
          <a:lstStyle/>
          <a:p>
            <a:pPr algn="l" eaLnBrk="1" hangingPunct="1"/>
            <a:r>
              <a:rPr lang="zh-CN" altLang="en-US" sz="2000" b="1" dirty="0" smtClean="0"/>
              <a:t>放大器开环增益</a:t>
            </a:r>
          </a:p>
        </p:txBody>
      </p:sp>
      <p:graphicFrame>
        <p:nvGraphicFramePr>
          <p:cNvPr id="71684" name="Object 11"/>
          <p:cNvGraphicFramePr>
            <a:graphicFrameLocks noChangeAspect="1"/>
          </p:cNvGraphicFramePr>
          <p:nvPr>
            <p:extLst>
              <p:ext uri="{D42A27DB-BD31-4B8C-83A1-F6EECF244321}">
                <p14:modId xmlns:p14="http://schemas.microsoft.com/office/powerpoint/2010/main" val="2024190575"/>
              </p:ext>
            </p:extLst>
          </p:nvPr>
        </p:nvGraphicFramePr>
        <p:xfrm>
          <a:off x="1938338" y="1774825"/>
          <a:ext cx="4023360" cy="777240"/>
        </p:xfrm>
        <a:graphic>
          <a:graphicData uri="http://schemas.openxmlformats.org/presentationml/2006/ole">
            <mc:AlternateContent xmlns:mc="http://schemas.openxmlformats.org/markup-compatibility/2006">
              <mc:Choice xmlns:v="urn:schemas-microsoft-com:vml" Requires="v">
                <p:oleObj spid="_x0000_s72170" name="Equation" r:id="rId3" imgW="2235200" imgH="431800" progId="Equation.DSMT4">
                  <p:embed/>
                </p:oleObj>
              </mc:Choice>
              <mc:Fallback>
                <p:oleObj name="Equation" r:id="rId3" imgW="2235200" imgH="431800"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8338" y="1774825"/>
                        <a:ext cx="4023360" cy="777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685" name="Rectangle 12"/>
          <p:cNvSpPr>
            <a:spLocks noChangeArrowheads="1"/>
          </p:cNvSpPr>
          <p:nvPr/>
        </p:nvSpPr>
        <p:spPr bwMode="auto">
          <a:xfrm>
            <a:off x="844550" y="3089275"/>
            <a:ext cx="7467600" cy="609600"/>
          </a:xfrm>
          <a:prstGeom prst="rect">
            <a:avLst/>
          </a:prstGeom>
          <a:noFill/>
          <a:ln>
            <a:noFill/>
          </a:ln>
          <a:effectLst/>
          <a:extLst>
            <a:ext uri="{909E8E84-426E-40DD-AFC4-6F175D3DCCD1}">
              <a14:hiddenFill xmlns:a14="http://schemas.microsoft.com/office/drawing/2010/main">
                <a:gradFill rotWithShape="0">
                  <a:gsLst>
                    <a:gs pos="0">
                      <a:srgbClr val="76765E"/>
                    </a:gs>
                    <a:gs pos="50000">
                      <a:srgbClr val="FFFFCC"/>
                    </a:gs>
                    <a:gs pos="100000">
                      <a:srgbClr val="76765E"/>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a:solidFill>
                  <a:schemeClr val="tx2"/>
                </a:solidFill>
              </a:rPr>
              <a:t>其相频特性为</a:t>
            </a:r>
          </a:p>
        </p:txBody>
      </p:sp>
      <p:graphicFrame>
        <p:nvGraphicFramePr>
          <p:cNvPr id="71686" name="Object 13"/>
          <p:cNvGraphicFramePr>
            <a:graphicFrameLocks noChangeAspect="1"/>
          </p:cNvGraphicFramePr>
          <p:nvPr>
            <p:extLst>
              <p:ext uri="{D42A27DB-BD31-4B8C-83A1-F6EECF244321}">
                <p14:modId xmlns:p14="http://schemas.microsoft.com/office/powerpoint/2010/main" val="3015793300"/>
              </p:ext>
            </p:extLst>
          </p:nvPr>
        </p:nvGraphicFramePr>
        <p:xfrm>
          <a:off x="1651000" y="3803650"/>
          <a:ext cx="5166360" cy="480060"/>
        </p:xfrm>
        <a:graphic>
          <a:graphicData uri="http://schemas.openxmlformats.org/presentationml/2006/ole">
            <mc:AlternateContent xmlns:mc="http://schemas.openxmlformats.org/markup-compatibility/2006">
              <mc:Choice xmlns:v="urn:schemas-microsoft-com:vml" Requires="v">
                <p:oleObj spid="_x0000_s72171" name="Equation" r:id="rId5" imgW="2870200" imgH="266700" progId="Equation.DSMT4">
                  <p:embed/>
                </p:oleObj>
              </mc:Choice>
              <mc:Fallback>
                <p:oleObj name="Equation" r:id="rId5" imgW="2870200" imgH="266700" progId="Equation.DSMT4">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1000" y="3803650"/>
                        <a:ext cx="5166360" cy="4800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7" name="Rectangle 14"/>
          <p:cNvSpPr>
            <a:spLocks noChangeArrowheads="1"/>
          </p:cNvSpPr>
          <p:nvPr/>
        </p:nvSpPr>
        <p:spPr bwMode="auto">
          <a:xfrm>
            <a:off x="844550" y="4846638"/>
            <a:ext cx="7467600" cy="609600"/>
          </a:xfrm>
          <a:prstGeom prst="rect">
            <a:avLst/>
          </a:prstGeom>
          <a:noFill/>
          <a:ln>
            <a:noFill/>
          </a:ln>
          <a:effectLst/>
          <a:extLst>
            <a:ext uri="{909E8E84-426E-40DD-AFC4-6F175D3DCCD1}">
              <a14:hiddenFill xmlns:a14="http://schemas.microsoft.com/office/drawing/2010/main">
                <a:gradFill rotWithShape="0">
                  <a:gsLst>
                    <a:gs pos="0">
                      <a:srgbClr val="76765E"/>
                    </a:gs>
                    <a:gs pos="50000">
                      <a:srgbClr val="FFFFCC"/>
                    </a:gs>
                    <a:gs pos="100000">
                      <a:srgbClr val="76765E"/>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a:solidFill>
                  <a:schemeClr val="tx2"/>
                </a:solidFill>
              </a:rPr>
              <a:t>假设反馈网络为纯电阻的。</a:t>
            </a:r>
          </a:p>
        </p:txBody>
      </p:sp>
      <p:graphicFrame>
        <p:nvGraphicFramePr>
          <p:cNvPr id="8" name="Object 11"/>
          <p:cNvGraphicFramePr>
            <a:graphicFrameLocks noChangeAspect="1"/>
          </p:cNvGraphicFramePr>
          <p:nvPr>
            <p:extLst>
              <p:ext uri="{D42A27DB-BD31-4B8C-83A1-F6EECF244321}">
                <p14:modId xmlns:p14="http://schemas.microsoft.com/office/powerpoint/2010/main" val="262168589"/>
              </p:ext>
            </p:extLst>
          </p:nvPr>
        </p:nvGraphicFramePr>
        <p:xfrm>
          <a:off x="2696369" y="5548697"/>
          <a:ext cx="3681412" cy="708025"/>
        </p:xfrm>
        <a:graphic>
          <a:graphicData uri="http://schemas.openxmlformats.org/presentationml/2006/ole">
            <mc:AlternateContent xmlns:mc="http://schemas.openxmlformats.org/markup-compatibility/2006">
              <mc:Choice xmlns:v="urn:schemas-microsoft-com:vml" Requires="v">
                <p:oleObj spid="_x0000_s72172" name="Equation" r:id="rId7" imgW="2044440" imgH="393480" progId="Equation.DSMT4">
                  <p:embed/>
                </p:oleObj>
              </mc:Choice>
              <mc:Fallback>
                <p:oleObj name="Equation" r:id="rId7" imgW="2044440" imgH="393480" progId="Equation.DSMT4">
                  <p:embed/>
                  <p:pic>
                    <p:nvPicPr>
                      <p:cNvPr id="0" name=""/>
                      <p:cNvPicPr>
                        <a:picLocks noChangeAspect="1" noChangeArrowheads="1"/>
                      </p:cNvPicPr>
                      <p:nvPr/>
                    </p:nvPicPr>
                    <p:blipFill>
                      <a:blip r:embed="rId8"/>
                      <a:srcRect/>
                      <a:stretch>
                        <a:fillRect/>
                      </a:stretch>
                    </p:blipFill>
                    <p:spPr bwMode="auto">
                      <a:xfrm>
                        <a:off x="2696369" y="5548697"/>
                        <a:ext cx="36814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71683"/>
                                        </p:tgtEl>
                                        <p:attrNameLst>
                                          <p:attrName>style.visibility</p:attrName>
                                        </p:attrNameLst>
                                      </p:cBhvr>
                                      <p:to>
                                        <p:strVal val="visible"/>
                                      </p:to>
                                    </p:set>
                                    <p:animEffect transition="in" filter="barn(inVertical)">
                                      <p:cBhvr>
                                        <p:cTn id="7" dur="500"/>
                                        <p:tgtEl>
                                          <p:spTgt spid="71683"/>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71684"/>
                                        </p:tgtEl>
                                        <p:attrNameLst>
                                          <p:attrName>style.visibility</p:attrName>
                                        </p:attrNameLst>
                                      </p:cBhvr>
                                      <p:to>
                                        <p:strVal val="visible"/>
                                      </p:to>
                                    </p:set>
                                    <p:animEffect transition="in" filter="barn(inVertical)">
                                      <p:cBhvr>
                                        <p:cTn id="11" dur="500"/>
                                        <p:tgtEl>
                                          <p:spTgt spid="71684"/>
                                        </p:tgtEl>
                                      </p:cBhvr>
                                    </p:animEffect>
                                  </p:childTnLst>
                                </p:cTn>
                              </p:par>
                            </p:childTnLst>
                          </p:cTn>
                        </p:par>
                        <p:par>
                          <p:cTn id="12" fill="hold">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71685"/>
                                        </p:tgtEl>
                                        <p:attrNameLst>
                                          <p:attrName>style.visibility</p:attrName>
                                        </p:attrNameLst>
                                      </p:cBhvr>
                                      <p:to>
                                        <p:strVal val="visible"/>
                                      </p:to>
                                    </p:set>
                                    <p:animEffect transition="in" filter="barn(inVertical)">
                                      <p:cBhvr>
                                        <p:cTn id="15" dur="500"/>
                                        <p:tgtEl>
                                          <p:spTgt spid="71685"/>
                                        </p:tgtEl>
                                      </p:cBhvr>
                                    </p:animEffect>
                                  </p:childTnLst>
                                </p:cTn>
                              </p:par>
                            </p:childTnLst>
                          </p:cTn>
                        </p:par>
                        <p:par>
                          <p:cTn id="16" fill="hold">
                            <p:stCondLst>
                              <p:cond delay="1500"/>
                            </p:stCondLst>
                            <p:childTnLst>
                              <p:par>
                                <p:cTn id="17" presetID="16" presetClass="entr" presetSubtype="21" fill="hold" nodeType="afterEffect">
                                  <p:stCondLst>
                                    <p:cond delay="0"/>
                                  </p:stCondLst>
                                  <p:childTnLst>
                                    <p:set>
                                      <p:cBhvr>
                                        <p:cTn id="18" dur="1" fill="hold">
                                          <p:stCondLst>
                                            <p:cond delay="0"/>
                                          </p:stCondLst>
                                        </p:cTn>
                                        <p:tgtEl>
                                          <p:spTgt spid="71686"/>
                                        </p:tgtEl>
                                        <p:attrNameLst>
                                          <p:attrName>style.visibility</p:attrName>
                                        </p:attrNameLst>
                                      </p:cBhvr>
                                      <p:to>
                                        <p:strVal val="visible"/>
                                      </p:to>
                                    </p:set>
                                    <p:animEffect transition="in" filter="barn(inVertical)">
                                      <p:cBhvr>
                                        <p:cTn id="19" dur="500"/>
                                        <p:tgtEl>
                                          <p:spTgt spid="71686"/>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71687"/>
                                        </p:tgtEl>
                                        <p:attrNameLst>
                                          <p:attrName>style.visibility</p:attrName>
                                        </p:attrNameLst>
                                      </p:cBhvr>
                                      <p:to>
                                        <p:strVal val="visible"/>
                                      </p:to>
                                    </p:set>
                                    <p:animEffect transition="in" filter="barn(inVertical)">
                                      <p:cBhvr>
                                        <p:cTn id="24" dur="500"/>
                                        <p:tgtEl>
                                          <p:spTgt spid="71687"/>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arn(inVertical)">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p:bldP spid="71685" grpId="0"/>
      <p:bldP spid="71687" grpId="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2706" name="Picture 9" descr="反馈稳定性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5887" y="0"/>
            <a:ext cx="6480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2171" name="Rectangle 11"/>
          <p:cNvSpPr>
            <a:spLocks noGrp="1" noChangeArrowheads="1"/>
          </p:cNvSpPr>
          <p:nvPr>
            <p:ph type="title"/>
          </p:nvPr>
        </p:nvSpPr>
        <p:spPr>
          <a:xfrm>
            <a:off x="266700" y="500514"/>
            <a:ext cx="2867025" cy="1143000"/>
          </a:xfrm>
          <a:extLst>
            <a:ext uri="{909E8E84-426E-40DD-AFC4-6F175D3DCCD1}">
              <a14:hiddenFill xmlns:a14="http://schemas.microsoft.com/office/drawing/2010/main">
                <a:gradFill rotWithShape="0">
                  <a:gsLst>
                    <a:gs pos="0">
                      <a:srgbClr val="76765E"/>
                    </a:gs>
                    <a:gs pos="50000">
                      <a:srgbClr val="FFFFCC"/>
                    </a:gs>
                    <a:gs pos="100000">
                      <a:srgbClr val="76765E"/>
                    </a:gs>
                  </a:gsLst>
                  <a:lin ang="5400000" scaled="1"/>
                </a:gradFill>
              </a14:hiddenFill>
            </a:ext>
          </a:extLst>
        </p:spPr>
        <p:txBody>
          <a:bodyPr/>
          <a:lstStyle/>
          <a:p>
            <a:pPr algn="l" eaLnBrk="1" hangingPunct="1"/>
            <a:r>
              <a:rPr lang="zh-CN" altLang="en-US" sz="2000" b="1" smtClean="0"/>
              <a:t>若引入的负反馈为</a:t>
            </a:r>
          </a:p>
        </p:txBody>
      </p:sp>
      <p:graphicFrame>
        <p:nvGraphicFramePr>
          <p:cNvPr id="732172" name="Object 12"/>
          <p:cNvGraphicFramePr>
            <a:graphicFrameLocks noChangeAspect="1"/>
          </p:cNvGraphicFramePr>
          <p:nvPr>
            <p:extLst>
              <p:ext uri="{D42A27DB-BD31-4B8C-83A1-F6EECF244321}">
                <p14:modId xmlns:p14="http://schemas.microsoft.com/office/powerpoint/2010/main" val="4118391692"/>
              </p:ext>
            </p:extLst>
          </p:nvPr>
        </p:nvGraphicFramePr>
        <p:xfrm>
          <a:off x="533400" y="1345064"/>
          <a:ext cx="2033658" cy="388451"/>
        </p:xfrm>
        <a:graphic>
          <a:graphicData uri="http://schemas.openxmlformats.org/presentationml/2006/ole">
            <mc:AlternateContent xmlns:mc="http://schemas.openxmlformats.org/markup-compatibility/2006">
              <mc:Choice xmlns:v="urn:schemas-microsoft-com:vml" Requires="v">
                <p:oleObj spid="_x0000_s73538" name="Equation" r:id="rId4" imgW="1129810" imgH="215806" progId="Equation.DSMT4">
                  <p:embed/>
                </p:oleObj>
              </mc:Choice>
              <mc:Fallback>
                <p:oleObj name="Equation" r:id="rId4" imgW="1129810" imgH="215806" progId="Equation.DSMT4">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1345064"/>
                        <a:ext cx="2033658" cy="3884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2173" name="Rectangle 13"/>
          <p:cNvSpPr>
            <a:spLocks noChangeArrowheads="1"/>
          </p:cNvSpPr>
          <p:nvPr/>
        </p:nvSpPr>
        <p:spPr bwMode="auto">
          <a:xfrm>
            <a:off x="217488" y="1792739"/>
            <a:ext cx="2773362" cy="609600"/>
          </a:xfrm>
          <a:prstGeom prst="rect">
            <a:avLst/>
          </a:prstGeom>
          <a:noFill/>
          <a:ln>
            <a:noFill/>
          </a:ln>
          <a:effectLst/>
          <a:extLst>
            <a:ext uri="{909E8E84-426E-40DD-AFC4-6F175D3DCCD1}">
              <a14:hiddenFill xmlns:a14="http://schemas.microsoft.com/office/drawing/2010/main">
                <a:gradFill rotWithShape="0">
                  <a:gsLst>
                    <a:gs pos="0">
                      <a:srgbClr val="76765E"/>
                    </a:gs>
                    <a:gs pos="50000">
                      <a:srgbClr val="FFFFCC"/>
                    </a:gs>
                    <a:gs pos="100000">
                      <a:srgbClr val="76765E"/>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a:solidFill>
                  <a:schemeClr val="tx2"/>
                </a:solidFill>
              </a:rPr>
              <a:t>问放大器是否稳定？</a:t>
            </a:r>
          </a:p>
        </p:txBody>
      </p:sp>
      <p:graphicFrame>
        <p:nvGraphicFramePr>
          <p:cNvPr id="732174" name="Object 14"/>
          <p:cNvGraphicFramePr>
            <a:graphicFrameLocks noChangeAspect="1"/>
          </p:cNvGraphicFramePr>
          <p:nvPr>
            <p:extLst>
              <p:ext uri="{D42A27DB-BD31-4B8C-83A1-F6EECF244321}">
                <p14:modId xmlns:p14="http://schemas.microsoft.com/office/powerpoint/2010/main" val="2581134567"/>
              </p:ext>
            </p:extLst>
          </p:nvPr>
        </p:nvGraphicFramePr>
        <p:xfrm>
          <a:off x="750372" y="3280610"/>
          <a:ext cx="1050647" cy="296923"/>
        </p:xfrm>
        <a:graphic>
          <a:graphicData uri="http://schemas.openxmlformats.org/presentationml/2006/ole">
            <mc:AlternateContent xmlns:mc="http://schemas.openxmlformats.org/markup-compatibility/2006">
              <mc:Choice xmlns:v="urn:schemas-microsoft-com:vml" Requires="v">
                <p:oleObj spid="_x0000_s73539" name="Equation" r:id="rId6" imgW="583693" imgH="164957" progId="Equation.DSMT4">
                  <p:embed/>
                </p:oleObj>
              </mc:Choice>
              <mc:Fallback>
                <p:oleObj name="Equation" r:id="rId6" imgW="583693" imgH="164957" progId="Equation.DSMT4">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0372" y="3280610"/>
                        <a:ext cx="1050647" cy="2969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2175" name="Object 15"/>
          <p:cNvGraphicFramePr>
            <a:graphicFrameLocks noGrp="1" noChangeAspect="1"/>
          </p:cNvGraphicFramePr>
          <p:nvPr>
            <p:ph idx="1"/>
            <p:extLst>
              <p:ext uri="{D42A27DB-BD31-4B8C-83A1-F6EECF244321}">
                <p14:modId xmlns:p14="http://schemas.microsoft.com/office/powerpoint/2010/main" val="2228089214"/>
              </p:ext>
            </p:extLst>
          </p:nvPr>
        </p:nvGraphicFramePr>
        <p:xfrm>
          <a:off x="781050" y="4519347"/>
          <a:ext cx="936853" cy="388451"/>
        </p:xfrm>
        <a:graphic>
          <a:graphicData uri="http://schemas.openxmlformats.org/presentationml/2006/ole">
            <mc:AlternateContent xmlns:mc="http://schemas.openxmlformats.org/markup-compatibility/2006">
              <mc:Choice xmlns:v="urn:schemas-microsoft-com:vml" Requires="v">
                <p:oleObj spid="_x0000_s73540" name="Equation" r:id="rId8" imgW="520474" imgH="215806" progId="Equation.DSMT4">
                  <p:embed/>
                </p:oleObj>
              </mc:Choice>
              <mc:Fallback>
                <p:oleObj name="Equation" r:id="rId8" imgW="520474" imgH="215806" progId="Equation.DSMT4">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1050" y="4519347"/>
                        <a:ext cx="936853" cy="38845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2177" name="Rectangle 17"/>
          <p:cNvSpPr>
            <a:spLocks noChangeArrowheads="1"/>
          </p:cNvSpPr>
          <p:nvPr/>
        </p:nvSpPr>
        <p:spPr bwMode="auto">
          <a:xfrm>
            <a:off x="214313" y="2690060"/>
            <a:ext cx="2649537" cy="609600"/>
          </a:xfrm>
          <a:prstGeom prst="rect">
            <a:avLst/>
          </a:prstGeom>
          <a:noFill/>
          <a:ln>
            <a:noFill/>
          </a:ln>
          <a:effectLst/>
          <a:extLst>
            <a:ext uri="{909E8E84-426E-40DD-AFC4-6F175D3DCCD1}">
              <a14:hiddenFill xmlns:a14="http://schemas.microsoft.com/office/drawing/2010/main">
                <a:gradFill rotWithShape="0">
                  <a:gsLst>
                    <a:gs pos="0">
                      <a:srgbClr val="76765E"/>
                    </a:gs>
                    <a:gs pos="50000">
                      <a:srgbClr val="FFFFCC"/>
                    </a:gs>
                    <a:gs pos="100000">
                      <a:srgbClr val="76765E"/>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a:solidFill>
                  <a:schemeClr val="tx2"/>
                </a:solidFill>
              </a:rPr>
              <a:t>增益裕度</a:t>
            </a:r>
          </a:p>
        </p:txBody>
      </p:sp>
      <p:sp>
        <p:nvSpPr>
          <p:cNvPr id="732178" name="Rectangle 18"/>
          <p:cNvSpPr>
            <a:spLocks noChangeArrowheads="1"/>
          </p:cNvSpPr>
          <p:nvPr/>
        </p:nvSpPr>
        <p:spPr bwMode="auto">
          <a:xfrm>
            <a:off x="236538" y="3996573"/>
            <a:ext cx="2649537" cy="609600"/>
          </a:xfrm>
          <a:prstGeom prst="rect">
            <a:avLst/>
          </a:prstGeom>
          <a:noFill/>
          <a:ln>
            <a:noFill/>
          </a:ln>
          <a:effectLst/>
          <a:extLst>
            <a:ext uri="{909E8E84-426E-40DD-AFC4-6F175D3DCCD1}">
              <a14:hiddenFill xmlns:a14="http://schemas.microsoft.com/office/drawing/2010/main">
                <a:gradFill rotWithShape="0">
                  <a:gsLst>
                    <a:gs pos="0">
                      <a:srgbClr val="76765E"/>
                    </a:gs>
                    <a:gs pos="50000">
                      <a:srgbClr val="FFFFCC"/>
                    </a:gs>
                    <a:gs pos="100000">
                      <a:srgbClr val="76765E"/>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a:solidFill>
                  <a:schemeClr val="tx2"/>
                </a:solidFill>
              </a:rPr>
              <a:t>相位裕度</a:t>
            </a:r>
          </a:p>
        </p:txBody>
      </p:sp>
      <p:sp>
        <p:nvSpPr>
          <p:cNvPr id="732179" name="Rectangle 19"/>
          <p:cNvSpPr>
            <a:spLocks noChangeArrowheads="1"/>
          </p:cNvSpPr>
          <p:nvPr/>
        </p:nvSpPr>
        <p:spPr bwMode="auto">
          <a:xfrm>
            <a:off x="476250" y="5195135"/>
            <a:ext cx="2649538" cy="609600"/>
          </a:xfrm>
          <a:prstGeom prst="rect">
            <a:avLst/>
          </a:prstGeom>
          <a:noFill/>
          <a:ln>
            <a:noFill/>
          </a:ln>
          <a:effectLst/>
          <a:extLst>
            <a:ext uri="{909E8E84-426E-40DD-AFC4-6F175D3DCCD1}">
              <a14:hiddenFill xmlns:a14="http://schemas.microsoft.com/office/drawing/2010/main">
                <a:gradFill rotWithShape="0">
                  <a:gsLst>
                    <a:gs pos="0">
                      <a:srgbClr val="76765E"/>
                    </a:gs>
                    <a:gs pos="50000">
                      <a:srgbClr val="FFFFCC"/>
                    </a:gs>
                    <a:gs pos="100000">
                      <a:srgbClr val="76765E"/>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a:solidFill>
                  <a:schemeClr val="tx2"/>
                </a:solidFill>
              </a:rPr>
              <a:t>放大器稳定</a:t>
            </a:r>
          </a:p>
        </p:txBody>
      </p:sp>
      <p:sp>
        <p:nvSpPr>
          <p:cNvPr id="732181" name="Rectangle 21"/>
          <p:cNvSpPr>
            <a:spLocks noChangeArrowheads="1"/>
          </p:cNvSpPr>
          <p:nvPr/>
        </p:nvSpPr>
        <p:spPr bwMode="auto">
          <a:xfrm>
            <a:off x="5419725" y="1266825"/>
            <a:ext cx="476250" cy="1905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sp>
        <p:nvSpPr>
          <p:cNvPr id="72717" name="Rectangle 22"/>
          <p:cNvSpPr>
            <a:spLocks noChangeArrowheads="1"/>
          </p:cNvSpPr>
          <p:nvPr/>
        </p:nvSpPr>
        <p:spPr bwMode="auto">
          <a:xfrm>
            <a:off x="5305425" y="2438400"/>
            <a:ext cx="733425" cy="20955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sp>
        <p:nvSpPr>
          <p:cNvPr id="732184" name="Rectangle 24"/>
          <p:cNvSpPr>
            <a:spLocks noChangeArrowheads="1"/>
          </p:cNvSpPr>
          <p:nvPr/>
        </p:nvSpPr>
        <p:spPr bwMode="auto">
          <a:xfrm>
            <a:off x="6989763" y="5437188"/>
            <a:ext cx="876300" cy="47625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grpSp>
        <p:nvGrpSpPr>
          <p:cNvPr id="732186" name="Group 26"/>
          <p:cNvGrpSpPr>
            <a:grpSpLocks/>
          </p:cNvGrpSpPr>
          <p:nvPr/>
        </p:nvGrpSpPr>
        <p:grpSpPr bwMode="auto">
          <a:xfrm>
            <a:off x="6723063" y="1112838"/>
            <a:ext cx="1038225" cy="800100"/>
            <a:chOff x="4235" y="701"/>
            <a:chExt cx="654" cy="504"/>
          </a:xfrm>
        </p:grpSpPr>
        <p:sp>
          <p:nvSpPr>
            <p:cNvPr id="72720" name="Rectangle 23"/>
            <p:cNvSpPr>
              <a:spLocks noChangeArrowheads="1"/>
            </p:cNvSpPr>
            <p:nvPr/>
          </p:nvSpPr>
          <p:spPr bwMode="auto">
            <a:xfrm>
              <a:off x="4235" y="815"/>
              <a:ext cx="654" cy="186"/>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sp>
          <p:nvSpPr>
            <p:cNvPr id="72721" name="Rectangle 25"/>
            <p:cNvSpPr>
              <a:spLocks noChangeArrowheads="1"/>
            </p:cNvSpPr>
            <p:nvPr/>
          </p:nvSpPr>
          <p:spPr bwMode="auto">
            <a:xfrm>
              <a:off x="4559" y="701"/>
              <a:ext cx="138" cy="504"/>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grpSp>
      <p:cxnSp>
        <p:nvCxnSpPr>
          <p:cNvPr id="3" name="直接连接符 2"/>
          <p:cNvCxnSpPr/>
          <p:nvPr/>
        </p:nvCxnSpPr>
        <p:spPr bwMode="auto">
          <a:xfrm>
            <a:off x="4412368" y="1063528"/>
            <a:ext cx="3044120" cy="8486"/>
          </a:xfrm>
          <a:prstGeom prst="line">
            <a:avLst/>
          </a:prstGeom>
          <a:solidFill>
            <a:srgbClr val="99FF99"/>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p:cNvCxnSpPr/>
          <p:nvPr/>
        </p:nvCxnSpPr>
        <p:spPr bwMode="auto">
          <a:xfrm>
            <a:off x="4412368" y="5913438"/>
            <a:ext cx="2310695" cy="16845"/>
          </a:xfrm>
          <a:prstGeom prst="line">
            <a:avLst/>
          </a:prstGeom>
          <a:solidFill>
            <a:srgbClr val="99FF99"/>
          </a:solidFill>
          <a:ln w="28575" cap="flat" cmpd="sng" algn="ctr">
            <a:solidFill>
              <a:srgbClr val="FF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接连接符 33"/>
          <p:cNvCxnSpPr/>
          <p:nvPr/>
        </p:nvCxnSpPr>
        <p:spPr bwMode="auto">
          <a:xfrm>
            <a:off x="4402491" y="1887948"/>
            <a:ext cx="2320572" cy="24813"/>
          </a:xfrm>
          <a:prstGeom prst="line">
            <a:avLst/>
          </a:prstGeom>
          <a:solidFill>
            <a:srgbClr val="99FF99"/>
          </a:solidFill>
          <a:ln w="28575" cap="flat" cmpd="sng" algn="ctr">
            <a:solidFill>
              <a:srgbClr val="FF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连接符 35"/>
          <p:cNvCxnSpPr/>
          <p:nvPr/>
        </p:nvCxnSpPr>
        <p:spPr bwMode="auto">
          <a:xfrm flipH="1">
            <a:off x="6750050" y="1932214"/>
            <a:ext cx="13615" cy="3939277"/>
          </a:xfrm>
          <a:prstGeom prst="line">
            <a:avLst/>
          </a:prstGeom>
          <a:solidFill>
            <a:srgbClr val="99FF99"/>
          </a:solidFill>
          <a:ln w="28575" cap="flat" cmpd="sng" algn="ctr">
            <a:solidFill>
              <a:srgbClr val="FF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 name="组合 5"/>
          <p:cNvGrpSpPr/>
          <p:nvPr/>
        </p:nvGrpSpPr>
        <p:grpSpPr>
          <a:xfrm>
            <a:off x="4412368" y="1063528"/>
            <a:ext cx="1861884" cy="4373660"/>
            <a:chOff x="4412368" y="1063528"/>
            <a:chExt cx="1861884" cy="4373660"/>
          </a:xfrm>
        </p:grpSpPr>
        <p:cxnSp>
          <p:nvCxnSpPr>
            <p:cNvPr id="21" name="直接连接符 20"/>
            <p:cNvCxnSpPr/>
            <p:nvPr/>
          </p:nvCxnSpPr>
          <p:spPr bwMode="auto">
            <a:xfrm flipH="1">
              <a:off x="6274251" y="1063528"/>
              <a:ext cx="1" cy="4373660"/>
            </a:xfrm>
            <a:prstGeom prst="line">
              <a:avLst/>
            </a:prstGeom>
            <a:solidFill>
              <a:srgbClr val="99FF99"/>
            </a:solidFill>
            <a:ln w="28575" cap="flat" cmpd="sng" algn="ctr">
              <a:solidFill>
                <a:srgbClr val="00B0F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连接符 22"/>
            <p:cNvCxnSpPr/>
            <p:nvPr/>
          </p:nvCxnSpPr>
          <p:spPr bwMode="auto">
            <a:xfrm>
              <a:off x="4412368" y="5398647"/>
              <a:ext cx="1313869" cy="14049"/>
            </a:xfrm>
            <a:prstGeom prst="line">
              <a:avLst/>
            </a:prstGeom>
            <a:solidFill>
              <a:srgbClr val="99FF99"/>
            </a:solidFill>
            <a:ln w="28575" cap="flat" cmpd="sng" algn="ctr">
              <a:solidFill>
                <a:srgbClr val="00B0F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 name="上下箭头 7"/>
          <p:cNvSpPr/>
          <p:nvPr/>
        </p:nvSpPr>
        <p:spPr bwMode="auto">
          <a:xfrm>
            <a:off x="7889781" y="1063528"/>
            <a:ext cx="157038" cy="868686"/>
          </a:xfrm>
          <a:prstGeom prst="upDownArrow">
            <a:avLst/>
          </a:pr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30" name="上下箭头 29"/>
          <p:cNvSpPr/>
          <p:nvPr/>
        </p:nvSpPr>
        <p:spPr bwMode="auto">
          <a:xfrm>
            <a:off x="7903154" y="5412696"/>
            <a:ext cx="140023" cy="517587"/>
          </a:xfrm>
          <a:prstGeom prst="upDownArrow">
            <a:avLst/>
          </a:pr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2171"/>
                                        </p:tgtEl>
                                        <p:attrNameLst>
                                          <p:attrName>style.visibility</p:attrName>
                                        </p:attrNameLst>
                                      </p:cBhvr>
                                      <p:to>
                                        <p:strVal val="visible"/>
                                      </p:to>
                                    </p:set>
                                    <p:animEffect transition="in" filter="blinds(horizontal)">
                                      <p:cBhvr>
                                        <p:cTn id="7" dur="500"/>
                                        <p:tgtEl>
                                          <p:spTgt spid="732171"/>
                                        </p:tgtEl>
                                      </p:cBhvr>
                                    </p:animEffect>
                                  </p:childTnLst>
                                </p:cTn>
                              </p:par>
                              <p:par>
                                <p:cTn id="8" presetID="3" presetClass="entr" presetSubtype="10" fill="hold" nodeType="withEffect">
                                  <p:stCondLst>
                                    <p:cond delay="0"/>
                                  </p:stCondLst>
                                  <p:childTnLst>
                                    <p:set>
                                      <p:cBhvr>
                                        <p:cTn id="9" dur="1" fill="hold">
                                          <p:stCondLst>
                                            <p:cond delay="0"/>
                                          </p:stCondLst>
                                        </p:cTn>
                                        <p:tgtEl>
                                          <p:spTgt spid="732172"/>
                                        </p:tgtEl>
                                        <p:attrNameLst>
                                          <p:attrName>style.visibility</p:attrName>
                                        </p:attrNameLst>
                                      </p:cBhvr>
                                      <p:to>
                                        <p:strVal val="visible"/>
                                      </p:to>
                                    </p:set>
                                    <p:animEffect transition="in" filter="blinds(horizontal)">
                                      <p:cBhvr>
                                        <p:cTn id="10" dur="500"/>
                                        <p:tgtEl>
                                          <p:spTgt spid="73217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32173"/>
                                        </p:tgtEl>
                                        <p:attrNameLst>
                                          <p:attrName>style.visibility</p:attrName>
                                        </p:attrNameLst>
                                      </p:cBhvr>
                                      <p:to>
                                        <p:strVal val="visible"/>
                                      </p:to>
                                    </p:set>
                                    <p:animEffect transition="in" filter="blinds(horizontal)">
                                      <p:cBhvr>
                                        <p:cTn id="13" dur="500"/>
                                        <p:tgtEl>
                                          <p:spTgt spid="73217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arn(inVertical)">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arn(inVertical)">
                                      <p:cBhvr>
                                        <p:cTn id="23" dur="500"/>
                                        <p:tgtEl>
                                          <p:spTgt spid="14"/>
                                        </p:tgtEl>
                                      </p:cBhvr>
                                    </p:animEffect>
                                  </p:childTnLst>
                                </p:cTn>
                              </p:par>
                              <p:par>
                                <p:cTn id="24" presetID="16" presetClass="entr" presetSubtype="21" fill="hold" nodeType="with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barn(inVertical)">
                                      <p:cBhvr>
                                        <p:cTn id="26" dur="500"/>
                                        <p:tgtEl>
                                          <p:spTgt spid="36"/>
                                        </p:tgtEl>
                                      </p:cBhvr>
                                    </p:animEffect>
                                  </p:childTnLst>
                                </p:cTn>
                              </p:par>
                              <p:par>
                                <p:cTn id="27" presetID="16" presetClass="entr" presetSubtype="21" fill="hold"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barn(inVertical)">
                                      <p:cBhvr>
                                        <p:cTn id="29" dur="5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732177">
                                            <p:txEl>
                                              <p:pRg st="0" end="0"/>
                                            </p:txEl>
                                          </p:spTgt>
                                        </p:tgtEl>
                                        <p:attrNameLst>
                                          <p:attrName>style.visibility</p:attrName>
                                        </p:attrNameLst>
                                      </p:cBhvr>
                                      <p:to>
                                        <p:strVal val="visible"/>
                                      </p:to>
                                    </p:set>
                                    <p:animEffect transition="in" filter="blinds(horizontal)">
                                      <p:cBhvr>
                                        <p:cTn id="34" dur="500"/>
                                        <p:tgtEl>
                                          <p:spTgt spid="732177">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xit" presetSubtype="21" fill="hold" nodeType="clickEffect">
                                  <p:stCondLst>
                                    <p:cond delay="0"/>
                                  </p:stCondLst>
                                  <p:childTnLst>
                                    <p:animEffect transition="out" filter="barn(inVertical)">
                                      <p:cBhvr>
                                        <p:cTn id="38" dur="500"/>
                                        <p:tgtEl>
                                          <p:spTgt spid="732186"/>
                                        </p:tgtEl>
                                      </p:cBhvr>
                                    </p:animEffect>
                                    <p:set>
                                      <p:cBhvr>
                                        <p:cTn id="39" dur="1" fill="hold">
                                          <p:stCondLst>
                                            <p:cond delay="499"/>
                                          </p:stCondLst>
                                        </p:cTn>
                                        <p:tgtEl>
                                          <p:spTgt spid="732186"/>
                                        </p:tgtEl>
                                        <p:attrNameLst>
                                          <p:attrName>style.visibility</p:attrName>
                                        </p:attrNameLst>
                                      </p:cBhvr>
                                      <p:to>
                                        <p:strVal val="hidden"/>
                                      </p:to>
                                    </p:set>
                                  </p:childTnLst>
                                </p:cTn>
                              </p:par>
                            </p:childTnLst>
                          </p:cTn>
                        </p:par>
                        <p:par>
                          <p:cTn id="40" fill="hold">
                            <p:stCondLst>
                              <p:cond delay="500"/>
                            </p:stCondLst>
                            <p:childTnLst>
                              <p:par>
                                <p:cTn id="41" presetID="26" presetClass="entr" presetSubtype="0" fill="hold" grpId="0"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down)">
                                      <p:cBhvr>
                                        <p:cTn id="43" dur="580">
                                          <p:stCondLst>
                                            <p:cond delay="0"/>
                                          </p:stCondLst>
                                        </p:cTn>
                                        <p:tgtEl>
                                          <p:spTgt spid="8"/>
                                        </p:tgtEl>
                                      </p:cBhvr>
                                    </p:animEffect>
                                    <p:anim calcmode="lin" valueType="num">
                                      <p:cBhvr>
                                        <p:cTn id="44"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49" dur="26">
                                          <p:stCondLst>
                                            <p:cond delay="650"/>
                                          </p:stCondLst>
                                        </p:cTn>
                                        <p:tgtEl>
                                          <p:spTgt spid="8"/>
                                        </p:tgtEl>
                                      </p:cBhvr>
                                      <p:to x="100000" y="60000"/>
                                    </p:animScale>
                                    <p:animScale>
                                      <p:cBhvr>
                                        <p:cTn id="50" dur="166" decel="50000">
                                          <p:stCondLst>
                                            <p:cond delay="676"/>
                                          </p:stCondLst>
                                        </p:cTn>
                                        <p:tgtEl>
                                          <p:spTgt spid="8"/>
                                        </p:tgtEl>
                                      </p:cBhvr>
                                      <p:to x="100000" y="100000"/>
                                    </p:animScale>
                                    <p:animScale>
                                      <p:cBhvr>
                                        <p:cTn id="51" dur="26">
                                          <p:stCondLst>
                                            <p:cond delay="1312"/>
                                          </p:stCondLst>
                                        </p:cTn>
                                        <p:tgtEl>
                                          <p:spTgt spid="8"/>
                                        </p:tgtEl>
                                      </p:cBhvr>
                                      <p:to x="100000" y="80000"/>
                                    </p:animScale>
                                    <p:animScale>
                                      <p:cBhvr>
                                        <p:cTn id="52" dur="166" decel="50000">
                                          <p:stCondLst>
                                            <p:cond delay="1338"/>
                                          </p:stCondLst>
                                        </p:cTn>
                                        <p:tgtEl>
                                          <p:spTgt spid="8"/>
                                        </p:tgtEl>
                                      </p:cBhvr>
                                      <p:to x="100000" y="100000"/>
                                    </p:animScale>
                                    <p:animScale>
                                      <p:cBhvr>
                                        <p:cTn id="53" dur="26">
                                          <p:stCondLst>
                                            <p:cond delay="1642"/>
                                          </p:stCondLst>
                                        </p:cTn>
                                        <p:tgtEl>
                                          <p:spTgt spid="8"/>
                                        </p:tgtEl>
                                      </p:cBhvr>
                                      <p:to x="100000" y="90000"/>
                                    </p:animScale>
                                    <p:animScale>
                                      <p:cBhvr>
                                        <p:cTn id="54" dur="166" decel="50000">
                                          <p:stCondLst>
                                            <p:cond delay="1668"/>
                                          </p:stCondLst>
                                        </p:cTn>
                                        <p:tgtEl>
                                          <p:spTgt spid="8"/>
                                        </p:tgtEl>
                                      </p:cBhvr>
                                      <p:to x="100000" y="100000"/>
                                    </p:animScale>
                                    <p:animScale>
                                      <p:cBhvr>
                                        <p:cTn id="55" dur="26">
                                          <p:stCondLst>
                                            <p:cond delay="1808"/>
                                          </p:stCondLst>
                                        </p:cTn>
                                        <p:tgtEl>
                                          <p:spTgt spid="8"/>
                                        </p:tgtEl>
                                      </p:cBhvr>
                                      <p:to x="100000" y="95000"/>
                                    </p:animScale>
                                    <p:animScale>
                                      <p:cBhvr>
                                        <p:cTn id="56" dur="166" decel="50000">
                                          <p:stCondLst>
                                            <p:cond delay="1834"/>
                                          </p:stCondLst>
                                        </p:cTn>
                                        <p:tgtEl>
                                          <p:spTgt spid="8"/>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732174"/>
                                        </p:tgtEl>
                                        <p:attrNameLst>
                                          <p:attrName>style.visibility</p:attrName>
                                        </p:attrNameLst>
                                      </p:cBhvr>
                                      <p:to>
                                        <p:strVal val="visible"/>
                                      </p:to>
                                    </p:set>
                                    <p:animEffect transition="in" filter="blinds(horizontal)">
                                      <p:cBhvr>
                                        <p:cTn id="61" dur="500"/>
                                        <p:tgtEl>
                                          <p:spTgt spid="73217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nodeType="clickEffect">
                                  <p:stCondLst>
                                    <p:cond delay="0"/>
                                  </p:stCondLst>
                                  <p:childTnLst>
                                    <p:set>
                                      <p:cBhvr>
                                        <p:cTn id="65" dur="1" fill="hold">
                                          <p:stCondLst>
                                            <p:cond delay="0"/>
                                          </p:stCondLst>
                                        </p:cTn>
                                        <p:tgtEl>
                                          <p:spTgt spid="732178">
                                            <p:txEl>
                                              <p:pRg st="0" end="0"/>
                                            </p:txEl>
                                          </p:spTgt>
                                        </p:tgtEl>
                                        <p:attrNameLst>
                                          <p:attrName>style.visibility</p:attrName>
                                        </p:attrNameLst>
                                      </p:cBhvr>
                                      <p:to>
                                        <p:strVal val="visible"/>
                                      </p:to>
                                    </p:set>
                                    <p:animEffect transition="in" filter="blinds(horizontal)">
                                      <p:cBhvr>
                                        <p:cTn id="66" dur="500"/>
                                        <p:tgtEl>
                                          <p:spTgt spid="732178">
                                            <p:txEl>
                                              <p:pRg st="0" end="0"/>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21" fill="hold" nodeType="clickEffect">
                                  <p:stCondLst>
                                    <p:cond delay="0"/>
                                  </p:stCondLst>
                                  <p:childTnLst>
                                    <p:set>
                                      <p:cBhvr>
                                        <p:cTn id="70" dur="1" fill="hold">
                                          <p:stCondLst>
                                            <p:cond delay="0"/>
                                          </p:stCondLst>
                                        </p:cTn>
                                        <p:tgtEl>
                                          <p:spTgt spid="6"/>
                                        </p:tgtEl>
                                        <p:attrNameLst>
                                          <p:attrName>style.visibility</p:attrName>
                                        </p:attrNameLst>
                                      </p:cBhvr>
                                      <p:to>
                                        <p:strVal val="visible"/>
                                      </p:to>
                                    </p:set>
                                    <p:animEffect transition="in" filter="barn(inVertical)">
                                      <p:cBhvr>
                                        <p:cTn id="71" dur="500"/>
                                        <p:tgtEl>
                                          <p:spTgt spid="6"/>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6" presetClass="exit" presetSubtype="21" fill="hold" grpId="0" nodeType="clickEffect">
                                  <p:stCondLst>
                                    <p:cond delay="0"/>
                                  </p:stCondLst>
                                  <p:childTnLst>
                                    <p:animEffect transition="out" filter="barn(inVertical)">
                                      <p:cBhvr>
                                        <p:cTn id="75" dur="500"/>
                                        <p:tgtEl>
                                          <p:spTgt spid="732184"/>
                                        </p:tgtEl>
                                      </p:cBhvr>
                                    </p:animEffect>
                                    <p:set>
                                      <p:cBhvr>
                                        <p:cTn id="76" dur="1" fill="hold">
                                          <p:stCondLst>
                                            <p:cond delay="499"/>
                                          </p:stCondLst>
                                        </p:cTn>
                                        <p:tgtEl>
                                          <p:spTgt spid="732184"/>
                                        </p:tgtEl>
                                        <p:attrNameLst>
                                          <p:attrName>style.visibility</p:attrName>
                                        </p:attrNameLst>
                                      </p:cBhvr>
                                      <p:to>
                                        <p:strVal val="hidden"/>
                                      </p:to>
                                    </p:set>
                                  </p:childTnLst>
                                </p:cTn>
                              </p:par>
                            </p:childTnLst>
                          </p:cTn>
                        </p:par>
                        <p:par>
                          <p:cTn id="77" fill="hold">
                            <p:stCondLst>
                              <p:cond delay="500"/>
                            </p:stCondLst>
                            <p:childTnLst>
                              <p:par>
                                <p:cTn id="78" presetID="26" presetClass="entr" presetSubtype="0" fill="hold" grpId="0" nodeType="after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wipe(down)">
                                      <p:cBhvr>
                                        <p:cTn id="80" dur="580">
                                          <p:stCondLst>
                                            <p:cond delay="0"/>
                                          </p:stCondLst>
                                        </p:cTn>
                                        <p:tgtEl>
                                          <p:spTgt spid="30"/>
                                        </p:tgtEl>
                                      </p:cBhvr>
                                    </p:animEffect>
                                    <p:anim calcmode="lin" valueType="num">
                                      <p:cBhvr>
                                        <p:cTn id="81" dur="1822"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82" dur="664"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83" dur="664" tmFilter="0, 0; 0.125,0.2665; 0.25,0.4; 0.375,0.465; 0.5,0.5;  0.625,0.535; 0.75,0.6; 0.875,0.7335; 1,1">
                                          <p:stCondLst>
                                            <p:cond delay="664"/>
                                          </p:stCondLst>
                                        </p:cTn>
                                        <p:tgtEl>
                                          <p:spTgt spid="30"/>
                                        </p:tgtEl>
                                        <p:attrNameLst>
                                          <p:attrName>ppt_y</p:attrName>
                                        </p:attrNameLst>
                                      </p:cBhvr>
                                      <p:tavLst>
                                        <p:tav tm="0" fmla="#ppt_y-sin(pi*$)/9">
                                          <p:val>
                                            <p:fltVal val="0"/>
                                          </p:val>
                                        </p:tav>
                                        <p:tav tm="100000">
                                          <p:val>
                                            <p:fltVal val="1"/>
                                          </p:val>
                                        </p:tav>
                                      </p:tavLst>
                                    </p:anim>
                                    <p:anim calcmode="lin" valueType="num">
                                      <p:cBhvr>
                                        <p:cTn id="84" dur="332" tmFilter="0, 0; 0.125,0.2665; 0.25,0.4; 0.375,0.465; 0.5,0.5;  0.625,0.535; 0.75,0.6; 0.875,0.7335; 1,1">
                                          <p:stCondLst>
                                            <p:cond delay="1324"/>
                                          </p:stCondLst>
                                        </p:cTn>
                                        <p:tgtEl>
                                          <p:spTgt spid="30"/>
                                        </p:tgtEl>
                                        <p:attrNameLst>
                                          <p:attrName>ppt_y</p:attrName>
                                        </p:attrNameLst>
                                      </p:cBhvr>
                                      <p:tavLst>
                                        <p:tav tm="0" fmla="#ppt_y-sin(pi*$)/27">
                                          <p:val>
                                            <p:fltVal val="0"/>
                                          </p:val>
                                        </p:tav>
                                        <p:tav tm="100000">
                                          <p:val>
                                            <p:fltVal val="1"/>
                                          </p:val>
                                        </p:tav>
                                      </p:tavLst>
                                    </p:anim>
                                    <p:anim calcmode="lin" valueType="num">
                                      <p:cBhvr>
                                        <p:cTn id="85" dur="164" tmFilter="0, 0; 0.125,0.2665; 0.25,0.4; 0.375,0.465; 0.5,0.5;  0.625,0.535; 0.75,0.6; 0.875,0.7335; 1,1">
                                          <p:stCondLst>
                                            <p:cond delay="1656"/>
                                          </p:stCondLst>
                                        </p:cTn>
                                        <p:tgtEl>
                                          <p:spTgt spid="30"/>
                                        </p:tgtEl>
                                        <p:attrNameLst>
                                          <p:attrName>ppt_y</p:attrName>
                                        </p:attrNameLst>
                                      </p:cBhvr>
                                      <p:tavLst>
                                        <p:tav tm="0" fmla="#ppt_y-sin(pi*$)/81">
                                          <p:val>
                                            <p:fltVal val="0"/>
                                          </p:val>
                                        </p:tav>
                                        <p:tav tm="100000">
                                          <p:val>
                                            <p:fltVal val="1"/>
                                          </p:val>
                                        </p:tav>
                                      </p:tavLst>
                                    </p:anim>
                                    <p:animScale>
                                      <p:cBhvr>
                                        <p:cTn id="86" dur="26">
                                          <p:stCondLst>
                                            <p:cond delay="650"/>
                                          </p:stCondLst>
                                        </p:cTn>
                                        <p:tgtEl>
                                          <p:spTgt spid="30"/>
                                        </p:tgtEl>
                                      </p:cBhvr>
                                      <p:to x="100000" y="60000"/>
                                    </p:animScale>
                                    <p:animScale>
                                      <p:cBhvr>
                                        <p:cTn id="87" dur="166" decel="50000">
                                          <p:stCondLst>
                                            <p:cond delay="676"/>
                                          </p:stCondLst>
                                        </p:cTn>
                                        <p:tgtEl>
                                          <p:spTgt spid="30"/>
                                        </p:tgtEl>
                                      </p:cBhvr>
                                      <p:to x="100000" y="100000"/>
                                    </p:animScale>
                                    <p:animScale>
                                      <p:cBhvr>
                                        <p:cTn id="88" dur="26">
                                          <p:stCondLst>
                                            <p:cond delay="1312"/>
                                          </p:stCondLst>
                                        </p:cTn>
                                        <p:tgtEl>
                                          <p:spTgt spid="30"/>
                                        </p:tgtEl>
                                      </p:cBhvr>
                                      <p:to x="100000" y="80000"/>
                                    </p:animScale>
                                    <p:animScale>
                                      <p:cBhvr>
                                        <p:cTn id="89" dur="166" decel="50000">
                                          <p:stCondLst>
                                            <p:cond delay="1338"/>
                                          </p:stCondLst>
                                        </p:cTn>
                                        <p:tgtEl>
                                          <p:spTgt spid="30"/>
                                        </p:tgtEl>
                                      </p:cBhvr>
                                      <p:to x="100000" y="100000"/>
                                    </p:animScale>
                                    <p:animScale>
                                      <p:cBhvr>
                                        <p:cTn id="90" dur="26">
                                          <p:stCondLst>
                                            <p:cond delay="1642"/>
                                          </p:stCondLst>
                                        </p:cTn>
                                        <p:tgtEl>
                                          <p:spTgt spid="30"/>
                                        </p:tgtEl>
                                      </p:cBhvr>
                                      <p:to x="100000" y="90000"/>
                                    </p:animScale>
                                    <p:animScale>
                                      <p:cBhvr>
                                        <p:cTn id="91" dur="166" decel="50000">
                                          <p:stCondLst>
                                            <p:cond delay="1668"/>
                                          </p:stCondLst>
                                        </p:cTn>
                                        <p:tgtEl>
                                          <p:spTgt spid="30"/>
                                        </p:tgtEl>
                                      </p:cBhvr>
                                      <p:to x="100000" y="100000"/>
                                    </p:animScale>
                                    <p:animScale>
                                      <p:cBhvr>
                                        <p:cTn id="92" dur="26">
                                          <p:stCondLst>
                                            <p:cond delay="1808"/>
                                          </p:stCondLst>
                                        </p:cTn>
                                        <p:tgtEl>
                                          <p:spTgt spid="30"/>
                                        </p:tgtEl>
                                      </p:cBhvr>
                                      <p:to x="100000" y="95000"/>
                                    </p:animScale>
                                    <p:animScale>
                                      <p:cBhvr>
                                        <p:cTn id="93" dur="166" decel="50000">
                                          <p:stCondLst>
                                            <p:cond delay="1834"/>
                                          </p:stCondLst>
                                        </p:cTn>
                                        <p:tgtEl>
                                          <p:spTgt spid="30"/>
                                        </p:tgtEl>
                                      </p:cBhvr>
                                      <p:to x="100000" y="100000"/>
                                    </p:animScale>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nodeType="clickEffect">
                                  <p:stCondLst>
                                    <p:cond delay="0"/>
                                  </p:stCondLst>
                                  <p:childTnLst>
                                    <p:set>
                                      <p:cBhvr>
                                        <p:cTn id="97" dur="1" fill="hold">
                                          <p:stCondLst>
                                            <p:cond delay="0"/>
                                          </p:stCondLst>
                                        </p:cTn>
                                        <p:tgtEl>
                                          <p:spTgt spid="732175"/>
                                        </p:tgtEl>
                                        <p:attrNameLst>
                                          <p:attrName>style.visibility</p:attrName>
                                        </p:attrNameLst>
                                      </p:cBhvr>
                                      <p:to>
                                        <p:strVal val="visible"/>
                                      </p:to>
                                    </p:set>
                                    <p:animEffect transition="in" filter="blinds(horizontal)">
                                      <p:cBhvr>
                                        <p:cTn id="98" dur="500"/>
                                        <p:tgtEl>
                                          <p:spTgt spid="732175"/>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732179"/>
                                        </p:tgtEl>
                                        <p:attrNameLst>
                                          <p:attrName>style.visibility</p:attrName>
                                        </p:attrNameLst>
                                      </p:cBhvr>
                                      <p:to>
                                        <p:strVal val="visible"/>
                                      </p:to>
                                    </p:set>
                                    <p:animEffect transition="in" filter="blinds(horizontal)">
                                      <p:cBhvr>
                                        <p:cTn id="103" dur="500"/>
                                        <p:tgtEl>
                                          <p:spTgt spid="732179"/>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8" presetClass="exit" presetSubtype="16" fill="hold" grpId="0" nodeType="clickEffect">
                                  <p:stCondLst>
                                    <p:cond delay="0"/>
                                  </p:stCondLst>
                                  <p:childTnLst>
                                    <p:animEffect transition="out" filter="diamond(in)">
                                      <p:cBhvr>
                                        <p:cTn id="107" dur="500"/>
                                        <p:tgtEl>
                                          <p:spTgt spid="732181"/>
                                        </p:tgtEl>
                                      </p:cBhvr>
                                    </p:animEffect>
                                    <p:set>
                                      <p:cBhvr>
                                        <p:cTn id="108" dur="1" fill="hold">
                                          <p:stCondLst>
                                            <p:cond delay="499"/>
                                          </p:stCondLst>
                                        </p:cTn>
                                        <p:tgtEl>
                                          <p:spTgt spid="73218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2171" grpId="0"/>
      <p:bldP spid="732173" grpId="0"/>
      <p:bldP spid="732179" grpId="0"/>
      <p:bldP spid="732181" grpId="0" animBg="1"/>
      <p:bldP spid="732184" grpId="0" animBg="1"/>
      <p:bldP spid="8" grpId="0" animBg="1"/>
      <p:bldP spid="30"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7" name="Picture 9" descr="反馈稳定性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5887" y="0"/>
            <a:ext cx="6480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4212" name="Rectangle 4"/>
          <p:cNvSpPr>
            <a:spLocks noGrp="1" noChangeArrowheads="1"/>
          </p:cNvSpPr>
          <p:nvPr>
            <p:ph type="title"/>
          </p:nvPr>
        </p:nvSpPr>
        <p:spPr>
          <a:xfrm>
            <a:off x="282575" y="609600"/>
            <a:ext cx="2838450" cy="1143000"/>
          </a:xfrm>
          <a:extLst>
            <a:ext uri="{909E8E84-426E-40DD-AFC4-6F175D3DCCD1}">
              <a14:hiddenFill xmlns:a14="http://schemas.microsoft.com/office/drawing/2010/main">
                <a:gradFill rotWithShape="0">
                  <a:gsLst>
                    <a:gs pos="0">
                      <a:srgbClr val="76765E"/>
                    </a:gs>
                    <a:gs pos="50000">
                      <a:srgbClr val="FFFFCC"/>
                    </a:gs>
                    <a:gs pos="100000">
                      <a:srgbClr val="76765E"/>
                    </a:gs>
                  </a:gsLst>
                  <a:lin ang="5400000" scaled="1"/>
                </a:gradFill>
              </a14:hiddenFill>
            </a:ext>
          </a:extLst>
        </p:spPr>
        <p:txBody>
          <a:bodyPr/>
          <a:lstStyle/>
          <a:p>
            <a:pPr algn="l" eaLnBrk="1" hangingPunct="1"/>
            <a:r>
              <a:rPr lang="zh-CN" altLang="en-US" sz="2000" b="1" dirty="0" smtClean="0"/>
              <a:t>若引入的负反馈为</a:t>
            </a:r>
          </a:p>
        </p:txBody>
      </p:sp>
      <p:graphicFrame>
        <p:nvGraphicFramePr>
          <p:cNvPr id="734213" name="Object 5"/>
          <p:cNvGraphicFramePr>
            <a:graphicFrameLocks noChangeAspect="1"/>
          </p:cNvGraphicFramePr>
          <p:nvPr>
            <p:extLst>
              <p:ext uri="{D42A27DB-BD31-4B8C-83A1-F6EECF244321}">
                <p14:modId xmlns:p14="http://schemas.microsoft.com/office/powerpoint/2010/main" val="2999138100"/>
              </p:ext>
            </p:extLst>
          </p:nvPr>
        </p:nvGraphicFramePr>
        <p:xfrm>
          <a:off x="779427" y="1635126"/>
          <a:ext cx="2033658" cy="388451"/>
        </p:xfrm>
        <a:graphic>
          <a:graphicData uri="http://schemas.openxmlformats.org/presentationml/2006/ole">
            <mc:AlternateContent xmlns:mc="http://schemas.openxmlformats.org/markup-compatibility/2006">
              <mc:Choice xmlns:v="urn:schemas-microsoft-com:vml" Requires="v">
                <p:oleObj spid="_x0000_s74262" name="Equation" r:id="rId4" imgW="1129810" imgH="215806" progId="Equation.DSMT4">
                  <p:embed/>
                </p:oleObj>
              </mc:Choice>
              <mc:Fallback>
                <p:oleObj name="Equation" r:id="rId4" imgW="1129810" imgH="215806"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9427" y="1635126"/>
                        <a:ext cx="2033658" cy="3884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4214" name="Rectangle 6"/>
          <p:cNvSpPr>
            <a:spLocks noChangeArrowheads="1"/>
          </p:cNvSpPr>
          <p:nvPr/>
        </p:nvSpPr>
        <p:spPr bwMode="auto">
          <a:xfrm>
            <a:off x="179388" y="2349500"/>
            <a:ext cx="2649537" cy="609600"/>
          </a:xfrm>
          <a:prstGeom prst="rect">
            <a:avLst/>
          </a:prstGeom>
          <a:noFill/>
          <a:ln>
            <a:noFill/>
          </a:ln>
          <a:effectLst/>
          <a:extLst>
            <a:ext uri="{909E8E84-426E-40DD-AFC4-6F175D3DCCD1}">
              <a14:hiddenFill xmlns:a14="http://schemas.microsoft.com/office/drawing/2010/main">
                <a:gradFill rotWithShape="0">
                  <a:gsLst>
                    <a:gs pos="0">
                      <a:srgbClr val="76765E"/>
                    </a:gs>
                    <a:gs pos="50000">
                      <a:srgbClr val="FFFFCC"/>
                    </a:gs>
                    <a:gs pos="100000">
                      <a:srgbClr val="76765E"/>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a:solidFill>
                  <a:schemeClr val="tx2"/>
                </a:solidFill>
              </a:rPr>
              <a:t>问放大器是否稳定？</a:t>
            </a:r>
          </a:p>
        </p:txBody>
      </p:sp>
      <p:graphicFrame>
        <p:nvGraphicFramePr>
          <p:cNvPr id="734216" name="Object 8"/>
          <p:cNvGraphicFramePr>
            <a:graphicFrameLocks noGrp="1" noChangeAspect="1"/>
          </p:cNvGraphicFramePr>
          <p:nvPr>
            <p:ph idx="1"/>
            <p:extLst>
              <p:ext uri="{D42A27DB-BD31-4B8C-83A1-F6EECF244321}">
                <p14:modId xmlns:p14="http://schemas.microsoft.com/office/powerpoint/2010/main" val="318562065"/>
              </p:ext>
            </p:extLst>
          </p:nvPr>
        </p:nvGraphicFramePr>
        <p:xfrm>
          <a:off x="978603" y="4294188"/>
          <a:ext cx="1051105" cy="708352"/>
        </p:xfrm>
        <a:graphic>
          <a:graphicData uri="http://schemas.openxmlformats.org/presentationml/2006/ole">
            <mc:AlternateContent xmlns:mc="http://schemas.openxmlformats.org/markup-compatibility/2006">
              <mc:Choice xmlns:v="urn:schemas-microsoft-com:vml" Requires="v">
                <p:oleObj spid="_x0000_s74263" name="Equation" r:id="rId6" imgW="583947" imgH="393529" progId="Equation.DSMT4">
                  <p:embed/>
                </p:oleObj>
              </mc:Choice>
              <mc:Fallback>
                <p:oleObj name="Equation" r:id="rId6" imgW="583947" imgH="393529"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8603" y="4294188"/>
                        <a:ext cx="1051105" cy="708352"/>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4218" name="Rectangle 10"/>
          <p:cNvSpPr>
            <a:spLocks noChangeArrowheads="1"/>
          </p:cNvSpPr>
          <p:nvPr/>
        </p:nvSpPr>
        <p:spPr bwMode="auto">
          <a:xfrm>
            <a:off x="203200" y="3684588"/>
            <a:ext cx="2649538" cy="609600"/>
          </a:xfrm>
          <a:prstGeom prst="rect">
            <a:avLst/>
          </a:prstGeom>
          <a:noFill/>
          <a:ln>
            <a:noFill/>
          </a:ln>
          <a:effectLst/>
          <a:extLst>
            <a:ext uri="{909E8E84-426E-40DD-AFC4-6F175D3DCCD1}">
              <a14:hiddenFill xmlns:a14="http://schemas.microsoft.com/office/drawing/2010/main">
                <a:gradFill rotWithShape="0">
                  <a:gsLst>
                    <a:gs pos="0">
                      <a:srgbClr val="76765E"/>
                    </a:gs>
                    <a:gs pos="50000">
                      <a:srgbClr val="FFFFCC"/>
                    </a:gs>
                    <a:gs pos="100000">
                      <a:srgbClr val="76765E"/>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a:solidFill>
                  <a:schemeClr val="tx2"/>
                </a:solidFill>
              </a:rPr>
              <a:t>相位裕度</a:t>
            </a:r>
          </a:p>
        </p:txBody>
      </p:sp>
      <p:sp>
        <p:nvSpPr>
          <p:cNvPr id="734219" name="Rectangle 11"/>
          <p:cNvSpPr>
            <a:spLocks noChangeArrowheads="1"/>
          </p:cNvSpPr>
          <p:nvPr/>
        </p:nvSpPr>
        <p:spPr bwMode="auto">
          <a:xfrm>
            <a:off x="471488" y="5397500"/>
            <a:ext cx="2649537" cy="609600"/>
          </a:xfrm>
          <a:prstGeom prst="rect">
            <a:avLst/>
          </a:prstGeom>
          <a:noFill/>
          <a:ln>
            <a:noFill/>
          </a:ln>
          <a:effectLst/>
          <a:extLst>
            <a:ext uri="{909E8E84-426E-40DD-AFC4-6F175D3DCCD1}">
              <a14:hiddenFill xmlns:a14="http://schemas.microsoft.com/office/drawing/2010/main">
                <a:gradFill rotWithShape="0">
                  <a:gsLst>
                    <a:gs pos="0">
                      <a:srgbClr val="76765E"/>
                    </a:gs>
                    <a:gs pos="50000">
                      <a:srgbClr val="FFFFCC"/>
                    </a:gs>
                    <a:gs pos="100000">
                      <a:srgbClr val="76765E"/>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a:solidFill>
                  <a:schemeClr val="tx2"/>
                </a:solidFill>
              </a:rPr>
              <a:t>放大器不稳定</a:t>
            </a:r>
          </a:p>
        </p:txBody>
      </p:sp>
      <p:sp>
        <p:nvSpPr>
          <p:cNvPr id="734221" name="Rectangle 13"/>
          <p:cNvSpPr>
            <a:spLocks noChangeArrowheads="1"/>
          </p:cNvSpPr>
          <p:nvPr/>
        </p:nvSpPr>
        <p:spPr bwMode="auto">
          <a:xfrm>
            <a:off x="5286375" y="2438400"/>
            <a:ext cx="733425" cy="20955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endParaRPr lang="zh-CN" altLang="en-US" sz="2400"/>
          </a:p>
        </p:txBody>
      </p:sp>
      <p:cxnSp>
        <p:nvCxnSpPr>
          <p:cNvPr id="10" name="直接连接符 9"/>
          <p:cNvCxnSpPr/>
          <p:nvPr/>
        </p:nvCxnSpPr>
        <p:spPr bwMode="auto">
          <a:xfrm>
            <a:off x="4402491" y="2254804"/>
            <a:ext cx="3044120" cy="8486"/>
          </a:xfrm>
          <a:prstGeom prst="line">
            <a:avLst/>
          </a:prstGeom>
          <a:solidFill>
            <a:srgbClr val="99FF99"/>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 name="组合 4"/>
          <p:cNvGrpSpPr/>
          <p:nvPr/>
        </p:nvGrpSpPr>
        <p:grpSpPr>
          <a:xfrm>
            <a:off x="4453008" y="2324549"/>
            <a:ext cx="2537728" cy="3771451"/>
            <a:chOff x="4453008" y="2324549"/>
            <a:chExt cx="2537728" cy="3771451"/>
          </a:xfrm>
        </p:grpSpPr>
        <p:cxnSp>
          <p:nvCxnSpPr>
            <p:cNvPr id="11" name="直接连接符 10"/>
            <p:cNvCxnSpPr/>
            <p:nvPr/>
          </p:nvCxnSpPr>
          <p:spPr bwMode="auto">
            <a:xfrm>
              <a:off x="4453008" y="6075998"/>
              <a:ext cx="2537728" cy="20002"/>
            </a:xfrm>
            <a:prstGeom prst="line">
              <a:avLst/>
            </a:prstGeom>
            <a:solidFill>
              <a:srgbClr val="99FF99"/>
            </a:solidFill>
            <a:ln w="28575" cap="flat" cmpd="sng" algn="ctr">
              <a:solidFill>
                <a:srgbClr val="FF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12"/>
            <p:cNvCxnSpPr/>
            <p:nvPr/>
          </p:nvCxnSpPr>
          <p:spPr bwMode="auto">
            <a:xfrm flipH="1">
              <a:off x="6939280" y="2324549"/>
              <a:ext cx="10817" cy="3751449"/>
            </a:xfrm>
            <a:prstGeom prst="line">
              <a:avLst/>
            </a:prstGeom>
            <a:solidFill>
              <a:srgbClr val="99FF99"/>
            </a:solidFill>
            <a:ln w="28575" cap="flat" cmpd="sng" algn="ctr">
              <a:solidFill>
                <a:srgbClr val="FF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 name="椭圆 5"/>
          <p:cNvSpPr/>
          <p:nvPr/>
        </p:nvSpPr>
        <p:spPr bwMode="auto">
          <a:xfrm>
            <a:off x="6903720" y="4560580"/>
            <a:ext cx="81936" cy="72964"/>
          </a:xfrm>
          <a:prstGeom prst="ellipse">
            <a:avLst/>
          </a:prstGeom>
          <a:solidFill>
            <a:schemeClr val="tx1"/>
          </a:solidFill>
          <a:ln w="9525" cap="flat" cmpd="sng" algn="ctr">
            <a:no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20" name="椭圆 19"/>
          <p:cNvSpPr/>
          <p:nvPr/>
        </p:nvSpPr>
        <p:spPr bwMode="auto">
          <a:xfrm>
            <a:off x="6908800" y="3895100"/>
            <a:ext cx="81936" cy="72964"/>
          </a:xfrm>
          <a:prstGeom prst="ellipse">
            <a:avLst/>
          </a:prstGeom>
          <a:solidFill>
            <a:schemeClr val="tx1"/>
          </a:solidFill>
          <a:ln w="9525" cap="flat" cmpd="sng" algn="ctr">
            <a:no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8" name="矩形 7"/>
          <p:cNvSpPr/>
          <p:nvPr/>
        </p:nvSpPr>
        <p:spPr bwMode="auto">
          <a:xfrm>
            <a:off x="6410255" y="3469859"/>
            <a:ext cx="330905" cy="177581"/>
          </a:xfrm>
          <a:prstGeom prst="rect">
            <a:avLst/>
          </a:prstGeom>
          <a:solidFill>
            <a:schemeClr val="bg1"/>
          </a:solidFill>
          <a:ln w="9525" cap="flat" cmpd="sng" algn="ctr">
            <a:no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1" i="0" u="none" strike="noStrike" cap="none" normalizeH="0" baseline="0" smtClean="0">
              <a:ln>
                <a:noFill/>
              </a:ln>
              <a:solidFill>
                <a:schemeClr val="tx1"/>
              </a:solidFill>
              <a:effectLst/>
              <a:latin typeface="Times New Roman" pitchFamily="18" charset="0"/>
              <a:ea typeface="宋体" pitchFamily="2" charset="-122"/>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102813450"/>
              </p:ext>
            </p:extLst>
          </p:nvPr>
        </p:nvGraphicFramePr>
        <p:xfrm>
          <a:off x="6467739" y="3364774"/>
          <a:ext cx="215935" cy="298987"/>
        </p:xfrm>
        <a:graphic>
          <a:graphicData uri="http://schemas.openxmlformats.org/presentationml/2006/ole">
            <mc:AlternateContent xmlns:mc="http://schemas.openxmlformats.org/markup-compatibility/2006">
              <mc:Choice xmlns:v="urn:schemas-microsoft-com:vml" Requires="v">
                <p:oleObj spid="_x0000_s74264" name="Equation" r:id="rId8" imgW="164880" imgH="228600" progId="Equation.DSMT4">
                  <p:embed/>
                </p:oleObj>
              </mc:Choice>
              <mc:Fallback>
                <p:oleObj name="Equation" r:id="rId8" imgW="164880" imgH="228600" progId="Equation.DSMT4">
                  <p:embed/>
                  <p:pic>
                    <p:nvPicPr>
                      <p:cNvPr id="0" name=""/>
                      <p:cNvPicPr/>
                      <p:nvPr/>
                    </p:nvPicPr>
                    <p:blipFill>
                      <a:blip r:embed="rId9"/>
                      <a:stretch>
                        <a:fillRect/>
                      </a:stretch>
                    </p:blipFill>
                    <p:spPr>
                      <a:xfrm>
                        <a:off x="6467739" y="3364774"/>
                        <a:ext cx="215935" cy="298987"/>
                      </a:xfrm>
                      <a:prstGeom prst="rect">
                        <a:avLst/>
                      </a:prstGeom>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3826243193"/>
              </p:ext>
            </p:extLst>
          </p:nvPr>
        </p:nvGraphicFramePr>
        <p:xfrm>
          <a:off x="7066000" y="3364773"/>
          <a:ext cx="215935" cy="298987"/>
        </p:xfrm>
        <a:graphic>
          <a:graphicData uri="http://schemas.openxmlformats.org/presentationml/2006/ole">
            <mc:AlternateContent xmlns:mc="http://schemas.openxmlformats.org/markup-compatibility/2006">
              <mc:Choice xmlns:v="urn:schemas-microsoft-com:vml" Requires="v">
                <p:oleObj spid="_x0000_s74265" name="Equation" r:id="rId10" imgW="164880" imgH="228600" progId="Equation.DSMT4">
                  <p:embed/>
                </p:oleObj>
              </mc:Choice>
              <mc:Fallback>
                <p:oleObj name="Equation" r:id="rId10" imgW="164880" imgH="228600" progId="Equation.DSMT4">
                  <p:embed/>
                  <p:pic>
                    <p:nvPicPr>
                      <p:cNvPr id="0" name=""/>
                      <p:cNvPicPr/>
                      <p:nvPr/>
                    </p:nvPicPr>
                    <p:blipFill>
                      <a:blip r:embed="rId11"/>
                      <a:stretch>
                        <a:fillRect/>
                      </a:stretch>
                    </p:blipFill>
                    <p:spPr>
                      <a:xfrm>
                        <a:off x="7066000" y="3364773"/>
                        <a:ext cx="215935" cy="298987"/>
                      </a:xfrm>
                      <a:prstGeom prst="rect">
                        <a:avLst/>
                      </a:prstGeom>
                    </p:spPr>
                  </p:pic>
                </p:oleObj>
              </mc:Fallback>
            </mc:AlternateContent>
          </a:graphicData>
        </a:graphic>
      </p:graphicFrame>
      <p:cxnSp>
        <p:nvCxnSpPr>
          <p:cNvPr id="14" name="直接箭头连接符 13"/>
          <p:cNvCxnSpPr/>
          <p:nvPr/>
        </p:nvCxnSpPr>
        <p:spPr bwMode="auto">
          <a:xfrm flipH="1">
            <a:off x="7004715" y="3663761"/>
            <a:ext cx="131416" cy="210512"/>
          </a:xfrm>
          <a:prstGeom prst="straightConnector1">
            <a:avLst/>
          </a:prstGeom>
          <a:solidFill>
            <a:srgbClr val="99FF99"/>
          </a:solidFill>
          <a:ln w="19050"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4212"/>
                                        </p:tgtEl>
                                        <p:attrNameLst>
                                          <p:attrName>style.visibility</p:attrName>
                                        </p:attrNameLst>
                                      </p:cBhvr>
                                      <p:to>
                                        <p:strVal val="visible"/>
                                      </p:to>
                                    </p:set>
                                    <p:animEffect transition="in" filter="blinds(horizontal)">
                                      <p:cBhvr>
                                        <p:cTn id="7" dur="500"/>
                                        <p:tgtEl>
                                          <p:spTgt spid="734212"/>
                                        </p:tgtEl>
                                      </p:cBhvr>
                                    </p:animEffect>
                                  </p:childTnLst>
                                </p:cTn>
                              </p:par>
                              <p:par>
                                <p:cTn id="8" presetID="3" presetClass="entr" presetSubtype="10" fill="hold" nodeType="withEffect">
                                  <p:stCondLst>
                                    <p:cond delay="0"/>
                                  </p:stCondLst>
                                  <p:childTnLst>
                                    <p:set>
                                      <p:cBhvr>
                                        <p:cTn id="9" dur="1" fill="hold">
                                          <p:stCondLst>
                                            <p:cond delay="0"/>
                                          </p:stCondLst>
                                        </p:cTn>
                                        <p:tgtEl>
                                          <p:spTgt spid="734213"/>
                                        </p:tgtEl>
                                        <p:attrNameLst>
                                          <p:attrName>style.visibility</p:attrName>
                                        </p:attrNameLst>
                                      </p:cBhvr>
                                      <p:to>
                                        <p:strVal val="visible"/>
                                      </p:to>
                                    </p:set>
                                    <p:animEffect transition="in" filter="blinds(horizontal)">
                                      <p:cBhvr>
                                        <p:cTn id="10" dur="500"/>
                                        <p:tgtEl>
                                          <p:spTgt spid="73421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34214"/>
                                        </p:tgtEl>
                                        <p:attrNameLst>
                                          <p:attrName>style.visibility</p:attrName>
                                        </p:attrNameLst>
                                      </p:cBhvr>
                                      <p:to>
                                        <p:strVal val="visible"/>
                                      </p:to>
                                    </p:set>
                                    <p:animEffect transition="in" filter="blinds(horizontal)">
                                      <p:cBhvr>
                                        <p:cTn id="13" dur="500"/>
                                        <p:tgtEl>
                                          <p:spTgt spid="734214"/>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arn(inVertical)">
                                      <p:cBhvr>
                                        <p:cTn id="18" dur="500"/>
                                        <p:tgtEl>
                                          <p:spTgt spid="1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21"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arn(inVertical)">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734218"/>
                                        </p:tgtEl>
                                        <p:attrNameLst>
                                          <p:attrName>style.visibility</p:attrName>
                                        </p:attrNameLst>
                                      </p:cBhvr>
                                      <p:to>
                                        <p:strVal val="visible"/>
                                      </p:to>
                                    </p:set>
                                    <p:animEffect transition="in" filter="blinds(horizontal)">
                                      <p:cBhvr>
                                        <p:cTn id="28" dur="500"/>
                                        <p:tgtEl>
                                          <p:spTgt spid="734218"/>
                                        </p:tgtEl>
                                      </p:cBhvr>
                                    </p:animEffect>
                                  </p:childTnLst>
                                </p:cTn>
                              </p:par>
                              <p:par>
                                <p:cTn id="29" presetID="3" presetClass="entr" presetSubtype="10" fill="hold" nodeType="withEffect">
                                  <p:stCondLst>
                                    <p:cond delay="0"/>
                                  </p:stCondLst>
                                  <p:childTnLst>
                                    <p:set>
                                      <p:cBhvr>
                                        <p:cTn id="30" dur="1" fill="hold">
                                          <p:stCondLst>
                                            <p:cond delay="0"/>
                                          </p:stCondLst>
                                        </p:cTn>
                                        <p:tgtEl>
                                          <p:spTgt spid="734216"/>
                                        </p:tgtEl>
                                        <p:attrNameLst>
                                          <p:attrName>style.visibility</p:attrName>
                                        </p:attrNameLst>
                                      </p:cBhvr>
                                      <p:to>
                                        <p:strVal val="visible"/>
                                      </p:to>
                                    </p:set>
                                    <p:animEffect transition="in" filter="blinds(horizontal)">
                                      <p:cBhvr>
                                        <p:cTn id="31" dur="500"/>
                                        <p:tgtEl>
                                          <p:spTgt spid="73421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734219">
                                            <p:txEl>
                                              <p:pRg st="0" end="0"/>
                                            </p:txEl>
                                          </p:spTgt>
                                        </p:tgtEl>
                                        <p:attrNameLst>
                                          <p:attrName>style.visibility</p:attrName>
                                        </p:attrNameLst>
                                      </p:cBhvr>
                                      <p:to>
                                        <p:strVal val="visible"/>
                                      </p:to>
                                    </p:set>
                                    <p:animEffect transition="in" filter="blinds(horizontal)">
                                      <p:cBhvr>
                                        <p:cTn id="36" dur="500"/>
                                        <p:tgtEl>
                                          <p:spTgt spid="734219">
                                            <p:txEl>
                                              <p:pRg st="0" end="0"/>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8" presetClass="exit" presetSubtype="16" fill="hold" grpId="0" nodeType="clickEffect">
                                  <p:stCondLst>
                                    <p:cond delay="0"/>
                                  </p:stCondLst>
                                  <p:childTnLst>
                                    <p:animEffect transition="out" filter="diamond(in)">
                                      <p:cBhvr>
                                        <p:cTn id="40" dur="500"/>
                                        <p:tgtEl>
                                          <p:spTgt spid="734221"/>
                                        </p:tgtEl>
                                      </p:cBhvr>
                                    </p:animEffect>
                                    <p:set>
                                      <p:cBhvr>
                                        <p:cTn id="41" dur="1" fill="hold">
                                          <p:stCondLst>
                                            <p:cond delay="499"/>
                                          </p:stCondLst>
                                        </p:cTn>
                                        <p:tgtEl>
                                          <p:spTgt spid="7342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4212" grpId="0"/>
      <p:bldP spid="734214" grpId="0"/>
      <p:bldP spid="734218" grpId="0"/>
      <p:bldP spid="734221"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4754" name="Picture 3" descr="反馈稳定性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3825" y="0"/>
            <a:ext cx="6480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35237" name="Object 5"/>
          <p:cNvGraphicFramePr>
            <a:graphicFrameLocks noChangeAspect="1"/>
          </p:cNvGraphicFramePr>
          <p:nvPr>
            <p:extLst>
              <p:ext uri="{D42A27DB-BD31-4B8C-83A1-F6EECF244321}">
                <p14:modId xmlns:p14="http://schemas.microsoft.com/office/powerpoint/2010/main" val="3818200400"/>
              </p:ext>
            </p:extLst>
          </p:nvPr>
        </p:nvGraphicFramePr>
        <p:xfrm>
          <a:off x="283490" y="1290684"/>
          <a:ext cx="2033658" cy="388451"/>
        </p:xfrm>
        <a:graphic>
          <a:graphicData uri="http://schemas.openxmlformats.org/presentationml/2006/ole">
            <mc:AlternateContent xmlns:mc="http://schemas.openxmlformats.org/markup-compatibility/2006">
              <mc:Choice xmlns:v="urn:schemas-microsoft-com:vml" Requires="v">
                <p:oleObj spid="_x0000_s74974" name="Equation" r:id="rId4" imgW="1129810" imgH="215806" progId="Equation.DSMT4">
                  <p:embed/>
                </p:oleObj>
              </mc:Choice>
              <mc:Fallback>
                <p:oleObj name="Equation" r:id="rId4" imgW="1129810" imgH="215806"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490" y="1290684"/>
                        <a:ext cx="2033658" cy="3884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5240" name="Rectangle 8"/>
          <p:cNvSpPr>
            <a:spLocks noChangeArrowheads="1"/>
          </p:cNvSpPr>
          <p:nvPr/>
        </p:nvSpPr>
        <p:spPr bwMode="auto">
          <a:xfrm>
            <a:off x="174625" y="-13453"/>
            <a:ext cx="2692400" cy="1393825"/>
          </a:xfrm>
          <a:prstGeom prst="rect">
            <a:avLst/>
          </a:prstGeom>
          <a:noFill/>
          <a:ln>
            <a:noFill/>
          </a:ln>
          <a:effectLst/>
          <a:extLst>
            <a:ext uri="{909E8E84-426E-40DD-AFC4-6F175D3DCCD1}">
              <a14:hiddenFill xmlns:a14="http://schemas.microsoft.com/office/drawing/2010/main">
                <a:gradFill rotWithShape="0">
                  <a:gsLst>
                    <a:gs pos="0">
                      <a:srgbClr val="76765E"/>
                    </a:gs>
                    <a:gs pos="50000">
                      <a:srgbClr val="FFFFCC"/>
                    </a:gs>
                    <a:gs pos="100000">
                      <a:srgbClr val="76765E"/>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0"/>
              </a:spcBef>
              <a:buFontTx/>
              <a:buNone/>
            </a:pPr>
            <a:r>
              <a:rPr lang="zh-CN" altLang="en-US" sz="2000" dirty="0">
                <a:solidFill>
                  <a:schemeClr val="tx2"/>
                </a:solidFill>
              </a:rPr>
              <a:t>要使放大器稳定，允许引入的最大反馈？</a:t>
            </a:r>
          </a:p>
        </p:txBody>
      </p:sp>
      <p:cxnSp>
        <p:nvCxnSpPr>
          <p:cNvPr id="5" name="直接连接符 4"/>
          <p:cNvCxnSpPr/>
          <p:nvPr/>
        </p:nvCxnSpPr>
        <p:spPr bwMode="auto">
          <a:xfrm>
            <a:off x="4412368" y="5913438"/>
            <a:ext cx="2310695" cy="16845"/>
          </a:xfrm>
          <a:prstGeom prst="line">
            <a:avLst/>
          </a:prstGeom>
          <a:solidFill>
            <a:srgbClr val="99FF99"/>
          </a:solidFill>
          <a:ln w="28575" cap="flat" cmpd="sng" algn="ctr">
            <a:solidFill>
              <a:srgbClr val="FF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直接连接符 5"/>
          <p:cNvCxnSpPr/>
          <p:nvPr/>
        </p:nvCxnSpPr>
        <p:spPr bwMode="auto">
          <a:xfrm>
            <a:off x="4402491" y="1887948"/>
            <a:ext cx="2320572" cy="24813"/>
          </a:xfrm>
          <a:prstGeom prst="line">
            <a:avLst/>
          </a:prstGeom>
          <a:solidFill>
            <a:srgbClr val="99FF99"/>
          </a:solidFill>
          <a:ln w="28575" cap="flat" cmpd="sng" algn="ctr">
            <a:solidFill>
              <a:srgbClr val="FF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连接符 6"/>
          <p:cNvCxnSpPr/>
          <p:nvPr/>
        </p:nvCxnSpPr>
        <p:spPr bwMode="auto">
          <a:xfrm flipH="1">
            <a:off x="6750050" y="1932214"/>
            <a:ext cx="13615" cy="3939277"/>
          </a:xfrm>
          <a:prstGeom prst="line">
            <a:avLst/>
          </a:prstGeom>
          <a:solidFill>
            <a:srgbClr val="99FF99"/>
          </a:solidFill>
          <a:ln w="28575" cap="flat" cmpd="sng" algn="ctr">
            <a:solidFill>
              <a:srgbClr val="FF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Rectangle 8"/>
          <p:cNvSpPr>
            <a:spLocks noChangeArrowheads="1"/>
          </p:cNvSpPr>
          <p:nvPr/>
        </p:nvSpPr>
        <p:spPr bwMode="auto">
          <a:xfrm>
            <a:off x="174625" y="1810801"/>
            <a:ext cx="2692400" cy="1393825"/>
          </a:xfrm>
          <a:prstGeom prst="rect">
            <a:avLst/>
          </a:prstGeom>
          <a:noFill/>
          <a:ln>
            <a:noFill/>
          </a:ln>
          <a:effectLst/>
          <a:extLst>
            <a:ext uri="{909E8E84-426E-40DD-AFC4-6F175D3DCCD1}">
              <a14:hiddenFill xmlns:a14="http://schemas.microsoft.com/office/drawing/2010/main">
                <a:gradFill rotWithShape="0">
                  <a:gsLst>
                    <a:gs pos="0">
                      <a:srgbClr val="76765E"/>
                    </a:gs>
                    <a:gs pos="50000">
                      <a:srgbClr val="FFFFCC"/>
                    </a:gs>
                    <a:gs pos="100000">
                      <a:srgbClr val="76765E"/>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0"/>
              </a:spcBef>
              <a:buFontTx/>
              <a:buNone/>
            </a:pPr>
            <a:r>
              <a:rPr lang="zh-CN" altLang="en-US" sz="2000" dirty="0" smtClean="0">
                <a:solidFill>
                  <a:schemeClr val="tx2"/>
                </a:solidFill>
              </a:rPr>
              <a:t>但由于没有相位和幅度裕度，这种情况下电路是不稳定的。</a:t>
            </a:r>
            <a:endParaRPr lang="zh-CN" altLang="en-US" sz="2000" dirty="0">
              <a:solidFill>
                <a:schemeClr val="tx2"/>
              </a:solidFill>
            </a:endParaRPr>
          </a:p>
        </p:txBody>
      </p:sp>
      <p:sp>
        <p:nvSpPr>
          <p:cNvPr id="9" name="Rectangle 8"/>
          <p:cNvSpPr>
            <a:spLocks noChangeArrowheads="1"/>
          </p:cNvSpPr>
          <p:nvPr/>
        </p:nvSpPr>
        <p:spPr bwMode="auto">
          <a:xfrm>
            <a:off x="184977" y="3454644"/>
            <a:ext cx="2692400" cy="2653187"/>
          </a:xfrm>
          <a:prstGeom prst="rect">
            <a:avLst/>
          </a:prstGeom>
          <a:noFill/>
          <a:ln>
            <a:noFill/>
          </a:ln>
          <a:effectLst/>
          <a:extLst>
            <a:ext uri="{909E8E84-426E-40DD-AFC4-6F175D3DCCD1}">
              <a14:hiddenFill xmlns:a14="http://schemas.microsoft.com/office/drawing/2010/main">
                <a:gradFill rotWithShape="0">
                  <a:gsLst>
                    <a:gs pos="0">
                      <a:srgbClr val="76765E"/>
                    </a:gs>
                    <a:gs pos="50000">
                      <a:srgbClr val="FFFFCC"/>
                    </a:gs>
                    <a:gs pos="100000">
                      <a:srgbClr val="76765E"/>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0"/>
              </a:spcBef>
              <a:buFontTx/>
              <a:buNone/>
            </a:pPr>
            <a:r>
              <a:rPr lang="zh-CN" altLang="en-US" sz="2000" dirty="0" smtClean="0">
                <a:solidFill>
                  <a:schemeClr val="tx2"/>
                </a:solidFill>
              </a:rPr>
              <a:t>一般，若</a:t>
            </a:r>
            <a:r>
              <a:rPr lang="en-US" altLang="zh-CN" sz="2000" dirty="0" smtClean="0">
                <a:solidFill>
                  <a:schemeClr val="tx2"/>
                </a:solidFill>
              </a:rPr>
              <a:t>20log(1/</a:t>
            </a:r>
            <a:r>
              <a:rPr lang="en-US" altLang="zh-CN" sz="2000" i="1" dirty="0" smtClean="0">
                <a:solidFill>
                  <a:schemeClr val="tx2"/>
                </a:solidFill>
              </a:rPr>
              <a:t>F</a:t>
            </a:r>
            <a:r>
              <a:rPr lang="en-US" altLang="zh-CN" sz="2000" dirty="0" smtClean="0">
                <a:solidFill>
                  <a:schemeClr val="tx2"/>
                </a:solidFill>
              </a:rPr>
              <a:t>)</a:t>
            </a:r>
            <a:r>
              <a:rPr lang="zh-CN" altLang="en-US" sz="2000" dirty="0" smtClean="0">
                <a:solidFill>
                  <a:schemeClr val="tx2"/>
                </a:solidFill>
              </a:rPr>
              <a:t>对应的直线与</a:t>
            </a:r>
            <a:r>
              <a:rPr lang="en-US" altLang="zh-CN" sz="2000" dirty="0" smtClean="0">
                <a:solidFill>
                  <a:schemeClr val="tx2"/>
                </a:solidFill>
              </a:rPr>
              <a:t>20log </a:t>
            </a:r>
            <a:r>
              <a:rPr lang="en-US" altLang="zh-CN" sz="2000" dirty="0" smtClean="0">
                <a:solidFill>
                  <a:schemeClr val="tx2"/>
                </a:solidFill>
                <a:sym typeface="Symbol" panose="05050102010706020507" pitchFamily="18" charset="2"/>
              </a:rPr>
              <a:t></a:t>
            </a:r>
            <a:r>
              <a:rPr lang="en-US" altLang="zh-CN" sz="2000" i="1" dirty="0" smtClean="0">
                <a:solidFill>
                  <a:schemeClr val="tx2"/>
                </a:solidFill>
                <a:cs typeface="Times New Roman" panose="02020603050405020304" pitchFamily="18" charset="0"/>
              </a:rPr>
              <a:t>A</a:t>
            </a:r>
            <a:r>
              <a:rPr lang="en-US" altLang="zh-CN" sz="2000" dirty="0" smtClean="0">
                <a:solidFill>
                  <a:schemeClr val="tx2"/>
                </a:solidFill>
                <a:cs typeface="Times New Roman" panose="02020603050405020304" pitchFamily="18" charset="0"/>
                <a:sym typeface="Symbol" panose="05050102010706020507" pitchFamily="18" charset="2"/>
              </a:rPr>
              <a:t></a:t>
            </a:r>
            <a:r>
              <a:rPr lang="zh-CN" altLang="en-US" sz="2000" dirty="0" smtClean="0">
                <a:solidFill>
                  <a:schemeClr val="tx2"/>
                </a:solidFill>
                <a:cs typeface="Times New Roman" panose="02020603050405020304" pitchFamily="18" charset="0"/>
              </a:rPr>
              <a:t>曲线的交点处于斜率为−</a:t>
            </a:r>
            <a:r>
              <a:rPr lang="en-US" altLang="zh-CN" sz="2000" dirty="0" smtClean="0">
                <a:solidFill>
                  <a:schemeClr val="tx2"/>
                </a:solidFill>
                <a:cs typeface="Times New Roman" panose="02020603050405020304" pitchFamily="18" charset="0"/>
              </a:rPr>
              <a:t>20dB/</a:t>
            </a:r>
            <a:r>
              <a:rPr lang="zh-CN" altLang="en-US" sz="2000" dirty="0" smtClean="0">
                <a:solidFill>
                  <a:schemeClr val="tx2"/>
                </a:solidFill>
                <a:cs typeface="Times New Roman" panose="02020603050405020304" pitchFamily="18" charset="0"/>
              </a:rPr>
              <a:t>十倍频程的线段，则至少能保证</a:t>
            </a:r>
            <a:r>
              <a:rPr lang="en-US" altLang="zh-CN" sz="2000" dirty="0" smtClean="0">
                <a:solidFill>
                  <a:schemeClr val="tx2"/>
                </a:solidFill>
                <a:cs typeface="Times New Roman" panose="02020603050405020304" pitchFamily="18" charset="0"/>
              </a:rPr>
              <a:t>45</a:t>
            </a:r>
            <a:r>
              <a:rPr lang="en-US" altLang="zh-CN" sz="2000" dirty="0" smtClean="0">
                <a:solidFill>
                  <a:schemeClr val="tx2"/>
                </a:solidFill>
                <a:cs typeface="Times New Roman" panose="02020603050405020304" pitchFamily="18" charset="0"/>
                <a:sym typeface="Symbol" panose="05050102010706020507" pitchFamily="18" charset="2"/>
              </a:rPr>
              <a:t></a:t>
            </a:r>
            <a:r>
              <a:rPr lang="zh-CN" altLang="en-US" sz="2000" dirty="0" smtClean="0">
                <a:solidFill>
                  <a:schemeClr val="tx2"/>
                </a:solidFill>
                <a:cs typeface="Times New Roman" panose="02020603050405020304" pitchFamily="18" charset="0"/>
                <a:sym typeface="Symbol" panose="05050102010706020507" pitchFamily="18" charset="2"/>
              </a:rPr>
              <a:t>的相位裕度</a:t>
            </a:r>
            <a:r>
              <a:rPr lang="zh-CN" altLang="en-US" sz="2000" dirty="0" smtClean="0">
                <a:solidFill>
                  <a:schemeClr val="tx2"/>
                </a:solidFill>
              </a:rPr>
              <a:t>。</a:t>
            </a:r>
            <a:endParaRPr lang="zh-CN" altLang="en-US" sz="2000" dirty="0">
              <a:solidFill>
                <a:schemeClr val="tx2"/>
              </a:solidFill>
            </a:endParaRPr>
          </a:p>
        </p:txBody>
      </p:sp>
      <p:grpSp>
        <p:nvGrpSpPr>
          <p:cNvPr id="4" name="组合 3"/>
          <p:cNvGrpSpPr/>
          <p:nvPr/>
        </p:nvGrpSpPr>
        <p:grpSpPr>
          <a:xfrm>
            <a:off x="4407429" y="1290684"/>
            <a:ext cx="2063989" cy="4326345"/>
            <a:chOff x="4407429" y="1290684"/>
            <a:chExt cx="2063989" cy="4326345"/>
          </a:xfrm>
        </p:grpSpPr>
        <p:cxnSp>
          <p:nvCxnSpPr>
            <p:cNvPr id="10" name="直接连接符 9"/>
            <p:cNvCxnSpPr/>
            <p:nvPr/>
          </p:nvCxnSpPr>
          <p:spPr bwMode="auto">
            <a:xfrm flipH="1">
              <a:off x="6456464" y="1290684"/>
              <a:ext cx="14954" cy="4326345"/>
            </a:xfrm>
            <a:prstGeom prst="line">
              <a:avLst/>
            </a:prstGeom>
            <a:solidFill>
              <a:srgbClr val="99FF99"/>
            </a:solidFill>
            <a:ln w="28575" cap="flat" cmpd="sng" algn="ctr">
              <a:solidFill>
                <a:srgbClr val="0070C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连接符 11"/>
            <p:cNvCxnSpPr/>
            <p:nvPr/>
          </p:nvCxnSpPr>
          <p:spPr bwMode="auto">
            <a:xfrm>
              <a:off x="4407429" y="5573928"/>
              <a:ext cx="2056512" cy="14992"/>
            </a:xfrm>
            <a:prstGeom prst="line">
              <a:avLst/>
            </a:prstGeom>
            <a:solidFill>
              <a:srgbClr val="99FF99"/>
            </a:solidFill>
            <a:ln w="28575" cap="flat" cmpd="sng" algn="ctr">
              <a:solidFill>
                <a:srgbClr val="0070C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35240">
                                            <p:txEl>
                                              <p:pRg st="0" end="0"/>
                                            </p:txEl>
                                          </p:spTgt>
                                        </p:tgtEl>
                                        <p:attrNameLst>
                                          <p:attrName>style.visibility</p:attrName>
                                        </p:attrNameLst>
                                      </p:cBhvr>
                                      <p:to>
                                        <p:strVal val="visible"/>
                                      </p:to>
                                    </p:set>
                                    <p:animEffect transition="in" filter="blinds(horizontal)">
                                      <p:cBhvr>
                                        <p:cTn id="7" dur="500"/>
                                        <p:tgtEl>
                                          <p:spTgt spid="73524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par>
                                <p:cTn id="13" presetID="16" presetClass="entr" presetSubtype="21"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500"/>
                                        <p:tgtEl>
                                          <p:spTgt spid="7"/>
                                        </p:tgtEl>
                                      </p:cBhvr>
                                    </p:animEffect>
                                  </p:childTnLst>
                                </p:cTn>
                              </p:par>
                              <p:par>
                                <p:cTn id="16" presetID="16" presetClass="entr" presetSubtype="2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arn(inVertical)">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35237"/>
                                        </p:tgtEl>
                                        <p:attrNameLst>
                                          <p:attrName>style.visibility</p:attrName>
                                        </p:attrNameLst>
                                      </p:cBhvr>
                                      <p:to>
                                        <p:strVal val="visible"/>
                                      </p:to>
                                    </p:set>
                                    <p:animEffect transition="in" filter="blinds(horizontal)">
                                      <p:cBhvr>
                                        <p:cTn id="23" dur="500"/>
                                        <p:tgtEl>
                                          <p:spTgt spid="735237"/>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8">
                                            <p:txEl>
                                              <p:pRg st="0" end="0"/>
                                            </p:txEl>
                                          </p:spTgt>
                                        </p:tgtEl>
                                        <p:attrNameLst>
                                          <p:attrName>style.visibility</p:attrName>
                                        </p:attrNameLst>
                                      </p:cBhvr>
                                      <p:to>
                                        <p:strVal val="visible"/>
                                      </p:to>
                                    </p:set>
                                    <p:animEffect transition="in" filter="blinds(horizontal)">
                                      <p:cBhvr>
                                        <p:cTn id="28" dur="500"/>
                                        <p:tgtEl>
                                          <p:spTgt spid="8">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9">
                                            <p:txEl>
                                              <p:pRg st="0" end="0"/>
                                            </p:txEl>
                                          </p:spTgt>
                                        </p:tgtEl>
                                        <p:attrNameLst>
                                          <p:attrName>style.visibility</p:attrName>
                                        </p:attrNameLst>
                                      </p:cBhvr>
                                      <p:to>
                                        <p:strVal val="visible"/>
                                      </p:to>
                                    </p:set>
                                    <p:animEffect transition="in" filter="blinds(horizontal)">
                                      <p:cBhvr>
                                        <p:cTn id="33" dur="500"/>
                                        <p:tgtEl>
                                          <p:spTgt spid="9">
                                            <p:txEl>
                                              <p:pRg st="0" end="0"/>
                                            </p:txEl>
                                          </p:spTgt>
                                        </p:tgtEl>
                                      </p:cBhvr>
                                    </p:animEffect>
                                  </p:childTnLst>
                                </p:cTn>
                              </p:par>
                            </p:childTnLst>
                          </p:cTn>
                        </p:par>
                        <p:par>
                          <p:cTn id="34" fill="hold">
                            <p:stCondLst>
                              <p:cond delay="500"/>
                            </p:stCondLst>
                            <p:childTnLst>
                              <p:par>
                                <p:cTn id="35" presetID="31" presetClass="entr" presetSubtype="0" fill="hold" nodeType="after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p:cTn id="37" dur="1000" fill="hold"/>
                                        <p:tgtEl>
                                          <p:spTgt spid="4"/>
                                        </p:tgtEl>
                                        <p:attrNameLst>
                                          <p:attrName>ppt_w</p:attrName>
                                        </p:attrNameLst>
                                      </p:cBhvr>
                                      <p:tavLst>
                                        <p:tav tm="0">
                                          <p:val>
                                            <p:fltVal val="0"/>
                                          </p:val>
                                        </p:tav>
                                        <p:tav tm="100000">
                                          <p:val>
                                            <p:strVal val="#ppt_w"/>
                                          </p:val>
                                        </p:tav>
                                      </p:tavLst>
                                    </p:anim>
                                    <p:anim calcmode="lin" valueType="num">
                                      <p:cBhvr>
                                        <p:cTn id="38" dur="1000" fill="hold"/>
                                        <p:tgtEl>
                                          <p:spTgt spid="4"/>
                                        </p:tgtEl>
                                        <p:attrNameLst>
                                          <p:attrName>ppt_h</p:attrName>
                                        </p:attrNameLst>
                                      </p:cBhvr>
                                      <p:tavLst>
                                        <p:tav tm="0">
                                          <p:val>
                                            <p:fltVal val="0"/>
                                          </p:val>
                                        </p:tav>
                                        <p:tav tm="100000">
                                          <p:val>
                                            <p:strVal val="#ppt_h"/>
                                          </p:val>
                                        </p:tav>
                                      </p:tavLst>
                                    </p:anim>
                                    <p:anim calcmode="lin" valueType="num">
                                      <p:cBhvr>
                                        <p:cTn id="39" dur="1000" fill="hold"/>
                                        <p:tgtEl>
                                          <p:spTgt spid="4"/>
                                        </p:tgtEl>
                                        <p:attrNameLst>
                                          <p:attrName>style.rotation</p:attrName>
                                        </p:attrNameLst>
                                      </p:cBhvr>
                                      <p:tavLst>
                                        <p:tav tm="0">
                                          <p:val>
                                            <p:fltVal val="90"/>
                                          </p:val>
                                        </p:tav>
                                        <p:tav tm="100000">
                                          <p:val>
                                            <p:fltVal val="0"/>
                                          </p:val>
                                        </p:tav>
                                      </p:tavLst>
                                    </p:anim>
                                    <p:animEffect transition="in" filter="fade">
                                      <p:cBhvr>
                                        <p:cTn id="4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Text Box 2"/>
          <p:cNvSpPr txBox="1">
            <a:spLocks noChangeArrowheads="1"/>
          </p:cNvSpPr>
          <p:nvPr/>
        </p:nvSpPr>
        <p:spPr bwMode="auto">
          <a:xfrm>
            <a:off x="455613" y="412750"/>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400" dirty="0" smtClean="0">
                <a:solidFill>
                  <a:srgbClr val="990033"/>
                </a:solidFill>
              </a:rPr>
              <a:t>12.3.4  </a:t>
            </a:r>
            <a:r>
              <a:rPr lang="zh-CN" altLang="en-US" sz="2400" dirty="0" smtClean="0">
                <a:solidFill>
                  <a:srgbClr val="990033"/>
                </a:solidFill>
              </a:rPr>
              <a:t>负反馈电路</a:t>
            </a:r>
            <a:r>
              <a:rPr lang="zh-CN" altLang="en-US" sz="2400" dirty="0">
                <a:solidFill>
                  <a:srgbClr val="990033"/>
                </a:solidFill>
              </a:rPr>
              <a:t>自激振荡的</a:t>
            </a:r>
            <a:r>
              <a:rPr lang="zh-CN" altLang="en-US" sz="2400" dirty="0" smtClean="0">
                <a:solidFill>
                  <a:srgbClr val="990033"/>
                </a:solidFill>
              </a:rPr>
              <a:t>消除</a:t>
            </a:r>
            <a:endParaRPr lang="zh-CN" altLang="en-US" sz="2400" dirty="0">
              <a:solidFill>
                <a:srgbClr val="A50021"/>
              </a:solidFill>
            </a:endParaRPr>
          </a:p>
        </p:txBody>
      </p:sp>
      <p:sp>
        <p:nvSpPr>
          <p:cNvPr id="736272" name="Text Box 16"/>
          <p:cNvSpPr txBox="1">
            <a:spLocks noChangeArrowheads="1"/>
          </p:cNvSpPr>
          <p:nvPr/>
        </p:nvSpPr>
        <p:spPr bwMode="auto">
          <a:xfrm>
            <a:off x="660400" y="1797261"/>
            <a:ext cx="3140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zh-CN" altLang="en-US" sz="2400" dirty="0" smtClean="0">
                <a:solidFill>
                  <a:srgbClr val="A50021"/>
                </a:solidFill>
              </a:rPr>
              <a:t>一、简单</a:t>
            </a:r>
            <a:r>
              <a:rPr lang="zh-CN" altLang="en-US" sz="2400" dirty="0">
                <a:solidFill>
                  <a:srgbClr val="A50021"/>
                </a:solidFill>
              </a:rPr>
              <a:t>滞后补偿</a:t>
            </a:r>
          </a:p>
        </p:txBody>
      </p:sp>
      <p:pic>
        <p:nvPicPr>
          <p:cNvPr id="736273" name="Picture 17" descr="Dz05060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b="-981"/>
          <a:stretch>
            <a:fillRect/>
          </a:stretch>
        </p:blipFill>
        <p:spPr bwMode="auto">
          <a:xfrm>
            <a:off x="4787900" y="4392824"/>
            <a:ext cx="4114800" cy="1209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graphicFrame>
        <p:nvGraphicFramePr>
          <p:cNvPr id="736274" name="Object 18"/>
          <p:cNvGraphicFramePr>
            <a:graphicFrameLocks noChangeAspect="1"/>
          </p:cNvGraphicFramePr>
          <p:nvPr>
            <p:extLst>
              <p:ext uri="{D42A27DB-BD31-4B8C-83A1-F6EECF244321}">
                <p14:modId xmlns:p14="http://schemas.microsoft.com/office/powerpoint/2010/main" val="3159407998"/>
              </p:ext>
            </p:extLst>
          </p:nvPr>
        </p:nvGraphicFramePr>
        <p:xfrm>
          <a:off x="4610100" y="1978025"/>
          <a:ext cx="4243388" cy="1192213"/>
        </p:xfrm>
        <a:graphic>
          <a:graphicData uri="http://schemas.openxmlformats.org/presentationml/2006/ole">
            <mc:AlternateContent xmlns:mc="http://schemas.openxmlformats.org/markup-compatibility/2006">
              <mc:Choice xmlns:v="urn:schemas-microsoft-com:vml" Requires="v">
                <p:oleObj spid="_x0000_s76577" name="Equation" r:id="rId4" imgW="2489040" imgH="698400" progId="Equation.DSMT4">
                  <p:embed/>
                </p:oleObj>
              </mc:Choice>
              <mc:Fallback>
                <p:oleObj name="Equation" r:id="rId4" imgW="2489040" imgH="698400" progId="Equation.DSMT4">
                  <p:embed/>
                  <p:pic>
                    <p:nvPicPr>
                      <p:cNvPr id="0" name="Object 18"/>
                      <p:cNvPicPr>
                        <a:picLocks noChangeAspect="1" noChangeArrowheads="1"/>
                      </p:cNvPicPr>
                      <p:nvPr/>
                    </p:nvPicPr>
                    <p:blipFill>
                      <a:blip r:embed="rId5"/>
                      <a:srcRect/>
                      <a:stretch>
                        <a:fillRect/>
                      </a:stretch>
                    </p:blipFill>
                    <p:spPr bwMode="auto">
                      <a:xfrm>
                        <a:off x="4610100" y="1978025"/>
                        <a:ext cx="4243388" cy="1192213"/>
                      </a:xfrm>
                      <a:prstGeom prst="rect">
                        <a:avLst/>
                      </a:prstGeom>
                      <a:solidFill>
                        <a:srgbClr val="66FFFF"/>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6275" name="Text Box 19"/>
          <p:cNvSpPr txBox="1">
            <a:spLocks noChangeArrowheads="1"/>
          </p:cNvSpPr>
          <p:nvPr/>
        </p:nvSpPr>
        <p:spPr bwMode="auto">
          <a:xfrm>
            <a:off x="727074" y="833511"/>
            <a:ext cx="817562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50000"/>
              </a:spcBef>
              <a:buFontTx/>
              <a:buNone/>
            </a:pPr>
            <a:r>
              <a:rPr lang="zh-CN" altLang="en-US" sz="2000" dirty="0">
                <a:latin typeface="宋体" pitchFamily="2" charset="-122"/>
              </a:rPr>
              <a:t>常用的方法为滞后补偿方法。</a:t>
            </a:r>
            <a:br>
              <a:rPr lang="zh-CN" altLang="en-US" sz="2000" dirty="0">
                <a:latin typeface="宋体" pitchFamily="2" charset="-122"/>
              </a:rPr>
            </a:br>
            <a:r>
              <a:rPr lang="zh-CN" altLang="en-US" sz="2000" dirty="0">
                <a:latin typeface="宋体" pitchFamily="2" charset="-122"/>
              </a:rPr>
              <a:t>设放大电路为直接耦合方式，反馈网络为电阻</a:t>
            </a:r>
            <a:r>
              <a:rPr lang="zh-CN" altLang="en-US" sz="2000" dirty="0" smtClean="0">
                <a:latin typeface="宋体" pitchFamily="2" charset="-122"/>
              </a:rPr>
              <a:t>网络，以 </a:t>
            </a:r>
            <a:r>
              <a:rPr lang="en-US" altLang="zh-CN" sz="2000" dirty="0" smtClean="0">
                <a:latin typeface="+mn-lt"/>
              </a:rPr>
              <a:t>3 </a:t>
            </a:r>
            <a:r>
              <a:rPr lang="zh-CN" altLang="en-US" sz="2000" dirty="0" smtClean="0">
                <a:latin typeface="宋体" pitchFamily="2" charset="-122"/>
              </a:rPr>
              <a:t>极点情况为例。</a:t>
            </a:r>
            <a:endParaRPr lang="zh-CN" altLang="en-US" sz="2000" dirty="0">
              <a:latin typeface="宋体" pitchFamily="2" charset="-122"/>
            </a:endParaRPr>
          </a:p>
        </p:txBody>
      </p:sp>
      <p:graphicFrame>
        <p:nvGraphicFramePr>
          <p:cNvPr id="736276" name="Object 20"/>
          <p:cNvGraphicFramePr>
            <a:graphicFrameLocks noChangeAspect="1"/>
          </p:cNvGraphicFramePr>
          <p:nvPr>
            <p:extLst>
              <p:ext uri="{D42A27DB-BD31-4B8C-83A1-F6EECF244321}">
                <p14:modId xmlns:p14="http://schemas.microsoft.com/office/powerpoint/2010/main" val="1032332942"/>
              </p:ext>
            </p:extLst>
          </p:nvPr>
        </p:nvGraphicFramePr>
        <p:xfrm>
          <a:off x="368300" y="2487824"/>
          <a:ext cx="4419600" cy="3194050"/>
        </p:xfrm>
        <a:graphic>
          <a:graphicData uri="http://schemas.openxmlformats.org/presentationml/2006/ole">
            <mc:AlternateContent xmlns:mc="http://schemas.openxmlformats.org/markup-compatibility/2006">
              <mc:Choice xmlns:v="urn:schemas-microsoft-com:vml" Requires="v">
                <p:oleObj spid="_x0000_s76578" name="Visio" r:id="rId6" imgW="4169155" imgH="3019026" progId="Visio.Drawing.11">
                  <p:embed/>
                </p:oleObj>
              </mc:Choice>
              <mc:Fallback>
                <p:oleObj name="Visio" r:id="rId6" imgW="4169155" imgH="3019026" progId="Visio.Drawing.11">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8300" y="2487824"/>
                        <a:ext cx="4419600" cy="319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6277" name="Text Box 21"/>
          <p:cNvSpPr txBox="1">
            <a:spLocks noChangeArrowheads="1"/>
          </p:cNvSpPr>
          <p:nvPr/>
        </p:nvSpPr>
        <p:spPr bwMode="auto">
          <a:xfrm>
            <a:off x="4787900" y="3326024"/>
            <a:ext cx="40386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en-US" altLang="zh-CN" sz="2000" dirty="0">
                <a:latin typeface="宋体" pitchFamily="2" charset="-122"/>
              </a:rPr>
              <a:t>  </a:t>
            </a:r>
            <a:r>
              <a:rPr lang="zh-CN" altLang="zh-CN" sz="2000" dirty="0">
                <a:latin typeface="宋体" pitchFamily="2" charset="-122"/>
              </a:rPr>
              <a:t>在</a:t>
            </a:r>
            <a:r>
              <a:rPr lang="zh-CN" altLang="en-US" sz="2000" dirty="0">
                <a:latin typeface="宋体" pitchFamily="2" charset="-122"/>
              </a:rPr>
              <a:t>最低的上限频率所在回路加补偿电容。</a:t>
            </a:r>
          </a:p>
        </p:txBody>
      </p:sp>
      <p:sp>
        <p:nvSpPr>
          <p:cNvPr id="736278" name="AutoShape 22"/>
          <p:cNvSpPr>
            <a:spLocks/>
          </p:cNvSpPr>
          <p:nvPr/>
        </p:nvSpPr>
        <p:spPr bwMode="auto">
          <a:xfrm>
            <a:off x="7302500" y="3959436"/>
            <a:ext cx="1298575" cy="357188"/>
          </a:xfrm>
          <a:prstGeom prst="borderCallout1">
            <a:avLst>
              <a:gd name="adj1" fmla="val 25000"/>
              <a:gd name="adj2" fmla="val -5264"/>
              <a:gd name="adj3" fmla="val 265014"/>
              <a:gd name="adj4" fmla="val -26062"/>
            </a:avLst>
          </a:prstGeom>
          <a:solidFill>
            <a:srgbClr val="FFFFCC"/>
          </a:solidFill>
          <a:ln w="1905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a:t>补偿电容</a:t>
            </a:r>
          </a:p>
        </p:txBody>
      </p:sp>
      <p:grpSp>
        <p:nvGrpSpPr>
          <p:cNvPr id="736279" name="Group 23"/>
          <p:cNvGrpSpPr>
            <a:grpSpLocks/>
          </p:cNvGrpSpPr>
          <p:nvPr/>
        </p:nvGrpSpPr>
        <p:grpSpPr bwMode="auto">
          <a:xfrm>
            <a:off x="977900" y="3402224"/>
            <a:ext cx="304800" cy="2286000"/>
            <a:chOff x="624" y="2208"/>
            <a:chExt cx="192" cy="1440"/>
          </a:xfrm>
        </p:grpSpPr>
        <p:sp>
          <p:nvSpPr>
            <p:cNvPr id="75791" name="Line 24"/>
            <p:cNvSpPr>
              <a:spLocks noChangeShapeType="1"/>
            </p:cNvSpPr>
            <p:nvPr/>
          </p:nvSpPr>
          <p:spPr bwMode="auto">
            <a:xfrm>
              <a:off x="720" y="2208"/>
              <a:ext cx="0" cy="1200"/>
            </a:xfrm>
            <a:prstGeom prst="line">
              <a:avLst/>
            </a:prstGeom>
            <a:noFill/>
            <a:ln w="9525">
              <a:solidFill>
                <a:srgbClr val="FF33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75792" name="Object 25"/>
            <p:cNvGraphicFramePr>
              <a:graphicFrameLocks noChangeAspect="1"/>
            </p:cNvGraphicFramePr>
            <p:nvPr/>
          </p:nvGraphicFramePr>
          <p:xfrm>
            <a:off x="624" y="3456"/>
            <a:ext cx="192" cy="192"/>
          </p:xfrm>
          <a:graphic>
            <a:graphicData uri="http://schemas.openxmlformats.org/presentationml/2006/ole">
              <mc:AlternateContent xmlns:mc="http://schemas.openxmlformats.org/markup-compatibility/2006">
                <mc:Choice xmlns:v="urn:schemas-microsoft-com:vml" Requires="v">
                  <p:oleObj spid="_x0000_s76579" name="Equation" r:id="rId8" imgW="228600" imgH="228600" progId="Equation.3">
                    <p:embed/>
                  </p:oleObj>
                </mc:Choice>
                <mc:Fallback>
                  <p:oleObj name="Equation" r:id="rId8" imgW="228600" imgH="228600" progId="Equation.3">
                    <p:embed/>
                    <p:pic>
                      <p:nvPicPr>
                        <p:cNvPr id="0" name="Object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4" y="3456"/>
                          <a:ext cx="192" cy="192"/>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36282" name="Group 26"/>
          <p:cNvGrpSpPr>
            <a:grpSpLocks/>
          </p:cNvGrpSpPr>
          <p:nvPr/>
        </p:nvGrpSpPr>
        <p:grpSpPr bwMode="auto">
          <a:xfrm>
            <a:off x="825500" y="3360949"/>
            <a:ext cx="2057400" cy="2174875"/>
            <a:chOff x="528" y="2038"/>
            <a:chExt cx="1296" cy="1370"/>
          </a:xfrm>
        </p:grpSpPr>
        <p:sp>
          <p:nvSpPr>
            <p:cNvPr id="75788" name="Line 27"/>
            <p:cNvSpPr>
              <a:spLocks noChangeShapeType="1"/>
            </p:cNvSpPr>
            <p:nvPr/>
          </p:nvSpPr>
          <p:spPr bwMode="auto">
            <a:xfrm>
              <a:off x="720" y="2038"/>
              <a:ext cx="1008" cy="1177"/>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9" name="Line 28"/>
            <p:cNvSpPr>
              <a:spLocks noChangeShapeType="1"/>
            </p:cNvSpPr>
            <p:nvPr/>
          </p:nvSpPr>
          <p:spPr bwMode="auto">
            <a:xfrm>
              <a:off x="1728" y="3216"/>
              <a:ext cx="96" cy="192"/>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0" name="Line 29"/>
            <p:cNvSpPr>
              <a:spLocks noChangeShapeType="1"/>
            </p:cNvSpPr>
            <p:nvPr/>
          </p:nvSpPr>
          <p:spPr bwMode="auto">
            <a:xfrm flipH="1">
              <a:off x="528" y="2039"/>
              <a:ext cx="192"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7" name="Text Box 16"/>
          <p:cNvSpPr txBox="1">
            <a:spLocks noChangeArrowheads="1"/>
          </p:cNvSpPr>
          <p:nvPr/>
        </p:nvSpPr>
        <p:spPr bwMode="auto">
          <a:xfrm>
            <a:off x="268890" y="5874997"/>
            <a:ext cx="101381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zh-CN" altLang="en-US" sz="1800" dirty="0" smtClean="0">
                <a:solidFill>
                  <a:srgbClr val="A50021"/>
                </a:solidFill>
              </a:rPr>
              <a:t>补偿前</a:t>
            </a:r>
            <a:endParaRPr lang="zh-CN" altLang="en-US" sz="1800" dirty="0">
              <a:solidFill>
                <a:srgbClr val="A50021"/>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75190704"/>
              </p:ext>
            </p:extLst>
          </p:nvPr>
        </p:nvGraphicFramePr>
        <p:xfrm>
          <a:off x="1183504" y="5978788"/>
          <a:ext cx="2548709" cy="803647"/>
        </p:xfrm>
        <a:graphic>
          <a:graphicData uri="http://schemas.openxmlformats.org/presentationml/2006/ole">
            <mc:AlternateContent xmlns:mc="http://schemas.openxmlformats.org/markup-compatibility/2006">
              <mc:Choice xmlns:v="urn:schemas-microsoft-com:vml" Requires="v">
                <p:oleObj spid="_x0000_s76580" name="Equation" r:id="rId10" imgW="1409400" imgH="444240" progId="Equation.DSMT4">
                  <p:embed/>
                </p:oleObj>
              </mc:Choice>
              <mc:Fallback>
                <p:oleObj name="Equation" r:id="rId10" imgW="1409400" imgH="444240" progId="Equation.DSMT4">
                  <p:embed/>
                  <p:pic>
                    <p:nvPicPr>
                      <p:cNvPr id="0" name=""/>
                      <p:cNvPicPr/>
                      <p:nvPr/>
                    </p:nvPicPr>
                    <p:blipFill>
                      <a:blip r:embed="rId11"/>
                      <a:stretch>
                        <a:fillRect/>
                      </a:stretch>
                    </p:blipFill>
                    <p:spPr>
                      <a:xfrm>
                        <a:off x="1183504" y="5978788"/>
                        <a:ext cx="2548709" cy="803647"/>
                      </a:xfrm>
                      <a:prstGeom prst="rect">
                        <a:avLst/>
                      </a:prstGeom>
                    </p:spPr>
                  </p:pic>
                </p:oleObj>
              </mc:Fallback>
            </mc:AlternateContent>
          </a:graphicData>
        </a:graphic>
      </p:graphicFrame>
      <p:sp>
        <p:nvSpPr>
          <p:cNvPr id="19" name="Text Box 16"/>
          <p:cNvSpPr txBox="1">
            <a:spLocks noChangeArrowheads="1"/>
          </p:cNvSpPr>
          <p:nvPr/>
        </p:nvSpPr>
        <p:spPr bwMode="auto">
          <a:xfrm>
            <a:off x="4646827" y="5811446"/>
            <a:ext cx="101381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50000"/>
              </a:spcBef>
              <a:buFontTx/>
              <a:buNone/>
            </a:pPr>
            <a:r>
              <a:rPr lang="zh-CN" altLang="en-US" sz="1800" dirty="0" smtClean="0">
                <a:solidFill>
                  <a:srgbClr val="A50021"/>
                </a:solidFill>
              </a:rPr>
              <a:t>补偿后</a:t>
            </a:r>
            <a:endParaRPr lang="zh-CN" altLang="en-US" sz="1800" dirty="0">
              <a:solidFill>
                <a:srgbClr val="A50021"/>
              </a:solidFill>
            </a:endParaRPr>
          </a:p>
        </p:txBody>
      </p:sp>
      <p:graphicFrame>
        <p:nvGraphicFramePr>
          <p:cNvPr id="20" name="对象 19"/>
          <p:cNvGraphicFramePr>
            <a:graphicFrameLocks noChangeAspect="1"/>
          </p:cNvGraphicFramePr>
          <p:nvPr>
            <p:extLst>
              <p:ext uri="{D42A27DB-BD31-4B8C-83A1-F6EECF244321}">
                <p14:modId xmlns:p14="http://schemas.microsoft.com/office/powerpoint/2010/main" val="3580042695"/>
              </p:ext>
            </p:extLst>
          </p:nvPr>
        </p:nvGraphicFramePr>
        <p:xfrm>
          <a:off x="5491412" y="5978788"/>
          <a:ext cx="3192462" cy="803275"/>
        </p:xfrm>
        <a:graphic>
          <a:graphicData uri="http://schemas.openxmlformats.org/presentationml/2006/ole">
            <mc:AlternateContent xmlns:mc="http://schemas.openxmlformats.org/markup-compatibility/2006">
              <mc:Choice xmlns:v="urn:schemas-microsoft-com:vml" Requires="v">
                <p:oleObj spid="_x0000_s76581" name="Equation" r:id="rId12" imgW="1765080" imgH="444240" progId="Equation.DSMT4">
                  <p:embed/>
                </p:oleObj>
              </mc:Choice>
              <mc:Fallback>
                <p:oleObj name="Equation" r:id="rId12" imgW="1765080" imgH="444240" progId="Equation.DSMT4">
                  <p:embed/>
                  <p:pic>
                    <p:nvPicPr>
                      <p:cNvPr id="0" name=""/>
                      <p:cNvPicPr/>
                      <p:nvPr/>
                    </p:nvPicPr>
                    <p:blipFill>
                      <a:blip r:embed="rId13"/>
                      <a:stretch>
                        <a:fillRect/>
                      </a:stretch>
                    </p:blipFill>
                    <p:spPr>
                      <a:xfrm>
                        <a:off x="5491412" y="5978788"/>
                        <a:ext cx="3192462" cy="803275"/>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36275">
                                            <p:txEl>
                                              <p:pRg st="0" end="0"/>
                                            </p:txEl>
                                          </p:spTgt>
                                        </p:tgtEl>
                                        <p:attrNameLst>
                                          <p:attrName>style.visibility</p:attrName>
                                        </p:attrNameLst>
                                      </p:cBhvr>
                                      <p:to>
                                        <p:strVal val="visible"/>
                                      </p:to>
                                    </p:set>
                                    <p:animEffect transition="in" filter="wipe(left)">
                                      <p:cBhvr>
                                        <p:cTn id="7" dur="500"/>
                                        <p:tgtEl>
                                          <p:spTgt spid="7362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36272">
                                            <p:txEl>
                                              <p:pRg st="0" end="0"/>
                                            </p:txEl>
                                          </p:spTgt>
                                        </p:tgtEl>
                                        <p:attrNameLst>
                                          <p:attrName>style.visibility</p:attrName>
                                        </p:attrNameLst>
                                      </p:cBhvr>
                                      <p:to>
                                        <p:strVal val="visible"/>
                                      </p:to>
                                    </p:set>
                                    <p:animEffect transition="in" filter="wipe(left)">
                                      <p:cBhvr>
                                        <p:cTn id="12" dur="500"/>
                                        <p:tgtEl>
                                          <p:spTgt spid="73627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36276"/>
                                        </p:tgtEl>
                                        <p:attrNameLst>
                                          <p:attrName>style.visibility</p:attrName>
                                        </p:attrNameLst>
                                      </p:cBhvr>
                                      <p:to>
                                        <p:strVal val="visible"/>
                                      </p:to>
                                    </p:set>
                                    <p:animEffect transition="in" filter="wipe(left)">
                                      <p:cBhvr>
                                        <p:cTn id="17" dur="500"/>
                                        <p:tgtEl>
                                          <p:spTgt spid="73627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36274"/>
                                        </p:tgtEl>
                                        <p:attrNameLst>
                                          <p:attrName>style.visibility</p:attrName>
                                        </p:attrNameLst>
                                      </p:cBhvr>
                                      <p:to>
                                        <p:strVal val="visible"/>
                                      </p:to>
                                    </p:set>
                                    <p:animEffect transition="in" filter="wipe(left)">
                                      <p:cBhvr>
                                        <p:cTn id="22" dur="500"/>
                                        <p:tgtEl>
                                          <p:spTgt spid="73627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36277">
                                            <p:txEl>
                                              <p:pRg st="0" end="0"/>
                                            </p:txEl>
                                          </p:spTgt>
                                        </p:tgtEl>
                                        <p:attrNameLst>
                                          <p:attrName>style.visibility</p:attrName>
                                        </p:attrNameLst>
                                      </p:cBhvr>
                                      <p:to>
                                        <p:strVal val="visible"/>
                                      </p:to>
                                    </p:set>
                                    <p:animEffect transition="in" filter="wipe(left)">
                                      <p:cBhvr>
                                        <p:cTn id="27" dur="500"/>
                                        <p:tgtEl>
                                          <p:spTgt spid="736277">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36273"/>
                                        </p:tgtEl>
                                        <p:attrNameLst>
                                          <p:attrName>style.visibility</p:attrName>
                                        </p:attrNameLst>
                                      </p:cBhvr>
                                      <p:to>
                                        <p:strVal val="visible"/>
                                      </p:to>
                                    </p:set>
                                    <p:animEffect transition="in" filter="wipe(left)">
                                      <p:cBhvr>
                                        <p:cTn id="32" dur="500"/>
                                        <p:tgtEl>
                                          <p:spTgt spid="73627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73627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736282"/>
                                        </p:tgtEl>
                                        <p:attrNameLst>
                                          <p:attrName>style.visibility</p:attrName>
                                        </p:attrNameLst>
                                      </p:cBhvr>
                                      <p:to>
                                        <p:strVal val="visible"/>
                                      </p:to>
                                    </p:set>
                                    <p:animEffect transition="in" filter="wipe(up)">
                                      <p:cBhvr>
                                        <p:cTn id="41" dur="500"/>
                                        <p:tgtEl>
                                          <p:spTgt spid="73628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736279"/>
                                        </p:tgtEl>
                                        <p:attrNameLst>
                                          <p:attrName>style.visibility</p:attrName>
                                        </p:attrNameLst>
                                      </p:cBhvr>
                                      <p:to>
                                        <p:strVal val="visible"/>
                                      </p:to>
                                    </p:set>
                                    <p:animEffect transition="in" filter="wipe(up)">
                                      <p:cBhvr>
                                        <p:cTn id="46" dur="500"/>
                                        <p:tgtEl>
                                          <p:spTgt spid="73627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7">
                                            <p:txEl>
                                              <p:pRg st="0" end="0"/>
                                            </p:txEl>
                                          </p:spTgt>
                                        </p:tgtEl>
                                        <p:attrNameLst>
                                          <p:attrName>style.visibility</p:attrName>
                                        </p:attrNameLst>
                                      </p:cBhvr>
                                      <p:to>
                                        <p:strVal val="visible"/>
                                      </p:to>
                                    </p:set>
                                    <p:animEffect transition="in" filter="wipe(left)">
                                      <p:cBhvr>
                                        <p:cTn id="51" dur="500"/>
                                        <p:tgtEl>
                                          <p:spTgt spid="17">
                                            <p:txEl>
                                              <p:pRg st="0" end="0"/>
                                            </p:txEl>
                                          </p:spTgt>
                                        </p:tgtEl>
                                      </p:cBhvr>
                                    </p:animEffect>
                                  </p:childTnLst>
                                </p:cTn>
                              </p:par>
                            </p:childTnLst>
                          </p:cTn>
                        </p:par>
                        <p:par>
                          <p:cTn id="52" fill="hold">
                            <p:stCondLst>
                              <p:cond delay="500"/>
                            </p:stCondLst>
                            <p:childTnLst>
                              <p:par>
                                <p:cTn id="53" presetID="16" presetClass="entr" presetSubtype="21" fill="hold" nodeType="after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barn(inVertical)">
                                      <p:cBhvr>
                                        <p:cTn id="55" dur="500"/>
                                        <p:tgtEl>
                                          <p:spTgt spid="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9">
                                            <p:txEl>
                                              <p:pRg st="0" end="0"/>
                                            </p:txEl>
                                          </p:spTgt>
                                        </p:tgtEl>
                                        <p:attrNameLst>
                                          <p:attrName>style.visibility</p:attrName>
                                        </p:attrNameLst>
                                      </p:cBhvr>
                                      <p:to>
                                        <p:strVal val="visible"/>
                                      </p:to>
                                    </p:set>
                                    <p:animEffect transition="in" filter="wipe(left)">
                                      <p:cBhvr>
                                        <p:cTn id="60" dur="500"/>
                                        <p:tgtEl>
                                          <p:spTgt spid="19">
                                            <p:txEl>
                                              <p:pRg st="0" end="0"/>
                                            </p:txEl>
                                          </p:spTgt>
                                        </p:tgtEl>
                                      </p:cBhvr>
                                    </p:animEffect>
                                  </p:childTnLst>
                                </p:cTn>
                              </p:par>
                            </p:childTnLst>
                          </p:cTn>
                        </p:par>
                        <p:par>
                          <p:cTn id="61" fill="hold">
                            <p:stCondLst>
                              <p:cond delay="500"/>
                            </p:stCondLst>
                            <p:childTnLst>
                              <p:par>
                                <p:cTn id="62" presetID="16" presetClass="entr" presetSubtype="21" fill="hold" nodeType="after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barn(inVertical)">
                                      <p:cBhvr>
                                        <p:cTn id="6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6272" grpId="0" build="p" autoUpdateAnimBg="0"/>
      <p:bldP spid="736275" grpId="0" build="p" autoUpdateAnimBg="0"/>
      <p:bldP spid="736277" grpId="0" build="p" autoUpdateAnimBg="0"/>
      <p:bldP spid="736278" grpId="0" animBg="1" autoUpdateAnimBg="0"/>
      <p:bldP spid="17" grpId="0" build="p" autoUpdateAnimBg="0"/>
      <p:bldP spid="19"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6802" name="Picture 18" descr="Dz0606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8938" y="2070100"/>
            <a:ext cx="4343400" cy="298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299" name="AutoShape 19"/>
          <p:cNvSpPr>
            <a:spLocks/>
          </p:cNvSpPr>
          <p:nvPr/>
        </p:nvSpPr>
        <p:spPr bwMode="auto">
          <a:xfrm>
            <a:off x="1885950" y="5041900"/>
            <a:ext cx="1525588" cy="720725"/>
          </a:xfrm>
          <a:prstGeom prst="borderCallout2">
            <a:avLst>
              <a:gd name="adj1" fmla="val 13611"/>
              <a:gd name="adj2" fmla="val 104347"/>
              <a:gd name="adj3" fmla="val 13611"/>
              <a:gd name="adj4" fmla="val 127991"/>
              <a:gd name="adj5" fmla="val -68053"/>
              <a:gd name="adj6" fmla="val 157883"/>
            </a:avLst>
          </a:prstGeom>
          <a:solidFill>
            <a:srgbClr val="FFFFCC"/>
          </a:solidFill>
          <a:ln w="19050" cap="sq">
            <a:solidFill>
              <a:srgbClr val="FF33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zh-CN" altLang="en-US" sz="2000" dirty="0"/>
              <a:t>最大附加相移为</a:t>
            </a:r>
            <a:r>
              <a:rPr kumimoji="0" lang="en-US" altLang="zh-CN" sz="2000" dirty="0"/>
              <a:t>-135°</a:t>
            </a:r>
          </a:p>
        </p:txBody>
      </p:sp>
      <p:sp>
        <p:nvSpPr>
          <p:cNvPr id="737300" name="AutoShape 20"/>
          <p:cNvSpPr>
            <a:spLocks/>
          </p:cNvSpPr>
          <p:nvPr/>
        </p:nvSpPr>
        <p:spPr bwMode="auto">
          <a:xfrm>
            <a:off x="4554537" y="5118100"/>
            <a:ext cx="2312987" cy="800100"/>
          </a:xfrm>
          <a:prstGeom prst="borderCallout2">
            <a:avLst>
              <a:gd name="adj1" fmla="val 14287"/>
              <a:gd name="adj2" fmla="val -2630"/>
              <a:gd name="adj3" fmla="val 14287"/>
              <a:gd name="adj4" fmla="val -20338"/>
              <a:gd name="adj5" fmla="val 72222"/>
              <a:gd name="adj6" fmla="val -38653"/>
            </a:avLst>
          </a:prstGeom>
          <a:solidFill>
            <a:srgbClr val="FFFFCC"/>
          </a:solidFill>
          <a:ln w="19050" cap="sq">
            <a:solidFill>
              <a:srgbClr val="FF33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r>
              <a:rPr kumimoji="0" lang="zh-CN" altLang="en-US" sz="2000" dirty="0" smtClean="0"/>
              <a:t>具有</a:t>
            </a:r>
            <a:r>
              <a:rPr kumimoji="0" lang="en-US" altLang="zh-CN" sz="2000" dirty="0"/>
              <a:t>45°</a:t>
            </a:r>
            <a:r>
              <a:rPr kumimoji="0" lang="zh-CN" altLang="en-US" sz="2000" dirty="0"/>
              <a:t>的相位裕度，故电路稳定</a:t>
            </a:r>
          </a:p>
        </p:txBody>
      </p:sp>
      <p:grpSp>
        <p:nvGrpSpPr>
          <p:cNvPr id="737301" name="Group 21"/>
          <p:cNvGrpSpPr>
            <a:grpSpLocks/>
          </p:cNvGrpSpPr>
          <p:nvPr/>
        </p:nvGrpSpPr>
        <p:grpSpPr bwMode="auto">
          <a:xfrm>
            <a:off x="790576" y="1952625"/>
            <a:ext cx="4886325" cy="2381250"/>
            <a:chOff x="557" y="1366"/>
            <a:chExt cx="3078" cy="1500"/>
          </a:xfrm>
        </p:grpSpPr>
        <p:sp>
          <p:nvSpPr>
            <p:cNvPr id="76809" name="AutoShape 22"/>
            <p:cNvSpPr>
              <a:spLocks/>
            </p:cNvSpPr>
            <p:nvPr/>
          </p:nvSpPr>
          <p:spPr bwMode="auto">
            <a:xfrm>
              <a:off x="2928" y="1366"/>
              <a:ext cx="707" cy="251"/>
            </a:xfrm>
            <a:prstGeom prst="borderCallout1">
              <a:avLst>
                <a:gd name="adj1" fmla="val 22431"/>
                <a:gd name="adj2" fmla="val -5213"/>
                <a:gd name="adj3" fmla="val 177274"/>
                <a:gd name="adj4" fmla="val -100529"/>
              </a:avLst>
            </a:prstGeom>
            <a:solidFill>
              <a:srgbClr val="FFFFCC"/>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a:t>补偿前</a:t>
              </a:r>
            </a:p>
          </p:txBody>
        </p:sp>
        <p:sp>
          <p:nvSpPr>
            <p:cNvPr id="76810" name="AutoShape 23"/>
            <p:cNvSpPr>
              <a:spLocks/>
            </p:cNvSpPr>
            <p:nvPr/>
          </p:nvSpPr>
          <p:spPr bwMode="auto">
            <a:xfrm>
              <a:off x="557" y="2640"/>
              <a:ext cx="629" cy="226"/>
            </a:xfrm>
            <a:prstGeom prst="borderCallout1">
              <a:avLst>
                <a:gd name="adj1" fmla="val 26181"/>
                <a:gd name="adj2" fmla="val 105648"/>
                <a:gd name="adj3" fmla="val -97095"/>
                <a:gd name="adj4" fmla="val 260040"/>
              </a:avLst>
            </a:prstGeom>
            <a:solidFill>
              <a:srgbClr val="FFFFCC"/>
            </a:solidFill>
            <a:ln w="1905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a:t>补偿后</a:t>
              </a:r>
            </a:p>
          </p:txBody>
        </p:sp>
      </p:grpSp>
      <p:graphicFrame>
        <p:nvGraphicFramePr>
          <p:cNvPr id="737304" name="Object 24"/>
          <p:cNvGraphicFramePr>
            <a:graphicFrameLocks noChangeAspect="1"/>
          </p:cNvGraphicFramePr>
          <p:nvPr>
            <p:extLst>
              <p:ext uri="{D42A27DB-BD31-4B8C-83A1-F6EECF244321}">
                <p14:modId xmlns:p14="http://schemas.microsoft.com/office/powerpoint/2010/main" val="2619097248"/>
              </p:ext>
            </p:extLst>
          </p:nvPr>
        </p:nvGraphicFramePr>
        <p:xfrm>
          <a:off x="4737100" y="1081088"/>
          <a:ext cx="4114800" cy="481012"/>
        </p:xfrm>
        <a:graphic>
          <a:graphicData uri="http://schemas.openxmlformats.org/presentationml/2006/ole">
            <mc:AlternateContent xmlns:mc="http://schemas.openxmlformats.org/markup-compatibility/2006">
              <mc:Choice xmlns:v="urn:schemas-microsoft-com:vml" Requires="v">
                <p:oleObj spid="_x0000_s77239" name="Equation" r:id="rId4" imgW="2286000" imgH="266400" progId="Equation.DSMT4">
                  <p:embed/>
                </p:oleObj>
              </mc:Choice>
              <mc:Fallback>
                <p:oleObj name="Equation" r:id="rId4" imgW="2286000" imgH="266400" progId="Equation.DSMT4">
                  <p:embed/>
                  <p:pic>
                    <p:nvPicPr>
                      <p:cNvPr id="0" name="Object 24"/>
                      <p:cNvPicPr>
                        <a:picLocks noChangeAspect="1" noChangeArrowheads="1"/>
                      </p:cNvPicPr>
                      <p:nvPr/>
                    </p:nvPicPr>
                    <p:blipFill>
                      <a:blip r:embed="rId5"/>
                      <a:srcRect/>
                      <a:stretch>
                        <a:fillRect/>
                      </a:stretch>
                    </p:blipFill>
                    <p:spPr bwMode="auto">
                      <a:xfrm>
                        <a:off x="4737100" y="1081088"/>
                        <a:ext cx="4114800" cy="481012"/>
                      </a:xfrm>
                      <a:prstGeom prst="rect">
                        <a:avLst/>
                      </a:prstGeom>
                      <a:solidFill>
                        <a:srgbClr val="66FFFF"/>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305" name="Text Box 25"/>
          <p:cNvSpPr txBox="1">
            <a:spLocks noChangeArrowheads="1"/>
          </p:cNvSpPr>
          <p:nvPr/>
        </p:nvSpPr>
        <p:spPr bwMode="auto">
          <a:xfrm>
            <a:off x="6213178" y="2636040"/>
            <a:ext cx="278877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50000"/>
              </a:spcBef>
              <a:buFontTx/>
              <a:buNone/>
            </a:pPr>
            <a:r>
              <a:rPr lang="en-US" altLang="zh-CN" sz="2000" b="0" dirty="0"/>
              <a:t>    </a:t>
            </a:r>
            <a:r>
              <a:rPr lang="zh-CN" altLang="en-US" sz="2000" dirty="0"/>
              <a:t>滞后补偿法是以频带变窄为代价来消除</a:t>
            </a:r>
            <a:r>
              <a:rPr lang="zh-CN" altLang="en-US" sz="2000" dirty="0" smtClean="0"/>
              <a:t>自激振荡。</a:t>
            </a:r>
            <a:endParaRPr lang="zh-CN" altLang="en-US" sz="2000" dirty="0"/>
          </a:p>
        </p:txBody>
      </p:sp>
      <p:graphicFrame>
        <p:nvGraphicFramePr>
          <p:cNvPr id="737306" name="Object 26"/>
          <p:cNvGraphicFramePr>
            <a:graphicFrameLocks noChangeAspect="1"/>
          </p:cNvGraphicFramePr>
          <p:nvPr>
            <p:extLst>
              <p:ext uri="{D42A27DB-BD31-4B8C-83A1-F6EECF244321}">
                <p14:modId xmlns:p14="http://schemas.microsoft.com/office/powerpoint/2010/main" val="4030487407"/>
              </p:ext>
            </p:extLst>
          </p:nvPr>
        </p:nvGraphicFramePr>
        <p:xfrm>
          <a:off x="144464" y="568324"/>
          <a:ext cx="4229100" cy="1257300"/>
        </p:xfrm>
        <a:graphic>
          <a:graphicData uri="http://schemas.openxmlformats.org/presentationml/2006/ole">
            <mc:AlternateContent xmlns:mc="http://schemas.openxmlformats.org/markup-compatibility/2006">
              <mc:Choice xmlns:v="urn:schemas-microsoft-com:vml" Requires="v">
                <p:oleObj spid="_x0000_s77240" name="Equation" r:id="rId6" imgW="2349500" imgH="698500" progId="Equation.DSMT4">
                  <p:embed/>
                </p:oleObj>
              </mc:Choice>
              <mc:Fallback>
                <p:oleObj name="Equation" r:id="rId6" imgW="2349500" imgH="698500" progId="Equation.DSMT4">
                  <p:embed/>
                  <p:pic>
                    <p:nvPicPr>
                      <p:cNvPr id="0" name="Object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464" y="568324"/>
                        <a:ext cx="4229100" cy="1257300"/>
                      </a:xfrm>
                      <a:prstGeom prst="rect">
                        <a:avLst/>
                      </a:prstGeom>
                      <a:solidFill>
                        <a:srgbClr val="66FFFF"/>
                      </a:solid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3730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737306"/>
                                        </p:tgtEl>
                                        <p:attrNameLst>
                                          <p:attrName>style.visibility</p:attrName>
                                        </p:attrNameLst>
                                      </p:cBhvr>
                                      <p:to>
                                        <p:strVal val="visible"/>
                                      </p:to>
                                    </p:set>
                                    <p:animEffect transition="in" filter="wipe(left)">
                                      <p:cBhvr>
                                        <p:cTn id="11" dur="500"/>
                                        <p:tgtEl>
                                          <p:spTgt spid="73730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737304"/>
                                        </p:tgtEl>
                                        <p:attrNameLst>
                                          <p:attrName>style.visibility</p:attrName>
                                        </p:attrNameLst>
                                      </p:cBhvr>
                                      <p:to>
                                        <p:strVal val="visible"/>
                                      </p:to>
                                    </p:set>
                                    <p:animEffect transition="in" filter="wipe(left)">
                                      <p:cBhvr>
                                        <p:cTn id="16" dur="500"/>
                                        <p:tgtEl>
                                          <p:spTgt spid="73730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73729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73730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737305">
                                            <p:txEl>
                                              <p:pRg st="0" end="0"/>
                                            </p:txEl>
                                          </p:spTgt>
                                        </p:tgtEl>
                                        <p:attrNameLst>
                                          <p:attrName>style.visibility</p:attrName>
                                        </p:attrNameLst>
                                      </p:cBhvr>
                                      <p:to>
                                        <p:strVal val="visible"/>
                                      </p:to>
                                    </p:set>
                                    <p:animEffect transition="in" filter="wipe(left)">
                                      <p:cBhvr>
                                        <p:cTn id="29" dur="500"/>
                                        <p:tgtEl>
                                          <p:spTgt spid="73730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299" grpId="0" animBg="1" autoUpdateAnimBg="0"/>
      <p:bldP spid="737300" grpId="0" animBg="1" autoUpdateAnimBg="0"/>
      <p:bldP spid="737305"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12"/>
          <p:cNvSpPr>
            <a:spLocks noGrp="1" noChangeArrowheads="1"/>
          </p:cNvSpPr>
          <p:nvPr>
            <p:ph type="title"/>
          </p:nvPr>
        </p:nvSpPr>
        <p:spPr>
          <a:xfrm>
            <a:off x="260350" y="441325"/>
            <a:ext cx="4572000" cy="533400"/>
          </a:xfrm>
          <a:noFill/>
        </p:spPr>
        <p:txBody>
          <a:bodyPr/>
          <a:lstStyle/>
          <a:p>
            <a:pPr algn="l" eaLnBrk="1" hangingPunct="1">
              <a:lnSpc>
                <a:spcPct val="120000"/>
              </a:lnSpc>
              <a:spcBef>
                <a:spcPct val="50000"/>
              </a:spcBef>
            </a:pPr>
            <a:r>
              <a:rPr lang="zh-CN" altLang="en-US" sz="2400" b="1" kern="1200" dirty="0">
                <a:solidFill>
                  <a:srgbClr val="A50021"/>
                </a:solidFill>
                <a:latin typeface="Times New Roman" pitchFamily="18" charset="0"/>
                <a:ea typeface="宋体" pitchFamily="2" charset="-122"/>
                <a:cs typeface="+mn-cs"/>
              </a:rPr>
              <a:t>二</a:t>
            </a:r>
            <a:r>
              <a:rPr lang="zh-CN" altLang="en-US" sz="2400" b="1" kern="1200" dirty="0" smtClean="0">
                <a:solidFill>
                  <a:srgbClr val="A50021"/>
                </a:solidFill>
                <a:latin typeface="Times New Roman" pitchFamily="18" charset="0"/>
                <a:ea typeface="宋体" pitchFamily="2" charset="-122"/>
                <a:cs typeface="+mn-cs"/>
              </a:rPr>
              <a:t>、密</a:t>
            </a:r>
            <a:r>
              <a:rPr lang="zh-CN" altLang="en-US" sz="2400" b="1" kern="1200" dirty="0">
                <a:solidFill>
                  <a:srgbClr val="A50021"/>
                </a:solidFill>
                <a:latin typeface="Times New Roman" pitchFamily="18" charset="0"/>
                <a:ea typeface="宋体" pitchFamily="2" charset="-122"/>
                <a:cs typeface="+mn-cs"/>
              </a:rPr>
              <a:t>勒补偿</a:t>
            </a:r>
          </a:p>
        </p:txBody>
      </p:sp>
      <p:pic>
        <p:nvPicPr>
          <p:cNvPr id="738317" name="Picture 13" descr="Dz060607"/>
          <p:cNvPicPr>
            <a:picLocks noChangeAspect="1" noChangeArrowheads="1"/>
          </p:cNvPicPr>
          <p:nvPr/>
        </p:nvPicPr>
        <p:blipFill>
          <a:blip r:embed="rId3">
            <a:extLst>
              <a:ext uri="{28A0092B-C50C-407E-A947-70E740481C1C}">
                <a14:useLocalDpi xmlns:a14="http://schemas.microsoft.com/office/drawing/2010/main" val="0"/>
              </a:ext>
            </a:extLst>
          </a:blip>
          <a:srcRect r="50247" b="11111"/>
          <a:stretch>
            <a:fillRect/>
          </a:stretch>
        </p:blipFill>
        <p:spPr bwMode="auto">
          <a:xfrm>
            <a:off x="976313" y="1747838"/>
            <a:ext cx="3581400" cy="166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38318" name="Group 14"/>
          <p:cNvGrpSpPr>
            <a:grpSpLocks/>
          </p:cNvGrpSpPr>
          <p:nvPr/>
        </p:nvGrpSpPr>
        <p:grpSpPr bwMode="auto">
          <a:xfrm>
            <a:off x="2043113" y="2738438"/>
            <a:ext cx="744537" cy="609600"/>
            <a:chOff x="1296" y="1440"/>
            <a:chExt cx="469" cy="384"/>
          </a:xfrm>
        </p:grpSpPr>
        <p:grpSp>
          <p:nvGrpSpPr>
            <p:cNvPr id="77838" name="Group 15"/>
            <p:cNvGrpSpPr>
              <a:grpSpLocks/>
            </p:cNvGrpSpPr>
            <p:nvPr/>
          </p:nvGrpSpPr>
          <p:grpSpPr bwMode="auto">
            <a:xfrm>
              <a:off x="1525" y="1440"/>
              <a:ext cx="240" cy="384"/>
              <a:chOff x="1607" y="1824"/>
              <a:chExt cx="240" cy="384"/>
            </a:xfrm>
          </p:grpSpPr>
          <p:sp>
            <p:nvSpPr>
              <p:cNvPr id="77840" name="Line 16"/>
              <p:cNvSpPr>
                <a:spLocks noChangeShapeType="1"/>
              </p:cNvSpPr>
              <p:nvPr/>
            </p:nvSpPr>
            <p:spPr bwMode="auto">
              <a:xfrm>
                <a:off x="1607" y="1968"/>
                <a:ext cx="240" cy="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1" name="Line 17"/>
              <p:cNvSpPr>
                <a:spLocks noChangeShapeType="1"/>
              </p:cNvSpPr>
              <p:nvPr/>
            </p:nvSpPr>
            <p:spPr bwMode="auto">
              <a:xfrm>
                <a:off x="1607" y="2064"/>
                <a:ext cx="240" cy="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2" name="Line 18"/>
              <p:cNvSpPr>
                <a:spLocks noChangeShapeType="1"/>
              </p:cNvSpPr>
              <p:nvPr/>
            </p:nvSpPr>
            <p:spPr bwMode="auto">
              <a:xfrm>
                <a:off x="1728" y="1824"/>
                <a:ext cx="0" cy="144"/>
              </a:xfrm>
              <a:prstGeom prst="line">
                <a:avLst/>
              </a:prstGeom>
              <a:noFill/>
              <a:ln w="9525">
                <a:solidFill>
                  <a:srgbClr val="CC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3" name="Line 19"/>
              <p:cNvSpPr>
                <a:spLocks noChangeShapeType="1"/>
              </p:cNvSpPr>
              <p:nvPr/>
            </p:nvSpPr>
            <p:spPr bwMode="auto">
              <a:xfrm>
                <a:off x="1728" y="2064"/>
                <a:ext cx="0" cy="144"/>
              </a:xfrm>
              <a:prstGeom prst="line">
                <a:avLst/>
              </a:prstGeom>
              <a:noFill/>
              <a:ln w="9525">
                <a:solidFill>
                  <a:srgbClr val="CC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44" name="Line 20"/>
              <p:cNvSpPr>
                <a:spLocks noChangeShapeType="1"/>
              </p:cNvSpPr>
              <p:nvPr/>
            </p:nvSpPr>
            <p:spPr bwMode="auto">
              <a:xfrm>
                <a:off x="1632" y="2208"/>
                <a:ext cx="192" cy="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77839" name="Object 21"/>
            <p:cNvGraphicFramePr>
              <a:graphicFrameLocks noChangeAspect="1"/>
            </p:cNvGraphicFramePr>
            <p:nvPr/>
          </p:nvGraphicFramePr>
          <p:xfrm>
            <a:off x="1296" y="1536"/>
            <a:ext cx="248" cy="248"/>
          </p:xfrm>
          <a:graphic>
            <a:graphicData uri="http://schemas.openxmlformats.org/presentationml/2006/ole">
              <mc:AlternateContent xmlns:mc="http://schemas.openxmlformats.org/markup-compatibility/2006">
                <mc:Choice xmlns:v="urn:schemas-microsoft-com:vml" Requires="v">
                  <p:oleObj spid="_x0000_s78273" name="公式" r:id="rId4" imgW="177492" imgH="177492" progId="Equation.3">
                    <p:embed/>
                  </p:oleObj>
                </mc:Choice>
                <mc:Fallback>
                  <p:oleObj name="公式" r:id="rId4" imgW="177492" imgH="177492" progId="Equation.3">
                    <p:embed/>
                    <p:pic>
                      <p:nvPicPr>
                        <p:cNvPr id="0" name="Object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6" y="1536"/>
                          <a:ext cx="248"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38327" name="Text Box 23"/>
          <p:cNvSpPr txBox="1">
            <a:spLocks noChangeArrowheads="1"/>
          </p:cNvSpPr>
          <p:nvPr/>
        </p:nvSpPr>
        <p:spPr bwMode="auto">
          <a:xfrm>
            <a:off x="5395912" y="3576638"/>
            <a:ext cx="357028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nSpc>
                <a:spcPct val="150000"/>
              </a:lnSpc>
              <a:spcBef>
                <a:spcPct val="50000"/>
              </a:spcBef>
              <a:buFontTx/>
              <a:buNone/>
            </a:pPr>
            <a:r>
              <a:rPr kumimoji="0" lang="en-US" altLang="zh-CN" sz="2000" b="0" dirty="0"/>
              <a:t>    </a:t>
            </a:r>
            <a:r>
              <a:rPr kumimoji="0" lang="zh-CN" altLang="en-US" sz="2000" dirty="0"/>
              <a:t>在获得同样补偿的情况下，补偿电容比简单滞后补偿的电容小得多。</a:t>
            </a:r>
          </a:p>
        </p:txBody>
      </p:sp>
      <p:pic>
        <p:nvPicPr>
          <p:cNvPr id="738328" name="Picture 24" descr="Dz06060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3500438"/>
            <a:ext cx="4343400" cy="298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8329" name="Text Box 25"/>
          <p:cNvSpPr txBox="1">
            <a:spLocks noChangeArrowheads="1"/>
          </p:cNvSpPr>
          <p:nvPr/>
        </p:nvSpPr>
        <p:spPr bwMode="auto">
          <a:xfrm>
            <a:off x="5243513" y="1747838"/>
            <a:ext cx="3722687" cy="943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50000"/>
              </a:spcBef>
              <a:buFontTx/>
              <a:buNone/>
            </a:pPr>
            <a:r>
              <a:rPr lang="en-US" altLang="zh-CN" sz="2000" dirty="0">
                <a:latin typeface="宋体" pitchFamily="2" charset="-122"/>
              </a:rPr>
              <a:t>  </a:t>
            </a:r>
            <a:r>
              <a:rPr lang="zh-CN" altLang="zh-CN" sz="2000" dirty="0">
                <a:latin typeface="宋体" pitchFamily="2" charset="-122"/>
              </a:rPr>
              <a:t>在</a:t>
            </a:r>
            <a:r>
              <a:rPr lang="zh-CN" altLang="en-US" sz="2000" dirty="0">
                <a:latin typeface="宋体" pitchFamily="2" charset="-122"/>
              </a:rPr>
              <a:t>最低的上限频率所在放大电路中加补偿电容。</a:t>
            </a:r>
          </a:p>
        </p:txBody>
      </p:sp>
      <p:grpSp>
        <p:nvGrpSpPr>
          <p:cNvPr id="738330" name="Group 26"/>
          <p:cNvGrpSpPr>
            <a:grpSpLocks/>
          </p:cNvGrpSpPr>
          <p:nvPr/>
        </p:nvGrpSpPr>
        <p:grpSpPr bwMode="auto">
          <a:xfrm>
            <a:off x="3516314" y="3348039"/>
            <a:ext cx="2106613" cy="2462213"/>
            <a:chOff x="2224" y="1824"/>
            <a:chExt cx="1327" cy="1551"/>
          </a:xfrm>
        </p:grpSpPr>
        <p:sp>
          <p:nvSpPr>
            <p:cNvPr id="77836" name="AutoShape 27"/>
            <p:cNvSpPr>
              <a:spLocks/>
            </p:cNvSpPr>
            <p:nvPr/>
          </p:nvSpPr>
          <p:spPr bwMode="auto">
            <a:xfrm>
              <a:off x="2224" y="1824"/>
              <a:ext cx="696" cy="259"/>
            </a:xfrm>
            <a:prstGeom prst="borderCallout1">
              <a:avLst>
                <a:gd name="adj1" fmla="val 23454"/>
                <a:gd name="adj2" fmla="val -5662"/>
                <a:gd name="adj3" fmla="val 180599"/>
                <a:gd name="adj4" fmla="val -89755"/>
              </a:avLst>
            </a:prstGeom>
            <a:solidFill>
              <a:srgbClr val="FFFFCC"/>
            </a:solidFill>
            <a:ln w="1905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a:t>补偿前</a:t>
              </a:r>
            </a:p>
          </p:txBody>
        </p:sp>
        <p:sp>
          <p:nvSpPr>
            <p:cNvPr id="77837" name="AutoShape 28"/>
            <p:cNvSpPr>
              <a:spLocks/>
            </p:cNvSpPr>
            <p:nvPr/>
          </p:nvSpPr>
          <p:spPr bwMode="auto">
            <a:xfrm>
              <a:off x="2920" y="3120"/>
              <a:ext cx="631" cy="255"/>
            </a:xfrm>
            <a:prstGeom prst="borderCallout1">
              <a:avLst>
                <a:gd name="adj1" fmla="val 22088"/>
                <a:gd name="adj2" fmla="val -5986"/>
                <a:gd name="adj3" fmla="val 84790"/>
                <a:gd name="adj4" fmla="val -120585"/>
              </a:avLst>
            </a:prstGeom>
            <a:solidFill>
              <a:srgbClr val="FFFFCC"/>
            </a:solidFill>
            <a:ln w="1905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a:t>补偿后</a:t>
              </a:r>
            </a:p>
          </p:txBody>
        </p:sp>
      </p:grpSp>
      <p:sp>
        <p:nvSpPr>
          <p:cNvPr id="738333" name="AutoShape 29"/>
          <p:cNvSpPr>
            <a:spLocks/>
          </p:cNvSpPr>
          <p:nvPr/>
        </p:nvSpPr>
        <p:spPr bwMode="auto">
          <a:xfrm>
            <a:off x="771525" y="1389063"/>
            <a:ext cx="1423988" cy="433387"/>
          </a:xfrm>
          <a:prstGeom prst="borderCallout1">
            <a:avLst>
              <a:gd name="adj1" fmla="val 26375"/>
              <a:gd name="adj2" fmla="val 104824"/>
              <a:gd name="adj3" fmla="val 344690"/>
              <a:gd name="adj4" fmla="val 117588"/>
            </a:avLst>
          </a:prstGeom>
          <a:solidFill>
            <a:srgbClr val="FFFFCC"/>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a:t>等效变换</a:t>
            </a:r>
          </a:p>
        </p:txBody>
      </p:sp>
      <p:sp>
        <p:nvSpPr>
          <p:cNvPr id="738334" name="AutoShape 30"/>
          <p:cNvSpPr>
            <a:spLocks/>
          </p:cNvSpPr>
          <p:nvPr/>
        </p:nvSpPr>
        <p:spPr bwMode="auto">
          <a:xfrm>
            <a:off x="4000500" y="1316038"/>
            <a:ext cx="1243013" cy="504825"/>
          </a:xfrm>
          <a:prstGeom prst="borderCallout1">
            <a:avLst>
              <a:gd name="adj1" fmla="val 22644"/>
              <a:gd name="adj2" fmla="val -5306"/>
              <a:gd name="adj3" fmla="val 130819"/>
              <a:gd name="adj4" fmla="val -41748"/>
            </a:avLst>
          </a:prstGeom>
          <a:solidFill>
            <a:srgbClr val="FFFFCC"/>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a:t>补偿电容</a:t>
            </a:r>
          </a:p>
        </p:txBody>
      </p:sp>
      <p:graphicFrame>
        <p:nvGraphicFramePr>
          <p:cNvPr id="2" name="对象 1"/>
          <p:cNvGraphicFramePr>
            <a:graphicFrameLocks noChangeAspect="1"/>
          </p:cNvGraphicFramePr>
          <p:nvPr>
            <p:extLst>
              <p:ext uri="{D42A27DB-BD31-4B8C-83A1-F6EECF244321}">
                <p14:modId xmlns:p14="http://schemas.microsoft.com/office/powerpoint/2010/main" val="2598306827"/>
              </p:ext>
            </p:extLst>
          </p:nvPr>
        </p:nvGraphicFramePr>
        <p:xfrm>
          <a:off x="5954709" y="2800561"/>
          <a:ext cx="1690694" cy="523877"/>
        </p:xfrm>
        <a:graphic>
          <a:graphicData uri="http://schemas.openxmlformats.org/presentationml/2006/ole">
            <mc:AlternateContent xmlns:mc="http://schemas.openxmlformats.org/markup-compatibility/2006">
              <mc:Choice xmlns:v="urn:schemas-microsoft-com:vml" Requires="v">
                <p:oleObj spid="_x0000_s78274" name="Equation" r:id="rId7" imgW="901440" imgH="279360" progId="Equation.DSMT4">
                  <p:embed/>
                </p:oleObj>
              </mc:Choice>
              <mc:Fallback>
                <p:oleObj name="Equation" r:id="rId7" imgW="901440" imgH="279360" progId="Equation.DSMT4">
                  <p:embed/>
                  <p:pic>
                    <p:nvPicPr>
                      <p:cNvPr id="0" name=""/>
                      <p:cNvPicPr/>
                      <p:nvPr/>
                    </p:nvPicPr>
                    <p:blipFill>
                      <a:blip r:embed="rId8"/>
                      <a:stretch>
                        <a:fillRect/>
                      </a:stretch>
                    </p:blipFill>
                    <p:spPr>
                      <a:xfrm>
                        <a:off x="5954709" y="2800561"/>
                        <a:ext cx="1690694" cy="523877"/>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38317"/>
                                        </p:tgtEl>
                                        <p:attrNameLst>
                                          <p:attrName>style.visibility</p:attrName>
                                        </p:attrNameLst>
                                      </p:cBhvr>
                                      <p:to>
                                        <p:strVal val="visible"/>
                                      </p:to>
                                    </p:set>
                                    <p:animEffect transition="in" filter="wipe(left)">
                                      <p:cBhvr>
                                        <p:cTn id="7" dur="500"/>
                                        <p:tgtEl>
                                          <p:spTgt spid="7383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38334"/>
                                        </p:tgtEl>
                                        <p:attrNameLst>
                                          <p:attrName>style.visibility</p:attrName>
                                        </p:attrNameLst>
                                      </p:cBhvr>
                                      <p:to>
                                        <p:strVal val="visible"/>
                                      </p:to>
                                    </p:set>
                                    <p:animEffect transition="in" filter="wipe(left)">
                                      <p:cBhvr>
                                        <p:cTn id="12" dur="500"/>
                                        <p:tgtEl>
                                          <p:spTgt spid="73833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38329">
                                            <p:txEl>
                                              <p:pRg st="0" end="0"/>
                                            </p:txEl>
                                          </p:spTgt>
                                        </p:tgtEl>
                                        <p:attrNameLst>
                                          <p:attrName>style.visibility</p:attrName>
                                        </p:attrNameLst>
                                      </p:cBhvr>
                                      <p:to>
                                        <p:strVal val="visible"/>
                                      </p:to>
                                    </p:set>
                                    <p:animEffect transition="in" filter="wipe(left)">
                                      <p:cBhvr>
                                        <p:cTn id="17" dur="500"/>
                                        <p:tgtEl>
                                          <p:spTgt spid="738329">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738318"/>
                                        </p:tgtEl>
                                        <p:attrNameLst>
                                          <p:attrName>style.visibility</p:attrName>
                                        </p:attrNameLst>
                                      </p:cBhvr>
                                      <p:to>
                                        <p:strVal val="visible"/>
                                      </p:to>
                                    </p:set>
                                    <p:animEffect transition="in" filter="wipe(up)">
                                      <p:cBhvr>
                                        <p:cTn id="22" dur="500"/>
                                        <p:tgtEl>
                                          <p:spTgt spid="7383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3833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ntr" presetSubtype="21"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arn(inVertical)">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738328"/>
                                        </p:tgtEl>
                                        <p:attrNameLst>
                                          <p:attrName>style.visibility</p:attrName>
                                        </p:attrNameLst>
                                      </p:cBhvr>
                                      <p:to>
                                        <p:strVal val="visible"/>
                                      </p:to>
                                    </p:set>
                                    <p:animEffect transition="in" filter="dissolve">
                                      <p:cBhvr>
                                        <p:cTn id="36" dur="500"/>
                                        <p:tgtEl>
                                          <p:spTgt spid="73832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738330"/>
                                        </p:tgtEl>
                                        <p:attrNameLst>
                                          <p:attrName>style.visibility</p:attrName>
                                        </p:attrNameLst>
                                      </p:cBhvr>
                                      <p:to>
                                        <p:strVal val="visible"/>
                                      </p:to>
                                    </p:set>
                                    <p:animEffect transition="in" filter="wipe(left)">
                                      <p:cBhvr>
                                        <p:cTn id="41" dur="500"/>
                                        <p:tgtEl>
                                          <p:spTgt spid="73833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38327">
                                            <p:txEl>
                                              <p:pRg st="0" end="0"/>
                                            </p:txEl>
                                          </p:spTgt>
                                        </p:tgtEl>
                                        <p:attrNameLst>
                                          <p:attrName>style.visibility</p:attrName>
                                        </p:attrNameLst>
                                      </p:cBhvr>
                                      <p:to>
                                        <p:strVal val="visible"/>
                                      </p:to>
                                    </p:set>
                                    <p:animEffect transition="in" filter="wipe(left)">
                                      <p:cBhvr>
                                        <p:cTn id="46" dur="500"/>
                                        <p:tgtEl>
                                          <p:spTgt spid="7383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8327" grpId="0" build="p" autoUpdateAnimBg="0"/>
      <p:bldP spid="738329" grpId="0" build="p" autoUpdateAnimBg="0"/>
      <p:bldP spid="738333" grpId="0" animBg="1"/>
      <p:bldP spid="738334" grpId="0" animBg="1"/>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39355" name="Picture 27" descr="Dz060605"/>
          <p:cNvPicPr>
            <a:picLocks noChangeAspect="1" noChangeArrowheads="1"/>
          </p:cNvPicPr>
          <p:nvPr/>
        </p:nvPicPr>
        <p:blipFill>
          <a:blip r:embed="rId3">
            <a:lum bright="6000" contrast="84000"/>
            <a:grayscl/>
            <a:extLst>
              <a:ext uri="{28A0092B-C50C-407E-A947-70E740481C1C}">
                <a14:useLocalDpi xmlns:a14="http://schemas.microsoft.com/office/drawing/2010/main" val="0"/>
              </a:ext>
            </a:extLst>
          </a:blip>
          <a:srcRect t="16403" r="46518" b="32520"/>
          <a:stretch>
            <a:fillRect/>
          </a:stretch>
        </p:blipFill>
        <p:spPr bwMode="auto">
          <a:xfrm>
            <a:off x="620713" y="1512888"/>
            <a:ext cx="3962400" cy="183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0" name="Rectangle 24"/>
          <p:cNvSpPr>
            <a:spLocks noGrp="1" noChangeArrowheads="1"/>
          </p:cNvSpPr>
          <p:nvPr>
            <p:ph type="title"/>
          </p:nvPr>
        </p:nvSpPr>
        <p:spPr>
          <a:xfrm>
            <a:off x="377825" y="484188"/>
            <a:ext cx="8604250" cy="51752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algn="l" eaLnBrk="1" hangingPunct="1">
              <a:lnSpc>
                <a:spcPct val="120000"/>
              </a:lnSpc>
              <a:spcBef>
                <a:spcPct val="50000"/>
              </a:spcBef>
            </a:pPr>
            <a:r>
              <a:rPr lang="zh-CN" altLang="en-US" sz="2400" b="1" kern="1200" dirty="0" smtClean="0">
                <a:solidFill>
                  <a:srgbClr val="A50021"/>
                </a:solidFill>
                <a:latin typeface="Times New Roman" pitchFamily="18" charset="0"/>
                <a:ea typeface="宋体" pitchFamily="2" charset="-122"/>
                <a:cs typeface="+mn-cs"/>
              </a:rPr>
              <a:t>三、</a:t>
            </a:r>
            <a:r>
              <a:rPr lang="en-US" altLang="zh-CN" sz="2400" b="1" i="1" kern="1200" dirty="0" smtClean="0">
                <a:solidFill>
                  <a:srgbClr val="A50021"/>
                </a:solidFill>
                <a:latin typeface="Times New Roman" pitchFamily="18" charset="0"/>
                <a:ea typeface="宋体" pitchFamily="2" charset="-122"/>
                <a:cs typeface="+mn-cs"/>
              </a:rPr>
              <a:t>RC</a:t>
            </a:r>
            <a:r>
              <a:rPr lang="en-US" altLang="zh-CN" sz="2400" b="1" kern="1200" dirty="0" smtClean="0">
                <a:solidFill>
                  <a:srgbClr val="A50021"/>
                </a:solidFill>
                <a:latin typeface="Times New Roman" pitchFamily="18" charset="0"/>
                <a:ea typeface="宋体" pitchFamily="2" charset="-122"/>
                <a:cs typeface="+mn-cs"/>
              </a:rPr>
              <a:t> </a:t>
            </a:r>
            <a:r>
              <a:rPr lang="zh-CN" altLang="zh-CN" sz="2400" b="1" kern="1200" dirty="0">
                <a:solidFill>
                  <a:srgbClr val="A50021"/>
                </a:solidFill>
                <a:latin typeface="Times New Roman" pitchFamily="18" charset="0"/>
                <a:ea typeface="宋体" pitchFamily="2" charset="-122"/>
                <a:cs typeface="+mn-cs"/>
              </a:rPr>
              <a:t>滞后补偿</a:t>
            </a:r>
            <a:r>
              <a:rPr lang="zh-CN" altLang="zh-CN" sz="2000" b="1" kern="1200" dirty="0">
                <a:solidFill>
                  <a:srgbClr val="00B0F0"/>
                </a:solidFill>
                <a:latin typeface="Times New Roman" pitchFamily="18" charset="0"/>
                <a:ea typeface="宋体" pitchFamily="2" charset="-122"/>
                <a:cs typeface="+mn-cs"/>
              </a:rPr>
              <a:t>：</a:t>
            </a:r>
            <a:r>
              <a:rPr lang="zh-CN" altLang="en-US" sz="2000" b="1" kern="1200" dirty="0">
                <a:solidFill>
                  <a:srgbClr val="00B0F0"/>
                </a:solidFill>
                <a:latin typeface="Times New Roman" pitchFamily="18" charset="0"/>
                <a:ea typeface="宋体" pitchFamily="2" charset="-122"/>
                <a:cs typeface="+mn-cs"/>
              </a:rPr>
              <a:t>在最低的上限频率所在回路加</a:t>
            </a:r>
            <a:r>
              <a:rPr lang="zh-CN" altLang="en-US" sz="2000" b="1" kern="1200" dirty="0" smtClean="0">
                <a:solidFill>
                  <a:srgbClr val="00B0F0"/>
                </a:solidFill>
                <a:latin typeface="Times New Roman" pitchFamily="18" charset="0"/>
                <a:ea typeface="宋体" pitchFamily="2" charset="-122"/>
                <a:cs typeface="+mn-cs"/>
              </a:rPr>
              <a:t>补偿</a:t>
            </a:r>
            <a:endParaRPr lang="zh-CN" altLang="zh-CN" sz="2000" b="1" kern="1200" dirty="0">
              <a:solidFill>
                <a:srgbClr val="00B0F0"/>
              </a:solidFill>
              <a:latin typeface="Times New Roman" pitchFamily="18" charset="0"/>
              <a:ea typeface="宋体" pitchFamily="2" charset="-122"/>
              <a:cs typeface="+mn-cs"/>
            </a:endParaRPr>
          </a:p>
        </p:txBody>
      </p:sp>
      <p:graphicFrame>
        <p:nvGraphicFramePr>
          <p:cNvPr id="78851" name="Object 25"/>
          <p:cNvGraphicFramePr>
            <a:graphicFrameLocks noChangeAspect="1"/>
          </p:cNvGraphicFramePr>
          <p:nvPr>
            <p:extLst>
              <p:ext uri="{D42A27DB-BD31-4B8C-83A1-F6EECF244321}">
                <p14:modId xmlns:p14="http://schemas.microsoft.com/office/powerpoint/2010/main" val="1668017999"/>
              </p:ext>
            </p:extLst>
          </p:nvPr>
        </p:nvGraphicFramePr>
        <p:xfrm>
          <a:off x="4642945" y="1369613"/>
          <a:ext cx="4294680" cy="1205311"/>
        </p:xfrm>
        <a:graphic>
          <a:graphicData uri="http://schemas.openxmlformats.org/presentationml/2006/ole">
            <mc:AlternateContent xmlns:mc="http://schemas.openxmlformats.org/markup-compatibility/2006">
              <mc:Choice xmlns:v="urn:schemas-microsoft-com:vml" Requires="v">
                <p:oleObj spid="_x0000_s79718" name="Equation" r:id="rId4" imgW="2489040" imgH="698400" progId="Equation.DSMT4">
                  <p:embed/>
                </p:oleObj>
              </mc:Choice>
              <mc:Fallback>
                <p:oleObj name="Equation" r:id="rId4" imgW="2489040" imgH="698400" progId="Equation.DSMT4">
                  <p:embed/>
                  <p:pic>
                    <p:nvPicPr>
                      <p:cNvPr id="0" name="Object 25"/>
                      <p:cNvPicPr>
                        <a:picLocks noChangeAspect="1" noChangeArrowheads="1"/>
                      </p:cNvPicPr>
                      <p:nvPr/>
                    </p:nvPicPr>
                    <p:blipFill>
                      <a:blip r:embed="rId5"/>
                      <a:srcRect/>
                      <a:stretch>
                        <a:fillRect/>
                      </a:stretch>
                    </p:blipFill>
                    <p:spPr bwMode="auto">
                      <a:xfrm>
                        <a:off x="4642945" y="1369613"/>
                        <a:ext cx="4294680" cy="1205311"/>
                      </a:xfrm>
                      <a:prstGeom prst="rect">
                        <a:avLst/>
                      </a:prstGeom>
                      <a:solidFill>
                        <a:srgbClr val="FFFFFF"/>
                      </a:solidFill>
                      <a:ln>
                        <a:noFill/>
                      </a:ln>
                      <a:effectLst/>
                      <a:extLst/>
                    </p:spPr>
                  </p:pic>
                </p:oleObj>
              </mc:Fallback>
            </mc:AlternateContent>
          </a:graphicData>
        </a:graphic>
      </p:graphicFrame>
      <p:graphicFrame>
        <p:nvGraphicFramePr>
          <p:cNvPr id="739354" name="Object 26"/>
          <p:cNvGraphicFramePr>
            <a:graphicFrameLocks noChangeAspect="1"/>
          </p:cNvGraphicFramePr>
          <p:nvPr>
            <p:extLst>
              <p:ext uri="{D42A27DB-BD31-4B8C-83A1-F6EECF244321}">
                <p14:modId xmlns:p14="http://schemas.microsoft.com/office/powerpoint/2010/main" val="4279203414"/>
              </p:ext>
            </p:extLst>
          </p:nvPr>
        </p:nvGraphicFramePr>
        <p:xfrm>
          <a:off x="1917700" y="4373563"/>
          <a:ext cx="4795838" cy="1187450"/>
        </p:xfrm>
        <a:graphic>
          <a:graphicData uri="http://schemas.openxmlformats.org/presentationml/2006/ole">
            <mc:AlternateContent xmlns:mc="http://schemas.openxmlformats.org/markup-compatibility/2006">
              <mc:Choice xmlns:v="urn:schemas-microsoft-com:vml" Requires="v">
                <p:oleObj spid="_x0000_s79719" name="Equation" r:id="rId6" imgW="2412720" imgH="596880" progId="Equation.DSMT4">
                  <p:embed/>
                </p:oleObj>
              </mc:Choice>
              <mc:Fallback>
                <p:oleObj name="Equation" r:id="rId6" imgW="2412720" imgH="596880" progId="Equation.DSMT4">
                  <p:embed/>
                  <p:pic>
                    <p:nvPicPr>
                      <p:cNvPr id="0" name="Object 26"/>
                      <p:cNvPicPr>
                        <a:picLocks noChangeAspect="1" noChangeArrowheads="1"/>
                      </p:cNvPicPr>
                      <p:nvPr/>
                    </p:nvPicPr>
                    <p:blipFill>
                      <a:blip r:embed="rId7"/>
                      <a:srcRect/>
                      <a:stretch>
                        <a:fillRect/>
                      </a:stretch>
                    </p:blipFill>
                    <p:spPr bwMode="auto">
                      <a:xfrm>
                        <a:off x="1917700" y="4373563"/>
                        <a:ext cx="4795838" cy="1187450"/>
                      </a:xfrm>
                      <a:prstGeom prst="rect">
                        <a:avLst/>
                      </a:prstGeom>
                      <a:solidFill>
                        <a:srgbClr val="66FFFF"/>
                      </a:solidFill>
                      <a:ln w="9525">
                        <a:solidFill>
                          <a:srgbClr val="FF3300"/>
                        </a:solidFill>
                        <a:miter lim="800000"/>
                        <a:headEnd/>
                        <a:tailEnd/>
                      </a:ln>
                      <a:effectLst/>
                      <a:extLst/>
                    </p:spPr>
                  </p:pic>
                </p:oleObj>
              </mc:Fallback>
            </mc:AlternateContent>
          </a:graphicData>
        </a:graphic>
      </p:graphicFrame>
      <p:sp>
        <p:nvSpPr>
          <p:cNvPr id="739356" name="Text Box 28"/>
          <p:cNvSpPr txBox="1">
            <a:spLocks noChangeArrowheads="1"/>
          </p:cNvSpPr>
          <p:nvPr/>
        </p:nvSpPr>
        <p:spPr bwMode="auto">
          <a:xfrm>
            <a:off x="620713" y="5682430"/>
            <a:ext cx="8153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50000"/>
              </a:spcBef>
              <a:buFontTx/>
              <a:buNone/>
            </a:pPr>
            <a:r>
              <a:rPr kumimoji="0" lang="en-US" altLang="zh-CN" sz="2000" dirty="0">
                <a:solidFill>
                  <a:srgbClr val="000000"/>
                </a:solidFill>
              </a:rPr>
              <a:t>    </a:t>
            </a:r>
            <a:r>
              <a:rPr kumimoji="0" lang="en-US" altLang="zh-CN" sz="2000" dirty="0" smtClean="0">
                <a:solidFill>
                  <a:srgbClr val="000000"/>
                </a:solidFill>
              </a:rPr>
              <a:t>     </a:t>
            </a:r>
            <a:r>
              <a:rPr kumimoji="0" lang="zh-CN" altLang="en-US" sz="2000" dirty="0" smtClean="0">
                <a:solidFill>
                  <a:srgbClr val="000000"/>
                </a:solidFill>
              </a:rPr>
              <a:t>上</a:t>
            </a:r>
            <a:r>
              <a:rPr kumimoji="0" lang="zh-CN" altLang="en-US" sz="2000" dirty="0">
                <a:solidFill>
                  <a:srgbClr val="000000"/>
                </a:solidFill>
              </a:rPr>
              <a:t>式表明，电路</a:t>
            </a:r>
            <a:r>
              <a:rPr kumimoji="0" lang="zh-CN" altLang="en-US" sz="2000" dirty="0" smtClean="0">
                <a:solidFill>
                  <a:srgbClr val="000000"/>
                </a:solidFill>
              </a:rPr>
              <a:t>的附加相移必定大于</a:t>
            </a:r>
            <a:r>
              <a:rPr kumimoji="0" lang="zh-CN" altLang="en-US" sz="2000" dirty="0" smtClean="0">
                <a:solidFill>
                  <a:srgbClr val="000000"/>
                </a:solidFill>
                <a:cs typeface="Times New Roman" panose="02020603050405020304" pitchFamily="18" charset="0"/>
              </a:rPr>
              <a:t>−</a:t>
            </a:r>
            <a:r>
              <a:rPr kumimoji="0" lang="en-US" altLang="zh-CN" sz="2000" dirty="0" smtClean="0">
                <a:solidFill>
                  <a:srgbClr val="000000"/>
                </a:solidFill>
              </a:rPr>
              <a:t>180</a:t>
            </a:r>
            <a:r>
              <a:rPr kumimoji="0" lang="en-US" altLang="zh-CN" sz="2000" dirty="0" smtClean="0">
                <a:solidFill>
                  <a:srgbClr val="000000"/>
                </a:solidFill>
                <a:cs typeface="Times New Roman" pitchFamily="18" charset="0"/>
              </a:rPr>
              <a:t>º</a:t>
            </a:r>
            <a:r>
              <a:rPr kumimoji="0" lang="zh-CN" altLang="en-US" sz="2000" dirty="0">
                <a:solidFill>
                  <a:srgbClr val="000000"/>
                </a:solidFill>
              </a:rPr>
              <a:t>，不满足起振条件，闭环后一定不会产生自激振荡，电路稳定。</a:t>
            </a:r>
          </a:p>
        </p:txBody>
      </p:sp>
      <p:grpSp>
        <p:nvGrpSpPr>
          <p:cNvPr id="739357" name="Group 29"/>
          <p:cNvGrpSpPr>
            <a:grpSpLocks/>
          </p:cNvGrpSpPr>
          <p:nvPr/>
        </p:nvGrpSpPr>
        <p:grpSpPr bwMode="auto">
          <a:xfrm>
            <a:off x="479425" y="2646363"/>
            <a:ext cx="1727200" cy="473075"/>
            <a:chOff x="295" y="1434"/>
            <a:chExt cx="1088" cy="298"/>
          </a:xfrm>
        </p:grpSpPr>
        <p:sp>
          <p:nvSpPr>
            <p:cNvPr id="78860" name="AutoShape 30"/>
            <p:cNvSpPr>
              <a:spLocks/>
            </p:cNvSpPr>
            <p:nvPr/>
          </p:nvSpPr>
          <p:spPr bwMode="auto">
            <a:xfrm>
              <a:off x="295" y="1434"/>
              <a:ext cx="950" cy="298"/>
            </a:xfrm>
            <a:prstGeom prst="borderCallout1">
              <a:avLst>
                <a:gd name="adj1" fmla="val 24162"/>
                <a:gd name="adj2" fmla="val 105051"/>
                <a:gd name="adj3" fmla="val -30870"/>
                <a:gd name="adj4" fmla="val 118315"/>
              </a:avLst>
            </a:prstGeom>
            <a:solidFill>
              <a:srgbClr val="FFFFCC"/>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400"/>
                <a:t>补偿电路</a:t>
              </a:r>
            </a:p>
          </p:txBody>
        </p:sp>
        <p:sp>
          <p:nvSpPr>
            <p:cNvPr id="78861" name="Line 31"/>
            <p:cNvSpPr>
              <a:spLocks noChangeShapeType="1"/>
            </p:cNvSpPr>
            <p:nvPr/>
          </p:nvSpPr>
          <p:spPr bwMode="auto">
            <a:xfrm flipH="1" flipV="1">
              <a:off x="1292" y="1525"/>
              <a:ext cx="91" cy="91"/>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739351" name="Object 23"/>
          <p:cNvGraphicFramePr>
            <a:graphicFrameLocks noChangeAspect="1"/>
          </p:cNvGraphicFramePr>
          <p:nvPr>
            <p:extLst>
              <p:ext uri="{D42A27DB-BD31-4B8C-83A1-F6EECF244321}">
                <p14:modId xmlns:p14="http://schemas.microsoft.com/office/powerpoint/2010/main" val="847575544"/>
              </p:ext>
            </p:extLst>
          </p:nvPr>
        </p:nvGraphicFramePr>
        <p:xfrm>
          <a:off x="5195888" y="2790825"/>
          <a:ext cx="1074737" cy="1508125"/>
        </p:xfrm>
        <a:graphic>
          <a:graphicData uri="http://schemas.openxmlformats.org/presentationml/2006/ole">
            <mc:AlternateContent xmlns:mc="http://schemas.openxmlformats.org/markup-compatibility/2006">
              <mc:Choice xmlns:v="urn:schemas-microsoft-com:vml" Requires="v">
                <p:oleObj spid="_x0000_s79720" name="Equation" r:id="rId8" imgW="596880" imgH="838080" progId="Equation.DSMT4">
                  <p:embed/>
                </p:oleObj>
              </mc:Choice>
              <mc:Fallback>
                <p:oleObj name="Equation" r:id="rId8" imgW="596880" imgH="838080" progId="Equation.DSMT4">
                  <p:embed/>
                  <p:pic>
                    <p:nvPicPr>
                      <p:cNvPr id="0" name="Object 23"/>
                      <p:cNvPicPr>
                        <a:picLocks noChangeAspect="1" noChangeArrowheads="1"/>
                      </p:cNvPicPr>
                      <p:nvPr/>
                    </p:nvPicPr>
                    <p:blipFill>
                      <a:blip r:embed="rId9"/>
                      <a:srcRect/>
                      <a:stretch>
                        <a:fillRect/>
                      </a:stretch>
                    </p:blipFill>
                    <p:spPr bwMode="auto">
                      <a:xfrm>
                        <a:off x="5195888" y="2790825"/>
                        <a:ext cx="1074737" cy="1508125"/>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p:cNvSpPr>
            <a:spLocks noChangeArrowheads="1"/>
          </p:cNvSpPr>
          <p:nvPr/>
        </p:nvSpPr>
        <p:spPr bwMode="auto">
          <a:xfrm>
            <a:off x="3372487" y="3541271"/>
            <a:ext cx="19912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a:t>补偿后产生系数</a:t>
            </a:r>
          </a:p>
        </p:txBody>
      </p:sp>
      <p:graphicFrame>
        <p:nvGraphicFramePr>
          <p:cNvPr id="4" name="对象 3"/>
          <p:cNvGraphicFramePr>
            <a:graphicFrameLocks noChangeAspect="1"/>
          </p:cNvGraphicFramePr>
          <p:nvPr>
            <p:extLst>
              <p:ext uri="{D42A27DB-BD31-4B8C-83A1-F6EECF244321}">
                <p14:modId xmlns:p14="http://schemas.microsoft.com/office/powerpoint/2010/main" val="2551539208"/>
              </p:ext>
            </p:extLst>
          </p:nvPr>
        </p:nvGraphicFramePr>
        <p:xfrm>
          <a:off x="7337425" y="3119438"/>
          <a:ext cx="1050925" cy="1119187"/>
        </p:xfrm>
        <a:graphic>
          <a:graphicData uri="http://schemas.openxmlformats.org/presentationml/2006/ole">
            <mc:AlternateContent xmlns:mc="http://schemas.openxmlformats.org/markup-compatibility/2006">
              <mc:Choice xmlns:v="urn:schemas-microsoft-com:vml" Requires="v">
                <p:oleObj spid="_x0000_s79721" name="Equation" r:id="rId10" imgW="583920" imgH="622080" progId="Equation.DSMT4">
                  <p:embed/>
                </p:oleObj>
              </mc:Choice>
              <mc:Fallback>
                <p:oleObj name="Equation" r:id="rId10" imgW="583920" imgH="622080" progId="Equation.DSMT4">
                  <p:embed/>
                  <p:pic>
                    <p:nvPicPr>
                      <p:cNvPr id="0" name="对象 3"/>
                      <p:cNvPicPr>
                        <a:picLocks noChangeAspect="1" noChangeArrowheads="1"/>
                      </p:cNvPicPr>
                      <p:nvPr/>
                    </p:nvPicPr>
                    <p:blipFill>
                      <a:blip r:embed="rId11"/>
                      <a:srcRect/>
                      <a:stretch>
                        <a:fillRect/>
                      </a:stretch>
                    </p:blipFill>
                    <p:spPr bwMode="auto">
                      <a:xfrm>
                        <a:off x="7337425" y="3119438"/>
                        <a:ext cx="1050925" cy="111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p:cNvSpPr>
            <a:spLocks noChangeArrowheads="1"/>
          </p:cNvSpPr>
          <p:nvPr/>
        </p:nvSpPr>
        <p:spPr bwMode="auto">
          <a:xfrm>
            <a:off x="6685384" y="334962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a:solidFill>
                  <a:srgbClr val="000000"/>
                </a:solidFill>
              </a:rPr>
              <a:t>取代</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39355"/>
                                        </p:tgtEl>
                                        <p:attrNameLst>
                                          <p:attrName>style.visibility</p:attrName>
                                        </p:attrNameLst>
                                      </p:cBhvr>
                                      <p:to>
                                        <p:strVal val="visible"/>
                                      </p:to>
                                    </p:set>
                                    <p:animEffect transition="in" filter="wipe(left)">
                                      <p:cBhvr>
                                        <p:cTn id="7" dur="500"/>
                                        <p:tgtEl>
                                          <p:spTgt spid="7393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739357"/>
                                        </p:tgtEl>
                                        <p:attrNameLst>
                                          <p:attrName>style.visibility</p:attrName>
                                        </p:attrNameLst>
                                      </p:cBhvr>
                                      <p:to>
                                        <p:strVal val="visible"/>
                                      </p:to>
                                    </p:set>
                                    <p:animEffect transition="in" filter="wipe(right)">
                                      <p:cBhvr>
                                        <p:cTn id="12" dur="500"/>
                                        <p:tgtEl>
                                          <p:spTgt spid="7393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nodeType="clickEffect">
                                  <p:stCondLst>
                                    <p:cond delay="0"/>
                                  </p:stCondLst>
                                  <p:childTnLst>
                                    <p:set>
                                      <p:cBhvr>
                                        <p:cTn id="16" dur="1" fill="hold">
                                          <p:stCondLst>
                                            <p:cond delay="0"/>
                                          </p:stCondLst>
                                        </p:cTn>
                                        <p:tgtEl>
                                          <p:spTgt spid="739351"/>
                                        </p:tgtEl>
                                        <p:attrNameLst>
                                          <p:attrName>style.visibility</p:attrName>
                                        </p:attrNameLst>
                                      </p:cBhvr>
                                      <p:to>
                                        <p:strVal val="visible"/>
                                      </p:to>
                                    </p:set>
                                    <p:animEffect transition="in" filter="fade">
                                      <p:cBhvr>
                                        <p:cTn id="17" dur="1000"/>
                                        <p:tgtEl>
                                          <p:spTgt spid="739351"/>
                                        </p:tgtEl>
                                      </p:cBhvr>
                                    </p:animEffect>
                                    <p:anim calcmode="lin" valueType="num">
                                      <p:cBhvr>
                                        <p:cTn id="18" dur="1000" fill="hold"/>
                                        <p:tgtEl>
                                          <p:spTgt spid="739351"/>
                                        </p:tgtEl>
                                        <p:attrNameLst>
                                          <p:attrName>ppt_x</p:attrName>
                                        </p:attrNameLst>
                                      </p:cBhvr>
                                      <p:tavLst>
                                        <p:tav tm="0">
                                          <p:val>
                                            <p:strVal val="#ppt_x"/>
                                          </p:val>
                                        </p:tav>
                                        <p:tav tm="100000">
                                          <p:val>
                                            <p:strVal val="#ppt_x"/>
                                          </p:val>
                                        </p:tav>
                                      </p:tavLst>
                                    </p:anim>
                                    <p:anim calcmode="lin" valueType="num">
                                      <p:cBhvr>
                                        <p:cTn id="19" dur="1000" fill="hold"/>
                                        <p:tgtEl>
                                          <p:spTgt spid="73935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anim calcmode="lin" valueType="num">
                                      <p:cBhvr>
                                        <p:cTn id="23" dur="1000" fill="hold"/>
                                        <p:tgtEl>
                                          <p:spTgt spid="2"/>
                                        </p:tgtEl>
                                        <p:attrNameLst>
                                          <p:attrName>ppt_x</p:attrName>
                                        </p:attrNameLst>
                                      </p:cBhvr>
                                      <p:tavLst>
                                        <p:tav tm="0">
                                          <p:val>
                                            <p:strVal val="#ppt_x"/>
                                          </p:val>
                                        </p:tav>
                                        <p:tav tm="100000">
                                          <p:val>
                                            <p:strVal val="#ppt_x"/>
                                          </p:val>
                                        </p:tav>
                                      </p:tavLst>
                                    </p:anim>
                                    <p:anim calcmode="lin" valueType="num">
                                      <p:cBhvr>
                                        <p:cTn id="24" dur="1000" fill="hold"/>
                                        <p:tgtEl>
                                          <p:spTgt spid="2"/>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anim calcmode="lin" valueType="num">
                                      <p:cBhvr>
                                        <p:cTn id="28" dur="1000" fill="hold"/>
                                        <p:tgtEl>
                                          <p:spTgt spid="4"/>
                                        </p:tgtEl>
                                        <p:attrNameLst>
                                          <p:attrName>ppt_x</p:attrName>
                                        </p:attrNameLst>
                                      </p:cBhvr>
                                      <p:tavLst>
                                        <p:tav tm="0">
                                          <p:val>
                                            <p:strVal val="#ppt_x"/>
                                          </p:val>
                                        </p:tav>
                                        <p:tav tm="100000">
                                          <p:val>
                                            <p:strVal val="#ppt_x"/>
                                          </p:val>
                                        </p:tav>
                                      </p:tavLst>
                                    </p:anim>
                                    <p:anim calcmode="lin" valueType="num">
                                      <p:cBhvr>
                                        <p:cTn id="29" dur="1000" fill="hold"/>
                                        <p:tgtEl>
                                          <p:spTgt spid="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anim calcmode="lin" valueType="num">
                                      <p:cBhvr>
                                        <p:cTn id="33" dur="1000" fill="hold"/>
                                        <p:tgtEl>
                                          <p:spTgt spid="5"/>
                                        </p:tgtEl>
                                        <p:attrNameLst>
                                          <p:attrName>ppt_x</p:attrName>
                                        </p:attrNameLst>
                                      </p:cBhvr>
                                      <p:tavLst>
                                        <p:tav tm="0">
                                          <p:val>
                                            <p:strVal val="#ppt_x"/>
                                          </p:val>
                                        </p:tav>
                                        <p:tav tm="100000">
                                          <p:val>
                                            <p:strVal val="#ppt_x"/>
                                          </p:val>
                                        </p:tav>
                                      </p:tavLst>
                                    </p:anim>
                                    <p:anim calcmode="lin" valueType="num">
                                      <p:cBhvr>
                                        <p:cTn id="3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739354"/>
                                        </p:tgtEl>
                                        <p:attrNameLst>
                                          <p:attrName>style.visibility</p:attrName>
                                        </p:attrNameLst>
                                      </p:cBhvr>
                                      <p:to>
                                        <p:strVal val="visible"/>
                                      </p:to>
                                    </p:set>
                                    <p:animEffect transition="in" filter="wipe(left)">
                                      <p:cBhvr>
                                        <p:cTn id="39" dur="500"/>
                                        <p:tgtEl>
                                          <p:spTgt spid="73935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739356">
                                            <p:txEl>
                                              <p:pRg st="0" end="0"/>
                                            </p:txEl>
                                          </p:spTgt>
                                        </p:tgtEl>
                                        <p:attrNameLst>
                                          <p:attrName>style.visibility</p:attrName>
                                        </p:attrNameLst>
                                      </p:cBhvr>
                                      <p:to>
                                        <p:strVal val="visible"/>
                                      </p:to>
                                    </p:set>
                                    <p:animEffect transition="in" filter="wipe(left)">
                                      <p:cBhvr>
                                        <p:cTn id="44" dur="500"/>
                                        <p:tgtEl>
                                          <p:spTgt spid="73935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9356" grpId="0" build="p" autoUpdateAnimBg="0"/>
      <p:bldP spid="2" grpId="0"/>
      <p:bldP spid="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4"/>
          <p:cNvSpPr>
            <a:spLocks noGrp="1" noChangeArrowheads="1"/>
          </p:cNvSpPr>
          <p:nvPr>
            <p:ph type="title"/>
          </p:nvPr>
        </p:nvSpPr>
        <p:spPr>
          <a:xfrm>
            <a:off x="819150" y="584200"/>
            <a:ext cx="5562600" cy="685800"/>
          </a:xfrm>
          <a:noFill/>
        </p:spPr>
        <p:txBody>
          <a:bodyPr/>
          <a:lstStyle/>
          <a:p>
            <a:pPr algn="l" eaLnBrk="1" hangingPunct="1">
              <a:lnSpc>
                <a:spcPct val="120000"/>
              </a:lnSpc>
            </a:pPr>
            <a:r>
              <a:rPr lang="en-US" altLang="zh-CN" sz="2000" b="1" i="1" dirty="0" smtClean="0"/>
              <a:t>RC </a:t>
            </a:r>
            <a:r>
              <a:rPr lang="zh-CN" altLang="zh-CN" sz="2000" b="1" dirty="0" smtClean="0"/>
              <a:t>滞后补偿与简单滞后补偿</a:t>
            </a:r>
            <a:r>
              <a:rPr lang="zh-CN" altLang="en-US" sz="2000" b="1" dirty="0" smtClean="0"/>
              <a:t>比较</a:t>
            </a:r>
          </a:p>
        </p:txBody>
      </p:sp>
      <p:pic>
        <p:nvPicPr>
          <p:cNvPr id="740357" name="Picture 5" descr="Dz0606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4550" y="1682750"/>
            <a:ext cx="4038600" cy="274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40358" name="Group 6"/>
          <p:cNvGrpSpPr>
            <a:grpSpLocks/>
          </p:cNvGrpSpPr>
          <p:nvPr/>
        </p:nvGrpSpPr>
        <p:grpSpPr bwMode="auto">
          <a:xfrm>
            <a:off x="438150" y="1482725"/>
            <a:ext cx="8077200" cy="1928813"/>
            <a:chOff x="288" y="930"/>
            <a:chExt cx="5088" cy="1215"/>
          </a:xfrm>
        </p:grpSpPr>
        <p:sp>
          <p:nvSpPr>
            <p:cNvPr id="79878" name="AutoShape 7"/>
            <p:cNvSpPr>
              <a:spLocks/>
            </p:cNvSpPr>
            <p:nvPr/>
          </p:nvSpPr>
          <p:spPr bwMode="auto">
            <a:xfrm>
              <a:off x="288" y="1680"/>
              <a:ext cx="1104" cy="446"/>
            </a:xfrm>
            <a:prstGeom prst="borderCallout1">
              <a:avLst>
                <a:gd name="adj1" fmla="val 13583"/>
                <a:gd name="adj2" fmla="val 104347"/>
                <a:gd name="adj3" fmla="val -24553"/>
                <a:gd name="adj4" fmla="val 153444"/>
              </a:avLst>
            </a:prstGeom>
            <a:solidFill>
              <a:srgbClr val="FFFFCC"/>
            </a:solidFill>
            <a:ln w="1905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zh-CN" altLang="en-US" sz="2000" dirty="0">
                  <a:solidFill>
                    <a:srgbClr val="000000"/>
                  </a:solidFill>
                </a:rPr>
                <a:t>简单补偿后的幅频特性</a:t>
              </a:r>
            </a:p>
          </p:txBody>
        </p:sp>
        <p:sp>
          <p:nvSpPr>
            <p:cNvPr id="79879" name="AutoShape 8"/>
            <p:cNvSpPr>
              <a:spLocks/>
            </p:cNvSpPr>
            <p:nvPr/>
          </p:nvSpPr>
          <p:spPr bwMode="auto">
            <a:xfrm>
              <a:off x="4032" y="1699"/>
              <a:ext cx="1344" cy="446"/>
            </a:xfrm>
            <a:prstGeom prst="borderCallout1">
              <a:avLst>
                <a:gd name="adj1" fmla="val 9472"/>
                <a:gd name="adj2" fmla="val -3569"/>
                <a:gd name="adj3" fmla="val 78378"/>
                <a:gd name="adj4" fmla="val -100373"/>
              </a:avLst>
            </a:prstGeom>
            <a:solidFill>
              <a:srgbClr val="FFFFCC"/>
            </a:solidFill>
            <a:ln w="1905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i="1" dirty="0" smtClean="0">
                  <a:solidFill>
                    <a:srgbClr val="000000"/>
                  </a:solidFill>
                </a:rPr>
                <a:t>RC </a:t>
              </a:r>
              <a:r>
                <a:rPr lang="zh-CN" altLang="en-US" sz="2000" dirty="0" smtClean="0">
                  <a:solidFill>
                    <a:srgbClr val="000000"/>
                  </a:solidFill>
                </a:rPr>
                <a:t>滞后补偿</a:t>
              </a:r>
              <a:r>
                <a:rPr lang="zh-CN" altLang="en-US" sz="2000" dirty="0">
                  <a:solidFill>
                    <a:srgbClr val="000000"/>
                  </a:solidFill>
                </a:rPr>
                <a:t>后的幅频特性</a:t>
              </a:r>
            </a:p>
          </p:txBody>
        </p:sp>
        <p:sp>
          <p:nvSpPr>
            <p:cNvPr id="79880" name="AutoShape 9"/>
            <p:cNvSpPr>
              <a:spLocks/>
            </p:cNvSpPr>
            <p:nvPr/>
          </p:nvSpPr>
          <p:spPr bwMode="auto">
            <a:xfrm>
              <a:off x="2690" y="930"/>
              <a:ext cx="676" cy="252"/>
            </a:xfrm>
            <a:prstGeom prst="borderCallout1">
              <a:avLst>
                <a:gd name="adj1" fmla="val 23764"/>
                <a:gd name="adj2" fmla="val -5569"/>
                <a:gd name="adj3" fmla="val 192245"/>
                <a:gd name="adj4" fmla="val -54541"/>
              </a:avLst>
            </a:prstGeom>
            <a:solidFill>
              <a:srgbClr val="FFFFCC"/>
            </a:solidFill>
            <a:ln w="1905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FontTx/>
                <a:buNone/>
              </a:pPr>
              <a:r>
                <a:rPr lang="zh-CN" altLang="en-US" sz="2000" dirty="0"/>
                <a:t>补偿前</a:t>
              </a:r>
            </a:p>
          </p:txBody>
        </p:sp>
      </p:grpSp>
      <p:sp>
        <p:nvSpPr>
          <p:cNvPr id="740362" name="Text Box 10"/>
          <p:cNvSpPr txBox="1">
            <a:spLocks noChangeArrowheads="1"/>
          </p:cNvSpPr>
          <p:nvPr/>
        </p:nvSpPr>
        <p:spPr bwMode="auto">
          <a:xfrm>
            <a:off x="594142" y="4907887"/>
            <a:ext cx="820737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har char="•"/>
              <a:defRPr kumimoji="1" sz="3200">
                <a:solidFill>
                  <a:schemeClr val="tx1"/>
                </a:solidFill>
                <a:latin typeface="Times New Roman" pitchFamily="18" charset="0"/>
                <a:ea typeface="宋体" pitchFamily="2" charset="-122"/>
              </a:defRPr>
            </a:lvl1pPr>
            <a:lvl2pPr marL="742950" indent="-285750" algn="l" eaLnBrk="0" hangingPunct="0">
              <a:spcBef>
                <a:spcPct val="20000"/>
              </a:spcBef>
              <a:buChar char="–"/>
              <a:defRPr kumimoji="1" sz="2800">
                <a:solidFill>
                  <a:schemeClr val="tx1"/>
                </a:solidFill>
                <a:latin typeface="Times New Roman" pitchFamily="18" charset="0"/>
                <a:ea typeface="宋体" pitchFamily="2" charset="-122"/>
              </a:defRPr>
            </a:lvl2pPr>
            <a:lvl3pPr marL="1143000" indent="-228600" algn="l" eaLnBrk="0" hangingPunct="0">
              <a:spcBef>
                <a:spcPct val="20000"/>
              </a:spcBef>
              <a:buChar char="•"/>
              <a:defRPr kumimoji="1" sz="2400">
                <a:solidFill>
                  <a:schemeClr val="tx1"/>
                </a:solidFill>
                <a:latin typeface="Times New Roman" pitchFamily="18" charset="0"/>
                <a:ea typeface="宋体" pitchFamily="2" charset="-122"/>
              </a:defRPr>
            </a:lvl3pPr>
            <a:lvl4pPr marL="1600200" indent="-228600" algn="l" eaLnBrk="0" hangingPunct="0">
              <a:spcBef>
                <a:spcPct val="20000"/>
              </a:spcBef>
              <a:buChar char="–"/>
              <a:defRPr kumimoji="1" sz="2000">
                <a:solidFill>
                  <a:schemeClr val="tx1"/>
                </a:solidFill>
                <a:latin typeface="Times New Roman" pitchFamily="18" charset="0"/>
                <a:ea typeface="宋体" pitchFamily="2" charset="-122"/>
              </a:defRPr>
            </a:lvl4pPr>
            <a:lvl5pPr marL="2057400" indent="-228600" algn="l" eaLnBrk="0" hangingPunct="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50000"/>
              </a:lnSpc>
              <a:spcBef>
                <a:spcPct val="0"/>
              </a:spcBef>
              <a:buFontTx/>
              <a:buNone/>
            </a:pPr>
            <a:r>
              <a:rPr lang="en-US" altLang="zh-CN" sz="2000" dirty="0"/>
              <a:t>    </a:t>
            </a:r>
            <a:r>
              <a:rPr lang="en-US" altLang="zh-CN" sz="2000" dirty="0" smtClean="0"/>
              <a:t>     </a:t>
            </a:r>
            <a:r>
              <a:rPr lang="zh-CN" altLang="en-US" sz="2000" dirty="0" smtClean="0"/>
              <a:t>滞后补偿</a:t>
            </a:r>
            <a:r>
              <a:rPr lang="zh-CN" altLang="en-US" sz="2000" dirty="0"/>
              <a:t>法消振均以频带变窄为代价，</a:t>
            </a:r>
            <a:r>
              <a:rPr lang="en-US" altLang="zh-CN" sz="2000" i="1" dirty="0"/>
              <a:t>RC</a:t>
            </a:r>
            <a:r>
              <a:rPr lang="zh-CN" altLang="en-US" sz="2000" dirty="0"/>
              <a:t>滞后补偿较简单电容</a:t>
            </a:r>
            <a:r>
              <a:rPr lang="zh-CN" altLang="en-US" sz="2000" dirty="0" smtClean="0"/>
              <a:t>补偿产生的频带变化更小一些</a:t>
            </a:r>
            <a:r>
              <a:rPr lang="zh-CN" altLang="en-US" sz="2000" dirty="0"/>
              <a:t>。</a:t>
            </a:r>
          </a:p>
          <a:p>
            <a:pPr eaLnBrk="1" hangingPunct="1">
              <a:lnSpc>
                <a:spcPct val="150000"/>
              </a:lnSpc>
              <a:spcBef>
                <a:spcPct val="0"/>
              </a:spcBef>
              <a:buFontTx/>
              <a:buNone/>
            </a:pPr>
            <a:r>
              <a:rPr lang="zh-CN" altLang="en-US" sz="2000" dirty="0"/>
              <a:t>    </a:t>
            </a:r>
            <a:r>
              <a:rPr lang="zh-CN" altLang="en-US" sz="2000" dirty="0" smtClean="0"/>
              <a:t>    为</a:t>
            </a:r>
            <a:r>
              <a:rPr lang="zh-CN" altLang="en-US" sz="2000" dirty="0"/>
              <a:t>使消振后频带变化更小，可考虑采用超前补偿的方法。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40357"/>
                                        </p:tgtEl>
                                        <p:attrNameLst>
                                          <p:attrName>style.visibility</p:attrName>
                                        </p:attrNameLst>
                                      </p:cBhvr>
                                      <p:to>
                                        <p:strVal val="visible"/>
                                      </p:to>
                                    </p:set>
                                    <p:animEffect transition="in" filter="dissolve">
                                      <p:cBhvr>
                                        <p:cTn id="7" dur="500"/>
                                        <p:tgtEl>
                                          <p:spTgt spid="7403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74035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40362">
                                            <p:txEl>
                                              <p:pRg st="0" end="0"/>
                                            </p:txEl>
                                          </p:spTgt>
                                        </p:tgtEl>
                                        <p:attrNameLst>
                                          <p:attrName>style.visibility</p:attrName>
                                        </p:attrNameLst>
                                      </p:cBhvr>
                                      <p:to>
                                        <p:strVal val="visible"/>
                                      </p:to>
                                    </p:set>
                                    <p:animEffect transition="in" filter="wipe(left)">
                                      <p:cBhvr>
                                        <p:cTn id="16" dur="500"/>
                                        <p:tgtEl>
                                          <p:spTgt spid="740362">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40362">
                                            <p:txEl>
                                              <p:pRg st="1" end="1"/>
                                            </p:txEl>
                                          </p:spTgt>
                                        </p:tgtEl>
                                        <p:attrNameLst>
                                          <p:attrName>style.visibility</p:attrName>
                                        </p:attrNameLst>
                                      </p:cBhvr>
                                      <p:to>
                                        <p:strVal val="visible"/>
                                      </p:to>
                                    </p:set>
                                    <p:animEffect transition="in" filter="wipe(left)">
                                      <p:cBhvr>
                                        <p:cTn id="21" dur="500"/>
                                        <p:tgtEl>
                                          <p:spTgt spid="74036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0362" grpId="0" build="p" autoUpdateAnimBg="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rgbClr val="99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16737</TotalTime>
  <Words>1617</Words>
  <Application>Microsoft Office PowerPoint</Application>
  <PresentationFormat>全屏显示(4:3)</PresentationFormat>
  <Paragraphs>228</Paragraphs>
  <Slides>56</Slides>
  <Notes>1</Notes>
  <HiddenSlides>1</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4</vt:i4>
      </vt:variant>
      <vt:variant>
        <vt:lpstr>幻灯片标题</vt:lpstr>
      </vt:variant>
      <vt:variant>
        <vt:i4>56</vt:i4>
      </vt:variant>
    </vt:vector>
  </HeadingPairs>
  <TitlesOfParts>
    <vt:vector size="68" baseType="lpstr">
      <vt:lpstr>华文行楷</vt:lpstr>
      <vt:lpstr>楷体_GB2312</vt:lpstr>
      <vt:lpstr>隶书</vt:lpstr>
      <vt:lpstr>宋体</vt:lpstr>
      <vt:lpstr>Symbol</vt:lpstr>
      <vt:lpstr>Times New Roman</vt:lpstr>
      <vt:lpstr>Wingdings</vt:lpstr>
      <vt:lpstr>默认设计模板</vt:lpstr>
      <vt:lpstr>Equation</vt:lpstr>
      <vt:lpstr>Photo Editor 照片</vt:lpstr>
      <vt:lpstr>公式</vt:lpstr>
      <vt:lpstr>Visio</vt:lpstr>
      <vt:lpstr>第十一章 反馈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稳定性的判断</vt:lpstr>
      <vt:lpstr>放大器开环增益</vt:lpstr>
      <vt:lpstr>若引入的负反馈为</vt:lpstr>
      <vt:lpstr>若引入的负反馈为</vt:lpstr>
      <vt:lpstr>PowerPoint 演示文稿</vt:lpstr>
      <vt:lpstr>PowerPoint 演示文稿</vt:lpstr>
      <vt:lpstr>PowerPoint 演示文稿</vt:lpstr>
      <vt:lpstr>二、密勒补偿</vt:lpstr>
      <vt:lpstr>三、RC 滞后补偿：在最低的上限频率所在回路加补偿</vt:lpstr>
      <vt:lpstr>RC 滞后补偿与简单滞后补偿比较</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thcic</dc:creator>
  <cp:lastModifiedBy>JT</cp:lastModifiedBy>
  <cp:revision>963</cp:revision>
  <dcterms:created xsi:type="dcterms:W3CDTF">1998-03-26T06:58:13Z</dcterms:created>
  <dcterms:modified xsi:type="dcterms:W3CDTF">2024-06-26T09:05:29Z</dcterms:modified>
</cp:coreProperties>
</file>

<file path=[Content_Types].xml><?xml version="1.0" encoding="utf-8"?>
<Types xmlns="http://schemas.openxmlformats.org/package/2006/content-types">
  <Default Extension="bin" ContentType="application/vnd.openxmlformats-officedocument.oleObject"/>
  <Default Extension="vsd" ContentType="application/vnd.visio"/>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303" r:id="rId2"/>
    <p:sldId id="352" r:id="rId3"/>
    <p:sldId id="353" r:id="rId4"/>
    <p:sldId id="354" r:id="rId5"/>
    <p:sldId id="363" r:id="rId6"/>
    <p:sldId id="341" r:id="rId7"/>
    <p:sldId id="369" r:id="rId8"/>
    <p:sldId id="308" r:id="rId9"/>
    <p:sldId id="342" r:id="rId10"/>
    <p:sldId id="345" r:id="rId11"/>
    <p:sldId id="370" r:id="rId12"/>
    <p:sldId id="371" r:id="rId13"/>
    <p:sldId id="372" r:id="rId14"/>
    <p:sldId id="373" r:id="rId15"/>
    <p:sldId id="374" r:id="rId16"/>
    <p:sldId id="375" r:id="rId17"/>
    <p:sldId id="376" r:id="rId18"/>
    <p:sldId id="377" r:id="rId19"/>
    <p:sldId id="378" r:id="rId20"/>
    <p:sldId id="379" r:id="rId21"/>
    <p:sldId id="380" r:id="rId22"/>
    <p:sldId id="346" r:id="rId23"/>
    <p:sldId id="311" r:id="rId24"/>
    <p:sldId id="351" r:id="rId25"/>
    <p:sldId id="350" r:id="rId26"/>
    <p:sldId id="312" r:id="rId27"/>
    <p:sldId id="313" r:id="rId28"/>
    <p:sldId id="382" r:id="rId29"/>
    <p:sldId id="381" r:id="rId30"/>
    <p:sldId id="314" r:id="rId31"/>
    <p:sldId id="315" r:id="rId32"/>
    <p:sldId id="316" r:id="rId33"/>
    <p:sldId id="317" r:id="rId34"/>
    <p:sldId id="318" r:id="rId35"/>
    <p:sldId id="367" r:id="rId36"/>
    <p:sldId id="368" r:id="rId37"/>
    <p:sldId id="319" r:id="rId38"/>
    <p:sldId id="320" r:id="rId39"/>
    <p:sldId id="321" r:id="rId40"/>
    <p:sldId id="322" r:id="rId41"/>
    <p:sldId id="323" r:id="rId42"/>
    <p:sldId id="324" r:id="rId43"/>
    <p:sldId id="325" r:id="rId44"/>
    <p:sldId id="383" r:id="rId45"/>
    <p:sldId id="384" r:id="rId46"/>
    <p:sldId id="326" r:id="rId47"/>
    <p:sldId id="327" r:id="rId48"/>
    <p:sldId id="328" r:id="rId49"/>
    <p:sldId id="329" r:id="rId50"/>
    <p:sldId id="330" r:id="rId51"/>
    <p:sldId id="361" r:id="rId52"/>
    <p:sldId id="362" r:id="rId53"/>
    <p:sldId id="332" r:id="rId54"/>
    <p:sldId id="333" r:id="rId55"/>
    <p:sldId id="355" r:id="rId56"/>
    <p:sldId id="334" r:id="rId57"/>
    <p:sldId id="335" r:id="rId58"/>
    <p:sldId id="356" r:id="rId59"/>
    <p:sldId id="360" r:id="rId60"/>
    <p:sldId id="357" r:id="rId61"/>
    <p:sldId id="358" r:id="rId62"/>
    <p:sldId id="364" r:id="rId63"/>
    <p:sldId id="365" r:id="rId64"/>
    <p:sldId id="366" r:id="rId65"/>
    <p:sldId id="359" r:id="rId66"/>
    <p:sldId id="336" r:id="rId67"/>
  </p:sldIdLst>
  <p:sldSz cx="9144000" cy="6858000" type="screen4x3"/>
  <p:notesSz cx="6858000" cy="9144000"/>
  <p:defaultTextStyle>
    <a:defPPr>
      <a:defRPr lang="zh-CN"/>
    </a:defPPr>
    <a:lvl1pPr algn="ctr"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1pPr>
    <a:lvl2pPr marL="457200" algn="ctr"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2pPr>
    <a:lvl3pPr marL="914400" algn="ctr"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3pPr>
    <a:lvl4pPr marL="1371600" algn="ctr"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4pPr>
    <a:lvl5pPr marL="1828800" algn="ctr"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b="1"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b="1"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b="1"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b="1"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FF0066"/>
    <a:srgbClr val="00FFFF"/>
    <a:srgbClr val="FF00FF"/>
    <a:srgbClr val="66FF33"/>
    <a:srgbClr val="FF33CC"/>
    <a:srgbClr val="9900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90" autoAdjust="0"/>
    <p:restoredTop sz="94660"/>
  </p:normalViewPr>
  <p:slideViewPr>
    <p:cSldViewPr snapToGrid="0">
      <p:cViewPr>
        <p:scale>
          <a:sx n="100" d="100"/>
          <a:sy n="100" d="100"/>
        </p:scale>
        <p:origin x="1254" y="55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37" d="100"/>
          <a:sy n="37" d="100"/>
        </p:scale>
        <p:origin x="-1470" y="-96"/>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wmf"/><Relationship Id="rId1" Type="http://schemas.openxmlformats.org/officeDocument/2006/relationships/image" Target="../media/image2.wmf"/><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5" Type="http://schemas.openxmlformats.org/officeDocument/2006/relationships/image" Target="../media/image17.wmf"/><Relationship Id="rId4"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 Id="rId4" Type="http://schemas.openxmlformats.org/officeDocument/2006/relationships/image" Target="../media/image3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 Id="rId4" Type="http://schemas.openxmlformats.org/officeDocument/2006/relationships/image" Target="../media/image6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 Id="rId4" Type="http://schemas.openxmlformats.org/officeDocument/2006/relationships/image" Target="../media/image74.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image" Target="../media/image80.wmf"/><Relationship Id="rId7" Type="http://schemas.openxmlformats.org/officeDocument/2006/relationships/image" Target="../media/image84.wmf"/><Relationship Id="rId2" Type="http://schemas.openxmlformats.org/officeDocument/2006/relationships/image" Target="../media/image79.wmf"/><Relationship Id="rId1" Type="http://schemas.openxmlformats.org/officeDocument/2006/relationships/image" Target="../media/image78.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image" Target="../media/image88.wmf"/><Relationship Id="rId7" Type="http://schemas.openxmlformats.org/officeDocument/2006/relationships/image" Target="../media/image92.wmf"/><Relationship Id="rId2" Type="http://schemas.openxmlformats.org/officeDocument/2006/relationships/image" Target="../media/image87.wmf"/><Relationship Id="rId1" Type="http://schemas.openxmlformats.org/officeDocument/2006/relationships/image" Target="../media/image86.wmf"/><Relationship Id="rId6" Type="http://schemas.openxmlformats.org/officeDocument/2006/relationships/image" Target="../media/image91.wmf"/><Relationship Id="rId5" Type="http://schemas.openxmlformats.org/officeDocument/2006/relationships/image" Target="../media/image90.wmf"/><Relationship Id="rId4" Type="http://schemas.openxmlformats.org/officeDocument/2006/relationships/image" Target="../media/image8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94.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6.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image" Target="../media/image101.wmf"/><Relationship Id="rId7" Type="http://schemas.openxmlformats.org/officeDocument/2006/relationships/image" Target="../media/image105.wmf"/><Relationship Id="rId2" Type="http://schemas.openxmlformats.org/officeDocument/2006/relationships/image" Target="../media/image100.wmf"/><Relationship Id="rId1" Type="http://schemas.openxmlformats.org/officeDocument/2006/relationships/image" Target="../media/image99.wmf"/><Relationship Id="rId6" Type="http://schemas.openxmlformats.org/officeDocument/2006/relationships/image" Target="../media/image104.wmf"/><Relationship Id="rId5" Type="http://schemas.openxmlformats.org/officeDocument/2006/relationships/image" Target="../media/image103.wmf"/><Relationship Id="rId4" Type="http://schemas.openxmlformats.org/officeDocument/2006/relationships/image" Target="../media/image102.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12.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20.wmf"/><Relationship Id="rId2" Type="http://schemas.openxmlformats.org/officeDocument/2006/relationships/image" Target="../media/image119.wmf"/><Relationship Id="rId1" Type="http://schemas.openxmlformats.org/officeDocument/2006/relationships/image" Target="../media/image118.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7.wmf"/><Relationship Id="rId1" Type="http://schemas.openxmlformats.org/officeDocument/2006/relationships/image" Target="../media/image126.wmf"/><Relationship Id="rId5" Type="http://schemas.openxmlformats.org/officeDocument/2006/relationships/image" Target="../media/image130.wmf"/><Relationship Id="rId4" Type="http://schemas.openxmlformats.org/officeDocument/2006/relationships/image" Target="../media/image129.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33.wmf"/><Relationship Id="rId1" Type="http://schemas.openxmlformats.org/officeDocument/2006/relationships/image" Target="../media/image13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image" Target="../media/image140.wmf"/><Relationship Id="rId1" Type="http://schemas.openxmlformats.org/officeDocument/2006/relationships/image" Target="../media/image139.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image" Target="../media/image146.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wmf"/><Relationship Id="rId6" Type="http://schemas.openxmlformats.org/officeDocument/2006/relationships/image" Target="../media/image155.wmf"/><Relationship Id="rId5" Type="http://schemas.openxmlformats.org/officeDocument/2006/relationships/image" Target="../media/image154.wmf"/><Relationship Id="rId4" Type="http://schemas.openxmlformats.org/officeDocument/2006/relationships/image" Target="../media/image153.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58.wmf"/><Relationship Id="rId2" Type="http://schemas.openxmlformats.org/officeDocument/2006/relationships/image" Target="../media/image157.wmf"/><Relationship Id="rId1" Type="http://schemas.openxmlformats.org/officeDocument/2006/relationships/image" Target="../media/image156.wmf"/><Relationship Id="rId6" Type="http://schemas.openxmlformats.org/officeDocument/2006/relationships/image" Target="../media/image161.wmf"/><Relationship Id="rId5" Type="http://schemas.openxmlformats.org/officeDocument/2006/relationships/image" Target="../media/image160.wmf"/><Relationship Id="rId4" Type="http://schemas.openxmlformats.org/officeDocument/2006/relationships/image" Target="../media/image159.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64.wmf"/><Relationship Id="rId2" Type="http://schemas.openxmlformats.org/officeDocument/2006/relationships/image" Target="../media/image163.wmf"/><Relationship Id="rId1" Type="http://schemas.openxmlformats.org/officeDocument/2006/relationships/image" Target="../media/image162.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71.wmf"/><Relationship Id="rId2" Type="http://schemas.openxmlformats.org/officeDocument/2006/relationships/image" Target="../media/image170.wmf"/><Relationship Id="rId1" Type="http://schemas.openxmlformats.org/officeDocument/2006/relationships/image" Target="../media/image169.wmf"/><Relationship Id="rId4" Type="http://schemas.openxmlformats.org/officeDocument/2006/relationships/image" Target="../media/image172.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76.wmf"/><Relationship Id="rId2" Type="http://schemas.openxmlformats.org/officeDocument/2006/relationships/image" Target="../media/image175.wmf"/><Relationship Id="rId1" Type="http://schemas.openxmlformats.org/officeDocument/2006/relationships/image" Target="../media/image174.wmf"/><Relationship Id="rId5" Type="http://schemas.openxmlformats.org/officeDocument/2006/relationships/image" Target="../media/image178.wmf"/><Relationship Id="rId4" Type="http://schemas.openxmlformats.org/officeDocument/2006/relationships/image" Target="../media/image177.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82.wmf"/><Relationship Id="rId2" Type="http://schemas.openxmlformats.org/officeDocument/2006/relationships/image" Target="../media/image181.wmf"/><Relationship Id="rId1" Type="http://schemas.openxmlformats.org/officeDocument/2006/relationships/image" Target="../media/image180.wmf"/><Relationship Id="rId6" Type="http://schemas.openxmlformats.org/officeDocument/2006/relationships/image" Target="../media/image185.wmf"/><Relationship Id="rId5" Type="http://schemas.openxmlformats.org/officeDocument/2006/relationships/image" Target="../media/image184.wmf"/><Relationship Id="rId4" Type="http://schemas.openxmlformats.org/officeDocument/2006/relationships/image" Target="../media/image183.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91.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97.wmf"/><Relationship Id="rId2" Type="http://schemas.openxmlformats.org/officeDocument/2006/relationships/image" Target="../media/image196.wmf"/><Relationship Id="rId1" Type="http://schemas.openxmlformats.org/officeDocument/2006/relationships/image" Target="../media/image195.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201.wmf"/><Relationship Id="rId1" Type="http://schemas.openxmlformats.org/officeDocument/2006/relationships/image" Target="../media/image200.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205.wmf"/><Relationship Id="rId1" Type="http://schemas.openxmlformats.org/officeDocument/2006/relationships/image" Target="../media/image204.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10.wmf"/><Relationship Id="rId2" Type="http://schemas.openxmlformats.org/officeDocument/2006/relationships/image" Target="../media/image209.wmf"/><Relationship Id="rId1" Type="http://schemas.openxmlformats.org/officeDocument/2006/relationships/image" Target="../media/image208.wmf"/><Relationship Id="rId4" Type="http://schemas.openxmlformats.org/officeDocument/2006/relationships/image" Target="../media/image211.wmf"/></Relationships>
</file>

<file path=ppt/drawings/_rels/vmlDrawing45.vml.rels><?xml version="1.0" encoding="UTF-8" standalone="yes"?>
<Relationships xmlns="http://schemas.openxmlformats.org/package/2006/relationships"><Relationship Id="rId8" Type="http://schemas.openxmlformats.org/officeDocument/2006/relationships/image" Target="../media/image221.wmf"/><Relationship Id="rId3" Type="http://schemas.openxmlformats.org/officeDocument/2006/relationships/image" Target="../media/image216.wmf"/><Relationship Id="rId7" Type="http://schemas.openxmlformats.org/officeDocument/2006/relationships/image" Target="../media/image220.wmf"/><Relationship Id="rId2" Type="http://schemas.openxmlformats.org/officeDocument/2006/relationships/image" Target="../media/image215.wmf"/><Relationship Id="rId1" Type="http://schemas.openxmlformats.org/officeDocument/2006/relationships/image" Target="../media/image214.wmf"/><Relationship Id="rId6" Type="http://schemas.openxmlformats.org/officeDocument/2006/relationships/image" Target="../media/image219.wmf"/><Relationship Id="rId5" Type="http://schemas.openxmlformats.org/officeDocument/2006/relationships/image" Target="../media/image218.wmf"/><Relationship Id="rId4" Type="http://schemas.openxmlformats.org/officeDocument/2006/relationships/image" Target="../media/image217.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225.wmf"/><Relationship Id="rId1" Type="http://schemas.openxmlformats.org/officeDocument/2006/relationships/image" Target="../media/image224.wmf"/></Relationships>
</file>

<file path=ppt/drawings/_rels/vmlDrawing47.vml.rels><?xml version="1.0" encoding="UTF-8" standalone="yes"?>
<Relationships xmlns="http://schemas.openxmlformats.org/package/2006/relationships"><Relationship Id="rId8" Type="http://schemas.openxmlformats.org/officeDocument/2006/relationships/image" Target="../media/image234.wmf"/><Relationship Id="rId3" Type="http://schemas.openxmlformats.org/officeDocument/2006/relationships/image" Target="../media/image229.wmf"/><Relationship Id="rId7" Type="http://schemas.openxmlformats.org/officeDocument/2006/relationships/image" Target="../media/image233.wmf"/><Relationship Id="rId2" Type="http://schemas.openxmlformats.org/officeDocument/2006/relationships/image" Target="../media/image228.wmf"/><Relationship Id="rId1" Type="http://schemas.openxmlformats.org/officeDocument/2006/relationships/image" Target="../media/image227.wmf"/><Relationship Id="rId6" Type="http://schemas.openxmlformats.org/officeDocument/2006/relationships/image" Target="../media/image232.wmf"/><Relationship Id="rId5" Type="http://schemas.openxmlformats.org/officeDocument/2006/relationships/image" Target="../media/image231.wmf"/><Relationship Id="rId4" Type="http://schemas.openxmlformats.org/officeDocument/2006/relationships/image" Target="../media/image230.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237.wmf"/><Relationship Id="rId1" Type="http://schemas.openxmlformats.org/officeDocument/2006/relationships/image" Target="../media/image236.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41.wmf"/><Relationship Id="rId2" Type="http://schemas.openxmlformats.org/officeDocument/2006/relationships/image" Target="../media/image240.wmf"/><Relationship Id="rId1" Type="http://schemas.openxmlformats.org/officeDocument/2006/relationships/image" Target="../media/image239.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41.wmf"/><Relationship Id="rId2" Type="http://schemas.openxmlformats.org/officeDocument/2006/relationships/image" Target="../media/image243.wmf"/><Relationship Id="rId1" Type="http://schemas.openxmlformats.org/officeDocument/2006/relationships/image" Target="../media/image242.wmf"/><Relationship Id="rId4" Type="http://schemas.openxmlformats.org/officeDocument/2006/relationships/image" Target="../media/image244.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46.wmf"/><Relationship Id="rId2" Type="http://schemas.openxmlformats.org/officeDocument/2006/relationships/image" Target="../media/image243.wmf"/><Relationship Id="rId1" Type="http://schemas.openxmlformats.org/officeDocument/2006/relationships/image" Target="../media/image242.wmf"/><Relationship Id="rId5" Type="http://schemas.openxmlformats.org/officeDocument/2006/relationships/image" Target="../media/image248.wmf"/><Relationship Id="rId4" Type="http://schemas.openxmlformats.org/officeDocument/2006/relationships/image" Target="../media/image247.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247.wmf"/><Relationship Id="rId1" Type="http://schemas.openxmlformats.org/officeDocument/2006/relationships/image" Target="../media/image249.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251.wmf"/><Relationship Id="rId1" Type="http://schemas.openxmlformats.org/officeDocument/2006/relationships/image" Target="../media/image25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lgn="l">
              <a:defRPr sz="1200" b="0"/>
            </a:lvl1pPr>
          </a:lstStyle>
          <a:p>
            <a:pPr>
              <a:defRPr/>
            </a:pPr>
            <a:endParaRPr lang="en-US" altLang="zh-CN"/>
          </a:p>
        </p:txBody>
      </p:sp>
      <p:sp>
        <p:nvSpPr>
          <p:cNvPr id="286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lgn="r">
              <a:defRPr sz="1200" b="0"/>
            </a:lvl1pPr>
          </a:lstStyle>
          <a:p>
            <a:pPr>
              <a:defRPr/>
            </a:pPr>
            <a:endParaRPr lang="en-US" altLang="zh-CN"/>
          </a:p>
        </p:txBody>
      </p:sp>
      <p:sp>
        <p:nvSpPr>
          <p:cNvPr id="491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6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86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lgn="l">
              <a:defRPr sz="1200" b="0"/>
            </a:lvl1pPr>
          </a:lstStyle>
          <a:p>
            <a:pPr>
              <a:defRPr/>
            </a:pPr>
            <a:endParaRPr lang="en-US" altLang="zh-CN"/>
          </a:p>
        </p:txBody>
      </p:sp>
      <p:sp>
        <p:nvSpPr>
          <p:cNvPr id="286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lgn="r">
              <a:defRPr sz="1200" b="0"/>
            </a:lvl1pPr>
          </a:lstStyle>
          <a:p>
            <a:pPr>
              <a:defRPr/>
            </a:pPr>
            <a:fld id="{CE3BF073-AC11-45F1-8FD1-96A45E7FE9DD}" type="slidenum">
              <a:rPr lang="en-US" altLang="zh-CN"/>
              <a:pPr>
                <a:defRPr/>
              </a:pPr>
              <a:t>‹#›</a:t>
            </a:fld>
            <a:endParaRPr lang="en-US" altLang="zh-CN"/>
          </a:p>
        </p:txBody>
      </p:sp>
    </p:spTree>
    <p:extLst>
      <p:ext uri="{BB962C8B-B14F-4D97-AF65-F5344CB8AC3E}">
        <p14:creationId xmlns:p14="http://schemas.microsoft.com/office/powerpoint/2010/main" val="16145506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245CFF7-A684-4F36-93C1-6E835B79D1F2}" type="slidenum">
              <a:rPr lang="en-US" altLang="zh-CN"/>
              <a:pPr>
                <a:defRPr/>
              </a:pPr>
              <a:t>‹#›</a:t>
            </a:fld>
            <a:endParaRPr lang="en-US" altLang="zh-CN"/>
          </a:p>
        </p:txBody>
      </p:sp>
    </p:spTree>
    <p:extLst>
      <p:ext uri="{BB962C8B-B14F-4D97-AF65-F5344CB8AC3E}">
        <p14:creationId xmlns:p14="http://schemas.microsoft.com/office/powerpoint/2010/main" val="378949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3CD63E8-84CD-46A0-8F54-0B895784904E}" type="slidenum">
              <a:rPr lang="en-US" altLang="zh-CN"/>
              <a:pPr>
                <a:defRPr/>
              </a:pPr>
              <a:t>‹#›</a:t>
            </a:fld>
            <a:endParaRPr lang="en-US" altLang="zh-CN"/>
          </a:p>
        </p:txBody>
      </p:sp>
    </p:spTree>
    <p:extLst>
      <p:ext uri="{BB962C8B-B14F-4D97-AF65-F5344CB8AC3E}">
        <p14:creationId xmlns:p14="http://schemas.microsoft.com/office/powerpoint/2010/main" val="3806036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6E762AB-5EED-4C16-AE76-4817F426BD72}" type="slidenum">
              <a:rPr lang="en-US" altLang="zh-CN"/>
              <a:pPr>
                <a:defRPr/>
              </a:pPr>
              <a:t>‹#›</a:t>
            </a:fld>
            <a:endParaRPr lang="en-US" altLang="zh-CN"/>
          </a:p>
        </p:txBody>
      </p:sp>
    </p:spTree>
    <p:extLst>
      <p:ext uri="{BB962C8B-B14F-4D97-AF65-F5344CB8AC3E}">
        <p14:creationId xmlns:p14="http://schemas.microsoft.com/office/powerpoint/2010/main" val="1489739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3E7CF2F-D612-4053-A1A4-C1D7F5517B89}" type="slidenum">
              <a:rPr lang="en-US" altLang="zh-CN"/>
              <a:pPr>
                <a:defRPr/>
              </a:pPr>
              <a:t>‹#›</a:t>
            </a:fld>
            <a:endParaRPr lang="en-US" altLang="zh-CN"/>
          </a:p>
        </p:txBody>
      </p:sp>
    </p:spTree>
    <p:extLst>
      <p:ext uri="{BB962C8B-B14F-4D97-AF65-F5344CB8AC3E}">
        <p14:creationId xmlns:p14="http://schemas.microsoft.com/office/powerpoint/2010/main" val="4156063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B61F548E-2E8A-4616-AA9F-61DEA25DBAF7}" type="slidenum">
              <a:rPr lang="en-US" altLang="zh-CN"/>
              <a:pPr>
                <a:defRPr/>
              </a:pPr>
              <a:t>‹#›</a:t>
            </a:fld>
            <a:endParaRPr lang="en-US" altLang="zh-CN"/>
          </a:p>
        </p:txBody>
      </p:sp>
    </p:spTree>
    <p:extLst>
      <p:ext uri="{BB962C8B-B14F-4D97-AF65-F5344CB8AC3E}">
        <p14:creationId xmlns:p14="http://schemas.microsoft.com/office/powerpoint/2010/main" val="3970559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EDD87640-637F-4FD5-9E3D-09D799B3CA5B}" type="slidenum">
              <a:rPr lang="en-US" altLang="zh-CN"/>
              <a:pPr>
                <a:defRPr/>
              </a:pPr>
              <a:t>‹#›</a:t>
            </a:fld>
            <a:endParaRPr lang="en-US" altLang="zh-CN"/>
          </a:p>
        </p:txBody>
      </p:sp>
    </p:spTree>
    <p:extLst>
      <p:ext uri="{BB962C8B-B14F-4D97-AF65-F5344CB8AC3E}">
        <p14:creationId xmlns:p14="http://schemas.microsoft.com/office/powerpoint/2010/main" val="2295439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3291E689-AEF1-46D8-A007-8DFE5D6F1766}" type="slidenum">
              <a:rPr lang="en-US" altLang="zh-CN"/>
              <a:pPr>
                <a:defRPr/>
              </a:pPr>
              <a:t>‹#›</a:t>
            </a:fld>
            <a:endParaRPr lang="en-US" altLang="zh-CN"/>
          </a:p>
        </p:txBody>
      </p:sp>
    </p:spTree>
    <p:extLst>
      <p:ext uri="{BB962C8B-B14F-4D97-AF65-F5344CB8AC3E}">
        <p14:creationId xmlns:p14="http://schemas.microsoft.com/office/powerpoint/2010/main" val="3213412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DF9EF9C-AD86-4F99-A5D5-30180901896E}" type="slidenum">
              <a:rPr lang="en-US" altLang="zh-CN"/>
              <a:pPr>
                <a:defRPr/>
              </a:pPr>
              <a:t>‹#›</a:t>
            </a:fld>
            <a:endParaRPr lang="en-US" altLang="zh-CN"/>
          </a:p>
        </p:txBody>
      </p:sp>
    </p:spTree>
    <p:extLst>
      <p:ext uri="{BB962C8B-B14F-4D97-AF65-F5344CB8AC3E}">
        <p14:creationId xmlns:p14="http://schemas.microsoft.com/office/powerpoint/2010/main" val="3180578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DDF8E09-F1D5-4E93-847F-141D039FFB19}" type="slidenum">
              <a:rPr lang="en-US" altLang="zh-CN"/>
              <a:pPr>
                <a:defRPr/>
              </a:pPr>
              <a:t>‹#›</a:t>
            </a:fld>
            <a:endParaRPr lang="en-US" altLang="zh-CN"/>
          </a:p>
        </p:txBody>
      </p:sp>
    </p:spTree>
    <p:extLst>
      <p:ext uri="{BB962C8B-B14F-4D97-AF65-F5344CB8AC3E}">
        <p14:creationId xmlns:p14="http://schemas.microsoft.com/office/powerpoint/2010/main" val="1250620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C413B4F-3347-4BCE-8295-79534307466B}" type="slidenum">
              <a:rPr lang="en-US" altLang="zh-CN"/>
              <a:pPr>
                <a:defRPr/>
              </a:pPr>
              <a:t>‹#›</a:t>
            </a:fld>
            <a:endParaRPr lang="en-US" altLang="zh-CN"/>
          </a:p>
        </p:txBody>
      </p:sp>
    </p:spTree>
    <p:extLst>
      <p:ext uri="{BB962C8B-B14F-4D97-AF65-F5344CB8AC3E}">
        <p14:creationId xmlns:p14="http://schemas.microsoft.com/office/powerpoint/2010/main" val="3596826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51CE854-1F54-4EE2-B229-B6A77E7730B8}" type="slidenum">
              <a:rPr lang="en-US" altLang="zh-CN"/>
              <a:pPr>
                <a:defRPr/>
              </a:pPr>
              <a:t>‹#›</a:t>
            </a:fld>
            <a:endParaRPr lang="en-US" altLang="zh-CN"/>
          </a:p>
        </p:txBody>
      </p:sp>
    </p:spTree>
    <p:extLst>
      <p:ext uri="{BB962C8B-B14F-4D97-AF65-F5344CB8AC3E}">
        <p14:creationId xmlns:p14="http://schemas.microsoft.com/office/powerpoint/2010/main" val="3874262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B201287F-700C-455B-ACEE-041E825E52B7}" type="slidenum">
              <a:rPr lang="en-US" altLang="zh-CN"/>
              <a:pPr>
                <a:defRPr/>
              </a:pPr>
              <a:t>‹#›</a:t>
            </a:fld>
            <a:endParaRPr lang="en-US" altLang="zh-CN"/>
          </a:p>
        </p:txBody>
      </p:sp>
    </p:spTree>
    <p:extLst>
      <p:ext uri="{BB962C8B-B14F-4D97-AF65-F5344CB8AC3E}">
        <p14:creationId xmlns:p14="http://schemas.microsoft.com/office/powerpoint/2010/main" val="462185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vl1pPr>
          </a:lstStyle>
          <a:p>
            <a:pPr>
              <a:defRPr/>
            </a:pPr>
            <a:fld id="{E31ACB37-FDF8-41E3-A0FB-D687D309D56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 Target="slide2.xml"/><Relationship Id="rId1" Type="http://schemas.openxmlformats.org/officeDocument/2006/relationships/slideLayout" Target="../slideLayouts/slideLayout7.xml"/><Relationship Id="rId4"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Microsoft_Visio_2003-2010___1.vsd"/><Relationship Id="rId13" Type="http://schemas.openxmlformats.org/officeDocument/2006/relationships/oleObject" Target="../embeddings/oleObject5.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5.emf"/><Relationship Id="rId2" Type="http://schemas.openxmlformats.org/officeDocument/2006/relationships/slideLayout" Target="../slideLayouts/slideLayout2.xml"/><Relationship Id="rId16" Type="http://schemas.openxmlformats.org/officeDocument/2006/relationships/image" Target="../media/image7.emf"/><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oleObject" Target="../embeddings/Microsoft_Visio_2003-2010___2.vsd"/><Relationship Id="rId5" Type="http://schemas.openxmlformats.org/officeDocument/2006/relationships/oleObject" Target="../embeddings/oleObject2.bin"/><Relationship Id="rId15" Type="http://schemas.openxmlformats.org/officeDocument/2006/relationships/oleObject" Target="../embeddings/oleObject6.bin"/><Relationship Id="rId10" Type="http://schemas.openxmlformats.org/officeDocument/2006/relationships/oleObject" Target="../embeddings/oleObject4.bin"/><Relationship Id="rId4" Type="http://schemas.openxmlformats.org/officeDocument/2006/relationships/image" Target="../media/image2.wmf"/><Relationship Id="rId9" Type="http://schemas.openxmlformats.org/officeDocument/2006/relationships/image" Target="../media/image4.emf"/><Relationship Id="rId14" Type="http://schemas.openxmlformats.org/officeDocument/2006/relationships/image" Target="../media/image6.emf"/></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8.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10.bin"/></Relationships>
</file>

<file path=ppt/slides/_rels/slide7.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image" Target="../media/image18.png"/><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4.w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14.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0.wmf"/><Relationship Id="rId5" Type="http://schemas.openxmlformats.org/officeDocument/2006/relationships/oleObject" Target="../embeddings/oleObject17.bin"/><Relationship Id="rId4" Type="http://schemas.openxmlformats.org/officeDocument/2006/relationships/image" Target="../media/image19.wmf"/></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2.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9.bin"/><Relationship Id="rId5" Type="http://schemas.openxmlformats.org/officeDocument/2006/relationships/image" Target="../media/image21.wmf"/><Relationship Id="rId4" Type="http://schemas.openxmlformats.org/officeDocument/2006/relationships/oleObject" Target="../embeddings/oleObject18.bin"/></Relationships>
</file>

<file path=ppt/slides/_rels/slide10.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5.wmf"/><Relationship Id="rId5" Type="http://schemas.openxmlformats.org/officeDocument/2006/relationships/oleObject" Target="../embeddings/oleObject21.bin"/><Relationship Id="rId4" Type="http://schemas.openxmlformats.org/officeDocument/2006/relationships/image" Target="../media/image24.wmf"/><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27.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9.wmf"/><Relationship Id="rId5" Type="http://schemas.openxmlformats.org/officeDocument/2006/relationships/oleObject" Target="../embeddings/oleObject25.bin"/><Relationship Id="rId10" Type="http://schemas.openxmlformats.org/officeDocument/2006/relationships/image" Target="../media/image31.wmf"/><Relationship Id="rId4" Type="http://schemas.openxmlformats.org/officeDocument/2006/relationships/image" Target="../media/image28.wmf"/><Relationship Id="rId9" Type="http://schemas.openxmlformats.org/officeDocument/2006/relationships/oleObject" Target="../embeddings/oleObject27.bin"/></Relationships>
</file>

<file path=ppt/slides/_rels/slide14.xml.rels><?xml version="1.0" encoding="UTF-8" standalone="yes"?>
<Relationships xmlns="http://schemas.openxmlformats.org/package/2006/relationships"><Relationship Id="rId8" Type="http://schemas.openxmlformats.org/officeDocument/2006/relationships/image" Target="../media/image34.wmf"/><Relationship Id="rId13" Type="http://schemas.openxmlformats.org/officeDocument/2006/relationships/oleObject" Target="../embeddings/oleObject33.bin"/><Relationship Id="rId3" Type="http://schemas.openxmlformats.org/officeDocument/2006/relationships/oleObject" Target="../embeddings/oleObject28.bin"/><Relationship Id="rId7" Type="http://schemas.openxmlformats.org/officeDocument/2006/relationships/oleObject" Target="../embeddings/oleObject30.bin"/><Relationship Id="rId12" Type="http://schemas.openxmlformats.org/officeDocument/2006/relationships/image" Target="../media/image36.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3.wmf"/><Relationship Id="rId11" Type="http://schemas.openxmlformats.org/officeDocument/2006/relationships/oleObject" Target="../embeddings/oleObject32.bin"/><Relationship Id="rId5" Type="http://schemas.openxmlformats.org/officeDocument/2006/relationships/oleObject" Target="../embeddings/oleObject29.bin"/><Relationship Id="rId15" Type="http://schemas.openxmlformats.org/officeDocument/2006/relationships/image" Target="../media/image38.png"/><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31.bin"/><Relationship Id="rId14" Type="http://schemas.openxmlformats.org/officeDocument/2006/relationships/image" Target="../media/image37.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43.wmf"/><Relationship Id="rId3" Type="http://schemas.openxmlformats.org/officeDocument/2006/relationships/oleObject" Target="../embeddings/oleObject34.bin"/><Relationship Id="rId7" Type="http://schemas.openxmlformats.org/officeDocument/2006/relationships/image" Target="../media/image40.wmf"/><Relationship Id="rId12"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35.bin"/><Relationship Id="rId11" Type="http://schemas.openxmlformats.org/officeDocument/2006/relationships/image" Target="../media/image42.wmf"/><Relationship Id="rId5" Type="http://schemas.openxmlformats.org/officeDocument/2006/relationships/image" Target="../media/image45.png"/><Relationship Id="rId15" Type="http://schemas.openxmlformats.org/officeDocument/2006/relationships/image" Target="../media/image44.wmf"/><Relationship Id="rId10" Type="http://schemas.openxmlformats.org/officeDocument/2006/relationships/oleObject" Target="../embeddings/oleObject37.bin"/><Relationship Id="rId4" Type="http://schemas.openxmlformats.org/officeDocument/2006/relationships/image" Target="../media/image39.wmf"/><Relationship Id="rId9" Type="http://schemas.openxmlformats.org/officeDocument/2006/relationships/image" Target="../media/image41.wmf"/><Relationship Id="rId14" Type="http://schemas.openxmlformats.org/officeDocument/2006/relationships/oleObject" Target="../embeddings/oleObject39.bin"/></Relationships>
</file>

<file path=ppt/slides/_rels/slide16.xml.rels><?xml version="1.0" encoding="UTF-8" standalone="yes"?>
<Relationships xmlns="http://schemas.openxmlformats.org/package/2006/relationships"><Relationship Id="rId8" Type="http://schemas.openxmlformats.org/officeDocument/2006/relationships/image" Target="../media/image48.wmf"/><Relationship Id="rId13" Type="http://schemas.openxmlformats.org/officeDocument/2006/relationships/oleObject" Target="../embeddings/oleObject45.bin"/><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50.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7.wmf"/><Relationship Id="rId11" Type="http://schemas.openxmlformats.org/officeDocument/2006/relationships/oleObject" Target="../embeddings/oleObject44.bin"/><Relationship Id="rId5" Type="http://schemas.openxmlformats.org/officeDocument/2006/relationships/oleObject" Target="../embeddings/oleObject41.bin"/><Relationship Id="rId15" Type="http://schemas.openxmlformats.org/officeDocument/2006/relationships/image" Target="../media/image52.png"/><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43.bin"/><Relationship Id="rId14" Type="http://schemas.openxmlformats.org/officeDocument/2006/relationships/image" Target="../media/image51.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image" Target="../media/image57.wmf"/><Relationship Id="rId3" Type="http://schemas.openxmlformats.org/officeDocument/2006/relationships/oleObject" Target="../embeddings/oleObject46.bin"/><Relationship Id="rId7" Type="http://schemas.openxmlformats.org/officeDocument/2006/relationships/image" Target="../media/image54.wmf"/><Relationship Id="rId12"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47.bin"/><Relationship Id="rId11" Type="http://schemas.openxmlformats.org/officeDocument/2006/relationships/image" Target="../media/image56.wmf"/><Relationship Id="rId5" Type="http://schemas.openxmlformats.org/officeDocument/2006/relationships/image" Target="../media/image59.png"/><Relationship Id="rId15" Type="http://schemas.openxmlformats.org/officeDocument/2006/relationships/image" Target="../media/image58.wmf"/><Relationship Id="rId10" Type="http://schemas.openxmlformats.org/officeDocument/2006/relationships/oleObject" Target="../embeddings/oleObject49.bin"/><Relationship Id="rId4" Type="http://schemas.openxmlformats.org/officeDocument/2006/relationships/image" Target="../media/image53.wmf"/><Relationship Id="rId9" Type="http://schemas.openxmlformats.org/officeDocument/2006/relationships/image" Target="../media/image55.wmf"/><Relationship Id="rId14" Type="http://schemas.openxmlformats.org/officeDocument/2006/relationships/oleObject" Target="../embeddings/oleObject51.bin"/></Relationships>
</file>

<file path=ppt/slides/_rels/slide18.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52.bin"/><Relationship Id="rId7" Type="http://schemas.openxmlformats.org/officeDocument/2006/relationships/oleObject" Target="../embeddings/oleObject54.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61.wmf"/><Relationship Id="rId5" Type="http://schemas.openxmlformats.org/officeDocument/2006/relationships/oleObject" Target="../embeddings/oleObject53.bin"/><Relationship Id="rId10" Type="http://schemas.openxmlformats.org/officeDocument/2006/relationships/image" Target="../media/image63.wmf"/><Relationship Id="rId4" Type="http://schemas.openxmlformats.org/officeDocument/2006/relationships/image" Target="../media/image60.wmf"/><Relationship Id="rId9" Type="http://schemas.openxmlformats.org/officeDocument/2006/relationships/oleObject" Target="../embeddings/oleObject55.bin"/></Relationships>
</file>

<file path=ppt/slides/_rels/slide19.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56.bin"/><Relationship Id="rId7" Type="http://schemas.openxmlformats.org/officeDocument/2006/relationships/oleObject" Target="../embeddings/oleObject58.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65.wmf"/><Relationship Id="rId5" Type="http://schemas.openxmlformats.org/officeDocument/2006/relationships/oleObject" Target="../embeddings/oleObject57.bin"/><Relationship Id="rId4" Type="http://schemas.openxmlformats.org/officeDocument/2006/relationships/image" Target="../media/image64.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68.wmf"/><Relationship Id="rId5" Type="http://schemas.openxmlformats.org/officeDocument/2006/relationships/oleObject" Target="../embeddings/oleObject60.bin"/><Relationship Id="rId4" Type="http://schemas.openxmlformats.org/officeDocument/2006/relationships/image" Target="../media/image67.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70.wmf"/><Relationship Id="rId5" Type="http://schemas.openxmlformats.org/officeDocument/2006/relationships/oleObject" Target="../embeddings/oleObject62.bin"/><Relationship Id="rId4" Type="http://schemas.openxmlformats.org/officeDocument/2006/relationships/image" Target="../media/image69.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image" Target="../media/image74.wmf"/><Relationship Id="rId3" Type="http://schemas.openxmlformats.org/officeDocument/2006/relationships/image" Target="../media/image75.wmf"/><Relationship Id="rId7" Type="http://schemas.openxmlformats.org/officeDocument/2006/relationships/image" Target="../media/image71.wmf"/><Relationship Id="rId12" Type="http://schemas.openxmlformats.org/officeDocument/2006/relationships/oleObject" Target="../embeddings/oleObject66.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63.bin"/><Relationship Id="rId11" Type="http://schemas.openxmlformats.org/officeDocument/2006/relationships/image" Target="../media/image73.wmf"/><Relationship Id="rId5" Type="http://schemas.openxmlformats.org/officeDocument/2006/relationships/image" Target="../media/image77.wmf"/><Relationship Id="rId10" Type="http://schemas.openxmlformats.org/officeDocument/2006/relationships/oleObject" Target="../embeddings/oleObject65.bin"/><Relationship Id="rId4" Type="http://schemas.openxmlformats.org/officeDocument/2006/relationships/image" Target="../media/image76.wmf"/><Relationship Id="rId9" Type="http://schemas.openxmlformats.org/officeDocument/2006/relationships/image" Target="../media/image72.wmf"/></Relationships>
</file>

<file path=ppt/slides/_rels/slide23.xml.rels><?xml version="1.0" encoding="UTF-8" standalone="yes"?>
<Relationships xmlns="http://schemas.openxmlformats.org/package/2006/relationships"><Relationship Id="rId8" Type="http://schemas.openxmlformats.org/officeDocument/2006/relationships/image" Target="../media/image80.wmf"/><Relationship Id="rId13" Type="http://schemas.openxmlformats.org/officeDocument/2006/relationships/oleObject" Target="../embeddings/oleObject72.bin"/><Relationship Id="rId18" Type="http://schemas.openxmlformats.org/officeDocument/2006/relationships/image" Target="../media/image85.wmf"/><Relationship Id="rId3" Type="http://schemas.openxmlformats.org/officeDocument/2006/relationships/oleObject" Target="../embeddings/oleObject67.bin"/><Relationship Id="rId7" Type="http://schemas.openxmlformats.org/officeDocument/2006/relationships/oleObject" Target="../embeddings/oleObject69.bin"/><Relationship Id="rId12" Type="http://schemas.openxmlformats.org/officeDocument/2006/relationships/image" Target="../media/image82.wmf"/><Relationship Id="rId17" Type="http://schemas.openxmlformats.org/officeDocument/2006/relationships/oleObject" Target="../embeddings/oleObject74.bin"/><Relationship Id="rId2" Type="http://schemas.openxmlformats.org/officeDocument/2006/relationships/slideLayout" Target="../slideLayouts/slideLayout12.xml"/><Relationship Id="rId16" Type="http://schemas.openxmlformats.org/officeDocument/2006/relationships/image" Target="../media/image84.wmf"/><Relationship Id="rId1" Type="http://schemas.openxmlformats.org/officeDocument/2006/relationships/vmlDrawing" Target="../drawings/vmlDrawing18.vml"/><Relationship Id="rId6" Type="http://schemas.openxmlformats.org/officeDocument/2006/relationships/image" Target="../media/image79.wmf"/><Relationship Id="rId11" Type="http://schemas.openxmlformats.org/officeDocument/2006/relationships/oleObject" Target="../embeddings/oleObject71.bin"/><Relationship Id="rId5" Type="http://schemas.openxmlformats.org/officeDocument/2006/relationships/oleObject" Target="../embeddings/oleObject68.bin"/><Relationship Id="rId15" Type="http://schemas.openxmlformats.org/officeDocument/2006/relationships/oleObject" Target="../embeddings/oleObject73.bin"/><Relationship Id="rId10" Type="http://schemas.openxmlformats.org/officeDocument/2006/relationships/image" Target="../media/image81.wmf"/><Relationship Id="rId4" Type="http://schemas.openxmlformats.org/officeDocument/2006/relationships/image" Target="../media/image78.wmf"/><Relationship Id="rId9" Type="http://schemas.openxmlformats.org/officeDocument/2006/relationships/oleObject" Target="../embeddings/oleObject70.bin"/><Relationship Id="rId14" Type="http://schemas.openxmlformats.org/officeDocument/2006/relationships/image" Target="../media/image83.wmf"/></Relationships>
</file>

<file path=ppt/slides/_rels/slide24.xml.rels><?xml version="1.0" encoding="UTF-8" standalone="yes"?>
<Relationships xmlns="http://schemas.openxmlformats.org/package/2006/relationships"><Relationship Id="rId8" Type="http://schemas.openxmlformats.org/officeDocument/2006/relationships/image" Target="../media/image88.wmf"/><Relationship Id="rId13" Type="http://schemas.openxmlformats.org/officeDocument/2006/relationships/oleObject" Target="../embeddings/oleObject80.bin"/><Relationship Id="rId18" Type="http://schemas.openxmlformats.org/officeDocument/2006/relationships/image" Target="../media/image93.wmf"/><Relationship Id="rId3" Type="http://schemas.openxmlformats.org/officeDocument/2006/relationships/oleObject" Target="../embeddings/oleObject75.bin"/><Relationship Id="rId7" Type="http://schemas.openxmlformats.org/officeDocument/2006/relationships/oleObject" Target="../embeddings/oleObject77.bin"/><Relationship Id="rId12" Type="http://schemas.openxmlformats.org/officeDocument/2006/relationships/image" Target="../media/image90.wmf"/><Relationship Id="rId17" Type="http://schemas.openxmlformats.org/officeDocument/2006/relationships/oleObject" Target="../embeddings/oleObject82.bin"/><Relationship Id="rId2" Type="http://schemas.openxmlformats.org/officeDocument/2006/relationships/slideLayout" Target="../slideLayouts/slideLayout12.xml"/><Relationship Id="rId16" Type="http://schemas.openxmlformats.org/officeDocument/2006/relationships/image" Target="../media/image92.wmf"/><Relationship Id="rId1" Type="http://schemas.openxmlformats.org/officeDocument/2006/relationships/vmlDrawing" Target="../drawings/vmlDrawing19.vml"/><Relationship Id="rId6" Type="http://schemas.openxmlformats.org/officeDocument/2006/relationships/image" Target="../media/image87.wmf"/><Relationship Id="rId11" Type="http://schemas.openxmlformats.org/officeDocument/2006/relationships/oleObject" Target="../embeddings/oleObject79.bin"/><Relationship Id="rId5" Type="http://schemas.openxmlformats.org/officeDocument/2006/relationships/oleObject" Target="../embeddings/oleObject76.bin"/><Relationship Id="rId15" Type="http://schemas.openxmlformats.org/officeDocument/2006/relationships/oleObject" Target="../embeddings/oleObject81.bin"/><Relationship Id="rId10" Type="http://schemas.openxmlformats.org/officeDocument/2006/relationships/image" Target="../media/image89.wmf"/><Relationship Id="rId4" Type="http://schemas.openxmlformats.org/officeDocument/2006/relationships/image" Target="../media/image86.wmf"/><Relationship Id="rId9" Type="http://schemas.openxmlformats.org/officeDocument/2006/relationships/oleObject" Target="../embeddings/oleObject78.bin"/><Relationship Id="rId14" Type="http://schemas.openxmlformats.org/officeDocument/2006/relationships/image" Target="../media/image91.wmf"/></Relationships>
</file>

<file path=ppt/slides/_rels/slide2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94.wmf"/><Relationship Id="rId4" Type="http://schemas.openxmlformats.org/officeDocument/2006/relationships/oleObject" Target="../embeddings/oleObject83.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84.bin"/><Relationship Id="rId7" Type="http://schemas.openxmlformats.org/officeDocument/2006/relationships/image" Target="../media/image97.wmf"/><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85.bin"/><Relationship Id="rId5" Type="http://schemas.openxmlformats.org/officeDocument/2006/relationships/image" Target="../media/image98.png"/><Relationship Id="rId4" Type="http://schemas.openxmlformats.org/officeDocument/2006/relationships/image" Target="../media/image96.wmf"/></Relationships>
</file>

<file path=ppt/slides/_rels/slide27.xml.rels><?xml version="1.0" encoding="UTF-8" standalone="yes"?>
<Relationships xmlns="http://schemas.openxmlformats.org/package/2006/relationships"><Relationship Id="rId8" Type="http://schemas.openxmlformats.org/officeDocument/2006/relationships/image" Target="../media/image101.wmf"/><Relationship Id="rId13" Type="http://schemas.openxmlformats.org/officeDocument/2006/relationships/oleObject" Target="../embeddings/oleObject91.bin"/><Relationship Id="rId18" Type="http://schemas.openxmlformats.org/officeDocument/2006/relationships/image" Target="../media/image106.wmf"/><Relationship Id="rId3" Type="http://schemas.openxmlformats.org/officeDocument/2006/relationships/oleObject" Target="../embeddings/oleObject86.bin"/><Relationship Id="rId7" Type="http://schemas.openxmlformats.org/officeDocument/2006/relationships/oleObject" Target="../embeddings/oleObject88.bin"/><Relationship Id="rId12" Type="http://schemas.openxmlformats.org/officeDocument/2006/relationships/image" Target="../media/image103.wmf"/><Relationship Id="rId17" Type="http://schemas.openxmlformats.org/officeDocument/2006/relationships/oleObject" Target="../embeddings/oleObject93.bin"/><Relationship Id="rId2" Type="http://schemas.openxmlformats.org/officeDocument/2006/relationships/slideLayout" Target="../slideLayouts/slideLayout2.xml"/><Relationship Id="rId16" Type="http://schemas.openxmlformats.org/officeDocument/2006/relationships/image" Target="../media/image105.wmf"/><Relationship Id="rId1" Type="http://schemas.openxmlformats.org/officeDocument/2006/relationships/vmlDrawing" Target="../drawings/vmlDrawing22.vml"/><Relationship Id="rId6" Type="http://schemas.openxmlformats.org/officeDocument/2006/relationships/image" Target="../media/image100.wmf"/><Relationship Id="rId11" Type="http://schemas.openxmlformats.org/officeDocument/2006/relationships/oleObject" Target="../embeddings/oleObject90.bin"/><Relationship Id="rId5" Type="http://schemas.openxmlformats.org/officeDocument/2006/relationships/oleObject" Target="../embeddings/oleObject87.bin"/><Relationship Id="rId15" Type="http://schemas.openxmlformats.org/officeDocument/2006/relationships/oleObject" Target="../embeddings/oleObject92.bin"/><Relationship Id="rId10" Type="http://schemas.openxmlformats.org/officeDocument/2006/relationships/image" Target="../media/image102.wmf"/><Relationship Id="rId4" Type="http://schemas.openxmlformats.org/officeDocument/2006/relationships/image" Target="../media/image99.wmf"/><Relationship Id="rId9" Type="http://schemas.openxmlformats.org/officeDocument/2006/relationships/oleObject" Target="../embeddings/oleObject89.bin"/><Relationship Id="rId14" Type="http://schemas.openxmlformats.org/officeDocument/2006/relationships/image" Target="../media/image104.wmf"/></Relationships>
</file>

<file path=ppt/slides/_rels/slide28.x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oleObject" Target="../embeddings/oleObject94.bin"/><Relationship Id="rId7" Type="http://schemas.openxmlformats.org/officeDocument/2006/relationships/oleObject" Target="../embeddings/oleObject96.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108.wmf"/><Relationship Id="rId5" Type="http://schemas.openxmlformats.org/officeDocument/2006/relationships/oleObject" Target="../embeddings/oleObject95.bin"/><Relationship Id="rId4" Type="http://schemas.openxmlformats.org/officeDocument/2006/relationships/image" Target="../media/image107.wmf"/></Relationships>
</file>

<file path=ppt/slides/_rels/slide2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2.xml"/><Relationship Id="rId1" Type="http://schemas.openxmlformats.org/officeDocument/2006/relationships/vmlDrawing" Target="../drawings/vmlDrawing24.vml"/><Relationship Id="rId5" Type="http://schemas.openxmlformats.org/officeDocument/2006/relationships/image" Target="../media/image113.png"/><Relationship Id="rId4" Type="http://schemas.openxmlformats.org/officeDocument/2006/relationships/image" Target="../media/image112.wmf"/></Relationships>
</file>

<file path=ppt/slides/_rels/slide32.xml.rels><?xml version="1.0" encoding="UTF-8" standalone="yes"?>
<Relationships xmlns="http://schemas.openxmlformats.org/package/2006/relationships"><Relationship Id="rId8" Type="http://schemas.openxmlformats.org/officeDocument/2006/relationships/image" Target="../media/image116.wmf"/><Relationship Id="rId3" Type="http://schemas.openxmlformats.org/officeDocument/2006/relationships/oleObject" Target="../embeddings/oleObject98.bin"/><Relationship Id="rId7" Type="http://schemas.openxmlformats.org/officeDocument/2006/relationships/oleObject" Target="../embeddings/oleObject100.bin"/><Relationship Id="rId2" Type="http://schemas.openxmlformats.org/officeDocument/2006/relationships/slideLayout" Target="../slideLayouts/slideLayout12.xml"/><Relationship Id="rId1" Type="http://schemas.openxmlformats.org/officeDocument/2006/relationships/vmlDrawing" Target="../drawings/vmlDrawing25.vml"/><Relationship Id="rId6" Type="http://schemas.openxmlformats.org/officeDocument/2006/relationships/image" Target="../media/image115.wmf"/><Relationship Id="rId5" Type="http://schemas.openxmlformats.org/officeDocument/2006/relationships/oleObject" Target="../embeddings/oleObject99.bin"/><Relationship Id="rId4" Type="http://schemas.openxmlformats.org/officeDocument/2006/relationships/image" Target="../media/image114.wmf"/><Relationship Id="rId9" Type="http://schemas.openxmlformats.org/officeDocument/2006/relationships/image" Target="../media/image117.png"/></Relationships>
</file>

<file path=ppt/slides/_rels/slide33.xml.rels><?xml version="1.0" encoding="UTF-8" standalone="yes"?>
<Relationships xmlns="http://schemas.openxmlformats.org/package/2006/relationships"><Relationship Id="rId8" Type="http://schemas.openxmlformats.org/officeDocument/2006/relationships/image" Target="../media/image120.wmf"/><Relationship Id="rId3" Type="http://schemas.openxmlformats.org/officeDocument/2006/relationships/oleObject" Target="../embeddings/oleObject101.bin"/><Relationship Id="rId7" Type="http://schemas.openxmlformats.org/officeDocument/2006/relationships/oleObject" Target="../embeddings/oleObject103.bin"/><Relationship Id="rId2" Type="http://schemas.openxmlformats.org/officeDocument/2006/relationships/slideLayout" Target="../slideLayouts/slideLayout12.xml"/><Relationship Id="rId1" Type="http://schemas.openxmlformats.org/officeDocument/2006/relationships/vmlDrawing" Target="../drawings/vmlDrawing26.vml"/><Relationship Id="rId6" Type="http://schemas.openxmlformats.org/officeDocument/2006/relationships/image" Target="../media/image119.wmf"/><Relationship Id="rId5" Type="http://schemas.openxmlformats.org/officeDocument/2006/relationships/oleObject" Target="../embeddings/oleObject102.bin"/><Relationship Id="rId4" Type="http://schemas.openxmlformats.org/officeDocument/2006/relationships/image" Target="../media/image118.wmf"/><Relationship Id="rId9" Type="http://schemas.openxmlformats.org/officeDocument/2006/relationships/image" Target="../media/image121.pn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06.bin"/><Relationship Id="rId3" Type="http://schemas.openxmlformats.org/officeDocument/2006/relationships/oleObject" Target="../embeddings/oleObject104.bin"/><Relationship Id="rId7" Type="http://schemas.openxmlformats.org/officeDocument/2006/relationships/image" Target="../media/image125.png"/><Relationship Id="rId2" Type="http://schemas.openxmlformats.org/officeDocument/2006/relationships/slideLayout" Target="../slideLayouts/slideLayout12.xml"/><Relationship Id="rId1" Type="http://schemas.openxmlformats.org/officeDocument/2006/relationships/vmlDrawing" Target="../drawings/vmlDrawing27.vml"/><Relationship Id="rId6" Type="http://schemas.openxmlformats.org/officeDocument/2006/relationships/image" Target="../media/image123.wmf"/><Relationship Id="rId5" Type="http://schemas.openxmlformats.org/officeDocument/2006/relationships/oleObject" Target="../embeddings/oleObject105.bin"/><Relationship Id="rId4" Type="http://schemas.openxmlformats.org/officeDocument/2006/relationships/image" Target="../media/image122.wmf"/><Relationship Id="rId9" Type="http://schemas.openxmlformats.org/officeDocument/2006/relationships/image" Target="../media/image124.wmf"/></Relationships>
</file>

<file path=ppt/slides/_rels/slide35.xml.rels><?xml version="1.0" encoding="UTF-8" standalone="yes"?>
<Relationships xmlns="http://schemas.openxmlformats.org/package/2006/relationships"><Relationship Id="rId8" Type="http://schemas.openxmlformats.org/officeDocument/2006/relationships/image" Target="../media/image128.wmf"/><Relationship Id="rId13" Type="http://schemas.openxmlformats.org/officeDocument/2006/relationships/image" Target="../media/image131.png"/><Relationship Id="rId3" Type="http://schemas.openxmlformats.org/officeDocument/2006/relationships/oleObject" Target="../embeddings/oleObject107.bin"/><Relationship Id="rId7" Type="http://schemas.openxmlformats.org/officeDocument/2006/relationships/oleObject" Target="../embeddings/oleObject109.bin"/><Relationship Id="rId12" Type="http://schemas.openxmlformats.org/officeDocument/2006/relationships/image" Target="../media/image130.wmf"/><Relationship Id="rId2" Type="http://schemas.openxmlformats.org/officeDocument/2006/relationships/slideLayout" Target="../slideLayouts/slideLayout12.xml"/><Relationship Id="rId1" Type="http://schemas.openxmlformats.org/officeDocument/2006/relationships/vmlDrawing" Target="../drawings/vmlDrawing28.vml"/><Relationship Id="rId6" Type="http://schemas.openxmlformats.org/officeDocument/2006/relationships/image" Target="../media/image127.wmf"/><Relationship Id="rId11" Type="http://schemas.openxmlformats.org/officeDocument/2006/relationships/oleObject" Target="../embeddings/oleObject111.bin"/><Relationship Id="rId5" Type="http://schemas.openxmlformats.org/officeDocument/2006/relationships/oleObject" Target="../embeddings/oleObject108.bin"/><Relationship Id="rId10" Type="http://schemas.openxmlformats.org/officeDocument/2006/relationships/image" Target="../media/image129.wmf"/><Relationship Id="rId4" Type="http://schemas.openxmlformats.org/officeDocument/2006/relationships/image" Target="../media/image126.wmf"/><Relationship Id="rId9" Type="http://schemas.openxmlformats.org/officeDocument/2006/relationships/oleObject" Target="../embeddings/oleObject110.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12.bin"/><Relationship Id="rId7" Type="http://schemas.openxmlformats.org/officeDocument/2006/relationships/image" Target="../media/image134.png"/><Relationship Id="rId2" Type="http://schemas.openxmlformats.org/officeDocument/2006/relationships/slideLayout" Target="../slideLayouts/slideLayout12.xml"/><Relationship Id="rId1" Type="http://schemas.openxmlformats.org/officeDocument/2006/relationships/vmlDrawing" Target="../drawings/vmlDrawing29.vml"/><Relationship Id="rId6" Type="http://schemas.openxmlformats.org/officeDocument/2006/relationships/image" Target="../media/image133.wmf"/><Relationship Id="rId5" Type="http://schemas.openxmlformats.org/officeDocument/2006/relationships/oleObject" Target="../embeddings/oleObject113.bin"/><Relationship Id="rId4" Type="http://schemas.openxmlformats.org/officeDocument/2006/relationships/image" Target="../media/image132.wmf"/></Relationships>
</file>

<file path=ppt/slides/_rels/slide37.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14.bin"/><Relationship Id="rId2" Type="http://schemas.openxmlformats.org/officeDocument/2006/relationships/slideLayout" Target="../slideLayouts/slideLayout2.xml"/><Relationship Id="rId1" Type="http://schemas.openxmlformats.org/officeDocument/2006/relationships/vmlDrawing" Target="../drawings/vmlDrawing30.vml"/><Relationship Id="rId5" Type="http://schemas.openxmlformats.org/officeDocument/2006/relationships/image" Target="../media/image138.png"/><Relationship Id="rId4" Type="http://schemas.openxmlformats.org/officeDocument/2006/relationships/image" Target="../media/image137.wmf"/></Relationships>
</file>

<file path=ppt/slides/_rels/slide40.xml.rels><?xml version="1.0" encoding="UTF-8" standalone="yes"?>
<Relationships xmlns="http://schemas.openxmlformats.org/package/2006/relationships"><Relationship Id="rId8" Type="http://schemas.openxmlformats.org/officeDocument/2006/relationships/image" Target="../media/image115.wmf"/><Relationship Id="rId3" Type="http://schemas.openxmlformats.org/officeDocument/2006/relationships/oleObject" Target="../embeddings/oleObject115.bin"/><Relationship Id="rId7" Type="http://schemas.openxmlformats.org/officeDocument/2006/relationships/oleObject" Target="../embeddings/oleObject117.bin"/><Relationship Id="rId2" Type="http://schemas.openxmlformats.org/officeDocument/2006/relationships/slideLayout" Target="../slideLayouts/slideLayout12.xml"/><Relationship Id="rId1" Type="http://schemas.openxmlformats.org/officeDocument/2006/relationships/vmlDrawing" Target="../drawings/vmlDrawing31.vml"/><Relationship Id="rId6" Type="http://schemas.openxmlformats.org/officeDocument/2006/relationships/image" Target="../media/image140.wmf"/><Relationship Id="rId5" Type="http://schemas.openxmlformats.org/officeDocument/2006/relationships/oleObject" Target="../embeddings/oleObject116.bin"/><Relationship Id="rId4" Type="http://schemas.openxmlformats.org/officeDocument/2006/relationships/image" Target="../media/image139.wmf"/><Relationship Id="rId9" Type="http://schemas.openxmlformats.org/officeDocument/2006/relationships/image" Target="../media/image141.png"/></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20.bin"/><Relationship Id="rId3" Type="http://schemas.openxmlformats.org/officeDocument/2006/relationships/image" Target="../media/image145.png"/><Relationship Id="rId7" Type="http://schemas.openxmlformats.org/officeDocument/2006/relationships/image" Target="../media/image143.wmf"/><Relationship Id="rId2" Type="http://schemas.openxmlformats.org/officeDocument/2006/relationships/slideLayout" Target="../slideLayouts/slideLayout12.xml"/><Relationship Id="rId1" Type="http://schemas.openxmlformats.org/officeDocument/2006/relationships/vmlDrawing" Target="../drawings/vmlDrawing32.vml"/><Relationship Id="rId6" Type="http://schemas.openxmlformats.org/officeDocument/2006/relationships/oleObject" Target="../embeddings/oleObject119.bin"/><Relationship Id="rId5" Type="http://schemas.openxmlformats.org/officeDocument/2006/relationships/image" Target="../media/image142.wmf"/><Relationship Id="rId4" Type="http://schemas.openxmlformats.org/officeDocument/2006/relationships/oleObject" Target="../embeddings/oleObject118.bin"/><Relationship Id="rId9" Type="http://schemas.openxmlformats.org/officeDocument/2006/relationships/image" Target="../media/image144.w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23.bin"/><Relationship Id="rId3" Type="http://schemas.openxmlformats.org/officeDocument/2006/relationships/image" Target="../media/image149.png"/><Relationship Id="rId7" Type="http://schemas.openxmlformats.org/officeDocument/2006/relationships/image" Target="../media/image147.wmf"/><Relationship Id="rId2" Type="http://schemas.openxmlformats.org/officeDocument/2006/relationships/slideLayout" Target="../slideLayouts/slideLayout12.xml"/><Relationship Id="rId1" Type="http://schemas.openxmlformats.org/officeDocument/2006/relationships/vmlDrawing" Target="../drawings/vmlDrawing33.vml"/><Relationship Id="rId6" Type="http://schemas.openxmlformats.org/officeDocument/2006/relationships/oleObject" Target="../embeddings/oleObject122.bin"/><Relationship Id="rId5" Type="http://schemas.openxmlformats.org/officeDocument/2006/relationships/image" Target="../media/image146.wmf"/><Relationship Id="rId4" Type="http://schemas.openxmlformats.org/officeDocument/2006/relationships/oleObject" Target="../embeddings/oleObject121.bin"/><Relationship Id="rId9" Type="http://schemas.openxmlformats.org/officeDocument/2006/relationships/image" Target="../media/image148.wmf"/></Relationships>
</file>

<file path=ppt/slides/_rels/slide43.xml.rels><?xml version="1.0" encoding="UTF-8" standalone="yes"?>
<Relationships xmlns="http://schemas.openxmlformats.org/package/2006/relationships"><Relationship Id="rId8" Type="http://schemas.openxmlformats.org/officeDocument/2006/relationships/image" Target="../media/image152.wmf"/><Relationship Id="rId13" Type="http://schemas.openxmlformats.org/officeDocument/2006/relationships/image" Target="../media/image154.wmf"/><Relationship Id="rId3" Type="http://schemas.openxmlformats.org/officeDocument/2006/relationships/oleObject" Target="../embeddings/oleObject124.bin"/><Relationship Id="rId7" Type="http://schemas.openxmlformats.org/officeDocument/2006/relationships/oleObject" Target="../embeddings/oleObject126.bin"/><Relationship Id="rId12" Type="http://schemas.openxmlformats.org/officeDocument/2006/relationships/oleObject" Target="../embeddings/oleObject129.bin"/><Relationship Id="rId2" Type="http://schemas.openxmlformats.org/officeDocument/2006/relationships/slideLayout" Target="../slideLayouts/slideLayout2.xml"/><Relationship Id="rId16" Type="http://schemas.openxmlformats.org/officeDocument/2006/relationships/image" Target="../media/image18.png"/><Relationship Id="rId1" Type="http://schemas.openxmlformats.org/officeDocument/2006/relationships/vmlDrawing" Target="../drawings/vmlDrawing34.vml"/><Relationship Id="rId6" Type="http://schemas.openxmlformats.org/officeDocument/2006/relationships/image" Target="../media/image151.wmf"/><Relationship Id="rId11" Type="http://schemas.openxmlformats.org/officeDocument/2006/relationships/oleObject" Target="../embeddings/oleObject128.bin"/><Relationship Id="rId5" Type="http://schemas.openxmlformats.org/officeDocument/2006/relationships/oleObject" Target="../embeddings/oleObject125.bin"/><Relationship Id="rId15" Type="http://schemas.openxmlformats.org/officeDocument/2006/relationships/image" Target="../media/image155.wmf"/><Relationship Id="rId10" Type="http://schemas.openxmlformats.org/officeDocument/2006/relationships/image" Target="../media/image153.wmf"/><Relationship Id="rId4" Type="http://schemas.openxmlformats.org/officeDocument/2006/relationships/image" Target="../media/image150.wmf"/><Relationship Id="rId9" Type="http://schemas.openxmlformats.org/officeDocument/2006/relationships/oleObject" Target="../embeddings/oleObject127.bin"/><Relationship Id="rId14" Type="http://schemas.openxmlformats.org/officeDocument/2006/relationships/oleObject" Target="../embeddings/oleObject130.bin"/></Relationships>
</file>

<file path=ppt/slides/_rels/slide44.xml.rels><?xml version="1.0" encoding="UTF-8" standalone="yes"?>
<Relationships xmlns="http://schemas.openxmlformats.org/package/2006/relationships"><Relationship Id="rId8" Type="http://schemas.openxmlformats.org/officeDocument/2006/relationships/image" Target="../media/image158.wmf"/><Relationship Id="rId13" Type="http://schemas.openxmlformats.org/officeDocument/2006/relationships/oleObject" Target="../embeddings/oleObject136.bin"/><Relationship Id="rId3" Type="http://schemas.openxmlformats.org/officeDocument/2006/relationships/oleObject" Target="../embeddings/oleObject131.bin"/><Relationship Id="rId7" Type="http://schemas.openxmlformats.org/officeDocument/2006/relationships/oleObject" Target="../embeddings/oleObject133.bin"/><Relationship Id="rId12" Type="http://schemas.openxmlformats.org/officeDocument/2006/relationships/image" Target="../media/image160.wmf"/><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157.wmf"/><Relationship Id="rId11" Type="http://schemas.openxmlformats.org/officeDocument/2006/relationships/oleObject" Target="../embeddings/oleObject135.bin"/><Relationship Id="rId5" Type="http://schemas.openxmlformats.org/officeDocument/2006/relationships/oleObject" Target="../embeddings/oleObject132.bin"/><Relationship Id="rId10" Type="http://schemas.openxmlformats.org/officeDocument/2006/relationships/image" Target="../media/image159.wmf"/><Relationship Id="rId4" Type="http://schemas.openxmlformats.org/officeDocument/2006/relationships/image" Target="../media/image156.wmf"/><Relationship Id="rId9" Type="http://schemas.openxmlformats.org/officeDocument/2006/relationships/oleObject" Target="../embeddings/oleObject134.bin"/><Relationship Id="rId14" Type="http://schemas.openxmlformats.org/officeDocument/2006/relationships/image" Target="../media/image161.wmf"/></Relationships>
</file>

<file path=ppt/slides/_rels/slide45.x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oleObject" Target="../embeddings/oleObject137.bin"/><Relationship Id="rId7" Type="http://schemas.openxmlformats.org/officeDocument/2006/relationships/oleObject" Target="../embeddings/oleObject139.bin"/><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163.wmf"/><Relationship Id="rId5" Type="http://schemas.openxmlformats.org/officeDocument/2006/relationships/oleObject" Target="../embeddings/oleObject138.bin"/><Relationship Id="rId4" Type="http://schemas.openxmlformats.org/officeDocument/2006/relationships/image" Target="../media/image162.wmf"/></Relationships>
</file>

<file path=ppt/slides/_rels/slide46.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67.w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42.bin"/><Relationship Id="rId3" Type="http://schemas.openxmlformats.org/officeDocument/2006/relationships/oleObject" Target="../embeddings/oleObject140.bin"/><Relationship Id="rId7" Type="http://schemas.openxmlformats.org/officeDocument/2006/relationships/image" Target="../media/image168.png"/><Relationship Id="rId12" Type="http://schemas.openxmlformats.org/officeDocument/2006/relationships/image" Target="../media/image172.wmf"/><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image" Target="../media/image170.wmf"/><Relationship Id="rId11" Type="http://schemas.openxmlformats.org/officeDocument/2006/relationships/oleObject" Target="../embeddings/oleObject143.bin"/><Relationship Id="rId5" Type="http://schemas.openxmlformats.org/officeDocument/2006/relationships/oleObject" Target="../embeddings/oleObject141.bin"/><Relationship Id="rId10" Type="http://schemas.openxmlformats.org/officeDocument/2006/relationships/image" Target="../media/image173.png"/><Relationship Id="rId4" Type="http://schemas.openxmlformats.org/officeDocument/2006/relationships/image" Target="../media/image169.wmf"/><Relationship Id="rId9" Type="http://schemas.openxmlformats.org/officeDocument/2006/relationships/image" Target="../media/image171.wmf"/></Relationships>
</file>

<file path=ppt/slides/_rels/slide49.xml.rels><?xml version="1.0" encoding="UTF-8" standalone="yes"?>
<Relationships xmlns="http://schemas.openxmlformats.org/package/2006/relationships"><Relationship Id="rId8" Type="http://schemas.openxmlformats.org/officeDocument/2006/relationships/image" Target="../media/image176.wmf"/><Relationship Id="rId13" Type="http://schemas.openxmlformats.org/officeDocument/2006/relationships/image" Target="../media/image179.png"/><Relationship Id="rId3" Type="http://schemas.openxmlformats.org/officeDocument/2006/relationships/oleObject" Target="../embeddings/oleObject144.bin"/><Relationship Id="rId7" Type="http://schemas.openxmlformats.org/officeDocument/2006/relationships/oleObject" Target="../embeddings/oleObject146.bin"/><Relationship Id="rId12" Type="http://schemas.openxmlformats.org/officeDocument/2006/relationships/image" Target="../media/image178.wmf"/><Relationship Id="rId2" Type="http://schemas.openxmlformats.org/officeDocument/2006/relationships/slideLayout" Target="../slideLayouts/slideLayout12.xml"/><Relationship Id="rId1" Type="http://schemas.openxmlformats.org/officeDocument/2006/relationships/vmlDrawing" Target="../drawings/vmlDrawing38.vml"/><Relationship Id="rId6" Type="http://schemas.openxmlformats.org/officeDocument/2006/relationships/image" Target="../media/image175.wmf"/><Relationship Id="rId11" Type="http://schemas.openxmlformats.org/officeDocument/2006/relationships/oleObject" Target="../embeddings/oleObject148.bin"/><Relationship Id="rId5" Type="http://schemas.openxmlformats.org/officeDocument/2006/relationships/oleObject" Target="../embeddings/oleObject145.bin"/><Relationship Id="rId10" Type="http://schemas.openxmlformats.org/officeDocument/2006/relationships/image" Target="../media/image177.wmf"/><Relationship Id="rId4" Type="http://schemas.openxmlformats.org/officeDocument/2006/relationships/image" Target="../media/image174.wmf"/><Relationship Id="rId9" Type="http://schemas.openxmlformats.org/officeDocument/2006/relationships/oleObject" Target="../embeddings/oleObject147.bin"/></Relationships>
</file>

<file path=ppt/slides/_rels/slide50.xml.rels><?xml version="1.0" encoding="UTF-8" standalone="yes"?>
<Relationships xmlns="http://schemas.openxmlformats.org/package/2006/relationships"><Relationship Id="rId8" Type="http://schemas.openxmlformats.org/officeDocument/2006/relationships/image" Target="../media/image182.wmf"/><Relationship Id="rId13" Type="http://schemas.openxmlformats.org/officeDocument/2006/relationships/oleObject" Target="../embeddings/oleObject154.bin"/><Relationship Id="rId3" Type="http://schemas.openxmlformats.org/officeDocument/2006/relationships/oleObject" Target="../embeddings/oleObject149.bin"/><Relationship Id="rId7" Type="http://schemas.openxmlformats.org/officeDocument/2006/relationships/oleObject" Target="../embeddings/oleObject151.bin"/><Relationship Id="rId12" Type="http://schemas.openxmlformats.org/officeDocument/2006/relationships/image" Target="../media/image184.wmf"/><Relationship Id="rId2" Type="http://schemas.openxmlformats.org/officeDocument/2006/relationships/slideLayout" Target="../slideLayouts/slideLayout12.xml"/><Relationship Id="rId1" Type="http://schemas.openxmlformats.org/officeDocument/2006/relationships/vmlDrawing" Target="../drawings/vmlDrawing39.vml"/><Relationship Id="rId6" Type="http://schemas.openxmlformats.org/officeDocument/2006/relationships/image" Target="../media/image181.wmf"/><Relationship Id="rId11" Type="http://schemas.openxmlformats.org/officeDocument/2006/relationships/oleObject" Target="../embeddings/oleObject153.bin"/><Relationship Id="rId5" Type="http://schemas.openxmlformats.org/officeDocument/2006/relationships/oleObject" Target="../embeddings/oleObject150.bin"/><Relationship Id="rId10" Type="http://schemas.openxmlformats.org/officeDocument/2006/relationships/image" Target="../media/image183.wmf"/><Relationship Id="rId4" Type="http://schemas.openxmlformats.org/officeDocument/2006/relationships/image" Target="../media/image180.wmf"/><Relationship Id="rId9" Type="http://schemas.openxmlformats.org/officeDocument/2006/relationships/oleObject" Target="../embeddings/oleObject152.bin"/><Relationship Id="rId14" Type="http://schemas.openxmlformats.org/officeDocument/2006/relationships/image" Target="../media/image185.wmf"/></Relationships>
</file>

<file path=ppt/slides/_rels/slide51.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image" Target="../media/image189.png"/><Relationship Id="rId4" Type="http://schemas.openxmlformats.org/officeDocument/2006/relationships/image" Target="../media/image188.png"/></Relationships>
</file>

<file path=ppt/slides/_rels/slide52.xml.rels><?xml version="1.0" encoding="UTF-8" standalone="yes"?>
<Relationships xmlns="http://schemas.openxmlformats.org/package/2006/relationships"><Relationship Id="rId8" Type="http://schemas.openxmlformats.org/officeDocument/2006/relationships/image" Target="../media/image191.wmf"/><Relationship Id="rId3" Type="http://schemas.openxmlformats.org/officeDocument/2006/relationships/image" Target="../media/image192.png"/><Relationship Id="rId7" Type="http://schemas.openxmlformats.org/officeDocument/2006/relationships/oleObject" Target="../embeddings/oleObject155.bin"/><Relationship Id="rId2" Type="http://schemas.openxmlformats.org/officeDocument/2006/relationships/slideLayout" Target="../slideLayouts/slideLayout12.xml"/><Relationship Id="rId1" Type="http://schemas.openxmlformats.org/officeDocument/2006/relationships/vmlDrawing" Target="../drawings/vmlDrawing40.vml"/><Relationship Id="rId6" Type="http://schemas.openxmlformats.org/officeDocument/2006/relationships/image" Target="../media/image194.png"/><Relationship Id="rId5" Type="http://schemas.openxmlformats.org/officeDocument/2006/relationships/image" Target="../media/image193.png"/><Relationship Id="rId4" Type="http://schemas.openxmlformats.org/officeDocument/2006/relationships/image" Target="../media/image190.png"/></Relationships>
</file>

<file path=ppt/slides/_rels/slide53.xml.rels><?xml version="1.0" encoding="UTF-8" standalone="yes"?>
<Relationships xmlns="http://schemas.openxmlformats.org/package/2006/relationships"><Relationship Id="rId8" Type="http://schemas.openxmlformats.org/officeDocument/2006/relationships/image" Target="../media/image196.wmf"/><Relationship Id="rId3" Type="http://schemas.openxmlformats.org/officeDocument/2006/relationships/image" Target="../media/image198.png"/><Relationship Id="rId7" Type="http://schemas.openxmlformats.org/officeDocument/2006/relationships/oleObject" Target="../embeddings/oleObject157.bin"/><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image" Target="../media/image195.wmf"/><Relationship Id="rId5" Type="http://schemas.openxmlformats.org/officeDocument/2006/relationships/oleObject" Target="../embeddings/oleObject156.bin"/><Relationship Id="rId10" Type="http://schemas.openxmlformats.org/officeDocument/2006/relationships/image" Target="../media/image197.wmf"/><Relationship Id="rId4" Type="http://schemas.openxmlformats.org/officeDocument/2006/relationships/image" Target="../media/image199.png"/><Relationship Id="rId9" Type="http://schemas.openxmlformats.org/officeDocument/2006/relationships/oleObject" Target="../embeddings/oleObject158.bin"/></Relationships>
</file>

<file path=ppt/slides/_rels/slide54.xml.rels><?xml version="1.0" encoding="UTF-8" standalone="yes"?>
<Relationships xmlns="http://schemas.openxmlformats.org/package/2006/relationships"><Relationship Id="rId8" Type="http://schemas.openxmlformats.org/officeDocument/2006/relationships/image" Target="../media/image201.wmf"/><Relationship Id="rId3" Type="http://schemas.openxmlformats.org/officeDocument/2006/relationships/image" Target="../media/image202.png"/><Relationship Id="rId7" Type="http://schemas.openxmlformats.org/officeDocument/2006/relationships/oleObject" Target="../embeddings/oleObject160.bin"/><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image" Target="../media/image200.wmf"/><Relationship Id="rId5" Type="http://schemas.openxmlformats.org/officeDocument/2006/relationships/oleObject" Target="../embeddings/oleObject159.bin"/><Relationship Id="rId4" Type="http://schemas.openxmlformats.org/officeDocument/2006/relationships/image" Target="../media/image203.png"/></Relationships>
</file>

<file path=ppt/slides/_rels/slide55.x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image" Target="../media/image206.png"/><Relationship Id="rId7" Type="http://schemas.openxmlformats.org/officeDocument/2006/relationships/oleObject" Target="../embeddings/oleObject162.bin"/><Relationship Id="rId2" Type="http://schemas.openxmlformats.org/officeDocument/2006/relationships/slideLayout" Target="../slideLayouts/slideLayout2.xml"/><Relationship Id="rId1" Type="http://schemas.openxmlformats.org/officeDocument/2006/relationships/vmlDrawing" Target="../drawings/vmlDrawing43.vml"/><Relationship Id="rId6" Type="http://schemas.openxmlformats.org/officeDocument/2006/relationships/image" Target="../media/image207.png"/><Relationship Id="rId5" Type="http://schemas.openxmlformats.org/officeDocument/2006/relationships/image" Target="../media/image204.wmf"/><Relationship Id="rId4" Type="http://schemas.openxmlformats.org/officeDocument/2006/relationships/oleObject" Target="../embeddings/oleObject161.bin"/></Relationships>
</file>

<file path=ppt/slides/_rels/slide56.xml.rels><?xml version="1.0" encoding="UTF-8" standalone="yes"?>
<Relationships xmlns="http://schemas.openxmlformats.org/package/2006/relationships"><Relationship Id="rId8" Type="http://schemas.openxmlformats.org/officeDocument/2006/relationships/image" Target="../media/image209.wmf"/><Relationship Id="rId3" Type="http://schemas.openxmlformats.org/officeDocument/2006/relationships/oleObject" Target="../embeddings/oleObject163.bin"/><Relationship Id="rId7" Type="http://schemas.openxmlformats.org/officeDocument/2006/relationships/oleObject" Target="../embeddings/oleObject164.bin"/><Relationship Id="rId12" Type="http://schemas.openxmlformats.org/officeDocument/2006/relationships/image" Target="../media/image211.wmf"/><Relationship Id="rId2" Type="http://schemas.openxmlformats.org/officeDocument/2006/relationships/slideLayout" Target="../slideLayouts/slideLayout2.xml"/><Relationship Id="rId1" Type="http://schemas.openxmlformats.org/officeDocument/2006/relationships/vmlDrawing" Target="../drawings/vmlDrawing44.vml"/><Relationship Id="rId6" Type="http://schemas.openxmlformats.org/officeDocument/2006/relationships/image" Target="../media/image213.png"/><Relationship Id="rId11" Type="http://schemas.openxmlformats.org/officeDocument/2006/relationships/oleObject" Target="../embeddings/oleObject166.bin"/><Relationship Id="rId5" Type="http://schemas.openxmlformats.org/officeDocument/2006/relationships/image" Target="../media/image212.png"/><Relationship Id="rId10" Type="http://schemas.openxmlformats.org/officeDocument/2006/relationships/image" Target="../media/image210.wmf"/><Relationship Id="rId4" Type="http://schemas.openxmlformats.org/officeDocument/2006/relationships/image" Target="../media/image208.wmf"/><Relationship Id="rId9" Type="http://schemas.openxmlformats.org/officeDocument/2006/relationships/oleObject" Target="../embeddings/oleObject165.bin"/></Relationships>
</file>

<file path=ppt/slides/_rels/slide57.xml.rels><?xml version="1.0" encoding="UTF-8" standalone="yes"?>
<Relationships xmlns="http://schemas.openxmlformats.org/package/2006/relationships"><Relationship Id="rId8" Type="http://schemas.openxmlformats.org/officeDocument/2006/relationships/image" Target="../media/image216.wmf"/><Relationship Id="rId13" Type="http://schemas.openxmlformats.org/officeDocument/2006/relationships/oleObject" Target="../embeddings/oleObject172.bin"/><Relationship Id="rId18" Type="http://schemas.openxmlformats.org/officeDocument/2006/relationships/image" Target="../media/image221.wmf"/><Relationship Id="rId3" Type="http://schemas.openxmlformats.org/officeDocument/2006/relationships/oleObject" Target="../embeddings/oleObject167.bin"/><Relationship Id="rId7" Type="http://schemas.openxmlformats.org/officeDocument/2006/relationships/oleObject" Target="../embeddings/oleObject169.bin"/><Relationship Id="rId12" Type="http://schemas.openxmlformats.org/officeDocument/2006/relationships/image" Target="../media/image218.wmf"/><Relationship Id="rId17" Type="http://schemas.openxmlformats.org/officeDocument/2006/relationships/oleObject" Target="../embeddings/oleObject174.bin"/><Relationship Id="rId2" Type="http://schemas.openxmlformats.org/officeDocument/2006/relationships/slideLayout" Target="../slideLayouts/slideLayout2.xml"/><Relationship Id="rId16" Type="http://schemas.openxmlformats.org/officeDocument/2006/relationships/image" Target="../media/image220.wmf"/><Relationship Id="rId1" Type="http://schemas.openxmlformats.org/officeDocument/2006/relationships/vmlDrawing" Target="../drawings/vmlDrawing45.vml"/><Relationship Id="rId6" Type="http://schemas.openxmlformats.org/officeDocument/2006/relationships/image" Target="../media/image215.wmf"/><Relationship Id="rId11" Type="http://schemas.openxmlformats.org/officeDocument/2006/relationships/oleObject" Target="../embeddings/oleObject171.bin"/><Relationship Id="rId5" Type="http://schemas.openxmlformats.org/officeDocument/2006/relationships/oleObject" Target="../embeddings/oleObject168.bin"/><Relationship Id="rId15" Type="http://schemas.openxmlformats.org/officeDocument/2006/relationships/oleObject" Target="../embeddings/oleObject173.bin"/><Relationship Id="rId10" Type="http://schemas.openxmlformats.org/officeDocument/2006/relationships/image" Target="../media/image217.wmf"/><Relationship Id="rId19" Type="http://schemas.openxmlformats.org/officeDocument/2006/relationships/image" Target="../media/image213.png"/><Relationship Id="rId4" Type="http://schemas.openxmlformats.org/officeDocument/2006/relationships/image" Target="../media/image214.wmf"/><Relationship Id="rId9" Type="http://schemas.openxmlformats.org/officeDocument/2006/relationships/oleObject" Target="../embeddings/oleObject170.bin"/><Relationship Id="rId14" Type="http://schemas.openxmlformats.org/officeDocument/2006/relationships/image" Target="../media/image219.wmf"/></Relationships>
</file>

<file path=ppt/slides/_rels/slide58.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2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6.png"/><Relationship Id="rId7" Type="http://schemas.openxmlformats.org/officeDocument/2006/relationships/image" Target="../media/image225.wmf"/><Relationship Id="rId2" Type="http://schemas.openxmlformats.org/officeDocument/2006/relationships/slideLayout" Target="../slideLayouts/slideLayout2.xml"/><Relationship Id="rId1" Type="http://schemas.openxmlformats.org/officeDocument/2006/relationships/vmlDrawing" Target="../drawings/vmlDrawing46.vml"/><Relationship Id="rId6" Type="http://schemas.openxmlformats.org/officeDocument/2006/relationships/oleObject" Target="../embeddings/oleObject176.bin"/><Relationship Id="rId5" Type="http://schemas.openxmlformats.org/officeDocument/2006/relationships/image" Target="../media/image224.wmf"/><Relationship Id="rId4" Type="http://schemas.openxmlformats.org/officeDocument/2006/relationships/oleObject" Target="../embeddings/oleObject175.bin"/></Relationships>
</file>

<file path=ppt/slides/_rels/slide60.xml.rels><?xml version="1.0" encoding="UTF-8" standalone="yes"?>
<Relationships xmlns="http://schemas.openxmlformats.org/package/2006/relationships"><Relationship Id="rId8" Type="http://schemas.openxmlformats.org/officeDocument/2006/relationships/image" Target="../media/image229.wmf"/><Relationship Id="rId13" Type="http://schemas.openxmlformats.org/officeDocument/2006/relationships/oleObject" Target="../embeddings/oleObject182.bin"/><Relationship Id="rId18" Type="http://schemas.openxmlformats.org/officeDocument/2006/relationships/oleObject" Target="../embeddings/oleObject184.bin"/><Relationship Id="rId3" Type="http://schemas.openxmlformats.org/officeDocument/2006/relationships/oleObject" Target="../embeddings/oleObject177.bin"/><Relationship Id="rId7" Type="http://schemas.openxmlformats.org/officeDocument/2006/relationships/oleObject" Target="../embeddings/oleObject179.bin"/><Relationship Id="rId12" Type="http://schemas.openxmlformats.org/officeDocument/2006/relationships/image" Target="../media/image231.wmf"/><Relationship Id="rId17" Type="http://schemas.openxmlformats.org/officeDocument/2006/relationships/image" Target="../media/image233.wmf"/><Relationship Id="rId2" Type="http://schemas.openxmlformats.org/officeDocument/2006/relationships/slideLayout" Target="../slideLayouts/slideLayout2.xml"/><Relationship Id="rId16" Type="http://schemas.openxmlformats.org/officeDocument/2006/relationships/oleObject" Target="../embeddings/oleObject183.bin"/><Relationship Id="rId1" Type="http://schemas.openxmlformats.org/officeDocument/2006/relationships/vmlDrawing" Target="../drawings/vmlDrawing47.vml"/><Relationship Id="rId6" Type="http://schemas.openxmlformats.org/officeDocument/2006/relationships/image" Target="../media/image228.wmf"/><Relationship Id="rId11" Type="http://schemas.openxmlformats.org/officeDocument/2006/relationships/oleObject" Target="../embeddings/oleObject181.bin"/><Relationship Id="rId5" Type="http://schemas.openxmlformats.org/officeDocument/2006/relationships/oleObject" Target="../embeddings/oleObject178.bin"/><Relationship Id="rId15" Type="http://schemas.openxmlformats.org/officeDocument/2006/relationships/image" Target="../media/image235.png"/><Relationship Id="rId10" Type="http://schemas.openxmlformats.org/officeDocument/2006/relationships/image" Target="../media/image230.wmf"/><Relationship Id="rId19" Type="http://schemas.openxmlformats.org/officeDocument/2006/relationships/image" Target="../media/image234.wmf"/><Relationship Id="rId4" Type="http://schemas.openxmlformats.org/officeDocument/2006/relationships/image" Target="../media/image227.wmf"/><Relationship Id="rId9" Type="http://schemas.openxmlformats.org/officeDocument/2006/relationships/oleObject" Target="../embeddings/oleObject180.bin"/><Relationship Id="rId14" Type="http://schemas.openxmlformats.org/officeDocument/2006/relationships/image" Target="../media/image232.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85.bin"/><Relationship Id="rId7" Type="http://schemas.openxmlformats.org/officeDocument/2006/relationships/image" Target="../media/image238.png"/><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image" Target="../media/image237.wmf"/><Relationship Id="rId5" Type="http://schemas.openxmlformats.org/officeDocument/2006/relationships/oleObject" Target="../embeddings/oleObject186.bin"/><Relationship Id="rId4" Type="http://schemas.openxmlformats.org/officeDocument/2006/relationships/image" Target="../media/image236.wmf"/></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89.bin"/><Relationship Id="rId3" Type="http://schemas.openxmlformats.org/officeDocument/2006/relationships/image" Target="../media/image238.png"/><Relationship Id="rId7" Type="http://schemas.openxmlformats.org/officeDocument/2006/relationships/image" Target="../media/image240.wmf"/><Relationship Id="rId2" Type="http://schemas.openxmlformats.org/officeDocument/2006/relationships/slideLayout" Target="../slideLayouts/slideLayout2.xml"/><Relationship Id="rId1" Type="http://schemas.openxmlformats.org/officeDocument/2006/relationships/vmlDrawing" Target="../drawings/vmlDrawing49.vml"/><Relationship Id="rId6" Type="http://schemas.openxmlformats.org/officeDocument/2006/relationships/oleObject" Target="../embeddings/oleObject188.bin"/><Relationship Id="rId5" Type="http://schemas.openxmlformats.org/officeDocument/2006/relationships/image" Target="../media/image239.wmf"/><Relationship Id="rId4" Type="http://schemas.openxmlformats.org/officeDocument/2006/relationships/oleObject" Target="../embeddings/oleObject187.bin"/><Relationship Id="rId9" Type="http://schemas.openxmlformats.org/officeDocument/2006/relationships/image" Target="../media/image241.wmf"/></Relationships>
</file>

<file path=ppt/slides/_rels/slide63.xml.rels><?xml version="1.0" encoding="UTF-8" standalone="yes"?>
<Relationships xmlns="http://schemas.openxmlformats.org/package/2006/relationships"><Relationship Id="rId8" Type="http://schemas.openxmlformats.org/officeDocument/2006/relationships/image" Target="../media/image241.wmf"/><Relationship Id="rId3" Type="http://schemas.openxmlformats.org/officeDocument/2006/relationships/oleObject" Target="../embeddings/oleObject190.bin"/><Relationship Id="rId7" Type="http://schemas.openxmlformats.org/officeDocument/2006/relationships/oleObject" Target="../embeddings/oleObject192.bin"/><Relationship Id="rId2" Type="http://schemas.openxmlformats.org/officeDocument/2006/relationships/slideLayout" Target="../slideLayouts/slideLayout2.xml"/><Relationship Id="rId1" Type="http://schemas.openxmlformats.org/officeDocument/2006/relationships/vmlDrawing" Target="../drawings/vmlDrawing50.vml"/><Relationship Id="rId6" Type="http://schemas.openxmlformats.org/officeDocument/2006/relationships/image" Target="../media/image243.wmf"/><Relationship Id="rId11" Type="http://schemas.openxmlformats.org/officeDocument/2006/relationships/image" Target="../media/image244.wmf"/><Relationship Id="rId5" Type="http://schemas.openxmlformats.org/officeDocument/2006/relationships/oleObject" Target="../embeddings/oleObject191.bin"/><Relationship Id="rId10" Type="http://schemas.openxmlformats.org/officeDocument/2006/relationships/oleObject" Target="../embeddings/oleObject193.bin"/><Relationship Id="rId4" Type="http://schemas.openxmlformats.org/officeDocument/2006/relationships/image" Target="../media/image242.wmf"/><Relationship Id="rId9" Type="http://schemas.openxmlformats.org/officeDocument/2006/relationships/image" Target="../media/image245.png"/></Relationships>
</file>

<file path=ppt/slides/_rels/slide64.xml.rels><?xml version="1.0" encoding="UTF-8" standalone="yes"?>
<Relationships xmlns="http://schemas.openxmlformats.org/package/2006/relationships"><Relationship Id="rId8" Type="http://schemas.openxmlformats.org/officeDocument/2006/relationships/image" Target="../media/image246.wmf"/><Relationship Id="rId3" Type="http://schemas.openxmlformats.org/officeDocument/2006/relationships/oleObject" Target="../embeddings/oleObject194.bin"/><Relationship Id="rId7" Type="http://schemas.openxmlformats.org/officeDocument/2006/relationships/oleObject" Target="../embeddings/oleObject196.bin"/><Relationship Id="rId12" Type="http://schemas.openxmlformats.org/officeDocument/2006/relationships/image" Target="../media/image248.wmf"/><Relationship Id="rId2" Type="http://schemas.openxmlformats.org/officeDocument/2006/relationships/slideLayout" Target="../slideLayouts/slideLayout2.xml"/><Relationship Id="rId1" Type="http://schemas.openxmlformats.org/officeDocument/2006/relationships/vmlDrawing" Target="../drawings/vmlDrawing51.vml"/><Relationship Id="rId6" Type="http://schemas.openxmlformats.org/officeDocument/2006/relationships/image" Target="../media/image243.wmf"/><Relationship Id="rId11" Type="http://schemas.openxmlformats.org/officeDocument/2006/relationships/oleObject" Target="../embeddings/oleObject198.bin"/><Relationship Id="rId5" Type="http://schemas.openxmlformats.org/officeDocument/2006/relationships/oleObject" Target="../embeddings/oleObject195.bin"/><Relationship Id="rId10" Type="http://schemas.openxmlformats.org/officeDocument/2006/relationships/image" Target="../media/image247.wmf"/><Relationship Id="rId4" Type="http://schemas.openxmlformats.org/officeDocument/2006/relationships/image" Target="../media/image242.wmf"/><Relationship Id="rId9" Type="http://schemas.openxmlformats.org/officeDocument/2006/relationships/oleObject" Target="../embeddings/oleObject197.bin"/></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99.bin"/><Relationship Id="rId2" Type="http://schemas.openxmlformats.org/officeDocument/2006/relationships/slideLayout" Target="../slideLayouts/slideLayout2.xml"/><Relationship Id="rId1" Type="http://schemas.openxmlformats.org/officeDocument/2006/relationships/vmlDrawing" Target="../drawings/vmlDrawing52.vml"/><Relationship Id="rId6" Type="http://schemas.openxmlformats.org/officeDocument/2006/relationships/image" Target="../media/image247.wmf"/><Relationship Id="rId5" Type="http://schemas.openxmlformats.org/officeDocument/2006/relationships/oleObject" Target="../embeddings/oleObject200.bin"/><Relationship Id="rId4" Type="http://schemas.openxmlformats.org/officeDocument/2006/relationships/image" Target="../media/image249.w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201.bin"/><Relationship Id="rId7"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53.vml"/><Relationship Id="rId6" Type="http://schemas.openxmlformats.org/officeDocument/2006/relationships/image" Target="../media/image251.wmf"/><Relationship Id="rId5" Type="http://schemas.openxmlformats.org/officeDocument/2006/relationships/oleObject" Target="../embeddings/oleObject202.bin"/><Relationship Id="rId4" Type="http://schemas.openxmlformats.org/officeDocument/2006/relationships/image" Target="../media/image25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idx="4294967295"/>
          </p:nvPr>
        </p:nvSpPr>
        <p:spPr>
          <a:xfrm>
            <a:off x="203200" y="576263"/>
            <a:ext cx="8766175" cy="914400"/>
          </a:xfrm>
          <a:gradFill rotWithShape="0">
            <a:gsLst>
              <a:gs pos="0">
                <a:srgbClr val="FFFFFF"/>
              </a:gs>
              <a:gs pos="100000">
                <a:srgbClr val="FFFFFF">
                  <a:gamma/>
                  <a:shade val="46275"/>
                  <a:invGamma/>
                </a:srgbClr>
              </a:gs>
            </a:gsLst>
            <a:lin ang="5400000" scaled="1"/>
          </a:gradFill>
          <a:effectLst>
            <a:prstShdw prst="shdw17" dist="17961" dir="2700000">
              <a:srgbClr val="FFFFFF">
                <a:gamma/>
                <a:shade val="60000"/>
                <a:invGamma/>
              </a:srgbClr>
            </a:prstShdw>
          </a:effectLst>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pPr eaLnBrk="1" hangingPunct="1">
              <a:defRPr/>
            </a:pPr>
            <a:r>
              <a:rPr lang="zh-CN" altLang="en-US" b="1" dirty="0" smtClean="0">
                <a:solidFill>
                  <a:srgbClr val="FF0000"/>
                </a:solidFill>
                <a:effectLst>
                  <a:outerShdw blurRad="38100" dist="38100" dir="2700000" algn="tl">
                    <a:srgbClr val="C0C0C0"/>
                  </a:outerShdw>
                </a:effectLst>
                <a:latin typeface="隶书" pitchFamily="49" charset="-122"/>
                <a:ea typeface="隶书" pitchFamily="49" charset="-122"/>
              </a:rPr>
              <a:t>第十章  频率响应</a:t>
            </a:r>
          </a:p>
        </p:txBody>
      </p:sp>
      <p:sp>
        <p:nvSpPr>
          <p:cNvPr id="2051" name="Text Box 3" descr="蓝色砂纸">
            <a:hlinkClick r:id="rId2" action="ppaction://hlinksldjump"/>
          </p:cNvPr>
          <p:cNvSpPr txBox="1">
            <a:spLocks noChangeArrowheads="1"/>
          </p:cNvSpPr>
          <p:nvPr/>
        </p:nvSpPr>
        <p:spPr bwMode="auto">
          <a:xfrm>
            <a:off x="1741488" y="2040526"/>
            <a:ext cx="5232400" cy="579438"/>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zh-CN" altLang="en-US" sz="3200" dirty="0">
                <a:solidFill>
                  <a:schemeClr val="tx2"/>
                </a:solidFill>
                <a:latin typeface="楷体_GB2312" pitchFamily="49" charset="-122"/>
                <a:ea typeface="楷体_GB2312" pitchFamily="49" charset="-122"/>
              </a:rPr>
              <a:t>传输函数和波特图</a:t>
            </a:r>
          </a:p>
        </p:txBody>
      </p:sp>
      <p:sp>
        <p:nvSpPr>
          <p:cNvPr id="2053" name="Text Box 7" descr="蓝色砂纸">
            <a:hlinkClick r:id="rId2" action="ppaction://hlinksldjump"/>
          </p:cNvPr>
          <p:cNvSpPr txBox="1">
            <a:spLocks noChangeArrowheads="1"/>
          </p:cNvSpPr>
          <p:nvPr/>
        </p:nvSpPr>
        <p:spPr bwMode="auto">
          <a:xfrm>
            <a:off x="1739900" y="2927607"/>
            <a:ext cx="5232400" cy="579437"/>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zh-CN" altLang="en-US" sz="3200" dirty="0" smtClean="0">
                <a:solidFill>
                  <a:schemeClr val="tx2"/>
                </a:solidFill>
                <a:latin typeface="楷体_GB2312" pitchFamily="49" charset="-122"/>
                <a:ea typeface="楷体_GB2312" pitchFamily="49" charset="-122"/>
              </a:rPr>
              <a:t>滤波器</a:t>
            </a:r>
            <a:r>
              <a:rPr lang="zh-CN" altLang="en-US" sz="3200" dirty="0">
                <a:solidFill>
                  <a:schemeClr val="tx2"/>
                </a:solidFill>
                <a:latin typeface="楷体_GB2312" pitchFamily="49" charset="-122"/>
                <a:ea typeface="楷体_GB2312" pitchFamily="49" charset="-122"/>
              </a:rPr>
              <a:t>及其频率响应</a:t>
            </a:r>
          </a:p>
        </p:txBody>
      </p:sp>
      <p:sp>
        <p:nvSpPr>
          <p:cNvPr id="6" name="Text Box 3" descr="蓝色砂纸">
            <a:hlinkClick r:id="rId2" action="ppaction://hlinksldjump"/>
          </p:cNvPr>
          <p:cNvSpPr txBox="1">
            <a:spLocks noChangeArrowheads="1"/>
          </p:cNvSpPr>
          <p:nvPr/>
        </p:nvSpPr>
        <p:spPr bwMode="auto">
          <a:xfrm>
            <a:off x="1741488" y="3814687"/>
            <a:ext cx="5232400" cy="579438"/>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zh-CN" altLang="en-US" sz="3200" dirty="0">
                <a:solidFill>
                  <a:schemeClr val="tx2"/>
                </a:solidFill>
                <a:latin typeface="楷体_GB2312" pitchFamily="49" charset="-122"/>
                <a:ea typeface="楷体_GB2312" pitchFamily="49" charset="-122"/>
              </a:rPr>
              <a:t>放大器频率响应基础</a:t>
            </a:r>
          </a:p>
        </p:txBody>
      </p:sp>
      <p:sp>
        <p:nvSpPr>
          <p:cNvPr id="7" name="Rectangle 4" descr="蓝色砂纸">
            <a:hlinkClick r:id="rId4" action="ppaction://hlinksldjump"/>
          </p:cNvPr>
          <p:cNvSpPr>
            <a:spLocks noChangeArrowheads="1"/>
          </p:cNvSpPr>
          <p:nvPr/>
        </p:nvSpPr>
        <p:spPr bwMode="auto">
          <a:xfrm>
            <a:off x="1739900" y="5588848"/>
            <a:ext cx="5270500" cy="579438"/>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zh-CN" altLang="en-US" sz="3200" dirty="0">
                <a:solidFill>
                  <a:schemeClr val="tx2"/>
                </a:solidFill>
                <a:latin typeface="楷体_GB2312" pitchFamily="49" charset="-122"/>
                <a:ea typeface="楷体_GB2312" pitchFamily="49" charset="-122"/>
              </a:rPr>
              <a:t>放大器的高频响应</a:t>
            </a:r>
          </a:p>
        </p:txBody>
      </p:sp>
      <p:sp>
        <p:nvSpPr>
          <p:cNvPr id="8" name="Text Box 7" descr="蓝色砂纸">
            <a:hlinkClick r:id="rId2" action="ppaction://hlinksldjump"/>
          </p:cNvPr>
          <p:cNvSpPr txBox="1">
            <a:spLocks noChangeArrowheads="1"/>
          </p:cNvSpPr>
          <p:nvPr/>
        </p:nvSpPr>
        <p:spPr bwMode="auto">
          <a:xfrm>
            <a:off x="1739900" y="4701768"/>
            <a:ext cx="5232400" cy="579437"/>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zh-CN" altLang="en-US" sz="3200" dirty="0">
                <a:solidFill>
                  <a:schemeClr val="tx2"/>
                </a:solidFill>
                <a:latin typeface="楷体_GB2312" pitchFamily="49" charset="-122"/>
                <a:ea typeface="楷体_GB2312" pitchFamily="49" charset="-122"/>
              </a:rPr>
              <a:t>放大器的低频响应</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341313" y="655638"/>
            <a:ext cx="7515225" cy="519112"/>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en-US" altLang="zh-CN" sz="2800" dirty="0" smtClean="0">
                <a:solidFill>
                  <a:schemeClr val="tx2"/>
                </a:solidFill>
              </a:rPr>
              <a:t>10.1  </a:t>
            </a:r>
            <a:r>
              <a:rPr lang="zh-CN" altLang="en-US" sz="2800" dirty="0" smtClean="0">
                <a:solidFill>
                  <a:schemeClr val="tx2"/>
                </a:solidFill>
              </a:rPr>
              <a:t>传递函数</a:t>
            </a:r>
            <a:r>
              <a:rPr lang="zh-CN" altLang="en-US" sz="2800" dirty="0">
                <a:solidFill>
                  <a:schemeClr val="tx2"/>
                </a:solidFill>
              </a:rPr>
              <a:t>和波特图</a:t>
            </a:r>
          </a:p>
        </p:txBody>
      </p:sp>
      <p:sp>
        <p:nvSpPr>
          <p:cNvPr id="660484" name="Text Box 4"/>
          <p:cNvSpPr txBox="1">
            <a:spLocks noChangeArrowheads="1"/>
          </p:cNvSpPr>
          <p:nvPr/>
        </p:nvSpPr>
        <p:spPr bwMode="auto">
          <a:xfrm>
            <a:off x="844550" y="2079625"/>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dirty="0" smtClean="0">
                <a:solidFill>
                  <a:srgbClr val="A50021"/>
                </a:solidFill>
              </a:rPr>
              <a:t>一</a:t>
            </a:r>
            <a:r>
              <a:rPr lang="zh-CN" altLang="en-US" dirty="0">
                <a:solidFill>
                  <a:srgbClr val="A50021"/>
                </a:solidFill>
              </a:rPr>
              <a:t>、电路的频率响应</a:t>
            </a:r>
          </a:p>
        </p:txBody>
      </p:sp>
      <p:sp>
        <p:nvSpPr>
          <p:cNvPr id="660485" name="Text Box 5"/>
          <p:cNvSpPr txBox="1">
            <a:spLocks noChangeArrowheads="1"/>
          </p:cNvSpPr>
          <p:nvPr/>
        </p:nvSpPr>
        <p:spPr bwMode="auto">
          <a:xfrm>
            <a:off x="528638" y="1509713"/>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10.1.1 </a:t>
            </a:r>
            <a:r>
              <a:rPr lang="zh-CN" altLang="en-US" dirty="0" smtClean="0">
                <a:solidFill>
                  <a:srgbClr val="990033"/>
                </a:solidFill>
              </a:rPr>
              <a:t>电路</a:t>
            </a:r>
            <a:r>
              <a:rPr lang="zh-CN" altLang="en-US" dirty="0">
                <a:solidFill>
                  <a:srgbClr val="990033"/>
                </a:solidFill>
              </a:rPr>
              <a:t>的传递函数</a:t>
            </a:r>
            <a:endParaRPr lang="zh-CN" altLang="en-US" dirty="0">
              <a:solidFill>
                <a:srgbClr val="A50021"/>
              </a:solidFill>
            </a:endParaRPr>
          </a:p>
        </p:txBody>
      </p:sp>
      <p:sp>
        <p:nvSpPr>
          <p:cNvPr id="14" name="Text Box 19"/>
          <p:cNvSpPr txBox="1">
            <a:spLocks noChangeArrowheads="1"/>
          </p:cNvSpPr>
          <p:nvPr/>
        </p:nvSpPr>
        <p:spPr bwMode="auto">
          <a:xfrm>
            <a:off x="1352550" y="2768600"/>
            <a:ext cx="69088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Char char="l"/>
            </a:pPr>
            <a:r>
              <a:rPr lang="en-US" altLang="zh-CN" sz="2000" dirty="0"/>
              <a:t>  </a:t>
            </a:r>
            <a:r>
              <a:rPr lang="zh-CN" altLang="en-US" sz="2000" dirty="0"/>
              <a:t>信号频率对放大器放大倍数的影响。</a:t>
            </a:r>
          </a:p>
          <a:p>
            <a:pPr algn="l" eaLnBrk="1" hangingPunct="1">
              <a:lnSpc>
                <a:spcPct val="130000"/>
              </a:lnSpc>
              <a:spcBef>
                <a:spcPct val="50000"/>
              </a:spcBef>
              <a:buClr>
                <a:srgbClr val="FF0000"/>
              </a:buClr>
              <a:buFont typeface="Wingdings" pitchFamily="2" charset="2"/>
              <a:buChar char="l"/>
            </a:pPr>
            <a:r>
              <a:rPr lang="zh-CN" altLang="en-US" sz="2000" dirty="0"/>
              <a:t>  由于耦合电容、旁路电容、半导体器件极间电容的存在，使放大倍数为频率的函数。</a:t>
            </a:r>
          </a:p>
          <a:p>
            <a:pPr algn="l" eaLnBrk="1" hangingPunct="1">
              <a:lnSpc>
                <a:spcPct val="130000"/>
              </a:lnSpc>
              <a:spcBef>
                <a:spcPct val="50000"/>
              </a:spcBef>
              <a:buClr>
                <a:srgbClr val="FF0000"/>
              </a:buClr>
              <a:buFont typeface="Wingdings" pitchFamily="2" charset="2"/>
              <a:buChar char="l"/>
            </a:pPr>
            <a:r>
              <a:rPr lang="zh-CN" altLang="en-US" sz="2000" dirty="0"/>
              <a:t>  在使用放大电路时，应了解其信号频率的适用范围。</a:t>
            </a:r>
          </a:p>
          <a:p>
            <a:pPr algn="l" eaLnBrk="1" hangingPunct="1">
              <a:lnSpc>
                <a:spcPct val="130000"/>
              </a:lnSpc>
              <a:spcBef>
                <a:spcPct val="50000"/>
              </a:spcBef>
              <a:buClr>
                <a:srgbClr val="FF0000"/>
              </a:buClr>
              <a:buFont typeface="Wingdings" pitchFamily="2" charset="2"/>
              <a:buChar char="l"/>
            </a:pPr>
            <a:r>
              <a:rPr lang="zh-CN" altLang="en-US" sz="2000" dirty="0"/>
              <a:t>  在设计放大电路时，应满足信号频率的范围要求。</a:t>
            </a:r>
          </a:p>
        </p:txBody>
      </p:sp>
    </p:spTree>
    <p:extLst>
      <p:ext uri="{BB962C8B-B14F-4D97-AF65-F5344CB8AC3E}">
        <p14:creationId xmlns:p14="http://schemas.microsoft.com/office/powerpoint/2010/main" val="14873293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60485">
                                            <p:txEl>
                                              <p:pRg st="0" end="0"/>
                                            </p:txEl>
                                          </p:spTgt>
                                        </p:tgtEl>
                                        <p:attrNameLst>
                                          <p:attrName>style.visibility</p:attrName>
                                        </p:attrNameLst>
                                      </p:cBhvr>
                                      <p:to>
                                        <p:strVal val="visible"/>
                                      </p:to>
                                    </p:set>
                                    <p:animEffect transition="in" filter="blinds(horizontal)">
                                      <p:cBhvr>
                                        <p:cTn id="7" dur="500"/>
                                        <p:tgtEl>
                                          <p:spTgt spid="66048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60484">
                                            <p:txEl>
                                              <p:pRg st="0" end="0"/>
                                            </p:txEl>
                                          </p:spTgt>
                                        </p:tgtEl>
                                        <p:attrNameLst>
                                          <p:attrName>style.visibility</p:attrName>
                                        </p:attrNameLst>
                                      </p:cBhvr>
                                      <p:to>
                                        <p:strVal val="visible"/>
                                      </p:to>
                                    </p:set>
                                    <p:animEffect transition="in" filter="box(in)">
                                      <p:cBhvr>
                                        <p:cTn id="12" dur="500"/>
                                        <p:tgtEl>
                                          <p:spTgt spid="66048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barn(inVertical)">
                                      <p:cBhvr>
                                        <p:cTn id="17" dur="5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xEl>
                                              <p:pRg st="1" end="1"/>
                                            </p:txEl>
                                          </p:spTgt>
                                        </p:tgtEl>
                                        <p:attrNameLst>
                                          <p:attrName>style.visibility</p:attrName>
                                        </p:attrNameLst>
                                      </p:cBhvr>
                                      <p:to>
                                        <p:strVal val="visible"/>
                                      </p:to>
                                    </p:set>
                                    <p:animEffect transition="in" filter="barn(inVertical)">
                                      <p:cBhvr>
                                        <p:cTn id="22" dur="500"/>
                                        <p:tgtEl>
                                          <p:spTgt spid="1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4">
                                            <p:txEl>
                                              <p:pRg st="2" end="2"/>
                                            </p:txEl>
                                          </p:spTgt>
                                        </p:tgtEl>
                                        <p:attrNameLst>
                                          <p:attrName>style.visibility</p:attrName>
                                        </p:attrNameLst>
                                      </p:cBhvr>
                                      <p:to>
                                        <p:strVal val="visible"/>
                                      </p:to>
                                    </p:set>
                                    <p:animEffect transition="in" filter="barn(inVertical)">
                                      <p:cBhvr>
                                        <p:cTn id="27" dur="500"/>
                                        <p:tgtEl>
                                          <p:spTgt spid="1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4">
                                            <p:txEl>
                                              <p:pRg st="3" end="3"/>
                                            </p:txEl>
                                          </p:spTgt>
                                        </p:tgtEl>
                                        <p:attrNameLst>
                                          <p:attrName>style.visibility</p:attrName>
                                        </p:attrNameLst>
                                      </p:cBhvr>
                                      <p:to>
                                        <p:strVal val="visible"/>
                                      </p:to>
                                    </p:set>
                                    <p:animEffect transition="in" filter="barn(inVertical)">
                                      <p:cBhvr>
                                        <p:cTn id="32" dur="5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04" name="Object 4"/>
          <p:cNvGraphicFramePr>
            <a:graphicFrameLocks noChangeAspect="1"/>
          </p:cNvGraphicFramePr>
          <p:nvPr>
            <p:extLst>
              <p:ext uri="{D42A27DB-BD31-4B8C-83A1-F6EECF244321}">
                <p14:modId xmlns:p14="http://schemas.microsoft.com/office/powerpoint/2010/main" val="3136448420"/>
              </p:ext>
            </p:extLst>
          </p:nvPr>
        </p:nvGraphicFramePr>
        <p:xfrm>
          <a:off x="5781675" y="1987550"/>
          <a:ext cx="3013075" cy="941388"/>
        </p:xfrm>
        <a:graphic>
          <a:graphicData uri="http://schemas.openxmlformats.org/presentationml/2006/ole">
            <mc:AlternateContent xmlns:mc="http://schemas.openxmlformats.org/markup-compatibility/2006">
              <mc:Choice xmlns:v="urn:schemas-microsoft-com:vml" Requires="v">
                <p:oleObj spid="_x0000_s89093" name="Equation" r:id="rId3" imgW="1701720" imgH="533160" progId="Equation.DSMT4">
                  <p:embed/>
                </p:oleObj>
              </mc:Choice>
              <mc:Fallback>
                <p:oleObj name="Equation" r:id="rId3" imgW="1701720" imgH="533160" progId="Equation.DSMT4">
                  <p:embed/>
                  <p:pic>
                    <p:nvPicPr>
                      <p:cNvPr id="0" name=""/>
                      <p:cNvPicPr>
                        <a:picLocks noChangeAspect="1" noChangeArrowheads="1"/>
                      </p:cNvPicPr>
                      <p:nvPr/>
                    </p:nvPicPr>
                    <p:blipFill>
                      <a:blip r:embed="rId4"/>
                      <a:srcRect/>
                      <a:stretch>
                        <a:fillRect/>
                      </a:stretch>
                    </p:blipFill>
                    <p:spPr bwMode="auto">
                      <a:xfrm>
                        <a:off x="5781675" y="1987550"/>
                        <a:ext cx="3013075" cy="941388"/>
                      </a:xfrm>
                      <a:prstGeom prst="rect">
                        <a:avLst/>
                      </a:prstGeom>
                      <a:solidFill>
                        <a:srgbClr val="66FFFF"/>
                      </a:solidFill>
                      <a:ln w="9525">
                        <a:solidFill>
                          <a:srgbClr val="CC0000"/>
                        </a:solidFill>
                        <a:miter lim="800000"/>
                        <a:headEnd/>
                        <a:tailEnd/>
                      </a:ln>
                      <a:effectLst/>
                      <a:extLst/>
                    </p:spPr>
                  </p:pic>
                </p:oleObj>
              </mc:Fallback>
            </mc:AlternateContent>
          </a:graphicData>
        </a:graphic>
      </p:graphicFrame>
      <p:sp>
        <p:nvSpPr>
          <p:cNvPr id="614406" name="Rectangle 6"/>
          <p:cNvSpPr>
            <a:spLocks noChangeArrowheads="1"/>
          </p:cNvSpPr>
          <p:nvPr/>
        </p:nvSpPr>
        <p:spPr bwMode="auto">
          <a:xfrm>
            <a:off x="611188" y="3557588"/>
            <a:ext cx="813752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zh-CN" altLang="en-US" sz="2000" dirty="0">
                <a:solidFill>
                  <a:srgbClr val="FF0000"/>
                </a:solidFill>
                <a:latin typeface="+mn-ea"/>
                <a:ea typeface="+mn-ea"/>
              </a:rPr>
              <a:t>低通电</a:t>
            </a:r>
            <a:r>
              <a:rPr lang="zh-CN" altLang="en-US" sz="2000" dirty="0" smtClean="0">
                <a:solidFill>
                  <a:srgbClr val="FF0000"/>
                </a:solidFill>
                <a:latin typeface="+mn-ea"/>
                <a:ea typeface="+mn-ea"/>
              </a:rPr>
              <a:t>路</a:t>
            </a:r>
            <a:r>
              <a:rPr lang="zh-CN" altLang="en-US" sz="2000" dirty="0"/>
              <a:t>：</a:t>
            </a:r>
            <a:r>
              <a:rPr lang="zh-CN" altLang="en-US" sz="2000" dirty="0" smtClean="0"/>
              <a:t>信号</a:t>
            </a:r>
            <a:r>
              <a:rPr lang="zh-CN" altLang="en-US" sz="2000" dirty="0"/>
              <a:t>频率越低，输出电压越接近输入电压。</a:t>
            </a:r>
          </a:p>
        </p:txBody>
      </p:sp>
      <p:graphicFrame>
        <p:nvGraphicFramePr>
          <p:cNvPr id="614409" name="Object 9"/>
          <p:cNvGraphicFramePr>
            <a:graphicFrameLocks noChangeAspect="1"/>
          </p:cNvGraphicFramePr>
          <p:nvPr>
            <p:extLst>
              <p:ext uri="{D42A27DB-BD31-4B8C-83A1-F6EECF244321}">
                <p14:modId xmlns:p14="http://schemas.microsoft.com/office/powerpoint/2010/main" val="4093026773"/>
              </p:ext>
            </p:extLst>
          </p:nvPr>
        </p:nvGraphicFramePr>
        <p:xfrm>
          <a:off x="5695950" y="4672013"/>
          <a:ext cx="3086100" cy="971550"/>
        </p:xfrm>
        <a:graphic>
          <a:graphicData uri="http://schemas.openxmlformats.org/presentationml/2006/ole">
            <mc:AlternateContent xmlns:mc="http://schemas.openxmlformats.org/markup-compatibility/2006">
              <mc:Choice xmlns:v="urn:schemas-microsoft-com:vml" Requires="v">
                <p:oleObj spid="_x0000_s89094" name="Equation" r:id="rId5" imgW="1688760" imgH="533160" progId="Equation.DSMT4">
                  <p:embed/>
                </p:oleObj>
              </mc:Choice>
              <mc:Fallback>
                <p:oleObj name="Equation" r:id="rId5" imgW="1688760" imgH="533160" progId="Equation.DSMT4">
                  <p:embed/>
                  <p:pic>
                    <p:nvPicPr>
                      <p:cNvPr id="0" name=""/>
                      <p:cNvPicPr>
                        <a:picLocks noChangeAspect="1" noChangeArrowheads="1"/>
                      </p:cNvPicPr>
                      <p:nvPr/>
                    </p:nvPicPr>
                    <p:blipFill>
                      <a:blip r:embed="rId6"/>
                      <a:srcRect/>
                      <a:stretch>
                        <a:fillRect/>
                      </a:stretch>
                    </p:blipFill>
                    <p:spPr bwMode="auto">
                      <a:xfrm>
                        <a:off x="5695950" y="4672013"/>
                        <a:ext cx="3086100" cy="971550"/>
                      </a:xfrm>
                      <a:prstGeom prst="rect">
                        <a:avLst/>
                      </a:prstGeom>
                      <a:solidFill>
                        <a:srgbClr val="66FFFF"/>
                      </a:solidFill>
                      <a:ln w="9525">
                        <a:solidFill>
                          <a:srgbClr val="CC0000"/>
                        </a:solidFill>
                        <a:miter lim="800000"/>
                        <a:headEnd/>
                        <a:tailEnd/>
                      </a:ln>
                      <a:effectLst/>
                      <a:extLst/>
                    </p:spPr>
                  </p:pic>
                </p:oleObj>
              </mc:Fallback>
            </mc:AlternateContent>
          </a:graphicData>
        </a:graphic>
      </p:graphicFrame>
      <p:sp>
        <p:nvSpPr>
          <p:cNvPr id="614412" name="Text Box 12"/>
          <p:cNvSpPr txBox="1">
            <a:spLocks noChangeArrowheads="1"/>
          </p:cNvSpPr>
          <p:nvPr/>
        </p:nvSpPr>
        <p:spPr bwMode="auto">
          <a:xfrm>
            <a:off x="495300" y="731838"/>
            <a:ext cx="81391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sz="2000" dirty="0">
                <a:solidFill>
                  <a:srgbClr val="FF0000"/>
                </a:solidFill>
                <a:latin typeface="+mn-ea"/>
                <a:ea typeface="+mn-ea"/>
              </a:rPr>
              <a:t>高通电</a:t>
            </a:r>
            <a:r>
              <a:rPr lang="zh-CN" altLang="en-US" sz="2000" dirty="0" smtClean="0">
                <a:solidFill>
                  <a:srgbClr val="FF0000"/>
                </a:solidFill>
                <a:latin typeface="+mn-ea"/>
                <a:ea typeface="+mn-ea"/>
              </a:rPr>
              <a:t>路</a:t>
            </a:r>
            <a:r>
              <a:rPr lang="zh-CN" altLang="en-US" sz="2000" dirty="0"/>
              <a:t>：</a:t>
            </a:r>
            <a:r>
              <a:rPr lang="zh-CN" altLang="en-US" sz="2000" dirty="0" smtClean="0"/>
              <a:t>信号</a:t>
            </a:r>
            <a:r>
              <a:rPr lang="zh-CN" altLang="en-US" sz="2000" dirty="0"/>
              <a:t>频率越高，输出电压越接近输入电压。</a:t>
            </a:r>
          </a:p>
        </p:txBody>
      </p:sp>
      <p:graphicFrame>
        <p:nvGraphicFramePr>
          <p:cNvPr id="2" name="对象 1"/>
          <p:cNvGraphicFramePr>
            <a:graphicFrameLocks noChangeAspect="1"/>
          </p:cNvGraphicFramePr>
          <p:nvPr>
            <p:extLst>
              <p:ext uri="{D42A27DB-BD31-4B8C-83A1-F6EECF244321}">
                <p14:modId xmlns:p14="http://schemas.microsoft.com/office/powerpoint/2010/main" val="665975425"/>
              </p:ext>
            </p:extLst>
          </p:nvPr>
        </p:nvGraphicFramePr>
        <p:xfrm>
          <a:off x="149225" y="4349750"/>
          <a:ext cx="2811463" cy="1577975"/>
        </p:xfrm>
        <a:graphic>
          <a:graphicData uri="http://schemas.openxmlformats.org/presentationml/2006/ole">
            <mc:AlternateContent xmlns:mc="http://schemas.openxmlformats.org/markup-compatibility/2006">
              <mc:Choice xmlns:v="urn:schemas-microsoft-com:vml" Requires="v">
                <p:oleObj spid="_x0000_s89095" name="Visio" r:id="rId8" imgW="1562635" imgH="876480" progId="Visio.Drawing.11">
                  <p:embed/>
                </p:oleObj>
              </mc:Choice>
              <mc:Fallback>
                <p:oleObj name="Visio" r:id="rId8" imgW="1562635" imgH="876480" progId="Visio.Drawing.11">
                  <p:embed/>
                  <p:pic>
                    <p:nvPicPr>
                      <p:cNvPr id="0" name=""/>
                      <p:cNvPicPr/>
                      <p:nvPr/>
                    </p:nvPicPr>
                    <p:blipFill>
                      <a:blip r:embed="rId9"/>
                      <a:stretch>
                        <a:fillRect/>
                      </a:stretch>
                    </p:blipFill>
                    <p:spPr>
                      <a:xfrm>
                        <a:off x="149225" y="4349750"/>
                        <a:ext cx="2811463" cy="157797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200501593"/>
              </p:ext>
            </p:extLst>
          </p:nvPr>
        </p:nvGraphicFramePr>
        <p:xfrm>
          <a:off x="263525" y="1397000"/>
          <a:ext cx="2786063" cy="1725613"/>
        </p:xfrm>
        <a:graphic>
          <a:graphicData uri="http://schemas.openxmlformats.org/presentationml/2006/ole">
            <mc:AlternateContent xmlns:mc="http://schemas.openxmlformats.org/markup-compatibility/2006">
              <mc:Choice xmlns:v="urn:schemas-microsoft-com:vml" Requires="v">
                <p:oleObj spid="_x0000_s89096" name="Visio" r:id="rId11" imgW="1562635" imgH="1005763" progId="Visio.Drawing.11">
                  <p:embed/>
                </p:oleObj>
              </mc:Choice>
              <mc:Fallback>
                <p:oleObj name="Visio" r:id="rId11" imgW="1562635" imgH="1005763" progId="Visio.Drawing.11">
                  <p:embed/>
                  <p:pic>
                    <p:nvPicPr>
                      <p:cNvPr id="0" name=""/>
                      <p:cNvPicPr/>
                      <p:nvPr/>
                    </p:nvPicPr>
                    <p:blipFill>
                      <a:blip r:embed="rId12"/>
                      <a:stretch>
                        <a:fillRect/>
                      </a:stretch>
                    </p:blipFill>
                    <p:spPr>
                      <a:xfrm>
                        <a:off x="263525" y="1397000"/>
                        <a:ext cx="2786063" cy="172561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897749823"/>
              </p:ext>
            </p:extLst>
          </p:nvPr>
        </p:nvGraphicFramePr>
        <p:xfrm>
          <a:off x="3284538" y="1862138"/>
          <a:ext cx="1975432" cy="1395412"/>
        </p:xfrm>
        <a:graphic>
          <a:graphicData uri="http://schemas.openxmlformats.org/presentationml/2006/ole">
            <mc:AlternateContent xmlns:mc="http://schemas.openxmlformats.org/markup-compatibility/2006">
              <mc:Choice xmlns:v="urn:schemas-microsoft-com:vml" Requires="v">
                <p:oleObj spid="_x0000_s89097" name="Visio" r:id="rId13" imgW="1119061" imgH="789828" progId="Visio.Drawing.11">
                  <p:embed/>
                </p:oleObj>
              </mc:Choice>
              <mc:Fallback>
                <p:oleObj name="Visio" r:id="rId13" imgW="1119061" imgH="789828" progId="Visio.Drawing.11">
                  <p:embed/>
                  <p:pic>
                    <p:nvPicPr>
                      <p:cNvPr id="0" name=""/>
                      <p:cNvPicPr/>
                      <p:nvPr/>
                    </p:nvPicPr>
                    <p:blipFill>
                      <a:blip r:embed="rId14"/>
                      <a:stretch>
                        <a:fillRect/>
                      </a:stretch>
                    </p:blipFill>
                    <p:spPr>
                      <a:xfrm>
                        <a:off x="3284538" y="1862138"/>
                        <a:ext cx="1975432" cy="139541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567482372"/>
              </p:ext>
            </p:extLst>
          </p:nvPr>
        </p:nvGraphicFramePr>
        <p:xfrm>
          <a:off x="3230563" y="4398963"/>
          <a:ext cx="2103437" cy="1734615"/>
        </p:xfrm>
        <a:graphic>
          <a:graphicData uri="http://schemas.openxmlformats.org/presentationml/2006/ole">
            <mc:AlternateContent xmlns:mc="http://schemas.openxmlformats.org/markup-compatibility/2006">
              <mc:Choice xmlns:v="urn:schemas-microsoft-com:vml" Requires="v">
                <p:oleObj spid="_x0000_s89098" name="Visio" r:id="rId15" imgW="1159268" imgH="956336" progId="Visio.Drawing.11">
                  <p:embed/>
                </p:oleObj>
              </mc:Choice>
              <mc:Fallback>
                <p:oleObj name="Visio" r:id="rId15" imgW="1159268" imgH="956336" progId="Visio.Drawing.11">
                  <p:embed/>
                  <p:pic>
                    <p:nvPicPr>
                      <p:cNvPr id="0" name=""/>
                      <p:cNvPicPr/>
                      <p:nvPr/>
                    </p:nvPicPr>
                    <p:blipFill>
                      <a:blip r:embed="rId16"/>
                      <a:stretch>
                        <a:fillRect/>
                      </a:stretch>
                    </p:blipFill>
                    <p:spPr>
                      <a:xfrm>
                        <a:off x="3230563" y="4398963"/>
                        <a:ext cx="2103437" cy="1734615"/>
                      </a:xfrm>
                      <a:prstGeom prst="rect">
                        <a:avLst/>
                      </a:prstGeom>
                    </p:spPr>
                  </p:pic>
                </p:oleObj>
              </mc:Fallback>
            </mc:AlternateContent>
          </a:graphicData>
        </a:graphic>
      </p:graphicFrame>
    </p:spTree>
    <p:extLst>
      <p:ext uri="{BB962C8B-B14F-4D97-AF65-F5344CB8AC3E}">
        <p14:creationId xmlns:p14="http://schemas.microsoft.com/office/powerpoint/2010/main" val="1706779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14404"/>
                                        </p:tgtEl>
                                        <p:attrNameLst>
                                          <p:attrName>style.visibility</p:attrName>
                                        </p:attrNameLst>
                                      </p:cBhvr>
                                      <p:to>
                                        <p:strVal val="visible"/>
                                      </p:to>
                                    </p:set>
                                    <p:animEffect transition="in" filter="barn(inVertical)">
                                      <p:cBhvr>
                                        <p:cTn id="17" dur="500"/>
                                        <p:tgtEl>
                                          <p:spTgt spid="61440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14406"/>
                                        </p:tgtEl>
                                        <p:attrNameLst>
                                          <p:attrName>style.visibility</p:attrName>
                                        </p:attrNameLst>
                                      </p:cBhvr>
                                      <p:to>
                                        <p:strVal val="visible"/>
                                      </p:to>
                                    </p:set>
                                    <p:animEffect transition="in" filter="barn(inVertical)">
                                      <p:cBhvr>
                                        <p:cTn id="22" dur="500"/>
                                        <p:tgtEl>
                                          <p:spTgt spid="61440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arn(inVertic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arn(inVertic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614409"/>
                                        </p:tgtEl>
                                        <p:attrNameLst>
                                          <p:attrName>style.visibility</p:attrName>
                                        </p:attrNameLst>
                                      </p:cBhvr>
                                      <p:to>
                                        <p:strVal val="visible"/>
                                      </p:to>
                                    </p:set>
                                    <p:animEffect transition="in" filter="barn(inVertical)">
                                      <p:cBhvr>
                                        <p:cTn id="37" dur="500"/>
                                        <p:tgtEl>
                                          <p:spTgt spid="614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0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020503" y="432134"/>
            <a:ext cx="4352925" cy="3400425"/>
          </a:xfrm>
          <a:prstGeom prst="rect">
            <a:avLst/>
          </a:prstGeom>
        </p:spPr>
      </p:pic>
      <p:sp>
        <p:nvSpPr>
          <p:cNvPr id="616451" name="Text Box 3"/>
          <p:cNvSpPr txBox="1">
            <a:spLocks noChangeArrowheads="1"/>
          </p:cNvSpPr>
          <p:nvPr/>
        </p:nvSpPr>
        <p:spPr bwMode="auto">
          <a:xfrm>
            <a:off x="684213" y="4297363"/>
            <a:ext cx="80581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spcBef>
                <a:spcPct val="20000"/>
              </a:spcBef>
              <a:buClr>
                <a:srgbClr val="FF0000"/>
              </a:buClr>
              <a:buFont typeface="Wingdings" pitchFamily="2" charset="2"/>
              <a:buChar char="u"/>
            </a:pPr>
            <a:r>
              <a:rPr lang="en-US" altLang="zh-CN" sz="2000" dirty="0">
                <a:solidFill>
                  <a:srgbClr val="000000"/>
                </a:solidFill>
              </a:rPr>
              <a:t>  </a:t>
            </a:r>
            <a:r>
              <a:rPr lang="zh-CN" altLang="zh-CN" sz="2000" dirty="0"/>
              <a:t>在低频段，随着信号频率逐渐降低，耦合电容、旁路电容等的容抗增大，使动态信号损失，放大能力下降</a:t>
            </a:r>
            <a:r>
              <a:rPr lang="zh-CN" altLang="zh-CN" sz="2000" dirty="0" smtClean="0"/>
              <a:t>。</a:t>
            </a:r>
            <a:endParaRPr kumimoji="0" lang="zh-CN" altLang="en-US" b="0" i="1" baseline="-25000" dirty="0"/>
          </a:p>
        </p:txBody>
      </p:sp>
      <p:sp>
        <p:nvSpPr>
          <p:cNvPr id="616453" name="AutoShape 5"/>
          <p:cNvSpPr>
            <a:spLocks/>
          </p:cNvSpPr>
          <p:nvPr/>
        </p:nvSpPr>
        <p:spPr bwMode="auto">
          <a:xfrm>
            <a:off x="6689725" y="795339"/>
            <a:ext cx="777875" cy="671512"/>
          </a:xfrm>
          <a:prstGeom prst="borderCallout1">
            <a:avLst>
              <a:gd name="adj1" fmla="val 12042"/>
              <a:gd name="adj2" fmla="val -8106"/>
              <a:gd name="adj3" fmla="val 83646"/>
              <a:gd name="adj4" fmla="val -169464"/>
            </a:avLst>
          </a:prstGeom>
          <a:solidFill>
            <a:srgbClr val="FFFFCC"/>
          </a:solidFill>
          <a:ln w="19050" cap="sq">
            <a:solidFill>
              <a:srgbClr val="FF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2000" dirty="0"/>
              <a:t>高通电路</a:t>
            </a:r>
          </a:p>
        </p:txBody>
      </p:sp>
      <p:sp>
        <p:nvSpPr>
          <p:cNvPr id="616454" name="AutoShape 6"/>
          <p:cNvSpPr>
            <a:spLocks/>
          </p:cNvSpPr>
          <p:nvPr/>
        </p:nvSpPr>
        <p:spPr bwMode="auto">
          <a:xfrm>
            <a:off x="1133475" y="1223963"/>
            <a:ext cx="831849" cy="700087"/>
          </a:xfrm>
          <a:prstGeom prst="borderCallout1">
            <a:avLst>
              <a:gd name="adj1" fmla="val 12833"/>
              <a:gd name="adj2" fmla="val 109093"/>
              <a:gd name="adj3" fmla="val 186983"/>
              <a:gd name="adj4" fmla="val 250799"/>
            </a:avLst>
          </a:prstGeom>
          <a:solidFill>
            <a:srgbClr val="FFFFCC"/>
          </a:solidFill>
          <a:ln w="19050" cap="sq">
            <a:solidFill>
              <a:srgbClr val="FF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2000" dirty="0"/>
              <a:t>低通电路</a:t>
            </a:r>
          </a:p>
        </p:txBody>
      </p:sp>
      <p:sp>
        <p:nvSpPr>
          <p:cNvPr id="616455" name="Text Box 7"/>
          <p:cNvSpPr txBox="1">
            <a:spLocks noChangeArrowheads="1"/>
          </p:cNvSpPr>
          <p:nvPr/>
        </p:nvSpPr>
        <p:spPr bwMode="auto">
          <a:xfrm>
            <a:off x="684213" y="5287073"/>
            <a:ext cx="80581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spcBef>
                <a:spcPct val="20000"/>
              </a:spcBef>
              <a:buClr>
                <a:srgbClr val="FF0000"/>
              </a:buClr>
              <a:buFont typeface="Wingdings" pitchFamily="2" charset="2"/>
              <a:buChar char="u"/>
            </a:pPr>
            <a:r>
              <a:rPr lang="en-US" altLang="zh-CN" sz="2000" dirty="0"/>
              <a:t>  </a:t>
            </a:r>
            <a:r>
              <a:rPr lang="zh-CN" altLang="zh-CN" sz="2000" dirty="0"/>
              <a:t>在高频段，随着信号频率逐渐升高，晶体管极间电容和分布电容、寄生电容等杂散电容的容抗减小，使动态信号损失，放大能力下降。</a:t>
            </a:r>
            <a:endParaRPr lang="zh-CN" altLang="en-US" sz="2000" dirty="0"/>
          </a:p>
        </p:txBody>
      </p:sp>
      <p:grpSp>
        <p:nvGrpSpPr>
          <p:cNvPr id="616460" name="Group 12"/>
          <p:cNvGrpSpPr>
            <a:grpSpLocks/>
          </p:cNvGrpSpPr>
          <p:nvPr/>
        </p:nvGrpSpPr>
        <p:grpSpPr bwMode="auto">
          <a:xfrm>
            <a:off x="3284538" y="2076450"/>
            <a:ext cx="452437" cy="1428750"/>
            <a:chOff x="768" y="1680"/>
            <a:chExt cx="157" cy="571"/>
          </a:xfrm>
        </p:grpSpPr>
        <p:grpSp>
          <p:nvGrpSpPr>
            <p:cNvPr id="5129" name="Group 13"/>
            <p:cNvGrpSpPr>
              <a:grpSpLocks/>
            </p:cNvGrpSpPr>
            <p:nvPr/>
          </p:nvGrpSpPr>
          <p:grpSpPr bwMode="auto">
            <a:xfrm>
              <a:off x="768" y="1680"/>
              <a:ext cx="157" cy="522"/>
              <a:chOff x="3360" y="1248"/>
              <a:chExt cx="157" cy="522"/>
            </a:xfrm>
          </p:grpSpPr>
          <p:sp>
            <p:nvSpPr>
              <p:cNvPr id="5131" name="Line 14"/>
              <p:cNvSpPr>
                <a:spLocks noChangeShapeType="1"/>
              </p:cNvSpPr>
              <p:nvPr/>
            </p:nvSpPr>
            <p:spPr bwMode="auto">
              <a:xfrm>
                <a:off x="3360" y="1488"/>
                <a:ext cx="154"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32" name="Line 15"/>
              <p:cNvSpPr>
                <a:spLocks noChangeShapeType="1"/>
              </p:cNvSpPr>
              <p:nvPr/>
            </p:nvSpPr>
            <p:spPr bwMode="auto">
              <a:xfrm>
                <a:off x="3361" y="1560"/>
                <a:ext cx="156"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33" name="Line 16"/>
              <p:cNvSpPr>
                <a:spLocks noChangeShapeType="1"/>
              </p:cNvSpPr>
              <p:nvPr/>
            </p:nvSpPr>
            <p:spPr bwMode="auto">
              <a:xfrm>
                <a:off x="3432" y="1248"/>
                <a:ext cx="0" cy="24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4" name="Line 17"/>
              <p:cNvSpPr>
                <a:spLocks noChangeShapeType="1"/>
              </p:cNvSpPr>
              <p:nvPr/>
            </p:nvSpPr>
            <p:spPr bwMode="auto">
              <a:xfrm>
                <a:off x="3432" y="1559"/>
                <a:ext cx="0" cy="211"/>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30" name="Oval 18"/>
            <p:cNvSpPr>
              <a:spLocks noChangeArrowheads="1"/>
            </p:cNvSpPr>
            <p:nvPr/>
          </p:nvSpPr>
          <p:spPr bwMode="auto">
            <a:xfrm>
              <a:off x="816" y="2205"/>
              <a:ext cx="46" cy="4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grpSp>
      <p:sp>
        <p:nvSpPr>
          <p:cNvPr id="616467" name="Text Box 19"/>
          <p:cNvSpPr txBox="1">
            <a:spLocks noChangeArrowheads="1"/>
          </p:cNvSpPr>
          <p:nvPr/>
        </p:nvSpPr>
        <p:spPr bwMode="auto">
          <a:xfrm>
            <a:off x="3497263" y="2898775"/>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sz="1800"/>
              <a:t>结电容</a:t>
            </a:r>
          </a:p>
        </p:txBody>
      </p:sp>
    </p:spTree>
    <p:extLst>
      <p:ext uri="{BB962C8B-B14F-4D97-AF65-F5344CB8AC3E}">
        <p14:creationId xmlns:p14="http://schemas.microsoft.com/office/powerpoint/2010/main" val="16977066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64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16451">
                                            <p:txEl>
                                              <p:pRg st="0" end="0"/>
                                            </p:txEl>
                                          </p:spTgt>
                                        </p:tgtEl>
                                        <p:attrNameLst>
                                          <p:attrName>style.visibility</p:attrName>
                                        </p:attrNameLst>
                                      </p:cBhvr>
                                      <p:to>
                                        <p:strVal val="visible"/>
                                      </p:to>
                                    </p:set>
                                    <p:animEffect transition="in" filter="wipe(left)">
                                      <p:cBhvr>
                                        <p:cTn id="11" dur="500"/>
                                        <p:tgtEl>
                                          <p:spTgt spid="616451">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16460"/>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16467"/>
                                        </p:tgtEl>
                                        <p:attrNameLst>
                                          <p:attrName>style.visibility</p:attrName>
                                        </p:attrNameLst>
                                      </p:cBhvr>
                                      <p:to>
                                        <p:strVal val="visible"/>
                                      </p:to>
                                    </p:set>
                                    <p:animEffect transition="in" filter="wipe(left)">
                                      <p:cBhvr>
                                        <p:cTn id="20" dur="500"/>
                                        <p:tgtEl>
                                          <p:spTgt spid="61646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1645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16455"/>
                                        </p:tgtEl>
                                        <p:attrNameLst>
                                          <p:attrName>style.visibility</p:attrName>
                                        </p:attrNameLst>
                                      </p:cBhvr>
                                      <p:to>
                                        <p:strVal val="visible"/>
                                      </p:to>
                                    </p:set>
                                    <p:animEffect transition="in" filter="wipe(left)">
                                      <p:cBhvr>
                                        <p:cTn id="29" dur="500"/>
                                        <p:tgtEl>
                                          <p:spTgt spid="616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451" grpId="0" build="p" autoUpdateAnimBg="0"/>
      <p:bldP spid="616453" grpId="0" animBg="1" autoUpdateAnimBg="0"/>
      <p:bldP spid="616454" grpId="0" animBg="1" autoUpdateAnimBg="0"/>
      <p:bldP spid="616455" grpId="0" autoUpdateAnimBg="0"/>
      <p:bldP spid="616467"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Text Box 5"/>
          <p:cNvSpPr txBox="1">
            <a:spLocks noChangeArrowheads="1"/>
          </p:cNvSpPr>
          <p:nvPr/>
        </p:nvSpPr>
        <p:spPr bwMode="auto">
          <a:xfrm>
            <a:off x="669925" y="792163"/>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dirty="0" smtClean="0">
                <a:solidFill>
                  <a:srgbClr val="A50021"/>
                </a:solidFill>
              </a:rPr>
              <a:t>二、电路的传递函数</a:t>
            </a:r>
            <a:endParaRPr lang="zh-CN" altLang="en-US" dirty="0">
              <a:solidFill>
                <a:srgbClr val="A50021"/>
              </a:solidFill>
            </a:endParaRPr>
          </a:p>
        </p:txBody>
      </p:sp>
      <p:sp>
        <p:nvSpPr>
          <p:cNvPr id="17" name="Text Box 6"/>
          <p:cNvSpPr txBox="1">
            <a:spLocks noChangeArrowheads="1"/>
          </p:cNvSpPr>
          <p:nvPr/>
        </p:nvSpPr>
        <p:spPr bwMode="auto">
          <a:xfrm>
            <a:off x="1270000" y="1541463"/>
            <a:ext cx="7354888"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marL="342900" indent="-342900" algn="l" eaLnBrk="1" hangingPunct="1">
              <a:lnSpc>
                <a:spcPct val="130000"/>
              </a:lnSpc>
              <a:spcBef>
                <a:spcPct val="50000"/>
              </a:spcBef>
              <a:buClr>
                <a:srgbClr val="FF0000"/>
              </a:buClr>
              <a:buFont typeface="Wingdings" panose="05000000000000000000" pitchFamily="2" charset="2"/>
              <a:buChar char="l"/>
            </a:pPr>
            <a:r>
              <a:rPr lang="zh-CN" altLang="en-US" sz="2000" dirty="0" smtClean="0"/>
              <a:t>描述零初始条件下线性时不变系统输入和输出之间关系的数学表达式。</a:t>
            </a:r>
            <a:r>
              <a:rPr lang="en-US" altLang="zh-CN" sz="2000" dirty="0" smtClean="0"/>
              <a:t/>
            </a:r>
            <a:br>
              <a:rPr lang="en-US" altLang="zh-CN" sz="2000" dirty="0" smtClean="0"/>
            </a:br>
            <a:r>
              <a:rPr lang="zh-CN" altLang="en-US" sz="2000" b="0" dirty="0" smtClean="0"/>
              <a:t>线性：所有元器件都能用一次代数式（包括微分、积分）表示。</a:t>
            </a:r>
            <a:r>
              <a:rPr lang="en-US" altLang="zh-CN" sz="2000" b="0" dirty="0" smtClean="0"/>
              <a:t/>
            </a:r>
            <a:br>
              <a:rPr lang="en-US" altLang="zh-CN" sz="2000" b="0" dirty="0" smtClean="0"/>
            </a:br>
            <a:r>
              <a:rPr lang="zh-CN" altLang="en-US" sz="2000" b="0" dirty="0" smtClean="0"/>
              <a:t>时不变系统：输入输出之间的关系不会随时间变化而变化。</a:t>
            </a:r>
            <a:endParaRPr lang="en-US" altLang="zh-CN" sz="2000" b="0" dirty="0" smtClean="0"/>
          </a:p>
          <a:p>
            <a:pPr marL="342900" indent="-342900" algn="l" eaLnBrk="1" hangingPunct="1">
              <a:lnSpc>
                <a:spcPct val="130000"/>
              </a:lnSpc>
              <a:spcBef>
                <a:spcPct val="50000"/>
              </a:spcBef>
              <a:buClr>
                <a:srgbClr val="FF0000"/>
              </a:buClr>
              <a:buFont typeface="Wingdings" panose="05000000000000000000" pitchFamily="2" charset="2"/>
              <a:buChar char="l"/>
            </a:pPr>
            <a:r>
              <a:rPr lang="zh-CN" altLang="en-US" sz="2000" dirty="0" smtClean="0"/>
              <a:t>通常用 </a:t>
            </a:r>
            <a:r>
              <a:rPr lang="en-US" altLang="zh-CN" sz="2000" i="1" dirty="0" smtClean="0"/>
              <a:t>T</a:t>
            </a:r>
            <a:r>
              <a:rPr lang="en-US" altLang="zh-CN" sz="2000" dirty="0" smtClean="0"/>
              <a:t>(</a:t>
            </a:r>
            <a:r>
              <a:rPr lang="en-US" altLang="zh-CN" sz="2000" i="1" dirty="0" smtClean="0"/>
              <a:t>s</a:t>
            </a:r>
            <a:r>
              <a:rPr lang="en-US" altLang="zh-CN" sz="2000" dirty="0" smtClean="0"/>
              <a:t>) </a:t>
            </a:r>
            <a:r>
              <a:rPr lang="zh-CN" altLang="en-US" sz="2000" dirty="0" smtClean="0"/>
              <a:t>或 </a:t>
            </a:r>
            <a:r>
              <a:rPr lang="en-US" altLang="zh-CN" sz="2000" i="1" dirty="0" smtClean="0"/>
              <a:t>H</a:t>
            </a:r>
            <a:r>
              <a:rPr lang="en-US" altLang="zh-CN" sz="2000" dirty="0" smtClean="0"/>
              <a:t>(</a:t>
            </a:r>
            <a:r>
              <a:rPr lang="en-US" altLang="zh-CN" sz="2000" i="1" dirty="0" smtClean="0"/>
              <a:t>s</a:t>
            </a:r>
            <a:r>
              <a:rPr lang="en-US" altLang="zh-CN" sz="2000" dirty="0" smtClean="0"/>
              <a:t>) </a:t>
            </a:r>
            <a:r>
              <a:rPr lang="zh-CN" altLang="en-US" sz="2000" dirty="0" smtClean="0"/>
              <a:t>表示，可以理解为输出信号的复变换和输入信号的复变换之比。（</a:t>
            </a:r>
            <a:r>
              <a:rPr lang="en-US" altLang="zh-CN" sz="2000" i="1" dirty="0" smtClean="0"/>
              <a:t>s</a:t>
            </a:r>
            <a:r>
              <a:rPr lang="zh-CN" altLang="en-US" sz="2000" dirty="0" smtClean="0"/>
              <a:t>是拉普拉斯变换</a:t>
            </a:r>
            <a:r>
              <a:rPr lang="zh-CN" altLang="en-US" sz="2000" dirty="0"/>
              <a:t>中的</a:t>
            </a:r>
            <a:r>
              <a:rPr lang="zh-CN" altLang="en-US" sz="2000" dirty="0" smtClean="0"/>
              <a:t>复变量）</a:t>
            </a:r>
            <a:endParaRPr lang="en-US" altLang="zh-CN" sz="2000" dirty="0" smtClean="0"/>
          </a:p>
          <a:p>
            <a:pPr marL="342900" indent="-342900" algn="l" eaLnBrk="1" hangingPunct="1">
              <a:lnSpc>
                <a:spcPct val="130000"/>
              </a:lnSpc>
              <a:spcBef>
                <a:spcPct val="50000"/>
              </a:spcBef>
              <a:buClr>
                <a:srgbClr val="FF0000"/>
              </a:buClr>
              <a:buFont typeface="Wingdings" panose="05000000000000000000" pitchFamily="2" charset="2"/>
              <a:buChar char="l"/>
            </a:pPr>
            <a:r>
              <a:rPr lang="zh-CN" altLang="en-US" sz="2000" dirty="0" smtClean="0"/>
              <a:t>可以用来分析电路的频率特性，如增益、相位和频率响应等。</a:t>
            </a:r>
            <a:endParaRPr lang="zh-CN" altLang="en-US" sz="2000" dirty="0"/>
          </a:p>
        </p:txBody>
      </p:sp>
    </p:spTree>
    <p:extLst>
      <p:ext uri="{BB962C8B-B14F-4D97-AF65-F5344CB8AC3E}">
        <p14:creationId xmlns:p14="http://schemas.microsoft.com/office/powerpoint/2010/main" val="41320755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0484" name="Text Box 4"/>
          <p:cNvSpPr txBox="1">
            <a:spLocks noChangeArrowheads="1"/>
          </p:cNvSpPr>
          <p:nvPr/>
        </p:nvSpPr>
        <p:spPr bwMode="auto">
          <a:xfrm>
            <a:off x="844550" y="812800"/>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dirty="0" smtClean="0">
                <a:solidFill>
                  <a:srgbClr val="A50021"/>
                </a:solidFill>
              </a:rPr>
              <a:t>三、</a:t>
            </a:r>
            <a:r>
              <a:rPr lang="zh-CN" altLang="en-US" dirty="0">
                <a:solidFill>
                  <a:srgbClr val="A50021"/>
                </a:solidFill>
              </a:rPr>
              <a:t>复频域分析法</a:t>
            </a:r>
          </a:p>
        </p:txBody>
      </p:sp>
      <p:sp>
        <p:nvSpPr>
          <p:cNvPr id="660487" name="Rectangle 7"/>
          <p:cNvSpPr>
            <a:spLocks noChangeArrowheads="1"/>
          </p:cNvSpPr>
          <p:nvPr/>
        </p:nvSpPr>
        <p:spPr bwMode="auto">
          <a:xfrm>
            <a:off x="1322388" y="1712189"/>
            <a:ext cx="3355975"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a:t>电容器的容抗             ， </a:t>
            </a:r>
          </a:p>
        </p:txBody>
      </p:sp>
      <p:sp>
        <p:nvSpPr>
          <p:cNvPr id="660491" name="Rectangle 11"/>
          <p:cNvSpPr>
            <a:spLocks noChangeArrowheads="1"/>
          </p:cNvSpPr>
          <p:nvPr/>
        </p:nvSpPr>
        <p:spPr bwMode="auto">
          <a:xfrm>
            <a:off x="3944259" y="1694938"/>
            <a:ext cx="3842367"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a:t>其中         称为复频率，记为 </a:t>
            </a:r>
            <a:r>
              <a:rPr lang="en-US" altLang="zh-CN" sz="2000" i="1" dirty="0" smtClean="0"/>
              <a:t>s</a:t>
            </a:r>
            <a:endParaRPr lang="en-US" altLang="zh-CN" sz="2000" i="1" dirty="0"/>
          </a:p>
        </p:txBody>
      </p:sp>
      <p:sp>
        <p:nvSpPr>
          <p:cNvPr id="660492" name="Rectangle 12"/>
          <p:cNvSpPr>
            <a:spLocks noChangeArrowheads="1"/>
          </p:cNvSpPr>
          <p:nvPr/>
        </p:nvSpPr>
        <p:spPr bwMode="auto">
          <a:xfrm>
            <a:off x="2979673" y="3727096"/>
            <a:ext cx="317341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smtClean="0"/>
              <a:t>电容的</a:t>
            </a:r>
            <a:r>
              <a:rPr lang="zh-CN" altLang="en-US" sz="2000" dirty="0"/>
              <a:t>容抗可写为</a:t>
            </a:r>
          </a:p>
        </p:txBody>
      </p:sp>
      <p:sp>
        <p:nvSpPr>
          <p:cNvPr id="660493" name="Rectangle 13"/>
          <p:cNvSpPr>
            <a:spLocks noChangeArrowheads="1"/>
          </p:cNvSpPr>
          <p:nvPr/>
        </p:nvSpPr>
        <p:spPr bwMode="auto">
          <a:xfrm>
            <a:off x="2204823" y="4542095"/>
            <a:ext cx="317341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smtClean="0"/>
              <a:t>同理，电感</a:t>
            </a:r>
            <a:r>
              <a:rPr lang="zh-CN" altLang="en-US" sz="2000" dirty="0"/>
              <a:t>的感抗可写为</a:t>
            </a:r>
          </a:p>
        </p:txBody>
      </p:sp>
      <p:graphicFrame>
        <p:nvGraphicFramePr>
          <p:cNvPr id="660494" name="Object 14"/>
          <p:cNvGraphicFramePr>
            <a:graphicFrameLocks noChangeAspect="1"/>
          </p:cNvGraphicFramePr>
          <p:nvPr>
            <p:extLst>
              <p:ext uri="{D42A27DB-BD31-4B8C-83A1-F6EECF244321}">
                <p14:modId xmlns:p14="http://schemas.microsoft.com/office/powerpoint/2010/main" val="53351557"/>
              </p:ext>
            </p:extLst>
          </p:nvPr>
        </p:nvGraphicFramePr>
        <p:xfrm>
          <a:off x="5209304" y="3572975"/>
          <a:ext cx="434151" cy="708352"/>
        </p:xfrm>
        <a:graphic>
          <a:graphicData uri="http://schemas.openxmlformats.org/presentationml/2006/ole">
            <mc:AlternateContent xmlns:mc="http://schemas.openxmlformats.org/markup-compatibility/2006">
              <mc:Choice xmlns:v="urn:schemas-microsoft-com:vml" Requires="v">
                <p:oleObj spid="_x0000_s6850" name="Equation" r:id="rId3" imgW="241200" imgH="393480" progId="Equation.DSMT4">
                  <p:embed/>
                </p:oleObj>
              </mc:Choice>
              <mc:Fallback>
                <p:oleObj name="Equation" r:id="rId3" imgW="241200" imgH="393480" progId="Equation.DSMT4">
                  <p:embed/>
                  <p:pic>
                    <p:nvPicPr>
                      <p:cNvPr id="0" name="Object 14"/>
                      <p:cNvPicPr>
                        <a:picLocks noChangeAspect="1" noChangeArrowheads="1"/>
                      </p:cNvPicPr>
                      <p:nvPr/>
                    </p:nvPicPr>
                    <p:blipFill>
                      <a:blip r:embed="rId4"/>
                      <a:srcRect/>
                      <a:stretch>
                        <a:fillRect/>
                      </a:stretch>
                    </p:blipFill>
                    <p:spPr bwMode="auto">
                      <a:xfrm>
                        <a:off x="5209304" y="3572975"/>
                        <a:ext cx="434151" cy="708352"/>
                      </a:xfrm>
                      <a:prstGeom prst="rect">
                        <a:avLst/>
                      </a:prstGeom>
                      <a:solidFill>
                        <a:srgbClr val="92D050"/>
                      </a:solidFill>
                      <a:ln>
                        <a:noFill/>
                      </a:ln>
                      <a:effectLst/>
                      <a:extLst/>
                    </p:spPr>
                  </p:pic>
                </p:oleObj>
              </mc:Fallback>
            </mc:AlternateContent>
          </a:graphicData>
        </a:graphic>
      </p:graphicFrame>
      <p:graphicFrame>
        <p:nvGraphicFramePr>
          <p:cNvPr id="660495" name="Object 15"/>
          <p:cNvGraphicFramePr>
            <a:graphicFrameLocks noChangeAspect="1"/>
          </p:cNvGraphicFramePr>
          <p:nvPr>
            <p:extLst>
              <p:ext uri="{D42A27DB-BD31-4B8C-83A1-F6EECF244321}">
                <p14:modId xmlns:p14="http://schemas.microsoft.com/office/powerpoint/2010/main" val="4185345996"/>
              </p:ext>
            </p:extLst>
          </p:nvPr>
        </p:nvGraphicFramePr>
        <p:xfrm>
          <a:off x="5249638" y="4597046"/>
          <a:ext cx="365285" cy="319624"/>
        </p:xfrm>
        <a:graphic>
          <a:graphicData uri="http://schemas.openxmlformats.org/presentationml/2006/ole">
            <mc:AlternateContent xmlns:mc="http://schemas.openxmlformats.org/markup-compatibility/2006">
              <mc:Choice xmlns:v="urn:schemas-microsoft-com:vml" Requires="v">
                <p:oleObj spid="_x0000_s6851" name="Equation" r:id="rId5" imgW="202936" imgH="177569" progId="Equation.DSMT4">
                  <p:embed/>
                </p:oleObj>
              </mc:Choice>
              <mc:Fallback>
                <p:oleObj name="Equation" r:id="rId5" imgW="202936" imgH="177569"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49638" y="4597046"/>
                        <a:ext cx="365285" cy="319624"/>
                      </a:xfrm>
                      <a:prstGeom prst="rect">
                        <a:avLst/>
                      </a:prstGeom>
                      <a:solidFill>
                        <a:srgbClr val="92D050"/>
                      </a:solidFill>
                      <a:ln>
                        <a:noFill/>
                      </a:ln>
                      <a:effectLst/>
                      <a:extLst/>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3282300386"/>
              </p:ext>
            </p:extLst>
          </p:nvPr>
        </p:nvGraphicFramePr>
        <p:xfrm>
          <a:off x="3000375" y="1536006"/>
          <a:ext cx="639762" cy="752475"/>
        </p:xfrm>
        <a:graphic>
          <a:graphicData uri="http://schemas.openxmlformats.org/presentationml/2006/ole">
            <mc:AlternateContent xmlns:mc="http://schemas.openxmlformats.org/markup-compatibility/2006">
              <mc:Choice xmlns:v="urn:schemas-microsoft-com:vml" Requires="v">
                <p:oleObj spid="_x0000_s6852" name="Equation" r:id="rId7" imgW="355320" imgH="419040" progId="Equation.DSMT4">
                  <p:embed/>
                </p:oleObj>
              </mc:Choice>
              <mc:Fallback>
                <p:oleObj name="Equation" r:id="rId7" imgW="355320" imgH="419040" progId="Equation.DSMT4">
                  <p:embed/>
                  <p:pic>
                    <p:nvPicPr>
                      <p:cNvPr id="0" name=""/>
                      <p:cNvPicPr>
                        <a:picLocks noChangeAspect="1" noChangeArrowheads="1"/>
                      </p:cNvPicPr>
                      <p:nvPr/>
                    </p:nvPicPr>
                    <p:blipFill>
                      <a:blip r:embed="rId8"/>
                      <a:srcRect/>
                      <a:stretch>
                        <a:fillRect/>
                      </a:stretch>
                    </p:blipFill>
                    <p:spPr bwMode="auto">
                      <a:xfrm>
                        <a:off x="3000375" y="1536006"/>
                        <a:ext cx="639762"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172048810"/>
              </p:ext>
            </p:extLst>
          </p:nvPr>
        </p:nvGraphicFramePr>
        <p:xfrm>
          <a:off x="4574381" y="1736032"/>
          <a:ext cx="411163" cy="342900"/>
        </p:xfrm>
        <a:graphic>
          <a:graphicData uri="http://schemas.openxmlformats.org/presentationml/2006/ole">
            <mc:AlternateContent xmlns:mc="http://schemas.openxmlformats.org/markup-compatibility/2006">
              <mc:Choice xmlns:v="urn:schemas-microsoft-com:vml" Requires="v">
                <p:oleObj spid="_x0000_s6853" name="Equation" r:id="rId9" imgW="228600" imgH="190440" progId="Equation.DSMT4">
                  <p:embed/>
                </p:oleObj>
              </mc:Choice>
              <mc:Fallback>
                <p:oleObj name="Equation" r:id="rId9" imgW="228600" imgH="190440" progId="Equation.DSMT4">
                  <p:embed/>
                  <p:pic>
                    <p:nvPicPr>
                      <p:cNvPr id="0" name="Object 14"/>
                      <p:cNvPicPr>
                        <a:picLocks noChangeAspect="1" noChangeArrowheads="1"/>
                      </p:cNvPicPr>
                      <p:nvPr/>
                    </p:nvPicPr>
                    <p:blipFill>
                      <a:blip r:embed="rId10"/>
                      <a:srcRect/>
                      <a:stretch>
                        <a:fillRect/>
                      </a:stretch>
                    </p:blipFill>
                    <p:spPr bwMode="auto">
                      <a:xfrm>
                        <a:off x="4574381" y="1736032"/>
                        <a:ext cx="411163"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下箭头 2"/>
          <p:cNvSpPr/>
          <p:nvPr/>
        </p:nvSpPr>
        <p:spPr bwMode="auto">
          <a:xfrm>
            <a:off x="4236179" y="2661913"/>
            <a:ext cx="411163" cy="676275"/>
          </a:xfrm>
          <a:prstGeom prst="down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4" name="矩形 3"/>
          <p:cNvSpPr/>
          <p:nvPr/>
        </p:nvSpPr>
        <p:spPr>
          <a:xfrm>
            <a:off x="1266098" y="5461958"/>
            <a:ext cx="5862503" cy="400110"/>
          </a:xfrm>
          <a:prstGeom prst="rect">
            <a:avLst/>
          </a:prstGeom>
        </p:spPr>
        <p:txBody>
          <a:bodyPr wrap="none">
            <a:spAutoFit/>
          </a:bodyPr>
          <a:lstStyle/>
          <a:p>
            <a:r>
              <a:rPr lang="zh-CN" altLang="en-US" sz="2000" dirty="0" smtClean="0"/>
              <a:t>采用</a:t>
            </a:r>
            <a:r>
              <a:rPr lang="zh-CN" altLang="en-US" sz="2000" dirty="0" smtClean="0">
                <a:solidFill>
                  <a:srgbClr val="FF0000"/>
                </a:solidFill>
              </a:rPr>
              <a:t>正弦</a:t>
            </a:r>
            <a:r>
              <a:rPr lang="zh-CN" altLang="en-US" sz="2000" dirty="0">
                <a:solidFill>
                  <a:srgbClr val="FF0000"/>
                </a:solidFill>
              </a:rPr>
              <a:t>稳态电路的相量分析</a:t>
            </a:r>
            <a:r>
              <a:rPr lang="zh-CN" altLang="en-US" sz="2000" dirty="0" smtClean="0">
                <a:solidFill>
                  <a:srgbClr val="FF0000"/>
                </a:solidFill>
              </a:rPr>
              <a:t>方法</a:t>
            </a:r>
            <a:r>
              <a:rPr lang="zh-CN" altLang="en-US" sz="2000" dirty="0" smtClean="0"/>
              <a:t>计算传递函数。</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60487"/>
                                        </p:tgtEl>
                                        <p:attrNameLst>
                                          <p:attrName>style.visibility</p:attrName>
                                        </p:attrNameLst>
                                      </p:cBhvr>
                                      <p:to>
                                        <p:strVal val="visible"/>
                                      </p:to>
                                    </p:set>
                                    <p:animEffect transition="in" filter="barn(inVertical)">
                                      <p:cBhvr>
                                        <p:cTn id="7" dur="500"/>
                                        <p:tgtEl>
                                          <p:spTgt spid="66048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60491"/>
                                        </p:tgtEl>
                                        <p:attrNameLst>
                                          <p:attrName>style.visibility</p:attrName>
                                        </p:attrNameLst>
                                      </p:cBhvr>
                                      <p:to>
                                        <p:strVal val="visible"/>
                                      </p:to>
                                    </p:set>
                                    <p:animEffect transition="in" filter="barn(inVertical)">
                                      <p:cBhvr>
                                        <p:cTn id="10" dur="500"/>
                                        <p:tgtEl>
                                          <p:spTgt spid="660491"/>
                                        </p:tgtEl>
                                      </p:cBhvr>
                                    </p:animEffect>
                                  </p:childTnLst>
                                </p:cTn>
                              </p:par>
                              <p:par>
                                <p:cTn id="11" presetID="16" presetClass="entr" presetSubtype="21"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barn(inVertical)">
                                      <p:cBhvr>
                                        <p:cTn id="13" dur="500"/>
                                        <p:tgtEl>
                                          <p:spTgt spid="15"/>
                                        </p:tgtEl>
                                      </p:cBhvr>
                                    </p:animEffect>
                                  </p:childTnLst>
                                </p:cTn>
                              </p:par>
                              <p:par>
                                <p:cTn id="14" presetID="16" presetClass="entr" presetSubtype="21"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arn(inVertical)">
                                      <p:cBhvr>
                                        <p:cTn id="21" dur="500"/>
                                        <p:tgtEl>
                                          <p:spTgt spid="3"/>
                                        </p:tgtEl>
                                      </p:cBhvr>
                                    </p:animEffect>
                                  </p:childTnLst>
                                </p:cTn>
                              </p:par>
                            </p:childTnLst>
                          </p:cTn>
                        </p:par>
                        <p:par>
                          <p:cTn id="22" fill="hold">
                            <p:stCondLst>
                              <p:cond delay="500"/>
                            </p:stCondLst>
                            <p:childTnLst>
                              <p:par>
                                <p:cTn id="23" presetID="16" presetClass="entr" presetSubtype="21" fill="hold" grpId="0" nodeType="afterEffect">
                                  <p:stCondLst>
                                    <p:cond delay="0"/>
                                  </p:stCondLst>
                                  <p:childTnLst>
                                    <p:set>
                                      <p:cBhvr>
                                        <p:cTn id="24" dur="1" fill="hold">
                                          <p:stCondLst>
                                            <p:cond delay="0"/>
                                          </p:stCondLst>
                                        </p:cTn>
                                        <p:tgtEl>
                                          <p:spTgt spid="660492"/>
                                        </p:tgtEl>
                                        <p:attrNameLst>
                                          <p:attrName>style.visibility</p:attrName>
                                        </p:attrNameLst>
                                      </p:cBhvr>
                                      <p:to>
                                        <p:strVal val="visible"/>
                                      </p:to>
                                    </p:set>
                                    <p:animEffect transition="in" filter="barn(inVertical)">
                                      <p:cBhvr>
                                        <p:cTn id="25" dur="500"/>
                                        <p:tgtEl>
                                          <p:spTgt spid="660492"/>
                                        </p:tgtEl>
                                      </p:cBhvr>
                                    </p:animEffect>
                                  </p:childTnLst>
                                </p:cTn>
                              </p:par>
                              <p:par>
                                <p:cTn id="26" presetID="16" presetClass="entr" presetSubtype="21" fill="hold" nodeType="withEffect">
                                  <p:stCondLst>
                                    <p:cond delay="0"/>
                                  </p:stCondLst>
                                  <p:childTnLst>
                                    <p:set>
                                      <p:cBhvr>
                                        <p:cTn id="27" dur="1" fill="hold">
                                          <p:stCondLst>
                                            <p:cond delay="0"/>
                                          </p:stCondLst>
                                        </p:cTn>
                                        <p:tgtEl>
                                          <p:spTgt spid="660494"/>
                                        </p:tgtEl>
                                        <p:attrNameLst>
                                          <p:attrName>style.visibility</p:attrName>
                                        </p:attrNameLst>
                                      </p:cBhvr>
                                      <p:to>
                                        <p:strVal val="visible"/>
                                      </p:to>
                                    </p:set>
                                    <p:animEffect transition="in" filter="barn(inVertical)">
                                      <p:cBhvr>
                                        <p:cTn id="28" dur="500"/>
                                        <p:tgtEl>
                                          <p:spTgt spid="660494"/>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660493"/>
                                        </p:tgtEl>
                                        <p:attrNameLst>
                                          <p:attrName>style.visibility</p:attrName>
                                        </p:attrNameLst>
                                      </p:cBhvr>
                                      <p:to>
                                        <p:strVal val="visible"/>
                                      </p:to>
                                    </p:set>
                                    <p:animEffect transition="in" filter="barn(inVertical)">
                                      <p:cBhvr>
                                        <p:cTn id="33" dur="500"/>
                                        <p:tgtEl>
                                          <p:spTgt spid="660493"/>
                                        </p:tgtEl>
                                      </p:cBhvr>
                                    </p:animEffect>
                                  </p:childTnLst>
                                </p:cTn>
                              </p:par>
                              <p:par>
                                <p:cTn id="34" presetID="16" presetClass="entr" presetSubtype="21" fill="hold" nodeType="withEffect">
                                  <p:stCondLst>
                                    <p:cond delay="0"/>
                                  </p:stCondLst>
                                  <p:childTnLst>
                                    <p:set>
                                      <p:cBhvr>
                                        <p:cTn id="35" dur="1" fill="hold">
                                          <p:stCondLst>
                                            <p:cond delay="0"/>
                                          </p:stCondLst>
                                        </p:cTn>
                                        <p:tgtEl>
                                          <p:spTgt spid="660495"/>
                                        </p:tgtEl>
                                        <p:attrNameLst>
                                          <p:attrName>style.visibility</p:attrName>
                                        </p:attrNameLst>
                                      </p:cBhvr>
                                      <p:to>
                                        <p:strVal val="visible"/>
                                      </p:to>
                                    </p:set>
                                    <p:animEffect transition="in" filter="barn(inVertical)">
                                      <p:cBhvr>
                                        <p:cTn id="36" dur="500"/>
                                        <p:tgtEl>
                                          <p:spTgt spid="660495"/>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arn(inVertical)">
                                      <p:cBhvr>
                                        <p:cTn id="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487" grpId="0"/>
      <p:bldP spid="660491" grpId="0"/>
      <p:bldP spid="660492" grpId="0"/>
      <p:bldP spid="660493" grpId="0"/>
      <p:bldP spid="3" grpId="0" animBg="1"/>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3386" name="Text Box 10"/>
          <p:cNvSpPr txBox="1">
            <a:spLocks noChangeArrowheads="1"/>
          </p:cNvSpPr>
          <p:nvPr/>
        </p:nvSpPr>
        <p:spPr bwMode="auto">
          <a:xfrm>
            <a:off x="1050925" y="755848"/>
            <a:ext cx="3087688" cy="449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Char char="l"/>
            </a:pPr>
            <a:r>
              <a:rPr lang="en-US" altLang="zh-CN" sz="2000" dirty="0"/>
              <a:t>  </a:t>
            </a:r>
            <a:r>
              <a:rPr lang="zh-CN" altLang="en-US" sz="2000" dirty="0" smtClean="0"/>
              <a:t>传递函数</a:t>
            </a:r>
            <a:endParaRPr lang="zh-CN" altLang="en-US" sz="2000" dirty="0"/>
          </a:p>
        </p:txBody>
      </p:sp>
      <p:graphicFrame>
        <p:nvGraphicFramePr>
          <p:cNvPr id="613387" name="Object 11"/>
          <p:cNvGraphicFramePr>
            <a:graphicFrameLocks noChangeAspect="1"/>
          </p:cNvGraphicFramePr>
          <p:nvPr>
            <p:extLst>
              <p:ext uri="{D42A27DB-BD31-4B8C-83A1-F6EECF244321}">
                <p14:modId xmlns:p14="http://schemas.microsoft.com/office/powerpoint/2010/main" val="3947343795"/>
              </p:ext>
            </p:extLst>
          </p:nvPr>
        </p:nvGraphicFramePr>
        <p:xfrm>
          <a:off x="1643010" y="1508344"/>
          <a:ext cx="5006340" cy="845820"/>
        </p:xfrm>
        <a:graphic>
          <a:graphicData uri="http://schemas.openxmlformats.org/presentationml/2006/ole">
            <mc:AlternateContent xmlns:mc="http://schemas.openxmlformats.org/markup-compatibility/2006">
              <mc:Choice xmlns:v="urn:schemas-microsoft-com:vml" Requires="v">
                <p:oleObj spid="_x0000_s72781" name="Equation" r:id="rId3" imgW="2781300" imgH="469900" progId="Equation.DSMT4">
                  <p:embed/>
                </p:oleObj>
              </mc:Choice>
              <mc:Fallback>
                <p:oleObj name="Equation" r:id="rId3" imgW="2781300" imgH="4699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010" y="1508344"/>
                        <a:ext cx="5006340" cy="8458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88" name="Object 12"/>
          <p:cNvGraphicFramePr>
            <a:graphicFrameLocks noChangeAspect="1"/>
          </p:cNvGraphicFramePr>
          <p:nvPr>
            <p:extLst>
              <p:ext uri="{D42A27DB-BD31-4B8C-83A1-F6EECF244321}">
                <p14:modId xmlns:p14="http://schemas.microsoft.com/office/powerpoint/2010/main" val="2773323249"/>
              </p:ext>
            </p:extLst>
          </p:nvPr>
        </p:nvGraphicFramePr>
        <p:xfrm>
          <a:off x="1825625" y="2715812"/>
          <a:ext cx="1028254" cy="457002"/>
        </p:xfrm>
        <a:graphic>
          <a:graphicData uri="http://schemas.openxmlformats.org/presentationml/2006/ole">
            <mc:AlternateContent xmlns:mc="http://schemas.openxmlformats.org/markup-compatibility/2006">
              <mc:Choice xmlns:v="urn:schemas-microsoft-com:vml" Requires="v">
                <p:oleObj spid="_x0000_s72782" name="Equation" r:id="rId5" imgW="571252" imgH="253890" progId="Equation.DSMT4">
                  <p:embed/>
                </p:oleObj>
              </mc:Choice>
              <mc:Fallback>
                <p:oleObj name="Equation" r:id="rId5" imgW="571252" imgH="25389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5625" y="2715812"/>
                        <a:ext cx="1028254" cy="4570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3389" name="AutoShape 13"/>
          <p:cNvSpPr>
            <a:spLocks noChangeArrowheads="1"/>
          </p:cNvSpPr>
          <p:nvPr/>
        </p:nvSpPr>
        <p:spPr bwMode="auto">
          <a:xfrm>
            <a:off x="3556000" y="2796138"/>
            <a:ext cx="828675" cy="233363"/>
          </a:xfrm>
          <a:prstGeom prst="rightArrow">
            <a:avLst>
              <a:gd name="adj1" fmla="val 50000"/>
              <a:gd name="adj2" fmla="val 88775"/>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sz="2000"/>
          </a:p>
        </p:txBody>
      </p:sp>
      <p:sp>
        <p:nvSpPr>
          <p:cNvPr id="613390" name="Text Box 14"/>
          <p:cNvSpPr txBox="1">
            <a:spLocks noChangeArrowheads="1"/>
          </p:cNvSpPr>
          <p:nvPr/>
        </p:nvSpPr>
        <p:spPr bwMode="auto">
          <a:xfrm>
            <a:off x="4622800" y="2657074"/>
            <a:ext cx="99695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None/>
            </a:pPr>
            <a:r>
              <a:rPr lang="zh-CN" altLang="en-US" sz="2000">
                <a:solidFill>
                  <a:srgbClr val="FF0000"/>
                </a:solidFill>
              </a:rPr>
              <a:t>零点</a:t>
            </a:r>
          </a:p>
        </p:txBody>
      </p:sp>
      <p:graphicFrame>
        <p:nvGraphicFramePr>
          <p:cNvPr id="613391" name="Object 15"/>
          <p:cNvGraphicFramePr>
            <a:graphicFrameLocks noChangeAspect="1"/>
          </p:cNvGraphicFramePr>
          <p:nvPr>
            <p:extLst>
              <p:ext uri="{D42A27DB-BD31-4B8C-83A1-F6EECF244321}">
                <p14:modId xmlns:p14="http://schemas.microsoft.com/office/powerpoint/2010/main" val="4023942370"/>
              </p:ext>
            </p:extLst>
          </p:nvPr>
        </p:nvGraphicFramePr>
        <p:xfrm>
          <a:off x="5311775" y="2725515"/>
          <a:ext cx="1622356" cy="411302"/>
        </p:xfrm>
        <a:graphic>
          <a:graphicData uri="http://schemas.openxmlformats.org/presentationml/2006/ole">
            <mc:AlternateContent xmlns:mc="http://schemas.openxmlformats.org/markup-compatibility/2006">
              <mc:Choice xmlns:v="urn:schemas-microsoft-com:vml" Requires="v">
                <p:oleObj spid="_x0000_s72783" name="Equation" r:id="rId7" imgW="901309" imgH="228501" progId="Equation.DSMT4">
                  <p:embed/>
                </p:oleObj>
              </mc:Choice>
              <mc:Fallback>
                <p:oleObj name="Equation" r:id="rId7" imgW="901309" imgH="228501"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11775" y="2725515"/>
                        <a:ext cx="1622356" cy="411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92" name="Object 16"/>
          <p:cNvGraphicFramePr>
            <a:graphicFrameLocks noChangeAspect="1"/>
          </p:cNvGraphicFramePr>
          <p:nvPr>
            <p:extLst>
              <p:ext uri="{D42A27DB-BD31-4B8C-83A1-F6EECF244321}">
                <p14:modId xmlns:p14="http://schemas.microsoft.com/office/powerpoint/2010/main" val="105096543"/>
              </p:ext>
            </p:extLst>
          </p:nvPr>
        </p:nvGraphicFramePr>
        <p:xfrm>
          <a:off x="1825626" y="3268039"/>
          <a:ext cx="1096805" cy="457002"/>
        </p:xfrm>
        <a:graphic>
          <a:graphicData uri="http://schemas.openxmlformats.org/presentationml/2006/ole">
            <mc:AlternateContent xmlns:mc="http://schemas.openxmlformats.org/markup-compatibility/2006">
              <mc:Choice xmlns:v="urn:schemas-microsoft-com:vml" Requires="v">
                <p:oleObj spid="_x0000_s72784" name="Equation" r:id="rId9" imgW="609336" imgH="253890" progId="Equation.DSMT4">
                  <p:embed/>
                </p:oleObj>
              </mc:Choice>
              <mc:Fallback>
                <p:oleObj name="Equation" r:id="rId9" imgW="609336" imgH="25389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5626" y="3268039"/>
                        <a:ext cx="1096805" cy="4570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3393" name="AutoShape 17"/>
          <p:cNvSpPr>
            <a:spLocks noChangeArrowheads="1"/>
          </p:cNvSpPr>
          <p:nvPr/>
        </p:nvSpPr>
        <p:spPr bwMode="auto">
          <a:xfrm>
            <a:off x="3600450" y="3338842"/>
            <a:ext cx="828675" cy="233362"/>
          </a:xfrm>
          <a:prstGeom prst="rightArrow">
            <a:avLst>
              <a:gd name="adj1" fmla="val 50000"/>
              <a:gd name="adj2" fmla="val 88776"/>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sz="2000"/>
          </a:p>
        </p:txBody>
      </p:sp>
      <p:sp>
        <p:nvSpPr>
          <p:cNvPr id="613394" name="Text Box 18"/>
          <p:cNvSpPr txBox="1">
            <a:spLocks noChangeArrowheads="1"/>
          </p:cNvSpPr>
          <p:nvPr/>
        </p:nvSpPr>
        <p:spPr bwMode="auto">
          <a:xfrm>
            <a:off x="4604620" y="3209302"/>
            <a:ext cx="99695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None/>
            </a:pPr>
            <a:r>
              <a:rPr lang="zh-CN" altLang="en-US" sz="2000">
                <a:solidFill>
                  <a:srgbClr val="FF0000"/>
                </a:solidFill>
              </a:rPr>
              <a:t>极点</a:t>
            </a:r>
          </a:p>
        </p:txBody>
      </p:sp>
      <p:graphicFrame>
        <p:nvGraphicFramePr>
          <p:cNvPr id="613395" name="Object 19"/>
          <p:cNvGraphicFramePr>
            <a:graphicFrameLocks noChangeAspect="1"/>
          </p:cNvGraphicFramePr>
          <p:nvPr>
            <p:extLst>
              <p:ext uri="{D42A27DB-BD31-4B8C-83A1-F6EECF244321}">
                <p14:modId xmlns:p14="http://schemas.microsoft.com/office/powerpoint/2010/main" val="277700359"/>
              </p:ext>
            </p:extLst>
          </p:nvPr>
        </p:nvGraphicFramePr>
        <p:xfrm>
          <a:off x="5312646" y="3252165"/>
          <a:ext cx="1462405" cy="411302"/>
        </p:xfrm>
        <a:graphic>
          <a:graphicData uri="http://schemas.openxmlformats.org/presentationml/2006/ole">
            <mc:AlternateContent xmlns:mc="http://schemas.openxmlformats.org/markup-compatibility/2006">
              <mc:Choice xmlns:v="urn:schemas-microsoft-com:vml" Requires="v">
                <p:oleObj spid="_x0000_s72785" name="Equation" r:id="rId11" imgW="812447" imgH="228501" progId="Equation.DSMT4">
                  <p:embed/>
                </p:oleObj>
              </mc:Choice>
              <mc:Fallback>
                <p:oleObj name="Equation" r:id="rId11" imgW="812447" imgH="228501"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12646" y="3252165"/>
                        <a:ext cx="1462405" cy="411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Text Box 2"/>
          <p:cNvSpPr txBox="1">
            <a:spLocks noChangeArrowheads="1"/>
          </p:cNvSpPr>
          <p:nvPr/>
        </p:nvSpPr>
        <p:spPr bwMode="auto">
          <a:xfrm>
            <a:off x="1679630" y="4961449"/>
            <a:ext cx="6972189"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rtl="0" fontAlgn="base">
              <a:spcBef>
                <a:spcPct val="0"/>
              </a:spcBef>
              <a:spcAft>
                <a:spcPct val="0"/>
              </a:spcAft>
              <a:defRPr kumimoji="1" sz="2400" b="1" kern="1200">
                <a:solidFill>
                  <a:schemeClr val="tx1"/>
                </a:solidFill>
                <a:latin typeface="Times New Roman" pitchFamily="18" charset="0"/>
                <a:ea typeface="宋体" charset="-122"/>
                <a:cs typeface="+mn-cs"/>
              </a:defRPr>
            </a:lvl1pPr>
            <a:lvl2pPr marL="457200" algn="ctr" rtl="0" fontAlgn="base">
              <a:spcBef>
                <a:spcPct val="0"/>
              </a:spcBef>
              <a:spcAft>
                <a:spcPct val="0"/>
              </a:spcAft>
              <a:defRPr kumimoji="1" sz="2400" b="1" kern="1200">
                <a:solidFill>
                  <a:schemeClr val="tx1"/>
                </a:solidFill>
                <a:latin typeface="Times New Roman" pitchFamily="18" charset="0"/>
                <a:ea typeface="宋体" charset="-122"/>
                <a:cs typeface="+mn-cs"/>
              </a:defRPr>
            </a:lvl2pPr>
            <a:lvl3pPr marL="914400" algn="ctr" rtl="0" fontAlgn="base">
              <a:spcBef>
                <a:spcPct val="0"/>
              </a:spcBef>
              <a:spcAft>
                <a:spcPct val="0"/>
              </a:spcAft>
              <a:defRPr kumimoji="1" sz="2400" b="1" kern="1200">
                <a:solidFill>
                  <a:schemeClr val="tx1"/>
                </a:solidFill>
                <a:latin typeface="Times New Roman" pitchFamily="18" charset="0"/>
                <a:ea typeface="宋体" charset="-122"/>
                <a:cs typeface="+mn-cs"/>
              </a:defRPr>
            </a:lvl3pPr>
            <a:lvl4pPr marL="1371600" algn="ctr" rtl="0" fontAlgn="base">
              <a:spcBef>
                <a:spcPct val="0"/>
              </a:spcBef>
              <a:spcAft>
                <a:spcPct val="0"/>
              </a:spcAft>
              <a:defRPr kumimoji="1" sz="2400" b="1" kern="1200">
                <a:solidFill>
                  <a:schemeClr val="tx1"/>
                </a:solidFill>
                <a:latin typeface="Times New Roman" pitchFamily="18" charset="0"/>
                <a:ea typeface="宋体" charset="-122"/>
                <a:cs typeface="+mn-cs"/>
              </a:defRPr>
            </a:lvl4pPr>
            <a:lvl5pPr marL="1828800" algn="ctr" rtl="0" fontAlgn="base">
              <a:spcBef>
                <a:spcPct val="0"/>
              </a:spcBef>
              <a:spcAft>
                <a:spcPct val="0"/>
              </a:spcAft>
              <a:defRPr kumimoji="1" sz="2400" b="1" kern="1200">
                <a:solidFill>
                  <a:schemeClr val="tx1"/>
                </a:solidFill>
                <a:latin typeface="Times New Roman" pitchFamily="18" charset="0"/>
                <a:ea typeface="宋体" charset="-122"/>
                <a:cs typeface="+mn-cs"/>
              </a:defRPr>
            </a:lvl5pPr>
            <a:lvl6pPr marL="2286000" algn="l" defTabSz="914400" rtl="0" eaLnBrk="1" latinLnBrk="0" hangingPunct="1">
              <a:defRPr kumimoji="1" sz="2400" b="1" kern="1200">
                <a:solidFill>
                  <a:schemeClr val="tx1"/>
                </a:solidFill>
                <a:latin typeface="Times New Roman" pitchFamily="18" charset="0"/>
                <a:ea typeface="宋体" charset="-122"/>
                <a:cs typeface="+mn-cs"/>
              </a:defRPr>
            </a:lvl6pPr>
            <a:lvl7pPr marL="2743200" algn="l" defTabSz="914400" rtl="0" eaLnBrk="1" latinLnBrk="0" hangingPunct="1">
              <a:defRPr kumimoji="1" sz="2400" b="1" kern="1200">
                <a:solidFill>
                  <a:schemeClr val="tx1"/>
                </a:solidFill>
                <a:latin typeface="Times New Roman" pitchFamily="18" charset="0"/>
                <a:ea typeface="宋体" charset="-122"/>
                <a:cs typeface="+mn-cs"/>
              </a:defRPr>
            </a:lvl7pPr>
            <a:lvl8pPr marL="3200400" algn="l" defTabSz="914400" rtl="0" eaLnBrk="1" latinLnBrk="0" hangingPunct="1">
              <a:defRPr kumimoji="1" sz="2400" b="1" kern="1200">
                <a:solidFill>
                  <a:schemeClr val="tx1"/>
                </a:solidFill>
                <a:latin typeface="Times New Roman" pitchFamily="18" charset="0"/>
                <a:ea typeface="宋体" charset="-122"/>
                <a:cs typeface="+mn-cs"/>
              </a:defRPr>
            </a:lvl8pPr>
            <a:lvl9pPr marL="3657600" algn="l" defTabSz="914400" rtl="0" eaLnBrk="1" latinLnBrk="0" hangingPunct="1">
              <a:defRPr kumimoji="1" sz="2400" b="1" kern="1200">
                <a:solidFill>
                  <a:schemeClr val="tx1"/>
                </a:solidFill>
                <a:latin typeface="Times New Roman" pitchFamily="18" charset="0"/>
                <a:ea typeface="宋体" charset="-122"/>
                <a:cs typeface="+mn-cs"/>
              </a:defRPr>
            </a:lvl9pPr>
          </a:lstStyle>
          <a:p>
            <a:pPr algn="l">
              <a:spcBef>
                <a:spcPct val="50000"/>
              </a:spcBef>
              <a:buFontTx/>
              <a:buAutoNum type="circleNumDbPlain"/>
            </a:pPr>
            <a:r>
              <a:rPr lang="zh-CN" altLang="en-US" sz="2000" dirty="0" smtClean="0">
                <a:latin typeface="楷体_GB2312" pitchFamily="49" charset="-122"/>
                <a:ea typeface="楷体_GB2312" pitchFamily="49" charset="-122"/>
              </a:rPr>
              <a:t> </a:t>
            </a:r>
            <a:r>
              <a:rPr lang="zh-CN" altLang="en-US" sz="2000" dirty="0">
                <a:latin typeface="楷体_GB2312" pitchFamily="49" charset="-122"/>
                <a:ea typeface="楷体_GB2312" pitchFamily="49" charset="-122"/>
              </a:rPr>
              <a:t>零</a:t>
            </a:r>
            <a:r>
              <a:rPr lang="zh-CN" altLang="en-US" sz="2000" dirty="0" smtClean="0">
                <a:latin typeface="楷体_GB2312" pitchFamily="49" charset="-122"/>
                <a:ea typeface="楷体_GB2312" pitchFamily="49" charset="-122"/>
              </a:rPr>
              <a:t>点和极点可以是实数或复数。</a:t>
            </a:r>
            <a:endParaRPr lang="en-US" altLang="zh-CN" sz="2000" dirty="0" smtClean="0">
              <a:latin typeface="楷体_GB2312" pitchFamily="49" charset="-122"/>
              <a:ea typeface="楷体_GB2312" pitchFamily="49" charset="-122"/>
            </a:endParaRPr>
          </a:p>
          <a:p>
            <a:pPr algn="l">
              <a:spcBef>
                <a:spcPct val="50000"/>
              </a:spcBef>
              <a:buFontTx/>
              <a:buAutoNum type="circleNumDbPlain"/>
            </a:pPr>
            <a:r>
              <a:rPr lang="en-US" altLang="zh-CN" sz="2000" dirty="0">
                <a:latin typeface="楷体_GB2312" pitchFamily="49" charset="-122"/>
                <a:ea typeface="楷体_GB2312" pitchFamily="49" charset="-122"/>
              </a:rPr>
              <a:t> </a:t>
            </a:r>
            <a:r>
              <a:rPr lang="zh-CN" altLang="en-US" sz="2000" dirty="0" smtClean="0">
                <a:latin typeface="楷体_GB2312" pitchFamily="49" charset="-122"/>
                <a:ea typeface="楷体_GB2312" pitchFamily="49" charset="-122"/>
              </a:rPr>
              <a:t>因为 </a:t>
            </a:r>
            <a:r>
              <a:rPr lang="en-US" altLang="zh-CN" sz="2000" i="1" dirty="0" smtClean="0">
                <a:latin typeface="+mj-lt"/>
                <a:ea typeface="楷体_GB2312" pitchFamily="49" charset="-122"/>
              </a:rPr>
              <a:t>a</a:t>
            </a:r>
            <a:r>
              <a:rPr lang="en-US" altLang="zh-CN" sz="2000" i="1" baseline="-25000" dirty="0" smtClean="0">
                <a:latin typeface="+mj-lt"/>
                <a:ea typeface="楷体_GB2312" pitchFamily="49" charset="-122"/>
              </a:rPr>
              <a:t>m </a:t>
            </a:r>
            <a:r>
              <a:rPr lang="zh-CN" altLang="en-US" sz="2000" dirty="0" smtClean="0">
                <a:latin typeface="楷体_GB2312" pitchFamily="49" charset="-122"/>
                <a:ea typeface="楷体_GB2312" pitchFamily="49" charset="-122"/>
              </a:rPr>
              <a:t>是实数，所以复零点或复极点一定以共轭对形式出现。</a:t>
            </a:r>
            <a:endParaRPr lang="zh-CN" altLang="en-US" sz="2000" dirty="0">
              <a:latin typeface="楷体_GB2312" pitchFamily="49" charset="-122"/>
              <a:ea typeface="楷体_GB2312" pitchFamily="49" charset="-122"/>
            </a:endParaRPr>
          </a:p>
        </p:txBody>
      </p:sp>
      <p:grpSp>
        <p:nvGrpSpPr>
          <p:cNvPr id="20" name="Group 5"/>
          <p:cNvGrpSpPr>
            <a:grpSpLocks/>
          </p:cNvGrpSpPr>
          <p:nvPr/>
        </p:nvGrpSpPr>
        <p:grpSpPr bwMode="auto">
          <a:xfrm>
            <a:off x="889000" y="4163452"/>
            <a:ext cx="1560286" cy="766044"/>
            <a:chOff x="385" y="3022"/>
            <a:chExt cx="977" cy="536"/>
          </a:xfrm>
        </p:grpSpPr>
        <p:pic>
          <p:nvPicPr>
            <p:cNvPr id="21" name="Picture 6" descr="1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extLst>
              <a:ext uri="{909E8E84-426E-40DD-AFC4-6F175D3DCCD1}">
                <a14:hiddenFill xmlns:a14="http://schemas.microsoft.com/office/drawing/2010/main">
                  <a:solidFill>
                    <a:srgbClr val="FFFFFF"/>
                  </a:solidFill>
                </a14:hiddenFill>
              </a:ext>
            </a:extLst>
          </p:spPr>
        </p:pic>
        <p:sp>
          <p:nvSpPr>
            <p:cNvPr id="22" name="Text Box 7"/>
            <p:cNvSpPr txBox="1">
              <a:spLocks noChangeArrowheads="1"/>
            </p:cNvSpPr>
            <p:nvPr/>
          </p:nvSpPr>
          <p:spPr bwMode="auto">
            <a:xfrm>
              <a:off x="793" y="3125"/>
              <a:ext cx="56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kumimoji="1" sz="2400" b="1" kern="1200">
                  <a:solidFill>
                    <a:schemeClr val="tx1"/>
                  </a:solidFill>
                  <a:latin typeface="Times New Roman" pitchFamily="18" charset="0"/>
                  <a:ea typeface="宋体" charset="-122"/>
                  <a:cs typeface="+mn-cs"/>
                </a:defRPr>
              </a:lvl1pPr>
              <a:lvl2pPr marL="457200" algn="ctr" rtl="0" fontAlgn="base">
                <a:spcBef>
                  <a:spcPct val="0"/>
                </a:spcBef>
                <a:spcAft>
                  <a:spcPct val="0"/>
                </a:spcAft>
                <a:defRPr kumimoji="1" sz="2400" b="1" kern="1200">
                  <a:solidFill>
                    <a:schemeClr val="tx1"/>
                  </a:solidFill>
                  <a:latin typeface="Times New Roman" pitchFamily="18" charset="0"/>
                  <a:ea typeface="宋体" charset="-122"/>
                  <a:cs typeface="+mn-cs"/>
                </a:defRPr>
              </a:lvl2pPr>
              <a:lvl3pPr marL="914400" algn="ctr" rtl="0" fontAlgn="base">
                <a:spcBef>
                  <a:spcPct val="0"/>
                </a:spcBef>
                <a:spcAft>
                  <a:spcPct val="0"/>
                </a:spcAft>
                <a:defRPr kumimoji="1" sz="2400" b="1" kern="1200">
                  <a:solidFill>
                    <a:schemeClr val="tx1"/>
                  </a:solidFill>
                  <a:latin typeface="Times New Roman" pitchFamily="18" charset="0"/>
                  <a:ea typeface="宋体" charset="-122"/>
                  <a:cs typeface="+mn-cs"/>
                </a:defRPr>
              </a:lvl3pPr>
              <a:lvl4pPr marL="1371600" algn="ctr" rtl="0" fontAlgn="base">
                <a:spcBef>
                  <a:spcPct val="0"/>
                </a:spcBef>
                <a:spcAft>
                  <a:spcPct val="0"/>
                </a:spcAft>
                <a:defRPr kumimoji="1" sz="2400" b="1" kern="1200">
                  <a:solidFill>
                    <a:schemeClr val="tx1"/>
                  </a:solidFill>
                  <a:latin typeface="Times New Roman" pitchFamily="18" charset="0"/>
                  <a:ea typeface="宋体" charset="-122"/>
                  <a:cs typeface="+mn-cs"/>
                </a:defRPr>
              </a:lvl4pPr>
              <a:lvl5pPr marL="1828800" algn="ctr" rtl="0" fontAlgn="base">
                <a:spcBef>
                  <a:spcPct val="0"/>
                </a:spcBef>
                <a:spcAft>
                  <a:spcPct val="0"/>
                </a:spcAft>
                <a:defRPr kumimoji="1" sz="2400" b="1" kern="1200">
                  <a:solidFill>
                    <a:schemeClr val="tx1"/>
                  </a:solidFill>
                  <a:latin typeface="Times New Roman" pitchFamily="18" charset="0"/>
                  <a:ea typeface="宋体" charset="-122"/>
                  <a:cs typeface="+mn-cs"/>
                </a:defRPr>
              </a:lvl5pPr>
              <a:lvl6pPr marL="2286000" algn="l" defTabSz="914400" rtl="0" eaLnBrk="1" latinLnBrk="0" hangingPunct="1">
                <a:defRPr kumimoji="1" sz="2400" b="1" kern="1200">
                  <a:solidFill>
                    <a:schemeClr val="tx1"/>
                  </a:solidFill>
                  <a:latin typeface="Times New Roman" pitchFamily="18" charset="0"/>
                  <a:ea typeface="宋体" charset="-122"/>
                  <a:cs typeface="+mn-cs"/>
                </a:defRPr>
              </a:lvl6pPr>
              <a:lvl7pPr marL="2743200" algn="l" defTabSz="914400" rtl="0" eaLnBrk="1" latinLnBrk="0" hangingPunct="1">
                <a:defRPr kumimoji="1" sz="2400" b="1" kern="1200">
                  <a:solidFill>
                    <a:schemeClr val="tx1"/>
                  </a:solidFill>
                  <a:latin typeface="Times New Roman" pitchFamily="18" charset="0"/>
                  <a:ea typeface="宋体" charset="-122"/>
                  <a:cs typeface="+mn-cs"/>
                </a:defRPr>
              </a:lvl7pPr>
              <a:lvl8pPr marL="3200400" algn="l" defTabSz="914400" rtl="0" eaLnBrk="1" latinLnBrk="0" hangingPunct="1">
                <a:defRPr kumimoji="1" sz="2400" b="1" kern="1200">
                  <a:solidFill>
                    <a:schemeClr val="tx1"/>
                  </a:solidFill>
                  <a:latin typeface="Times New Roman" pitchFamily="18" charset="0"/>
                  <a:ea typeface="宋体" charset="-122"/>
                  <a:cs typeface="+mn-cs"/>
                </a:defRPr>
              </a:lvl8pPr>
              <a:lvl9pPr marL="3657600" algn="l" defTabSz="914400" rtl="0" eaLnBrk="1" latinLnBrk="0" hangingPunct="1">
                <a:defRPr kumimoji="1" sz="2400" b="1" kern="1200">
                  <a:solidFill>
                    <a:schemeClr val="tx1"/>
                  </a:solidFill>
                  <a:latin typeface="Times New Roman" pitchFamily="18" charset="0"/>
                  <a:ea typeface="宋体" charset="-122"/>
                  <a:cs typeface="+mn-cs"/>
                </a:defRPr>
              </a:lvl9pPr>
            </a:lstStyle>
            <a:p>
              <a:pPr algn="l"/>
              <a:r>
                <a:rPr lang="zh-CN" altLang="en-US" sz="2800" b="0" dirty="0">
                  <a:solidFill>
                    <a:srgbClr val="FA7748"/>
                  </a:solidFill>
                  <a:ea typeface="华文行楷" pitchFamily="2" charset="-122"/>
                </a:rPr>
                <a:t>注意</a:t>
              </a:r>
            </a:p>
          </p:txBody>
        </p:sp>
      </p:grpSp>
    </p:spTree>
    <p:extLst>
      <p:ext uri="{BB962C8B-B14F-4D97-AF65-F5344CB8AC3E}">
        <p14:creationId xmlns:p14="http://schemas.microsoft.com/office/powerpoint/2010/main" val="17416531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3386"/>
                                        </p:tgtEl>
                                        <p:attrNameLst>
                                          <p:attrName>style.visibility</p:attrName>
                                        </p:attrNameLst>
                                      </p:cBhvr>
                                      <p:to>
                                        <p:strVal val="visible"/>
                                      </p:to>
                                    </p:set>
                                    <p:animEffect transition="in" filter="blinds(horizontal)">
                                      <p:cBhvr>
                                        <p:cTn id="7" dur="500"/>
                                        <p:tgtEl>
                                          <p:spTgt spid="613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13387"/>
                                        </p:tgtEl>
                                        <p:attrNameLst>
                                          <p:attrName>style.visibility</p:attrName>
                                        </p:attrNameLst>
                                      </p:cBhvr>
                                      <p:to>
                                        <p:strVal val="visible"/>
                                      </p:to>
                                    </p:set>
                                    <p:animEffect transition="in" filter="box(in)">
                                      <p:cBhvr>
                                        <p:cTn id="12" dur="500"/>
                                        <p:tgtEl>
                                          <p:spTgt spid="6133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3388"/>
                                        </p:tgtEl>
                                        <p:attrNameLst>
                                          <p:attrName>style.visibility</p:attrName>
                                        </p:attrNameLst>
                                      </p:cBhvr>
                                      <p:to>
                                        <p:strVal val="visible"/>
                                      </p:to>
                                    </p:set>
                                    <p:animEffect transition="in" filter="blinds(horizontal)">
                                      <p:cBhvr>
                                        <p:cTn id="17" dur="500"/>
                                        <p:tgtEl>
                                          <p:spTgt spid="61338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613389"/>
                                        </p:tgtEl>
                                        <p:attrNameLst>
                                          <p:attrName>style.visibility</p:attrName>
                                        </p:attrNameLst>
                                      </p:cBhvr>
                                      <p:to>
                                        <p:strVal val="visible"/>
                                      </p:to>
                                    </p:set>
                                    <p:animEffect transition="in" filter="blinds(horizontal)">
                                      <p:cBhvr>
                                        <p:cTn id="20" dur="500"/>
                                        <p:tgtEl>
                                          <p:spTgt spid="613389"/>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613390"/>
                                        </p:tgtEl>
                                        <p:attrNameLst>
                                          <p:attrName>style.visibility</p:attrName>
                                        </p:attrNameLst>
                                      </p:cBhvr>
                                      <p:to>
                                        <p:strVal val="visible"/>
                                      </p:to>
                                    </p:set>
                                    <p:animEffect transition="in" filter="blinds(horizontal)">
                                      <p:cBhvr>
                                        <p:cTn id="23" dur="500"/>
                                        <p:tgtEl>
                                          <p:spTgt spid="613390"/>
                                        </p:tgtEl>
                                      </p:cBhvr>
                                    </p:animEffect>
                                  </p:childTnLst>
                                </p:cTn>
                              </p:par>
                              <p:par>
                                <p:cTn id="24" presetID="3" presetClass="entr" presetSubtype="10" fill="hold" nodeType="withEffect">
                                  <p:stCondLst>
                                    <p:cond delay="0"/>
                                  </p:stCondLst>
                                  <p:childTnLst>
                                    <p:set>
                                      <p:cBhvr>
                                        <p:cTn id="25" dur="1" fill="hold">
                                          <p:stCondLst>
                                            <p:cond delay="0"/>
                                          </p:stCondLst>
                                        </p:cTn>
                                        <p:tgtEl>
                                          <p:spTgt spid="613391"/>
                                        </p:tgtEl>
                                        <p:attrNameLst>
                                          <p:attrName>style.visibility</p:attrName>
                                        </p:attrNameLst>
                                      </p:cBhvr>
                                      <p:to>
                                        <p:strVal val="visible"/>
                                      </p:to>
                                    </p:set>
                                    <p:animEffect transition="in" filter="blinds(horizontal)">
                                      <p:cBhvr>
                                        <p:cTn id="26" dur="500"/>
                                        <p:tgtEl>
                                          <p:spTgt spid="61339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8" presetClass="entr" presetSubtype="16" fill="hold" nodeType="clickEffect">
                                  <p:stCondLst>
                                    <p:cond delay="0"/>
                                  </p:stCondLst>
                                  <p:childTnLst>
                                    <p:set>
                                      <p:cBhvr>
                                        <p:cTn id="30" dur="1" fill="hold">
                                          <p:stCondLst>
                                            <p:cond delay="0"/>
                                          </p:stCondLst>
                                        </p:cTn>
                                        <p:tgtEl>
                                          <p:spTgt spid="613392"/>
                                        </p:tgtEl>
                                        <p:attrNameLst>
                                          <p:attrName>style.visibility</p:attrName>
                                        </p:attrNameLst>
                                      </p:cBhvr>
                                      <p:to>
                                        <p:strVal val="visible"/>
                                      </p:to>
                                    </p:set>
                                    <p:animEffect transition="in" filter="diamond(in)">
                                      <p:cBhvr>
                                        <p:cTn id="31" dur="500"/>
                                        <p:tgtEl>
                                          <p:spTgt spid="613392"/>
                                        </p:tgtEl>
                                      </p:cBhvr>
                                    </p:animEffect>
                                  </p:childTnLst>
                                </p:cTn>
                              </p:par>
                              <p:par>
                                <p:cTn id="32" presetID="8" presetClass="entr" presetSubtype="16" fill="hold" grpId="0" nodeType="withEffect">
                                  <p:stCondLst>
                                    <p:cond delay="0"/>
                                  </p:stCondLst>
                                  <p:childTnLst>
                                    <p:set>
                                      <p:cBhvr>
                                        <p:cTn id="33" dur="1" fill="hold">
                                          <p:stCondLst>
                                            <p:cond delay="0"/>
                                          </p:stCondLst>
                                        </p:cTn>
                                        <p:tgtEl>
                                          <p:spTgt spid="613393"/>
                                        </p:tgtEl>
                                        <p:attrNameLst>
                                          <p:attrName>style.visibility</p:attrName>
                                        </p:attrNameLst>
                                      </p:cBhvr>
                                      <p:to>
                                        <p:strVal val="visible"/>
                                      </p:to>
                                    </p:set>
                                    <p:animEffect transition="in" filter="diamond(in)">
                                      <p:cBhvr>
                                        <p:cTn id="34" dur="500"/>
                                        <p:tgtEl>
                                          <p:spTgt spid="613393"/>
                                        </p:tgtEl>
                                      </p:cBhvr>
                                    </p:animEffect>
                                  </p:childTnLst>
                                </p:cTn>
                              </p:par>
                              <p:par>
                                <p:cTn id="35" presetID="8" presetClass="entr" presetSubtype="16" fill="hold" grpId="0" nodeType="withEffect">
                                  <p:stCondLst>
                                    <p:cond delay="0"/>
                                  </p:stCondLst>
                                  <p:childTnLst>
                                    <p:set>
                                      <p:cBhvr>
                                        <p:cTn id="36" dur="1" fill="hold">
                                          <p:stCondLst>
                                            <p:cond delay="0"/>
                                          </p:stCondLst>
                                        </p:cTn>
                                        <p:tgtEl>
                                          <p:spTgt spid="613394"/>
                                        </p:tgtEl>
                                        <p:attrNameLst>
                                          <p:attrName>style.visibility</p:attrName>
                                        </p:attrNameLst>
                                      </p:cBhvr>
                                      <p:to>
                                        <p:strVal val="visible"/>
                                      </p:to>
                                    </p:set>
                                    <p:animEffect transition="in" filter="diamond(in)">
                                      <p:cBhvr>
                                        <p:cTn id="37" dur="500"/>
                                        <p:tgtEl>
                                          <p:spTgt spid="613394"/>
                                        </p:tgtEl>
                                      </p:cBhvr>
                                    </p:animEffect>
                                  </p:childTnLst>
                                </p:cTn>
                              </p:par>
                              <p:par>
                                <p:cTn id="38" presetID="8" presetClass="entr" presetSubtype="16" fill="hold" nodeType="withEffect">
                                  <p:stCondLst>
                                    <p:cond delay="0"/>
                                  </p:stCondLst>
                                  <p:childTnLst>
                                    <p:set>
                                      <p:cBhvr>
                                        <p:cTn id="39" dur="1" fill="hold">
                                          <p:stCondLst>
                                            <p:cond delay="0"/>
                                          </p:stCondLst>
                                        </p:cTn>
                                        <p:tgtEl>
                                          <p:spTgt spid="613395"/>
                                        </p:tgtEl>
                                        <p:attrNameLst>
                                          <p:attrName>style.visibility</p:attrName>
                                        </p:attrNameLst>
                                      </p:cBhvr>
                                      <p:to>
                                        <p:strVal val="visible"/>
                                      </p:to>
                                    </p:set>
                                    <p:animEffect transition="in" filter="diamond(in)">
                                      <p:cBhvr>
                                        <p:cTn id="40" dur="500"/>
                                        <p:tgtEl>
                                          <p:spTgt spid="613395"/>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barn(inVertical)">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8">
                                            <p:txEl>
                                              <p:pRg st="0" end="0"/>
                                            </p:txEl>
                                          </p:spTgt>
                                        </p:tgtEl>
                                        <p:attrNameLst>
                                          <p:attrName>style.visibility</p:attrName>
                                        </p:attrNameLst>
                                      </p:cBhvr>
                                      <p:to>
                                        <p:strVal val="visible"/>
                                      </p:to>
                                    </p:set>
                                    <p:animEffect transition="in" filter="barn(inVertical)">
                                      <p:cBhvr>
                                        <p:cTn id="50" dur="500"/>
                                        <p:tgtEl>
                                          <p:spTgt spid="18">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nodeType="clickEffect">
                                  <p:stCondLst>
                                    <p:cond delay="0"/>
                                  </p:stCondLst>
                                  <p:childTnLst>
                                    <p:set>
                                      <p:cBhvr>
                                        <p:cTn id="54" dur="1" fill="hold">
                                          <p:stCondLst>
                                            <p:cond delay="0"/>
                                          </p:stCondLst>
                                        </p:cTn>
                                        <p:tgtEl>
                                          <p:spTgt spid="18">
                                            <p:txEl>
                                              <p:pRg st="1" end="1"/>
                                            </p:txEl>
                                          </p:spTgt>
                                        </p:tgtEl>
                                        <p:attrNameLst>
                                          <p:attrName>style.visibility</p:attrName>
                                        </p:attrNameLst>
                                      </p:cBhvr>
                                      <p:to>
                                        <p:strVal val="visible"/>
                                      </p:to>
                                    </p:set>
                                    <p:animEffect transition="in" filter="barn(inVertical)">
                                      <p:cBhvr>
                                        <p:cTn id="55"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386" grpId="0"/>
      <p:bldP spid="613389" grpId="0" animBg="1"/>
      <p:bldP spid="613390" grpId="0"/>
      <p:bldP spid="613393" grpId="0" animBg="1"/>
      <p:bldP spid="613394"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7474" name="Text Box 2"/>
          <p:cNvSpPr txBox="1">
            <a:spLocks noChangeArrowheads="1"/>
          </p:cNvSpPr>
          <p:nvPr/>
        </p:nvSpPr>
        <p:spPr bwMode="auto">
          <a:xfrm>
            <a:off x="1209675" y="2873375"/>
            <a:ext cx="5335588" cy="449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Char char="l"/>
            </a:pPr>
            <a:r>
              <a:rPr lang="en-US" altLang="zh-CN" sz="2000"/>
              <a:t>  </a:t>
            </a:r>
            <a:r>
              <a:rPr lang="zh-CN" altLang="en-US" sz="2000"/>
              <a:t>幅度波特图</a:t>
            </a:r>
          </a:p>
        </p:txBody>
      </p:sp>
      <p:sp>
        <p:nvSpPr>
          <p:cNvPr id="617476" name="Text Box 4"/>
          <p:cNvSpPr txBox="1">
            <a:spLocks noChangeArrowheads="1"/>
          </p:cNvSpPr>
          <p:nvPr/>
        </p:nvSpPr>
        <p:spPr bwMode="auto">
          <a:xfrm>
            <a:off x="1470025" y="1538288"/>
            <a:ext cx="701992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spcBef>
                <a:spcPct val="50000"/>
              </a:spcBef>
              <a:buClr>
                <a:srgbClr val="FF0000"/>
              </a:buClr>
              <a:buFont typeface="Wingdings" pitchFamily="2" charset="2"/>
              <a:buNone/>
            </a:pPr>
            <a:r>
              <a:rPr lang="en-US" altLang="zh-CN" sz="2000" dirty="0"/>
              <a:t>        </a:t>
            </a:r>
            <a:r>
              <a:rPr lang="zh-CN" altLang="en-US" sz="2000" dirty="0"/>
              <a:t>反映放大器传输函数与信号频率的关系。（为表示更宽的频率范围，横坐标采用对数形式）</a:t>
            </a:r>
          </a:p>
        </p:txBody>
      </p:sp>
      <p:sp>
        <p:nvSpPr>
          <p:cNvPr id="617480" name="Text Box 8"/>
          <p:cNvSpPr txBox="1">
            <a:spLocks noChangeArrowheads="1"/>
          </p:cNvSpPr>
          <p:nvPr/>
        </p:nvSpPr>
        <p:spPr bwMode="auto">
          <a:xfrm>
            <a:off x="1325563" y="4319588"/>
            <a:ext cx="7354887" cy="449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Char char="l"/>
            </a:pPr>
            <a:r>
              <a:rPr lang="en-US" altLang="zh-CN" sz="2000" dirty="0"/>
              <a:t>  </a:t>
            </a:r>
            <a:r>
              <a:rPr lang="zh-CN" altLang="en-US" sz="2000" dirty="0"/>
              <a:t>相位波特图</a:t>
            </a:r>
          </a:p>
        </p:txBody>
      </p:sp>
      <p:graphicFrame>
        <p:nvGraphicFramePr>
          <p:cNvPr id="617490" name="Object 18"/>
          <p:cNvGraphicFramePr>
            <a:graphicFrameLocks noChangeAspect="1"/>
          </p:cNvGraphicFramePr>
          <p:nvPr>
            <p:extLst>
              <p:ext uri="{D42A27DB-BD31-4B8C-83A1-F6EECF244321}">
                <p14:modId xmlns:p14="http://schemas.microsoft.com/office/powerpoint/2010/main" val="3637128076"/>
              </p:ext>
            </p:extLst>
          </p:nvPr>
        </p:nvGraphicFramePr>
        <p:xfrm>
          <a:off x="3325797" y="3432175"/>
          <a:ext cx="1393855" cy="502702"/>
        </p:xfrm>
        <a:graphic>
          <a:graphicData uri="http://schemas.openxmlformats.org/presentationml/2006/ole">
            <mc:AlternateContent xmlns:mc="http://schemas.openxmlformats.org/markup-compatibility/2006">
              <mc:Choice xmlns:v="urn:schemas-microsoft-com:vml" Requires="v">
                <p:oleObj spid="_x0000_s8556" name="Equation" r:id="rId3" imgW="774364" imgH="279279" progId="Equation.DSMT4">
                  <p:embed/>
                </p:oleObj>
              </mc:Choice>
              <mc:Fallback>
                <p:oleObj name="Equation" r:id="rId3" imgW="774364" imgH="279279" progId="Equation.DSMT4">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5797" y="3432175"/>
                        <a:ext cx="1393855" cy="5027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491" name="Object 19"/>
          <p:cNvGraphicFramePr>
            <a:graphicFrameLocks noChangeAspect="1"/>
          </p:cNvGraphicFramePr>
          <p:nvPr>
            <p:extLst>
              <p:ext uri="{D42A27DB-BD31-4B8C-83A1-F6EECF244321}">
                <p14:modId xmlns:p14="http://schemas.microsoft.com/office/powerpoint/2010/main" val="725707144"/>
              </p:ext>
            </p:extLst>
          </p:nvPr>
        </p:nvGraphicFramePr>
        <p:xfrm>
          <a:off x="3151188" y="5008563"/>
          <a:ext cx="1920240" cy="502920"/>
        </p:xfrm>
        <a:graphic>
          <a:graphicData uri="http://schemas.openxmlformats.org/presentationml/2006/ole">
            <mc:AlternateContent xmlns:mc="http://schemas.openxmlformats.org/markup-compatibility/2006">
              <mc:Choice xmlns:v="urn:schemas-microsoft-com:vml" Requires="v">
                <p:oleObj spid="_x0000_s8557" name="Equation" r:id="rId5" imgW="1066800" imgH="279400" progId="Equation.DSMT4">
                  <p:embed/>
                </p:oleObj>
              </mc:Choice>
              <mc:Fallback>
                <p:oleObj name="Equation" r:id="rId5" imgW="1066800" imgH="279400" progId="Equation.DSMT4">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1188" y="5008563"/>
                        <a:ext cx="1920240"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5"/>
          <p:cNvSpPr txBox="1">
            <a:spLocks noChangeArrowheads="1"/>
          </p:cNvSpPr>
          <p:nvPr/>
        </p:nvSpPr>
        <p:spPr bwMode="auto">
          <a:xfrm>
            <a:off x="528638" y="862013"/>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10.1.2 </a:t>
            </a:r>
            <a:r>
              <a:rPr lang="zh-CN" altLang="en-US" dirty="0" smtClean="0">
                <a:solidFill>
                  <a:srgbClr val="990033"/>
                </a:solidFill>
              </a:rPr>
              <a:t>幅度</a:t>
            </a:r>
            <a:r>
              <a:rPr lang="zh-CN" altLang="en-US" dirty="0">
                <a:solidFill>
                  <a:srgbClr val="990033"/>
                </a:solidFill>
              </a:rPr>
              <a:t>和相位波特图</a:t>
            </a:r>
            <a:endParaRPr lang="zh-CN" altLang="en-US" dirty="0">
              <a:solidFill>
                <a:srgbClr val="A5002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7476"/>
                                        </p:tgtEl>
                                        <p:attrNameLst>
                                          <p:attrName>style.visibility</p:attrName>
                                        </p:attrNameLst>
                                      </p:cBhvr>
                                      <p:to>
                                        <p:strVal val="visible"/>
                                      </p:to>
                                    </p:set>
                                    <p:anim calcmode="lin" valueType="num">
                                      <p:cBhvr additive="base">
                                        <p:cTn id="7" dur="500" fill="hold"/>
                                        <p:tgtEl>
                                          <p:spTgt spid="617476"/>
                                        </p:tgtEl>
                                        <p:attrNameLst>
                                          <p:attrName>ppt_x</p:attrName>
                                        </p:attrNameLst>
                                      </p:cBhvr>
                                      <p:tavLst>
                                        <p:tav tm="0">
                                          <p:val>
                                            <p:strVal val="#ppt_x"/>
                                          </p:val>
                                        </p:tav>
                                        <p:tav tm="100000">
                                          <p:val>
                                            <p:strVal val="#ppt_x"/>
                                          </p:val>
                                        </p:tav>
                                      </p:tavLst>
                                    </p:anim>
                                    <p:anim calcmode="lin" valueType="num">
                                      <p:cBhvr additive="base">
                                        <p:cTn id="8" dur="500" fill="hold"/>
                                        <p:tgtEl>
                                          <p:spTgt spid="61747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617474"/>
                                        </p:tgtEl>
                                        <p:attrNameLst>
                                          <p:attrName>style.visibility</p:attrName>
                                        </p:attrNameLst>
                                      </p:cBhvr>
                                      <p:to>
                                        <p:strVal val="visible"/>
                                      </p:to>
                                    </p:set>
                                    <p:animEffect transition="in" filter="diamond(in)">
                                      <p:cBhvr>
                                        <p:cTn id="13" dur="500"/>
                                        <p:tgtEl>
                                          <p:spTgt spid="617474"/>
                                        </p:tgtEl>
                                      </p:cBhvr>
                                    </p:animEffect>
                                  </p:childTnLst>
                                </p:cTn>
                              </p:par>
                              <p:par>
                                <p:cTn id="14" presetID="8" presetClass="entr" presetSubtype="16" fill="hold" nodeType="withEffect">
                                  <p:stCondLst>
                                    <p:cond delay="0"/>
                                  </p:stCondLst>
                                  <p:childTnLst>
                                    <p:set>
                                      <p:cBhvr>
                                        <p:cTn id="15" dur="1" fill="hold">
                                          <p:stCondLst>
                                            <p:cond delay="0"/>
                                          </p:stCondLst>
                                        </p:cTn>
                                        <p:tgtEl>
                                          <p:spTgt spid="617490"/>
                                        </p:tgtEl>
                                        <p:attrNameLst>
                                          <p:attrName>style.visibility</p:attrName>
                                        </p:attrNameLst>
                                      </p:cBhvr>
                                      <p:to>
                                        <p:strVal val="visible"/>
                                      </p:to>
                                    </p:set>
                                    <p:animEffect transition="in" filter="diamond(in)">
                                      <p:cBhvr>
                                        <p:cTn id="16" dur="500"/>
                                        <p:tgtEl>
                                          <p:spTgt spid="61749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617480"/>
                                        </p:tgtEl>
                                        <p:attrNameLst>
                                          <p:attrName>style.visibility</p:attrName>
                                        </p:attrNameLst>
                                      </p:cBhvr>
                                      <p:to>
                                        <p:strVal val="visible"/>
                                      </p:to>
                                    </p:set>
                                    <p:animEffect transition="in" filter="checkerboard(across)">
                                      <p:cBhvr>
                                        <p:cTn id="21" dur="500"/>
                                        <p:tgtEl>
                                          <p:spTgt spid="617480"/>
                                        </p:tgtEl>
                                      </p:cBhvr>
                                    </p:animEffect>
                                  </p:childTnLst>
                                </p:cTn>
                              </p:par>
                              <p:par>
                                <p:cTn id="22" presetID="5" presetClass="entr" presetSubtype="10" fill="hold" nodeType="withEffect">
                                  <p:stCondLst>
                                    <p:cond delay="0"/>
                                  </p:stCondLst>
                                  <p:childTnLst>
                                    <p:set>
                                      <p:cBhvr>
                                        <p:cTn id="23" dur="1" fill="hold">
                                          <p:stCondLst>
                                            <p:cond delay="0"/>
                                          </p:stCondLst>
                                        </p:cTn>
                                        <p:tgtEl>
                                          <p:spTgt spid="617491"/>
                                        </p:tgtEl>
                                        <p:attrNameLst>
                                          <p:attrName>style.visibility</p:attrName>
                                        </p:attrNameLst>
                                      </p:cBhvr>
                                      <p:to>
                                        <p:strVal val="visible"/>
                                      </p:to>
                                    </p:set>
                                    <p:animEffect transition="in" filter="checkerboard(across)">
                                      <p:cBhvr>
                                        <p:cTn id="24" dur="500"/>
                                        <p:tgtEl>
                                          <p:spTgt spid="617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474" grpId="0"/>
      <p:bldP spid="617476" grpId="0"/>
      <p:bldP spid="617480"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8" name="Picture 2" descr="Dz02010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509" y="2257580"/>
            <a:ext cx="6930230" cy="2958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1507" name="Text Box 3"/>
          <p:cNvSpPr txBox="1">
            <a:spLocks noChangeArrowheads="1"/>
          </p:cNvSpPr>
          <p:nvPr/>
        </p:nvSpPr>
        <p:spPr bwMode="auto">
          <a:xfrm>
            <a:off x="844550" y="827088"/>
            <a:ext cx="6705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sz="2000" dirty="0">
                <a:solidFill>
                  <a:schemeClr val="accent2"/>
                </a:solidFill>
              </a:rPr>
              <a:t>1</a:t>
            </a:r>
            <a:r>
              <a:rPr lang="zh-CN" altLang="en-US" sz="2000" dirty="0" smtClean="0">
                <a:solidFill>
                  <a:schemeClr val="accent2"/>
                </a:solidFill>
              </a:rPr>
              <a:t>、上限频率和下限频率</a:t>
            </a:r>
            <a:endParaRPr lang="zh-CN" altLang="en-US" sz="2000" dirty="0">
              <a:solidFill>
                <a:schemeClr val="accent2"/>
              </a:solidFill>
            </a:endParaRPr>
          </a:p>
        </p:txBody>
      </p:sp>
      <p:sp>
        <p:nvSpPr>
          <p:cNvPr id="9219" name="Text Box 4"/>
          <p:cNvSpPr txBox="1">
            <a:spLocks noChangeArrowheads="1"/>
          </p:cNvSpPr>
          <p:nvPr/>
        </p:nvSpPr>
        <p:spPr bwMode="auto">
          <a:xfrm>
            <a:off x="623888" y="290513"/>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10.1.3 </a:t>
            </a:r>
            <a:r>
              <a:rPr lang="zh-CN" altLang="en-US" dirty="0" smtClean="0">
                <a:solidFill>
                  <a:srgbClr val="990033"/>
                </a:solidFill>
              </a:rPr>
              <a:t>频率响应</a:t>
            </a:r>
            <a:r>
              <a:rPr lang="zh-CN" altLang="en-US" dirty="0">
                <a:solidFill>
                  <a:srgbClr val="990033"/>
                </a:solidFill>
              </a:rPr>
              <a:t>的基本概念</a:t>
            </a:r>
            <a:endParaRPr lang="zh-CN" altLang="en-US" dirty="0">
              <a:solidFill>
                <a:srgbClr val="A50021"/>
              </a:solidFill>
            </a:endParaRPr>
          </a:p>
        </p:txBody>
      </p:sp>
      <p:sp>
        <p:nvSpPr>
          <p:cNvPr id="661509" name="Text Box 5"/>
          <p:cNvSpPr txBox="1">
            <a:spLocks noChangeArrowheads="1"/>
          </p:cNvSpPr>
          <p:nvPr/>
        </p:nvSpPr>
        <p:spPr bwMode="auto">
          <a:xfrm>
            <a:off x="1241425" y="1222375"/>
            <a:ext cx="7354888"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None/>
            </a:pPr>
            <a:r>
              <a:rPr lang="en-US" altLang="zh-CN" sz="2000" dirty="0"/>
              <a:t>        </a:t>
            </a:r>
            <a:r>
              <a:rPr lang="zh-CN" altLang="en-US" sz="2000" dirty="0"/>
              <a:t>一般情况</a:t>
            </a:r>
            <a:r>
              <a:rPr lang="zh-CN" altLang="en-US" sz="2000" dirty="0" smtClean="0"/>
              <a:t>，应用电路</a:t>
            </a:r>
            <a:r>
              <a:rPr lang="zh-CN" altLang="en-US" sz="2000" dirty="0"/>
              <a:t>只</a:t>
            </a:r>
            <a:r>
              <a:rPr lang="zh-CN" altLang="en-US" sz="2000" dirty="0" smtClean="0"/>
              <a:t>适用于处理某</a:t>
            </a:r>
            <a:r>
              <a:rPr lang="zh-CN" altLang="en-US" sz="2000" dirty="0"/>
              <a:t>一个特定频率范围内的信号。</a:t>
            </a:r>
          </a:p>
        </p:txBody>
      </p:sp>
      <p:sp>
        <p:nvSpPr>
          <p:cNvPr id="661518" name="Text Box 14"/>
          <p:cNvSpPr txBox="1">
            <a:spLocks noChangeArrowheads="1"/>
          </p:cNvSpPr>
          <p:nvPr/>
        </p:nvSpPr>
        <p:spPr bwMode="auto">
          <a:xfrm>
            <a:off x="5884069" y="5744472"/>
            <a:ext cx="3827462" cy="1003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Char char="l"/>
            </a:pPr>
            <a:r>
              <a:rPr lang="en-US" altLang="zh-CN" sz="2000" dirty="0"/>
              <a:t>  </a:t>
            </a:r>
            <a:r>
              <a:rPr lang="zh-CN" altLang="en-US" sz="2000" dirty="0"/>
              <a:t>下限截止频率</a:t>
            </a:r>
          </a:p>
          <a:p>
            <a:pPr algn="l" eaLnBrk="1" hangingPunct="1">
              <a:lnSpc>
                <a:spcPct val="130000"/>
              </a:lnSpc>
              <a:spcBef>
                <a:spcPct val="50000"/>
              </a:spcBef>
              <a:buClr>
                <a:srgbClr val="FF0000"/>
              </a:buClr>
              <a:buFont typeface="Wingdings" pitchFamily="2" charset="2"/>
              <a:buChar char="l"/>
            </a:pPr>
            <a:r>
              <a:rPr lang="zh-CN" altLang="en-US" sz="2000" dirty="0"/>
              <a:t>  上限</a:t>
            </a:r>
            <a:r>
              <a:rPr lang="zh-CN" altLang="en-US" sz="2000" dirty="0" smtClean="0"/>
              <a:t>截止频率 </a:t>
            </a:r>
            <a:endParaRPr lang="en-US" altLang="zh-CN" sz="2000" i="1" dirty="0"/>
          </a:p>
        </p:txBody>
      </p:sp>
      <p:graphicFrame>
        <p:nvGraphicFramePr>
          <p:cNvPr id="661519" name="Object 15"/>
          <p:cNvGraphicFramePr>
            <a:graphicFrameLocks noChangeAspect="1"/>
          </p:cNvGraphicFramePr>
          <p:nvPr>
            <p:extLst>
              <p:ext uri="{D42A27DB-BD31-4B8C-83A1-F6EECF244321}">
                <p14:modId xmlns:p14="http://schemas.microsoft.com/office/powerpoint/2010/main" val="3129801542"/>
              </p:ext>
            </p:extLst>
          </p:nvPr>
        </p:nvGraphicFramePr>
        <p:xfrm>
          <a:off x="7934324" y="5770017"/>
          <a:ext cx="984250" cy="365125"/>
        </p:xfrm>
        <a:graphic>
          <a:graphicData uri="http://schemas.openxmlformats.org/presentationml/2006/ole">
            <mc:AlternateContent xmlns:mc="http://schemas.openxmlformats.org/markup-compatibility/2006">
              <mc:Choice xmlns:v="urn:schemas-microsoft-com:vml" Requires="v">
                <p:oleObj spid="_x0000_s9580" name="Equation" r:id="rId4" imgW="545760" imgH="203040" progId="Equation.DSMT4">
                  <p:embed/>
                </p:oleObj>
              </mc:Choice>
              <mc:Fallback>
                <p:oleObj name="Equation" r:id="rId4" imgW="545760" imgH="203040" progId="Equation.DSMT4">
                  <p:embed/>
                  <p:pic>
                    <p:nvPicPr>
                      <p:cNvPr id="0" name="Object 15"/>
                      <p:cNvPicPr>
                        <a:picLocks noChangeAspect="1" noChangeArrowheads="1"/>
                      </p:cNvPicPr>
                      <p:nvPr/>
                    </p:nvPicPr>
                    <p:blipFill>
                      <a:blip r:embed="rId5"/>
                      <a:srcRect/>
                      <a:stretch>
                        <a:fillRect/>
                      </a:stretch>
                    </p:blipFill>
                    <p:spPr bwMode="auto">
                      <a:xfrm>
                        <a:off x="7934324" y="5770017"/>
                        <a:ext cx="98425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1520" name="Object 16"/>
          <p:cNvGraphicFramePr>
            <a:graphicFrameLocks noChangeAspect="1"/>
          </p:cNvGraphicFramePr>
          <p:nvPr>
            <p:extLst>
              <p:ext uri="{D42A27DB-BD31-4B8C-83A1-F6EECF244321}">
                <p14:modId xmlns:p14="http://schemas.microsoft.com/office/powerpoint/2010/main" val="4224386541"/>
              </p:ext>
            </p:extLst>
          </p:nvPr>
        </p:nvGraphicFramePr>
        <p:xfrm>
          <a:off x="7889874" y="6339822"/>
          <a:ext cx="1028700" cy="366713"/>
        </p:xfrm>
        <a:graphic>
          <a:graphicData uri="http://schemas.openxmlformats.org/presentationml/2006/ole">
            <mc:AlternateContent xmlns:mc="http://schemas.openxmlformats.org/markup-compatibility/2006">
              <mc:Choice xmlns:v="urn:schemas-microsoft-com:vml" Requires="v">
                <p:oleObj spid="_x0000_s9581" name="Equation" r:id="rId6" imgW="571320" imgH="203040" progId="Equation.DSMT4">
                  <p:embed/>
                </p:oleObj>
              </mc:Choice>
              <mc:Fallback>
                <p:oleObj name="Equation" r:id="rId6" imgW="571320" imgH="203040" progId="Equation.DSMT4">
                  <p:embed/>
                  <p:pic>
                    <p:nvPicPr>
                      <p:cNvPr id="0" name="Object 16"/>
                      <p:cNvPicPr>
                        <a:picLocks noChangeAspect="1" noChangeArrowheads="1"/>
                      </p:cNvPicPr>
                      <p:nvPr/>
                    </p:nvPicPr>
                    <p:blipFill>
                      <a:blip r:embed="rId7"/>
                      <a:srcRect/>
                      <a:stretch>
                        <a:fillRect/>
                      </a:stretch>
                    </p:blipFill>
                    <p:spPr bwMode="auto">
                      <a:xfrm>
                        <a:off x="7889874" y="6339822"/>
                        <a:ext cx="10287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AutoShape 3"/>
          <p:cNvSpPr>
            <a:spLocks/>
          </p:cNvSpPr>
          <p:nvPr/>
        </p:nvSpPr>
        <p:spPr bwMode="auto">
          <a:xfrm>
            <a:off x="2573337" y="5487194"/>
            <a:ext cx="1316037" cy="465137"/>
          </a:xfrm>
          <a:prstGeom prst="borderCallout1">
            <a:avLst>
              <a:gd name="adj1" fmla="val 24079"/>
              <a:gd name="adj2" fmla="val -4764"/>
              <a:gd name="adj3" fmla="val -240504"/>
              <a:gd name="adj4" fmla="val -38725"/>
            </a:avLst>
          </a:prstGeom>
          <a:solidFill>
            <a:srgbClr val="66FFFF"/>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kumimoji="0" lang="zh-CN" altLang="en-US" sz="2000" dirty="0">
                <a:latin typeface="Arial" charset="0"/>
              </a:rPr>
              <a:t>下限频率</a:t>
            </a:r>
          </a:p>
        </p:txBody>
      </p:sp>
      <p:sp>
        <p:nvSpPr>
          <p:cNvPr id="10" name="AutoShape 4"/>
          <p:cNvSpPr>
            <a:spLocks/>
          </p:cNvSpPr>
          <p:nvPr/>
        </p:nvSpPr>
        <p:spPr bwMode="auto">
          <a:xfrm>
            <a:off x="4087884" y="5498850"/>
            <a:ext cx="1293813" cy="457200"/>
          </a:xfrm>
          <a:prstGeom prst="borderCallout1">
            <a:avLst>
              <a:gd name="adj1" fmla="val 25000"/>
              <a:gd name="adj2" fmla="val 104917"/>
              <a:gd name="adj3" fmla="val -245140"/>
              <a:gd name="adj4" fmla="val 143502"/>
            </a:avLst>
          </a:prstGeom>
          <a:solidFill>
            <a:srgbClr val="66FFFF"/>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kumimoji="0" lang="zh-CN" altLang="en-US" sz="2000">
                <a:latin typeface="Arial" charset="0"/>
              </a:rPr>
              <a:t>上限频率</a:t>
            </a:r>
          </a:p>
        </p:txBody>
      </p:sp>
      <p:sp>
        <p:nvSpPr>
          <p:cNvPr id="11" name="Line 6"/>
          <p:cNvSpPr>
            <a:spLocks noChangeShapeType="1"/>
          </p:cNvSpPr>
          <p:nvPr/>
        </p:nvSpPr>
        <p:spPr bwMode="auto">
          <a:xfrm>
            <a:off x="4780757" y="2279804"/>
            <a:ext cx="0" cy="550862"/>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7"/>
          <p:cNvSpPr>
            <a:spLocks noChangeShapeType="1"/>
          </p:cNvSpPr>
          <p:nvPr/>
        </p:nvSpPr>
        <p:spPr bwMode="auto">
          <a:xfrm>
            <a:off x="4809332" y="3283104"/>
            <a:ext cx="0" cy="550862"/>
          </a:xfrm>
          <a:prstGeom prst="line">
            <a:avLst/>
          </a:prstGeom>
          <a:noFill/>
          <a:ln w="25400">
            <a:solidFill>
              <a:schemeClr val="tx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8"/>
          <p:cNvSpPr txBox="1">
            <a:spLocks noChangeArrowheads="1"/>
          </p:cNvSpPr>
          <p:nvPr/>
        </p:nvSpPr>
        <p:spPr bwMode="auto">
          <a:xfrm>
            <a:off x="4467693" y="2846541"/>
            <a:ext cx="691215"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2000" dirty="0"/>
              <a:t>3 dB</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61507">
                                            <p:txEl>
                                              <p:pRg st="0" end="0"/>
                                            </p:txEl>
                                          </p:spTgt>
                                        </p:tgtEl>
                                        <p:attrNameLst>
                                          <p:attrName>style.visibility</p:attrName>
                                        </p:attrNameLst>
                                      </p:cBhvr>
                                      <p:to>
                                        <p:strVal val="visible"/>
                                      </p:to>
                                    </p:set>
                                    <p:animEffect transition="in" filter="blinds(horizontal)">
                                      <p:cBhvr>
                                        <p:cTn id="7" dur="500"/>
                                        <p:tgtEl>
                                          <p:spTgt spid="661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61509">
                                            <p:txEl>
                                              <p:pRg st="0" end="0"/>
                                            </p:txEl>
                                          </p:spTgt>
                                        </p:tgtEl>
                                        <p:attrNameLst>
                                          <p:attrName>style.visibility</p:attrName>
                                        </p:attrNameLst>
                                      </p:cBhvr>
                                      <p:to>
                                        <p:strVal val="visible"/>
                                      </p:to>
                                    </p:set>
                                    <p:animEffect transition="in" filter="box(in)">
                                      <p:cBhvr>
                                        <p:cTn id="12" dur="500"/>
                                        <p:tgtEl>
                                          <p:spTgt spid="66150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arn(inVertical)">
                                      <p:cBhvr>
                                        <p:cTn id="22" dur="500"/>
                                        <p:tgtEl>
                                          <p:spTgt spid="13"/>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arn(inVertical)">
                                      <p:cBhvr>
                                        <p:cTn id="25" dur="500"/>
                                        <p:tgtEl>
                                          <p:spTgt spid="12"/>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arn(inVertical)">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9"/>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661518"/>
                                        </p:tgtEl>
                                        <p:attrNameLst>
                                          <p:attrName>style.visibility</p:attrName>
                                        </p:attrNameLst>
                                      </p:cBhvr>
                                      <p:to>
                                        <p:strVal val="visible"/>
                                      </p:to>
                                    </p:set>
                                    <p:animEffect transition="in" filter="checkerboard(across)">
                                      <p:cBhvr>
                                        <p:cTn id="41" dur="500"/>
                                        <p:tgtEl>
                                          <p:spTgt spid="661518"/>
                                        </p:tgtEl>
                                      </p:cBhvr>
                                    </p:animEffect>
                                  </p:childTnLst>
                                </p:cTn>
                              </p:par>
                              <p:par>
                                <p:cTn id="42" presetID="5" presetClass="entr" presetSubtype="10" fill="hold" nodeType="withEffect">
                                  <p:stCondLst>
                                    <p:cond delay="0"/>
                                  </p:stCondLst>
                                  <p:childTnLst>
                                    <p:set>
                                      <p:cBhvr>
                                        <p:cTn id="43" dur="1" fill="hold">
                                          <p:stCondLst>
                                            <p:cond delay="0"/>
                                          </p:stCondLst>
                                        </p:cTn>
                                        <p:tgtEl>
                                          <p:spTgt spid="661519"/>
                                        </p:tgtEl>
                                        <p:attrNameLst>
                                          <p:attrName>style.visibility</p:attrName>
                                        </p:attrNameLst>
                                      </p:cBhvr>
                                      <p:to>
                                        <p:strVal val="visible"/>
                                      </p:to>
                                    </p:set>
                                    <p:animEffect transition="in" filter="checkerboard(across)">
                                      <p:cBhvr>
                                        <p:cTn id="44" dur="500"/>
                                        <p:tgtEl>
                                          <p:spTgt spid="661519"/>
                                        </p:tgtEl>
                                      </p:cBhvr>
                                    </p:animEffect>
                                  </p:childTnLst>
                                </p:cTn>
                              </p:par>
                              <p:par>
                                <p:cTn id="45" presetID="5" presetClass="entr" presetSubtype="10" fill="hold" nodeType="withEffect">
                                  <p:stCondLst>
                                    <p:cond delay="0"/>
                                  </p:stCondLst>
                                  <p:childTnLst>
                                    <p:set>
                                      <p:cBhvr>
                                        <p:cTn id="46" dur="1" fill="hold">
                                          <p:stCondLst>
                                            <p:cond delay="0"/>
                                          </p:stCondLst>
                                        </p:cTn>
                                        <p:tgtEl>
                                          <p:spTgt spid="661520"/>
                                        </p:tgtEl>
                                        <p:attrNameLst>
                                          <p:attrName>style.visibility</p:attrName>
                                        </p:attrNameLst>
                                      </p:cBhvr>
                                      <p:to>
                                        <p:strVal val="visible"/>
                                      </p:to>
                                    </p:set>
                                    <p:animEffect transition="in" filter="checkerboard(across)">
                                      <p:cBhvr>
                                        <p:cTn id="47" dur="500"/>
                                        <p:tgtEl>
                                          <p:spTgt spid="661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18" grpId="0"/>
      <p:bldP spid="9" grpId="0" animBg="1" autoUpdateAnimBg="0"/>
      <p:bldP spid="10" grpId="0" animBg="1" autoUpdateAnimBg="0"/>
      <p:bldP spid="11" grpId="0" animBg="1"/>
      <p:bldP spid="12" grpId="0" animBg="1"/>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85" name="Text Box 9"/>
          <p:cNvSpPr txBox="1">
            <a:spLocks noChangeArrowheads="1"/>
          </p:cNvSpPr>
          <p:nvPr/>
        </p:nvSpPr>
        <p:spPr bwMode="auto">
          <a:xfrm>
            <a:off x="760413" y="996950"/>
            <a:ext cx="7354887"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None/>
            </a:pPr>
            <a:r>
              <a:rPr lang="en-US" altLang="zh-CN" sz="2000" dirty="0">
                <a:solidFill>
                  <a:schemeClr val="accent2"/>
                </a:solidFill>
              </a:rPr>
              <a:t>  2</a:t>
            </a:r>
            <a:r>
              <a:rPr lang="zh-CN" altLang="en-US" sz="2000" dirty="0">
                <a:solidFill>
                  <a:schemeClr val="accent2"/>
                </a:solidFill>
              </a:rPr>
              <a:t>、三分贝</a:t>
            </a:r>
            <a:r>
              <a:rPr lang="zh-CN" altLang="en-US" sz="2000" dirty="0" smtClean="0">
                <a:solidFill>
                  <a:schemeClr val="accent2"/>
                </a:solidFill>
              </a:rPr>
              <a:t>带宽（通频带）  </a:t>
            </a:r>
            <a:endParaRPr lang="zh-CN" altLang="en-US" sz="2000" dirty="0">
              <a:solidFill>
                <a:schemeClr val="accent2"/>
              </a:solidFill>
            </a:endParaRPr>
          </a:p>
        </p:txBody>
      </p:sp>
      <p:graphicFrame>
        <p:nvGraphicFramePr>
          <p:cNvPr id="664586" name="Object 10"/>
          <p:cNvGraphicFramePr>
            <a:graphicFrameLocks noChangeAspect="1"/>
          </p:cNvGraphicFramePr>
          <p:nvPr>
            <p:extLst>
              <p:ext uri="{D42A27DB-BD31-4B8C-83A1-F6EECF244321}">
                <p14:modId xmlns:p14="http://schemas.microsoft.com/office/powerpoint/2010/main" val="2550075358"/>
              </p:ext>
            </p:extLst>
          </p:nvPr>
        </p:nvGraphicFramePr>
        <p:xfrm>
          <a:off x="2009775" y="1744663"/>
          <a:ext cx="4321175" cy="457200"/>
        </p:xfrm>
        <a:graphic>
          <a:graphicData uri="http://schemas.openxmlformats.org/presentationml/2006/ole">
            <mc:AlternateContent xmlns:mc="http://schemas.openxmlformats.org/markup-compatibility/2006">
              <mc:Choice xmlns:v="urn:schemas-microsoft-com:vml" Requires="v">
                <p:oleObj spid="_x0000_s10616" name="Equation" r:id="rId3" imgW="2400120" imgH="253800" progId="Equation.DSMT4">
                  <p:embed/>
                </p:oleObj>
              </mc:Choice>
              <mc:Fallback>
                <p:oleObj name="Equation" r:id="rId3" imgW="2400120" imgH="253800" progId="Equation.DSMT4">
                  <p:embed/>
                  <p:pic>
                    <p:nvPicPr>
                      <p:cNvPr id="0" name="Object 10"/>
                      <p:cNvPicPr>
                        <a:picLocks noChangeAspect="1" noChangeArrowheads="1"/>
                      </p:cNvPicPr>
                      <p:nvPr/>
                    </p:nvPicPr>
                    <p:blipFill>
                      <a:blip r:embed="rId4"/>
                      <a:srcRect/>
                      <a:stretch>
                        <a:fillRect/>
                      </a:stretch>
                    </p:blipFill>
                    <p:spPr bwMode="auto">
                      <a:xfrm>
                        <a:off x="2009775" y="1744663"/>
                        <a:ext cx="43211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11"/>
          <p:cNvSpPr txBox="1">
            <a:spLocks noChangeArrowheads="1"/>
          </p:cNvSpPr>
          <p:nvPr/>
        </p:nvSpPr>
        <p:spPr bwMode="auto">
          <a:xfrm>
            <a:off x="771525" y="3132138"/>
            <a:ext cx="735488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None/>
            </a:pPr>
            <a:r>
              <a:rPr lang="en-US" altLang="zh-CN" sz="2000" dirty="0"/>
              <a:t>  </a:t>
            </a:r>
            <a:r>
              <a:rPr lang="en-US" altLang="zh-CN" sz="2000" dirty="0">
                <a:solidFill>
                  <a:schemeClr val="accent2"/>
                </a:solidFill>
              </a:rPr>
              <a:t>3</a:t>
            </a:r>
            <a:r>
              <a:rPr lang="zh-CN" altLang="en-US" sz="2000" dirty="0">
                <a:solidFill>
                  <a:schemeClr val="accent2"/>
                </a:solidFill>
              </a:rPr>
              <a:t>、增益带宽积</a:t>
            </a:r>
          </a:p>
        </p:txBody>
      </p:sp>
      <p:graphicFrame>
        <p:nvGraphicFramePr>
          <p:cNvPr id="11" name="Object 12"/>
          <p:cNvGraphicFramePr>
            <a:graphicFrameLocks noChangeAspect="1"/>
          </p:cNvGraphicFramePr>
          <p:nvPr>
            <p:extLst>
              <p:ext uri="{D42A27DB-BD31-4B8C-83A1-F6EECF244321}">
                <p14:modId xmlns:p14="http://schemas.microsoft.com/office/powerpoint/2010/main" val="2975999498"/>
              </p:ext>
            </p:extLst>
          </p:nvPr>
        </p:nvGraphicFramePr>
        <p:xfrm>
          <a:off x="2224088" y="3669720"/>
          <a:ext cx="1827213" cy="457200"/>
        </p:xfrm>
        <a:graphic>
          <a:graphicData uri="http://schemas.openxmlformats.org/presentationml/2006/ole">
            <mc:AlternateContent xmlns:mc="http://schemas.openxmlformats.org/markup-compatibility/2006">
              <mc:Choice xmlns:v="urn:schemas-microsoft-com:vml" Requires="v">
                <p:oleObj spid="_x0000_s10617" name="Equation" r:id="rId5" imgW="1015920" imgH="253800" progId="Equation.DSMT4">
                  <p:embed/>
                </p:oleObj>
              </mc:Choice>
              <mc:Fallback>
                <p:oleObj name="Equation" r:id="rId5" imgW="1015920" imgH="253800" progId="Equation.DSMT4">
                  <p:embed/>
                  <p:pic>
                    <p:nvPicPr>
                      <p:cNvPr id="0" name=""/>
                      <p:cNvPicPr>
                        <a:picLocks noChangeAspect="1" noChangeArrowheads="1"/>
                      </p:cNvPicPr>
                      <p:nvPr/>
                    </p:nvPicPr>
                    <p:blipFill>
                      <a:blip r:embed="rId6"/>
                      <a:srcRect/>
                      <a:stretch>
                        <a:fillRect/>
                      </a:stretch>
                    </p:blipFill>
                    <p:spPr bwMode="auto">
                      <a:xfrm>
                        <a:off x="2224088" y="3669720"/>
                        <a:ext cx="18272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13"/>
          <p:cNvSpPr txBox="1">
            <a:spLocks noChangeArrowheads="1"/>
          </p:cNvSpPr>
          <p:nvPr/>
        </p:nvSpPr>
        <p:spPr bwMode="auto">
          <a:xfrm>
            <a:off x="3878465" y="3667125"/>
            <a:ext cx="3536546"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2000" dirty="0"/>
              <a:t>，   </a:t>
            </a:r>
            <a:r>
              <a:rPr lang="zh-CN" altLang="en-US" sz="2000" dirty="0" smtClean="0"/>
              <a:t>     </a:t>
            </a:r>
            <a:r>
              <a:rPr lang="zh-CN" altLang="en-US" sz="2000" dirty="0"/>
              <a:t>是放大器的中频增益。</a:t>
            </a:r>
          </a:p>
        </p:txBody>
      </p:sp>
      <p:graphicFrame>
        <p:nvGraphicFramePr>
          <p:cNvPr id="13" name="Object 14"/>
          <p:cNvGraphicFramePr>
            <a:graphicFrameLocks noChangeAspect="1"/>
          </p:cNvGraphicFramePr>
          <p:nvPr>
            <p:extLst>
              <p:ext uri="{D42A27DB-BD31-4B8C-83A1-F6EECF244321}">
                <p14:modId xmlns:p14="http://schemas.microsoft.com/office/powerpoint/2010/main" val="1732246409"/>
              </p:ext>
            </p:extLst>
          </p:nvPr>
        </p:nvGraphicFramePr>
        <p:xfrm>
          <a:off x="4334669" y="3667125"/>
          <a:ext cx="411480" cy="411480"/>
        </p:xfrm>
        <a:graphic>
          <a:graphicData uri="http://schemas.openxmlformats.org/presentationml/2006/ole">
            <mc:AlternateContent xmlns:mc="http://schemas.openxmlformats.org/markup-compatibility/2006">
              <mc:Choice xmlns:v="urn:schemas-microsoft-com:vml" Requires="v">
                <p:oleObj spid="_x0000_s10618" name="Equation" r:id="rId7" imgW="228600" imgH="228600" progId="Equation.DSMT4">
                  <p:embed/>
                </p:oleObj>
              </mc:Choice>
              <mc:Fallback>
                <p:oleObj name="Equation" r:id="rId7" imgW="228600" imgH="228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34669" y="3667125"/>
                        <a:ext cx="411480"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15"/>
          <p:cNvSpPr txBox="1">
            <a:spLocks noChangeArrowheads="1"/>
          </p:cNvSpPr>
          <p:nvPr/>
        </p:nvSpPr>
        <p:spPr bwMode="auto">
          <a:xfrm>
            <a:off x="1511300" y="5103813"/>
            <a:ext cx="7281863"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None/>
            </a:pPr>
            <a:r>
              <a:rPr lang="en-US" altLang="zh-CN" sz="2000" dirty="0"/>
              <a:t>        </a:t>
            </a:r>
            <a:r>
              <a:rPr lang="zh-CN" altLang="en-US" sz="2000" dirty="0"/>
              <a:t>一般，对于用于不同放大电路里的同一只晶体管，它的增益带宽积是一定的。</a:t>
            </a:r>
          </a:p>
        </p:txBody>
      </p:sp>
      <p:grpSp>
        <p:nvGrpSpPr>
          <p:cNvPr id="15" name="Group 16"/>
          <p:cNvGrpSpPr>
            <a:grpSpLocks/>
          </p:cNvGrpSpPr>
          <p:nvPr/>
        </p:nvGrpSpPr>
        <p:grpSpPr bwMode="auto">
          <a:xfrm>
            <a:off x="639763" y="4437063"/>
            <a:ext cx="1644650" cy="850900"/>
            <a:chOff x="385" y="3022"/>
            <a:chExt cx="1036" cy="536"/>
          </a:xfrm>
        </p:grpSpPr>
        <p:pic>
          <p:nvPicPr>
            <p:cNvPr id="16" name="Picture 17" descr="1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18"/>
            <p:cNvSpPr txBox="1">
              <a:spLocks noChangeArrowheads="1"/>
            </p:cNvSpPr>
            <p:nvPr/>
          </p:nvSpPr>
          <p:spPr bwMode="auto">
            <a:xfrm>
              <a:off x="793" y="3125"/>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3200" b="0" dirty="0">
                  <a:solidFill>
                    <a:srgbClr val="FA7748"/>
                  </a:solidFill>
                  <a:ea typeface="华文行楷" pitchFamily="2" charset="-122"/>
                </a:rPr>
                <a:t>注意</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664586"/>
                                        </p:tgtEl>
                                        <p:attrNameLst>
                                          <p:attrName>style.visibility</p:attrName>
                                        </p:attrNameLst>
                                      </p:cBhvr>
                                      <p:to>
                                        <p:strVal val="visible"/>
                                      </p:to>
                                    </p:set>
                                    <p:animEffect transition="in" filter="checkerboard(across)">
                                      <p:cBhvr>
                                        <p:cTn id="7" dur="500"/>
                                        <p:tgtEl>
                                          <p:spTgt spid="66458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par>
                                <p:cTn id="21" presetID="16" presetClass="entr" presetSubtype="21"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arn(inVertical)">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arn(inVertical)">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arn(inVertical)">
                                      <p:cBhvr>
                                        <p:cTn id="3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5"/>
          <p:cNvSpPr txBox="1">
            <a:spLocks noChangeArrowheads="1"/>
          </p:cNvSpPr>
          <p:nvPr/>
        </p:nvSpPr>
        <p:spPr bwMode="auto">
          <a:xfrm>
            <a:off x="390575" y="1927498"/>
            <a:ext cx="613749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0" hangingPunct="0"/>
            <a:r>
              <a:rPr lang="zh-CN" altLang="en-US" sz="2400" dirty="0" smtClean="0">
                <a:solidFill>
                  <a:srgbClr val="990033"/>
                </a:solidFill>
              </a:rPr>
              <a:t>一、滤波器概述</a:t>
            </a:r>
            <a:endParaRPr lang="en-US" altLang="zh-CN" sz="2400" dirty="0">
              <a:solidFill>
                <a:srgbClr val="990033"/>
              </a:solidFill>
            </a:endParaRPr>
          </a:p>
        </p:txBody>
      </p:sp>
      <p:sp>
        <p:nvSpPr>
          <p:cNvPr id="5" name="Rectangle 22"/>
          <p:cNvSpPr>
            <a:spLocks noChangeArrowheads="1"/>
          </p:cNvSpPr>
          <p:nvPr/>
        </p:nvSpPr>
        <p:spPr bwMode="auto">
          <a:xfrm>
            <a:off x="390575" y="2359546"/>
            <a:ext cx="825812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lnSpc>
                <a:spcPct val="150000"/>
              </a:lnSpc>
            </a:pPr>
            <a:r>
              <a:rPr lang="en-US" altLang="zh-CN" sz="2000" dirty="0">
                <a:solidFill>
                  <a:schemeClr val="tx1"/>
                </a:solidFill>
              </a:rPr>
              <a:t>     </a:t>
            </a:r>
            <a:r>
              <a:rPr lang="zh-CN" altLang="en-US" sz="2000" dirty="0">
                <a:solidFill>
                  <a:schemeClr val="tx1"/>
                </a:solidFill>
              </a:rPr>
              <a:t>工程上根据输出端口对信号频率范围的要求，设计专门的网络，置于</a:t>
            </a:r>
            <a:r>
              <a:rPr lang="zh-CN" altLang="en-US" sz="2000" dirty="0" smtClean="0">
                <a:solidFill>
                  <a:schemeClr val="tx1"/>
                </a:solidFill>
              </a:rPr>
              <a:t>输入和输出</a:t>
            </a:r>
            <a:r>
              <a:rPr lang="zh-CN" altLang="en-US" sz="2000" dirty="0">
                <a:solidFill>
                  <a:schemeClr val="tx1"/>
                </a:solidFill>
              </a:rPr>
              <a:t>端口之间，使输出端口所需要的频率分量能够顺利通过，而抑制或削弱不需要的频率分量，这种具有选频功能的中间网络，工程上称为</a:t>
            </a:r>
            <a:r>
              <a:rPr lang="zh-CN" altLang="en-US" sz="2000" dirty="0">
                <a:solidFill>
                  <a:srgbClr val="FF0000"/>
                </a:solidFill>
              </a:rPr>
              <a:t>滤波器</a:t>
            </a:r>
            <a:r>
              <a:rPr lang="zh-CN" altLang="en-US" sz="2000" dirty="0">
                <a:solidFill>
                  <a:schemeClr val="tx1"/>
                </a:solidFill>
              </a:rPr>
              <a:t>。</a:t>
            </a:r>
          </a:p>
        </p:txBody>
      </p:sp>
      <p:sp>
        <p:nvSpPr>
          <p:cNvPr id="6" name="Text Box 11"/>
          <p:cNvSpPr txBox="1">
            <a:spLocks noChangeArrowheads="1"/>
          </p:cNvSpPr>
          <p:nvPr/>
        </p:nvSpPr>
        <p:spPr bwMode="auto">
          <a:xfrm>
            <a:off x="683034" y="4695527"/>
            <a:ext cx="3960974" cy="461665"/>
          </a:xfrm>
          <a:prstGeom prst="rect">
            <a:avLst/>
          </a:prstGeom>
          <a:noFill/>
          <a:ln w="3810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buSzPct val="80000"/>
              <a:buFont typeface="Wingdings" pitchFamily="2" charset="2"/>
              <a:buChar char="l"/>
            </a:pPr>
            <a:r>
              <a:rPr lang="en-US" altLang="zh-CN" sz="2400" dirty="0">
                <a:solidFill>
                  <a:srgbClr val="00B0F0"/>
                </a:solidFill>
                <a:latin typeface="Arial" charset="0"/>
              </a:rPr>
              <a:t> </a:t>
            </a:r>
            <a:r>
              <a:rPr lang="zh-CN" altLang="en-US" sz="2400" dirty="0" smtClean="0">
                <a:solidFill>
                  <a:srgbClr val="00B0F0"/>
                </a:solidFill>
                <a:latin typeface="Arial" charset="0"/>
              </a:rPr>
              <a:t>滤波</a:t>
            </a:r>
            <a:r>
              <a:rPr lang="zh-CN" altLang="en-US" sz="2400" dirty="0">
                <a:solidFill>
                  <a:srgbClr val="00B0F0"/>
                </a:solidFill>
                <a:latin typeface="Arial" charset="0"/>
              </a:rPr>
              <a:t>器</a:t>
            </a:r>
            <a:r>
              <a:rPr lang="zh-CN" altLang="en-US" sz="2400" dirty="0" smtClean="0">
                <a:solidFill>
                  <a:srgbClr val="00B0F0"/>
                </a:solidFill>
                <a:latin typeface="Arial" charset="0"/>
              </a:rPr>
              <a:t>的</a:t>
            </a:r>
            <a:r>
              <a:rPr lang="zh-CN" altLang="en-US" sz="2400" dirty="0">
                <a:solidFill>
                  <a:srgbClr val="00B0F0"/>
                </a:solidFill>
                <a:latin typeface="Arial" charset="0"/>
              </a:rPr>
              <a:t>传递函数定义</a:t>
            </a:r>
          </a:p>
        </p:txBody>
      </p:sp>
      <p:grpSp>
        <p:nvGrpSpPr>
          <p:cNvPr id="7" name="Group 12"/>
          <p:cNvGrpSpPr>
            <a:grpSpLocks/>
          </p:cNvGrpSpPr>
          <p:nvPr/>
        </p:nvGrpSpPr>
        <p:grpSpPr bwMode="auto">
          <a:xfrm>
            <a:off x="1186233" y="5722590"/>
            <a:ext cx="4033839" cy="454026"/>
            <a:chOff x="521" y="3359"/>
            <a:chExt cx="2541" cy="286"/>
          </a:xfrm>
        </p:grpSpPr>
        <p:sp>
          <p:nvSpPr>
            <p:cNvPr id="8" name="Text Box 13"/>
            <p:cNvSpPr txBox="1">
              <a:spLocks noChangeArrowheads="1"/>
            </p:cNvSpPr>
            <p:nvPr/>
          </p:nvSpPr>
          <p:spPr bwMode="auto">
            <a:xfrm>
              <a:off x="1383" y="3393"/>
              <a:ext cx="817" cy="252"/>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zh-CN" altLang="en-US" sz="2000" dirty="0" smtClean="0">
                  <a:solidFill>
                    <a:schemeClr val="tx1"/>
                  </a:solidFill>
                  <a:latin typeface="Arial" charset="0"/>
                </a:rPr>
                <a:t>滤波器</a:t>
              </a:r>
              <a:endParaRPr lang="zh-CN" altLang="en-US" sz="2000" dirty="0">
                <a:solidFill>
                  <a:schemeClr val="tx1"/>
                </a:solidFill>
                <a:latin typeface="Arial" charset="0"/>
              </a:endParaRPr>
            </a:p>
          </p:txBody>
        </p:sp>
        <p:sp>
          <p:nvSpPr>
            <p:cNvPr id="9" name="Line 14"/>
            <p:cNvSpPr>
              <a:spLocks noChangeShapeType="1"/>
            </p:cNvSpPr>
            <p:nvPr/>
          </p:nvSpPr>
          <p:spPr bwMode="auto">
            <a:xfrm>
              <a:off x="884" y="3521"/>
              <a:ext cx="499" cy="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5"/>
            <p:cNvSpPr>
              <a:spLocks noChangeShapeType="1"/>
            </p:cNvSpPr>
            <p:nvPr/>
          </p:nvSpPr>
          <p:spPr bwMode="auto">
            <a:xfrm>
              <a:off x="2200" y="3520"/>
              <a:ext cx="499" cy="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Text Box 16"/>
            <p:cNvSpPr txBox="1">
              <a:spLocks noChangeArrowheads="1"/>
            </p:cNvSpPr>
            <p:nvPr/>
          </p:nvSpPr>
          <p:spPr bwMode="auto">
            <a:xfrm>
              <a:off x="521" y="3359"/>
              <a:ext cx="36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i="1" dirty="0">
                  <a:solidFill>
                    <a:schemeClr val="tx1"/>
                  </a:solidFill>
                  <a:ea typeface="仿宋_GB2312" pitchFamily="49" charset="-122"/>
                </a:rPr>
                <a:t>V</a:t>
              </a:r>
              <a:r>
                <a:rPr lang="en-US" altLang="zh-CN" sz="2000" b="0" i="1" baseline="-25000" dirty="0">
                  <a:solidFill>
                    <a:schemeClr val="tx1"/>
                  </a:solidFill>
                  <a:ea typeface="仿宋_GB2312" pitchFamily="49" charset="-122"/>
                </a:rPr>
                <a:t>i</a:t>
              </a:r>
            </a:p>
          </p:txBody>
        </p:sp>
        <p:sp>
          <p:nvSpPr>
            <p:cNvPr id="12" name="Text Box 17"/>
            <p:cNvSpPr txBox="1">
              <a:spLocks noChangeArrowheads="1"/>
            </p:cNvSpPr>
            <p:nvPr/>
          </p:nvSpPr>
          <p:spPr bwMode="auto">
            <a:xfrm>
              <a:off x="2699" y="3359"/>
              <a:ext cx="36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i="1" dirty="0">
                  <a:solidFill>
                    <a:schemeClr val="tx1"/>
                  </a:solidFill>
                  <a:ea typeface="仿宋_GB2312" pitchFamily="49" charset="-122"/>
                </a:rPr>
                <a:t>V</a:t>
              </a:r>
              <a:r>
                <a:rPr lang="en-US" altLang="zh-CN" sz="2000" b="0" i="1" baseline="-25000" dirty="0">
                  <a:solidFill>
                    <a:schemeClr val="tx1"/>
                  </a:solidFill>
                  <a:ea typeface="仿宋_GB2312" pitchFamily="49" charset="-122"/>
                </a:rPr>
                <a:t>o</a:t>
              </a:r>
            </a:p>
          </p:txBody>
        </p:sp>
      </p:grpSp>
      <p:graphicFrame>
        <p:nvGraphicFramePr>
          <p:cNvPr id="13" name="Object 18"/>
          <p:cNvGraphicFramePr>
            <a:graphicFrameLocks noChangeAspect="1"/>
          </p:cNvGraphicFramePr>
          <p:nvPr>
            <p:extLst>
              <p:ext uri="{D42A27DB-BD31-4B8C-83A1-F6EECF244321}">
                <p14:modId xmlns:p14="http://schemas.microsoft.com/office/powerpoint/2010/main" val="3998024229"/>
              </p:ext>
            </p:extLst>
          </p:nvPr>
        </p:nvGraphicFramePr>
        <p:xfrm>
          <a:off x="5940152" y="5593710"/>
          <a:ext cx="1645920" cy="776952"/>
        </p:xfrm>
        <a:graphic>
          <a:graphicData uri="http://schemas.openxmlformats.org/presentationml/2006/ole">
            <mc:AlternateContent xmlns:mc="http://schemas.openxmlformats.org/markup-compatibility/2006">
              <mc:Choice xmlns:v="urn:schemas-microsoft-com:vml" Requires="v">
                <p:oleObj spid="_x0000_s73741" name="Equation" r:id="rId3" imgW="914400" imgH="431640" progId="Equation.DSMT4">
                  <p:embed/>
                </p:oleObj>
              </mc:Choice>
              <mc:Fallback>
                <p:oleObj name="Equation" r:id="rId3" imgW="914400" imgH="431640" progId="Equation.DSMT4">
                  <p:embed/>
                  <p:pic>
                    <p:nvPicPr>
                      <p:cNvPr id="0" name=""/>
                      <p:cNvPicPr>
                        <a:picLocks noChangeAspect="1" noChangeArrowheads="1"/>
                      </p:cNvPicPr>
                      <p:nvPr/>
                    </p:nvPicPr>
                    <p:blipFill>
                      <a:blip r:embed="rId4"/>
                      <a:srcRect/>
                      <a:stretch>
                        <a:fillRect/>
                      </a:stretch>
                    </p:blipFill>
                    <p:spPr bwMode="auto">
                      <a:xfrm>
                        <a:off x="5940152" y="5593710"/>
                        <a:ext cx="1645920" cy="7769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2"/>
          <p:cNvSpPr>
            <a:spLocks noChangeArrowheads="1"/>
          </p:cNvSpPr>
          <p:nvPr/>
        </p:nvSpPr>
        <p:spPr bwMode="auto">
          <a:xfrm>
            <a:off x="341313" y="655638"/>
            <a:ext cx="7515225" cy="519112"/>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en-US" altLang="zh-CN" sz="2800" dirty="0" smtClean="0">
                <a:solidFill>
                  <a:schemeClr val="tx2"/>
                </a:solidFill>
              </a:rPr>
              <a:t>10.2 </a:t>
            </a:r>
            <a:r>
              <a:rPr lang="zh-CN" altLang="en-US" sz="2800" dirty="0" smtClean="0">
                <a:solidFill>
                  <a:schemeClr val="tx2"/>
                </a:solidFill>
              </a:rPr>
              <a:t>滤波器</a:t>
            </a:r>
            <a:r>
              <a:rPr lang="zh-CN" altLang="en-US" sz="2800" dirty="0">
                <a:solidFill>
                  <a:schemeClr val="tx2"/>
                </a:solidFill>
              </a:rPr>
              <a:t>及其频率响应</a:t>
            </a:r>
          </a:p>
        </p:txBody>
      </p:sp>
      <p:sp>
        <p:nvSpPr>
          <p:cNvPr id="16" name="Text Box 5"/>
          <p:cNvSpPr txBox="1">
            <a:spLocks noChangeArrowheads="1"/>
          </p:cNvSpPr>
          <p:nvPr/>
        </p:nvSpPr>
        <p:spPr bwMode="auto">
          <a:xfrm>
            <a:off x="528638" y="1366838"/>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10.2.1 </a:t>
            </a:r>
            <a:r>
              <a:rPr lang="zh-CN" altLang="en-US" dirty="0" smtClean="0">
                <a:solidFill>
                  <a:srgbClr val="990033"/>
                </a:solidFill>
              </a:rPr>
              <a:t>滤波器基础</a:t>
            </a:r>
            <a:endParaRPr lang="zh-CN" altLang="en-US" dirty="0">
              <a:solidFill>
                <a:srgbClr val="990033"/>
              </a:solidFill>
            </a:endParaRPr>
          </a:p>
        </p:txBody>
      </p:sp>
    </p:spTree>
    <p:extLst>
      <p:ext uri="{BB962C8B-B14F-4D97-AF65-F5344CB8AC3E}">
        <p14:creationId xmlns:p14="http://schemas.microsoft.com/office/powerpoint/2010/main" val="1344338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5"/>
          <p:cNvSpPr txBox="1">
            <a:spLocks noChangeArrowheads="1"/>
          </p:cNvSpPr>
          <p:nvPr/>
        </p:nvSpPr>
        <p:spPr bwMode="auto">
          <a:xfrm>
            <a:off x="390575" y="780686"/>
            <a:ext cx="613749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0" hangingPunct="0"/>
            <a:r>
              <a:rPr lang="zh-CN" altLang="en-US" sz="2400" dirty="0" smtClean="0">
                <a:solidFill>
                  <a:srgbClr val="990033"/>
                </a:solidFill>
              </a:rPr>
              <a:t>二、滤波电路分类</a:t>
            </a:r>
            <a:endParaRPr lang="en-US" altLang="zh-CN" sz="2400" dirty="0">
              <a:solidFill>
                <a:srgbClr val="990033"/>
              </a:solidFill>
            </a:endParaRPr>
          </a:p>
        </p:txBody>
      </p:sp>
      <p:sp>
        <p:nvSpPr>
          <p:cNvPr id="14" name="Text Box 20"/>
          <p:cNvSpPr txBox="1">
            <a:spLocks noChangeArrowheads="1"/>
          </p:cNvSpPr>
          <p:nvPr/>
        </p:nvSpPr>
        <p:spPr bwMode="auto">
          <a:xfrm>
            <a:off x="1288825" y="1556792"/>
            <a:ext cx="24910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buFontTx/>
              <a:buAutoNum type="circleNumDbPlain"/>
            </a:pPr>
            <a:r>
              <a:rPr lang="zh-CN" altLang="en-US" sz="2000" dirty="0">
                <a:solidFill>
                  <a:schemeClr val="tx1"/>
                </a:solidFill>
                <a:latin typeface="楷体_GB2312" pitchFamily="49" charset="-122"/>
              </a:rPr>
              <a:t>按所处理信号分</a:t>
            </a:r>
          </a:p>
        </p:txBody>
      </p:sp>
      <p:sp>
        <p:nvSpPr>
          <p:cNvPr id="15" name="AutoShape 21"/>
          <p:cNvSpPr>
            <a:spLocks noChangeArrowheads="1"/>
          </p:cNvSpPr>
          <p:nvPr/>
        </p:nvSpPr>
        <p:spPr bwMode="auto">
          <a:xfrm>
            <a:off x="3824349" y="1693415"/>
            <a:ext cx="719137" cy="144462"/>
          </a:xfrm>
          <a:prstGeom prst="rightArrow">
            <a:avLst>
              <a:gd name="adj1" fmla="val 50000"/>
              <a:gd name="adj2" fmla="val 124451"/>
            </a:avLst>
          </a:prstGeom>
          <a:solidFill>
            <a:srgbClr val="0066FF"/>
          </a:solidFill>
          <a:ln w="9525">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endParaRPr lang="zh-CN" altLang="en-US" sz="2000">
              <a:solidFill>
                <a:schemeClr val="tx1"/>
              </a:solidFill>
            </a:endParaRPr>
          </a:p>
        </p:txBody>
      </p:sp>
      <p:sp>
        <p:nvSpPr>
          <p:cNvPr id="16" name="Text Box 22"/>
          <p:cNvSpPr txBox="1">
            <a:spLocks noChangeArrowheads="1"/>
          </p:cNvSpPr>
          <p:nvPr/>
        </p:nvSpPr>
        <p:spPr bwMode="auto">
          <a:xfrm>
            <a:off x="4890044" y="1549746"/>
            <a:ext cx="33845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pPr>
            <a:r>
              <a:rPr lang="zh-CN" altLang="en-US" sz="2000" dirty="0">
                <a:solidFill>
                  <a:schemeClr val="tx1"/>
                </a:solidFill>
                <a:latin typeface="楷体_GB2312" pitchFamily="49" charset="-122"/>
              </a:rPr>
              <a:t>模拟和数字滤波器</a:t>
            </a:r>
          </a:p>
        </p:txBody>
      </p:sp>
      <p:sp>
        <p:nvSpPr>
          <p:cNvPr id="17" name="Text Box 23"/>
          <p:cNvSpPr txBox="1">
            <a:spLocks noChangeArrowheads="1"/>
          </p:cNvSpPr>
          <p:nvPr/>
        </p:nvSpPr>
        <p:spPr bwMode="auto">
          <a:xfrm>
            <a:off x="1288826" y="2264297"/>
            <a:ext cx="21971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buFontTx/>
              <a:buAutoNum type="circleNumDbPlain" startAt="2"/>
            </a:pPr>
            <a:r>
              <a:rPr lang="zh-CN" altLang="en-US" sz="2000" dirty="0">
                <a:solidFill>
                  <a:schemeClr val="tx1"/>
                </a:solidFill>
                <a:latin typeface="楷体_GB2312" pitchFamily="49" charset="-122"/>
              </a:rPr>
              <a:t>按所用元件分</a:t>
            </a:r>
          </a:p>
        </p:txBody>
      </p:sp>
      <p:sp>
        <p:nvSpPr>
          <p:cNvPr id="18" name="AutoShape 24"/>
          <p:cNvSpPr>
            <a:spLocks noChangeArrowheads="1"/>
          </p:cNvSpPr>
          <p:nvPr/>
        </p:nvSpPr>
        <p:spPr bwMode="auto">
          <a:xfrm>
            <a:off x="3779912" y="2372830"/>
            <a:ext cx="719138" cy="144462"/>
          </a:xfrm>
          <a:prstGeom prst="rightArrow">
            <a:avLst>
              <a:gd name="adj1" fmla="val 50000"/>
              <a:gd name="adj2" fmla="val 124451"/>
            </a:avLst>
          </a:prstGeom>
          <a:solidFill>
            <a:srgbClr val="0066FF"/>
          </a:solidFill>
          <a:ln w="9525">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endParaRPr lang="zh-CN" altLang="en-US" sz="2000">
              <a:solidFill>
                <a:schemeClr val="tx1"/>
              </a:solidFill>
            </a:endParaRPr>
          </a:p>
        </p:txBody>
      </p:sp>
      <p:sp>
        <p:nvSpPr>
          <p:cNvPr id="19" name="Text Box 25"/>
          <p:cNvSpPr txBox="1">
            <a:spLocks noChangeArrowheads="1"/>
          </p:cNvSpPr>
          <p:nvPr/>
        </p:nvSpPr>
        <p:spPr bwMode="auto">
          <a:xfrm>
            <a:off x="4848602" y="2236802"/>
            <a:ext cx="33845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pPr>
            <a:r>
              <a:rPr lang="zh-CN" altLang="en-US" sz="2000" dirty="0">
                <a:solidFill>
                  <a:schemeClr val="tx1"/>
                </a:solidFill>
                <a:latin typeface="楷体_GB2312" pitchFamily="49" charset="-122"/>
              </a:rPr>
              <a:t>无源和有源滤波器</a:t>
            </a:r>
          </a:p>
        </p:txBody>
      </p:sp>
      <p:sp>
        <p:nvSpPr>
          <p:cNvPr id="20" name="Text Box 26"/>
          <p:cNvSpPr txBox="1">
            <a:spLocks noChangeArrowheads="1"/>
          </p:cNvSpPr>
          <p:nvPr/>
        </p:nvSpPr>
        <p:spPr bwMode="auto">
          <a:xfrm>
            <a:off x="1288825" y="3028717"/>
            <a:ext cx="24910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buFontTx/>
              <a:buAutoNum type="circleNumDbPlain" startAt="3"/>
            </a:pPr>
            <a:r>
              <a:rPr lang="zh-CN" altLang="en-US" sz="2000" dirty="0">
                <a:solidFill>
                  <a:schemeClr val="tx1"/>
                </a:solidFill>
                <a:latin typeface="楷体_GB2312" pitchFamily="49" charset="-122"/>
              </a:rPr>
              <a:t>按滤波特性分</a:t>
            </a:r>
          </a:p>
        </p:txBody>
      </p:sp>
      <p:sp>
        <p:nvSpPr>
          <p:cNvPr id="21" name="AutoShape 27"/>
          <p:cNvSpPr>
            <a:spLocks noChangeArrowheads="1"/>
          </p:cNvSpPr>
          <p:nvPr/>
        </p:nvSpPr>
        <p:spPr bwMode="auto">
          <a:xfrm>
            <a:off x="3779912" y="3157334"/>
            <a:ext cx="719137" cy="142875"/>
          </a:xfrm>
          <a:prstGeom prst="rightArrow">
            <a:avLst>
              <a:gd name="adj1" fmla="val 50000"/>
              <a:gd name="adj2" fmla="val 125833"/>
            </a:avLst>
          </a:prstGeom>
          <a:solidFill>
            <a:srgbClr val="0066FF"/>
          </a:solidFill>
          <a:ln w="9525">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endParaRPr lang="zh-CN" altLang="en-US" sz="2000">
              <a:solidFill>
                <a:schemeClr val="tx1"/>
              </a:solidFill>
            </a:endParaRPr>
          </a:p>
        </p:txBody>
      </p:sp>
      <p:sp>
        <p:nvSpPr>
          <p:cNvPr id="22" name="Text Box 29"/>
          <p:cNvSpPr txBox="1">
            <a:spLocks noChangeArrowheads="1"/>
          </p:cNvSpPr>
          <p:nvPr/>
        </p:nvSpPr>
        <p:spPr bwMode="auto">
          <a:xfrm>
            <a:off x="4848602" y="3492876"/>
            <a:ext cx="27997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pPr>
            <a:r>
              <a:rPr lang="zh-CN" altLang="en-US" sz="2000" dirty="0">
                <a:solidFill>
                  <a:schemeClr val="tx1"/>
                </a:solidFill>
                <a:latin typeface="楷体_GB2312" pitchFamily="49" charset="-122"/>
              </a:rPr>
              <a:t>高通滤波器（</a:t>
            </a:r>
            <a:r>
              <a:rPr lang="en-US" altLang="zh-CN" sz="2000" b="0" dirty="0">
                <a:solidFill>
                  <a:schemeClr val="tx1"/>
                </a:solidFill>
              </a:rPr>
              <a:t>HPF</a:t>
            </a:r>
            <a:r>
              <a:rPr lang="zh-CN" altLang="en-US" sz="2000" dirty="0" smtClean="0">
                <a:solidFill>
                  <a:schemeClr val="tx1"/>
                </a:solidFill>
                <a:latin typeface="楷体_GB2312" pitchFamily="49" charset="-122"/>
              </a:rPr>
              <a:t>）</a:t>
            </a:r>
            <a:endParaRPr lang="zh-CN" altLang="en-US" sz="2000" dirty="0">
              <a:solidFill>
                <a:schemeClr val="tx1"/>
              </a:solidFill>
              <a:latin typeface="楷体_GB2312" pitchFamily="49" charset="-122"/>
            </a:endParaRPr>
          </a:p>
        </p:txBody>
      </p:sp>
      <p:sp>
        <p:nvSpPr>
          <p:cNvPr id="23" name="Text Box 31"/>
          <p:cNvSpPr txBox="1">
            <a:spLocks noChangeArrowheads="1"/>
          </p:cNvSpPr>
          <p:nvPr/>
        </p:nvSpPr>
        <p:spPr bwMode="auto">
          <a:xfrm>
            <a:off x="4848602" y="3028890"/>
            <a:ext cx="33845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pPr>
            <a:r>
              <a:rPr lang="zh-CN" altLang="en-US" sz="2000" dirty="0">
                <a:solidFill>
                  <a:schemeClr val="tx1"/>
                </a:solidFill>
                <a:latin typeface="楷体_GB2312" pitchFamily="49" charset="-122"/>
              </a:rPr>
              <a:t>低通滤波器（</a:t>
            </a:r>
            <a:r>
              <a:rPr lang="en-US" altLang="zh-CN" sz="2000" b="0" dirty="0">
                <a:solidFill>
                  <a:schemeClr val="tx1"/>
                </a:solidFill>
              </a:rPr>
              <a:t>LPF</a:t>
            </a:r>
            <a:r>
              <a:rPr lang="zh-CN" altLang="en-US" sz="2000" dirty="0">
                <a:solidFill>
                  <a:schemeClr val="tx1"/>
                </a:solidFill>
                <a:latin typeface="楷体_GB2312" pitchFamily="49" charset="-122"/>
              </a:rPr>
              <a:t>）</a:t>
            </a:r>
          </a:p>
        </p:txBody>
      </p:sp>
      <p:sp>
        <p:nvSpPr>
          <p:cNvPr id="24" name="Text Box 32"/>
          <p:cNvSpPr txBox="1">
            <a:spLocks noChangeArrowheads="1"/>
          </p:cNvSpPr>
          <p:nvPr/>
        </p:nvSpPr>
        <p:spPr bwMode="auto">
          <a:xfrm>
            <a:off x="4848602" y="3996932"/>
            <a:ext cx="33845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pPr>
            <a:r>
              <a:rPr lang="zh-CN" altLang="en-US" sz="2000" dirty="0">
                <a:solidFill>
                  <a:schemeClr val="tx1"/>
                </a:solidFill>
                <a:latin typeface="楷体_GB2312" pitchFamily="49" charset="-122"/>
              </a:rPr>
              <a:t>带通滤波器（</a:t>
            </a:r>
            <a:r>
              <a:rPr lang="en-US" altLang="zh-CN" sz="2000" b="0" dirty="0">
                <a:solidFill>
                  <a:schemeClr val="tx1"/>
                </a:solidFill>
              </a:rPr>
              <a:t>BPF</a:t>
            </a:r>
            <a:r>
              <a:rPr lang="zh-CN" altLang="en-US" sz="2000" dirty="0">
                <a:solidFill>
                  <a:schemeClr val="tx1"/>
                </a:solidFill>
                <a:latin typeface="楷体_GB2312" pitchFamily="49" charset="-122"/>
              </a:rPr>
              <a:t>）</a:t>
            </a:r>
          </a:p>
        </p:txBody>
      </p:sp>
      <p:sp>
        <p:nvSpPr>
          <p:cNvPr id="25" name="Text Box 33"/>
          <p:cNvSpPr txBox="1">
            <a:spLocks noChangeArrowheads="1"/>
          </p:cNvSpPr>
          <p:nvPr/>
        </p:nvSpPr>
        <p:spPr bwMode="auto">
          <a:xfrm>
            <a:off x="4848602" y="4469050"/>
            <a:ext cx="33845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pPr>
            <a:r>
              <a:rPr lang="zh-CN" altLang="en-US" sz="2000" dirty="0">
                <a:solidFill>
                  <a:schemeClr val="tx1"/>
                </a:solidFill>
                <a:latin typeface="楷体_GB2312" pitchFamily="49" charset="-122"/>
              </a:rPr>
              <a:t>带阻滤波器（</a:t>
            </a:r>
            <a:r>
              <a:rPr lang="en-US" altLang="zh-CN" sz="2000" b="0" dirty="0">
                <a:solidFill>
                  <a:schemeClr val="tx1"/>
                </a:solidFill>
              </a:rPr>
              <a:t>BEF</a:t>
            </a:r>
            <a:r>
              <a:rPr lang="zh-CN" altLang="en-US" sz="2000" dirty="0">
                <a:solidFill>
                  <a:schemeClr val="tx1"/>
                </a:solidFill>
                <a:latin typeface="楷体_GB2312" pitchFamily="49" charset="-122"/>
              </a:rPr>
              <a:t>）</a:t>
            </a:r>
          </a:p>
        </p:txBody>
      </p:sp>
      <p:sp>
        <p:nvSpPr>
          <p:cNvPr id="26" name="Text Box 34"/>
          <p:cNvSpPr txBox="1">
            <a:spLocks noChangeArrowheads="1"/>
          </p:cNvSpPr>
          <p:nvPr/>
        </p:nvSpPr>
        <p:spPr bwMode="auto">
          <a:xfrm>
            <a:off x="4859858" y="4973106"/>
            <a:ext cx="33845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pPr>
            <a:r>
              <a:rPr lang="zh-CN" altLang="en-US" sz="2000" dirty="0">
                <a:solidFill>
                  <a:schemeClr val="tx1"/>
                </a:solidFill>
                <a:latin typeface="楷体_GB2312" pitchFamily="49" charset="-122"/>
              </a:rPr>
              <a:t>全通滤波器（</a:t>
            </a:r>
            <a:r>
              <a:rPr lang="en-US" altLang="zh-CN" sz="2000" b="0" dirty="0">
                <a:solidFill>
                  <a:schemeClr val="tx1"/>
                </a:solidFill>
              </a:rPr>
              <a:t>APF</a:t>
            </a:r>
            <a:r>
              <a:rPr lang="zh-CN" altLang="en-US" sz="2000" dirty="0">
                <a:solidFill>
                  <a:schemeClr val="tx1"/>
                </a:solidFill>
                <a:latin typeface="楷体_GB2312" pitchFamily="49" charset="-122"/>
              </a:rPr>
              <a:t>）</a:t>
            </a:r>
          </a:p>
        </p:txBody>
      </p:sp>
    </p:spTree>
    <p:extLst>
      <p:ext uri="{BB962C8B-B14F-4D97-AF65-F5344CB8AC3E}">
        <p14:creationId xmlns:p14="http://schemas.microsoft.com/office/powerpoint/2010/main" val="157297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2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lide(fromLeft)">
                                      <p:cBhvr>
                                        <p:cTn id="12" dur="500"/>
                                        <p:tgtEl>
                                          <p:spTgt spid="1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20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20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slide(fromLeft)">
                                      <p:cBhvr>
                                        <p:cTn id="26" dur="500"/>
                                        <p:tgtEl>
                                          <p:spTgt spid="18"/>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20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left)">
                                      <p:cBhvr>
                                        <p:cTn id="35" dur="20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slide(fromLeft)">
                                      <p:cBhvr>
                                        <p:cTn id="40" dur="5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blinds(horizontal)">
                                      <p:cBhvr>
                                        <p:cTn id="45" dur="500"/>
                                        <p:tgtEl>
                                          <p:spTgt spid="23"/>
                                        </p:tgtEl>
                                      </p:cBhvr>
                                    </p:animEffect>
                                  </p:childTnLst>
                                </p:cTn>
                              </p:par>
                            </p:childTnLst>
                          </p:cTn>
                        </p:par>
                        <p:par>
                          <p:cTn id="46" fill="hold">
                            <p:stCondLst>
                              <p:cond delay="500"/>
                            </p:stCondLst>
                            <p:childTnLst>
                              <p:par>
                                <p:cTn id="47" presetID="3" presetClass="entr" presetSubtype="10" fill="hold" grpId="0"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blinds(horizontal)">
                                      <p:cBhvr>
                                        <p:cTn id="49" dur="500"/>
                                        <p:tgtEl>
                                          <p:spTgt spid="22"/>
                                        </p:tgtEl>
                                      </p:cBhvr>
                                    </p:animEffect>
                                  </p:childTnLst>
                                </p:cTn>
                              </p:par>
                            </p:childTnLst>
                          </p:cTn>
                        </p:par>
                        <p:par>
                          <p:cTn id="50" fill="hold">
                            <p:stCondLst>
                              <p:cond delay="1000"/>
                            </p:stCondLst>
                            <p:childTnLst>
                              <p:par>
                                <p:cTn id="51" presetID="3" presetClass="entr" presetSubtype="1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blinds(horizontal)">
                                      <p:cBhvr>
                                        <p:cTn id="53" dur="500"/>
                                        <p:tgtEl>
                                          <p:spTgt spid="24"/>
                                        </p:tgtEl>
                                      </p:cBhvr>
                                    </p:animEffect>
                                  </p:childTnLst>
                                </p:cTn>
                              </p:par>
                            </p:childTnLst>
                          </p:cTn>
                        </p:par>
                        <p:par>
                          <p:cTn id="54" fill="hold">
                            <p:stCondLst>
                              <p:cond delay="1500"/>
                            </p:stCondLst>
                            <p:childTnLst>
                              <p:par>
                                <p:cTn id="55" presetID="3" presetClass="entr" presetSubtype="10" fill="hold" grpId="0" nodeType="after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blinds(horizontal)">
                                      <p:cBhvr>
                                        <p:cTn id="57" dur="500"/>
                                        <p:tgtEl>
                                          <p:spTgt spid="25"/>
                                        </p:tgtEl>
                                      </p:cBhvr>
                                    </p:animEffect>
                                  </p:childTnLst>
                                </p:cTn>
                              </p:par>
                            </p:childTnLst>
                          </p:cTn>
                        </p:par>
                        <p:par>
                          <p:cTn id="58" fill="hold">
                            <p:stCondLst>
                              <p:cond delay="2000"/>
                            </p:stCondLst>
                            <p:childTnLst>
                              <p:par>
                                <p:cTn id="59" presetID="3" presetClass="entr" presetSubtype="10" fill="hold" grpId="0" nodeType="after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blinds(horizontal)">
                                      <p:cBhvr>
                                        <p:cTn id="6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6" grpId="0"/>
      <p:bldP spid="17" grpId="0"/>
      <p:bldP spid="18" grpId="0" animBg="1"/>
      <p:bldP spid="19" grpId="0"/>
      <p:bldP spid="20" grpId="0"/>
      <p:bldP spid="21" grpId="0" animBg="1"/>
      <p:bldP spid="22" grpId="0"/>
      <p:bldP spid="23" grpId="0"/>
      <p:bldP spid="24" grpId="0"/>
      <p:bldP spid="25" grpId="0"/>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5"/>
          <p:cNvSpPr txBox="1">
            <a:spLocks noChangeArrowheads="1"/>
          </p:cNvSpPr>
          <p:nvPr/>
        </p:nvSpPr>
        <p:spPr bwMode="auto">
          <a:xfrm>
            <a:off x="390575" y="523081"/>
            <a:ext cx="613749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0" hangingPunct="0"/>
            <a:r>
              <a:rPr lang="zh-CN" altLang="en-US" sz="2400" dirty="0" smtClean="0">
                <a:solidFill>
                  <a:srgbClr val="990033"/>
                </a:solidFill>
              </a:rPr>
              <a:t>三</a:t>
            </a:r>
            <a:r>
              <a:rPr lang="zh-CN" altLang="en-US" sz="2400" dirty="0">
                <a:solidFill>
                  <a:srgbClr val="990033"/>
                </a:solidFill>
              </a:rPr>
              <a:t>、滤波电路的</a:t>
            </a:r>
            <a:r>
              <a:rPr lang="zh-CN" altLang="en-US" sz="2400" dirty="0" smtClean="0">
                <a:solidFill>
                  <a:srgbClr val="990033"/>
                </a:solidFill>
              </a:rPr>
              <a:t>频率响应（幅频特性）</a:t>
            </a:r>
            <a:endParaRPr lang="en-US" altLang="zh-CN" sz="2400" dirty="0">
              <a:solidFill>
                <a:srgbClr val="990033"/>
              </a:solidFill>
            </a:endParaRPr>
          </a:p>
        </p:txBody>
      </p:sp>
      <p:grpSp>
        <p:nvGrpSpPr>
          <p:cNvPr id="3" name="Group 8"/>
          <p:cNvGrpSpPr>
            <a:grpSpLocks/>
          </p:cNvGrpSpPr>
          <p:nvPr/>
        </p:nvGrpSpPr>
        <p:grpSpPr bwMode="auto">
          <a:xfrm>
            <a:off x="603250" y="1268760"/>
            <a:ext cx="3752850" cy="2159000"/>
            <a:chOff x="380" y="120"/>
            <a:chExt cx="2364" cy="1360"/>
          </a:xfrm>
        </p:grpSpPr>
        <p:sp>
          <p:nvSpPr>
            <p:cNvPr id="4" name="Line 9"/>
            <p:cNvSpPr>
              <a:spLocks noChangeShapeType="1"/>
            </p:cNvSpPr>
            <p:nvPr/>
          </p:nvSpPr>
          <p:spPr bwMode="auto">
            <a:xfrm>
              <a:off x="884" y="1117"/>
              <a:ext cx="1633"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5" name="Line 10"/>
            <p:cNvSpPr>
              <a:spLocks noChangeShapeType="1"/>
            </p:cNvSpPr>
            <p:nvPr/>
          </p:nvSpPr>
          <p:spPr bwMode="auto">
            <a:xfrm flipV="1">
              <a:off x="930" y="164"/>
              <a:ext cx="0" cy="131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6" name="Text Box 11"/>
            <p:cNvSpPr txBox="1">
              <a:spLocks noChangeArrowheads="1"/>
            </p:cNvSpPr>
            <p:nvPr/>
          </p:nvSpPr>
          <p:spPr bwMode="auto">
            <a:xfrm>
              <a:off x="657" y="1117"/>
              <a:ext cx="22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a:solidFill>
                    <a:schemeClr val="tx1"/>
                  </a:solidFill>
                  <a:ea typeface="仿宋_GB2312" pitchFamily="49" charset="-122"/>
                </a:rPr>
                <a:t>0</a:t>
              </a:r>
            </a:p>
          </p:txBody>
        </p:sp>
        <p:sp>
          <p:nvSpPr>
            <p:cNvPr id="7" name="Text Box 12"/>
            <p:cNvSpPr txBox="1">
              <a:spLocks noChangeArrowheads="1"/>
            </p:cNvSpPr>
            <p:nvPr/>
          </p:nvSpPr>
          <p:spPr bwMode="auto">
            <a:xfrm>
              <a:off x="2245" y="1117"/>
              <a:ext cx="49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i="1">
                  <a:solidFill>
                    <a:schemeClr val="tx1"/>
                  </a:solidFill>
                  <a:ea typeface="仿宋_GB2312" pitchFamily="49" charset="-122"/>
                  <a:sym typeface="Symbol" pitchFamily="18" charset="2"/>
                </a:rPr>
                <a:t></a:t>
              </a:r>
            </a:p>
          </p:txBody>
        </p:sp>
        <p:sp>
          <p:nvSpPr>
            <p:cNvPr id="8" name="Text Box 13"/>
            <p:cNvSpPr txBox="1">
              <a:spLocks noChangeArrowheads="1"/>
            </p:cNvSpPr>
            <p:nvPr/>
          </p:nvSpPr>
          <p:spPr bwMode="auto">
            <a:xfrm>
              <a:off x="1519" y="1117"/>
              <a:ext cx="49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i="1">
                  <a:solidFill>
                    <a:schemeClr val="tx1"/>
                  </a:solidFill>
                  <a:ea typeface="仿宋_GB2312" pitchFamily="49" charset="-122"/>
                  <a:sym typeface="Symbol" pitchFamily="18" charset="2"/>
                </a:rPr>
                <a:t></a:t>
              </a:r>
              <a:r>
                <a:rPr lang="en-US" altLang="zh-CN" sz="2000" b="0" baseline="-25000">
                  <a:solidFill>
                    <a:schemeClr val="tx1"/>
                  </a:solidFill>
                  <a:ea typeface="仿宋_GB2312" pitchFamily="49" charset="-122"/>
                  <a:sym typeface="Symbol" pitchFamily="18" charset="2"/>
                </a:rPr>
                <a:t>1</a:t>
              </a:r>
            </a:p>
          </p:txBody>
        </p:sp>
        <p:sp>
          <p:nvSpPr>
            <p:cNvPr id="9" name="Line 14"/>
            <p:cNvSpPr>
              <a:spLocks noChangeShapeType="1"/>
            </p:cNvSpPr>
            <p:nvPr/>
          </p:nvSpPr>
          <p:spPr bwMode="auto">
            <a:xfrm>
              <a:off x="930" y="527"/>
              <a:ext cx="725"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10" name="Line 15"/>
            <p:cNvSpPr>
              <a:spLocks noChangeShapeType="1"/>
            </p:cNvSpPr>
            <p:nvPr/>
          </p:nvSpPr>
          <p:spPr bwMode="auto">
            <a:xfrm>
              <a:off x="1655" y="527"/>
              <a:ext cx="0" cy="59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11" name="AutoShape 16"/>
            <p:cNvSpPr>
              <a:spLocks noChangeArrowheads="1"/>
            </p:cNvSpPr>
            <p:nvPr/>
          </p:nvSpPr>
          <p:spPr bwMode="auto">
            <a:xfrm>
              <a:off x="1973" y="255"/>
              <a:ext cx="521" cy="363"/>
            </a:xfrm>
            <a:prstGeom prst="wedgeRoundRectCallout">
              <a:avLst>
                <a:gd name="adj1" fmla="val -134727"/>
                <a:gd name="adj2" fmla="val 66981"/>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ctr" eaLnBrk="1" hangingPunct="1"/>
              <a:r>
                <a:rPr lang="zh-CN" altLang="en-US" sz="2000" dirty="0">
                  <a:solidFill>
                    <a:schemeClr val="tx1"/>
                  </a:solidFill>
                  <a:latin typeface="Arial" charset="0"/>
                  <a:ea typeface="仿宋_GB2312" pitchFamily="49" charset="-122"/>
                </a:rPr>
                <a:t>低通</a:t>
              </a:r>
            </a:p>
          </p:txBody>
        </p:sp>
        <p:graphicFrame>
          <p:nvGraphicFramePr>
            <p:cNvPr id="12" name="Object 17"/>
            <p:cNvGraphicFramePr>
              <a:graphicFrameLocks noChangeAspect="1"/>
            </p:cNvGraphicFramePr>
            <p:nvPr>
              <p:extLst/>
            </p:nvPr>
          </p:nvGraphicFramePr>
          <p:xfrm>
            <a:off x="380" y="120"/>
            <a:ext cx="504" cy="288"/>
          </p:xfrm>
          <a:graphic>
            <a:graphicData uri="http://schemas.openxmlformats.org/presentationml/2006/ole">
              <mc:AlternateContent xmlns:mc="http://schemas.openxmlformats.org/markup-compatibility/2006">
                <mc:Choice xmlns:v="urn:schemas-microsoft-com:vml" Requires="v">
                  <p:oleObj spid="_x0000_s74798" name="Equation" r:id="rId3" imgW="444240" imgH="253800" progId="Equation.DSMT4">
                    <p:embed/>
                  </p:oleObj>
                </mc:Choice>
                <mc:Fallback>
                  <p:oleObj name="Equation" r:id="rId3" imgW="444240" imgH="253800" progId="Equation.DSMT4">
                    <p:embed/>
                    <p:pic>
                      <p:nvPicPr>
                        <p:cNvPr id="0" name=""/>
                        <p:cNvPicPr>
                          <a:picLocks noChangeAspect="1" noChangeArrowheads="1"/>
                        </p:cNvPicPr>
                        <p:nvPr/>
                      </p:nvPicPr>
                      <p:blipFill>
                        <a:blip r:embed="rId4"/>
                        <a:srcRect/>
                        <a:stretch>
                          <a:fillRect/>
                        </a:stretch>
                      </p:blipFill>
                      <p:spPr bwMode="auto">
                        <a:xfrm>
                          <a:off x="380" y="120"/>
                          <a:ext cx="5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3" name="Group 18"/>
          <p:cNvGrpSpPr>
            <a:grpSpLocks/>
          </p:cNvGrpSpPr>
          <p:nvPr/>
        </p:nvGrpSpPr>
        <p:grpSpPr bwMode="auto">
          <a:xfrm>
            <a:off x="4765675" y="1387823"/>
            <a:ext cx="3767138" cy="2184400"/>
            <a:chOff x="3002" y="149"/>
            <a:chExt cx="2373" cy="1376"/>
          </a:xfrm>
        </p:grpSpPr>
        <p:sp>
          <p:nvSpPr>
            <p:cNvPr id="14" name="Line 19"/>
            <p:cNvSpPr>
              <a:spLocks noChangeShapeType="1"/>
            </p:cNvSpPr>
            <p:nvPr/>
          </p:nvSpPr>
          <p:spPr bwMode="auto">
            <a:xfrm>
              <a:off x="3515" y="1162"/>
              <a:ext cx="1633"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15" name="Line 20"/>
            <p:cNvSpPr>
              <a:spLocks noChangeShapeType="1"/>
            </p:cNvSpPr>
            <p:nvPr/>
          </p:nvSpPr>
          <p:spPr bwMode="auto">
            <a:xfrm flipV="1">
              <a:off x="3561" y="209"/>
              <a:ext cx="0" cy="131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16" name="Text Box 21"/>
            <p:cNvSpPr txBox="1">
              <a:spLocks noChangeArrowheads="1"/>
            </p:cNvSpPr>
            <p:nvPr/>
          </p:nvSpPr>
          <p:spPr bwMode="auto">
            <a:xfrm>
              <a:off x="3288" y="1162"/>
              <a:ext cx="22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a:solidFill>
                    <a:schemeClr val="tx1"/>
                  </a:solidFill>
                  <a:ea typeface="仿宋_GB2312" pitchFamily="49" charset="-122"/>
                </a:rPr>
                <a:t>0</a:t>
              </a:r>
            </a:p>
          </p:txBody>
        </p:sp>
        <p:sp>
          <p:nvSpPr>
            <p:cNvPr id="17" name="Text Box 22"/>
            <p:cNvSpPr txBox="1">
              <a:spLocks noChangeArrowheads="1"/>
            </p:cNvSpPr>
            <p:nvPr/>
          </p:nvSpPr>
          <p:spPr bwMode="auto">
            <a:xfrm>
              <a:off x="4876" y="1162"/>
              <a:ext cx="49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i="1">
                  <a:solidFill>
                    <a:schemeClr val="tx1"/>
                  </a:solidFill>
                  <a:ea typeface="仿宋_GB2312" pitchFamily="49" charset="-122"/>
                  <a:sym typeface="Symbol" pitchFamily="18" charset="2"/>
                </a:rPr>
                <a:t></a:t>
              </a:r>
            </a:p>
          </p:txBody>
        </p:sp>
        <p:sp>
          <p:nvSpPr>
            <p:cNvPr id="18" name="Text Box 23"/>
            <p:cNvSpPr txBox="1">
              <a:spLocks noChangeArrowheads="1"/>
            </p:cNvSpPr>
            <p:nvPr/>
          </p:nvSpPr>
          <p:spPr bwMode="auto">
            <a:xfrm>
              <a:off x="4150" y="1162"/>
              <a:ext cx="49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i="1">
                  <a:solidFill>
                    <a:schemeClr val="tx1"/>
                  </a:solidFill>
                  <a:ea typeface="仿宋_GB2312" pitchFamily="49" charset="-122"/>
                  <a:sym typeface="Symbol" pitchFamily="18" charset="2"/>
                </a:rPr>
                <a:t></a:t>
              </a:r>
              <a:r>
                <a:rPr lang="en-US" altLang="zh-CN" sz="2000" b="0" baseline="-25000">
                  <a:solidFill>
                    <a:schemeClr val="tx1"/>
                  </a:solidFill>
                  <a:ea typeface="仿宋_GB2312" pitchFamily="49" charset="-122"/>
                  <a:sym typeface="Symbol" pitchFamily="18" charset="2"/>
                </a:rPr>
                <a:t>1</a:t>
              </a:r>
            </a:p>
          </p:txBody>
        </p:sp>
        <p:sp>
          <p:nvSpPr>
            <p:cNvPr id="19" name="Line 24"/>
            <p:cNvSpPr>
              <a:spLocks noChangeShapeType="1"/>
            </p:cNvSpPr>
            <p:nvPr/>
          </p:nvSpPr>
          <p:spPr bwMode="auto">
            <a:xfrm>
              <a:off x="4332" y="572"/>
              <a:ext cx="725"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20" name="Line 25"/>
            <p:cNvSpPr>
              <a:spLocks noChangeShapeType="1"/>
            </p:cNvSpPr>
            <p:nvPr/>
          </p:nvSpPr>
          <p:spPr bwMode="auto">
            <a:xfrm>
              <a:off x="4332" y="572"/>
              <a:ext cx="0" cy="59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21" name="AutoShape 26"/>
            <p:cNvSpPr>
              <a:spLocks noChangeArrowheads="1"/>
            </p:cNvSpPr>
            <p:nvPr/>
          </p:nvSpPr>
          <p:spPr bwMode="auto">
            <a:xfrm>
              <a:off x="3765" y="209"/>
              <a:ext cx="590" cy="319"/>
            </a:xfrm>
            <a:prstGeom prst="wedgeRoundRectCallout">
              <a:avLst>
                <a:gd name="adj1" fmla="val 73948"/>
                <a:gd name="adj2" fmla="val 117157"/>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ctr" eaLnBrk="1" hangingPunct="1"/>
              <a:r>
                <a:rPr lang="zh-CN" altLang="en-US" sz="2000" dirty="0">
                  <a:solidFill>
                    <a:schemeClr val="tx1"/>
                  </a:solidFill>
                  <a:latin typeface="Arial" charset="0"/>
                </a:rPr>
                <a:t>高通</a:t>
              </a:r>
            </a:p>
          </p:txBody>
        </p:sp>
        <p:graphicFrame>
          <p:nvGraphicFramePr>
            <p:cNvPr id="22" name="Object 27"/>
            <p:cNvGraphicFramePr>
              <a:graphicFrameLocks noChangeAspect="1"/>
            </p:cNvGraphicFramePr>
            <p:nvPr>
              <p:extLst/>
            </p:nvPr>
          </p:nvGraphicFramePr>
          <p:xfrm>
            <a:off x="3002" y="149"/>
            <a:ext cx="504" cy="288"/>
          </p:xfrm>
          <a:graphic>
            <a:graphicData uri="http://schemas.openxmlformats.org/presentationml/2006/ole">
              <mc:AlternateContent xmlns:mc="http://schemas.openxmlformats.org/markup-compatibility/2006">
                <mc:Choice xmlns:v="urn:schemas-microsoft-com:vml" Requires="v">
                  <p:oleObj spid="_x0000_s74799" name="Equation" r:id="rId5" imgW="444240" imgH="253800" progId="Equation.DSMT4">
                    <p:embed/>
                  </p:oleObj>
                </mc:Choice>
                <mc:Fallback>
                  <p:oleObj name="Equation" r:id="rId5" imgW="444240" imgH="253800" progId="Equation.DSMT4">
                    <p:embed/>
                    <p:pic>
                      <p:nvPicPr>
                        <p:cNvPr id="0" name=""/>
                        <p:cNvPicPr>
                          <a:picLocks noChangeAspect="1" noChangeArrowheads="1"/>
                        </p:cNvPicPr>
                        <p:nvPr/>
                      </p:nvPicPr>
                      <p:blipFill>
                        <a:blip r:embed="rId6"/>
                        <a:srcRect/>
                        <a:stretch>
                          <a:fillRect/>
                        </a:stretch>
                      </p:blipFill>
                      <p:spPr bwMode="auto">
                        <a:xfrm>
                          <a:off x="3002" y="149"/>
                          <a:ext cx="5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3" name="Group 28"/>
          <p:cNvGrpSpPr>
            <a:grpSpLocks/>
          </p:cNvGrpSpPr>
          <p:nvPr/>
        </p:nvGrpSpPr>
        <p:grpSpPr bwMode="auto">
          <a:xfrm>
            <a:off x="387350" y="3645249"/>
            <a:ext cx="3968750" cy="2690813"/>
            <a:chOff x="244" y="1662"/>
            <a:chExt cx="2500" cy="1695"/>
          </a:xfrm>
        </p:grpSpPr>
        <p:sp>
          <p:nvSpPr>
            <p:cNvPr id="24" name="Line 29"/>
            <p:cNvSpPr>
              <a:spLocks noChangeShapeType="1"/>
            </p:cNvSpPr>
            <p:nvPr/>
          </p:nvSpPr>
          <p:spPr bwMode="auto">
            <a:xfrm>
              <a:off x="748" y="2659"/>
              <a:ext cx="1633"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25" name="Line 30"/>
            <p:cNvSpPr>
              <a:spLocks noChangeShapeType="1"/>
            </p:cNvSpPr>
            <p:nvPr/>
          </p:nvSpPr>
          <p:spPr bwMode="auto">
            <a:xfrm flipV="1">
              <a:off x="794" y="1706"/>
              <a:ext cx="0" cy="131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26" name="Text Box 31"/>
            <p:cNvSpPr txBox="1">
              <a:spLocks noChangeArrowheads="1"/>
            </p:cNvSpPr>
            <p:nvPr/>
          </p:nvSpPr>
          <p:spPr bwMode="auto">
            <a:xfrm>
              <a:off x="521" y="2659"/>
              <a:ext cx="22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a:solidFill>
                    <a:schemeClr val="tx1"/>
                  </a:solidFill>
                  <a:ea typeface="仿宋_GB2312" pitchFamily="49" charset="-122"/>
                </a:rPr>
                <a:t>0</a:t>
              </a:r>
            </a:p>
          </p:txBody>
        </p:sp>
        <p:sp>
          <p:nvSpPr>
            <p:cNvPr id="27" name="Text Box 32"/>
            <p:cNvSpPr txBox="1">
              <a:spLocks noChangeArrowheads="1"/>
            </p:cNvSpPr>
            <p:nvPr/>
          </p:nvSpPr>
          <p:spPr bwMode="auto">
            <a:xfrm>
              <a:off x="2245" y="2614"/>
              <a:ext cx="49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i="1">
                  <a:solidFill>
                    <a:schemeClr val="tx1"/>
                  </a:solidFill>
                  <a:ea typeface="仿宋_GB2312" pitchFamily="49" charset="-122"/>
                  <a:sym typeface="Symbol" pitchFamily="18" charset="2"/>
                </a:rPr>
                <a:t></a:t>
              </a:r>
            </a:p>
          </p:txBody>
        </p:sp>
        <p:sp>
          <p:nvSpPr>
            <p:cNvPr id="28" name="Text Box 33"/>
            <p:cNvSpPr txBox="1">
              <a:spLocks noChangeArrowheads="1"/>
            </p:cNvSpPr>
            <p:nvPr/>
          </p:nvSpPr>
          <p:spPr bwMode="auto">
            <a:xfrm>
              <a:off x="1383" y="2659"/>
              <a:ext cx="49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i="1">
                  <a:solidFill>
                    <a:schemeClr val="tx1"/>
                  </a:solidFill>
                  <a:ea typeface="仿宋_GB2312" pitchFamily="49" charset="-122"/>
                  <a:sym typeface="Symbol" pitchFamily="18" charset="2"/>
                </a:rPr>
                <a:t></a:t>
              </a:r>
              <a:r>
                <a:rPr lang="en-US" altLang="zh-CN" sz="2000" b="0" baseline="-25000">
                  <a:solidFill>
                    <a:schemeClr val="tx1"/>
                  </a:solidFill>
                  <a:ea typeface="仿宋_GB2312" pitchFamily="49" charset="-122"/>
                  <a:sym typeface="Symbol" pitchFamily="18" charset="2"/>
                </a:rPr>
                <a:t>1</a:t>
              </a:r>
            </a:p>
          </p:txBody>
        </p:sp>
        <p:sp>
          <p:nvSpPr>
            <p:cNvPr id="29" name="Line 34"/>
            <p:cNvSpPr>
              <a:spLocks noChangeShapeType="1"/>
            </p:cNvSpPr>
            <p:nvPr/>
          </p:nvSpPr>
          <p:spPr bwMode="auto">
            <a:xfrm>
              <a:off x="1519" y="2069"/>
              <a:ext cx="545"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30" name="Line 35"/>
            <p:cNvSpPr>
              <a:spLocks noChangeShapeType="1"/>
            </p:cNvSpPr>
            <p:nvPr/>
          </p:nvSpPr>
          <p:spPr bwMode="auto">
            <a:xfrm>
              <a:off x="1519" y="2069"/>
              <a:ext cx="0" cy="59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31" name="AutoShape 36"/>
            <p:cNvSpPr>
              <a:spLocks noChangeArrowheads="1"/>
            </p:cNvSpPr>
            <p:nvPr/>
          </p:nvSpPr>
          <p:spPr bwMode="auto">
            <a:xfrm>
              <a:off x="1265" y="3039"/>
              <a:ext cx="600" cy="318"/>
            </a:xfrm>
            <a:prstGeom prst="wedgeRoundRectCallout">
              <a:avLst>
                <a:gd name="adj1" fmla="val 43788"/>
                <a:gd name="adj2" fmla="val -205930"/>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ctr" eaLnBrk="1" hangingPunct="1"/>
              <a:r>
                <a:rPr lang="zh-CN" altLang="en-US" sz="2000" dirty="0">
                  <a:solidFill>
                    <a:schemeClr val="tx1"/>
                  </a:solidFill>
                  <a:latin typeface="Arial" charset="0"/>
                  <a:ea typeface="仿宋_GB2312" pitchFamily="49" charset="-122"/>
                </a:rPr>
                <a:t>带通</a:t>
              </a:r>
            </a:p>
          </p:txBody>
        </p:sp>
        <p:graphicFrame>
          <p:nvGraphicFramePr>
            <p:cNvPr id="32" name="Object 37"/>
            <p:cNvGraphicFramePr>
              <a:graphicFrameLocks noChangeAspect="1"/>
            </p:cNvGraphicFramePr>
            <p:nvPr>
              <p:extLst/>
            </p:nvPr>
          </p:nvGraphicFramePr>
          <p:xfrm>
            <a:off x="244" y="1662"/>
            <a:ext cx="504" cy="288"/>
          </p:xfrm>
          <a:graphic>
            <a:graphicData uri="http://schemas.openxmlformats.org/presentationml/2006/ole">
              <mc:AlternateContent xmlns:mc="http://schemas.openxmlformats.org/markup-compatibility/2006">
                <mc:Choice xmlns:v="urn:schemas-microsoft-com:vml" Requires="v">
                  <p:oleObj spid="_x0000_s74800" name="Equation" r:id="rId7" imgW="444240" imgH="253800" progId="Equation.DSMT4">
                    <p:embed/>
                  </p:oleObj>
                </mc:Choice>
                <mc:Fallback>
                  <p:oleObj name="Equation" r:id="rId7" imgW="444240" imgH="253800" progId="Equation.DSMT4">
                    <p:embed/>
                    <p:pic>
                      <p:nvPicPr>
                        <p:cNvPr id="0" name=""/>
                        <p:cNvPicPr>
                          <a:picLocks noChangeAspect="1" noChangeArrowheads="1"/>
                        </p:cNvPicPr>
                        <p:nvPr/>
                      </p:nvPicPr>
                      <p:blipFill>
                        <a:blip r:embed="rId8"/>
                        <a:srcRect/>
                        <a:stretch>
                          <a:fillRect/>
                        </a:stretch>
                      </p:blipFill>
                      <p:spPr bwMode="auto">
                        <a:xfrm>
                          <a:off x="244" y="1662"/>
                          <a:ext cx="5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 name="Line 38"/>
            <p:cNvSpPr>
              <a:spLocks noChangeShapeType="1"/>
            </p:cNvSpPr>
            <p:nvPr/>
          </p:nvSpPr>
          <p:spPr bwMode="auto">
            <a:xfrm>
              <a:off x="2064" y="2069"/>
              <a:ext cx="0" cy="59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34" name="Text Box 39"/>
            <p:cNvSpPr txBox="1">
              <a:spLocks noChangeArrowheads="1"/>
            </p:cNvSpPr>
            <p:nvPr/>
          </p:nvSpPr>
          <p:spPr bwMode="auto">
            <a:xfrm>
              <a:off x="1837" y="2659"/>
              <a:ext cx="49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i="1">
                  <a:solidFill>
                    <a:schemeClr val="tx1"/>
                  </a:solidFill>
                  <a:ea typeface="仿宋_GB2312" pitchFamily="49" charset="-122"/>
                  <a:sym typeface="Symbol" pitchFamily="18" charset="2"/>
                </a:rPr>
                <a:t></a:t>
              </a:r>
              <a:r>
                <a:rPr lang="en-US" altLang="zh-CN" sz="2000" b="0" baseline="-25000">
                  <a:solidFill>
                    <a:schemeClr val="tx1"/>
                  </a:solidFill>
                  <a:ea typeface="仿宋_GB2312" pitchFamily="49" charset="-122"/>
                  <a:sym typeface="Symbol" pitchFamily="18" charset="2"/>
                </a:rPr>
                <a:t>2</a:t>
              </a:r>
            </a:p>
          </p:txBody>
        </p:sp>
      </p:grpSp>
      <p:grpSp>
        <p:nvGrpSpPr>
          <p:cNvPr id="35" name="Group 40"/>
          <p:cNvGrpSpPr>
            <a:grpSpLocks/>
          </p:cNvGrpSpPr>
          <p:nvPr/>
        </p:nvGrpSpPr>
        <p:grpSpPr bwMode="auto">
          <a:xfrm>
            <a:off x="4716462" y="3861150"/>
            <a:ext cx="3959225" cy="2520951"/>
            <a:chOff x="2971" y="1707"/>
            <a:chExt cx="2494" cy="1588"/>
          </a:xfrm>
        </p:grpSpPr>
        <p:sp>
          <p:nvSpPr>
            <p:cNvPr id="36" name="Line 41"/>
            <p:cNvSpPr>
              <a:spLocks noChangeShapeType="1"/>
            </p:cNvSpPr>
            <p:nvPr/>
          </p:nvSpPr>
          <p:spPr bwMode="auto">
            <a:xfrm>
              <a:off x="3469" y="2704"/>
              <a:ext cx="1633"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37" name="Line 42"/>
            <p:cNvSpPr>
              <a:spLocks noChangeShapeType="1"/>
            </p:cNvSpPr>
            <p:nvPr/>
          </p:nvSpPr>
          <p:spPr bwMode="auto">
            <a:xfrm flipV="1">
              <a:off x="3515" y="1751"/>
              <a:ext cx="0" cy="131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38" name="Text Box 43"/>
            <p:cNvSpPr txBox="1">
              <a:spLocks noChangeArrowheads="1"/>
            </p:cNvSpPr>
            <p:nvPr/>
          </p:nvSpPr>
          <p:spPr bwMode="auto">
            <a:xfrm>
              <a:off x="3242" y="2704"/>
              <a:ext cx="22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a:solidFill>
                    <a:schemeClr val="tx1"/>
                  </a:solidFill>
                  <a:ea typeface="仿宋_GB2312" pitchFamily="49" charset="-122"/>
                </a:rPr>
                <a:t>0</a:t>
              </a:r>
            </a:p>
          </p:txBody>
        </p:sp>
        <p:sp>
          <p:nvSpPr>
            <p:cNvPr id="39" name="Text Box 44"/>
            <p:cNvSpPr txBox="1">
              <a:spLocks noChangeArrowheads="1"/>
            </p:cNvSpPr>
            <p:nvPr/>
          </p:nvSpPr>
          <p:spPr bwMode="auto">
            <a:xfrm>
              <a:off x="4966" y="2659"/>
              <a:ext cx="49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i="1">
                  <a:solidFill>
                    <a:schemeClr val="tx1"/>
                  </a:solidFill>
                  <a:ea typeface="仿宋_GB2312" pitchFamily="49" charset="-122"/>
                  <a:sym typeface="Symbol" pitchFamily="18" charset="2"/>
                </a:rPr>
                <a:t></a:t>
              </a:r>
            </a:p>
          </p:txBody>
        </p:sp>
        <p:sp>
          <p:nvSpPr>
            <p:cNvPr id="40" name="Text Box 45"/>
            <p:cNvSpPr txBox="1">
              <a:spLocks noChangeArrowheads="1"/>
            </p:cNvSpPr>
            <p:nvPr/>
          </p:nvSpPr>
          <p:spPr bwMode="auto">
            <a:xfrm>
              <a:off x="3833" y="2704"/>
              <a:ext cx="49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i="1">
                  <a:solidFill>
                    <a:schemeClr val="tx1"/>
                  </a:solidFill>
                  <a:ea typeface="仿宋_GB2312" pitchFamily="49" charset="-122"/>
                  <a:sym typeface="Symbol" pitchFamily="18" charset="2"/>
                </a:rPr>
                <a:t></a:t>
              </a:r>
              <a:r>
                <a:rPr lang="en-US" altLang="zh-CN" sz="2000" b="0" baseline="-25000">
                  <a:solidFill>
                    <a:schemeClr val="tx1"/>
                  </a:solidFill>
                  <a:ea typeface="仿宋_GB2312" pitchFamily="49" charset="-122"/>
                  <a:sym typeface="Symbol" pitchFamily="18" charset="2"/>
                </a:rPr>
                <a:t>1</a:t>
              </a:r>
            </a:p>
          </p:txBody>
        </p:sp>
        <p:sp>
          <p:nvSpPr>
            <p:cNvPr id="41" name="Line 46"/>
            <p:cNvSpPr>
              <a:spLocks noChangeShapeType="1"/>
            </p:cNvSpPr>
            <p:nvPr/>
          </p:nvSpPr>
          <p:spPr bwMode="auto">
            <a:xfrm>
              <a:off x="3515" y="2115"/>
              <a:ext cx="545"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42" name="Line 47"/>
            <p:cNvSpPr>
              <a:spLocks noChangeShapeType="1"/>
            </p:cNvSpPr>
            <p:nvPr/>
          </p:nvSpPr>
          <p:spPr bwMode="auto">
            <a:xfrm>
              <a:off x="3515" y="2115"/>
              <a:ext cx="0" cy="59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43" name="AutoShape 48"/>
            <p:cNvSpPr>
              <a:spLocks noChangeArrowheads="1"/>
            </p:cNvSpPr>
            <p:nvPr/>
          </p:nvSpPr>
          <p:spPr bwMode="auto">
            <a:xfrm>
              <a:off x="3788" y="2977"/>
              <a:ext cx="590" cy="318"/>
            </a:xfrm>
            <a:prstGeom prst="wedgeRoundRectCallout">
              <a:avLst>
                <a:gd name="adj1" fmla="val 43606"/>
                <a:gd name="adj2" fmla="val -179027"/>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ctr" eaLnBrk="1" hangingPunct="1"/>
              <a:r>
                <a:rPr lang="zh-CN" altLang="en-US" sz="2000" dirty="0">
                  <a:solidFill>
                    <a:schemeClr val="tx1"/>
                  </a:solidFill>
                  <a:latin typeface="Arial" charset="0"/>
                  <a:ea typeface="仿宋_GB2312" pitchFamily="49" charset="-122"/>
                </a:rPr>
                <a:t>带阻</a:t>
              </a:r>
            </a:p>
          </p:txBody>
        </p:sp>
        <p:graphicFrame>
          <p:nvGraphicFramePr>
            <p:cNvPr id="44" name="Object 49"/>
            <p:cNvGraphicFramePr>
              <a:graphicFrameLocks noChangeAspect="1"/>
            </p:cNvGraphicFramePr>
            <p:nvPr>
              <p:extLst/>
            </p:nvPr>
          </p:nvGraphicFramePr>
          <p:xfrm>
            <a:off x="2971" y="1707"/>
            <a:ext cx="504" cy="288"/>
          </p:xfrm>
          <a:graphic>
            <a:graphicData uri="http://schemas.openxmlformats.org/presentationml/2006/ole">
              <mc:AlternateContent xmlns:mc="http://schemas.openxmlformats.org/markup-compatibility/2006">
                <mc:Choice xmlns:v="urn:schemas-microsoft-com:vml" Requires="v">
                  <p:oleObj spid="_x0000_s74801" name="Equation" r:id="rId9" imgW="444240" imgH="253800" progId="Equation.DSMT4">
                    <p:embed/>
                  </p:oleObj>
                </mc:Choice>
                <mc:Fallback>
                  <p:oleObj name="Equation" r:id="rId9" imgW="444240" imgH="253800" progId="Equation.DSMT4">
                    <p:embed/>
                    <p:pic>
                      <p:nvPicPr>
                        <p:cNvPr id="0" name=""/>
                        <p:cNvPicPr>
                          <a:picLocks noChangeAspect="1" noChangeArrowheads="1"/>
                        </p:cNvPicPr>
                        <p:nvPr/>
                      </p:nvPicPr>
                      <p:blipFill>
                        <a:blip r:embed="rId10"/>
                        <a:srcRect/>
                        <a:stretch>
                          <a:fillRect/>
                        </a:stretch>
                      </p:blipFill>
                      <p:spPr bwMode="auto">
                        <a:xfrm>
                          <a:off x="2971" y="1707"/>
                          <a:ext cx="5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 name="Line 50"/>
            <p:cNvSpPr>
              <a:spLocks noChangeShapeType="1"/>
            </p:cNvSpPr>
            <p:nvPr/>
          </p:nvSpPr>
          <p:spPr bwMode="auto">
            <a:xfrm>
              <a:off x="4060" y="2115"/>
              <a:ext cx="0" cy="59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46" name="Text Box 51"/>
            <p:cNvSpPr txBox="1">
              <a:spLocks noChangeArrowheads="1"/>
            </p:cNvSpPr>
            <p:nvPr/>
          </p:nvSpPr>
          <p:spPr bwMode="auto">
            <a:xfrm>
              <a:off x="4377" y="2704"/>
              <a:ext cx="49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spcBef>
                  <a:spcPct val="50000"/>
                </a:spcBef>
              </a:pPr>
              <a:r>
                <a:rPr lang="en-US" altLang="zh-CN" sz="2000" b="0" i="1">
                  <a:solidFill>
                    <a:schemeClr val="tx1"/>
                  </a:solidFill>
                  <a:ea typeface="仿宋_GB2312" pitchFamily="49" charset="-122"/>
                  <a:sym typeface="Symbol" pitchFamily="18" charset="2"/>
                </a:rPr>
                <a:t></a:t>
              </a:r>
              <a:r>
                <a:rPr lang="en-US" altLang="zh-CN" sz="2000" b="0" baseline="-25000">
                  <a:solidFill>
                    <a:schemeClr val="tx1"/>
                  </a:solidFill>
                  <a:ea typeface="仿宋_GB2312" pitchFamily="49" charset="-122"/>
                  <a:sym typeface="Symbol" pitchFamily="18" charset="2"/>
                </a:rPr>
                <a:t>2</a:t>
              </a:r>
            </a:p>
          </p:txBody>
        </p:sp>
        <p:sp>
          <p:nvSpPr>
            <p:cNvPr id="47" name="Line 52"/>
            <p:cNvSpPr>
              <a:spLocks noChangeShapeType="1"/>
            </p:cNvSpPr>
            <p:nvPr/>
          </p:nvSpPr>
          <p:spPr bwMode="auto">
            <a:xfrm>
              <a:off x="4513" y="2115"/>
              <a:ext cx="545"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48" name="Line 53"/>
            <p:cNvSpPr>
              <a:spLocks noChangeShapeType="1"/>
            </p:cNvSpPr>
            <p:nvPr/>
          </p:nvSpPr>
          <p:spPr bwMode="auto">
            <a:xfrm>
              <a:off x="4513" y="2115"/>
              <a:ext cx="0" cy="59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grpSp>
    </p:spTree>
    <p:extLst>
      <p:ext uri="{BB962C8B-B14F-4D97-AF65-F5344CB8AC3E}">
        <p14:creationId xmlns:p14="http://schemas.microsoft.com/office/powerpoint/2010/main" val="1194238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linds(horizont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blinds(horizontal)">
                                      <p:cBhvr>
                                        <p:cTn id="2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1"/>
          <p:cNvSpPr txBox="1">
            <a:spLocks noChangeArrowheads="1"/>
          </p:cNvSpPr>
          <p:nvPr/>
        </p:nvSpPr>
        <p:spPr bwMode="auto">
          <a:xfrm>
            <a:off x="777832" y="1116360"/>
            <a:ext cx="4968875" cy="46166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r>
              <a:rPr kumimoji="1" lang="en-US" altLang="zh-CN" sz="2400" dirty="0" smtClean="0">
                <a:solidFill>
                  <a:schemeClr val="accent2"/>
                </a:solidFill>
                <a:ea typeface="宋体" charset="-122"/>
              </a:rPr>
              <a:t>1</a:t>
            </a:r>
            <a:r>
              <a:rPr kumimoji="1" lang="zh-CN" altLang="en-US" sz="2400" dirty="0">
                <a:solidFill>
                  <a:schemeClr val="accent2"/>
                </a:solidFill>
                <a:ea typeface="宋体" charset="-122"/>
              </a:rPr>
              <a:t>、一阶</a:t>
            </a:r>
            <a:r>
              <a:rPr kumimoji="1" lang="en-US" altLang="zh-CN" sz="2400" i="1" dirty="0">
                <a:solidFill>
                  <a:schemeClr val="accent2"/>
                </a:solidFill>
                <a:ea typeface="宋体" charset="-122"/>
              </a:rPr>
              <a:t>RC</a:t>
            </a:r>
            <a:r>
              <a:rPr kumimoji="1" lang="zh-CN" altLang="en-US" sz="2400" dirty="0">
                <a:solidFill>
                  <a:schemeClr val="accent2"/>
                </a:solidFill>
                <a:ea typeface="宋体" charset="-122"/>
              </a:rPr>
              <a:t>无源低通滤波器</a:t>
            </a:r>
          </a:p>
        </p:txBody>
      </p:sp>
      <p:graphicFrame>
        <p:nvGraphicFramePr>
          <p:cNvPr id="3" name="Object 9"/>
          <p:cNvGraphicFramePr>
            <a:graphicFrameLocks noChangeAspect="1"/>
          </p:cNvGraphicFramePr>
          <p:nvPr>
            <p:extLst>
              <p:ext uri="{D42A27DB-BD31-4B8C-83A1-F6EECF244321}">
                <p14:modId xmlns:p14="http://schemas.microsoft.com/office/powerpoint/2010/main" val="2907902861"/>
              </p:ext>
            </p:extLst>
          </p:nvPr>
        </p:nvGraphicFramePr>
        <p:xfrm>
          <a:off x="4572000" y="2965778"/>
          <a:ext cx="3977424" cy="1462536"/>
        </p:xfrm>
        <a:graphic>
          <a:graphicData uri="http://schemas.openxmlformats.org/presentationml/2006/ole">
            <mc:AlternateContent xmlns:mc="http://schemas.openxmlformats.org/markup-compatibility/2006">
              <mc:Choice xmlns:v="urn:schemas-microsoft-com:vml" Requires="v">
                <p:oleObj spid="_x0000_s75844" name="Equation" r:id="rId3" imgW="2209680" imgH="812520" progId="Equation.DSMT4">
                  <p:embed/>
                </p:oleObj>
              </mc:Choice>
              <mc:Fallback>
                <p:oleObj name="Equation" r:id="rId3" imgW="2209680" imgH="812520" progId="Equation.DSMT4">
                  <p:embed/>
                  <p:pic>
                    <p:nvPicPr>
                      <p:cNvPr id="0" name=""/>
                      <p:cNvPicPr>
                        <a:picLocks noChangeAspect="1" noChangeArrowheads="1"/>
                      </p:cNvPicPr>
                      <p:nvPr/>
                    </p:nvPicPr>
                    <p:blipFill>
                      <a:blip r:embed="rId4"/>
                      <a:srcRect/>
                      <a:stretch>
                        <a:fillRect/>
                      </a:stretch>
                    </p:blipFill>
                    <p:spPr bwMode="auto">
                      <a:xfrm>
                        <a:off x="4572000" y="2965778"/>
                        <a:ext cx="3977424" cy="14625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12"/>
          <p:cNvSpPr txBox="1">
            <a:spLocks noChangeArrowheads="1"/>
          </p:cNvSpPr>
          <p:nvPr/>
        </p:nvSpPr>
        <p:spPr bwMode="auto">
          <a:xfrm>
            <a:off x="4354513" y="2163793"/>
            <a:ext cx="28082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pPr>
            <a:r>
              <a:rPr lang="zh-CN" altLang="en-US" sz="2000" dirty="0" smtClean="0">
                <a:solidFill>
                  <a:schemeClr val="tx1"/>
                </a:solidFill>
                <a:latin typeface="Arial" charset="0"/>
              </a:rPr>
              <a:t>传递函数</a:t>
            </a:r>
            <a:endParaRPr lang="zh-CN" altLang="en-US" sz="2000" dirty="0">
              <a:solidFill>
                <a:schemeClr val="tx1"/>
              </a:solidFill>
              <a:latin typeface="Arial" charset="0"/>
            </a:endParaRPr>
          </a:p>
        </p:txBody>
      </p:sp>
      <p:graphicFrame>
        <p:nvGraphicFramePr>
          <p:cNvPr id="5" name="Object 15"/>
          <p:cNvGraphicFramePr>
            <a:graphicFrameLocks noChangeAspect="1"/>
          </p:cNvGraphicFramePr>
          <p:nvPr>
            <p:extLst>
              <p:ext uri="{D42A27DB-BD31-4B8C-83A1-F6EECF244321}">
                <p14:modId xmlns:p14="http://schemas.microsoft.com/office/powerpoint/2010/main" val="3340299149"/>
              </p:ext>
            </p:extLst>
          </p:nvPr>
        </p:nvGraphicFramePr>
        <p:xfrm>
          <a:off x="5087938" y="5005388"/>
          <a:ext cx="3178175" cy="914400"/>
        </p:xfrm>
        <a:graphic>
          <a:graphicData uri="http://schemas.openxmlformats.org/presentationml/2006/ole">
            <mc:AlternateContent xmlns:mc="http://schemas.openxmlformats.org/markup-compatibility/2006">
              <mc:Choice xmlns:v="urn:schemas-microsoft-com:vml" Requires="v">
                <p:oleObj spid="_x0000_s75845" name="Equation" r:id="rId5" imgW="1765080" imgH="507960" progId="Equation.DSMT4">
                  <p:embed/>
                </p:oleObj>
              </mc:Choice>
              <mc:Fallback>
                <p:oleObj name="Equation" r:id="rId5" imgW="1765080" imgH="507960" progId="Equation.DSMT4">
                  <p:embed/>
                  <p:pic>
                    <p:nvPicPr>
                      <p:cNvPr id="0" name=""/>
                      <p:cNvPicPr>
                        <a:picLocks noChangeAspect="1" noChangeArrowheads="1"/>
                      </p:cNvPicPr>
                      <p:nvPr/>
                    </p:nvPicPr>
                    <p:blipFill>
                      <a:blip r:embed="rId6"/>
                      <a:srcRect/>
                      <a:stretch>
                        <a:fillRect/>
                      </a:stretch>
                    </p:blipFill>
                    <p:spPr bwMode="auto">
                      <a:xfrm>
                        <a:off x="5087938" y="5005388"/>
                        <a:ext cx="317817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16"/>
          <p:cNvGrpSpPr>
            <a:grpSpLocks/>
          </p:cNvGrpSpPr>
          <p:nvPr/>
        </p:nvGrpSpPr>
        <p:grpSpPr bwMode="auto">
          <a:xfrm>
            <a:off x="827065" y="1961978"/>
            <a:ext cx="2736835" cy="1387476"/>
            <a:chOff x="2925" y="686"/>
            <a:chExt cx="1724" cy="874"/>
          </a:xfrm>
        </p:grpSpPr>
        <p:sp>
          <p:nvSpPr>
            <p:cNvPr id="7" name="Line 17"/>
            <p:cNvSpPr>
              <a:spLocks noChangeShapeType="1"/>
            </p:cNvSpPr>
            <p:nvPr/>
          </p:nvSpPr>
          <p:spPr bwMode="auto">
            <a:xfrm>
              <a:off x="3062" y="754"/>
              <a:ext cx="140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8" name="Line 18"/>
            <p:cNvSpPr>
              <a:spLocks noChangeShapeType="1"/>
            </p:cNvSpPr>
            <p:nvPr/>
          </p:nvSpPr>
          <p:spPr bwMode="auto">
            <a:xfrm>
              <a:off x="4105" y="754"/>
              <a:ext cx="0" cy="272"/>
            </a:xfrm>
            <a:prstGeom prst="line">
              <a:avLst/>
            </a:prstGeom>
            <a:noFill/>
            <a:ln w="38100">
              <a:solidFill>
                <a:srgbClr val="FFCC00"/>
              </a:solidFill>
              <a:round/>
              <a:headEnd type="oval"/>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9" name="Line 19"/>
            <p:cNvSpPr>
              <a:spLocks noChangeShapeType="1"/>
            </p:cNvSpPr>
            <p:nvPr/>
          </p:nvSpPr>
          <p:spPr bwMode="auto">
            <a:xfrm>
              <a:off x="3016" y="1525"/>
              <a:ext cx="1497"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10" name="Line 20"/>
            <p:cNvSpPr>
              <a:spLocks noChangeShapeType="1"/>
            </p:cNvSpPr>
            <p:nvPr/>
          </p:nvSpPr>
          <p:spPr bwMode="auto">
            <a:xfrm>
              <a:off x="4105" y="1117"/>
              <a:ext cx="0" cy="408"/>
            </a:xfrm>
            <a:prstGeom prst="line">
              <a:avLst/>
            </a:prstGeom>
            <a:noFill/>
            <a:ln w="38100">
              <a:solidFill>
                <a:srgbClr val="FFCC00"/>
              </a:solidFill>
              <a:round/>
              <a:headEnd type="none"/>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graphicFrame>
          <p:nvGraphicFramePr>
            <p:cNvPr id="11" name="Object 21"/>
            <p:cNvGraphicFramePr>
              <a:graphicFrameLocks noChangeAspect="1"/>
            </p:cNvGraphicFramePr>
            <p:nvPr>
              <p:extLst/>
            </p:nvPr>
          </p:nvGraphicFramePr>
          <p:xfrm>
            <a:off x="2925" y="969"/>
            <a:ext cx="173" cy="273"/>
          </p:xfrm>
          <a:graphic>
            <a:graphicData uri="http://schemas.openxmlformats.org/presentationml/2006/ole">
              <mc:AlternateContent xmlns:mc="http://schemas.openxmlformats.org/markup-compatibility/2006">
                <mc:Choice xmlns:v="urn:schemas-microsoft-com:vml" Requires="v">
                  <p:oleObj spid="_x0000_s75846" name="Equation" r:id="rId7" imgW="152280" imgH="241200" progId="Equation.DSMT4">
                    <p:embed/>
                  </p:oleObj>
                </mc:Choice>
                <mc:Fallback>
                  <p:oleObj name="Equation" r:id="rId7" imgW="152280" imgH="241200" progId="Equation.DSMT4">
                    <p:embed/>
                    <p:pic>
                      <p:nvPicPr>
                        <p:cNvPr id="0" name=""/>
                        <p:cNvPicPr>
                          <a:picLocks noChangeAspect="1" noChangeArrowheads="1"/>
                        </p:cNvPicPr>
                        <p:nvPr/>
                      </p:nvPicPr>
                      <p:blipFill>
                        <a:blip r:embed="rId8"/>
                        <a:srcRect/>
                        <a:stretch>
                          <a:fillRect/>
                        </a:stretch>
                      </p:blipFill>
                      <p:spPr bwMode="auto">
                        <a:xfrm>
                          <a:off x="2925" y="969"/>
                          <a:ext cx="173"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22"/>
            <p:cNvGraphicFramePr>
              <a:graphicFrameLocks noChangeAspect="1"/>
            </p:cNvGraphicFramePr>
            <p:nvPr>
              <p:extLst/>
            </p:nvPr>
          </p:nvGraphicFramePr>
          <p:xfrm>
            <a:off x="4462" y="969"/>
            <a:ext cx="187" cy="273"/>
          </p:xfrm>
          <a:graphic>
            <a:graphicData uri="http://schemas.openxmlformats.org/presentationml/2006/ole">
              <mc:AlternateContent xmlns:mc="http://schemas.openxmlformats.org/markup-compatibility/2006">
                <mc:Choice xmlns:v="urn:schemas-microsoft-com:vml" Requires="v">
                  <p:oleObj spid="_x0000_s75847" name="Equation" r:id="rId9" imgW="164880" imgH="241200" progId="Equation.DSMT4">
                    <p:embed/>
                  </p:oleObj>
                </mc:Choice>
                <mc:Fallback>
                  <p:oleObj name="Equation" r:id="rId9" imgW="164880" imgH="241200" progId="Equation.DSMT4">
                    <p:embed/>
                    <p:pic>
                      <p:nvPicPr>
                        <p:cNvPr id="0" name=""/>
                        <p:cNvPicPr>
                          <a:picLocks noChangeAspect="1" noChangeArrowheads="1"/>
                        </p:cNvPicPr>
                        <p:nvPr/>
                      </p:nvPicPr>
                      <p:blipFill>
                        <a:blip r:embed="rId10"/>
                        <a:srcRect/>
                        <a:stretch>
                          <a:fillRect/>
                        </a:stretch>
                      </p:blipFill>
                      <p:spPr bwMode="auto">
                        <a:xfrm>
                          <a:off x="4462" y="969"/>
                          <a:ext cx="187"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23"/>
            <p:cNvGraphicFramePr>
              <a:graphicFrameLocks noChangeAspect="1"/>
            </p:cNvGraphicFramePr>
            <p:nvPr>
              <p:extLst/>
            </p:nvPr>
          </p:nvGraphicFramePr>
          <p:xfrm>
            <a:off x="3765" y="1008"/>
            <a:ext cx="173" cy="201"/>
          </p:xfrm>
          <a:graphic>
            <a:graphicData uri="http://schemas.openxmlformats.org/presentationml/2006/ole">
              <mc:AlternateContent xmlns:mc="http://schemas.openxmlformats.org/markup-compatibility/2006">
                <mc:Choice xmlns:v="urn:schemas-microsoft-com:vml" Requires="v">
                  <p:oleObj spid="_x0000_s75848" name="Equation" r:id="rId11" imgW="152280" imgH="177480" progId="Equation.DSMT4">
                    <p:embed/>
                  </p:oleObj>
                </mc:Choice>
                <mc:Fallback>
                  <p:oleObj name="Equation" r:id="rId11" imgW="152280" imgH="177480" progId="Equation.DSMT4">
                    <p:embed/>
                    <p:pic>
                      <p:nvPicPr>
                        <p:cNvPr id="0" name=""/>
                        <p:cNvPicPr>
                          <a:picLocks noChangeAspect="1" noChangeArrowheads="1"/>
                        </p:cNvPicPr>
                        <p:nvPr/>
                      </p:nvPicPr>
                      <p:blipFill>
                        <a:blip r:embed="rId12"/>
                        <a:srcRect/>
                        <a:stretch>
                          <a:fillRect/>
                        </a:stretch>
                      </p:blipFill>
                      <p:spPr bwMode="auto">
                        <a:xfrm>
                          <a:off x="3765" y="1008"/>
                          <a:ext cx="173"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24"/>
            <p:cNvGraphicFramePr>
              <a:graphicFrameLocks noChangeAspect="1"/>
            </p:cNvGraphicFramePr>
            <p:nvPr>
              <p:extLst/>
            </p:nvPr>
          </p:nvGraphicFramePr>
          <p:xfrm>
            <a:off x="3478" y="828"/>
            <a:ext cx="173" cy="187"/>
          </p:xfrm>
          <a:graphic>
            <a:graphicData uri="http://schemas.openxmlformats.org/presentationml/2006/ole">
              <mc:AlternateContent xmlns:mc="http://schemas.openxmlformats.org/markup-compatibility/2006">
                <mc:Choice xmlns:v="urn:schemas-microsoft-com:vml" Requires="v">
                  <p:oleObj spid="_x0000_s75849" name="Equation" r:id="rId13" imgW="152280" imgH="164880" progId="Equation.DSMT4">
                    <p:embed/>
                  </p:oleObj>
                </mc:Choice>
                <mc:Fallback>
                  <p:oleObj name="Equation" r:id="rId13" imgW="152280" imgH="164880" progId="Equation.DSMT4">
                    <p:embed/>
                    <p:pic>
                      <p:nvPicPr>
                        <p:cNvPr id="0" name=""/>
                        <p:cNvPicPr>
                          <a:picLocks noChangeAspect="1" noChangeArrowheads="1"/>
                        </p:cNvPicPr>
                        <p:nvPr/>
                      </p:nvPicPr>
                      <p:blipFill>
                        <a:blip r:embed="rId14"/>
                        <a:srcRect/>
                        <a:stretch>
                          <a:fillRect/>
                        </a:stretch>
                      </p:blipFill>
                      <p:spPr bwMode="auto">
                        <a:xfrm>
                          <a:off x="3478" y="828"/>
                          <a:ext cx="173"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25"/>
            <p:cNvSpPr>
              <a:spLocks noChangeArrowheads="1"/>
            </p:cNvSpPr>
            <p:nvPr/>
          </p:nvSpPr>
          <p:spPr bwMode="auto">
            <a:xfrm>
              <a:off x="3424" y="686"/>
              <a:ext cx="317" cy="136"/>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grpSp>
          <p:nvGrpSpPr>
            <p:cNvPr id="16" name="Group 26"/>
            <p:cNvGrpSpPr>
              <a:grpSpLocks/>
            </p:cNvGrpSpPr>
            <p:nvPr/>
          </p:nvGrpSpPr>
          <p:grpSpPr bwMode="auto">
            <a:xfrm>
              <a:off x="3987" y="1026"/>
              <a:ext cx="240" cy="93"/>
              <a:chOff x="3805" y="2478"/>
              <a:chExt cx="240" cy="93"/>
            </a:xfrm>
          </p:grpSpPr>
          <p:sp>
            <p:nvSpPr>
              <p:cNvPr id="21" name="Line 27"/>
              <p:cNvSpPr>
                <a:spLocks noChangeShapeType="1"/>
              </p:cNvSpPr>
              <p:nvPr/>
            </p:nvSpPr>
            <p:spPr bwMode="auto">
              <a:xfrm flipV="1">
                <a:off x="3805" y="2568"/>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endParaRPr>
              </a:p>
            </p:txBody>
          </p:sp>
          <p:sp>
            <p:nvSpPr>
              <p:cNvPr id="22" name="Line 28"/>
              <p:cNvSpPr>
                <a:spLocks noChangeShapeType="1"/>
              </p:cNvSpPr>
              <p:nvPr/>
            </p:nvSpPr>
            <p:spPr bwMode="auto">
              <a:xfrm>
                <a:off x="3805" y="2478"/>
                <a:ext cx="240" cy="0"/>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endParaRPr>
              </a:p>
            </p:txBody>
          </p:sp>
        </p:grpSp>
        <p:sp>
          <p:nvSpPr>
            <p:cNvPr id="17" name="Oval 29"/>
            <p:cNvSpPr>
              <a:spLocks noChangeArrowheads="1"/>
            </p:cNvSpPr>
            <p:nvPr/>
          </p:nvSpPr>
          <p:spPr bwMode="auto">
            <a:xfrm>
              <a:off x="4513" y="1480"/>
              <a:ext cx="71"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sp>
          <p:nvSpPr>
            <p:cNvPr id="18" name="Oval 30"/>
            <p:cNvSpPr>
              <a:spLocks noChangeArrowheads="1"/>
            </p:cNvSpPr>
            <p:nvPr/>
          </p:nvSpPr>
          <p:spPr bwMode="auto">
            <a:xfrm>
              <a:off x="4468" y="709"/>
              <a:ext cx="71"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sp>
          <p:nvSpPr>
            <p:cNvPr id="19" name="Oval 31"/>
            <p:cNvSpPr>
              <a:spLocks noChangeArrowheads="1"/>
            </p:cNvSpPr>
            <p:nvPr/>
          </p:nvSpPr>
          <p:spPr bwMode="auto">
            <a:xfrm>
              <a:off x="3004" y="721"/>
              <a:ext cx="71"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sp>
          <p:nvSpPr>
            <p:cNvPr id="20" name="Oval 32"/>
            <p:cNvSpPr>
              <a:spLocks noChangeArrowheads="1"/>
            </p:cNvSpPr>
            <p:nvPr/>
          </p:nvSpPr>
          <p:spPr bwMode="auto">
            <a:xfrm>
              <a:off x="2965" y="1492"/>
              <a:ext cx="71"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grpSp>
      <p:pic>
        <p:nvPicPr>
          <p:cNvPr id="23" name="Picture 67" descr="lowpassp"/>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23091" y="4572744"/>
            <a:ext cx="4103688" cy="192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65"/>
          <p:cNvSpPr txBox="1">
            <a:spLocks noChangeArrowheads="1"/>
          </p:cNvSpPr>
          <p:nvPr/>
        </p:nvSpPr>
        <p:spPr bwMode="auto">
          <a:xfrm>
            <a:off x="377564" y="404664"/>
            <a:ext cx="828833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0" hangingPunct="0"/>
            <a:r>
              <a:rPr lang="en-US" altLang="zh-CN" sz="2400" dirty="0" smtClean="0">
                <a:solidFill>
                  <a:srgbClr val="990033"/>
                </a:solidFill>
              </a:rPr>
              <a:t>10.2.2 </a:t>
            </a:r>
            <a:r>
              <a:rPr lang="zh-CN" altLang="en-US" dirty="0" smtClean="0">
                <a:solidFill>
                  <a:srgbClr val="990033"/>
                </a:solidFill>
              </a:rPr>
              <a:t>一阶无源滤波器及其频率响应</a:t>
            </a:r>
            <a:endParaRPr lang="en-US" altLang="zh-CN" sz="2400" dirty="0">
              <a:solidFill>
                <a:srgbClr val="990033"/>
              </a:solidFill>
            </a:endParaRPr>
          </a:p>
        </p:txBody>
      </p:sp>
    </p:spTree>
    <p:extLst>
      <p:ext uri="{BB962C8B-B14F-4D97-AF65-F5344CB8AC3E}">
        <p14:creationId xmlns:p14="http://schemas.microsoft.com/office/powerpoint/2010/main" val="229600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linds(horizontal)">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linds(horizontal)">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linds(horizontal)">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barn(inVertical)">
                                      <p:cBhvr>
                                        <p:cTn id="3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1"/>
          <p:cNvSpPr txBox="1">
            <a:spLocks noChangeArrowheads="1"/>
          </p:cNvSpPr>
          <p:nvPr/>
        </p:nvSpPr>
        <p:spPr bwMode="auto">
          <a:xfrm>
            <a:off x="514028" y="404664"/>
            <a:ext cx="4968875" cy="46166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r>
              <a:rPr kumimoji="1" lang="en-US" altLang="zh-CN" sz="2400" dirty="0" smtClean="0">
                <a:solidFill>
                  <a:schemeClr val="accent2"/>
                </a:solidFill>
                <a:ea typeface="宋体" charset="-122"/>
              </a:rPr>
              <a:t>2</a:t>
            </a:r>
            <a:r>
              <a:rPr kumimoji="1" lang="zh-CN" altLang="en-US" sz="2400" dirty="0">
                <a:solidFill>
                  <a:schemeClr val="accent2"/>
                </a:solidFill>
                <a:ea typeface="宋体" charset="-122"/>
              </a:rPr>
              <a:t>、一阶</a:t>
            </a:r>
            <a:r>
              <a:rPr kumimoji="1" lang="en-US" altLang="zh-CN" sz="2400" i="1" dirty="0">
                <a:solidFill>
                  <a:schemeClr val="accent2"/>
                </a:solidFill>
                <a:ea typeface="宋体" charset="-122"/>
              </a:rPr>
              <a:t>RC</a:t>
            </a:r>
            <a:r>
              <a:rPr kumimoji="1" lang="zh-CN" altLang="en-US" sz="2400" dirty="0">
                <a:solidFill>
                  <a:schemeClr val="accent2"/>
                </a:solidFill>
                <a:ea typeface="宋体" charset="-122"/>
              </a:rPr>
              <a:t>无源高通滤波器</a:t>
            </a:r>
          </a:p>
        </p:txBody>
      </p:sp>
      <p:sp>
        <p:nvSpPr>
          <p:cNvPr id="3" name="Text Box 4"/>
          <p:cNvSpPr txBox="1">
            <a:spLocks noChangeArrowheads="1"/>
          </p:cNvSpPr>
          <p:nvPr/>
        </p:nvSpPr>
        <p:spPr bwMode="auto">
          <a:xfrm>
            <a:off x="4648690" y="1567751"/>
            <a:ext cx="28082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pPr>
            <a:r>
              <a:rPr lang="zh-CN" altLang="en-US" sz="2000" dirty="0">
                <a:solidFill>
                  <a:schemeClr val="tx1"/>
                </a:solidFill>
                <a:latin typeface="Arial" charset="0"/>
              </a:rPr>
              <a:t>传递函数</a:t>
            </a:r>
          </a:p>
        </p:txBody>
      </p:sp>
      <p:graphicFrame>
        <p:nvGraphicFramePr>
          <p:cNvPr id="4" name="Object 7"/>
          <p:cNvGraphicFramePr>
            <a:graphicFrameLocks noChangeAspect="1"/>
          </p:cNvGraphicFramePr>
          <p:nvPr>
            <p:extLst/>
          </p:nvPr>
        </p:nvGraphicFramePr>
        <p:xfrm>
          <a:off x="5559446" y="4005064"/>
          <a:ext cx="3178175" cy="914400"/>
        </p:xfrm>
        <a:graphic>
          <a:graphicData uri="http://schemas.openxmlformats.org/presentationml/2006/ole">
            <mc:AlternateContent xmlns:mc="http://schemas.openxmlformats.org/markup-compatibility/2006">
              <mc:Choice xmlns:v="urn:schemas-microsoft-com:vml" Requires="v">
                <p:oleObj spid="_x0000_s76862" name="Equation" r:id="rId3" imgW="1765080" imgH="507960" progId="Equation.DSMT4">
                  <p:embed/>
                </p:oleObj>
              </mc:Choice>
              <mc:Fallback>
                <p:oleObj name="Equation" r:id="rId3" imgW="1765080" imgH="507960" progId="Equation.DSMT4">
                  <p:embed/>
                  <p:pic>
                    <p:nvPicPr>
                      <p:cNvPr id="0" name=""/>
                      <p:cNvPicPr>
                        <a:picLocks noChangeAspect="1" noChangeArrowheads="1"/>
                      </p:cNvPicPr>
                      <p:nvPr/>
                    </p:nvPicPr>
                    <p:blipFill>
                      <a:blip r:embed="rId4"/>
                      <a:srcRect/>
                      <a:stretch>
                        <a:fillRect/>
                      </a:stretch>
                    </p:blipFill>
                    <p:spPr bwMode="auto">
                      <a:xfrm>
                        <a:off x="5559446" y="4005064"/>
                        <a:ext cx="317817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2" name="Picture 53" descr="highpassp"/>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0124" y="3875542"/>
            <a:ext cx="5212779"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 name="组合 24"/>
          <p:cNvGrpSpPr/>
          <p:nvPr/>
        </p:nvGrpSpPr>
        <p:grpSpPr>
          <a:xfrm>
            <a:off x="912816" y="1267619"/>
            <a:ext cx="3011489" cy="1502108"/>
            <a:chOff x="912816" y="1267619"/>
            <a:chExt cx="3011489" cy="1502108"/>
          </a:xfrm>
        </p:grpSpPr>
        <p:sp>
          <p:nvSpPr>
            <p:cNvPr id="7" name="Line 27"/>
            <p:cNvSpPr>
              <a:spLocks noChangeShapeType="1"/>
            </p:cNvSpPr>
            <p:nvPr/>
          </p:nvSpPr>
          <p:spPr bwMode="auto">
            <a:xfrm flipV="1">
              <a:off x="2036767" y="1484314"/>
              <a:ext cx="1519613" cy="1587"/>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8" name="Line 28"/>
            <p:cNvSpPr>
              <a:spLocks noChangeShapeType="1"/>
            </p:cNvSpPr>
            <p:nvPr/>
          </p:nvSpPr>
          <p:spPr bwMode="auto">
            <a:xfrm>
              <a:off x="1173166" y="1485901"/>
              <a:ext cx="720725"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9" name="Line 29"/>
            <p:cNvSpPr>
              <a:spLocks noChangeShapeType="1"/>
            </p:cNvSpPr>
            <p:nvPr/>
          </p:nvSpPr>
          <p:spPr bwMode="auto">
            <a:xfrm>
              <a:off x="1171579" y="2709863"/>
              <a:ext cx="237648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graphicFrame>
          <p:nvGraphicFramePr>
            <p:cNvPr id="10" name="Object 30"/>
            <p:cNvGraphicFramePr>
              <a:graphicFrameLocks noChangeAspect="1"/>
            </p:cNvGraphicFramePr>
            <p:nvPr>
              <p:extLst/>
            </p:nvPr>
          </p:nvGraphicFramePr>
          <p:xfrm>
            <a:off x="912816" y="1843088"/>
            <a:ext cx="274638" cy="433388"/>
          </p:xfrm>
          <a:graphic>
            <a:graphicData uri="http://schemas.openxmlformats.org/presentationml/2006/ole">
              <mc:AlternateContent xmlns:mc="http://schemas.openxmlformats.org/markup-compatibility/2006">
                <mc:Choice xmlns:v="urn:schemas-microsoft-com:vml" Requires="v">
                  <p:oleObj spid="_x0000_s76863" name="Equation" r:id="rId6" imgW="152280" imgH="241200" progId="Equation.DSMT4">
                    <p:embed/>
                  </p:oleObj>
                </mc:Choice>
                <mc:Fallback>
                  <p:oleObj name="Equation" r:id="rId6" imgW="152280" imgH="241200" progId="Equation.DSMT4">
                    <p:embed/>
                    <p:pic>
                      <p:nvPicPr>
                        <p:cNvPr id="0" name=""/>
                        <p:cNvPicPr>
                          <a:picLocks noChangeAspect="1" noChangeArrowheads="1"/>
                        </p:cNvPicPr>
                        <p:nvPr/>
                      </p:nvPicPr>
                      <p:blipFill>
                        <a:blip r:embed="rId7"/>
                        <a:srcRect/>
                        <a:stretch>
                          <a:fillRect/>
                        </a:stretch>
                      </p:blipFill>
                      <p:spPr bwMode="auto">
                        <a:xfrm>
                          <a:off x="912816" y="1843088"/>
                          <a:ext cx="274638"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31"/>
            <p:cNvGraphicFramePr>
              <a:graphicFrameLocks noChangeAspect="1"/>
            </p:cNvGraphicFramePr>
            <p:nvPr>
              <p:extLst/>
            </p:nvPr>
          </p:nvGraphicFramePr>
          <p:xfrm>
            <a:off x="3627442" y="1843088"/>
            <a:ext cx="296863" cy="433388"/>
          </p:xfrm>
          <a:graphic>
            <a:graphicData uri="http://schemas.openxmlformats.org/presentationml/2006/ole">
              <mc:AlternateContent xmlns:mc="http://schemas.openxmlformats.org/markup-compatibility/2006">
                <mc:Choice xmlns:v="urn:schemas-microsoft-com:vml" Requires="v">
                  <p:oleObj spid="_x0000_s76864" name="Equation" r:id="rId8" imgW="164880" imgH="241200" progId="Equation.DSMT4">
                    <p:embed/>
                  </p:oleObj>
                </mc:Choice>
                <mc:Fallback>
                  <p:oleObj name="Equation" r:id="rId8" imgW="164880" imgH="241200" progId="Equation.DSMT4">
                    <p:embed/>
                    <p:pic>
                      <p:nvPicPr>
                        <p:cNvPr id="0" name=""/>
                        <p:cNvPicPr>
                          <a:picLocks noChangeAspect="1" noChangeArrowheads="1"/>
                        </p:cNvPicPr>
                        <p:nvPr/>
                      </p:nvPicPr>
                      <p:blipFill>
                        <a:blip r:embed="rId9"/>
                        <a:srcRect/>
                        <a:stretch>
                          <a:fillRect/>
                        </a:stretch>
                      </p:blipFill>
                      <p:spPr bwMode="auto">
                        <a:xfrm>
                          <a:off x="3627442" y="1843088"/>
                          <a:ext cx="296863"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32"/>
            <p:cNvGraphicFramePr>
              <a:graphicFrameLocks noChangeAspect="1"/>
            </p:cNvGraphicFramePr>
            <p:nvPr>
              <p:extLst/>
            </p:nvPr>
          </p:nvGraphicFramePr>
          <p:xfrm>
            <a:off x="1849441" y="1700213"/>
            <a:ext cx="274638" cy="319088"/>
          </p:xfrm>
          <a:graphic>
            <a:graphicData uri="http://schemas.openxmlformats.org/presentationml/2006/ole">
              <mc:AlternateContent xmlns:mc="http://schemas.openxmlformats.org/markup-compatibility/2006">
                <mc:Choice xmlns:v="urn:schemas-microsoft-com:vml" Requires="v">
                  <p:oleObj spid="_x0000_s76865" name="Equation" r:id="rId10" imgW="152280" imgH="177480" progId="Equation.DSMT4">
                    <p:embed/>
                  </p:oleObj>
                </mc:Choice>
                <mc:Fallback>
                  <p:oleObj name="Equation" r:id="rId10" imgW="152280" imgH="177480" progId="Equation.DSMT4">
                    <p:embed/>
                    <p:pic>
                      <p:nvPicPr>
                        <p:cNvPr id="0" name=""/>
                        <p:cNvPicPr>
                          <a:picLocks noChangeAspect="1" noChangeArrowheads="1"/>
                        </p:cNvPicPr>
                        <p:nvPr/>
                      </p:nvPicPr>
                      <p:blipFill>
                        <a:blip r:embed="rId11"/>
                        <a:srcRect/>
                        <a:stretch>
                          <a:fillRect/>
                        </a:stretch>
                      </p:blipFill>
                      <p:spPr bwMode="auto">
                        <a:xfrm>
                          <a:off x="1849441" y="1700213"/>
                          <a:ext cx="274638"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33"/>
            <p:cNvGraphicFramePr>
              <a:graphicFrameLocks noChangeAspect="1"/>
            </p:cNvGraphicFramePr>
            <p:nvPr>
              <p:extLst/>
            </p:nvPr>
          </p:nvGraphicFramePr>
          <p:xfrm>
            <a:off x="2497142" y="1908176"/>
            <a:ext cx="274638" cy="296863"/>
          </p:xfrm>
          <a:graphic>
            <a:graphicData uri="http://schemas.openxmlformats.org/presentationml/2006/ole">
              <mc:AlternateContent xmlns:mc="http://schemas.openxmlformats.org/markup-compatibility/2006">
                <mc:Choice xmlns:v="urn:schemas-microsoft-com:vml" Requires="v">
                  <p:oleObj spid="_x0000_s76866" name="Equation" r:id="rId12" imgW="152280" imgH="164880" progId="Equation.DSMT4">
                    <p:embed/>
                  </p:oleObj>
                </mc:Choice>
                <mc:Fallback>
                  <p:oleObj name="Equation" r:id="rId12" imgW="152280" imgH="164880" progId="Equation.DSMT4">
                    <p:embed/>
                    <p:pic>
                      <p:nvPicPr>
                        <p:cNvPr id="0" name=""/>
                        <p:cNvPicPr>
                          <a:picLocks noChangeAspect="1" noChangeArrowheads="1"/>
                        </p:cNvPicPr>
                        <p:nvPr/>
                      </p:nvPicPr>
                      <p:blipFill>
                        <a:blip r:embed="rId13"/>
                        <a:srcRect/>
                        <a:stretch>
                          <a:fillRect/>
                        </a:stretch>
                      </p:blipFill>
                      <p:spPr bwMode="auto">
                        <a:xfrm>
                          <a:off x="2497142" y="1908176"/>
                          <a:ext cx="274638" cy="296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Oval 34"/>
            <p:cNvSpPr>
              <a:spLocks noChangeArrowheads="1"/>
            </p:cNvSpPr>
            <p:nvPr/>
          </p:nvSpPr>
          <p:spPr bwMode="auto">
            <a:xfrm>
              <a:off x="3556380" y="2653464"/>
              <a:ext cx="112713"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sp>
          <p:nvSpPr>
            <p:cNvPr id="15" name="Oval 35"/>
            <p:cNvSpPr>
              <a:spLocks noChangeArrowheads="1"/>
            </p:cNvSpPr>
            <p:nvPr/>
          </p:nvSpPr>
          <p:spPr bwMode="auto">
            <a:xfrm>
              <a:off x="3562901" y="1429502"/>
              <a:ext cx="112713"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sp>
          <p:nvSpPr>
            <p:cNvPr id="16" name="Oval 36"/>
            <p:cNvSpPr>
              <a:spLocks noChangeArrowheads="1"/>
            </p:cNvSpPr>
            <p:nvPr/>
          </p:nvSpPr>
          <p:spPr bwMode="auto">
            <a:xfrm>
              <a:off x="1075202" y="1429502"/>
              <a:ext cx="112713"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sp>
          <p:nvSpPr>
            <p:cNvPr id="17" name="Oval 37"/>
            <p:cNvSpPr>
              <a:spLocks noChangeArrowheads="1"/>
            </p:cNvSpPr>
            <p:nvPr/>
          </p:nvSpPr>
          <p:spPr bwMode="auto">
            <a:xfrm>
              <a:off x="1066889" y="2661777"/>
              <a:ext cx="112713"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grpSp>
          <p:nvGrpSpPr>
            <p:cNvPr id="19" name="Group 39"/>
            <p:cNvGrpSpPr>
              <a:grpSpLocks/>
            </p:cNvGrpSpPr>
            <p:nvPr/>
          </p:nvGrpSpPr>
          <p:grpSpPr bwMode="auto">
            <a:xfrm rot="5400000">
              <a:off x="1776417" y="1384300"/>
              <a:ext cx="381000" cy="147638"/>
              <a:chOff x="3787" y="2478"/>
              <a:chExt cx="240" cy="93"/>
            </a:xfrm>
          </p:grpSpPr>
          <p:sp>
            <p:nvSpPr>
              <p:cNvPr id="20" name="Line 40"/>
              <p:cNvSpPr>
                <a:spLocks noChangeShapeType="1"/>
              </p:cNvSpPr>
              <p:nvPr/>
            </p:nvSpPr>
            <p:spPr bwMode="auto">
              <a:xfrm flipV="1">
                <a:off x="3787" y="2568"/>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endParaRPr>
              </a:p>
            </p:txBody>
          </p:sp>
          <p:sp>
            <p:nvSpPr>
              <p:cNvPr id="21" name="Line 41"/>
              <p:cNvSpPr>
                <a:spLocks noChangeShapeType="1"/>
              </p:cNvSpPr>
              <p:nvPr/>
            </p:nvSpPr>
            <p:spPr bwMode="auto">
              <a:xfrm>
                <a:off x="3787" y="2478"/>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endParaRPr>
              </a:p>
            </p:txBody>
          </p:sp>
        </p:grpSp>
        <p:sp>
          <p:nvSpPr>
            <p:cNvPr id="23" name="Line 18"/>
            <p:cNvSpPr>
              <a:spLocks noChangeShapeType="1"/>
            </p:cNvSpPr>
            <p:nvPr/>
          </p:nvSpPr>
          <p:spPr bwMode="auto">
            <a:xfrm>
              <a:off x="2905923" y="1485901"/>
              <a:ext cx="0" cy="431800"/>
            </a:xfrm>
            <a:prstGeom prst="line">
              <a:avLst/>
            </a:prstGeom>
            <a:noFill/>
            <a:ln w="28575">
              <a:solidFill>
                <a:srgbClr val="FFCC00"/>
              </a:solidFill>
              <a:round/>
              <a:headEnd type="oval"/>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24" name="Line 18"/>
            <p:cNvSpPr>
              <a:spLocks noChangeShapeType="1"/>
            </p:cNvSpPr>
            <p:nvPr/>
          </p:nvSpPr>
          <p:spPr bwMode="auto">
            <a:xfrm flipV="1">
              <a:off x="2905923" y="2308226"/>
              <a:ext cx="0" cy="401637"/>
            </a:xfrm>
            <a:prstGeom prst="line">
              <a:avLst/>
            </a:prstGeom>
            <a:noFill/>
            <a:ln w="28575">
              <a:solidFill>
                <a:srgbClr val="FFCC00"/>
              </a:solidFill>
              <a:round/>
              <a:headEnd type="oval"/>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18" name="Rectangle 38"/>
            <p:cNvSpPr>
              <a:spLocks noChangeArrowheads="1"/>
            </p:cNvSpPr>
            <p:nvPr/>
          </p:nvSpPr>
          <p:spPr bwMode="auto">
            <a:xfrm>
              <a:off x="2813430" y="1844676"/>
              <a:ext cx="201613" cy="504825"/>
            </a:xfrm>
            <a:prstGeom prst="rect">
              <a:avLst/>
            </a:prstGeom>
            <a:gradFill rotWithShape="1">
              <a:gsLst>
                <a:gs pos="0">
                  <a:srgbClr val="764700"/>
                </a:gs>
                <a:gs pos="50000">
                  <a:srgbClr val="FF9900"/>
                </a:gs>
                <a:gs pos="100000">
                  <a:srgbClr val="764700"/>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grpSp>
      <p:graphicFrame>
        <p:nvGraphicFramePr>
          <p:cNvPr id="26" name="Object 9"/>
          <p:cNvGraphicFramePr>
            <a:graphicFrameLocks noChangeAspect="1"/>
          </p:cNvGraphicFramePr>
          <p:nvPr>
            <p:extLst/>
          </p:nvPr>
        </p:nvGraphicFramePr>
        <p:xfrm>
          <a:off x="4932363" y="2276476"/>
          <a:ext cx="4022725" cy="1143000"/>
        </p:xfrm>
        <a:graphic>
          <a:graphicData uri="http://schemas.openxmlformats.org/presentationml/2006/ole">
            <mc:AlternateContent xmlns:mc="http://schemas.openxmlformats.org/markup-compatibility/2006">
              <mc:Choice xmlns:v="urn:schemas-microsoft-com:vml" Requires="v">
                <p:oleObj spid="_x0000_s76867" name="Equation" r:id="rId14" imgW="2234880" imgH="634680" progId="Equation.DSMT4">
                  <p:embed/>
                </p:oleObj>
              </mc:Choice>
              <mc:Fallback>
                <p:oleObj name="Equation" r:id="rId14" imgW="2234880" imgH="634680" progId="Equation.DSMT4">
                  <p:embed/>
                  <p:pic>
                    <p:nvPicPr>
                      <p:cNvPr id="0" name=""/>
                      <p:cNvPicPr>
                        <a:picLocks noChangeAspect="1" noChangeArrowheads="1"/>
                      </p:cNvPicPr>
                      <p:nvPr/>
                    </p:nvPicPr>
                    <p:blipFill>
                      <a:blip r:embed="rId15"/>
                      <a:srcRect/>
                      <a:stretch>
                        <a:fillRect/>
                      </a:stretch>
                    </p:blipFill>
                    <p:spPr bwMode="auto">
                      <a:xfrm>
                        <a:off x="4932363" y="2276476"/>
                        <a:ext cx="40227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12237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arn(inVertic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linds(horizontal)">
                                      <p:cBhvr>
                                        <p:cTn id="17" dur="500"/>
                                        <p:tgtEl>
                                          <p:spTgt spid="26"/>
                                        </p:tgtEl>
                                      </p:cBhvr>
                                    </p:animEffect>
                                  </p:childTnLst>
                                </p:cTn>
                              </p:par>
                            </p:childTnLst>
                          </p:cTn>
                        </p:par>
                        <p:par>
                          <p:cTn id="18" fill="hold">
                            <p:stCondLst>
                              <p:cond delay="500"/>
                            </p:stCondLst>
                            <p:childTnLst>
                              <p:par>
                                <p:cTn id="19" presetID="16" presetClass="entr" presetSubtype="21"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arn(inVertical)">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barn(inVertical)">
                                      <p:cBhvr>
                                        <p:cTn id="2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1"/>
          <p:cNvSpPr txBox="1">
            <a:spLocks noChangeArrowheads="1"/>
          </p:cNvSpPr>
          <p:nvPr/>
        </p:nvSpPr>
        <p:spPr bwMode="auto">
          <a:xfrm>
            <a:off x="514028" y="404664"/>
            <a:ext cx="4968875" cy="46166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r>
              <a:rPr kumimoji="1" lang="en-US" altLang="zh-CN" sz="2400" dirty="0" smtClean="0">
                <a:solidFill>
                  <a:schemeClr val="accent2"/>
                </a:solidFill>
                <a:ea typeface="宋体" charset="-122"/>
              </a:rPr>
              <a:t>3</a:t>
            </a:r>
            <a:r>
              <a:rPr kumimoji="1" lang="zh-CN" altLang="en-US" sz="2400" dirty="0" smtClean="0">
                <a:solidFill>
                  <a:schemeClr val="accent2"/>
                </a:solidFill>
                <a:ea typeface="宋体" charset="-122"/>
              </a:rPr>
              <a:t>、</a:t>
            </a:r>
            <a:r>
              <a:rPr kumimoji="1" lang="en-US" altLang="zh-CN" sz="2400" dirty="0" smtClean="0">
                <a:solidFill>
                  <a:schemeClr val="accent2"/>
                </a:solidFill>
                <a:ea typeface="宋体" charset="-122"/>
              </a:rPr>
              <a:t> </a:t>
            </a:r>
            <a:r>
              <a:rPr kumimoji="1" lang="zh-CN" altLang="en-US" sz="2400" dirty="0">
                <a:solidFill>
                  <a:schemeClr val="accent2"/>
                </a:solidFill>
                <a:ea typeface="宋体" charset="-122"/>
              </a:rPr>
              <a:t>一阶</a:t>
            </a:r>
            <a:r>
              <a:rPr kumimoji="1" lang="en-US" altLang="zh-CN" sz="2400" i="1" dirty="0">
                <a:solidFill>
                  <a:schemeClr val="accent2"/>
                </a:solidFill>
                <a:ea typeface="宋体" charset="-122"/>
              </a:rPr>
              <a:t>RC</a:t>
            </a:r>
            <a:r>
              <a:rPr kumimoji="1" lang="zh-CN" altLang="en-US" sz="2400" dirty="0">
                <a:solidFill>
                  <a:schemeClr val="accent2"/>
                </a:solidFill>
                <a:ea typeface="宋体" charset="-122"/>
              </a:rPr>
              <a:t>无源</a:t>
            </a:r>
            <a:r>
              <a:rPr kumimoji="1" lang="zh-CN" altLang="en-US" sz="2400" dirty="0" smtClean="0">
                <a:solidFill>
                  <a:schemeClr val="accent2"/>
                </a:solidFill>
                <a:ea typeface="宋体" charset="-122"/>
              </a:rPr>
              <a:t>带通滤波器</a:t>
            </a:r>
            <a:endParaRPr kumimoji="1" lang="zh-CN" altLang="en-US" sz="2400" dirty="0">
              <a:solidFill>
                <a:schemeClr val="accent2"/>
              </a:solidFill>
              <a:ea typeface="宋体" charset="-122"/>
            </a:endParaRPr>
          </a:p>
        </p:txBody>
      </p:sp>
      <p:sp>
        <p:nvSpPr>
          <p:cNvPr id="3" name="Text Box 3"/>
          <p:cNvSpPr txBox="1">
            <a:spLocks noChangeArrowheads="1"/>
          </p:cNvSpPr>
          <p:nvPr/>
        </p:nvSpPr>
        <p:spPr bwMode="auto">
          <a:xfrm>
            <a:off x="5796136" y="3252848"/>
            <a:ext cx="19431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pPr>
            <a:r>
              <a:rPr lang="zh-CN" altLang="en-US" sz="2000" dirty="0">
                <a:solidFill>
                  <a:schemeClr val="tx1"/>
                </a:solidFill>
                <a:latin typeface="Arial" charset="0"/>
              </a:rPr>
              <a:t>传递函数</a:t>
            </a:r>
          </a:p>
        </p:txBody>
      </p:sp>
      <p:graphicFrame>
        <p:nvGraphicFramePr>
          <p:cNvPr id="4" name="Object 4"/>
          <p:cNvGraphicFramePr>
            <a:graphicFrameLocks noChangeAspect="1"/>
          </p:cNvGraphicFramePr>
          <p:nvPr>
            <p:extLst/>
          </p:nvPr>
        </p:nvGraphicFramePr>
        <p:xfrm>
          <a:off x="5037007" y="4221088"/>
          <a:ext cx="3908736" cy="1325808"/>
        </p:xfrm>
        <a:graphic>
          <a:graphicData uri="http://schemas.openxmlformats.org/presentationml/2006/ole">
            <mc:AlternateContent xmlns:mc="http://schemas.openxmlformats.org/markup-compatibility/2006">
              <mc:Choice xmlns:v="urn:schemas-microsoft-com:vml" Requires="v">
                <p:oleObj spid="_x0000_s77886" name="Equation" r:id="rId3" imgW="2171520" imgH="736560" progId="Equation.DSMT4">
                  <p:embed/>
                </p:oleObj>
              </mc:Choice>
              <mc:Fallback>
                <p:oleObj name="Equation" r:id="rId3" imgW="2171520" imgH="736560" progId="Equation.DSMT4">
                  <p:embed/>
                  <p:pic>
                    <p:nvPicPr>
                      <p:cNvPr id="0" name=""/>
                      <p:cNvPicPr>
                        <a:picLocks noChangeAspect="1" noChangeArrowheads="1"/>
                      </p:cNvPicPr>
                      <p:nvPr/>
                    </p:nvPicPr>
                    <p:blipFill>
                      <a:blip r:embed="rId4"/>
                      <a:srcRect/>
                      <a:stretch>
                        <a:fillRect/>
                      </a:stretch>
                    </p:blipFill>
                    <p:spPr bwMode="auto">
                      <a:xfrm>
                        <a:off x="5037007" y="4221088"/>
                        <a:ext cx="3908736" cy="1325808"/>
                      </a:xfrm>
                      <a:prstGeom prst="rect">
                        <a:avLst/>
                      </a:prstGeom>
                      <a:noFill/>
                      <a:ln>
                        <a:noFill/>
                      </a:ln>
                      <a:effectLst/>
                    </p:spPr>
                  </p:pic>
                </p:oleObj>
              </mc:Fallback>
            </mc:AlternateContent>
          </a:graphicData>
        </a:graphic>
      </p:graphicFrame>
      <p:grpSp>
        <p:nvGrpSpPr>
          <p:cNvPr id="29" name="组合 28"/>
          <p:cNvGrpSpPr/>
          <p:nvPr/>
        </p:nvGrpSpPr>
        <p:grpSpPr>
          <a:xfrm>
            <a:off x="827584" y="1196753"/>
            <a:ext cx="4320480" cy="1944687"/>
            <a:chOff x="827584" y="1196753"/>
            <a:chExt cx="4320480" cy="1944687"/>
          </a:xfrm>
        </p:grpSpPr>
        <p:graphicFrame>
          <p:nvGraphicFramePr>
            <p:cNvPr id="5" name="Object 13"/>
            <p:cNvGraphicFramePr>
              <a:graphicFrameLocks noChangeAspect="1"/>
            </p:cNvGraphicFramePr>
            <p:nvPr>
              <p:extLst/>
            </p:nvPr>
          </p:nvGraphicFramePr>
          <p:xfrm>
            <a:off x="3523928" y="2133204"/>
            <a:ext cx="274104" cy="296784"/>
          </p:xfrm>
          <a:graphic>
            <a:graphicData uri="http://schemas.openxmlformats.org/presentationml/2006/ole">
              <mc:AlternateContent xmlns:mc="http://schemas.openxmlformats.org/markup-compatibility/2006">
                <mc:Choice xmlns:v="urn:schemas-microsoft-com:vml" Requires="v">
                  <p:oleObj spid="_x0000_s77887" name="Equation" r:id="rId5" imgW="152280" imgH="164880" progId="Equation.DSMT4">
                    <p:embed/>
                  </p:oleObj>
                </mc:Choice>
                <mc:Fallback>
                  <p:oleObj name="Equation" r:id="rId5" imgW="152280" imgH="164880" progId="Equation.DSMT4">
                    <p:embed/>
                    <p:pic>
                      <p:nvPicPr>
                        <p:cNvPr id="0" name=""/>
                        <p:cNvPicPr>
                          <a:picLocks noChangeAspect="1" noChangeArrowheads="1"/>
                        </p:cNvPicPr>
                        <p:nvPr/>
                      </p:nvPicPr>
                      <p:blipFill>
                        <a:blip r:embed="rId6"/>
                        <a:srcRect/>
                        <a:stretch>
                          <a:fillRect/>
                        </a:stretch>
                      </p:blipFill>
                      <p:spPr bwMode="auto">
                        <a:xfrm>
                          <a:off x="3523928" y="2133204"/>
                          <a:ext cx="274104" cy="2967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35"/>
            <p:cNvGrpSpPr>
              <a:grpSpLocks/>
            </p:cNvGrpSpPr>
            <p:nvPr/>
          </p:nvGrpSpPr>
          <p:grpSpPr bwMode="auto">
            <a:xfrm rot="-5400000">
              <a:off x="2160265" y="1015778"/>
              <a:ext cx="142875" cy="647700"/>
              <a:chOff x="2744" y="2931"/>
              <a:chExt cx="57" cy="283"/>
            </a:xfrm>
          </p:grpSpPr>
          <p:sp>
            <p:nvSpPr>
              <p:cNvPr id="7" name="Arc 36"/>
              <p:cNvSpPr>
                <a:spLocks/>
              </p:cNvSpPr>
              <p:nvPr/>
            </p:nvSpPr>
            <p:spPr bwMode="auto">
              <a:xfrm rot="10800000" flipH="1" flipV="1">
                <a:off x="2744" y="2931"/>
                <a:ext cx="57" cy="91"/>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rc 37"/>
              <p:cNvSpPr>
                <a:spLocks/>
              </p:cNvSpPr>
              <p:nvPr/>
            </p:nvSpPr>
            <p:spPr bwMode="auto">
              <a:xfrm rot="10800000" flipH="1" flipV="1">
                <a:off x="2744" y="3027"/>
                <a:ext cx="57" cy="91"/>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Arc 38"/>
              <p:cNvSpPr>
                <a:spLocks/>
              </p:cNvSpPr>
              <p:nvPr/>
            </p:nvSpPr>
            <p:spPr bwMode="auto">
              <a:xfrm rot="10800000" flipH="1" flipV="1">
                <a:off x="2744" y="3123"/>
                <a:ext cx="57" cy="91"/>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 name="Line 39"/>
            <p:cNvSpPr>
              <a:spLocks noChangeShapeType="1"/>
            </p:cNvSpPr>
            <p:nvPr/>
          </p:nvSpPr>
          <p:spPr bwMode="auto">
            <a:xfrm>
              <a:off x="972815" y="1412653"/>
              <a:ext cx="935038"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40"/>
            <p:cNvSpPr>
              <a:spLocks noChangeShapeType="1"/>
            </p:cNvSpPr>
            <p:nvPr/>
          </p:nvSpPr>
          <p:spPr bwMode="auto">
            <a:xfrm>
              <a:off x="971228" y="3070003"/>
              <a:ext cx="4032250" cy="1587"/>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 name="Object 41"/>
            <p:cNvGraphicFramePr>
              <a:graphicFrameLocks noChangeAspect="1"/>
            </p:cNvGraphicFramePr>
            <p:nvPr>
              <p:extLst/>
            </p:nvPr>
          </p:nvGraphicFramePr>
          <p:xfrm>
            <a:off x="827584" y="2012728"/>
            <a:ext cx="251424" cy="388152"/>
          </p:xfrm>
          <a:graphic>
            <a:graphicData uri="http://schemas.openxmlformats.org/presentationml/2006/ole">
              <mc:AlternateContent xmlns:mc="http://schemas.openxmlformats.org/markup-compatibility/2006">
                <mc:Choice xmlns:v="urn:schemas-microsoft-com:vml" Requires="v">
                  <p:oleObj spid="_x0000_s77888" name="Equation" r:id="rId7" imgW="139680" imgH="215640" progId="Equation.DSMT4">
                    <p:embed/>
                  </p:oleObj>
                </mc:Choice>
                <mc:Fallback>
                  <p:oleObj name="Equation" r:id="rId7" imgW="139680" imgH="215640" progId="Equation.DSMT4">
                    <p:embed/>
                    <p:pic>
                      <p:nvPicPr>
                        <p:cNvPr id="0" name=""/>
                        <p:cNvPicPr>
                          <a:picLocks noChangeAspect="1" noChangeArrowheads="1"/>
                        </p:cNvPicPr>
                        <p:nvPr/>
                      </p:nvPicPr>
                      <p:blipFill>
                        <a:blip r:embed="rId8"/>
                        <a:srcRect/>
                        <a:stretch>
                          <a:fillRect/>
                        </a:stretch>
                      </p:blipFill>
                      <p:spPr bwMode="auto">
                        <a:xfrm>
                          <a:off x="827584" y="2012728"/>
                          <a:ext cx="251424" cy="388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42"/>
            <p:cNvGraphicFramePr>
              <a:graphicFrameLocks noChangeAspect="1"/>
            </p:cNvGraphicFramePr>
            <p:nvPr>
              <p:extLst/>
            </p:nvPr>
          </p:nvGraphicFramePr>
          <p:xfrm>
            <a:off x="2987824" y="1557140"/>
            <a:ext cx="319464" cy="411480"/>
          </p:xfrm>
          <a:graphic>
            <a:graphicData uri="http://schemas.openxmlformats.org/presentationml/2006/ole">
              <mc:AlternateContent xmlns:mc="http://schemas.openxmlformats.org/markup-compatibility/2006">
                <mc:Choice xmlns:v="urn:schemas-microsoft-com:vml" Requires="v">
                  <p:oleObj spid="_x0000_s77889" name="Equation" r:id="rId9" imgW="177480" imgH="228600" progId="Equation.DSMT4">
                    <p:embed/>
                  </p:oleObj>
                </mc:Choice>
                <mc:Fallback>
                  <p:oleObj name="Equation" r:id="rId9" imgW="177480" imgH="228600" progId="Equation.DSMT4">
                    <p:embed/>
                    <p:pic>
                      <p:nvPicPr>
                        <p:cNvPr id="0" name=""/>
                        <p:cNvPicPr>
                          <a:picLocks noChangeAspect="1" noChangeArrowheads="1"/>
                        </p:cNvPicPr>
                        <p:nvPr/>
                      </p:nvPicPr>
                      <p:blipFill>
                        <a:blip r:embed="rId10"/>
                        <a:srcRect/>
                        <a:stretch>
                          <a:fillRect/>
                        </a:stretch>
                      </p:blipFill>
                      <p:spPr bwMode="auto">
                        <a:xfrm>
                          <a:off x="2987824" y="1557140"/>
                          <a:ext cx="319464"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43"/>
            <p:cNvGraphicFramePr>
              <a:graphicFrameLocks noChangeAspect="1"/>
            </p:cNvGraphicFramePr>
            <p:nvPr>
              <p:extLst/>
            </p:nvPr>
          </p:nvGraphicFramePr>
          <p:xfrm>
            <a:off x="2114976" y="1450753"/>
            <a:ext cx="296784" cy="411480"/>
          </p:xfrm>
          <a:graphic>
            <a:graphicData uri="http://schemas.openxmlformats.org/presentationml/2006/ole">
              <mc:AlternateContent xmlns:mc="http://schemas.openxmlformats.org/markup-compatibility/2006">
                <mc:Choice xmlns:v="urn:schemas-microsoft-com:vml" Requires="v">
                  <p:oleObj spid="_x0000_s77890" name="Equation" r:id="rId11" imgW="164880" imgH="228600" progId="Equation.DSMT4">
                    <p:embed/>
                  </p:oleObj>
                </mc:Choice>
                <mc:Fallback>
                  <p:oleObj name="Equation" r:id="rId11" imgW="164880" imgH="228600" progId="Equation.DSMT4">
                    <p:embed/>
                    <p:pic>
                      <p:nvPicPr>
                        <p:cNvPr id="0" name=""/>
                        <p:cNvPicPr>
                          <a:picLocks noChangeAspect="1" noChangeArrowheads="1"/>
                        </p:cNvPicPr>
                        <p:nvPr/>
                      </p:nvPicPr>
                      <p:blipFill>
                        <a:blip r:embed="rId12"/>
                        <a:srcRect/>
                        <a:stretch>
                          <a:fillRect/>
                        </a:stretch>
                      </p:blipFill>
                      <p:spPr bwMode="auto">
                        <a:xfrm>
                          <a:off x="2114976" y="1450753"/>
                          <a:ext cx="296784"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 name="Group 44"/>
            <p:cNvGrpSpPr>
              <a:grpSpLocks/>
            </p:cNvGrpSpPr>
            <p:nvPr/>
          </p:nvGrpSpPr>
          <p:grpSpPr bwMode="auto">
            <a:xfrm rot="5400000">
              <a:off x="2943697" y="1313434"/>
              <a:ext cx="381000" cy="147637"/>
              <a:chOff x="3787" y="2478"/>
              <a:chExt cx="240" cy="93"/>
            </a:xfrm>
          </p:grpSpPr>
          <p:sp>
            <p:nvSpPr>
              <p:cNvPr id="16" name="Line 45"/>
              <p:cNvSpPr>
                <a:spLocks noChangeShapeType="1"/>
              </p:cNvSpPr>
              <p:nvPr/>
            </p:nvSpPr>
            <p:spPr bwMode="auto">
              <a:xfrm flipV="1">
                <a:off x="3787" y="2568"/>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46"/>
              <p:cNvSpPr>
                <a:spLocks noChangeShapeType="1"/>
              </p:cNvSpPr>
              <p:nvPr/>
            </p:nvSpPr>
            <p:spPr bwMode="auto">
              <a:xfrm>
                <a:off x="3787" y="2478"/>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 name="Oval 47"/>
            <p:cNvSpPr>
              <a:spLocks noChangeArrowheads="1"/>
            </p:cNvSpPr>
            <p:nvPr/>
          </p:nvSpPr>
          <p:spPr bwMode="auto">
            <a:xfrm>
              <a:off x="899790" y="1341215"/>
              <a:ext cx="112713"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a:p>
          </p:txBody>
        </p:sp>
        <p:sp>
          <p:nvSpPr>
            <p:cNvPr id="19" name="Oval 48"/>
            <p:cNvSpPr>
              <a:spLocks noChangeArrowheads="1"/>
            </p:cNvSpPr>
            <p:nvPr/>
          </p:nvSpPr>
          <p:spPr bwMode="auto">
            <a:xfrm>
              <a:off x="899790" y="2996978"/>
              <a:ext cx="112713"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a:p>
          </p:txBody>
        </p:sp>
        <p:sp>
          <p:nvSpPr>
            <p:cNvPr id="20" name="Line 49"/>
            <p:cNvSpPr>
              <a:spLocks noChangeShapeType="1"/>
            </p:cNvSpPr>
            <p:nvPr/>
          </p:nvSpPr>
          <p:spPr bwMode="auto">
            <a:xfrm>
              <a:off x="2557140" y="1412653"/>
              <a:ext cx="503238"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50"/>
            <p:cNvSpPr>
              <a:spLocks noChangeShapeType="1"/>
            </p:cNvSpPr>
            <p:nvPr/>
          </p:nvSpPr>
          <p:spPr bwMode="auto">
            <a:xfrm>
              <a:off x="3995415" y="1412653"/>
              <a:ext cx="0" cy="1008062"/>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51"/>
            <p:cNvSpPr>
              <a:spLocks noChangeShapeType="1"/>
            </p:cNvSpPr>
            <p:nvPr/>
          </p:nvSpPr>
          <p:spPr bwMode="auto">
            <a:xfrm>
              <a:off x="3995415" y="2420715"/>
              <a:ext cx="0" cy="649288"/>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3" name="Object 52"/>
            <p:cNvGraphicFramePr>
              <a:graphicFrameLocks noChangeAspect="1"/>
            </p:cNvGraphicFramePr>
            <p:nvPr>
              <p:extLst/>
            </p:nvPr>
          </p:nvGraphicFramePr>
          <p:xfrm>
            <a:off x="4873960" y="1939703"/>
            <a:ext cx="274104" cy="388152"/>
          </p:xfrm>
          <a:graphic>
            <a:graphicData uri="http://schemas.openxmlformats.org/presentationml/2006/ole">
              <mc:AlternateContent xmlns:mc="http://schemas.openxmlformats.org/markup-compatibility/2006">
                <mc:Choice xmlns:v="urn:schemas-microsoft-com:vml" Requires="v">
                  <p:oleObj spid="_x0000_s77891" name="Equation" r:id="rId13" imgW="152280" imgH="215640" progId="Equation.DSMT4">
                    <p:embed/>
                  </p:oleObj>
                </mc:Choice>
                <mc:Fallback>
                  <p:oleObj name="Equation" r:id="rId13" imgW="152280" imgH="215640" progId="Equation.DSMT4">
                    <p:embed/>
                    <p:pic>
                      <p:nvPicPr>
                        <p:cNvPr id="0" name=""/>
                        <p:cNvPicPr>
                          <a:picLocks noChangeAspect="1" noChangeArrowheads="1"/>
                        </p:cNvPicPr>
                        <p:nvPr/>
                      </p:nvPicPr>
                      <p:blipFill>
                        <a:blip r:embed="rId14"/>
                        <a:srcRect/>
                        <a:stretch>
                          <a:fillRect/>
                        </a:stretch>
                      </p:blipFill>
                      <p:spPr bwMode="auto">
                        <a:xfrm>
                          <a:off x="4873960" y="1939703"/>
                          <a:ext cx="274104" cy="388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Oval 58"/>
            <p:cNvSpPr>
              <a:spLocks noChangeArrowheads="1"/>
            </p:cNvSpPr>
            <p:nvPr/>
          </p:nvSpPr>
          <p:spPr bwMode="auto">
            <a:xfrm>
              <a:off x="5003478" y="3033490"/>
              <a:ext cx="112712"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a:p>
          </p:txBody>
        </p:sp>
        <p:sp>
          <p:nvSpPr>
            <p:cNvPr id="25" name="Oval 59"/>
            <p:cNvSpPr>
              <a:spLocks noChangeArrowheads="1"/>
            </p:cNvSpPr>
            <p:nvPr/>
          </p:nvSpPr>
          <p:spPr bwMode="auto">
            <a:xfrm>
              <a:off x="4860603" y="1341215"/>
              <a:ext cx="112712"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a:p>
          </p:txBody>
        </p:sp>
        <p:sp>
          <p:nvSpPr>
            <p:cNvPr id="26" name="Line 60"/>
            <p:cNvSpPr>
              <a:spLocks noChangeShapeType="1"/>
            </p:cNvSpPr>
            <p:nvPr/>
          </p:nvSpPr>
          <p:spPr bwMode="auto">
            <a:xfrm flipV="1">
              <a:off x="3204840" y="1412653"/>
              <a:ext cx="1657350"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Rectangle 18"/>
            <p:cNvSpPr>
              <a:spLocks noChangeArrowheads="1"/>
            </p:cNvSpPr>
            <p:nvPr/>
          </p:nvSpPr>
          <p:spPr bwMode="auto">
            <a:xfrm>
              <a:off x="3895842" y="1988915"/>
              <a:ext cx="215900" cy="504825"/>
            </a:xfrm>
            <a:prstGeom prst="rect">
              <a:avLst/>
            </a:prstGeom>
            <a:gradFill rotWithShape="1">
              <a:gsLst>
                <a:gs pos="0">
                  <a:srgbClr val="764700"/>
                </a:gs>
                <a:gs pos="50000">
                  <a:srgbClr val="FF9900"/>
                </a:gs>
                <a:gs pos="100000">
                  <a:srgbClr val="764700"/>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a:p>
          </p:txBody>
        </p:sp>
      </p:grpSp>
      <p:pic>
        <p:nvPicPr>
          <p:cNvPr id="28" name="Picture 71" descr="bandpassp"/>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0" y="3501007"/>
            <a:ext cx="4668153" cy="3209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870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arn(inVertical)">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1"/>
          <p:cNvSpPr txBox="1">
            <a:spLocks noChangeArrowheads="1"/>
          </p:cNvSpPr>
          <p:nvPr/>
        </p:nvSpPr>
        <p:spPr bwMode="auto">
          <a:xfrm>
            <a:off x="514028" y="404664"/>
            <a:ext cx="4968875" cy="46166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r>
              <a:rPr kumimoji="1" lang="en-US" altLang="zh-CN" sz="2400" dirty="0" smtClean="0">
                <a:solidFill>
                  <a:schemeClr val="accent2"/>
                </a:solidFill>
                <a:ea typeface="宋体" charset="-122"/>
              </a:rPr>
              <a:t>4</a:t>
            </a:r>
            <a:r>
              <a:rPr kumimoji="1" lang="zh-CN" altLang="en-US" sz="2400" dirty="0" smtClean="0">
                <a:solidFill>
                  <a:schemeClr val="accent2"/>
                </a:solidFill>
                <a:ea typeface="宋体" charset="-122"/>
              </a:rPr>
              <a:t>、</a:t>
            </a:r>
            <a:r>
              <a:rPr kumimoji="1" lang="en-US" altLang="zh-CN" sz="2400" dirty="0" smtClean="0">
                <a:solidFill>
                  <a:schemeClr val="accent2"/>
                </a:solidFill>
                <a:ea typeface="宋体" charset="-122"/>
              </a:rPr>
              <a:t> </a:t>
            </a:r>
            <a:r>
              <a:rPr kumimoji="1" lang="zh-CN" altLang="en-US" sz="2400" dirty="0">
                <a:solidFill>
                  <a:schemeClr val="accent2"/>
                </a:solidFill>
                <a:ea typeface="宋体" charset="-122"/>
              </a:rPr>
              <a:t>一阶</a:t>
            </a:r>
            <a:r>
              <a:rPr kumimoji="1" lang="en-US" altLang="zh-CN" sz="2400" i="1" dirty="0" smtClean="0">
                <a:solidFill>
                  <a:schemeClr val="accent2"/>
                </a:solidFill>
                <a:ea typeface="宋体" charset="-122"/>
              </a:rPr>
              <a:t>RC</a:t>
            </a:r>
            <a:r>
              <a:rPr kumimoji="1" lang="zh-CN" altLang="en-US" sz="2400" dirty="0">
                <a:solidFill>
                  <a:schemeClr val="accent2"/>
                </a:solidFill>
                <a:ea typeface="宋体" charset="-122"/>
              </a:rPr>
              <a:t>无源带阻滤波器</a:t>
            </a:r>
          </a:p>
        </p:txBody>
      </p:sp>
      <p:sp>
        <p:nvSpPr>
          <p:cNvPr id="3" name="Text Box 2"/>
          <p:cNvSpPr txBox="1">
            <a:spLocks noChangeArrowheads="1"/>
          </p:cNvSpPr>
          <p:nvPr/>
        </p:nvSpPr>
        <p:spPr bwMode="auto">
          <a:xfrm>
            <a:off x="5724128" y="3136840"/>
            <a:ext cx="19431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spcBef>
                <a:spcPct val="50000"/>
              </a:spcBef>
            </a:pPr>
            <a:r>
              <a:rPr lang="zh-CN" altLang="en-US" sz="2000" dirty="0">
                <a:solidFill>
                  <a:schemeClr val="tx1"/>
                </a:solidFill>
                <a:latin typeface="Arial" charset="0"/>
              </a:rPr>
              <a:t>传递函数</a:t>
            </a:r>
          </a:p>
        </p:txBody>
      </p:sp>
      <p:graphicFrame>
        <p:nvGraphicFramePr>
          <p:cNvPr id="4" name="Object 3"/>
          <p:cNvGraphicFramePr>
            <a:graphicFrameLocks noChangeAspect="1"/>
          </p:cNvGraphicFramePr>
          <p:nvPr>
            <p:extLst/>
          </p:nvPr>
        </p:nvGraphicFramePr>
        <p:xfrm>
          <a:off x="5491995" y="3770313"/>
          <a:ext cx="3268512" cy="1645920"/>
        </p:xfrm>
        <a:graphic>
          <a:graphicData uri="http://schemas.openxmlformats.org/presentationml/2006/ole">
            <mc:AlternateContent xmlns:mc="http://schemas.openxmlformats.org/markup-compatibility/2006">
              <mc:Choice xmlns:v="urn:schemas-microsoft-com:vml" Requires="v">
                <p:oleObj spid="_x0000_s78910" name="Equation" r:id="rId3" imgW="1815840" imgH="914400" progId="Equation.DSMT4">
                  <p:embed/>
                </p:oleObj>
              </mc:Choice>
              <mc:Fallback>
                <p:oleObj name="Equation" r:id="rId3" imgW="1815840" imgH="914400" progId="Equation.DSMT4">
                  <p:embed/>
                  <p:pic>
                    <p:nvPicPr>
                      <p:cNvPr id="0" name=""/>
                      <p:cNvPicPr>
                        <a:picLocks noChangeAspect="1" noChangeArrowheads="1"/>
                      </p:cNvPicPr>
                      <p:nvPr/>
                    </p:nvPicPr>
                    <p:blipFill>
                      <a:blip r:embed="rId4"/>
                      <a:srcRect/>
                      <a:stretch>
                        <a:fillRect/>
                      </a:stretch>
                    </p:blipFill>
                    <p:spPr bwMode="auto">
                      <a:xfrm>
                        <a:off x="5491995" y="3770313"/>
                        <a:ext cx="3268512" cy="1645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6" name="Picture 39" descr="bandstop"/>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3850" y="4149725"/>
            <a:ext cx="486727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 name="组合 27"/>
          <p:cNvGrpSpPr/>
          <p:nvPr/>
        </p:nvGrpSpPr>
        <p:grpSpPr>
          <a:xfrm>
            <a:off x="771414" y="1340769"/>
            <a:ext cx="4232634" cy="2438684"/>
            <a:chOff x="771414" y="1340769"/>
            <a:chExt cx="4232634" cy="2438684"/>
          </a:xfrm>
        </p:grpSpPr>
        <p:graphicFrame>
          <p:nvGraphicFramePr>
            <p:cNvPr id="5" name="Object 4"/>
            <p:cNvGraphicFramePr>
              <a:graphicFrameLocks noChangeAspect="1"/>
            </p:cNvGraphicFramePr>
            <p:nvPr>
              <p:extLst/>
            </p:nvPr>
          </p:nvGraphicFramePr>
          <p:xfrm>
            <a:off x="2098564" y="1556953"/>
            <a:ext cx="274104" cy="296784"/>
          </p:xfrm>
          <a:graphic>
            <a:graphicData uri="http://schemas.openxmlformats.org/presentationml/2006/ole">
              <mc:AlternateContent xmlns:mc="http://schemas.openxmlformats.org/markup-compatibility/2006">
                <mc:Choice xmlns:v="urn:schemas-microsoft-com:vml" Requires="v">
                  <p:oleObj spid="_x0000_s78911" name="Equation" r:id="rId6" imgW="152280" imgH="164880" progId="Equation.DSMT4">
                    <p:embed/>
                  </p:oleObj>
                </mc:Choice>
                <mc:Fallback>
                  <p:oleObj name="Equation" r:id="rId6" imgW="152280" imgH="164880" progId="Equation.DSMT4">
                    <p:embed/>
                    <p:pic>
                      <p:nvPicPr>
                        <p:cNvPr id="0" name=""/>
                        <p:cNvPicPr>
                          <a:picLocks noChangeAspect="1" noChangeArrowheads="1"/>
                        </p:cNvPicPr>
                        <p:nvPr/>
                      </p:nvPicPr>
                      <p:blipFill>
                        <a:blip r:embed="rId7"/>
                        <a:srcRect/>
                        <a:stretch>
                          <a:fillRect/>
                        </a:stretch>
                      </p:blipFill>
                      <p:spPr bwMode="auto">
                        <a:xfrm>
                          <a:off x="2098564" y="1556953"/>
                          <a:ext cx="274104" cy="2967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16"/>
            <p:cNvGrpSpPr>
              <a:grpSpLocks/>
            </p:cNvGrpSpPr>
            <p:nvPr/>
          </p:nvGrpSpPr>
          <p:grpSpPr bwMode="auto">
            <a:xfrm rot="10800000">
              <a:off x="3939725" y="2592003"/>
              <a:ext cx="142875" cy="647700"/>
              <a:chOff x="2772" y="2931"/>
              <a:chExt cx="57" cy="283"/>
            </a:xfrm>
          </p:grpSpPr>
          <p:sp>
            <p:nvSpPr>
              <p:cNvPr id="7" name="Arc 17"/>
              <p:cNvSpPr>
                <a:spLocks/>
              </p:cNvSpPr>
              <p:nvPr/>
            </p:nvSpPr>
            <p:spPr bwMode="auto">
              <a:xfrm rot="10800000" flipH="1" flipV="1">
                <a:off x="2772" y="2931"/>
                <a:ext cx="57" cy="91"/>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8" name="Arc 18"/>
              <p:cNvSpPr>
                <a:spLocks/>
              </p:cNvSpPr>
              <p:nvPr/>
            </p:nvSpPr>
            <p:spPr bwMode="auto">
              <a:xfrm rot="10800000" flipH="1" flipV="1">
                <a:off x="2772" y="3027"/>
                <a:ext cx="57" cy="91"/>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9" name="Arc 19"/>
              <p:cNvSpPr>
                <a:spLocks/>
              </p:cNvSpPr>
              <p:nvPr/>
            </p:nvSpPr>
            <p:spPr bwMode="auto">
              <a:xfrm rot="10800000" flipH="1" flipV="1">
                <a:off x="2772" y="3123"/>
                <a:ext cx="57" cy="91"/>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grpSp>
        <p:sp>
          <p:nvSpPr>
            <p:cNvPr id="10" name="Line 20"/>
            <p:cNvSpPr>
              <a:spLocks noChangeShapeType="1"/>
            </p:cNvSpPr>
            <p:nvPr/>
          </p:nvSpPr>
          <p:spPr bwMode="auto">
            <a:xfrm>
              <a:off x="1057164" y="1439478"/>
              <a:ext cx="3600450"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11" name="Line 21"/>
            <p:cNvSpPr>
              <a:spLocks noChangeShapeType="1"/>
            </p:cNvSpPr>
            <p:nvPr/>
          </p:nvSpPr>
          <p:spPr bwMode="auto">
            <a:xfrm>
              <a:off x="1057164" y="3744528"/>
              <a:ext cx="3744912"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graphicFrame>
          <p:nvGraphicFramePr>
            <p:cNvPr id="12" name="Object 22"/>
            <p:cNvGraphicFramePr>
              <a:graphicFrameLocks noChangeAspect="1"/>
            </p:cNvGraphicFramePr>
            <p:nvPr>
              <p:extLst/>
            </p:nvPr>
          </p:nvGraphicFramePr>
          <p:xfrm>
            <a:off x="771414" y="2275933"/>
            <a:ext cx="251424" cy="388152"/>
          </p:xfrm>
          <a:graphic>
            <a:graphicData uri="http://schemas.openxmlformats.org/presentationml/2006/ole">
              <mc:AlternateContent xmlns:mc="http://schemas.openxmlformats.org/markup-compatibility/2006">
                <mc:Choice xmlns:v="urn:schemas-microsoft-com:vml" Requires="v">
                  <p:oleObj spid="_x0000_s78912" name="Equation" r:id="rId8" imgW="139680" imgH="215640" progId="Equation.DSMT4">
                    <p:embed/>
                  </p:oleObj>
                </mc:Choice>
                <mc:Fallback>
                  <p:oleObj name="Equation" r:id="rId8" imgW="139680" imgH="215640" progId="Equation.DSMT4">
                    <p:embed/>
                    <p:pic>
                      <p:nvPicPr>
                        <p:cNvPr id="0" name=""/>
                        <p:cNvPicPr>
                          <a:picLocks noChangeAspect="1" noChangeArrowheads="1"/>
                        </p:cNvPicPr>
                        <p:nvPr/>
                      </p:nvPicPr>
                      <p:blipFill>
                        <a:blip r:embed="rId9"/>
                        <a:srcRect/>
                        <a:stretch>
                          <a:fillRect/>
                        </a:stretch>
                      </p:blipFill>
                      <p:spPr bwMode="auto">
                        <a:xfrm>
                          <a:off x="771414" y="2275933"/>
                          <a:ext cx="251424" cy="388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23"/>
            <p:cNvGraphicFramePr>
              <a:graphicFrameLocks noChangeAspect="1"/>
            </p:cNvGraphicFramePr>
            <p:nvPr>
              <p:extLst/>
            </p:nvPr>
          </p:nvGraphicFramePr>
          <p:xfrm>
            <a:off x="3519736" y="1871997"/>
            <a:ext cx="274104" cy="319464"/>
          </p:xfrm>
          <a:graphic>
            <a:graphicData uri="http://schemas.openxmlformats.org/presentationml/2006/ole">
              <mc:AlternateContent xmlns:mc="http://schemas.openxmlformats.org/markup-compatibility/2006">
                <mc:Choice xmlns:v="urn:schemas-microsoft-com:vml" Requires="v">
                  <p:oleObj spid="_x0000_s78913" name="Equation" r:id="rId10" imgW="152280" imgH="177480" progId="Equation.DSMT4">
                    <p:embed/>
                  </p:oleObj>
                </mc:Choice>
                <mc:Fallback>
                  <p:oleObj name="Equation" r:id="rId10" imgW="152280" imgH="177480" progId="Equation.DSMT4">
                    <p:embed/>
                    <p:pic>
                      <p:nvPicPr>
                        <p:cNvPr id="0" name=""/>
                        <p:cNvPicPr>
                          <a:picLocks noChangeAspect="1" noChangeArrowheads="1"/>
                        </p:cNvPicPr>
                        <p:nvPr/>
                      </p:nvPicPr>
                      <p:blipFill>
                        <a:blip r:embed="rId11"/>
                        <a:srcRect/>
                        <a:stretch>
                          <a:fillRect/>
                        </a:stretch>
                      </p:blipFill>
                      <p:spPr bwMode="auto">
                        <a:xfrm>
                          <a:off x="3519736" y="1871997"/>
                          <a:ext cx="274104" cy="3194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24"/>
            <p:cNvGraphicFramePr>
              <a:graphicFrameLocks noChangeAspect="1"/>
            </p:cNvGraphicFramePr>
            <p:nvPr>
              <p:extLst/>
            </p:nvPr>
          </p:nvGraphicFramePr>
          <p:xfrm>
            <a:off x="3686432" y="2727341"/>
            <a:ext cx="251424" cy="296784"/>
          </p:xfrm>
          <a:graphic>
            <a:graphicData uri="http://schemas.openxmlformats.org/presentationml/2006/ole">
              <mc:AlternateContent xmlns:mc="http://schemas.openxmlformats.org/markup-compatibility/2006">
                <mc:Choice xmlns:v="urn:schemas-microsoft-com:vml" Requires="v">
                  <p:oleObj spid="_x0000_s78914" name="Equation" r:id="rId12" imgW="139680" imgH="164880" progId="Equation.DSMT4">
                    <p:embed/>
                  </p:oleObj>
                </mc:Choice>
                <mc:Fallback>
                  <p:oleObj name="Equation" r:id="rId12" imgW="139680" imgH="164880" progId="Equation.DSMT4">
                    <p:embed/>
                    <p:pic>
                      <p:nvPicPr>
                        <p:cNvPr id="0" name=""/>
                        <p:cNvPicPr>
                          <a:picLocks noChangeAspect="1" noChangeArrowheads="1"/>
                        </p:cNvPicPr>
                        <p:nvPr/>
                      </p:nvPicPr>
                      <p:blipFill>
                        <a:blip r:embed="rId13"/>
                        <a:srcRect/>
                        <a:stretch>
                          <a:fillRect/>
                        </a:stretch>
                      </p:blipFill>
                      <p:spPr bwMode="auto">
                        <a:xfrm>
                          <a:off x="3686432" y="2727341"/>
                          <a:ext cx="251424" cy="2967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 name="Group 25"/>
            <p:cNvGrpSpPr>
              <a:grpSpLocks/>
            </p:cNvGrpSpPr>
            <p:nvPr/>
          </p:nvGrpSpPr>
          <p:grpSpPr bwMode="auto">
            <a:xfrm>
              <a:off x="3903559" y="1939528"/>
              <a:ext cx="382588" cy="152399"/>
              <a:chOff x="3811" y="2475"/>
              <a:chExt cx="241" cy="96"/>
            </a:xfrm>
          </p:grpSpPr>
          <p:sp>
            <p:nvSpPr>
              <p:cNvPr id="16" name="Line 26"/>
              <p:cNvSpPr>
                <a:spLocks noChangeShapeType="1"/>
              </p:cNvSpPr>
              <p:nvPr/>
            </p:nvSpPr>
            <p:spPr bwMode="auto">
              <a:xfrm flipV="1">
                <a:off x="3811" y="2569"/>
                <a:ext cx="241" cy="2"/>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endParaRPr>
              </a:p>
            </p:txBody>
          </p:sp>
          <p:sp>
            <p:nvSpPr>
              <p:cNvPr id="17" name="Line 27"/>
              <p:cNvSpPr>
                <a:spLocks noChangeShapeType="1"/>
              </p:cNvSpPr>
              <p:nvPr/>
            </p:nvSpPr>
            <p:spPr bwMode="auto">
              <a:xfrm flipV="1">
                <a:off x="3811" y="2475"/>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endParaRPr>
              </a:p>
            </p:txBody>
          </p:sp>
        </p:grpSp>
        <p:sp>
          <p:nvSpPr>
            <p:cNvPr id="18" name="Oval 28"/>
            <p:cNvSpPr>
              <a:spLocks noChangeArrowheads="1"/>
            </p:cNvSpPr>
            <p:nvPr/>
          </p:nvSpPr>
          <p:spPr bwMode="auto">
            <a:xfrm>
              <a:off x="985726" y="1368040"/>
              <a:ext cx="112713"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sp>
          <p:nvSpPr>
            <p:cNvPr id="19" name="Oval 29"/>
            <p:cNvSpPr>
              <a:spLocks noChangeArrowheads="1"/>
            </p:cNvSpPr>
            <p:nvPr/>
          </p:nvSpPr>
          <p:spPr bwMode="auto">
            <a:xfrm>
              <a:off x="985726" y="3671503"/>
              <a:ext cx="112713"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sp>
          <p:nvSpPr>
            <p:cNvPr id="20" name="Line 31"/>
            <p:cNvSpPr>
              <a:spLocks noChangeShapeType="1"/>
            </p:cNvSpPr>
            <p:nvPr/>
          </p:nvSpPr>
          <p:spPr bwMode="auto">
            <a:xfrm>
              <a:off x="4081351" y="1439478"/>
              <a:ext cx="0" cy="504825"/>
            </a:xfrm>
            <a:prstGeom prst="line">
              <a:avLst/>
            </a:prstGeom>
            <a:noFill/>
            <a:ln w="28575">
              <a:solidFill>
                <a:srgbClr val="FFCC00"/>
              </a:solidFill>
              <a:round/>
              <a:headEnd type="oval"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sp>
          <p:nvSpPr>
            <p:cNvPr id="21" name="Line 32"/>
            <p:cNvSpPr>
              <a:spLocks noChangeShapeType="1"/>
            </p:cNvSpPr>
            <p:nvPr/>
          </p:nvSpPr>
          <p:spPr bwMode="auto">
            <a:xfrm>
              <a:off x="4081351" y="3239703"/>
              <a:ext cx="0" cy="504825"/>
            </a:xfrm>
            <a:prstGeom prst="line">
              <a:avLst/>
            </a:prstGeom>
            <a:noFill/>
            <a:ln w="28575">
              <a:solidFill>
                <a:srgbClr val="FFCC00"/>
              </a:solidFill>
              <a:round/>
              <a:headEnd type="none"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graphicFrame>
          <p:nvGraphicFramePr>
            <p:cNvPr id="22" name="Object 33"/>
            <p:cNvGraphicFramePr>
              <a:graphicFrameLocks noChangeAspect="1"/>
            </p:cNvGraphicFramePr>
            <p:nvPr>
              <p:extLst/>
            </p:nvPr>
          </p:nvGraphicFramePr>
          <p:xfrm>
            <a:off x="4729944" y="2255453"/>
            <a:ext cx="274104" cy="388152"/>
          </p:xfrm>
          <a:graphic>
            <a:graphicData uri="http://schemas.openxmlformats.org/presentationml/2006/ole">
              <mc:AlternateContent xmlns:mc="http://schemas.openxmlformats.org/markup-compatibility/2006">
                <mc:Choice xmlns:v="urn:schemas-microsoft-com:vml" Requires="v">
                  <p:oleObj spid="_x0000_s78915" name="Equation" r:id="rId14" imgW="152280" imgH="215640" progId="Equation.DSMT4">
                    <p:embed/>
                  </p:oleObj>
                </mc:Choice>
                <mc:Fallback>
                  <p:oleObj name="Equation" r:id="rId14" imgW="152280" imgH="215640" progId="Equation.DSMT4">
                    <p:embed/>
                    <p:pic>
                      <p:nvPicPr>
                        <p:cNvPr id="0" name=""/>
                        <p:cNvPicPr>
                          <a:picLocks noChangeAspect="1" noChangeArrowheads="1"/>
                        </p:cNvPicPr>
                        <p:nvPr/>
                      </p:nvPicPr>
                      <p:blipFill>
                        <a:blip r:embed="rId15"/>
                        <a:srcRect/>
                        <a:stretch>
                          <a:fillRect/>
                        </a:stretch>
                      </p:blipFill>
                      <p:spPr bwMode="auto">
                        <a:xfrm>
                          <a:off x="4729944" y="2255453"/>
                          <a:ext cx="274104" cy="388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Oval 34"/>
            <p:cNvSpPr>
              <a:spLocks noChangeArrowheads="1"/>
            </p:cNvSpPr>
            <p:nvPr/>
          </p:nvSpPr>
          <p:spPr bwMode="auto">
            <a:xfrm>
              <a:off x="4802076" y="3671503"/>
              <a:ext cx="112713"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sp>
          <p:nvSpPr>
            <p:cNvPr id="24" name="Oval 35"/>
            <p:cNvSpPr>
              <a:spLocks noChangeArrowheads="1"/>
            </p:cNvSpPr>
            <p:nvPr/>
          </p:nvSpPr>
          <p:spPr bwMode="auto">
            <a:xfrm>
              <a:off x="4657614" y="1368040"/>
              <a:ext cx="112712"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sp>
          <p:nvSpPr>
            <p:cNvPr id="25" name="Rectangle 37"/>
            <p:cNvSpPr>
              <a:spLocks noChangeArrowheads="1"/>
            </p:cNvSpPr>
            <p:nvPr/>
          </p:nvSpPr>
          <p:spPr bwMode="auto">
            <a:xfrm rot="16200000">
              <a:off x="2138252" y="1196306"/>
              <a:ext cx="215900" cy="504825"/>
            </a:xfrm>
            <a:prstGeom prst="rect">
              <a:avLst/>
            </a:prstGeom>
            <a:gradFill rotWithShape="1">
              <a:gsLst>
                <a:gs pos="0">
                  <a:srgbClr val="764700"/>
                </a:gs>
                <a:gs pos="50000">
                  <a:srgbClr val="FF9900"/>
                </a:gs>
                <a:gs pos="100000">
                  <a:srgbClr val="764700"/>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eaLnBrk="1" hangingPunct="1"/>
              <a:endParaRPr lang="zh-CN" altLang="en-US" sz="2000">
                <a:solidFill>
                  <a:schemeClr val="tx1"/>
                </a:solidFill>
              </a:endParaRPr>
            </a:p>
          </p:txBody>
        </p:sp>
        <p:sp>
          <p:nvSpPr>
            <p:cNvPr id="27" name="Line 41"/>
            <p:cNvSpPr>
              <a:spLocks noChangeShapeType="1"/>
            </p:cNvSpPr>
            <p:nvPr/>
          </p:nvSpPr>
          <p:spPr bwMode="auto">
            <a:xfrm>
              <a:off x="4081351" y="2088765"/>
              <a:ext cx="0" cy="504825"/>
            </a:xfrm>
            <a:prstGeom prst="line">
              <a:avLst/>
            </a:prstGeom>
            <a:noFill/>
            <a:ln w="28575">
              <a:solidFill>
                <a:srgbClr val="FFCC00"/>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tx1"/>
                </a:solidFill>
              </a:endParaRPr>
            </a:p>
          </p:txBody>
        </p:sp>
      </p:grpSp>
    </p:spTree>
    <p:extLst>
      <p:ext uri="{BB962C8B-B14F-4D97-AF65-F5344CB8AC3E}">
        <p14:creationId xmlns:p14="http://schemas.microsoft.com/office/powerpoint/2010/main" val="3070543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barn(inVertical)">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12"/>
          <p:cNvGraphicFramePr>
            <a:graphicFrameLocks noChangeAspect="1"/>
          </p:cNvGraphicFramePr>
          <p:nvPr>
            <p:extLst/>
          </p:nvPr>
        </p:nvGraphicFramePr>
        <p:xfrm>
          <a:off x="642444" y="3976217"/>
          <a:ext cx="4881563" cy="1165225"/>
        </p:xfrm>
        <a:graphic>
          <a:graphicData uri="http://schemas.openxmlformats.org/presentationml/2006/ole">
            <mc:AlternateContent xmlns:mc="http://schemas.openxmlformats.org/markup-compatibility/2006">
              <mc:Choice xmlns:v="urn:schemas-microsoft-com:vml" Requires="v">
                <p:oleObj spid="_x0000_s79902" name="Equation" r:id="rId3" imgW="2717640" imgH="647640" progId="Equation.DSMT4">
                  <p:embed/>
                </p:oleObj>
              </mc:Choice>
              <mc:Fallback>
                <p:oleObj name="Equation" r:id="rId3" imgW="2717640" imgH="647640" progId="Equation.DSMT4">
                  <p:embed/>
                  <p:pic>
                    <p:nvPicPr>
                      <p:cNvPr id="0" name=""/>
                      <p:cNvPicPr>
                        <a:picLocks noChangeAspect="1" noChangeArrowheads="1"/>
                      </p:cNvPicPr>
                      <p:nvPr/>
                    </p:nvPicPr>
                    <p:blipFill>
                      <a:blip r:embed="rId4"/>
                      <a:srcRect/>
                      <a:stretch>
                        <a:fillRect/>
                      </a:stretch>
                    </p:blipFill>
                    <p:spPr bwMode="auto">
                      <a:xfrm>
                        <a:off x="642444" y="3976217"/>
                        <a:ext cx="4881563" cy="1165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组合 3"/>
          <p:cNvGrpSpPr/>
          <p:nvPr/>
        </p:nvGrpSpPr>
        <p:grpSpPr>
          <a:xfrm>
            <a:off x="3855838" y="808248"/>
            <a:ext cx="5129898" cy="3509218"/>
            <a:chOff x="3718494" y="1702872"/>
            <a:chExt cx="5129898" cy="3509218"/>
          </a:xfrm>
        </p:grpSpPr>
        <p:sp>
          <p:nvSpPr>
            <p:cNvPr id="46" name="Line 16"/>
            <p:cNvSpPr>
              <a:spLocks noChangeShapeType="1"/>
            </p:cNvSpPr>
            <p:nvPr/>
          </p:nvSpPr>
          <p:spPr bwMode="auto">
            <a:xfrm>
              <a:off x="5889714" y="4020448"/>
              <a:ext cx="0" cy="1009650"/>
            </a:xfrm>
            <a:prstGeom prst="line">
              <a:avLst/>
            </a:prstGeom>
            <a:noFill/>
            <a:ln w="28575">
              <a:solidFill>
                <a:schemeClr val="tx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48" name="Text Box 18"/>
            <p:cNvSpPr txBox="1">
              <a:spLocks noChangeArrowheads="1"/>
            </p:cNvSpPr>
            <p:nvPr/>
          </p:nvSpPr>
          <p:spPr bwMode="auto">
            <a:xfrm>
              <a:off x="6781833" y="2894438"/>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smtClean="0"/>
                <a:t>C</a:t>
              </a:r>
              <a:endParaRPr kumimoji="1" lang="en-US" altLang="zh-CN" sz="2000" i="1" dirty="0"/>
            </a:p>
          </p:txBody>
        </p:sp>
        <p:sp>
          <p:nvSpPr>
            <p:cNvPr id="53" name="Text Box 23"/>
            <p:cNvSpPr txBox="1">
              <a:spLocks noChangeArrowheads="1"/>
            </p:cNvSpPr>
            <p:nvPr/>
          </p:nvSpPr>
          <p:spPr bwMode="auto">
            <a:xfrm>
              <a:off x="3718494" y="3156948"/>
              <a:ext cx="34657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a:t>v</a:t>
              </a:r>
              <a:r>
                <a:rPr kumimoji="1" lang="en-US" altLang="zh-CN" sz="2000" i="1" baseline="-25000" dirty="0"/>
                <a:t>i</a:t>
              </a:r>
            </a:p>
          </p:txBody>
        </p:sp>
        <p:grpSp>
          <p:nvGrpSpPr>
            <p:cNvPr id="256" name="组合 255"/>
            <p:cNvGrpSpPr/>
            <p:nvPr/>
          </p:nvGrpSpPr>
          <p:grpSpPr>
            <a:xfrm>
              <a:off x="6865232" y="2516098"/>
              <a:ext cx="180975" cy="406400"/>
              <a:chOff x="1006418" y="2486284"/>
              <a:chExt cx="180975" cy="406400"/>
            </a:xfrm>
          </p:grpSpPr>
          <p:sp>
            <p:nvSpPr>
              <p:cNvPr id="63" name="Line 36"/>
              <p:cNvSpPr>
                <a:spLocks noChangeShapeType="1"/>
              </p:cNvSpPr>
              <p:nvPr/>
            </p:nvSpPr>
            <p:spPr bwMode="auto">
              <a:xfrm>
                <a:off x="1006418" y="2486284"/>
                <a:ext cx="0" cy="4048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65" name="Line 38"/>
              <p:cNvSpPr>
                <a:spLocks noChangeShapeType="1"/>
              </p:cNvSpPr>
              <p:nvPr/>
            </p:nvSpPr>
            <p:spPr bwMode="auto">
              <a:xfrm>
                <a:off x="1187393" y="2487872"/>
                <a:ext cx="0" cy="4048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grpSp>
        <p:sp>
          <p:nvSpPr>
            <p:cNvPr id="67" name="Text Box 40"/>
            <p:cNvSpPr txBox="1">
              <a:spLocks noChangeArrowheads="1"/>
            </p:cNvSpPr>
            <p:nvPr/>
          </p:nvSpPr>
          <p:spPr bwMode="auto">
            <a:xfrm>
              <a:off x="8246131" y="3724756"/>
              <a:ext cx="3305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dirty="0"/>
                <a:t>+</a:t>
              </a:r>
            </a:p>
          </p:txBody>
        </p:sp>
        <p:sp>
          <p:nvSpPr>
            <p:cNvPr id="217" name="Line 36"/>
            <p:cNvSpPr>
              <a:spLocks noChangeShapeType="1"/>
            </p:cNvSpPr>
            <p:nvPr/>
          </p:nvSpPr>
          <p:spPr bwMode="auto">
            <a:xfrm>
              <a:off x="7432764" y="3727300"/>
              <a:ext cx="8794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18" name="Text Box 39"/>
            <p:cNvSpPr txBox="1">
              <a:spLocks noChangeArrowheads="1"/>
            </p:cNvSpPr>
            <p:nvPr/>
          </p:nvSpPr>
          <p:spPr bwMode="auto">
            <a:xfrm>
              <a:off x="8464954" y="3437262"/>
              <a:ext cx="3834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err="1"/>
                <a:t>v</a:t>
              </a:r>
              <a:r>
                <a:rPr kumimoji="1" lang="en-US" altLang="zh-CN" sz="2000" baseline="-25000" dirty="0" err="1"/>
                <a:t>o</a:t>
              </a:r>
              <a:endParaRPr kumimoji="1" lang="en-US" altLang="zh-CN" sz="2000" dirty="0"/>
            </a:p>
          </p:txBody>
        </p:sp>
        <p:sp>
          <p:nvSpPr>
            <p:cNvPr id="219" name="Line 40"/>
            <p:cNvSpPr>
              <a:spLocks noChangeShapeType="1"/>
            </p:cNvSpPr>
            <p:nvPr/>
          </p:nvSpPr>
          <p:spPr bwMode="auto">
            <a:xfrm flipV="1">
              <a:off x="7046206" y="2715616"/>
              <a:ext cx="881858" cy="6916"/>
            </a:xfrm>
            <a:prstGeom prst="line">
              <a:avLst/>
            </a:prstGeom>
            <a:noFill/>
            <a:ln w="28575">
              <a:solidFill>
                <a:schemeClr val="tx1"/>
              </a:solidFill>
              <a:round/>
              <a:headE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20" name="Line 41"/>
            <p:cNvSpPr>
              <a:spLocks noChangeShapeType="1"/>
            </p:cNvSpPr>
            <p:nvPr/>
          </p:nvSpPr>
          <p:spPr bwMode="auto">
            <a:xfrm flipH="1">
              <a:off x="5910351" y="2197961"/>
              <a:ext cx="4761" cy="1243144"/>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21" name="Line 42"/>
            <p:cNvSpPr>
              <a:spLocks noChangeShapeType="1"/>
            </p:cNvSpPr>
            <p:nvPr/>
          </p:nvSpPr>
          <p:spPr bwMode="auto">
            <a:xfrm>
              <a:off x="7923468" y="2197960"/>
              <a:ext cx="4596" cy="1530481"/>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22" name="Line 43"/>
            <p:cNvSpPr>
              <a:spLocks noChangeShapeType="1"/>
            </p:cNvSpPr>
            <p:nvPr/>
          </p:nvSpPr>
          <p:spPr bwMode="auto">
            <a:xfrm flipH="1">
              <a:off x="5889714" y="4031654"/>
              <a:ext cx="5461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24" name="Text Box 46"/>
            <p:cNvSpPr txBox="1">
              <a:spLocks noChangeArrowheads="1"/>
            </p:cNvSpPr>
            <p:nvPr/>
          </p:nvSpPr>
          <p:spPr bwMode="auto">
            <a:xfrm>
              <a:off x="6746305" y="1702872"/>
              <a:ext cx="4283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err="1"/>
                <a:t>R</a:t>
              </a:r>
              <a:r>
                <a:rPr kumimoji="1" lang="en-US" altLang="zh-CN" sz="2000" i="1" baseline="-25000" dirty="0" err="1"/>
                <a:t>f</a:t>
              </a:r>
              <a:endParaRPr kumimoji="1" lang="en-US" altLang="zh-CN" sz="2000" i="1" dirty="0"/>
            </a:p>
          </p:txBody>
        </p:sp>
        <p:sp>
          <p:nvSpPr>
            <p:cNvPr id="225" name="Line 47"/>
            <p:cNvSpPr>
              <a:spLocks noChangeShapeType="1"/>
            </p:cNvSpPr>
            <p:nvPr/>
          </p:nvSpPr>
          <p:spPr bwMode="auto">
            <a:xfrm>
              <a:off x="4275227" y="3441104"/>
              <a:ext cx="21701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27" name="Text Box 49"/>
            <p:cNvSpPr txBox="1">
              <a:spLocks noChangeArrowheads="1"/>
            </p:cNvSpPr>
            <p:nvPr/>
          </p:nvSpPr>
          <p:spPr bwMode="auto">
            <a:xfrm>
              <a:off x="5918289" y="3933229"/>
              <a:ext cx="66675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a:t>v</a:t>
              </a:r>
              <a:r>
                <a:rPr kumimoji="1" lang="en-US" altLang="zh-CN" sz="2000" baseline="-25000" dirty="0"/>
                <a:t>+</a:t>
              </a:r>
            </a:p>
          </p:txBody>
        </p:sp>
        <p:sp>
          <p:nvSpPr>
            <p:cNvPr id="228" name="Text Box 50"/>
            <p:cNvSpPr txBox="1">
              <a:spLocks noChangeArrowheads="1"/>
            </p:cNvSpPr>
            <p:nvPr/>
          </p:nvSpPr>
          <p:spPr bwMode="auto">
            <a:xfrm>
              <a:off x="5892889" y="3368079"/>
              <a:ext cx="59531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a:t>v</a:t>
              </a:r>
              <a:r>
                <a:rPr kumimoji="1" lang="en-US" altLang="zh-CN" sz="2000" baseline="-25000">
                  <a:latin typeface="宋体" charset="-122"/>
                </a:rPr>
                <a:t>-</a:t>
              </a:r>
            </a:p>
          </p:txBody>
        </p:sp>
        <p:sp>
          <p:nvSpPr>
            <p:cNvPr id="229" name="Line 51"/>
            <p:cNvSpPr>
              <a:spLocks noChangeShapeType="1"/>
            </p:cNvSpPr>
            <p:nvPr/>
          </p:nvSpPr>
          <p:spPr bwMode="auto">
            <a:xfrm>
              <a:off x="5994489" y="3307754"/>
              <a:ext cx="419100" cy="0"/>
            </a:xfrm>
            <a:prstGeom prst="line">
              <a:avLst/>
            </a:prstGeom>
            <a:noFill/>
            <a:ln w="28575">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33" name="Text Box 55"/>
            <p:cNvSpPr txBox="1">
              <a:spLocks noChangeArrowheads="1"/>
            </p:cNvSpPr>
            <p:nvPr/>
          </p:nvSpPr>
          <p:spPr bwMode="auto">
            <a:xfrm>
              <a:off x="4875811" y="350961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smtClean="0"/>
                <a:t>R</a:t>
              </a:r>
              <a:r>
                <a:rPr kumimoji="1" lang="en-US" altLang="zh-CN" sz="2000" baseline="-25000" dirty="0" smtClean="0"/>
                <a:t>1</a:t>
              </a:r>
              <a:endParaRPr kumimoji="1" lang="en-US" altLang="zh-CN" sz="2000" i="1" dirty="0"/>
            </a:p>
          </p:txBody>
        </p:sp>
        <p:grpSp>
          <p:nvGrpSpPr>
            <p:cNvPr id="239" name="Group 61"/>
            <p:cNvGrpSpPr>
              <a:grpSpLocks/>
            </p:cNvGrpSpPr>
            <p:nvPr/>
          </p:nvGrpSpPr>
          <p:grpSpPr bwMode="auto">
            <a:xfrm>
              <a:off x="5659527" y="5021590"/>
              <a:ext cx="455612" cy="190500"/>
              <a:chOff x="720" y="1824"/>
              <a:chExt cx="261" cy="120"/>
            </a:xfrm>
          </p:grpSpPr>
          <p:sp>
            <p:nvSpPr>
              <p:cNvPr id="253" name="Line 62"/>
              <p:cNvSpPr>
                <a:spLocks noChangeShapeType="1"/>
              </p:cNvSpPr>
              <p:nvPr/>
            </p:nvSpPr>
            <p:spPr bwMode="auto">
              <a:xfrm>
                <a:off x="720" y="1824"/>
                <a:ext cx="26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a:solidFill>
                    <a:schemeClr val="tx1"/>
                  </a:solidFill>
                </a:endParaRPr>
              </a:p>
            </p:txBody>
          </p:sp>
          <p:sp>
            <p:nvSpPr>
              <p:cNvPr id="254" name="Line 63"/>
              <p:cNvSpPr>
                <a:spLocks noChangeShapeType="1"/>
              </p:cNvSpPr>
              <p:nvPr/>
            </p:nvSpPr>
            <p:spPr bwMode="auto">
              <a:xfrm>
                <a:off x="778" y="1883"/>
                <a:ext cx="1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000">
                  <a:solidFill>
                    <a:schemeClr val="tx1"/>
                  </a:solidFill>
                </a:endParaRPr>
              </a:p>
            </p:txBody>
          </p:sp>
          <p:sp>
            <p:nvSpPr>
              <p:cNvPr id="255" name="Line 64"/>
              <p:cNvSpPr>
                <a:spLocks noChangeShapeType="1"/>
              </p:cNvSpPr>
              <p:nvPr/>
            </p:nvSpPr>
            <p:spPr bwMode="auto">
              <a:xfrm>
                <a:off x="802" y="1944"/>
                <a:ext cx="8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a:solidFill>
                    <a:schemeClr val="tx1"/>
                  </a:solidFill>
                </a:endParaRPr>
              </a:p>
            </p:txBody>
          </p:sp>
        </p:grpSp>
        <p:sp>
          <p:nvSpPr>
            <p:cNvPr id="242" name="Oval 67"/>
            <p:cNvSpPr>
              <a:spLocks noChangeArrowheads="1"/>
            </p:cNvSpPr>
            <p:nvPr/>
          </p:nvSpPr>
          <p:spPr bwMode="auto">
            <a:xfrm>
              <a:off x="4170452" y="3383954"/>
              <a:ext cx="117475" cy="107950"/>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44" name="Oval 70"/>
            <p:cNvSpPr>
              <a:spLocks noChangeArrowheads="1"/>
            </p:cNvSpPr>
            <p:nvPr/>
          </p:nvSpPr>
          <p:spPr bwMode="auto">
            <a:xfrm>
              <a:off x="8302714" y="3669704"/>
              <a:ext cx="117475" cy="107950"/>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45" name="Rectangle 79"/>
            <p:cNvSpPr>
              <a:spLocks noChangeArrowheads="1"/>
            </p:cNvSpPr>
            <p:nvPr/>
          </p:nvSpPr>
          <p:spPr bwMode="auto">
            <a:xfrm>
              <a:off x="4830791" y="3341158"/>
              <a:ext cx="503238" cy="215900"/>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47" name="Rectangle 81"/>
            <p:cNvSpPr>
              <a:spLocks noChangeArrowheads="1"/>
            </p:cNvSpPr>
            <p:nvPr/>
          </p:nvSpPr>
          <p:spPr bwMode="auto">
            <a:xfrm rot="5400000">
              <a:off x="5635714" y="4438829"/>
              <a:ext cx="503238" cy="215900"/>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49" name="AutoShape 88"/>
            <p:cNvSpPr>
              <a:spLocks noChangeArrowheads="1"/>
            </p:cNvSpPr>
            <p:nvPr/>
          </p:nvSpPr>
          <p:spPr bwMode="auto">
            <a:xfrm rot="5400000">
              <a:off x="6442164" y="3212504"/>
              <a:ext cx="1035050" cy="1035050"/>
            </a:xfrm>
            <a:prstGeom prst="triangle">
              <a:avLst>
                <a:gd name="adj" fmla="val 51023"/>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50" name="Text Box 89"/>
            <p:cNvSpPr txBox="1">
              <a:spLocks noChangeArrowheads="1"/>
            </p:cNvSpPr>
            <p:nvPr/>
          </p:nvSpPr>
          <p:spPr bwMode="auto">
            <a:xfrm>
              <a:off x="6418352" y="3855629"/>
              <a:ext cx="3305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a:solidFill>
                    <a:schemeClr val="bg1"/>
                  </a:solidFill>
                </a:rPr>
                <a:t>+</a:t>
              </a:r>
            </a:p>
          </p:txBody>
        </p:sp>
        <p:sp>
          <p:nvSpPr>
            <p:cNvPr id="251" name="Text Box 90"/>
            <p:cNvSpPr txBox="1">
              <a:spLocks noChangeArrowheads="1"/>
            </p:cNvSpPr>
            <p:nvPr/>
          </p:nvSpPr>
          <p:spPr bwMode="auto">
            <a:xfrm>
              <a:off x="6667589" y="3541304"/>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a:solidFill>
                    <a:schemeClr val="bg1"/>
                  </a:solidFill>
                </a:rPr>
                <a:t>A</a:t>
              </a:r>
              <a:endParaRPr kumimoji="1" lang="en-US" altLang="zh-CN" sz="2000">
                <a:solidFill>
                  <a:schemeClr val="bg1"/>
                </a:solidFill>
              </a:endParaRPr>
            </a:p>
          </p:txBody>
        </p:sp>
        <p:sp>
          <p:nvSpPr>
            <p:cNvPr id="252" name="Text Box 91"/>
            <p:cNvSpPr txBox="1">
              <a:spLocks noChangeArrowheads="1"/>
            </p:cNvSpPr>
            <p:nvPr/>
          </p:nvSpPr>
          <p:spPr bwMode="auto">
            <a:xfrm>
              <a:off x="6442164" y="3092041"/>
              <a:ext cx="3129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a:solidFill>
                    <a:schemeClr val="bg1"/>
                  </a:solidFill>
                </a:rPr>
                <a:t>_</a:t>
              </a:r>
            </a:p>
          </p:txBody>
        </p:sp>
        <p:sp>
          <p:nvSpPr>
            <p:cNvPr id="257" name="Line 40"/>
            <p:cNvSpPr>
              <a:spLocks noChangeShapeType="1"/>
            </p:cNvSpPr>
            <p:nvPr/>
          </p:nvSpPr>
          <p:spPr bwMode="auto">
            <a:xfrm flipV="1">
              <a:off x="5905756" y="2206928"/>
              <a:ext cx="2017712"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48" name="Rectangle 82"/>
            <p:cNvSpPr>
              <a:spLocks noChangeArrowheads="1"/>
            </p:cNvSpPr>
            <p:nvPr/>
          </p:nvSpPr>
          <p:spPr bwMode="auto">
            <a:xfrm>
              <a:off x="6704102" y="2102982"/>
              <a:ext cx="503237" cy="215900"/>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58" name="Line 40"/>
            <p:cNvSpPr>
              <a:spLocks noChangeShapeType="1"/>
            </p:cNvSpPr>
            <p:nvPr/>
          </p:nvSpPr>
          <p:spPr bwMode="auto">
            <a:xfrm flipV="1">
              <a:off x="5915114" y="2715616"/>
              <a:ext cx="950118" cy="6916"/>
            </a:xfrm>
            <a:prstGeom prst="line">
              <a:avLst/>
            </a:prstGeom>
            <a:noFill/>
            <a:ln w="28575">
              <a:solidFill>
                <a:schemeClr val="tx1"/>
              </a:solidFill>
              <a:round/>
              <a:headEnd type="oval"/>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59" name="Text Box 55"/>
            <p:cNvSpPr txBox="1">
              <a:spLocks noChangeArrowheads="1"/>
            </p:cNvSpPr>
            <p:nvPr/>
          </p:nvSpPr>
          <p:spPr bwMode="auto">
            <a:xfrm>
              <a:off x="5972443" y="4302006"/>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smtClean="0"/>
                <a:t>R</a:t>
              </a:r>
              <a:r>
                <a:rPr kumimoji="1" lang="en-US" altLang="zh-CN" sz="2000" baseline="-25000" dirty="0" smtClean="0"/>
                <a:t>2</a:t>
              </a:r>
              <a:endParaRPr kumimoji="1" lang="en-US" altLang="zh-CN" sz="2000" i="1" dirty="0"/>
            </a:p>
          </p:txBody>
        </p:sp>
        <p:sp>
          <p:nvSpPr>
            <p:cNvPr id="260" name="Text Box 40"/>
            <p:cNvSpPr txBox="1">
              <a:spLocks noChangeArrowheads="1"/>
            </p:cNvSpPr>
            <p:nvPr/>
          </p:nvSpPr>
          <p:spPr bwMode="auto">
            <a:xfrm>
              <a:off x="4113487" y="3452151"/>
              <a:ext cx="3305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dirty="0"/>
                <a:t>+</a:t>
              </a:r>
            </a:p>
          </p:txBody>
        </p:sp>
      </p:grpSp>
      <p:sp>
        <p:nvSpPr>
          <p:cNvPr id="42" name="Text Box 3"/>
          <p:cNvSpPr txBox="1">
            <a:spLocks noChangeArrowheads="1"/>
          </p:cNvSpPr>
          <p:nvPr/>
        </p:nvSpPr>
        <p:spPr bwMode="auto">
          <a:xfrm>
            <a:off x="1014500" y="1767314"/>
            <a:ext cx="259558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marL="342900" indent="-342900" eaLnBrk="1" hangingPunct="1">
              <a:buFont typeface="Wingdings" panose="05000000000000000000" pitchFamily="2" charset="2"/>
              <a:buChar char="l"/>
            </a:pPr>
            <a:r>
              <a:rPr kumimoji="1" lang="zh-CN" altLang="en-US" sz="2000" b="1" dirty="0" smtClean="0">
                <a:solidFill>
                  <a:schemeClr val="accent1">
                    <a:lumMod val="75000"/>
                  </a:schemeClr>
                </a:solidFill>
                <a:ea typeface="楷体_GB2312" pitchFamily="49" charset="-122"/>
              </a:rPr>
              <a:t>反相</a:t>
            </a:r>
            <a:r>
              <a:rPr kumimoji="1" lang="zh-CN" altLang="en-US" sz="2000" dirty="0" smtClean="0">
                <a:solidFill>
                  <a:schemeClr val="accent1">
                    <a:lumMod val="75000"/>
                  </a:schemeClr>
                </a:solidFill>
                <a:ea typeface="楷体_GB2312" pitchFamily="49" charset="-122"/>
              </a:rPr>
              <a:t>输入一阶低通</a:t>
            </a:r>
            <a:endParaRPr kumimoji="1" lang="zh-CN" altLang="en-US" sz="2000" b="1" dirty="0">
              <a:solidFill>
                <a:schemeClr val="accent1">
                  <a:lumMod val="75000"/>
                </a:schemeClr>
              </a:solidFill>
              <a:ea typeface="楷体_GB2312" pitchFamily="49" charset="-122"/>
            </a:endParaRPr>
          </a:p>
        </p:txBody>
      </p:sp>
      <p:graphicFrame>
        <p:nvGraphicFramePr>
          <p:cNvPr id="43" name="Object 12"/>
          <p:cNvGraphicFramePr>
            <a:graphicFrameLocks noChangeAspect="1"/>
          </p:cNvGraphicFramePr>
          <p:nvPr>
            <p:extLst/>
          </p:nvPr>
        </p:nvGraphicFramePr>
        <p:xfrm>
          <a:off x="1367439" y="5506558"/>
          <a:ext cx="1231900" cy="798512"/>
        </p:xfrm>
        <a:graphic>
          <a:graphicData uri="http://schemas.openxmlformats.org/presentationml/2006/ole">
            <mc:AlternateContent xmlns:mc="http://schemas.openxmlformats.org/markup-compatibility/2006">
              <mc:Choice xmlns:v="urn:schemas-microsoft-com:vml" Requires="v">
                <p:oleObj spid="_x0000_s79903" name="Equation" r:id="rId5" imgW="685800" imgH="444240" progId="Equation.DSMT4">
                  <p:embed/>
                </p:oleObj>
              </mc:Choice>
              <mc:Fallback>
                <p:oleObj name="Equation" r:id="rId5" imgW="685800" imgH="444240" progId="Equation.DSMT4">
                  <p:embed/>
                  <p:pic>
                    <p:nvPicPr>
                      <p:cNvPr id="0" name=""/>
                      <p:cNvPicPr>
                        <a:picLocks noChangeAspect="1" noChangeArrowheads="1"/>
                      </p:cNvPicPr>
                      <p:nvPr/>
                    </p:nvPicPr>
                    <p:blipFill>
                      <a:blip r:embed="rId6"/>
                      <a:srcRect/>
                      <a:stretch>
                        <a:fillRect/>
                      </a:stretch>
                    </p:blipFill>
                    <p:spPr bwMode="auto">
                      <a:xfrm>
                        <a:off x="1367439" y="5506558"/>
                        <a:ext cx="1231900" cy="79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12"/>
          <p:cNvGraphicFramePr>
            <a:graphicFrameLocks noChangeAspect="1"/>
          </p:cNvGraphicFramePr>
          <p:nvPr>
            <p:extLst/>
          </p:nvPr>
        </p:nvGraphicFramePr>
        <p:xfrm>
          <a:off x="3083226" y="5731150"/>
          <a:ext cx="798512" cy="341312"/>
        </p:xfrm>
        <a:graphic>
          <a:graphicData uri="http://schemas.openxmlformats.org/presentationml/2006/ole">
            <mc:AlternateContent xmlns:mc="http://schemas.openxmlformats.org/markup-compatibility/2006">
              <mc:Choice xmlns:v="urn:schemas-microsoft-com:vml" Requires="v">
                <p:oleObj spid="_x0000_s79904" name="Equation" r:id="rId7" imgW="444240" imgH="190440" progId="Equation.DSMT4">
                  <p:embed/>
                </p:oleObj>
              </mc:Choice>
              <mc:Fallback>
                <p:oleObj name="Equation" r:id="rId7" imgW="444240" imgH="190440" progId="Equation.DSMT4">
                  <p:embed/>
                  <p:pic>
                    <p:nvPicPr>
                      <p:cNvPr id="0" name=""/>
                      <p:cNvPicPr>
                        <a:picLocks noChangeAspect="1" noChangeArrowheads="1"/>
                      </p:cNvPicPr>
                      <p:nvPr/>
                    </p:nvPicPr>
                    <p:blipFill>
                      <a:blip r:embed="rId8"/>
                      <a:srcRect/>
                      <a:stretch>
                        <a:fillRect/>
                      </a:stretch>
                    </p:blipFill>
                    <p:spPr bwMode="auto">
                      <a:xfrm>
                        <a:off x="3083226" y="5731150"/>
                        <a:ext cx="798512"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12"/>
          <p:cNvGraphicFramePr>
            <a:graphicFrameLocks noChangeAspect="1"/>
          </p:cNvGraphicFramePr>
          <p:nvPr>
            <p:extLst/>
          </p:nvPr>
        </p:nvGraphicFramePr>
        <p:xfrm>
          <a:off x="4258466" y="5494104"/>
          <a:ext cx="1255712" cy="817562"/>
        </p:xfrm>
        <a:graphic>
          <a:graphicData uri="http://schemas.openxmlformats.org/presentationml/2006/ole">
            <mc:AlternateContent xmlns:mc="http://schemas.openxmlformats.org/markup-compatibility/2006">
              <mc:Choice xmlns:v="urn:schemas-microsoft-com:vml" Requires="v">
                <p:oleObj spid="_x0000_s79905" name="Equation" r:id="rId9" imgW="698400" imgH="457200" progId="Equation.DSMT4">
                  <p:embed/>
                </p:oleObj>
              </mc:Choice>
              <mc:Fallback>
                <p:oleObj name="Equation" r:id="rId9" imgW="698400" imgH="457200" progId="Equation.DSMT4">
                  <p:embed/>
                  <p:pic>
                    <p:nvPicPr>
                      <p:cNvPr id="0" name=""/>
                      <p:cNvPicPr>
                        <a:picLocks noChangeAspect="1" noChangeArrowheads="1"/>
                      </p:cNvPicPr>
                      <p:nvPr/>
                    </p:nvPicPr>
                    <p:blipFill>
                      <a:blip r:embed="rId10"/>
                      <a:srcRect/>
                      <a:stretch>
                        <a:fillRect/>
                      </a:stretch>
                    </p:blipFill>
                    <p:spPr bwMode="auto">
                      <a:xfrm>
                        <a:off x="4258466" y="5494104"/>
                        <a:ext cx="1255712" cy="81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Text Box 65"/>
          <p:cNvSpPr txBox="1">
            <a:spLocks noChangeArrowheads="1"/>
          </p:cNvSpPr>
          <p:nvPr/>
        </p:nvSpPr>
        <p:spPr bwMode="auto">
          <a:xfrm>
            <a:off x="377564" y="404664"/>
            <a:ext cx="828833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0" hangingPunct="0"/>
            <a:r>
              <a:rPr lang="en-US" altLang="zh-CN" sz="2400" dirty="0" smtClean="0">
                <a:solidFill>
                  <a:srgbClr val="990033"/>
                </a:solidFill>
              </a:rPr>
              <a:t>10.2.3 </a:t>
            </a:r>
            <a:r>
              <a:rPr lang="zh-CN" altLang="en-US" dirty="0" smtClean="0">
                <a:solidFill>
                  <a:srgbClr val="990033"/>
                </a:solidFill>
              </a:rPr>
              <a:t>一阶</a:t>
            </a:r>
            <a:r>
              <a:rPr lang="zh-CN" altLang="en-US" dirty="0">
                <a:solidFill>
                  <a:srgbClr val="990033"/>
                </a:solidFill>
              </a:rPr>
              <a:t>有</a:t>
            </a:r>
            <a:r>
              <a:rPr lang="zh-CN" altLang="en-US" dirty="0" smtClean="0">
                <a:solidFill>
                  <a:srgbClr val="990033"/>
                </a:solidFill>
              </a:rPr>
              <a:t>源滤波器及其频率响应</a:t>
            </a:r>
            <a:endParaRPr lang="en-US" altLang="zh-CN" sz="2400" dirty="0">
              <a:solidFill>
                <a:srgbClr val="990033"/>
              </a:solidFill>
            </a:endParaRPr>
          </a:p>
        </p:txBody>
      </p:sp>
      <p:sp>
        <p:nvSpPr>
          <p:cNvPr id="49" name="Text Box 31"/>
          <p:cNvSpPr txBox="1">
            <a:spLocks noChangeArrowheads="1"/>
          </p:cNvSpPr>
          <p:nvPr/>
        </p:nvSpPr>
        <p:spPr bwMode="auto">
          <a:xfrm>
            <a:off x="777832" y="1116360"/>
            <a:ext cx="4968875" cy="46166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r>
              <a:rPr kumimoji="1" lang="en-US" altLang="zh-CN" sz="2400" dirty="0" smtClean="0">
                <a:solidFill>
                  <a:schemeClr val="accent2"/>
                </a:solidFill>
                <a:ea typeface="宋体" charset="-122"/>
              </a:rPr>
              <a:t>1</a:t>
            </a:r>
            <a:r>
              <a:rPr kumimoji="1" lang="zh-CN" altLang="en-US" sz="2400" dirty="0">
                <a:solidFill>
                  <a:schemeClr val="accent2"/>
                </a:solidFill>
                <a:ea typeface="宋体" charset="-122"/>
              </a:rPr>
              <a:t>、一</a:t>
            </a:r>
            <a:r>
              <a:rPr kumimoji="1" lang="zh-CN" altLang="en-US" sz="2400" dirty="0" smtClean="0">
                <a:solidFill>
                  <a:schemeClr val="accent2"/>
                </a:solidFill>
                <a:ea typeface="宋体" charset="-122"/>
              </a:rPr>
              <a:t>阶有源</a:t>
            </a:r>
            <a:r>
              <a:rPr kumimoji="1" lang="zh-CN" altLang="en-US" sz="2400" dirty="0">
                <a:solidFill>
                  <a:schemeClr val="accent2"/>
                </a:solidFill>
                <a:ea typeface="宋体" charset="-122"/>
              </a:rPr>
              <a:t>低通滤波器</a:t>
            </a:r>
          </a:p>
        </p:txBody>
      </p:sp>
    </p:spTree>
    <p:extLst>
      <p:ext uri="{BB962C8B-B14F-4D97-AF65-F5344CB8AC3E}">
        <p14:creationId xmlns:p14="http://schemas.microsoft.com/office/powerpoint/2010/main" val="369896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barn(inVertical)">
                                      <p:cBhvr>
                                        <p:cTn id="7" dur="500"/>
                                        <p:tgtEl>
                                          <p:spTgt spid="42"/>
                                        </p:tgtEl>
                                      </p:cBhvr>
                                    </p:animEffect>
                                  </p:childTnLst>
                                </p:cTn>
                              </p:par>
                              <p:par>
                                <p:cTn id="8" presetID="16" presetClass="entr" presetSubtype="2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par>
                                <p:cTn id="16" presetID="16" presetClass="entr" presetSubtype="21" fill="hold" nodeType="with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barn(inVertical)">
                                      <p:cBhvr>
                                        <p:cTn id="18" dur="500"/>
                                        <p:tgtEl>
                                          <p:spTgt spid="43"/>
                                        </p:tgtEl>
                                      </p:cBhvr>
                                    </p:animEffect>
                                  </p:childTnLst>
                                </p:cTn>
                              </p:par>
                              <p:par>
                                <p:cTn id="19" presetID="16" presetClass="entr" presetSubtype="21"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barn(inVertical)">
                                      <p:cBhvr>
                                        <p:cTn id="21" dur="500"/>
                                        <p:tgtEl>
                                          <p:spTgt spid="44"/>
                                        </p:tgtEl>
                                      </p:cBhvr>
                                    </p:animEffect>
                                  </p:childTnLst>
                                </p:cTn>
                              </p:par>
                              <p:par>
                                <p:cTn id="22" presetID="16" presetClass="entr" presetSubtype="21" fill="hold" nodeType="with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barn(inVertical)">
                                      <p:cBhvr>
                                        <p:cTn id="24" dur="500"/>
                                        <p:tgtEl>
                                          <p:spTgt spid="45"/>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barn(inVertical)">
                                      <p:cBhvr>
                                        <p:cTn id="2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 Box 3"/>
          <p:cNvSpPr txBox="1">
            <a:spLocks noChangeArrowheads="1"/>
          </p:cNvSpPr>
          <p:nvPr/>
        </p:nvSpPr>
        <p:spPr bwMode="auto">
          <a:xfrm>
            <a:off x="935539" y="768315"/>
            <a:ext cx="259558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marL="342900" indent="-342900" eaLnBrk="1" hangingPunct="1">
              <a:buFont typeface="Wingdings" panose="05000000000000000000" pitchFamily="2" charset="2"/>
              <a:buChar char="l"/>
            </a:pPr>
            <a:r>
              <a:rPr kumimoji="1" lang="zh-CN" altLang="en-US" sz="2000" dirty="0" smtClean="0">
                <a:solidFill>
                  <a:schemeClr val="accent1">
                    <a:lumMod val="75000"/>
                  </a:schemeClr>
                </a:solidFill>
                <a:ea typeface="楷体_GB2312" pitchFamily="49" charset="-122"/>
              </a:rPr>
              <a:t>同</a:t>
            </a:r>
            <a:r>
              <a:rPr kumimoji="1" lang="zh-CN" altLang="en-US" sz="2000" b="1" dirty="0" smtClean="0">
                <a:solidFill>
                  <a:schemeClr val="accent1">
                    <a:lumMod val="75000"/>
                  </a:schemeClr>
                </a:solidFill>
                <a:ea typeface="楷体_GB2312" pitchFamily="49" charset="-122"/>
              </a:rPr>
              <a:t>相</a:t>
            </a:r>
            <a:r>
              <a:rPr kumimoji="1" lang="zh-CN" altLang="en-US" sz="2000" dirty="0" smtClean="0">
                <a:solidFill>
                  <a:schemeClr val="accent1">
                    <a:lumMod val="75000"/>
                  </a:schemeClr>
                </a:solidFill>
                <a:ea typeface="楷体_GB2312" pitchFamily="49" charset="-122"/>
              </a:rPr>
              <a:t>输入一阶低通</a:t>
            </a:r>
            <a:endParaRPr kumimoji="1" lang="zh-CN" altLang="en-US" sz="2000" b="1" dirty="0">
              <a:solidFill>
                <a:schemeClr val="accent1">
                  <a:lumMod val="75000"/>
                </a:schemeClr>
              </a:solidFill>
              <a:ea typeface="楷体_GB2312" pitchFamily="49" charset="-122"/>
            </a:endParaRPr>
          </a:p>
        </p:txBody>
      </p:sp>
      <p:grpSp>
        <p:nvGrpSpPr>
          <p:cNvPr id="7" name="组合 6"/>
          <p:cNvGrpSpPr/>
          <p:nvPr/>
        </p:nvGrpSpPr>
        <p:grpSpPr>
          <a:xfrm>
            <a:off x="3707904" y="968370"/>
            <a:ext cx="5174648" cy="3229325"/>
            <a:chOff x="3483754" y="1266054"/>
            <a:chExt cx="5174648" cy="3229325"/>
          </a:xfrm>
        </p:grpSpPr>
        <p:sp>
          <p:nvSpPr>
            <p:cNvPr id="55" name="Line 28"/>
            <p:cNvSpPr>
              <a:spLocks noChangeShapeType="1"/>
            </p:cNvSpPr>
            <p:nvPr/>
          </p:nvSpPr>
          <p:spPr bwMode="auto">
            <a:xfrm>
              <a:off x="5809226" y="3791321"/>
              <a:ext cx="0" cy="51952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grpSp>
          <p:nvGrpSpPr>
            <p:cNvPr id="4" name="组合 3"/>
            <p:cNvGrpSpPr/>
            <p:nvPr/>
          </p:nvGrpSpPr>
          <p:grpSpPr>
            <a:xfrm rot="16200000">
              <a:off x="5722896" y="3501790"/>
              <a:ext cx="172663" cy="406401"/>
              <a:chOff x="1006418" y="2486284"/>
              <a:chExt cx="172663" cy="406401"/>
            </a:xfrm>
          </p:grpSpPr>
          <p:sp>
            <p:nvSpPr>
              <p:cNvPr id="63" name="Line 36"/>
              <p:cNvSpPr>
                <a:spLocks noChangeShapeType="1"/>
              </p:cNvSpPr>
              <p:nvPr/>
            </p:nvSpPr>
            <p:spPr bwMode="auto">
              <a:xfrm>
                <a:off x="1006418" y="2486284"/>
                <a:ext cx="0" cy="4048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65" name="Line 38"/>
              <p:cNvSpPr>
                <a:spLocks noChangeShapeType="1"/>
              </p:cNvSpPr>
              <p:nvPr/>
            </p:nvSpPr>
            <p:spPr bwMode="auto">
              <a:xfrm>
                <a:off x="1179081" y="2487873"/>
                <a:ext cx="0" cy="4048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grpSp>
        <p:sp>
          <p:nvSpPr>
            <p:cNvPr id="67" name="Text Box 40"/>
            <p:cNvSpPr txBox="1">
              <a:spLocks noChangeArrowheads="1"/>
            </p:cNvSpPr>
            <p:nvPr/>
          </p:nvSpPr>
          <p:spPr bwMode="auto">
            <a:xfrm>
              <a:off x="3760940" y="3105666"/>
              <a:ext cx="3305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dirty="0"/>
                <a:t>+</a:t>
              </a:r>
            </a:p>
          </p:txBody>
        </p:sp>
        <p:sp>
          <p:nvSpPr>
            <p:cNvPr id="166" name="Line 36"/>
            <p:cNvSpPr>
              <a:spLocks noChangeShapeType="1"/>
            </p:cNvSpPr>
            <p:nvPr/>
          </p:nvSpPr>
          <p:spPr bwMode="auto">
            <a:xfrm>
              <a:off x="7318385" y="2801665"/>
              <a:ext cx="8794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167" name="Text Box 39"/>
            <p:cNvSpPr txBox="1">
              <a:spLocks noChangeArrowheads="1"/>
            </p:cNvSpPr>
            <p:nvPr/>
          </p:nvSpPr>
          <p:spPr bwMode="auto">
            <a:xfrm>
              <a:off x="8274964" y="2498635"/>
              <a:ext cx="3834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err="1"/>
                <a:t>v</a:t>
              </a:r>
              <a:r>
                <a:rPr kumimoji="1" lang="en-US" altLang="zh-CN" sz="2000" baseline="-25000" dirty="0" err="1"/>
                <a:t>o</a:t>
              </a:r>
              <a:endParaRPr kumimoji="1" lang="en-US" altLang="zh-CN" sz="2000" dirty="0"/>
            </a:p>
          </p:txBody>
        </p:sp>
        <p:sp>
          <p:nvSpPr>
            <p:cNvPr id="168" name="Line 40"/>
            <p:cNvSpPr>
              <a:spLocks noChangeShapeType="1"/>
            </p:cNvSpPr>
            <p:nvPr/>
          </p:nvSpPr>
          <p:spPr bwMode="auto">
            <a:xfrm>
              <a:off x="3851920" y="1772816"/>
              <a:ext cx="3971924" cy="79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169" name="Line 41"/>
            <p:cNvSpPr>
              <a:spLocks noChangeShapeType="1"/>
            </p:cNvSpPr>
            <p:nvPr/>
          </p:nvSpPr>
          <p:spPr bwMode="auto">
            <a:xfrm>
              <a:off x="5795973" y="1772816"/>
              <a:ext cx="0" cy="733425"/>
            </a:xfrm>
            <a:prstGeom prst="line">
              <a:avLst/>
            </a:prstGeom>
            <a:noFill/>
            <a:ln w="28575">
              <a:solidFill>
                <a:schemeClr val="tx1"/>
              </a:solidFill>
              <a:round/>
              <a:headEnd type="oval"/>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170" name="Line 42"/>
            <p:cNvSpPr>
              <a:spLocks noChangeShapeType="1"/>
            </p:cNvSpPr>
            <p:nvPr/>
          </p:nvSpPr>
          <p:spPr bwMode="auto">
            <a:xfrm>
              <a:off x="7813685" y="1783929"/>
              <a:ext cx="0" cy="1009650"/>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171" name="Line 43"/>
            <p:cNvSpPr>
              <a:spLocks noChangeShapeType="1"/>
            </p:cNvSpPr>
            <p:nvPr/>
          </p:nvSpPr>
          <p:spPr bwMode="auto">
            <a:xfrm flipH="1" flipV="1">
              <a:off x="3978285" y="3088854"/>
              <a:ext cx="2343150" cy="79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172" name="Text Box 45"/>
            <p:cNvSpPr txBox="1">
              <a:spLocks noChangeArrowheads="1"/>
            </p:cNvSpPr>
            <p:nvPr/>
          </p:nvSpPr>
          <p:spPr bwMode="auto">
            <a:xfrm>
              <a:off x="4574482" y="2595101"/>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a:t>R</a:t>
              </a:r>
              <a:r>
                <a:rPr kumimoji="1" lang="en-US" altLang="zh-CN" sz="2000" baseline="-25000" dirty="0"/>
                <a:t>2</a:t>
              </a:r>
              <a:endParaRPr kumimoji="1" lang="en-US" altLang="zh-CN" sz="2000" i="1" dirty="0"/>
            </a:p>
          </p:txBody>
        </p:sp>
        <p:sp>
          <p:nvSpPr>
            <p:cNvPr id="173" name="Text Box 46"/>
            <p:cNvSpPr txBox="1">
              <a:spLocks noChangeArrowheads="1"/>
            </p:cNvSpPr>
            <p:nvPr/>
          </p:nvSpPr>
          <p:spPr bwMode="auto">
            <a:xfrm>
              <a:off x="6606186" y="1266054"/>
              <a:ext cx="4283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err="1"/>
                <a:t>R</a:t>
              </a:r>
              <a:r>
                <a:rPr kumimoji="1" lang="en-US" altLang="zh-CN" sz="2000" i="1" baseline="-25000" dirty="0" err="1"/>
                <a:t>f</a:t>
              </a:r>
              <a:endParaRPr kumimoji="1" lang="en-US" altLang="zh-CN" sz="2000" i="1" dirty="0"/>
            </a:p>
          </p:txBody>
        </p:sp>
        <p:sp>
          <p:nvSpPr>
            <p:cNvPr id="174" name="Line 47"/>
            <p:cNvSpPr>
              <a:spLocks noChangeShapeType="1"/>
            </p:cNvSpPr>
            <p:nvPr/>
          </p:nvSpPr>
          <p:spPr bwMode="auto">
            <a:xfrm>
              <a:off x="5788009" y="2503066"/>
              <a:ext cx="585813" cy="3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176" name="Text Box 49"/>
            <p:cNvSpPr txBox="1">
              <a:spLocks noChangeArrowheads="1"/>
            </p:cNvSpPr>
            <p:nvPr/>
          </p:nvSpPr>
          <p:spPr bwMode="auto">
            <a:xfrm>
              <a:off x="5921474" y="2998366"/>
              <a:ext cx="66675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a:t>v</a:t>
              </a:r>
              <a:r>
                <a:rPr kumimoji="1" lang="en-US" altLang="zh-CN" sz="2000" baseline="-25000" dirty="0"/>
                <a:t>+</a:t>
              </a:r>
            </a:p>
          </p:txBody>
        </p:sp>
        <p:sp>
          <p:nvSpPr>
            <p:cNvPr id="177" name="Text Box 50"/>
            <p:cNvSpPr txBox="1">
              <a:spLocks noChangeArrowheads="1"/>
            </p:cNvSpPr>
            <p:nvPr/>
          </p:nvSpPr>
          <p:spPr bwMode="auto">
            <a:xfrm>
              <a:off x="5896074" y="2433216"/>
              <a:ext cx="59531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a:t>v</a:t>
              </a:r>
              <a:r>
                <a:rPr kumimoji="1" lang="en-US" altLang="zh-CN" sz="2000" baseline="-25000" dirty="0">
                  <a:latin typeface="宋体" charset="-122"/>
                </a:rPr>
                <a:t>-</a:t>
              </a:r>
            </a:p>
          </p:txBody>
        </p:sp>
        <p:sp>
          <p:nvSpPr>
            <p:cNvPr id="184" name="Text Box 57"/>
            <p:cNvSpPr txBox="1">
              <a:spLocks noChangeArrowheads="1"/>
            </p:cNvSpPr>
            <p:nvPr/>
          </p:nvSpPr>
          <p:spPr bwMode="auto">
            <a:xfrm>
              <a:off x="3483754" y="2857217"/>
              <a:ext cx="34657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smtClean="0"/>
                <a:t>v</a:t>
              </a:r>
              <a:r>
                <a:rPr kumimoji="1" lang="en-US" altLang="zh-CN" sz="2000" i="1" baseline="-25000" dirty="0" smtClean="0"/>
                <a:t>i</a:t>
              </a:r>
              <a:endParaRPr kumimoji="1" lang="en-US" altLang="zh-CN" sz="2000" i="1" baseline="-25000" dirty="0"/>
            </a:p>
          </p:txBody>
        </p:sp>
        <p:grpSp>
          <p:nvGrpSpPr>
            <p:cNvPr id="188" name="Group 61"/>
            <p:cNvGrpSpPr>
              <a:grpSpLocks/>
            </p:cNvGrpSpPr>
            <p:nvPr/>
          </p:nvGrpSpPr>
          <p:grpSpPr bwMode="auto">
            <a:xfrm>
              <a:off x="5581420" y="4304879"/>
              <a:ext cx="455613" cy="190500"/>
              <a:chOff x="720" y="1824"/>
              <a:chExt cx="261" cy="120"/>
            </a:xfrm>
          </p:grpSpPr>
          <p:sp>
            <p:nvSpPr>
              <p:cNvPr id="213" name="Line 62"/>
              <p:cNvSpPr>
                <a:spLocks noChangeShapeType="1"/>
              </p:cNvSpPr>
              <p:nvPr/>
            </p:nvSpPr>
            <p:spPr bwMode="auto">
              <a:xfrm>
                <a:off x="720" y="1824"/>
                <a:ext cx="26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a:solidFill>
                    <a:schemeClr val="tx1"/>
                  </a:solidFill>
                </a:endParaRPr>
              </a:p>
            </p:txBody>
          </p:sp>
          <p:sp>
            <p:nvSpPr>
              <p:cNvPr id="214" name="Line 63"/>
              <p:cNvSpPr>
                <a:spLocks noChangeShapeType="1"/>
              </p:cNvSpPr>
              <p:nvPr/>
            </p:nvSpPr>
            <p:spPr bwMode="auto">
              <a:xfrm>
                <a:off x="778" y="1883"/>
                <a:ext cx="1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000">
                  <a:solidFill>
                    <a:schemeClr val="tx1"/>
                  </a:solidFill>
                </a:endParaRPr>
              </a:p>
            </p:txBody>
          </p:sp>
          <p:sp>
            <p:nvSpPr>
              <p:cNvPr id="215" name="Line 64"/>
              <p:cNvSpPr>
                <a:spLocks noChangeShapeType="1"/>
              </p:cNvSpPr>
              <p:nvPr/>
            </p:nvSpPr>
            <p:spPr bwMode="auto">
              <a:xfrm>
                <a:off x="802" y="1944"/>
                <a:ext cx="8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a:solidFill>
                    <a:schemeClr val="tx1"/>
                  </a:solidFill>
                </a:endParaRPr>
              </a:p>
            </p:txBody>
          </p:sp>
        </p:grpSp>
        <p:sp>
          <p:nvSpPr>
            <p:cNvPr id="191" name="Oval 67"/>
            <p:cNvSpPr>
              <a:spLocks noChangeArrowheads="1"/>
            </p:cNvSpPr>
            <p:nvPr/>
          </p:nvSpPr>
          <p:spPr bwMode="auto">
            <a:xfrm>
              <a:off x="3860810" y="3034879"/>
              <a:ext cx="117475" cy="107950"/>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193" name="Oval 70"/>
            <p:cNvSpPr>
              <a:spLocks noChangeArrowheads="1"/>
            </p:cNvSpPr>
            <p:nvPr/>
          </p:nvSpPr>
          <p:spPr bwMode="auto">
            <a:xfrm>
              <a:off x="8188335" y="2753891"/>
              <a:ext cx="117475" cy="107950"/>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195" name="Rectangle 80"/>
            <p:cNvSpPr>
              <a:spLocks noChangeArrowheads="1"/>
            </p:cNvSpPr>
            <p:nvPr/>
          </p:nvSpPr>
          <p:spPr bwMode="auto">
            <a:xfrm>
              <a:off x="4527716" y="2976141"/>
              <a:ext cx="503237" cy="215900"/>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197" name="Rectangle 82"/>
            <p:cNvSpPr>
              <a:spLocks noChangeArrowheads="1"/>
            </p:cNvSpPr>
            <p:nvPr/>
          </p:nvSpPr>
          <p:spPr bwMode="auto">
            <a:xfrm>
              <a:off x="6589723" y="1666164"/>
              <a:ext cx="503237" cy="215900"/>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198" name="AutoShape 88"/>
            <p:cNvSpPr>
              <a:spLocks noChangeArrowheads="1"/>
            </p:cNvSpPr>
            <p:nvPr/>
          </p:nvSpPr>
          <p:spPr bwMode="auto">
            <a:xfrm rot="5400000">
              <a:off x="6327785" y="2277641"/>
              <a:ext cx="1035050" cy="1035050"/>
            </a:xfrm>
            <a:prstGeom prst="triangle">
              <a:avLst>
                <a:gd name="adj" fmla="val 51023"/>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199" name="Text Box 89"/>
            <p:cNvSpPr txBox="1">
              <a:spLocks noChangeArrowheads="1"/>
            </p:cNvSpPr>
            <p:nvPr/>
          </p:nvSpPr>
          <p:spPr bwMode="auto">
            <a:xfrm>
              <a:off x="6303973" y="2905611"/>
              <a:ext cx="3305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a:solidFill>
                    <a:schemeClr val="bg1"/>
                  </a:solidFill>
                </a:rPr>
                <a:t>+</a:t>
              </a:r>
            </a:p>
          </p:txBody>
        </p:sp>
        <p:sp>
          <p:nvSpPr>
            <p:cNvPr id="200" name="Text Box 90"/>
            <p:cNvSpPr txBox="1">
              <a:spLocks noChangeArrowheads="1"/>
            </p:cNvSpPr>
            <p:nvPr/>
          </p:nvSpPr>
          <p:spPr bwMode="auto">
            <a:xfrm>
              <a:off x="6553210" y="2591286"/>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a:solidFill>
                    <a:schemeClr val="bg1"/>
                  </a:solidFill>
                </a:rPr>
                <a:t>A</a:t>
              </a:r>
              <a:endParaRPr kumimoji="1" lang="en-US" altLang="zh-CN" sz="2000">
                <a:solidFill>
                  <a:schemeClr val="bg1"/>
                </a:solidFill>
              </a:endParaRPr>
            </a:p>
          </p:txBody>
        </p:sp>
        <p:sp>
          <p:nvSpPr>
            <p:cNvPr id="201" name="Text Box 91"/>
            <p:cNvSpPr txBox="1">
              <a:spLocks noChangeArrowheads="1"/>
            </p:cNvSpPr>
            <p:nvPr/>
          </p:nvSpPr>
          <p:spPr bwMode="auto">
            <a:xfrm>
              <a:off x="6327785" y="2142024"/>
              <a:ext cx="3129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a:solidFill>
                    <a:schemeClr val="bg1"/>
                  </a:solidFill>
                </a:rPr>
                <a:t>_</a:t>
              </a:r>
            </a:p>
          </p:txBody>
        </p:sp>
        <p:sp>
          <p:nvSpPr>
            <p:cNvPr id="203" name="Rectangle 82"/>
            <p:cNvSpPr>
              <a:spLocks noChangeArrowheads="1"/>
            </p:cNvSpPr>
            <p:nvPr/>
          </p:nvSpPr>
          <p:spPr bwMode="auto">
            <a:xfrm>
              <a:off x="4671731" y="1687637"/>
              <a:ext cx="503238" cy="215900"/>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04" name="Line 65"/>
            <p:cNvSpPr>
              <a:spLocks noChangeShapeType="1"/>
            </p:cNvSpPr>
            <p:nvPr/>
          </p:nvSpPr>
          <p:spPr bwMode="auto">
            <a:xfrm flipH="1">
              <a:off x="3869424" y="1783929"/>
              <a:ext cx="0" cy="2698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grpSp>
          <p:nvGrpSpPr>
            <p:cNvPr id="205" name="Group 61"/>
            <p:cNvGrpSpPr>
              <a:grpSpLocks/>
            </p:cNvGrpSpPr>
            <p:nvPr/>
          </p:nvGrpSpPr>
          <p:grpSpPr bwMode="auto">
            <a:xfrm>
              <a:off x="3639237" y="2072854"/>
              <a:ext cx="455612" cy="190500"/>
              <a:chOff x="720" y="1824"/>
              <a:chExt cx="261" cy="120"/>
            </a:xfrm>
          </p:grpSpPr>
          <p:sp>
            <p:nvSpPr>
              <p:cNvPr id="210" name="Line 62"/>
              <p:cNvSpPr>
                <a:spLocks noChangeShapeType="1"/>
              </p:cNvSpPr>
              <p:nvPr/>
            </p:nvSpPr>
            <p:spPr bwMode="auto">
              <a:xfrm>
                <a:off x="720" y="1824"/>
                <a:ext cx="26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a:solidFill>
                    <a:schemeClr val="tx1"/>
                  </a:solidFill>
                </a:endParaRPr>
              </a:p>
            </p:txBody>
          </p:sp>
          <p:sp>
            <p:nvSpPr>
              <p:cNvPr id="211" name="Line 63"/>
              <p:cNvSpPr>
                <a:spLocks noChangeShapeType="1"/>
              </p:cNvSpPr>
              <p:nvPr/>
            </p:nvSpPr>
            <p:spPr bwMode="auto">
              <a:xfrm>
                <a:off x="778" y="1883"/>
                <a:ext cx="1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000">
                  <a:solidFill>
                    <a:schemeClr val="tx1"/>
                  </a:solidFill>
                </a:endParaRPr>
              </a:p>
            </p:txBody>
          </p:sp>
          <p:sp>
            <p:nvSpPr>
              <p:cNvPr id="212" name="Line 64"/>
              <p:cNvSpPr>
                <a:spLocks noChangeShapeType="1"/>
              </p:cNvSpPr>
              <p:nvPr/>
            </p:nvSpPr>
            <p:spPr bwMode="auto">
              <a:xfrm>
                <a:off x="802" y="1944"/>
                <a:ext cx="8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a:solidFill>
                    <a:schemeClr val="tx1"/>
                  </a:solidFill>
                </a:endParaRPr>
              </a:p>
            </p:txBody>
          </p:sp>
        </p:grpSp>
        <p:sp>
          <p:nvSpPr>
            <p:cNvPr id="206" name="Oval 70"/>
            <p:cNvSpPr>
              <a:spLocks noChangeArrowheads="1"/>
            </p:cNvSpPr>
            <p:nvPr/>
          </p:nvSpPr>
          <p:spPr bwMode="auto">
            <a:xfrm>
              <a:off x="5775095" y="3064666"/>
              <a:ext cx="68262" cy="69850"/>
            </a:xfrm>
            <a:prstGeom prst="ellipse">
              <a:avLst/>
            </a:prstGeom>
            <a:solidFill>
              <a:schemeClr val="tx1"/>
            </a:solidFill>
            <a:ln w="28575">
              <a:solidFill>
                <a:schemeClr val="tx1"/>
              </a:solidFill>
              <a:round/>
              <a:headEnd/>
              <a:tailEnd/>
            </a:ln>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07" name="Oval 70"/>
            <p:cNvSpPr>
              <a:spLocks noChangeArrowheads="1"/>
            </p:cNvSpPr>
            <p:nvPr/>
          </p:nvSpPr>
          <p:spPr bwMode="auto">
            <a:xfrm>
              <a:off x="5764223" y="1739479"/>
              <a:ext cx="68262" cy="69850"/>
            </a:xfrm>
            <a:prstGeom prst="ellipse">
              <a:avLst/>
            </a:prstGeom>
            <a:solidFill>
              <a:schemeClr val="tx1"/>
            </a:solidFill>
            <a:ln w="28575">
              <a:solidFill>
                <a:schemeClr val="tx1"/>
              </a:solidFill>
              <a:round/>
              <a:headEnd/>
              <a:tailEnd/>
            </a:ln>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08" name="Text Box 55"/>
            <p:cNvSpPr txBox="1">
              <a:spLocks noChangeArrowheads="1"/>
            </p:cNvSpPr>
            <p:nvPr/>
          </p:nvSpPr>
          <p:spPr bwMode="auto">
            <a:xfrm>
              <a:off x="5267651" y="3500780"/>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smtClean="0"/>
                <a:t>C</a:t>
              </a:r>
              <a:endParaRPr kumimoji="1" lang="en-US" altLang="zh-CN" sz="2000" i="1" dirty="0"/>
            </a:p>
          </p:txBody>
        </p:sp>
        <p:sp>
          <p:nvSpPr>
            <p:cNvPr id="209" name="Text Box 55"/>
            <p:cNvSpPr txBox="1">
              <a:spLocks noChangeArrowheads="1"/>
            </p:cNvSpPr>
            <p:nvPr/>
          </p:nvSpPr>
          <p:spPr bwMode="auto">
            <a:xfrm>
              <a:off x="4684096" y="1312926"/>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smtClean="0"/>
                <a:t>R</a:t>
              </a:r>
              <a:r>
                <a:rPr kumimoji="1" lang="en-US" altLang="zh-CN" sz="2000" baseline="-25000" dirty="0" smtClean="0"/>
                <a:t>1</a:t>
              </a:r>
              <a:endParaRPr kumimoji="1" lang="en-US" altLang="zh-CN" sz="2000" i="1" dirty="0"/>
            </a:p>
          </p:txBody>
        </p:sp>
        <p:sp>
          <p:nvSpPr>
            <p:cNvPr id="88" name="Line 28"/>
            <p:cNvSpPr>
              <a:spLocks noChangeShapeType="1"/>
            </p:cNvSpPr>
            <p:nvPr/>
          </p:nvSpPr>
          <p:spPr bwMode="auto">
            <a:xfrm>
              <a:off x="5809226" y="3105666"/>
              <a:ext cx="0" cy="51952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89" name="Text Box 40"/>
            <p:cNvSpPr txBox="1">
              <a:spLocks noChangeArrowheads="1"/>
            </p:cNvSpPr>
            <p:nvPr/>
          </p:nvSpPr>
          <p:spPr bwMode="auto">
            <a:xfrm>
              <a:off x="8075957" y="2833280"/>
              <a:ext cx="3305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dirty="0"/>
                <a:t>+</a:t>
              </a:r>
            </a:p>
          </p:txBody>
        </p:sp>
      </p:grpSp>
      <p:graphicFrame>
        <p:nvGraphicFramePr>
          <p:cNvPr id="93" name="Object 12"/>
          <p:cNvGraphicFramePr>
            <a:graphicFrameLocks noChangeAspect="1"/>
          </p:cNvGraphicFramePr>
          <p:nvPr>
            <p:extLst/>
          </p:nvPr>
        </p:nvGraphicFramePr>
        <p:xfrm>
          <a:off x="467602" y="4190852"/>
          <a:ext cx="5362575" cy="1371600"/>
        </p:xfrm>
        <a:graphic>
          <a:graphicData uri="http://schemas.openxmlformats.org/presentationml/2006/ole">
            <mc:AlternateContent xmlns:mc="http://schemas.openxmlformats.org/markup-compatibility/2006">
              <mc:Choice xmlns:v="urn:schemas-microsoft-com:vml" Requires="v">
                <p:oleObj spid="_x0000_s80919" name="Equation" r:id="rId3" imgW="2984400" imgH="761760" progId="Equation.DSMT4">
                  <p:embed/>
                </p:oleObj>
              </mc:Choice>
              <mc:Fallback>
                <p:oleObj name="Equation" r:id="rId3" imgW="2984400" imgH="761760" progId="Equation.DSMT4">
                  <p:embed/>
                  <p:pic>
                    <p:nvPicPr>
                      <p:cNvPr id="0" name=""/>
                      <p:cNvPicPr>
                        <a:picLocks noChangeAspect="1" noChangeArrowheads="1"/>
                      </p:cNvPicPr>
                      <p:nvPr/>
                    </p:nvPicPr>
                    <p:blipFill>
                      <a:blip r:embed="rId4"/>
                      <a:srcRect/>
                      <a:stretch>
                        <a:fillRect/>
                      </a:stretch>
                    </p:blipFill>
                    <p:spPr bwMode="auto">
                      <a:xfrm>
                        <a:off x="467602" y="4190852"/>
                        <a:ext cx="5362575"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 name="Object 12"/>
          <p:cNvGraphicFramePr>
            <a:graphicFrameLocks noChangeAspect="1"/>
          </p:cNvGraphicFramePr>
          <p:nvPr>
            <p:extLst/>
          </p:nvPr>
        </p:nvGraphicFramePr>
        <p:xfrm>
          <a:off x="1763688" y="5768924"/>
          <a:ext cx="1211262" cy="776288"/>
        </p:xfrm>
        <a:graphic>
          <a:graphicData uri="http://schemas.openxmlformats.org/presentationml/2006/ole">
            <mc:AlternateContent xmlns:mc="http://schemas.openxmlformats.org/markup-compatibility/2006">
              <mc:Choice xmlns:v="urn:schemas-microsoft-com:vml" Requires="v">
                <p:oleObj spid="_x0000_s80920" name="Equation" r:id="rId5" imgW="672840" imgH="431640" progId="Equation.DSMT4">
                  <p:embed/>
                </p:oleObj>
              </mc:Choice>
              <mc:Fallback>
                <p:oleObj name="Equation" r:id="rId5" imgW="672840" imgH="431640" progId="Equation.DSMT4">
                  <p:embed/>
                  <p:pic>
                    <p:nvPicPr>
                      <p:cNvPr id="0" name=""/>
                      <p:cNvPicPr>
                        <a:picLocks noChangeAspect="1" noChangeArrowheads="1"/>
                      </p:cNvPicPr>
                      <p:nvPr/>
                    </p:nvPicPr>
                    <p:blipFill>
                      <a:blip r:embed="rId6"/>
                      <a:srcRect/>
                      <a:stretch>
                        <a:fillRect/>
                      </a:stretch>
                    </p:blipFill>
                    <p:spPr bwMode="auto">
                      <a:xfrm>
                        <a:off x="1763688" y="5768924"/>
                        <a:ext cx="1211262"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12"/>
          <p:cNvGraphicFramePr>
            <a:graphicFrameLocks noChangeAspect="1"/>
          </p:cNvGraphicFramePr>
          <p:nvPr>
            <p:extLst/>
          </p:nvPr>
        </p:nvGraphicFramePr>
        <p:xfrm>
          <a:off x="3519488" y="5746750"/>
          <a:ext cx="1395412" cy="822325"/>
        </p:xfrm>
        <a:graphic>
          <a:graphicData uri="http://schemas.openxmlformats.org/presentationml/2006/ole">
            <mc:AlternateContent xmlns:mc="http://schemas.openxmlformats.org/markup-compatibility/2006">
              <mc:Choice xmlns:v="urn:schemas-microsoft-com:vml" Requires="v">
                <p:oleObj spid="_x0000_s80921" name="Equation" r:id="rId7" imgW="774360" imgH="457200" progId="Equation.DSMT4">
                  <p:embed/>
                </p:oleObj>
              </mc:Choice>
              <mc:Fallback>
                <p:oleObj name="Equation" r:id="rId7" imgW="774360" imgH="457200" progId="Equation.DSMT4">
                  <p:embed/>
                  <p:pic>
                    <p:nvPicPr>
                      <p:cNvPr id="0" name=""/>
                      <p:cNvPicPr>
                        <a:picLocks noChangeAspect="1" noChangeArrowheads="1"/>
                      </p:cNvPicPr>
                      <p:nvPr/>
                    </p:nvPicPr>
                    <p:blipFill>
                      <a:blip r:embed="rId8"/>
                      <a:srcRect/>
                      <a:stretch>
                        <a:fillRect/>
                      </a:stretch>
                    </p:blipFill>
                    <p:spPr bwMode="auto">
                      <a:xfrm>
                        <a:off x="3519488" y="5746750"/>
                        <a:ext cx="1395412"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32080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barn(inVertical)">
                                      <p:cBhvr>
                                        <p:cTn id="7" dur="500"/>
                                        <p:tgtEl>
                                          <p:spTgt spid="93"/>
                                        </p:tgtEl>
                                      </p:cBhvr>
                                    </p:animEffect>
                                  </p:childTnLst>
                                </p:cTn>
                              </p:par>
                              <p:par>
                                <p:cTn id="8" presetID="16" presetClass="entr" presetSubtype="21" fill="hold" nodeType="withEffect">
                                  <p:stCondLst>
                                    <p:cond delay="0"/>
                                  </p:stCondLst>
                                  <p:childTnLst>
                                    <p:set>
                                      <p:cBhvr>
                                        <p:cTn id="9" dur="1" fill="hold">
                                          <p:stCondLst>
                                            <p:cond delay="0"/>
                                          </p:stCondLst>
                                        </p:cTn>
                                        <p:tgtEl>
                                          <p:spTgt spid="94"/>
                                        </p:tgtEl>
                                        <p:attrNameLst>
                                          <p:attrName>style.visibility</p:attrName>
                                        </p:attrNameLst>
                                      </p:cBhvr>
                                      <p:to>
                                        <p:strVal val="visible"/>
                                      </p:to>
                                    </p:set>
                                    <p:animEffect transition="in" filter="barn(inVertical)">
                                      <p:cBhvr>
                                        <p:cTn id="10" dur="500"/>
                                        <p:tgtEl>
                                          <p:spTgt spid="94"/>
                                        </p:tgtEl>
                                      </p:cBhvr>
                                    </p:animEffect>
                                  </p:childTnLst>
                                </p:cTn>
                              </p:par>
                              <p:par>
                                <p:cTn id="11" presetID="16" presetClass="entr" presetSubtype="21"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barn(inVertical)">
                                      <p:cBhvr>
                                        <p:cTn id="1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12"/>
          <p:cNvGraphicFramePr>
            <a:graphicFrameLocks noChangeAspect="1"/>
          </p:cNvGraphicFramePr>
          <p:nvPr>
            <p:extLst/>
          </p:nvPr>
        </p:nvGraphicFramePr>
        <p:xfrm>
          <a:off x="574675" y="4256917"/>
          <a:ext cx="4378325" cy="1163638"/>
        </p:xfrm>
        <a:graphic>
          <a:graphicData uri="http://schemas.openxmlformats.org/presentationml/2006/ole">
            <mc:AlternateContent xmlns:mc="http://schemas.openxmlformats.org/markup-compatibility/2006">
              <mc:Choice xmlns:v="urn:schemas-microsoft-com:vml" Requires="v">
                <p:oleObj spid="_x0000_s81936" name="Equation" r:id="rId3" imgW="2438280" imgH="647640" progId="Equation.DSMT4">
                  <p:embed/>
                </p:oleObj>
              </mc:Choice>
              <mc:Fallback>
                <p:oleObj name="Equation" r:id="rId3" imgW="2438280" imgH="647640" progId="Equation.DSMT4">
                  <p:embed/>
                  <p:pic>
                    <p:nvPicPr>
                      <p:cNvPr id="0" name=""/>
                      <p:cNvPicPr>
                        <a:picLocks noChangeAspect="1" noChangeArrowheads="1"/>
                      </p:cNvPicPr>
                      <p:nvPr/>
                    </p:nvPicPr>
                    <p:blipFill>
                      <a:blip r:embed="rId4"/>
                      <a:srcRect/>
                      <a:stretch>
                        <a:fillRect/>
                      </a:stretch>
                    </p:blipFill>
                    <p:spPr bwMode="auto">
                      <a:xfrm>
                        <a:off x="574675" y="4256917"/>
                        <a:ext cx="4378325" cy="1163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 name="Text Box 3"/>
          <p:cNvSpPr txBox="1">
            <a:spLocks noChangeArrowheads="1"/>
          </p:cNvSpPr>
          <p:nvPr/>
        </p:nvSpPr>
        <p:spPr bwMode="auto">
          <a:xfrm>
            <a:off x="1014500" y="1015717"/>
            <a:ext cx="259558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marL="342900" indent="-342900" eaLnBrk="1" hangingPunct="1">
              <a:buFont typeface="Wingdings" panose="05000000000000000000" pitchFamily="2" charset="2"/>
              <a:buChar char="l"/>
            </a:pPr>
            <a:r>
              <a:rPr kumimoji="1" lang="zh-CN" altLang="en-US" sz="2000" b="1" dirty="0" smtClean="0">
                <a:solidFill>
                  <a:schemeClr val="accent1">
                    <a:lumMod val="75000"/>
                  </a:schemeClr>
                </a:solidFill>
                <a:ea typeface="楷体_GB2312" pitchFamily="49" charset="-122"/>
              </a:rPr>
              <a:t>反相</a:t>
            </a:r>
            <a:r>
              <a:rPr kumimoji="1" lang="zh-CN" altLang="en-US" sz="2000" dirty="0" smtClean="0">
                <a:solidFill>
                  <a:schemeClr val="accent1">
                    <a:lumMod val="75000"/>
                  </a:schemeClr>
                </a:solidFill>
                <a:ea typeface="楷体_GB2312" pitchFamily="49" charset="-122"/>
              </a:rPr>
              <a:t>输入一阶高通</a:t>
            </a:r>
            <a:endParaRPr kumimoji="1" lang="zh-CN" altLang="en-US" sz="2000" b="1" dirty="0">
              <a:solidFill>
                <a:schemeClr val="accent1">
                  <a:lumMod val="75000"/>
                </a:schemeClr>
              </a:solidFill>
              <a:ea typeface="楷体_GB2312" pitchFamily="49" charset="-122"/>
            </a:endParaRPr>
          </a:p>
        </p:txBody>
      </p:sp>
      <p:graphicFrame>
        <p:nvGraphicFramePr>
          <p:cNvPr id="43" name="Object 12"/>
          <p:cNvGraphicFramePr>
            <a:graphicFrameLocks noChangeAspect="1"/>
          </p:cNvGraphicFramePr>
          <p:nvPr>
            <p:extLst/>
          </p:nvPr>
        </p:nvGraphicFramePr>
        <p:xfrm>
          <a:off x="2517217" y="5661248"/>
          <a:ext cx="1119187" cy="774700"/>
        </p:xfrm>
        <a:graphic>
          <a:graphicData uri="http://schemas.openxmlformats.org/presentationml/2006/ole">
            <mc:AlternateContent xmlns:mc="http://schemas.openxmlformats.org/markup-compatibility/2006">
              <mc:Choice xmlns:v="urn:schemas-microsoft-com:vml" Requires="v">
                <p:oleObj spid="_x0000_s81937" name="Equation" r:id="rId5" imgW="622080" imgH="431640" progId="Equation.DSMT4">
                  <p:embed/>
                </p:oleObj>
              </mc:Choice>
              <mc:Fallback>
                <p:oleObj name="Equation" r:id="rId5" imgW="622080" imgH="431640" progId="Equation.DSMT4">
                  <p:embed/>
                  <p:pic>
                    <p:nvPicPr>
                      <p:cNvPr id="0" name=""/>
                      <p:cNvPicPr>
                        <a:picLocks noChangeAspect="1" noChangeArrowheads="1"/>
                      </p:cNvPicPr>
                      <p:nvPr/>
                    </p:nvPicPr>
                    <p:blipFill>
                      <a:blip r:embed="rId6"/>
                      <a:srcRect/>
                      <a:stretch>
                        <a:fillRect/>
                      </a:stretch>
                    </p:blipFill>
                    <p:spPr bwMode="auto">
                      <a:xfrm>
                        <a:off x="2517217" y="5661248"/>
                        <a:ext cx="1119187"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组合 3"/>
          <p:cNvGrpSpPr/>
          <p:nvPr/>
        </p:nvGrpSpPr>
        <p:grpSpPr>
          <a:xfrm>
            <a:off x="2915816" y="1230159"/>
            <a:ext cx="5891928" cy="3005162"/>
            <a:chOff x="2956464" y="1844824"/>
            <a:chExt cx="5891928" cy="3005162"/>
          </a:xfrm>
        </p:grpSpPr>
        <p:sp>
          <p:nvSpPr>
            <p:cNvPr id="46" name="Line 16"/>
            <p:cNvSpPr>
              <a:spLocks noChangeShapeType="1"/>
            </p:cNvSpPr>
            <p:nvPr/>
          </p:nvSpPr>
          <p:spPr bwMode="auto">
            <a:xfrm>
              <a:off x="5889714" y="3658344"/>
              <a:ext cx="0" cy="1009650"/>
            </a:xfrm>
            <a:prstGeom prst="line">
              <a:avLst/>
            </a:prstGeom>
            <a:noFill/>
            <a:ln w="28575">
              <a:solidFill>
                <a:schemeClr val="tx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48" name="Text Box 18"/>
            <p:cNvSpPr txBox="1">
              <a:spLocks noChangeArrowheads="1"/>
            </p:cNvSpPr>
            <p:nvPr/>
          </p:nvSpPr>
          <p:spPr bwMode="auto">
            <a:xfrm>
              <a:off x="5019958" y="3236610"/>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smtClean="0"/>
                <a:t>C</a:t>
              </a:r>
              <a:endParaRPr kumimoji="1" lang="en-US" altLang="zh-CN" sz="2000" i="1" dirty="0"/>
            </a:p>
          </p:txBody>
        </p:sp>
        <p:sp>
          <p:nvSpPr>
            <p:cNvPr id="53" name="Text Box 23"/>
            <p:cNvSpPr txBox="1">
              <a:spLocks noChangeArrowheads="1"/>
            </p:cNvSpPr>
            <p:nvPr/>
          </p:nvSpPr>
          <p:spPr bwMode="auto">
            <a:xfrm>
              <a:off x="2956464" y="2945650"/>
              <a:ext cx="72553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a:t>v</a:t>
              </a:r>
              <a:r>
                <a:rPr kumimoji="1" lang="en-US" altLang="zh-CN" sz="2000" i="1" baseline="-25000" dirty="0"/>
                <a:t>i</a:t>
              </a:r>
            </a:p>
          </p:txBody>
        </p:sp>
        <p:grpSp>
          <p:nvGrpSpPr>
            <p:cNvPr id="256" name="组合 255"/>
            <p:cNvGrpSpPr/>
            <p:nvPr/>
          </p:nvGrpSpPr>
          <p:grpSpPr>
            <a:xfrm>
              <a:off x="5118554" y="2868813"/>
              <a:ext cx="180975" cy="406400"/>
              <a:chOff x="1006418" y="2486284"/>
              <a:chExt cx="180975" cy="406400"/>
            </a:xfrm>
          </p:grpSpPr>
          <p:sp>
            <p:nvSpPr>
              <p:cNvPr id="63" name="Line 36"/>
              <p:cNvSpPr>
                <a:spLocks noChangeShapeType="1"/>
              </p:cNvSpPr>
              <p:nvPr/>
            </p:nvSpPr>
            <p:spPr bwMode="auto">
              <a:xfrm>
                <a:off x="1006418" y="2486284"/>
                <a:ext cx="0" cy="4048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65" name="Line 38"/>
              <p:cNvSpPr>
                <a:spLocks noChangeShapeType="1"/>
              </p:cNvSpPr>
              <p:nvPr/>
            </p:nvSpPr>
            <p:spPr bwMode="auto">
              <a:xfrm>
                <a:off x="1187393" y="2487872"/>
                <a:ext cx="0" cy="4048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grpSp>
        <p:sp>
          <p:nvSpPr>
            <p:cNvPr id="67" name="Text Box 40"/>
            <p:cNvSpPr txBox="1">
              <a:spLocks noChangeArrowheads="1"/>
            </p:cNvSpPr>
            <p:nvPr/>
          </p:nvSpPr>
          <p:spPr bwMode="auto">
            <a:xfrm>
              <a:off x="8246131" y="3362652"/>
              <a:ext cx="3305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dirty="0"/>
                <a:t>+</a:t>
              </a:r>
            </a:p>
          </p:txBody>
        </p:sp>
        <p:sp>
          <p:nvSpPr>
            <p:cNvPr id="217" name="Line 36"/>
            <p:cNvSpPr>
              <a:spLocks noChangeShapeType="1"/>
            </p:cNvSpPr>
            <p:nvPr/>
          </p:nvSpPr>
          <p:spPr bwMode="auto">
            <a:xfrm>
              <a:off x="7432764" y="3365196"/>
              <a:ext cx="8794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18" name="Text Box 39"/>
            <p:cNvSpPr txBox="1">
              <a:spLocks noChangeArrowheads="1"/>
            </p:cNvSpPr>
            <p:nvPr/>
          </p:nvSpPr>
          <p:spPr bwMode="auto">
            <a:xfrm>
              <a:off x="8464954" y="3075158"/>
              <a:ext cx="3834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err="1"/>
                <a:t>v</a:t>
              </a:r>
              <a:r>
                <a:rPr kumimoji="1" lang="en-US" altLang="zh-CN" sz="2000" baseline="-25000" dirty="0" err="1"/>
                <a:t>o</a:t>
              </a:r>
              <a:endParaRPr kumimoji="1" lang="en-US" altLang="zh-CN" sz="2000" dirty="0"/>
            </a:p>
          </p:txBody>
        </p:sp>
        <p:sp>
          <p:nvSpPr>
            <p:cNvPr id="220" name="Line 41"/>
            <p:cNvSpPr>
              <a:spLocks noChangeShapeType="1"/>
            </p:cNvSpPr>
            <p:nvPr/>
          </p:nvSpPr>
          <p:spPr bwMode="auto">
            <a:xfrm>
              <a:off x="5909961" y="2340373"/>
              <a:ext cx="390" cy="738628"/>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21" name="Line 42"/>
            <p:cNvSpPr>
              <a:spLocks noChangeShapeType="1"/>
            </p:cNvSpPr>
            <p:nvPr/>
          </p:nvSpPr>
          <p:spPr bwMode="auto">
            <a:xfrm>
              <a:off x="7923468" y="2340373"/>
              <a:ext cx="4596" cy="1025964"/>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22" name="Line 43"/>
            <p:cNvSpPr>
              <a:spLocks noChangeShapeType="1"/>
            </p:cNvSpPr>
            <p:nvPr/>
          </p:nvSpPr>
          <p:spPr bwMode="auto">
            <a:xfrm flipH="1">
              <a:off x="5889714" y="3669550"/>
              <a:ext cx="5461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24" name="Text Box 46"/>
            <p:cNvSpPr txBox="1">
              <a:spLocks noChangeArrowheads="1"/>
            </p:cNvSpPr>
            <p:nvPr/>
          </p:nvSpPr>
          <p:spPr bwMode="auto">
            <a:xfrm>
              <a:off x="6746305" y="1844824"/>
              <a:ext cx="4283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err="1"/>
                <a:t>R</a:t>
              </a:r>
              <a:r>
                <a:rPr kumimoji="1" lang="en-US" altLang="zh-CN" sz="2000" i="1" baseline="-25000" dirty="0" err="1"/>
                <a:t>f</a:t>
              </a:r>
              <a:endParaRPr kumimoji="1" lang="en-US" altLang="zh-CN" sz="2000" i="1" dirty="0"/>
            </a:p>
          </p:txBody>
        </p:sp>
        <p:sp>
          <p:nvSpPr>
            <p:cNvPr id="225" name="Line 47"/>
            <p:cNvSpPr>
              <a:spLocks noChangeShapeType="1"/>
            </p:cNvSpPr>
            <p:nvPr/>
          </p:nvSpPr>
          <p:spPr bwMode="auto">
            <a:xfrm flipV="1">
              <a:off x="3510734" y="3075158"/>
              <a:ext cx="1593165" cy="384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27" name="Text Box 49"/>
            <p:cNvSpPr txBox="1">
              <a:spLocks noChangeArrowheads="1"/>
            </p:cNvSpPr>
            <p:nvPr/>
          </p:nvSpPr>
          <p:spPr bwMode="auto">
            <a:xfrm>
              <a:off x="5918289" y="3571125"/>
              <a:ext cx="66675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a:t>v</a:t>
              </a:r>
              <a:r>
                <a:rPr kumimoji="1" lang="en-US" altLang="zh-CN" sz="2000" baseline="-25000" dirty="0"/>
                <a:t>+</a:t>
              </a:r>
            </a:p>
          </p:txBody>
        </p:sp>
        <p:sp>
          <p:nvSpPr>
            <p:cNvPr id="228" name="Text Box 50"/>
            <p:cNvSpPr txBox="1">
              <a:spLocks noChangeArrowheads="1"/>
            </p:cNvSpPr>
            <p:nvPr/>
          </p:nvSpPr>
          <p:spPr bwMode="auto">
            <a:xfrm>
              <a:off x="5892889" y="3005975"/>
              <a:ext cx="59531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a:t>v</a:t>
              </a:r>
              <a:r>
                <a:rPr kumimoji="1" lang="en-US" altLang="zh-CN" sz="2000" baseline="-25000">
                  <a:latin typeface="宋体" charset="-122"/>
                </a:rPr>
                <a:t>-</a:t>
              </a:r>
            </a:p>
          </p:txBody>
        </p:sp>
        <p:sp>
          <p:nvSpPr>
            <p:cNvPr id="233" name="Text Box 55"/>
            <p:cNvSpPr txBox="1">
              <a:spLocks noChangeArrowheads="1"/>
            </p:cNvSpPr>
            <p:nvPr/>
          </p:nvSpPr>
          <p:spPr bwMode="auto">
            <a:xfrm>
              <a:off x="4113782" y="3147506"/>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smtClean="0"/>
                <a:t>R</a:t>
              </a:r>
              <a:r>
                <a:rPr kumimoji="1" lang="en-US" altLang="zh-CN" sz="2000" baseline="-25000" dirty="0" smtClean="0"/>
                <a:t>1</a:t>
              </a:r>
              <a:endParaRPr kumimoji="1" lang="en-US" altLang="zh-CN" sz="2000" i="1" dirty="0"/>
            </a:p>
          </p:txBody>
        </p:sp>
        <p:grpSp>
          <p:nvGrpSpPr>
            <p:cNvPr id="239" name="Group 61"/>
            <p:cNvGrpSpPr>
              <a:grpSpLocks/>
            </p:cNvGrpSpPr>
            <p:nvPr/>
          </p:nvGrpSpPr>
          <p:grpSpPr bwMode="auto">
            <a:xfrm>
              <a:off x="5659527" y="4659486"/>
              <a:ext cx="455612" cy="190500"/>
              <a:chOff x="720" y="1824"/>
              <a:chExt cx="261" cy="120"/>
            </a:xfrm>
          </p:grpSpPr>
          <p:sp>
            <p:nvSpPr>
              <p:cNvPr id="253" name="Line 62"/>
              <p:cNvSpPr>
                <a:spLocks noChangeShapeType="1"/>
              </p:cNvSpPr>
              <p:nvPr/>
            </p:nvSpPr>
            <p:spPr bwMode="auto">
              <a:xfrm>
                <a:off x="720" y="1824"/>
                <a:ext cx="26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a:solidFill>
                    <a:schemeClr val="tx1"/>
                  </a:solidFill>
                </a:endParaRPr>
              </a:p>
            </p:txBody>
          </p:sp>
          <p:sp>
            <p:nvSpPr>
              <p:cNvPr id="254" name="Line 63"/>
              <p:cNvSpPr>
                <a:spLocks noChangeShapeType="1"/>
              </p:cNvSpPr>
              <p:nvPr/>
            </p:nvSpPr>
            <p:spPr bwMode="auto">
              <a:xfrm>
                <a:off x="778" y="1883"/>
                <a:ext cx="1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000">
                  <a:solidFill>
                    <a:schemeClr val="tx1"/>
                  </a:solidFill>
                </a:endParaRPr>
              </a:p>
            </p:txBody>
          </p:sp>
          <p:sp>
            <p:nvSpPr>
              <p:cNvPr id="255" name="Line 64"/>
              <p:cNvSpPr>
                <a:spLocks noChangeShapeType="1"/>
              </p:cNvSpPr>
              <p:nvPr/>
            </p:nvSpPr>
            <p:spPr bwMode="auto">
              <a:xfrm>
                <a:off x="802" y="1944"/>
                <a:ext cx="8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a:solidFill>
                    <a:schemeClr val="tx1"/>
                  </a:solidFill>
                </a:endParaRPr>
              </a:p>
            </p:txBody>
          </p:sp>
        </p:grpSp>
        <p:sp>
          <p:nvSpPr>
            <p:cNvPr id="242" name="Oval 67"/>
            <p:cNvSpPr>
              <a:spLocks noChangeArrowheads="1"/>
            </p:cNvSpPr>
            <p:nvPr/>
          </p:nvSpPr>
          <p:spPr bwMode="auto">
            <a:xfrm>
              <a:off x="3408423" y="3021850"/>
              <a:ext cx="117475" cy="107950"/>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44" name="Oval 70"/>
            <p:cNvSpPr>
              <a:spLocks noChangeArrowheads="1"/>
            </p:cNvSpPr>
            <p:nvPr/>
          </p:nvSpPr>
          <p:spPr bwMode="auto">
            <a:xfrm>
              <a:off x="8302714" y="3307600"/>
              <a:ext cx="117475" cy="107950"/>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45" name="Rectangle 79"/>
            <p:cNvSpPr>
              <a:spLocks noChangeArrowheads="1"/>
            </p:cNvSpPr>
            <p:nvPr/>
          </p:nvSpPr>
          <p:spPr bwMode="auto">
            <a:xfrm>
              <a:off x="4068762" y="2979054"/>
              <a:ext cx="503238" cy="215900"/>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47" name="Rectangle 81"/>
            <p:cNvSpPr>
              <a:spLocks noChangeArrowheads="1"/>
            </p:cNvSpPr>
            <p:nvPr/>
          </p:nvSpPr>
          <p:spPr bwMode="auto">
            <a:xfrm rot="5400000">
              <a:off x="5635714" y="4076725"/>
              <a:ext cx="503238" cy="215900"/>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49" name="AutoShape 88"/>
            <p:cNvSpPr>
              <a:spLocks noChangeArrowheads="1"/>
            </p:cNvSpPr>
            <p:nvPr/>
          </p:nvSpPr>
          <p:spPr bwMode="auto">
            <a:xfrm rot="5400000">
              <a:off x="6442164" y="2835160"/>
              <a:ext cx="1035050" cy="1035050"/>
            </a:xfrm>
            <a:prstGeom prst="triangle">
              <a:avLst>
                <a:gd name="adj" fmla="val 51023"/>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50" name="Text Box 89"/>
            <p:cNvSpPr txBox="1">
              <a:spLocks noChangeArrowheads="1"/>
            </p:cNvSpPr>
            <p:nvPr/>
          </p:nvSpPr>
          <p:spPr bwMode="auto">
            <a:xfrm>
              <a:off x="6418352" y="3493525"/>
              <a:ext cx="3305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a:solidFill>
                    <a:schemeClr val="bg1"/>
                  </a:solidFill>
                </a:rPr>
                <a:t>+</a:t>
              </a:r>
            </a:p>
          </p:txBody>
        </p:sp>
        <p:sp>
          <p:nvSpPr>
            <p:cNvPr id="251" name="Text Box 90"/>
            <p:cNvSpPr txBox="1">
              <a:spLocks noChangeArrowheads="1"/>
            </p:cNvSpPr>
            <p:nvPr/>
          </p:nvSpPr>
          <p:spPr bwMode="auto">
            <a:xfrm>
              <a:off x="6667589" y="3179200"/>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a:solidFill>
                    <a:schemeClr val="bg1"/>
                  </a:solidFill>
                </a:rPr>
                <a:t>A</a:t>
              </a:r>
              <a:endParaRPr kumimoji="1" lang="en-US" altLang="zh-CN" sz="2000">
                <a:solidFill>
                  <a:schemeClr val="bg1"/>
                </a:solidFill>
              </a:endParaRPr>
            </a:p>
          </p:txBody>
        </p:sp>
        <p:sp>
          <p:nvSpPr>
            <p:cNvPr id="252" name="Text Box 91"/>
            <p:cNvSpPr txBox="1">
              <a:spLocks noChangeArrowheads="1"/>
            </p:cNvSpPr>
            <p:nvPr/>
          </p:nvSpPr>
          <p:spPr bwMode="auto">
            <a:xfrm>
              <a:off x="6442164" y="2729937"/>
              <a:ext cx="3129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a:solidFill>
                    <a:schemeClr val="bg1"/>
                  </a:solidFill>
                </a:rPr>
                <a:t>_</a:t>
              </a:r>
            </a:p>
          </p:txBody>
        </p:sp>
        <p:sp>
          <p:nvSpPr>
            <p:cNvPr id="257" name="Line 40"/>
            <p:cNvSpPr>
              <a:spLocks noChangeShapeType="1"/>
            </p:cNvSpPr>
            <p:nvPr/>
          </p:nvSpPr>
          <p:spPr bwMode="auto">
            <a:xfrm flipV="1">
              <a:off x="5905756" y="2348880"/>
              <a:ext cx="2017712"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248" name="Rectangle 82"/>
            <p:cNvSpPr>
              <a:spLocks noChangeArrowheads="1"/>
            </p:cNvSpPr>
            <p:nvPr/>
          </p:nvSpPr>
          <p:spPr bwMode="auto">
            <a:xfrm>
              <a:off x="6704102" y="2244934"/>
              <a:ext cx="503237" cy="215900"/>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59" name="Text Box 55"/>
            <p:cNvSpPr txBox="1">
              <a:spLocks noChangeArrowheads="1"/>
            </p:cNvSpPr>
            <p:nvPr/>
          </p:nvSpPr>
          <p:spPr bwMode="auto">
            <a:xfrm>
              <a:off x="5972443" y="3939902"/>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smtClean="0"/>
                <a:t>R</a:t>
              </a:r>
              <a:r>
                <a:rPr kumimoji="1" lang="en-US" altLang="zh-CN" sz="2000" baseline="-25000" dirty="0" smtClean="0"/>
                <a:t>2</a:t>
              </a:r>
              <a:endParaRPr kumimoji="1" lang="en-US" altLang="zh-CN" sz="2000" i="1" dirty="0"/>
            </a:p>
          </p:txBody>
        </p:sp>
        <p:sp>
          <p:nvSpPr>
            <p:cNvPr id="260" name="Text Box 40"/>
            <p:cNvSpPr txBox="1">
              <a:spLocks noChangeArrowheads="1"/>
            </p:cNvSpPr>
            <p:nvPr/>
          </p:nvSpPr>
          <p:spPr bwMode="auto">
            <a:xfrm>
              <a:off x="3351458" y="3090047"/>
              <a:ext cx="3305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dirty="0"/>
                <a:t>+</a:t>
              </a:r>
            </a:p>
          </p:txBody>
        </p:sp>
        <p:sp>
          <p:nvSpPr>
            <p:cNvPr id="44" name="Line 47"/>
            <p:cNvSpPr>
              <a:spLocks noChangeShapeType="1"/>
            </p:cNvSpPr>
            <p:nvPr/>
          </p:nvSpPr>
          <p:spPr bwMode="auto">
            <a:xfrm>
              <a:off x="5307320" y="3075158"/>
              <a:ext cx="1140303" cy="48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grpSp>
      <p:sp>
        <p:nvSpPr>
          <p:cNvPr id="40" name="Text Box 31"/>
          <p:cNvSpPr txBox="1">
            <a:spLocks noChangeArrowheads="1"/>
          </p:cNvSpPr>
          <p:nvPr/>
        </p:nvSpPr>
        <p:spPr bwMode="auto">
          <a:xfrm>
            <a:off x="777832" y="411510"/>
            <a:ext cx="4968875" cy="46166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b="1">
                <a:solidFill>
                  <a:srgbClr val="FFFF00"/>
                </a:solidFill>
                <a:latin typeface="Times New Roman" pitchFamily="18" charset="0"/>
                <a:ea typeface="楷体_GB2312" pitchFamily="49" charset="-122"/>
              </a:defRPr>
            </a:lvl1pPr>
            <a:lvl2pPr marL="742950" indent="-285750" eaLnBrk="0" hangingPunct="0">
              <a:defRPr sz="3200" b="1">
                <a:solidFill>
                  <a:srgbClr val="FFFF00"/>
                </a:solidFill>
                <a:latin typeface="Times New Roman" pitchFamily="18" charset="0"/>
                <a:ea typeface="楷体_GB2312" pitchFamily="49" charset="-122"/>
              </a:defRPr>
            </a:lvl2pPr>
            <a:lvl3pPr marL="1143000" indent="-228600" eaLnBrk="0" hangingPunct="0">
              <a:defRPr sz="3200" b="1">
                <a:solidFill>
                  <a:srgbClr val="FFFF00"/>
                </a:solidFill>
                <a:latin typeface="Times New Roman" pitchFamily="18" charset="0"/>
                <a:ea typeface="楷体_GB2312" pitchFamily="49" charset="-122"/>
              </a:defRPr>
            </a:lvl3pPr>
            <a:lvl4pPr marL="1600200" indent="-228600" eaLnBrk="0" hangingPunct="0">
              <a:defRPr sz="3200" b="1">
                <a:solidFill>
                  <a:srgbClr val="FFFF00"/>
                </a:solidFill>
                <a:latin typeface="Times New Roman" pitchFamily="18" charset="0"/>
                <a:ea typeface="楷体_GB2312" pitchFamily="49" charset="-122"/>
              </a:defRPr>
            </a:lvl4pPr>
            <a:lvl5pPr marL="2057400" indent="-228600" eaLnBrk="0" hangingPunct="0">
              <a:defRPr sz="3200" b="1">
                <a:solidFill>
                  <a:srgbClr val="FFFF00"/>
                </a:solidFill>
                <a:latin typeface="Times New Roman" pitchFamily="18" charset="0"/>
                <a:ea typeface="楷体_GB2312" pitchFamily="49" charset="-122"/>
              </a:defRPr>
            </a:lvl5pPr>
            <a:lvl6pPr marL="25146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6pPr>
            <a:lvl7pPr marL="29718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7pPr>
            <a:lvl8pPr marL="34290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8pPr>
            <a:lvl9pPr marL="3886200" indent="-228600" eaLnBrk="0" fontAlgn="base" hangingPunct="0">
              <a:spcBef>
                <a:spcPct val="0"/>
              </a:spcBef>
              <a:spcAft>
                <a:spcPct val="0"/>
              </a:spcAft>
              <a:defRPr sz="3200" b="1">
                <a:solidFill>
                  <a:srgbClr val="FFFF00"/>
                </a:solidFill>
                <a:latin typeface="Times New Roman" pitchFamily="18" charset="0"/>
                <a:ea typeface="楷体_GB2312" pitchFamily="49" charset="-122"/>
              </a:defRPr>
            </a:lvl9pPr>
          </a:lstStyle>
          <a:p>
            <a:pPr algn="just" eaLnBrk="1" hangingPunct="1"/>
            <a:r>
              <a:rPr kumimoji="1" lang="en-US" altLang="zh-CN" sz="2400" dirty="0" smtClean="0">
                <a:solidFill>
                  <a:schemeClr val="accent2"/>
                </a:solidFill>
                <a:ea typeface="宋体" charset="-122"/>
              </a:rPr>
              <a:t>2</a:t>
            </a:r>
            <a:r>
              <a:rPr kumimoji="1" lang="zh-CN" altLang="en-US" sz="2400" dirty="0" smtClean="0">
                <a:solidFill>
                  <a:schemeClr val="accent2"/>
                </a:solidFill>
                <a:ea typeface="宋体" charset="-122"/>
              </a:rPr>
              <a:t>、</a:t>
            </a:r>
            <a:r>
              <a:rPr kumimoji="1" lang="zh-CN" altLang="en-US" sz="2400" dirty="0">
                <a:solidFill>
                  <a:schemeClr val="accent2"/>
                </a:solidFill>
                <a:ea typeface="宋体" charset="-122"/>
              </a:rPr>
              <a:t>一</a:t>
            </a:r>
            <a:r>
              <a:rPr kumimoji="1" lang="zh-CN" altLang="en-US" sz="2400" dirty="0" smtClean="0">
                <a:solidFill>
                  <a:schemeClr val="accent2"/>
                </a:solidFill>
                <a:ea typeface="宋体" charset="-122"/>
              </a:rPr>
              <a:t>阶有源高通</a:t>
            </a:r>
            <a:r>
              <a:rPr kumimoji="1" lang="zh-CN" altLang="en-US" sz="2400" dirty="0">
                <a:solidFill>
                  <a:schemeClr val="accent2"/>
                </a:solidFill>
                <a:ea typeface="宋体" charset="-122"/>
              </a:rPr>
              <a:t>滤波器</a:t>
            </a:r>
          </a:p>
        </p:txBody>
      </p:sp>
    </p:spTree>
    <p:extLst>
      <p:ext uri="{BB962C8B-B14F-4D97-AF65-F5344CB8AC3E}">
        <p14:creationId xmlns:p14="http://schemas.microsoft.com/office/powerpoint/2010/main" val="412951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barn(inVertical)">
                                      <p:cBhvr>
                                        <p:cTn id="10" dur="500"/>
                                        <p:tgtEl>
                                          <p:spTgt spid="43"/>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barn(inVertical)">
                                      <p:cBhvr>
                                        <p:cTn id="1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 Box 3"/>
          <p:cNvSpPr txBox="1">
            <a:spLocks noChangeArrowheads="1"/>
          </p:cNvSpPr>
          <p:nvPr/>
        </p:nvSpPr>
        <p:spPr bwMode="auto">
          <a:xfrm>
            <a:off x="935539" y="634965"/>
            <a:ext cx="259558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marL="342900" indent="-342900" eaLnBrk="1" hangingPunct="1">
              <a:buFont typeface="Wingdings" panose="05000000000000000000" pitchFamily="2" charset="2"/>
              <a:buChar char="l"/>
            </a:pPr>
            <a:r>
              <a:rPr kumimoji="1" lang="zh-CN" altLang="en-US" sz="2000" dirty="0" smtClean="0">
                <a:solidFill>
                  <a:schemeClr val="accent1">
                    <a:lumMod val="75000"/>
                  </a:schemeClr>
                </a:solidFill>
                <a:ea typeface="楷体_GB2312" pitchFamily="49" charset="-122"/>
              </a:rPr>
              <a:t>同</a:t>
            </a:r>
            <a:r>
              <a:rPr kumimoji="1" lang="zh-CN" altLang="en-US" sz="2000" b="1" dirty="0" smtClean="0">
                <a:solidFill>
                  <a:schemeClr val="accent1">
                    <a:lumMod val="75000"/>
                  </a:schemeClr>
                </a:solidFill>
                <a:ea typeface="楷体_GB2312" pitchFamily="49" charset="-122"/>
              </a:rPr>
              <a:t>相</a:t>
            </a:r>
            <a:r>
              <a:rPr kumimoji="1" lang="zh-CN" altLang="en-US" sz="2000" dirty="0" smtClean="0">
                <a:solidFill>
                  <a:schemeClr val="accent1">
                    <a:lumMod val="75000"/>
                  </a:schemeClr>
                </a:solidFill>
                <a:ea typeface="楷体_GB2312" pitchFamily="49" charset="-122"/>
              </a:rPr>
              <a:t>输入一阶高通</a:t>
            </a:r>
            <a:endParaRPr kumimoji="1" lang="zh-CN" altLang="en-US" sz="2000" b="1" dirty="0">
              <a:solidFill>
                <a:schemeClr val="accent1">
                  <a:lumMod val="75000"/>
                </a:schemeClr>
              </a:solidFill>
              <a:ea typeface="楷体_GB2312" pitchFamily="49" charset="-122"/>
            </a:endParaRPr>
          </a:p>
        </p:txBody>
      </p:sp>
      <p:grpSp>
        <p:nvGrpSpPr>
          <p:cNvPr id="2" name="组合 1"/>
          <p:cNvGrpSpPr/>
          <p:nvPr/>
        </p:nvGrpSpPr>
        <p:grpSpPr>
          <a:xfrm>
            <a:off x="3707904" y="1093092"/>
            <a:ext cx="5019165" cy="3145534"/>
            <a:chOff x="3639237" y="1266054"/>
            <a:chExt cx="5019165" cy="3145534"/>
          </a:xfrm>
        </p:grpSpPr>
        <p:sp>
          <p:nvSpPr>
            <p:cNvPr id="55" name="Line 28"/>
            <p:cNvSpPr>
              <a:spLocks noChangeShapeType="1"/>
            </p:cNvSpPr>
            <p:nvPr/>
          </p:nvSpPr>
          <p:spPr bwMode="auto">
            <a:xfrm rot="5400000">
              <a:off x="5771969" y="2409847"/>
              <a:ext cx="5269" cy="133920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grpSp>
          <p:nvGrpSpPr>
            <p:cNvPr id="4" name="组合 3"/>
            <p:cNvGrpSpPr/>
            <p:nvPr/>
          </p:nvGrpSpPr>
          <p:grpSpPr>
            <a:xfrm>
              <a:off x="4910562" y="2878584"/>
              <a:ext cx="180975" cy="406400"/>
              <a:chOff x="1006418" y="2486284"/>
              <a:chExt cx="180975" cy="406400"/>
            </a:xfrm>
          </p:grpSpPr>
          <p:sp>
            <p:nvSpPr>
              <p:cNvPr id="63" name="Line 36"/>
              <p:cNvSpPr>
                <a:spLocks noChangeShapeType="1"/>
              </p:cNvSpPr>
              <p:nvPr/>
            </p:nvSpPr>
            <p:spPr bwMode="auto">
              <a:xfrm>
                <a:off x="1006418" y="2486284"/>
                <a:ext cx="0" cy="4048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65" name="Line 38"/>
              <p:cNvSpPr>
                <a:spLocks noChangeShapeType="1"/>
              </p:cNvSpPr>
              <p:nvPr/>
            </p:nvSpPr>
            <p:spPr bwMode="auto">
              <a:xfrm>
                <a:off x="1187393" y="2487872"/>
                <a:ext cx="0" cy="4048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grpSp>
        <p:sp>
          <p:nvSpPr>
            <p:cNvPr id="67" name="Text Box 40"/>
            <p:cNvSpPr txBox="1">
              <a:spLocks noChangeArrowheads="1"/>
            </p:cNvSpPr>
            <p:nvPr/>
          </p:nvSpPr>
          <p:spPr bwMode="auto">
            <a:xfrm>
              <a:off x="4147757" y="3094148"/>
              <a:ext cx="3305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dirty="0"/>
                <a:t>+</a:t>
              </a:r>
            </a:p>
          </p:txBody>
        </p:sp>
        <p:sp>
          <p:nvSpPr>
            <p:cNvPr id="166" name="Line 36"/>
            <p:cNvSpPr>
              <a:spLocks noChangeShapeType="1"/>
            </p:cNvSpPr>
            <p:nvPr/>
          </p:nvSpPr>
          <p:spPr bwMode="auto">
            <a:xfrm>
              <a:off x="7318385" y="2801665"/>
              <a:ext cx="8794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167" name="Text Box 39"/>
            <p:cNvSpPr txBox="1">
              <a:spLocks noChangeArrowheads="1"/>
            </p:cNvSpPr>
            <p:nvPr/>
          </p:nvSpPr>
          <p:spPr bwMode="auto">
            <a:xfrm>
              <a:off x="8274964" y="2498635"/>
              <a:ext cx="3834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err="1"/>
                <a:t>v</a:t>
              </a:r>
              <a:r>
                <a:rPr kumimoji="1" lang="en-US" altLang="zh-CN" sz="2000" baseline="-25000" dirty="0" err="1"/>
                <a:t>o</a:t>
              </a:r>
              <a:endParaRPr kumimoji="1" lang="en-US" altLang="zh-CN" sz="2000" dirty="0"/>
            </a:p>
          </p:txBody>
        </p:sp>
        <p:sp>
          <p:nvSpPr>
            <p:cNvPr id="168" name="Line 40"/>
            <p:cNvSpPr>
              <a:spLocks noChangeShapeType="1"/>
            </p:cNvSpPr>
            <p:nvPr/>
          </p:nvSpPr>
          <p:spPr bwMode="auto">
            <a:xfrm>
              <a:off x="3851920" y="1772816"/>
              <a:ext cx="3971924" cy="79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169" name="Line 41"/>
            <p:cNvSpPr>
              <a:spLocks noChangeShapeType="1"/>
            </p:cNvSpPr>
            <p:nvPr/>
          </p:nvSpPr>
          <p:spPr bwMode="auto">
            <a:xfrm>
              <a:off x="5795973" y="1772816"/>
              <a:ext cx="0" cy="733425"/>
            </a:xfrm>
            <a:prstGeom prst="line">
              <a:avLst/>
            </a:prstGeom>
            <a:noFill/>
            <a:ln w="28575">
              <a:solidFill>
                <a:schemeClr val="tx1"/>
              </a:solidFill>
              <a:round/>
              <a:headEnd type="oval"/>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170" name="Line 42"/>
            <p:cNvSpPr>
              <a:spLocks noChangeShapeType="1"/>
            </p:cNvSpPr>
            <p:nvPr/>
          </p:nvSpPr>
          <p:spPr bwMode="auto">
            <a:xfrm>
              <a:off x="7813685" y="1783929"/>
              <a:ext cx="0" cy="1009650"/>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172" name="Text Box 45"/>
            <p:cNvSpPr txBox="1">
              <a:spLocks noChangeArrowheads="1"/>
            </p:cNvSpPr>
            <p:nvPr/>
          </p:nvSpPr>
          <p:spPr bwMode="auto">
            <a:xfrm>
              <a:off x="5244889" y="3396098"/>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a:t>R</a:t>
              </a:r>
              <a:r>
                <a:rPr kumimoji="1" lang="en-US" altLang="zh-CN" sz="2000" baseline="-25000" dirty="0"/>
                <a:t>2</a:t>
              </a:r>
              <a:endParaRPr kumimoji="1" lang="en-US" altLang="zh-CN" sz="2000" i="1" dirty="0"/>
            </a:p>
          </p:txBody>
        </p:sp>
        <p:sp>
          <p:nvSpPr>
            <p:cNvPr id="173" name="Text Box 46"/>
            <p:cNvSpPr txBox="1">
              <a:spLocks noChangeArrowheads="1"/>
            </p:cNvSpPr>
            <p:nvPr/>
          </p:nvSpPr>
          <p:spPr bwMode="auto">
            <a:xfrm>
              <a:off x="6606186" y="1266054"/>
              <a:ext cx="4283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err="1"/>
                <a:t>R</a:t>
              </a:r>
              <a:r>
                <a:rPr kumimoji="1" lang="en-US" altLang="zh-CN" sz="2000" i="1" baseline="-25000" dirty="0" err="1"/>
                <a:t>f</a:t>
              </a:r>
              <a:endParaRPr kumimoji="1" lang="en-US" altLang="zh-CN" sz="2000" i="1" dirty="0"/>
            </a:p>
          </p:txBody>
        </p:sp>
        <p:sp>
          <p:nvSpPr>
            <p:cNvPr id="174" name="Line 47"/>
            <p:cNvSpPr>
              <a:spLocks noChangeShapeType="1"/>
            </p:cNvSpPr>
            <p:nvPr/>
          </p:nvSpPr>
          <p:spPr bwMode="auto">
            <a:xfrm>
              <a:off x="5788009" y="2503066"/>
              <a:ext cx="585813" cy="3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176" name="Text Box 49"/>
            <p:cNvSpPr txBox="1">
              <a:spLocks noChangeArrowheads="1"/>
            </p:cNvSpPr>
            <p:nvPr/>
          </p:nvSpPr>
          <p:spPr bwMode="auto">
            <a:xfrm>
              <a:off x="5921474" y="2998366"/>
              <a:ext cx="66675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a:t>v</a:t>
              </a:r>
              <a:r>
                <a:rPr kumimoji="1" lang="en-US" altLang="zh-CN" sz="2000" baseline="-25000" dirty="0"/>
                <a:t>+</a:t>
              </a:r>
            </a:p>
          </p:txBody>
        </p:sp>
        <p:sp>
          <p:nvSpPr>
            <p:cNvPr id="177" name="Text Box 50"/>
            <p:cNvSpPr txBox="1">
              <a:spLocks noChangeArrowheads="1"/>
            </p:cNvSpPr>
            <p:nvPr/>
          </p:nvSpPr>
          <p:spPr bwMode="auto">
            <a:xfrm>
              <a:off x="5896074" y="2433216"/>
              <a:ext cx="59531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a:t>v</a:t>
              </a:r>
              <a:r>
                <a:rPr kumimoji="1" lang="en-US" altLang="zh-CN" sz="2000" baseline="-25000" dirty="0">
                  <a:latin typeface="宋体" charset="-122"/>
                </a:rPr>
                <a:t>-</a:t>
              </a:r>
            </a:p>
          </p:txBody>
        </p:sp>
        <p:sp>
          <p:nvSpPr>
            <p:cNvPr id="184" name="Text Box 57"/>
            <p:cNvSpPr txBox="1">
              <a:spLocks noChangeArrowheads="1"/>
            </p:cNvSpPr>
            <p:nvPr/>
          </p:nvSpPr>
          <p:spPr bwMode="auto">
            <a:xfrm>
              <a:off x="3873465" y="2857217"/>
              <a:ext cx="34657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smtClean="0"/>
                <a:t>v</a:t>
              </a:r>
              <a:r>
                <a:rPr kumimoji="1" lang="en-US" altLang="zh-CN" sz="2000" i="1" baseline="-25000" dirty="0" smtClean="0"/>
                <a:t>i</a:t>
              </a:r>
              <a:endParaRPr kumimoji="1" lang="en-US" altLang="zh-CN" sz="2000" i="1" baseline="-25000" dirty="0"/>
            </a:p>
          </p:txBody>
        </p:sp>
        <p:grpSp>
          <p:nvGrpSpPr>
            <p:cNvPr id="188" name="Group 61"/>
            <p:cNvGrpSpPr>
              <a:grpSpLocks/>
            </p:cNvGrpSpPr>
            <p:nvPr/>
          </p:nvGrpSpPr>
          <p:grpSpPr bwMode="auto">
            <a:xfrm>
              <a:off x="5566180" y="4221088"/>
              <a:ext cx="455613" cy="190500"/>
              <a:chOff x="720" y="1824"/>
              <a:chExt cx="261" cy="120"/>
            </a:xfrm>
          </p:grpSpPr>
          <p:sp>
            <p:nvSpPr>
              <p:cNvPr id="213" name="Line 62"/>
              <p:cNvSpPr>
                <a:spLocks noChangeShapeType="1"/>
              </p:cNvSpPr>
              <p:nvPr/>
            </p:nvSpPr>
            <p:spPr bwMode="auto">
              <a:xfrm>
                <a:off x="720" y="1824"/>
                <a:ext cx="26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a:solidFill>
                    <a:schemeClr val="tx1"/>
                  </a:solidFill>
                </a:endParaRPr>
              </a:p>
            </p:txBody>
          </p:sp>
          <p:sp>
            <p:nvSpPr>
              <p:cNvPr id="214" name="Line 63"/>
              <p:cNvSpPr>
                <a:spLocks noChangeShapeType="1"/>
              </p:cNvSpPr>
              <p:nvPr/>
            </p:nvSpPr>
            <p:spPr bwMode="auto">
              <a:xfrm>
                <a:off x="778" y="1883"/>
                <a:ext cx="1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000">
                  <a:solidFill>
                    <a:schemeClr val="tx1"/>
                  </a:solidFill>
                </a:endParaRPr>
              </a:p>
            </p:txBody>
          </p:sp>
          <p:sp>
            <p:nvSpPr>
              <p:cNvPr id="215" name="Line 64"/>
              <p:cNvSpPr>
                <a:spLocks noChangeShapeType="1"/>
              </p:cNvSpPr>
              <p:nvPr/>
            </p:nvSpPr>
            <p:spPr bwMode="auto">
              <a:xfrm>
                <a:off x="802" y="1944"/>
                <a:ext cx="8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a:solidFill>
                    <a:schemeClr val="tx1"/>
                  </a:solidFill>
                </a:endParaRPr>
              </a:p>
            </p:txBody>
          </p:sp>
        </p:grpSp>
        <p:sp>
          <p:nvSpPr>
            <p:cNvPr id="191" name="Oval 67"/>
            <p:cNvSpPr>
              <a:spLocks noChangeArrowheads="1"/>
            </p:cNvSpPr>
            <p:nvPr/>
          </p:nvSpPr>
          <p:spPr bwMode="auto">
            <a:xfrm>
              <a:off x="4250521" y="3034879"/>
              <a:ext cx="117475" cy="107950"/>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193" name="Oval 70"/>
            <p:cNvSpPr>
              <a:spLocks noChangeArrowheads="1"/>
            </p:cNvSpPr>
            <p:nvPr/>
          </p:nvSpPr>
          <p:spPr bwMode="auto">
            <a:xfrm>
              <a:off x="8188335" y="2753891"/>
              <a:ext cx="117475" cy="107950"/>
            </a:xfrm>
            <a:prstGeom prst="ellipse">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197" name="Rectangle 82"/>
            <p:cNvSpPr>
              <a:spLocks noChangeArrowheads="1"/>
            </p:cNvSpPr>
            <p:nvPr/>
          </p:nvSpPr>
          <p:spPr bwMode="auto">
            <a:xfrm>
              <a:off x="6589723" y="1666164"/>
              <a:ext cx="503237" cy="215900"/>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198" name="AutoShape 88"/>
            <p:cNvSpPr>
              <a:spLocks noChangeArrowheads="1"/>
            </p:cNvSpPr>
            <p:nvPr/>
          </p:nvSpPr>
          <p:spPr bwMode="auto">
            <a:xfrm rot="5400000">
              <a:off x="6327785" y="2277641"/>
              <a:ext cx="1035050" cy="1035050"/>
            </a:xfrm>
            <a:prstGeom prst="triangle">
              <a:avLst>
                <a:gd name="adj" fmla="val 51023"/>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199" name="Text Box 89"/>
            <p:cNvSpPr txBox="1">
              <a:spLocks noChangeArrowheads="1"/>
            </p:cNvSpPr>
            <p:nvPr/>
          </p:nvSpPr>
          <p:spPr bwMode="auto">
            <a:xfrm>
              <a:off x="6303973" y="2905611"/>
              <a:ext cx="3305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a:solidFill>
                    <a:schemeClr val="bg1"/>
                  </a:solidFill>
                </a:rPr>
                <a:t>+</a:t>
              </a:r>
            </a:p>
          </p:txBody>
        </p:sp>
        <p:sp>
          <p:nvSpPr>
            <p:cNvPr id="200" name="Text Box 90"/>
            <p:cNvSpPr txBox="1">
              <a:spLocks noChangeArrowheads="1"/>
            </p:cNvSpPr>
            <p:nvPr/>
          </p:nvSpPr>
          <p:spPr bwMode="auto">
            <a:xfrm>
              <a:off x="6553210" y="2591286"/>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a:solidFill>
                    <a:schemeClr val="bg1"/>
                  </a:solidFill>
                </a:rPr>
                <a:t>A</a:t>
              </a:r>
              <a:endParaRPr kumimoji="1" lang="en-US" altLang="zh-CN" sz="2000">
                <a:solidFill>
                  <a:schemeClr val="bg1"/>
                </a:solidFill>
              </a:endParaRPr>
            </a:p>
          </p:txBody>
        </p:sp>
        <p:sp>
          <p:nvSpPr>
            <p:cNvPr id="201" name="Text Box 91"/>
            <p:cNvSpPr txBox="1">
              <a:spLocks noChangeArrowheads="1"/>
            </p:cNvSpPr>
            <p:nvPr/>
          </p:nvSpPr>
          <p:spPr bwMode="auto">
            <a:xfrm>
              <a:off x="6327785" y="2142024"/>
              <a:ext cx="3129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a:solidFill>
                    <a:schemeClr val="bg1"/>
                  </a:solidFill>
                </a:rPr>
                <a:t>_</a:t>
              </a:r>
            </a:p>
          </p:txBody>
        </p:sp>
        <p:sp>
          <p:nvSpPr>
            <p:cNvPr id="203" name="Rectangle 82"/>
            <p:cNvSpPr>
              <a:spLocks noChangeArrowheads="1"/>
            </p:cNvSpPr>
            <p:nvPr/>
          </p:nvSpPr>
          <p:spPr bwMode="auto">
            <a:xfrm>
              <a:off x="4671731" y="1687637"/>
              <a:ext cx="503238" cy="215900"/>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04" name="Line 65"/>
            <p:cNvSpPr>
              <a:spLocks noChangeShapeType="1"/>
            </p:cNvSpPr>
            <p:nvPr/>
          </p:nvSpPr>
          <p:spPr bwMode="auto">
            <a:xfrm flipH="1">
              <a:off x="3869424" y="1783929"/>
              <a:ext cx="0" cy="2698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grpSp>
          <p:nvGrpSpPr>
            <p:cNvPr id="205" name="Group 61"/>
            <p:cNvGrpSpPr>
              <a:grpSpLocks/>
            </p:cNvGrpSpPr>
            <p:nvPr/>
          </p:nvGrpSpPr>
          <p:grpSpPr bwMode="auto">
            <a:xfrm>
              <a:off x="3639237" y="2072854"/>
              <a:ext cx="455612" cy="190500"/>
              <a:chOff x="720" y="1824"/>
              <a:chExt cx="261" cy="120"/>
            </a:xfrm>
          </p:grpSpPr>
          <p:sp>
            <p:nvSpPr>
              <p:cNvPr id="210" name="Line 62"/>
              <p:cNvSpPr>
                <a:spLocks noChangeShapeType="1"/>
              </p:cNvSpPr>
              <p:nvPr/>
            </p:nvSpPr>
            <p:spPr bwMode="auto">
              <a:xfrm>
                <a:off x="720" y="1824"/>
                <a:ext cx="26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a:solidFill>
                    <a:schemeClr val="tx1"/>
                  </a:solidFill>
                </a:endParaRPr>
              </a:p>
            </p:txBody>
          </p:sp>
          <p:sp>
            <p:nvSpPr>
              <p:cNvPr id="211" name="Line 63"/>
              <p:cNvSpPr>
                <a:spLocks noChangeShapeType="1"/>
              </p:cNvSpPr>
              <p:nvPr/>
            </p:nvSpPr>
            <p:spPr bwMode="auto">
              <a:xfrm>
                <a:off x="778" y="1883"/>
                <a:ext cx="1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2000">
                  <a:solidFill>
                    <a:schemeClr val="tx1"/>
                  </a:solidFill>
                </a:endParaRPr>
              </a:p>
            </p:txBody>
          </p:sp>
          <p:sp>
            <p:nvSpPr>
              <p:cNvPr id="212" name="Line 64"/>
              <p:cNvSpPr>
                <a:spLocks noChangeShapeType="1"/>
              </p:cNvSpPr>
              <p:nvPr/>
            </p:nvSpPr>
            <p:spPr bwMode="auto">
              <a:xfrm>
                <a:off x="802" y="1944"/>
                <a:ext cx="8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a:solidFill>
                    <a:schemeClr val="tx1"/>
                  </a:solidFill>
                </a:endParaRPr>
              </a:p>
            </p:txBody>
          </p:sp>
        </p:grpSp>
        <p:sp>
          <p:nvSpPr>
            <p:cNvPr id="207" name="Oval 70"/>
            <p:cNvSpPr>
              <a:spLocks noChangeArrowheads="1"/>
            </p:cNvSpPr>
            <p:nvPr/>
          </p:nvSpPr>
          <p:spPr bwMode="auto">
            <a:xfrm>
              <a:off x="5764223" y="1739479"/>
              <a:ext cx="68262" cy="69850"/>
            </a:xfrm>
            <a:prstGeom prst="ellipse">
              <a:avLst/>
            </a:prstGeom>
            <a:solidFill>
              <a:schemeClr val="tx1"/>
            </a:solidFill>
            <a:ln w="28575">
              <a:solidFill>
                <a:schemeClr val="tx1"/>
              </a:solidFill>
              <a:round/>
              <a:headEnd/>
              <a:tailEnd/>
            </a:ln>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sp>
          <p:nvSpPr>
            <p:cNvPr id="208" name="Text Box 55"/>
            <p:cNvSpPr txBox="1">
              <a:spLocks noChangeArrowheads="1"/>
            </p:cNvSpPr>
            <p:nvPr/>
          </p:nvSpPr>
          <p:spPr bwMode="auto">
            <a:xfrm>
              <a:off x="4794003" y="3240349"/>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smtClean="0"/>
                <a:t>C</a:t>
              </a:r>
              <a:endParaRPr kumimoji="1" lang="en-US" altLang="zh-CN" sz="2000" i="1" dirty="0"/>
            </a:p>
          </p:txBody>
        </p:sp>
        <p:sp>
          <p:nvSpPr>
            <p:cNvPr id="209" name="Text Box 55"/>
            <p:cNvSpPr txBox="1">
              <a:spLocks noChangeArrowheads="1"/>
            </p:cNvSpPr>
            <p:nvPr/>
          </p:nvSpPr>
          <p:spPr bwMode="auto">
            <a:xfrm>
              <a:off x="4684096" y="1312926"/>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i="1" dirty="0" smtClean="0"/>
                <a:t>R</a:t>
              </a:r>
              <a:r>
                <a:rPr kumimoji="1" lang="en-US" altLang="zh-CN" sz="2000" baseline="-25000" dirty="0" smtClean="0"/>
                <a:t>1</a:t>
              </a:r>
              <a:endParaRPr kumimoji="1" lang="en-US" altLang="zh-CN" sz="2000" i="1" dirty="0"/>
            </a:p>
          </p:txBody>
        </p:sp>
        <p:sp>
          <p:nvSpPr>
            <p:cNvPr id="88" name="Line 28"/>
            <p:cNvSpPr>
              <a:spLocks noChangeShapeType="1"/>
            </p:cNvSpPr>
            <p:nvPr/>
          </p:nvSpPr>
          <p:spPr bwMode="auto">
            <a:xfrm rot="5400000">
              <a:off x="4643074" y="2822656"/>
              <a:ext cx="0" cy="51952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89" name="Text Box 40"/>
            <p:cNvSpPr txBox="1">
              <a:spLocks noChangeArrowheads="1"/>
            </p:cNvSpPr>
            <p:nvPr/>
          </p:nvSpPr>
          <p:spPr bwMode="auto">
            <a:xfrm>
              <a:off x="8075957" y="2833280"/>
              <a:ext cx="3305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r>
                <a:rPr kumimoji="1" lang="en-US" altLang="zh-CN" sz="2000" dirty="0"/>
                <a:t>+</a:t>
              </a:r>
            </a:p>
          </p:txBody>
        </p:sp>
        <p:sp>
          <p:nvSpPr>
            <p:cNvPr id="47" name="Line 41"/>
            <p:cNvSpPr>
              <a:spLocks noChangeShapeType="1"/>
            </p:cNvSpPr>
            <p:nvPr/>
          </p:nvSpPr>
          <p:spPr bwMode="auto">
            <a:xfrm>
              <a:off x="5795973" y="3081903"/>
              <a:ext cx="0" cy="1126140"/>
            </a:xfrm>
            <a:prstGeom prst="line">
              <a:avLst/>
            </a:prstGeom>
            <a:noFill/>
            <a:ln w="28575">
              <a:solidFill>
                <a:schemeClr val="tx1"/>
              </a:solidFill>
              <a:round/>
              <a:headEnd type="oval"/>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chemeClr val="tx1"/>
                </a:solidFill>
              </a:endParaRPr>
            </a:p>
          </p:txBody>
        </p:sp>
        <p:sp>
          <p:nvSpPr>
            <p:cNvPr id="195" name="Rectangle 80"/>
            <p:cNvSpPr>
              <a:spLocks noChangeArrowheads="1"/>
            </p:cNvSpPr>
            <p:nvPr/>
          </p:nvSpPr>
          <p:spPr bwMode="auto">
            <a:xfrm rot="5400000">
              <a:off x="5542367" y="3545216"/>
              <a:ext cx="503237" cy="215900"/>
            </a:xfrm>
            <a:prstGeom prst="rect">
              <a:avLst/>
            </a:prstGeom>
            <a:gradFill rotWithShape="1">
              <a:gsLst>
                <a:gs pos="0">
                  <a:srgbClr val="764700"/>
                </a:gs>
                <a:gs pos="50000">
                  <a:srgbClr val="FF9900"/>
                </a:gs>
                <a:gs pos="100000">
                  <a:srgbClr val="764700"/>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宋体" charset="-122"/>
                </a:defRPr>
              </a:lvl1pPr>
              <a:lvl2pPr marL="742950" indent="-285750" eaLnBrk="0" hangingPunct="0">
                <a:defRPr sz="2400">
                  <a:solidFill>
                    <a:schemeClr val="tx1"/>
                  </a:solidFill>
                  <a:latin typeface="Times New Roman" pitchFamily="18" charset="0"/>
                  <a:ea typeface="宋体" charset="-122"/>
                </a:defRPr>
              </a:lvl2pPr>
              <a:lvl3pPr marL="1143000" indent="-228600" eaLnBrk="0" hangingPunct="0">
                <a:defRPr sz="2400">
                  <a:solidFill>
                    <a:schemeClr val="tx1"/>
                  </a:solidFill>
                  <a:latin typeface="Times New Roman" pitchFamily="18" charset="0"/>
                  <a:ea typeface="宋体" charset="-122"/>
                </a:defRPr>
              </a:lvl3pPr>
              <a:lvl4pPr marL="1600200" indent="-228600" eaLnBrk="0" hangingPunct="0">
                <a:defRPr sz="2400">
                  <a:solidFill>
                    <a:schemeClr val="tx1"/>
                  </a:solidFill>
                  <a:latin typeface="Times New Roman" pitchFamily="18" charset="0"/>
                  <a:ea typeface="宋体" charset="-122"/>
                </a:defRPr>
              </a:lvl4pPr>
              <a:lvl5pPr marL="2057400" indent="-228600" eaLnBrk="0" hangingPunct="0">
                <a:defRPr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charset="-122"/>
                </a:defRPr>
              </a:lvl9pPr>
            </a:lstStyle>
            <a:p>
              <a:pPr eaLnBrk="1" hangingPunct="1"/>
              <a:endParaRPr lang="zh-CN" altLang="en-US" sz="2000"/>
            </a:p>
          </p:txBody>
        </p:sp>
      </p:grpSp>
      <p:graphicFrame>
        <p:nvGraphicFramePr>
          <p:cNvPr id="49" name="Object 12"/>
          <p:cNvGraphicFramePr>
            <a:graphicFrameLocks noChangeAspect="1"/>
          </p:cNvGraphicFramePr>
          <p:nvPr>
            <p:extLst/>
          </p:nvPr>
        </p:nvGraphicFramePr>
        <p:xfrm>
          <a:off x="629153" y="4564432"/>
          <a:ext cx="5335588" cy="1187450"/>
        </p:xfrm>
        <a:graphic>
          <a:graphicData uri="http://schemas.openxmlformats.org/presentationml/2006/ole">
            <mc:AlternateContent xmlns:mc="http://schemas.openxmlformats.org/markup-compatibility/2006">
              <mc:Choice xmlns:v="urn:schemas-microsoft-com:vml" Requires="v">
                <p:oleObj spid="_x0000_s82960" name="Equation" r:id="rId3" imgW="2971800" imgH="660240" progId="Equation.DSMT4">
                  <p:embed/>
                </p:oleObj>
              </mc:Choice>
              <mc:Fallback>
                <p:oleObj name="Equation" r:id="rId3" imgW="2971800" imgH="660240" progId="Equation.DSMT4">
                  <p:embed/>
                  <p:pic>
                    <p:nvPicPr>
                      <p:cNvPr id="0" name=""/>
                      <p:cNvPicPr>
                        <a:picLocks noChangeAspect="1" noChangeArrowheads="1"/>
                      </p:cNvPicPr>
                      <p:nvPr/>
                    </p:nvPicPr>
                    <p:blipFill>
                      <a:blip r:embed="rId4"/>
                      <a:srcRect/>
                      <a:stretch>
                        <a:fillRect/>
                      </a:stretch>
                    </p:blipFill>
                    <p:spPr bwMode="auto">
                      <a:xfrm>
                        <a:off x="629153" y="4564432"/>
                        <a:ext cx="5335588"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12"/>
          <p:cNvGraphicFramePr>
            <a:graphicFrameLocks noChangeAspect="1"/>
          </p:cNvGraphicFramePr>
          <p:nvPr>
            <p:extLst/>
          </p:nvPr>
        </p:nvGraphicFramePr>
        <p:xfrm>
          <a:off x="2381250" y="5786438"/>
          <a:ext cx="1163638" cy="774700"/>
        </p:xfrm>
        <a:graphic>
          <a:graphicData uri="http://schemas.openxmlformats.org/presentationml/2006/ole">
            <mc:AlternateContent xmlns:mc="http://schemas.openxmlformats.org/markup-compatibility/2006">
              <mc:Choice xmlns:v="urn:schemas-microsoft-com:vml" Requires="v">
                <p:oleObj spid="_x0000_s82961" name="Equation" r:id="rId5" imgW="647640" imgH="431640" progId="Equation.DSMT4">
                  <p:embed/>
                </p:oleObj>
              </mc:Choice>
              <mc:Fallback>
                <p:oleObj name="Equation" r:id="rId5" imgW="647640" imgH="431640" progId="Equation.DSMT4">
                  <p:embed/>
                  <p:pic>
                    <p:nvPicPr>
                      <p:cNvPr id="0" name=""/>
                      <p:cNvPicPr>
                        <a:picLocks noChangeAspect="1" noChangeArrowheads="1"/>
                      </p:cNvPicPr>
                      <p:nvPr/>
                    </p:nvPicPr>
                    <p:blipFill>
                      <a:blip r:embed="rId6"/>
                      <a:srcRect/>
                      <a:stretch>
                        <a:fillRect/>
                      </a:stretch>
                    </p:blipFill>
                    <p:spPr bwMode="auto">
                      <a:xfrm>
                        <a:off x="2381250" y="5786438"/>
                        <a:ext cx="1163638"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130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barn(inVertical)">
                                      <p:cBhvr>
                                        <p:cTn id="7" dur="500"/>
                                        <p:tgtEl>
                                          <p:spTgt spid="49"/>
                                        </p:tgtEl>
                                      </p:cBhvr>
                                    </p:animEffect>
                                  </p:childTnLst>
                                </p:cTn>
                              </p:par>
                              <p:par>
                                <p:cTn id="8" presetID="16" presetClass="entr" presetSubtype="21" fill="hold"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barn(inVertical)">
                                      <p:cBhvr>
                                        <p:cTn id="1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6"/>
          <p:cNvSpPr txBox="1">
            <a:spLocks noChangeArrowheads="1"/>
          </p:cNvSpPr>
          <p:nvPr/>
        </p:nvSpPr>
        <p:spPr bwMode="auto">
          <a:xfrm>
            <a:off x="560388" y="2077443"/>
            <a:ext cx="1816427"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pPr>
            <a:r>
              <a:rPr lang="en-US" altLang="zh-CN" sz="2000" dirty="0" smtClean="0">
                <a:solidFill>
                  <a:schemeClr val="accent2"/>
                </a:solidFill>
              </a:rPr>
              <a:t>1</a:t>
            </a:r>
            <a:r>
              <a:rPr lang="zh-CN" altLang="en-US" sz="2000" dirty="0" smtClean="0">
                <a:solidFill>
                  <a:schemeClr val="accent2"/>
                </a:solidFill>
              </a:rPr>
              <a:t>、增益</a:t>
            </a:r>
            <a:r>
              <a:rPr lang="zh-CN" altLang="en-US" sz="2000" dirty="0">
                <a:solidFill>
                  <a:schemeClr val="accent2"/>
                </a:solidFill>
              </a:rPr>
              <a:t>函数</a:t>
            </a:r>
          </a:p>
        </p:txBody>
      </p:sp>
      <p:pic>
        <p:nvPicPr>
          <p:cNvPr id="1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86352" y="2680243"/>
            <a:ext cx="2514600" cy="41148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2"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0302" y="3670300"/>
            <a:ext cx="708352" cy="411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91077" y="3665925"/>
            <a:ext cx="754380" cy="41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1"/>
          <p:cNvSpPr>
            <a:spLocks noChangeArrowheads="1"/>
          </p:cNvSpPr>
          <p:nvPr/>
        </p:nvSpPr>
        <p:spPr bwMode="auto">
          <a:xfrm>
            <a:off x="924252" y="3569573"/>
            <a:ext cx="7567612" cy="101566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just" eaLnBrk="1" hangingPunct="1">
              <a:lnSpc>
                <a:spcPct val="150000"/>
              </a:lnSpc>
            </a:pPr>
            <a:r>
              <a:rPr lang="en-US" altLang="zh-CN" sz="2000" dirty="0">
                <a:cs typeface="Times New Roman" pitchFamily="18" charset="0"/>
              </a:rPr>
              <a:t>       </a:t>
            </a:r>
            <a:r>
              <a:rPr lang="en-US" altLang="zh-CN" sz="2000" dirty="0" smtClean="0">
                <a:cs typeface="Times New Roman" pitchFamily="18" charset="0"/>
              </a:rPr>
              <a:t>       </a:t>
            </a:r>
            <a:r>
              <a:rPr lang="zh-CN" altLang="en-US" sz="2000" dirty="0" smtClean="0">
                <a:cs typeface="Times New Roman" pitchFamily="18" charset="0"/>
              </a:rPr>
              <a:t>和           分别表示当</a:t>
            </a:r>
            <a:r>
              <a:rPr lang="zh-CN" altLang="en-US" sz="2000" dirty="0">
                <a:cs typeface="Times New Roman" pitchFamily="18" charset="0"/>
              </a:rPr>
              <a:t>单独考虑低频段和高频段时信号频率对放大器增益的影响。</a:t>
            </a:r>
            <a:r>
              <a:rPr lang="zh-CN" altLang="en-US" sz="2000" dirty="0"/>
              <a:t> </a:t>
            </a:r>
          </a:p>
        </p:txBody>
      </p:sp>
      <p:sp>
        <p:nvSpPr>
          <p:cNvPr id="15" name="Rectangle 12"/>
          <p:cNvSpPr>
            <a:spLocks noChangeArrowheads="1"/>
          </p:cNvSpPr>
          <p:nvPr/>
        </p:nvSpPr>
        <p:spPr bwMode="auto">
          <a:xfrm>
            <a:off x="1544637" y="4952941"/>
            <a:ext cx="121700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a:t>低频响应</a:t>
            </a:r>
          </a:p>
        </p:txBody>
      </p:sp>
      <p:sp>
        <p:nvSpPr>
          <p:cNvPr id="16" name="Rectangle 13"/>
          <p:cNvSpPr>
            <a:spLocks noChangeArrowheads="1"/>
          </p:cNvSpPr>
          <p:nvPr/>
        </p:nvSpPr>
        <p:spPr bwMode="auto">
          <a:xfrm>
            <a:off x="1544637" y="5814953"/>
            <a:ext cx="121700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a:t>高频响应</a:t>
            </a:r>
          </a:p>
        </p:txBody>
      </p:sp>
      <p:graphicFrame>
        <p:nvGraphicFramePr>
          <p:cNvPr id="17" name="Object 14"/>
          <p:cNvGraphicFramePr>
            <a:graphicFrameLocks noChangeAspect="1"/>
          </p:cNvGraphicFramePr>
          <p:nvPr>
            <p:extLst>
              <p:ext uri="{D42A27DB-BD31-4B8C-83A1-F6EECF244321}">
                <p14:modId xmlns:p14="http://schemas.microsoft.com/office/powerpoint/2010/main" val="3337450147"/>
              </p:ext>
            </p:extLst>
          </p:nvPr>
        </p:nvGraphicFramePr>
        <p:xfrm>
          <a:off x="3179128" y="4952941"/>
          <a:ext cx="1897380" cy="457200"/>
        </p:xfrm>
        <a:graphic>
          <a:graphicData uri="http://schemas.openxmlformats.org/presentationml/2006/ole">
            <mc:AlternateContent xmlns:mc="http://schemas.openxmlformats.org/markup-compatibility/2006">
              <mc:Choice xmlns:v="urn:schemas-microsoft-com:vml" Requires="v">
                <p:oleObj spid="_x0000_s11908" name="Equation" r:id="rId6" imgW="1054100" imgH="254000" progId="Equation.DSMT4">
                  <p:embed/>
                </p:oleObj>
              </mc:Choice>
              <mc:Fallback>
                <p:oleObj name="Equation" r:id="rId6" imgW="1054100" imgH="2540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9128" y="4952941"/>
                        <a:ext cx="189738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5"/>
          <p:cNvGraphicFramePr>
            <a:graphicFrameLocks noChangeAspect="1"/>
          </p:cNvGraphicFramePr>
          <p:nvPr>
            <p:extLst>
              <p:ext uri="{D42A27DB-BD31-4B8C-83A1-F6EECF244321}">
                <p14:modId xmlns:p14="http://schemas.microsoft.com/office/powerpoint/2010/main" val="2143465412"/>
              </p:ext>
            </p:extLst>
          </p:nvPr>
        </p:nvGraphicFramePr>
        <p:xfrm>
          <a:off x="3179128" y="5814953"/>
          <a:ext cx="1942258" cy="457002"/>
        </p:xfrm>
        <a:graphic>
          <a:graphicData uri="http://schemas.openxmlformats.org/presentationml/2006/ole">
            <mc:AlternateContent xmlns:mc="http://schemas.openxmlformats.org/markup-compatibility/2006">
              <mc:Choice xmlns:v="urn:schemas-microsoft-com:vml" Requires="v">
                <p:oleObj spid="_x0000_s11909" name="Equation" r:id="rId8" imgW="1079032" imgH="253890" progId="Equation.DSMT4">
                  <p:embed/>
                </p:oleObj>
              </mc:Choice>
              <mc:Fallback>
                <p:oleObj name="Equation" r:id="rId8" imgW="1079032" imgH="25389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79128" y="5814953"/>
                        <a:ext cx="1942258" cy="4570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4"/>
          <p:cNvGraphicFramePr>
            <a:graphicFrameLocks noChangeAspect="1"/>
          </p:cNvGraphicFramePr>
          <p:nvPr>
            <p:extLst>
              <p:ext uri="{D42A27DB-BD31-4B8C-83A1-F6EECF244321}">
                <p14:modId xmlns:p14="http://schemas.microsoft.com/office/powerpoint/2010/main" val="2376491137"/>
              </p:ext>
            </p:extLst>
          </p:nvPr>
        </p:nvGraphicFramePr>
        <p:xfrm>
          <a:off x="6116638" y="4953000"/>
          <a:ext cx="1143000" cy="457200"/>
        </p:xfrm>
        <a:graphic>
          <a:graphicData uri="http://schemas.openxmlformats.org/presentationml/2006/ole">
            <mc:AlternateContent xmlns:mc="http://schemas.openxmlformats.org/markup-compatibility/2006">
              <mc:Choice xmlns:v="urn:schemas-microsoft-com:vml" Requires="v">
                <p:oleObj spid="_x0000_s11910" name="Equation" r:id="rId10" imgW="634680" imgH="253800" progId="Equation.DSMT4">
                  <p:embed/>
                </p:oleObj>
              </mc:Choice>
              <mc:Fallback>
                <p:oleObj name="Equation" r:id="rId10" imgW="634680" imgH="253800" progId="Equation.DSMT4">
                  <p:embed/>
                  <p:pic>
                    <p:nvPicPr>
                      <p:cNvPr id="0" name=""/>
                      <p:cNvPicPr>
                        <a:picLocks noChangeAspect="1" noChangeArrowheads="1"/>
                      </p:cNvPicPr>
                      <p:nvPr/>
                    </p:nvPicPr>
                    <p:blipFill>
                      <a:blip r:embed="rId11"/>
                      <a:srcRect/>
                      <a:stretch>
                        <a:fillRect/>
                      </a:stretch>
                    </p:blipFill>
                    <p:spPr bwMode="auto">
                      <a:xfrm>
                        <a:off x="6116638" y="4953000"/>
                        <a:ext cx="1143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4"/>
          <p:cNvGraphicFramePr>
            <a:graphicFrameLocks noChangeAspect="1"/>
          </p:cNvGraphicFramePr>
          <p:nvPr>
            <p:extLst>
              <p:ext uri="{D42A27DB-BD31-4B8C-83A1-F6EECF244321}">
                <p14:modId xmlns:p14="http://schemas.microsoft.com/office/powerpoint/2010/main" val="2131068064"/>
              </p:ext>
            </p:extLst>
          </p:nvPr>
        </p:nvGraphicFramePr>
        <p:xfrm>
          <a:off x="6138863" y="5815013"/>
          <a:ext cx="1096962" cy="457200"/>
        </p:xfrm>
        <a:graphic>
          <a:graphicData uri="http://schemas.openxmlformats.org/presentationml/2006/ole">
            <mc:AlternateContent xmlns:mc="http://schemas.openxmlformats.org/markup-compatibility/2006">
              <mc:Choice xmlns:v="urn:schemas-microsoft-com:vml" Requires="v">
                <p:oleObj spid="_x0000_s11911" name="Equation" r:id="rId12" imgW="609480" imgH="253800" progId="Equation.DSMT4">
                  <p:embed/>
                </p:oleObj>
              </mc:Choice>
              <mc:Fallback>
                <p:oleObj name="Equation" r:id="rId12" imgW="609480" imgH="253800" progId="Equation.DSMT4">
                  <p:embed/>
                  <p:pic>
                    <p:nvPicPr>
                      <p:cNvPr id="0" name=""/>
                      <p:cNvPicPr>
                        <a:picLocks noChangeAspect="1" noChangeArrowheads="1"/>
                      </p:cNvPicPr>
                      <p:nvPr/>
                    </p:nvPicPr>
                    <p:blipFill>
                      <a:blip r:embed="rId13"/>
                      <a:srcRect/>
                      <a:stretch>
                        <a:fillRect/>
                      </a:stretch>
                    </p:blipFill>
                    <p:spPr bwMode="auto">
                      <a:xfrm>
                        <a:off x="6138863" y="5815013"/>
                        <a:ext cx="10969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Rectangle 2"/>
          <p:cNvSpPr>
            <a:spLocks noChangeArrowheads="1"/>
          </p:cNvSpPr>
          <p:nvPr/>
        </p:nvSpPr>
        <p:spPr bwMode="auto">
          <a:xfrm>
            <a:off x="341313" y="655638"/>
            <a:ext cx="7515225" cy="519112"/>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en-US" altLang="zh-CN" sz="2800" dirty="0" smtClean="0">
                <a:solidFill>
                  <a:schemeClr val="tx2"/>
                </a:solidFill>
              </a:rPr>
              <a:t>10.3 </a:t>
            </a:r>
            <a:r>
              <a:rPr lang="zh-CN" altLang="en-US" sz="2800" dirty="0" smtClean="0">
                <a:solidFill>
                  <a:schemeClr val="tx2"/>
                </a:solidFill>
              </a:rPr>
              <a:t>放大器</a:t>
            </a:r>
            <a:r>
              <a:rPr lang="zh-CN" altLang="en-US" sz="2800" dirty="0">
                <a:solidFill>
                  <a:schemeClr val="tx2"/>
                </a:solidFill>
              </a:rPr>
              <a:t>频率响应基础</a:t>
            </a:r>
          </a:p>
        </p:txBody>
      </p:sp>
      <p:sp>
        <p:nvSpPr>
          <p:cNvPr id="23" name="Text Box 65"/>
          <p:cNvSpPr txBox="1">
            <a:spLocks noChangeArrowheads="1"/>
          </p:cNvSpPr>
          <p:nvPr/>
        </p:nvSpPr>
        <p:spPr bwMode="auto">
          <a:xfrm>
            <a:off x="377564" y="1395264"/>
            <a:ext cx="828833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0" hangingPunct="0"/>
            <a:r>
              <a:rPr lang="en-US" altLang="zh-CN" sz="2400" dirty="0" smtClean="0">
                <a:solidFill>
                  <a:srgbClr val="990033"/>
                </a:solidFill>
              </a:rPr>
              <a:t>10.3.1 </a:t>
            </a:r>
            <a:r>
              <a:rPr lang="zh-CN" altLang="en-US" dirty="0" smtClean="0">
                <a:solidFill>
                  <a:srgbClr val="990033"/>
                </a:solidFill>
              </a:rPr>
              <a:t>放大器</a:t>
            </a:r>
            <a:r>
              <a:rPr lang="zh-CN" altLang="en-US" dirty="0">
                <a:solidFill>
                  <a:srgbClr val="990033"/>
                </a:solidFill>
              </a:rPr>
              <a:t>传递函数（增益函数）的一般表示</a:t>
            </a:r>
            <a:endParaRPr lang="en-US" altLang="zh-CN" sz="2400" dirty="0">
              <a:solidFill>
                <a:srgbClr val="9900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Vertic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par>
                                <p:cTn id="18" presetID="16" presetClass="entr" presetSubtype="21"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par>
                                <p:cTn id="21" presetID="16" presetClass="entr" presetSubtype="21"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arn(inVertical)">
                                      <p:cBhvr>
                                        <p:cTn id="23" dur="500"/>
                                        <p:tgtEl>
                                          <p:spTgt spid="13"/>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arn(inVertical)">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barn(inVertical)">
                                      <p:cBhvr>
                                        <p:cTn id="31" dur="500"/>
                                        <p:tgtEl>
                                          <p:spTgt spid="15"/>
                                        </p:tgtEl>
                                      </p:cBhvr>
                                    </p:animEffect>
                                  </p:childTnLst>
                                </p:cTn>
                              </p:par>
                              <p:par>
                                <p:cTn id="32" presetID="16" presetClass="entr" presetSubtype="21"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barn(inVertical)">
                                      <p:cBhvr>
                                        <p:cTn id="34" dur="500"/>
                                        <p:tgtEl>
                                          <p:spTgt spid="17"/>
                                        </p:tgtEl>
                                      </p:cBhvr>
                                    </p:animEffect>
                                  </p:childTnLst>
                                </p:cTn>
                              </p:par>
                              <p:par>
                                <p:cTn id="35" presetID="16" presetClass="entr" presetSubtype="21"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arn(inVertical)">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arn(inVertical)">
                                      <p:cBhvr>
                                        <p:cTn id="42" dur="500"/>
                                        <p:tgtEl>
                                          <p:spTgt spid="16"/>
                                        </p:tgtEl>
                                      </p:cBhvr>
                                    </p:animEffect>
                                  </p:childTnLst>
                                </p:cTn>
                              </p:par>
                              <p:par>
                                <p:cTn id="43" presetID="16" presetClass="entr" presetSubtype="21"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barn(inVertical)">
                                      <p:cBhvr>
                                        <p:cTn id="45" dur="500"/>
                                        <p:tgtEl>
                                          <p:spTgt spid="18"/>
                                        </p:tgtEl>
                                      </p:cBhvr>
                                    </p:animEffect>
                                  </p:childTnLst>
                                </p:cTn>
                              </p:par>
                              <p:par>
                                <p:cTn id="46" presetID="16" presetClass="entr" presetSubtype="21"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barn(inVertical)">
                                      <p:cBhvr>
                                        <p:cTn id="4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5" grpId="0"/>
      <p:bldP spid="16" grpId="0"/>
      <p:bldP spid="23"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Text Box 17"/>
          <p:cNvSpPr txBox="1">
            <a:spLocks noChangeArrowheads="1"/>
          </p:cNvSpPr>
          <p:nvPr/>
        </p:nvSpPr>
        <p:spPr bwMode="auto">
          <a:xfrm>
            <a:off x="433387" y="546100"/>
            <a:ext cx="6062663"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en-US" altLang="zh-CN" dirty="0" smtClean="0">
                <a:solidFill>
                  <a:srgbClr val="990033"/>
                </a:solidFill>
              </a:rPr>
              <a:t>10.3.2 </a:t>
            </a:r>
            <a:r>
              <a:rPr lang="zh-CN" altLang="en-US" dirty="0" smtClean="0">
                <a:solidFill>
                  <a:srgbClr val="990033"/>
                </a:solidFill>
              </a:rPr>
              <a:t>幅度</a:t>
            </a:r>
            <a:r>
              <a:rPr lang="zh-CN" altLang="en-US" dirty="0">
                <a:solidFill>
                  <a:srgbClr val="990033"/>
                </a:solidFill>
              </a:rPr>
              <a:t>和相位波特图的绘制</a:t>
            </a:r>
            <a:endParaRPr lang="zh-CN" altLang="en-US" dirty="0"/>
          </a:p>
        </p:txBody>
      </p:sp>
      <p:graphicFrame>
        <p:nvGraphicFramePr>
          <p:cNvPr id="621588" name="Object 20"/>
          <p:cNvGraphicFramePr>
            <a:graphicFrameLocks noGrp="1" noChangeAspect="1"/>
          </p:cNvGraphicFramePr>
          <p:nvPr>
            <p:ph/>
            <p:extLst>
              <p:ext uri="{D42A27DB-BD31-4B8C-83A1-F6EECF244321}">
                <p14:modId xmlns:p14="http://schemas.microsoft.com/office/powerpoint/2010/main" val="1280157401"/>
              </p:ext>
            </p:extLst>
          </p:nvPr>
        </p:nvGraphicFramePr>
        <p:xfrm>
          <a:off x="2078038" y="1149350"/>
          <a:ext cx="4092575" cy="841375"/>
        </p:xfrm>
        <a:graphic>
          <a:graphicData uri="http://schemas.openxmlformats.org/presentationml/2006/ole">
            <mc:AlternateContent xmlns:mc="http://schemas.openxmlformats.org/markup-compatibility/2006">
              <mc:Choice xmlns:v="urn:schemas-microsoft-com:vml" Requires="v">
                <p:oleObj spid="_x0000_s66865" name="Equation" r:id="rId3" imgW="2286000" imgH="469800" progId="Equation.DSMT4">
                  <p:embed/>
                </p:oleObj>
              </mc:Choice>
              <mc:Fallback>
                <p:oleObj name="Equation" r:id="rId3" imgW="2286000" imgH="469800" progId="Equation.DSMT4">
                  <p:embed/>
                  <p:pic>
                    <p:nvPicPr>
                      <p:cNvPr id="0" name="Object 20"/>
                      <p:cNvPicPr>
                        <a:picLocks noChangeAspect="1" noChangeArrowheads="1"/>
                      </p:cNvPicPr>
                      <p:nvPr/>
                    </p:nvPicPr>
                    <p:blipFill>
                      <a:blip r:embed="rId4"/>
                      <a:srcRect/>
                      <a:stretch>
                        <a:fillRect/>
                      </a:stretch>
                    </p:blipFill>
                    <p:spPr bwMode="auto">
                      <a:xfrm>
                        <a:off x="2078038" y="1149350"/>
                        <a:ext cx="4092575" cy="84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1590" name="Text Box 22"/>
          <p:cNvSpPr txBox="1">
            <a:spLocks noChangeArrowheads="1"/>
          </p:cNvSpPr>
          <p:nvPr/>
        </p:nvSpPr>
        <p:spPr bwMode="auto">
          <a:xfrm>
            <a:off x="947738" y="2060575"/>
            <a:ext cx="2698750" cy="4494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pPr>
            <a:r>
              <a:rPr lang="en-US" altLang="zh-CN" sz="2000" dirty="0"/>
              <a:t>  </a:t>
            </a:r>
            <a:r>
              <a:rPr lang="en-US" altLang="zh-CN" sz="2000" dirty="0">
                <a:solidFill>
                  <a:schemeClr val="accent2"/>
                </a:solidFill>
              </a:rPr>
              <a:t>1</a:t>
            </a:r>
            <a:r>
              <a:rPr lang="zh-CN" altLang="en-US" sz="2000" dirty="0">
                <a:solidFill>
                  <a:schemeClr val="accent2"/>
                </a:solidFill>
              </a:rPr>
              <a:t>、幅度波特图</a:t>
            </a:r>
          </a:p>
        </p:txBody>
      </p:sp>
      <p:sp>
        <p:nvSpPr>
          <p:cNvPr id="621591" name="Text Box 23"/>
          <p:cNvSpPr txBox="1">
            <a:spLocks noChangeArrowheads="1"/>
          </p:cNvSpPr>
          <p:nvPr/>
        </p:nvSpPr>
        <p:spPr bwMode="auto">
          <a:xfrm>
            <a:off x="1836683" y="3194050"/>
            <a:ext cx="6747641"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a:t>包括</a:t>
            </a:r>
            <a:r>
              <a:rPr lang="zh-CN" altLang="en-US" sz="2000" dirty="0" smtClean="0"/>
              <a:t>多项</a:t>
            </a:r>
            <a:r>
              <a:rPr lang="zh-CN" altLang="en-US" sz="2000" dirty="0"/>
              <a:t>之和，其中每</a:t>
            </a:r>
            <a:r>
              <a:rPr lang="zh-CN" altLang="en-US" sz="2000" dirty="0" smtClean="0"/>
              <a:t>项均可</a:t>
            </a:r>
            <a:r>
              <a:rPr lang="zh-CN" altLang="en-US" sz="2000" dirty="0"/>
              <a:t>表示</a:t>
            </a:r>
            <a:r>
              <a:rPr lang="zh-CN" altLang="en-US" sz="2000" dirty="0" smtClean="0"/>
              <a:t>为               的形式，即</a:t>
            </a:r>
            <a:endParaRPr lang="zh-CN" altLang="en-US" sz="2000" dirty="0"/>
          </a:p>
        </p:txBody>
      </p:sp>
      <p:graphicFrame>
        <p:nvGraphicFramePr>
          <p:cNvPr id="621592" name="Object 24"/>
          <p:cNvGraphicFramePr>
            <a:graphicFrameLocks noChangeAspect="1"/>
          </p:cNvGraphicFramePr>
          <p:nvPr>
            <p:extLst>
              <p:ext uri="{D42A27DB-BD31-4B8C-83A1-F6EECF244321}">
                <p14:modId xmlns:p14="http://schemas.microsoft.com/office/powerpoint/2010/main" val="175180956"/>
              </p:ext>
            </p:extLst>
          </p:nvPr>
        </p:nvGraphicFramePr>
        <p:xfrm>
          <a:off x="3240088" y="2517775"/>
          <a:ext cx="1416050" cy="503238"/>
        </p:xfrm>
        <a:graphic>
          <a:graphicData uri="http://schemas.openxmlformats.org/presentationml/2006/ole">
            <mc:AlternateContent xmlns:mc="http://schemas.openxmlformats.org/markup-compatibility/2006">
              <mc:Choice xmlns:v="urn:schemas-microsoft-com:vml" Requires="v">
                <p:oleObj spid="_x0000_s66866" name="Equation" r:id="rId5" imgW="787320" imgH="279360" progId="Equation.DSMT4">
                  <p:embed/>
                </p:oleObj>
              </mc:Choice>
              <mc:Fallback>
                <p:oleObj name="Equation" r:id="rId5" imgW="787320" imgH="279360" progId="Equation.DSMT4">
                  <p:embed/>
                  <p:pic>
                    <p:nvPicPr>
                      <p:cNvPr id="0" name="Object 24"/>
                      <p:cNvPicPr>
                        <a:picLocks noChangeAspect="1" noChangeArrowheads="1"/>
                      </p:cNvPicPr>
                      <p:nvPr/>
                    </p:nvPicPr>
                    <p:blipFill>
                      <a:blip r:embed="rId6"/>
                      <a:srcRect/>
                      <a:stretch>
                        <a:fillRect/>
                      </a:stretch>
                    </p:blipFill>
                    <p:spPr bwMode="auto">
                      <a:xfrm>
                        <a:off x="3240088" y="2517775"/>
                        <a:ext cx="1416050"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1593" name="Object 25"/>
          <p:cNvGraphicFramePr>
            <a:graphicFrameLocks noChangeAspect="1"/>
          </p:cNvGraphicFramePr>
          <p:nvPr>
            <p:extLst>
              <p:ext uri="{D42A27DB-BD31-4B8C-83A1-F6EECF244321}">
                <p14:modId xmlns:p14="http://schemas.microsoft.com/office/powerpoint/2010/main" val="2312945078"/>
              </p:ext>
            </p:extLst>
          </p:nvPr>
        </p:nvGraphicFramePr>
        <p:xfrm>
          <a:off x="1392238" y="3708400"/>
          <a:ext cx="4983162" cy="1325563"/>
        </p:xfrm>
        <a:graphic>
          <a:graphicData uri="http://schemas.openxmlformats.org/presentationml/2006/ole">
            <mc:AlternateContent xmlns:mc="http://schemas.openxmlformats.org/markup-compatibility/2006">
              <mc:Choice xmlns:v="urn:schemas-microsoft-com:vml" Requires="v">
                <p:oleObj spid="_x0000_s66867" name="Equation" r:id="rId7" imgW="2768400" imgH="736560" progId="Equation.DSMT4">
                  <p:embed/>
                </p:oleObj>
              </mc:Choice>
              <mc:Fallback>
                <p:oleObj name="Equation" r:id="rId7" imgW="2768400" imgH="736560" progId="Equation.DSMT4">
                  <p:embed/>
                  <p:pic>
                    <p:nvPicPr>
                      <p:cNvPr id="0" name="Object 25"/>
                      <p:cNvPicPr>
                        <a:picLocks noChangeAspect="1" noChangeArrowheads="1"/>
                      </p:cNvPicPr>
                      <p:nvPr/>
                    </p:nvPicPr>
                    <p:blipFill>
                      <a:blip r:embed="rId8"/>
                      <a:srcRect/>
                      <a:stretch>
                        <a:fillRect/>
                      </a:stretch>
                    </p:blipFill>
                    <p:spPr bwMode="auto">
                      <a:xfrm>
                        <a:off x="1392238" y="3708400"/>
                        <a:ext cx="4983162" cy="132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1594" name="Text Box 26"/>
          <p:cNvSpPr txBox="1">
            <a:spLocks noChangeArrowheads="1"/>
          </p:cNvSpPr>
          <p:nvPr/>
        </p:nvSpPr>
        <p:spPr bwMode="auto">
          <a:xfrm>
            <a:off x="1565275" y="5270500"/>
            <a:ext cx="4770438"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a:t>若               ，则</a:t>
            </a:r>
          </a:p>
        </p:txBody>
      </p:sp>
      <p:graphicFrame>
        <p:nvGraphicFramePr>
          <p:cNvPr id="621595" name="Object 27"/>
          <p:cNvGraphicFramePr>
            <a:graphicFrameLocks noChangeAspect="1"/>
          </p:cNvGraphicFramePr>
          <p:nvPr>
            <p:extLst>
              <p:ext uri="{D42A27DB-BD31-4B8C-83A1-F6EECF244321}">
                <p14:modId xmlns:p14="http://schemas.microsoft.com/office/powerpoint/2010/main" val="3007513706"/>
              </p:ext>
            </p:extLst>
          </p:nvPr>
        </p:nvGraphicFramePr>
        <p:xfrm>
          <a:off x="2011363" y="5364163"/>
          <a:ext cx="844550" cy="252412"/>
        </p:xfrm>
        <a:graphic>
          <a:graphicData uri="http://schemas.openxmlformats.org/presentationml/2006/ole">
            <mc:AlternateContent xmlns:mc="http://schemas.openxmlformats.org/markup-compatibility/2006">
              <mc:Choice xmlns:v="urn:schemas-microsoft-com:vml" Requires="v">
                <p:oleObj spid="_x0000_s66868" name="Equation" r:id="rId9" imgW="469800" imgH="139680" progId="Equation.DSMT4">
                  <p:embed/>
                </p:oleObj>
              </mc:Choice>
              <mc:Fallback>
                <p:oleObj name="Equation" r:id="rId9" imgW="469800" imgH="139680" progId="Equation.DSMT4">
                  <p:embed/>
                  <p:pic>
                    <p:nvPicPr>
                      <p:cNvPr id="0" name="Object 27"/>
                      <p:cNvPicPr>
                        <a:picLocks noChangeAspect="1" noChangeArrowheads="1"/>
                      </p:cNvPicPr>
                      <p:nvPr/>
                    </p:nvPicPr>
                    <p:blipFill>
                      <a:blip r:embed="rId10"/>
                      <a:srcRect/>
                      <a:stretch>
                        <a:fillRect/>
                      </a:stretch>
                    </p:blipFill>
                    <p:spPr bwMode="auto">
                      <a:xfrm>
                        <a:off x="2011363" y="5364163"/>
                        <a:ext cx="844550" cy="252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1602" name="Object 34"/>
          <p:cNvGraphicFramePr>
            <a:graphicFrameLocks noChangeAspect="1"/>
          </p:cNvGraphicFramePr>
          <p:nvPr>
            <p:extLst>
              <p:ext uri="{D42A27DB-BD31-4B8C-83A1-F6EECF244321}">
                <p14:modId xmlns:p14="http://schemas.microsoft.com/office/powerpoint/2010/main" val="3450501494"/>
              </p:ext>
            </p:extLst>
          </p:nvPr>
        </p:nvGraphicFramePr>
        <p:xfrm>
          <a:off x="3436938" y="5157788"/>
          <a:ext cx="2492375" cy="595312"/>
        </p:xfrm>
        <a:graphic>
          <a:graphicData uri="http://schemas.openxmlformats.org/presentationml/2006/ole">
            <mc:AlternateContent xmlns:mc="http://schemas.openxmlformats.org/markup-compatibility/2006">
              <mc:Choice xmlns:v="urn:schemas-microsoft-com:vml" Requires="v">
                <p:oleObj spid="_x0000_s66869" name="Equation" r:id="rId11" imgW="1384200" imgH="330120" progId="Equation.DSMT4">
                  <p:embed/>
                </p:oleObj>
              </mc:Choice>
              <mc:Fallback>
                <p:oleObj name="Equation" r:id="rId11" imgW="1384200" imgH="330120" progId="Equation.DSMT4">
                  <p:embed/>
                  <p:pic>
                    <p:nvPicPr>
                      <p:cNvPr id="0" name="Object 34"/>
                      <p:cNvPicPr>
                        <a:picLocks noChangeAspect="1" noChangeArrowheads="1"/>
                      </p:cNvPicPr>
                      <p:nvPr/>
                    </p:nvPicPr>
                    <p:blipFill>
                      <a:blip r:embed="rId12"/>
                      <a:srcRect/>
                      <a:stretch>
                        <a:fillRect/>
                      </a:stretch>
                    </p:blipFill>
                    <p:spPr bwMode="auto">
                      <a:xfrm>
                        <a:off x="3436938" y="5157788"/>
                        <a:ext cx="249237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1603" name="Object 35"/>
          <p:cNvGraphicFramePr>
            <a:graphicFrameLocks noChangeAspect="1"/>
          </p:cNvGraphicFramePr>
          <p:nvPr>
            <p:extLst>
              <p:ext uri="{D42A27DB-BD31-4B8C-83A1-F6EECF244321}">
                <p14:modId xmlns:p14="http://schemas.microsoft.com/office/powerpoint/2010/main" val="437720377"/>
              </p:ext>
            </p:extLst>
          </p:nvPr>
        </p:nvGraphicFramePr>
        <p:xfrm>
          <a:off x="2011363" y="5926138"/>
          <a:ext cx="844550" cy="250825"/>
        </p:xfrm>
        <a:graphic>
          <a:graphicData uri="http://schemas.openxmlformats.org/presentationml/2006/ole">
            <mc:AlternateContent xmlns:mc="http://schemas.openxmlformats.org/markup-compatibility/2006">
              <mc:Choice xmlns:v="urn:schemas-microsoft-com:vml" Requires="v">
                <p:oleObj spid="_x0000_s66870" name="Equation" r:id="rId13" imgW="469800" imgH="139680" progId="Equation.DSMT4">
                  <p:embed/>
                </p:oleObj>
              </mc:Choice>
              <mc:Fallback>
                <p:oleObj name="Equation" r:id="rId13" imgW="469800" imgH="139680" progId="Equation.DSMT4">
                  <p:embed/>
                  <p:pic>
                    <p:nvPicPr>
                      <p:cNvPr id="0" name="Object 35"/>
                      <p:cNvPicPr>
                        <a:picLocks noChangeAspect="1" noChangeArrowheads="1"/>
                      </p:cNvPicPr>
                      <p:nvPr/>
                    </p:nvPicPr>
                    <p:blipFill>
                      <a:blip r:embed="rId14"/>
                      <a:srcRect/>
                      <a:stretch>
                        <a:fillRect/>
                      </a:stretch>
                    </p:blipFill>
                    <p:spPr bwMode="auto">
                      <a:xfrm>
                        <a:off x="2011363" y="5926138"/>
                        <a:ext cx="844550"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1605" name="Text Box 37"/>
          <p:cNvSpPr txBox="1">
            <a:spLocks noChangeArrowheads="1"/>
          </p:cNvSpPr>
          <p:nvPr/>
        </p:nvSpPr>
        <p:spPr bwMode="auto">
          <a:xfrm>
            <a:off x="1600199" y="5841940"/>
            <a:ext cx="4770438"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smtClean="0"/>
              <a:t>若              ，</a:t>
            </a:r>
            <a:r>
              <a:rPr lang="zh-CN" altLang="en-US" sz="2000" dirty="0"/>
              <a:t>则</a:t>
            </a:r>
          </a:p>
        </p:txBody>
      </p:sp>
      <p:graphicFrame>
        <p:nvGraphicFramePr>
          <p:cNvPr id="621606" name="Object 38"/>
          <p:cNvGraphicFramePr>
            <a:graphicFrameLocks noChangeAspect="1"/>
          </p:cNvGraphicFramePr>
          <p:nvPr>
            <p:extLst>
              <p:ext uri="{D42A27DB-BD31-4B8C-83A1-F6EECF244321}">
                <p14:modId xmlns:p14="http://schemas.microsoft.com/office/powerpoint/2010/main" val="1443652716"/>
              </p:ext>
            </p:extLst>
          </p:nvPr>
        </p:nvGraphicFramePr>
        <p:xfrm>
          <a:off x="3394075" y="5741988"/>
          <a:ext cx="3702050" cy="593725"/>
        </p:xfrm>
        <a:graphic>
          <a:graphicData uri="http://schemas.openxmlformats.org/presentationml/2006/ole">
            <mc:AlternateContent xmlns:mc="http://schemas.openxmlformats.org/markup-compatibility/2006">
              <mc:Choice xmlns:v="urn:schemas-microsoft-com:vml" Requires="v">
                <p:oleObj spid="_x0000_s66871" name="Equation" r:id="rId15" imgW="2057400" imgH="330120" progId="Equation.DSMT4">
                  <p:embed/>
                </p:oleObj>
              </mc:Choice>
              <mc:Fallback>
                <p:oleObj name="Equation" r:id="rId15" imgW="2057400" imgH="330120" progId="Equation.DSMT4">
                  <p:embed/>
                  <p:pic>
                    <p:nvPicPr>
                      <p:cNvPr id="0" name="Object 38"/>
                      <p:cNvPicPr>
                        <a:picLocks noChangeAspect="1" noChangeArrowheads="1"/>
                      </p:cNvPicPr>
                      <p:nvPr/>
                    </p:nvPicPr>
                    <p:blipFill>
                      <a:blip r:embed="rId16"/>
                      <a:srcRect/>
                      <a:stretch>
                        <a:fillRect/>
                      </a:stretch>
                    </p:blipFill>
                    <p:spPr bwMode="auto">
                      <a:xfrm>
                        <a:off x="3394075" y="5741988"/>
                        <a:ext cx="3702050"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24"/>
          <p:cNvGraphicFramePr>
            <a:graphicFrameLocks noChangeAspect="1"/>
          </p:cNvGraphicFramePr>
          <p:nvPr>
            <p:extLst>
              <p:ext uri="{D42A27DB-BD31-4B8C-83A1-F6EECF244321}">
                <p14:modId xmlns:p14="http://schemas.microsoft.com/office/powerpoint/2010/main" val="2094141217"/>
              </p:ext>
            </p:extLst>
          </p:nvPr>
        </p:nvGraphicFramePr>
        <p:xfrm>
          <a:off x="6067502" y="3178235"/>
          <a:ext cx="890587" cy="458787"/>
        </p:xfrm>
        <a:graphic>
          <a:graphicData uri="http://schemas.openxmlformats.org/presentationml/2006/ole">
            <mc:AlternateContent xmlns:mc="http://schemas.openxmlformats.org/markup-compatibility/2006">
              <mc:Choice xmlns:v="urn:schemas-microsoft-com:vml" Requires="v">
                <p:oleObj spid="_x0000_s66872" name="Equation" r:id="rId17" imgW="495000" imgH="253800" progId="Equation.DSMT4">
                  <p:embed/>
                </p:oleObj>
              </mc:Choice>
              <mc:Fallback>
                <p:oleObj name="Equation" r:id="rId17" imgW="495000" imgH="253800" progId="Equation.DSMT4">
                  <p:embed/>
                  <p:pic>
                    <p:nvPicPr>
                      <p:cNvPr id="0" name=""/>
                      <p:cNvPicPr>
                        <a:picLocks noChangeAspect="1" noChangeArrowheads="1"/>
                      </p:cNvPicPr>
                      <p:nvPr/>
                    </p:nvPicPr>
                    <p:blipFill>
                      <a:blip r:embed="rId18"/>
                      <a:srcRect/>
                      <a:stretch>
                        <a:fillRect/>
                      </a:stretch>
                    </p:blipFill>
                    <p:spPr bwMode="auto">
                      <a:xfrm>
                        <a:off x="6067502" y="3178235"/>
                        <a:ext cx="890587"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1588"/>
                                        </p:tgtEl>
                                        <p:attrNameLst>
                                          <p:attrName>style.visibility</p:attrName>
                                        </p:attrNameLst>
                                      </p:cBhvr>
                                      <p:to>
                                        <p:strVal val="visible"/>
                                      </p:to>
                                    </p:set>
                                    <p:animEffect transition="in" filter="blinds(horizontal)">
                                      <p:cBhvr>
                                        <p:cTn id="7" dur="500"/>
                                        <p:tgtEl>
                                          <p:spTgt spid="6215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21590"/>
                                        </p:tgtEl>
                                        <p:attrNameLst>
                                          <p:attrName>style.visibility</p:attrName>
                                        </p:attrNameLst>
                                      </p:cBhvr>
                                      <p:to>
                                        <p:strVal val="visible"/>
                                      </p:to>
                                    </p:set>
                                    <p:animEffect transition="in" filter="blinds(horizontal)">
                                      <p:cBhvr>
                                        <p:cTn id="12" dur="500"/>
                                        <p:tgtEl>
                                          <p:spTgt spid="6215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21592"/>
                                        </p:tgtEl>
                                        <p:attrNameLst>
                                          <p:attrName>style.visibility</p:attrName>
                                        </p:attrNameLst>
                                      </p:cBhvr>
                                      <p:to>
                                        <p:strVal val="visible"/>
                                      </p:to>
                                    </p:set>
                                    <p:animEffect transition="in" filter="box(in)">
                                      <p:cBhvr>
                                        <p:cTn id="17" dur="500"/>
                                        <p:tgtEl>
                                          <p:spTgt spid="6215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21591"/>
                                        </p:tgtEl>
                                        <p:attrNameLst>
                                          <p:attrName>style.visibility</p:attrName>
                                        </p:attrNameLst>
                                      </p:cBhvr>
                                      <p:to>
                                        <p:strVal val="visible"/>
                                      </p:to>
                                    </p:set>
                                    <p:animEffect transition="in" filter="box(in)">
                                      <p:cBhvr>
                                        <p:cTn id="22" dur="500"/>
                                        <p:tgtEl>
                                          <p:spTgt spid="621591"/>
                                        </p:tgtEl>
                                      </p:cBhvr>
                                    </p:animEffect>
                                  </p:childTnLst>
                                </p:cTn>
                              </p:par>
                              <p:par>
                                <p:cTn id="23" presetID="4" presetClass="entr" presetSubtype="16"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ox(in)">
                                      <p:cBhvr>
                                        <p:cTn id="25" dur="2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621593"/>
                                        </p:tgtEl>
                                        <p:attrNameLst>
                                          <p:attrName>style.visibility</p:attrName>
                                        </p:attrNameLst>
                                      </p:cBhvr>
                                      <p:to>
                                        <p:strVal val="visible"/>
                                      </p:to>
                                    </p:set>
                                    <p:animEffect transition="in" filter="box(in)">
                                      <p:cBhvr>
                                        <p:cTn id="30" dur="500"/>
                                        <p:tgtEl>
                                          <p:spTgt spid="62159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8" presetClass="entr" presetSubtype="16" fill="hold" grpId="0" nodeType="clickEffect">
                                  <p:stCondLst>
                                    <p:cond delay="0"/>
                                  </p:stCondLst>
                                  <p:childTnLst>
                                    <p:set>
                                      <p:cBhvr>
                                        <p:cTn id="34" dur="1" fill="hold">
                                          <p:stCondLst>
                                            <p:cond delay="0"/>
                                          </p:stCondLst>
                                        </p:cTn>
                                        <p:tgtEl>
                                          <p:spTgt spid="621594"/>
                                        </p:tgtEl>
                                        <p:attrNameLst>
                                          <p:attrName>style.visibility</p:attrName>
                                        </p:attrNameLst>
                                      </p:cBhvr>
                                      <p:to>
                                        <p:strVal val="visible"/>
                                      </p:to>
                                    </p:set>
                                    <p:animEffect transition="in" filter="diamond(in)">
                                      <p:cBhvr>
                                        <p:cTn id="35" dur="500"/>
                                        <p:tgtEl>
                                          <p:spTgt spid="621594"/>
                                        </p:tgtEl>
                                      </p:cBhvr>
                                    </p:animEffect>
                                  </p:childTnLst>
                                </p:cTn>
                              </p:par>
                              <p:par>
                                <p:cTn id="36" presetID="8" presetClass="entr" presetSubtype="16" fill="hold" nodeType="withEffect">
                                  <p:stCondLst>
                                    <p:cond delay="0"/>
                                  </p:stCondLst>
                                  <p:childTnLst>
                                    <p:set>
                                      <p:cBhvr>
                                        <p:cTn id="37" dur="1" fill="hold">
                                          <p:stCondLst>
                                            <p:cond delay="0"/>
                                          </p:stCondLst>
                                        </p:cTn>
                                        <p:tgtEl>
                                          <p:spTgt spid="621595"/>
                                        </p:tgtEl>
                                        <p:attrNameLst>
                                          <p:attrName>style.visibility</p:attrName>
                                        </p:attrNameLst>
                                      </p:cBhvr>
                                      <p:to>
                                        <p:strVal val="visible"/>
                                      </p:to>
                                    </p:set>
                                    <p:animEffect transition="in" filter="diamond(in)">
                                      <p:cBhvr>
                                        <p:cTn id="38" dur="500"/>
                                        <p:tgtEl>
                                          <p:spTgt spid="621595"/>
                                        </p:tgtEl>
                                      </p:cBhvr>
                                    </p:animEffect>
                                  </p:childTnLst>
                                </p:cTn>
                              </p:par>
                              <p:par>
                                <p:cTn id="39" presetID="8" presetClass="entr" presetSubtype="16" fill="hold" nodeType="withEffect">
                                  <p:stCondLst>
                                    <p:cond delay="0"/>
                                  </p:stCondLst>
                                  <p:childTnLst>
                                    <p:set>
                                      <p:cBhvr>
                                        <p:cTn id="40" dur="1" fill="hold">
                                          <p:stCondLst>
                                            <p:cond delay="0"/>
                                          </p:stCondLst>
                                        </p:cTn>
                                        <p:tgtEl>
                                          <p:spTgt spid="621602"/>
                                        </p:tgtEl>
                                        <p:attrNameLst>
                                          <p:attrName>style.visibility</p:attrName>
                                        </p:attrNameLst>
                                      </p:cBhvr>
                                      <p:to>
                                        <p:strVal val="visible"/>
                                      </p:to>
                                    </p:set>
                                    <p:animEffect transition="in" filter="diamond(in)">
                                      <p:cBhvr>
                                        <p:cTn id="41" dur="500"/>
                                        <p:tgtEl>
                                          <p:spTgt spid="62160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621603"/>
                                        </p:tgtEl>
                                        <p:attrNameLst>
                                          <p:attrName>style.visibility</p:attrName>
                                        </p:attrNameLst>
                                      </p:cBhvr>
                                      <p:to>
                                        <p:strVal val="visible"/>
                                      </p:to>
                                    </p:set>
                                    <p:animEffect transition="in" filter="blinds(horizontal)">
                                      <p:cBhvr>
                                        <p:cTn id="46" dur="500"/>
                                        <p:tgtEl>
                                          <p:spTgt spid="621603"/>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621605"/>
                                        </p:tgtEl>
                                        <p:attrNameLst>
                                          <p:attrName>style.visibility</p:attrName>
                                        </p:attrNameLst>
                                      </p:cBhvr>
                                      <p:to>
                                        <p:strVal val="visible"/>
                                      </p:to>
                                    </p:set>
                                    <p:animEffect transition="in" filter="blinds(horizontal)">
                                      <p:cBhvr>
                                        <p:cTn id="49" dur="500"/>
                                        <p:tgtEl>
                                          <p:spTgt spid="621605"/>
                                        </p:tgtEl>
                                      </p:cBhvr>
                                    </p:animEffect>
                                  </p:childTnLst>
                                </p:cTn>
                              </p:par>
                              <p:par>
                                <p:cTn id="50" presetID="3" presetClass="entr" presetSubtype="10" fill="hold" nodeType="withEffect">
                                  <p:stCondLst>
                                    <p:cond delay="0"/>
                                  </p:stCondLst>
                                  <p:childTnLst>
                                    <p:set>
                                      <p:cBhvr>
                                        <p:cTn id="51" dur="1" fill="hold">
                                          <p:stCondLst>
                                            <p:cond delay="0"/>
                                          </p:stCondLst>
                                        </p:cTn>
                                        <p:tgtEl>
                                          <p:spTgt spid="621606"/>
                                        </p:tgtEl>
                                        <p:attrNameLst>
                                          <p:attrName>style.visibility</p:attrName>
                                        </p:attrNameLst>
                                      </p:cBhvr>
                                      <p:to>
                                        <p:strVal val="visible"/>
                                      </p:to>
                                    </p:set>
                                    <p:animEffect transition="in" filter="blinds(horizontal)">
                                      <p:cBhvr>
                                        <p:cTn id="52" dur="500"/>
                                        <p:tgtEl>
                                          <p:spTgt spid="621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590" grpId="0"/>
      <p:bldP spid="621591" grpId="0"/>
      <p:bldP spid="621594" grpId="0"/>
      <p:bldP spid="621605"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Text Box 4"/>
          <p:cNvSpPr txBox="1">
            <a:spLocks noChangeArrowheads="1"/>
          </p:cNvSpPr>
          <p:nvPr/>
        </p:nvSpPr>
        <p:spPr bwMode="auto">
          <a:xfrm>
            <a:off x="890588" y="850900"/>
            <a:ext cx="2698750" cy="4494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pPr>
            <a:r>
              <a:rPr lang="en-US" altLang="zh-CN" sz="2000" dirty="0"/>
              <a:t>  </a:t>
            </a:r>
            <a:r>
              <a:rPr lang="en-US" altLang="zh-CN" sz="2000" dirty="0">
                <a:solidFill>
                  <a:schemeClr val="accent2"/>
                </a:solidFill>
              </a:rPr>
              <a:t>2</a:t>
            </a:r>
            <a:r>
              <a:rPr lang="zh-CN" altLang="en-US" sz="2000" dirty="0">
                <a:solidFill>
                  <a:schemeClr val="accent2"/>
                </a:solidFill>
              </a:rPr>
              <a:t>、相位波特图</a:t>
            </a:r>
          </a:p>
        </p:txBody>
      </p:sp>
      <p:graphicFrame>
        <p:nvGraphicFramePr>
          <p:cNvPr id="673799" name="Object 7"/>
          <p:cNvGraphicFramePr>
            <a:graphicFrameLocks noChangeAspect="1"/>
          </p:cNvGraphicFramePr>
          <p:nvPr>
            <p:extLst>
              <p:ext uri="{D42A27DB-BD31-4B8C-83A1-F6EECF244321}">
                <p14:modId xmlns:p14="http://schemas.microsoft.com/office/powerpoint/2010/main" val="1483211848"/>
              </p:ext>
            </p:extLst>
          </p:nvPr>
        </p:nvGraphicFramePr>
        <p:xfrm>
          <a:off x="3217863" y="2274888"/>
          <a:ext cx="1828006" cy="457002"/>
        </p:xfrm>
        <a:graphic>
          <a:graphicData uri="http://schemas.openxmlformats.org/presentationml/2006/ole">
            <mc:AlternateContent xmlns:mc="http://schemas.openxmlformats.org/markup-compatibility/2006">
              <mc:Choice xmlns:v="urn:schemas-microsoft-com:vml" Requires="v">
                <p:oleObj spid="_x0000_s61831" name="Equation" r:id="rId3" imgW="1015559" imgH="253890" progId="Equation.DSMT4">
                  <p:embed/>
                </p:oleObj>
              </mc:Choice>
              <mc:Fallback>
                <p:oleObj name="Equation" r:id="rId3" imgW="1015559" imgH="25389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7863" y="2274888"/>
                        <a:ext cx="1828006" cy="4570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3800" name="Text Box 8"/>
          <p:cNvSpPr txBox="1">
            <a:spLocks noChangeArrowheads="1"/>
          </p:cNvSpPr>
          <p:nvPr/>
        </p:nvSpPr>
        <p:spPr bwMode="auto">
          <a:xfrm>
            <a:off x="1830006" y="3379951"/>
            <a:ext cx="4770438"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a:t>若               ，则</a:t>
            </a:r>
          </a:p>
        </p:txBody>
      </p:sp>
      <p:graphicFrame>
        <p:nvGraphicFramePr>
          <p:cNvPr id="673801" name="Object 9"/>
          <p:cNvGraphicFramePr>
            <a:graphicFrameLocks noChangeAspect="1"/>
          </p:cNvGraphicFramePr>
          <p:nvPr>
            <p:extLst>
              <p:ext uri="{D42A27DB-BD31-4B8C-83A1-F6EECF244321}">
                <p14:modId xmlns:p14="http://schemas.microsoft.com/office/powerpoint/2010/main" val="3510820417"/>
              </p:ext>
            </p:extLst>
          </p:nvPr>
        </p:nvGraphicFramePr>
        <p:xfrm>
          <a:off x="2276094" y="3473614"/>
          <a:ext cx="844550" cy="252412"/>
        </p:xfrm>
        <a:graphic>
          <a:graphicData uri="http://schemas.openxmlformats.org/presentationml/2006/ole">
            <mc:AlternateContent xmlns:mc="http://schemas.openxmlformats.org/markup-compatibility/2006">
              <mc:Choice xmlns:v="urn:schemas-microsoft-com:vml" Requires="v">
                <p:oleObj spid="_x0000_s61832" name="Equation" r:id="rId5" imgW="469800" imgH="139680" progId="Equation.DSMT4">
                  <p:embed/>
                </p:oleObj>
              </mc:Choice>
              <mc:Fallback>
                <p:oleObj name="Equation" r:id="rId5" imgW="469800" imgH="139680" progId="Equation.DSMT4">
                  <p:embed/>
                  <p:pic>
                    <p:nvPicPr>
                      <p:cNvPr id="0" name="Object 9"/>
                      <p:cNvPicPr>
                        <a:picLocks noChangeAspect="1" noChangeArrowheads="1"/>
                      </p:cNvPicPr>
                      <p:nvPr/>
                    </p:nvPicPr>
                    <p:blipFill>
                      <a:blip r:embed="rId6"/>
                      <a:srcRect/>
                      <a:stretch>
                        <a:fillRect/>
                      </a:stretch>
                    </p:blipFill>
                    <p:spPr bwMode="auto">
                      <a:xfrm>
                        <a:off x="2276094" y="3473614"/>
                        <a:ext cx="844550" cy="252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3802" name="Object 10"/>
          <p:cNvGraphicFramePr>
            <a:graphicFrameLocks noChangeAspect="1"/>
          </p:cNvGraphicFramePr>
          <p:nvPr>
            <p:extLst>
              <p:ext uri="{D42A27DB-BD31-4B8C-83A1-F6EECF244321}">
                <p14:modId xmlns:p14="http://schemas.microsoft.com/office/powerpoint/2010/main" val="1919788838"/>
              </p:ext>
            </p:extLst>
          </p:nvPr>
        </p:nvGraphicFramePr>
        <p:xfrm>
          <a:off x="3851370" y="3362836"/>
          <a:ext cx="822960" cy="434340"/>
        </p:xfrm>
        <a:graphic>
          <a:graphicData uri="http://schemas.openxmlformats.org/presentationml/2006/ole">
            <mc:AlternateContent xmlns:mc="http://schemas.openxmlformats.org/markup-compatibility/2006">
              <mc:Choice xmlns:v="urn:schemas-microsoft-com:vml" Requires="v">
                <p:oleObj spid="_x0000_s61833" name="Equation" r:id="rId7" imgW="457200" imgH="241300" progId="Equation.DSMT4">
                  <p:embed/>
                </p:oleObj>
              </mc:Choice>
              <mc:Fallback>
                <p:oleObj name="Equation" r:id="rId7" imgW="457200" imgH="2413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1370" y="3362836"/>
                        <a:ext cx="822960" cy="434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3803" name="Object 11"/>
          <p:cNvGraphicFramePr>
            <a:graphicFrameLocks noChangeAspect="1"/>
          </p:cNvGraphicFramePr>
          <p:nvPr>
            <p:extLst>
              <p:ext uri="{D42A27DB-BD31-4B8C-83A1-F6EECF244321}">
                <p14:modId xmlns:p14="http://schemas.microsoft.com/office/powerpoint/2010/main" val="2551289134"/>
              </p:ext>
            </p:extLst>
          </p:nvPr>
        </p:nvGraphicFramePr>
        <p:xfrm>
          <a:off x="2268538" y="4868863"/>
          <a:ext cx="844550" cy="252412"/>
        </p:xfrm>
        <a:graphic>
          <a:graphicData uri="http://schemas.openxmlformats.org/presentationml/2006/ole">
            <mc:AlternateContent xmlns:mc="http://schemas.openxmlformats.org/markup-compatibility/2006">
              <mc:Choice xmlns:v="urn:schemas-microsoft-com:vml" Requires="v">
                <p:oleObj spid="_x0000_s61834" name="Equation" r:id="rId9" imgW="469800" imgH="139680" progId="Equation.DSMT4">
                  <p:embed/>
                </p:oleObj>
              </mc:Choice>
              <mc:Fallback>
                <p:oleObj name="Equation" r:id="rId9" imgW="469800" imgH="139680" progId="Equation.DSMT4">
                  <p:embed/>
                  <p:pic>
                    <p:nvPicPr>
                      <p:cNvPr id="0" name="Object 11"/>
                      <p:cNvPicPr>
                        <a:picLocks noChangeAspect="1" noChangeArrowheads="1"/>
                      </p:cNvPicPr>
                      <p:nvPr/>
                    </p:nvPicPr>
                    <p:blipFill>
                      <a:blip r:embed="rId10"/>
                      <a:srcRect/>
                      <a:stretch>
                        <a:fillRect/>
                      </a:stretch>
                    </p:blipFill>
                    <p:spPr bwMode="auto">
                      <a:xfrm>
                        <a:off x="2268538" y="4868863"/>
                        <a:ext cx="844550" cy="252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3804" name="Text Box 12"/>
          <p:cNvSpPr txBox="1">
            <a:spLocks noChangeArrowheads="1"/>
          </p:cNvSpPr>
          <p:nvPr/>
        </p:nvSpPr>
        <p:spPr bwMode="auto">
          <a:xfrm>
            <a:off x="1822450" y="4800600"/>
            <a:ext cx="4770438"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a:t>若               ，则</a:t>
            </a:r>
          </a:p>
        </p:txBody>
      </p:sp>
      <p:graphicFrame>
        <p:nvGraphicFramePr>
          <p:cNvPr id="673805" name="Object 13"/>
          <p:cNvGraphicFramePr>
            <a:graphicFrameLocks noChangeAspect="1"/>
          </p:cNvGraphicFramePr>
          <p:nvPr>
            <p:extLst>
              <p:ext uri="{D42A27DB-BD31-4B8C-83A1-F6EECF244321}">
                <p14:modId xmlns:p14="http://schemas.microsoft.com/office/powerpoint/2010/main" val="3817123407"/>
              </p:ext>
            </p:extLst>
          </p:nvPr>
        </p:nvGraphicFramePr>
        <p:xfrm>
          <a:off x="3810000" y="4800600"/>
          <a:ext cx="959704" cy="434151"/>
        </p:xfrm>
        <a:graphic>
          <a:graphicData uri="http://schemas.openxmlformats.org/presentationml/2006/ole">
            <mc:AlternateContent xmlns:mc="http://schemas.openxmlformats.org/markup-compatibility/2006">
              <mc:Choice xmlns:v="urn:schemas-microsoft-com:vml" Requires="v">
                <p:oleObj spid="_x0000_s61835" name="Equation" r:id="rId11" imgW="533169" imgH="241195" progId="Equation.DSMT4">
                  <p:embed/>
                </p:oleObj>
              </mc:Choice>
              <mc:Fallback>
                <p:oleObj name="Equation" r:id="rId11" imgW="533169" imgH="241195"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4800600"/>
                        <a:ext cx="959704" cy="434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3808" name="Object 16"/>
          <p:cNvGraphicFramePr>
            <a:graphicFrameLocks noGrp="1" noChangeAspect="1"/>
          </p:cNvGraphicFramePr>
          <p:nvPr>
            <p:ph/>
            <p:extLst>
              <p:ext uri="{D42A27DB-BD31-4B8C-83A1-F6EECF244321}">
                <p14:modId xmlns:p14="http://schemas.microsoft.com/office/powerpoint/2010/main" val="3360217782"/>
              </p:ext>
            </p:extLst>
          </p:nvPr>
        </p:nvGraphicFramePr>
        <p:xfrm>
          <a:off x="2009775" y="1519238"/>
          <a:ext cx="617538" cy="441325"/>
        </p:xfrm>
        <a:graphic>
          <a:graphicData uri="http://schemas.openxmlformats.org/presentationml/2006/ole">
            <mc:AlternateContent xmlns:mc="http://schemas.openxmlformats.org/markup-compatibility/2006">
              <mc:Choice xmlns:v="urn:schemas-microsoft-com:vml" Requires="v">
                <p:oleObj spid="_x0000_s61836" name="Equation" r:id="rId13" imgW="355320" imgH="253800" progId="Equation.DSMT4">
                  <p:embed/>
                </p:oleObj>
              </mc:Choice>
              <mc:Fallback>
                <p:oleObj name="Equation" r:id="rId13" imgW="355320" imgH="253800" progId="Equation.DSMT4">
                  <p:embed/>
                  <p:pic>
                    <p:nvPicPr>
                      <p:cNvPr id="0" name="Object 16"/>
                      <p:cNvPicPr>
                        <a:picLocks noChangeAspect="1" noChangeArrowheads="1"/>
                      </p:cNvPicPr>
                      <p:nvPr/>
                    </p:nvPicPr>
                    <p:blipFill>
                      <a:blip r:embed="rId14"/>
                      <a:srcRect/>
                      <a:stretch>
                        <a:fillRect/>
                      </a:stretch>
                    </p:blipFill>
                    <p:spPr bwMode="auto">
                      <a:xfrm>
                        <a:off x="2009775" y="1519238"/>
                        <a:ext cx="617538" cy="44132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3810" name="Text Box 18"/>
          <p:cNvSpPr txBox="1">
            <a:spLocks noChangeArrowheads="1"/>
          </p:cNvSpPr>
          <p:nvPr/>
        </p:nvSpPr>
        <p:spPr bwMode="auto">
          <a:xfrm>
            <a:off x="2584450" y="1508125"/>
            <a:ext cx="56943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a:t>中每项的相角之和，其中每项可表示为</a:t>
            </a:r>
          </a:p>
        </p:txBody>
      </p:sp>
      <p:graphicFrame>
        <p:nvGraphicFramePr>
          <p:cNvPr id="673811" name="Object 19"/>
          <p:cNvGraphicFramePr>
            <a:graphicFrameLocks noChangeAspect="1"/>
          </p:cNvGraphicFramePr>
          <p:nvPr>
            <p:extLst>
              <p:ext uri="{D42A27DB-BD31-4B8C-83A1-F6EECF244321}">
                <p14:modId xmlns:p14="http://schemas.microsoft.com/office/powerpoint/2010/main" val="3348060539"/>
              </p:ext>
            </p:extLst>
          </p:nvPr>
        </p:nvGraphicFramePr>
        <p:xfrm>
          <a:off x="2362200" y="4167188"/>
          <a:ext cx="685503" cy="251350"/>
        </p:xfrm>
        <a:graphic>
          <a:graphicData uri="http://schemas.openxmlformats.org/presentationml/2006/ole">
            <mc:AlternateContent xmlns:mc="http://schemas.openxmlformats.org/markup-compatibility/2006">
              <mc:Choice xmlns:v="urn:schemas-microsoft-com:vml" Requires="v">
                <p:oleObj spid="_x0000_s61837" name="Equation" r:id="rId15" imgW="380835" imgH="139639" progId="Equation.DSMT4">
                  <p:embed/>
                </p:oleObj>
              </mc:Choice>
              <mc:Fallback>
                <p:oleObj name="Equation" r:id="rId15" imgW="380835" imgH="139639" progId="Equation.DSMT4">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62200" y="4167188"/>
                        <a:ext cx="685503" cy="25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3812" name="Text Box 20"/>
          <p:cNvSpPr txBox="1">
            <a:spLocks noChangeArrowheads="1"/>
          </p:cNvSpPr>
          <p:nvPr/>
        </p:nvSpPr>
        <p:spPr bwMode="auto">
          <a:xfrm>
            <a:off x="1822450" y="4095750"/>
            <a:ext cx="4770438"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a:t>若               ，则</a:t>
            </a:r>
          </a:p>
        </p:txBody>
      </p:sp>
      <p:graphicFrame>
        <p:nvGraphicFramePr>
          <p:cNvPr id="673813" name="Object 21"/>
          <p:cNvGraphicFramePr>
            <a:graphicFrameLocks noChangeAspect="1"/>
          </p:cNvGraphicFramePr>
          <p:nvPr>
            <p:extLst>
              <p:ext uri="{D42A27DB-BD31-4B8C-83A1-F6EECF244321}">
                <p14:modId xmlns:p14="http://schemas.microsoft.com/office/powerpoint/2010/main" val="2844234905"/>
              </p:ext>
            </p:extLst>
          </p:nvPr>
        </p:nvGraphicFramePr>
        <p:xfrm>
          <a:off x="3802063" y="4078729"/>
          <a:ext cx="959704" cy="434151"/>
        </p:xfrm>
        <a:graphic>
          <a:graphicData uri="http://schemas.openxmlformats.org/presentationml/2006/ole">
            <mc:AlternateContent xmlns:mc="http://schemas.openxmlformats.org/markup-compatibility/2006">
              <mc:Choice xmlns:v="urn:schemas-microsoft-com:vml" Requires="v">
                <p:oleObj spid="_x0000_s61838" name="Equation" r:id="rId17" imgW="533169" imgH="241195" progId="Equation.DSMT4">
                  <p:embed/>
                </p:oleObj>
              </mc:Choice>
              <mc:Fallback>
                <p:oleObj name="Equation" r:id="rId17" imgW="533169" imgH="241195" progId="Equation.DSMT4">
                  <p:embed/>
                  <p:pic>
                    <p:nvPicPr>
                      <p:cNvPr id="0"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02063" y="4078729"/>
                        <a:ext cx="959704" cy="434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73799"/>
                                        </p:tgtEl>
                                        <p:attrNameLst>
                                          <p:attrName>style.visibility</p:attrName>
                                        </p:attrNameLst>
                                      </p:cBhvr>
                                      <p:to>
                                        <p:strVal val="visible"/>
                                      </p:to>
                                    </p:set>
                                    <p:animEffect transition="in" filter="blinds(horizontal)">
                                      <p:cBhvr>
                                        <p:cTn id="7" dur="500"/>
                                        <p:tgtEl>
                                          <p:spTgt spid="673799"/>
                                        </p:tgtEl>
                                      </p:cBhvr>
                                    </p:animEffect>
                                  </p:childTnLst>
                                </p:cTn>
                              </p:par>
                              <p:par>
                                <p:cTn id="8" presetID="3" presetClass="entr" presetSubtype="10" fill="hold" nodeType="withEffect">
                                  <p:stCondLst>
                                    <p:cond delay="0"/>
                                  </p:stCondLst>
                                  <p:childTnLst>
                                    <p:set>
                                      <p:cBhvr>
                                        <p:cTn id="9" dur="1" fill="hold">
                                          <p:stCondLst>
                                            <p:cond delay="0"/>
                                          </p:stCondLst>
                                        </p:cTn>
                                        <p:tgtEl>
                                          <p:spTgt spid="673808"/>
                                        </p:tgtEl>
                                        <p:attrNameLst>
                                          <p:attrName>style.visibility</p:attrName>
                                        </p:attrNameLst>
                                      </p:cBhvr>
                                      <p:to>
                                        <p:strVal val="visible"/>
                                      </p:to>
                                    </p:set>
                                    <p:animEffect transition="in" filter="blinds(horizontal)">
                                      <p:cBhvr>
                                        <p:cTn id="10" dur="500"/>
                                        <p:tgtEl>
                                          <p:spTgt spid="67380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73810"/>
                                        </p:tgtEl>
                                        <p:attrNameLst>
                                          <p:attrName>style.visibility</p:attrName>
                                        </p:attrNameLst>
                                      </p:cBhvr>
                                      <p:to>
                                        <p:strVal val="visible"/>
                                      </p:to>
                                    </p:set>
                                    <p:animEffect transition="in" filter="blinds(horizontal)">
                                      <p:cBhvr>
                                        <p:cTn id="13" dur="500"/>
                                        <p:tgtEl>
                                          <p:spTgt spid="67381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73800"/>
                                        </p:tgtEl>
                                        <p:attrNameLst>
                                          <p:attrName>style.visibility</p:attrName>
                                        </p:attrNameLst>
                                      </p:cBhvr>
                                      <p:to>
                                        <p:strVal val="visible"/>
                                      </p:to>
                                    </p:set>
                                    <p:animEffect transition="in" filter="blinds(horizontal)">
                                      <p:cBhvr>
                                        <p:cTn id="18" dur="500"/>
                                        <p:tgtEl>
                                          <p:spTgt spid="673800"/>
                                        </p:tgtEl>
                                      </p:cBhvr>
                                    </p:animEffect>
                                  </p:childTnLst>
                                </p:cTn>
                              </p:par>
                              <p:par>
                                <p:cTn id="19" presetID="3" presetClass="entr" presetSubtype="10" fill="hold" nodeType="withEffect">
                                  <p:stCondLst>
                                    <p:cond delay="0"/>
                                  </p:stCondLst>
                                  <p:childTnLst>
                                    <p:set>
                                      <p:cBhvr>
                                        <p:cTn id="20" dur="1" fill="hold">
                                          <p:stCondLst>
                                            <p:cond delay="0"/>
                                          </p:stCondLst>
                                        </p:cTn>
                                        <p:tgtEl>
                                          <p:spTgt spid="673801"/>
                                        </p:tgtEl>
                                        <p:attrNameLst>
                                          <p:attrName>style.visibility</p:attrName>
                                        </p:attrNameLst>
                                      </p:cBhvr>
                                      <p:to>
                                        <p:strVal val="visible"/>
                                      </p:to>
                                    </p:set>
                                    <p:animEffect transition="in" filter="blinds(horizontal)">
                                      <p:cBhvr>
                                        <p:cTn id="21" dur="500"/>
                                        <p:tgtEl>
                                          <p:spTgt spid="673801"/>
                                        </p:tgtEl>
                                      </p:cBhvr>
                                    </p:animEffect>
                                  </p:childTnLst>
                                </p:cTn>
                              </p:par>
                              <p:par>
                                <p:cTn id="22" presetID="3" presetClass="entr" presetSubtype="10" fill="hold" nodeType="withEffect">
                                  <p:stCondLst>
                                    <p:cond delay="0"/>
                                  </p:stCondLst>
                                  <p:childTnLst>
                                    <p:set>
                                      <p:cBhvr>
                                        <p:cTn id="23" dur="1" fill="hold">
                                          <p:stCondLst>
                                            <p:cond delay="0"/>
                                          </p:stCondLst>
                                        </p:cTn>
                                        <p:tgtEl>
                                          <p:spTgt spid="673802"/>
                                        </p:tgtEl>
                                        <p:attrNameLst>
                                          <p:attrName>style.visibility</p:attrName>
                                        </p:attrNameLst>
                                      </p:cBhvr>
                                      <p:to>
                                        <p:strVal val="visible"/>
                                      </p:to>
                                    </p:set>
                                    <p:animEffect transition="in" filter="blinds(horizontal)">
                                      <p:cBhvr>
                                        <p:cTn id="24" dur="500"/>
                                        <p:tgtEl>
                                          <p:spTgt spid="67380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nodeType="clickEffect">
                                  <p:stCondLst>
                                    <p:cond delay="0"/>
                                  </p:stCondLst>
                                  <p:childTnLst>
                                    <p:set>
                                      <p:cBhvr>
                                        <p:cTn id="28" dur="1" fill="hold">
                                          <p:stCondLst>
                                            <p:cond delay="0"/>
                                          </p:stCondLst>
                                        </p:cTn>
                                        <p:tgtEl>
                                          <p:spTgt spid="673811"/>
                                        </p:tgtEl>
                                        <p:attrNameLst>
                                          <p:attrName>style.visibility</p:attrName>
                                        </p:attrNameLst>
                                      </p:cBhvr>
                                      <p:to>
                                        <p:strVal val="visible"/>
                                      </p:to>
                                    </p:set>
                                    <p:animEffect transition="in" filter="box(in)">
                                      <p:cBhvr>
                                        <p:cTn id="29" dur="500"/>
                                        <p:tgtEl>
                                          <p:spTgt spid="673811"/>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673812"/>
                                        </p:tgtEl>
                                        <p:attrNameLst>
                                          <p:attrName>style.visibility</p:attrName>
                                        </p:attrNameLst>
                                      </p:cBhvr>
                                      <p:to>
                                        <p:strVal val="visible"/>
                                      </p:to>
                                    </p:set>
                                    <p:animEffect transition="in" filter="box(in)">
                                      <p:cBhvr>
                                        <p:cTn id="32" dur="500"/>
                                        <p:tgtEl>
                                          <p:spTgt spid="673812"/>
                                        </p:tgtEl>
                                      </p:cBhvr>
                                    </p:animEffect>
                                  </p:childTnLst>
                                </p:cTn>
                              </p:par>
                              <p:par>
                                <p:cTn id="33" presetID="4" presetClass="entr" presetSubtype="16" fill="hold" nodeType="withEffect">
                                  <p:stCondLst>
                                    <p:cond delay="0"/>
                                  </p:stCondLst>
                                  <p:childTnLst>
                                    <p:set>
                                      <p:cBhvr>
                                        <p:cTn id="34" dur="1" fill="hold">
                                          <p:stCondLst>
                                            <p:cond delay="0"/>
                                          </p:stCondLst>
                                        </p:cTn>
                                        <p:tgtEl>
                                          <p:spTgt spid="673813"/>
                                        </p:tgtEl>
                                        <p:attrNameLst>
                                          <p:attrName>style.visibility</p:attrName>
                                        </p:attrNameLst>
                                      </p:cBhvr>
                                      <p:to>
                                        <p:strVal val="visible"/>
                                      </p:to>
                                    </p:set>
                                    <p:animEffect transition="in" filter="box(in)">
                                      <p:cBhvr>
                                        <p:cTn id="35" dur="500"/>
                                        <p:tgtEl>
                                          <p:spTgt spid="67381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8" presetClass="entr" presetSubtype="16" fill="hold" nodeType="clickEffect">
                                  <p:stCondLst>
                                    <p:cond delay="0"/>
                                  </p:stCondLst>
                                  <p:childTnLst>
                                    <p:set>
                                      <p:cBhvr>
                                        <p:cTn id="39" dur="1" fill="hold">
                                          <p:stCondLst>
                                            <p:cond delay="0"/>
                                          </p:stCondLst>
                                        </p:cTn>
                                        <p:tgtEl>
                                          <p:spTgt spid="673803"/>
                                        </p:tgtEl>
                                        <p:attrNameLst>
                                          <p:attrName>style.visibility</p:attrName>
                                        </p:attrNameLst>
                                      </p:cBhvr>
                                      <p:to>
                                        <p:strVal val="visible"/>
                                      </p:to>
                                    </p:set>
                                    <p:animEffect transition="in" filter="diamond(in)">
                                      <p:cBhvr>
                                        <p:cTn id="40" dur="500"/>
                                        <p:tgtEl>
                                          <p:spTgt spid="673803"/>
                                        </p:tgtEl>
                                      </p:cBhvr>
                                    </p:animEffect>
                                  </p:childTnLst>
                                </p:cTn>
                              </p:par>
                              <p:par>
                                <p:cTn id="41" presetID="8" presetClass="entr" presetSubtype="16" fill="hold" grpId="0" nodeType="withEffect">
                                  <p:stCondLst>
                                    <p:cond delay="0"/>
                                  </p:stCondLst>
                                  <p:childTnLst>
                                    <p:set>
                                      <p:cBhvr>
                                        <p:cTn id="42" dur="1" fill="hold">
                                          <p:stCondLst>
                                            <p:cond delay="0"/>
                                          </p:stCondLst>
                                        </p:cTn>
                                        <p:tgtEl>
                                          <p:spTgt spid="673804"/>
                                        </p:tgtEl>
                                        <p:attrNameLst>
                                          <p:attrName>style.visibility</p:attrName>
                                        </p:attrNameLst>
                                      </p:cBhvr>
                                      <p:to>
                                        <p:strVal val="visible"/>
                                      </p:to>
                                    </p:set>
                                    <p:animEffect transition="in" filter="diamond(in)">
                                      <p:cBhvr>
                                        <p:cTn id="43" dur="500"/>
                                        <p:tgtEl>
                                          <p:spTgt spid="673804"/>
                                        </p:tgtEl>
                                      </p:cBhvr>
                                    </p:animEffect>
                                  </p:childTnLst>
                                </p:cTn>
                              </p:par>
                              <p:par>
                                <p:cTn id="44" presetID="8" presetClass="entr" presetSubtype="16" fill="hold" nodeType="withEffect">
                                  <p:stCondLst>
                                    <p:cond delay="0"/>
                                  </p:stCondLst>
                                  <p:childTnLst>
                                    <p:set>
                                      <p:cBhvr>
                                        <p:cTn id="45" dur="1" fill="hold">
                                          <p:stCondLst>
                                            <p:cond delay="0"/>
                                          </p:stCondLst>
                                        </p:cTn>
                                        <p:tgtEl>
                                          <p:spTgt spid="673805"/>
                                        </p:tgtEl>
                                        <p:attrNameLst>
                                          <p:attrName>style.visibility</p:attrName>
                                        </p:attrNameLst>
                                      </p:cBhvr>
                                      <p:to>
                                        <p:strVal val="visible"/>
                                      </p:to>
                                    </p:set>
                                    <p:animEffect transition="in" filter="diamond(in)">
                                      <p:cBhvr>
                                        <p:cTn id="46" dur="500"/>
                                        <p:tgtEl>
                                          <p:spTgt spid="673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800" grpId="0"/>
      <p:bldP spid="673804" grpId="0"/>
      <p:bldP spid="673810" grpId="0"/>
      <p:bldP spid="673812"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3075613" y="139910"/>
            <a:ext cx="6361905" cy="6219048"/>
          </a:xfrm>
          <a:prstGeom prst="rect">
            <a:avLst/>
          </a:prstGeom>
        </p:spPr>
      </p:pic>
      <p:sp>
        <p:nvSpPr>
          <p:cNvPr id="669699" name="Text Box 3"/>
          <p:cNvSpPr txBox="1">
            <a:spLocks noChangeArrowheads="1"/>
          </p:cNvSpPr>
          <p:nvPr/>
        </p:nvSpPr>
        <p:spPr bwMode="auto">
          <a:xfrm>
            <a:off x="4094163" y="6215063"/>
            <a:ext cx="412750" cy="3667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p>
        </p:txBody>
      </p:sp>
      <p:sp>
        <p:nvSpPr>
          <p:cNvPr id="669700" name="Text Box 4"/>
          <p:cNvSpPr txBox="1">
            <a:spLocks noChangeArrowheads="1"/>
          </p:cNvSpPr>
          <p:nvPr/>
        </p:nvSpPr>
        <p:spPr bwMode="auto">
          <a:xfrm>
            <a:off x="4795838" y="6215063"/>
            <a:ext cx="488950" cy="3667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r>
              <a:rPr lang="en-US" altLang="zh-CN" sz="1800" baseline="30000"/>
              <a:t>2</a:t>
            </a:r>
          </a:p>
        </p:txBody>
      </p:sp>
      <p:sp>
        <p:nvSpPr>
          <p:cNvPr id="669701" name="Text Box 5"/>
          <p:cNvSpPr txBox="1">
            <a:spLocks noChangeArrowheads="1"/>
          </p:cNvSpPr>
          <p:nvPr/>
        </p:nvSpPr>
        <p:spPr bwMode="auto">
          <a:xfrm>
            <a:off x="5580063" y="6215063"/>
            <a:ext cx="488950" cy="3667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r>
              <a:rPr lang="en-US" altLang="zh-CN" sz="1800" baseline="30000"/>
              <a:t>3</a:t>
            </a:r>
          </a:p>
        </p:txBody>
      </p:sp>
      <p:sp>
        <p:nvSpPr>
          <p:cNvPr id="669702" name="Text Box 6"/>
          <p:cNvSpPr txBox="1">
            <a:spLocks noChangeArrowheads="1"/>
          </p:cNvSpPr>
          <p:nvPr/>
        </p:nvSpPr>
        <p:spPr bwMode="auto">
          <a:xfrm>
            <a:off x="6305550" y="6215063"/>
            <a:ext cx="488950" cy="3667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r>
              <a:rPr lang="en-US" altLang="zh-CN" sz="1800" baseline="30000"/>
              <a:t>4</a:t>
            </a:r>
          </a:p>
        </p:txBody>
      </p:sp>
      <p:sp>
        <p:nvSpPr>
          <p:cNvPr id="669703" name="Text Box 7"/>
          <p:cNvSpPr txBox="1">
            <a:spLocks noChangeArrowheads="1"/>
          </p:cNvSpPr>
          <p:nvPr/>
        </p:nvSpPr>
        <p:spPr bwMode="auto">
          <a:xfrm>
            <a:off x="7104063" y="6215063"/>
            <a:ext cx="488950" cy="3667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r>
              <a:rPr lang="en-US" altLang="zh-CN" sz="1800" baseline="30000"/>
              <a:t>5</a:t>
            </a:r>
          </a:p>
        </p:txBody>
      </p:sp>
      <p:sp>
        <p:nvSpPr>
          <p:cNvPr id="669704" name="Text Box 8"/>
          <p:cNvSpPr txBox="1">
            <a:spLocks noChangeArrowheads="1"/>
          </p:cNvSpPr>
          <p:nvPr/>
        </p:nvSpPr>
        <p:spPr bwMode="auto">
          <a:xfrm>
            <a:off x="7815263" y="6215063"/>
            <a:ext cx="488950" cy="3667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r>
              <a:rPr lang="en-US" altLang="zh-CN" sz="1800" baseline="30000"/>
              <a:t>6</a:t>
            </a:r>
          </a:p>
        </p:txBody>
      </p:sp>
      <p:sp>
        <p:nvSpPr>
          <p:cNvPr id="669705" name="Text Box 9"/>
          <p:cNvSpPr txBox="1">
            <a:spLocks noChangeArrowheads="1"/>
          </p:cNvSpPr>
          <p:nvPr/>
        </p:nvSpPr>
        <p:spPr bwMode="auto">
          <a:xfrm>
            <a:off x="8613775" y="6215063"/>
            <a:ext cx="488950" cy="3667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r>
              <a:rPr lang="en-US" altLang="zh-CN" sz="1800" baseline="30000"/>
              <a:t>7</a:t>
            </a:r>
          </a:p>
        </p:txBody>
      </p:sp>
      <p:sp>
        <p:nvSpPr>
          <p:cNvPr id="18442" name="Text Box 10"/>
          <p:cNvSpPr txBox="1">
            <a:spLocks noChangeArrowheads="1"/>
          </p:cNvSpPr>
          <p:nvPr/>
        </p:nvSpPr>
        <p:spPr bwMode="auto">
          <a:xfrm>
            <a:off x="569764" y="669925"/>
            <a:ext cx="1475084"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2000" dirty="0"/>
              <a:t>幅度波特图</a:t>
            </a:r>
          </a:p>
        </p:txBody>
      </p:sp>
      <p:sp>
        <p:nvSpPr>
          <p:cNvPr id="669708" name="Text Box 12"/>
          <p:cNvSpPr txBox="1">
            <a:spLocks noChangeArrowheads="1"/>
          </p:cNvSpPr>
          <p:nvPr/>
        </p:nvSpPr>
        <p:spPr bwMode="auto">
          <a:xfrm>
            <a:off x="8086725" y="6486525"/>
            <a:ext cx="1046163" cy="36671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i="1">
                <a:latin typeface="Symbol" pitchFamily="18" charset="2"/>
              </a:rPr>
              <a:t>w</a:t>
            </a:r>
            <a:r>
              <a:rPr lang="en-US" altLang="zh-CN" sz="1800">
                <a:latin typeface="Symbol" pitchFamily="18" charset="2"/>
              </a:rPr>
              <a:t> </a:t>
            </a:r>
            <a:r>
              <a:rPr lang="en-US" altLang="zh-CN" sz="1800"/>
              <a:t>(rad/s)</a:t>
            </a:r>
          </a:p>
        </p:txBody>
      </p:sp>
      <p:graphicFrame>
        <p:nvGraphicFramePr>
          <p:cNvPr id="2" name="对象 1"/>
          <p:cNvGraphicFramePr>
            <a:graphicFrameLocks noChangeAspect="1"/>
          </p:cNvGraphicFramePr>
          <p:nvPr>
            <p:extLst>
              <p:ext uri="{D42A27DB-BD31-4B8C-83A1-F6EECF244321}">
                <p14:modId xmlns:p14="http://schemas.microsoft.com/office/powerpoint/2010/main" val="3539110708"/>
              </p:ext>
            </p:extLst>
          </p:nvPr>
        </p:nvGraphicFramePr>
        <p:xfrm>
          <a:off x="0" y="1166813"/>
          <a:ext cx="3495675" cy="1018739"/>
        </p:xfrm>
        <a:graphic>
          <a:graphicData uri="http://schemas.openxmlformats.org/presentationml/2006/ole">
            <mc:AlternateContent xmlns:mc="http://schemas.openxmlformats.org/markup-compatibility/2006">
              <mc:Choice xmlns:v="urn:schemas-microsoft-com:vml" Requires="v">
                <p:oleObj spid="_x0000_s57458" name="Equation" r:id="rId4" imgW="2222280" imgH="647640" progId="Equation.DSMT4">
                  <p:embed/>
                </p:oleObj>
              </mc:Choice>
              <mc:Fallback>
                <p:oleObj name="Equation" r:id="rId4" imgW="2222280" imgH="647640" progId="Equation.DSMT4">
                  <p:embed/>
                  <p:pic>
                    <p:nvPicPr>
                      <p:cNvPr id="0" name=""/>
                      <p:cNvPicPr/>
                      <p:nvPr/>
                    </p:nvPicPr>
                    <p:blipFill>
                      <a:blip r:embed="rId5"/>
                      <a:stretch>
                        <a:fillRect/>
                      </a:stretch>
                    </p:blipFill>
                    <p:spPr>
                      <a:xfrm>
                        <a:off x="0" y="1166813"/>
                        <a:ext cx="3495675" cy="1018739"/>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69699"/>
                                        </p:tgtEl>
                                        <p:attrNameLst>
                                          <p:attrName>style.visibility</p:attrName>
                                        </p:attrNameLst>
                                      </p:cBhvr>
                                      <p:to>
                                        <p:strVal val="visible"/>
                                      </p:to>
                                    </p:set>
                                    <p:animEffect transition="in" filter="barn(inVertical)">
                                      <p:cBhvr>
                                        <p:cTn id="10" dur="500"/>
                                        <p:tgtEl>
                                          <p:spTgt spid="669699"/>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69700"/>
                                        </p:tgtEl>
                                        <p:attrNameLst>
                                          <p:attrName>style.visibility</p:attrName>
                                        </p:attrNameLst>
                                      </p:cBhvr>
                                      <p:to>
                                        <p:strVal val="visible"/>
                                      </p:to>
                                    </p:set>
                                    <p:animEffect transition="in" filter="barn(inVertical)">
                                      <p:cBhvr>
                                        <p:cTn id="13" dur="500"/>
                                        <p:tgtEl>
                                          <p:spTgt spid="66970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669701"/>
                                        </p:tgtEl>
                                        <p:attrNameLst>
                                          <p:attrName>style.visibility</p:attrName>
                                        </p:attrNameLst>
                                      </p:cBhvr>
                                      <p:to>
                                        <p:strVal val="visible"/>
                                      </p:to>
                                    </p:set>
                                    <p:animEffect transition="in" filter="barn(inVertical)">
                                      <p:cBhvr>
                                        <p:cTn id="16" dur="500"/>
                                        <p:tgtEl>
                                          <p:spTgt spid="669701"/>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669702"/>
                                        </p:tgtEl>
                                        <p:attrNameLst>
                                          <p:attrName>style.visibility</p:attrName>
                                        </p:attrNameLst>
                                      </p:cBhvr>
                                      <p:to>
                                        <p:strVal val="visible"/>
                                      </p:to>
                                    </p:set>
                                    <p:animEffect transition="in" filter="barn(inVertical)">
                                      <p:cBhvr>
                                        <p:cTn id="19" dur="500"/>
                                        <p:tgtEl>
                                          <p:spTgt spid="669702"/>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669703"/>
                                        </p:tgtEl>
                                        <p:attrNameLst>
                                          <p:attrName>style.visibility</p:attrName>
                                        </p:attrNameLst>
                                      </p:cBhvr>
                                      <p:to>
                                        <p:strVal val="visible"/>
                                      </p:to>
                                    </p:set>
                                    <p:animEffect transition="in" filter="barn(inVertical)">
                                      <p:cBhvr>
                                        <p:cTn id="22" dur="500"/>
                                        <p:tgtEl>
                                          <p:spTgt spid="669703"/>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669704"/>
                                        </p:tgtEl>
                                        <p:attrNameLst>
                                          <p:attrName>style.visibility</p:attrName>
                                        </p:attrNameLst>
                                      </p:cBhvr>
                                      <p:to>
                                        <p:strVal val="visible"/>
                                      </p:to>
                                    </p:set>
                                    <p:animEffect transition="in" filter="barn(inVertical)">
                                      <p:cBhvr>
                                        <p:cTn id="25" dur="500"/>
                                        <p:tgtEl>
                                          <p:spTgt spid="669704"/>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669705"/>
                                        </p:tgtEl>
                                        <p:attrNameLst>
                                          <p:attrName>style.visibility</p:attrName>
                                        </p:attrNameLst>
                                      </p:cBhvr>
                                      <p:to>
                                        <p:strVal val="visible"/>
                                      </p:to>
                                    </p:set>
                                    <p:animEffect transition="in" filter="barn(inVertical)">
                                      <p:cBhvr>
                                        <p:cTn id="28" dur="500"/>
                                        <p:tgtEl>
                                          <p:spTgt spid="669705"/>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669708"/>
                                        </p:tgtEl>
                                        <p:attrNameLst>
                                          <p:attrName>style.visibility</p:attrName>
                                        </p:attrNameLst>
                                      </p:cBhvr>
                                      <p:to>
                                        <p:strVal val="visible"/>
                                      </p:to>
                                    </p:set>
                                    <p:animEffect transition="in" filter="barn(inVertical)">
                                      <p:cBhvr>
                                        <p:cTn id="31" dur="500"/>
                                        <p:tgtEl>
                                          <p:spTgt spid="669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699" grpId="0"/>
      <p:bldP spid="669700" grpId="0"/>
      <p:bldP spid="669701" grpId="0"/>
      <p:bldP spid="669702" grpId="0"/>
      <p:bldP spid="669703" grpId="0"/>
      <p:bldP spid="669704" grpId="0"/>
      <p:bldP spid="669705" grpId="0"/>
      <p:bldP spid="669708"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Text Box 10"/>
          <p:cNvSpPr txBox="1">
            <a:spLocks noChangeArrowheads="1"/>
          </p:cNvSpPr>
          <p:nvPr/>
        </p:nvSpPr>
        <p:spPr bwMode="auto">
          <a:xfrm>
            <a:off x="1157784" y="820648"/>
            <a:ext cx="1475084"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2000" dirty="0"/>
              <a:t>相位波特图</a:t>
            </a:r>
          </a:p>
        </p:txBody>
      </p:sp>
      <p:graphicFrame>
        <p:nvGraphicFramePr>
          <p:cNvPr id="28" name="对象 27"/>
          <p:cNvGraphicFramePr>
            <a:graphicFrameLocks noChangeAspect="1"/>
          </p:cNvGraphicFramePr>
          <p:nvPr>
            <p:extLst>
              <p:ext uri="{D42A27DB-BD31-4B8C-83A1-F6EECF244321}">
                <p14:modId xmlns:p14="http://schemas.microsoft.com/office/powerpoint/2010/main" val="1668975638"/>
              </p:ext>
            </p:extLst>
          </p:nvPr>
        </p:nvGraphicFramePr>
        <p:xfrm>
          <a:off x="2834480" y="680105"/>
          <a:ext cx="3495675" cy="1018739"/>
        </p:xfrm>
        <a:graphic>
          <a:graphicData uri="http://schemas.openxmlformats.org/presentationml/2006/ole">
            <mc:AlternateContent xmlns:mc="http://schemas.openxmlformats.org/markup-compatibility/2006">
              <mc:Choice xmlns:v="urn:schemas-microsoft-com:vml" Requires="v">
                <p:oleObj spid="_x0000_s58598" name="Equation" r:id="rId3" imgW="2222280" imgH="647640" progId="Equation.DSMT4">
                  <p:embed/>
                </p:oleObj>
              </mc:Choice>
              <mc:Fallback>
                <p:oleObj name="Equation" r:id="rId3" imgW="2222280" imgH="647640" progId="Equation.DSMT4">
                  <p:embed/>
                  <p:pic>
                    <p:nvPicPr>
                      <p:cNvPr id="0" name=""/>
                      <p:cNvPicPr/>
                      <p:nvPr/>
                    </p:nvPicPr>
                    <p:blipFill>
                      <a:blip r:embed="rId4"/>
                      <a:stretch>
                        <a:fillRect/>
                      </a:stretch>
                    </p:blipFill>
                    <p:spPr>
                      <a:xfrm>
                        <a:off x="2834480" y="680105"/>
                        <a:ext cx="3495675" cy="1018739"/>
                      </a:xfrm>
                      <a:prstGeom prst="rect">
                        <a:avLst/>
                      </a:prstGeom>
                    </p:spPr>
                  </p:pic>
                </p:oleObj>
              </mc:Fallback>
            </mc:AlternateContent>
          </a:graphicData>
        </a:graphic>
      </p:graphicFrame>
      <p:grpSp>
        <p:nvGrpSpPr>
          <p:cNvPr id="2" name="组合 1"/>
          <p:cNvGrpSpPr/>
          <p:nvPr/>
        </p:nvGrpSpPr>
        <p:grpSpPr>
          <a:xfrm>
            <a:off x="829468" y="2016919"/>
            <a:ext cx="8167687" cy="4296569"/>
            <a:chOff x="829468" y="2016919"/>
            <a:chExt cx="8167687" cy="4296569"/>
          </a:xfrm>
        </p:grpSpPr>
        <p:grpSp>
          <p:nvGrpSpPr>
            <p:cNvPr id="19460" name="Group 29"/>
            <p:cNvGrpSpPr>
              <a:grpSpLocks/>
            </p:cNvGrpSpPr>
            <p:nvPr/>
          </p:nvGrpSpPr>
          <p:grpSpPr bwMode="auto">
            <a:xfrm>
              <a:off x="829468" y="2089150"/>
              <a:ext cx="8167687" cy="4224338"/>
              <a:chOff x="413" y="1470"/>
              <a:chExt cx="5145" cy="2661"/>
            </a:xfrm>
          </p:grpSpPr>
          <p:pic>
            <p:nvPicPr>
              <p:cNvPr id="19461" name="图片 217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3" y="1470"/>
                <a:ext cx="4728" cy="2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Rectangle 24"/>
              <p:cNvSpPr>
                <a:spLocks noChangeArrowheads="1"/>
              </p:cNvSpPr>
              <p:nvPr/>
            </p:nvSpPr>
            <p:spPr bwMode="auto">
              <a:xfrm>
                <a:off x="1993" y="2130"/>
                <a:ext cx="3565" cy="18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19463" name="Text Box 3"/>
              <p:cNvSpPr txBox="1">
                <a:spLocks noChangeArrowheads="1"/>
              </p:cNvSpPr>
              <p:nvPr/>
            </p:nvSpPr>
            <p:spPr bwMode="auto">
              <a:xfrm>
                <a:off x="1289" y="1583"/>
                <a:ext cx="260" cy="23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p>
            </p:txBody>
          </p:sp>
          <p:sp>
            <p:nvSpPr>
              <p:cNvPr id="19464" name="Text Box 4"/>
              <p:cNvSpPr txBox="1">
                <a:spLocks noChangeArrowheads="1"/>
              </p:cNvSpPr>
              <p:nvPr/>
            </p:nvSpPr>
            <p:spPr bwMode="auto">
              <a:xfrm>
                <a:off x="1813" y="1583"/>
                <a:ext cx="308" cy="23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r>
                  <a:rPr lang="en-US" altLang="zh-CN" sz="1800" baseline="30000"/>
                  <a:t>2</a:t>
                </a:r>
              </a:p>
            </p:txBody>
          </p:sp>
          <p:sp>
            <p:nvSpPr>
              <p:cNvPr id="19465" name="Text Box 5"/>
              <p:cNvSpPr txBox="1">
                <a:spLocks noChangeArrowheads="1"/>
              </p:cNvSpPr>
              <p:nvPr/>
            </p:nvSpPr>
            <p:spPr bwMode="auto">
              <a:xfrm>
                <a:off x="2335" y="1583"/>
                <a:ext cx="308" cy="23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r>
                  <a:rPr lang="en-US" altLang="zh-CN" sz="1800" baseline="30000"/>
                  <a:t>3</a:t>
                </a:r>
              </a:p>
            </p:txBody>
          </p:sp>
          <p:sp>
            <p:nvSpPr>
              <p:cNvPr id="19466" name="Text Box 6"/>
              <p:cNvSpPr txBox="1">
                <a:spLocks noChangeArrowheads="1"/>
              </p:cNvSpPr>
              <p:nvPr/>
            </p:nvSpPr>
            <p:spPr bwMode="auto">
              <a:xfrm>
                <a:off x="2883" y="1583"/>
                <a:ext cx="308" cy="23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r>
                  <a:rPr lang="en-US" altLang="zh-CN" sz="1800" baseline="30000"/>
                  <a:t>4</a:t>
                </a:r>
              </a:p>
            </p:txBody>
          </p:sp>
          <p:sp>
            <p:nvSpPr>
              <p:cNvPr id="19467" name="Text Box 7"/>
              <p:cNvSpPr txBox="1">
                <a:spLocks noChangeArrowheads="1"/>
              </p:cNvSpPr>
              <p:nvPr/>
            </p:nvSpPr>
            <p:spPr bwMode="auto">
              <a:xfrm>
                <a:off x="3442" y="1583"/>
                <a:ext cx="308" cy="23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r>
                  <a:rPr lang="en-US" altLang="zh-CN" sz="1800" baseline="30000"/>
                  <a:t>5</a:t>
                </a:r>
              </a:p>
            </p:txBody>
          </p:sp>
          <p:sp>
            <p:nvSpPr>
              <p:cNvPr id="19468" name="Text Box 8"/>
              <p:cNvSpPr txBox="1">
                <a:spLocks noChangeArrowheads="1"/>
              </p:cNvSpPr>
              <p:nvPr/>
            </p:nvSpPr>
            <p:spPr bwMode="auto">
              <a:xfrm>
                <a:off x="3972" y="1583"/>
                <a:ext cx="308" cy="23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a:t>10</a:t>
                </a:r>
                <a:r>
                  <a:rPr lang="en-US" altLang="zh-CN" sz="1800" baseline="30000"/>
                  <a:t>6</a:t>
                </a:r>
              </a:p>
            </p:txBody>
          </p:sp>
          <p:sp>
            <p:nvSpPr>
              <p:cNvPr id="19469" name="Text Box 12"/>
              <p:cNvSpPr txBox="1">
                <a:spLocks noChangeArrowheads="1"/>
              </p:cNvSpPr>
              <p:nvPr/>
            </p:nvSpPr>
            <p:spPr bwMode="auto">
              <a:xfrm>
                <a:off x="4476" y="1569"/>
                <a:ext cx="659"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1800" i="1" dirty="0">
                    <a:latin typeface="Symbol" pitchFamily="18" charset="2"/>
                  </a:rPr>
                  <a:t>w</a:t>
                </a:r>
                <a:r>
                  <a:rPr lang="en-US" altLang="zh-CN" sz="1800" dirty="0">
                    <a:latin typeface="Symbol" pitchFamily="18" charset="2"/>
                  </a:rPr>
                  <a:t> </a:t>
                </a:r>
                <a:r>
                  <a:rPr lang="en-US" altLang="zh-CN" sz="1800" dirty="0"/>
                  <a:t>(rad/s)</a:t>
                </a:r>
              </a:p>
            </p:txBody>
          </p:sp>
          <p:sp>
            <p:nvSpPr>
              <p:cNvPr id="19470" name="Line 14"/>
              <p:cNvSpPr>
                <a:spLocks noChangeShapeType="1"/>
              </p:cNvSpPr>
              <p:nvPr/>
            </p:nvSpPr>
            <p:spPr bwMode="auto">
              <a:xfrm flipV="1">
                <a:off x="920" y="2129"/>
                <a:ext cx="1093" cy="4"/>
              </a:xfrm>
              <a:prstGeom prst="line">
                <a:avLst/>
              </a:prstGeom>
              <a:noFill/>
              <a:ln w="222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1" name="Line 15"/>
              <p:cNvSpPr>
                <a:spLocks noChangeShapeType="1"/>
              </p:cNvSpPr>
              <p:nvPr/>
            </p:nvSpPr>
            <p:spPr bwMode="auto">
              <a:xfrm flipV="1">
                <a:off x="905" y="2714"/>
                <a:ext cx="1666" cy="10"/>
              </a:xfrm>
              <a:prstGeom prst="line">
                <a:avLst/>
              </a:prstGeom>
              <a:noFill/>
              <a:ln w="222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2" name="Line 16"/>
              <p:cNvSpPr>
                <a:spLocks noChangeShapeType="1"/>
              </p:cNvSpPr>
              <p:nvPr/>
            </p:nvSpPr>
            <p:spPr bwMode="auto">
              <a:xfrm flipV="1">
                <a:off x="906" y="3014"/>
                <a:ext cx="2214" cy="30"/>
              </a:xfrm>
              <a:prstGeom prst="line">
                <a:avLst/>
              </a:prstGeom>
              <a:noFill/>
              <a:ln w="222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3" name="Line 17"/>
              <p:cNvSpPr>
                <a:spLocks noChangeShapeType="1"/>
              </p:cNvSpPr>
              <p:nvPr/>
            </p:nvSpPr>
            <p:spPr bwMode="auto">
              <a:xfrm>
                <a:off x="1984" y="1856"/>
                <a:ext cx="11" cy="290"/>
              </a:xfrm>
              <a:prstGeom prst="line">
                <a:avLst/>
              </a:prstGeom>
              <a:noFill/>
              <a:ln w="222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4" name="Line 18"/>
              <p:cNvSpPr>
                <a:spLocks noChangeShapeType="1"/>
              </p:cNvSpPr>
              <p:nvPr/>
            </p:nvSpPr>
            <p:spPr bwMode="auto">
              <a:xfrm>
                <a:off x="2533" y="1829"/>
                <a:ext cx="29" cy="893"/>
              </a:xfrm>
              <a:prstGeom prst="line">
                <a:avLst/>
              </a:prstGeom>
              <a:noFill/>
              <a:ln w="222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5" name="Line 19"/>
              <p:cNvSpPr>
                <a:spLocks noChangeShapeType="1"/>
              </p:cNvSpPr>
              <p:nvPr/>
            </p:nvSpPr>
            <p:spPr bwMode="auto">
              <a:xfrm>
                <a:off x="3082" y="1857"/>
                <a:ext cx="38" cy="1148"/>
              </a:xfrm>
              <a:prstGeom prst="line">
                <a:avLst/>
              </a:prstGeom>
              <a:noFill/>
              <a:ln w="222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6" name="Line 20"/>
              <p:cNvSpPr>
                <a:spLocks noChangeShapeType="1"/>
              </p:cNvSpPr>
              <p:nvPr/>
            </p:nvSpPr>
            <p:spPr bwMode="auto">
              <a:xfrm flipV="1">
                <a:off x="897" y="3563"/>
                <a:ext cx="3327" cy="10"/>
              </a:xfrm>
              <a:prstGeom prst="line">
                <a:avLst/>
              </a:prstGeom>
              <a:noFill/>
              <a:ln w="222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7" name="Line 21"/>
              <p:cNvSpPr>
                <a:spLocks noChangeShapeType="1"/>
              </p:cNvSpPr>
              <p:nvPr/>
            </p:nvSpPr>
            <p:spPr bwMode="auto">
              <a:xfrm>
                <a:off x="3632" y="1866"/>
                <a:ext cx="46" cy="1423"/>
              </a:xfrm>
              <a:prstGeom prst="line">
                <a:avLst/>
              </a:prstGeom>
              <a:noFill/>
              <a:ln w="222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8" name="Line 22"/>
              <p:cNvSpPr>
                <a:spLocks noChangeShapeType="1"/>
              </p:cNvSpPr>
              <p:nvPr/>
            </p:nvSpPr>
            <p:spPr bwMode="auto">
              <a:xfrm flipV="1">
                <a:off x="924" y="3299"/>
                <a:ext cx="2726" cy="19"/>
              </a:xfrm>
              <a:prstGeom prst="line">
                <a:avLst/>
              </a:prstGeom>
              <a:noFill/>
              <a:ln w="222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9" name="Line 23"/>
              <p:cNvSpPr>
                <a:spLocks noChangeShapeType="1"/>
              </p:cNvSpPr>
              <p:nvPr/>
            </p:nvSpPr>
            <p:spPr bwMode="auto">
              <a:xfrm>
                <a:off x="4170" y="1875"/>
                <a:ext cx="56" cy="1699"/>
              </a:xfrm>
              <a:prstGeom prst="line">
                <a:avLst/>
              </a:prstGeom>
              <a:noFill/>
              <a:ln w="222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0" name="Line 25"/>
              <p:cNvSpPr>
                <a:spLocks noChangeShapeType="1"/>
              </p:cNvSpPr>
              <p:nvPr/>
            </p:nvSpPr>
            <p:spPr bwMode="auto">
              <a:xfrm>
                <a:off x="1984" y="2130"/>
                <a:ext cx="576" cy="59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1" name="Line 26"/>
              <p:cNvSpPr>
                <a:spLocks noChangeShapeType="1"/>
              </p:cNvSpPr>
              <p:nvPr/>
            </p:nvSpPr>
            <p:spPr bwMode="auto">
              <a:xfrm>
                <a:off x="2551" y="2715"/>
                <a:ext cx="1685" cy="84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3" name="Line 28"/>
              <p:cNvSpPr>
                <a:spLocks noChangeShapeType="1"/>
              </p:cNvSpPr>
              <p:nvPr/>
            </p:nvSpPr>
            <p:spPr bwMode="auto">
              <a:xfrm>
                <a:off x="4224" y="3557"/>
                <a:ext cx="66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3" name="对象 2"/>
            <p:cNvGraphicFramePr>
              <a:graphicFrameLocks noChangeAspect="1"/>
            </p:cNvGraphicFramePr>
            <p:nvPr>
              <p:extLst>
                <p:ext uri="{D42A27DB-BD31-4B8C-83A1-F6EECF244321}">
                  <p14:modId xmlns:p14="http://schemas.microsoft.com/office/powerpoint/2010/main" val="1644089021"/>
                </p:ext>
              </p:extLst>
            </p:nvPr>
          </p:nvGraphicFramePr>
          <p:xfrm>
            <a:off x="1634330" y="2016919"/>
            <a:ext cx="215446" cy="301625"/>
          </p:xfrm>
          <a:graphic>
            <a:graphicData uri="http://schemas.openxmlformats.org/presentationml/2006/ole">
              <mc:AlternateContent xmlns:mc="http://schemas.openxmlformats.org/markup-compatibility/2006">
                <mc:Choice xmlns:v="urn:schemas-microsoft-com:vml" Requires="v">
                  <p:oleObj spid="_x0000_s58599" name="Equation" r:id="rId6" imgW="126720" imgH="177480" progId="Equation.DSMT4">
                    <p:embed/>
                  </p:oleObj>
                </mc:Choice>
                <mc:Fallback>
                  <p:oleObj name="Equation" r:id="rId6" imgW="126720" imgH="177480" progId="Equation.DSMT4">
                    <p:embed/>
                    <p:pic>
                      <p:nvPicPr>
                        <p:cNvPr id="0" name=""/>
                        <p:cNvPicPr/>
                        <p:nvPr/>
                      </p:nvPicPr>
                      <p:blipFill>
                        <a:blip r:embed="rId7"/>
                        <a:stretch>
                          <a:fillRect/>
                        </a:stretch>
                      </p:blipFill>
                      <p:spPr>
                        <a:xfrm>
                          <a:off x="1634330" y="2016919"/>
                          <a:ext cx="215446" cy="301625"/>
                        </a:xfrm>
                        <a:prstGeom prst="rect">
                          <a:avLst/>
                        </a:prstGeom>
                        <a:solidFill>
                          <a:schemeClr val="bg1"/>
                        </a:solidFill>
                      </p:spPr>
                    </p:pic>
                  </p:oleObj>
                </mc:Fallback>
              </mc:AlternateContent>
            </a:graphicData>
          </a:graphic>
        </p:graphicFrame>
      </p:grpSp>
      <p:sp>
        <p:nvSpPr>
          <p:cNvPr id="6" name="文本框 5"/>
          <p:cNvSpPr txBox="1"/>
          <p:nvPr/>
        </p:nvSpPr>
        <p:spPr>
          <a:xfrm>
            <a:off x="2867288" y="2717800"/>
            <a:ext cx="1061509" cy="307777"/>
          </a:xfrm>
          <a:prstGeom prst="rect">
            <a:avLst/>
          </a:prstGeom>
          <a:noFill/>
        </p:spPr>
        <p:txBody>
          <a:bodyPr wrap="none" rtlCol="0">
            <a:spAutoFit/>
          </a:bodyPr>
          <a:lstStyle/>
          <a:p>
            <a:r>
              <a:rPr lang="en-US" altLang="zh-CN" sz="1400" dirty="0" smtClean="0">
                <a:solidFill>
                  <a:srgbClr val="00B0F0"/>
                </a:solidFill>
              </a:rPr>
              <a:t>-45</a:t>
            </a:r>
            <a:r>
              <a:rPr lang="en-US" altLang="zh-CN" sz="1400" dirty="0" smtClean="0">
                <a:solidFill>
                  <a:srgbClr val="00B0F0"/>
                </a:solidFill>
                <a:cs typeface="Times New Roman" panose="02020603050405020304" pitchFamily="18" charset="0"/>
              </a:rPr>
              <a:t>º/decade</a:t>
            </a:r>
            <a:endParaRPr lang="zh-CN" altLang="en-US" sz="1400" dirty="0">
              <a:solidFill>
                <a:srgbClr val="00B0F0"/>
              </a:solidFill>
            </a:endParaRPr>
          </a:p>
        </p:txBody>
      </p:sp>
      <p:sp>
        <p:nvSpPr>
          <p:cNvPr id="33" name="文本框 32"/>
          <p:cNvSpPr txBox="1"/>
          <p:nvPr/>
        </p:nvSpPr>
        <p:spPr>
          <a:xfrm>
            <a:off x="3689084" y="3356272"/>
            <a:ext cx="1061509" cy="307777"/>
          </a:xfrm>
          <a:prstGeom prst="rect">
            <a:avLst/>
          </a:prstGeom>
          <a:noFill/>
        </p:spPr>
        <p:txBody>
          <a:bodyPr wrap="none" rtlCol="0">
            <a:spAutoFit/>
          </a:bodyPr>
          <a:lstStyle/>
          <a:p>
            <a:r>
              <a:rPr lang="en-US" altLang="zh-CN" sz="1400" dirty="0" smtClean="0">
                <a:solidFill>
                  <a:srgbClr val="00B0F0"/>
                </a:solidFill>
              </a:rPr>
              <a:t>-90</a:t>
            </a:r>
            <a:r>
              <a:rPr lang="en-US" altLang="zh-CN" sz="1400" dirty="0" smtClean="0">
                <a:solidFill>
                  <a:srgbClr val="00B0F0"/>
                </a:solidFill>
                <a:cs typeface="Times New Roman" panose="02020603050405020304" pitchFamily="18" charset="0"/>
              </a:rPr>
              <a:t>º/decade</a:t>
            </a:r>
            <a:endParaRPr lang="zh-CN" altLang="en-US" sz="1400" dirty="0">
              <a:solidFill>
                <a:srgbClr val="00B0F0"/>
              </a:solidFill>
            </a:endParaRPr>
          </a:p>
        </p:txBody>
      </p:sp>
      <p:sp>
        <p:nvSpPr>
          <p:cNvPr id="34" name="文本框 33"/>
          <p:cNvSpPr txBox="1"/>
          <p:nvPr/>
        </p:nvSpPr>
        <p:spPr>
          <a:xfrm>
            <a:off x="5312226" y="4433986"/>
            <a:ext cx="1061509" cy="307777"/>
          </a:xfrm>
          <a:prstGeom prst="rect">
            <a:avLst/>
          </a:prstGeom>
          <a:noFill/>
        </p:spPr>
        <p:txBody>
          <a:bodyPr wrap="none" rtlCol="0">
            <a:spAutoFit/>
          </a:bodyPr>
          <a:lstStyle/>
          <a:p>
            <a:r>
              <a:rPr lang="en-US" altLang="zh-CN" sz="1400" dirty="0" smtClean="0">
                <a:solidFill>
                  <a:srgbClr val="00B0F0"/>
                </a:solidFill>
              </a:rPr>
              <a:t>-45</a:t>
            </a:r>
            <a:r>
              <a:rPr lang="en-US" altLang="zh-CN" sz="1400" dirty="0" smtClean="0">
                <a:solidFill>
                  <a:srgbClr val="00B0F0"/>
                </a:solidFill>
                <a:cs typeface="Times New Roman" panose="02020603050405020304" pitchFamily="18" charset="0"/>
              </a:rPr>
              <a:t>º/decade</a:t>
            </a:r>
            <a:endParaRPr lang="zh-CN" altLang="en-US" sz="1400" dirty="0">
              <a:solidFill>
                <a:srgbClr val="00B0F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barn(inVertical)">
                                      <p:cBhvr>
                                        <p:cTn id="13" dur="500"/>
                                        <p:tgtEl>
                                          <p:spTgt spid="33"/>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barn(inVertical)">
                                      <p:cBhvr>
                                        <p:cTn id="1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3" grpId="0"/>
      <p:bldP spid="34"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341313" y="313913"/>
            <a:ext cx="7515225" cy="519112"/>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en-US" altLang="zh-CN" sz="2800" dirty="0" smtClean="0">
                <a:solidFill>
                  <a:schemeClr val="tx2"/>
                </a:solidFill>
              </a:rPr>
              <a:t>10.4  </a:t>
            </a:r>
            <a:r>
              <a:rPr lang="zh-CN" altLang="en-US" sz="2800" dirty="0" smtClean="0">
                <a:solidFill>
                  <a:schemeClr val="tx2"/>
                </a:solidFill>
              </a:rPr>
              <a:t>放大器的低频响应</a:t>
            </a:r>
            <a:endParaRPr lang="zh-CN" altLang="en-US" sz="2800" dirty="0">
              <a:solidFill>
                <a:schemeClr val="tx2"/>
              </a:solidFill>
            </a:endParaRPr>
          </a:p>
        </p:txBody>
      </p:sp>
      <p:sp>
        <p:nvSpPr>
          <p:cNvPr id="624643" name="Text Box 3"/>
          <p:cNvSpPr txBox="1">
            <a:spLocks noChangeArrowheads="1"/>
          </p:cNvSpPr>
          <p:nvPr/>
        </p:nvSpPr>
        <p:spPr bwMode="auto">
          <a:xfrm>
            <a:off x="623888" y="1072738"/>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10.4.1 </a:t>
            </a:r>
            <a:r>
              <a:rPr lang="zh-CN" altLang="en-US" dirty="0" smtClean="0">
                <a:solidFill>
                  <a:srgbClr val="990033"/>
                </a:solidFill>
              </a:rPr>
              <a:t>放大器</a:t>
            </a:r>
            <a:r>
              <a:rPr lang="zh-CN" altLang="en-US" dirty="0">
                <a:solidFill>
                  <a:srgbClr val="990033"/>
                </a:solidFill>
              </a:rPr>
              <a:t>低频响应的近似计算</a:t>
            </a:r>
            <a:endParaRPr lang="zh-CN" altLang="en-US" dirty="0">
              <a:solidFill>
                <a:srgbClr val="A50021"/>
              </a:solidFill>
            </a:endParaRPr>
          </a:p>
        </p:txBody>
      </p:sp>
      <p:sp>
        <p:nvSpPr>
          <p:cNvPr id="624646" name="Text Box 6"/>
          <p:cNvSpPr txBox="1">
            <a:spLocks noChangeArrowheads="1"/>
          </p:cNvSpPr>
          <p:nvPr/>
        </p:nvSpPr>
        <p:spPr bwMode="auto">
          <a:xfrm>
            <a:off x="887413" y="1571213"/>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dirty="0">
                <a:solidFill>
                  <a:srgbClr val="990033"/>
                </a:solidFill>
              </a:rPr>
              <a:t>一</a:t>
            </a:r>
            <a:r>
              <a:rPr lang="zh-CN" altLang="en-US" dirty="0" smtClean="0">
                <a:solidFill>
                  <a:srgbClr val="990033"/>
                </a:solidFill>
              </a:rPr>
              <a:t>、从增益</a:t>
            </a:r>
            <a:r>
              <a:rPr lang="zh-CN" altLang="en-US" dirty="0">
                <a:solidFill>
                  <a:srgbClr val="990033"/>
                </a:solidFill>
              </a:rPr>
              <a:t>函数确定放大器低频响应</a:t>
            </a:r>
          </a:p>
        </p:txBody>
      </p:sp>
      <p:sp>
        <p:nvSpPr>
          <p:cNvPr id="5" name="Rectangle 6"/>
          <p:cNvSpPr>
            <a:spLocks noChangeArrowheads="1"/>
          </p:cNvSpPr>
          <p:nvPr/>
        </p:nvSpPr>
        <p:spPr bwMode="auto">
          <a:xfrm>
            <a:off x="1282700" y="2018181"/>
            <a:ext cx="31543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a:t>低频响应函数</a:t>
            </a:r>
          </a:p>
        </p:txBody>
      </p:sp>
      <p:graphicFrame>
        <p:nvGraphicFramePr>
          <p:cNvPr id="6" name="Object 11"/>
          <p:cNvGraphicFramePr>
            <a:graphicFrameLocks noChangeAspect="1"/>
          </p:cNvGraphicFramePr>
          <p:nvPr>
            <p:extLst>
              <p:ext uri="{D42A27DB-BD31-4B8C-83A1-F6EECF244321}">
                <p14:modId xmlns:p14="http://schemas.microsoft.com/office/powerpoint/2010/main" val="3128043649"/>
              </p:ext>
            </p:extLst>
          </p:nvPr>
        </p:nvGraphicFramePr>
        <p:xfrm>
          <a:off x="2090738" y="2565899"/>
          <a:ext cx="3633787" cy="730250"/>
        </p:xfrm>
        <a:graphic>
          <a:graphicData uri="http://schemas.openxmlformats.org/presentationml/2006/ole">
            <mc:AlternateContent xmlns:mc="http://schemas.openxmlformats.org/markup-compatibility/2006">
              <mc:Choice xmlns:v="urn:schemas-microsoft-com:vml" Requires="v">
                <p:oleObj spid="_x0000_s85018" name="Equation" r:id="rId3" imgW="2019240" imgH="406080" progId="Equation.DSMT4">
                  <p:embed/>
                </p:oleObj>
              </mc:Choice>
              <mc:Fallback>
                <p:oleObj name="Equation" r:id="rId3" imgW="2019240" imgH="406080" progId="Equation.DSMT4">
                  <p:embed/>
                  <p:pic>
                    <p:nvPicPr>
                      <p:cNvPr id="0" name=""/>
                      <p:cNvPicPr>
                        <a:picLocks noChangeAspect="1" noChangeArrowheads="1"/>
                      </p:cNvPicPr>
                      <p:nvPr/>
                    </p:nvPicPr>
                    <p:blipFill>
                      <a:blip r:embed="rId4"/>
                      <a:srcRect/>
                      <a:stretch>
                        <a:fillRect/>
                      </a:stretch>
                    </p:blipFill>
                    <p:spPr bwMode="auto">
                      <a:xfrm>
                        <a:off x="2090738" y="2565899"/>
                        <a:ext cx="3633787"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14"/>
          <p:cNvSpPr txBox="1">
            <a:spLocks noChangeArrowheads="1"/>
          </p:cNvSpPr>
          <p:nvPr/>
        </p:nvSpPr>
        <p:spPr bwMode="auto">
          <a:xfrm>
            <a:off x="1412875" y="3344405"/>
            <a:ext cx="713898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Char char="l"/>
            </a:pPr>
            <a:r>
              <a:rPr lang="en-US" altLang="zh-CN" sz="2000" dirty="0"/>
              <a:t>  </a:t>
            </a:r>
            <a:r>
              <a:rPr lang="zh-CN" altLang="en-US" sz="2000" dirty="0"/>
              <a:t>当存在主极点时（如         远高于其它极点）</a:t>
            </a:r>
          </a:p>
        </p:txBody>
      </p:sp>
      <p:graphicFrame>
        <p:nvGraphicFramePr>
          <p:cNvPr id="8" name="Object 15"/>
          <p:cNvGraphicFramePr>
            <a:graphicFrameLocks noChangeAspect="1"/>
          </p:cNvGraphicFramePr>
          <p:nvPr>
            <p:extLst>
              <p:ext uri="{D42A27DB-BD31-4B8C-83A1-F6EECF244321}">
                <p14:modId xmlns:p14="http://schemas.microsoft.com/office/powerpoint/2010/main" val="3245002916"/>
              </p:ext>
            </p:extLst>
          </p:nvPr>
        </p:nvGraphicFramePr>
        <p:xfrm>
          <a:off x="4242837" y="3384975"/>
          <a:ext cx="388451" cy="411302"/>
        </p:xfrm>
        <a:graphic>
          <a:graphicData uri="http://schemas.openxmlformats.org/presentationml/2006/ole">
            <mc:AlternateContent xmlns:mc="http://schemas.openxmlformats.org/markup-compatibility/2006">
              <mc:Choice xmlns:v="urn:schemas-microsoft-com:vml" Requires="v">
                <p:oleObj spid="_x0000_s85019" name="Equation" r:id="rId5" imgW="215806" imgH="228501" progId="Equation.DSMT4">
                  <p:embed/>
                </p:oleObj>
              </mc:Choice>
              <mc:Fallback>
                <p:oleObj name="Equation" r:id="rId5" imgW="215806" imgH="228501"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42837" y="3384975"/>
                        <a:ext cx="388451" cy="411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16"/>
          <p:cNvGraphicFramePr>
            <a:graphicFrameLocks noChangeAspect="1"/>
          </p:cNvGraphicFramePr>
          <p:nvPr>
            <p:extLst>
              <p:ext uri="{D42A27DB-BD31-4B8C-83A1-F6EECF244321}">
                <p14:modId xmlns:p14="http://schemas.microsoft.com/office/powerpoint/2010/main" val="1623010887"/>
              </p:ext>
            </p:extLst>
          </p:nvPr>
        </p:nvGraphicFramePr>
        <p:xfrm>
          <a:off x="6422951" y="4928680"/>
          <a:ext cx="1005404" cy="434151"/>
        </p:xfrm>
        <a:graphic>
          <a:graphicData uri="http://schemas.openxmlformats.org/presentationml/2006/ole">
            <mc:AlternateContent xmlns:mc="http://schemas.openxmlformats.org/markup-compatibility/2006">
              <mc:Choice xmlns:v="urn:schemas-microsoft-com:vml" Requires="v">
                <p:oleObj spid="_x0000_s85020" name="Equation" r:id="rId7" imgW="558558" imgH="241195" progId="Equation.DSMT4">
                  <p:embed/>
                </p:oleObj>
              </mc:Choice>
              <mc:Fallback>
                <p:oleObj name="Equation" r:id="rId7" imgW="558558" imgH="241195"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22951" y="4928680"/>
                        <a:ext cx="1005404" cy="434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18"/>
          <p:cNvSpPr txBox="1">
            <a:spLocks noChangeArrowheads="1"/>
          </p:cNvSpPr>
          <p:nvPr/>
        </p:nvSpPr>
        <p:spPr bwMode="auto">
          <a:xfrm>
            <a:off x="1417638" y="5555632"/>
            <a:ext cx="4814887"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Char char="l"/>
            </a:pPr>
            <a:r>
              <a:rPr lang="en-US" altLang="zh-CN" sz="2000" dirty="0"/>
              <a:t>  </a:t>
            </a:r>
            <a:r>
              <a:rPr lang="zh-CN" altLang="en-US" sz="2000" dirty="0"/>
              <a:t>当不存在主极点时</a:t>
            </a:r>
          </a:p>
        </p:txBody>
      </p:sp>
      <p:graphicFrame>
        <p:nvGraphicFramePr>
          <p:cNvPr id="11" name="Object 19"/>
          <p:cNvGraphicFramePr>
            <a:graphicFrameLocks noChangeAspect="1"/>
          </p:cNvGraphicFramePr>
          <p:nvPr>
            <p:extLst>
              <p:ext uri="{D42A27DB-BD31-4B8C-83A1-F6EECF244321}">
                <p14:modId xmlns:p14="http://schemas.microsoft.com/office/powerpoint/2010/main" val="3547077884"/>
              </p:ext>
            </p:extLst>
          </p:nvPr>
        </p:nvGraphicFramePr>
        <p:xfrm>
          <a:off x="2414905" y="6151103"/>
          <a:ext cx="3817620" cy="480060"/>
        </p:xfrm>
        <a:graphic>
          <a:graphicData uri="http://schemas.openxmlformats.org/presentationml/2006/ole">
            <mc:AlternateContent xmlns:mc="http://schemas.openxmlformats.org/markup-compatibility/2006">
              <mc:Choice xmlns:v="urn:schemas-microsoft-com:vml" Requires="v">
                <p:oleObj spid="_x0000_s85021" name="Equation" r:id="rId9" imgW="2120900" imgH="266700" progId="Equation.DSMT4">
                  <p:embed/>
                </p:oleObj>
              </mc:Choice>
              <mc:Fallback>
                <p:oleObj name="Equation" r:id="rId9" imgW="2120900" imgH="2667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4905" y="6151103"/>
                        <a:ext cx="3817620"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21"/>
          <p:cNvGraphicFramePr>
            <a:graphicFrameLocks noChangeAspect="1"/>
          </p:cNvGraphicFramePr>
          <p:nvPr>
            <p:extLst>
              <p:ext uri="{D42A27DB-BD31-4B8C-83A1-F6EECF244321}">
                <p14:modId xmlns:p14="http://schemas.microsoft.com/office/powerpoint/2010/main" val="3973105396"/>
              </p:ext>
            </p:extLst>
          </p:nvPr>
        </p:nvGraphicFramePr>
        <p:xfrm>
          <a:off x="2189163" y="4844593"/>
          <a:ext cx="2720975" cy="730250"/>
        </p:xfrm>
        <a:graphic>
          <a:graphicData uri="http://schemas.openxmlformats.org/presentationml/2006/ole">
            <mc:AlternateContent xmlns:mc="http://schemas.openxmlformats.org/markup-compatibility/2006">
              <mc:Choice xmlns:v="urn:schemas-microsoft-com:vml" Requires="v">
                <p:oleObj spid="_x0000_s85022" name="Equation" r:id="rId11" imgW="1511280" imgH="406080" progId="Equation.DSMT4">
                  <p:embed/>
                </p:oleObj>
              </mc:Choice>
              <mc:Fallback>
                <p:oleObj name="Equation" r:id="rId11" imgW="1511280" imgH="406080" progId="Equation.DSMT4">
                  <p:embed/>
                  <p:pic>
                    <p:nvPicPr>
                      <p:cNvPr id="0" name=""/>
                      <p:cNvPicPr>
                        <a:picLocks noChangeAspect="1" noChangeArrowheads="1"/>
                      </p:cNvPicPr>
                      <p:nvPr/>
                    </p:nvPicPr>
                    <p:blipFill>
                      <a:blip r:embed="rId12"/>
                      <a:srcRect/>
                      <a:stretch>
                        <a:fillRect/>
                      </a:stretch>
                    </p:blipFill>
                    <p:spPr bwMode="auto">
                      <a:xfrm>
                        <a:off x="2189163" y="4844593"/>
                        <a:ext cx="27209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22"/>
          <p:cNvSpPr>
            <a:spLocks noChangeArrowheads="1"/>
          </p:cNvSpPr>
          <p:nvPr/>
        </p:nvSpPr>
        <p:spPr bwMode="auto">
          <a:xfrm>
            <a:off x="1968500" y="4106375"/>
            <a:ext cx="59737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a:t>一般，                </a:t>
            </a:r>
            <a:r>
              <a:rPr lang="zh-CN" altLang="en-US" sz="2000" dirty="0" smtClean="0"/>
              <a:t>，</a:t>
            </a:r>
            <a:r>
              <a:rPr lang="zh-CN" altLang="en-US" sz="2000" dirty="0"/>
              <a:t>在       接近中频时</a:t>
            </a:r>
          </a:p>
        </p:txBody>
      </p:sp>
      <p:graphicFrame>
        <p:nvGraphicFramePr>
          <p:cNvPr id="14" name="Object 23"/>
          <p:cNvGraphicFramePr>
            <a:graphicFrameLocks noChangeAspect="1"/>
          </p:cNvGraphicFramePr>
          <p:nvPr>
            <p:extLst>
              <p:ext uri="{D42A27DB-BD31-4B8C-83A1-F6EECF244321}">
                <p14:modId xmlns:p14="http://schemas.microsoft.com/office/powerpoint/2010/main" val="4162448011"/>
              </p:ext>
            </p:extLst>
          </p:nvPr>
        </p:nvGraphicFramePr>
        <p:xfrm>
          <a:off x="2836863" y="4106405"/>
          <a:ext cx="1028700" cy="366713"/>
        </p:xfrm>
        <a:graphic>
          <a:graphicData uri="http://schemas.openxmlformats.org/presentationml/2006/ole">
            <mc:AlternateContent xmlns:mc="http://schemas.openxmlformats.org/markup-compatibility/2006">
              <mc:Choice xmlns:v="urn:schemas-microsoft-com:vml" Requires="v">
                <p:oleObj spid="_x0000_s85023" name="Equation" r:id="rId13" imgW="571320" imgH="203040" progId="Equation.DSMT4">
                  <p:embed/>
                </p:oleObj>
              </mc:Choice>
              <mc:Fallback>
                <p:oleObj name="Equation" r:id="rId13" imgW="571320" imgH="203040" progId="Equation.DSMT4">
                  <p:embed/>
                  <p:pic>
                    <p:nvPicPr>
                      <p:cNvPr id="0" name=""/>
                      <p:cNvPicPr>
                        <a:picLocks noChangeAspect="1" noChangeArrowheads="1"/>
                      </p:cNvPicPr>
                      <p:nvPr/>
                    </p:nvPicPr>
                    <p:blipFill>
                      <a:blip r:embed="rId14"/>
                      <a:srcRect/>
                      <a:stretch>
                        <a:fillRect/>
                      </a:stretch>
                    </p:blipFill>
                    <p:spPr bwMode="auto">
                      <a:xfrm>
                        <a:off x="2836863" y="4106405"/>
                        <a:ext cx="1028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AutoShape 24"/>
          <p:cNvSpPr>
            <a:spLocks noChangeArrowheads="1"/>
          </p:cNvSpPr>
          <p:nvPr/>
        </p:nvSpPr>
        <p:spPr bwMode="auto">
          <a:xfrm>
            <a:off x="5174803" y="5045745"/>
            <a:ext cx="1057721" cy="171780"/>
          </a:xfrm>
          <a:prstGeom prst="rightArrow">
            <a:avLst>
              <a:gd name="adj1" fmla="val 50000"/>
              <a:gd name="adj2" fmla="val 66667"/>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sz="2000"/>
          </a:p>
        </p:txBody>
      </p:sp>
      <p:graphicFrame>
        <p:nvGraphicFramePr>
          <p:cNvPr id="16" name="Object 25"/>
          <p:cNvGraphicFramePr>
            <a:graphicFrameLocks noChangeAspect="1"/>
          </p:cNvGraphicFramePr>
          <p:nvPr>
            <p:extLst>
              <p:ext uri="{D42A27DB-BD31-4B8C-83A1-F6EECF244321}">
                <p14:modId xmlns:p14="http://schemas.microsoft.com/office/powerpoint/2010/main" val="3748960263"/>
              </p:ext>
            </p:extLst>
          </p:nvPr>
        </p:nvGraphicFramePr>
        <p:xfrm>
          <a:off x="4437063" y="4180755"/>
          <a:ext cx="274201" cy="251350"/>
        </p:xfrm>
        <a:graphic>
          <a:graphicData uri="http://schemas.openxmlformats.org/presentationml/2006/ole">
            <mc:AlternateContent xmlns:mc="http://schemas.openxmlformats.org/markup-compatibility/2006">
              <mc:Choice xmlns:v="urn:schemas-microsoft-com:vml" Requires="v">
                <p:oleObj spid="_x0000_s85024" name="Equation" r:id="rId15" imgW="152334" imgH="139639" progId="Equation.DSMT4">
                  <p:embed/>
                </p:oleObj>
              </mc:Choice>
              <mc:Fallback>
                <p:oleObj name="Equation" r:id="rId15" imgW="152334" imgH="139639"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37063" y="4180755"/>
                        <a:ext cx="274201" cy="25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21"/>
          <p:cNvGraphicFramePr>
            <a:graphicFrameLocks noChangeAspect="1"/>
          </p:cNvGraphicFramePr>
          <p:nvPr>
            <p:extLst>
              <p:ext uri="{D42A27DB-BD31-4B8C-83A1-F6EECF244321}">
                <p14:modId xmlns:p14="http://schemas.microsoft.com/office/powerpoint/2010/main" val="4249399116"/>
              </p:ext>
            </p:extLst>
          </p:nvPr>
        </p:nvGraphicFramePr>
        <p:xfrm>
          <a:off x="5131871" y="4541451"/>
          <a:ext cx="959919" cy="487560"/>
        </p:xfrm>
        <a:graphic>
          <a:graphicData uri="http://schemas.openxmlformats.org/presentationml/2006/ole">
            <mc:AlternateContent xmlns:mc="http://schemas.openxmlformats.org/markup-compatibility/2006">
              <mc:Choice xmlns:v="urn:schemas-microsoft-com:vml" Requires="v">
                <p:oleObj spid="_x0000_s85025" name="Equation" r:id="rId17" imgW="723600" imgH="368280" progId="Equation.DSMT4">
                  <p:embed/>
                </p:oleObj>
              </mc:Choice>
              <mc:Fallback>
                <p:oleObj name="Equation" r:id="rId17" imgW="723600" imgH="368280" progId="Equation.DSMT4">
                  <p:embed/>
                  <p:pic>
                    <p:nvPicPr>
                      <p:cNvPr id="0" name=""/>
                      <p:cNvPicPr>
                        <a:picLocks noChangeAspect="1" noChangeArrowheads="1"/>
                      </p:cNvPicPr>
                      <p:nvPr/>
                    </p:nvPicPr>
                    <p:blipFill>
                      <a:blip r:embed="rId18"/>
                      <a:srcRect/>
                      <a:stretch>
                        <a:fillRect/>
                      </a:stretch>
                    </p:blipFill>
                    <p:spPr bwMode="auto">
                      <a:xfrm>
                        <a:off x="5131871" y="4541451"/>
                        <a:ext cx="959919" cy="487560"/>
                      </a:xfrm>
                      <a:prstGeom prst="rect">
                        <a:avLst/>
                      </a:prstGeom>
                      <a:noFill/>
                      <a:ln>
                        <a:noFill/>
                      </a:ln>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4643"/>
                                        </p:tgtEl>
                                        <p:attrNameLst>
                                          <p:attrName>style.visibility</p:attrName>
                                        </p:attrNameLst>
                                      </p:cBhvr>
                                      <p:to>
                                        <p:strVal val="visible"/>
                                      </p:to>
                                    </p:set>
                                    <p:animEffect transition="in" filter="blinds(horizontal)">
                                      <p:cBhvr>
                                        <p:cTn id="7" dur="500"/>
                                        <p:tgtEl>
                                          <p:spTgt spid="6246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24646">
                                            <p:txEl>
                                              <p:pRg st="0" end="0"/>
                                            </p:txEl>
                                          </p:spTgt>
                                        </p:tgtEl>
                                        <p:attrNameLst>
                                          <p:attrName>style.visibility</p:attrName>
                                        </p:attrNameLst>
                                      </p:cBhvr>
                                      <p:to>
                                        <p:strVal val="visible"/>
                                      </p:to>
                                    </p:set>
                                    <p:animEffect transition="in" filter="box(in)">
                                      <p:cBhvr>
                                        <p:cTn id="12" dur="500"/>
                                        <p:tgtEl>
                                          <p:spTgt spid="62464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par>
                                <p:cTn id="18" presetID="3" presetClass="entr" presetSubtype="1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linds(horizontal)">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par>
                                <p:cTn id="26" presetID="3" presetClass="entr" presetSubtype="1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linds(horizontal)">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diamond(in)">
                                      <p:cBhvr>
                                        <p:cTn id="33" dur="500"/>
                                        <p:tgtEl>
                                          <p:spTgt spid="12"/>
                                        </p:tgtEl>
                                      </p:cBhvr>
                                    </p:animEffect>
                                  </p:childTnLst>
                                </p:cTn>
                              </p:par>
                              <p:par>
                                <p:cTn id="34" presetID="8" presetClass="entr" presetSubtype="16"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diamond(in)">
                                      <p:cBhvr>
                                        <p:cTn id="36" dur="500"/>
                                        <p:tgtEl>
                                          <p:spTgt spid="13"/>
                                        </p:tgtEl>
                                      </p:cBhvr>
                                    </p:animEffect>
                                  </p:childTnLst>
                                </p:cTn>
                              </p:par>
                              <p:par>
                                <p:cTn id="37" presetID="8" presetClass="entr" presetSubtype="16"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diamond(in)">
                                      <p:cBhvr>
                                        <p:cTn id="39" dur="500"/>
                                        <p:tgtEl>
                                          <p:spTgt spid="14"/>
                                        </p:tgtEl>
                                      </p:cBhvr>
                                    </p:animEffect>
                                  </p:childTnLst>
                                </p:cTn>
                              </p:par>
                              <p:par>
                                <p:cTn id="40" presetID="8" presetClass="entr" presetSubtype="16"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diamond(in)">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diamond(in)">
                                      <p:cBhvr>
                                        <p:cTn id="47" dur="500"/>
                                        <p:tgtEl>
                                          <p:spTgt spid="17"/>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box(in)">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box(in)">
                                      <p:cBhvr>
                                        <p:cTn id="55" dur="500"/>
                                        <p:tgtEl>
                                          <p:spTgt spid="9"/>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blinds(horizontal)">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5" presetClass="entr" presetSubtype="10"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checkerboard(across)">
                                      <p:cBhvr>
                                        <p:cTn id="6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3" grpId="0"/>
      <p:bldP spid="5" grpId="0"/>
      <p:bldP spid="7" grpId="0"/>
      <p:bldP spid="10" grpId="0"/>
      <p:bldP spid="13" grpId="0"/>
      <p:bldP spid="15"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46" name="Text Box 6"/>
          <p:cNvSpPr txBox="1">
            <a:spLocks noChangeArrowheads="1"/>
          </p:cNvSpPr>
          <p:nvPr/>
        </p:nvSpPr>
        <p:spPr bwMode="auto">
          <a:xfrm>
            <a:off x="887413" y="569133"/>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dirty="0">
                <a:solidFill>
                  <a:srgbClr val="990033"/>
                </a:solidFill>
              </a:rPr>
              <a:t>二、用</a:t>
            </a:r>
            <a:r>
              <a:rPr lang="zh-CN" altLang="en-US" dirty="0" smtClean="0">
                <a:solidFill>
                  <a:srgbClr val="990033"/>
                </a:solidFill>
              </a:rPr>
              <a:t>短路时间常数</a:t>
            </a:r>
            <a:r>
              <a:rPr lang="zh-CN" altLang="en-US" dirty="0" smtClean="0">
                <a:solidFill>
                  <a:srgbClr val="990033"/>
                </a:solidFill>
              </a:rPr>
              <a:t>近似法计算 </a:t>
            </a:r>
            <a:endParaRPr lang="zh-CN" altLang="en-US" dirty="0">
              <a:solidFill>
                <a:srgbClr val="990033"/>
              </a:solidFill>
            </a:endParaRPr>
          </a:p>
        </p:txBody>
      </p:sp>
      <p:graphicFrame>
        <p:nvGraphicFramePr>
          <p:cNvPr id="22" name="Object 15"/>
          <p:cNvGraphicFramePr>
            <a:graphicFrameLocks noChangeAspect="1"/>
          </p:cNvGraphicFramePr>
          <p:nvPr>
            <p:extLst>
              <p:ext uri="{D42A27DB-BD31-4B8C-83A1-F6EECF244321}">
                <p14:modId xmlns:p14="http://schemas.microsoft.com/office/powerpoint/2010/main" val="346240093"/>
              </p:ext>
            </p:extLst>
          </p:nvPr>
        </p:nvGraphicFramePr>
        <p:xfrm>
          <a:off x="5360988" y="603591"/>
          <a:ext cx="365443" cy="388283"/>
        </p:xfrm>
        <a:graphic>
          <a:graphicData uri="http://schemas.openxmlformats.org/presentationml/2006/ole">
            <mc:AlternateContent xmlns:mc="http://schemas.openxmlformats.org/markup-compatibility/2006">
              <mc:Choice xmlns:v="urn:schemas-microsoft-com:vml" Requires="v">
                <p:oleObj spid="_x0000_s86027" name="Equation" r:id="rId3" imgW="203024" imgH="215713" progId="Equation.DSMT4">
                  <p:embed/>
                </p:oleObj>
              </mc:Choice>
              <mc:Fallback>
                <p:oleObj name="Equation" r:id="rId3" imgW="203024" imgH="215713"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0988" y="603591"/>
                        <a:ext cx="365443" cy="388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Rectangle 3"/>
          <p:cNvSpPr>
            <a:spLocks noChangeArrowheads="1"/>
          </p:cNvSpPr>
          <p:nvPr/>
        </p:nvSpPr>
        <p:spPr bwMode="auto">
          <a:xfrm>
            <a:off x="1147676" y="1203355"/>
            <a:ext cx="6972300" cy="101566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en-US" altLang="zh-CN" sz="2000" dirty="0"/>
              <a:t>        </a:t>
            </a:r>
            <a:r>
              <a:rPr lang="zh-CN" altLang="en-US" sz="2000" dirty="0" smtClean="0"/>
              <a:t>依次单独考虑</a:t>
            </a:r>
            <a:r>
              <a:rPr lang="zh-CN" altLang="en-US" sz="2000" dirty="0"/>
              <a:t>低频等效电路</a:t>
            </a:r>
            <a:r>
              <a:rPr lang="zh-CN" altLang="en-US" sz="2000" dirty="0" smtClean="0"/>
              <a:t>中一</a:t>
            </a:r>
            <a:r>
              <a:rPr lang="zh-CN" altLang="en-US" sz="2000" dirty="0"/>
              <a:t>个</a:t>
            </a:r>
            <a:r>
              <a:rPr lang="zh-CN" altLang="en-US" sz="2000" dirty="0" smtClean="0"/>
              <a:t>电容的作用，</a:t>
            </a:r>
            <a:r>
              <a:rPr lang="zh-CN" altLang="en-US" sz="2000" dirty="0"/>
              <a:t>把其它所有的电容设为</a:t>
            </a:r>
            <a:r>
              <a:rPr lang="zh-CN" altLang="en-US" sz="2000" dirty="0" smtClean="0"/>
              <a:t>无穷大，则</a:t>
            </a:r>
            <a:endParaRPr lang="zh-CN" altLang="en-US" sz="2000" dirty="0"/>
          </a:p>
        </p:txBody>
      </p:sp>
      <p:graphicFrame>
        <p:nvGraphicFramePr>
          <p:cNvPr id="25" name="Object 19"/>
          <p:cNvGraphicFramePr>
            <a:graphicFrameLocks noChangeAspect="1"/>
          </p:cNvGraphicFramePr>
          <p:nvPr>
            <p:extLst>
              <p:ext uri="{D42A27DB-BD31-4B8C-83A1-F6EECF244321}">
                <p14:modId xmlns:p14="http://schemas.microsoft.com/office/powerpoint/2010/main" val="805728572"/>
              </p:ext>
            </p:extLst>
          </p:nvPr>
        </p:nvGraphicFramePr>
        <p:xfrm>
          <a:off x="3121025" y="2574925"/>
          <a:ext cx="2239963" cy="709613"/>
        </p:xfrm>
        <a:graphic>
          <a:graphicData uri="http://schemas.openxmlformats.org/presentationml/2006/ole">
            <mc:AlternateContent xmlns:mc="http://schemas.openxmlformats.org/markup-compatibility/2006">
              <mc:Choice xmlns:v="urn:schemas-microsoft-com:vml" Requires="v">
                <p:oleObj spid="_x0000_s86028" name="Equation" r:id="rId5" imgW="1244520" imgH="393480" progId="Equation.DSMT4">
                  <p:embed/>
                </p:oleObj>
              </mc:Choice>
              <mc:Fallback>
                <p:oleObj name="Equation" r:id="rId5" imgW="1244520" imgH="393480" progId="Equation.DSMT4">
                  <p:embed/>
                  <p:pic>
                    <p:nvPicPr>
                      <p:cNvPr id="0" name=""/>
                      <p:cNvPicPr>
                        <a:picLocks noChangeAspect="1" noChangeArrowheads="1"/>
                      </p:cNvPicPr>
                      <p:nvPr/>
                    </p:nvPicPr>
                    <p:blipFill>
                      <a:blip r:embed="rId6"/>
                      <a:srcRect/>
                      <a:stretch>
                        <a:fillRect/>
                      </a:stretch>
                    </p:blipFill>
                    <p:spPr bwMode="auto">
                      <a:xfrm>
                        <a:off x="3121025" y="2574925"/>
                        <a:ext cx="2239963"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Rectangle 3"/>
          <p:cNvSpPr>
            <a:spLocks noChangeArrowheads="1"/>
          </p:cNvSpPr>
          <p:nvPr/>
        </p:nvSpPr>
        <p:spPr bwMode="auto">
          <a:xfrm>
            <a:off x="1147676" y="3701209"/>
            <a:ext cx="6972300" cy="101566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en-US" altLang="zh-CN" sz="2000" dirty="0"/>
              <a:t>        </a:t>
            </a:r>
            <a:r>
              <a:rPr lang="zh-CN" altLang="en-US" sz="2000" dirty="0" smtClean="0"/>
              <a:t>若其中某个        远高于其他频率（即存在主极点情况），则该电路的低频截止频率可近似等于该频率。</a:t>
            </a:r>
            <a:endParaRPr lang="zh-CN" altLang="en-US" sz="2000" dirty="0"/>
          </a:p>
        </p:txBody>
      </p:sp>
      <p:graphicFrame>
        <p:nvGraphicFramePr>
          <p:cNvPr id="27" name="Object 15"/>
          <p:cNvGraphicFramePr>
            <a:graphicFrameLocks noChangeAspect="1"/>
          </p:cNvGraphicFramePr>
          <p:nvPr>
            <p:extLst>
              <p:ext uri="{D42A27DB-BD31-4B8C-83A1-F6EECF244321}">
                <p14:modId xmlns:p14="http://schemas.microsoft.com/office/powerpoint/2010/main" val="3948438333"/>
              </p:ext>
            </p:extLst>
          </p:nvPr>
        </p:nvGraphicFramePr>
        <p:xfrm>
          <a:off x="3083447" y="3804749"/>
          <a:ext cx="365125" cy="366713"/>
        </p:xfrm>
        <a:graphic>
          <a:graphicData uri="http://schemas.openxmlformats.org/presentationml/2006/ole">
            <mc:AlternateContent xmlns:mc="http://schemas.openxmlformats.org/markup-compatibility/2006">
              <mc:Choice xmlns:v="urn:schemas-microsoft-com:vml" Requires="v">
                <p:oleObj spid="_x0000_s86029" name="Equation" r:id="rId7" imgW="203040" imgH="203040" progId="Equation.DSMT4">
                  <p:embed/>
                </p:oleObj>
              </mc:Choice>
              <mc:Fallback>
                <p:oleObj name="Equation" r:id="rId7" imgW="203040" imgH="203040" progId="Equation.DSMT4">
                  <p:embed/>
                  <p:pic>
                    <p:nvPicPr>
                      <p:cNvPr id="0" name=""/>
                      <p:cNvPicPr>
                        <a:picLocks noChangeAspect="1" noChangeArrowheads="1"/>
                      </p:cNvPicPr>
                      <p:nvPr/>
                    </p:nvPicPr>
                    <p:blipFill>
                      <a:blip r:embed="rId8"/>
                      <a:srcRect/>
                      <a:stretch>
                        <a:fillRect/>
                      </a:stretch>
                    </p:blipFill>
                    <p:spPr bwMode="auto">
                      <a:xfrm>
                        <a:off x="3083447" y="3804749"/>
                        <a:ext cx="365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p:cNvSpPr>
            <a:spLocks noChangeArrowheads="1"/>
          </p:cNvSpPr>
          <p:nvPr/>
        </p:nvSpPr>
        <p:spPr bwMode="auto">
          <a:xfrm>
            <a:off x="1147676" y="5140482"/>
            <a:ext cx="6972300" cy="55399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en-US" altLang="zh-CN" sz="2000" dirty="0"/>
              <a:t>        </a:t>
            </a:r>
            <a:r>
              <a:rPr lang="zh-CN" altLang="en-US" sz="2000" dirty="0" smtClean="0"/>
              <a:t>后面计算实际电路的低频响应就采用上述近似法。</a:t>
            </a:r>
            <a:endParaRPr lang="zh-CN" altLang="en-US" sz="2000" dirty="0"/>
          </a:p>
        </p:txBody>
      </p:sp>
    </p:spTree>
    <p:extLst>
      <p:ext uri="{BB962C8B-B14F-4D97-AF65-F5344CB8AC3E}">
        <p14:creationId xmlns:p14="http://schemas.microsoft.com/office/powerpoint/2010/main" val="6180649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box(in)">
                                      <p:cBhvr>
                                        <p:cTn id="7" dur="500"/>
                                        <p:tgtEl>
                                          <p:spTgt spid="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checkerboard(across)">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arn(inVertical)">
                                      <p:cBhvr>
                                        <p:cTn id="17" dur="500"/>
                                        <p:tgtEl>
                                          <p:spTgt spid="26"/>
                                        </p:tgtEl>
                                      </p:cBhvr>
                                    </p:animEffect>
                                  </p:childTnLst>
                                </p:cTn>
                              </p:par>
                              <p:par>
                                <p:cTn id="18" presetID="16" presetClass="entr" presetSubtype="21" fill="hold"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barn(inVertical)">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inVertical)">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43" name="Text Box 3"/>
          <p:cNvSpPr txBox="1">
            <a:spLocks noChangeArrowheads="1"/>
          </p:cNvSpPr>
          <p:nvPr/>
        </p:nvSpPr>
        <p:spPr bwMode="auto">
          <a:xfrm>
            <a:off x="623888" y="798052"/>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10.4.2 </a:t>
            </a:r>
            <a:r>
              <a:rPr lang="zh-CN" altLang="en-US" dirty="0" smtClean="0">
                <a:solidFill>
                  <a:srgbClr val="990033"/>
                </a:solidFill>
              </a:rPr>
              <a:t>共射放大器的</a:t>
            </a:r>
            <a:r>
              <a:rPr lang="en-US" altLang="en-US" dirty="0" err="1" smtClean="0">
                <a:solidFill>
                  <a:srgbClr val="A50021"/>
                </a:solidFill>
              </a:rPr>
              <a:t>低频响应</a:t>
            </a:r>
            <a:endParaRPr lang="zh-CN" altLang="en-US" dirty="0">
              <a:solidFill>
                <a:srgbClr val="A50021"/>
              </a:solidFill>
            </a:endParaRPr>
          </a:p>
        </p:txBody>
      </p:sp>
      <p:grpSp>
        <p:nvGrpSpPr>
          <p:cNvPr id="3" name="组合 2"/>
          <p:cNvGrpSpPr/>
          <p:nvPr/>
        </p:nvGrpSpPr>
        <p:grpSpPr>
          <a:xfrm>
            <a:off x="1616528" y="2093460"/>
            <a:ext cx="5138738" cy="3900487"/>
            <a:chOff x="1828800" y="2681288"/>
            <a:chExt cx="5138738" cy="3900487"/>
          </a:xfrm>
        </p:grpSpPr>
        <p:pic>
          <p:nvPicPr>
            <p:cNvPr id="624647" name="图片 1975" descr="说明: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681288"/>
              <a:ext cx="5138738" cy="390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p:cNvSpPr/>
            <p:nvPr/>
          </p:nvSpPr>
          <p:spPr bwMode="auto">
            <a:xfrm>
              <a:off x="4398169" y="3794125"/>
              <a:ext cx="100012" cy="95250"/>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1" name="椭圆 10"/>
            <p:cNvSpPr/>
            <p:nvPr/>
          </p:nvSpPr>
          <p:spPr bwMode="auto">
            <a:xfrm>
              <a:off x="3490119" y="4181475"/>
              <a:ext cx="100012" cy="95250"/>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2" name="椭圆 11"/>
            <p:cNvSpPr/>
            <p:nvPr/>
          </p:nvSpPr>
          <p:spPr bwMode="auto">
            <a:xfrm>
              <a:off x="5782469" y="3794125"/>
              <a:ext cx="100012" cy="95250"/>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3" name="椭圆 12"/>
            <p:cNvSpPr/>
            <p:nvPr/>
          </p:nvSpPr>
          <p:spPr bwMode="auto">
            <a:xfrm>
              <a:off x="3490119" y="5681662"/>
              <a:ext cx="100012" cy="95250"/>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4" name="椭圆 13"/>
            <p:cNvSpPr/>
            <p:nvPr/>
          </p:nvSpPr>
          <p:spPr bwMode="auto">
            <a:xfrm>
              <a:off x="4391025" y="5675312"/>
              <a:ext cx="100012" cy="95250"/>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5" name="椭圆 14"/>
            <p:cNvSpPr/>
            <p:nvPr/>
          </p:nvSpPr>
          <p:spPr bwMode="auto">
            <a:xfrm>
              <a:off x="5039519" y="5675312"/>
              <a:ext cx="100012" cy="95250"/>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6" name="椭圆 15"/>
            <p:cNvSpPr/>
            <p:nvPr/>
          </p:nvSpPr>
          <p:spPr bwMode="auto">
            <a:xfrm>
              <a:off x="5782469" y="5675312"/>
              <a:ext cx="100012" cy="95250"/>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7" name="椭圆 16"/>
            <p:cNvSpPr/>
            <p:nvPr/>
          </p:nvSpPr>
          <p:spPr bwMode="auto">
            <a:xfrm>
              <a:off x="4391025" y="2836862"/>
              <a:ext cx="100012" cy="95250"/>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8" name="椭圆 17"/>
            <p:cNvSpPr/>
            <p:nvPr/>
          </p:nvSpPr>
          <p:spPr bwMode="auto">
            <a:xfrm>
              <a:off x="4391025" y="4583906"/>
              <a:ext cx="100012" cy="95250"/>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grpSp>
    </p:spTree>
    <p:extLst>
      <p:ext uri="{BB962C8B-B14F-4D97-AF65-F5344CB8AC3E}">
        <p14:creationId xmlns:p14="http://schemas.microsoft.com/office/powerpoint/2010/main" val="2913456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6716" name="Text Box 28"/>
          <p:cNvSpPr txBox="1">
            <a:spLocks noChangeArrowheads="1"/>
          </p:cNvSpPr>
          <p:nvPr/>
        </p:nvSpPr>
        <p:spPr bwMode="auto">
          <a:xfrm>
            <a:off x="666750" y="4473575"/>
            <a:ext cx="7942263" cy="188057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zh-CN" altLang="en-US" sz="2000" dirty="0"/>
              <a:t>解题步骤：</a:t>
            </a:r>
          </a:p>
          <a:p>
            <a:pPr lvl="1" algn="l" eaLnBrk="1" hangingPunct="1">
              <a:lnSpc>
                <a:spcPct val="150000"/>
              </a:lnSpc>
            </a:pPr>
            <a:r>
              <a:rPr lang="en-US" altLang="zh-CN" sz="2000" dirty="0"/>
              <a:t>1</a:t>
            </a:r>
            <a:r>
              <a:rPr lang="zh-CN" altLang="en-US" sz="2000" dirty="0"/>
              <a:t>）求解中频增益。</a:t>
            </a:r>
          </a:p>
          <a:p>
            <a:pPr lvl="1" algn="l" eaLnBrk="1" hangingPunct="1">
              <a:lnSpc>
                <a:spcPct val="150000"/>
              </a:lnSpc>
            </a:pPr>
            <a:r>
              <a:rPr lang="en-US" altLang="zh-CN" sz="2000" dirty="0"/>
              <a:t>2</a:t>
            </a:r>
            <a:r>
              <a:rPr lang="zh-CN" altLang="en-US" sz="2000" dirty="0"/>
              <a:t>）求解一个电容单独作用时的增益（其它电容短路）。</a:t>
            </a:r>
          </a:p>
          <a:p>
            <a:pPr lvl="1" algn="l" eaLnBrk="1" hangingPunct="1">
              <a:lnSpc>
                <a:spcPct val="150000"/>
              </a:lnSpc>
            </a:pPr>
            <a:r>
              <a:rPr lang="en-US" altLang="zh-CN" sz="2000" dirty="0"/>
              <a:t>3</a:t>
            </a:r>
            <a:r>
              <a:rPr lang="zh-CN" altLang="en-US" sz="2000" dirty="0"/>
              <a:t>）确定低频截止频率。</a:t>
            </a:r>
          </a:p>
        </p:txBody>
      </p:sp>
      <p:grpSp>
        <p:nvGrpSpPr>
          <p:cNvPr id="2" name="组合 1"/>
          <p:cNvGrpSpPr/>
          <p:nvPr/>
        </p:nvGrpSpPr>
        <p:grpSpPr>
          <a:xfrm>
            <a:off x="1504950" y="323850"/>
            <a:ext cx="6000750" cy="3752850"/>
            <a:chOff x="1504950" y="323850"/>
            <a:chExt cx="6000750" cy="3752850"/>
          </a:xfrm>
        </p:grpSpPr>
        <p:pic>
          <p:nvPicPr>
            <p:cNvPr id="501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950" y="323850"/>
              <a:ext cx="6000750" cy="3752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椭圆 3"/>
            <p:cNvSpPr/>
            <p:nvPr/>
          </p:nvSpPr>
          <p:spPr bwMode="auto">
            <a:xfrm>
              <a:off x="2805343" y="844447"/>
              <a:ext cx="100012" cy="95250"/>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5" name="椭圆 4"/>
            <p:cNvSpPr/>
            <p:nvPr/>
          </p:nvSpPr>
          <p:spPr bwMode="auto">
            <a:xfrm>
              <a:off x="2805343" y="3388545"/>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6" name="椭圆 5"/>
            <p:cNvSpPr/>
            <p:nvPr/>
          </p:nvSpPr>
          <p:spPr bwMode="auto">
            <a:xfrm>
              <a:off x="3319078" y="3388545"/>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7" name="椭圆 6"/>
            <p:cNvSpPr/>
            <p:nvPr/>
          </p:nvSpPr>
          <p:spPr bwMode="auto">
            <a:xfrm>
              <a:off x="4408648" y="3388545"/>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8" name="椭圆 7"/>
            <p:cNvSpPr/>
            <p:nvPr/>
          </p:nvSpPr>
          <p:spPr bwMode="auto">
            <a:xfrm>
              <a:off x="4985647" y="3388545"/>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9" name="椭圆 8"/>
            <p:cNvSpPr/>
            <p:nvPr/>
          </p:nvSpPr>
          <p:spPr bwMode="auto">
            <a:xfrm>
              <a:off x="3319077" y="847623"/>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0" name="椭圆 9"/>
            <p:cNvSpPr/>
            <p:nvPr/>
          </p:nvSpPr>
          <p:spPr bwMode="auto">
            <a:xfrm>
              <a:off x="6062278" y="3388545"/>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1" name="椭圆 10"/>
            <p:cNvSpPr/>
            <p:nvPr/>
          </p:nvSpPr>
          <p:spPr bwMode="auto">
            <a:xfrm>
              <a:off x="6687312" y="3388545"/>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2" name="椭圆 11"/>
            <p:cNvSpPr/>
            <p:nvPr/>
          </p:nvSpPr>
          <p:spPr bwMode="auto">
            <a:xfrm>
              <a:off x="6054904" y="847623"/>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3" name="椭圆 12"/>
            <p:cNvSpPr/>
            <p:nvPr/>
          </p:nvSpPr>
          <p:spPr bwMode="auto">
            <a:xfrm>
              <a:off x="6687312" y="847623"/>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4" name="椭圆 13"/>
            <p:cNvSpPr/>
            <p:nvPr/>
          </p:nvSpPr>
          <p:spPr bwMode="auto">
            <a:xfrm>
              <a:off x="4408648" y="2108201"/>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5" name="椭圆 14"/>
            <p:cNvSpPr/>
            <p:nvPr/>
          </p:nvSpPr>
          <p:spPr bwMode="auto">
            <a:xfrm>
              <a:off x="4985646" y="2108201"/>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6716">
                                            <p:txEl>
                                              <p:pRg st="0" end="0"/>
                                            </p:txEl>
                                          </p:spTgt>
                                        </p:tgtEl>
                                        <p:attrNameLst>
                                          <p:attrName>style.visibility</p:attrName>
                                        </p:attrNameLst>
                                      </p:cBhvr>
                                      <p:to>
                                        <p:strVal val="visible"/>
                                      </p:to>
                                    </p:set>
                                    <p:animEffect transition="in" filter="blinds(horizontal)">
                                      <p:cBhvr>
                                        <p:cTn id="7" dur="500"/>
                                        <p:tgtEl>
                                          <p:spTgt spid="62671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26716">
                                            <p:txEl>
                                              <p:pRg st="1" end="1"/>
                                            </p:txEl>
                                          </p:spTgt>
                                        </p:tgtEl>
                                        <p:attrNameLst>
                                          <p:attrName>style.visibility</p:attrName>
                                        </p:attrNameLst>
                                      </p:cBhvr>
                                      <p:to>
                                        <p:strVal val="visible"/>
                                      </p:to>
                                    </p:set>
                                    <p:animEffect transition="in" filter="box(in)">
                                      <p:cBhvr>
                                        <p:cTn id="12" dur="500"/>
                                        <p:tgtEl>
                                          <p:spTgt spid="62671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626716">
                                            <p:txEl>
                                              <p:pRg st="2" end="2"/>
                                            </p:txEl>
                                          </p:spTgt>
                                        </p:tgtEl>
                                        <p:attrNameLst>
                                          <p:attrName>style.visibility</p:attrName>
                                        </p:attrNameLst>
                                      </p:cBhvr>
                                      <p:to>
                                        <p:strVal val="visible"/>
                                      </p:to>
                                    </p:set>
                                    <p:animEffect transition="in" filter="diamond(in)">
                                      <p:cBhvr>
                                        <p:cTn id="17" dur="1000"/>
                                        <p:tgtEl>
                                          <p:spTgt spid="62671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26716">
                                            <p:txEl>
                                              <p:pRg st="3" end="3"/>
                                            </p:txEl>
                                          </p:spTgt>
                                        </p:tgtEl>
                                        <p:attrNameLst>
                                          <p:attrName>style.visibility</p:attrName>
                                        </p:attrNameLst>
                                      </p:cBhvr>
                                      <p:to>
                                        <p:strVal val="visible"/>
                                      </p:to>
                                    </p:set>
                                    <p:animEffect transition="in" filter="box(in)">
                                      <p:cBhvr>
                                        <p:cTn id="22" dur="500"/>
                                        <p:tgtEl>
                                          <p:spTgt spid="6267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Text Box 3"/>
          <p:cNvSpPr txBox="1">
            <a:spLocks noChangeArrowheads="1"/>
          </p:cNvSpPr>
          <p:nvPr/>
        </p:nvSpPr>
        <p:spPr bwMode="auto">
          <a:xfrm>
            <a:off x="463550" y="911285"/>
            <a:ext cx="79422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400" b="1">
                <a:solidFill>
                  <a:schemeClr val="tx1"/>
                </a:solidFill>
                <a:latin typeface="Times New Roman" pitchFamily="18" charset="0"/>
                <a:ea typeface="宋体" pitchFamily="2" charset="-122"/>
              </a:defRPr>
            </a:lvl1pPr>
            <a:lvl2pPr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lvl="1" algn="l" eaLnBrk="1" hangingPunct="1"/>
            <a:r>
              <a:rPr lang="en-US" altLang="zh-CN" sz="2000" dirty="0"/>
              <a:t>1</a:t>
            </a:r>
            <a:r>
              <a:rPr lang="zh-CN" altLang="en-US" sz="2000" dirty="0"/>
              <a:t>）求解中频增益。</a:t>
            </a:r>
          </a:p>
        </p:txBody>
      </p:sp>
      <p:graphicFrame>
        <p:nvGraphicFramePr>
          <p:cNvPr id="627717" name="Object 5"/>
          <p:cNvGraphicFramePr>
            <a:graphicFrameLocks noChangeAspect="1"/>
          </p:cNvGraphicFramePr>
          <p:nvPr>
            <p:extLst>
              <p:ext uri="{D42A27DB-BD31-4B8C-83A1-F6EECF244321}">
                <p14:modId xmlns:p14="http://schemas.microsoft.com/office/powerpoint/2010/main" val="3168921906"/>
              </p:ext>
            </p:extLst>
          </p:nvPr>
        </p:nvGraphicFramePr>
        <p:xfrm>
          <a:off x="2159000" y="4906963"/>
          <a:ext cx="4797425" cy="777875"/>
        </p:xfrm>
        <a:graphic>
          <a:graphicData uri="http://schemas.openxmlformats.org/presentationml/2006/ole">
            <mc:AlternateContent xmlns:mc="http://schemas.openxmlformats.org/markup-compatibility/2006">
              <mc:Choice xmlns:v="urn:schemas-microsoft-com:vml" Requires="v">
                <p:oleObj spid="_x0000_s22710" name="Equation" r:id="rId3" imgW="2666880" imgH="431640" progId="Equation.DSMT4">
                  <p:embed/>
                </p:oleObj>
              </mc:Choice>
              <mc:Fallback>
                <p:oleObj name="Equation" r:id="rId3" imgW="2666880" imgH="431640" progId="Equation.DSMT4">
                  <p:embed/>
                  <p:pic>
                    <p:nvPicPr>
                      <p:cNvPr id="0" name="Object 5"/>
                      <p:cNvPicPr>
                        <a:picLocks noChangeAspect="1" noChangeArrowheads="1"/>
                      </p:cNvPicPr>
                      <p:nvPr/>
                    </p:nvPicPr>
                    <p:blipFill>
                      <a:blip r:embed="rId4"/>
                      <a:srcRect/>
                      <a:stretch>
                        <a:fillRect/>
                      </a:stretch>
                    </p:blipFill>
                    <p:spPr bwMode="auto">
                      <a:xfrm>
                        <a:off x="2159000" y="4906963"/>
                        <a:ext cx="4797425"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2566" name="Picture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6681" y="1771710"/>
            <a:ext cx="6096000" cy="2647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2566"/>
                                        </p:tgtEl>
                                        <p:attrNameLst>
                                          <p:attrName>style.visibility</p:attrName>
                                        </p:attrNameLst>
                                      </p:cBhvr>
                                      <p:to>
                                        <p:strVal val="visible"/>
                                      </p:to>
                                    </p:set>
                                    <p:animEffect transition="in" filter="barn(inVertical)">
                                      <p:cBhvr>
                                        <p:cTn id="7" dur="500"/>
                                        <p:tgtEl>
                                          <p:spTgt spid="2256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27717"/>
                                        </p:tgtEl>
                                        <p:attrNameLst>
                                          <p:attrName>style.visibility</p:attrName>
                                        </p:attrNameLst>
                                      </p:cBhvr>
                                      <p:to>
                                        <p:strVal val="visible"/>
                                      </p:to>
                                    </p:set>
                                    <p:animEffect transition="in" filter="box(in)">
                                      <p:cBhvr>
                                        <p:cTn id="12" dur="500"/>
                                        <p:tgtEl>
                                          <p:spTgt spid="627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463550" y="464635"/>
            <a:ext cx="79422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400" b="1">
                <a:solidFill>
                  <a:schemeClr val="tx1"/>
                </a:solidFill>
                <a:latin typeface="Times New Roman" pitchFamily="18" charset="0"/>
                <a:ea typeface="宋体" pitchFamily="2" charset="-122"/>
              </a:defRPr>
            </a:lvl1pPr>
            <a:lvl2pPr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lvl="1" algn="l" eaLnBrk="1" hangingPunct="1"/>
            <a:r>
              <a:rPr lang="en-US" altLang="zh-CN" sz="2000" dirty="0"/>
              <a:t>① </a:t>
            </a:r>
            <a:r>
              <a:rPr lang="en-US" altLang="zh-CN" sz="2000" i="1" dirty="0"/>
              <a:t>C</a:t>
            </a:r>
            <a:r>
              <a:rPr lang="en-US" altLang="zh-CN" sz="2000" baseline="-25000" dirty="0"/>
              <a:t>1</a:t>
            </a:r>
            <a:r>
              <a:rPr lang="zh-CN" altLang="en-US" sz="2000" dirty="0"/>
              <a:t>作用，其它电容短路。</a:t>
            </a:r>
          </a:p>
        </p:txBody>
      </p:sp>
      <p:graphicFrame>
        <p:nvGraphicFramePr>
          <p:cNvPr id="628742" name="Object 6"/>
          <p:cNvGraphicFramePr>
            <a:graphicFrameLocks noChangeAspect="1"/>
          </p:cNvGraphicFramePr>
          <p:nvPr>
            <p:extLst>
              <p:ext uri="{D42A27DB-BD31-4B8C-83A1-F6EECF244321}">
                <p14:modId xmlns:p14="http://schemas.microsoft.com/office/powerpoint/2010/main" val="2221691353"/>
              </p:ext>
            </p:extLst>
          </p:nvPr>
        </p:nvGraphicFramePr>
        <p:xfrm>
          <a:off x="733198" y="4039966"/>
          <a:ext cx="7718425" cy="777875"/>
        </p:xfrm>
        <a:graphic>
          <a:graphicData uri="http://schemas.openxmlformats.org/presentationml/2006/ole">
            <mc:AlternateContent xmlns:mc="http://schemas.openxmlformats.org/markup-compatibility/2006">
              <mc:Choice xmlns:v="urn:schemas-microsoft-com:vml" Requires="v">
                <p:oleObj spid="_x0000_s24081" name="Equation" r:id="rId3" imgW="4292280" imgH="431640" progId="Equation.DSMT4">
                  <p:embed/>
                </p:oleObj>
              </mc:Choice>
              <mc:Fallback>
                <p:oleObj name="Equation" r:id="rId3" imgW="4292280" imgH="431640" progId="Equation.DSMT4">
                  <p:embed/>
                  <p:pic>
                    <p:nvPicPr>
                      <p:cNvPr id="0" name="Object 6"/>
                      <p:cNvPicPr>
                        <a:picLocks noChangeAspect="1" noChangeArrowheads="1"/>
                      </p:cNvPicPr>
                      <p:nvPr/>
                    </p:nvPicPr>
                    <p:blipFill>
                      <a:blip r:embed="rId4"/>
                      <a:srcRect/>
                      <a:stretch>
                        <a:fillRect/>
                      </a:stretch>
                    </p:blipFill>
                    <p:spPr bwMode="auto">
                      <a:xfrm>
                        <a:off x="733198" y="4039966"/>
                        <a:ext cx="7718425"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8744" name="Text Box 8"/>
          <p:cNvSpPr txBox="1">
            <a:spLocks noChangeArrowheads="1"/>
          </p:cNvSpPr>
          <p:nvPr/>
        </p:nvSpPr>
        <p:spPr bwMode="auto">
          <a:xfrm>
            <a:off x="4257676" y="5394325"/>
            <a:ext cx="4148137" cy="957250"/>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zh-CN" altLang="en-US" sz="2000" dirty="0"/>
              <a:t>其中                 其实就是电容</a:t>
            </a:r>
            <a:r>
              <a:rPr lang="en-US" altLang="zh-CN" sz="2000" i="1" dirty="0"/>
              <a:t>C</a:t>
            </a:r>
            <a:r>
              <a:rPr lang="en-US" altLang="zh-CN" sz="2000" baseline="-25000" dirty="0"/>
              <a:t>1</a:t>
            </a:r>
            <a:r>
              <a:rPr lang="zh-CN" altLang="en-US" sz="2000" dirty="0"/>
              <a:t>两端看进去的电阻。</a:t>
            </a:r>
          </a:p>
        </p:txBody>
      </p:sp>
      <p:graphicFrame>
        <p:nvGraphicFramePr>
          <p:cNvPr id="23559" name="Object 10"/>
          <p:cNvGraphicFramePr>
            <a:graphicFrameLocks noGrp="1" noChangeAspect="1"/>
          </p:cNvGraphicFramePr>
          <p:nvPr>
            <p:ph/>
            <p:extLst>
              <p:ext uri="{D42A27DB-BD31-4B8C-83A1-F6EECF244321}">
                <p14:modId xmlns:p14="http://schemas.microsoft.com/office/powerpoint/2010/main" val="2098572034"/>
              </p:ext>
            </p:extLst>
          </p:nvPr>
        </p:nvGraphicFramePr>
        <p:xfrm>
          <a:off x="4957763" y="5494338"/>
          <a:ext cx="959704" cy="457002"/>
        </p:xfrm>
        <a:graphic>
          <a:graphicData uri="http://schemas.openxmlformats.org/presentationml/2006/ole">
            <mc:AlternateContent xmlns:mc="http://schemas.openxmlformats.org/markup-compatibility/2006">
              <mc:Choice xmlns:v="urn:schemas-microsoft-com:vml" Requires="v">
                <p:oleObj spid="_x0000_s24082" name="Equation" r:id="rId5" imgW="533169" imgH="253890" progId="Equation.DSMT4">
                  <p:embed/>
                </p:oleObj>
              </mc:Choice>
              <mc:Fallback>
                <p:oleObj name="Equation" r:id="rId5" imgW="533169" imgH="25389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7763" y="5494338"/>
                        <a:ext cx="959704" cy="4570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chemeClr val="bg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78651161"/>
              </p:ext>
            </p:extLst>
          </p:nvPr>
        </p:nvGraphicFramePr>
        <p:xfrm>
          <a:off x="1123950" y="5073318"/>
          <a:ext cx="2057400" cy="799632"/>
        </p:xfrm>
        <a:graphic>
          <a:graphicData uri="http://schemas.openxmlformats.org/presentationml/2006/ole">
            <mc:AlternateContent xmlns:mc="http://schemas.openxmlformats.org/markup-compatibility/2006">
              <mc:Choice xmlns:v="urn:schemas-microsoft-com:vml" Requires="v">
                <p:oleObj spid="_x0000_s24083" name="Equation" r:id="rId7" imgW="1143000" imgH="444240" progId="Equation.DSMT4">
                  <p:embed/>
                </p:oleObj>
              </mc:Choice>
              <mc:Fallback>
                <p:oleObj name="Equation" r:id="rId7" imgW="1143000" imgH="444240" progId="Equation.DSMT4">
                  <p:embed/>
                  <p:pic>
                    <p:nvPicPr>
                      <p:cNvPr id="0" name=""/>
                      <p:cNvPicPr/>
                      <p:nvPr/>
                    </p:nvPicPr>
                    <p:blipFill>
                      <a:blip r:embed="rId8"/>
                      <a:stretch>
                        <a:fillRect/>
                      </a:stretch>
                    </p:blipFill>
                    <p:spPr>
                      <a:xfrm>
                        <a:off x="1123950" y="5073318"/>
                        <a:ext cx="2057400" cy="799632"/>
                      </a:xfrm>
                      <a:prstGeom prst="rect">
                        <a:avLst/>
                      </a:prstGeom>
                    </p:spPr>
                  </p:pic>
                </p:oleObj>
              </mc:Fallback>
            </mc:AlternateContent>
          </a:graphicData>
        </a:graphic>
      </p:graphicFrame>
      <p:pic>
        <p:nvPicPr>
          <p:cNvPr id="23651" name="Picture 9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25386" y="864745"/>
            <a:ext cx="5734050" cy="2867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3651"/>
                                        </p:tgtEl>
                                        <p:attrNameLst>
                                          <p:attrName>style.visibility</p:attrName>
                                        </p:attrNameLst>
                                      </p:cBhvr>
                                      <p:to>
                                        <p:strVal val="visible"/>
                                      </p:to>
                                    </p:set>
                                    <p:animEffect transition="in" filter="barn(inVertical)">
                                      <p:cBhvr>
                                        <p:cTn id="7" dur="500"/>
                                        <p:tgtEl>
                                          <p:spTgt spid="2365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28742"/>
                                        </p:tgtEl>
                                        <p:attrNameLst>
                                          <p:attrName>style.visibility</p:attrName>
                                        </p:attrNameLst>
                                      </p:cBhvr>
                                      <p:to>
                                        <p:strVal val="visible"/>
                                      </p:to>
                                    </p:set>
                                    <p:animEffect transition="in" filter="box(in)">
                                      <p:cBhvr>
                                        <p:cTn id="12" dur="500"/>
                                        <p:tgtEl>
                                          <p:spTgt spid="628742"/>
                                        </p:tgtEl>
                                      </p:cBhvr>
                                    </p:animEffect>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628744"/>
                                        </p:tgtEl>
                                        <p:attrNameLst>
                                          <p:attrName>style.visibility</p:attrName>
                                        </p:attrNameLst>
                                      </p:cBhvr>
                                      <p:to>
                                        <p:strVal val="visible"/>
                                      </p:to>
                                    </p:set>
                                    <p:animEffect transition="in" filter="circle(in)">
                                      <p:cBhvr>
                                        <p:cTn id="21" dur="500"/>
                                        <p:tgtEl>
                                          <p:spTgt spid="628744"/>
                                        </p:tgtEl>
                                      </p:cBhvr>
                                    </p:animEffect>
                                  </p:childTnLst>
                                </p:cTn>
                              </p:par>
                              <p:par>
                                <p:cTn id="22" presetID="6" presetClass="entr" presetSubtype="16" fill="hold" nodeType="withEffect">
                                  <p:stCondLst>
                                    <p:cond delay="0"/>
                                  </p:stCondLst>
                                  <p:childTnLst>
                                    <p:set>
                                      <p:cBhvr>
                                        <p:cTn id="23" dur="1" fill="hold">
                                          <p:stCondLst>
                                            <p:cond delay="0"/>
                                          </p:stCondLst>
                                        </p:cTn>
                                        <p:tgtEl>
                                          <p:spTgt spid="23559"/>
                                        </p:tgtEl>
                                        <p:attrNameLst>
                                          <p:attrName>style.visibility</p:attrName>
                                        </p:attrNameLst>
                                      </p:cBhvr>
                                      <p:to>
                                        <p:strVal val="visible"/>
                                      </p:to>
                                    </p:set>
                                    <p:animEffect transition="in" filter="circle(in)">
                                      <p:cBhvr>
                                        <p:cTn id="24" dur="500"/>
                                        <p:tgtEl>
                                          <p:spTgt spid="23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744"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Text Box 2"/>
          <p:cNvSpPr txBox="1">
            <a:spLocks noChangeArrowheads="1"/>
          </p:cNvSpPr>
          <p:nvPr/>
        </p:nvSpPr>
        <p:spPr bwMode="auto">
          <a:xfrm>
            <a:off x="463550" y="649228"/>
            <a:ext cx="79422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400" b="1">
                <a:solidFill>
                  <a:schemeClr val="tx1"/>
                </a:solidFill>
                <a:latin typeface="Times New Roman" pitchFamily="18" charset="0"/>
                <a:ea typeface="宋体" pitchFamily="2" charset="-122"/>
              </a:defRPr>
            </a:lvl1pPr>
            <a:lvl2pPr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lvl="1" algn="l" eaLnBrk="1" hangingPunct="1"/>
            <a:r>
              <a:rPr lang="en-US" altLang="zh-CN" sz="2000" dirty="0"/>
              <a:t>② </a:t>
            </a:r>
            <a:r>
              <a:rPr lang="en-US" altLang="zh-CN" sz="2000" i="1" dirty="0"/>
              <a:t>C</a:t>
            </a:r>
            <a:r>
              <a:rPr lang="en-US" altLang="zh-CN" sz="2000" baseline="-25000" dirty="0"/>
              <a:t>2</a:t>
            </a:r>
            <a:r>
              <a:rPr lang="zh-CN" altLang="en-US" sz="2000" dirty="0"/>
              <a:t>作用，其它电容短路。</a:t>
            </a:r>
          </a:p>
        </p:txBody>
      </p:sp>
      <p:graphicFrame>
        <p:nvGraphicFramePr>
          <p:cNvPr id="630788" name="Object 4"/>
          <p:cNvGraphicFramePr>
            <a:graphicFrameLocks noChangeAspect="1"/>
          </p:cNvGraphicFramePr>
          <p:nvPr>
            <p:extLst>
              <p:ext uri="{D42A27DB-BD31-4B8C-83A1-F6EECF244321}">
                <p14:modId xmlns:p14="http://schemas.microsoft.com/office/powerpoint/2010/main" val="2594543221"/>
              </p:ext>
            </p:extLst>
          </p:nvPr>
        </p:nvGraphicFramePr>
        <p:xfrm>
          <a:off x="1033463" y="4403725"/>
          <a:ext cx="2147887" cy="776288"/>
        </p:xfrm>
        <a:graphic>
          <a:graphicData uri="http://schemas.openxmlformats.org/presentationml/2006/ole">
            <mc:AlternateContent xmlns:mc="http://schemas.openxmlformats.org/markup-compatibility/2006">
              <mc:Choice xmlns:v="urn:schemas-microsoft-com:vml" Requires="v">
                <p:oleObj spid="_x0000_s25110" name="Equation" r:id="rId3" imgW="1193760" imgH="431640" progId="Equation.DSMT4">
                  <p:embed/>
                </p:oleObj>
              </mc:Choice>
              <mc:Fallback>
                <p:oleObj name="Equation" r:id="rId3" imgW="1193760" imgH="431640" progId="Equation.DSMT4">
                  <p:embed/>
                  <p:pic>
                    <p:nvPicPr>
                      <p:cNvPr id="0" name="Object 4"/>
                      <p:cNvPicPr>
                        <a:picLocks noChangeAspect="1" noChangeArrowheads="1"/>
                      </p:cNvPicPr>
                      <p:nvPr/>
                    </p:nvPicPr>
                    <p:blipFill>
                      <a:blip r:embed="rId4"/>
                      <a:srcRect/>
                      <a:stretch>
                        <a:fillRect/>
                      </a:stretch>
                    </p:blipFill>
                    <p:spPr bwMode="auto">
                      <a:xfrm>
                        <a:off x="1033463" y="4403725"/>
                        <a:ext cx="2147887"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0789" name="Object 5"/>
          <p:cNvGraphicFramePr>
            <a:graphicFrameLocks noChangeAspect="1"/>
          </p:cNvGraphicFramePr>
          <p:nvPr>
            <p:extLst>
              <p:ext uri="{D42A27DB-BD31-4B8C-83A1-F6EECF244321}">
                <p14:modId xmlns:p14="http://schemas.microsoft.com/office/powerpoint/2010/main" val="2387314740"/>
              </p:ext>
            </p:extLst>
          </p:nvPr>
        </p:nvGraphicFramePr>
        <p:xfrm>
          <a:off x="904875" y="5376863"/>
          <a:ext cx="2238375" cy="800100"/>
        </p:xfrm>
        <a:graphic>
          <a:graphicData uri="http://schemas.openxmlformats.org/presentationml/2006/ole">
            <mc:AlternateContent xmlns:mc="http://schemas.openxmlformats.org/markup-compatibility/2006">
              <mc:Choice xmlns:v="urn:schemas-microsoft-com:vml" Requires="v">
                <p:oleObj spid="_x0000_s25111" name="Equation" r:id="rId5" imgW="1244520" imgH="444240" progId="Equation.DSMT4">
                  <p:embed/>
                </p:oleObj>
              </mc:Choice>
              <mc:Fallback>
                <p:oleObj name="Equation" r:id="rId5" imgW="1244520" imgH="444240" progId="Equation.DSMT4">
                  <p:embed/>
                  <p:pic>
                    <p:nvPicPr>
                      <p:cNvPr id="0" name="Object 5"/>
                      <p:cNvPicPr>
                        <a:picLocks noChangeAspect="1" noChangeArrowheads="1"/>
                      </p:cNvPicPr>
                      <p:nvPr/>
                    </p:nvPicPr>
                    <p:blipFill>
                      <a:blip r:embed="rId6"/>
                      <a:srcRect/>
                      <a:stretch>
                        <a:fillRect/>
                      </a:stretch>
                    </p:blipFill>
                    <p:spPr bwMode="auto">
                      <a:xfrm>
                        <a:off x="904875" y="5376863"/>
                        <a:ext cx="2238375"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0790" name="Text Box 6"/>
          <p:cNvSpPr txBox="1">
            <a:spLocks noChangeArrowheads="1"/>
          </p:cNvSpPr>
          <p:nvPr/>
        </p:nvSpPr>
        <p:spPr bwMode="auto">
          <a:xfrm>
            <a:off x="4257676" y="5022850"/>
            <a:ext cx="4148137" cy="707886"/>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a:t>其中                 其实就是电容</a:t>
            </a:r>
            <a:r>
              <a:rPr lang="en-US" altLang="zh-CN" sz="2000" i="1"/>
              <a:t>C</a:t>
            </a:r>
            <a:r>
              <a:rPr lang="en-US" altLang="zh-CN" sz="2000" baseline="-25000"/>
              <a:t>2</a:t>
            </a:r>
            <a:r>
              <a:rPr lang="zh-CN" altLang="en-US" sz="2000"/>
              <a:t>两端看进去的电阻。</a:t>
            </a:r>
          </a:p>
        </p:txBody>
      </p:sp>
      <p:graphicFrame>
        <p:nvGraphicFramePr>
          <p:cNvPr id="630791" name="Object 7"/>
          <p:cNvGraphicFramePr>
            <a:graphicFrameLocks noGrp="1" noChangeAspect="1"/>
          </p:cNvGraphicFramePr>
          <p:nvPr>
            <p:ph/>
            <p:extLst>
              <p:ext uri="{D42A27DB-BD31-4B8C-83A1-F6EECF244321}">
                <p14:modId xmlns:p14="http://schemas.microsoft.com/office/powerpoint/2010/main" val="2013269890"/>
              </p:ext>
            </p:extLst>
          </p:nvPr>
        </p:nvGraphicFramePr>
        <p:xfrm>
          <a:off x="4843464" y="4999038"/>
          <a:ext cx="1096805" cy="457002"/>
        </p:xfrm>
        <a:graphic>
          <a:graphicData uri="http://schemas.openxmlformats.org/presentationml/2006/ole">
            <mc:AlternateContent xmlns:mc="http://schemas.openxmlformats.org/markup-compatibility/2006">
              <mc:Choice xmlns:v="urn:schemas-microsoft-com:vml" Requires="v">
                <p:oleObj spid="_x0000_s25112" name="Equation" r:id="rId7" imgW="609336" imgH="253890" progId="Equation.DSMT4">
                  <p:embed/>
                </p:oleObj>
              </mc:Choice>
              <mc:Fallback>
                <p:oleObj name="Equation" r:id="rId7" imgW="609336" imgH="25389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43464" y="4999038"/>
                        <a:ext cx="1096805" cy="4570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chemeClr val="bg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4683" name="Picture 10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66850" y="1144588"/>
            <a:ext cx="6210300" cy="3076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4683"/>
                                        </p:tgtEl>
                                        <p:attrNameLst>
                                          <p:attrName>style.visibility</p:attrName>
                                        </p:attrNameLst>
                                      </p:cBhvr>
                                      <p:to>
                                        <p:strVal val="visible"/>
                                      </p:to>
                                    </p:set>
                                    <p:animEffect transition="in" filter="barn(inVertical)">
                                      <p:cBhvr>
                                        <p:cTn id="7" dur="500"/>
                                        <p:tgtEl>
                                          <p:spTgt spid="2468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30788"/>
                                        </p:tgtEl>
                                        <p:attrNameLst>
                                          <p:attrName>style.visibility</p:attrName>
                                        </p:attrNameLst>
                                      </p:cBhvr>
                                      <p:to>
                                        <p:strVal val="visible"/>
                                      </p:to>
                                    </p:set>
                                    <p:animEffect transition="in" filter="box(in)">
                                      <p:cBhvr>
                                        <p:cTn id="12" dur="500"/>
                                        <p:tgtEl>
                                          <p:spTgt spid="630788"/>
                                        </p:tgtEl>
                                      </p:cBhvr>
                                    </p:animEffect>
                                  </p:childTnLst>
                                </p:cTn>
                              </p:par>
                              <p:par>
                                <p:cTn id="13" presetID="4" presetClass="entr" presetSubtype="16" fill="hold" nodeType="withEffect">
                                  <p:stCondLst>
                                    <p:cond delay="0"/>
                                  </p:stCondLst>
                                  <p:childTnLst>
                                    <p:set>
                                      <p:cBhvr>
                                        <p:cTn id="14" dur="1" fill="hold">
                                          <p:stCondLst>
                                            <p:cond delay="0"/>
                                          </p:stCondLst>
                                        </p:cTn>
                                        <p:tgtEl>
                                          <p:spTgt spid="630789"/>
                                        </p:tgtEl>
                                        <p:attrNameLst>
                                          <p:attrName>style.visibility</p:attrName>
                                        </p:attrNameLst>
                                      </p:cBhvr>
                                      <p:to>
                                        <p:strVal val="visible"/>
                                      </p:to>
                                    </p:set>
                                    <p:animEffect transition="in" filter="box(in)">
                                      <p:cBhvr>
                                        <p:cTn id="15" dur="500"/>
                                        <p:tgtEl>
                                          <p:spTgt spid="630789"/>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630790"/>
                                        </p:tgtEl>
                                        <p:attrNameLst>
                                          <p:attrName>style.visibility</p:attrName>
                                        </p:attrNameLst>
                                      </p:cBhvr>
                                      <p:to>
                                        <p:strVal val="visible"/>
                                      </p:to>
                                    </p:set>
                                    <p:animEffect transition="in" filter="box(in)">
                                      <p:cBhvr>
                                        <p:cTn id="20" dur="500"/>
                                        <p:tgtEl>
                                          <p:spTgt spid="630790"/>
                                        </p:tgtEl>
                                      </p:cBhvr>
                                    </p:animEffect>
                                  </p:childTnLst>
                                </p:cTn>
                              </p:par>
                              <p:par>
                                <p:cTn id="21" presetID="4" presetClass="entr" presetSubtype="16" fill="hold" nodeType="withEffect">
                                  <p:stCondLst>
                                    <p:cond delay="0"/>
                                  </p:stCondLst>
                                  <p:childTnLst>
                                    <p:set>
                                      <p:cBhvr>
                                        <p:cTn id="22" dur="1" fill="hold">
                                          <p:stCondLst>
                                            <p:cond delay="0"/>
                                          </p:stCondLst>
                                        </p:cTn>
                                        <p:tgtEl>
                                          <p:spTgt spid="630791"/>
                                        </p:tgtEl>
                                        <p:attrNameLst>
                                          <p:attrName>style.visibility</p:attrName>
                                        </p:attrNameLst>
                                      </p:cBhvr>
                                      <p:to>
                                        <p:strVal val="visible"/>
                                      </p:to>
                                    </p:set>
                                    <p:animEffect transition="in" filter="box(in)">
                                      <p:cBhvr>
                                        <p:cTn id="23" dur="500"/>
                                        <p:tgtEl>
                                          <p:spTgt spid="630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90"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Text Box 3"/>
          <p:cNvSpPr txBox="1">
            <a:spLocks noChangeArrowheads="1"/>
          </p:cNvSpPr>
          <p:nvPr/>
        </p:nvSpPr>
        <p:spPr bwMode="auto">
          <a:xfrm>
            <a:off x="463550" y="539750"/>
            <a:ext cx="79422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400" b="1">
                <a:solidFill>
                  <a:schemeClr val="tx1"/>
                </a:solidFill>
                <a:latin typeface="Times New Roman" pitchFamily="18" charset="0"/>
                <a:ea typeface="宋体" pitchFamily="2" charset="-122"/>
              </a:defRPr>
            </a:lvl1pPr>
            <a:lvl2pPr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lvl="1" algn="l" eaLnBrk="1" hangingPunct="1"/>
            <a:r>
              <a:rPr lang="en-US" altLang="zh-CN" sz="2000"/>
              <a:t>③ </a:t>
            </a:r>
            <a:r>
              <a:rPr lang="en-US" altLang="zh-CN" sz="2000" i="1"/>
              <a:t>C</a:t>
            </a:r>
            <a:r>
              <a:rPr lang="en-US" altLang="zh-CN" sz="2000" i="1" baseline="-25000"/>
              <a:t>e</a:t>
            </a:r>
            <a:r>
              <a:rPr lang="zh-CN" altLang="en-US" sz="2000"/>
              <a:t>作用，其它电容短路。</a:t>
            </a:r>
          </a:p>
        </p:txBody>
      </p:sp>
      <p:graphicFrame>
        <p:nvGraphicFramePr>
          <p:cNvPr id="631812" name="Object 4"/>
          <p:cNvGraphicFramePr>
            <a:graphicFrameLocks noChangeAspect="1"/>
          </p:cNvGraphicFramePr>
          <p:nvPr>
            <p:extLst>
              <p:ext uri="{D42A27DB-BD31-4B8C-83A1-F6EECF244321}">
                <p14:modId xmlns:p14="http://schemas.microsoft.com/office/powerpoint/2010/main" val="3562327566"/>
              </p:ext>
            </p:extLst>
          </p:nvPr>
        </p:nvGraphicFramePr>
        <p:xfrm>
          <a:off x="463550" y="4731008"/>
          <a:ext cx="2103438" cy="776288"/>
        </p:xfrm>
        <a:graphic>
          <a:graphicData uri="http://schemas.openxmlformats.org/presentationml/2006/ole">
            <mc:AlternateContent xmlns:mc="http://schemas.openxmlformats.org/markup-compatibility/2006">
              <mc:Choice xmlns:v="urn:schemas-microsoft-com:vml" Requires="v">
                <p:oleObj spid="_x0000_s26202" name="Equation" r:id="rId3" imgW="1168200" imgH="431640" progId="Equation.DSMT4">
                  <p:embed/>
                </p:oleObj>
              </mc:Choice>
              <mc:Fallback>
                <p:oleObj name="Equation" r:id="rId3" imgW="1168200" imgH="431640" progId="Equation.DSMT4">
                  <p:embed/>
                  <p:pic>
                    <p:nvPicPr>
                      <p:cNvPr id="0" name="Object 4"/>
                      <p:cNvPicPr>
                        <a:picLocks noChangeAspect="1" noChangeArrowheads="1"/>
                      </p:cNvPicPr>
                      <p:nvPr/>
                    </p:nvPicPr>
                    <p:blipFill>
                      <a:blip r:embed="rId4"/>
                      <a:srcRect/>
                      <a:stretch>
                        <a:fillRect/>
                      </a:stretch>
                    </p:blipFill>
                    <p:spPr bwMode="auto">
                      <a:xfrm>
                        <a:off x="463550" y="4731008"/>
                        <a:ext cx="2103438"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8"/>
          <p:cNvGraphicFramePr>
            <a:graphicFrameLocks noChangeAspect="1"/>
          </p:cNvGraphicFramePr>
          <p:nvPr>
            <p:extLst>
              <p:ext uri="{D42A27DB-BD31-4B8C-83A1-F6EECF244321}">
                <p14:modId xmlns:p14="http://schemas.microsoft.com/office/powerpoint/2010/main" val="1302002618"/>
              </p:ext>
            </p:extLst>
          </p:nvPr>
        </p:nvGraphicFramePr>
        <p:xfrm>
          <a:off x="3571218" y="5383815"/>
          <a:ext cx="5121275" cy="777875"/>
        </p:xfrm>
        <a:graphic>
          <a:graphicData uri="http://schemas.openxmlformats.org/presentationml/2006/ole">
            <mc:AlternateContent xmlns:mc="http://schemas.openxmlformats.org/markup-compatibility/2006">
              <mc:Choice xmlns:v="urn:schemas-microsoft-com:vml" Requires="v">
                <p:oleObj spid="_x0000_s26203" name="Equation" r:id="rId5" imgW="2844720" imgH="431640" progId="Equation.DSMT4">
                  <p:embed/>
                </p:oleObj>
              </mc:Choice>
              <mc:Fallback>
                <p:oleObj name="Equation" r:id="rId5" imgW="2844720" imgH="431640" progId="Equation.DSMT4">
                  <p:embed/>
                  <p:pic>
                    <p:nvPicPr>
                      <p:cNvPr id="0" name=""/>
                      <p:cNvPicPr>
                        <a:picLocks noChangeAspect="1" noChangeArrowheads="1"/>
                      </p:cNvPicPr>
                      <p:nvPr/>
                    </p:nvPicPr>
                    <p:blipFill>
                      <a:blip r:embed="rId6"/>
                      <a:srcRect/>
                      <a:stretch>
                        <a:fillRect/>
                      </a:stretch>
                    </p:blipFill>
                    <p:spPr bwMode="auto">
                      <a:xfrm>
                        <a:off x="3571218" y="5383815"/>
                        <a:ext cx="5121275"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5707" name="Picture 10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4475" y="1044634"/>
            <a:ext cx="5695950" cy="3267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9" name="Object 4"/>
          <p:cNvGraphicFramePr>
            <a:graphicFrameLocks noChangeAspect="1"/>
          </p:cNvGraphicFramePr>
          <p:nvPr>
            <p:extLst>
              <p:ext uri="{D42A27DB-BD31-4B8C-83A1-F6EECF244321}">
                <p14:modId xmlns:p14="http://schemas.microsoft.com/office/powerpoint/2010/main" val="726017884"/>
              </p:ext>
            </p:extLst>
          </p:nvPr>
        </p:nvGraphicFramePr>
        <p:xfrm>
          <a:off x="463550" y="5698628"/>
          <a:ext cx="1439863" cy="777875"/>
        </p:xfrm>
        <a:graphic>
          <a:graphicData uri="http://schemas.openxmlformats.org/presentationml/2006/ole">
            <mc:AlternateContent xmlns:mc="http://schemas.openxmlformats.org/markup-compatibility/2006">
              <mc:Choice xmlns:v="urn:schemas-microsoft-com:vml" Requires="v">
                <p:oleObj spid="_x0000_s26204" name="Equation" r:id="rId8" imgW="799920" imgH="431640" progId="Equation.DSMT4">
                  <p:embed/>
                </p:oleObj>
              </mc:Choice>
              <mc:Fallback>
                <p:oleObj name="Equation" r:id="rId8" imgW="799920" imgH="431640" progId="Equation.DSMT4">
                  <p:embed/>
                  <p:pic>
                    <p:nvPicPr>
                      <p:cNvPr id="0" name=""/>
                      <p:cNvPicPr>
                        <a:picLocks noChangeAspect="1" noChangeArrowheads="1"/>
                      </p:cNvPicPr>
                      <p:nvPr/>
                    </p:nvPicPr>
                    <p:blipFill>
                      <a:blip r:embed="rId9"/>
                      <a:srcRect/>
                      <a:stretch>
                        <a:fillRect/>
                      </a:stretch>
                    </p:blipFill>
                    <p:spPr bwMode="auto">
                      <a:xfrm>
                        <a:off x="463550" y="5698628"/>
                        <a:ext cx="1439863"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5707"/>
                                        </p:tgtEl>
                                        <p:attrNameLst>
                                          <p:attrName>style.visibility</p:attrName>
                                        </p:attrNameLst>
                                      </p:cBhvr>
                                      <p:to>
                                        <p:strVal val="visible"/>
                                      </p:to>
                                    </p:set>
                                    <p:animEffect transition="in" filter="barn(inVertical)">
                                      <p:cBhvr>
                                        <p:cTn id="7" dur="500"/>
                                        <p:tgtEl>
                                          <p:spTgt spid="2570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31812"/>
                                        </p:tgtEl>
                                        <p:attrNameLst>
                                          <p:attrName>style.visibility</p:attrName>
                                        </p:attrNameLst>
                                      </p:cBhvr>
                                      <p:to>
                                        <p:strVal val="visible"/>
                                      </p:to>
                                    </p:set>
                                    <p:animEffect transition="in" filter="checkerboard(across)">
                                      <p:cBhvr>
                                        <p:cTn id="12" dur="500"/>
                                        <p:tgtEl>
                                          <p:spTgt spid="63181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1" name="Object 8"/>
          <p:cNvGraphicFramePr>
            <a:graphicFrameLocks noChangeAspect="1"/>
          </p:cNvGraphicFramePr>
          <p:nvPr>
            <p:extLst>
              <p:ext uri="{D42A27DB-BD31-4B8C-83A1-F6EECF244321}">
                <p14:modId xmlns:p14="http://schemas.microsoft.com/office/powerpoint/2010/main" val="2786197253"/>
              </p:ext>
            </p:extLst>
          </p:nvPr>
        </p:nvGraphicFramePr>
        <p:xfrm>
          <a:off x="1371162" y="5209953"/>
          <a:ext cx="6492875" cy="1212850"/>
        </p:xfrm>
        <a:graphic>
          <a:graphicData uri="http://schemas.openxmlformats.org/presentationml/2006/ole">
            <mc:AlternateContent xmlns:mc="http://schemas.openxmlformats.org/markup-compatibility/2006">
              <mc:Choice xmlns:v="urn:schemas-microsoft-com:vml" Requires="v">
                <p:oleObj spid="_x0000_s69797" name="Equation" r:id="rId3" imgW="3606480" imgH="672840" progId="Equation.DSMT4">
                  <p:embed/>
                </p:oleObj>
              </mc:Choice>
              <mc:Fallback>
                <p:oleObj name="Equation" r:id="rId3" imgW="3606480" imgH="672840" progId="Equation.DSMT4">
                  <p:embed/>
                  <p:pic>
                    <p:nvPicPr>
                      <p:cNvPr id="0" name=""/>
                      <p:cNvPicPr>
                        <a:picLocks noChangeAspect="1" noChangeArrowheads="1"/>
                      </p:cNvPicPr>
                      <p:nvPr/>
                    </p:nvPicPr>
                    <p:blipFill>
                      <a:blip r:embed="rId4"/>
                      <a:srcRect/>
                      <a:stretch>
                        <a:fillRect/>
                      </a:stretch>
                    </p:blipFill>
                    <p:spPr bwMode="auto">
                      <a:xfrm>
                        <a:off x="1371162" y="5209953"/>
                        <a:ext cx="6492875" cy="1212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4"/>
          <p:cNvGraphicFramePr>
            <a:graphicFrameLocks noChangeAspect="1"/>
          </p:cNvGraphicFramePr>
          <p:nvPr>
            <p:extLst>
              <p:ext uri="{D42A27DB-BD31-4B8C-83A1-F6EECF244321}">
                <p14:modId xmlns:p14="http://schemas.microsoft.com/office/powerpoint/2010/main" val="1415827223"/>
              </p:ext>
            </p:extLst>
          </p:nvPr>
        </p:nvGraphicFramePr>
        <p:xfrm>
          <a:off x="390525" y="684949"/>
          <a:ext cx="2628900" cy="457200"/>
        </p:xfrm>
        <a:graphic>
          <a:graphicData uri="http://schemas.openxmlformats.org/presentationml/2006/ole">
            <mc:AlternateContent xmlns:mc="http://schemas.openxmlformats.org/markup-compatibility/2006">
              <mc:Choice xmlns:v="urn:schemas-microsoft-com:vml" Requires="v">
                <p:oleObj spid="_x0000_s69798" name="Equation" r:id="rId5" imgW="1460160" imgH="253800" progId="Equation.DSMT4">
                  <p:embed/>
                </p:oleObj>
              </mc:Choice>
              <mc:Fallback>
                <p:oleObj name="Equation" r:id="rId5" imgW="1460160" imgH="253800" progId="Equation.DSMT4">
                  <p:embed/>
                  <p:pic>
                    <p:nvPicPr>
                      <p:cNvPr id="0" name=""/>
                      <p:cNvPicPr>
                        <a:picLocks noChangeAspect="1" noChangeArrowheads="1"/>
                      </p:cNvPicPr>
                      <p:nvPr/>
                    </p:nvPicPr>
                    <p:blipFill>
                      <a:blip r:embed="rId6"/>
                      <a:srcRect/>
                      <a:stretch>
                        <a:fillRect/>
                      </a:stretch>
                    </p:blipFill>
                    <p:spPr bwMode="auto">
                      <a:xfrm>
                        <a:off x="390525" y="684949"/>
                        <a:ext cx="2628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下箭头 4"/>
          <p:cNvSpPr/>
          <p:nvPr/>
        </p:nvSpPr>
        <p:spPr bwMode="auto">
          <a:xfrm>
            <a:off x="1513490" y="1340069"/>
            <a:ext cx="191485" cy="354724"/>
          </a:xfrm>
          <a:prstGeom prst="down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graphicFrame>
        <p:nvGraphicFramePr>
          <p:cNvPr id="14" name="Object 4"/>
          <p:cNvGraphicFramePr>
            <a:graphicFrameLocks noChangeAspect="1"/>
          </p:cNvGraphicFramePr>
          <p:nvPr>
            <p:extLst>
              <p:ext uri="{D42A27DB-BD31-4B8C-83A1-F6EECF244321}">
                <p14:modId xmlns:p14="http://schemas.microsoft.com/office/powerpoint/2010/main" val="2229190814"/>
              </p:ext>
            </p:extLst>
          </p:nvPr>
        </p:nvGraphicFramePr>
        <p:xfrm>
          <a:off x="584200" y="1765300"/>
          <a:ext cx="2239963" cy="777875"/>
        </p:xfrm>
        <a:graphic>
          <a:graphicData uri="http://schemas.openxmlformats.org/presentationml/2006/ole">
            <mc:AlternateContent xmlns:mc="http://schemas.openxmlformats.org/markup-compatibility/2006">
              <mc:Choice xmlns:v="urn:schemas-microsoft-com:vml" Requires="v">
                <p:oleObj spid="_x0000_s69799" name="Equation" r:id="rId7" imgW="1244520" imgH="431640" progId="Equation.DSMT4">
                  <p:embed/>
                </p:oleObj>
              </mc:Choice>
              <mc:Fallback>
                <p:oleObj name="Equation" r:id="rId7" imgW="1244520" imgH="431640" progId="Equation.DSMT4">
                  <p:embed/>
                  <p:pic>
                    <p:nvPicPr>
                      <p:cNvPr id="0" name=""/>
                      <p:cNvPicPr>
                        <a:picLocks noChangeAspect="1" noChangeArrowheads="1"/>
                      </p:cNvPicPr>
                      <p:nvPr/>
                    </p:nvPicPr>
                    <p:blipFill>
                      <a:blip r:embed="rId8"/>
                      <a:srcRect/>
                      <a:stretch>
                        <a:fillRect/>
                      </a:stretch>
                    </p:blipFill>
                    <p:spPr bwMode="auto">
                      <a:xfrm>
                        <a:off x="584200" y="1765300"/>
                        <a:ext cx="2239963"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4"/>
          <p:cNvGraphicFramePr>
            <a:graphicFrameLocks noChangeAspect="1"/>
          </p:cNvGraphicFramePr>
          <p:nvPr>
            <p:extLst>
              <p:ext uri="{D42A27DB-BD31-4B8C-83A1-F6EECF244321}">
                <p14:modId xmlns:p14="http://schemas.microsoft.com/office/powerpoint/2010/main" val="4177115560"/>
              </p:ext>
            </p:extLst>
          </p:nvPr>
        </p:nvGraphicFramePr>
        <p:xfrm>
          <a:off x="515557" y="3713948"/>
          <a:ext cx="3338513" cy="503237"/>
        </p:xfrm>
        <a:graphic>
          <a:graphicData uri="http://schemas.openxmlformats.org/presentationml/2006/ole">
            <mc:AlternateContent xmlns:mc="http://schemas.openxmlformats.org/markup-compatibility/2006">
              <mc:Choice xmlns:v="urn:schemas-microsoft-com:vml" Requires="v">
                <p:oleObj spid="_x0000_s69800" name="Equation" r:id="rId9" imgW="1854000" imgH="279360" progId="Equation.DSMT4">
                  <p:embed/>
                </p:oleObj>
              </mc:Choice>
              <mc:Fallback>
                <p:oleObj name="Equation" r:id="rId9" imgW="1854000" imgH="279360" progId="Equation.DSMT4">
                  <p:embed/>
                  <p:pic>
                    <p:nvPicPr>
                      <p:cNvPr id="0" name=""/>
                      <p:cNvPicPr>
                        <a:picLocks noChangeAspect="1" noChangeArrowheads="1"/>
                      </p:cNvPicPr>
                      <p:nvPr/>
                    </p:nvPicPr>
                    <p:blipFill>
                      <a:blip r:embed="rId10"/>
                      <a:srcRect/>
                      <a:stretch>
                        <a:fillRect/>
                      </a:stretch>
                    </p:blipFill>
                    <p:spPr bwMode="auto">
                      <a:xfrm>
                        <a:off x="515557" y="3713948"/>
                        <a:ext cx="3338513"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4"/>
          <p:cNvGraphicFramePr>
            <a:graphicFrameLocks noChangeAspect="1"/>
          </p:cNvGraphicFramePr>
          <p:nvPr>
            <p:extLst>
              <p:ext uri="{D42A27DB-BD31-4B8C-83A1-F6EECF244321}">
                <p14:modId xmlns:p14="http://schemas.microsoft.com/office/powerpoint/2010/main" val="2326759524"/>
              </p:ext>
            </p:extLst>
          </p:nvPr>
        </p:nvGraphicFramePr>
        <p:xfrm>
          <a:off x="732631" y="2937726"/>
          <a:ext cx="1943100" cy="457200"/>
        </p:xfrm>
        <a:graphic>
          <a:graphicData uri="http://schemas.openxmlformats.org/presentationml/2006/ole">
            <mc:AlternateContent xmlns:mc="http://schemas.openxmlformats.org/markup-compatibility/2006">
              <mc:Choice xmlns:v="urn:schemas-microsoft-com:vml" Requires="v">
                <p:oleObj spid="_x0000_s69801" name="Equation" r:id="rId11" imgW="1079280" imgH="253800" progId="Equation.DSMT4">
                  <p:embed/>
                </p:oleObj>
              </mc:Choice>
              <mc:Fallback>
                <p:oleObj name="Equation" r:id="rId11" imgW="1079280" imgH="253800" progId="Equation.DSMT4">
                  <p:embed/>
                  <p:pic>
                    <p:nvPicPr>
                      <p:cNvPr id="0" name=""/>
                      <p:cNvPicPr>
                        <a:picLocks noChangeAspect="1" noChangeArrowheads="1"/>
                      </p:cNvPicPr>
                      <p:nvPr/>
                    </p:nvPicPr>
                    <p:blipFill>
                      <a:blip r:embed="rId12"/>
                      <a:srcRect/>
                      <a:stretch>
                        <a:fillRect/>
                      </a:stretch>
                    </p:blipFill>
                    <p:spPr bwMode="auto">
                      <a:xfrm>
                        <a:off x="732631" y="2937726"/>
                        <a:ext cx="1943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下箭头 20"/>
          <p:cNvSpPr/>
          <p:nvPr/>
        </p:nvSpPr>
        <p:spPr bwMode="auto">
          <a:xfrm>
            <a:off x="1513490" y="4536207"/>
            <a:ext cx="191485" cy="354724"/>
          </a:xfrm>
          <a:prstGeom prst="down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cxnSp>
        <p:nvCxnSpPr>
          <p:cNvPr id="25" name="曲线连接符 24"/>
          <p:cNvCxnSpPr>
            <a:stCxn id="14" idx="1"/>
            <a:endCxn id="15" idx="1"/>
          </p:cNvCxnSpPr>
          <p:nvPr/>
        </p:nvCxnSpPr>
        <p:spPr bwMode="auto">
          <a:xfrm rot="10800000" flipV="1">
            <a:off x="515558" y="2154236"/>
            <a:ext cx="68643" cy="1811329"/>
          </a:xfrm>
          <a:prstGeom prst="curvedConnector3">
            <a:avLst>
              <a:gd name="adj1" fmla="val 639735"/>
            </a:avLst>
          </a:prstGeom>
          <a:solidFill>
            <a:srgbClr val="99FF99"/>
          </a:solidFill>
          <a:ln w="38100" cap="flat" cmpd="sng" algn="ctr">
            <a:solidFill>
              <a:srgbClr val="92D05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 name="图片 1"/>
          <p:cNvPicPr>
            <a:picLocks noChangeAspect="1"/>
          </p:cNvPicPr>
          <p:nvPr/>
        </p:nvPicPr>
        <p:blipFill>
          <a:blip r:embed="rId13"/>
          <a:stretch>
            <a:fillRect/>
          </a:stretch>
        </p:blipFill>
        <p:spPr>
          <a:xfrm>
            <a:off x="3419694" y="275423"/>
            <a:ext cx="5553075" cy="3438525"/>
          </a:xfrm>
          <a:prstGeom prst="rect">
            <a:avLst/>
          </a:prstGeom>
        </p:spPr>
      </p:pic>
    </p:spTree>
    <p:extLst>
      <p:ext uri="{BB962C8B-B14F-4D97-AF65-F5344CB8AC3E}">
        <p14:creationId xmlns:p14="http://schemas.microsoft.com/office/powerpoint/2010/main" val="29480360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par>
                          <p:cTn id="13" fill="hold">
                            <p:stCondLst>
                              <p:cond delay="500"/>
                            </p:stCondLst>
                            <p:childTnLst>
                              <p:par>
                                <p:cTn id="14" presetID="5" presetClass="entr" presetSubtype="10"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checkerboard(across)">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checkerboard(across)">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checkerboard(across)">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barn(inVertical)">
                                      <p:cBhvr>
                                        <p:cTn id="31" dur="500"/>
                                        <p:tgtEl>
                                          <p:spTgt spid="25"/>
                                        </p:tgtEl>
                                      </p:cBhvr>
                                    </p:animEffect>
                                  </p:childTnLst>
                                </p:cTn>
                              </p:par>
                            </p:childTnLst>
                          </p:cTn>
                        </p:par>
                        <p:par>
                          <p:cTn id="32" fill="hold">
                            <p:stCondLst>
                              <p:cond delay="500"/>
                            </p:stCondLst>
                            <p:childTnLst>
                              <p:par>
                                <p:cTn id="33" presetID="16" presetClass="entr" presetSubtype="21" fill="hold" grpId="0"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barn(inVertical)">
                                      <p:cBhvr>
                                        <p:cTn id="35" dur="500"/>
                                        <p:tgtEl>
                                          <p:spTgt spid="21"/>
                                        </p:tgtEl>
                                      </p:cBhvr>
                                    </p:animEffect>
                                  </p:childTnLst>
                                </p:cTn>
                              </p:par>
                            </p:childTnLst>
                          </p:cTn>
                        </p:par>
                        <p:par>
                          <p:cTn id="36" fill="hold">
                            <p:stCondLst>
                              <p:cond delay="1000"/>
                            </p:stCondLst>
                            <p:childTnLst>
                              <p:par>
                                <p:cTn id="37" presetID="16" presetClass="entr" presetSubtype="21" fill="hold"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barn(inVertical)">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1"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1814" name="Text Box 6"/>
          <p:cNvSpPr txBox="1">
            <a:spLocks noChangeArrowheads="1"/>
          </p:cNvSpPr>
          <p:nvPr/>
        </p:nvSpPr>
        <p:spPr bwMode="auto">
          <a:xfrm>
            <a:off x="2640615" y="5520592"/>
            <a:ext cx="4148138" cy="553998"/>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zh-CN" altLang="en-US" sz="2000" dirty="0" smtClean="0"/>
              <a:t>       就是</a:t>
            </a:r>
            <a:r>
              <a:rPr lang="zh-CN" altLang="en-US" sz="2000" dirty="0"/>
              <a:t>电容</a:t>
            </a:r>
            <a:r>
              <a:rPr lang="en-US" altLang="zh-CN" sz="2000" i="1" dirty="0"/>
              <a:t>C</a:t>
            </a:r>
            <a:r>
              <a:rPr lang="en-US" altLang="zh-CN" sz="2000" i="1" baseline="-25000" dirty="0"/>
              <a:t>e </a:t>
            </a:r>
            <a:r>
              <a:rPr lang="zh-CN" altLang="en-US" sz="2000" dirty="0"/>
              <a:t>两端看进去的电阻。</a:t>
            </a:r>
          </a:p>
        </p:txBody>
      </p:sp>
      <p:graphicFrame>
        <p:nvGraphicFramePr>
          <p:cNvPr id="631815" name="Object 7"/>
          <p:cNvGraphicFramePr>
            <a:graphicFrameLocks noGrp="1" noChangeAspect="1"/>
          </p:cNvGraphicFramePr>
          <p:nvPr>
            <p:ph/>
            <p:extLst>
              <p:ext uri="{D42A27DB-BD31-4B8C-83A1-F6EECF244321}">
                <p14:modId xmlns:p14="http://schemas.microsoft.com/office/powerpoint/2010/main" val="3137390750"/>
              </p:ext>
            </p:extLst>
          </p:nvPr>
        </p:nvGraphicFramePr>
        <p:xfrm>
          <a:off x="2727325" y="5520592"/>
          <a:ext cx="434151" cy="502702"/>
        </p:xfrm>
        <a:graphic>
          <a:graphicData uri="http://schemas.openxmlformats.org/presentationml/2006/ole">
            <mc:AlternateContent xmlns:mc="http://schemas.openxmlformats.org/markup-compatibility/2006">
              <mc:Choice xmlns:v="urn:schemas-microsoft-com:vml" Requires="v">
                <p:oleObj spid="_x0000_s70720" name="Equation" r:id="rId3" imgW="241195" imgH="279279" progId="Equation.DSMT4">
                  <p:embed/>
                </p:oleObj>
              </mc:Choice>
              <mc:Fallback>
                <p:oleObj name="Equation" r:id="rId3" imgW="241195" imgH="279279"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7325" y="5520592"/>
                        <a:ext cx="434151" cy="502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chemeClr val="bg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8"/>
          <p:cNvGraphicFramePr>
            <a:graphicFrameLocks noChangeAspect="1"/>
          </p:cNvGraphicFramePr>
          <p:nvPr>
            <p:extLst>
              <p:ext uri="{D42A27DB-BD31-4B8C-83A1-F6EECF244321}">
                <p14:modId xmlns:p14="http://schemas.microsoft.com/office/powerpoint/2010/main" val="2194961153"/>
              </p:ext>
            </p:extLst>
          </p:nvPr>
        </p:nvGraphicFramePr>
        <p:xfrm>
          <a:off x="3222843" y="4195541"/>
          <a:ext cx="2765425" cy="777875"/>
        </p:xfrm>
        <a:graphic>
          <a:graphicData uri="http://schemas.openxmlformats.org/presentationml/2006/ole">
            <mc:AlternateContent xmlns:mc="http://schemas.openxmlformats.org/markup-compatibility/2006">
              <mc:Choice xmlns:v="urn:schemas-microsoft-com:vml" Requires="v">
                <p:oleObj spid="_x0000_s70721" name="Equation" r:id="rId5" imgW="1536480" imgH="431640" progId="Equation.DSMT4">
                  <p:embed/>
                </p:oleObj>
              </mc:Choice>
              <mc:Fallback>
                <p:oleObj name="Equation" r:id="rId5" imgW="1536480" imgH="431640" progId="Equation.DSMT4">
                  <p:embed/>
                  <p:pic>
                    <p:nvPicPr>
                      <p:cNvPr id="0" name=""/>
                      <p:cNvPicPr>
                        <a:picLocks noChangeAspect="1" noChangeArrowheads="1"/>
                      </p:cNvPicPr>
                      <p:nvPr/>
                    </p:nvPicPr>
                    <p:blipFill>
                      <a:blip r:embed="rId6"/>
                      <a:srcRect/>
                      <a:stretch>
                        <a:fillRect/>
                      </a:stretch>
                    </p:blipFill>
                    <p:spPr bwMode="auto">
                      <a:xfrm>
                        <a:off x="3222843" y="4195541"/>
                        <a:ext cx="2765425"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图片 1"/>
          <p:cNvPicPr>
            <a:picLocks noChangeAspect="1"/>
          </p:cNvPicPr>
          <p:nvPr/>
        </p:nvPicPr>
        <p:blipFill>
          <a:blip r:embed="rId7"/>
          <a:stretch>
            <a:fillRect/>
          </a:stretch>
        </p:blipFill>
        <p:spPr>
          <a:xfrm>
            <a:off x="1569053" y="467015"/>
            <a:ext cx="5448300" cy="3181350"/>
          </a:xfrm>
          <a:prstGeom prst="rect">
            <a:avLst/>
          </a:prstGeom>
        </p:spPr>
      </p:pic>
    </p:spTree>
    <p:extLst>
      <p:ext uri="{BB962C8B-B14F-4D97-AF65-F5344CB8AC3E}">
        <p14:creationId xmlns:p14="http://schemas.microsoft.com/office/powerpoint/2010/main" val="17372926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631814"/>
                                        </p:tgtEl>
                                        <p:attrNameLst>
                                          <p:attrName>style.visibility</p:attrName>
                                        </p:attrNameLst>
                                      </p:cBhvr>
                                      <p:to>
                                        <p:strVal val="visible"/>
                                      </p:to>
                                    </p:set>
                                    <p:animEffect transition="in" filter="diamond(in)">
                                      <p:cBhvr>
                                        <p:cTn id="12" dur="1000"/>
                                        <p:tgtEl>
                                          <p:spTgt spid="631814"/>
                                        </p:tgtEl>
                                      </p:cBhvr>
                                    </p:animEffect>
                                  </p:childTnLst>
                                </p:cTn>
                              </p:par>
                              <p:par>
                                <p:cTn id="13" presetID="8" presetClass="entr" presetSubtype="16" fill="hold" nodeType="withEffect">
                                  <p:stCondLst>
                                    <p:cond delay="0"/>
                                  </p:stCondLst>
                                  <p:childTnLst>
                                    <p:set>
                                      <p:cBhvr>
                                        <p:cTn id="14" dur="1" fill="hold">
                                          <p:stCondLst>
                                            <p:cond delay="0"/>
                                          </p:stCondLst>
                                        </p:cTn>
                                        <p:tgtEl>
                                          <p:spTgt spid="631815"/>
                                        </p:tgtEl>
                                        <p:attrNameLst>
                                          <p:attrName>style.visibility</p:attrName>
                                        </p:attrNameLst>
                                      </p:cBhvr>
                                      <p:to>
                                        <p:strVal val="visible"/>
                                      </p:to>
                                    </p:set>
                                    <p:animEffect transition="in" filter="diamond(in)">
                                      <p:cBhvr>
                                        <p:cTn id="15" dur="1000"/>
                                        <p:tgtEl>
                                          <p:spTgt spid="631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1814"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组合 1"/>
          <p:cNvGrpSpPr/>
          <p:nvPr/>
        </p:nvGrpSpPr>
        <p:grpSpPr>
          <a:xfrm>
            <a:off x="1482952" y="1854654"/>
            <a:ext cx="5659438" cy="4295775"/>
            <a:chOff x="1670050" y="1609725"/>
            <a:chExt cx="5659438" cy="4295775"/>
          </a:xfrm>
        </p:grpSpPr>
        <p:pic>
          <p:nvPicPr>
            <p:cNvPr id="26627" name="图片 2024" descr="说明: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50" y="1609725"/>
              <a:ext cx="5659438" cy="429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p:nvPr/>
          </p:nvSpPr>
          <p:spPr bwMode="auto">
            <a:xfrm>
              <a:off x="3498517" y="3322177"/>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5" name="椭圆 4"/>
            <p:cNvSpPr/>
            <p:nvPr/>
          </p:nvSpPr>
          <p:spPr bwMode="auto">
            <a:xfrm>
              <a:off x="3502611" y="4907629"/>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6" name="椭圆 5"/>
            <p:cNvSpPr/>
            <p:nvPr/>
          </p:nvSpPr>
          <p:spPr bwMode="auto">
            <a:xfrm>
              <a:off x="4499769" y="3695034"/>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7" name="椭圆 6"/>
            <p:cNvSpPr/>
            <p:nvPr/>
          </p:nvSpPr>
          <p:spPr bwMode="auto">
            <a:xfrm>
              <a:off x="4499769" y="4907629"/>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8" name="椭圆 7"/>
            <p:cNvSpPr/>
            <p:nvPr/>
          </p:nvSpPr>
          <p:spPr bwMode="auto">
            <a:xfrm>
              <a:off x="5216704" y="4907629"/>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9" name="椭圆 8"/>
            <p:cNvSpPr/>
            <p:nvPr/>
          </p:nvSpPr>
          <p:spPr bwMode="auto">
            <a:xfrm>
              <a:off x="6027866" y="4907629"/>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0" name="椭圆 9"/>
            <p:cNvSpPr/>
            <p:nvPr/>
          </p:nvSpPr>
          <p:spPr bwMode="auto">
            <a:xfrm>
              <a:off x="4499768" y="2842855"/>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1" name="椭圆 10"/>
            <p:cNvSpPr/>
            <p:nvPr/>
          </p:nvSpPr>
          <p:spPr bwMode="auto">
            <a:xfrm>
              <a:off x="6027866" y="2842855"/>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2" name="椭圆 11"/>
            <p:cNvSpPr/>
            <p:nvPr/>
          </p:nvSpPr>
          <p:spPr bwMode="auto">
            <a:xfrm>
              <a:off x="4499768" y="1776286"/>
              <a:ext cx="96677" cy="92074"/>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grpSp>
      <p:sp>
        <p:nvSpPr>
          <p:cNvPr id="14" name="Text Box 3"/>
          <p:cNvSpPr txBox="1">
            <a:spLocks noChangeArrowheads="1"/>
          </p:cNvSpPr>
          <p:nvPr/>
        </p:nvSpPr>
        <p:spPr bwMode="auto">
          <a:xfrm>
            <a:off x="623888" y="798052"/>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10.4.3 </a:t>
            </a:r>
            <a:r>
              <a:rPr lang="zh-CN" altLang="en-US" dirty="0">
                <a:solidFill>
                  <a:srgbClr val="990033"/>
                </a:solidFill>
              </a:rPr>
              <a:t>共源放大器</a:t>
            </a:r>
            <a:r>
              <a:rPr lang="zh-CN" altLang="en-US" dirty="0" smtClean="0">
                <a:solidFill>
                  <a:srgbClr val="990033"/>
                </a:solidFill>
              </a:rPr>
              <a:t>的</a:t>
            </a:r>
            <a:r>
              <a:rPr lang="en-US" altLang="en-US" dirty="0" err="1" smtClean="0">
                <a:solidFill>
                  <a:srgbClr val="A50021"/>
                </a:solidFill>
              </a:rPr>
              <a:t>低频响应</a:t>
            </a:r>
            <a:endParaRPr lang="zh-CN" altLang="en-US" dirty="0">
              <a:solidFill>
                <a:srgbClr val="A50021"/>
              </a:solidFill>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3859" name="Text Box 3"/>
          <p:cNvSpPr txBox="1">
            <a:spLocks noChangeArrowheads="1"/>
          </p:cNvSpPr>
          <p:nvPr/>
        </p:nvSpPr>
        <p:spPr bwMode="auto">
          <a:xfrm>
            <a:off x="666750" y="4473575"/>
            <a:ext cx="7942263" cy="188057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zh-CN" altLang="en-US" sz="2000" dirty="0"/>
              <a:t>解题步骤：</a:t>
            </a:r>
          </a:p>
          <a:p>
            <a:pPr lvl="1" algn="l" eaLnBrk="1" hangingPunct="1">
              <a:lnSpc>
                <a:spcPct val="150000"/>
              </a:lnSpc>
            </a:pPr>
            <a:r>
              <a:rPr lang="en-US" altLang="zh-CN" sz="2000" dirty="0"/>
              <a:t>1</a:t>
            </a:r>
            <a:r>
              <a:rPr lang="zh-CN" altLang="en-US" sz="2000" dirty="0"/>
              <a:t>）求解中频增益。</a:t>
            </a:r>
          </a:p>
          <a:p>
            <a:pPr lvl="1" algn="l" eaLnBrk="1" hangingPunct="1">
              <a:lnSpc>
                <a:spcPct val="150000"/>
              </a:lnSpc>
            </a:pPr>
            <a:r>
              <a:rPr lang="en-US" altLang="zh-CN" sz="2000" dirty="0"/>
              <a:t>2</a:t>
            </a:r>
            <a:r>
              <a:rPr lang="zh-CN" altLang="en-US" sz="2000" dirty="0"/>
              <a:t>）求解一个电容单独作用时的增益（其它电容短路）。</a:t>
            </a:r>
          </a:p>
          <a:p>
            <a:pPr lvl="1" algn="l" eaLnBrk="1" hangingPunct="1">
              <a:lnSpc>
                <a:spcPct val="150000"/>
              </a:lnSpc>
            </a:pPr>
            <a:r>
              <a:rPr lang="en-US" altLang="zh-CN" sz="2000" dirty="0"/>
              <a:t>3</a:t>
            </a:r>
            <a:r>
              <a:rPr lang="zh-CN" altLang="en-US" sz="2000" dirty="0"/>
              <a:t>）确定低频截止频率。</a:t>
            </a:r>
          </a:p>
        </p:txBody>
      </p:sp>
      <p:pic>
        <p:nvPicPr>
          <p:cNvPr id="27651" name="图片 2026" descr="说明: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3663" y="347663"/>
            <a:ext cx="6240462" cy="416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3859">
                                            <p:txEl>
                                              <p:pRg st="0" end="0"/>
                                            </p:txEl>
                                          </p:spTgt>
                                        </p:tgtEl>
                                        <p:attrNameLst>
                                          <p:attrName>style.visibility</p:attrName>
                                        </p:attrNameLst>
                                      </p:cBhvr>
                                      <p:to>
                                        <p:strVal val="visible"/>
                                      </p:to>
                                    </p:set>
                                    <p:animEffect transition="in" filter="blinds(horizontal)">
                                      <p:cBhvr>
                                        <p:cTn id="7" dur="500"/>
                                        <p:tgtEl>
                                          <p:spTgt spid="6338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33859">
                                            <p:txEl>
                                              <p:pRg st="1" end="1"/>
                                            </p:txEl>
                                          </p:spTgt>
                                        </p:tgtEl>
                                        <p:attrNameLst>
                                          <p:attrName>style.visibility</p:attrName>
                                        </p:attrNameLst>
                                      </p:cBhvr>
                                      <p:to>
                                        <p:strVal val="visible"/>
                                      </p:to>
                                    </p:set>
                                    <p:animEffect transition="in" filter="box(in)">
                                      <p:cBhvr>
                                        <p:cTn id="12" dur="500"/>
                                        <p:tgtEl>
                                          <p:spTgt spid="6338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33859">
                                            <p:txEl>
                                              <p:pRg st="2" end="2"/>
                                            </p:txEl>
                                          </p:spTgt>
                                        </p:tgtEl>
                                        <p:attrNameLst>
                                          <p:attrName>style.visibility</p:attrName>
                                        </p:attrNameLst>
                                      </p:cBhvr>
                                      <p:to>
                                        <p:strVal val="visible"/>
                                      </p:to>
                                    </p:set>
                                    <p:animEffect transition="in" filter="box(in)">
                                      <p:cBhvr>
                                        <p:cTn id="17" dur="500"/>
                                        <p:tgtEl>
                                          <p:spTgt spid="6338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33859">
                                            <p:txEl>
                                              <p:pRg st="3" end="3"/>
                                            </p:txEl>
                                          </p:spTgt>
                                        </p:tgtEl>
                                        <p:attrNameLst>
                                          <p:attrName>style.visibility</p:attrName>
                                        </p:attrNameLst>
                                      </p:cBhvr>
                                      <p:to>
                                        <p:strVal val="visible"/>
                                      </p:to>
                                    </p:set>
                                    <p:animEffect transition="in" filter="box(in)">
                                      <p:cBhvr>
                                        <p:cTn id="22" dur="500"/>
                                        <p:tgtEl>
                                          <p:spTgt spid="6338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463550" y="787400"/>
            <a:ext cx="79422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400" b="1">
                <a:solidFill>
                  <a:schemeClr val="tx1"/>
                </a:solidFill>
                <a:latin typeface="Times New Roman" pitchFamily="18" charset="0"/>
                <a:ea typeface="宋体" pitchFamily="2" charset="-122"/>
              </a:defRPr>
            </a:lvl1pPr>
            <a:lvl2pPr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lvl="1" algn="l" eaLnBrk="1" hangingPunct="1"/>
            <a:r>
              <a:rPr lang="en-US" altLang="zh-CN" sz="2000" dirty="0"/>
              <a:t>1</a:t>
            </a:r>
            <a:r>
              <a:rPr lang="zh-CN" altLang="en-US" sz="2000" dirty="0"/>
              <a:t>）求解中频增益。</a:t>
            </a:r>
          </a:p>
        </p:txBody>
      </p:sp>
      <p:graphicFrame>
        <p:nvGraphicFramePr>
          <p:cNvPr id="634884" name="Object 4"/>
          <p:cNvGraphicFramePr>
            <a:graphicFrameLocks noChangeAspect="1"/>
          </p:cNvGraphicFramePr>
          <p:nvPr>
            <p:extLst>
              <p:ext uri="{D42A27DB-BD31-4B8C-83A1-F6EECF244321}">
                <p14:modId xmlns:p14="http://schemas.microsoft.com/office/powerpoint/2010/main" val="4092022803"/>
              </p:ext>
            </p:extLst>
          </p:nvPr>
        </p:nvGraphicFramePr>
        <p:xfrm>
          <a:off x="2882900" y="5068888"/>
          <a:ext cx="3749675" cy="777875"/>
        </p:xfrm>
        <a:graphic>
          <a:graphicData uri="http://schemas.openxmlformats.org/presentationml/2006/ole">
            <mc:AlternateContent xmlns:mc="http://schemas.openxmlformats.org/markup-compatibility/2006">
              <mc:Choice xmlns:v="urn:schemas-microsoft-com:vml" Requires="v">
                <p:oleObj spid="_x0000_s28852" name="Equation" r:id="rId3" imgW="2082600" imgH="431640" progId="Equation.DSMT4">
                  <p:embed/>
                </p:oleObj>
              </mc:Choice>
              <mc:Fallback>
                <p:oleObj name="Equation" r:id="rId3" imgW="2082600" imgH="431640" progId="Equation.DSMT4">
                  <p:embed/>
                  <p:pic>
                    <p:nvPicPr>
                      <p:cNvPr id="0" name="Object 4"/>
                      <p:cNvPicPr>
                        <a:picLocks noChangeAspect="1" noChangeArrowheads="1"/>
                      </p:cNvPicPr>
                      <p:nvPr/>
                    </p:nvPicPr>
                    <p:blipFill>
                      <a:blip r:embed="rId4"/>
                      <a:srcRect/>
                      <a:stretch>
                        <a:fillRect/>
                      </a:stretch>
                    </p:blipFill>
                    <p:spPr bwMode="auto">
                      <a:xfrm>
                        <a:off x="2882900" y="5068888"/>
                        <a:ext cx="3749675"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34885" name="图片 2027" descr="说明: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9375" y="1450975"/>
            <a:ext cx="6484938"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4885"/>
                                        </p:tgtEl>
                                        <p:attrNameLst>
                                          <p:attrName>style.visibility</p:attrName>
                                        </p:attrNameLst>
                                      </p:cBhvr>
                                      <p:to>
                                        <p:strVal val="visible"/>
                                      </p:to>
                                    </p:set>
                                    <p:animEffect transition="in" filter="blinds(horizontal)">
                                      <p:cBhvr>
                                        <p:cTn id="7" dur="500"/>
                                        <p:tgtEl>
                                          <p:spTgt spid="6348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34884"/>
                                        </p:tgtEl>
                                        <p:attrNameLst>
                                          <p:attrName>style.visibility</p:attrName>
                                        </p:attrNameLst>
                                      </p:cBhvr>
                                      <p:to>
                                        <p:strVal val="visible"/>
                                      </p:to>
                                    </p:set>
                                    <p:animEffect transition="in" filter="box(in)">
                                      <p:cBhvr>
                                        <p:cTn id="12" dur="500"/>
                                        <p:tgtEl>
                                          <p:spTgt spid="634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463550" y="725428"/>
            <a:ext cx="79422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400" b="1">
                <a:solidFill>
                  <a:schemeClr val="tx1"/>
                </a:solidFill>
                <a:latin typeface="Times New Roman" pitchFamily="18" charset="0"/>
                <a:ea typeface="宋体" pitchFamily="2" charset="-122"/>
              </a:defRPr>
            </a:lvl1pPr>
            <a:lvl2pPr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lvl="1" algn="l" eaLnBrk="1" hangingPunct="1"/>
            <a:r>
              <a:rPr lang="en-US" altLang="zh-CN" sz="2000" dirty="0"/>
              <a:t>① </a:t>
            </a:r>
            <a:r>
              <a:rPr lang="en-US" altLang="zh-CN" sz="2000" i="1" dirty="0"/>
              <a:t>C</a:t>
            </a:r>
            <a:r>
              <a:rPr lang="en-US" altLang="zh-CN" sz="2000" baseline="-25000" dirty="0"/>
              <a:t>1</a:t>
            </a:r>
            <a:r>
              <a:rPr lang="zh-CN" altLang="en-US" sz="2000" dirty="0"/>
              <a:t>作用，其它电容短路。</a:t>
            </a:r>
          </a:p>
        </p:txBody>
      </p:sp>
      <p:graphicFrame>
        <p:nvGraphicFramePr>
          <p:cNvPr id="635908" name="Object 4"/>
          <p:cNvGraphicFramePr>
            <a:graphicFrameLocks noChangeAspect="1"/>
          </p:cNvGraphicFramePr>
          <p:nvPr>
            <p:extLst>
              <p:ext uri="{D42A27DB-BD31-4B8C-83A1-F6EECF244321}">
                <p14:modId xmlns:p14="http://schemas.microsoft.com/office/powerpoint/2010/main" val="1141634285"/>
              </p:ext>
            </p:extLst>
          </p:nvPr>
        </p:nvGraphicFramePr>
        <p:xfrm>
          <a:off x="1138238" y="4389438"/>
          <a:ext cx="2103437" cy="777875"/>
        </p:xfrm>
        <a:graphic>
          <a:graphicData uri="http://schemas.openxmlformats.org/presentationml/2006/ole">
            <mc:AlternateContent xmlns:mc="http://schemas.openxmlformats.org/markup-compatibility/2006">
              <mc:Choice xmlns:v="urn:schemas-microsoft-com:vml" Requires="v">
                <p:oleObj spid="_x0000_s30229" name="Equation" r:id="rId3" imgW="1168200" imgH="431640" progId="Equation.DSMT4">
                  <p:embed/>
                </p:oleObj>
              </mc:Choice>
              <mc:Fallback>
                <p:oleObj name="Equation" r:id="rId3" imgW="1168200" imgH="431640" progId="Equation.DSMT4">
                  <p:embed/>
                  <p:pic>
                    <p:nvPicPr>
                      <p:cNvPr id="0" name="Object 4"/>
                      <p:cNvPicPr>
                        <a:picLocks noChangeAspect="1" noChangeArrowheads="1"/>
                      </p:cNvPicPr>
                      <p:nvPr/>
                    </p:nvPicPr>
                    <p:blipFill>
                      <a:blip r:embed="rId4"/>
                      <a:srcRect/>
                      <a:stretch>
                        <a:fillRect/>
                      </a:stretch>
                    </p:blipFill>
                    <p:spPr bwMode="auto">
                      <a:xfrm>
                        <a:off x="1138238" y="4389438"/>
                        <a:ext cx="2103437"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909" name="Object 5"/>
          <p:cNvGraphicFramePr>
            <a:graphicFrameLocks noChangeAspect="1"/>
          </p:cNvGraphicFramePr>
          <p:nvPr>
            <p:extLst>
              <p:ext uri="{D42A27DB-BD31-4B8C-83A1-F6EECF244321}">
                <p14:modId xmlns:p14="http://schemas.microsoft.com/office/powerpoint/2010/main" val="1199397411"/>
              </p:ext>
            </p:extLst>
          </p:nvPr>
        </p:nvGraphicFramePr>
        <p:xfrm>
          <a:off x="1012825" y="5464036"/>
          <a:ext cx="2057400" cy="800100"/>
        </p:xfrm>
        <a:graphic>
          <a:graphicData uri="http://schemas.openxmlformats.org/presentationml/2006/ole">
            <mc:AlternateContent xmlns:mc="http://schemas.openxmlformats.org/markup-compatibility/2006">
              <mc:Choice xmlns:v="urn:schemas-microsoft-com:vml" Requires="v">
                <p:oleObj spid="_x0000_s30230" name="Equation" r:id="rId5" imgW="1143000" imgH="444500" progId="Equation.DSMT4">
                  <p:embed/>
                </p:oleObj>
              </mc:Choice>
              <mc:Fallback>
                <p:oleObj name="Equation" r:id="rId5" imgW="1143000" imgH="4445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2825" y="5464036"/>
                        <a:ext cx="205740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910" name="Text Box 6"/>
          <p:cNvSpPr txBox="1">
            <a:spLocks noChangeArrowheads="1"/>
          </p:cNvSpPr>
          <p:nvPr/>
        </p:nvSpPr>
        <p:spPr bwMode="auto">
          <a:xfrm>
            <a:off x="4262438" y="4908550"/>
            <a:ext cx="4148137" cy="957250"/>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zh-CN" altLang="en-US" sz="2000" dirty="0"/>
              <a:t>其中                 其实就是电容</a:t>
            </a:r>
            <a:r>
              <a:rPr lang="en-US" altLang="zh-CN" sz="2000" i="1" dirty="0"/>
              <a:t>C</a:t>
            </a:r>
            <a:r>
              <a:rPr lang="en-US" altLang="zh-CN" sz="2000" baseline="-25000" dirty="0"/>
              <a:t>1</a:t>
            </a:r>
            <a:r>
              <a:rPr lang="zh-CN" altLang="en-US" sz="2000" dirty="0"/>
              <a:t>两端看进去的电阻。</a:t>
            </a:r>
          </a:p>
        </p:txBody>
      </p:sp>
      <p:graphicFrame>
        <p:nvGraphicFramePr>
          <p:cNvPr id="635911" name="Object 7"/>
          <p:cNvGraphicFramePr>
            <a:graphicFrameLocks noGrp="1" noChangeAspect="1"/>
          </p:cNvGraphicFramePr>
          <p:nvPr>
            <p:ph/>
            <p:extLst>
              <p:ext uri="{D42A27DB-BD31-4B8C-83A1-F6EECF244321}">
                <p14:modId xmlns:p14="http://schemas.microsoft.com/office/powerpoint/2010/main" val="3875584087"/>
              </p:ext>
            </p:extLst>
          </p:nvPr>
        </p:nvGraphicFramePr>
        <p:xfrm>
          <a:off x="4933950" y="4987323"/>
          <a:ext cx="959704" cy="457002"/>
        </p:xfrm>
        <a:graphic>
          <a:graphicData uri="http://schemas.openxmlformats.org/presentationml/2006/ole">
            <mc:AlternateContent xmlns:mc="http://schemas.openxmlformats.org/markup-compatibility/2006">
              <mc:Choice xmlns:v="urn:schemas-microsoft-com:vml" Requires="v">
                <p:oleObj spid="_x0000_s30231" name="Equation" r:id="rId7" imgW="533169" imgH="253890" progId="Equation.DSMT4">
                  <p:embed/>
                </p:oleObj>
              </mc:Choice>
              <mc:Fallback>
                <p:oleObj name="Equation" r:id="rId7" imgW="533169" imgH="25389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3950" y="4987323"/>
                        <a:ext cx="959704" cy="4570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chemeClr val="bg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35912" name="图片 2034" descr="说明: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70063" y="1243013"/>
            <a:ext cx="5795962" cy="314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5912"/>
                                        </p:tgtEl>
                                        <p:attrNameLst>
                                          <p:attrName>style.visibility</p:attrName>
                                        </p:attrNameLst>
                                      </p:cBhvr>
                                      <p:to>
                                        <p:strVal val="visible"/>
                                      </p:to>
                                    </p:set>
                                    <p:animEffect transition="in" filter="blinds(horizontal)">
                                      <p:cBhvr>
                                        <p:cTn id="7" dur="500"/>
                                        <p:tgtEl>
                                          <p:spTgt spid="6359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35908"/>
                                        </p:tgtEl>
                                        <p:attrNameLst>
                                          <p:attrName>style.visibility</p:attrName>
                                        </p:attrNameLst>
                                      </p:cBhvr>
                                      <p:to>
                                        <p:strVal val="visible"/>
                                      </p:to>
                                    </p:set>
                                    <p:animEffect transition="in" filter="blinds(horizontal)">
                                      <p:cBhvr>
                                        <p:cTn id="12" dur="500"/>
                                        <p:tgtEl>
                                          <p:spTgt spid="635908"/>
                                        </p:tgtEl>
                                      </p:cBhvr>
                                    </p:animEffect>
                                  </p:childTnLst>
                                </p:cTn>
                              </p:par>
                              <p:par>
                                <p:cTn id="13" presetID="3" presetClass="entr" presetSubtype="10" fill="hold" nodeType="withEffect">
                                  <p:stCondLst>
                                    <p:cond delay="0"/>
                                  </p:stCondLst>
                                  <p:childTnLst>
                                    <p:set>
                                      <p:cBhvr>
                                        <p:cTn id="14" dur="1" fill="hold">
                                          <p:stCondLst>
                                            <p:cond delay="0"/>
                                          </p:stCondLst>
                                        </p:cTn>
                                        <p:tgtEl>
                                          <p:spTgt spid="635909"/>
                                        </p:tgtEl>
                                        <p:attrNameLst>
                                          <p:attrName>style.visibility</p:attrName>
                                        </p:attrNameLst>
                                      </p:cBhvr>
                                      <p:to>
                                        <p:strVal val="visible"/>
                                      </p:to>
                                    </p:set>
                                    <p:animEffect transition="in" filter="blinds(horizontal)">
                                      <p:cBhvr>
                                        <p:cTn id="15" dur="500"/>
                                        <p:tgtEl>
                                          <p:spTgt spid="63590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635910"/>
                                        </p:tgtEl>
                                        <p:attrNameLst>
                                          <p:attrName>style.visibility</p:attrName>
                                        </p:attrNameLst>
                                      </p:cBhvr>
                                      <p:to>
                                        <p:strVal val="visible"/>
                                      </p:to>
                                    </p:set>
                                    <p:animEffect transition="in" filter="diamond(in)">
                                      <p:cBhvr>
                                        <p:cTn id="20" dur="500"/>
                                        <p:tgtEl>
                                          <p:spTgt spid="635910"/>
                                        </p:tgtEl>
                                      </p:cBhvr>
                                    </p:animEffect>
                                  </p:childTnLst>
                                </p:cTn>
                              </p:par>
                              <p:par>
                                <p:cTn id="21" presetID="8" presetClass="entr" presetSubtype="16" fill="hold" nodeType="withEffect">
                                  <p:stCondLst>
                                    <p:cond delay="0"/>
                                  </p:stCondLst>
                                  <p:childTnLst>
                                    <p:set>
                                      <p:cBhvr>
                                        <p:cTn id="22" dur="1" fill="hold">
                                          <p:stCondLst>
                                            <p:cond delay="0"/>
                                          </p:stCondLst>
                                        </p:cTn>
                                        <p:tgtEl>
                                          <p:spTgt spid="635911"/>
                                        </p:tgtEl>
                                        <p:attrNameLst>
                                          <p:attrName>style.visibility</p:attrName>
                                        </p:attrNameLst>
                                      </p:cBhvr>
                                      <p:to>
                                        <p:strVal val="visible"/>
                                      </p:to>
                                    </p:set>
                                    <p:animEffect transition="in" filter="diamond(in)">
                                      <p:cBhvr>
                                        <p:cTn id="23" dur="500"/>
                                        <p:tgtEl>
                                          <p:spTgt spid="635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10"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36936" name="图片 2047" descr="说明: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0050" y="939860"/>
            <a:ext cx="6124575" cy="332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Text Box 3"/>
          <p:cNvSpPr txBox="1">
            <a:spLocks noChangeArrowheads="1"/>
          </p:cNvSpPr>
          <p:nvPr/>
        </p:nvSpPr>
        <p:spPr bwMode="auto">
          <a:xfrm>
            <a:off x="463550" y="739805"/>
            <a:ext cx="79422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400" b="1">
                <a:solidFill>
                  <a:schemeClr val="tx1"/>
                </a:solidFill>
                <a:latin typeface="Times New Roman" pitchFamily="18" charset="0"/>
                <a:ea typeface="宋体" pitchFamily="2" charset="-122"/>
              </a:defRPr>
            </a:lvl1pPr>
            <a:lvl2pPr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lvl="1" algn="l" eaLnBrk="1" hangingPunct="1"/>
            <a:r>
              <a:rPr lang="en-US" altLang="zh-CN" sz="2000"/>
              <a:t>② </a:t>
            </a:r>
            <a:r>
              <a:rPr lang="en-US" altLang="zh-CN" sz="2000" i="1"/>
              <a:t>C</a:t>
            </a:r>
            <a:r>
              <a:rPr lang="en-US" altLang="zh-CN" sz="2000" baseline="-25000"/>
              <a:t>2</a:t>
            </a:r>
            <a:r>
              <a:rPr lang="zh-CN" altLang="en-US" sz="2000"/>
              <a:t>作用，其它电容短路。</a:t>
            </a:r>
          </a:p>
        </p:txBody>
      </p:sp>
      <p:graphicFrame>
        <p:nvGraphicFramePr>
          <p:cNvPr id="636932" name="Object 4"/>
          <p:cNvGraphicFramePr>
            <a:graphicFrameLocks noChangeAspect="1"/>
          </p:cNvGraphicFramePr>
          <p:nvPr>
            <p:extLst>
              <p:ext uri="{D42A27DB-BD31-4B8C-83A1-F6EECF244321}">
                <p14:modId xmlns:p14="http://schemas.microsoft.com/office/powerpoint/2010/main" val="1611062452"/>
              </p:ext>
            </p:extLst>
          </p:nvPr>
        </p:nvGraphicFramePr>
        <p:xfrm>
          <a:off x="1101725" y="4381401"/>
          <a:ext cx="2147887" cy="776288"/>
        </p:xfrm>
        <a:graphic>
          <a:graphicData uri="http://schemas.openxmlformats.org/presentationml/2006/ole">
            <mc:AlternateContent xmlns:mc="http://schemas.openxmlformats.org/markup-compatibility/2006">
              <mc:Choice xmlns:v="urn:schemas-microsoft-com:vml" Requires="v">
                <p:oleObj spid="_x0000_s31253" name="Equation" r:id="rId4" imgW="1193760" imgH="431640" progId="Equation.DSMT4">
                  <p:embed/>
                </p:oleObj>
              </mc:Choice>
              <mc:Fallback>
                <p:oleObj name="Equation" r:id="rId4" imgW="1193760" imgH="431640" progId="Equation.DSMT4">
                  <p:embed/>
                  <p:pic>
                    <p:nvPicPr>
                      <p:cNvPr id="0" name="Object 4"/>
                      <p:cNvPicPr>
                        <a:picLocks noChangeAspect="1" noChangeArrowheads="1"/>
                      </p:cNvPicPr>
                      <p:nvPr/>
                    </p:nvPicPr>
                    <p:blipFill>
                      <a:blip r:embed="rId5"/>
                      <a:srcRect/>
                      <a:stretch>
                        <a:fillRect/>
                      </a:stretch>
                    </p:blipFill>
                    <p:spPr bwMode="auto">
                      <a:xfrm>
                        <a:off x="1101725" y="4381401"/>
                        <a:ext cx="2147887"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6933" name="Object 5"/>
          <p:cNvGraphicFramePr>
            <a:graphicFrameLocks noChangeAspect="1"/>
          </p:cNvGraphicFramePr>
          <p:nvPr>
            <p:extLst>
              <p:ext uri="{D42A27DB-BD31-4B8C-83A1-F6EECF244321}">
                <p14:modId xmlns:p14="http://schemas.microsoft.com/office/powerpoint/2010/main" val="2707211312"/>
              </p:ext>
            </p:extLst>
          </p:nvPr>
        </p:nvGraphicFramePr>
        <p:xfrm>
          <a:off x="1033463" y="5319713"/>
          <a:ext cx="2284412" cy="800100"/>
        </p:xfrm>
        <a:graphic>
          <a:graphicData uri="http://schemas.openxmlformats.org/presentationml/2006/ole">
            <mc:AlternateContent xmlns:mc="http://schemas.openxmlformats.org/markup-compatibility/2006">
              <mc:Choice xmlns:v="urn:schemas-microsoft-com:vml" Requires="v">
                <p:oleObj spid="_x0000_s31254" name="Equation" r:id="rId6" imgW="1269720" imgH="444240" progId="Equation.DSMT4">
                  <p:embed/>
                </p:oleObj>
              </mc:Choice>
              <mc:Fallback>
                <p:oleObj name="Equation" r:id="rId6" imgW="1269720" imgH="444240" progId="Equation.DSMT4">
                  <p:embed/>
                  <p:pic>
                    <p:nvPicPr>
                      <p:cNvPr id="0" name="Object 5"/>
                      <p:cNvPicPr>
                        <a:picLocks noChangeAspect="1" noChangeArrowheads="1"/>
                      </p:cNvPicPr>
                      <p:nvPr/>
                    </p:nvPicPr>
                    <p:blipFill>
                      <a:blip r:embed="rId7"/>
                      <a:srcRect/>
                      <a:stretch>
                        <a:fillRect/>
                      </a:stretch>
                    </p:blipFill>
                    <p:spPr bwMode="auto">
                      <a:xfrm>
                        <a:off x="1033463" y="5319713"/>
                        <a:ext cx="2284412"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6934" name="Text Box 6"/>
          <p:cNvSpPr txBox="1">
            <a:spLocks noChangeArrowheads="1"/>
          </p:cNvSpPr>
          <p:nvPr/>
        </p:nvSpPr>
        <p:spPr bwMode="auto">
          <a:xfrm>
            <a:off x="4390231" y="4841875"/>
            <a:ext cx="4148137" cy="957250"/>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zh-CN" altLang="en-US" sz="2000" dirty="0" smtClean="0"/>
              <a:t>其中                   </a:t>
            </a:r>
            <a:r>
              <a:rPr lang="zh-CN" altLang="en-US" sz="2000" dirty="0"/>
              <a:t>其实就是电容</a:t>
            </a:r>
            <a:r>
              <a:rPr lang="en-US" altLang="zh-CN" sz="2000" i="1" dirty="0"/>
              <a:t>C</a:t>
            </a:r>
            <a:r>
              <a:rPr lang="en-US" altLang="zh-CN" sz="2000" baseline="-25000" dirty="0"/>
              <a:t>2</a:t>
            </a:r>
            <a:r>
              <a:rPr lang="zh-CN" altLang="en-US" sz="2000" dirty="0"/>
              <a:t>两端看进去的电阻。</a:t>
            </a:r>
          </a:p>
        </p:txBody>
      </p:sp>
      <p:graphicFrame>
        <p:nvGraphicFramePr>
          <p:cNvPr id="636935" name="Object 7"/>
          <p:cNvGraphicFramePr>
            <a:graphicFrameLocks noGrp="1" noChangeAspect="1"/>
          </p:cNvGraphicFramePr>
          <p:nvPr>
            <p:ph/>
            <p:extLst>
              <p:ext uri="{D42A27DB-BD31-4B8C-83A1-F6EECF244321}">
                <p14:modId xmlns:p14="http://schemas.microsoft.com/office/powerpoint/2010/main" val="4007434773"/>
              </p:ext>
            </p:extLst>
          </p:nvPr>
        </p:nvGraphicFramePr>
        <p:xfrm>
          <a:off x="5014118" y="4929188"/>
          <a:ext cx="1165354" cy="457002"/>
        </p:xfrm>
        <a:graphic>
          <a:graphicData uri="http://schemas.openxmlformats.org/presentationml/2006/ole">
            <mc:AlternateContent xmlns:mc="http://schemas.openxmlformats.org/markup-compatibility/2006">
              <mc:Choice xmlns:v="urn:schemas-microsoft-com:vml" Requires="v">
                <p:oleObj spid="_x0000_s31255" name="Equation" r:id="rId8" imgW="647419" imgH="253890" progId="Equation.DSMT4">
                  <p:embed/>
                </p:oleObj>
              </mc:Choice>
              <mc:Fallback>
                <p:oleObj name="Equation" r:id="rId8" imgW="647419" imgH="25389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14118" y="4929188"/>
                        <a:ext cx="1165354" cy="4570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chemeClr val="bg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6936"/>
                                        </p:tgtEl>
                                        <p:attrNameLst>
                                          <p:attrName>style.visibility</p:attrName>
                                        </p:attrNameLst>
                                      </p:cBhvr>
                                      <p:to>
                                        <p:strVal val="visible"/>
                                      </p:to>
                                    </p:set>
                                    <p:animEffect transition="in" filter="blinds(horizontal)">
                                      <p:cBhvr>
                                        <p:cTn id="7" dur="500"/>
                                        <p:tgtEl>
                                          <p:spTgt spid="6369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636932"/>
                                        </p:tgtEl>
                                        <p:attrNameLst>
                                          <p:attrName>style.visibility</p:attrName>
                                        </p:attrNameLst>
                                      </p:cBhvr>
                                      <p:to>
                                        <p:strVal val="visible"/>
                                      </p:to>
                                    </p:set>
                                    <p:animEffect transition="in" filter="diamond(in)">
                                      <p:cBhvr>
                                        <p:cTn id="12" dur="500"/>
                                        <p:tgtEl>
                                          <p:spTgt spid="636932"/>
                                        </p:tgtEl>
                                      </p:cBhvr>
                                    </p:animEffect>
                                  </p:childTnLst>
                                </p:cTn>
                              </p:par>
                              <p:par>
                                <p:cTn id="13" presetID="8" presetClass="entr" presetSubtype="16" fill="hold" nodeType="withEffect">
                                  <p:stCondLst>
                                    <p:cond delay="0"/>
                                  </p:stCondLst>
                                  <p:childTnLst>
                                    <p:set>
                                      <p:cBhvr>
                                        <p:cTn id="14" dur="1" fill="hold">
                                          <p:stCondLst>
                                            <p:cond delay="0"/>
                                          </p:stCondLst>
                                        </p:cTn>
                                        <p:tgtEl>
                                          <p:spTgt spid="636933"/>
                                        </p:tgtEl>
                                        <p:attrNameLst>
                                          <p:attrName>style.visibility</p:attrName>
                                        </p:attrNameLst>
                                      </p:cBhvr>
                                      <p:to>
                                        <p:strVal val="visible"/>
                                      </p:to>
                                    </p:set>
                                    <p:animEffect transition="in" filter="diamond(in)">
                                      <p:cBhvr>
                                        <p:cTn id="15" dur="500"/>
                                        <p:tgtEl>
                                          <p:spTgt spid="63693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636934"/>
                                        </p:tgtEl>
                                        <p:attrNameLst>
                                          <p:attrName>style.visibility</p:attrName>
                                        </p:attrNameLst>
                                      </p:cBhvr>
                                      <p:to>
                                        <p:strVal val="visible"/>
                                      </p:to>
                                    </p:set>
                                    <p:animEffect transition="in" filter="diamond(in)">
                                      <p:cBhvr>
                                        <p:cTn id="20" dur="1000"/>
                                        <p:tgtEl>
                                          <p:spTgt spid="636934"/>
                                        </p:tgtEl>
                                      </p:cBhvr>
                                    </p:animEffect>
                                  </p:childTnLst>
                                </p:cTn>
                              </p:par>
                              <p:par>
                                <p:cTn id="21" presetID="8" presetClass="entr" presetSubtype="16" fill="hold" nodeType="withEffect">
                                  <p:stCondLst>
                                    <p:cond delay="0"/>
                                  </p:stCondLst>
                                  <p:childTnLst>
                                    <p:set>
                                      <p:cBhvr>
                                        <p:cTn id="22" dur="1" fill="hold">
                                          <p:stCondLst>
                                            <p:cond delay="0"/>
                                          </p:stCondLst>
                                        </p:cTn>
                                        <p:tgtEl>
                                          <p:spTgt spid="636935"/>
                                        </p:tgtEl>
                                        <p:attrNameLst>
                                          <p:attrName>style.visibility</p:attrName>
                                        </p:attrNameLst>
                                      </p:cBhvr>
                                      <p:to>
                                        <p:strVal val="visible"/>
                                      </p:to>
                                    </p:set>
                                    <p:animEffect transition="in" filter="diamond(in)">
                                      <p:cBhvr>
                                        <p:cTn id="23" dur="1000"/>
                                        <p:tgtEl>
                                          <p:spTgt spid="636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4"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37960" name="图片 2062" descr="说明: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6462" y="1065213"/>
            <a:ext cx="5121275" cy="341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Text Box 3"/>
          <p:cNvSpPr txBox="1">
            <a:spLocks noChangeArrowheads="1"/>
          </p:cNvSpPr>
          <p:nvPr/>
        </p:nvSpPr>
        <p:spPr bwMode="auto">
          <a:xfrm>
            <a:off x="463550" y="539750"/>
            <a:ext cx="79422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400" b="1">
                <a:solidFill>
                  <a:schemeClr val="tx1"/>
                </a:solidFill>
                <a:latin typeface="Times New Roman" pitchFamily="18" charset="0"/>
                <a:ea typeface="宋体" pitchFamily="2" charset="-122"/>
              </a:defRPr>
            </a:lvl1pPr>
            <a:lvl2pPr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lvl="1" algn="l" eaLnBrk="1" hangingPunct="1"/>
            <a:r>
              <a:rPr lang="en-US" altLang="zh-CN" sz="2000"/>
              <a:t>③ </a:t>
            </a:r>
            <a:r>
              <a:rPr lang="en-US" altLang="zh-CN" sz="2000" i="1"/>
              <a:t>C</a:t>
            </a:r>
            <a:r>
              <a:rPr lang="en-US" altLang="zh-CN" sz="2000" i="1" baseline="-25000"/>
              <a:t>s</a:t>
            </a:r>
            <a:r>
              <a:rPr lang="zh-CN" altLang="en-US" sz="2000"/>
              <a:t>作用，其它电容短路。</a:t>
            </a:r>
          </a:p>
        </p:txBody>
      </p:sp>
      <p:graphicFrame>
        <p:nvGraphicFramePr>
          <p:cNvPr id="637956" name="Object 4"/>
          <p:cNvGraphicFramePr>
            <a:graphicFrameLocks noChangeAspect="1"/>
          </p:cNvGraphicFramePr>
          <p:nvPr>
            <p:extLst>
              <p:ext uri="{D42A27DB-BD31-4B8C-83A1-F6EECF244321}">
                <p14:modId xmlns:p14="http://schemas.microsoft.com/office/powerpoint/2010/main" val="93101762"/>
              </p:ext>
            </p:extLst>
          </p:nvPr>
        </p:nvGraphicFramePr>
        <p:xfrm>
          <a:off x="1125538" y="4424363"/>
          <a:ext cx="2101850" cy="777875"/>
        </p:xfrm>
        <a:graphic>
          <a:graphicData uri="http://schemas.openxmlformats.org/presentationml/2006/ole">
            <mc:AlternateContent xmlns:mc="http://schemas.openxmlformats.org/markup-compatibility/2006">
              <mc:Choice xmlns:v="urn:schemas-microsoft-com:vml" Requires="v">
                <p:oleObj spid="_x0000_s32277" name="Equation" r:id="rId4" imgW="1168200" imgH="431640" progId="Equation.DSMT4">
                  <p:embed/>
                </p:oleObj>
              </mc:Choice>
              <mc:Fallback>
                <p:oleObj name="Equation" r:id="rId4" imgW="1168200" imgH="431640" progId="Equation.DSMT4">
                  <p:embed/>
                  <p:pic>
                    <p:nvPicPr>
                      <p:cNvPr id="0" name="Object 4"/>
                      <p:cNvPicPr>
                        <a:picLocks noChangeAspect="1" noChangeArrowheads="1"/>
                      </p:cNvPicPr>
                      <p:nvPr/>
                    </p:nvPicPr>
                    <p:blipFill>
                      <a:blip r:embed="rId5"/>
                      <a:srcRect/>
                      <a:stretch>
                        <a:fillRect/>
                      </a:stretch>
                    </p:blipFill>
                    <p:spPr bwMode="auto">
                      <a:xfrm>
                        <a:off x="1125538" y="4424363"/>
                        <a:ext cx="2101850"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7957" name="Object 5"/>
          <p:cNvGraphicFramePr>
            <a:graphicFrameLocks noChangeAspect="1"/>
          </p:cNvGraphicFramePr>
          <p:nvPr>
            <p:extLst>
              <p:ext uri="{D42A27DB-BD31-4B8C-83A1-F6EECF244321}">
                <p14:modId xmlns:p14="http://schemas.microsoft.com/office/powerpoint/2010/main" val="1779491667"/>
              </p:ext>
            </p:extLst>
          </p:nvPr>
        </p:nvGraphicFramePr>
        <p:xfrm>
          <a:off x="995363" y="5410200"/>
          <a:ext cx="3154680" cy="845820"/>
        </p:xfrm>
        <a:graphic>
          <a:graphicData uri="http://schemas.openxmlformats.org/presentationml/2006/ole">
            <mc:AlternateContent xmlns:mc="http://schemas.openxmlformats.org/markup-compatibility/2006">
              <mc:Choice xmlns:v="urn:schemas-microsoft-com:vml" Requires="v">
                <p:oleObj spid="_x0000_s32278" name="Equation" r:id="rId6" imgW="1752600" imgH="469900" progId="Equation.DSMT4">
                  <p:embed/>
                </p:oleObj>
              </mc:Choice>
              <mc:Fallback>
                <p:oleObj name="Equation" r:id="rId6" imgW="1752600" imgH="4699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5363" y="5410200"/>
                        <a:ext cx="3154680" cy="8458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7958" name="Text Box 6"/>
          <p:cNvSpPr txBox="1">
            <a:spLocks noChangeArrowheads="1"/>
          </p:cNvSpPr>
          <p:nvPr/>
        </p:nvSpPr>
        <p:spPr bwMode="auto">
          <a:xfrm>
            <a:off x="4514850" y="4911725"/>
            <a:ext cx="4148138" cy="957250"/>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zh-CN" altLang="en-US" sz="2000" dirty="0"/>
              <a:t>其中         其实就是电容</a:t>
            </a:r>
            <a:r>
              <a:rPr lang="en-US" altLang="zh-CN" sz="2000" i="1" dirty="0"/>
              <a:t>C</a:t>
            </a:r>
            <a:r>
              <a:rPr lang="en-US" altLang="zh-CN" sz="2000" i="1" baseline="-25000" dirty="0"/>
              <a:t>S </a:t>
            </a:r>
            <a:r>
              <a:rPr lang="zh-CN" altLang="en-US" sz="2000" dirty="0"/>
              <a:t>两端看进去的电阻。</a:t>
            </a:r>
          </a:p>
        </p:txBody>
      </p:sp>
      <p:graphicFrame>
        <p:nvGraphicFramePr>
          <p:cNvPr id="637959" name="Object 7"/>
          <p:cNvGraphicFramePr>
            <a:graphicFrameLocks noGrp="1" noChangeAspect="1"/>
          </p:cNvGraphicFramePr>
          <p:nvPr>
            <p:ph/>
            <p:extLst>
              <p:ext uri="{D42A27DB-BD31-4B8C-83A1-F6EECF244321}">
                <p14:modId xmlns:p14="http://schemas.microsoft.com/office/powerpoint/2010/main" val="2768037095"/>
              </p:ext>
            </p:extLst>
          </p:nvPr>
        </p:nvGraphicFramePr>
        <p:xfrm>
          <a:off x="5232400" y="4911725"/>
          <a:ext cx="411480" cy="502920"/>
        </p:xfrm>
        <a:graphic>
          <a:graphicData uri="http://schemas.openxmlformats.org/presentationml/2006/ole">
            <mc:AlternateContent xmlns:mc="http://schemas.openxmlformats.org/markup-compatibility/2006">
              <mc:Choice xmlns:v="urn:schemas-microsoft-com:vml" Requires="v">
                <p:oleObj spid="_x0000_s32279" name="Equation" r:id="rId8" imgW="228600" imgH="279400" progId="Equation.DSMT4">
                  <p:embed/>
                </p:oleObj>
              </mc:Choice>
              <mc:Fallback>
                <p:oleObj name="Equation" r:id="rId8" imgW="228600" imgH="2794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32400" y="4911725"/>
                        <a:ext cx="411480" cy="5029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chemeClr val="bg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7960"/>
                                        </p:tgtEl>
                                        <p:attrNameLst>
                                          <p:attrName>style.visibility</p:attrName>
                                        </p:attrNameLst>
                                      </p:cBhvr>
                                      <p:to>
                                        <p:strVal val="visible"/>
                                      </p:to>
                                    </p:set>
                                    <p:animEffect transition="in" filter="blinds(horizontal)">
                                      <p:cBhvr>
                                        <p:cTn id="7" dur="500"/>
                                        <p:tgtEl>
                                          <p:spTgt spid="6379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37956"/>
                                        </p:tgtEl>
                                        <p:attrNameLst>
                                          <p:attrName>style.visibility</p:attrName>
                                        </p:attrNameLst>
                                      </p:cBhvr>
                                      <p:to>
                                        <p:strVal val="visible"/>
                                      </p:to>
                                    </p:set>
                                    <p:animEffect transition="in" filter="box(in)">
                                      <p:cBhvr>
                                        <p:cTn id="12" dur="500"/>
                                        <p:tgtEl>
                                          <p:spTgt spid="63795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37957"/>
                                        </p:tgtEl>
                                        <p:attrNameLst>
                                          <p:attrName>style.visibility</p:attrName>
                                        </p:attrNameLst>
                                      </p:cBhvr>
                                      <p:to>
                                        <p:strVal val="visible"/>
                                      </p:to>
                                    </p:set>
                                    <p:animEffect transition="in" filter="box(in)">
                                      <p:cBhvr>
                                        <p:cTn id="17" dur="500"/>
                                        <p:tgtEl>
                                          <p:spTgt spid="6379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37958"/>
                                        </p:tgtEl>
                                        <p:attrNameLst>
                                          <p:attrName>style.visibility</p:attrName>
                                        </p:attrNameLst>
                                      </p:cBhvr>
                                      <p:to>
                                        <p:strVal val="visible"/>
                                      </p:to>
                                    </p:set>
                                    <p:animEffect transition="in" filter="checkerboard(across)">
                                      <p:cBhvr>
                                        <p:cTn id="22" dur="500"/>
                                        <p:tgtEl>
                                          <p:spTgt spid="637958"/>
                                        </p:tgtEl>
                                      </p:cBhvr>
                                    </p:animEffect>
                                  </p:childTnLst>
                                </p:cTn>
                              </p:par>
                              <p:par>
                                <p:cTn id="23" presetID="5" presetClass="entr" presetSubtype="10" fill="hold" nodeType="withEffect">
                                  <p:stCondLst>
                                    <p:cond delay="0"/>
                                  </p:stCondLst>
                                  <p:childTnLst>
                                    <p:set>
                                      <p:cBhvr>
                                        <p:cTn id="24" dur="1" fill="hold">
                                          <p:stCondLst>
                                            <p:cond delay="0"/>
                                          </p:stCondLst>
                                        </p:cTn>
                                        <p:tgtEl>
                                          <p:spTgt spid="637959"/>
                                        </p:tgtEl>
                                        <p:attrNameLst>
                                          <p:attrName>style.visibility</p:attrName>
                                        </p:attrNameLst>
                                      </p:cBhvr>
                                      <p:to>
                                        <p:strVal val="visible"/>
                                      </p:to>
                                    </p:set>
                                    <p:animEffect transition="in" filter="checkerboard(across)">
                                      <p:cBhvr>
                                        <p:cTn id="25" dur="500"/>
                                        <p:tgtEl>
                                          <p:spTgt spid="637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58"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704850" y="1540329"/>
            <a:ext cx="6705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dirty="0">
                <a:solidFill>
                  <a:schemeClr val="accent2"/>
                </a:solidFill>
              </a:rPr>
              <a:t>低频截止频率       的确定</a:t>
            </a:r>
          </a:p>
        </p:txBody>
      </p:sp>
      <p:graphicFrame>
        <p:nvGraphicFramePr>
          <p:cNvPr id="32771" name="Object 5"/>
          <p:cNvGraphicFramePr>
            <a:graphicFrameLocks noChangeAspect="1"/>
          </p:cNvGraphicFramePr>
          <p:nvPr>
            <p:extLst>
              <p:ext uri="{D42A27DB-BD31-4B8C-83A1-F6EECF244321}">
                <p14:modId xmlns:p14="http://schemas.microsoft.com/office/powerpoint/2010/main" val="2492892084"/>
              </p:ext>
            </p:extLst>
          </p:nvPr>
        </p:nvGraphicFramePr>
        <p:xfrm>
          <a:off x="2754314" y="1540329"/>
          <a:ext cx="319763" cy="411124"/>
        </p:xfrm>
        <a:graphic>
          <a:graphicData uri="http://schemas.openxmlformats.org/presentationml/2006/ole">
            <mc:AlternateContent xmlns:mc="http://schemas.openxmlformats.org/markup-compatibility/2006">
              <mc:Choice xmlns:v="urn:schemas-microsoft-com:vml" Requires="v">
                <p:oleObj spid="_x0000_s68827" name="Equation" r:id="rId3" imgW="177646" imgH="228402" progId="Equation.DSMT4">
                  <p:embed/>
                </p:oleObj>
              </mc:Choice>
              <mc:Fallback>
                <p:oleObj name="Equation" r:id="rId3" imgW="177646" imgH="228402"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4314" y="1540329"/>
                        <a:ext cx="319763" cy="4111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2" name="Text Box 6"/>
          <p:cNvSpPr txBox="1">
            <a:spLocks noChangeArrowheads="1"/>
          </p:cNvSpPr>
          <p:nvPr/>
        </p:nvSpPr>
        <p:spPr bwMode="auto">
          <a:xfrm>
            <a:off x="1103313" y="2291217"/>
            <a:ext cx="7083425" cy="2342244"/>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spcBef>
                <a:spcPct val="50000"/>
              </a:spcBef>
              <a:buFontTx/>
              <a:buAutoNum type="arabicPeriod"/>
            </a:pPr>
            <a:r>
              <a:rPr lang="zh-CN" altLang="en-US" sz="2000" dirty="0" smtClean="0"/>
              <a:t>如果每个电容单独作用时计算得到的频率分得很开，其中某个频率占主要地位，则低频截止频率近似为该占主要地位的频率。</a:t>
            </a:r>
            <a:br>
              <a:rPr lang="zh-CN" altLang="en-US" sz="2000" dirty="0" smtClean="0"/>
            </a:br>
            <a:r>
              <a:rPr lang="zh-CN" altLang="en-US" sz="2000" dirty="0" smtClean="0"/>
              <a:t>一般，从      或      看进去的电阻相对较小，选择合适的      或      使它对      的贡献占主要地位，可以使总电容最小。</a:t>
            </a:r>
            <a:endParaRPr lang="zh-CN" altLang="en-US" sz="2000" dirty="0"/>
          </a:p>
        </p:txBody>
      </p:sp>
      <p:graphicFrame>
        <p:nvGraphicFramePr>
          <p:cNvPr id="32773" name="Object 7"/>
          <p:cNvGraphicFramePr>
            <a:graphicFrameLocks noChangeAspect="1"/>
          </p:cNvGraphicFramePr>
          <p:nvPr>
            <p:extLst>
              <p:ext uri="{D42A27DB-BD31-4B8C-83A1-F6EECF244321}">
                <p14:modId xmlns:p14="http://schemas.microsoft.com/office/powerpoint/2010/main" val="2486984717"/>
              </p:ext>
            </p:extLst>
          </p:nvPr>
        </p:nvGraphicFramePr>
        <p:xfrm>
          <a:off x="3364865" y="5944054"/>
          <a:ext cx="2560320" cy="411480"/>
        </p:xfrm>
        <a:graphic>
          <a:graphicData uri="http://schemas.openxmlformats.org/presentationml/2006/ole">
            <mc:AlternateContent xmlns:mc="http://schemas.openxmlformats.org/markup-compatibility/2006">
              <mc:Choice xmlns:v="urn:schemas-microsoft-com:vml" Requires="v">
                <p:oleObj spid="_x0000_s68828" name="Equation" r:id="rId5" imgW="1422400" imgH="228600" progId="Equation.DSMT4">
                  <p:embed/>
                </p:oleObj>
              </mc:Choice>
              <mc:Fallback>
                <p:oleObj name="Equation" r:id="rId5" imgW="1422400" imgH="2286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4865" y="5944054"/>
                        <a:ext cx="2560320"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4" name="Object 8"/>
          <p:cNvGraphicFramePr>
            <a:graphicFrameLocks noChangeAspect="1"/>
          </p:cNvGraphicFramePr>
          <p:nvPr>
            <p:extLst>
              <p:ext uri="{D42A27DB-BD31-4B8C-83A1-F6EECF244321}">
                <p14:modId xmlns:p14="http://schemas.microsoft.com/office/powerpoint/2010/main" val="658045593"/>
              </p:ext>
            </p:extLst>
          </p:nvPr>
        </p:nvGraphicFramePr>
        <p:xfrm>
          <a:off x="2719388" y="3754892"/>
          <a:ext cx="342900" cy="411480"/>
        </p:xfrm>
        <a:graphic>
          <a:graphicData uri="http://schemas.openxmlformats.org/presentationml/2006/ole">
            <mc:AlternateContent xmlns:mc="http://schemas.openxmlformats.org/markup-compatibility/2006">
              <mc:Choice xmlns:v="urn:schemas-microsoft-com:vml" Requires="v">
                <p:oleObj spid="_x0000_s68829" name="Equation" r:id="rId7" imgW="190500" imgH="228600" progId="Equation.DSMT4">
                  <p:embed/>
                </p:oleObj>
              </mc:Choice>
              <mc:Fallback>
                <p:oleObj name="Equation" r:id="rId7" imgW="190500" imgH="2286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9388" y="3754892"/>
                        <a:ext cx="342900"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5" name="Object 9"/>
          <p:cNvGraphicFramePr>
            <a:graphicFrameLocks noChangeAspect="1"/>
          </p:cNvGraphicFramePr>
          <p:nvPr>
            <p:extLst>
              <p:ext uri="{D42A27DB-BD31-4B8C-83A1-F6EECF244321}">
                <p14:modId xmlns:p14="http://schemas.microsoft.com/office/powerpoint/2010/main" val="1178359030"/>
              </p:ext>
            </p:extLst>
          </p:nvPr>
        </p:nvGraphicFramePr>
        <p:xfrm>
          <a:off x="3336925" y="3747583"/>
          <a:ext cx="342900" cy="411480"/>
        </p:xfrm>
        <a:graphic>
          <a:graphicData uri="http://schemas.openxmlformats.org/presentationml/2006/ole">
            <mc:AlternateContent xmlns:mc="http://schemas.openxmlformats.org/markup-compatibility/2006">
              <mc:Choice xmlns:v="urn:schemas-microsoft-com:vml" Requires="v">
                <p:oleObj spid="_x0000_s68830" name="Equation" r:id="rId9" imgW="190500" imgH="228600" progId="Equation.DSMT4">
                  <p:embed/>
                </p:oleObj>
              </mc:Choice>
              <mc:Fallback>
                <p:oleObj name="Equation" r:id="rId9" imgW="190500" imgH="2286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36925" y="3747583"/>
                        <a:ext cx="342900"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6" name="Object 10"/>
          <p:cNvGraphicFramePr>
            <a:graphicFrameLocks noChangeAspect="1"/>
          </p:cNvGraphicFramePr>
          <p:nvPr>
            <p:extLst>
              <p:ext uri="{D42A27DB-BD31-4B8C-83A1-F6EECF244321}">
                <p14:modId xmlns:p14="http://schemas.microsoft.com/office/powerpoint/2010/main" val="2514942615"/>
              </p:ext>
            </p:extLst>
          </p:nvPr>
        </p:nvGraphicFramePr>
        <p:xfrm>
          <a:off x="7834313" y="3778704"/>
          <a:ext cx="342900" cy="411480"/>
        </p:xfrm>
        <a:graphic>
          <a:graphicData uri="http://schemas.openxmlformats.org/presentationml/2006/ole">
            <mc:AlternateContent xmlns:mc="http://schemas.openxmlformats.org/markup-compatibility/2006">
              <mc:Choice xmlns:v="urn:schemas-microsoft-com:vml" Requires="v">
                <p:oleObj spid="_x0000_s68831" name="Equation" r:id="rId11" imgW="190500" imgH="228600" progId="Equation.DSMT4">
                  <p:embed/>
                </p:oleObj>
              </mc:Choice>
              <mc:Fallback>
                <p:oleObj name="Equation" r:id="rId11" imgW="190500" imgH="228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34313" y="3778704"/>
                        <a:ext cx="342900"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7" name="Object 11"/>
          <p:cNvGraphicFramePr>
            <a:graphicFrameLocks noChangeAspect="1"/>
          </p:cNvGraphicFramePr>
          <p:nvPr>
            <p:extLst>
              <p:ext uri="{D42A27DB-BD31-4B8C-83A1-F6EECF244321}">
                <p14:modId xmlns:p14="http://schemas.microsoft.com/office/powerpoint/2010/main" val="4259315804"/>
              </p:ext>
            </p:extLst>
          </p:nvPr>
        </p:nvGraphicFramePr>
        <p:xfrm>
          <a:off x="1941513" y="4227967"/>
          <a:ext cx="342900" cy="411480"/>
        </p:xfrm>
        <a:graphic>
          <a:graphicData uri="http://schemas.openxmlformats.org/presentationml/2006/ole">
            <mc:AlternateContent xmlns:mc="http://schemas.openxmlformats.org/markup-compatibility/2006">
              <mc:Choice xmlns:v="urn:schemas-microsoft-com:vml" Requires="v">
                <p:oleObj spid="_x0000_s68832" name="Equation" r:id="rId12" imgW="190500" imgH="228600" progId="Equation.DSMT4">
                  <p:embed/>
                </p:oleObj>
              </mc:Choice>
              <mc:Fallback>
                <p:oleObj name="Equation" r:id="rId12" imgW="190500" imgH="22860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41513" y="4227967"/>
                        <a:ext cx="342900"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8" name="Object 12"/>
          <p:cNvGraphicFramePr>
            <a:graphicFrameLocks noChangeAspect="1"/>
          </p:cNvGraphicFramePr>
          <p:nvPr>
            <p:extLst>
              <p:ext uri="{D42A27DB-BD31-4B8C-83A1-F6EECF244321}">
                <p14:modId xmlns:p14="http://schemas.microsoft.com/office/powerpoint/2010/main" val="223063822"/>
              </p:ext>
            </p:extLst>
          </p:nvPr>
        </p:nvGraphicFramePr>
        <p:xfrm>
          <a:off x="3082925" y="4221617"/>
          <a:ext cx="319763" cy="411124"/>
        </p:xfrm>
        <a:graphic>
          <a:graphicData uri="http://schemas.openxmlformats.org/presentationml/2006/ole">
            <mc:AlternateContent xmlns:mc="http://schemas.openxmlformats.org/markup-compatibility/2006">
              <mc:Choice xmlns:v="urn:schemas-microsoft-com:vml" Requires="v">
                <p:oleObj spid="_x0000_s68833" name="Equation" r:id="rId14" imgW="177646" imgH="228402" progId="Equation.DSMT4">
                  <p:embed/>
                </p:oleObj>
              </mc:Choice>
              <mc:Fallback>
                <p:oleObj name="Equation" r:id="rId14" imgW="177646" imgH="228402" progId="Equation.DSMT4">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82925" y="4221617"/>
                        <a:ext cx="319763" cy="4111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1103312" y="4889677"/>
            <a:ext cx="7281863" cy="9572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lgn="l">
              <a:lnSpc>
                <a:spcPct val="150000"/>
              </a:lnSpc>
              <a:spcBef>
                <a:spcPct val="50000"/>
              </a:spcBef>
              <a:buFont typeface="+mj-lt"/>
              <a:buAutoNum type="arabicPeriod" startAt="2"/>
            </a:pPr>
            <a:r>
              <a:rPr lang="zh-CN" altLang="en-US" sz="2000" dirty="0"/>
              <a:t>若上述条件不满足，则手工计算一般用所有频率的和作为低频截止频率，即</a:t>
            </a:r>
          </a:p>
        </p:txBody>
      </p:sp>
      <p:grpSp>
        <p:nvGrpSpPr>
          <p:cNvPr id="12" name="Group 38"/>
          <p:cNvGrpSpPr>
            <a:grpSpLocks/>
          </p:cNvGrpSpPr>
          <p:nvPr/>
        </p:nvGrpSpPr>
        <p:grpSpPr bwMode="auto">
          <a:xfrm>
            <a:off x="611188" y="476250"/>
            <a:ext cx="1644650" cy="850900"/>
            <a:chOff x="385" y="3022"/>
            <a:chExt cx="1036" cy="536"/>
          </a:xfrm>
        </p:grpSpPr>
        <p:pic>
          <p:nvPicPr>
            <p:cNvPr id="13" name="Picture 39" descr="1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40"/>
            <p:cNvSpPr txBox="1">
              <a:spLocks noChangeArrowheads="1"/>
            </p:cNvSpPr>
            <p:nvPr/>
          </p:nvSpPr>
          <p:spPr bwMode="auto">
            <a:xfrm>
              <a:off x="793" y="3125"/>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b="1">
                  <a:solidFill>
                    <a:srgbClr val="FFFF00"/>
                  </a:solidFill>
                  <a:latin typeface="Arial" charset="0"/>
                  <a:ea typeface="楷体_GB2312" pitchFamily="49" charset="-122"/>
                </a:defRPr>
              </a:lvl1pPr>
              <a:lvl2pPr marL="742950" indent="-285750" eaLnBrk="0" hangingPunct="0">
                <a:defRPr sz="2800" b="1">
                  <a:solidFill>
                    <a:srgbClr val="FFFF00"/>
                  </a:solidFill>
                  <a:latin typeface="Arial" charset="0"/>
                  <a:ea typeface="楷体_GB2312" pitchFamily="49" charset="-122"/>
                </a:defRPr>
              </a:lvl2pPr>
              <a:lvl3pPr marL="1143000" indent="-228600" eaLnBrk="0" hangingPunct="0">
                <a:defRPr sz="2800" b="1">
                  <a:solidFill>
                    <a:srgbClr val="FFFF00"/>
                  </a:solidFill>
                  <a:latin typeface="Arial" charset="0"/>
                  <a:ea typeface="楷体_GB2312" pitchFamily="49" charset="-122"/>
                </a:defRPr>
              </a:lvl3pPr>
              <a:lvl4pPr marL="1600200" indent="-228600" eaLnBrk="0" hangingPunct="0">
                <a:defRPr sz="2800" b="1">
                  <a:solidFill>
                    <a:srgbClr val="FFFF00"/>
                  </a:solidFill>
                  <a:latin typeface="Arial" charset="0"/>
                  <a:ea typeface="楷体_GB2312" pitchFamily="49" charset="-122"/>
                </a:defRPr>
              </a:lvl4pPr>
              <a:lvl5pPr marL="2057400" indent="-228600" eaLnBrk="0" hangingPunct="0">
                <a:defRPr sz="2800" b="1">
                  <a:solidFill>
                    <a:srgbClr val="FFFF00"/>
                  </a:solidFill>
                  <a:latin typeface="Arial"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charset="0"/>
                  <a:ea typeface="楷体_GB2312" pitchFamily="49" charset="-122"/>
                </a:defRPr>
              </a:lvl9pPr>
            </a:lstStyle>
            <a:p>
              <a:pPr eaLnBrk="1" hangingPunct="1"/>
              <a:r>
                <a:rPr kumimoji="1" lang="zh-CN" altLang="en-US" sz="3200" b="0" dirty="0">
                  <a:solidFill>
                    <a:srgbClr val="FF0000"/>
                  </a:solidFill>
                  <a:latin typeface="Times New Roman" pitchFamily="18" charset="0"/>
                  <a:ea typeface="华文行楷" pitchFamily="2" charset="-122"/>
                </a:rPr>
                <a:t>小结</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2771"/>
                                        </p:tgtEl>
                                        <p:attrNameLst>
                                          <p:attrName>style.visibility</p:attrName>
                                        </p:attrNameLst>
                                      </p:cBhvr>
                                      <p:to>
                                        <p:strVal val="visible"/>
                                      </p:to>
                                    </p:set>
                                    <p:animEffect transition="in" filter="barn(inVertical)">
                                      <p:cBhvr>
                                        <p:cTn id="7" dur="500"/>
                                        <p:tgtEl>
                                          <p:spTgt spid="3277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2770"/>
                                        </p:tgtEl>
                                        <p:attrNameLst>
                                          <p:attrName>style.visibility</p:attrName>
                                        </p:attrNameLst>
                                      </p:cBhvr>
                                      <p:to>
                                        <p:strVal val="visible"/>
                                      </p:to>
                                    </p:set>
                                    <p:animEffect transition="in" filter="barn(inVertical)">
                                      <p:cBhvr>
                                        <p:cTn id="10" dur="500"/>
                                        <p:tgtEl>
                                          <p:spTgt spid="3277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2772"/>
                                        </p:tgtEl>
                                        <p:attrNameLst>
                                          <p:attrName>style.visibility</p:attrName>
                                        </p:attrNameLst>
                                      </p:cBhvr>
                                      <p:to>
                                        <p:strVal val="visible"/>
                                      </p:to>
                                    </p:set>
                                    <p:animEffect transition="in" filter="barn(inVertical)">
                                      <p:cBhvr>
                                        <p:cTn id="15" dur="500"/>
                                        <p:tgtEl>
                                          <p:spTgt spid="32772"/>
                                        </p:tgtEl>
                                      </p:cBhvr>
                                    </p:animEffect>
                                  </p:childTnLst>
                                </p:cTn>
                              </p:par>
                              <p:par>
                                <p:cTn id="16" presetID="16" presetClass="entr" presetSubtype="21" fill="hold" nodeType="withEffect">
                                  <p:stCondLst>
                                    <p:cond delay="0"/>
                                  </p:stCondLst>
                                  <p:childTnLst>
                                    <p:set>
                                      <p:cBhvr>
                                        <p:cTn id="17" dur="1" fill="hold">
                                          <p:stCondLst>
                                            <p:cond delay="0"/>
                                          </p:stCondLst>
                                        </p:cTn>
                                        <p:tgtEl>
                                          <p:spTgt spid="32774"/>
                                        </p:tgtEl>
                                        <p:attrNameLst>
                                          <p:attrName>style.visibility</p:attrName>
                                        </p:attrNameLst>
                                      </p:cBhvr>
                                      <p:to>
                                        <p:strVal val="visible"/>
                                      </p:to>
                                    </p:set>
                                    <p:animEffect transition="in" filter="barn(inVertical)">
                                      <p:cBhvr>
                                        <p:cTn id="18" dur="500"/>
                                        <p:tgtEl>
                                          <p:spTgt spid="32774"/>
                                        </p:tgtEl>
                                      </p:cBhvr>
                                    </p:animEffect>
                                  </p:childTnLst>
                                </p:cTn>
                              </p:par>
                              <p:par>
                                <p:cTn id="19" presetID="16" presetClass="entr" presetSubtype="21" fill="hold" nodeType="withEffect">
                                  <p:stCondLst>
                                    <p:cond delay="0"/>
                                  </p:stCondLst>
                                  <p:childTnLst>
                                    <p:set>
                                      <p:cBhvr>
                                        <p:cTn id="20" dur="1" fill="hold">
                                          <p:stCondLst>
                                            <p:cond delay="0"/>
                                          </p:stCondLst>
                                        </p:cTn>
                                        <p:tgtEl>
                                          <p:spTgt spid="32775"/>
                                        </p:tgtEl>
                                        <p:attrNameLst>
                                          <p:attrName>style.visibility</p:attrName>
                                        </p:attrNameLst>
                                      </p:cBhvr>
                                      <p:to>
                                        <p:strVal val="visible"/>
                                      </p:to>
                                    </p:set>
                                    <p:animEffect transition="in" filter="barn(inVertical)">
                                      <p:cBhvr>
                                        <p:cTn id="21" dur="500"/>
                                        <p:tgtEl>
                                          <p:spTgt spid="32775"/>
                                        </p:tgtEl>
                                      </p:cBhvr>
                                    </p:animEffect>
                                  </p:childTnLst>
                                </p:cTn>
                              </p:par>
                              <p:par>
                                <p:cTn id="22" presetID="16" presetClass="entr" presetSubtype="21" fill="hold" nodeType="withEffect">
                                  <p:stCondLst>
                                    <p:cond delay="0"/>
                                  </p:stCondLst>
                                  <p:childTnLst>
                                    <p:set>
                                      <p:cBhvr>
                                        <p:cTn id="23" dur="1" fill="hold">
                                          <p:stCondLst>
                                            <p:cond delay="0"/>
                                          </p:stCondLst>
                                        </p:cTn>
                                        <p:tgtEl>
                                          <p:spTgt spid="32776"/>
                                        </p:tgtEl>
                                        <p:attrNameLst>
                                          <p:attrName>style.visibility</p:attrName>
                                        </p:attrNameLst>
                                      </p:cBhvr>
                                      <p:to>
                                        <p:strVal val="visible"/>
                                      </p:to>
                                    </p:set>
                                    <p:animEffect transition="in" filter="barn(inVertical)">
                                      <p:cBhvr>
                                        <p:cTn id="24" dur="500"/>
                                        <p:tgtEl>
                                          <p:spTgt spid="32776"/>
                                        </p:tgtEl>
                                      </p:cBhvr>
                                    </p:animEffect>
                                  </p:childTnLst>
                                </p:cTn>
                              </p:par>
                              <p:par>
                                <p:cTn id="25" presetID="16" presetClass="entr" presetSubtype="21" fill="hold" nodeType="withEffect">
                                  <p:stCondLst>
                                    <p:cond delay="0"/>
                                  </p:stCondLst>
                                  <p:childTnLst>
                                    <p:set>
                                      <p:cBhvr>
                                        <p:cTn id="26" dur="1" fill="hold">
                                          <p:stCondLst>
                                            <p:cond delay="0"/>
                                          </p:stCondLst>
                                        </p:cTn>
                                        <p:tgtEl>
                                          <p:spTgt spid="32777"/>
                                        </p:tgtEl>
                                        <p:attrNameLst>
                                          <p:attrName>style.visibility</p:attrName>
                                        </p:attrNameLst>
                                      </p:cBhvr>
                                      <p:to>
                                        <p:strVal val="visible"/>
                                      </p:to>
                                    </p:set>
                                    <p:animEffect transition="in" filter="barn(inVertical)">
                                      <p:cBhvr>
                                        <p:cTn id="27" dur="500"/>
                                        <p:tgtEl>
                                          <p:spTgt spid="32777"/>
                                        </p:tgtEl>
                                      </p:cBhvr>
                                    </p:animEffect>
                                  </p:childTnLst>
                                </p:cTn>
                              </p:par>
                              <p:par>
                                <p:cTn id="28" presetID="16" presetClass="entr" presetSubtype="21" fill="hold" nodeType="withEffect">
                                  <p:stCondLst>
                                    <p:cond delay="0"/>
                                  </p:stCondLst>
                                  <p:childTnLst>
                                    <p:set>
                                      <p:cBhvr>
                                        <p:cTn id="29" dur="1" fill="hold">
                                          <p:stCondLst>
                                            <p:cond delay="0"/>
                                          </p:stCondLst>
                                        </p:cTn>
                                        <p:tgtEl>
                                          <p:spTgt spid="32778"/>
                                        </p:tgtEl>
                                        <p:attrNameLst>
                                          <p:attrName>style.visibility</p:attrName>
                                        </p:attrNameLst>
                                      </p:cBhvr>
                                      <p:to>
                                        <p:strVal val="visible"/>
                                      </p:to>
                                    </p:set>
                                    <p:animEffect transition="in" filter="barn(inVertical)">
                                      <p:cBhvr>
                                        <p:cTn id="30" dur="500"/>
                                        <p:tgtEl>
                                          <p:spTgt spid="32778"/>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32773"/>
                                        </p:tgtEl>
                                        <p:attrNameLst>
                                          <p:attrName>style.visibility</p:attrName>
                                        </p:attrNameLst>
                                      </p:cBhvr>
                                      <p:to>
                                        <p:strVal val="visible"/>
                                      </p:to>
                                    </p:set>
                                    <p:animEffect transition="in" filter="barn(inVertical)">
                                      <p:cBhvr>
                                        <p:cTn id="35" dur="500"/>
                                        <p:tgtEl>
                                          <p:spTgt spid="32773"/>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arn(inVertical)">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2" grpId="0"/>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43" name="Text Box 3"/>
          <p:cNvSpPr txBox="1">
            <a:spLocks noChangeArrowheads="1"/>
          </p:cNvSpPr>
          <p:nvPr/>
        </p:nvSpPr>
        <p:spPr bwMode="auto">
          <a:xfrm>
            <a:off x="623888" y="1072738"/>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10.5.1 </a:t>
            </a:r>
            <a:r>
              <a:rPr lang="zh-CN" altLang="en-US" dirty="0" smtClean="0">
                <a:solidFill>
                  <a:srgbClr val="990033"/>
                </a:solidFill>
              </a:rPr>
              <a:t>放大器高频响</a:t>
            </a:r>
            <a:r>
              <a:rPr lang="zh-CN" altLang="en-US" dirty="0">
                <a:solidFill>
                  <a:srgbClr val="990033"/>
                </a:solidFill>
              </a:rPr>
              <a:t>应的近似计算</a:t>
            </a:r>
            <a:endParaRPr lang="zh-CN" altLang="en-US" dirty="0">
              <a:solidFill>
                <a:srgbClr val="A50021"/>
              </a:solidFill>
            </a:endParaRPr>
          </a:p>
        </p:txBody>
      </p:sp>
      <p:sp>
        <p:nvSpPr>
          <p:cNvPr id="624646" name="Text Box 6"/>
          <p:cNvSpPr txBox="1">
            <a:spLocks noChangeArrowheads="1"/>
          </p:cNvSpPr>
          <p:nvPr/>
        </p:nvSpPr>
        <p:spPr bwMode="auto">
          <a:xfrm>
            <a:off x="887413" y="1571213"/>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dirty="0">
                <a:solidFill>
                  <a:srgbClr val="990033"/>
                </a:solidFill>
              </a:rPr>
              <a:t>一</a:t>
            </a:r>
            <a:r>
              <a:rPr lang="zh-CN" altLang="en-US" dirty="0" smtClean="0">
                <a:solidFill>
                  <a:srgbClr val="990033"/>
                </a:solidFill>
              </a:rPr>
              <a:t>、从增益</a:t>
            </a:r>
            <a:r>
              <a:rPr lang="zh-CN" altLang="en-US" dirty="0">
                <a:solidFill>
                  <a:srgbClr val="990033"/>
                </a:solidFill>
              </a:rPr>
              <a:t>函数确定</a:t>
            </a:r>
            <a:r>
              <a:rPr lang="zh-CN" altLang="en-US" dirty="0" smtClean="0">
                <a:solidFill>
                  <a:srgbClr val="990033"/>
                </a:solidFill>
              </a:rPr>
              <a:t>放大器高频响</a:t>
            </a:r>
            <a:r>
              <a:rPr lang="zh-CN" altLang="en-US" dirty="0">
                <a:solidFill>
                  <a:srgbClr val="990033"/>
                </a:solidFill>
              </a:rPr>
              <a:t>应</a:t>
            </a:r>
          </a:p>
        </p:txBody>
      </p:sp>
      <p:sp>
        <p:nvSpPr>
          <p:cNvPr id="18" name="Rectangle 2"/>
          <p:cNvSpPr>
            <a:spLocks noChangeArrowheads="1"/>
          </p:cNvSpPr>
          <p:nvPr/>
        </p:nvSpPr>
        <p:spPr bwMode="auto">
          <a:xfrm>
            <a:off x="341313" y="313913"/>
            <a:ext cx="7515225" cy="519112"/>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en-US" altLang="zh-CN" sz="2800" dirty="0" smtClean="0">
                <a:solidFill>
                  <a:schemeClr val="tx2"/>
                </a:solidFill>
              </a:rPr>
              <a:t>10.5  </a:t>
            </a:r>
            <a:r>
              <a:rPr lang="zh-CN" altLang="en-US" sz="2800" dirty="0" smtClean="0">
                <a:solidFill>
                  <a:schemeClr val="tx2"/>
                </a:solidFill>
              </a:rPr>
              <a:t>放大器的</a:t>
            </a:r>
            <a:r>
              <a:rPr lang="zh-CN" altLang="en-US" sz="2800" dirty="0">
                <a:solidFill>
                  <a:schemeClr val="tx2"/>
                </a:solidFill>
              </a:rPr>
              <a:t>高</a:t>
            </a:r>
            <a:r>
              <a:rPr lang="zh-CN" altLang="en-US" sz="2800" dirty="0" smtClean="0">
                <a:solidFill>
                  <a:schemeClr val="tx2"/>
                </a:solidFill>
              </a:rPr>
              <a:t>频响应</a:t>
            </a:r>
            <a:endParaRPr lang="zh-CN" altLang="en-US" sz="2800" dirty="0">
              <a:solidFill>
                <a:schemeClr val="tx2"/>
              </a:solidFill>
            </a:endParaRPr>
          </a:p>
        </p:txBody>
      </p:sp>
      <p:sp>
        <p:nvSpPr>
          <p:cNvPr id="19" name="Rectangle 3"/>
          <p:cNvSpPr>
            <a:spLocks noChangeArrowheads="1"/>
          </p:cNvSpPr>
          <p:nvPr/>
        </p:nvSpPr>
        <p:spPr bwMode="auto">
          <a:xfrm>
            <a:off x="1244600" y="2033784"/>
            <a:ext cx="31543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a:t>高频响应函数</a:t>
            </a:r>
          </a:p>
        </p:txBody>
      </p:sp>
      <p:sp>
        <p:nvSpPr>
          <p:cNvPr id="20" name="Text Box 6"/>
          <p:cNvSpPr txBox="1">
            <a:spLocks noChangeArrowheads="1"/>
          </p:cNvSpPr>
          <p:nvPr/>
        </p:nvSpPr>
        <p:spPr bwMode="auto">
          <a:xfrm>
            <a:off x="1412875" y="3299275"/>
            <a:ext cx="699611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Char char="l"/>
            </a:pPr>
            <a:r>
              <a:rPr lang="en-US" altLang="zh-CN" sz="2000"/>
              <a:t>  </a:t>
            </a:r>
            <a:r>
              <a:rPr lang="zh-CN" altLang="en-US" sz="2000"/>
              <a:t>当存在主极点时（如         远低于其它极点）</a:t>
            </a:r>
          </a:p>
        </p:txBody>
      </p:sp>
      <p:graphicFrame>
        <p:nvGraphicFramePr>
          <p:cNvPr id="21" name="Object 7"/>
          <p:cNvGraphicFramePr>
            <a:graphicFrameLocks noChangeAspect="1"/>
          </p:cNvGraphicFramePr>
          <p:nvPr>
            <p:extLst>
              <p:ext uri="{D42A27DB-BD31-4B8C-83A1-F6EECF244321}">
                <p14:modId xmlns:p14="http://schemas.microsoft.com/office/powerpoint/2010/main" val="2011405873"/>
              </p:ext>
            </p:extLst>
          </p:nvPr>
        </p:nvGraphicFramePr>
        <p:xfrm>
          <a:off x="4276725" y="3324675"/>
          <a:ext cx="388451" cy="411302"/>
        </p:xfrm>
        <a:graphic>
          <a:graphicData uri="http://schemas.openxmlformats.org/presentationml/2006/ole">
            <mc:AlternateContent xmlns:mc="http://schemas.openxmlformats.org/markup-compatibility/2006">
              <mc:Choice xmlns:v="urn:schemas-microsoft-com:vml" Requires="v">
                <p:oleObj spid="_x0000_s87062" name="Equation" r:id="rId3" imgW="215806" imgH="228501" progId="Equation.DSMT4">
                  <p:embed/>
                </p:oleObj>
              </mc:Choice>
              <mc:Fallback>
                <p:oleObj name="Equation" r:id="rId3" imgW="215806" imgH="228501"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6725" y="3324675"/>
                        <a:ext cx="388451" cy="411302"/>
                      </a:xfrm>
                      <a:prstGeom prst="rect">
                        <a:avLst/>
                      </a:prstGeom>
                      <a:noFill/>
                      <a:ln>
                        <a:noFill/>
                      </a:ln>
                      <a:effectLst/>
                      <a:extLst/>
                    </p:spPr>
                  </p:pic>
                </p:oleObj>
              </mc:Fallback>
            </mc:AlternateContent>
          </a:graphicData>
        </a:graphic>
      </p:graphicFrame>
      <p:graphicFrame>
        <p:nvGraphicFramePr>
          <p:cNvPr id="22" name="Object 9"/>
          <p:cNvGraphicFramePr>
            <a:graphicFrameLocks noChangeAspect="1"/>
          </p:cNvGraphicFramePr>
          <p:nvPr>
            <p:extLst>
              <p:ext uri="{D42A27DB-BD31-4B8C-83A1-F6EECF244321}">
                <p14:modId xmlns:p14="http://schemas.microsoft.com/office/powerpoint/2010/main" val="520738982"/>
              </p:ext>
            </p:extLst>
          </p:nvPr>
        </p:nvGraphicFramePr>
        <p:xfrm>
          <a:off x="6203097" y="4733051"/>
          <a:ext cx="937260" cy="411480"/>
        </p:xfrm>
        <a:graphic>
          <a:graphicData uri="http://schemas.openxmlformats.org/presentationml/2006/ole">
            <mc:AlternateContent xmlns:mc="http://schemas.openxmlformats.org/markup-compatibility/2006">
              <mc:Choice xmlns:v="urn:schemas-microsoft-com:vml" Requires="v">
                <p:oleObj spid="_x0000_s87063" name="Equation" r:id="rId5" imgW="520700" imgH="228600" progId="Equation.DSMT4">
                  <p:embed/>
                </p:oleObj>
              </mc:Choice>
              <mc:Fallback>
                <p:oleObj name="Equation" r:id="rId5" imgW="5207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3097" y="4733051"/>
                        <a:ext cx="937260" cy="41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Text Box 10"/>
          <p:cNvSpPr txBox="1">
            <a:spLocks noChangeArrowheads="1"/>
          </p:cNvSpPr>
          <p:nvPr/>
        </p:nvSpPr>
        <p:spPr bwMode="auto">
          <a:xfrm>
            <a:off x="1455738" y="5396183"/>
            <a:ext cx="4814887"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30000"/>
              </a:lnSpc>
              <a:spcBef>
                <a:spcPct val="50000"/>
              </a:spcBef>
              <a:buClr>
                <a:srgbClr val="FF0000"/>
              </a:buClr>
              <a:buFont typeface="Wingdings" pitchFamily="2" charset="2"/>
              <a:buChar char="l"/>
            </a:pPr>
            <a:r>
              <a:rPr lang="en-US" altLang="zh-CN" sz="2000"/>
              <a:t>  </a:t>
            </a:r>
            <a:r>
              <a:rPr lang="zh-CN" altLang="en-US" sz="2000"/>
              <a:t>当不存在主极点时</a:t>
            </a:r>
          </a:p>
        </p:txBody>
      </p:sp>
      <p:graphicFrame>
        <p:nvGraphicFramePr>
          <p:cNvPr id="24" name="Object 13"/>
          <p:cNvGraphicFramePr>
            <a:graphicFrameLocks noChangeAspect="1"/>
          </p:cNvGraphicFramePr>
          <p:nvPr>
            <p:extLst>
              <p:ext uri="{D42A27DB-BD31-4B8C-83A1-F6EECF244321}">
                <p14:modId xmlns:p14="http://schemas.microsoft.com/office/powerpoint/2010/main" val="1606633203"/>
              </p:ext>
            </p:extLst>
          </p:nvPr>
        </p:nvGraphicFramePr>
        <p:xfrm>
          <a:off x="2355850" y="2527298"/>
          <a:ext cx="4184650" cy="730250"/>
        </p:xfrm>
        <a:graphic>
          <a:graphicData uri="http://schemas.openxmlformats.org/presentationml/2006/ole">
            <mc:AlternateContent xmlns:mc="http://schemas.openxmlformats.org/markup-compatibility/2006">
              <mc:Choice xmlns:v="urn:schemas-microsoft-com:vml" Requires="v">
                <p:oleObj spid="_x0000_s87064" name="Equation" r:id="rId7" imgW="2323800" imgH="406080" progId="Equation.DSMT4">
                  <p:embed/>
                </p:oleObj>
              </mc:Choice>
              <mc:Fallback>
                <p:oleObj name="Equation" r:id="rId7" imgW="2323800" imgH="406080" progId="Equation.DSMT4">
                  <p:embed/>
                  <p:pic>
                    <p:nvPicPr>
                      <p:cNvPr id="0" name=""/>
                      <p:cNvPicPr>
                        <a:picLocks noChangeAspect="1" noChangeArrowheads="1"/>
                      </p:cNvPicPr>
                      <p:nvPr/>
                    </p:nvPicPr>
                    <p:blipFill>
                      <a:blip r:embed="rId8"/>
                      <a:srcRect/>
                      <a:stretch>
                        <a:fillRect/>
                      </a:stretch>
                    </p:blipFill>
                    <p:spPr bwMode="auto">
                      <a:xfrm>
                        <a:off x="2355850" y="2527298"/>
                        <a:ext cx="41846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15"/>
          <p:cNvGraphicFramePr>
            <a:graphicFrameLocks noChangeAspect="1"/>
          </p:cNvGraphicFramePr>
          <p:nvPr>
            <p:extLst>
              <p:ext uri="{D42A27DB-BD31-4B8C-83A1-F6EECF244321}">
                <p14:modId xmlns:p14="http://schemas.microsoft.com/office/powerpoint/2010/main" val="2363163720"/>
              </p:ext>
            </p:extLst>
          </p:nvPr>
        </p:nvGraphicFramePr>
        <p:xfrm>
          <a:off x="2463800" y="5870163"/>
          <a:ext cx="4640263" cy="801687"/>
        </p:xfrm>
        <a:graphic>
          <a:graphicData uri="http://schemas.openxmlformats.org/presentationml/2006/ole">
            <mc:AlternateContent xmlns:mc="http://schemas.openxmlformats.org/markup-compatibility/2006">
              <mc:Choice xmlns:v="urn:schemas-microsoft-com:vml" Requires="v">
                <p:oleObj spid="_x0000_s87065" name="Equation" r:id="rId9" imgW="2577960" imgH="444240" progId="Equation.DSMT4">
                  <p:embed/>
                </p:oleObj>
              </mc:Choice>
              <mc:Fallback>
                <p:oleObj name="Equation" r:id="rId9" imgW="2577960" imgH="444240" progId="Equation.DSMT4">
                  <p:embed/>
                  <p:pic>
                    <p:nvPicPr>
                      <p:cNvPr id="0" name=""/>
                      <p:cNvPicPr>
                        <a:picLocks noChangeAspect="1" noChangeArrowheads="1"/>
                      </p:cNvPicPr>
                      <p:nvPr/>
                    </p:nvPicPr>
                    <p:blipFill>
                      <a:blip r:embed="rId10"/>
                      <a:srcRect/>
                      <a:stretch>
                        <a:fillRect/>
                      </a:stretch>
                    </p:blipFill>
                    <p:spPr bwMode="auto">
                      <a:xfrm>
                        <a:off x="2463800" y="5870163"/>
                        <a:ext cx="4640263"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Rectangle 17"/>
          <p:cNvSpPr>
            <a:spLocks noChangeArrowheads="1"/>
          </p:cNvSpPr>
          <p:nvPr/>
        </p:nvSpPr>
        <p:spPr bwMode="auto">
          <a:xfrm>
            <a:off x="2159000" y="3946945"/>
            <a:ext cx="59737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a:t>一般，零点为无穷大或极高的频率。</a:t>
            </a:r>
          </a:p>
        </p:txBody>
      </p:sp>
      <p:graphicFrame>
        <p:nvGraphicFramePr>
          <p:cNvPr id="27" name="Object 18"/>
          <p:cNvGraphicFramePr>
            <a:graphicFrameLocks noChangeAspect="1"/>
          </p:cNvGraphicFramePr>
          <p:nvPr>
            <p:extLst>
              <p:ext uri="{D42A27DB-BD31-4B8C-83A1-F6EECF244321}">
                <p14:modId xmlns:p14="http://schemas.microsoft.com/office/powerpoint/2010/main" val="1537420633"/>
              </p:ext>
            </p:extLst>
          </p:nvPr>
        </p:nvGraphicFramePr>
        <p:xfrm>
          <a:off x="3001328" y="4618117"/>
          <a:ext cx="1782306" cy="731203"/>
        </p:xfrm>
        <a:graphic>
          <a:graphicData uri="http://schemas.openxmlformats.org/presentationml/2006/ole">
            <mc:AlternateContent xmlns:mc="http://schemas.openxmlformats.org/markup-compatibility/2006">
              <mc:Choice xmlns:v="urn:schemas-microsoft-com:vml" Requires="v">
                <p:oleObj spid="_x0000_s87066" name="Equation" r:id="rId11" imgW="990170" imgH="406224" progId="Equation.DSMT4">
                  <p:embed/>
                </p:oleObj>
              </mc:Choice>
              <mc:Fallback>
                <p:oleObj name="Equation" r:id="rId11" imgW="990170" imgH="406224"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01328" y="4618117"/>
                        <a:ext cx="1782306" cy="73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AutoShape 24"/>
          <p:cNvSpPr>
            <a:spLocks noChangeArrowheads="1"/>
          </p:cNvSpPr>
          <p:nvPr/>
        </p:nvSpPr>
        <p:spPr bwMode="auto">
          <a:xfrm>
            <a:off x="4917348" y="4852751"/>
            <a:ext cx="1057721" cy="171780"/>
          </a:xfrm>
          <a:prstGeom prst="rightArrow">
            <a:avLst>
              <a:gd name="adj1" fmla="val 50000"/>
              <a:gd name="adj2" fmla="val 66667"/>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sz="2000"/>
          </a:p>
        </p:txBody>
      </p:sp>
      <p:graphicFrame>
        <p:nvGraphicFramePr>
          <p:cNvPr id="29" name="Object 21"/>
          <p:cNvGraphicFramePr>
            <a:graphicFrameLocks noChangeAspect="1"/>
          </p:cNvGraphicFramePr>
          <p:nvPr>
            <p:extLst>
              <p:ext uri="{D42A27DB-BD31-4B8C-83A1-F6EECF244321}">
                <p14:modId xmlns:p14="http://schemas.microsoft.com/office/powerpoint/2010/main" val="4190811360"/>
              </p:ext>
            </p:extLst>
          </p:nvPr>
        </p:nvGraphicFramePr>
        <p:xfrm>
          <a:off x="4857750" y="4347786"/>
          <a:ext cx="993775" cy="488950"/>
        </p:xfrm>
        <a:graphic>
          <a:graphicData uri="http://schemas.openxmlformats.org/presentationml/2006/ole">
            <mc:AlternateContent xmlns:mc="http://schemas.openxmlformats.org/markup-compatibility/2006">
              <mc:Choice xmlns:v="urn:schemas-microsoft-com:vml" Requires="v">
                <p:oleObj spid="_x0000_s87067" name="Equation" r:id="rId13" imgW="749160" imgH="368280" progId="Equation.DSMT4">
                  <p:embed/>
                </p:oleObj>
              </mc:Choice>
              <mc:Fallback>
                <p:oleObj name="Equation" r:id="rId13" imgW="749160" imgH="368280" progId="Equation.DSMT4">
                  <p:embed/>
                  <p:pic>
                    <p:nvPicPr>
                      <p:cNvPr id="0" name=""/>
                      <p:cNvPicPr>
                        <a:picLocks noChangeAspect="1" noChangeArrowheads="1"/>
                      </p:cNvPicPr>
                      <p:nvPr/>
                    </p:nvPicPr>
                    <p:blipFill>
                      <a:blip r:embed="rId14"/>
                      <a:srcRect/>
                      <a:stretch>
                        <a:fillRect/>
                      </a:stretch>
                    </p:blipFill>
                    <p:spPr bwMode="auto">
                      <a:xfrm>
                        <a:off x="4857750" y="4347786"/>
                        <a:ext cx="993775" cy="488950"/>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40109189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24643"/>
                                        </p:tgtEl>
                                        <p:attrNameLst>
                                          <p:attrName>style.visibility</p:attrName>
                                        </p:attrNameLst>
                                      </p:cBhvr>
                                      <p:to>
                                        <p:strVal val="visible"/>
                                      </p:to>
                                    </p:set>
                                    <p:animEffect transition="in" filter="barn(inVertical)">
                                      <p:cBhvr>
                                        <p:cTn id="7" dur="500"/>
                                        <p:tgtEl>
                                          <p:spTgt spid="62464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24646">
                                            <p:txEl>
                                              <p:pRg st="0" end="0"/>
                                            </p:txEl>
                                          </p:spTgt>
                                        </p:tgtEl>
                                        <p:attrNameLst>
                                          <p:attrName>style.visibility</p:attrName>
                                        </p:attrNameLst>
                                      </p:cBhvr>
                                      <p:to>
                                        <p:strVal val="visible"/>
                                      </p:to>
                                    </p:set>
                                    <p:animEffect transition="in" filter="box(in)">
                                      <p:cBhvr>
                                        <p:cTn id="12" dur="500"/>
                                        <p:tgtEl>
                                          <p:spTgt spid="62464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linds(horizontal)">
                                      <p:cBhvr>
                                        <p:cTn id="17" dur="500"/>
                                        <p:tgtEl>
                                          <p:spTgt spid="19"/>
                                        </p:tgtEl>
                                      </p:cBhvr>
                                    </p:animEffect>
                                  </p:childTnLst>
                                </p:cTn>
                              </p:par>
                              <p:par>
                                <p:cTn id="18" presetID="3" presetClass="entr" presetSubtype="10" fill="hold"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blinds(horizontal)">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blinds(horizontal)">
                                      <p:cBhvr>
                                        <p:cTn id="25" dur="500"/>
                                        <p:tgtEl>
                                          <p:spTgt spid="20"/>
                                        </p:tgtEl>
                                      </p:cBhvr>
                                    </p:animEffect>
                                  </p:childTnLst>
                                </p:cTn>
                              </p:par>
                              <p:par>
                                <p:cTn id="26" presetID="3" presetClass="entr" presetSubtype="1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blinds(horizontal)">
                                      <p:cBhvr>
                                        <p:cTn id="28" dur="500"/>
                                        <p:tgtEl>
                                          <p:spTgt spid="21"/>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checkerboard(across)">
                                      <p:cBhvr>
                                        <p:cTn id="33" dur="500"/>
                                        <p:tgtEl>
                                          <p:spTgt spid="26"/>
                                        </p:tgtEl>
                                      </p:cBhvr>
                                    </p:animEffect>
                                  </p:childTnLst>
                                </p:cTn>
                              </p:par>
                              <p:par>
                                <p:cTn id="34" presetID="5" presetClass="entr" presetSubtype="1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checkerboard(across)">
                                      <p:cBhvr>
                                        <p:cTn id="36" dur="500"/>
                                        <p:tgtEl>
                                          <p:spTgt spid="27"/>
                                        </p:tgtEl>
                                      </p:cBhvr>
                                    </p:animEffect>
                                  </p:childTnLst>
                                </p:cTn>
                              </p:par>
                            </p:childTnLst>
                          </p:cTn>
                        </p:par>
                      </p:childTnLst>
                    </p:cTn>
                  </p:par>
                  <p:par>
                    <p:cTn id="37" fill="hold">
                      <p:stCondLst>
                        <p:cond delay="indefinite"/>
                      </p:stCondLst>
                      <p:childTnLst>
                        <p:par>
                          <p:cTn id="38" fill="hold">
                            <p:stCondLst>
                              <p:cond delay="0"/>
                            </p:stCondLst>
                            <p:childTnLst>
                              <p:par>
                                <p:cTn id="39" presetID="8" presetClass="entr" presetSubtype="16"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diamond(in)">
                                      <p:cBhvr>
                                        <p:cTn id="41" dur="500"/>
                                        <p:tgtEl>
                                          <p:spTgt spid="29"/>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box(in)">
                                      <p:cBhvr>
                                        <p:cTn id="44" dur="500"/>
                                        <p:tgtEl>
                                          <p:spTgt spid="28"/>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blinds(horizontal)">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blinds(horizontal)">
                                      <p:cBhvr>
                                        <p:cTn id="54" dur="50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5" presetClass="entr" presetSubtype="10" fill="hold" nodeType="click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checkerboard(across)">
                                      <p:cBhvr>
                                        <p:cTn id="5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3" grpId="0"/>
      <p:bldP spid="19" grpId="0"/>
      <p:bldP spid="20" grpId="0"/>
      <p:bldP spid="23" grpId="0"/>
      <p:bldP spid="26" grpId="0"/>
      <p:bldP spid="28"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46" name="Text Box 6"/>
          <p:cNvSpPr txBox="1">
            <a:spLocks noChangeArrowheads="1"/>
          </p:cNvSpPr>
          <p:nvPr/>
        </p:nvSpPr>
        <p:spPr bwMode="auto">
          <a:xfrm>
            <a:off x="887413" y="569133"/>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dirty="0">
                <a:solidFill>
                  <a:srgbClr val="990033"/>
                </a:solidFill>
              </a:rPr>
              <a:t>二、</a:t>
            </a:r>
            <a:r>
              <a:rPr lang="zh-CN" altLang="en-US" dirty="0" smtClean="0">
                <a:solidFill>
                  <a:srgbClr val="990033"/>
                </a:solidFill>
              </a:rPr>
              <a:t>用</a:t>
            </a:r>
            <a:r>
              <a:rPr lang="zh-CN" altLang="en-US" dirty="0" smtClean="0">
                <a:solidFill>
                  <a:srgbClr val="990033"/>
                </a:solidFill>
              </a:rPr>
              <a:t>开路时间常数</a:t>
            </a:r>
            <a:r>
              <a:rPr lang="zh-CN" altLang="en-US" dirty="0" smtClean="0">
                <a:solidFill>
                  <a:srgbClr val="990033"/>
                </a:solidFill>
              </a:rPr>
              <a:t>近似法计算 </a:t>
            </a:r>
            <a:endParaRPr lang="zh-CN" altLang="en-US" dirty="0">
              <a:solidFill>
                <a:srgbClr val="990033"/>
              </a:solidFill>
            </a:endParaRPr>
          </a:p>
        </p:txBody>
      </p:sp>
      <p:graphicFrame>
        <p:nvGraphicFramePr>
          <p:cNvPr id="22" name="Object 15"/>
          <p:cNvGraphicFramePr>
            <a:graphicFrameLocks noChangeAspect="1"/>
          </p:cNvGraphicFramePr>
          <p:nvPr>
            <p:extLst>
              <p:ext uri="{D42A27DB-BD31-4B8C-83A1-F6EECF244321}">
                <p14:modId xmlns:p14="http://schemas.microsoft.com/office/powerpoint/2010/main" val="4167607878"/>
              </p:ext>
            </p:extLst>
          </p:nvPr>
        </p:nvGraphicFramePr>
        <p:xfrm>
          <a:off x="5329238" y="597538"/>
          <a:ext cx="366712" cy="365125"/>
        </p:xfrm>
        <a:graphic>
          <a:graphicData uri="http://schemas.openxmlformats.org/presentationml/2006/ole">
            <mc:AlternateContent xmlns:mc="http://schemas.openxmlformats.org/markup-compatibility/2006">
              <mc:Choice xmlns:v="urn:schemas-microsoft-com:vml" Requires="v">
                <p:oleObj spid="_x0000_s88075" name="Equation" r:id="rId3" imgW="203040" imgH="203040" progId="Equation.DSMT4">
                  <p:embed/>
                </p:oleObj>
              </mc:Choice>
              <mc:Fallback>
                <p:oleObj name="Equation" r:id="rId3" imgW="203040" imgH="203040" progId="Equation.DSMT4">
                  <p:embed/>
                  <p:pic>
                    <p:nvPicPr>
                      <p:cNvPr id="0" name=""/>
                      <p:cNvPicPr>
                        <a:picLocks noChangeAspect="1" noChangeArrowheads="1"/>
                      </p:cNvPicPr>
                      <p:nvPr/>
                    </p:nvPicPr>
                    <p:blipFill>
                      <a:blip r:embed="rId4"/>
                      <a:srcRect/>
                      <a:stretch>
                        <a:fillRect/>
                      </a:stretch>
                    </p:blipFill>
                    <p:spPr bwMode="auto">
                      <a:xfrm>
                        <a:off x="5329238" y="5975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Rectangle 3"/>
          <p:cNvSpPr>
            <a:spLocks noChangeArrowheads="1"/>
          </p:cNvSpPr>
          <p:nvPr/>
        </p:nvSpPr>
        <p:spPr bwMode="auto">
          <a:xfrm>
            <a:off x="1147676" y="3701209"/>
            <a:ext cx="6972300" cy="101566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en-US" altLang="zh-CN" sz="2000" dirty="0"/>
              <a:t>        </a:t>
            </a:r>
            <a:r>
              <a:rPr lang="zh-CN" altLang="en-US" sz="2000" dirty="0" smtClean="0"/>
              <a:t>若其中某个        远低于其他频率（即存在主极点情况），则该电路的高频截止频率可近似等于该频率。</a:t>
            </a:r>
            <a:endParaRPr lang="zh-CN" altLang="en-US" sz="2000" dirty="0"/>
          </a:p>
        </p:txBody>
      </p:sp>
      <p:graphicFrame>
        <p:nvGraphicFramePr>
          <p:cNvPr id="27" name="Object 15"/>
          <p:cNvGraphicFramePr>
            <a:graphicFrameLocks noChangeAspect="1"/>
          </p:cNvGraphicFramePr>
          <p:nvPr>
            <p:extLst>
              <p:ext uri="{D42A27DB-BD31-4B8C-83A1-F6EECF244321}">
                <p14:modId xmlns:p14="http://schemas.microsoft.com/office/powerpoint/2010/main" val="1481946390"/>
              </p:ext>
            </p:extLst>
          </p:nvPr>
        </p:nvGraphicFramePr>
        <p:xfrm>
          <a:off x="3071813" y="3805238"/>
          <a:ext cx="388937" cy="366712"/>
        </p:xfrm>
        <a:graphic>
          <a:graphicData uri="http://schemas.openxmlformats.org/presentationml/2006/ole">
            <mc:AlternateContent xmlns:mc="http://schemas.openxmlformats.org/markup-compatibility/2006">
              <mc:Choice xmlns:v="urn:schemas-microsoft-com:vml" Requires="v">
                <p:oleObj spid="_x0000_s88076" name="Equation" r:id="rId5" imgW="215640" imgH="203040" progId="Equation.DSMT4">
                  <p:embed/>
                </p:oleObj>
              </mc:Choice>
              <mc:Fallback>
                <p:oleObj name="Equation" r:id="rId5" imgW="215640" imgH="203040" progId="Equation.DSMT4">
                  <p:embed/>
                  <p:pic>
                    <p:nvPicPr>
                      <p:cNvPr id="0" name=""/>
                      <p:cNvPicPr>
                        <a:picLocks noChangeAspect="1" noChangeArrowheads="1"/>
                      </p:cNvPicPr>
                      <p:nvPr/>
                    </p:nvPicPr>
                    <p:blipFill>
                      <a:blip r:embed="rId6"/>
                      <a:srcRect/>
                      <a:stretch>
                        <a:fillRect/>
                      </a:stretch>
                    </p:blipFill>
                    <p:spPr bwMode="auto">
                      <a:xfrm>
                        <a:off x="3071813" y="3805238"/>
                        <a:ext cx="3889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22"/>
          <p:cNvSpPr>
            <a:spLocks noChangeArrowheads="1"/>
          </p:cNvSpPr>
          <p:nvPr/>
        </p:nvSpPr>
        <p:spPr bwMode="auto">
          <a:xfrm>
            <a:off x="1439863" y="1203711"/>
            <a:ext cx="6972300" cy="101566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en-US" altLang="zh-CN" sz="2000" dirty="0"/>
              <a:t>        </a:t>
            </a:r>
            <a:r>
              <a:rPr lang="zh-CN" altLang="en-US" sz="2000" dirty="0" smtClean="0"/>
              <a:t>依次单独考虑</a:t>
            </a:r>
            <a:r>
              <a:rPr lang="zh-CN" altLang="en-US" sz="2000" dirty="0"/>
              <a:t>高频等效电路</a:t>
            </a:r>
            <a:r>
              <a:rPr lang="zh-CN" altLang="en-US" sz="2000" dirty="0" smtClean="0"/>
              <a:t>中一</a:t>
            </a:r>
            <a:r>
              <a:rPr lang="zh-CN" altLang="en-US" sz="2000" dirty="0"/>
              <a:t>个</a:t>
            </a:r>
            <a:r>
              <a:rPr lang="zh-CN" altLang="en-US" sz="2000" dirty="0" smtClean="0"/>
              <a:t>电容的作用，</a:t>
            </a:r>
            <a:r>
              <a:rPr lang="zh-CN" altLang="en-US" sz="2000" dirty="0"/>
              <a:t>把其它所有的电容设为</a:t>
            </a:r>
            <a:r>
              <a:rPr lang="zh-CN" altLang="en-US" sz="2000" dirty="0" smtClean="0"/>
              <a:t>零，则</a:t>
            </a:r>
            <a:endParaRPr lang="zh-CN" altLang="en-US" sz="2000" dirty="0"/>
          </a:p>
        </p:txBody>
      </p:sp>
      <p:graphicFrame>
        <p:nvGraphicFramePr>
          <p:cNvPr id="9" name="Object 23"/>
          <p:cNvGraphicFramePr>
            <a:graphicFrameLocks noChangeAspect="1"/>
          </p:cNvGraphicFramePr>
          <p:nvPr>
            <p:extLst>
              <p:ext uri="{D42A27DB-BD31-4B8C-83A1-F6EECF244321}">
                <p14:modId xmlns:p14="http://schemas.microsoft.com/office/powerpoint/2010/main" val="1302315229"/>
              </p:ext>
            </p:extLst>
          </p:nvPr>
        </p:nvGraphicFramePr>
        <p:xfrm>
          <a:off x="3497263" y="2301875"/>
          <a:ext cx="2490787" cy="868363"/>
        </p:xfrm>
        <a:graphic>
          <a:graphicData uri="http://schemas.openxmlformats.org/presentationml/2006/ole">
            <mc:AlternateContent xmlns:mc="http://schemas.openxmlformats.org/markup-compatibility/2006">
              <mc:Choice xmlns:v="urn:schemas-microsoft-com:vml" Requires="v">
                <p:oleObj spid="_x0000_s88077" name="Equation" r:id="rId7" imgW="1384200" imgH="482400" progId="Equation.DSMT4">
                  <p:embed/>
                </p:oleObj>
              </mc:Choice>
              <mc:Fallback>
                <p:oleObj name="Equation" r:id="rId7" imgW="1384200" imgH="482400" progId="Equation.DSMT4">
                  <p:embed/>
                  <p:pic>
                    <p:nvPicPr>
                      <p:cNvPr id="0" name=""/>
                      <p:cNvPicPr>
                        <a:picLocks noChangeAspect="1" noChangeArrowheads="1"/>
                      </p:cNvPicPr>
                      <p:nvPr/>
                    </p:nvPicPr>
                    <p:blipFill>
                      <a:blip r:embed="rId8"/>
                      <a:srcRect/>
                      <a:stretch>
                        <a:fillRect/>
                      </a:stretch>
                    </p:blipFill>
                    <p:spPr bwMode="auto">
                      <a:xfrm>
                        <a:off x="3497263" y="2301875"/>
                        <a:ext cx="2490787"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3"/>
          <p:cNvSpPr>
            <a:spLocks noChangeArrowheads="1"/>
          </p:cNvSpPr>
          <p:nvPr/>
        </p:nvSpPr>
        <p:spPr bwMode="auto">
          <a:xfrm>
            <a:off x="1147676" y="5140482"/>
            <a:ext cx="6972300" cy="55399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en-US" altLang="zh-CN" sz="2000" dirty="0"/>
              <a:t>        </a:t>
            </a:r>
            <a:r>
              <a:rPr lang="zh-CN" altLang="en-US" sz="2000" dirty="0" smtClean="0"/>
              <a:t>后面计算实际电路的高频响应就采用上述近似法。</a:t>
            </a:r>
            <a:endParaRPr lang="zh-CN" altLang="en-US" sz="2000" dirty="0"/>
          </a:p>
        </p:txBody>
      </p:sp>
    </p:spTree>
    <p:extLst>
      <p:ext uri="{BB962C8B-B14F-4D97-AF65-F5344CB8AC3E}">
        <p14:creationId xmlns:p14="http://schemas.microsoft.com/office/powerpoint/2010/main" val="18513540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ox(i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arn(inVertical)">
                                      <p:cBhvr>
                                        <p:cTn id="17" dur="500"/>
                                        <p:tgtEl>
                                          <p:spTgt spid="26"/>
                                        </p:tgtEl>
                                      </p:cBhvr>
                                    </p:animEffect>
                                  </p:childTnLst>
                                </p:cTn>
                              </p:par>
                              <p:par>
                                <p:cTn id="18" presetID="16" presetClass="entr" presetSubtype="21" fill="hold"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barn(inVertical)">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Text Box 3"/>
          <p:cNvSpPr txBox="1">
            <a:spLocks noChangeArrowheads="1"/>
          </p:cNvSpPr>
          <p:nvPr/>
        </p:nvSpPr>
        <p:spPr bwMode="auto">
          <a:xfrm>
            <a:off x="536575" y="558800"/>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10.5.2 </a:t>
            </a:r>
            <a:r>
              <a:rPr lang="zh-CN" altLang="en-US" dirty="0" smtClean="0">
                <a:solidFill>
                  <a:srgbClr val="990033"/>
                </a:solidFill>
              </a:rPr>
              <a:t>晶体管</a:t>
            </a:r>
            <a:r>
              <a:rPr lang="zh-CN" altLang="en-US" dirty="0">
                <a:solidFill>
                  <a:srgbClr val="990033"/>
                </a:solidFill>
              </a:rPr>
              <a:t>的高频等效电路</a:t>
            </a:r>
          </a:p>
        </p:txBody>
      </p:sp>
      <p:pic>
        <p:nvPicPr>
          <p:cNvPr id="640006" name="图片 2065" descr="说明: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1768475"/>
            <a:ext cx="6237288" cy="230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0007" name="图片 2066" descr="说明: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9088" y="4338638"/>
            <a:ext cx="5641975" cy="226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0008" name="Rectangle 8"/>
          <p:cNvSpPr>
            <a:spLocks noChangeArrowheads="1"/>
          </p:cNvSpPr>
          <p:nvPr/>
        </p:nvSpPr>
        <p:spPr bwMode="auto">
          <a:xfrm>
            <a:off x="406282" y="2436882"/>
            <a:ext cx="1797287" cy="70788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2000" dirty="0"/>
              <a:t>BJT</a:t>
            </a:r>
          </a:p>
          <a:p>
            <a:pPr eaLnBrk="1" hangingPunct="1"/>
            <a:r>
              <a:rPr lang="zh-CN" altLang="en-US" sz="2000" dirty="0"/>
              <a:t>高频等效电路 </a:t>
            </a:r>
          </a:p>
        </p:txBody>
      </p:sp>
      <p:sp>
        <p:nvSpPr>
          <p:cNvPr id="640009" name="Rectangle 9"/>
          <p:cNvSpPr>
            <a:spLocks noChangeArrowheads="1"/>
          </p:cNvSpPr>
          <p:nvPr/>
        </p:nvSpPr>
        <p:spPr bwMode="auto">
          <a:xfrm>
            <a:off x="449144" y="5005457"/>
            <a:ext cx="1797287" cy="70788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2000" dirty="0"/>
              <a:t>FET</a:t>
            </a:r>
          </a:p>
          <a:p>
            <a:pPr eaLnBrk="1" hangingPunct="1"/>
            <a:r>
              <a:rPr lang="zh-CN" altLang="en-US" sz="2000" dirty="0"/>
              <a:t>高频等效电路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640006"/>
                                        </p:tgtEl>
                                        <p:attrNameLst>
                                          <p:attrName>style.visibility</p:attrName>
                                        </p:attrNameLst>
                                      </p:cBhvr>
                                      <p:to>
                                        <p:strVal val="visible"/>
                                      </p:to>
                                    </p:set>
                                    <p:animEffect transition="in" filter="checkerboard(across)">
                                      <p:cBhvr>
                                        <p:cTn id="7" dur="500"/>
                                        <p:tgtEl>
                                          <p:spTgt spid="64000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40008"/>
                                        </p:tgtEl>
                                        <p:attrNameLst>
                                          <p:attrName>style.visibility</p:attrName>
                                        </p:attrNameLst>
                                      </p:cBhvr>
                                      <p:to>
                                        <p:strVal val="visible"/>
                                      </p:to>
                                    </p:set>
                                    <p:animEffect transition="in" filter="checkerboard(across)">
                                      <p:cBhvr>
                                        <p:cTn id="10" dur="500"/>
                                        <p:tgtEl>
                                          <p:spTgt spid="64000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8" presetClass="entr" presetSubtype="16" fill="hold" nodeType="clickEffect">
                                  <p:stCondLst>
                                    <p:cond delay="0"/>
                                  </p:stCondLst>
                                  <p:childTnLst>
                                    <p:set>
                                      <p:cBhvr>
                                        <p:cTn id="14" dur="1" fill="hold">
                                          <p:stCondLst>
                                            <p:cond delay="0"/>
                                          </p:stCondLst>
                                        </p:cTn>
                                        <p:tgtEl>
                                          <p:spTgt spid="640007"/>
                                        </p:tgtEl>
                                        <p:attrNameLst>
                                          <p:attrName>style.visibility</p:attrName>
                                        </p:attrNameLst>
                                      </p:cBhvr>
                                      <p:to>
                                        <p:strVal val="visible"/>
                                      </p:to>
                                    </p:set>
                                    <p:animEffect transition="in" filter="diamond(in)">
                                      <p:cBhvr>
                                        <p:cTn id="15" dur="2000"/>
                                        <p:tgtEl>
                                          <p:spTgt spid="640007"/>
                                        </p:tgtEl>
                                      </p:cBhvr>
                                    </p:animEffect>
                                  </p:childTnLst>
                                </p:cTn>
                              </p:par>
                              <p:par>
                                <p:cTn id="16" presetID="8" presetClass="entr" presetSubtype="16" fill="hold" grpId="0" nodeType="withEffect">
                                  <p:stCondLst>
                                    <p:cond delay="0"/>
                                  </p:stCondLst>
                                  <p:childTnLst>
                                    <p:set>
                                      <p:cBhvr>
                                        <p:cTn id="17" dur="1" fill="hold">
                                          <p:stCondLst>
                                            <p:cond delay="0"/>
                                          </p:stCondLst>
                                        </p:cTn>
                                        <p:tgtEl>
                                          <p:spTgt spid="640009"/>
                                        </p:tgtEl>
                                        <p:attrNameLst>
                                          <p:attrName>style.visibility</p:attrName>
                                        </p:attrNameLst>
                                      </p:cBhvr>
                                      <p:to>
                                        <p:strVal val="visible"/>
                                      </p:to>
                                    </p:set>
                                    <p:animEffect transition="in" filter="diamond(in)">
                                      <p:cBhvr>
                                        <p:cTn id="18" dur="2000"/>
                                        <p:tgtEl>
                                          <p:spTgt spid="640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0008" grpId="0"/>
      <p:bldP spid="640009" grpId="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Text Box 3"/>
          <p:cNvSpPr txBox="1">
            <a:spLocks noChangeArrowheads="1"/>
          </p:cNvSpPr>
          <p:nvPr/>
        </p:nvSpPr>
        <p:spPr bwMode="auto">
          <a:xfrm>
            <a:off x="727075" y="1059092"/>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dirty="0" smtClean="0">
                <a:solidFill>
                  <a:srgbClr val="990033"/>
                </a:solidFill>
              </a:rPr>
              <a:t>一、</a:t>
            </a:r>
            <a:r>
              <a:rPr lang="en-US" altLang="zh-CN" dirty="0" smtClean="0">
                <a:solidFill>
                  <a:srgbClr val="990033"/>
                </a:solidFill>
              </a:rPr>
              <a:t>BJT</a:t>
            </a:r>
            <a:r>
              <a:rPr lang="zh-CN" altLang="en-US" dirty="0" smtClean="0">
                <a:solidFill>
                  <a:srgbClr val="990033"/>
                </a:solidFill>
              </a:rPr>
              <a:t>的特征频率 </a:t>
            </a:r>
            <a:r>
              <a:rPr lang="en-US" altLang="zh-CN" i="1" dirty="0" err="1" smtClean="0">
                <a:solidFill>
                  <a:srgbClr val="990033"/>
                </a:solidFill>
              </a:rPr>
              <a:t>f</a:t>
            </a:r>
            <a:r>
              <a:rPr lang="en-US" altLang="zh-CN" i="1" baseline="-25000" dirty="0" err="1" smtClean="0">
                <a:solidFill>
                  <a:srgbClr val="990033"/>
                </a:solidFill>
              </a:rPr>
              <a:t>T</a:t>
            </a:r>
            <a:endParaRPr lang="zh-CN" altLang="en-US" i="1" baseline="-25000" dirty="0">
              <a:solidFill>
                <a:srgbClr val="990033"/>
              </a:solidFill>
            </a:endParaRPr>
          </a:p>
        </p:txBody>
      </p:sp>
      <p:sp>
        <p:nvSpPr>
          <p:cNvPr id="641030" name="Rectangle 6"/>
          <p:cNvSpPr>
            <a:spLocks noChangeArrowheads="1"/>
          </p:cNvSpPr>
          <p:nvPr/>
        </p:nvSpPr>
        <p:spPr bwMode="auto">
          <a:xfrm>
            <a:off x="1300163" y="1692475"/>
            <a:ext cx="616707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en-US" altLang="en-US" sz="2000" dirty="0" err="1"/>
              <a:t>将</a:t>
            </a:r>
            <a:r>
              <a:rPr lang="en-US" altLang="en-US" sz="2000" i="1" dirty="0" err="1"/>
              <a:t>C、E</a:t>
            </a:r>
            <a:r>
              <a:rPr lang="en-US" altLang="en-US" sz="2000" dirty="0" err="1"/>
              <a:t>短路</a:t>
            </a:r>
            <a:r>
              <a:rPr lang="zh-CN" altLang="en-US" sz="2000" dirty="0"/>
              <a:t>，求晶体管的共射短路电流放大</a:t>
            </a:r>
            <a:r>
              <a:rPr lang="zh-CN" altLang="en-US" sz="2000" dirty="0" smtClean="0"/>
              <a:t>系数 </a:t>
            </a:r>
            <a:r>
              <a:rPr lang="en-US" altLang="zh-CN" sz="2000" i="1" dirty="0" smtClean="0">
                <a:latin typeface="Symbol" pitchFamily="18" charset="2"/>
              </a:rPr>
              <a:t>b </a:t>
            </a:r>
            <a:r>
              <a:rPr lang="zh-CN" altLang="en-US" sz="2000" dirty="0"/>
              <a:t>。</a:t>
            </a:r>
          </a:p>
        </p:txBody>
      </p:sp>
      <p:pic>
        <p:nvPicPr>
          <p:cNvPr id="641034" name="图片 213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3580" y="5550317"/>
            <a:ext cx="1005840" cy="937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3"/>
          <a:stretch>
            <a:fillRect/>
          </a:stretch>
        </p:blipFill>
        <p:spPr>
          <a:xfrm>
            <a:off x="1007351" y="2707026"/>
            <a:ext cx="7334250" cy="2228850"/>
          </a:xfrm>
          <a:prstGeom prst="rect">
            <a:avLst/>
          </a:prstGeom>
        </p:spPr>
      </p:pic>
      <p:sp>
        <p:nvSpPr>
          <p:cNvPr id="6" name="Text Box 3"/>
          <p:cNvSpPr txBox="1">
            <a:spLocks noChangeArrowheads="1"/>
          </p:cNvSpPr>
          <p:nvPr/>
        </p:nvSpPr>
        <p:spPr bwMode="auto">
          <a:xfrm>
            <a:off x="536575" y="558800"/>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10.5.3 </a:t>
            </a:r>
            <a:r>
              <a:rPr lang="zh-CN" altLang="en-US" dirty="0">
                <a:solidFill>
                  <a:srgbClr val="990033"/>
                </a:solidFill>
              </a:rPr>
              <a:t>晶体管的特征频率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barn(inVertical)">
                                      <p:cBhvr>
                                        <p:cTn id="7" dur="500"/>
                                        <p:tgtEl>
                                          <p:spTgt spid="348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41030"/>
                                        </p:tgtEl>
                                        <p:attrNameLst>
                                          <p:attrName>style.visibility</p:attrName>
                                        </p:attrNameLst>
                                      </p:cBhvr>
                                      <p:to>
                                        <p:strVal val="visible"/>
                                      </p:to>
                                    </p:set>
                                    <p:animEffect transition="in" filter="blinds(horizontal)">
                                      <p:cBhvr>
                                        <p:cTn id="12" dur="500"/>
                                        <p:tgtEl>
                                          <p:spTgt spid="6410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41034"/>
                                        </p:tgtEl>
                                        <p:attrNameLst>
                                          <p:attrName>style.visibility</p:attrName>
                                        </p:attrNameLst>
                                      </p:cBhvr>
                                      <p:to>
                                        <p:strVal val="visible"/>
                                      </p:to>
                                    </p:set>
                                    <p:animEffect transition="in" filter="box(in)">
                                      <p:cBhvr>
                                        <p:cTn id="22" dur="500"/>
                                        <p:tgtEl>
                                          <p:spTgt spid="641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641030" grpId="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5843" name="Object 7"/>
          <p:cNvGraphicFramePr>
            <a:graphicFrameLocks noChangeAspect="1"/>
          </p:cNvGraphicFramePr>
          <p:nvPr>
            <p:extLst>
              <p:ext uri="{D42A27DB-BD31-4B8C-83A1-F6EECF244321}">
                <p14:modId xmlns:p14="http://schemas.microsoft.com/office/powerpoint/2010/main" val="4032567271"/>
              </p:ext>
            </p:extLst>
          </p:nvPr>
        </p:nvGraphicFramePr>
        <p:xfrm>
          <a:off x="1112838" y="4162425"/>
          <a:ext cx="4572000" cy="2239963"/>
        </p:xfrm>
        <a:graphic>
          <a:graphicData uri="http://schemas.openxmlformats.org/presentationml/2006/ole">
            <mc:AlternateContent xmlns:mc="http://schemas.openxmlformats.org/markup-compatibility/2006">
              <mc:Choice xmlns:v="urn:schemas-microsoft-com:vml" Requires="v">
                <p:oleObj spid="_x0000_s36267" name="Equation" r:id="rId3" imgW="2539800" imgH="1244520" progId="Equation.DSMT4">
                  <p:embed/>
                </p:oleObj>
              </mc:Choice>
              <mc:Fallback>
                <p:oleObj name="Equation" r:id="rId3" imgW="2539800" imgH="1244520" progId="Equation.DSMT4">
                  <p:embed/>
                  <p:pic>
                    <p:nvPicPr>
                      <p:cNvPr id="0" name="Object 7"/>
                      <p:cNvPicPr>
                        <a:picLocks noChangeAspect="1" noChangeArrowheads="1"/>
                      </p:cNvPicPr>
                      <p:nvPr/>
                    </p:nvPicPr>
                    <p:blipFill>
                      <a:blip r:embed="rId4"/>
                      <a:srcRect/>
                      <a:stretch>
                        <a:fillRect/>
                      </a:stretch>
                    </p:blipFill>
                    <p:spPr bwMode="auto">
                      <a:xfrm>
                        <a:off x="1112838" y="4162425"/>
                        <a:ext cx="4572000" cy="223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4" name="Object 8"/>
          <p:cNvGraphicFramePr>
            <a:graphicFrameLocks noChangeAspect="1"/>
          </p:cNvGraphicFramePr>
          <p:nvPr>
            <p:extLst>
              <p:ext uri="{D42A27DB-BD31-4B8C-83A1-F6EECF244321}">
                <p14:modId xmlns:p14="http://schemas.microsoft.com/office/powerpoint/2010/main" val="89488641"/>
              </p:ext>
            </p:extLst>
          </p:nvPr>
        </p:nvGraphicFramePr>
        <p:xfrm>
          <a:off x="6284913" y="5556935"/>
          <a:ext cx="2033658" cy="845453"/>
        </p:xfrm>
        <a:graphic>
          <a:graphicData uri="http://schemas.openxmlformats.org/presentationml/2006/ole">
            <mc:AlternateContent xmlns:mc="http://schemas.openxmlformats.org/markup-compatibility/2006">
              <mc:Choice xmlns:v="urn:schemas-microsoft-com:vml" Requires="v">
                <p:oleObj spid="_x0000_s36268" name="Equation" r:id="rId5" imgW="1129810" imgH="469696" progId="Equation.DSMT4">
                  <p:embed/>
                </p:oleObj>
              </mc:Choice>
              <mc:Fallback>
                <p:oleObj name="Equation" r:id="rId5" imgW="1129810" imgH="469696"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4913" y="5556935"/>
                        <a:ext cx="2033658" cy="845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图片 1"/>
          <p:cNvPicPr>
            <a:picLocks noChangeAspect="1"/>
          </p:cNvPicPr>
          <p:nvPr/>
        </p:nvPicPr>
        <p:blipFill>
          <a:blip r:embed="rId7"/>
          <a:stretch>
            <a:fillRect/>
          </a:stretch>
        </p:blipFill>
        <p:spPr>
          <a:xfrm>
            <a:off x="884238" y="509423"/>
            <a:ext cx="7334250" cy="2228850"/>
          </a:xfrm>
          <a:prstGeom prst="rect">
            <a:avLst/>
          </a:prstGeom>
        </p:spPr>
      </p:pic>
      <p:graphicFrame>
        <p:nvGraphicFramePr>
          <p:cNvPr id="6" name="Object 7"/>
          <p:cNvGraphicFramePr>
            <a:graphicFrameLocks noChangeAspect="1"/>
          </p:cNvGraphicFramePr>
          <p:nvPr>
            <p:extLst>
              <p:ext uri="{D42A27DB-BD31-4B8C-83A1-F6EECF244321}">
                <p14:modId xmlns:p14="http://schemas.microsoft.com/office/powerpoint/2010/main" val="1520131223"/>
              </p:ext>
            </p:extLst>
          </p:nvPr>
        </p:nvGraphicFramePr>
        <p:xfrm>
          <a:off x="1112838" y="3057966"/>
          <a:ext cx="1944687" cy="434975"/>
        </p:xfrm>
        <a:graphic>
          <a:graphicData uri="http://schemas.openxmlformats.org/presentationml/2006/ole">
            <mc:AlternateContent xmlns:mc="http://schemas.openxmlformats.org/markup-compatibility/2006">
              <mc:Choice xmlns:v="urn:schemas-microsoft-com:vml" Requires="v">
                <p:oleObj spid="_x0000_s36269" name="Equation" r:id="rId8" imgW="1079280" imgH="241200" progId="Equation.DSMT4">
                  <p:embed/>
                </p:oleObj>
              </mc:Choice>
              <mc:Fallback>
                <p:oleObj name="Equation" r:id="rId8" imgW="1079280" imgH="241200" progId="Equation.DSMT4">
                  <p:embed/>
                  <p:pic>
                    <p:nvPicPr>
                      <p:cNvPr id="0" name=""/>
                      <p:cNvPicPr>
                        <a:picLocks noChangeAspect="1" noChangeArrowheads="1"/>
                      </p:cNvPicPr>
                      <p:nvPr/>
                    </p:nvPicPr>
                    <p:blipFill>
                      <a:blip r:embed="rId9"/>
                      <a:srcRect/>
                      <a:stretch>
                        <a:fillRect/>
                      </a:stretch>
                    </p:blipFill>
                    <p:spPr bwMode="auto">
                      <a:xfrm>
                        <a:off x="1112838" y="3057966"/>
                        <a:ext cx="1944687"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组合 6"/>
          <p:cNvGrpSpPr/>
          <p:nvPr/>
        </p:nvGrpSpPr>
        <p:grpSpPr>
          <a:xfrm>
            <a:off x="2483644" y="3457635"/>
            <a:ext cx="1282408" cy="509903"/>
            <a:chOff x="3098307" y="5179517"/>
            <a:chExt cx="1282408" cy="509903"/>
          </a:xfrm>
        </p:grpSpPr>
        <p:cxnSp>
          <p:nvCxnSpPr>
            <p:cNvPr id="8" name="直接连接符 7"/>
            <p:cNvCxnSpPr/>
            <p:nvPr/>
          </p:nvCxnSpPr>
          <p:spPr bwMode="auto">
            <a:xfrm>
              <a:off x="3098307" y="5179517"/>
              <a:ext cx="372862" cy="0"/>
            </a:xfrm>
            <a:prstGeom prst="line">
              <a:avLst/>
            </a:prstGeom>
            <a:solidFill>
              <a:srgbClr val="99FF99"/>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p:cNvCxnSpPr/>
            <p:nvPr/>
          </p:nvCxnSpPr>
          <p:spPr bwMode="auto">
            <a:xfrm>
              <a:off x="3291840" y="5179517"/>
              <a:ext cx="465514" cy="219586"/>
            </a:xfrm>
            <a:prstGeom prst="line">
              <a:avLst/>
            </a:prstGeom>
            <a:solidFill>
              <a:srgbClr val="99FF99"/>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矩形 9"/>
            <p:cNvSpPr/>
            <p:nvPr/>
          </p:nvSpPr>
          <p:spPr>
            <a:xfrm>
              <a:off x="3679882" y="5289310"/>
              <a:ext cx="700833" cy="400110"/>
            </a:xfrm>
            <a:prstGeom prst="rect">
              <a:avLst/>
            </a:prstGeom>
          </p:spPr>
          <p:txBody>
            <a:bodyPr wrap="none">
              <a:spAutoFit/>
            </a:bodyPr>
            <a:lstStyle/>
            <a:p>
              <a:r>
                <a:rPr lang="zh-CN" altLang="en-US" sz="2000" dirty="0" smtClean="0">
                  <a:solidFill>
                    <a:srgbClr val="FF0000"/>
                  </a:solidFill>
                </a:rPr>
                <a:t>很小</a:t>
              </a:r>
              <a:endParaRPr lang="zh-CN" altLang="en-US" sz="2000" dirty="0">
                <a:solidFill>
                  <a:srgbClr val="FF0000"/>
                </a:solidFill>
              </a:endParaRPr>
            </a:p>
          </p:txBody>
        </p:sp>
      </p:grpSp>
      <p:pic>
        <p:nvPicPr>
          <p:cNvPr id="11" name="图片 2068" descr="说明: 7"/>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072880" y="2586089"/>
            <a:ext cx="2910905" cy="206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Object 7"/>
          <p:cNvGraphicFramePr>
            <a:graphicFrameLocks noChangeAspect="1"/>
          </p:cNvGraphicFramePr>
          <p:nvPr>
            <p:extLst>
              <p:ext uri="{D42A27DB-BD31-4B8C-83A1-F6EECF244321}">
                <p14:modId xmlns:p14="http://schemas.microsoft.com/office/powerpoint/2010/main" val="3488159754"/>
              </p:ext>
            </p:extLst>
          </p:nvPr>
        </p:nvGraphicFramePr>
        <p:xfrm>
          <a:off x="3103010" y="3052219"/>
          <a:ext cx="823913" cy="411163"/>
        </p:xfrm>
        <a:graphic>
          <a:graphicData uri="http://schemas.openxmlformats.org/presentationml/2006/ole">
            <mc:AlternateContent xmlns:mc="http://schemas.openxmlformats.org/markup-compatibility/2006">
              <mc:Choice xmlns:v="urn:schemas-microsoft-com:vml" Requires="v">
                <p:oleObj spid="_x0000_s36270" name="Equation" r:id="rId11" imgW="457200" imgH="228600" progId="Equation.DSMT4">
                  <p:embed/>
                </p:oleObj>
              </mc:Choice>
              <mc:Fallback>
                <p:oleObj name="Equation" r:id="rId11" imgW="457200" imgH="228600" progId="Equation.DSMT4">
                  <p:embed/>
                  <p:pic>
                    <p:nvPicPr>
                      <p:cNvPr id="0" name=""/>
                      <p:cNvPicPr>
                        <a:picLocks noChangeAspect="1" noChangeArrowheads="1"/>
                      </p:cNvPicPr>
                      <p:nvPr/>
                    </p:nvPicPr>
                    <p:blipFill>
                      <a:blip r:embed="rId12"/>
                      <a:srcRect/>
                      <a:stretch>
                        <a:fillRect/>
                      </a:stretch>
                    </p:blipFill>
                    <p:spPr bwMode="auto">
                      <a:xfrm>
                        <a:off x="3103010" y="3052219"/>
                        <a:ext cx="823913"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inVertic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5843"/>
                                        </p:tgtEl>
                                        <p:attrNameLst>
                                          <p:attrName>style.visibility</p:attrName>
                                        </p:attrNameLst>
                                      </p:cBhvr>
                                      <p:to>
                                        <p:strVal val="visible"/>
                                      </p:to>
                                    </p:set>
                                    <p:animEffect transition="in" filter="barn(inVertical)">
                                      <p:cBhvr>
                                        <p:cTn id="27" dur="500"/>
                                        <p:tgtEl>
                                          <p:spTgt spid="3584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5844"/>
                                        </p:tgtEl>
                                        <p:attrNameLst>
                                          <p:attrName>style.visibility</p:attrName>
                                        </p:attrNameLst>
                                      </p:cBhvr>
                                      <p:to>
                                        <p:strVal val="visible"/>
                                      </p:to>
                                    </p:set>
                                    <p:animEffect transition="in" filter="barn(inVertical)">
                                      <p:cBhvr>
                                        <p:cTn id="32" dur="500"/>
                                        <p:tgtEl>
                                          <p:spTgt spid="35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6866" name="Object 5"/>
          <p:cNvGraphicFramePr>
            <a:graphicFrameLocks noGrp="1" noChangeAspect="1"/>
          </p:cNvGraphicFramePr>
          <p:nvPr>
            <p:ph/>
            <p:extLst>
              <p:ext uri="{D42A27DB-BD31-4B8C-83A1-F6EECF244321}">
                <p14:modId xmlns:p14="http://schemas.microsoft.com/office/powerpoint/2010/main" val="694770296"/>
              </p:ext>
            </p:extLst>
          </p:nvPr>
        </p:nvGraphicFramePr>
        <p:xfrm>
          <a:off x="1084263" y="663257"/>
          <a:ext cx="3406140" cy="1554480"/>
        </p:xfrm>
        <a:graphic>
          <a:graphicData uri="http://schemas.openxmlformats.org/presentationml/2006/ole">
            <mc:AlternateContent xmlns:mc="http://schemas.openxmlformats.org/markup-compatibility/2006">
              <mc:Choice xmlns:v="urn:schemas-microsoft-com:vml" Requires="v">
                <p:oleObj spid="_x0000_s37751" name="Equation" r:id="rId3" imgW="1892300" imgH="863600" progId="Equation.DSMT4">
                  <p:embed/>
                </p:oleObj>
              </mc:Choice>
              <mc:Fallback>
                <p:oleObj name="Equation" r:id="rId3" imgW="1892300" imgH="8636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4263" y="663257"/>
                        <a:ext cx="3406140" cy="1554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4110" name="Object 14"/>
          <p:cNvGraphicFramePr>
            <a:graphicFrameLocks noChangeAspect="1"/>
          </p:cNvGraphicFramePr>
          <p:nvPr>
            <p:extLst>
              <p:ext uri="{D42A27DB-BD31-4B8C-83A1-F6EECF244321}">
                <p14:modId xmlns:p14="http://schemas.microsoft.com/office/powerpoint/2010/main" val="2214535403"/>
              </p:ext>
            </p:extLst>
          </p:nvPr>
        </p:nvGraphicFramePr>
        <p:xfrm>
          <a:off x="6630829" y="4146074"/>
          <a:ext cx="1325880" cy="502920"/>
        </p:xfrm>
        <a:graphic>
          <a:graphicData uri="http://schemas.openxmlformats.org/presentationml/2006/ole">
            <mc:AlternateContent xmlns:mc="http://schemas.openxmlformats.org/markup-compatibility/2006">
              <mc:Choice xmlns:v="urn:schemas-microsoft-com:vml" Requires="v">
                <p:oleObj spid="_x0000_s37752" name="Equation" r:id="rId5" imgW="736600" imgH="279400" progId="Equation.DSMT4">
                  <p:embed/>
                </p:oleObj>
              </mc:Choice>
              <mc:Fallback>
                <p:oleObj name="Equation" r:id="rId5" imgW="736600" imgH="279400"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30829" y="4146074"/>
                        <a:ext cx="1325880"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4111" name="AutoShape 15"/>
          <p:cNvSpPr>
            <a:spLocks noChangeArrowheads="1"/>
          </p:cNvSpPr>
          <p:nvPr/>
        </p:nvSpPr>
        <p:spPr bwMode="auto">
          <a:xfrm>
            <a:off x="7199313" y="4762500"/>
            <a:ext cx="188912" cy="536575"/>
          </a:xfrm>
          <a:prstGeom prst="downArrow">
            <a:avLst>
              <a:gd name="adj1" fmla="val 50000"/>
              <a:gd name="adj2" fmla="val 71009"/>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sz="2000"/>
          </a:p>
        </p:txBody>
      </p:sp>
      <p:sp>
        <p:nvSpPr>
          <p:cNvPr id="644112" name="Text Box 16"/>
          <p:cNvSpPr txBox="1">
            <a:spLocks noChangeArrowheads="1"/>
          </p:cNvSpPr>
          <p:nvPr/>
        </p:nvSpPr>
        <p:spPr bwMode="auto">
          <a:xfrm>
            <a:off x="6544775" y="5437188"/>
            <a:ext cx="121700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2000" dirty="0"/>
              <a:t>特征频率</a:t>
            </a:r>
          </a:p>
        </p:txBody>
      </p:sp>
      <p:sp>
        <p:nvSpPr>
          <p:cNvPr id="644113" name="Text Box 17"/>
          <p:cNvSpPr txBox="1">
            <a:spLocks noChangeArrowheads="1"/>
          </p:cNvSpPr>
          <p:nvPr/>
        </p:nvSpPr>
        <p:spPr bwMode="auto">
          <a:xfrm>
            <a:off x="6384438" y="2638425"/>
            <a:ext cx="121700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2000" dirty="0" smtClean="0"/>
              <a:t>截止频率</a:t>
            </a:r>
            <a:endParaRPr lang="zh-CN" altLang="en-US" sz="2000" dirty="0"/>
          </a:p>
        </p:txBody>
      </p:sp>
      <p:graphicFrame>
        <p:nvGraphicFramePr>
          <p:cNvPr id="644114" name="Object 18"/>
          <p:cNvGraphicFramePr>
            <a:graphicFrameLocks noChangeAspect="1"/>
          </p:cNvGraphicFramePr>
          <p:nvPr>
            <p:extLst>
              <p:ext uri="{D42A27DB-BD31-4B8C-83A1-F6EECF244321}">
                <p14:modId xmlns:p14="http://schemas.microsoft.com/office/powerpoint/2010/main" val="258312193"/>
              </p:ext>
            </p:extLst>
          </p:nvPr>
        </p:nvGraphicFramePr>
        <p:xfrm>
          <a:off x="6142146" y="904875"/>
          <a:ext cx="1965107" cy="914004"/>
        </p:xfrm>
        <a:graphic>
          <a:graphicData uri="http://schemas.openxmlformats.org/presentationml/2006/ole">
            <mc:AlternateContent xmlns:mc="http://schemas.openxmlformats.org/markup-compatibility/2006">
              <mc:Choice xmlns:v="urn:schemas-microsoft-com:vml" Requires="v">
                <p:oleObj spid="_x0000_s37753" name="Equation" r:id="rId7" imgW="1091726" imgH="507780" progId="Equation.DSMT4">
                  <p:embed/>
                </p:oleObj>
              </mc:Choice>
              <mc:Fallback>
                <p:oleObj name="Equation" r:id="rId7" imgW="1091726" imgH="507780" progId="Equation.DSMT4">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42146" y="904875"/>
                        <a:ext cx="1965107" cy="9140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4115" name="AutoShape 19"/>
          <p:cNvSpPr>
            <a:spLocks noChangeArrowheads="1"/>
          </p:cNvSpPr>
          <p:nvPr/>
        </p:nvSpPr>
        <p:spPr bwMode="auto">
          <a:xfrm>
            <a:off x="7034213" y="1949450"/>
            <a:ext cx="188912" cy="536575"/>
          </a:xfrm>
          <a:prstGeom prst="downArrow">
            <a:avLst>
              <a:gd name="adj1" fmla="val 50000"/>
              <a:gd name="adj2" fmla="val 71009"/>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sz="2000"/>
          </a:p>
        </p:txBody>
      </p:sp>
      <p:graphicFrame>
        <p:nvGraphicFramePr>
          <p:cNvPr id="644120" name="Object 24"/>
          <p:cNvGraphicFramePr>
            <a:graphicFrameLocks noChangeAspect="1"/>
          </p:cNvGraphicFramePr>
          <p:nvPr>
            <p:extLst>
              <p:ext uri="{D42A27DB-BD31-4B8C-83A1-F6EECF244321}">
                <p14:modId xmlns:p14="http://schemas.microsoft.com/office/powerpoint/2010/main" val="2750499588"/>
              </p:ext>
            </p:extLst>
          </p:nvPr>
        </p:nvGraphicFramePr>
        <p:xfrm>
          <a:off x="7523724" y="2638425"/>
          <a:ext cx="342751" cy="434151"/>
        </p:xfrm>
        <a:graphic>
          <a:graphicData uri="http://schemas.openxmlformats.org/presentationml/2006/ole">
            <mc:AlternateContent xmlns:mc="http://schemas.openxmlformats.org/markup-compatibility/2006">
              <mc:Choice xmlns:v="urn:schemas-microsoft-com:vml" Requires="v">
                <p:oleObj spid="_x0000_s37754" name="Equation" r:id="rId9" imgW="190417" imgH="241195" progId="Equation.DSMT4">
                  <p:embed/>
                </p:oleObj>
              </mc:Choice>
              <mc:Fallback>
                <p:oleObj name="Equation" r:id="rId9" imgW="190417" imgH="241195" progId="Equation.DSMT4">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23724" y="2638425"/>
                        <a:ext cx="342751" cy="434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4121" name="Object 25"/>
          <p:cNvGraphicFramePr>
            <a:graphicFrameLocks noChangeAspect="1"/>
          </p:cNvGraphicFramePr>
          <p:nvPr>
            <p:extLst>
              <p:ext uri="{D42A27DB-BD31-4B8C-83A1-F6EECF244321}">
                <p14:modId xmlns:p14="http://schemas.microsoft.com/office/powerpoint/2010/main" val="1279702012"/>
              </p:ext>
            </p:extLst>
          </p:nvPr>
        </p:nvGraphicFramePr>
        <p:xfrm>
          <a:off x="7727951" y="5429250"/>
          <a:ext cx="319763" cy="411124"/>
        </p:xfrm>
        <a:graphic>
          <a:graphicData uri="http://schemas.openxmlformats.org/presentationml/2006/ole">
            <mc:AlternateContent xmlns:mc="http://schemas.openxmlformats.org/markup-compatibility/2006">
              <mc:Choice xmlns:v="urn:schemas-microsoft-com:vml" Requires="v">
                <p:oleObj spid="_x0000_s37755" name="Equation" r:id="rId11" imgW="177646" imgH="228402" progId="Equation.DSMT4">
                  <p:embed/>
                </p:oleObj>
              </mc:Choice>
              <mc:Fallback>
                <p:oleObj name="Equation" r:id="rId11" imgW="177646" imgH="228402" progId="Equation.DSMT4">
                  <p:embed/>
                  <p:pic>
                    <p:nvPicPr>
                      <p:cNvPr id="0"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27951" y="5429250"/>
                        <a:ext cx="319763" cy="4111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图片 1"/>
          <p:cNvPicPr>
            <a:picLocks noChangeAspect="1"/>
          </p:cNvPicPr>
          <p:nvPr/>
        </p:nvPicPr>
        <p:blipFill>
          <a:blip r:embed="rId13"/>
          <a:stretch>
            <a:fillRect/>
          </a:stretch>
        </p:blipFill>
        <p:spPr>
          <a:xfrm>
            <a:off x="885314" y="2615406"/>
            <a:ext cx="4581525" cy="406717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4114"/>
                                        </p:tgtEl>
                                        <p:attrNameLst>
                                          <p:attrName>style.visibility</p:attrName>
                                        </p:attrNameLst>
                                      </p:cBhvr>
                                      <p:to>
                                        <p:strVal val="visible"/>
                                      </p:to>
                                    </p:set>
                                    <p:animEffect transition="in" filter="blinds(horizontal)">
                                      <p:cBhvr>
                                        <p:cTn id="7" dur="500"/>
                                        <p:tgtEl>
                                          <p:spTgt spid="6441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44113"/>
                                        </p:tgtEl>
                                        <p:attrNameLst>
                                          <p:attrName>style.visibility</p:attrName>
                                        </p:attrNameLst>
                                      </p:cBhvr>
                                      <p:to>
                                        <p:strVal val="visible"/>
                                      </p:to>
                                    </p:set>
                                    <p:animEffect transition="in" filter="box(in)">
                                      <p:cBhvr>
                                        <p:cTn id="12" dur="500"/>
                                        <p:tgtEl>
                                          <p:spTgt spid="644113"/>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644115"/>
                                        </p:tgtEl>
                                        <p:attrNameLst>
                                          <p:attrName>style.visibility</p:attrName>
                                        </p:attrNameLst>
                                      </p:cBhvr>
                                      <p:to>
                                        <p:strVal val="visible"/>
                                      </p:to>
                                    </p:set>
                                    <p:animEffect transition="in" filter="box(in)">
                                      <p:cBhvr>
                                        <p:cTn id="15" dur="500"/>
                                        <p:tgtEl>
                                          <p:spTgt spid="644115"/>
                                        </p:tgtEl>
                                      </p:cBhvr>
                                    </p:animEffect>
                                  </p:childTnLst>
                                </p:cTn>
                              </p:par>
                              <p:par>
                                <p:cTn id="16" presetID="4" presetClass="entr" presetSubtype="16" fill="hold" nodeType="withEffect">
                                  <p:stCondLst>
                                    <p:cond delay="0"/>
                                  </p:stCondLst>
                                  <p:childTnLst>
                                    <p:set>
                                      <p:cBhvr>
                                        <p:cTn id="17" dur="1" fill="hold">
                                          <p:stCondLst>
                                            <p:cond delay="0"/>
                                          </p:stCondLst>
                                        </p:cTn>
                                        <p:tgtEl>
                                          <p:spTgt spid="644120"/>
                                        </p:tgtEl>
                                        <p:attrNameLst>
                                          <p:attrName>style.visibility</p:attrName>
                                        </p:attrNameLst>
                                      </p:cBhvr>
                                      <p:to>
                                        <p:strVal val="visible"/>
                                      </p:to>
                                    </p:set>
                                    <p:animEffect transition="in" filter="box(in)">
                                      <p:cBhvr>
                                        <p:cTn id="18" dur="500"/>
                                        <p:tgtEl>
                                          <p:spTgt spid="64412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644110"/>
                                        </p:tgtEl>
                                        <p:attrNameLst>
                                          <p:attrName>style.visibility</p:attrName>
                                        </p:attrNameLst>
                                      </p:cBhvr>
                                      <p:to>
                                        <p:strVal val="visible"/>
                                      </p:to>
                                    </p:set>
                                    <p:animEffect transition="in" filter="blinds(horizontal)">
                                      <p:cBhvr>
                                        <p:cTn id="23" dur="500"/>
                                        <p:tgtEl>
                                          <p:spTgt spid="64411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644111"/>
                                        </p:tgtEl>
                                        <p:attrNameLst>
                                          <p:attrName>style.visibility</p:attrName>
                                        </p:attrNameLst>
                                      </p:cBhvr>
                                      <p:to>
                                        <p:strVal val="visible"/>
                                      </p:to>
                                    </p:set>
                                    <p:animEffect transition="in" filter="box(in)">
                                      <p:cBhvr>
                                        <p:cTn id="28" dur="500"/>
                                        <p:tgtEl>
                                          <p:spTgt spid="644111"/>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644112"/>
                                        </p:tgtEl>
                                        <p:attrNameLst>
                                          <p:attrName>style.visibility</p:attrName>
                                        </p:attrNameLst>
                                      </p:cBhvr>
                                      <p:to>
                                        <p:strVal val="visible"/>
                                      </p:to>
                                    </p:set>
                                    <p:animEffect transition="in" filter="box(in)">
                                      <p:cBhvr>
                                        <p:cTn id="31" dur="500"/>
                                        <p:tgtEl>
                                          <p:spTgt spid="644112"/>
                                        </p:tgtEl>
                                      </p:cBhvr>
                                    </p:animEffect>
                                  </p:childTnLst>
                                </p:cTn>
                              </p:par>
                              <p:par>
                                <p:cTn id="32" presetID="4" presetClass="entr" presetSubtype="16" fill="hold" nodeType="withEffect">
                                  <p:stCondLst>
                                    <p:cond delay="0"/>
                                  </p:stCondLst>
                                  <p:childTnLst>
                                    <p:set>
                                      <p:cBhvr>
                                        <p:cTn id="33" dur="1" fill="hold">
                                          <p:stCondLst>
                                            <p:cond delay="0"/>
                                          </p:stCondLst>
                                        </p:cTn>
                                        <p:tgtEl>
                                          <p:spTgt spid="644121"/>
                                        </p:tgtEl>
                                        <p:attrNameLst>
                                          <p:attrName>style.visibility</p:attrName>
                                        </p:attrNameLst>
                                      </p:cBhvr>
                                      <p:to>
                                        <p:strVal val="visible"/>
                                      </p:to>
                                    </p:set>
                                    <p:animEffect transition="in" filter="box(in)">
                                      <p:cBhvr>
                                        <p:cTn id="34" dur="500"/>
                                        <p:tgtEl>
                                          <p:spTgt spid="644121"/>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barn(inVertical)">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111" grpId="0" animBg="1"/>
      <p:bldP spid="644112" grpId="0"/>
      <p:bldP spid="644113" grpId="0"/>
      <p:bldP spid="644115"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7890" name="Object 4"/>
          <p:cNvGraphicFramePr>
            <a:graphicFrameLocks noChangeAspect="1"/>
          </p:cNvGraphicFramePr>
          <p:nvPr>
            <p:extLst>
              <p:ext uri="{D42A27DB-BD31-4B8C-83A1-F6EECF244321}">
                <p14:modId xmlns:p14="http://schemas.microsoft.com/office/powerpoint/2010/main" val="1334572241"/>
              </p:ext>
            </p:extLst>
          </p:nvPr>
        </p:nvGraphicFramePr>
        <p:xfrm>
          <a:off x="2644246" y="763217"/>
          <a:ext cx="1325880" cy="502920"/>
        </p:xfrm>
        <a:graphic>
          <a:graphicData uri="http://schemas.openxmlformats.org/presentationml/2006/ole">
            <mc:AlternateContent xmlns:mc="http://schemas.openxmlformats.org/markup-compatibility/2006">
              <mc:Choice xmlns:v="urn:schemas-microsoft-com:vml" Requires="v">
                <p:oleObj spid="_x0000_s38827" name="Equation" r:id="rId3" imgW="736600" imgH="279400" progId="Equation.DSMT4">
                  <p:embed/>
                </p:oleObj>
              </mc:Choice>
              <mc:Fallback>
                <p:oleObj name="Equation" r:id="rId3" imgW="736600" imgH="2794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4246" y="763217"/>
                        <a:ext cx="1325880"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1" name="AutoShape 12"/>
          <p:cNvSpPr>
            <a:spLocks noChangeArrowheads="1"/>
          </p:cNvSpPr>
          <p:nvPr/>
        </p:nvSpPr>
        <p:spPr bwMode="auto">
          <a:xfrm>
            <a:off x="4374621" y="905933"/>
            <a:ext cx="508000" cy="217488"/>
          </a:xfrm>
          <a:prstGeom prst="rightArrow">
            <a:avLst>
              <a:gd name="adj1" fmla="val 50000"/>
              <a:gd name="adj2" fmla="val 58394"/>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graphicFrame>
        <p:nvGraphicFramePr>
          <p:cNvPr id="37892" name="Object 13"/>
          <p:cNvGraphicFramePr>
            <a:graphicFrameLocks noChangeAspect="1"/>
          </p:cNvGraphicFramePr>
          <p:nvPr>
            <p:extLst>
              <p:ext uri="{D42A27DB-BD31-4B8C-83A1-F6EECF244321}">
                <p14:modId xmlns:p14="http://schemas.microsoft.com/office/powerpoint/2010/main" val="2041324112"/>
              </p:ext>
            </p:extLst>
          </p:nvPr>
        </p:nvGraphicFramePr>
        <p:xfrm>
          <a:off x="5369983" y="763326"/>
          <a:ext cx="731203" cy="502702"/>
        </p:xfrm>
        <a:graphic>
          <a:graphicData uri="http://schemas.openxmlformats.org/presentationml/2006/ole">
            <mc:AlternateContent xmlns:mc="http://schemas.openxmlformats.org/markup-compatibility/2006">
              <mc:Choice xmlns:v="urn:schemas-microsoft-com:vml" Requires="v">
                <p:oleObj spid="_x0000_s38828" name="Equation" r:id="rId5" imgW="406224" imgH="279279" progId="Equation.DSMT4">
                  <p:embed/>
                </p:oleObj>
              </mc:Choice>
              <mc:Fallback>
                <p:oleObj name="Equation" r:id="rId5" imgW="406224" imgH="279279"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9983" y="763326"/>
                        <a:ext cx="731203" cy="5027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3" name="Object 14"/>
          <p:cNvGraphicFramePr>
            <a:graphicFrameLocks noChangeAspect="1"/>
          </p:cNvGraphicFramePr>
          <p:nvPr>
            <p:extLst>
              <p:ext uri="{D42A27DB-BD31-4B8C-83A1-F6EECF244321}">
                <p14:modId xmlns:p14="http://schemas.microsoft.com/office/powerpoint/2010/main" val="1777514040"/>
              </p:ext>
            </p:extLst>
          </p:nvPr>
        </p:nvGraphicFramePr>
        <p:xfrm>
          <a:off x="1891414" y="1945800"/>
          <a:ext cx="2102207" cy="982553"/>
        </p:xfrm>
        <a:graphic>
          <a:graphicData uri="http://schemas.openxmlformats.org/presentationml/2006/ole">
            <mc:AlternateContent xmlns:mc="http://schemas.openxmlformats.org/markup-compatibility/2006">
              <mc:Choice xmlns:v="urn:schemas-microsoft-com:vml" Requires="v">
                <p:oleObj spid="_x0000_s38829" name="Equation" r:id="rId7" imgW="1167893" imgH="545863" progId="Equation.DSMT4">
                  <p:embed/>
                </p:oleObj>
              </mc:Choice>
              <mc:Fallback>
                <p:oleObj name="Equation" r:id="rId7" imgW="1167893" imgH="545863"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1414" y="1945800"/>
                        <a:ext cx="2102207" cy="9825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4" name="Object 15"/>
          <p:cNvGraphicFramePr>
            <a:graphicFrameLocks noChangeAspect="1"/>
          </p:cNvGraphicFramePr>
          <p:nvPr>
            <p:extLst>
              <p:ext uri="{D42A27DB-BD31-4B8C-83A1-F6EECF244321}">
                <p14:modId xmlns:p14="http://schemas.microsoft.com/office/powerpoint/2010/main" val="1097805093"/>
              </p:ext>
            </p:extLst>
          </p:nvPr>
        </p:nvGraphicFramePr>
        <p:xfrm>
          <a:off x="5371571" y="2037200"/>
          <a:ext cx="1233904" cy="799753"/>
        </p:xfrm>
        <a:graphic>
          <a:graphicData uri="http://schemas.openxmlformats.org/presentationml/2006/ole">
            <mc:AlternateContent xmlns:mc="http://schemas.openxmlformats.org/markup-compatibility/2006">
              <mc:Choice xmlns:v="urn:schemas-microsoft-com:vml" Requires="v">
                <p:oleObj spid="_x0000_s38830" name="Equation" r:id="rId9" imgW="685502" imgH="444307" progId="Equation.DSMT4">
                  <p:embed/>
                </p:oleObj>
              </mc:Choice>
              <mc:Fallback>
                <p:oleObj name="Equation" r:id="rId9" imgW="685502" imgH="444307"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71571" y="2037200"/>
                        <a:ext cx="1233904" cy="7997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5" name="AutoShape 16"/>
          <p:cNvSpPr>
            <a:spLocks noChangeArrowheads="1"/>
          </p:cNvSpPr>
          <p:nvPr/>
        </p:nvSpPr>
        <p:spPr bwMode="auto">
          <a:xfrm>
            <a:off x="4374621" y="2328333"/>
            <a:ext cx="508000" cy="217488"/>
          </a:xfrm>
          <a:prstGeom prst="rightArrow">
            <a:avLst>
              <a:gd name="adj1" fmla="val 50000"/>
              <a:gd name="adj2" fmla="val 58394"/>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graphicFrame>
        <p:nvGraphicFramePr>
          <p:cNvPr id="37896" name="Object 20"/>
          <p:cNvGraphicFramePr>
            <a:graphicFrameLocks noChangeAspect="1"/>
          </p:cNvGraphicFramePr>
          <p:nvPr>
            <p:extLst>
              <p:ext uri="{D42A27DB-BD31-4B8C-83A1-F6EECF244321}">
                <p14:modId xmlns:p14="http://schemas.microsoft.com/office/powerpoint/2010/main" val="1994068912"/>
              </p:ext>
            </p:extLst>
          </p:nvPr>
        </p:nvGraphicFramePr>
        <p:xfrm>
          <a:off x="5417270" y="3724071"/>
          <a:ext cx="1142505" cy="434151"/>
        </p:xfrm>
        <a:graphic>
          <a:graphicData uri="http://schemas.openxmlformats.org/presentationml/2006/ole">
            <mc:AlternateContent xmlns:mc="http://schemas.openxmlformats.org/markup-compatibility/2006">
              <mc:Choice xmlns:v="urn:schemas-microsoft-com:vml" Requires="v">
                <p:oleObj spid="_x0000_s38831" name="Equation" r:id="rId11" imgW="634725" imgH="241195" progId="Equation.DSMT4">
                  <p:embed/>
                </p:oleObj>
              </mc:Choice>
              <mc:Fallback>
                <p:oleObj name="Equation" r:id="rId11" imgW="634725" imgH="241195" progId="Equation.DSMT4">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17270" y="3724071"/>
                        <a:ext cx="1142505" cy="434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7" name="AutoShape 21"/>
          <p:cNvSpPr>
            <a:spLocks noChangeArrowheads="1"/>
          </p:cNvSpPr>
          <p:nvPr/>
        </p:nvSpPr>
        <p:spPr bwMode="auto">
          <a:xfrm>
            <a:off x="5883748" y="3169975"/>
            <a:ext cx="209550" cy="438150"/>
          </a:xfrm>
          <a:prstGeom prst="downArrow">
            <a:avLst>
              <a:gd name="adj1" fmla="val 50000"/>
              <a:gd name="adj2" fmla="val 52273"/>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37898" name="Text Box 22"/>
          <p:cNvSpPr txBox="1">
            <a:spLocks noChangeArrowheads="1"/>
          </p:cNvSpPr>
          <p:nvPr/>
        </p:nvSpPr>
        <p:spPr bwMode="auto">
          <a:xfrm>
            <a:off x="6989879" y="3741091"/>
            <a:ext cx="1475084" cy="400110"/>
          </a:xfrm>
          <a:prstGeom prst="rect">
            <a:avLst/>
          </a:prstGeom>
          <a:solidFill>
            <a:srgbClr val="92D050"/>
          </a:solidFill>
          <a:ln>
            <a:noFill/>
          </a:ln>
          <a:effectLs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2000" dirty="0">
                <a:solidFill>
                  <a:srgbClr val="C00000"/>
                </a:solidFill>
              </a:rPr>
              <a:t>增益带宽积</a:t>
            </a:r>
          </a:p>
        </p:txBody>
      </p:sp>
      <p:graphicFrame>
        <p:nvGraphicFramePr>
          <p:cNvPr id="12" name="Object 8"/>
          <p:cNvGraphicFramePr>
            <a:graphicFrameLocks noChangeAspect="1"/>
          </p:cNvGraphicFramePr>
          <p:nvPr>
            <p:extLst>
              <p:ext uri="{D42A27DB-BD31-4B8C-83A1-F6EECF244321}">
                <p14:modId xmlns:p14="http://schemas.microsoft.com/office/powerpoint/2010/main" val="2565803781"/>
              </p:ext>
            </p:extLst>
          </p:nvPr>
        </p:nvGraphicFramePr>
        <p:xfrm>
          <a:off x="4078711" y="5045340"/>
          <a:ext cx="4044950" cy="846138"/>
        </p:xfrm>
        <a:graphic>
          <a:graphicData uri="http://schemas.openxmlformats.org/presentationml/2006/ole">
            <mc:AlternateContent xmlns:mc="http://schemas.openxmlformats.org/markup-compatibility/2006">
              <mc:Choice xmlns:v="urn:schemas-microsoft-com:vml" Requires="v">
                <p:oleObj spid="_x0000_s38832" name="Equation" r:id="rId13" imgW="2247840" imgH="469800" progId="Equation.DSMT4">
                  <p:embed/>
                </p:oleObj>
              </mc:Choice>
              <mc:Fallback>
                <p:oleObj name="Equation" r:id="rId13" imgW="2247840" imgH="469800" progId="Equation.DSMT4">
                  <p:embed/>
                  <p:pic>
                    <p:nvPicPr>
                      <p:cNvPr id="0" name=""/>
                      <p:cNvPicPr>
                        <a:picLocks noChangeAspect="1" noChangeArrowheads="1"/>
                      </p:cNvPicPr>
                      <p:nvPr/>
                    </p:nvPicPr>
                    <p:blipFill>
                      <a:blip r:embed="rId14"/>
                      <a:srcRect/>
                      <a:stretch>
                        <a:fillRect/>
                      </a:stretch>
                    </p:blipFill>
                    <p:spPr bwMode="auto">
                      <a:xfrm>
                        <a:off x="4078711" y="5045340"/>
                        <a:ext cx="4044950" cy="84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AutoShape 21"/>
          <p:cNvSpPr>
            <a:spLocks noChangeArrowheads="1"/>
          </p:cNvSpPr>
          <p:nvPr/>
        </p:nvSpPr>
        <p:spPr bwMode="auto">
          <a:xfrm>
            <a:off x="5996411" y="4428078"/>
            <a:ext cx="209550" cy="438150"/>
          </a:xfrm>
          <a:prstGeom prst="downArrow">
            <a:avLst>
              <a:gd name="adj1" fmla="val 50000"/>
              <a:gd name="adj2" fmla="val 52273"/>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7890"/>
                                        </p:tgtEl>
                                        <p:attrNameLst>
                                          <p:attrName>style.visibility</p:attrName>
                                        </p:attrNameLst>
                                      </p:cBhvr>
                                      <p:to>
                                        <p:strVal val="visible"/>
                                      </p:to>
                                    </p:set>
                                    <p:animEffect transition="in" filter="barn(inVertical)">
                                      <p:cBhvr>
                                        <p:cTn id="7" dur="500"/>
                                        <p:tgtEl>
                                          <p:spTgt spid="378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7891"/>
                                        </p:tgtEl>
                                        <p:attrNameLst>
                                          <p:attrName>style.visibility</p:attrName>
                                        </p:attrNameLst>
                                      </p:cBhvr>
                                      <p:to>
                                        <p:strVal val="visible"/>
                                      </p:to>
                                    </p:set>
                                    <p:animEffect transition="in" filter="wipe(down)">
                                      <p:cBhvr>
                                        <p:cTn id="12" dur="500"/>
                                        <p:tgtEl>
                                          <p:spTgt spid="37891"/>
                                        </p:tgtEl>
                                      </p:cBhvr>
                                    </p:animEffect>
                                  </p:childTnLst>
                                </p:cTn>
                              </p:par>
                              <p:par>
                                <p:cTn id="13" presetID="22" presetClass="entr" presetSubtype="4" fill="hold" nodeType="withEffect">
                                  <p:stCondLst>
                                    <p:cond delay="0"/>
                                  </p:stCondLst>
                                  <p:childTnLst>
                                    <p:set>
                                      <p:cBhvr>
                                        <p:cTn id="14" dur="1" fill="hold">
                                          <p:stCondLst>
                                            <p:cond delay="0"/>
                                          </p:stCondLst>
                                        </p:cTn>
                                        <p:tgtEl>
                                          <p:spTgt spid="37892"/>
                                        </p:tgtEl>
                                        <p:attrNameLst>
                                          <p:attrName>style.visibility</p:attrName>
                                        </p:attrNameLst>
                                      </p:cBhvr>
                                      <p:to>
                                        <p:strVal val="visible"/>
                                      </p:to>
                                    </p:set>
                                    <p:animEffect transition="in" filter="wipe(down)">
                                      <p:cBhvr>
                                        <p:cTn id="15" dur="500"/>
                                        <p:tgtEl>
                                          <p:spTgt spid="37892"/>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7893"/>
                                        </p:tgtEl>
                                        <p:attrNameLst>
                                          <p:attrName>style.visibility</p:attrName>
                                        </p:attrNameLst>
                                      </p:cBhvr>
                                      <p:to>
                                        <p:strVal val="visible"/>
                                      </p:to>
                                    </p:set>
                                    <p:animEffect transition="in" filter="barn(inVertical)">
                                      <p:cBhvr>
                                        <p:cTn id="20" dur="500"/>
                                        <p:tgtEl>
                                          <p:spTgt spid="37893"/>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37894"/>
                                        </p:tgtEl>
                                        <p:attrNameLst>
                                          <p:attrName>style.visibility</p:attrName>
                                        </p:attrNameLst>
                                      </p:cBhvr>
                                      <p:to>
                                        <p:strVal val="visible"/>
                                      </p:to>
                                    </p:set>
                                    <p:animEffect transition="in" filter="barn(inVertical)">
                                      <p:cBhvr>
                                        <p:cTn id="25" dur="500"/>
                                        <p:tgtEl>
                                          <p:spTgt spid="37894"/>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37895"/>
                                        </p:tgtEl>
                                        <p:attrNameLst>
                                          <p:attrName>style.visibility</p:attrName>
                                        </p:attrNameLst>
                                      </p:cBhvr>
                                      <p:to>
                                        <p:strVal val="visible"/>
                                      </p:to>
                                    </p:set>
                                    <p:animEffect transition="in" filter="barn(inVertical)">
                                      <p:cBhvr>
                                        <p:cTn id="28" dur="500"/>
                                        <p:tgtEl>
                                          <p:spTgt spid="37895"/>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37896"/>
                                        </p:tgtEl>
                                        <p:attrNameLst>
                                          <p:attrName>style.visibility</p:attrName>
                                        </p:attrNameLst>
                                      </p:cBhvr>
                                      <p:to>
                                        <p:strVal val="visible"/>
                                      </p:to>
                                    </p:set>
                                    <p:animEffect transition="in" filter="barn(inVertical)">
                                      <p:cBhvr>
                                        <p:cTn id="33" dur="500"/>
                                        <p:tgtEl>
                                          <p:spTgt spid="37896"/>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37897"/>
                                        </p:tgtEl>
                                        <p:attrNameLst>
                                          <p:attrName>style.visibility</p:attrName>
                                        </p:attrNameLst>
                                      </p:cBhvr>
                                      <p:to>
                                        <p:strVal val="visible"/>
                                      </p:to>
                                    </p:set>
                                    <p:animEffect transition="in" filter="barn(inVertical)">
                                      <p:cBhvr>
                                        <p:cTn id="36" dur="500"/>
                                        <p:tgtEl>
                                          <p:spTgt spid="37897"/>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37898"/>
                                        </p:tgtEl>
                                        <p:attrNameLst>
                                          <p:attrName>style.visibility</p:attrName>
                                        </p:attrNameLst>
                                      </p:cBhvr>
                                      <p:to>
                                        <p:strVal val="visible"/>
                                      </p:to>
                                    </p:set>
                                    <p:animEffect transition="in" filter="barn(inVertical)">
                                      <p:cBhvr>
                                        <p:cTn id="41" dur="500"/>
                                        <p:tgtEl>
                                          <p:spTgt spid="37898"/>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barn(inVertical)">
                                      <p:cBhvr>
                                        <p:cTn id="46" dur="500"/>
                                        <p:tgtEl>
                                          <p:spTgt spid="12"/>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barn(inVertical)">
                                      <p:cBhvr>
                                        <p:cTn id="4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nimBg="1"/>
      <p:bldP spid="37895" grpId="0" animBg="1"/>
      <p:bldP spid="37897" grpId="0" animBg="1"/>
      <p:bldP spid="37898" grpId="0" animBg="1"/>
      <p:bldP spid="13"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Text Box 3"/>
          <p:cNvSpPr txBox="1">
            <a:spLocks noChangeArrowheads="1"/>
          </p:cNvSpPr>
          <p:nvPr/>
        </p:nvSpPr>
        <p:spPr bwMode="auto">
          <a:xfrm>
            <a:off x="727075" y="650875"/>
            <a:ext cx="6705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dirty="0" smtClean="0">
                <a:solidFill>
                  <a:srgbClr val="990033"/>
                </a:solidFill>
              </a:rPr>
              <a:t>二、</a:t>
            </a:r>
            <a:r>
              <a:rPr lang="en-US" altLang="zh-CN" dirty="0" smtClean="0">
                <a:solidFill>
                  <a:srgbClr val="990033"/>
                </a:solidFill>
              </a:rPr>
              <a:t>FET</a:t>
            </a:r>
            <a:r>
              <a:rPr lang="zh-CN" altLang="en-US" dirty="0">
                <a:solidFill>
                  <a:srgbClr val="990033"/>
                </a:solidFill>
              </a:rPr>
              <a:t>的</a:t>
            </a:r>
            <a:r>
              <a:rPr lang="zh-CN" altLang="en-US" dirty="0" smtClean="0">
                <a:solidFill>
                  <a:srgbClr val="990033"/>
                </a:solidFill>
              </a:rPr>
              <a:t>特征频率 </a:t>
            </a:r>
            <a:r>
              <a:rPr lang="en-US" altLang="zh-CN" i="1" dirty="0" err="1" smtClean="0">
                <a:solidFill>
                  <a:srgbClr val="990033"/>
                </a:solidFill>
              </a:rPr>
              <a:t>f</a:t>
            </a:r>
            <a:r>
              <a:rPr lang="en-US" altLang="zh-CN" i="1" baseline="-25000" dirty="0" err="1" smtClean="0">
                <a:solidFill>
                  <a:srgbClr val="990033"/>
                </a:solidFill>
              </a:rPr>
              <a:t>T</a:t>
            </a:r>
            <a:endParaRPr lang="zh-CN" altLang="en-US" dirty="0">
              <a:solidFill>
                <a:srgbClr val="990033"/>
              </a:solidFill>
            </a:endParaRPr>
          </a:p>
        </p:txBody>
      </p:sp>
      <p:sp>
        <p:nvSpPr>
          <p:cNvPr id="641030" name="Rectangle 6"/>
          <p:cNvSpPr>
            <a:spLocks noChangeArrowheads="1"/>
          </p:cNvSpPr>
          <p:nvPr/>
        </p:nvSpPr>
        <p:spPr bwMode="auto">
          <a:xfrm>
            <a:off x="1300163" y="1284258"/>
            <a:ext cx="5658921"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en-US" altLang="en-US" sz="2000" dirty="0" err="1" smtClean="0"/>
              <a:t>将</a:t>
            </a:r>
            <a:r>
              <a:rPr lang="en-US" altLang="zh-CN" sz="2000" i="1" dirty="0" err="1" smtClean="0"/>
              <a:t>D</a:t>
            </a:r>
            <a:r>
              <a:rPr lang="en-US" altLang="en-US" sz="2000" i="1" dirty="0" err="1" smtClean="0"/>
              <a:t>、</a:t>
            </a:r>
            <a:r>
              <a:rPr lang="en-US" altLang="zh-CN" sz="2000" i="1" dirty="0" err="1" smtClean="0"/>
              <a:t>S</a:t>
            </a:r>
            <a:r>
              <a:rPr lang="en-US" altLang="en-US" sz="2000" dirty="0" err="1" smtClean="0"/>
              <a:t>短路</a:t>
            </a:r>
            <a:r>
              <a:rPr lang="zh-CN" altLang="en-US" sz="2000" dirty="0"/>
              <a:t>，</a:t>
            </a:r>
            <a:r>
              <a:rPr lang="zh-CN" altLang="en-US" sz="2000" dirty="0" smtClean="0"/>
              <a:t>求</a:t>
            </a:r>
            <a:r>
              <a:rPr lang="en-US" altLang="zh-CN" sz="2000" dirty="0" smtClean="0"/>
              <a:t>FET</a:t>
            </a:r>
            <a:r>
              <a:rPr lang="zh-CN" altLang="en-US" sz="2000" dirty="0" smtClean="0"/>
              <a:t>的共源短路电流</a:t>
            </a:r>
            <a:r>
              <a:rPr lang="zh-CN" altLang="en-US" sz="2000" dirty="0"/>
              <a:t>放大</a:t>
            </a:r>
            <a:r>
              <a:rPr lang="zh-CN" altLang="en-US" sz="2000" dirty="0" smtClean="0"/>
              <a:t>系数。</a:t>
            </a:r>
            <a:endParaRPr lang="zh-CN" altLang="en-US" sz="2000" dirty="0"/>
          </a:p>
        </p:txBody>
      </p:sp>
      <p:pic>
        <p:nvPicPr>
          <p:cNvPr id="2" name="图片 1"/>
          <p:cNvPicPr>
            <a:picLocks noChangeAspect="1"/>
          </p:cNvPicPr>
          <p:nvPr/>
        </p:nvPicPr>
        <p:blipFill>
          <a:blip r:embed="rId2"/>
          <a:stretch>
            <a:fillRect/>
          </a:stretch>
        </p:blipFill>
        <p:spPr>
          <a:xfrm>
            <a:off x="1300163" y="1860551"/>
            <a:ext cx="6161104" cy="2437361"/>
          </a:xfrm>
          <a:prstGeom prst="rect">
            <a:avLst/>
          </a:prstGeom>
        </p:spPr>
      </p:pic>
      <p:pic>
        <p:nvPicPr>
          <p:cNvPr id="3" name="图片 2"/>
          <p:cNvPicPr>
            <a:picLocks noChangeAspect="1"/>
          </p:cNvPicPr>
          <p:nvPr/>
        </p:nvPicPr>
        <p:blipFill>
          <a:blip r:embed="rId3"/>
          <a:stretch>
            <a:fillRect/>
          </a:stretch>
        </p:blipFill>
        <p:spPr>
          <a:xfrm>
            <a:off x="1321854" y="4753127"/>
            <a:ext cx="2527886" cy="426390"/>
          </a:xfrm>
          <a:prstGeom prst="rect">
            <a:avLst/>
          </a:prstGeom>
        </p:spPr>
      </p:pic>
      <p:pic>
        <p:nvPicPr>
          <p:cNvPr id="4" name="图片 3"/>
          <p:cNvPicPr>
            <a:picLocks noChangeAspect="1"/>
          </p:cNvPicPr>
          <p:nvPr/>
        </p:nvPicPr>
        <p:blipFill>
          <a:blip r:embed="rId4"/>
          <a:stretch>
            <a:fillRect/>
          </a:stretch>
        </p:blipFill>
        <p:spPr>
          <a:xfrm>
            <a:off x="3969251" y="4783583"/>
            <a:ext cx="1005063" cy="365477"/>
          </a:xfrm>
          <a:prstGeom prst="rect">
            <a:avLst/>
          </a:prstGeom>
        </p:spPr>
      </p:pic>
      <p:pic>
        <p:nvPicPr>
          <p:cNvPr id="5" name="图片 4"/>
          <p:cNvPicPr>
            <a:picLocks noChangeAspect="1"/>
          </p:cNvPicPr>
          <p:nvPr/>
        </p:nvPicPr>
        <p:blipFill>
          <a:blip r:embed="rId5"/>
          <a:stretch>
            <a:fillRect/>
          </a:stretch>
        </p:blipFill>
        <p:spPr>
          <a:xfrm>
            <a:off x="1244696" y="5399103"/>
            <a:ext cx="2512658" cy="852781"/>
          </a:xfrm>
          <a:prstGeom prst="rect">
            <a:avLst/>
          </a:prstGeom>
        </p:spPr>
      </p:pic>
      <p:pic>
        <p:nvPicPr>
          <p:cNvPr id="6" name="图片 5"/>
          <p:cNvPicPr>
            <a:picLocks noChangeAspect="1"/>
          </p:cNvPicPr>
          <p:nvPr/>
        </p:nvPicPr>
        <p:blipFill>
          <a:blip r:embed="rId6"/>
          <a:stretch>
            <a:fillRect/>
          </a:stretch>
        </p:blipFill>
        <p:spPr>
          <a:xfrm>
            <a:off x="5998637" y="5149060"/>
            <a:ext cx="2240502" cy="797102"/>
          </a:xfrm>
          <a:prstGeom prst="rect">
            <a:avLst/>
          </a:prstGeom>
        </p:spPr>
      </p:pic>
      <p:sp>
        <p:nvSpPr>
          <p:cNvPr id="7" name="右大括号 6"/>
          <p:cNvSpPr/>
          <p:nvPr/>
        </p:nvSpPr>
        <p:spPr bwMode="auto">
          <a:xfrm>
            <a:off x="5393914" y="4934646"/>
            <a:ext cx="362020" cy="1177027"/>
          </a:xfrm>
          <a:prstGeom prst="rightBrace">
            <a:avLst/>
          </a:prstGeom>
          <a:noFill/>
          <a:ln w="2857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grpSp>
        <p:nvGrpSpPr>
          <p:cNvPr id="13" name="组合 12"/>
          <p:cNvGrpSpPr/>
          <p:nvPr/>
        </p:nvGrpSpPr>
        <p:grpSpPr>
          <a:xfrm>
            <a:off x="3098307" y="5179517"/>
            <a:ext cx="1282408" cy="509903"/>
            <a:chOff x="3098307" y="5179517"/>
            <a:chExt cx="1282408" cy="509903"/>
          </a:xfrm>
        </p:grpSpPr>
        <p:cxnSp>
          <p:nvCxnSpPr>
            <p:cNvPr id="9" name="直接连接符 8"/>
            <p:cNvCxnSpPr/>
            <p:nvPr/>
          </p:nvCxnSpPr>
          <p:spPr bwMode="auto">
            <a:xfrm>
              <a:off x="3098307" y="5179517"/>
              <a:ext cx="372862" cy="0"/>
            </a:xfrm>
            <a:prstGeom prst="line">
              <a:avLst/>
            </a:prstGeom>
            <a:solidFill>
              <a:srgbClr val="99FF99"/>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p:cNvCxnSpPr/>
            <p:nvPr/>
          </p:nvCxnSpPr>
          <p:spPr bwMode="auto">
            <a:xfrm>
              <a:off x="3291840" y="5179517"/>
              <a:ext cx="465514" cy="219586"/>
            </a:xfrm>
            <a:prstGeom prst="line">
              <a:avLst/>
            </a:prstGeom>
            <a:solidFill>
              <a:srgbClr val="99FF99"/>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矩形 11"/>
            <p:cNvSpPr/>
            <p:nvPr/>
          </p:nvSpPr>
          <p:spPr>
            <a:xfrm>
              <a:off x="3679882" y="5289310"/>
              <a:ext cx="700833" cy="400110"/>
            </a:xfrm>
            <a:prstGeom prst="rect">
              <a:avLst/>
            </a:prstGeom>
          </p:spPr>
          <p:txBody>
            <a:bodyPr wrap="none">
              <a:spAutoFit/>
            </a:bodyPr>
            <a:lstStyle/>
            <a:p>
              <a:r>
                <a:rPr lang="zh-CN" altLang="en-US" sz="2000" dirty="0" smtClean="0">
                  <a:solidFill>
                    <a:srgbClr val="FF0000"/>
                  </a:solidFill>
                </a:rPr>
                <a:t>很小</a:t>
              </a:r>
              <a:endParaRPr lang="zh-CN" altLang="en-US" sz="2000" dirty="0">
                <a:solidFill>
                  <a:srgbClr val="FF0000"/>
                </a:solidFill>
              </a:endParaRPr>
            </a:p>
          </p:txBody>
        </p:sp>
      </p:grpSp>
    </p:spTree>
    <p:extLst>
      <p:ext uri="{BB962C8B-B14F-4D97-AF65-F5344CB8AC3E}">
        <p14:creationId xmlns:p14="http://schemas.microsoft.com/office/powerpoint/2010/main" val="3955106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1030"/>
                                        </p:tgtEl>
                                        <p:attrNameLst>
                                          <p:attrName>style.visibility</p:attrName>
                                        </p:attrNameLst>
                                      </p:cBhvr>
                                      <p:to>
                                        <p:strVal val="visible"/>
                                      </p:to>
                                    </p:set>
                                    <p:animEffect transition="in" filter="blinds(horizontal)">
                                      <p:cBhvr>
                                        <p:cTn id="7" dur="500"/>
                                        <p:tgtEl>
                                          <p:spTgt spid="64103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arn(inVertic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arn(inVertic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arn(inVertic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arn(inVertical)">
                                      <p:cBhvr>
                                        <p:cTn id="37" dur="500"/>
                                        <p:tgtEl>
                                          <p:spTgt spid="7"/>
                                        </p:tgtEl>
                                      </p:cBhvr>
                                    </p:animEffect>
                                  </p:childTnLst>
                                </p:cTn>
                              </p:par>
                            </p:childTnLst>
                          </p:cTn>
                        </p:par>
                        <p:par>
                          <p:cTn id="38" fill="hold">
                            <p:stCondLst>
                              <p:cond delay="500"/>
                            </p:stCondLst>
                            <p:childTnLst>
                              <p:par>
                                <p:cTn id="39" presetID="16" presetClass="entr" presetSubtype="21"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barn(inVertical)">
                                      <p:cBhvr>
                                        <p:cTn id="4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30" grpId="0"/>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1" name="AutoShape 12"/>
          <p:cNvSpPr>
            <a:spLocks noChangeArrowheads="1"/>
          </p:cNvSpPr>
          <p:nvPr/>
        </p:nvSpPr>
        <p:spPr bwMode="auto">
          <a:xfrm>
            <a:off x="4433888" y="1574800"/>
            <a:ext cx="508000" cy="217488"/>
          </a:xfrm>
          <a:prstGeom prst="rightArrow">
            <a:avLst>
              <a:gd name="adj1" fmla="val 50000"/>
              <a:gd name="adj2" fmla="val 58394"/>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pic>
        <p:nvPicPr>
          <p:cNvPr id="2" name="图片 1"/>
          <p:cNvPicPr>
            <a:picLocks noChangeAspect="1"/>
          </p:cNvPicPr>
          <p:nvPr/>
        </p:nvPicPr>
        <p:blipFill>
          <a:blip r:embed="rId3"/>
          <a:stretch>
            <a:fillRect/>
          </a:stretch>
        </p:blipFill>
        <p:spPr>
          <a:xfrm>
            <a:off x="5166988" y="1232806"/>
            <a:ext cx="2512196" cy="910318"/>
          </a:xfrm>
          <a:prstGeom prst="rect">
            <a:avLst/>
          </a:prstGeom>
        </p:spPr>
      </p:pic>
      <p:pic>
        <p:nvPicPr>
          <p:cNvPr id="12" name="图片 11"/>
          <p:cNvPicPr>
            <a:picLocks noChangeAspect="1"/>
          </p:cNvPicPr>
          <p:nvPr/>
        </p:nvPicPr>
        <p:blipFill>
          <a:blip r:embed="rId4"/>
          <a:stretch>
            <a:fillRect/>
          </a:stretch>
        </p:blipFill>
        <p:spPr>
          <a:xfrm>
            <a:off x="1671491" y="1284993"/>
            <a:ext cx="2240502" cy="797102"/>
          </a:xfrm>
          <a:prstGeom prst="rect">
            <a:avLst/>
          </a:prstGeom>
        </p:spPr>
      </p:pic>
      <p:pic>
        <p:nvPicPr>
          <p:cNvPr id="3" name="图片 2"/>
          <p:cNvPicPr>
            <a:picLocks noChangeAspect="1"/>
          </p:cNvPicPr>
          <p:nvPr/>
        </p:nvPicPr>
        <p:blipFill>
          <a:blip r:embed="rId5"/>
          <a:stretch>
            <a:fillRect/>
          </a:stretch>
        </p:blipFill>
        <p:spPr>
          <a:xfrm>
            <a:off x="5111551" y="3223628"/>
            <a:ext cx="2567633" cy="387297"/>
          </a:xfrm>
          <a:prstGeom prst="rect">
            <a:avLst/>
          </a:prstGeom>
        </p:spPr>
      </p:pic>
      <p:pic>
        <p:nvPicPr>
          <p:cNvPr id="4" name="图片 3"/>
          <p:cNvPicPr>
            <a:picLocks noChangeAspect="1"/>
          </p:cNvPicPr>
          <p:nvPr/>
        </p:nvPicPr>
        <p:blipFill>
          <a:blip r:embed="rId6"/>
          <a:stretch>
            <a:fillRect/>
          </a:stretch>
        </p:blipFill>
        <p:spPr>
          <a:xfrm>
            <a:off x="5272711" y="4799678"/>
            <a:ext cx="2245311" cy="703754"/>
          </a:xfrm>
          <a:prstGeom prst="rect">
            <a:avLst/>
          </a:prstGeom>
        </p:spPr>
      </p:pic>
      <p:sp>
        <p:nvSpPr>
          <p:cNvPr id="15" name="AutoShape 12"/>
          <p:cNvSpPr>
            <a:spLocks noChangeArrowheads="1"/>
          </p:cNvSpPr>
          <p:nvPr/>
        </p:nvSpPr>
        <p:spPr bwMode="auto">
          <a:xfrm>
            <a:off x="4433886" y="3308532"/>
            <a:ext cx="508000" cy="217488"/>
          </a:xfrm>
          <a:prstGeom prst="rightArrow">
            <a:avLst>
              <a:gd name="adj1" fmla="val 50000"/>
              <a:gd name="adj2" fmla="val 58394"/>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924250499"/>
              </p:ext>
            </p:extLst>
          </p:nvPr>
        </p:nvGraphicFramePr>
        <p:xfrm>
          <a:off x="2791742" y="2925539"/>
          <a:ext cx="905830" cy="983473"/>
        </p:xfrm>
        <a:graphic>
          <a:graphicData uri="http://schemas.openxmlformats.org/presentationml/2006/ole">
            <mc:AlternateContent xmlns:mc="http://schemas.openxmlformats.org/markup-compatibility/2006">
              <mc:Choice xmlns:v="urn:schemas-microsoft-com:vml" Requires="v">
                <p:oleObj spid="_x0000_s59448" name="Equation" r:id="rId7" imgW="444240" imgH="482400" progId="Equation.DSMT4">
                  <p:embed/>
                </p:oleObj>
              </mc:Choice>
              <mc:Fallback>
                <p:oleObj name="Equation" r:id="rId7" imgW="444240" imgH="482400" progId="Equation.DSMT4">
                  <p:embed/>
                  <p:pic>
                    <p:nvPicPr>
                      <p:cNvPr id="0" name=""/>
                      <p:cNvPicPr/>
                      <p:nvPr/>
                    </p:nvPicPr>
                    <p:blipFill>
                      <a:blip r:embed="rId8"/>
                      <a:stretch>
                        <a:fillRect/>
                      </a:stretch>
                    </p:blipFill>
                    <p:spPr>
                      <a:xfrm>
                        <a:off x="2791742" y="2925539"/>
                        <a:ext cx="905830" cy="983473"/>
                      </a:xfrm>
                      <a:prstGeom prst="rect">
                        <a:avLst/>
                      </a:prstGeom>
                    </p:spPr>
                  </p:pic>
                </p:oleObj>
              </mc:Fallback>
            </mc:AlternateContent>
          </a:graphicData>
        </a:graphic>
      </p:graphicFrame>
      <p:sp>
        <p:nvSpPr>
          <p:cNvPr id="17" name="AutoShape 21"/>
          <p:cNvSpPr>
            <a:spLocks noChangeArrowheads="1"/>
          </p:cNvSpPr>
          <p:nvPr/>
        </p:nvSpPr>
        <p:spPr bwMode="auto">
          <a:xfrm>
            <a:off x="6078538" y="4068763"/>
            <a:ext cx="209550" cy="438150"/>
          </a:xfrm>
          <a:prstGeom prst="downArrow">
            <a:avLst>
              <a:gd name="adj1" fmla="val 50000"/>
              <a:gd name="adj2" fmla="val 52273"/>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24893274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wipe(down)">
                                      <p:cBhvr>
                                        <p:cTn id="7" dur="500"/>
                                        <p:tgtEl>
                                          <p:spTgt spid="37891"/>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arn(inVertical)">
                                      <p:cBhvr>
                                        <p:cTn id="21" dur="500"/>
                                        <p:tgtEl>
                                          <p:spTgt spid="15"/>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arn(inVertical)">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barn(inVertical)">
                                      <p:cBhvr>
                                        <p:cTn id="29" dur="500"/>
                                        <p:tgtEl>
                                          <p:spTgt spid="17"/>
                                        </p:tgtEl>
                                      </p:cBhvr>
                                    </p:animEffect>
                                  </p:childTnLst>
                                </p:cTn>
                              </p:par>
                              <p:par>
                                <p:cTn id="30" presetID="16" presetClass="entr" presetSubtype="21" fill="hold"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arn(inVertical)">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nimBg="1"/>
      <p:bldP spid="15" grpId="0" animBg="1"/>
      <p:bldP spid="17"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9939" name="图片 2090" descr="说明: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508" y="1516613"/>
            <a:ext cx="3526405" cy="197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图片 2091" descr="说明: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4614" y="1599889"/>
            <a:ext cx="3465511" cy="194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AutoShape 9"/>
          <p:cNvSpPr>
            <a:spLocks noChangeArrowheads="1"/>
          </p:cNvSpPr>
          <p:nvPr/>
        </p:nvSpPr>
        <p:spPr bwMode="auto">
          <a:xfrm>
            <a:off x="4249738" y="2286276"/>
            <a:ext cx="768350" cy="217487"/>
          </a:xfrm>
          <a:prstGeom prst="rightArrow">
            <a:avLst>
              <a:gd name="adj1" fmla="val 50000"/>
              <a:gd name="adj2" fmla="val 88321"/>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graphicFrame>
        <p:nvGraphicFramePr>
          <p:cNvPr id="39942" name="Object 10"/>
          <p:cNvGraphicFramePr>
            <a:graphicFrameLocks noChangeAspect="1"/>
          </p:cNvGraphicFramePr>
          <p:nvPr>
            <p:extLst>
              <p:ext uri="{D42A27DB-BD31-4B8C-83A1-F6EECF244321}">
                <p14:modId xmlns:p14="http://schemas.microsoft.com/office/powerpoint/2010/main" val="180084825"/>
              </p:ext>
            </p:extLst>
          </p:nvPr>
        </p:nvGraphicFramePr>
        <p:xfrm>
          <a:off x="2357438" y="3814763"/>
          <a:ext cx="4160520" cy="800100"/>
        </p:xfrm>
        <a:graphic>
          <a:graphicData uri="http://schemas.openxmlformats.org/presentationml/2006/ole">
            <mc:AlternateContent xmlns:mc="http://schemas.openxmlformats.org/markup-compatibility/2006">
              <mc:Choice xmlns:v="urn:schemas-microsoft-com:vml" Requires="v">
                <p:oleObj spid="_x0000_s40477" name="Equation" r:id="rId5" imgW="2311400" imgH="444500" progId="Equation.DSMT4">
                  <p:embed/>
                </p:oleObj>
              </mc:Choice>
              <mc:Fallback>
                <p:oleObj name="Equation" r:id="rId5" imgW="2311400" imgH="4445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7438" y="3814763"/>
                        <a:ext cx="416052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3" name="Object 11"/>
          <p:cNvGraphicFramePr>
            <a:graphicFrameLocks noChangeAspect="1"/>
          </p:cNvGraphicFramePr>
          <p:nvPr>
            <p:extLst>
              <p:ext uri="{D42A27DB-BD31-4B8C-83A1-F6EECF244321}">
                <p14:modId xmlns:p14="http://schemas.microsoft.com/office/powerpoint/2010/main" val="2961502340"/>
              </p:ext>
            </p:extLst>
          </p:nvPr>
        </p:nvGraphicFramePr>
        <p:xfrm>
          <a:off x="2290763" y="5252845"/>
          <a:ext cx="1393855" cy="708352"/>
        </p:xfrm>
        <a:graphic>
          <a:graphicData uri="http://schemas.openxmlformats.org/presentationml/2006/ole">
            <mc:AlternateContent xmlns:mc="http://schemas.openxmlformats.org/markup-compatibility/2006">
              <mc:Choice xmlns:v="urn:schemas-microsoft-com:vml" Requires="v">
                <p:oleObj spid="_x0000_s40478" name="Equation" r:id="rId7" imgW="774364" imgH="393529" progId="Equation.DSMT4">
                  <p:embed/>
                </p:oleObj>
              </mc:Choice>
              <mc:Fallback>
                <p:oleObj name="Equation" r:id="rId7" imgW="774364" imgH="393529"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90763" y="5252845"/>
                        <a:ext cx="1393855" cy="708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4" name="Text Box 12"/>
          <p:cNvSpPr txBox="1">
            <a:spLocks noChangeArrowheads="1"/>
          </p:cNvSpPr>
          <p:nvPr/>
        </p:nvSpPr>
        <p:spPr bwMode="auto">
          <a:xfrm>
            <a:off x="4729163" y="5422782"/>
            <a:ext cx="121700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a:t>同理可得</a:t>
            </a:r>
          </a:p>
        </p:txBody>
      </p:sp>
      <p:graphicFrame>
        <p:nvGraphicFramePr>
          <p:cNvPr id="39945" name="Object 13"/>
          <p:cNvGraphicFramePr>
            <a:graphicFrameLocks noChangeAspect="1"/>
          </p:cNvGraphicFramePr>
          <p:nvPr>
            <p:extLst>
              <p:ext uri="{D42A27DB-BD31-4B8C-83A1-F6EECF244321}">
                <p14:modId xmlns:p14="http://schemas.microsoft.com/office/powerpoint/2010/main" val="376292377"/>
              </p:ext>
            </p:extLst>
          </p:nvPr>
        </p:nvGraphicFramePr>
        <p:xfrm>
          <a:off x="5973109" y="5268661"/>
          <a:ext cx="1416704" cy="708352"/>
        </p:xfrm>
        <a:graphic>
          <a:graphicData uri="http://schemas.openxmlformats.org/presentationml/2006/ole">
            <mc:AlternateContent xmlns:mc="http://schemas.openxmlformats.org/markup-compatibility/2006">
              <mc:Choice xmlns:v="urn:schemas-microsoft-com:vml" Requires="v">
                <p:oleObj spid="_x0000_s40479" name="Equation" r:id="rId9" imgW="787320" imgH="393480" progId="Equation.DSMT4">
                  <p:embed/>
                </p:oleObj>
              </mc:Choice>
              <mc:Fallback>
                <p:oleObj name="Equation" r:id="rId9" imgW="787320" imgH="393480" progId="Equation.DSMT4">
                  <p:embed/>
                  <p:pic>
                    <p:nvPicPr>
                      <p:cNvPr id="0" name="Object 13"/>
                      <p:cNvPicPr>
                        <a:picLocks noChangeAspect="1" noChangeArrowheads="1"/>
                      </p:cNvPicPr>
                      <p:nvPr/>
                    </p:nvPicPr>
                    <p:blipFill>
                      <a:blip r:embed="rId10"/>
                      <a:srcRect/>
                      <a:stretch>
                        <a:fillRect/>
                      </a:stretch>
                    </p:blipFill>
                    <p:spPr bwMode="auto">
                      <a:xfrm>
                        <a:off x="5973109" y="5268661"/>
                        <a:ext cx="1416704" cy="708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3"/>
          <p:cNvSpPr txBox="1">
            <a:spLocks noChangeArrowheads="1"/>
          </p:cNvSpPr>
          <p:nvPr/>
        </p:nvSpPr>
        <p:spPr bwMode="auto">
          <a:xfrm>
            <a:off x="536575" y="558800"/>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10.5.4 </a:t>
            </a:r>
            <a:r>
              <a:rPr lang="zh-CN" altLang="en-US" dirty="0" smtClean="0">
                <a:solidFill>
                  <a:srgbClr val="990033"/>
                </a:solidFill>
              </a:rPr>
              <a:t>米勒</a:t>
            </a:r>
            <a:r>
              <a:rPr lang="zh-CN" altLang="en-US" dirty="0">
                <a:solidFill>
                  <a:srgbClr val="990033"/>
                </a:solidFill>
              </a:rPr>
              <a:t>定理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barn(inVertical)">
                                      <p:cBhvr>
                                        <p:cTn id="7" dur="500"/>
                                        <p:tgtEl>
                                          <p:spTgt spid="3993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9940"/>
                                        </p:tgtEl>
                                        <p:attrNameLst>
                                          <p:attrName>style.visibility</p:attrName>
                                        </p:attrNameLst>
                                      </p:cBhvr>
                                      <p:to>
                                        <p:strVal val="visible"/>
                                      </p:to>
                                    </p:set>
                                    <p:animEffect transition="in" filter="barn(inVertical)">
                                      <p:cBhvr>
                                        <p:cTn id="12" dur="500"/>
                                        <p:tgtEl>
                                          <p:spTgt spid="39940"/>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39941"/>
                                        </p:tgtEl>
                                        <p:attrNameLst>
                                          <p:attrName>style.visibility</p:attrName>
                                        </p:attrNameLst>
                                      </p:cBhvr>
                                      <p:to>
                                        <p:strVal val="visible"/>
                                      </p:to>
                                    </p:set>
                                    <p:animEffect transition="in" filter="barn(inVertical)">
                                      <p:cBhvr>
                                        <p:cTn id="15" dur="500"/>
                                        <p:tgtEl>
                                          <p:spTgt spid="39941"/>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9942"/>
                                        </p:tgtEl>
                                        <p:attrNameLst>
                                          <p:attrName>style.visibility</p:attrName>
                                        </p:attrNameLst>
                                      </p:cBhvr>
                                      <p:to>
                                        <p:strVal val="visible"/>
                                      </p:to>
                                    </p:set>
                                    <p:animEffect transition="in" filter="barn(inVertical)">
                                      <p:cBhvr>
                                        <p:cTn id="20" dur="500"/>
                                        <p:tgtEl>
                                          <p:spTgt spid="39942"/>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39943"/>
                                        </p:tgtEl>
                                        <p:attrNameLst>
                                          <p:attrName>style.visibility</p:attrName>
                                        </p:attrNameLst>
                                      </p:cBhvr>
                                      <p:to>
                                        <p:strVal val="visible"/>
                                      </p:to>
                                    </p:set>
                                    <p:animEffect transition="in" filter="barn(inVertical)">
                                      <p:cBhvr>
                                        <p:cTn id="25" dur="500"/>
                                        <p:tgtEl>
                                          <p:spTgt spid="39943"/>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39944"/>
                                        </p:tgtEl>
                                        <p:attrNameLst>
                                          <p:attrName>style.visibility</p:attrName>
                                        </p:attrNameLst>
                                      </p:cBhvr>
                                      <p:to>
                                        <p:strVal val="visible"/>
                                      </p:to>
                                    </p:set>
                                    <p:animEffect transition="in" filter="barn(inVertical)">
                                      <p:cBhvr>
                                        <p:cTn id="30" dur="500"/>
                                        <p:tgtEl>
                                          <p:spTgt spid="39944"/>
                                        </p:tgtEl>
                                      </p:cBhvr>
                                    </p:animEffect>
                                  </p:childTnLst>
                                </p:cTn>
                              </p:par>
                              <p:par>
                                <p:cTn id="31" presetID="16" presetClass="entr" presetSubtype="21" fill="hold" nodeType="withEffect">
                                  <p:stCondLst>
                                    <p:cond delay="0"/>
                                  </p:stCondLst>
                                  <p:childTnLst>
                                    <p:set>
                                      <p:cBhvr>
                                        <p:cTn id="32" dur="1" fill="hold">
                                          <p:stCondLst>
                                            <p:cond delay="0"/>
                                          </p:stCondLst>
                                        </p:cTn>
                                        <p:tgtEl>
                                          <p:spTgt spid="39945"/>
                                        </p:tgtEl>
                                        <p:attrNameLst>
                                          <p:attrName>style.visibility</p:attrName>
                                        </p:attrNameLst>
                                      </p:cBhvr>
                                      <p:to>
                                        <p:strVal val="visible"/>
                                      </p:to>
                                    </p:set>
                                    <p:animEffect transition="in" filter="barn(inVertical)">
                                      <p:cBhvr>
                                        <p:cTn id="33" dur="500"/>
                                        <p:tgtEl>
                                          <p:spTgt spid="399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animBg="1"/>
      <p:bldP spid="39944" grpId="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712788" y="935068"/>
            <a:ext cx="6705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sz="2000" dirty="0"/>
              <a:t>若跨接的元件为</a:t>
            </a:r>
            <a:r>
              <a:rPr lang="zh-CN" altLang="en-US" sz="2000" dirty="0" smtClean="0"/>
              <a:t>电容 </a:t>
            </a:r>
            <a:r>
              <a:rPr lang="en-US" altLang="zh-CN" sz="2000" i="1" dirty="0" smtClean="0"/>
              <a:t>C</a:t>
            </a:r>
            <a:r>
              <a:rPr lang="zh-CN" altLang="en-US" sz="2000" dirty="0"/>
              <a:t>，很容易可得</a:t>
            </a:r>
            <a:endParaRPr lang="zh-CN" altLang="en-US" sz="2000" i="1" dirty="0"/>
          </a:p>
        </p:txBody>
      </p:sp>
      <p:pic>
        <p:nvPicPr>
          <p:cNvPr id="40963" name="图片 2099" descr="说明: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38" y="1976437"/>
            <a:ext cx="3690251" cy="2066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4" name="图片 2100" descr="说明: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2326" y="2049463"/>
            <a:ext cx="3690252"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p:cNvGraphicFramePr>
            <a:graphicFrameLocks noChangeAspect="1"/>
          </p:cNvGraphicFramePr>
          <p:nvPr>
            <p:extLst>
              <p:ext uri="{D42A27DB-BD31-4B8C-83A1-F6EECF244321}">
                <p14:modId xmlns:p14="http://schemas.microsoft.com/office/powerpoint/2010/main" val="1991491935"/>
              </p:ext>
            </p:extLst>
          </p:nvPr>
        </p:nvGraphicFramePr>
        <p:xfrm>
          <a:off x="3360738" y="4417914"/>
          <a:ext cx="1553904" cy="456840"/>
        </p:xfrm>
        <a:graphic>
          <a:graphicData uri="http://schemas.openxmlformats.org/presentationml/2006/ole">
            <mc:AlternateContent xmlns:mc="http://schemas.openxmlformats.org/markup-compatibility/2006">
              <mc:Choice xmlns:v="urn:schemas-microsoft-com:vml" Requires="v">
                <p:oleObj spid="_x0000_s56586" name="Equation" r:id="rId5" imgW="863280" imgH="253800" progId="Equation.DSMT4">
                  <p:embed/>
                </p:oleObj>
              </mc:Choice>
              <mc:Fallback>
                <p:oleObj name="Equation" r:id="rId5" imgW="863280" imgH="253800" progId="Equation.DSMT4">
                  <p:embed/>
                  <p:pic>
                    <p:nvPicPr>
                      <p:cNvPr id="0" name=""/>
                      <p:cNvPicPr/>
                      <p:nvPr/>
                    </p:nvPicPr>
                    <p:blipFill>
                      <a:blip r:embed="rId6"/>
                      <a:stretch>
                        <a:fillRect/>
                      </a:stretch>
                    </p:blipFill>
                    <p:spPr>
                      <a:xfrm>
                        <a:off x="3360738" y="4417914"/>
                        <a:ext cx="1553904" cy="45684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966476757"/>
              </p:ext>
            </p:extLst>
          </p:nvPr>
        </p:nvGraphicFramePr>
        <p:xfrm>
          <a:off x="3440113" y="5249863"/>
          <a:ext cx="1898650" cy="708025"/>
        </p:xfrm>
        <a:graphic>
          <a:graphicData uri="http://schemas.openxmlformats.org/presentationml/2006/ole">
            <mc:AlternateContent xmlns:mc="http://schemas.openxmlformats.org/markup-compatibility/2006">
              <mc:Choice xmlns:v="urn:schemas-microsoft-com:vml" Requires="v">
                <p:oleObj spid="_x0000_s56587" name="Equation" r:id="rId7" imgW="1054080" imgH="393480" progId="Equation.DSMT4">
                  <p:embed/>
                </p:oleObj>
              </mc:Choice>
              <mc:Fallback>
                <p:oleObj name="Equation" r:id="rId7" imgW="1054080" imgH="393480" progId="Equation.DSMT4">
                  <p:embed/>
                  <p:pic>
                    <p:nvPicPr>
                      <p:cNvPr id="0" name="对象 1"/>
                      <p:cNvPicPr>
                        <a:picLocks noChangeAspect="1" noChangeArrowheads="1"/>
                      </p:cNvPicPr>
                      <p:nvPr/>
                    </p:nvPicPr>
                    <p:blipFill>
                      <a:blip r:embed="rId8"/>
                      <a:srcRect/>
                      <a:stretch>
                        <a:fillRect/>
                      </a:stretch>
                    </p:blipFill>
                    <p:spPr bwMode="auto">
                      <a:xfrm>
                        <a:off x="3440113" y="5249863"/>
                        <a:ext cx="18986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963"/>
                                        </p:tgtEl>
                                        <p:attrNameLst>
                                          <p:attrName>style.visibility</p:attrName>
                                        </p:attrNameLst>
                                      </p:cBhvr>
                                      <p:to>
                                        <p:strVal val="visible"/>
                                      </p:to>
                                    </p:set>
                                    <p:animEffect transition="in" filter="barn(inVertical)">
                                      <p:cBhvr>
                                        <p:cTn id="7" dur="500"/>
                                        <p:tgtEl>
                                          <p:spTgt spid="4096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0964"/>
                                        </p:tgtEl>
                                        <p:attrNameLst>
                                          <p:attrName>style.visibility</p:attrName>
                                        </p:attrNameLst>
                                      </p:cBhvr>
                                      <p:to>
                                        <p:strVal val="visible"/>
                                      </p:to>
                                    </p:set>
                                    <p:animEffect transition="in" filter="barn(inVertical)">
                                      <p:cBhvr>
                                        <p:cTn id="12" dur="500"/>
                                        <p:tgtEl>
                                          <p:spTgt spid="4096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par>
                          <p:cTn id="18" fill="hold">
                            <p:stCondLst>
                              <p:cond delay="500"/>
                            </p:stCondLst>
                            <p:childTnLst>
                              <p:par>
                                <p:cTn id="19" presetID="16" presetClass="entr" presetSubtype="21"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arn(inVertical)">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423863" y="4212433"/>
            <a:ext cx="8324850" cy="2333625"/>
          </a:xfrm>
          <a:prstGeom prst="rect">
            <a:avLst/>
          </a:prstGeom>
        </p:spPr>
      </p:pic>
      <p:sp>
        <p:nvSpPr>
          <p:cNvPr id="650250" name="Text Box 10"/>
          <p:cNvSpPr txBox="1">
            <a:spLocks noChangeArrowheads="1"/>
          </p:cNvSpPr>
          <p:nvPr/>
        </p:nvSpPr>
        <p:spPr bwMode="auto">
          <a:xfrm>
            <a:off x="5874545" y="2119313"/>
            <a:ext cx="3119436" cy="147732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pPr>
            <a:r>
              <a:rPr lang="en-US" altLang="zh-CN" sz="2000" dirty="0"/>
              <a:t>        </a:t>
            </a:r>
            <a:r>
              <a:rPr lang="zh-CN" altLang="en-US" sz="2000" dirty="0"/>
              <a:t>电容       的存在，增加了电路分析的难度，可采用米勒定理简化电路。</a:t>
            </a:r>
          </a:p>
        </p:txBody>
      </p:sp>
      <p:graphicFrame>
        <p:nvGraphicFramePr>
          <p:cNvPr id="650251" name="Object 11"/>
          <p:cNvGraphicFramePr>
            <a:graphicFrameLocks noChangeAspect="1"/>
          </p:cNvGraphicFramePr>
          <p:nvPr>
            <p:extLst>
              <p:ext uri="{D42A27DB-BD31-4B8C-83A1-F6EECF244321}">
                <p14:modId xmlns:p14="http://schemas.microsoft.com/office/powerpoint/2010/main" val="1946343410"/>
              </p:ext>
            </p:extLst>
          </p:nvPr>
        </p:nvGraphicFramePr>
        <p:xfrm>
          <a:off x="7041357" y="2239160"/>
          <a:ext cx="365602" cy="434151"/>
        </p:xfrm>
        <a:graphic>
          <a:graphicData uri="http://schemas.openxmlformats.org/presentationml/2006/ole">
            <mc:AlternateContent xmlns:mc="http://schemas.openxmlformats.org/markup-compatibility/2006">
              <mc:Choice xmlns:v="urn:schemas-microsoft-com:vml" Requires="v">
                <p:oleObj spid="_x0000_s51430" name="Equation" r:id="rId4" imgW="203112" imgH="241195" progId="Equation.DSMT4">
                  <p:embed/>
                </p:oleObj>
              </mc:Choice>
              <mc:Fallback>
                <p:oleObj name="Equation" r:id="rId4" imgW="203112" imgH="241195"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1357" y="2239160"/>
                        <a:ext cx="365602" cy="434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图片 1"/>
          <p:cNvPicPr>
            <a:picLocks noChangeAspect="1"/>
          </p:cNvPicPr>
          <p:nvPr/>
        </p:nvPicPr>
        <p:blipFill>
          <a:blip r:embed="rId6"/>
          <a:stretch>
            <a:fillRect/>
          </a:stretch>
        </p:blipFill>
        <p:spPr>
          <a:xfrm>
            <a:off x="197089" y="895482"/>
            <a:ext cx="5314950" cy="3102429"/>
          </a:xfrm>
          <a:prstGeom prst="rect">
            <a:avLst/>
          </a:prstGeom>
        </p:spPr>
      </p:pic>
      <p:graphicFrame>
        <p:nvGraphicFramePr>
          <p:cNvPr id="7" name="对象 6"/>
          <p:cNvGraphicFramePr>
            <a:graphicFrameLocks noChangeAspect="1"/>
          </p:cNvGraphicFramePr>
          <p:nvPr>
            <p:extLst>
              <p:ext uri="{D42A27DB-BD31-4B8C-83A1-F6EECF244321}">
                <p14:modId xmlns:p14="http://schemas.microsoft.com/office/powerpoint/2010/main" val="2653831169"/>
              </p:ext>
            </p:extLst>
          </p:nvPr>
        </p:nvGraphicFramePr>
        <p:xfrm>
          <a:off x="1499695" y="6255244"/>
          <a:ext cx="1424809" cy="376941"/>
        </p:xfrm>
        <a:graphic>
          <a:graphicData uri="http://schemas.openxmlformats.org/presentationml/2006/ole">
            <mc:AlternateContent xmlns:mc="http://schemas.openxmlformats.org/markup-compatibility/2006">
              <mc:Choice xmlns:v="urn:schemas-microsoft-com:vml" Requires="v">
                <p:oleObj spid="_x0000_s51431" name="Equation" r:id="rId7" imgW="863280" imgH="228600" progId="Equation.DSMT4">
                  <p:embed/>
                </p:oleObj>
              </mc:Choice>
              <mc:Fallback>
                <p:oleObj name="Equation" r:id="rId7" imgW="863280" imgH="228600" progId="Equation.DSMT4">
                  <p:embed/>
                  <p:pic>
                    <p:nvPicPr>
                      <p:cNvPr id="0" name=""/>
                      <p:cNvPicPr/>
                      <p:nvPr/>
                    </p:nvPicPr>
                    <p:blipFill>
                      <a:blip r:embed="rId8"/>
                      <a:stretch>
                        <a:fillRect/>
                      </a:stretch>
                    </p:blipFill>
                    <p:spPr>
                      <a:xfrm>
                        <a:off x="1499695" y="6255244"/>
                        <a:ext cx="1424809" cy="376941"/>
                      </a:xfrm>
                      <a:prstGeom prst="rect">
                        <a:avLst/>
                      </a:prstGeom>
                    </p:spPr>
                  </p:pic>
                </p:oleObj>
              </mc:Fallback>
            </mc:AlternateContent>
          </a:graphicData>
        </a:graphic>
      </p:graphicFrame>
      <p:sp>
        <p:nvSpPr>
          <p:cNvPr id="8" name="Text Box 3"/>
          <p:cNvSpPr txBox="1">
            <a:spLocks noChangeArrowheads="1"/>
          </p:cNvSpPr>
          <p:nvPr/>
        </p:nvSpPr>
        <p:spPr bwMode="auto">
          <a:xfrm>
            <a:off x="536575" y="411839"/>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10.5.5 </a:t>
            </a:r>
            <a:r>
              <a:rPr lang="zh-CN" altLang="en-US" dirty="0" smtClean="0">
                <a:solidFill>
                  <a:srgbClr val="990033"/>
                </a:solidFill>
              </a:rPr>
              <a:t>共</a:t>
            </a:r>
            <a:r>
              <a:rPr lang="zh-CN" altLang="en-US" dirty="0">
                <a:solidFill>
                  <a:srgbClr val="990033"/>
                </a:solidFill>
              </a:rPr>
              <a:t>射放大器的高频响应</a:t>
            </a:r>
          </a:p>
        </p:txBody>
      </p:sp>
    </p:spTree>
    <p:extLst>
      <p:ext uri="{BB962C8B-B14F-4D97-AF65-F5344CB8AC3E}">
        <p14:creationId xmlns:p14="http://schemas.microsoft.com/office/powerpoint/2010/main" val="15210225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par>
                                <p:cTn id="13" presetID="16" presetClass="entr" presetSubtype="21"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650250"/>
                                        </p:tgtEl>
                                        <p:attrNameLst>
                                          <p:attrName>style.visibility</p:attrName>
                                        </p:attrNameLst>
                                      </p:cBhvr>
                                      <p:to>
                                        <p:strVal val="visible"/>
                                      </p:to>
                                    </p:set>
                                    <p:animEffect transition="in" filter="barn(inVertical)">
                                      <p:cBhvr>
                                        <p:cTn id="20" dur="500"/>
                                        <p:tgtEl>
                                          <p:spTgt spid="650250"/>
                                        </p:tgtEl>
                                      </p:cBhvr>
                                    </p:animEffect>
                                  </p:childTnLst>
                                </p:cTn>
                              </p:par>
                              <p:par>
                                <p:cTn id="21" presetID="16" presetClass="entr" presetSubtype="21" fill="hold" nodeType="withEffect">
                                  <p:stCondLst>
                                    <p:cond delay="0"/>
                                  </p:stCondLst>
                                  <p:childTnLst>
                                    <p:set>
                                      <p:cBhvr>
                                        <p:cTn id="22" dur="1" fill="hold">
                                          <p:stCondLst>
                                            <p:cond delay="0"/>
                                          </p:stCondLst>
                                        </p:cTn>
                                        <p:tgtEl>
                                          <p:spTgt spid="650251"/>
                                        </p:tgtEl>
                                        <p:attrNameLst>
                                          <p:attrName>style.visibility</p:attrName>
                                        </p:attrNameLst>
                                      </p:cBhvr>
                                      <p:to>
                                        <p:strVal val="visible"/>
                                      </p:to>
                                    </p:set>
                                    <p:animEffect transition="in" filter="barn(inVertical)">
                                      <p:cBhvr>
                                        <p:cTn id="23" dur="500"/>
                                        <p:tgtEl>
                                          <p:spTgt spid="650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250" grpId="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601663" y="3548609"/>
            <a:ext cx="77073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sz="2000" dirty="0"/>
              <a:t>利用米勒定理</a:t>
            </a:r>
            <a:r>
              <a:rPr lang="zh-CN" altLang="en-US" sz="2000" dirty="0" smtClean="0"/>
              <a:t>，等效电路</a:t>
            </a:r>
            <a:r>
              <a:rPr lang="zh-CN" altLang="en-US" sz="2000" dirty="0"/>
              <a:t>可简化为</a:t>
            </a:r>
          </a:p>
        </p:txBody>
      </p:sp>
      <p:graphicFrame>
        <p:nvGraphicFramePr>
          <p:cNvPr id="41989" name="Object 10"/>
          <p:cNvGraphicFramePr>
            <a:graphicFrameLocks noChangeAspect="1"/>
          </p:cNvGraphicFramePr>
          <p:nvPr>
            <p:extLst>
              <p:ext uri="{D42A27DB-BD31-4B8C-83A1-F6EECF244321}">
                <p14:modId xmlns:p14="http://schemas.microsoft.com/office/powerpoint/2010/main" val="1339905819"/>
              </p:ext>
            </p:extLst>
          </p:nvPr>
        </p:nvGraphicFramePr>
        <p:xfrm>
          <a:off x="5044281" y="6081499"/>
          <a:ext cx="3930650" cy="641350"/>
        </p:xfrm>
        <a:graphic>
          <a:graphicData uri="http://schemas.openxmlformats.org/presentationml/2006/ole">
            <mc:AlternateContent xmlns:mc="http://schemas.openxmlformats.org/markup-compatibility/2006">
              <mc:Choice xmlns:v="urn:schemas-microsoft-com:vml" Requires="v">
                <p:oleObj spid="_x0000_s42261" name="Equation" r:id="rId3" imgW="2184120" imgH="355320" progId="Equation.DSMT4">
                  <p:embed/>
                </p:oleObj>
              </mc:Choice>
              <mc:Fallback>
                <p:oleObj name="Equation" r:id="rId3" imgW="2184120" imgH="355320" progId="Equation.DSMT4">
                  <p:embed/>
                  <p:pic>
                    <p:nvPicPr>
                      <p:cNvPr id="0" name="Object 10"/>
                      <p:cNvPicPr>
                        <a:picLocks noChangeAspect="1" noChangeArrowheads="1"/>
                      </p:cNvPicPr>
                      <p:nvPr/>
                    </p:nvPicPr>
                    <p:blipFill>
                      <a:blip r:embed="rId4"/>
                      <a:srcRect/>
                      <a:stretch>
                        <a:fillRect/>
                      </a:stretch>
                    </p:blipFill>
                    <p:spPr bwMode="auto">
                      <a:xfrm>
                        <a:off x="5044281" y="6081499"/>
                        <a:ext cx="39306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2"/>
          <p:cNvSpPr txBox="1">
            <a:spLocks noChangeArrowheads="1"/>
          </p:cNvSpPr>
          <p:nvPr/>
        </p:nvSpPr>
        <p:spPr bwMode="auto">
          <a:xfrm>
            <a:off x="601663" y="272175"/>
            <a:ext cx="77073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sz="2000" dirty="0" smtClean="0"/>
              <a:t>将高频等效电路简化</a:t>
            </a:r>
            <a:r>
              <a:rPr lang="zh-CN" altLang="en-US" sz="2000" dirty="0"/>
              <a:t>为</a:t>
            </a:r>
          </a:p>
        </p:txBody>
      </p:sp>
      <p:pic>
        <p:nvPicPr>
          <p:cNvPr id="2" name="图片 1"/>
          <p:cNvPicPr>
            <a:picLocks noChangeAspect="1"/>
          </p:cNvPicPr>
          <p:nvPr/>
        </p:nvPicPr>
        <p:blipFill>
          <a:blip r:embed="rId5"/>
          <a:stretch>
            <a:fillRect/>
          </a:stretch>
        </p:blipFill>
        <p:spPr>
          <a:xfrm>
            <a:off x="1456134" y="577258"/>
            <a:ext cx="5801916" cy="2342222"/>
          </a:xfrm>
          <a:prstGeom prst="rect">
            <a:avLst/>
          </a:prstGeom>
        </p:spPr>
      </p:pic>
      <p:pic>
        <p:nvPicPr>
          <p:cNvPr id="3" name="图片 2"/>
          <p:cNvPicPr>
            <a:picLocks noChangeAspect="1"/>
          </p:cNvPicPr>
          <p:nvPr/>
        </p:nvPicPr>
        <p:blipFill>
          <a:blip r:embed="rId6"/>
          <a:stretch>
            <a:fillRect/>
          </a:stretch>
        </p:blipFill>
        <p:spPr>
          <a:xfrm>
            <a:off x="973931" y="3933993"/>
            <a:ext cx="5876925" cy="2276475"/>
          </a:xfrm>
          <a:prstGeom prst="rect">
            <a:avLst/>
          </a:prstGeom>
        </p:spPr>
      </p:pic>
      <p:graphicFrame>
        <p:nvGraphicFramePr>
          <p:cNvPr id="10" name="Object 10"/>
          <p:cNvGraphicFramePr>
            <a:graphicFrameLocks noChangeAspect="1"/>
          </p:cNvGraphicFramePr>
          <p:nvPr>
            <p:extLst>
              <p:ext uri="{D42A27DB-BD31-4B8C-83A1-F6EECF244321}">
                <p14:modId xmlns:p14="http://schemas.microsoft.com/office/powerpoint/2010/main" val="2950620440"/>
              </p:ext>
            </p:extLst>
          </p:nvPr>
        </p:nvGraphicFramePr>
        <p:xfrm>
          <a:off x="7442064" y="2942979"/>
          <a:ext cx="1642835" cy="390080"/>
        </p:xfrm>
        <a:graphic>
          <a:graphicData uri="http://schemas.openxmlformats.org/presentationml/2006/ole">
            <mc:AlternateContent xmlns:mc="http://schemas.openxmlformats.org/markup-compatibility/2006">
              <mc:Choice xmlns:v="urn:schemas-microsoft-com:vml" Requires="v">
                <p:oleObj spid="_x0000_s42262" name="Equation" r:id="rId7" imgW="965160" imgH="228600" progId="Equation.DSMT4">
                  <p:embed/>
                </p:oleObj>
              </mc:Choice>
              <mc:Fallback>
                <p:oleObj name="Equation" r:id="rId7" imgW="965160" imgH="228600" progId="Equation.DSMT4">
                  <p:embed/>
                  <p:pic>
                    <p:nvPicPr>
                      <p:cNvPr id="0" name=""/>
                      <p:cNvPicPr>
                        <a:picLocks noChangeAspect="1" noChangeArrowheads="1"/>
                      </p:cNvPicPr>
                      <p:nvPr/>
                    </p:nvPicPr>
                    <p:blipFill>
                      <a:blip r:embed="rId8"/>
                      <a:srcRect/>
                      <a:stretch>
                        <a:fillRect/>
                      </a:stretch>
                    </p:blipFill>
                    <p:spPr bwMode="auto">
                      <a:xfrm>
                        <a:off x="7442064" y="2942979"/>
                        <a:ext cx="1642835" cy="390080"/>
                      </a:xfrm>
                      <a:prstGeom prst="rect">
                        <a:avLst/>
                      </a:prstGeom>
                      <a:noFill/>
                      <a:ln>
                        <a:noFill/>
                      </a:ln>
                      <a:effectLst/>
                      <a:extLst/>
                    </p:spPr>
                  </p:pic>
                </p:oleObj>
              </mc:Fallback>
            </mc:AlternateContent>
          </a:graphicData>
        </a:graphic>
      </p:graphicFrame>
      <p:graphicFrame>
        <p:nvGraphicFramePr>
          <p:cNvPr id="12" name="Object 10"/>
          <p:cNvGraphicFramePr>
            <a:graphicFrameLocks noChangeAspect="1"/>
          </p:cNvGraphicFramePr>
          <p:nvPr>
            <p:extLst>
              <p:ext uri="{D42A27DB-BD31-4B8C-83A1-F6EECF244321}">
                <p14:modId xmlns:p14="http://schemas.microsoft.com/office/powerpoint/2010/main" val="3831927068"/>
              </p:ext>
            </p:extLst>
          </p:nvPr>
        </p:nvGraphicFramePr>
        <p:xfrm>
          <a:off x="4313541" y="2901242"/>
          <a:ext cx="2767012" cy="520700"/>
        </p:xfrm>
        <a:graphic>
          <a:graphicData uri="http://schemas.openxmlformats.org/presentationml/2006/ole">
            <mc:AlternateContent xmlns:mc="http://schemas.openxmlformats.org/markup-compatibility/2006">
              <mc:Choice xmlns:v="urn:schemas-microsoft-com:vml" Requires="v">
                <p:oleObj spid="_x0000_s42263" name="Equation" r:id="rId9" imgW="1625400" imgH="304560" progId="Equation.DSMT4">
                  <p:embed/>
                </p:oleObj>
              </mc:Choice>
              <mc:Fallback>
                <p:oleObj name="Equation" r:id="rId9" imgW="1625400" imgH="304560" progId="Equation.DSMT4">
                  <p:embed/>
                  <p:pic>
                    <p:nvPicPr>
                      <p:cNvPr id="0" name=""/>
                      <p:cNvPicPr>
                        <a:picLocks noChangeAspect="1" noChangeArrowheads="1"/>
                      </p:cNvPicPr>
                      <p:nvPr/>
                    </p:nvPicPr>
                    <p:blipFill>
                      <a:blip r:embed="rId10"/>
                      <a:srcRect/>
                      <a:stretch>
                        <a:fillRect/>
                      </a:stretch>
                    </p:blipFill>
                    <p:spPr bwMode="auto">
                      <a:xfrm>
                        <a:off x="4313541" y="2901242"/>
                        <a:ext cx="2767012" cy="520700"/>
                      </a:xfrm>
                      <a:prstGeom prst="rect">
                        <a:avLst/>
                      </a:prstGeom>
                      <a:noFill/>
                      <a:ln>
                        <a:noFill/>
                      </a:ln>
                      <a:effectLst/>
                      <a:extLst/>
                    </p:spPr>
                  </p:pic>
                </p:oleObj>
              </mc:Fallback>
            </mc:AlternateContent>
          </a:graphicData>
        </a:graphic>
      </p:graphicFrame>
      <p:graphicFrame>
        <p:nvGraphicFramePr>
          <p:cNvPr id="13" name="Object 10"/>
          <p:cNvGraphicFramePr>
            <a:graphicFrameLocks noChangeAspect="1"/>
          </p:cNvGraphicFramePr>
          <p:nvPr>
            <p:extLst>
              <p:ext uri="{D42A27DB-BD31-4B8C-83A1-F6EECF244321}">
                <p14:modId xmlns:p14="http://schemas.microsoft.com/office/powerpoint/2010/main" val="2425274909"/>
              </p:ext>
            </p:extLst>
          </p:nvPr>
        </p:nvGraphicFramePr>
        <p:xfrm>
          <a:off x="82550" y="2723423"/>
          <a:ext cx="3911600" cy="801687"/>
        </p:xfrm>
        <a:graphic>
          <a:graphicData uri="http://schemas.openxmlformats.org/presentationml/2006/ole">
            <mc:AlternateContent xmlns:mc="http://schemas.openxmlformats.org/markup-compatibility/2006">
              <mc:Choice xmlns:v="urn:schemas-microsoft-com:vml" Requires="v">
                <p:oleObj spid="_x0000_s42264" name="Equation" r:id="rId11" imgW="2298600" imgH="469800" progId="Equation.DSMT4">
                  <p:embed/>
                </p:oleObj>
              </mc:Choice>
              <mc:Fallback>
                <p:oleObj name="Equation" r:id="rId11" imgW="2298600" imgH="469800" progId="Equation.DSMT4">
                  <p:embed/>
                  <p:pic>
                    <p:nvPicPr>
                      <p:cNvPr id="0" name=""/>
                      <p:cNvPicPr>
                        <a:picLocks noChangeAspect="1" noChangeArrowheads="1"/>
                      </p:cNvPicPr>
                      <p:nvPr/>
                    </p:nvPicPr>
                    <p:blipFill>
                      <a:blip r:embed="rId12"/>
                      <a:srcRect/>
                      <a:stretch>
                        <a:fillRect/>
                      </a:stretch>
                    </p:blipFill>
                    <p:spPr bwMode="auto">
                      <a:xfrm>
                        <a:off x="82550" y="2723423"/>
                        <a:ext cx="3911600" cy="801687"/>
                      </a:xfrm>
                      <a:prstGeom prst="rect">
                        <a:avLst/>
                      </a:prstGeom>
                      <a:noFill/>
                      <a:ln>
                        <a:noFill/>
                      </a:ln>
                      <a:effectLs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arn(inVertical)">
                                      <p:cBhvr>
                                        <p:cTn id="11" dur="500"/>
                                        <p:tgtEl>
                                          <p:spTgt spid="13"/>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inVertical)">
                                      <p:cBhvr>
                                        <p:cTn id="15" dur="500"/>
                                        <p:tgtEl>
                                          <p:spTgt spid="12"/>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41986"/>
                                        </p:tgtEl>
                                        <p:attrNameLst>
                                          <p:attrName>style.visibility</p:attrName>
                                        </p:attrNameLst>
                                      </p:cBhvr>
                                      <p:to>
                                        <p:strVal val="visible"/>
                                      </p:to>
                                    </p:set>
                                    <p:animEffect transition="in" filter="barn(inVertical)">
                                      <p:cBhvr>
                                        <p:cTn id="24" dur="500"/>
                                        <p:tgtEl>
                                          <p:spTgt spid="41986"/>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barn(inVertical)">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41989"/>
                                        </p:tgtEl>
                                        <p:attrNameLst>
                                          <p:attrName>style.visibility</p:attrName>
                                        </p:attrNameLst>
                                      </p:cBhvr>
                                      <p:to>
                                        <p:strVal val="visible"/>
                                      </p:to>
                                    </p:set>
                                    <p:animEffect transition="in" filter="barn(inVertical)">
                                      <p:cBhvr>
                                        <p:cTn id="34" dur="500"/>
                                        <p:tgtEl>
                                          <p:spTgt spid="41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Text Box 6"/>
          <p:cNvSpPr txBox="1">
            <a:spLocks noChangeArrowheads="1"/>
          </p:cNvSpPr>
          <p:nvPr/>
        </p:nvSpPr>
        <p:spPr bwMode="auto">
          <a:xfrm>
            <a:off x="565150" y="2890841"/>
            <a:ext cx="79422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smtClean="0"/>
              <a:t>        </a:t>
            </a:r>
            <a:r>
              <a:rPr lang="zh-CN" altLang="en-US" sz="2000" dirty="0"/>
              <a:t>由于       相对       小得多，       对高频截止频率的贡献占主要地位。</a:t>
            </a:r>
          </a:p>
        </p:txBody>
      </p:sp>
      <p:graphicFrame>
        <p:nvGraphicFramePr>
          <p:cNvPr id="43012" name="Object 7"/>
          <p:cNvGraphicFramePr>
            <a:graphicFrameLocks noChangeAspect="1"/>
          </p:cNvGraphicFramePr>
          <p:nvPr>
            <p:extLst>
              <p:ext uri="{D42A27DB-BD31-4B8C-83A1-F6EECF244321}">
                <p14:modId xmlns:p14="http://schemas.microsoft.com/office/powerpoint/2010/main" val="2786207927"/>
              </p:ext>
            </p:extLst>
          </p:nvPr>
        </p:nvGraphicFramePr>
        <p:xfrm>
          <a:off x="1722438" y="2896685"/>
          <a:ext cx="365602" cy="434151"/>
        </p:xfrm>
        <a:graphic>
          <a:graphicData uri="http://schemas.openxmlformats.org/presentationml/2006/ole">
            <mc:AlternateContent xmlns:mc="http://schemas.openxmlformats.org/markup-compatibility/2006">
              <mc:Choice xmlns:v="urn:schemas-microsoft-com:vml" Requires="v">
                <p:oleObj spid="_x0000_s65871" name="Equation" r:id="rId3" imgW="203112" imgH="241195" progId="Equation.DSMT4">
                  <p:embed/>
                </p:oleObj>
              </mc:Choice>
              <mc:Fallback>
                <p:oleObj name="Equation" r:id="rId3" imgW="203112" imgH="241195"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2438" y="2896685"/>
                        <a:ext cx="365602" cy="434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3" name="Object 8"/>
          <p:cNvGraphicFramePr>
            <a:graphicFrameLocks noChangeAspect="1"/>
          </p:cNvGraphicFramePr>
          <p:nvPr>
            <p:extLst>
              <p:ext uri="{D42A27DB-BD31-4B8C-83A1-F6EECF244321}">
                <p14:modId xmlns:p14="http://schemas.microsoft.com/office/powerpoint/2010/main" val="3252371954"/>
              </p:ext>
            </p:extLst>
          </p:nvPr>
        </p:nvGraphicFramePr>
        <p:xfrm>
          <a:off x="2684463" y="2919416"/>
          <a:ext cx="387350" cy="411162"/>
        </p:xfrm>
        <a:graphic>
          <a:graphicData uri="http://schemas.openxmlformats.org/presentationml/2006/ole">
            <mc:AlternateContent xmlns:mc="http://schemas.openxmlformats.org/markup-compatibility/2006">
              <mc:Choice xmlns:v="urn:schemas-microsoft-com:vml" Requires="v">
                <p:oleObj spid="_x0000_s65872" name="Equation" r:id="rId5" imgW="215640" imgH="228600" progId="Equation.DSMT4">
                  <p:embed/>
                </p:oleObj>
              </mc:Choice>
              <mc:Fallback>
                <p:oleObj name="Equation" r:id="rId5" imgW="215640" imgH="228600" progId="Equation.DSMT4">
                  <p:embed/>
                  <p:pic>
                    <p:nvPicPr>
                      <p:cNvPr id="0" name="Object 8"/>
                      <p:cNvPicPr>
                        <a:picLocks noChangeAspect="1" noChangeArrowheads="1"/>
                      </p:cNvPicPr>
                      <p:nvPr/>
                    </p:nvPicPr>
                    <p:blipFill>
                      <a:blip r:embed="rId6"/>
                      <a:srcRect/>
                      <a:stretch>
                        <a:fillRect/>
                      </a:stretch>
                    </p:blipFill>
                    <p:spPr bwMode="auto">
                      <a:xfrm>
                        <a:off x="2684463" y="2919416"/>
                        <a:ext cx="387350"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4" name="Object 9"/>
          <p:cNvGraphicFramePr>
            <a:graphicFrameLocks noChangeAspect="1"/>
          </p:cNvGraphicFramePr>
          <p:nvPr>
            <p:extLst>
              <p:ext uri="{D42A27DB-BD31-4B8C-83A1-F6EECF244321}">
                <p14:modId xmlns:p14="http://schemas.microsoft.com/office/powerpoint/2010/main" val="2640485208"/>
              </p:ext>
            </p:extLst>
          </p:nvPr>
        </p:nvGraphicFramePr>
        <p:xfrm>
          <a:off x="4159250" y="2919416"/>
          <a:ext cx="387350" cy="411162"/>
        </p:xfrm>
        <a:graphic>
          <a:graphicData uri="http://schemas.openxmlformats.org/presentationml/2006/ole">
            <mc:AlternateContent xmlns:mc="http://schemas.openxmlformats.org/markup-compatibility/2006">
              <mc:Choice xmlns:v="urn:schemas-microsoft-com:vml" Requires="v">
                <p:oleObj spid="_x0000_s65873" name="Equation" r:id="rId7" imgW="215640" imgH="228600" progId="Equation.DSMT4">
                  <p:embed/>
                </p:oleObj>
              </mc:Choice>
              <mc:Fallback>
                <p:oleObj name="Equation" r:id="rId7" imgW="215640" imgH="228600" progId="Equation.DSMT4">
                  <p:embed/>
                  <p:pic>
                    <p:nvPicPr>
                      <p:cNvPr id="0" name="Object 9"/>
                      <p:cNvPicPr>
                        <a:picLocks noChangeAspect="1" noChangeArrowheads="1"/>
                      </p:cNvPicPr>
                      <p:nvPr/>
                    </p:nvPicPr>
                    <p:blipFill>
                      <a:blip r:embed="rId8"/>
                      <a:srcRect/>
                      <a:stretch>
                        <a:fillRect/>
                      </a:stretch>
                    </p:blipFill>
                    <p:spPr bwMode="auto">
                      <a:xfrm>
                        <a:off x="4159250" y="2919416"/>
                        <a:ext cx="387350"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6" name="Text Box 11"/>
          <p:cNvSpPr txBox="1">
            <a:spLocks noChangeArrowheads="1"/>
          </p:cNvSpPr>
          <p:nvPr/>
        </p:nvSpPr>
        <p:spPr bwMode="auto">
          <a:xfrm>
            <a:off x="1198563" y="4855902"/>
            <a:ext cx="5697537"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smtClean="0"/>
              <a:t>求得       </a:t>
            </a:r>
            <a:r>
              <a:rPr lang="zh-CN" altLang="en-US" sz="2000" dirty="0"/>
              <a:t>两端看进去的</a:t>
            </a:r>
            <a:r>
              <a:rPr lang="zh-CN" altLang="en-US" sz="2000" dirty="0" smtClean="0"/>
              <a:t>电阻        </a:t>
            </a:r>
            <a:r>
              <a:rPr lang="zh-CN" altLang="en-US" sz="2000" dirty="0"/>
              <a:t>，就可确定       。</a:t>
            </a:r>
          </a:p>
        </p:txBody>
      </p:sp>
      <p:graphicFrame>
        <p:nvGraphicFramePr>
          <p:cNvPr id="43017" name="Object 12"/>
          <p:cNvGraphicFramePr>
            <a:graphicFrameLocks noChangeAspect="1"/>
          </p:cNvGraphicFramePr>
          <p:nvPr>
            <p:extLst>
              <p:ext uri="{D42A27DB-BD31-4B8C-83A1-F6EECF244321}">
                <p14:modId xmlns:p14="http://schemas.microsoft.com/office/powerpoint/2010/main" val="555896939"/>
              </p:ext>
            </p:extLst>
          </p:nvPr>
        </p:nvGraphicFramePr>
        <p:xfrm>
          <a:off x="1817688" y="4855902"/>
          <a:ext cx="387350" cy="411163"/>
        </p:xfrm>
        <a:graphic>
          <a:graphicData uri="http://schemas.openxmlformats.org/presentationml/2006/ole">
            <mc:AlternateContent xmlns:mc="http://schemas.openxmlformats.org/markup-compatibility/2006">
              <mc:Choice xmlns:v="urn:schemas-microsoft-com:vml" Requires="v">
                <p:oleObj spid="_x0000_s65874" name="Equation" r:id="rId9" imgW="215640" imgH="228600" progId="Equation.DSMT4">
                  <p:embed/>
                </p:oleObj>
              </mc:Choice>
              <mc:Fallback>
                <p:oleObj name="Equation" r:id="rId9" imgW="215640" imgH="228600" progId="Equation.DSMT4">
                  <p:embed/>
                  <p:pic>
                    <p:nvPicPr>
                      <p:cNvPr id="0" name="Object 12"/>
                      <p:cNvPicPr>
                        <a:picLocks noChangeAspect="1" noChangeArrowheads="1"/>
                      </p:cNvPicPr>
                      <p:nvPr/>
                    </p:nvPicPr>
                    <p:blipFill>
                      <a:blip r:embed="rId10"/>
                      <a:srcRect/>
                      <a:stretch>
                        <a:fillRect/>
                      </a:stretch>
                    </p:blipFill>
                    <p:spPr bwMode="auto">
                      <a:xfrm>
                        <a:off x="1817688" y="4855902"/>
                        <a:ext cx="387350"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8" name="Object 13"/>
          <p:cNvGraphicFramePr>
            <a:graphicFrameLocks noChangeAspect="1"/>
          </p:cNvGraphicFramePr>
          <p:nvPr>
            <p:extLst>
              <p:ext uri="{D42A27DB-BD31-4B8C-83A1-F6EECF244321}">
                <p14:modId xmlns:p14="http://schemas.microsoft.com/office/powerpoint/2010/main" val="592526759"/>
              </p:ext>
            </p:extLst>
          </p:nvPr>
        </p:nvGraphicFramePr>
        <p:xfrm>
          <a:off x="4297363" y="4874571"/>
          <a:ext cx="455612" cy="433387"/>
        </p:xfrm>
        <a:graphic>
          <a:graphicData uri="http://schemas.openxmlformats.org/presentationml/2006/ole">
            <mc:AlternateContent xmlns:mc="http://schemas.openxmlformats.org/markup-compatibility/2006">
              <mc:Choice xmlns:v="urn:schemas-microsoft-com:vml" Requires="v">
                <p:oleObj spid="_x0000_s65875" name="Equation" r:id="rId11" imgW="253800" imgH="241200" progId="Equation.DSMT4">
                  <p:embed/>
                </p:oleObj>
              </mc:Choice>
              <mc:Fallback>
                <p:oleObj name="Equation" r:id="rId11" imgW="253800" imgH="241200" progId="Equation.DSMT4">
                  <p:embed/>
                  <p:pic>
                    <p:nvPicPr>
                      <p:cNvPr id="0" name="Object 13"/>
                      <p:cNvPicPr>
                        <a:picLocks noChangeAspect="1" noChangeArrowheads="1"/>
                      </p:cNvPicPr>
                      <p:nvPr/>
                    </p:nvPicPr>
                    <p:blipFill>
                      <a:blip r:embed="rId12"/>
                      <a:srcRect/>
                      <a:stretch>
                        <a:fillRect/>
                      </a:stretch>
                    </p:blipFill>
                    <p:spPr bwMode="auto">
                      <a:xfrm>
                        <a:off x="4297363" y="4874571"/>
                        <a:ext cx="455612"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9" name="Object 14"/>
          <p:cNvGraphicFramePr>
            <a:graphicFrameLocks noChangeAspect="1"/>
          </p:cNvGraphicFramePr>
          <p:nvPr>
            <p:extLst>
              <p:ext uri="{D42A27DB-BD31-4B8C-83A1-F6EECF244321}">
                <p14:modId xmlns:p14="http://schemas.microsoft.com/office/powerpoint/2010/main" val="2058830272"/>
              </p:ext>
            </p:extLst>
          </p:nvPr>
        </p:nvGraphicFramePr>
        <p:xfrm>
          <a:off x="6075363" y="4844532"/>
          <a:ext cx="411480" cy="411480"/>
        </p:xfrm>
        <a:graphic>
          <a:graphicData uri="http://schemas.openxmlformats.org/presentationml/2006/ole">
            <mc:AlternateContent xmlns:mc="http://schemas.openxmlformats.org/markup-compatibility/2006">
              <mc:Choice xmlns:v="urn:schemas-microsoft-com:vml" Requires="v">
                <p:oleObj spid="_x0000_s65876" name="Equation" r:id="rId13" imgW="228600" imgH="228600" progId="Equation.DSMT4">
                  <p:embed/>
                </p:oleObj>
              </mc:Choice>
              <mc:Fallback>
                <p:oleObj name="Equation" r:id="rId13" imgW="228600" imgH="228600" progId="Equation.DSMT4">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75363" y="4844532"/>
                        <a:ext cx="411480"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0" name="Object 15"/>
          <p:cNvGraphicFramePr>
            <a:graphicFrameLocks noChangeAspect="1"/>
          </p:cNvGraphicFramePr>
          <p:nvPr>
            <p:extLst>
              <p:ext uri="{D42A27DB-BD31-4B8C-83A1-F6EECF244321}">
                <p14:modId xmlns:p14="http://schemas.microsoft.com/office/powerpoint/2010/main" val="2162593615"/>
              </p:ext>
            </p:extLst>
          </p:nvPr>
        </p:nvGraphicFramePr>
        <p:xfrm>
          <a:off x="4007644" y="5476615"/>
          <a:ext cx="1462087" cy="801687"/>
        </p:xfrm>
        <a:graphic>
          <a:graphicData uri="http://schemas.openxmlformats.org/presentationml/2006/ole">
            <mc:AlternateContent xmlns:mc="http://schemas.openxmlformats.org/markup-compatibility/2006">
              <mc:Choice xmlns:v="urn:schemas-microsoft-com:vml" Requires="v">
                <p:oleObj spid="_x0000_s65877" name="Equation" r:id="rId15" imgW="812520" imgH="444240" progId="Equation.DSMT4">
                  <p:embed/>
                </p:oleObj>
              </mc:Choice>
              <mc:Fallback>
                <p:oleObj name="Equation" r:id="rId15" imgW="812520" imgH="444240" progId="Equation.DSMT4">
                  <p:embed/>
                  <p:pic>
                    <p:nvPicPr>
                      <p:cNvPr id="0" name="Object 15"/>
                      <p:cNvPicPr>
                        <a:picLocks noChangeAspect="1" noChangeArrowheads="1"/>
                      </p:cNvPicPr>
                      <p:nvPr/>
                    </p:nvPicPr>
                    <p:blipFill>
                      <a:blip r:embed="rId16"/>
                      <a:srcRect/>
                      <a:stretch>
                        <a:fillRect/>
                      </a:stretch>
                    </p:blipFill>
                    <p:spPr bwMode="auto">
                      <a:xfrm>
                        <a:off x="4007644" y="5476615"/>
                        <a:ext cx="1462087" cy="801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5"/>
          <p:cNvGraphicFramePr>
            <a:graphicFrameLocks noChangeAspect="1"/>
          </p:cNvGraphicFramePr>
          <p:nvPr>
            <p:extLst>
              <p:ext uri="{D42A27DB-BD31-4B8C-83A1-F6EECF244321}">
                <p14:modId xmlns:p14="http://schemas.microsoft.com/office/powerpoint/2010/main" val="571746368"/>
              </p:ext>
            </p:extLst>
          </p:nvPr>
        </p:nvGraphicFramePr>
        <p:xfrm>
          <a:off x="3492500" y="3656013"/>
          <a:ext cx="2105025" cy="800100"/>
        </p:xfrm>
        <a:graphic>
          <a:graphicData uri="http://schemas.openxmlformats.org/presentationml/2006/ole">
            <mc:AlternateContent xmlns:mc="http://schemas.openxmlformats.org/markup-compatibility/2006">
              <mc:Choice xmlns:v="urn:schemas-microsoft-com:vml" Requires="v">
                <p:oleObj spid="_x0000_s65878" name="Equation" r:id="rId17" imgW="1168200" imgH="444240" progId="Equation.DSMT4">
                  <p:embed/>
                </p:oleObj>
              </mc:Choice>
              <mc:Fallback>
                <p:oleObj name="Equation" r:id="rId17" imgW="1168200" imgH="444240" progId="Equation.DSMT4">
                  <p:embed/>
                  <p:pic>
                    <p:nvPicPr>
                      <p:cNvPr id="0" name=""/>
                      <p:cNvPicPr>
                        <a:picLocks noChangeAspect="1" noChangeArrowheads="1"/>
                      </p:cNvPicPr>
                      <p:nvPr/>
                    </p:nvPicPr>
                    <p:blipFill>
                      <a:blip r:embed="rId18"/>
                      <a:srcRect/>
                      <a:stretch>
                        <a:fillRect/>
                      </a:stretch>
                    </p:blipFill>
                    <p:spPr bwMode="auto">
                      <a:xfrm>
                        <a:off x="3492500" y="3656013"/>
                        <a:ext cx="2105025"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2" name="图片 11"/>
          <p:cNvPicPr>
            <a:picLocks noChangeAspect="1"/>
          </p:cNvPicPr>
          <p:nvPr/>
        </p:nvPicPr>
        <p:blipFill>
          <a:blip r:embed="rId19"/>
          <a:stretch>
            <a:fillRect/>
          </a:stretch>
        </p:blipFill>
        <p:spPr>
          <a:xfrm>
            <a:off x="1607342" y="460438"/>
            <a:ext cx="5876925" cy="227647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3011"/>
                                        </p:tgtEl>
                                        <p:attrNameLst>
                                          <p:attrName>style.visibility</p:attrName>
                                        </p:attrNameLst>
                                      </p:cBhvr>
                                      <p:to>
                                        <p:strVal val="visible"/>
                                      </p:to>
                                    </p:set>
                                    <p:animEffect transition="in" filter="barn(inVertical)">
                                      <p:cBhvr>
                                        <p:cTn id="7" dur="500"/>
                                        <p:tgtEl>
                                          <p:spTgt spid="43011"/>
                                        </p:tgtEl>
                                      </p:cBhvr>
                                    </p:animEffect>
                                  </p:childTnLst>
                                </p:cTn>
                              </p:par>
                              <p:par>
                                <p:cTn id="8" presetID="16" presetClass="entr" presetSubtype="21" fill="hold" nodeType="withEffect">
                                  <p:stCondLst>
                                    <p:cond delay="0"/>
                                  </p:stCondLst>
                                  <p:childTnLst>
                                    <p:set>
                                      <p:cBhvr>
                                        <p:cTn id="9" dur="1" fill="hold">
                                          <p:stCondLst>
                                            <p:cond delay="0"/>
                                          </p:stCondLst>
                                        </p:cTn>
                                        <p:tgtEl>
                                          <p:spTgt spid="43012"/>
                                        </p:tgtEl>
                                        <p:attrNameLst>
                                          <p:attrName>style.visibility</p:attrName>
                                        </p:attrNameLst>
                                      </p:cBhvr>
                                      <p:to>
                                        <p:strVal val="visible"/>
                                      </p:to>
                                    </p:set>
                                    <p:animEffect transition="in" filter="barn(inVertical)">
                                      <p:cBhvr>
                                        <p:cTn id="10" dur="500"/>
                                        <p:tgtEl>
                                          <p:spTgt spid="43012"/>
                                        </p:tgtEl>
                                      </p:cBhvr>
                                    </p:animEffect>
                                  </p:childTnLst>
                                </p:cTn>
                              </p:par>
                              <p:par>
                                <p:cTn id="11" presetID="16" presetClass="entr" presetSubtype="21" fill="hold" nodeType="withEffect">
                                  <p:stCondLst>
                                    <p:cond delay="0"/>
                                  </p:stCondLst>
                                  <p:childTnLst>
                                    <p:set>
                                      <p:cBhvr>
                                        <p:cTn id="12" dur="1" fill="hold">
                                          <p:stCondLst>
                                            <p:cond delay="0"/>
                                          </p:stCondLst>
                                        </p:cTn>
                                        <p:tgtEl>
                                          <p:spTgt spid="43013"/>
                                        </p:tgtEl>
                                        <p:attrNameLst>
                                          <p:attrName>style.visibility</p:attrName>
                                        </p:attrNameLst>
                                      </p:cBhvr>
                                      <p:to>
                                        <p:strVal val="visible"/>
                                      </p:to>
                                    </p:set>
                                    <p:animEffect transition="in" filter="barn(inVertical)">
                                      <p:cBhvr>
                                        <p:cTn id="13" dur="500"/>
                                        <p:tgtEl>
                                          <p:spTgt spid="43013"/>
                                        </p:tgtEl>
                                      </p:cBhvr>
                                    </p:animEffect>
                                  </p:childTnLst>
                                </p:cTn>
                              </p:par>
                              <p:par>
                                <p:cTn id="14" presetID="16" presetClass="entr" presetSubtype="21" fill="hold" nodeType="withEffect">
                                  <p:stCondLst>
                                    <p:cond delay="0"/>
                                  </p:stCondLst>
                                  <p:childTnLst>
                                    <p:set>
                                      <p:cBhvr>
                                        <p:cTn id="15" dur="1" fill="hold">
                                          <p:stCondLst>
                                            <p:cond delay="0"/>
                                          </p:stCondLst>
                                        </p:cTn>
                                        <p:tgtEl>
                                          <p:spTgt spid="43014"/>
                                        </p:tgtEl>
                                        <p:attrNameLst>
                                          <p:attrName>style.visibility</p:attrName>
                                        </p:attrNameLst>
                                      </p:cBhvr>
                                      <p:to>
                                        <p:strVal val="visible"/>
                                      </p:to>
                                    </p:set>
                                    <p:animEffect transition="in" filter="barn(inVertical)">
                                      <p:cBhvr>
                                        <p:cTn id="16" dur="500"/>
                                        <p:tgtEl>
                                          <p:spTgt spid="43014"/>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arn(inVertical)">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43016"/>
                                        </p:tgtEl>
                                        <p:attrNameLst>
                                          <p:attrName>style.visibility</p:attrName>
                                        </p:attrNameLst>
                                      </p:cBhvr>
                                      <p:to>
                                        <p:strVal val="visible"/>
                                      </p:to>
                                    </p:set>
                                    <p:animEffect transition="in" filter="barn(inVertical)">
                                      <p:cBhvr>
                                        <p:cTn id="26" dur="500"/>
                                        <p:tgtEl>
                                          <p:spTgt spid="43016"/>
                                        </p:tgtEl>
                                      </p:cBhvr>
                                    </p:animEffect>
                                  </p:childTnLst>
                                </p:cTn>
                              </p:par>
                              <p:par>
                                <p:cTn id="27" presetID="16" presetClass="entr" presetSubtype="21" fill="hold" nodeType="withEffect">
                                  <p:stCondLst>
                                    <p:cond delay="0"/>
                                  </p:stCondLst>
                                  <p:childTnLst>
                                    <p:set>
                                      <p:cBhvr>
                                        <p:cTn id="28" dur="1" fill="hold">
                                          <p:stCondLst>
                                            <p:cond delay="0"/>
                                          </p:stCondLst>
                                        </p:cTn>
                                        <p:tgtEl>
                                          <p:spTgt spid="43017"/>
                                        </p:tgtEl>
                                        <p:attrNameLst>
                                          <p:attrName>style.visibility</p:attrName>
                                        </p:attrNameLst>
                                      </p:cBhvr>
                                      <p:to>
                                        <p:strVal val="visible"/>
                                      </p:to>
                                    </p:set>
                                    <p:animEffect transition="in" filter="barn(inVertical)">
                                      <p:cBhvr>
                                        <p:cTn id="29" dur="500"/>
                                        <p:tgtEl>
                                          <p:spTgt spid="43017"/>
                                        </p:tgtEl>
                                      </p:cBhvr>
                                    </p:animEffect>
                                  </p:childTnLst>
                                </p:cTn>
                              </p:par>
                              <p:par>
                                <p:cTn id="30" presetID="16" presetClass="entr" presetSubtype="21" fill="hold" nodeType="withEffect">
                                  <p:stCondLst>
                                    <p:cond delay="0"/>
                                  </p:stCondLst>
                                  <p:childTnLst>
                                    <p:set>
                                      <p:cBhvr>
                                        <p:cTn id="31" dur="1" fill="hold">
                                          <p:stCondLst>
                                            <p:cond delay="0"/>
                                          </p:stCondLst>
                                        </p:cTn>
                                        <p:tgtEl>
                                          <p:spTgt spid="43018"/>
                                        </p:tgtEl>
                                        <p:attrNameLst>
                                          <p:attrName>style.visibility</p:attrName>
                                        </p:attrNameLst>
                                      </p:cBhvr>
                                      <p:to>
                                        <p:strVal val="visible"/>
                                      </p:to>
                                    </p:set>
                                    <p:animEffect transition="in" filter="barn(inVertical)">
                                      <p:cBhvr>
                                        <p:cTn id="32" dur="500"/>
                                        <p:tgtEl>
                                          <p:spTgt spid="43018"/>
                                        </p:tgtEl>
                                      </p:cBhvr>
                                    </p:animEffect>
                                  </p:childTnLst>
                                </p:cTn>
                              </p:par>
                              <p:par>
                                <p:cTn id="33" presetID="16" presetClass="entr" presetSubtype="21" fill="hold" nodeType="withEffect">
                                  <p:stCondLst>
                                    <p:cond delay="0"/>
                                  </p:stCondLst>
                                  <p:childTnLst>
                                    <p:set>
                                      <p:cBhvr>
                                        <p:cTn id="34" dur="1" fill="hold">
                                          <p:stCondLst>
                                            <p:cond delay="0"/>
                                          </p:stCondLst>
                                        </p:cTn>
                                        <p:tgtEl>
                                          <p:spTgt spid="43019"/>
                                        </p:tgtEl>
                                        <p:attrNameLst>
                                          <p:attrName>style.visibility</p:attrName>
                                        </p:attrNameLst>
                                      </p:cBhvr>
                                      <p:to>
                                        <p:strVal val="visible"/>
                                      </p:to>
                                    </p:set>
                                    <p:animEffect transition="in" filter="barn(inVertical)">
                                      <p:cBhvr>
                                        <p:cTn id="35" dur="500"/>
                                        <p:tgtEl>
                                          <p:spTgt spid="43019"/>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43020"/>
                                        </p:tgtEl>
                                        <p:attrNameLst>
                                          <p:attrName>style.visibility</p:attrName>
                                        </p:attrNameLst>
                                      </p:cBhvr>
                                      <p:to>
                                        <p:strVal val="visible"/>
                                      </p:to>
                                    </p:set>
                                    <p:animEffect transition="in" filter="barn(inVertical)">
                                      <p:cBhvr>
                                        <p:cTn id="40" dur="500"/>
                                        <p:tgtEl>
                                          <p:spTgt spid="43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p:bldP spid="43016" grpId="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2181402" y="3829928"/>
            <a:ext cx="6705014" cy="3028072"/>
          </a:xfrm>
          <a:prstGeom prst="rect">
            <a:avLst/>
          </a:prstGeom>
        </p:spPr>
      </p:pic>
      <p:pic>
        <p:nvPicPr>
          <p:cNvPr id="3" name="图片 2"/>
          <p:cNvPicPr>
            <a:picLocks noChangeAspect="1"/>
          </p:cNvPicPr>
          <p:nvPr/>
        </p:nvPicPr>
        <p:blipFill>
          <a:blip r:embed="rId3"/>
          <a:stretch>
            <a:fillRect/>
          </a:stretch>
        </p:blipFill>
        <p:spPr>
          <a:xfrm>
            <a:off x="433851" y="839788"/>
            <a:ext cx="5233523" cy="2907513"/>
          </a:xfrm>
          <a:prstGeom prst="rect">
            <a:avLst/>
          </a:prstGeom>
        </p:spPr>
      </p:pic>
      <p:sp>
        <p:nvSpPr>
          <p:cNvPr id="5" name="Text Box 3"/>
          <p:cNvSpPr txBox="1">
            <a:spLocks noChangeArrowheads="1"/>
          </p:cNvSpPr>
          <p:nvPr/>
        </p:nvSpPr>
        <p:spPr bwMode="auto">
          <a:xfrm>
            <a:off x="536575" y="411839"/>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en-US" altLang="zh-CN" dirty="0" smtClean="0">
                <a:solidFill>
                  <a:srgbClr val="990033"/>
                </a:solidFill>
              </a:rPr>
              <a:t>10.5.6 </a:t>
            </a:r>
            <a:r>
              <a:rPr lang="zh-CN" altLang="en-US" dirty="0" smtClean="0">
                <a:solidFill>
                  <a:srgbClr val="990033"/>
                </a:solidFill>
              </a:rPr>
              <a:t>共源放大器</a:t>
            </a:r>
            <a:r>
              <a:rPr lang="zh-CN" altLang="en-US" dirty="0">
                <a:solidFill>
                  <a:srgbClr val="990033"/>
                </a:solidFill>
              </a:rPr>
              <a:t>的高频响应</a:t>
            </a:r>
          </a:p>
        </p:txBody>
      </p:sp>
    </p:spTree>
    <p:extLst>
      <p:ext uri="{BB962C8B-B14F-4D97-AF65-F5344CB8AC3E}">
        <p14:creationId xmlns:p14="http://schemas.microsoft.com/office/powerpoint/2010/main" val="18909821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ext Box 2"/>
          <p:cNvSpPr txBox="1">
            <a:spLocks noChangeArrowheads="1"/>
          </p:cNvSpPr>
          <p:nvPr/>
        </p:nvSpPr>
        <p:spPr bwMode="auto">
          <a:xfrm>
            <a:off x="601663" y="815100"/>
            <a:ext cx="77073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sz="2000" dirty="0" smtClean="0"/>
              <a:t>将高频等效电路简化</a:t>
            </a:r>
            <a:r>
              <a:rPr lang="zh-CN" altLang="en-US" sz="2000" dirty="0"/>
              <a:t>为</a:t>
            </a:r>
          </a:p>
        </p:txBody>
      </p:sp>
      <p:pic>
        <p:nvPicPr>
          <p:cNvPr id="12" name="图片 11"/>
          <p:cNvPicPr>
            <a:picLocks noChangeAspect="1"/>
          </p:cNvPicPr>
          <p:nvPr/>
        </p:nvPicPr>
        <p:blipFill>
          <a:blip r:embed="rId3"/>
          <a:stretch>
            <a:fillRect/>
          </a:stretch>
        </p:blipFill>
        <p:spPr>
          <a:xfrm>
            <a:off x="1366837" y="1490662"/>
            <a:ext cx="6334125" cy="2981325"/>
          </a:xfrm>
          <a:prstGeom prst="rect">
            <a:avLst/>
          </a:prstGeom>
        </p:spPr>
      </p:pic>
      <p:graphicFrame>
        <p:nvGraphicFramePr>
          <p:cNvPr id="6" name="Object 10"/>
          <p:cNvGraphicFramePr>
            <a:graphicFrameLocks noChangeAspect="1"/>
          </p:cNvGraphicFramePr>
          <p:nvPr>
            <p:extLst>
              <p:ext uri="{D42A27DB-BD31-4B8C-83A1-F6EECF244321}">
                <p14:modId xmlns:p14="http://schemas.microsoft.com/office/powerpoint/2010/main" val="850599895"/>
              </p:ext>
            </p:extLst>
          </p:nvPr>
        </p:nvGraphicFramePr>
        <p:xfrm>
          <a:off x="2171154" y="5010962"/>
          <a:ext cx="1987550" cy="758825"/>
        </p:xfrm>
        <a:graphic>
          <a:graphicData uri="http://schemas.openxmlformats.org/presentationml/2006/ole">
            <mc:AlternateContent xmlns:mc="http://schemas.openxmlformats.org/markup-compatibility/2006">
              <mc:Choice xmlns:v="urn:schemas-microsoft-com:vml" Requires="v">
                <p:oleObj spid="_x0000_s71733" name="Equation" r:id="rId4" imgW="1168200" imgH="444240" progId="Equation.DSMT4">
                  <p:embed/>
                </p:oleObj>
              </mc:Choice>
              <mc:Fallback>
                <p:oleObj name="Equation" r:id="rId4" imgW="1168200" imgH="444240" progId="Equation.DSMT4">
                  <p:embed/>
                  <p:pic>
                    <p:nvPicPr>
                      <p:cNvPr id="0" name=""/>
                      <p:cNvPicPr>
                        <a:picLocks noChangeAspect="1" noChangeArrowheads="1"/>
                      </p:cNvPicPr>
                      <p:nvPr/>
                    </p:nvPicPr>
                    <p:blipFill>
                      <a:blip r:embed="rId5"/>
                      <a:srcRect/>
                      <a:stretch>
                        <a:fillRect/>
                      </a:stretch>
                    </p:blipFill>
                    <p:spPr bwMode="auto">
                      <a:xfrm>
                        <a:off x="2171154" y="5010962"/>
                        <a:ext cx="1987550" cy="758825"/>
                      </a:xfrm>
                      <a:prstGeom prst="rect">
                        <a:avLst/>
                      </a:prstGeom>
                      <a:noFill/>
                      <a:ln>
                        <a:noFill/>
                      </a:ln>
                      <a:effectLst/>
                      <a:extLst/>
                    </p:spPr>
                  </p:pic>
                </p:oleObj>
              </mc:Fallback>
            </mc:AlternateContent>
          </a:graphicData>
        </a:graphic>
      </p:graphicFrame>
      <p:graphicFrame>
        <p:nvGraphicFramePr>
          <p:cNvPr id="7" name="Object 10"/>
          <p:cNvGraphicFramePr>
            <a:graphicFrameLocks noChangeAspect="1"/>
          </p:cNvGraphicFramePr>
          <p:nvPr>
            <p:extLst>
              <p:ext uri="{D42A27DB-BD31-4B8C-83A1-F6EECF244321}">
                <p14:modId xmlns:p14="http://schemas.microsoft.com/office/powerpoint/2010/main" val="3798872164"/>
              </p:ext>
            </p:extLst>
          </p:nvPr>
        </p:nvGraphicFramePr>
        <p:xfrm>
          <a:off x="5550202" y="5195334"/>
          <a:ext cx="1642835" cy="390080"/>
        </p:xfrm>
        <a:graphic>
          <a:graphicData uri="http://schemas.openxmlformats.org/presentationml/2006/ole">
            <mc:AlternateContent xmlns:mc="http://schemas.openxmlformats.org/markup-compatibility/2006">
              <mc:Choice xmlns:v="urn:schemas-microsoft-com:vml" Requires="v">
                <p:oleObj spid="_x0000_s71734" name="Equation" r:id="rId6" imgW="965160" imgH="228600" progId="Equation.DSMT4">
                  <p:embed/>
                </p:oleObj>
              </mc:Choice>
              <mc:Fallback>
                <p:oleObj name="Equation" r:id="rId6" imgW="965160" imgH="228600" progId="Equation.DSMT4">
                  <p:embed/>
                  <p:pic>
                    <p:nvPicPr>
                      <p:cNvPr id="0" name=""/>
                      <p:cNvPicPr>
                        <a:picLocks noChangeAspect="1" noChangeArrowheads="1"/>
                      </p:cNvPicPr>
                      <p:nvPr/>
                    </p:nvPicPr>
                    <p:blipFill>
                      <a:blip r:embed="rId7"/>
                      <a:srcRect/>
                      <a:stretch>
                        <a:fillRect/>
                      </a:stretch>
                    </p:blipFill>
                    <p:spPr bwMode="auto">
                      <a:xfrm>
                        <a:off x="5550202" y="5195334"/>
                        <a:ext cx="1642835" cy="390080"/>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1024152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1477962" y="5351433"/>
            <a:ext cx="6675437"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50000"/>
              </a:spcBef>
              <a:buClr>
                <a:schemeClr val="accent2"/>
              </a:buClr>
              <a:buFont typeface="Wingdings" pitchFamily="2" charset="2"/>
              <a:buChar char="Ø"/>
            </a:pPr>
            <a:r>
              <a:rPr lang="zh-CN" altLang="en-US" sz="2000" dirty="0" smtClean="0">
                <a:latin typeface="+mn-ea"/>
                <a:ea typeface="+mn-ea"/>
              </a:rPr>
              <a:t> 上述模型在    </a:t>
            </a:r>
            <a:r>
              <a:rPr lang="zh-CN" altLang="en-US" sz="2000" dirty="0" smtClean="0">
                <a:latin typeface="+mn-lt"/>
                <a:ea typeface="+mn-ea"/>
              </a:rPr>
              <a:t>较大时适用。</a:t>
            </a:r>
            <a:endParaRPr lang="en-US" altLang="zh-CN" sz="2000" dirty="0" smtClean="0">
              <a:latin typeface="+mn-lt"/>
              <a:ea typeface="+mn-ea"/>
            </a:endParaRPr>
          </a:p>
          <a:p>
            <a:pPr algn="l">
              <a:lnSpc>
                <a:spcPct val="150000"/>
              </a:lnSpc>
              <a:spcBef>
                <a:spcPct val="50000"/>
              </a:spcBef>
              <a:buClr>
                <a:schemeClr val="accent2"/>
              </a:buClr>
              <a:buFont typeface="Wingdings" pitchFamily="2" charset="2"/>
              <a:buChar char="Ø"/>
            </a:pPr>
            <a:r>
              <a:rPr lang="zh-CN" altLang="en-US" sz="2000" dirty="0" smtClean="0">
                <a:latin typeface="+mn-lt"/>
                <a:ea typeface="+mn-ea"/>
              </a:rPr>
              <a:t>  高频响应由   </a:t>
            </a:r>
            <a:r>
              <a:rPr lang="en-US" altLang="en-US" sz="2000" i="1" dirty="0" smtClean="0">
                <a:latin typeface="+mn-lt"/>
                <a:ea typeface="+mn-ea"/>
              </a:rPr>
              <a:t>      </a:t>
            </a:r>
            <a:r>
              <a:rPr lang="zh-CN" altLang="en-US" sz="2000" dirty="0" smtClean="0">
                <a:latin typeface="+mn-lt"/>
                <a:ea typeface="+mn-ea"/>
              </a:rPr>
              <a:t>和       形成</a:t>
            </a:r>
            <a:r>
              <a:rPr lang="zh-CN" altLang="en-US" sz="2000" dirty="0">
                <a:latin typeface="+mn-ea"/>
                <a:ea typeface="+mn-ea"/>
              </a:rPr>
              <a:t>的极点决定。</a:t>
            </a:r>
            <a:endParaRPr lang="en-US" altLang="en-US" sz="2000" dirty="0">
              <a:latin typeface="+mn-ea"/>
              <a:ea typeface="+mn-ea"/>
            </a:endParaRPr>
          </a:p>
        </p:txBody>
      </p:sp>
      <p:graphicFrame>
        <p:nvGraphicFramePr>
          <p:cNvPr id="7" name="Object 6"/>
          <p:cNvGraphicFramePr>
            <a:graphicFrameLocks noGrp="1" noChangeAspect="1"/>
          </p:cNvGraphicFramePr>
          <p:nvPr>
            <p:ph idx="1"/>
            <p:extLst>
              <p:ext uri="{D42A27DB-BD31-4B8C-83A1-F6EECF244321}">
                <p14:modId xmlns:p14="http://schemas.microsoft.com/office/powerpoint/2010/main" val="1745145497"/>
              </p:ext>
            </p:extLst>
          </p:nvPr>
        </p:nvGraphicFramePr>
        <p:xfrm>
          <a:off x="1943100" y="3775872"/>
          <a:ext cx="2252662" cy="441325"/>
        </p:xfrm>
        <a:graphic>
          <a:graphicData uri="http://schemas.openxmlformats.org/presentationml/2006/ole">
            <mc:AlternateContent xmlns:mc="http://schemas.openxmlformats.org/markup-compatibility/2006">
              <mc:Choice xmlns:v="urn:schemas-microsoft-com:vml" Requires="v">
                <p:oleObj spid="_x0000_s53956" name="Equation" r:id="rId3" imgW="1231560" imgH="241200" progId="Equation.DSMT4">
                  <p:embed/>
                </p:oleObj>
              </mc:Choice>
              <mc:Fallback>
                <p:oleObj name="Equation" r:id="rId3" imgW="1231560" imgH="241200" progId="Equation.DSMT4">
                  <p:embed/>
                  <p:pic>
                    <p:nvPicPr>
                      <p:cNvPr id="0" name=""/>
                      <p:cNvPicPr>
                        <a:picLocks noGrp="1" noChangeAspect="1" noChangeArrowheads="1"/>
                      </p:cNvPicPr>
                      <p:nvPr/>
                    </p:nvPicPr>
                    <p:blipFill>
                      <a:blip r:embed="rId4"/>
                      <a:srcRect/>
                      <a:stretch>
                        <a:fillRect/>
                      </a:stretch>
                    </p:blipFill>
                    <p:spPr bwMode="auto">
                      <a:xfrm>
                        <a:off x="1943100" y="3775872"/>
                        <a:ext cx="2252662"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2"/>
          <p:cNvSpPr txBox="1">
            <a:spLocks noChangeArrowheads="1"/>
          </p:cNvSpPr>
          <p:nvPr/>
        </p:nvSpPr>
        <p:spPr bwMode="auto">
          <a:xfrm>
            <a:off x="565944" y="382588"/>
            <a:ext cx="85780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sz="2000" dirty="0" smtClean="0"/>
              <a:t>当        较大时，利用</a:t>
            </a:r>
            <a:r>
              <a:rPr lang="zh-CN" altLang="en-US" sz="2000" dirty="0"/>
              <a:t>米勒</a:t>
            </a:r>
            <a:r>
              <a:rPr lang="zh-CN" altLang="en-US" sz="2000" dirty="0" smtClean="0"/>
              <a:t>定理，电路等效为（忽略输出端等效电容       ）</a:t>
            </a:r>
            <a:endParaRPr lang="zh-CN" altLang="en-US" sz="2000" b="0" i="1" baseline="-25000" dirty="0"/>
          </a:p>
        </p:txBody>
      </p:sp>
      <p:graphicFrame>
        <p:nvGraphicFramePr>
          <p:cNvPr id="10" name="对象 9"/>
          <p:cNvGraphicFramePr>
            <a:graphicFrameLocks noChangeAspect="1"/>
          </p:cNvGraphicFramePr>
          <p:nvPr>
            <p:extLst>
              <p:ext uri="{D42A27DB-BD31-4B8C-83A1-F6EECF244321}">
                <p14:modId xmlns:p14="http://schemas.microsoft.com/office/powerpoint/2010/main" val="706135359"/>
              </p:ext>
            </p:extLst>
          </p:nvPr>
        </p:nvGraphicFramePr>
        <p:xfrm>
          <a:off x="3448050" y="4433888"/>
          <a:ext cx="1738313" cy="800100"/>
        </p:xfrm>
        <a:graphic>
          <a:graphicData uri="http://schemas.openxmlformats.org/presentationml/2006/ole">
            <mc:AlternateContent xmlns:mc="http://schemas.openxmlformats.org/markup-compatibility/2006">
              <mc:Choice xmlns:v="urn:schemas-microsoft-com:vml" Requires="v">
                <p:oleObj spid="_x0000_s53957" name="Equation" r:id="rId5" imgW="965160" imgH="444240" progId="Equation.DSMT4">
                  <p:embed/>
                </p:oleObj>
              </mc:Choice>
              <mc:Fallback>
                <p:oleObj name="Equation" r:id="rId5" imgW="965160" imgH="444240" progId="Equation.DSMT4">
                  <p:embed/>
                  <p:pic>
                    <p:nvPicPr>
                      <p:cNvPr id="0" name="Object 7"/>
                      <p:cNvPicPr>
                        <a:picLocks noChangeAspect="1" noChangeArrowheads="1"/>
                      </p:cNvPicPr>
                      <p:nvPr/>
                    </p:nvPicPr>
                    <p:blipFill>
                      <a:blip r:embed="rId6"/>
                      <a:srcRect/>
                      <a:stretch>
                        <a:fillRect/>
                      </a:stretch>
                    </p:blipFill>
                    <p:spPr bwMode="auto">
                      <a:xfrm>
                        <a:off x="3448050" y="4433888"/>
                        <a:ext cx="1738313"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787169033"/>
              </p:ext>
            </p:extLst>
          </p:nvPr>
        </p:nvGraphicFramePr>
        <p:xfrm>
          <a:off x="3235325" y="6057900"/>
          <a:ext cx="468313" cy="444500"/>
        </p:xfrm>
        <a:graphic>
          <a:graphicData uri="http://schemas.openxmlformats.org/presentationml/2006/ole">
            <mc:AlternateContent xmlns:mc="http://schemas.openxmlformats.org/markup-compatibility/2006">
              <mc:Choice xmlns:v="urn:schemas-microsoft-com:vml" Requires="v">
                <p:oleObj spid="_x0000_s53958" name="Equation" r:id="rId7" imgW="253800" imgH="241200" progId="Equation.DSMT4">
                  <p:embed/>
                </p:oleObj>
              </mc:Choice>
              <mc:Fallback>
                <p:oleObj name="Equation" r:id="rId7" imgW="253800" imgH="241200" progId="Equation.DSMT4">
                  <p:embed/>
                  <p:pic>
                    <p:nvPicPr>
                      <p:cNvPr id="0" name=""/>
                      <p:cNvPicPr/>
                      <p:nvPr/>
                    </p:nvPicPr>
                    <p:blipFill>
                      <a:blip r:embed="rId8"/>
                      <a:stretch>
                        <a:fillRect/>
                      </a:stretch>
                    </p:blipFill>
                    <p:spPr>
                      <a:xfrm>
                        <a:off x="3235325" y="6057900"/>
                        <a:ext cx="468313" cy="44450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761428176"/>
              </p:ext>
            </p:extLst>
          </p:nvPr>
        </p:nvGraphicFramePr>
        <p:xfrm>
          <a:off x="3203575" y="5450649"/>
          <a:ext cx="466725" cy="442912"/>
        </p:xfrm>
        <a:graphic>
          <a:graphicData uri="http://schemas.openxmlformats.org/presentationml/2006/ole">
            <mc:AlternateContent xmlns:mc="http://schemas.openxmlformats.org/markup-compatibility/2006">
              <mc:Choice xmlns:v="urn:schemas-microsoft-com:vml" Requires="v">
                <p:oleObj spid="_x0000_s53959" name="Equation" r:id="rId9" imgW="253800" imgH="241200" progId="Equation.DSMT4">
                  <p:embed/>
                </p:oleObj>
              </mc:Choice>
              <mc:Fallback>
                <p:oleObj name="Equation" r:id="rId9" imgW="253800" imgH="241200" progId="Equation.DSMT4">
                  <p:embed/>
                  <p:pic>
                    <p:nvPicPr>
                      <p:cNvPr id="0" name=""/>
                      <p:cNvPicPr/>
                      <p:nvPr/>
                    </p:nvPicPr>
                    <p:blipFill>
                      <a:blip r:embed="rId10"/>
                      <a:stretch>
                        <a:fillRect/>
                      </a:stretch>
                    </p:blipFill>
                    <p:spPr>
                      <a:xfrm>
                        <a:off x="3203575" y="5450649"/>
                        <a:ext cx="466725" cy="442912"/>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023046064"/>
              </p:ext>
            </p:extLst>
          </p:nvPr>
        </p:nvGraphicFramePr>
        <p:xfrm>
          <a:off x="4044950" y="6051303"/>
          <a:ext cx="396875" cy="420688"/>
        </p:xfrm>
        <a:graphic>
          <a:graphicData uri="http://schemas.openxmlformats.org/presentationml/2006/ole">
            <mc:AlternateContent xmlns:mc="http://schemas.openxmlformats.org/markup-compatibility/2006">
              <mc:Choice xmlns:v="urn:schemas-microsoft-com:vml" Requires="v">
                <p:oleObj spid="_x0000_s53960" name="Equation" r:id="rId11" imgW="215640" imgH="228600" progId="Equation.DSMT4">
                  <p:embed/>
                </p:oleObj>
              </mc:Choice>
              <mc:Fallback>
                <p:oleObj name="Equation" r:id="rId11" imgW="215640" imgH="228600" progId="Equation.DSMT4">
                  <p:embed/>
                  <p:pic>
                    <p:nvPicPr>
                      <p:cNvPr id="0" name=""/>
                      <p:cNvPicPr/>
                      <p:nvPr/>
                    </p:nvPicPr>
                    <p:blipFill>
                      <a:blip r:embed="rId12"/>
                      <a:stretch>
                        <a:fillRect/>
                      </a:stretch>
                    </p:blipFill>
                    <p:spPr>
                      <a:xfrm>
                        <a:off x="4044950" y="6051303"/>
                        <a:ext cx="396875" cy="420688"/>
                      </a:xfrm>
                      <a:prstGeom prst="rect">
                        <a:avLst/>
                      </a:prstGeom>
                    </p:spPr>
                  </p:pic>
                </p:oleObj>
              </mc:Fallback>
            </mc:AlternateContent>
          </a:graphicData>
        </a:graphic>
      </p:graphicFrame>
      <p:graphicFrame>
        <p:nvGraphicFramePr>
          <p:cNvPr id="13" name="Object 6"/>
          <p:cNvGraphicFramePr>
            <a:graphicFrameLocks noChangeAspect="1"/>
          </p:cNvGraphicFramePr>
          <p:nvPr>
            <p:extLst>
              <p:ext uri="{D42A27DB-BD31-4B8C-83A1-F6EECF244321}">
                <p14:modId xmlns:p14="http://schemas.microsoft.com/office/powerpoint/2010/main" val="1370230333"/>
              </p:ext>
            </p:extLst>
          </p:nvPr>
        </p:nvGraphicFramePr>
        <p:xfrm>
          <a:off x="5078523" y="3813953"/>
          <a:ext cx="2832100" cy="441325"/>
        </p:xfrm>
        <a:graphic>
          <a:graphicData uri="http://schemas.openxmlformats.org/presentationml/2006/ole">
            <mc:AlternateContent xmlns:mc="http://schemas.openxmlformats.org/markup-compatibility/2006">
              <mc:Choice xmlns:v="urn:schemas-microsoft-com:vml" Requires="v">
                <p:oleObj spid="_x0000_s53961" name="Equation" r:id="rId13" imgW="1549080" imgH="241200" progId="Equation.DSMT4">
                  <p:embed/>
                </p:oleObj>
              </mc:Choice>
              <mc:Fallback>
                <p:oleObj name="Equation" r:id="rId13" imgW="1549080" imgH="241200" progId="Equation.DSMT4">
                  <p:embed/>
                  <p:pic>
                    <p:nvPicPr>
                      <p:cNvPr id="0" name=""/>
                      <p:cNvPicPr>
                        <a:picLocks noGrp="1" noChangeAspect="1" noChangeArrowheads="1"/>
                      </p:cNvPicPr>
                      <p:nvPr/>
                    </p:nvPicPr>
                    <p:blipFill>
                      <a:blip r:embed="rId14"/>
                      <a:srcRect/>
                      <a:stretch>
                        <a:fillRect/>
                      </a:stretch>
                    </p:blipFill>
                    <p:spPr bwMode="auto">
                      <a:xfrm>
                        <a:off x="5078523" y="3813953"/>
                        <a:ext cx="2832100"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 name="图片 1"/>
          <p:cNvPicPr>
            <a:picLocks noChangeAspect="1"/>
          </p:cNvPicPr>
          <p:nvPr/>
        </p:nvPicPr>
        <p:blipFill>
          <a:blip r:embed="rId15"/>
          <a:stretch>
            <a:fillRect/>
          </a:stretch>
        </p:blipFill>
        <p:spPr>
          <a:xfrm>
            <a:off x="893762" y="795996"/>
            <a:ext cx="7096125" cy="2702906"/>
          </a:xfrm>
          <a:prstGeom prst="rect">
            <a:avLst/>
          </a:prstGeom>
        </p:spPr>
      </p:pic>
      <p:graphicFrame>
        <p:nvGraphicFramePr>
          <p:cNvPr id="15" name="对象 14"/>
          <p:cNvGraphicFramePr>
            <a:graphicFrameLocks noChangeAspect="1"/>
          </p:cNvGraphicFramePr>
          <p:nvPr>
            <p:extLst>
              <p:ext uri="{D42A27DB-BD31-4B8C-83A1-F6EECF244321}">
                <p14:modId xmlns:p14="http://schemas.microsoft.com/office/powerpoint/2010/main" val="1589746677"/>
              </p:ext>
            </p:extLst>
          </p:nvPr>
        </p:nvGraphicFramePr>
        <p:xfrm>
          <a:off x="912812" y="382588"/>
          <a:ext cx="468313" cy="444500"/>
        </p:xfrm>
        <a:graphic>
          <a:graphicData uri="http://schemas.openxmlformats.org/presentationml/2006/ole">
            <mc:AlternateContent xmlns:mc="http://schemas.openxmlformats.org/markup-compatibility/2006">
              <mc:Choice xmlns:v="urn:schemas-microsoft-com:vml" Requires="v">
                <p:oleObj spid="_x0000_s53962" name="Equation" r:id="rId16" imgW="253800" imgH="241200" progId="Equation.DSMT4">
                  <p:embed/>
                </p:oleObj>
              </mc:Choice>
              <mc:Fallback>
                <p:oleObj name="Equation" r:id="rId16" imgW="253800" imgH="241200" progId="Equation.DSMT4">
                  <p:embed/>
                  <p:pic>
                    <p:nvPicPr>
                      <p:cNvPr id="0" name=""/>
                      <p:cNvPicPr/>
                      <p:nvPr/>
                    </p:nvPicPr>
                    <p:blipFill>
                      <a:blip r:embed="rId17"/>
                      <a:stretch>
                        <a:fillRect/>
                      </a:stretch>
                    </p:blipFill>
                    <p:spPr>
                      <a:xfrm>
                        <a:off x="912812" y="382588"/>
                        <a:ext cx="468313" cy="444500"/>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345314665"/>
              </p:ext>
            </p:extLst>
          </p:nvPr>
        </p:nvGraphicFramePr>
        <p:xfrm>
          <a:off x="8074025" y="392113"/>
          <a:ext cx="468313" cy="444500"/>
        </p:xfrm>
        <a:graphic>
          <a:graphicData uri="http://schemas.openxmlformats.org/presentationml/2006/ole">
            <mc:AlternateContent xmlns:mc="http://schemas.openxmlformats.org/markup-compatibility/2006">
              <mc:Choice xmlns:v="urn:schemas-microsoft-com:vml" Requires="v">
                <p:oleObj spid="_x0000_s53963" name="Equation" r:id="rId18" imgW="253800" imgH="241200" progId="Equation.DSMT4">
                  <p:embed/>
                </p:oleObj>
              </mc:Choice>
              <mc:Fallback>
                <p:oleObj name="Equation" r:id="rId18" imgW="253800" imgH="241200" progId="Equation.DSMT4">
                  <p:embed/>
                  <p:pic>
                    <p:nvPicPr>
                      <p:cNvPr id="0" name=""/>
                      <p:cNvPicPr/>
                      <p:nvPr/>
                    </p:nvPicPr>
                    <p:blipFill>
                      <a:blip r:embed="rId19"/>
                      <a:stretch>
                        <a:fillRect/>
                      </a:stretch>
                    </p:blipFill>
                    <p:spPr>
                      <a:xfrm>
                        <a:off x="8074025" y="392113"/>
                        <a:ext cx="468313" cy="444500"/>
                      </a:xfrm>
                      <a:prstGeom prst="rect">
                        <a:avLst/>
                      </a:prstGeom>
                    </p:spPr>
                  </p:pic>
                </p:oleObj>
              </mc:Fallback>
            </mc:AlternateContent>
          </a:graphicData>
        </a:graphic>
      </p:graphicFrame>
    </p:spTree>
    <p:extLst>
      <p:ext uri="{BB962C8B-B14F-4D97-AF65-F5344CB8AC3E}">
        <p14:creationId xmlns:p14="http://schemas.microsoft.com/office/powerpoint/2010/main" val="453757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arn(inVertic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par>
                                <p:cTn id="23" presetID="16" presetClass="entr" presetSubtype="21"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arn(inVertical)">
                                      <p:cBhvr>
                                        <p:cTn id="25" dur="500"/>
                                        <p:tgtEl>
                                          <p:spTgt spid="4"/>
                                        </p:tgtEl>
                                      </p:cBhvr>
                                    </p:animEffect>
                                  </p:childTnLst>
                                </p:cTn>
                              </p:par>
                              <p:par>
                                <p:cTn id="26" presetID="16" presetClass="entr" presetSubtype="21"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arn(inVertical)">
                                      <p:cBhvr>
                                        <p:cTn id="28" dur="500"/>
                                        <p:tgtEl>
                                          <p:spTgt spid="11"/>
                                        </p:tgtEl>
                                      </p:cBhvr>
                                    </p:animEffect>
                                  </p:childTnLst>
                                </p:cTn>
                              </p:par>
                              <p:par>
                                <p:cTn id="29" presetID="16" presetClass="entr" presetSubtype="21"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arn(inVertical)">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565944" y="742488"/>
            <a:ext cx="25609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sz="2000" dirty="0" smtClean="0"/>
              <a:t>当 </a:t>
            </a:r>
            <a:r>
              <a:rPr lang="en-US" altLang="en-US" sz="2000" i="1" dirty="0" smtClean="0"/>
              <a:t>                </a:t>
            </a:r>
            <a:r>
              <a:rPr lang="zh-CN" altLang="en-US" sz="2000" dirty="0"/>
              <a:t>或较小</a:t>
            </a:r>
            <a:r>
              <a:rPr lang="zh-CN" altLang="en-US" sz="2000" dirty="0" smtClean="0"/>
              <a:t>时</a:t>
            </a:r>
            <a:endParaRPr lang="zh-CN" altLang="en-US" sz="2000" dirty="0"/>
          </a:p>
        </p:txBody>
      </p:sp>
      <p:sp>
        <p:nvSpPr>
          <p:cNvPr id="10" name="Text Box 2"/>
          <p:cNvSpPr txBox="1">
            <a:spLocks noChangeArrowheads="1"/>
          </p:cNvSpPr>
          <p:nvPr/>
        </p:nvSpPr>
        <p:spPr bwMode="auto">
          <a:xfrm>
            <a:off x="1409315" y="4413766"/>
            <a:ext cx="609228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spcBef>
                <a:spcPct val="50000"/>
              </a:spcBef>
            </a:pPr>
            <a:r>
              <a:rPr lang="zh-CN" altLang="en-US" sz="2000" dirty="0" smtClean="0"/>
              <a:t> </a:t>
            </a:r>
            <a:r>
              <a:rPr lang="en-US" altLang="zh-CN" sz="2000" i="1" dirty="0" smtClean="0"/>
              <a:t>C</a:t>
            </a:r>
            <a:r>
              <a:rPr lang="en-US" altLang="en-US" sz="2000" i="1" baseline="-25000" dirty="0" smtClean="0"/>
              <a:t>L</a:t>
            </a:r>
            <a:r>
              <a:rPr lang="en-US" altLang="en-US" sz="2000" dirty="0" smtClean="0"/>
              <a:t> </a:t>
            </a:r>
            <a:r>
              <a:rPr lang="zh-CN" altLang="en-US" sz="2000" dirty="0" smtClean="0"/>
              <a:t>是负载端的等效电容，引入该电容是因为其对高频截止频率有很大贡献。而当</a:t>
            </a:r>
            <a:r>
              <a:rPr lang="en-US" altLang="en-US" sz="2000" i="1" dirty="0" smtClean="0"/>
              <a:t>        </a:t>
            </a:r>
            <a:r>
              <a:rPr lang="zh-CN" altLang="en-US" sz="2000" dirty="0"/>
              <a:t>较</a:t>
            </a:r>
            <a:r>
              <a:rPr lang="zh-CN" altLang="en-US" sz="2000" dirty="0" smtClean="0"/>
              <a:t>大时，该电容</a:t>
            </a:r>
            <a:r>
              <a:rPr lang="zh-CN" altLang="en-US" sz="2000" dirty="0"/>
              <a:t>对高频</a:t>
            </a:r>
            <a:r>
              <a:rPr lang="zh-CN" altLang="en-US" sz="2000" dirty="0" smtClean="0"/>
              <a:t>截止频率的贡献则很小。</a:t>
            </a:r>
            <a:endParaRPr lang="zh-CN" altLang="en-US" sz="2000" dirty="0"/>
          </a:p>
        </p:txBody>
      </p:sp>
      <p:graphicFrame>
        <p:nvGraphicFramePr>
          <p:cNvPr id="11" name="对象 10"/>
          <p:cNvGraphicFramePr>
            <a:graphicFrameLocks noChangeAspect="1"/>
          </p:cNvGraphicFramePr>
          <p:nvPr>
            <p:extLst>
              <p:ext uri="{D42A27DB-BD31-4B8C-83A1-F6EECF244321}">
                <p14:modId xmlns:p14="http://schemas.microsoft.com/office/powerpoint/2010/main" val="2036674152"/>
              </p:ext>
            </p:extLst>
          </p:nvPr>
        </p:nvGraphicFramePr>
        <p:xfrm>
          <a:off x="990215" y="742488"/>
          <a:ext cx="914400" cy="444500"/>
        </p:xfrm>
        <a:graphic>
          <a:graphicData uri="http://schemas.openxmlformats.org/presentationml/2006/ole">
            <mc:AlternateContent xmlns:mc="http://schemas.openxmlformats.org/markup-compatibility/2006">
              <mc:Choice xmlns:v="urn:schemas-microsoft-com:vml" Requires="v">
                <p:oleObj spid="_x0000_s54477" name="Equation" r:id="rId3" imgW="495000" imgH="241200" progId="Equation.DSMT4">
                  <p:embed/>
                </p:oleObj>
              </mc:Choice>
              <mc:Fallback>
                <p:oleObj name="Equation" r:id="rId3" imgW="495000" imgH="241200" progId="Equation.DSMT4">
                  <p:embed/>
                  <p:pic>
                    <p:nvPicPr>
                      <p:cNvPr id="0" name=""/>
                      <p:cNvPicPr/>
                      <p:nvPr/>
                    </p:nvPicPr>
                    <p:blipFill>
                      <a:blip r:embed="rId4"/>
                      <a:stretch>
                        <a:fillRect/>
                      </a:stretch>
                    </p:blipFill>
                    <p:spPr>
                      <a:xfrm>
                        <a:off x="990215" y="742488"/>
                        <a:ext cx="914400" cy="444500"/>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43111973"/>
              </p:ext>
            </p:extLst>
          </p:nvPr>
        </p:nvGraphicFramePr>
        <p:xfrm>
          <a:off x="4889029" y="4968939"/>
          <a:ext cx="468313" cy="444500"/>
        </p:xfrm>
        <a:graphic>
          <a:graphicData uri="http://schemas.openxmlformats.org/presentationml/2006/ole">
            <mc:AlternateContent xmlns:mc="http://schemas.openxmlformats.org/markup-compatibility/2006">
              <mc:Choice xmlns:v="urn:schemas-microsoft-com:vml" Requires="v">
                <p:oleObj spid="_x0000_s54478" name="Equation" r:id="rId5" imgW="253800" imgH="241200" progId="Equation.DSMT4">
                  <p:embed/>
                </p:oleObj>
              </mc:Choice>
              <mc:Fallback>
                <p:oleObj name="Equation" r:id="rId5" imgW="253800" imgH="241200" progId="Equation.DSMT4">
                  <p:embed/>
                  <p:pic>
                    <p:nvPicPr>
                      <p:cNvPr id="0" name=""/>
                      <p:cNvPicPr/>
                      <p:nvPr/>
                    </p:nvPicPr>
                    <p:blipFill>
                      <a:blip r:embed="rId6"/>
                      <a:stretch>
                        <a:fillRect/>
                      </a:stretch>
                    </p:blipFill>
                    <p:spPr>
                      <a:xfrm>
                        <a:off x="4889029" y="4968939"/>
                        <a:ext cx="468313" cy="444500"/>
                      </a:xfrm>
                      <a:prstGeom prst="rect">
                        <a:avLst/>
                      </a:prstGeom>
                    </p:spPr>
                  </p:pic>
                </p:oleObj>
              </mc:Fallback>
            </mc:AlternateContent>
          </a:graphicData>
        </a:graphic>
      </p:graphicFrame>
      <p:pic>
        <p:nvPicPr>
          <p:cNvPr id="2" name="图片 1"/>
          <p:cNvPicPr>
            <a:picLocks noChangeAspect="1"/>
          </p:cNvPicPr>
          <p:nvPr/>
        </p:nvPicPr>
        <p:blipFill>
          <a:blip r:embed="rId7"/>
          <a:stretch>
            <a:fillRect/>
          </a:stretch>
        </p:blipFill>
        <p:spPr>
          <a:xfrm>
            <a:off x="1175158" y="1638904"/>
            <a:ext cx="6134100" cy="2219325"/>
          </a:xfrm>
          <a:prstGeom prst="rect">
            <a:avLst/>
          </a:prstGeom>
        </p:spPr>
      </p:pic>
    </p:spTree>
    <p:extLst>
      <p:ext uri="{BB962C8B-B14F-4D97-AF65-F5344CB8AC3E}">
        <p14:creationId xmlns:p14="http://schemas.microsoft.com/office/powerpoint/2010/main" val="178461697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1252341" y="890587"/>
            <a:ext cx="6134100" cy="2219325"/>
            <a:chOff x="1252341" y="890587"/>
            <a:chExt cx="6134100" cy="2219325"/>
          </a:xfrm>
        </p:grpSpPr>
        <p:pic>
          <p:nvPicPr>
            <p:cNvPr id="2" name="图片 1"/>
            <p:cNvPicPr>
              <a:picLocks noChangeAspect="1"/>
            </p:cNvPicPr>
            <p:nvPr/>
          </p:nvPicPr>
          <p:blipFill>
            <a:blip r:embed="rId3"/>
            <a:stretch>
              <a:fillRect/>
            </a:stretch>
          </p:blipFill>
          <p:spPr>
            <a:xfrm>
              <a:off x="1252341" y="890587"/>
              <a:ext cx="6134100" cy="2219325"/>
            </a:xfrm>
            <a:prstGeom prst="rect">
              <a:avLst/>
            </a:prstGeom>
          </p:spPr>
        </p:pic>
        <p:cxnSp>
          <p:nvCxnSpPr>
            <p:cNvPr id="5" name="直接箭头连接符 4"/>
            <p:cNvCxnSpPr/>
            <p:nvPr/>
          </p:nvCxnSpPr>
          <p:spPr bwMode="auto">
            <a:xfrm>
              <a:off x="4000984" y="1298121"/>
              <a:ext cx="457200" cy="0"/>
            </a:xfrm>
            <a:prstGeom prst="straightConnector1">
              <a:avLst/>
            </a:prstGeom>
            <a:solidFill>
              <a:srgbClr val="99FF99"/>
            </a:solidFill>
            <a:ln w="127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6" name="对象 5"/>
            <p:cNvGraphicFramePr>
              <a:graphicFrameLocks noChangeAspect="1"/>
            </p:cNvGraphicFramePr>
            <p:nvPr>
              <p:extLst>
                <p:ext uri="{D42A27DB-BD31-4B8C-83A1-F6EECF244321}">
                  <p14:modId xmlns:p14="http://schemas.microsoft.com/office/powerpoint/2010/main" val="1203960192"/>
                </p:ext>
              </p:extLst>
            </p:nvPr>
          </p:nvGraphicFramePr>
          <p:xfrm>
            <a:off x="4065812" y="911316"/>
            <a:ext cx="327543" cy="366077"/>
          </p:xfrm>
          <a:graphic>
            <a:graphicData uri="http://schemas.openxmlformats.org/presentationml/2006/ole">
              <mc:AlternateContent xmlns:mc="http://schemas.openxmlformats.org/markup-compatibility/2006">
                <mc:Choice xmlns:v="urn:schemas-microsoft-com:vml" Requires="v">
                  <p:oleObj spid="_x0000_s62606" name="Equation" r:id="rId4" imgW="215640" imgH="241200" progId="Equation.DSMT4">
                    <p:embed/>
                  </p:oleObj>
                </mc:Choice>
                <mc:Fallback>
                  <p:oleObj name="Equation" r:id="rId4" imgW="215640" imgH="241200" progId="Equation.DSMT4">
                    <p:embed/>
                    <p:pic>
                      <p:nvPicPr>
                        <p:cNvPr id="0" name=""/>
                        <p:cNvPicPr/>
                        <p:nvPr/>
                      </p:nvPicPr>
                      <p:blipFill>
                        <a:blip r:embed="rId5"/>
                        <a:stretch>
                          <a:fillRect/>
                        </a:stretch>
                      </p:blipFill>
                      <p:spPr>
                        <a:xfrm>
                          <a:off x="4065812" y="911316"/>
                          <a:ext cx="327543" cy="366077"/>
                        </a:xfrm>
                        <a:prstGeom prst="rect">
                          <a:avLst/>
                        </a:prstGeom>
                      </p:spPr>
                    </p:pic>
                  </p:oleObj>
                </mc:Fallback>
              </mc:AlternateContent>
            </a:graphicData>
          </a:graphic>
        </p:graphicFrame>
      </p:grpSp>
      <p:graphicFrame>
        <p:nvGraphicFramePr>
          <p:cNvPr id="13" name="对象 12"/>
          <p:cNvGraphicFramePr>
            <a:graphicFrameLocks noChangeAspect="1"/>
          </p:cNvGraphicFramePr>
          <p:nvPr>
            <p:extLst>
              <p:ext uri="{D42A27DB-BD31-4B8C-83A1-F6EECF244321}">
                <p14:modId xmlns:p14="http://schemas.microsoft.com/office/powerpoint/2010/main" val="1988461280"/>
              </p:ext>
            </p:extLst>
          </p:nvPr>
        </p:nvGraphicFramePr>
        <p:xfrm>
          <a:off x="920296" y="3998913"/>
          <a:ext cx="2809875" cy="1771650"/>
        </p:xfrm>
        <a:graphic>
          <a:graphicData uri="http://schemas.openxmlformats.org/presentationml/2006/ole">
            <mc:AlternateContent xmlns:mc="http://schemas.openxmlformats.org/markup-compatibility/2006">
              <mc:Choice xmlns:v="urn:schemas-microsoft-com:vml" Requires="v">
                <p:oleObj spid="_x0000_s62607" name="Equation" r:id="rId6" imgW="1612800" imgH="1015920" progId="Equation.DSMT4">
                  <p:embed/>
                </p:oleObj>
              </mc:Choice>
              <mc:Fallback>
                <p:oleObj name="Equation" r:id="rId6" imgW="1612800" imgH="1015920" progId="Equation.DSMT4">
                  <p:embed/>
                  <p:pic>
                    <p:nvPicPr>
                      <p:cNvPr id="0" name=""/>
                      <p:cNvPicPr/>
                      <p:nvPr/>
                    </p:nvPicPr>
                    <p:blipFill>
                      <a:blip r:embed="rId7"/>
                      <a:stretch>
                        <a:fillRect/>
                      </a:stretch>
                    </p:blipFill>
                    <p:spPr>
                      <a:xfrm>
                        <a:off x="920296" y="3998913"/>
                        <a:ext cx="2809875" cy="1771650"/>
                      </a:xfrm>
                      <a:prstGeom prst="rect">
                        <a:avLst/>
                      </a:prstGeom>
                    </p:spPr>
                  </p:pic>
                </p:oleObj>
              </mc:Fallback>
            </mc:AlternateContent>
          </a:graphicData>
        </a:graphic>
      </p:graphicFrame>
      <p:sp>
        <p:nvSpPr>
          <p:cNvPr id="15" name="右箭头 14"/>
          <p:cNvSpPr/>
          <p:nvPr/>
        </p:nvSpPr>
        <p:spPr bwMode="auto">
          <a:xfrm>
            <a:off x="4107120" y="4788863"/>
            <a:ext cx="424543" cy="188799"/>
          </a:xfrm>
          <a:prstGeom prst="right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1650061510"/>
              </p:ext>
            </p:extLst>
          </p:nvPr>
        </p:nvGraphicFramePr>
        <p:xfrm>
          <a:off x="4907642" y="4416526"/>
          <a:ext cx="3447368" cy="933474"/>
        </p:xfrm>
        <a:graphic>
          <a:graphicData uri="http://schemas.openxmlformats.org/presentationml/2006/ole">
            <mc:AlternateContent xmlns:mc="http://schemas.openxmlformats.org/markup-compatibility/2006">
              <mc:Choice xmlns:v="urn:schemas-microsoft-com:vml" Requires="v">
                <p:oleObj spid="_x0000_s62608" name="Equation" r:id="rId8" imgW="1968480" imgH="533160" progId="Equation.DSMT4">
                  <p:embed/>
                </p:oleObj>
              </mc:Choice>
              <mc:Fallback>
                <p:oleObj name="Equation" r:id="rId8" imgW="1968480" imgH="533160" progId="Equation.DSMT4">
                  <p:embed/>
                  <p:pic>
                    <p:nvPicPr>
                      <p:cNvPr id="0" name=""/>
                      <p:cNvPicPr/>
                      <p:nvPr/>
                    </p:nvPicPr>
                    <p:blipFill>
                      <a:blip r:embed="rId9"/>
                      <a:stretch>
                        <a:fillRect/>
                      </a:stretch>
                    </p:blipFill>
                    <p:spPr>
                      <a:xfrm>
                        <a:off x="4907642" y="4416526"/>
                        <a:ext cx="3447368" cy="933474"/>
                      </a:xfrm>
                      <a:prstGeom prst="rect">
                        <a:avLst/>
                      </a:prstGeom>
                    </p:spPr>
                  </p:pic>
                </p:oleObj>
              </mc:Fallback>
            </mc:AlternateContent>
          </a:graphicData>
        </a:graphic>
      </p:graphicFrame>
    </p:spTree>
    <p:extLst>
      <p:ext uri="{BB962C8B-B14F-4D97-AF65-F5344CB8AC3E}">
        <p14:creationId xmlns:p14="http://schemas.microsoft.com/office/powerpoint/2010/main" val="4148252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inVertical)">
                                      <p:cBhvr>
                                        <p:cTn id="12" dur="500"/>
                                        <p:tgtEl>
                                          <p:spTgt spid="15"/>
                                        </p:tgtEl>
                                      </p:cBhvr>
                                    </p:animEffect>
                                  </p:childTnLst>
                                </p:cTn>
                              </p:par>
                              <p:par>
                                <p:cTn id="13" presetID="16" presetClass="entr" presetSubtype="21"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90638" y="2047002"/>
            <a:ext cx="3023585" cy="400110"/>
          </a:xfrm>
          <a:prstGeom prst="rect">
            <a:avLst/>
          </a:prstGeom>
        </p:spPr>
        <p:txBody>
          <a:bodyPr wrap="none">
            <a:spAutoFit/>
          </a:bodyPr>
          <a:lstStyle/>
          <a:p>
            <a:r>
              <a:rPr lang="zh-CN" altLang="en-US" sz="2000" dirty="0" smtClean="0"/>
              <a:t>传输函数零点对应的频率</a:t>
            </a:r>
            <a:endParaRPr lang="zh-CN" altLang="en-US" sz="2000" dirty="0"/>
          </a:p>
        </p:txBody>
      </p:sp>
      <p:graphicFrame>
        <p:nvGraphicFramePr>
          <p:cNvPr id="10" name="对象 9"/>
          <p:cNvGraphicFramePr>
            <a:graphicFrameLocks noChangeAspect="1"/>
          </p:cNvGraphicFramePr>
          <p:nvPr>
            <p:extLst>
              <p:ext uri="{D42A27DB-BD31-4B8C-83A1-F6EECF244321}">
                <p14:modId xmlns:p14="http://schemas.microsoft.com/office/powerpoint/2010/main" val="1389685799"/>
              </p:ext>
            </p:extLst>
          </p:nvPr>
        </p:nvGraphicFramePr>
        <p:xfrm>
          <a:off x="5330371" y="1858120"/>
          <a:ext cx="1355725" cy="777875"/>
        </p:xfrm>
        <a:graphic>
          <a:graphicData uri="http://schemas.openxmlformats.org/presentationml/2006/ole">
            <mc:AlternateContent xmlns:mc="http://schemas.openxmlformats.org/markup-compatibility/2006">
              <mc:Choice xmlns:v="urn:schemas-microsoft-com:vml" Requires="v">
                <p:oleObj spid="_x0000_s63669" name="Equation" r:id="rId3" imgW="774360" imgH="444240" progId="Equation.DSMT4">
                  <p:embed/>
                </p:oleObj>
              </mc:Choice>
              <mc:Fallback>
                <p:oleObj name="Equation" r:id="rId3" imgW="774360" imgH="444240" progId="Equation.DSMT4">
                  <p:embed/>
                  <p:pic>
                    <p:nvPicPr>
                      <p:cNvPr id="0" name=""/>
                      <p:cNvPicPr/>
                      <p:nvPr/>
                    </p:nvPicPr>
                    <p:blipFill>
                      <a:blip r:embed="rId4"/>
                      <a:stretch>
                        <a:fillRect/>
                      </a:stretch>
                    </p:blipFill>
                    <p:spPr>
                      <a:xfrm>
                        <a:off x="5330371" y="1858120"/>
                        <a:ext cx="1355725" cy="777875"/>
                      </a:xfrm>
                      <a:prstGeom prst="rect">
                        <a:avLst/>
                      </a:prstGeom>
                    </p:spPr>
                  </p:pic>
                </p:oleObj>
              </mc:Fallback>
            </mc:AlternateContent>
          </a:graphicData>
        </a:graphic>
      </p:graphicFrame>
      <p:sp>
        <p:nvSpPr>
          <p:cNvPr id="11" name="矩形 10"/>
          <p:cNvSpPr/>
          <p:nvPr/>
        </p:nvSpPr>
        <p:spPr>
          <a:xfrm>
            <a:off x="1590639" y="3093137"/>
            <a:ext cx="3023585" cy="400110"/>
          </a:xfrm>
          <a:prstGeom prst="rect">
            <a:avLst/>
          </a:prstGeom>
        </p:spPr>
        <p:txBody>
          <a:bodyPr wrap="none">
            <a:spAutoFit/>
          </a:bodyPr>
          <a:lstStyle/>
          <a:p>
            <a:r>
              <a:rPr lang="zh-CN" altLang="en-US" sz="2000" dirty="0" smtClean="0"/>
              <a:t>传输函数极点对应的频率</a:t>
            </a:r>
            <a:endParaRPr lang="zh-CN" altLang="en-US" sz="2000" dirty="0"/>
          </a:p>
        </p:txBody>
      </p:sp>
      <p:graphicFrame>
        <p:nvGraphicFramePr>
          <p:cNvPr id="16" name="对象 15"/>
          <p:cNvGraphicFramePr>
            <a:graphicFrameLocks noChangeAspect="1"/>
          </p:cNvGraphicFramePr>
          <p:nvPr>
            <p:extLst>
              <p:ext uri="{D42A27DB-BD31-4B8C-83A1-F6EECF244321}">
                <p14:modId xmlns:p14="http://schemas.microsoft.com/office/powerpoint/2010/main" val="909377152"/>
              </p:ext>
            </p:extLst>
          </p:nvPr>
        </p:nvGraphicFramePr>
        <p:xfrm>
          <a:off x="5351463" y="2963634"/>
          <a:ext cx="2422525" cy="822325"/>
        </p:xfrm>
        <a:graphic>
          <a:graphicData uri="http://schemas.openxmlformats.org/presentationml/2006/ole">
            <mc:AlternateContent xmlns:mc="http://schemas.openxmlformats.org/markup-compatibility/2006">
              <mc:Choice xmlns:v="urn:schemas-microsoft-com:vml" Requires="v">
                <p:oleObj spid="_x0000_s63670" name="Equation" r:id="rId5" imgW="1384200" imgH="469800" progId="Equation.DSMT4">
                  <p:embed/>
                </p:oleObj>
              </mc:Choice>
              <mc:Fallback>
                <p:oleObj name="Equation" r:id="rId5" imgW="1384200" imgH="469800" progId="Equation.DSMT4">
                  <p:embed/>
                  <p:pic>
                    <p:nvPicPr>
                      <p:cNvPr id="0" name=""/>
                      <p:cNvPicPr>
                        <a:picLocks noChangeAspect="1" noChangeArrowheads="1"/>
                      </p:cNvPicPr>
                      <p:nvPr/>
                    </p:nvPicPr>
                    <p:blipFill>
                      <a:blip r:embed="rId6"/>
                      <a:srcRect/>
                      <a:stretch>
                        <a:fillRect/>
                      </a:stretch>
                    </p:blipFill>
                    <p:spPr bwMode="auto">
                      <a:xfrm>
                        <a:off x="5351463" y="2963634"/>
                        <a:ext cx="24225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827773820"/>
              </p:ext>
            </p:extLst>
          </p:nvPr>
        </p:nvGraphicFramePr>
        <p:xfrm>
          <a:off x="3013528" y="560545"/>
          <a:ext cx="3447368" cy="933474"/>
        </p:xfrm>
        <a:graphic>
          <a:graphicData uri="http://schemas.openxmlformats.org/presentationml/2006/ole">
            <mc:AlternateContent xmlns:mc="http://schemas.openxmlformats.org/markup-compatibility/2006">
              <mc:Choice xmlns:v="urn:schemas-microsoft-com:vml" Requires="v">
                <p:oleObj spid="_x0000_s63671" name="Equation" r:id="rId7" imgW="1968480" imgH="533160" progId="Equation.DSMT4">
                  <p:embed/>
                </p:oleObj>
              </mc:Choice>
              <mc:Fallback>
                <p:oleObj name="Equation" r:id="rId7" imgW="1968480" imgH="533160" progId="Equation.DSMT4">
                  <p:embed/>
                  <p:pic>
                    <p:nvPicPr>
                      <p:cNvPr id="0" name=""/>
                      <p:cNvPicPr/>
                      <p:nvPr/>
                    </p:nvPicPr>
                    <p:blipFill>
                      <a:blip r:embed="rId8"/>
                      <a:stretch>
                        <a:fillRect/>
                      </a:stretch>
                    </p:blipFill>
                    <p:spPr>
                      <a:xfrm>
                        <a:off x="3013528" y="560545"/>
                        <a:ext cx="3447368" cy="933474"/>
                      </a:xfrm>
                      <a:prstGeom prst="rect">
                        <a:avLst/>
                      </a:prstGeom>
                    </p:spPr>
                  </p:pic>
                </p:oleObj>
              </mc:Fallback>
            </mc:AlternateContent>
          </a:graphicData>
        </a:graphic>
      </p:graphicFrame>
      <p:pic>
        <p:nvPicPr>
          <p:cNvPr id="7" name="图片 6"/>
          <p:cNvPicPr>
            <a:picLocks noChangeAspect="1"/>
          </p:cNvPicPr>
          <p:nvPr/>
        </p:nvPicPr>
        <p:blipFill>
          <a:blip r:embed="rId9"/>
          <a:stretch>
            <a:fillRect/>
          </a:stretch>
        </p:blipFill>
        <p:spPr>
          <a:xfrm>
            <a:off x="4102554" y="4458380"/>
            <a:ext cx="4400550" cy="1762125"/>
          </a:xfrm>
          <a:prstGeom prst="rect">
            <a:avLst/>
          </a:prstGeom>
        </p:spPr>
      </p:pic>
      <p:sp>
        <p:nvSpPr>
          <p:cNvPr id="22" name="矩形 21"/>
          <p:cNvSpPr/>
          <p:nvPr/>
        </p:nvSpPr>
        <p:spPr>
          <a:xfrm>
            <a:off x="555656" y="4458380"/>
            <a:ext cx="3209864" cy="1880579"/>
          </a:xfrm>
          <a:prstGeom prst="rect">
            <a:avLst/>
          </a:prstGeom>
        </p:spPr>
        <p:txBody>
          <a:bodyPr wrap="square">
            <a:spAutoFit/>
          </a:bodyPr>
          <a:lstStyle/>
          <a:p>
            <a:pPr algn="l">
              <a:lnSpc>
                <a:spcPct val="150000"/>
              </a:lnSpc>
            </a:pPr>
            <a:r>
              <a:rPr lang="zh-CN" altLang="en-US" sz="2000" dirty="0" smtClean="0"/>
              <a:t>求传输函数极点相当于设</a:t>
            </a:r>
            <a:endParaRPr lang="en-US" altLang="zh-CN" sz="2000" dirty="0" smtClean="0"/>
          </a:p>
          <a:p>
            <a:pPr algn="l">
              <a:lnSpc>
                <a:spcPct val="150000"/>
              </a:lnSpc>
            </a:pPr>
            <a:r>
              <a:rPr lang="zh-CN" altLang="en-US" sz="2000" dirty="0" smtClean="0"/>
              <a:t>              ，等效电路</a:t>
            </a:r>
            <a:r>
              <a:rPr lang="zh-CN" altLang="en-US" sz="2000" dirty="0"/>
              <a:t>如</a:t>
            </a:r>
            <a:r>
              <a:rPr lang="zh-CN" altLang="en-US" sz="2000" dirty="0" smtClean="0"/>
              <a:t>右，其谐振频率即为</a:t>
            </a:r>
            <a:r>
              <a:rPr lang="zh-CN" altLang="en-US" sz="2000" dirty="0"/>
              <a:t>传输函数极点对应的</a:t>
            </a:r>
            <a:r>
              <a:rPr lang="zh-CN" altLang="en-US" sz="2000" dirty="0" smtClean="0"/>
              <a:t>频率。</a:t>
            </a:r>
            <a:endParaRPr lang="zh-CN" altLang="en-US" sz="2000" dirty="0"/>
          </a:p>
        </p:txBody>
      </p:sp>
      <p:graphicFrame>
        <p:nvGraphicFramePr>
          <p:cNvPr id="23" name="对象 22"/>
          <p:cNvGraphicFramePr>
            <a:graphicFrameLocks noChangeAspect="1"/>
          </p:cNvGraphicFramePr>
          <p:nvPr>
            <p:extLst>
              <p:ext uri="{D42A27DB-BD31-4B8C-83A1-F6EECF244321}">
                <p14:modId xmlns:p14="http://schemas.microsoft.com/office/powerpoint/2010/main" val="3828518715"/>
              </p:ext>
            </p:extLst>
          </p:nvPr>
        </p:nvGraphicFramePr>
        <p:xfrm>
          <a:off x="637300" y="5049602"/>
          <a:ext cx="822325" cy="422275"/>
        </p:xfrm>
        <a:graphic>
          <a:graphicData uri="http://schemas.openxmlformats.org/presentationml/2006/ole">
            <mc:AlternateContent xmlns:mc="http://schemas.openxmlformats.org/markup-compatibility/2006">
              <mc:Choice xmlns:v="urn:schemas-microsoft-com:vml" Requires="v">
                <p:oleObj spid="_x0000_s63672" name="Equation" r:id="rId10" imgW="469800" imgH="241200" progId="Equation.DSMT4">
                  <p:embed/>
                </p:oleObj>
              </mc:Choice>
              <mc:Fallback>
                <p:oleObj name="Equation" r:id="rId10" imgW="469800" imgH="241200" progId="Equation.DSMT4">
                  <p:embed/>
                  <p:pic>
                    <p:nvPicPr>
                      <p:cNvPr id="0" name=""/>
                      <p:cNvPicPr/>
                      <p:nvPr/>
                    </p:nvPicPr>
                    <p:blipFill>
                      <a:blip r:embed="rId11"/>
                      <a:stretch>
                        <a:fillRect/>
                      </a:stretch>
                    </p:blipFill>
                    <p:spPr>
                      <a:xfrm>
                        <a:off x="637300" y="5049602"/>
                        <a:ext cx="822325" cy="422275"/>
                      </a:xfrm>
                      <a:prstGeom prst="rect">
                        <a:avLst/>
                      </a:prstGeom>
                    </p:spPr>
                  </p:pic>
                </p:oleObj>
              </mc:Fallback>
            </mc:AlternateContent>
          </a:graphicData>
        </a:graphic>
      </p:graphicFrame>
    </p:spTree>
    <p:extLst>
      <p:ext uri="{BB962C8B-B14F-4D97-AF65-F5344CB8AC3E}">
        <p14:creationId xmlns:p14="http://schemas.microsoft.com/office/powerpoint/2010/main" val="421019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arn(inVertic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par>
                                <p:cTn id="16" presetID="16" presetClass="entr" presetSubtype="21"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arn(inVertical)">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arn(inVertical)">
                                      <p:cBhvr>
                                        <p:cTn id="23" dur="500"/>
                                        <p:tgtEl>
                                          <p:spTgt spid="7"/>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barn(inVertical)">
                                      <p:cBhvr>
                                        <p:cTn id="26" dur="500"/>
                                        <p:tgtEl>
                                          <p:spTgt spid="22"/>
                                        </p:tgtEl>
                                      </p:cBhvr>
                                    </p:animEffect>
                                  </p:childTnLst>
                                </p:cTn>
                              </p:par>
                              <p:par>
                                <p:cTn id="27" presetID="16" presetClass="entr" presetSubtype="21"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barn(inVertical)">
                                      <p:cBhvr>
                                        <p:cTn id="2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2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809713" y="474018"/>
            <a:ext cx="3023585" cy="400110"/>
          </a:xfrm>
          <a:prstGeom prst="rect">
            <a:avLst/>
          </a:prstGeom>
        </p:spPr>
        <p:txBody>
          <a:bodyPr wrap="none">
            <a:spAutoFit/>
          </a:bodyPr>
          <a:lstStyle/>
          <a:p>
            <a:r>
              <a:rPr lang="zh-CN" altLang="en-US" sz="2000" dirty="0" smtClean="0"/>
              <a:t>传输函数零点对应的频率</a:t>
            </a:r>
            <a:endParaRPr lang="zh-CN" altLang="en-US" sz="2000" dirty="0"/>
          </a:p>
        </p:txBody>
      </p:sp>
      <p:graphicFrame>
        <p:nvGraphicFramePr>
          <p:cNvPr id="10" name="对象 9"/>
          <p:cNvGraphicFramePr>
            <a:graphicFrameLocks noChangeAspect="1"/>
          </p:cNvGraphicFramePr>
          <p:nvPr>
            <p:extLst>
              <p:ext uri="{D42A27DB-BD31-4B8C-83A1-F6EECF244321}">
                <p14:modId xmlns:p14="http://schemas.microsoft.com/office/powerpoint/2010/main" val="207024658"/>
              </p:ext>
            </p:extLst>
          </p:nvPr>
        </p:nvGraphicFramePr>
        <p:xfrm>
          <a:off x="5549446" y="285136"/>
          <a:ext cx="1355725" cy="777875"/>
        </p:xfrm>
        <a:graphic>
          <a:graphicData uri="http://schemas.openxmlformats.org/presentationml/2006/ole">
            <mc:AlternateContent xmlns:mc="http://schemas.openxmlformats.org/markup-compatibility/2006">
              <mc:Choice xmlns:v="urn:schemas-microsoft-com:vml" Requires="v">
                <p:oleObj spid="_x0000_s64739" name="Equation" r:id="rId3" imgW="774360" imgH="444240" progId="Equation.DSMT4">
                  <p:embed/>
                </p:oleObj>
              </mc:Choice>
              <mc:Fallback>
                <p:oleObj name="Equation" r:id="rId3" imgW="774360" imgH="444240" progId="Equation.DSMT4">
                  <p:embed/>
                  <p:pic>
                    <p:nvPicPr>
                      <p:cNvPr id="0" name=""/>
                      <p:cNvPicPr/>
                      <p:nvPr/>
                    </p:nvPicPr>
                    <p:blipFill>
                      <a:blip r:embed="rId4"/>
                      <a:stretch>
                        <a:fillRect/>
                      </a:stretch>
                    </p:blipFill>
                    <p:spPr>
                      <a:xfrm>
                        <a:off x="5549446" y="285136"/>
                        <a:ext cx="1355725" cy="777875"/>
                      </a:xfrm>
                      <a:prstGeom prst="rect">
                        <a:avLst/>
                      </a:prstGeom>
                    </p:spPr>
                  </p:pic>
                </p:oleObj>
              </mc:Fallback>
            </mc:AlternateContent>
          </a:graphicData>
        </a:graphic>
      </p:graphicFrame>
      <p:sp>
        <p:nvSpPr>
          <p:cNvPr id="11" name="矩形 10"/>
          <p:cNvSpPr/>
          <p:nvPr/>
        </p:nvSpPr>
        <p:spPr>
          <a:xfrm>
            <a:off x="1809714" y="1415378"/>
            <a:ext cx="3023585" cy="400110"/>
          </a:xfrm>
          <a:prstGeom prst="rect">
            <a:avLst/>
          </a:prstGeom>
        </p:spPr>
        <p:txBody>
          <a:bodyPr wrap="none">
            <a:spAutoFit/>
          </a:bodyPr>
          <a:lstStyle/>
          <a:p>
            <a:r>
              <a:rPr lang="zh-CN" altLang="en-US" sz="2000" dirty="0" smtClean="0"/>
              <a:t>传输函数极点对应的频率</a:t>
            </a:r>
            <a:endParaRPr lang="zh-CN" altLang="en-US" sz="2000" dirty="0"/>
          </a:p>
        </p:txBody>
      </p:sp>
      <p:graphicFrame>
        <p:nvGraphicFramePr>
          <p:cNvPr id="16" name="对象 15"/>
          <p:cNvGraphicFramePr>
            <a:graphicFrameLocks noChangeAspect="1"/>
          </p:cNvGraphicFramePr>
          <p:nvPr>
            <p:extLst>
              <p:ext uri="{D42A27DB-BD31-4B8C-83A1-F6EECF244321}">
                <p14:modId xmlns:p14="http://schemas.microsoft.com/office/powerpoint/2010/main" val="264906292"/>
              </p:ext>
            </p:extLst>
          </p:nvPr>
        </p:nvGraphicFramePr>
        <p:xfrm>
          <a:off x="5570538" y="1285875"/>
          <a:ext cx="2422525" cy="822325"/>
        </p:xfrm>
        <a:graphic>
          <a:graphicData uri="http://schemas.openxmlformats.org/presentationml/2006/ole">
            <mc:AlternateContent xmlns:mc="http://schemas.openxmlformats.org/markup-compatibility/2006">
              <mc:Choice xmlns:v="urn:schemas-microsoft-com:vml" Requires="v">
                <p:oleObj spid="_x0000_s64740" name="Equation" r:id="rId5" imgW="1384200" imgH="469800" progId="Equation.DSMT4">
                  <p:embed/>
                </p:oleObj>
              </mc:Choice>
              <mc:Fallback>
                <p:oleObj name="Equation" r:id="rId5" imgW="1384200" imgH="469800" progId="Equation.DSMT4">
                  <p:embed/>
                  <p:pic>
                    <p:nvPicPr>
                      <p:cNvPr id="0" name=""/>
                      <p:cNvPicPr>
                        <a:picLocks noChangeAspect="1" noChangeArrowheads="1"/>
                      </p:cNvPicPr>
                      <p:nvPr/>
                    </p:nvPicPr>
                    <p:blipFill>
                      <a:blip r:embed="rId6"/>
                      <a:srcRect/>
                      <a:stretch>
                        <a:fillRect/>
                      </a:stretch>
                    </p:blipFill>
                    <p:spPr bwMode="auto">
                      <a:xfrm>
                        <a:off x="5570538" y="1285875"/>
                        <a:ext cx="24225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2541489993"/>
              </p:ext>
            </p:extLst>
          </p:nvPr>
        </p:nvGraphicFramePr>
        <p:xfrm>
          <a:off x="4063998" y="2298440"/>
          <a:ext cx="1022350" cy="400050"/>
        </p:xfrm>
        <a:graphic>
          <a:graphicData uri="http://schemas.openxmlformats.org/presentationml/2006/ole">
            <mc:AlternateContent xmlns:mc="http://schemas.openxmlformats.org/markup-compatibility/2006">
              <mc:Choice xmlns:v="urn:schemas-microsoft-com:vml" Requires="v">
                <p:oleObj spid="_x0000_s64741" name="Equation" r:id="rId7" imgW="583920" imgH="228600" progId="Equation.DSMT4">
                  <p:embed/>
                </p:oleObj>
              </mc:Choice>
              <mc:Fallback>
                <p:oleObj name="Equation" r:id="rId7" imgW="583920" imgH="228600" progId="Equation.DSMT4">
                  <p:embed/>
                  <p:pic>
                    <p:nvPicPr>
                      <p:cNvPr id="0" name=""/>
                      <p:cNvPicPr/>
                      <p:nvPr/>
                    </p:nvPicPr>
                    <p:blipFill>
                      <a:blip r:embed="rId8"/>
                      <a:stretch>
                        <a:fillRect/>
                      </a:stretch>
                    </p:blipFill>
                    <p:spPr>
                      <a:xfrm>
                        <a:off x="4063998" y="2298440"/>
                        <a:ext cx="1022350" cy="400050"/>
                      </a:xfrm>
                      <a:prstGeom prst="rect">
                        <a:avLst/>
                      </a:prstGeom>
                    </p:spPr>
                  </p:pic>
                </p:oleObj>
              </mc:Fallback>
            </mc:AlternateContent>
          </a:graphicData>
        </a:graphic>
      </p:graphicFrame>
      <p:sp>
        <p:nvSpPr>
          <p:cNvPr id="4" name="下箭头 3"/>
          <p:cNvSpPr/>
          <p:nvPr/>
        </p:nvSpPr>
        <p:spPr bwMode="auto">
          <a:xfrm>
            <a:off x="4477202" y="2906969"/>
            <a:ext cx="195943" cy="334736"/>
          </a:xfrm>
          <a:prstGeom prst="down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graphicFrame>
        <p:nvGraphicFramePr>
          <p:cNvPr id="21" name="对象 20"/>
          <p:cNvGraphicFramePr>
            <a:graphicFrameLocks noChangeAspect="1"/>
          </p:cNvGraphicFramePr>
          <p:nvPr>
            <p:extLst>
              <p:ext uri="{D42A27DB-BD31-4B8C-83A1-F6EECF244321}">
                <p14:modId xmlns:p14="http://schemas.microsoft.com/office/powerpoint/2010/main" val="2385022077"/>
              </p:ext>
            </p:extLst>
          </p:nvPr>
        </p:nvGraphicFramePr>
        <p:xfrm>
          <a:off x="3172957" y="5286467"/>
          <a:ext cx="3000375" cy="822325"/>
        </p:xfrm>
        <a:graphic>
          <a:graphicData uri="http://schemas.openxmlformats.org/presentationml/2006/ole">
            <mc:AlternateContent xmlns:mc="http://schemas.openxmlformats.org/markup-compatibility/2006">
              <mc:Choice xmlns:v="urn:schemas-microsoft-com:vml" Requires="v">
                <p:oleObj spid="_x0000_s64742" name="Equation" r:id="rId9" imgW="1714320" imgH="469800" progId="Equation.DSMT4">
                  <p:embed/>
                </p:oleObj>
              </mc:Choice>
              <mc:Fallback>
                <p:oleObj name="Equation" r:id="rId9" imgW="1714320" imgH="469800" progId="Equation.DSMT4">
                  <p:embed/>
                  <p:pic>
                    <p:nvPicPr>
                      <p:cNvPr id="0" name=""/>
                      <p:cNvPicPr>
                        <a:picLocks noChangeAspect="1" noChangeArrowheads="1"/>
                      </p:cNvPicPr>
                      <p:nvPr/>
                    </p:nvPicPr>
                    <p:blipFill>
                      <a:blip r:embed="rId10"/>
                      <a:srcRect/>
                      <a:stretch>
                        <a:fillRect/>
                      </a:stretch>
                    </p:blipFill>
                    <p:spPr bwMode="auto">
                      <a:xfrm>
                        <a:off x="3172957" y="5286467"/>
                        <a:ext cx="3000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124255191"/>
              </p:ext>
            </p:extLst>
          </p:nvPr>
        </p:nvGraphicFramePr>
        <p:xfrm>
          <a:off x="1471613" y="3495675"/>
          <a:ext cx="6403975" cy="933450"/>
        </p:xfrm>
        <a:graphic>
          <a:graphicData uri="http://schemas.openxmlformats.org/presentationml/2006/ole">
            <mc:AlternateContent xmlns:mc="http://schemas.openxmlformats.org/markup-compatibility/2006">
              <mc:Choice xmlns:v="urn:schemas-microsoft-com:vml" Requires="v">
                <p:oleObj spid="_x0000_s64743" name="Equation" r:id="rId11" imgW="3657600" imgH="533160" progId="Equation.DSMT4">
                  <p:embed/>
                </p:oleObj>
              </mc:Choice>
              <mc:Fallback>
                <p:oleObj name="Equation" r:id="rId11" imgW="3657600" imgH="533160" progId="Equation.DSMT4">
                  <p:embed/>
                  <p:pic>
                    <p:nvPicPr>
                      <p:cNvPr id="0" name=""/>
                      <p:cNvPicPr/>
                      <p:nvPr/>
                    </p:nvPicPr>
                    <p:blipFill>
                      <a:blip r:embed="rId12"/>
                      <a:stretch>
                        <a:fillRect/>
                      </a:stretch>
                    </p:blipFill>
                    <p:spPr>
                      <a:xfrm>
                        <a:off x="1471613" y="3495675"/>
                        <a:ext cx="6403975" cy="933450"/>
                      </a:xfrm>
                      <a:prstGeom prst="rect">
                        <a:avLst/>
                      </a:prstGeom>
                    </p:spPr>
                  </p:pic>
                </p:oleObj>
              </mc:Fallback>
            </mc:AlternateContent>
          </a:graphicData>
        </a:graphic>
      </p:graphicFrame>
      <p:sp>
        <p:nvSpPr>
          <p:cNvPr id="13" name="下箭头 12"/>
          <p:cNvSpPr/>
          <p:nvPr/>
        </p:nvSpPr>
        <p:spPr bwMode="auto">
          <a:xfrm>
            <a:off x="4477201" y="4754524"/>
            <a:ext cx="195943" cy="334736"/>
          </a:xfrm>
          <a:prstGeom prst="down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92881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par>
                                <p:cTn id="13" presetID="16" presetClass="entr" presetSubtype="21"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inVertic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barn(inVertical)">
                                      <p:cBhvr>
                                        <p:cTn id="20" dur="500"/>
                                        <p:tgtEl>
                                          <p:spTgt spid="21"/>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arn(inVertical)">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txBox="1">
            <a:spLocks noChangeArrowheads="1"/>
          </p:cNvSpPr>
          <p:nvPr/>
        </p:nvSpPr>
        <p:spPr bwMode="auto">
          <a:xfrm>
            <a:off x="1154112" y="3738569"/>
            <a:ext cx="7426325" cy="122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a:lnSpc>
                <a:spcPct val="150000"/>
              </a:lnSpc>
              <a:spcBef>
                <a:spcPct val="50000"/>
              </a:spcBef>
              <a:buClr>
                <a:schemeClr val="tx1"/>
              </a:buClr>
              <a:buFont typeface="Wingdings" panose="05000000000000000000" pitchFamily="2" charset="2"/>
              <a:buChar char="l"/>
            </a:pPr>
            <a:r>
              <a:rPr lang="zh-CN" altLang="en-US" sz="2000" dirty="0">
                <a:latin typeface="Times New Roman" pitchFamily="18" charset="0"/>
                <a:ea typeface="宋体" pitchFamily="2" charset="-122"/>
              </a:rPr>
              <a:t>高频响应受制于放大器的输出端。</a:t>
            </a:r>
            <a:endParaRPr lang="en-US" altLang="zh-CN" sz="2000" dirty="0">
              <a:latin typeface="Times New Roman" pitchFamily="18" charset="0"/>
              <a:ea typeface="宋体" pitchFamily="2" charset="-122"/>
            </a:endParaRPr>
          </a:p>
          <a:p>
            <a:pPr>
              <a:lnSpc>
                <a:spcPct val="150000"/>
              </a:lnSpc>
              <a:spcBef>
                <a:spcPct val="50000"/>
              </a:spcBef>
              <a:buClr>
                <a:schemeClr val="tx1"/>
              </a:buClr>
              <a:buFont typeface="Wingdings" panose="05000000000000000000" pitchFamily="2" charset="2"/>
              <a:buChar char="l"/>
            </a:pPr>
            <a:r>
              <a:rPr lang="zh-CN" altLang="en-US" sz="2000" dirty="0">
                <a:latin typeface="Times New Roman" pitchFamily="18" charset="0"/>
                <a:ea typeface="宋体" pitchFamily="2" charset="-122"/>
              </a:rPr>
              <a:t>为提高高频截止频率，必须减小栅极和漏极间的</a:t>
            </a:r>
            <a:r>
              <a:rPr lang="zh-CN" altLang="en-US" sz="2000" dirty="0" smtClean="0">
                <a:latin typeface="Times New Roman" pitchFamily="18" charset="0"/>
                <a:ea typeface="宋体" pitchFamily="2" charset="-122"/>
              </a:rPr>
              <a:t>等效电容。</a:t>
            </a:r>
            <a:endParaRPr lang="en-US" altLang="zh-CN" sz="2000" dirty="0">
              <a:latin typeface="Times New Roman" pitchFamily="18" charset="0"/>
              <a:ea typeface="宋体" pitchFamily="2" charset="-122"/>
            </a:endParaRPr>
          </a:p>
        </p:txBody>
      </p:sp>
      <p:sp>
        <p:nvSpPr>
          <p:cNvPr id="9" name="Text Box 2"/>
          <p:cNvSpPr txBox="1">
            <a:spLocks noChangeArrowheads="1"/>
          </p:cNvSpPr>
          <p:nvPr/>
        </p:nvSpPr>
        <p:spPr bwMode="auto">
          <a:xfrm>
            <a:off x="794543" y="2948326"/>
            <a:ext cx="69683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sz="2000" dirty="0" smtClean="0"/>
              <a:t>可见，当                或很小时</a:t>
            </a:r>
            <a:endParaRPr lang="zh-CN" altLang="en-US" sz="2000" dirty="0"/>
          </a:p>
        </p:txBody>
      </p:sp>
      <p:graphicFrame>
        <p:nvGraphicFramePr>
          <p:cNvPr id="6" name="对象 5"/>
          <p:cNvGraphicFramePr>
            <a:graphicFrameLocks noChangeAspect="1"/>
          </p:cNvGraphicFramePr>
          <p:nvPr>
            <p:extLst>
              <p:ext uri="{D42A27DB-BD31-4B8C-83A1-F6EECF244321}">
                <p14:modId xmlns:p14="http://schemas.microsoft.com/office/powerpoint/2010/main" val="2479207963"/>
              </p:ext>
            </p:extLst>
          </p:nvPr>
        </p:nvGraphicFramePr>
        <p:xfrm>
          <a:off x="1966913" y="2943428"/>
          <a:ext cx="1006475" cy="444500"/>
        </p:xfrm>
        <a:graphic>
          <a:graphicData uri="http://schemas.openxmlformats.org/presentationml/2006/ole">
            <mc:AlternateContent xmlns:mc="http://schemas.openxmlformats.org/markup-compatibility/2006">
              <mc:Choice xmlns:v="urn:schemas-microsoft-com:vml" Requires="v">
                <p:oleObj spid="_x0000_s55499" name="Equation" r:id="rId3" imgW="545760" imgH="241200" progId="Equation.DSMT4">
                  <p:embed/>
                </p:oleObj>
              </mc:Choice>
              <mc:Fallback>
                <p:oleObj name="Equation" r:id="rId3" imgW="545760" imgH="241200" progId="Equation.DSMT4">
                  <p:embed/>
                  <p:pic>
                    <p:nvPicPr>
                      <p:cNvPr id="0" name=""/>
                      <p:cNvPicPr/>
                      <p:nvPr/>
                    </p:nvPicPr>
                    <p:blipFill>
                      <a:blip r:embed="rId4"/>
                      <a:stretch>
                        <a:fillRect/>
                      </a:stretch>
                    </p:blipFill>
                    <p:spPr>
                      <a:xfrm>
                        <a:off x="1966913" y="2943428"/>
                        <a:ext cx="1006475" cy="44450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277839268"/>
              </p:ext>
            </p:extLst>
          </p:nvPr>
        </p:nvGraphicFramePr>
        <p:xfrm>
          <a:off x="2847746" y="1066448"/>
          <a:ext cx="3000375" cy="822325"/>
        </p:xfrm>
        <a:graphic>
          <a:graphicData uri="http://schemas.openxmlformats.org/presentationml/2006/ole">
            <mc:AlternateContent xmlns:mc="http://schemas.openxmlformats.org/markup-compatibility/2006">
              <mc:Choice xmlns:v="urn:schemas-microsoft-com:vml" Requires="v">
                <p:oleObj spid="_x0000_s55500" name="Equation" r:id="rId5" imgW="1714320" imgH="469800" progId="Equation.DSMT4">
                  <p:embed/>
                </p:oleObj>
              </mc:Choice>
              <mc:Fallback>
                <p:oleObj name="Equation" r:id="rId5" imgW="1714320" imgH="469800" progId="Equation.DSMT4">
                  <p:embed/>
                  <p:pic>
                    <p:nvPicPr>
                      <p:cNvPr id="0" name=""/>
                      <p:cNvPicPr>
                        <a:picLocks noChangeAspect="1" noChangeArrowheads="1"/>
                      </p:cNvPicPr>
                      <p:nvPr/>
                    </p:nvPicPr>
                    <p:blipFill>
                      <a:blip r:embed="rId6"/>
                      <a:srcRect/>
                      <a:stretch>
                        <a:fillRect/>
                      </a:stretch>
                    </p:blipFill>
                    <p:spPr bwMode="auto">
                      <a:xfrm>
                        <a:off x="2847746" y="1066448"/>
                        <a:ext cx="3000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309862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barn(inVertical)">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barn(inVertical)">
                                      <p:cBhvr>
                                        <p:cTn id="20"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885825" y="1764852"/>
            <a:ext cx="6705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spcBef>
                <a:spcPct val="50000"/>
              </a:spcBef>
            </a:pPr>
            <a:r>
              <a:rPr lang="zh-CN" altLang="en-US" dirty="0">
                <a:solidFill>
                  <a:schemeClr val="accent2"/>
                </a:solidFill>
              </a:rPr>
              <a:t>高频截止频率       的确定</a:t>
            </a:r>
          </a:p>
        </p:txBody>
      </p:sp>
      <p:graphicFrame>
        <p:nvGraphicFramePr>
          <p:cNvPr id="44035" name="Object 4"/>
          <p:cNvGraphicFramePr>
            <a:graphicFrameLocks noChangeAspect="1"/>
          </p:cNvGraphicFramePr>
          <p:nvPr>
            <p:extLst>
              <p:ext uri="{D42A27DB-BD31-4B8C-83A1-F6EECF244321}">
                <p14:modId xmlns:p14="http://schemas.microsoft.com/office/powerpoint/2010/main" val="1826405355"/>
              </p:ext>
            </p:extLst>
          </p:nvPr>
        </p:nvGraphicFramePr>
        <p:xfrm>
          <a:off x="2924175" y="1748522"/>
          <a:ext cx="365602" cy="411302"/>
        </p:xfrm>
        <a:graphic>
          <a:graphicData uri="http://schemas.openxmlformats.org/presentationml/2006/ole">
            <mc:AlternateContent xmlns:mc="http://schemas.openxmlformats.org/markup-compatibility/2006">
              <mc:Choice xmlns:v="urn:schemas-microsoft-com:vml" Requires="v">
                <p:oleObj spid="_x0000_s44388" name="Equation" r:id="rId3" imgW="203112" imgH="228501" progId="Equation.DSMT4">
                  <p:embed/>
                </p:oleObj>
              </mc:Choice>
              <mc:Fallback>
                <p:oleObj name="Equation" r:id="rId3" imgW="203112" imgH="228501"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4175" y="1748522"/>
                        <a:ext cx="365602" cy="411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6" name="Text Box 5"/>
          <p:cNvSpPr txBox="1">
            <a:spLocks noChangeArrowheads="1"/>
          </p:cNvSpPr>
          <p:nvPr/>
        </p:nvSpPr>
        <p:spPr bwMode="auto">
          <a:xfrm>
            <a:off x="1103313" y="2454501"/>
            <a:ext cx="7083425" cy="240065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lnSpc>
                <a:spcPct val="150000"/>
              </a:lnSpc>
              <a:spcBef>
                <a:spcPct val="50000"/>
              </a:spcBef>
              <a:buFontTx/>
              <a:buAutoNum type="arabicPeriod"/>
            </a:pPr>
            <a:r>
              <a:rPr lang="zh-CN" altLang="en-US" sz="2000" dirty="0"/>
              <a:t>如果每个电容单独作用时计算得到的频率分得很开，其中某个频率占主要地位，则高频截止频率近似为该占主要地位的频率（最小频率）。</a:t>
            </a:r>
            <a:br>
              <a:rPr lang="zh-CN" altLang="en-US" sz="2000" dirty="0"/>
            </a:br>
            <a:endParaRPr lang="zh-CN" altLang="en-US" sz="2000" dirty="0"/>
          </a:p>
          <a:p>
            <a:pPr algn="l" eaLnBrk="1" hangingPunct="1">
              <a:spcBef>
                <a:spcPct val="50000"/>
              </a:spcBef>
              <a:buFontTx/>
              <a:buAutoNum type="arabicPeriod"/>
            </a:pPr>
            <a:r>
              <a:rPr lang="zh-CN" altLang="en-US" sz="2000" dirty="0"/>
              <a:t>若上述条件不满足，则手工计算一般采用以下方法</a:t>
            </a:r>
          </a:p>
        </p:txBody>
      </p:sp>
      <p:graphicFrame>
        <p:nvGraphicFramePr>
          <p:cNvPr id="44037" name="Object 6"/>
          <p:cNvGraphicFramePr>
            <a:graphicFrameLocks noChangeAspect="1"/>
          </p:cNvGraphicFramePr>
          <p:nvPr>
            <p:extLst>
              <p:ext uri="{D42A27DB-BD31-4B8C-83A1-F6EECF244321}">
                <p14:modId xmlns:p14="http://schemas.microsoft.com/office/powerpoint/2010/main" val="3037515236"/>
              </p:ext>
            </p:extLst>
          </p:nvPr>
        </p:nvGraphicFramePr>
        <p:xfrm>
          <a:off x="2989263" y="4903480"/>
          <a:ext cx="2926080" cy="1120140"/>
        </p:xfrm>
        <a:graphic>
          <a:graphicData uri="http://schemas.openxmlformats.org/presentationml/2006/ole">
            <mc:AlternateContent xmlns:mc="http://schemas.openxmlformats.org/markup-compatibility/2006">
              <mc:Choice xmlns:v="urn:schemas-microsoft-com:vml" Requires="v">
                <p:oleObj spid="_x0000_s44389" name="Equation" r:id="rId5" imgW="1625600" imgH="622300" progId="Equation.DSMT4">
                  <p:embed/>
                </p:oleObj>
              </mc:Choice>
              <mc:Fallback>
                <p:oleObj name="Equation" r:id="rId5" imgW="1625600" imgH="6223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9263" y="4903480"/>
                        <a:ext cx="2926080" cy="1120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38"/>
          <p:cNvGrpSpPr>
            <a:grpSpLocks/>
          </p:cNvGrpSpPr>
          <p:nvPr/>
        </p:nvGrpSpPr>
        <p:grpSpPr bwMode="auto">
          <a:xfrm>
            <a:off x="611188" y="476250"/>
            <a:ext cx="1644650" cy="850900"/>
            <a:chOff x="385" y="3022"/>
            <a:chExt cx="1036" cy="536"/>
          </a:xfrm>
        </p:grpSpPr>
        <p:pic>
          <p:nvPicPr>
            <p:cNvPr id="7" name="Picture 39" descr="1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40"/>
            <p:cNvSpPr txBox="1">
              <a:spLocks noChangeArrowheads="1"/>
            </p:cNvSpPr>
            <p:nvPr/>
          </p:nvSpPr>
          <p:spPr bwMode="auto">
            <a:xfrm>
              <a:off x="793" y="3125"/>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b="1">
                  <a:solidFill>
                    <a:srgbClr val="FFFF00"/>
                  </a:solidFill>
                  <a:latin typeface="Arial" charset="0"/>
                  <a:ea typeface="楷体_GB2312" pitchFamily="49" charset="-122"/>
                </a:defRPr>
              </a:lvl1pPr>
              <a:lvl2pPr marL="742950" indent="-285750" eaLnBrk="0" hangingPunct="0">
                <a:defRPr sz="2800" b="1">
                  <a:solidFill>
                    <a:srgbClr val="FFFF00"/>
                  </a:solidFill>
                  <a:latin typeface="Arial" charset="0"/>
                  <a:ea typeface="楷体_GB2312" pitchFamily="49" charset="-122"/>
                </a:defRPr>
              </a:lvl2pPr>
              <a:lvl3pPr marL="1143000" indent="-228600" eaLnBrk="0" hangingPunct="0">
                <a:defRPr sz="2800" b="1">
                  <a:solidFill>
                    <a:srgbClr val="FFFF00"/>
                  </a:solidFill>
                  <a:latin typeface="Arial" charset="0"/>
                  <a:ea typeface="楷体_GB2312" pitchFamily="49" charset="-122"/>
                </a:defRPr>
              </a:lvl3pPr>
              <a:lvl4pPr marL="1600200" indent="-228600" eaLnBrk="0" hangingPunct="0">
                <a:defRPr sz="2800" b="1">
                  <a:solidFill>
                    <a:srgbClr val="FFFF00"/>
                  </a:solidFill>
                  <a:latin typeface="Arial" charset="0"/>
                  <a:ea typeface="楷体_GB2312" pitchFamily="49" charset="-122"/>
                </a:defRPr>
              </a:lvl4pPr>
              <a:lvl5pPr marL="2057400" indent="-228600" eaLnBrk="0" hangingPunct="0">
                <a:defRPr sz="2800" b="1">
                  <a:solidFill>
                    <a:srgbClr val="FFFF00"/>
                  </a:solidFill>
                  <a:latin typeface="Arial"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charset="0"/>
                  <a:ea typeface="楷体_GB2312" pitchFamily="49" charset="-122"/>
                </a:defRPr>
              </a:lvl9pPr>
            </a:lstStyle>
            <a:p>
              <a:pPr eaLnBrk="1" hangingPunct="1"/>
              <a:r>
                <a:rPr kumimoji="1" lang="zh-CN" altLang="en-US" sz="3200" b="0" dirty="0">
                  <a:solidFill>
                    <a:srgbClr val="FF0000"/>
                  </a:solidFill>
                  <a:latin typeface="Times New Roman" pitchFamily="18" charset="0"/>
                  <a:ea typeface="华文行楷" pitchFamily="2" charset="-122"/>
                </a:rPr>
                <a:t>小结</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4035"/>
                                        </p:tgtEl>
                                        <p:attrNameLst>
                                          <p:attrName>style.visibility</p:attrName>
                                        </p:attrNameLst>
                                      </p:cBhvr>
                                      <p:to>
                                        <p:strVal val="visible"/>
                                      </p:to>
                                    </p:set>
                                    <p:animEffect transition="in" filter="barn(inVertical)">
                                      <p:cBhvr>
                                        <p:cTn id="7" dur="500"/>
                                        <p:tgtEl>
                                          <p:spTgt spid="4403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4034"/>
                                        </p:tgtEl>
                                        <p:attrNameLst>
                                          <p:attrName>style.visibility</p:attrName>
                                        </p:attrNameLst>
                                      </p:cBhvr>
                                      <p:to>
                                        <p:strVal val="visible"/>
                                      </p:to>
                                    </p:set>
                                    <p:animEffect transition="in" filter="barn(inVertical)">
                                      <p:cBhvr>
                                        <p:cTn id="10" dur="500"/>
                                        <p:tgtEl>
                                          <p:spTgt spid="4403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44036">
                                            <p:txEl>
                                              <p:pRg st="0" end="0"/>
                                            </p:txEl>
                                          </p:spTgt>
                                        </p:tgtEl>
                                        <p:attrNameLst>
                                          <p:attrName>style.visibility</p:attrName>
                                        </p:attrNameLst>
                                      </p:cBhvr>
                                      <p:to>
                                        <p:strVal val="visible"/>
                                      </p:to>
                                    </p:set>
                                    <p:animEffect transition="in" filter="barn(inVertical)">
                                      <p:cBhvr>
                                        <p:cTn id="15" dur="500"/>
                                        <p:tgtEl>
                                          <p:spTgt spid="4403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4036">
                                            <p:txEl>
                                              <p:pRg st="1" end="1"/>
                                            </p:txEl>
                                          </p:spTgt>
                                        </p:tgtEl>
                                        <p:attrNameLst>
                                          <p:attrName>style.visibility</p:attrName>
                                        </p:attrNameLst>
                                      </p:cBhvr>
                                      <p:to>
                                        <p:strVal val="visible"/>
                                      </p:to>
                                    </p:set>
                                    <p:animEffect transition="in" filter="barn(inVertical)">
                                      <p:cBhvr>
                                        <p:cTn id="20" dur="500"/>
                                        <p:tgtEl>
                                          <p:spTgt spid="44036">
                                            <p:txEl>
                                              <p:pRg st="1" end="1"/>
                                            </p:txEl>
                                          </p:spTgt>
                                        </p:tgtEl>
                                      </p:cBhvr>
                                    </p:animEffect>
                                  </p:childTnLst>
                                </p:cTn>
                              </p:par>
                            </p:childTnLst>
                          </p:cTn>
                        </p:par>
                        <p:par>
                          <p:cTn id="21" fill="hold">
                            <p:stCondLst>
                              <p:cond delay="500"/>
                            </p:stCondLst>
                            <p:childTnLst>
                              <p:par>
                                <p:cTn id="22" presetID="16" presetClass="entr" presetSubtype="21" fill="hold" nodeType="afterEffect">
                                  <p:stCondLst>
                                    <p:cond delay="0"/>
                                  </p:stCondLst>
                                  <p:childTnLst>
                                    <p:set>
                                      <p:cBhvr>
                                        <p:cTn id="23" dur="1" fill="hold">
                                          <p:stCondLst>
                                            <p:cond delay="0"/>
                                          </p:stCondLst>
                                        </p:cTn>
                                        <p:tgtEl>
                                          <p:spTgt spid="44037"/>
                                        </p:tgtEl>
                                        <p:attrNameLst>
                                          <p:attrName>style.visibility</p:attrName>
                                        </p:attrNameLst>
                                      </p:cBhvr>
                                      <p:to>
                                        <p:strVal val="visible"/>
                                      </p:to>
                                    </p:set>
                                    <p:animEffect transition="in" filter="barn(inVertical)">
                                      <p:cBhvr>
                                        <p:cTn id="24" dur="500"/>
                                        <p:tgtEl>
                                          <p:spTgt spid="44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14163</TotalTime>
  <Words>1735</Words>
  <Application>Microsoft Office PowerPoint</Application>
  <PresentationFormat>全屏显示(4:3)</PresentationFormat>
  <Paragraphs>289</Paragraphs>
  <Slides>66</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66</vt:i4>
      </vt:variant>
    </vt:vector>
  </HeadingPairs>
  <TitlesOfParts>
    <vt:vector size="78" baseType="lpstr">
      <vt:lpstr>仿宋_GB2312</vt:lpstr>
      <vt:lpstr>华文行楷</vt:lpstr>
      <vt:lpstr>楷体_GB2312</vt:lpstr>
      <vt:lpstr>隶书</vt:lpstr>
      <vt:lpstr>宋体</vt:lpstr>
      <vt:lpstr>Arial</vt:lpstr>
      <vt:lpstr>Symbol</vt:lpstr>
      <vt:lpstr>Times New Roman</vt:lpstr>
      <vt:lpstr>Wingdings</vt:lpstr>
      <vt:lpstr>默认设计模板</vt:lpstr>
      <vt:lpstr>Equation</vt:lpstr>
      <vt:lpstr>Visio</vt:lpstr>
      <vt:lpstr>第十章  频率响应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thcic</dc:creator>
  <cp:lastModifiedBy>JT</cp:lastModifiedBy>
  <cp:revision>780</cp:revision>
  <dcterms:created xsi:type="dcterms:W3CDTF">1998-03-26T06:58:13Z</dcterms:created>
  <dcterms:modified xsi:type="dcterms:W3CDTF">2024-06-21T01:16:10Z</dcterms:modified>
</cp:coreProperties>
</file>
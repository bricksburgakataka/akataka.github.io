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0"/>
  </p:notesMasterIdLst>
  <p:handoutMasterIdLst>
    <p:handoutMasterId r:id="rId91"/>
  </p:handoutMasterIdLst>
  <p:sldIdLst>
    <p:sldId id="468" r:id="rId3"/>
    <p:sldId id="275" r:id="rId4"/>
    <p:sldId id="356" r:id="rId5"/>
    <p:sldId id="276" r:id="rId6"/>
    <p:sldId id="277" r:id="rId7"/>
    <p:sldId id="278" r:id="rId8"/>
    <p:sldId id="357" r:id="rId9"/>
    <p:sldId id="279" r:id="rId10"/>
    <p:sldId id="280" r:id="rId11"/>
    <p:sldId id="281" r:id="rId12"/>
    <p:sldId id="360" r:id="rId13"/>
    <p:sldId id="283" r:id="rId14"/>
    <p:sldId id="285" r:id="rId15"/>
    <p:sldId id="288" r:id="rId16"/>
    <p:sldId id="362" r:id="rId17"/>
    <p:sldId id="289" r:id="rId18"/>
    <p:sldId id="363" r:id="rId19"/>
    <p:sldId id="290" r:id="rId20"/>
    <p:sldId id="291" r:id="rId21"/>
    <p:sldId id="292" r:id="rId22"/>
    <p:sldId id="374" r:id="rId23"/>
    <p:sldId id="294" r:id="rId24"/>
    <p:sldId id="465" r:id="rId25"/>
    <p:sldId id="297" r:id="rId26"/>
    <p:sldId id="364" r:id="rId27"/>
    <p:sldId id="298" r:id="rId28"/>
    <p:sldId id="299" r:id="rId29"/>
    <p:sldId id="300" r:id="rId30"/>
    <p:sldId id="304" r:id="rId31"/>
    <p:sldId id="366" r:id="rId32"/>
    <p:sldId id="379" r:id="rId33"/>
    <p:sldId id="380" r:id="rId34"/>
    <p:sldId id="381" r:id="rId35"/>
    <p:sldId id="382" r:id="rId36"/>
    <p:sldId id="383" r:id="rId37"/>
    <p:sldId id="384" r:id="rId38"/>
    <p:sldId id="385" r:id="rId39"/>
    <p:sldId id="386" r:id="rId40"/>
    <p:sldId id="387" r:id="rId41"/>
    <p:sldId id="388" r:id="rId42"/>
    <p:sldId id="470" r:id="rId43"/>
    <p:sldId id="390" r:id="rId44"/>
    <p:sldId id="391" r:id="rId45"/>
    <p:sldId id="392" r:id="rId46"/>
    <p:sldId id="393" r:id="rId47"/>
    <p:sldId id="394" r:id="rId48"/>
    <p:sldId id="395" r:id="rId49"/>
    <p:sldId id="396" r:id="rId50"/>
    <p:sldId id="402" r:id="rId51"/>
    <p:sldId id="403" r:id="rId52"/>
    <p:sldId id="407" r:id="rId53"/>
    <p:sldId id="408" r:id="rId54"/>
    <p:sldId id="411" r:id="rId55"/>
    <p:sldId id="412" r:id="rId56"/>
    <p:sldId id="418" r:id="rId57"/>
    <p:sldId id="419" r:id="rId58"/>
    <p:sldId id="420" r:id="rId59"/>
    <p:sldId id="421" r:id="rId60"/>
    <p:sldId id="422" r:id="rId61"/>
    <p:sldId id="423" r:id="rId62"/>
    <p:sldId id="424" r:id="rId63"/>
    <p:sldId id="425" r:id="rId64"/>
    <p:sldId id="426" r:id="rId65"/>
    <p:sldId id="427" r:id="rId66"/>
    <p:sldId id="428" r:id="rId67"/>
    <p:sldId id="429" r:id="rId68"/>
    <p:sldId id="430" r:id="rId69"/>
    <p:sldId id="432" r:id="rId70"/>
    <p:sldId id="456" r:id="rId71"/>
    <p:sldId id="457" r:id="rId72"/>
    <p:sldId id="458" r:id="rId73"/>
    <p:sldId id="433" r:id="rId74"/>
    <p:sldId id="434" r:id="rId75"/>
    <p:sldId id="435" r:id="rId76"/>
    <p:sldId id="471" r:id="rId77"/>
    <p:sldId id="459" r:id="rId78"/>
    <p:sldId id="437" r:id="rId79"/>
    <p:sldId id="438" r:id="rId80"/>
    <p:sldId id="460" r:id="rId81"/>
    <p:sldId id="440" r:id="rId82"/>
    <p:sldId id="461" r:id="rId83"/>
    <p:sldId id="442" r:id="rId84"/>
    <p:sldId id="443" r:id="rId85"/>
    <p:sldId id="462" r:id="rId86"/>
    <p:sldId id="413" r:id="rId87"/>
    <p:sldId id="415" r:id="rId88"/>
    <p:sldId id="469" r:id="rId8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rgbClr val="FFFF00"/>
        </a:solidFill>
        <a:latin typeface="Arial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rgbClr val="FFFF00"/>
        </a:solidFill>
        <a:latin typeface="Arial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rgbClr val="FFFF00"/>
        </a:solidFill>
        <a:latin typeface="Arial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rgbClr val="FFFF00"/>
        </a:solidFill>
        <a:latin typeface="Arial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FF00"/>
    <a:srgbClr val="66CCFF"/>
    <a:srgbClr val="00CCFF"/>
    <a:srgbClr val="FF9900"/>
    <a:srgbClr val="CCECFF"/>
    <a:srgbClr val="FF3300"/>
    <a:srgbClr val="FFFF00"/>
    <a:srgbClr val="FF00FF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7294" autoAdjust="0"/>
  </p:normalViewPr>
  <p:slideViewPr>
    <p:cSldViewPr>
      <p:cViewPr varScale="1">
        <p:scale>
          <a:sx n="79" d="100"/>
          <a:sy n="79" d="100"/>
        </p:scale>
        <p:origin x="108" y="9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90"/>
    </p:cViewPr>
  </p:sorterViewPr>
  <p:notesViewPr>
    <p:cSldViewPr>
      <p:cViewPr varScale="1">
        <p:scale>
          <a:sx n="88" d="100"/>
          <a:sy n="88" d="100"/>
        </p:scale>
        <p:origin x="-310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e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4" Type="http://schemas.openxmlformats.org/officeDocument/2006/relationships/image" Target="../media/image6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4" Type="http://schemas.openxmlformats.org/officeDocument/2006/relationships/image" Target="../media/image7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4" Type="http://schemas.openxmlformats.org/officeDocument/2006/relationships/image" Target="../media/image75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4" Type="http://schemas.openxmlformats.org/officeDocument/2006/relationships/image" Target="../media/image7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e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e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emf"/><Relationship Id="rId1" Type="http://schemas.openxmlformats.org/officeDocument/2006/relationships/image" Target="../media/image118.wmf"/><Relationship Id="rId6" Type="http://schemas.openxmlformats.org/officeDocument/2006/relationships/image" Target="../media/image123.e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4" Type="http://schemas.openxmlformats.org/officeDocument/2006/relationships/image" Target="../media/image151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emf"/><Relationship Id="rId3" Type="http://schemas.openxmlformats.org/officeDocument/2006/relationships/image" Target="../media/image165.wmf"/><Relationship Id="rId7" Type="http://schemas.openxmlformats.org/officeDocument/2006/relationships/image" Target="../media/image169.wmf"/><Relationship Id="rId2" Type="http://schemas.openxmlformats.org/officeDocument/2006/relationships/image" Target="../media/image1.jpeg"/><Relationship Id="rId1" Type="http://schemas.openxmlformats.org/officeDocument/2006/relationships/image" Target="../media/image164.wmf"/><Relationship Id="rId6" Type="http://schemas.openxmlformats.org/officeDocument/2006/relationships/image" Target="../media/image168.jpeg"/><Relationship Id="rId5" Type="http://schemas.openxmlformats.org/officeDocument/2006/relationships/image" Target="../media/image167.wmf"/><Relationship Id="rId10" Type="http://schemas.openxmlformats.org/officeDocument/2006/relationships/image" Target="../media/image171.wmf"/><Relationship Id="rId4" Type="http://schemas.openxmlformats.org/officeDocument/2006/relationships/image" Target="../media/image166.wmf"/><Relationship Id="rId9" Type="http://schemas.openxmlformats.org/officeDocument/2006/relationships/image" Target="../media/image37.jpeg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2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wmf"/><Relationship Id="rId1" Type="http://schemas.openxmlformats.org/officeDocument/2006/relationships/image" Target="../media/image173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wmf"/><Relationship Id="rId2" Type="http://schemas.openxmlformats.org/officeDocument/2006/relationships/image" Target="../media/image181.wmf"/><Relationship Id="rId1" Type="http://schemas.openxmlformats.org/officeDocument/2006/relationships/image" Target="../media/image180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wmf"/><Relationship Id="rId1" Type="http://schemas.openxmlformats.org/officeDocument/2006/relationships/image" Target="../media/image183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4" Type="http://schemas.openxmlformats.org/officeDocument/2006/relationships/image" Target="../media/image188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Relationship Id="rId4" Type="http://schemas.openxmlformats.org/officeDocument/2006/relationships/image" Target="../media/image192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4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wmf"/><Relationship Id="rId7" Type="http://schemas.openxmlformats.org/officeDocument/2006/relationships/image" Target="../media/image211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Relationship Id="rId6" Type="http://schemas.openxmlformats.org/officeDocument/2006/relationships/image" Target="../media/image210.wmf"/><Relationship Id="rId5" Type="http://schemas.openxmlformats.org/officeDocument/2006/relationships/image" Target="../media/image209.wmf"/><Relationship Id="rId4" Type="http://schemas.openxmlformats.org/officeDocument/2006/relationships/image" Target="../media/image208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" Type="http://schemas.openxmlformats.org/officeDocument/2006/relationships/image" Target="../media/image212.wmf"/><Relationship Id="rId4" Type="http://schemas.openxmlformats.org/officeDocument/2006/relationships/image" Target="../media/image215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Relationship Id="rId5" Type="http://schemas.openxmlformats.org/officeDocument/2006/relationships/image" Target="../media/image220.wmf"/><Relationship Id="rId4" Type="http://schemas.openxmlformats.org/officeDocument/2006/relationships/image" Target="../media/image219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wmf"/><Relationship Id="rId1" Type="http://schemas.openxmlformats.org/officeDocument/2006/relationships/image" Target="../media/image221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3" Type="http://schemas.openxmlformats.org/officeDocument/2006/relationships/image" Target="../media/image228.wmf"/><Relationship Id="rId7" Type="http://schemas.openxmlformats.org/officeDocument/2006/relationships/image" Target="../media/image232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6" Type="http://schemas.openxmlformats.org/officeDocument/2006/relationships/image" Target="../media/image231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Relationship Id="rId9" Type="http://schemas.openxmlformats.org/officeDocument/2006/relationships/image" Target="../media/image234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Relationship Id="rId6" Type="http://schemas.openxmlformats.org/officeDocument/2006/relationships/image" Target="../media/image240.wmf"/><Relationship Id="rId5" Type="http://schemas.openxmlformats.org/officeDocument/2006/relationships/image" Target="../media/image239.wmf"/><Relationship Id="rId4" Type="http://schemas.openxmlformats.org/officeDocument/2006/relationships/image" Target="../media/image238.w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Relationship Id="rId5" Type="http://schemas.openxmlformats.org/officeDocument/2006/relationships/image" Target="../media/image245.wmf"/><Relationship Id="rId4" Type="http://schemas.openxmlformats.org/officeDocument/2006/relationships/image" Target="../media/image244.w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wmf"/><Relationship Id="rId2" Type="http://schemas.openxmlformats.org/officeDocument/2006/relationships/image" Target="../media/image247.emf"/><Relationship Id="rId1" Type="http://schemas.openxmlformats.org/officeDocument/2006/relationships/image" Target="../media/image246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" Type="http://schemas.openxmlformats.org/officeDocument/2006/relationships/image" Target="../media/image249.emf"/><Relationship Id="rId4" Type="http://schemas.openxmlformats.org/officeDocument/2006/relationships/image" Target="../media/image252.w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3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wmf"/><Relationship Id="rId2" Type="http://schemas.openxmlformats.org/officeDocument/2006/relationships/image" Target="../media/image255.wmf"/><Relationship Id="rId1" Type="http://schemas.openxmlformats.org/officeDocument/2006/relationships/image" Target="../media/image254.wmf"/><Relationship Id="rId6" Type="http://schemas.openxmlformats.org/officeDocument/2006/relationships/image" Target="../media/image259.wmf"/><Relationship Id="rId5" Type="http://schemas.openxmlformats.org/officeDocument/2006/relationships/image" Target="../media/image258.wmf"/><Relationship Id="rId4" Type="http://schemas.openxmlformats.org/officeDocument/2006/relationships/image" Target="../media/image257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/Relationships>
</file>

<file path=ppt/drawings/_rels/vmlDrawing7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wmf"/><Relationship Id="rId2" Type="http://schemas.openxmlformats.org/officeDocument/2006/relationships/image" Target="../media/image264.wmf"/><Relationship Id="rId1" Type="http://schemas.openxmlformats.org/officeDocument/2006/relationships/image" Target="../media/image263.wmf"/><Relationship Id="rId6" Type="http://schemas.openxmlformats.org/officeDocument/2006/relationships/image" Target="../media/image268.wmf"/><Relationship Id="rId5" Type="http://schemas.openxmlformats.org/officeDocument/2006/relationships/image" Target="../media/image267.wmf"/><Relationship Id="rId4" Type="http://schemas.openxmlformats.org/officeDocument/2006/relationships/image" Target="../media/image266.w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wmf"/><Relationship Id="rId3" Type="http://schemas.openxmlformats.org/officeDocument/2006/relationships/image" Target="../media/image271.wmf"/><Relationship Id="rId7" Type="http://schemas.openxmlformats.org/officeDocument/2006/relationships/image" Target="../media/image275.wmf"/><Relationship Id="rId2" Type="http://schemas.openxmlformats.org/officeDocument/2006/relationships/image" Target="../media/image270.wmf"/><Relationship Id="rId1" Type="http://schemas.openxmlformats.org/officeDocument/2006/relationships/image" Target="../media/image269.wmf"/><Relationship Id="rId6" Type="http://schemas.openxmlformats.org/officeDocument/2006/relationships/image" Target="../media/image274.wmf"/><Relationship Id="rId5" Type="http://schemas.openxmlformats.org/officeDocument/2006/relationships/image" Target="../media/image273.wmf"/><Relationship Id="rId4" Type="http://schemas.openxmlformats.org/officeDocument/2006/relationships/image" Target="../media/image272.w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emf"/><Relationship Id="rId2" Type="http://schemas.openxmlformats.org/officeDocument/2006/relationships/image" Target="../media/image278.emf"/><Relationship Id="rId1" Type="http://schemas.openxmlformats.org/officeDocument/2006/relationships/image" Target="../media/image277.w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wmf"/><Relationship Id="rId2" Type="http://schemas.openxmlformats.org/officeDocument/2006/relationships/image" Target="../media/image281.wmf"/><Relationship Id="rId1" Type="http://schemas.openxmlformats.org/officeDocument/2006/relationships/image" Target="../media/image280.wmf"/><Relationship Id="rId4" Type="http://schemas.openxmlformats.org/officeDocument/2006/relationships/image" Target="../media/image283.w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3" Type="http://schemas.openxmlformats.org/officeDocument/2006/relationships/image" Target="../media/image286.wmf"/><Relationship Id="rId7" Type="http://schemas.openxmlformats.org/officeDocument/2006/relationships/image" Target="../media/image290.wmf"/><Relationship Id="rId2" Type="http://schemas.openxmlformats.org/officeDocument/2006/relationships/image" Target="../media/image285.wmf"/><Relationship Id="rId1" Type="http://schemas.openxmlformats.org/officeDocument/2006/relationships/image" Target="../media/image284.wmf"/><Relationship Id="rId6" Type="http://schemas.openxmlformats.org/officeDocument/2006/relationships/image" Target="../media/image289.wmf"/><Relationship Id="rId5" Type="http://schemas.openxmlformats.org/officeDocument/2006/relationships/image" Target="../media/image288.wmf"/><Relationship Id="rId4" Type="http://schemas.openxmlformats.org/officeDocument/2006/relationships/image" Target="../media/image287.wmf"/></Relationships>
</file>

<file path=ppt/drawings/_rels/vmlDrawing7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3.emf"/><Relationship Id="rId1" Type="http://schemas.openxmlformats.org/officeDocument/2006/relationships/image" Target="../media/image292.e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wmf"/><Relationship Id="rId2" Type="http://schemas.openxmlformats.org/officeDocument/2006/relationships/image" Target="../media/image295.wmf"/><Relationship Id="rId1" Type="http://schemas.openxmlformats.org/officeDocument/2006/relationships/image" Target="../media/image294.wmf"/></Relationships>
</file>

<file path=ppt/drawings/_rels/vmlDrawing7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wmf"/><Relationship Id="rId3" Type="http://schemas.openxmlformats.org/officeDocument/2006/relationships/image" Target="../media/image299.wmf"/><Relationship Id="rId7" Type="http://schemas.openxmlformats.org/officeDocument/2006/relationships/image" Target="../media/image303.wmf"/><Relationship Id="rId2" Type="http://schemas.openxmlformats.org/officeDocument/2006/relationships/image" Target="../media/image298.wmf"/><Relationship Id="rId1" Type="http://schemas.openxmlformats.org/officeDocument/2006/relationships/image" Target="../media/image297.wmf"/><Relationship Id="rId6" Type="http://schemas.openxmlformats.org/officeDocument/2006/relationships/image" Target="../media/image302.wmf"/><Relationship Id="rId5" Type="http://schemas.openxmlformats.org/officeDocument/2006/relationships/image" Target="../media/image301.wmf"/><Relationship Id="rId10" Type="http://schemas.openxmlformats.org/officeDocument/2006/relationships/image" Target="../media/image306.wmf"/><Relationship Id="rId4" Type="http://schemas.openxmlformats.org/officeDocument/2006/relationships/image" Target="../media/image300.wmf"/><Relationship Id="rId9" Type="http://schemas.openxmlformats.org/officeDocument/2006/relationships/image" Target="../media/image305.w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wmf"/><Relationship Id="rId2" Type="http://schemas.openxmlformats.org/officeDocument/2006/relationships/image" Target="../media/image308.wmf"/><Relationship Id="rId1" Type="http://schemas.openxmlformats.org/officeDocument/2006/relationships/image" Target="../media/image307.wmf"/><Relationship Id="rId6" Type="http://schemas.openxmlformats.org/officeDocument/2006/relationships/image" Target="../media/image312.wmf"/><Relationship Id="rId5" Type="http://schemas.openxmlformats.org/officeDocument/2006/relationships/image" Target="../media/image311.wmf"/><Relationship Id="rId4" Type="http://schemas.openxmlformats.org/officeDocument/2006/relationships/image" Target="../media/image310.wmf"/></Relationships>
</file>

<file path=ppt/drawings/_rels/vmlDrawing7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wmf"/><Relationship Id="rId2" Type="http://schemas.openxmlformats.org/officeDocument/2006/relationships/image" Target="../media/image314.wmf"/><Relationship Id="rId1" Type="http://schemas.openxmlformats.org/officeDocument/2006/relationships/image" Target="../media/image313.wmf"/><Relationship Id="rId5" Type="http://schemas.openxmlformats.org/officeDocument/2006/relationships/image" Target="../media/image317.wmf"/><Relationship Id="rId4" Type="http://schemas.openxmlformats.org/officeDocument/2006/relationships/image" Target="../media/image3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38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38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101FCDAB-E8C5-4F01-AA44-98B2483BA5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49458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8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5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35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5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3E31D8F6-27A2-48A7-81A9-89AC2964A6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92379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31D8F6-27A2-48A7-81A9-89AC2964A6D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9489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31D8F6-27A2-48A7-81A9-89AC2964A6D7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742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fld id="{56496F44-B942-41F5-AEF7-80E2CC2AA899}" type="slidenum">
              <a:rPr lang="en-US" altLang="zh-CN" sz="1200" b="0">
                <a:solidFill>
                  <a:schemeClr val="tx1"/>
                </a:solidFill>
                <a:ea typeface="宋体" charset="-122"/>
              </a:rPr>
              <a:pPr eaLnBrk="1" hangingPunct="1"/>
              <a:t>23</a:t>
            </a:fld>
            <a:endParaRPr lang="en-US" altLang="zh-CN" sz="1200" b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4213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31D8F6-27A2-48A7-81A9-89AC2964A6D7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9861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005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69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985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8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69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3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81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9033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5691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40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414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92426-0C17-40DA-BE6C-46DB3756439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04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6A24B4-3BF1-41DB-A50E-63DFCA7F53C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005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CF0862-DC3D-46EF-AC96-7A0F644C394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69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5A2A8F-0406-436A-B288-84FDA5869BD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549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F76DDC-B03C-4961-8569-6BC0831200D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3273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59C473-55DB-49BB-96F1-84D9CE35268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8028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08D90A-EB22-4702-A250-3536D3C4E7C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683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ADD27-7F4E-4BAB-B071-EE8DA2484A1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4663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4CC5A9-8671-4DED-A484-DCDF2458831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52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BCA86E-EBC8-4914-81F4-B51F31BAA9C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5957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72A76A-5589-4920-ADD2-1DBAB81EB13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0"/>
            </a:lvl1pPr>
          </a:lstStyle>
          <a:p>
            <a:endParaRPr kumimoji="1" lang="en-US" altLang="zh-CN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0"/>
            </a:lvl1pPr>
          </a:lstStyle>
          <a:p>
            <a:endParaRPr kumimoji="1" lang="en-US" altLang="zh-CN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 b="0"/>
            </a:lvl1pPr>
          </a:lstStyle>
          <a:p>
            <a:fld id="{6A54088F-A737-4DB2-B432-3778C2F6A442}" type="slidenum">
              <a:rPr kumimoji="1" lang="en-US" altLang="zh-CN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pPr/>
              <a:t>‹#›</a:t>
            </a:fld>
            <a:endParaRPr kumimoji="1" lang="en-US" altLang="zh-CN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611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slide" Target="slide3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png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6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9.png"/><Relationship Id="rId4" Type="http://schemas.openxmlformats.org/officeDocument/2006/relationships/image" Target="../media/image34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7" Type="http://schemas.openxmlformats.org/officeDocument/2006/relationships/image" Target="../media/image37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9.png"/><Relationship Id="rId4" Type="http://schemas.openxmlformats.org/officeDocument/2006/relationships/image" Target="../media/image4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9.wmf"/><Relationship Id="rId11" Type="http://schemas.openxmlformats.org/officeDocument/2006/relationships/image" Target="../media/image9.png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6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6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6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6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6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3.wmf"/><Relationship Id="rId11" Type="http://schemas.openxmlformats.org/officeDocument/2006/relationships/image" Target="../media/image9.png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7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0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92.bin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91.e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9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6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9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101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06.bin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0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05.e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9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13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15.wmf"/><Relationship Id="rId17" Type="http://schemas.openxmlformats.org/officeDocument/2006/relationships/image" Target="../media/image37.jpe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7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16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0.bin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19.e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23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24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9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31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3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0" Type="http://schemas.openxmlformats.org/officeDocument/2006/relationships/image" Target="../media/image136.wmf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33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138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43.bin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45.wmf"/><Relationship Id="rId17" Type="http://schemas.openxmlformats.org/officeDocument/2006/relationships/image" Target="../media/image14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4.bin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5" Type="http://schemas.openxmlformats.org/officeDocument/2006/relationships/image" Target="../media/image9.png"/><Relationship Id="rId10" Type="http://schemas.openxmlformats.org/officeDocument/2006/relationships/image" Target="../media/image144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46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3" Type="http://schemas.openxmlformats.org/officeDocument/2006/relationships/oleObject" Target="../embeddings/oleObject145.bin"/><Relationship Id="rId7" Type="http://schemas.openxmlformats.org/officeDocument/2006/relationships/image" Target="../media/image37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49.wmf"/><Relationship Id="rId11" Type="http://schemas.openxmlformats.org/officeDocument/2006/relationships/image" Target="../media/image151.wmf"/><Relationship Id="rId5" Type="http://schemas.openxmlformats.org/officeDocument/2006/relationships/oleObject" Target="../embeddings/oleObject146.bin"/><Relationship Id="rId10" Type="http://schemas.openxmlformats.org/officeDocument/2006/relationships/oleObject" Target="../embeddings/oleObject148.bin"/><Relationship Id="rId4" Type="http://schemas.openxmlformats.org/officeDocument/2006/relationships/image" Target="../media/image148.wmf"/><Relationship Id="rId9" Type="http://schemas.openxmlformats.org/officeDocument/2006/relationships/image" Target="../media/image150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52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55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60.bin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6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0" Type="http://schemas.openxmlformats.org/officeDocument/2006/relationships/image" Target="../media/image161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63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169.wmf"/><Relationship Id="rId18" Type="http://schemas.openxmlformats.org/officeDocument/2006/relationships/image" Target="../media/image171.wmf"/><Relationship Id="rId3" Type="http://schemas.openxmlformats.org/officeDocument/2006/relationships/oleObject" Target="../embeddings/oleObject161.bin"/><Relationship Id="rId7" Type="http://schemas.openxmlformats.org/officeDocument/2006/relationships/image" Target="../media/image1.jpeg"/><Relationship Id="rId12" Type="http://schemas.openxmlformats.org/officeDocument/2006/relationships/oleObject" Target="../embeddings/oleObject165.bin"/><Relationship Id="rId17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0.emf"/><Relationship Id="rId20" Type="http://schemas.openxmlformats.org/officeDocument/2006/relationships/image" Target="../media/image9.png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65.wmf"/><Relationship Id="rId11" Type="http://schemas.openxmlformats.org/officeDocument/2006/relationships/image" Target="../media/image167.wmf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6.bin"/><Relationship Id="rId10" Type="http://schemas.openxmlformats.org/officeDocument/2006/relationships/oleObject" Target="../embeddings/oleObject164.bin"/><Relationship Id="rId19" Type="http://schemas.openxmlformats.org/officeDocument/2006/relationships/image" Target="../media/image37.jpeg"/><Relationship Id="rId4" Type="http://schemas.openxmlformats.org/officeDocument/2006/relationships/image" Target="../media/image164.wmf"/><Relationship Id="rId9" Type="http://schemas.openxmlformats.org/officeDocument/2006/relationships/image" Target="../media/image166.wmf"/><Relationship Id="rId14" Type="http://schemas.openxmlformats.org/officeDocument/2006/relationships/image" Target="../media/image168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172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73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76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0" Type="http://schemas.openxmlformats.org/officeDocument/2006/relationships/image" Target="../media/image178.wmf"/><Relationship Id="rId4" Type="http://schemas.openxmlformats.org/officeDocument/2006/relationships/image" Target="../media/image175.wmf"/><Relationship Id="rId9" Type="http://schemas.openxmlformats.org/officeDocument/2006/relationships/oleObject" Target="../embeddings/oleObject174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81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80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180.bin"/><Relationship Id="rId4" Type="http://schemas.openxmlformats.org/officeDocument/2006/relationships/image" Target="../media/image183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182.bin"/><Relationship Id="rId10" Type="http://schemas.openxmlformats.org/officeDocument/2006/relationships/image" Target="../media/image188.wmf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84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186.bin"/><Relationship Id="rId10" Type="http://schemas.openxmlformats.org/officeDocument/2006/relationships/image" Target="../media/image192.wmf"/><Relationship Id="rId4" Type="http://schemas.openxmlformats.org/officeDocument/2006/relationships/image" Target="../media/image189.wmf"/><Relationship Id="rId9" Type="http://schemas.openxmlformats.org/officeDocument/2006/relationships/oleObject" Target="../embeddings/oleObject188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image" Target="../media/image9.png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9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196.wmf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192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98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202.wmf"/><Relationship Id="rId5" Type="http://schemas.openxmlformats.org/officeDocument/2006/relationships/oleObject" Target="../embeddings/oleObject198.bin"/><Relationship Id="rId4" Type="http://schemas.openxmlformats.org/officeDocument/2006/relationships/image" Target="../media/image201.wmf"/><Relationship Id="rId9" Type="http://schemas.openxmlformats.org/officeDocument/2006/relationships/image" Target="../media/image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4" Type="http://schemas.openxmlformats.org/officeDocument/2006/relationships/image" Target="../media/image204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oleObject" Target="../embeddings/oleObject206.bin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20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1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206.w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10" Type="http://schemas.openxmlformats.org/officeDocument/2006/relationships/image" Target="../media/image208.wmf"/><Relationship Id="rId4" Type="http://schemas.openxmlformats.org/officeDocument/2006/relationships/image" Target="../media/image205.w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210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213.wmf"/><Relationship Id="rId5" Type="http://schemas.openxmlformats.org/officeDocument/2006/relationships/oleObject" Target="../embeddings/oleObject209.bin"/><Relationship Id="rId10" Type="http://schemas.openxmlformats.org/officeDocument/2006/relationships/image" Target="../media/image215.wmf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211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2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0" Type="http://schemas.openxmlformats.org/officeDocument/2006/relationships/image" Target="../media/image219.wmf"/><Relationship Id="rId4" Type="http://schemas.openxmlformats.org/officeDocument/2006/relationships/image" Target="../media/image216.wmf"/><Relationship Id="rId9" Type="http://schemas.openxmlformats.org/officeDocument/2006/relationships/oleObject" Target="../embeddings/oleObject215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222.wmf"/><Relationship Id="rId5" Type="http://schemas.openxmlformats.org/officeDocument/2006/relationships/oleObject" Target="../embeddings/oleObject218.bin"/><Relationship Id="rId4" Type="http://schemas.openxmlformats.org/officeDocument/2006/relationships/image" Target="../media/image221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3" Type="http://schemas.openxmlformats.org/officeDocument/2006/relationships/oleObject" Target="../embeddings/oleObject219.bin"/><Relationship Id="rId7" Type="http://schemas.openxmlformats.org/officeDocument/2006/relationships/oleObject" Target="../embeddings/oleObject2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224.wmf"/><Relationship Id="rId5" Type="http://schemas.openxmlformats.org/officeDocument/2006/relationships/oleObject" Target="../embeddings/oleObject220.bin"/><Relationship Id="rId4" Type="http://schemas.openxmlformats.org/officeDocument/2006/relationships/image" Target="../media/image223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13" Type="http://schemas.openxmlformats.org/officeDocument/2006/relationships/oleObject" Target="../embeddings/oleObject227.bin"/><Relationship Id="rId18" Type="http://schemas.openxmlformats.org/officeDocument/2006/relationships/image" Target="../media/image233.wmf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30.wmf"/><Relationship Id="rId17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2.wmf"/><Relationship Id="rId20" Type="http://schemas.openxmlformats.org/officeDocument/2006/relationships/image" Target="../media/image234.wmf"/><Relationship Id="rId1" Type="http://schemas.openxmlformats.org/officeDocument/2006/relationships/vmlDrawing" Target="../drawings/vmlDrawing62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5" Type="http://schemas.openxmlformats.org/officeDocument/2006/relationships/oleObject" Target="../embeddings/oleObject228.bin"/><Relationship Id="rId10" Type="http://schemas.openxmlformats.org/officeDocument/2006/relationships/image" Target="../media/image229.wmf"/><Relationship Id="rId19" Type="http://schemas.openxmlformats.org/officeDocument/2006/relationships/oleObject" Target="../embeddings/oleObject230.bin"/><Relationship Id="rId4" Type="http://schemas.openxmlformats.org/officeDocument/2006/relationships/image" Target="../media/image226.w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31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13" Type="http://schemas.openxmlformats.org/officeDocument/2006/relationships/oleObject" Target="../embeddings/oleObject236.bin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236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0" Type="http://schemas.openxmlformats.org/officeDocument/2006/relationships/image" Target="../media/image238.wmf"/><Relationship Id="rId4" Type="http://schemas.openxmlformats.org/officeDocument/2006/relationships/image" Target="../media/image235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40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13" Type="http://schemas.openxmlformats.org/officeDocument/2006/relationships/image" Target="../media/image245.wmf"/><Relationship Id="rId3" Type="http://schemas.openxmlformats.org/officeDocument/2006/relationships/oleObject" Target="../embeddings/oleObject237.bin"/><Relationship Id="rId7" Type="http://schemas.openxmlformats.org/officeDocument/2006/relationships/image" Target="../media/image37.jpeg"/><Relationship Id="rId12" Type="http://schemas.openxmlformats.org/officeDocument/2006/relationships/oleObject" Target="../embeddings/oleObject2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242.wmf"/><Relationship Id="rId11" Type="http://schemas.openxmlformats.org/officeDocument/2006/relationships/image" Target="../media/image244.wmf"/><Relationship Id="rId5" Type="http://schemas.openxmlformats.org/officeDocument/2006/relationships/oleObject" Target="../embeddings/oleObject238.bin"/><Relationship Id="rId10" Type="http://schemas.openxmlformats.org/officeDocument/2006/relationships/oleObject" Target="../embeddings/oleObject240.bin"/><Relationship Id="rId4" Type="http://schemas.openxmlformats.org/officeDocument/2006/relationships/image" Target="../media/image241.wmf"/><Relationship Id="rId9" Type="http://schemas.openxmlformats.org/officeDocument/2006/relationships/image" Target="../media/image243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247.emf"/><Relationship Id="rId5" Type="http://schemas.openxmlformats.org/officeDocument/2006/relationships/oleObject" Target="../embeddings/oleObject243.bin"/><Relationship Id="rId4" Type="http://schemas.openxmlformats.org/officeDocument/2006/relationships/image" Target="../media/image246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250.wmf"/><Relationship Id="rId11" Type="http://schemas.openxmlformats.org/officeDocument/2006/relationships/image" Target="../media/image37.jpeg"/><Relationship Id="rId5" Type="http://schemas.openxmlformats.org/officeDocument/2006/relationships/oleObject" Target="../embeddings/oleObject246.bin"/><Relationship Id="rId10" Type="http://schemas.openxmlformats.org/officeDocument/2006/relationships/image" Target="../media/image252.wmf"/><Relationship Id="rId4" Type="http://schemas.openxmlformats.org/officeDocument/2006/relationships/image" Target="../media/image249.emf"/><Relationship Id="rId9" Type="http://schemas.openxmlformats.org/officeDocument/2006/relationships/oleObject" Target="../embeddings/oleObject248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7.vml"/><Relationship Id="rId5" Type="http://schemas.openxmlformats.org/officeDocument/2006/relationships/image" Target="../media/image9.png"/><Relationship Id="rId4" Type="http://schemas.openxmlformats.org/officeDocument/2006/relationships/image" Target="../media/image253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image" Target="../media/image258.wmf"/><Relationship Id="rId3" Type="http://schemas.openxmlformats.org/officeDocument/2006/relationships/oleObject" Target="../embeddings/oleObject250.bin"/><Relationship Id="rId7" Type="http://schemas.openxmlformats.org/officeDocument/2006/relationships/oleObject" Target="../embeddings/oleObject252.bin"/><Relationship Id="rId12" Type="http://schemas.openxmlformats.org/officeDocument/2006/relationships/oleObject" Target="../embeddings/oleObject2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255.wmf"/><Relationship Id="rId11" Type="http://schemas.openxmlformats.org/officeDocument/2006/relationships/image" Target="../media/image257.wmf"/><Relationship Id="rId5" Type="http://schemas.openxmlformats.org/officeDocument/2006/relationships/oleObject" Target="../embeddings/oleObject251.bin"/><Relationship Id="rId15" Type="http://schemas.openxmlformats.org/officeDocument/2006/relationships/image" Target="../media/image259.wmf"/><Relationship Id="rId10" Type="http://schemas.openxmlformats.org/officeDocument/2006/relationships/oleObject" Target="../embeddings/oleObject253.bin"/><Relationship Id="rId4" Type="http://schemas.openxmlformats.org/officeDocument/2006/relationships/image" Target="../media/image254.wmf"/><Relationship Id="rId9" Type="http://schemas.openxmlformats.org/officeDocument/2006/relationships/image" Target="../media/image9.png"/><Relationship Id="rId14" Type="http://schemas.openxmlformats.org/officeDocument/2006/relationships/oleObject" Target="../embeddings/oleObject255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261.wmf"/><Relationship Id="rId5" Type="http://schemas.openxmlformats.org/officeDocument/2006/relationships/oleObject" Target="../embeddings/oleObject257.bin"/><Relationship Id="rId4" Type="http://schemas.openxmlformats.org/officeDocument/2006/relationships/image" Target="../media/image260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13" Type="http://schemas.openxmlformats.org/officeDocument/2006/relationships/image" Target="../media/image267.wmf"/><Relationship Id="rId3" Type="http://schemas.openxmlformats.org/officeDocument/2006/relationships/oleObject" Target="../embeddings/oleObject259.bin"/><Relationship Id="rId7" Type="http://schemas.openxmlformats.org/officeDocument/2006/relationships/oleObject" Target="../embeddings/oleObject261.bin"/><Relationship Id="rId12" Type="http://schemas.openxmlformats.org/officeDocument/2006/relationships/oleObject" Target="../embeddings/oleObject2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264.wmf"/><Relationship Id="rId11" Type="http://schemas.openxmlformats.org/officeDocument/2006/relationships/image" Target="../media/image266.wmf"/><Relationship Id="rId5" Type="http://schemas.openxmlformats.org/officeDocument/2006/relationships/oleObject" Target="../embeddings/oleObject260.bin"/><Relationship Id="rId15" Type="http://schemas.openxmlformats.org/officeDocument/2006/relationships/image" Target="../media/image268.wmf"/><Relationship Id="rId10" Type="http://schemas.openxmlformats.org/officeDocument/2006/relationships/oleObject" Target="../embeddings/oleObject262.bin"/><Relationship Id="rId4" Type="http://schemas.openxmlformats.org/officeDocument/2006/relationships/image" Target="../media/image263.wmf"/><Relationship Id="rId9" Type="http://schemas.openxmlformats.org/officeDocument/2006/relationships/image" Target="../media/image9.png"/><Relationship Id="rId14" Type="http://schemas.openxmlformats.org/officeDocument/2006/relationships/oleObject" Target="../embeddings/oleObject264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wmf"/><Relationship Id="rId13" Type="http://schemas.openxmlformats.org/officeDocument/2006/relationships/oleObject" Target="../embeddings/oleObject270.bin"/><Relationship Id="rId18" Type="http://schemas.openxmlformats.org/officeDocument/2006/relationships/image" Target="../media/image276.wmf"/><Relationship Id="rId3" Type="http://schemas.openxmlformats.org/officeDocument/2006/relationships/oleObject" Target="../embeddings/oleObject265.bin"/><Relationship Id="rId7" Type="http://schemas.openxmlformats.org/officeDocument/2006/relationships/oleObject" Target="../embeddings/oleObject267.bin"/><Relationship Id="rId12" Type="http://schemas.openxmlformats.org/officeDocument/2006/relationships/image" Target="../media/image273.wmf"/><Relationship Id="rId17" Type="http://schemas.openxmlformats.org/officeDocument/2006/relationships/oleObject" Target="../embeddings/oleObject2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5.wmf"/><Relationship Id="rId1" Type="http://schemas.openxmlformats.org/officeDocument/2006/relationships/vmlDrawing" Target="../drawings/vmlDrawing71.vml"/><Relationship Id="rId6" Type="http://schemas.openxmlformats.org/officeDocument/2006/relationships/image" Target="../media/image270.wmf"/><Relationship Id="rId11" Type="http://schemas.openxmlformats.org/officeDocument/2006/relationships/oleObject" Target="../embeddings/oleObject269.bin"/><Relationship Id="rId5" Type="http://schemas.openxmlformats.org/officeDocument/2006/relationships/oleObject" Target="../embeddings/oleObject266.bin"/><Relationship Id="rId15" Type="http://schemas.openxmlformats.org/officeDocument/2006/relationships/oleObject" Target="../embeddings/oleObject271.bin"/><Relationship Id="rId10" Type="http://schemas.openxmlformats.org/officeDocument/2006/relationships/image" Target="../media/image272.wmf"/><Relationship Id="rId4" Type="http://schemas.openxmlformats.org/officeDocument/2006/relationships/image" Target="../media/image269.wmf"/><Relationship Id="rId9" Type="http://schemas.openxmlformats.org/officeDocument/2006/relationships/oleObject" Target="../embeddings/oleObject268.bin"/><Relationship Id="rId14" Type="http://schemas.openxmlformats.org/officeDocument/2006/relationships/image" Target="../media/image274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emf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278.emf"/><Relationship Id="rId5" Type="http://schemas.openxmlformats.org/officeDocument/2006/relationships/oleObject" Target="../embeddings/oleObject274.bin"/><Relationship Id="rId4" Type="http://schemas.openxmlformats.org/officeDocument/2006/relationships/image" Target="../media/image277.wmf"/><Relationship Id="rId9" Type="http://schemas.openxmlformats.org/officeDocument/2006/relationships/image" Target="../media/image37.jpe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3" Type="http://schemas.openxmlformats.org/officeDocument/2006/relationships/oleObject" Target="../embeddings/oleObject276.bin"/><Relationship Id="rId7" Type="http://schemas.openxmlformats.org/officeDocument/2006/relationships/oleObject" Target="../embeddings/oleObject2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281.wmf"/><Relationship Id="rId5" Type="http://schemas.openxmlformats.org/officeDocument/2006/relationships/oleObject" Target="../embeddings/oleObject277.bin"/><Relationship Id="rId10" Type="http://schemas.openxmlformats.org/officeDocument/2006/relationships/image" Target="../media/image283.wmf"/><Relationship Id="rId4" Type="http://schemas.openxmlformats.org/officeDocument/2006/relationships/image" Target="../media/image280.wmf"/><Relationship Id="rId9" Type="http://schemas.openxmlformats.org/officeDocument/2006/relationships/oleObject" Target="../embeddings/oleObject279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13" Type="http://schemas.openxmlformats.org/officeDocument/2006/relationships/oleObject" Target="../embeddings/oleObject285.bin"/><Relationship Id="rId18" Type="http://schemas.openxmlformats.org/officeDocument/2006/relationships/image" Target="../media/image291.wmf"/><Relationship Id="rId3" Type="http://schemas.openxmlformats.org/officeDocument/2006/relationships/oleObject" Target="../embeddings/oleObject280.bin"/><Relationship Id="rId7" Type="http://schemas.openxmlformats.org/officeDocument/2006/relationships/oleObject" Target="../embeddings/oleObject282.bin"/><Relationship Id="rId12" Type="http://schemas.openxmlformats.org/officeDocument/2006/relationships/image" Target="../media/image288.wmf"/><Relationship Id="rId17" Type="http://schemas.openxmlformats.org/officeDocument/2006/relationships/oleObject" Target="../embeddings/oleObject2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0.wmf"/><Relationship Id="rId1" Type="http://schemas.openxmlformats.org/officeDocument/2006/relationships/vmlDrawing" Target="../drawings/vmlDrawing74.vml"/><Relationship Id="rId6" Type="http://schemas.openxmlformats.org/officeDocument/2006/relationships/image" Target="../media/image285.wmf"/><Relationship Id="rId11" Type="http://schemas.openxmlformats.org/officeDocument/2006/relationships/oleObject" Target="../embeddings/oleObject284.bin"/><Relationship Id="rId5" Type="http://schemas.openxmlformats.org/officeDocument/2006/relationships/oleObject" Target="../embeddings/oleObject281.bin"/><Relationship Id="rId15" Type="http://schemas.openxmlformats.org/officeDocument/2006/relationships/oleObject" Target="../embeddings/oleObject286.bin"/><Relationship Id="rId10" Type="http://schemas.openxmlformats.org/officeDocument/2006/relationships/image" Target="../media/image287.wmf"/><Relationship Id="rId4" Type="http://schemas.openxmlformats.org/officeDocument/2006/relationships/image" Target="../media/image284.wmf"/><Relationship Id="rId9" Type="http://schemas.openxmlformats.org/officeDocument/2006/relationships/oleObject" Target="../embeddings/oleObject283.bin"/><Relationship Id="rId14" Type="http://schemas.openxmlformats.org/officeDocument/2006/relationships/image" Target="../media/image289.w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293.emf"/><Relationship Id="rId5" Type="http://schemas.openxmlformats.org/officeDocument/2006/relationships/oleObject" Target="../embeddings/oleObject289.bin"/><Relationship Id="rId4" Type="http://schemas.openxmlformats.org/officeDocument/2006/relationships/image" Target="../media/image292.e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2.bin"/><Relationship Id="rId3" Type="http://schemas.openxmlformats.org/officeDocument/2006/relationships/image" Target="../media/image37.jpeg"/><Relationship Id="rId7" Type="http://schemas.openxmlformats.org/officeDocument/2006/relationships/image" Target="../media/image29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6.vml"/><Relationship Id="rId6" Type="http://schemas.openxmlformats.org/officeDocument/2006/relationships/oleObject" Target="../embeddings/oleObject291.bin"/><Relationship Id="rId5" Type="http://schemas.openxmlformats.org/officeDocument/2006/relationships/image" Target="../media/image294.wmf"/><Relationship Id="rId4" Type="http://schemas.openxmlformats.org/officeDocument/2006/relationships/oleObject" Target="../embeddings/oleObject290.bin"/><Relationship Id="rId9" Type="http://schemas.openxmlformats.org/officeDocument/2006/relationships/image" Target="../media/image296.wmf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304.wmf"/><Relationship Id="rId3" Type="http://schemas.openxmlformats.org/officeDocument/2006/relationships/oleObject" Target="../embeddings/oleObject293.bin"/><Relationship Id="rId21" Type="http://schemas.openxmlformats.org/officeDocument/2006/relationships/oleObject" Target="../embeddings/oleObject302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301.wmf"/><Relationship Id="rId17" Type="http://schemas.openxmlformats.org/officeDocument/2006/relationships/oleObject" Target="../embeddings/oleObject3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3.wmf"/><Relationship Id="rId20" Type="http://schemas.openxmlformats.org/officeDocument/2006/relationships/image" Target="../media/image305.wmf"/><Relationship Id="rId1" Type="http://schemas.openxmlformats.org/officeDocument/2006/relationships/vmlDrawing" Target="../drawings/vmlDrawing77.vml"/><Relationship Id="rId6" Type="http://schemas.openxmlformats.org/officeDocument/2006/relationships/image" Target="../media/image298.wmf"/><Relationship Id="rId11" Type="http://schemas.openxmlformats.org/officeDocument/2006/relationships/oleObject" Target="../embeddings/oleObject297.bin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10" Type="http://schemas.openxmlformats.org/officeDocument/2006/relationships/image" Target="../media/image300.wmf"/><Relationship Id="rId19" Type="http://schemas.openxmlformats.org/officeDocument/2006/relationships/oleObject" Target="../embeddings/oleObject301.bin"/><Relationship Id="rId4" Type="http://schemas.openxmlformats.org/officeDocument/2006/relationships/image" Target="../media/image297.w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302.wmf"/><Relationship Id="rId22" Type="http://schemas.openxmlformats.org/officeDocument/2006/relationships/image" Target="../media/image306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13" Type="http://schemas.openxmlformats.org/officeDocument/2006/relationships/oleObject" Target="../embeddings/oleObject308.bin"/><Relationship Id="rId3" Type="http://schemas.openxmlformats.org/officeDocument/2006/relationships/oleObject" Target="../embeddings/oleObject303.bin"/><Relationship Id="rId7" Type="http://schemas.openxmlformats.org/officeDocument/2006/relationships/oleObject" Target="../embeddings/oleObject305.bin"/><Relationship Id="rId12" Type="http://schemas.openxmlformats.org/officeDocument/2006/relationships/image" Target="../media/image3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308.wmf"/><Relationship Id="rId11" Type="http://schemas.openxmlformats.org/officeDocument/2006/relationships/oleObject" Target="../embeddings/oleObject307.bin"/><Relationship Id="rId5" Type="http://schemas.openxmlformats.org/officeDocument/2006/relationships/oleObject" Target="../embeddings/oleObject304.bin"/><Relationship Id="rId10" Type="http://schemas.openxmlformats.org/officeDocument/2006/relationships/image" Target="../media/image310.wmf"/><Relationship Id="rId4" Type="http://schemas.openxmlformats.org/officeDocument/2006/relationships/image" Target="../media/image307.wmf"/><Relationship Id="rId9" Type="http://schemas.openxmlformats.org/officeDocument/2006/relationships/oleObject" Target="../embeddings/oleObject306.bin"/><Relationship Id="rId14" Type="http://schemas.openxmlformats.org/officeDocument/2006/relationships/image" Target="../media/image312.wmf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3" Type="http://schemas.openxmlformats.org/officeDocument/2006/relationships/oleObject" Target="../embeddings/oleObject309.bin"/><Relationship Id="rId7" Type="http://schemas.openxmlformats.org/officeDocument/2006/relationships/oleObject" Target="../embeddings/oleObject311.bin"/><Relationship Id="rId12" Type="http://schemas.openxmlformats.org/officeDocument/2006/relationships/image" Target="../media/image3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314.wmf"/><Relationship Id="rId11" Type="http://schemas.openxmlformats.org/officeDocument/2006/relationships/oleObject" Target="../embeddings/oleObject313.bin"/><Relationship Id="rId5" Type="http://schemas.openxmlformats.org/officeDocument/2006/relationships/oleObject" Target="../embeddings/oleObject310.bin"/><Relationship Id="rId10" Type="http://schemas.openxmlformats.org/officeDocument/2006/relationships/image" Target="../media/image316.wmf"/><Relationship Id="rId4" Type="http://schemas.openxmlformats.org/officeDocument/2006/relationships/image" Target="../media/image313.wmf"/><Relationship Id="rId9" Type="http://schemas.openxmlformats.org/officeDocument/2006/relationships/oleObject" Target="../embeddings/oleObject3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3568" y="969963"/>
            <a:ext cx="7704856" cy="684212"/>
          </a:xfr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/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4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章 动态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电路的时域分析</a:t>
            </a:r>
          </a:p>
        </p:txBody>
      </p:sp>
      <p:sp>
        <p:nvSpPr>
          <p:cNvPr id="37913" name="Text Box 25" descr="蓝色砂纸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907705" y="2511946"/>
            <a:ext cx="5344814" cy="519112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0" hangingPunct="0"/>
            <a:r>
              <a:rPr kumimoji="1" lang="zh-CN" altLang="en-US" dirty="0" smtClean="0">
                <a:solidFill>
                  <a:srgbClr val="000000"/>
                </a:solidFill>
                <a:latin typeface="Times New Roman" pitchFamily="18" charset="0"/>
              </a:rPr>
              <a:t>一阶电路的响应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7914" name="Text Box 26" descr="蓝色砂纸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907705" y="3480579"/>
            <a:ext cx="5344814" cy="52322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0" hangingPunct="0"/>
            <a:r>
              <a:rPr kumimoji="1" lang="zh-CN" altLang="en-US" dirty="0" smtClean="0">
                <a:solidFill>
                  <a:srgbClr val="000000"/>
                </a:solidFill>
                <a:latin typeface="Times New Roman" pitchFamily="18" charset="0"/>
              </a:rPr>
              <a:t>二阶电路的响应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" name="Text Box 25" descr="蓝色砂纸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907704" y="4453320"/>
            <a:ext cx="5344815" cy="52322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0" hangingPunct="0"/>
            <a:r>
              <a:rPr kumimoji="1" lang="zh-CN" altLang="en-US" dirty="0">
                <a:solidFill>
                  <a:srgbClr val="000000"/>
                </a:solidFill>
                <a:latin typeface="Times New Roman" pitchFamily="18" charset="0"/>
              </a:rPr>
              <a:t>一阶电路和二阶电路的阶跃响应</a:t>
            </a:r>
          </a:p>
        </p:txBody>
      </p:sp>
      <p:sp>
        <p:nvSpPr>
          <p:cNvPr id="11" name="Text Box 25" descr="蓝色砂纸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907704" y="5426060"/>
            <a:ext cx="5344815" cy="52322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0" hangingPunct="0"/>
            <a:r>
              <a:rPr kumimoji="1" lang="zh-CN" altLang="en-US" dirty="0">
                <a:solidFill>
                  <a:srgbClr val="000000"/>
                </a:solidFill>
                <a:latin typeface="Times New Roman" pitchFamily="18" charset="0"/>
              </a:rPr>
              <a:t>一阶电路和二阶电路</a:t>
            </a:r>
            <a:r>
              <a:rPr kumimoji="1" lang="zh-CN" altLang="en-US" dirty="0" smtClean="0">
                <a:solidFill>
                  <a:srgbClr val="000000"/>
                </a:solidFill>
                <a:latin typeface="Times New Roman" pitchFamily="18" charset="0"/>
              </a:rPr>
              <a:t>的冲激响应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26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3779838" y="1805915"/>
            <a:ext cx="48244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换路后外加激励为零，仅由动态元件初始储能产生的电压和电流。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539750" y="3284538"/>
            <a:ext cx="43202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98000" rIns="198000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一、</a:t>
            </a:r>
            <a:r>
              <a:rPr kumimoji="1" lang="en-US" altLang="zh-CN" sz="2400" i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RC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电路的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零输入响应</a:t>
            </a:r>
            <a:endParaRPr kumimoji="1" lang="zh-CN" altLang="en-US" sz="2400" dirty="0">
              <a:solidFill>
                <a:srgbClr val="99003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80905" name="Text Box 9"/>
          <p:cNvSpPr txBox="1">
            <a:spLocks noChangeArrowheads="1"/>
          </p:cNvSpPr>
          <p:nvPr/>
        </p:nvSpPr>
        <p:spPr bwMode="auto">
          <a:xfrm>
            <a:off x="1151082" y="4362949"/>
            <a:ext cx="3149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已知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zh-CN" altLang="en-US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－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)=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20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3143"/>
              </p:ext>
            </p:extLst>
          </p:nvPr>
        </p:nvGraphicFramePr>
        <p:xfrm>
          <a:off x="1179609" y="4950056"/>
          <a:ext cx="1567655" cy="1191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" name="Equation" r:id="rId4" imgW="685800" imgH="583920" progId="Equation.DSMT4">
                  <p:embed/>
                </p:oleObj>
              </mc:Choice>
              <mc:Fallback>
                <p:oleObj name="Equation" r:id="rId4" imgW="685800" imgH="58392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609" y="4950056"/>
                        <a:ext cx="1567655" cy="11916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56" name="Text Box 60"/>
          <p:cNvSpPr txBox="1">
            <a:spLocks noChangeArrowheads="1"/>
          </p:cNvSpPr>
          <p:nvPr/>
        </p:nvSpPr>
        <p:spPr bwMode="auto">
          <a:xfrm>
            <a:off x="539750" y="1959223"/>
            <a:ext cx="2303463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零输入响应</a:t>
            </a:r>
          </a:p>
        </p:txBody>
      </p:sp>
      <p:sp>
        <p:nvSpPr>
          <p:cNvPr id="80957" name="AutoShape 61"/>
          <p:cNvSpPr>
            <a:spLocks noChangeArrowheads="1"/>
          </p:cNvSpPr>
          <p:nvPr/>
        </p:nvSpPr>
        <p:spPr bwMode="auto">
          <a:xfrm>
            <a:off x="3132138" y="2132583"/>
            <a:ext cx="576262" cy="144463"/>
          </a:xfrm>
          <a:prstGeom prst="rightArrow">
            <a:avLst>
              <a:gd name="adj1" fmla="val 50000"/>
              <a:gd name="adj2" fmla="val 99725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1007" name="Rectangle 111"/>
          <p:cNvSpPr>
            <a:spLocks noChangeArrowheads="1"/>
          </p:cNvSpPr>
          <p:nvPr/>
        </p:nvSpPr>
        <p:spPr bwMode="auto">
          <a:xfrm>
            <a:off x="179388" y="1123950"/>
            <a:ext cx="40479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4.1.1 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一阶电路的零输入响应</a:t>
            </a:r>
          </a:p>
        </p:txBody>
      </p:sp>
      <p:sp>
        <p:nvSpPr>
          <p:cNvPr id="38" name="Rectangle 56"/>
          <p:cNvSpPr>
            <a:spLocks noChangeArrowheads="1"/>
          </p:cNvSpPr>
          <p:nvPr/>
        </p:nvSpPr>
        <p:spPr bwMode="auto">
          <a:xfrm>
            <a:off x="768350" y="450384"/>
            <a:ext cx="7515225" cy="523220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/>
            <a:r>
              <a:rPr lang="en-US" altLang="zh-CN" sz="2800" dirty="0" smtClean="0">
                <a:solidFill>
                  <a:schemeClr val="tx2"/>
                </a:solidFill>
              </a:rPr>
              <a:t>4.1 </a:t>
            </a:r>
            <a:r>
              <a:rPr lang="zh-CN" altLang="en-US" sz="2800" dirty="0" smtClean="0">
                <a:solidFill>
                  <a:schemeClr val="tx2"/>
                </a:solidFill>
              </a:rPr>
              <a:t>一阶电路（</a:t>
            </a:r>
            <a:r>
              <a:rPr lang="en-US" altLang="zh-CN" sz="2800" dirty="0" smtClean="0">
                <a:solidFill>
                  <a:schemeClr val="tx2"/>
                </a:solidFill>
              </a:rPr>
              <a:t>First-order circuits</a:t>
            </a:r>
            <a:r>
              <a:rPr lang="zh-CN" altLang="en-US" sz="2800" dirty="0">
                <a:solidFill>
                  <a:schemeClr val="tx2"/>
                </a:solidFill>
              </a:rPr>
              <a:t>）的</a:t>
            </a:r>
            <a:r>
              <a:rPr lang="zh-CN" altLang="en-US" sz="2800" dirty="0" smtClean="0">
                <a:solidFill>
                  <a:schemeClr val="tx2"/>
                </a:solidFill>
              </a:rPr>
              <a:t>响应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grpSp>
        <p:nvGrpSpPr>
          <p:cNvPr id="90" name="Group 67"/>
          <p:cNvGrpSpPr>
            <a:grpSpLocks/>
          </p:cNvGrpSpPr>
          <p:nvPr/>
        </p:nvGrpSpPr>
        <p:grpSpPr bwMode="auto">
          <a:xfrm>
            <a:off x="7344330" y="4581852"/>
            <a:ext cx="917021" cy="720725"/>
            <a:chOff x="1520" y="1706"/>
            <a:chExt cx="690" cy="454"/>
          </a:xfrm>
        </p:grpSpPr>
        <p:sp>
          <p:nvSpPr>
            <p:cNvPr id="91" name="AutoShape 64"/>
            <p:cNvSpPr>
              <a:spLocks noChangeArrowheads="1"/>
            </p:cNvSpPr>
            <p:nvPr/>
          </p:nvSpPr>
          <p:spPr bwMode="auto">
            <a:xfrm>
              <a:off x="1520" y="1706"/>
              <a:ext cx="181" cy="454"/>
            </a:xfrm>
            <a:prstGeom prst="downArrow">
              <a:avLst>
                <a:gd name="adj1" fmla="val 50000"/>
                <a:gd name="adj2" fmla="val 62707"/>
              </a:avLst>
            </a:prstGeom>
            <a:solidFill>
              <a:srgbClr val="00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" name="Text Box 65"/>
            <p:cNvSpPr txBox="1">
              <a:spLocks noChangeArrowheads="1"/>
            </p:cNvSpPr>
            <p:nvPr/>
          </p:nvSpPr>
          <p:spPr bwMode="auto">
            <a:xfrm>
              <a:off x="1716" y="1796"/>
              <a:ext cx="49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 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&gt; 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211886" y="5019874"/>
            <a:ext cx="2824610" cy="1793502"/>
            <a:chOff x="6223347" y="5019874"/>
            <a:chExt cx="2824610" cy="1793502"/>
          </a:xfrm>
        </p:grpSpPr>
        <p:sp>
          <p:nvSpPr>
            <p:cNvPr id="2060" name="Line 82"/>
            <p:cNvSpPr>
              <a:spLocks noChangeShapeType="1"/>
            </p:cNvSpPr>
            <p:nvPr/>
          </p:nvSpPr>
          <p:spPr bwMode="auto">
            <a:xfrm>
              <a:off x="8533607" y="5402461"/>
              <a:ext cx="0" cy="13684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61" name="Line 83"/>
            <p:cNvSpPr>
              <a:spLocks noChangeShapeType="1"/>
            </p:cNvSpPr>
            <p:nvPr/>
          </p:nvSpPr>
          <p:spPr bwMode="auto">
            <a:xfrm>
              <a:off x="7812360" y="5546924"/>
              <a:ext cx="441325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62" name="Text Box 84"/>
            <p:cNvSpPr txBox="1">
              <a:spLocks noChangeArrowheads="1"/>
            </p:cNvSpPr>
            <p:nvPr/>
          </p:nvSpPr>
          <p:spPr bwMode="auto">
            <a:xfrm>
              <a:off x="7984332" y="5019874"/>
              <a:ext cx="25558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65" name="Text Box 87"/>
            <p:cNvSpPr txBox="1">
              <a:spLocks noChangeArrowheads="1"/>
            </p:cNvSpPr>
            <p:nvPr/>
          </p:nvSpPr>
          <p:spPr bwMode="auto">
            <a:xfrm>
              <a:off x="8619332" y="5431036"/>
              <a:ext cx="328613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2066" name="Text Box 88"/>
            <p:cNvSpPr txBox="1">
              <a:spLocks noChangeArrowheads="1"/>
            </p:cNvSpPr>
            <p:nvPr/>
          </p:nvSpPr>
          <p:spPr bwMode="auto">
            <a:xfrm>
              <a:off x="8616157" y="6294636"/>
              <a:ext cx="31273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–</a:t>
              </a:r>
            </a:p>
          </p:txBody>
        </p:sp>
        <p:sp>
          <p:nvSpPr>
            <p:cNvPr id="2067" name="Text Box 89"/>
            <p:cNvSpPr txBox="1">
              <a:spLocks noChangeArrowheads="1"/>
            </p:cNvSpPr>
            <p:nvPr/>
          </p:nvSpPr>
          <p:spPr bwMode="auto">
            <a:xfrm>
              <a:off x="8644732" y="5815211"/>
              <a:ext cx="403225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68" name="Line 90"/>
            <p:cNvSpPr>
              <a:spLocks noChangeShapeType="1"/>
            </p:cNvSpPr>
            <p:nvPr/>
          </p:nvSpPr>
          <p:spPr bwMode="auto">
            <a:xfrm>
              <a:off x="6815932" y="5407871"/>
              <a:ext cx="1717675" cy="877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70" name="Text Box 92"/>
            <p:cNvSpPr txBox="1">
              <a:spLocks noChangeArrowheads="1"/>
            </p:cNvSpPr>
            <p:nvPr/>
          </p:nvSpPr>
          <p:spPr bwMode="auto">
            <a:xfrm>
              <a:off x="6223347" y="6030739"/>
              <a:ext cx="35560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71" name="Text Box 93"/>
            <p:cNvSpPr txBox="1">
              <a:spLocks noChangeArrowheads="1"/>
            </p:cNvSpPr>
            <p:nvPr/>
          </p:nvSpPr>
          <p:spPr bwMode="auto">
            <a:xfrm>
              <a:off x="7111207" y="5786264"/>
              <a:ext cx="328613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2072" name="Text Box 94"/>
            <p:cNvSpPr txBox="1">
              <a:spLocks noChangeArrowheads="1"/>
            </p:cNvSpPr>
            <p:nvPr/>
          </p:nvSpPr>
          <p:spPr bwMode="auto">
            <a:xfrm>
              <a:off x="7114382" y="6413326"/>
              <a:ext cx="31273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–</a:t>
              </a:r>
            </a:p>
          </p:txBody>
        </p:sp>
        <p:sp>
          <p:nvSpPr>
            <p:cNvPr id="2073" name="Text Box 95"/>
            <p:cNvSpPr txBox="1">
              <a:spLocks noChangeArrowheads="1"/>
            </p:cNvSpPr>
            <p:nvPr/>
          </p:nvSpPr>
          <p:spPr bwMode="auto">
            <a:xfrm>
              <a:off x="7119144" y="6033914"/>
              <a:ext cx="41275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74" name="Line 96"/>
            <p:cNvSpPr>
              <a:spLocks noChangeShapeType="1"/>
            </p:cNvSpPr>
            <p:nvPr/>
          </p:nvSpPr>
          <p:spPr bwMode="auto">
            <a:xfrm flipV="1">
              <a:off x="6804819" y="6334297"/>
              <a:ext cx="3305" cy="43658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75" name="Line 97"/>
            <p:cNvSpPr>
              <a:spLocks noChangeShapeType="1"/>
            </p:cNvSpPr>
            <p:nvPr/>
          </p:nvSpPr>
          <p:spPr bwMode="auto">
            <a:xfrm flipV="1">
              <a:off x="6814344" y="5421511"/>
              <a:ext cx="1587" cy="79375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77" name="Line 99"/>
            <p:cNvSpPr>
              <a:spLocks noChangeShapeType="1"/>
            </p:cNvSpPr>
            <p:nvPr/>
          </p:nvSpPr>
          <p:spPr bwMode="auto">
            <a:xfrm>
              <a:off x="6804819" y="6770886"/>
              <a:ext cx="173831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78" name="Text Box 100"/>
            <p:cNvSpPr txBox="1">
              <a:spLocks noChangeArrowheads="1"/>
            </p:cNvSpPr>
            <p:nvPr/>
          </p:nvSpPr>
          <p:spPr bwMode="auto">
            <a:xfrm>
              <a:off x="8052594" y="5916811"/>
              <a:ext cx="341313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79" name="Rectangle 101"/>
            <p:cNvSpPr>
              <a:spLocks noChangeArrowheads="1"/>
            </p:cNvSpPr>
            <p:nvPr/>
          </p:nvSpPr>
          <p:spPr bwMode="auto">
            <a:xfrm>
              <a:off x="8430419" y="5812036"/>
              <a:ext cx="201613" cy="504825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81" name="Line 103"/>
            <p:cNvSpPr>
              <a:spLocks noChangeShapeType="1"/>
            </p:cNvSpPr>
            <p:nvPr/>
          </p:nvSpPr>
          <p:spPr bwMode="auto">
            <a:xfrm flipV="1">
              <a:off x="6622646" y="6330789"/>
              <a:ext cx="381000" cy="4763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1" name="Line 103"/>
            <p:cNvSpPr>
              <a:spLocks noChangeShapeType="1"/>
            </p:cNvSpPr>
            <p:nvPr/>
          </p:nvSpPr>
          <p:spPr bwMode="auto">
            <a:xfrm flipV="1">
              <a:off x="6616799" y="6208737"/>
              <a:ext cx="381000" cy="4763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938718" y="2622936"/>
            <a:ext cx="3963566" cy="1853739"/>
            <a:chOff x="4938718" y="2622936"/>
            <a:chExt cx="3963566" cy="1853739"/>
          </a:xfrm>
        </p:grpSpPr>
        <p:sp>
          <p:nvSpPr>
            <p:cNvPr id="150" name="Text Box 174"/>
            <p:cNvSpPr txBox="1">
              <a:spLocks noChangeArrowheads="1"/>
            </p:cNvSpPr>
            <p:nvPr/>
          </p:nvSpPr>
          <p:spPr bwMode="auto">
            <a:xfrm>
              <a:off x="4938718" y="3567353"/>
              <a:ext cx="42703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0" name="Line 82"/>
            <p:cNvSpPr>
              <a:spLocks noChangeShapeType="1"/>
            </p:cNvSpPr>
            <p:nvPr/>
          </p:nvSpPr>
          <p:spPr bwMode="auto">
            <a:xfrm>
              <a:off x="8387934" y="3065760"/>
              <a:ext cx="0" cy="13684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1" name="Line 83"/>
            <p:cNvSpPr>
              <a:spLocks noChangeShapeType="1"/>
            </p:cNvSpPr>
            <p:nvPr/>
          </p:nvSpPr>
          <p:spPr bwMode="auto">
            <a:xfrm>
              <a:off x="7738646" y="3210223"/>
              <a:ext cx="441325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2" name="Text Box 84"/>
            <p:cNvSpPr txBox="1">
              <a:spLocks noChangeArrowheads="1"/>
            </p:cNvSpPr>
            <p:nvPr/>
          </p:nvSpPr>
          <p:spPr bwMode="auto">
            <a:xfrm>
              <a:off x="7838659" y="2683173"/>
              <a:ext cx="25558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3" name="Text Box 87"/>
            <p:cNvSpPr txBox="1">
              <a:spLocks noChangeArrowheads="1"/>
            </p:cNvSpPr>
            <p:nvPr/>
          </p:nvSpPr>
          <p:spPr bwMode="auto">
            <a:xfrm>
              <a:off x="8473659" y="3094335"/>
              <a:ext cx="328613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134" name="Text Box 88"/>
            <p:cNvSpPr txBox="1">
              <a:spLocks noChangeArrowheads="1"/>
            </p:cNvSpPr>
            <p:nvPr/>
          </p:nvSpPr>
          <p:spPr bwMode="auto">
            <a:xfrm>
              <a:off x="8470484" y="3957935"/>
              <a:ext cx="31273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–</a:t>
              </a:r>
            </a:p>
          </p:txBody>
        </p:sp>
        <p:sp>
          <p:nvSpPr>
            <p:cNvPr id="135" name="Text Box 89"/>
            <p:cNvSpPr txBox="1">
              <a:spLocks noChangeArrowheads="1"/>
            </p:cNvSpPr>
            <p:nvPr/>
          </p:nvSpPr>
          <p:spPr bwMode="auto">
            <a:xfrm>
              <a:off x="8499059" y="3478510"/>
              <a:ext cx="403225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6" name="Line 90"/>
            <p:cNvSpPr>
              <a:spLocks noChangeShapeType="1"/>
            </p:cNvSpPr>
            <p:nvPr/>
          </p:nvSpPr>
          <p:spPr bwMode="auto">
            <a:xfrm flipV="1">
              <a:off x="7247656" y="3079947"/>
              <a:ext cx="1140277" cy="614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7" name="Text Box 92"/>
            <p:cNvSpPr txBox="1">
              <a:spLocks noChangeArrowheads="1"/>
            </p:cNvSpPr>
            <p:nvPr/>
          </p:nvSpPr>
          <p:spPr bwMode="auto">
            <a:xfrm>
              <a:off x="6286507" y="3694038"/>
              <a:ext cx="35560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8" name="Text Box 93"/>
            <p:cNvSpPr txBox="1">
              <a:spLocks noChangeArrowheads="1"/>
            </p:cNvSpPr>
            <p:nvPr/>
          </p:nvSpPr>
          <p:spPr bwMode="auto">
            <a:xfrm>
              <a:off x="7247657" y="3449563"/>
              <a:ext cx="328613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139" name="Text Box 94"/>
            <p:cNvSpPr txBox="1">
              <a:spLocks noChangeArrowheads="1"/>
            </p:cNvSpPr>
            <p:nvPr/>
          </p:nvSpPr>
          <p:spPr bwMode="auto">
            <a:xfrm>
              <a:off x="7250832" y="4076625"/>
              <a:ext cx="312738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–</a:t>
              </a:r>
            </a:p>
          </p:txBody>
        </p:sp>
        <p:sp>
          <p:nvSpPr>
            <p:cNvPr id="140" name="Text Box 95"/>
            <p:cNvSpPr txBox="1">
              <a:spLocks noChangeArrowheads="1"/>
            </p:cNvSpPr>
            <p:nvPr/>
          </p:nvSpPr>
          <p:spPr bwMode="auto">
            <a:xfrm>
              <a:off x="7255594" y="3697213"/>
              <a:ext cx="41275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1" name="Line 96"/>
            <p:cNvSpPr>
              <a:spLocks noChangeShapeType="1"/>
            </p:cNvSpPr>
            <p:nvPr/>
          </p:nvSpPr>
          <p:spPr bwMode="auto">
            <a:xfrm flipV="1">
              <a:off x="6941269" y="3997596"/>
              <a:ext cx="3305" cy="43658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2" name="Line 97"/>
            <p:cNvSpPr>
              <a:spLocks noChangeShapeType="1"/>
            </p:cNvSpPr>
            <p:nvPr/>
          </p:nvSpPr>
          <p:spPr bwMode="auto">
            <a:xfrm flipH="1" flipV="1">
              <a:off x="6939679" y="3396133"/>
              <a:ext cx="9751" cy="41754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3" name="Line 99"/>
            <p:cNvSpPr>
              <a:spLocks noChangeShapeType="1"/>
            </p:cNvSpPr>
            <p:nvPr/>
          </p:nvSpPr>
          <p:spPr bwMode="auto">
            <a:xfrm flipV="1">
              <a:off x="5717524" y="4434185"/>
              <a:ext cx="2679935" cy="327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4" name="Text Box 100"/>
            <p:cNvSpPr txBox="1">
              <a:spLocks noChangeArrowheads="1"/>
            </p:cNvSpPr>
            <p:nvPr/>
          </p:nvSpPr>
          <p:spPr bwMode="auto">
            <a:xfrm>
              <a:off x="7906921" y="3580110"/>
              <a:ext cx="341313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5" name="Rectangle 101"/>
            <p:cNvSpPr>
              <a:spLocks noChangeArrowheads="1"/>
            </p:cNvSpPr>
            <p:nvPr/>
          </p:nvSpPr>
          <p:spPr bwMode="auto">
            <a:xfrm>
              <a:off x="8284746" y="3475335"/>
              <a:ext cx="201613" cy="504825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7" name="Line 103"/>
            <p:cNvSpPr>
              <a:spLocks noChangeShapeType="1"/>
            </p:cNvSpPr>
            <p:nvPr/>
          </p:nvSpPr>
          <p:spPr bwMode="auto">
            <a:xfrm flipV="1">
              <a:off x="6750440" y="3985431"/>
              <a:ext cx="381000" cy="4763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9" name="Oval 169"/>
            <p:cNvSpPr>
              <a:spLocks noChangeArrowheads="1"/>
            </p:cNvSpPr>
            <p:nvPr/>
          </p:nvSpPr>
          <p:spPr bwMode="auto">
            <a:xfrm>
              <a:off x="5430187" y="3485559"/>
              <a:ext cx="576263" cy="5762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151" name="Line 181"/>
            <p:cNvSpPr>
              <a:spLocks noChangeShapeType="1"/>
            </p:cNvSpPr>
            <p:nvPr/>
          </p:nvSpPr>
          <p:spPr bwMode="auto">
            <a:xfrm flipH="1">
              <a:off x="5709370" y="3053759"/>
              <a:ext cx="8155" cy="140585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2" name="Line 186"/>
            <p:cNvSpPr>
              <a:spLocks noChangeShapeType="1"/>
            </p:cNvSpPr>
            <p:nvPr/>
          </p:nvSpPr>
          <p:spPr bwMode="auto">
            <a:xfrm flipV="1">
              <a:off x="6642107" y="3038480"/>
              <a:ext cx="420728" cy="26905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6" name="Text Box 193"/>
            <p:cNvSpPr txBox="1">
              <a:spLocks noChangeArrowheads="1"/>
            </p:cNvSpPr>
            <p:nvPr/>
          </p:nvSpPr>
          <p:spPr bwMode="auto">
            <a:xfrm>
              <a:off x="5345604" y="3145306"/>
              <a:ext cx="792163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57" name="Text Box 194"/>
            <p:cNvSpPr txBox="1">
              <a:spLocks noChangeArrowheads="1"/>
            </p:cNvSpPr>
            <p:nvPr/>
          </p:nvSpPr>
          <p:spPr bwMode="auto">
            <a:xfrm>
              <a:off x="5358506" y="4034133"/>
              <a:ext cx="792163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dirty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159" name="Line 90"/>
            <p:cNvSpPr>
              <a:spLocks noChangeShapeType="1"/>
            </p:cNvSpPr>
            <p:nvPr/>
          </p:nvSpPr>
          <p:spPr bwMode="auto">
            <a:xfrm>
              <a:off x="5725743" y="3055480"/>
              <a:ext cx="958088" cy="1028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0" name="Line 185"/>
            <p:cNvSpPr>
              <a:spLocks noChangeShapeType="1"/>
            </p:cNvSpPr>
            <p:nvPr/>
          </p:nvSpPr>
          <p:spPr bwMode="auto">
            <a:xfrm flipH="1" flipV="1">
              <a:off x="6683830" y="2988754"/>
              <a:ext cx="284921" cy="40737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/>
              <a:tailEnd type="non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2" name="Line 103"/>
            <p:cNvSpPr>
              <a:spLocks noChangeShapeType="1"/>
            </p:cNvSpPr>
            <p:nvPr/>
          </p:nvSpPr>
          <p:spPr bwMode="auto">
            <a:xfrm flipV="1">
              <a:off x="6754713" y="3832473"/>
              <a:ext cx="381000" cy="4763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3" name="Text Box 173"/>
            <p:cNvSpPr txBox="1">
              <a:spLocks noChangeArrowheads="1"/>
            </p:cNvSpPr>
            <p:nvPr/>
          </p:nvSpPr>
          <p:spPr bwMode="auto">
            <a:xfrm>
              <a:off x="6306269" y="2622936"/>
              <a:ext cx="115570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S(</a:t>
              </a:r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 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=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80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1" grpId="0" autoUpdateAnimBg="0"/>
      <p:bldP spid="80904" grpId="0"/>
      <p:bldP spid="80905" grpId="0" autoUpdateAnimBg="0"/>
      <p:bldP spid="80956" grpId="0" animBg="1"/>
      <p:bldP spid="80957" grpId="0" animBg="1"/>
      <p:bldP spid="8100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035580"/>
              </p:ext>
            </p:extLst>
          </p:nvPr>
        </p:nvGraphicFramePr>
        <p:xfrm>
          <a:off x="4611688" y="882103"/>
          <a:ext cx="2700337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" name="Equation" r:id="rId3" imgW="977760" imgH="583920" progId="Equation.DSMT4">
                  <p:embed/>
                </p:oleObj>
              </mc:Choice>
              <mc:Fallback>
                <p:oleObj name="Equation" r:id="rId3" imgW="977760" imgH="5839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1688" y="882103"/>
                        <a:ext cx="2700337" cy="134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650" name="Group 82"/>
          <p:cNvGrpSpPr>
            <a:grpSpLocks/>
          </p:cNvGrpSpPr>
          <p:nvPr/>
        </p:nvGrpSpPr>
        <p:grpSpPr bwMode="auto">
          <a:xfrm>
            <a:off x="4140244" y="3149489"/>
            <a:ext cx="3076171" cy="783012"/>
            <a:chOff x="2603" y="1775"/>
            <a:chExt cx="2024" cy="581"/>
          </a:xfrm>
        </p:grpSpPr>
        <p:graphicFrame>
          <p:nvGraphicFramePr>
            <p:cNvPr id="311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0904837"/>
                </p:ext>
              </p:extLst>
            </p:nvPr>
          </p:nvGraphicFramePr>
          <p:xfrm>
            <a:off x="3739" y="1775"/>
            <a:ext cx="888" cy="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" name="Equation" r:id="rId5" imgW="609480" imgH="393480" progId="Equation.DSMT4">
                    <p:embed/>
                  </p:oleObj>
                </mc:Choice>
                <mc:Fallback>
                  <p:oleObj name="Equation" r:id="rId5" imgW="609480" imgH="3934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9" y="1775"/>
                          <a:ext cx="888" cy="5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11" name="Text Box 11"/>
            <p:cNvSpPr txBox="1">
              <a:spLocks noChangeArrowheads="1"/>
            </p:cNvSpPr>
            <p:nvPr/>
          </p:nvSpPr>
          <p:spPr bwMode="auto">
            <a:xfrm>
              <a:off x="2603" y="1960"/>
              <a:ext cx="629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zh-CN" sz="2000" dirty="0">
                  <a:solidFill>
                    <a:schemeClr val="tx1"/>
                  </a:solidFill>
                  <a:latin typeface="Times New Roman" pitchFamily="18" charset="0"/>
                </a:rPr>
                <a:t>特征根</a:t>
              </a:r>
              <a:endParaRPr kumimoji="1" lang="zh-CN" altLang="en-US" sz="20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09649" name="Group 81"/>
          <p:cNvGrpSpPr>
            <a:grpSpLocks/>
          </p:cNvGrpSpPr>
          <p:nvPr/>
        </p:nvGrpSpPr>
        <p:grpSpPr bwMode="auto">
          <a:xfrm>
            <a:off x="4067175" y="2491828"/>
            <a:ext cx="4146550" cy="444500"/>
            <a:chOff x="2562" y="1344"/>
            <a:chExt cx="2612" cy="280"/>
          </a:xfrm>
        </p:grpSpPr>
        <p:sp>
          <p:nvSpPr>
            <p:cNvPr id="3108" name="Text Box 13"/>
            <p:cNvSpPr txBox="1">
              <a:spLocks noChangeArrowheads="1"/>
            </p:cNvSpPr>
            <p:nvPr/>
          </p:nvSpPr>
          <p:spPr bwMode="auto">
            <a:xfrm>
              <a:off x="2562" y="1371"/>
              <a:ext cx="2042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zh-CN" sz="2000" dirty="0">
                  <a:solidFill>
                    <a:schemeClr val="tx1"/>
                  </a:solidFill>
                  <a:latin typeface="Times New Roman" pitchFamily="18" charset="0"/>
                </a:rPr>
                <a:t>特征</a:t>
              </a:r>
              <a:r>
                <a:rPr kumimoji="1" lang="zh-CN" altLang="zh-CN" sz="2000" dirty="0" smtClean="0">
                  <a:solidFill>
                    <a:schemeClr val="tx1"/>
                  </a:solidFill>
                  <a:latin typeface="Times New Roman" pitchFamily="18" charset="0"/>
                </a:rPr>
                <a:t>方程</a:t>
              </a:r>
              <a:endParaRPr kumimoji="1" lang="zh-CN" altLang="en-US" sz="20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3109" name="Text Box 14"/>
            <p:cNvSpPr txBox="1">
              <a:spLocks noChangeArrowheads="1"/>
            </p:cNvSpPr>
            <p:nvPr/>
          </p:nvSpPr>
          <p:spPr bwMode="auto">
            <a:xfrm>
              <a:off x="3696" y="1344"/>
              <a:ext cx="14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RCs+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1=0</a:t>
              </a:r>
            </a:p>
          </p:txBody>
        </p:sp>
      </p:grpSp>
      <p:sp>
        <p:nvSpPr>
          <p:cNvPr id="109651" name="Text Box 83"/>
          <p:cNvSpPr txBox="1">
            <a:spLocks noChangeArrowheads="1"/>
          </p:cNvSpPr>
          <p:nvPr/>
        </p:nvSpPr>
        <p:spPr bwMode="auto">
          <a:xfrm>
            <a:off x="2641601" y="5062636"/>
            <a:ext cx="453187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代入初始值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</a:t>
            </a:r>
            <a:r>
              <a:rPr kumimoji="1" lang="en-US" altLang="zh-CN" sz="24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4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</a:t>
            </a:r>
            <a:r>
              <a:rPr kumimoji="1" lang="en-US" altLang="zh-CN" sz="24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4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zh-CN" altLang="en-US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anose="05050102010706020507" pitchFamily="18" charset="2"/>
              </a:rPr>
              <a:t>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</a:t>
            </a:r>
            <a:r>
              <a:rPr kumimoji="1" lang="en-US" altLang="zh-CN" sz="24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4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09652" name="AutoShape 84"/>
          <p:cNvSpPr>
            <a:spLocks noChangeArrowheads="1"/>
          </p:cNvSpPr>
          <p:nvPr/>
        </p:nvSpPr>
        <p:spPr bwMode="auto">
          <a:xfrm>
            <a:off x="3826073" y="5960517"/>
            <a:ext cx="792163" cy="215900"/>
          </a:xfrm>
          <a:prstGeom prst="rightArrow">
            <a:avLst>
              <a:gd name="adj1" fmla="val 50000"/>
              <a:gd name="adj2" fmla="val 91728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9653" name="Text Box 85"/>
          <p:cNvSpPr txBox="1">
            <a:spLocks noChangeArrowheads="1"/>
          </p:cNvSpPr>
          <p:nvPr/>
        </p:nvSpPr>
        <p:spPr bwMode="auto">
          <a:xfrm>
            <a:off x="4905573" y="5816054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k 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  <p:grpSp>
        <p:nvGrpSpPr>
          <p:cNvPr id="109654" name="Group 86"/>
          <p:cNvGrpSpPr>
            <a:grpSpLocks/>
          </p:cNvGrpSpPr>
          <p:nvPr/>
        </p:nvGrpSpPr>
        <p:grpSpPr bwMode="auto">
          <a:xfrm>
            <a:off x="411163" y="966241"/>
            <a:ext cx="2855913" cy="2124075"/>
            <a:chOff x="395" y="2333"/>
            <a:chExt cx="1799" cy="1338"/>
          </a:xfrm>
        </p:grpSpPr>
        <p:sp>
          <p:nvSpPr>
            <p:cNvPr id="3082" name="Line 87"/>
            <p:cNvSpPr>
              <a:spLocks noChangeShapeType="1"/>
            </p:cNvSpPr>
            <p:nvPr/>
          </p:nvSpPr>
          <p:spPr bwMode="auto">
            <a:xfrm>
              <a:off x="1870" y="2809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83" name="Line 88"/>
            <p:cNvSpPr>
              <a:spLocks noChangeShapeType="1"/>
            </p:cNvSpPr>
            <p:nvPr/>
          </p:nvSpPr>
          <p:spPr bwMode="auto">
            <a:xfrm>
              <a:off x="1461" y="2900"/>
              <a:ext cx="278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84" name="Text Box 89"/>
            <p:cNvSpPr txBox="1">
              <a:spLocks noChangeArrowheads="1"/>
            </p:cNvSpPr>
            <p:nvPr/>
          </p:nvSpPr>
          <p:spPr bwMode="auto">
            <a:xfrm>
              <a:off x="1564" y="2544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085" name="Line 90"/>
            <p:cNvSpPr>
              <a:spLocks noChangeShapeType="1"/>
            </p:cNvSpPr>
            <p:nvPr/>
          </p:nvSpPr>
          <p:spPr bwMode="auto">
            <a:xfrm flipH="1">
              <a:off x="1245" y="2533"/>
              <a:ext cx="167" cy="19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86" name="Text Box 91"/>
            <p:cNvSpPr txBox="1">
              <a:spLocks noChangeArrowheads="1"/>
            </p:cNvSpPr>
            <p:nvPr/>
          </p:nvSpPr>
          <p:spPr bwMode="auto">
            <a:xfrm>
              <a:off x="875" y="2333"/>
              <a:ext cx="5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S(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=0)</a:t>
              </a:r>
            </a:p>
          </p:txBody>
        </p:sp>
        <p:sp>
          <p:nvSpPr>
            <p:cNvPr id="3087" name="Text Box 92"/>
            <p:cNvSpPr txBox="1">
              <a:spLocks noChangeArrowheads="1"/>
            </p:cNvSpPr>
            <p:nvPr/>
          </p:nvSpPr>
          <p:spPr bwMode="auto">
            <a:xfrm>
              <a:off x="1924" y="2827"/>
              <a:ext cx="20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3088" name="Text Box 93"/>
            <p:cNvSpPr txBox="1">
              <a:spLocks noChangeArrowheads="1"/>
            </p:cNvSpPr>
            <p:nvPr/>
          </p:nvSpPr>
          <p:spPr bwMode="auto">
            <a:xfrm>
              <a:off x="1922" y="3371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–</a:t>
              </a:r>
            </a:p>
          </p:txBody>
        </p:sp>
        <p:sp>
          <p:nvSpPr>
            <p:cNvPr id="3089" name="Text Box 94"/>
            <p:cNvSpPr txBox="1">
              <a:spLocks noChangeArrowheads="1"/>
            </p:cNvSpPr>
            <p:nvPr/>
          </p:nvSpPr>
          <p:spPr bwMode="auto">
            <a:xfrm>
              <a:off x="1940" y="3040"/>
              <a:ext cx="25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090" name="Line 95"/>
            <p:cNvSpPr>
              <a:spLocks noChangeShapeType="1"/>
            </p:cNvSpPr>
            <p:nvPr/>
          </p:nvSpPr>
          <p:spPr bwMode="auto">
            <a:xfrm>
              <a:off x="1325" y="2809"/>
              <a:ext cx="54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91" name="Line 96"/>
            <p:cNvSpPr>
              <a:spLocks noChangeShapeType="1"/>
            </p:cNvSpPr>
            <p:nvPr/>
          </p:nvSpPr>
          <p:spPr bwMode="auto">
            <a:xfrm>
              <a:off x="788" y="2821"/>
              <a:ext cx="28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92" name="Text Box 97"/>
            <p:cNvSpPr txBox="1">
              <a:spLocks noChangeArrowheads="1"/>
            </p:cNvSpPr>
            <p:nvPr/>
          </p:nvSpPr>
          <p:spPr bwMode="auto">
            <a:xfrm>
              <a:off x="395" y="3014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093" name="Text Box 98"/>
            <p:cNvSpPr txBox="1">
              <a:spLocks noChangeArrowheads="1"/>
            </p:cNvSpPr>
            <p:nvPr/>
          </p:nvSpPr>
          <p:spPr bwMode="auto">
            <a:xfrm>
              <a:off x="974" y="2860"/>
              <a:ext cx="20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3094" name="Text Box 99"/>
            <p:cNvSpPr txBox="1">
              <a:spLocks noChangeArrowheads="1"/>
            </p:cNvSpPr>
            <p:nvPr/>
          </p:nvSpPr>
          <p:spPr bwMode="auto">
            <a:xfrm>
              <a:off x="980" y="3280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–</a:t>
              </a:r>
            </a:p>
          </p:txBody>
        </p:sp>
        <p:sp>
          <p:nvSpPr>
            <p:cNvPr id="3095" name="Text Box 100"/>
            <p:cNvSpPr txBox="1">
              <a:spLocks noChangeArrowheads="1"/>
            </p:cNvSpPr>
            <p:nvPr/>
          </p:nvSpPr>
          <p:spPr bwMode="auto">
            <a:xfrm>
              <a:off x="1002" y="3043"/>
              <a:ext cx="26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096" name="Line 101"/>
            <p:cNvSpPr>
              <a:spLocks noChangeShapeType="1"/>
            </p:cNvSpPr>
            <p:nvPr/>
          </p:nvSpPr>
          <p:spPr bwMode="auto">
            <a:xfrm flipV="1">
              <a:off x="781" y="3209"/>
              <a:ext cx="7" cy="4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97" name="Line 102"/>
            <p:cNvSpPr>
              <a:spLocks noChangeShapeType="1"/>
            </p:cNvSpPr>
            <p:nvPr/>
          </p:nvSpPr>
          <p:spPr bwMode="auto">
            <a:xfrm flipH="1" flipV="1">
              <a:off x="788" y="2821"/>
              <a:ext cx="5" cy="2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98" name="Line 103"/>
            <p:cNvSpPr>
              <a:spLocks noChangeShapeType="1"/>
            </p:cNvSpPr>
            <p:nvPr/>
          </p:nvSpPr>
          <p:spPr bwMode="auto">
            <a:xfrm flipH="1" flipV="1">
              <a:off x="1111" y="2614"/>
              <a:ext cx="213" cy="191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99" name="Line 104"/>
            <p:cNvSpPr>
              <a:spLocks noChangeShapeType="1"/>
            </p:cNvSpPr>
            <p:nvPr/>
          </p:nvSpPr>
          <p:spPr bwMode="auto">
            <a:xfrm>
              <a:off x="781" y="3671"/>
              <a:ext cx="109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00" name="Text Box 105"/>
            <p:cNvSpPr txBox="1">
              <a:spLocks noChangeArrowheads="1"/>
            </p:cNvSpPr>
            <p:nvPr/>
          </p:nvSpPr>
          <p:spPr bwMode="auto">
            <a:xfrm>
              <a:off x="1567" y="305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101" name="Rectangle 106"/>
            <p:cNvSpPr>
              <a:spLocks noChangeArrowheads="1"/>
            </p:cNvSpPr>
            <p:nvPr/>
          </p:nvSpPr>
          <p:spPr bwMode="auto">
            <a:xfrm>
              <a:off x="1810" y="306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03" name="Line 108"/>
            <p:cNvSpPr>
              <a:spLocks noChangeShapeType="1"/>
            </p:cNvSpPr>
            <p:nvPr/>
          </p:nvSpPr>
          <p:spPr bwMode="auto">
            <a:xfrm flipV="1">
              <a:off x="657" y="3203"/>
              <a:ext cx="240" cy="3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37" name="Line 108"/>
          <p:cNvSpPr>
            <a:spLocks noChangeShapeType="1"/>
          </p:cNvSpPr>
          <p:nvPr/>
        </p:nvSpPr>
        <p:spPr bwMode="auto">
          <a:xfrm flipV="1">
            <a:off x="827584" y="2204864"/>
            <a:ext cx="381000" cy="4763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33365" y="4149080"/>
            <a:ext cx="2691502" cy="571500"/>
            <a:chOff x="2933365" y="4149080"/>
            <a:chExt cx="2691502" cy="57150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8864626"/>
                </p:ext>
              </p:extLst>
            </p:nvPr>
          </p:nvGraphicFramePr>
          <p:xfrm>
            <a:off x="4016729" y="4149080"/>
            <a:ext cx="1608138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7" name="Equation" r:id="rId7" imgW="711000" imgH="241200" progId="Equation.DSMT4">
                    <p:embed/>
                  </p:oleObj>
                </mc:Choice>
                <mc:Fallback>
                  <p:oleObj name="Equation" r:id="rId7" imgW="711000" imgH="241200" progId="Equation.DSMT4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6729" y="4149080"/>
                          <a:ext cx="1608138" cy="571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 Box 11"/>
            <p:cNvSpPr txBox="1">
              <a:spLocks noChangeArrowheads="1"/>
            </p:cNvSpPr>
            <p:nvPr/>
          </p:nvSpPr>
          <p:spPr bwMode="auto">
            <a:xfrm>
              <a:off x="2933365" y="4277158"/>
              <a:ext cx="697925" cy="402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000" dirty="0" smtClean="0">
                  <a:solidFill>
                    <a:schemeClr val="tx1"/>
                  </a:solidFill>
                  <a:latin typeface="Times New Roman" pitchFamily="18" charset="0"/>
                </a:rPr>
                <a:t>通解</a:t>
              </a:r>
              <a:endParaRPr kumimoji="1" lang="zh-CN" altLang="en-US" sz="200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0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51" grpId="0"/>
      <p:bldP spid="109652" grpId="0" animBg="1"/>
      <p:bldP spid="1096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158927"/>
              </p:ext>
            </p:extLst>
          </p:nvPr>
        </p:nvGraphicFramePr>
        <p:xfrm>
          <a:off x="2483768" y="2276872"/>
          <a:ext cx="4320480" cy="917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" name="Equation" r:id="rId3" imgW="1815840" imgH="380880" progId="Equation.DSMT4">
                  <p:embed/>
                </p:oleObj>
              </mc:Choice>
              <mc:Fallback>
                <p:oleObj name="Equation" r:id="rId3" imgW="1815840" imgH="3808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276872"/>
                        <a:ext cx="4320480" cy="9172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664440"/>
              </p:ext>
            </p:extLst>
          </p:nvPr>
        </p:nvGraphicFramePr>
        <p:xfrm>
          <a:off x="3419872" y="956032"/>
          <a:ext cx="2520280" cy="723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" name="Equation" r:id="rId5" imgW="1028661" imgH="295172" progId="Equation.DSMT4">
                  <p:embed/>
                </p:oleObj>
              </mc:Choice>
              <mc:Fallback>
                <p:oleObj name="Equation" r:id="rId5" imgW="1028661" imgH="295172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956032"/>
                        <a:ext cx="2520280" cy="723189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00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566682"/>
              </p:ext>
            </p:extLst>
          </p:nvPr>
        </p:nvGraphicFramePr>
        <p:xfrm>
          <a:off x="1907704" y="4221088"/>
          <a:ext cx="5549354" cy="924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" name="Equation" r:id="rId7" imgW="2286000" imgH="406080" progId="Equation.DSMT4">
                  <p:embed/>
                </p:oleObj>
              </mc:Choice>
              <mc:Fallback>
                <p:oleObj name="Equation" r:id="rId7" imgW="2286000" imgH="40608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221088"/>
                        <a:ext cx="5549354" cy="9246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24" name="Text Box 52"/>
          <p:cNvSpPr txBox="1">
            <a:spLocks noChangeArrowheads="1"/>
          </p:cNvSpPr>
          <p:nvPr/>
        </p:nvSpPr>
        <p:spPr bwMode="auto">
          <a:xfrm>
            <a:off x="755650" y="3500438"/>
            <a:ext cx="5032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7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7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52" name="Group 4"/>
          <p:cNvGrpSpPr>
            <a:grpSpLocks/>
          </p:cNvGrpSpPr>
          <p:nvPr/>
        </p:nvGrpSpPr>
        <p:grpSpPr bwMode="auto">
          <a:xfrm>
            <a:off x="1185572" y="1948347"/>
            <a:ext cx="3106997" cy="2271583"/>
            <a:chOff x="3835" y="608"/>
            <a:chExt cx="1460" cy="1174"/>
          </a:xfrm>
        </p:grpSpPr>
        <p:sp>
          <p:nvSpPr>
            <p:cNvPr id="5142" name="Text Box 5"/>
            <p:cNvSpPr txBox="1">
              <a:spLocks noChangeArrowheads="1"/>
            </p:cNvSpPr>
            <p:nvPr/>
          </p:nvSpPr>
          <p:spPr bwMode="auto">
            <a:xfrm>
              <a:off x="5175" y="1575"/>
              <a:ext cx="120" cy="207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43" name="Line 6"/>
            <p:cNvSpPr>
              <a:spLocks noChangeShapeType="1"/>
            </p:cNvSpPr>
            <p:nvPr/>
          </p:nvSpPr>
          <p:spPr bwMode="auto">
            <a:xfrm>
              <a:off x="3951" y="1536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144" name="Line 7"/>
            <p:cNvSpPr>
              <a:spLocks noChangeShapeType="1"/>
            </p:cNvSpPr>
            <p:nvPr/>
          </p:nvSpPr>
          <p:spPr bwMode="auto">
            <a:xfrm flipV="1">
              <a:off x="4143" y="816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145" name="Freeform 8"/>
            <p:cNvSpPr>
              <a:spLocks/>
            </p:cNvSpPr>
            <p:nvPr/>
          </p:nvSpPr>
          <p:spPr bwMode="auto">
            <a:xfrm>
              <a:off x="4143" y="1056"/>
              <a:ext cx="1008" cy="432"/>
            </a:xfrm>
            <a:custGeom>
              <a:avLst/>
              <a:gdLst>
                <a:gd name="T0" fmla="*/ 0 w 1008"/>
                <a:gd name="T1" fmla="*/ 0 h 432"/>
                <a:gd name="T2" fmla="*/ 240 w 1008"/>
                <a:gd name="T3" fmla="*/ 240 h 432"/>
                <a:gd name="T4" fmla="*/ 672 w 1008"/>
                <a:gd name="T5" fmla="*/ 384 h 432"/>
                <a:gd name="T6" fmla="*/ 1008 w 100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38100" cap="flat" cmpd="sng">
              <a:solidFill>
                <a:srgbClr val="00B0F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146" name="Text Box 9"/>
            <p:cNvSpPr txBox="1">
              <a:spLocks noChangeArrowheads="1"/>
            </p:cNvSpPr>
            <p:nvPr/>
          </p:nvSpPr>
          <p:spPr bwMode="auto">
            <a:xfrm>
              <a:off x="3835" y="843"/>
              <a:ext cx="222" cy="207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47" name="Text Box 10"/>
            <p:cNvSpPr txBox="1">
              <a:spLocks noChangeArrowheads="1"/>
            </p:cNvSpPr>
            <p:nvPr/>
          </p:nvSpPr>
          <p:spPr bwMode="auto">
            <a:xfrm>
              <a:off x="3937" y="608"/>
              <a:ext cx="194" cy="20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48" name="Text Box 11"/>
            <p:cNvSpPr txBox="1">
              <a:spLocks noChangeArrowheads="1"/>
            </p:cNvSpPr>
            <p:nvPr/>
          </p:nvSpPr>
          <p:spPr bwMode="auto">
            <a:xfrm>
              <a:off x="3983" y="1565"/>
              <a:ext cx="147" cy="207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5149" name="Line 12"/>
            <p:cNvSpPr>
              <a:spLocks noChangeShapeType="1"/>
            </p:cNvSpPr>
            <p:nvPr/>
          </p:nvSpPr>
          <p:spPr bwMode="auto">
            <a:xfrm>
              <a:off x="3835" y="1056"/>
              <a:ext cx="305" cy="0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78861" name="Group 13"/>
          <p:cNvGrpSpPr>
            <a:grpSpLocks/>
          </p:cNvGrpSpPr>
          <p:nvPr/>
        </p:nvGrpSpPr>
        <p:grpSpPr bwMode="auto">
          <a:xfrm>
            <a:off x="4932362" y="2184670"/>
            <a:ext cx="3080713" cy="1990901"/>
            <a:chOff x="3918" y="1539"/>
            <a:chExt cx="1393" cy="1170"/>
          </a:xfrm>
        </p:grpSpPr>
        <p:sp>
          <p:nvSpPr>
            <p:cNvPr id="5133" name="Line 14"/>
            <p:cNvSpPr>
              <a:spLocks noChangeShapeType="1"/>
            </p:cNvSpPr>
            <p:nvPr/>
          </p:nvSpPr>
          <p:spPr bwMode="auto">
            <a:xfrm>
              <a:off x="3967" y="2448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134" name="Line 15"/>
            <p:cNvSpPr>
              <a:spLocks noChangeShapeType="1"/>
            </p:cNvSpPr>
            <p:nvPr/>
          </p:nvSpPr>
          <p:spPr bwMode="auto">
            <a:xfrm flipV="1">
              <a:off x="4159" y="172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135" name="Freeform 16"/>
            <p:cNvSpPr>
              <a:spLocks/>
            </p:cNvSpPr>
            <p:nvPr/>
          </p:nvSpPr>
          <p:spPr bwMode="auto">
            <a:xfrm>
              <a:off x="4159" y="1968"/>
              <a:ext cx="1008" cy="432"/>
            </a:xfrm>
            <a:custGeom>
              <a:avLst/>
              <a:gdLst>
                <a:gd name="T0" fmla="*/ 0 w 1008"/>
                <a:gd name="T1" fmla="*/ 0 h 432"/>
                <a:gd name="T2" fmla="*/ 240 w 1008"/>
                <a:gd name="T3" fmla="*/ 240 h 432"/>
                <a:gd name="T4" fmla="*/ 672 w 1008"/>
                <a:gd name="T5" fmla="*/ 384 h 432"/>
                <a:gd name="T6" fmla="*/ 1008 w 100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38100" cap="flat" cmpd="sng">
              <a:solidFill>
                <a:srgbClr val="00B0F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136" name="Text Box 17"/>
            <p:cNvSpPr txBox="1">
              <a:spLocks noChangeArrowheads="1"/>
            </p:cNvSpPr>
            <p:nvPr/>
          </p:nvSpPr>
          <p:spPr bwMode="auto">
            <a:xfrm>
              <a:off x="3986" y="1826"/>
              <a:ext cx="160" cy="23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37" name="Text Box 18"/>
            <p:cNvSpPr txBox="1">
              <a:spLocks noChangeArrowheads="1"/>
            </p:cNvSpPr>
            <p:nvPr/>
          </p:nvSpPr>
          <p:spPr bwMode="auto">
            <a:xfrm>
              <a:off x="5194" y="2474"/>
              <a:ext cx="115" cy="23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38" name="Text Box 19"/>
            <p:cNvSpPr txBox="1">
              <a:spLocks noChangeArrowheads="1"/>
            </p:cNvSpPr>
            <p:nvPr/>
          </p:nvSpPr>
          <p:spPr bwMode="auto">
            <a:xfrm>
              <a:off x="4016" y="1539"/>
              <a:ext cx="115" cy="23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39" name="Text Box 20"/>
            <p:cNvSpPr txBox="1">
              <a:spLocks noChangeArrowheads="1"/>
            </p:cNvSpPr>
            <p:nvPr/>
          </p:nvSpPr>
          <p:spPr bwMode="auto">
            <a:xfrm>
              <a:off x="4002" y="2426"/>
              <a:ext cx="141" cy="23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5140" name="Line 21"/>
            <p:cNvSpPr>
              <a:spLocks noChangeShapeType="1"/>
            </p:cNvSpPr>
            <p:nvPr/>
          </p:nvSpPr>
          <p:spPr bwMode="auto">
            <a:xfrm flipV="1">
              <a:off x="4154" y="1968"/>
              <a:ext cx="0" cy="480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141" name="Line 22"/>
            <p:cNvSpPr>
              <a:spLocks noChangeShapeType="1"/>
            </p:cNvSpPr>
            <p:nvPr/>
          </p:nvSpPr>
          <p:spPr bwMode="auto">
            <a:xfrm flipH="1">
              <a:off x="3918" y="2441"/>
              <a:ext cx="224" cy="1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971550" y="5272905"/>
            <a:ext cx="72723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令</a:t>
            </a:r>
            <a:r>
              <a:rPr kumimoji="1" lang="zh-CN" altLang="en-US" sz="20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1" lang="zh-CN" altLang="en-US" sz="2000" b="0" i="1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rPr>
              <a:t>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rPr>
              <a:t>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rPr>
              <a:t>=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rPr>
              <a:t>RC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,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称</a:t>
            </a:r>
            <a:r>
              <a:rPr kumimoji="1" lang="zh-CN" altLang="en-US" sz="2000" b="0" i="1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rPr>
              <a:t>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为一阶电路的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楷体_GB2312" pitchFamily="49" charset="-122"/>
                <a:sym typeface="Symbol" pitchFamily="18" charset="2"/>
              </a:rPr>
              <a:t>时间常数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（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Time constant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）</a:t>
            </a:r>
            <a:endParaRPr kumimoji="1" lang="zh-CN" altLang="en-US" sz="2000" dirty="0">
              <a:solidFill>
                <a:schemeClr val="tx1"/>
              </a:solidFill>
              <a:latin typeface="楷体_GB2312" pitchFamily="49" charset="-122"/>
              <a:sym typeface="Symbol" pitchFamily="18" charset="2"/>
            </a:endParaRPr>
          </a:p>
        </p:txBody>
      </p:sp>
      <p:sp>
        <p:nvSpPr>
          <p:cNvPr id="78873" name="Text Box 25"/>
          <p:cNvSpPr txBox="1">
            <a:spLocks noChangeArrowheads="1"/>
          </p:cNvSpPr>
          <p:nvPr/>
        </p:nvSpPr>
        <p:spPr bwMode="auto">
          <a:xfrm>
            <a:off x="323850" y="1381999"/>
            <a:ext cx="8640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/>
            </a:pPr>
            <a:r>
              <a:rPr kumimoji="1"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电压、电流是随时间按同一指数规律衰减的函数；</a:t>
            </a:r>
          </a:p>
        </p:txBody>
      </p:sp>
      <p:sp>
        <p:nvSpPr>
          <p:cNvPr id="78875" name="AutoShape 27" descr="羊皮纸"/>
          <p:cNvSpPr>
            <a:spLocks noChangeArrowheads="1"/>
          </p:cNvSpPr>
          <p:nvPr/>
        </p:nvSpPr>
        <p:spPr bwMode="auto">
          <a:xfrm>
            <a:off x="2977755" y="2328076"/>
            <a:ext cx="1367978" cy="487110"/>
          </a:xfrm>
          <a:prstGeom prst="wedgeRoundRectCallout">
            <a:avLst>
              <a:gd name="adj1" fmla="val -82076"/>
              <a:gd name="adj2" fmla="val 157779"/>
              <a:gd name="adj3" fmla="val 16667"/>
            </a:avLst>
          </a:prstGeom>
          <a:solidFill>
            <a:srgbClr val="66CCFF"/>
          </a:solidFill>
          <a:ln>
            <a:noFill/>
          </a:ln>
          <a:effectLst/>
          <a:extLst/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</a:rPr>
              <a:t>连续函数</a:t>
            </a:r>
          </a:p>
        </p:txBody>
      </p:sp>
      <p:sp>
        <p:nvSpPr>
          <p:cNvPr id="78876" name="AutoShape 28" descr="羊皮纸"/>
          <p:cNvSpPr>
            <a:spLocks noChangeArrowheads="1"/>
          </p:cNvSpPr>
          <p:nvPr/>
        </p:nvSpPr>
        <p:spPr bwMode="auto">
          <a:xfrm>
            <a:off x="6444208" y="2285212"/>
            <a:ext cx="864195" cy="442130"/>
          </a:xfrm>
          <a:prstGeom prst="wedgeRoundRectCallout">
            <a:avLst>
              <a:gd name="adj1" fmla="val -155568"/>
              <a:gd name="adj2" fmla="val 94717"/>
              <a:gd name="adj3" fmla="val 16667"/>
            </a:avLst>
          </a:prstGeom>
          <a:solidFill>
            <a:srgbClr val="66CCFF"/>
          </a:solidFill>
          <a:ln>
            <a:noFill/>
          </a:ln>
          <a:effectLst/>
          <a:extLst/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tx1"/>
                </a:solidFill>
              </a:rPr>
              <a:t>跃变</a:t>
            </a:r>
          </a:p>
        </p:txBody>
      </p:sp>
      <p:sp>
        <p:nvSpPr>
          <p:cNvPr id="78877" name="Text Box 29"/>
          <p:cNvSpPr txBox="1">
            <a:spLocks noChangeArrowheads="1"/>
          </p:cNvSpPr>
          <p:nvPr/>
        </p:nvSpPr>
        <p:spPr bwMode="auto">
          <a:xfrm>
            <a:off x="250825" y="4653136"/>
            <a:ext cx="87487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响应与初始状态成线性关系，其衰减快慢与</a:t>
            </a:r>
            <a:r>
              <a:rPr kumimoji="1"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有关</a:t>
            </a:r>
            <a:r>
              <a:rPr kumimoji="1"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;</a:t>
            </a:r>
          </a:p>
        </p:txBody>
      </p:sp>
      <p:grpSp>
        <p:nvGrpSpPr>
          <p:cNvPr id="78890" name="Group 42"/>
          <p:cNvGrpSpPr>
            <a:grpSpLocks/>
          </p:cNvGrpSpPr>
          <p:nvPr/>
        </p:nvGrpSpPr>
        <p:grpSpPr bwMode="auto">
          <a:xfrm>
            <a:off x="251520" y="489868"/>
            <a:ext cx="1550988" cy="850900"/>
            <a:chOff x="385" y="3022"/>
            <a:chExt cx="977" cy="536"/>
          </a:xfrm>
        </p:grpSpPr>
        <p:pic>
          <p:nvPicPr>
            <p:cNvPr id="5131" name="Picture 43" descr="12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2" name="Text Box 44"/>
            <p:cNvSpPr txBox="1">
              <a:spLocks noChangeArrowheads="1"/>
            </p:cNvSpPr>
            <p:nvPr/>
          </p:nvSpPr>
          <p:spPr bwMode="auto">
            <a:xfrm>
              <a:off x="793" y="3125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表明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7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7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7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7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71" grpId="0" autoUpdateAnimBg="0"/>
      <p:bldP spid="78873" grpId="0" autoUpdateAnimBg="0"/>
      <p:bldP spid="78875" grpId="0" animBg="1"/>
      <p:bldP spid="78876" grpId="0" animBg="1"/>
      <p:bldP spid="7887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1344113" y="1485245"/>
            <a:ext cx="5843564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时间常数</a:t>
            </a:r>
            <a:r>
              <a:rPr kumimoji="1" lang="zh-CN" altLang="en-US" sz="2000" i="1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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 的大小反映了电路过渡过程时间的长短</a:t>
            </a: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3401501" y="720429"/>
            <a:ext cx="1728787" cy="463846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7A0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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= 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RC</a:t>
            </a: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827088" y="2378542"/>
            <a:ext cx="268084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</a:t>
            </a:r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大</a:t>
            </a:r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→</a:t>
            </a:r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过渡过程时间长</a:t>
            </a:r>
          </a:p>
        </p:txBody>
      </p:sp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827088" y="2983379"/>
            <a:ext cx="274656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i="1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 </a:t>
            </a:r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小</a:t>
            </a:r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→</a:t>
            </a:r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过渡过程时间短</a:t>
            </a:r>
          </a:p>
        </p:txBody>
      </p:sp>
      <p:sp>
        <p:nvSpPr>
          <p:cNvPr id="77833" name="Text Box 9"/>
          <p:cNvSpPr txBox="1">
            <a:spLocks noChangeArrowheads="1"/>
          </p:cNvSpPr>
          <p:nvPr/>
        </p:nvSpPr>
        <p:spPr bwMode="auto">
          <a:xfrm>
            <a:off x="3276004" y="4250845"/>
            <a:ext cx="3024188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电压初值一定：</a:t>
            </a:r>
          </a:p>
        </p:txBody>
      </p: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1158026" y="5751143"/>
            <a:ext cx="4894586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R</a:t>
            </a:r>
            <a:r>
              <a:rPr kumimoji="1" lang="en-US" altLang="zh-CN" sz="200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大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（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C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一定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）  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i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= v/R</a:t>
            </a:r>
            <a:r>
              <a:rPr kumimoji="1" lang="en-US" altLang="zh-CN" sz="200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       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放电电流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小</a:t>
            </a:r>
          </a:p>
        </p:txBody>
      </p:sp>
      <p:grpSp>
        <p:nvGrpSpPr>
          <p:cNvPr id="77835" name="Group 11"/>
          <p:cNvGrpSpPr>
            <a:grpSpLocks/>
          </p:cNvGrpSpPr>
          <p:nvPr/>
        </p:nvGrpSpPr>
        <p:grpSpPr bwMode="auto">
          <a:xfrm>
            <a:off x="6083688" y="5108443"/>
            <a:ext cx="1888217" cy="1200877"/>
            <a:chOff x="4221" y="2883"/>
            <a:chExt cx="1393" cy="234"/>
          </a:xfrm>
        </p:grpSpPr>
        <p:sp>
          <p:nvSpPr>
            <p:cNvPr id="6168" name="AutoShape 12"/>
            <p:cNvSpPr>
              <a:spLocks/>
            </p:cNvSpPr>
            <p:nvPr/>
          </p:nvSpPr>
          <p:spPr bwMode="auto">
            <a:xfrm>
              <a:off x="4221" y="2883"/>
              <a:ext cx="204" cy="234"/>
            </a:xfrm>
            <a:prstGeom prst="rightBrace">
              <a:avLst>
                <a:gd name="adj1" fmla="val 108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169" name="Text Box 13"/>
            <p:cNvSpPr txBox="1">
              <a:spLocks noChangeArrowheads="1"/>
            </p:cNvSpPr>
            <p:nvPr/>
          </p:nvSpPr>
          <p:spPr bwMode="auto">
            <a:xfrm>
              <a:off x="4711" y="2900"/>
              <a:ext cx="903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放电时间长</a:t>
              </a:r>
            </a:p>
          </p:txBody>
        </p:sp>
      </p:grpSp>
      <p:grpSp>
        <p:nvGrpSpPr>
          <p:cNvPr id="77838" name="Group 14"/>
          <p:cNvGrpSpPr>
            <a:grpSpLocks/>
          </p:cNvGrpSpPr>
          <p:nvPr/>
        </p:nvGrpSpPr>
        <p:grpSpPr bwMode="auto">
          <a:xfrm>
            <a:off x="5645087" y="1987942"/>
            <a:ext cx="2886865" cy="2229530"/>
            <a:chOff x="3701" y="1087"/>
            <a:chExt cx="1433" cy="1073"/>
          </a:xfrm>
        </p:grpSpPr>
        <p:sp>
          <p:nvSpPr>
            <p:cNvPr id="6157" name="Line 15"/>
            <p:cNvSpPr>
              <a:spLocks noChangeShapeType="1"/>
            </p:cNvSpPr>
            <p:nvPr/>
          </p:nvSpPr>
          <p:spPr bwMode="auto">
            <a:xfrm>
              <a:off x="3759" y="1920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158" name="Line 16"/>
            <p:cNvSpPr>
              <a:spLocks noChangeShapeType="1"/>
            </p:cNvSpPr>
            <p:nvPr/>
          </p:nvSpPr>
          <p:spPr bwMode="auto">
            <a:xfrm flipV="1">
              <a:off x="3951" y="1200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159" name="Freeform 17"/>
            <p:cNvSpPr>
              <a:spLocks/>
            </p:cNvSpPr>
            <p:nvPr/>
          </p:nvSpPr>
          <p:spPr bwMode="auto">
            <a:xfrm>
              <a:off x="3936" y="1440"/>
              <a:ext cx="1041" cy="288"/>
            </a:xfrm>
            <a:custGeom>
              <a:avLst/>
              <a:gdLst>
                <a:gd name="T0" fmla="*/ 0 w 1008"/>
                <a:gd name="T1" fmla="*/ 0 h 432"/>
                <a:gd name="T2" fmla="*/ 248 w 1008"/>
                <a:gd name="T3" fmla="*/ 160 h 432"/>
                <a:gd name="T4" fmla="*/ 694 w 1008"/>
                <a:gd name="T5" fmla="*/ 256 h 432"/>
                <a:gd name="T6" fmla="*/ 1041 w 1008"/>
                <a:gd name="T7" fmla="*/ 288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160" name="Text Box 18"/>
            <p:cNvSpPr txBox="1">
              <a:spLocks noChangeArrowheads="1"/>
            </p:cNvSpPr>
            <p:nvPr/>
          </p:nvSpPr>
          <p:spPr bwMode="auto">
            <a:xfrm>
              <a:off x="3701" y="1393"/>
              <a:ext cx="212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161" name="Text Box 19"/>
            <p:cNvSpPr txBox="1">
              <a:spLocks noChangeArrowheads="1"/>
            </p:cNvSpPr>
            <p:nvPr/>
          </p:nvSpPr>
          <p:spPr bwMode="auto">
            <a:xfrm>
              <a:off x="5007" y="1884"/>
              <a:ext cx="127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162" name="Text Box 20"/>
            <p:cNvSpPr txBox="1">
              <a:spLocks noChangeArrowheads="1"/>
            </p:cNvSpPr>
            <p:nvPr/>
          </p:nvSpPr>
          <p:spPr bwMode="auto">
            <a:xfrm>
              <a:off x="3955" y="1087"/>
              <a:ext cx="186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163" name="Text Box 21"/>
            <p:cNvSpPr txBox="1">
              <a:spLocks noChangeArrowheads="1"/>
            </p:cNvSpPr>
            <p:nvPr/>
          </p:nvSpPr>
          <p:spPr bwMode="auto">
            <a:xfrm>
              <a:off x="3800" y="1899"/>
              <a:ext cx="155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6164" name="Line 22"/>
            <p:cNvSpPr>
              <a:spLocks noChangeShapeType="1"/>
            </p:cNvSpPr>
            <p:nvPr/>
          </p:nvSpPr>
          <p:spPr bwMode="auto">
            <a:xfrm>
              <a:off x="3888" y="1440"/>
              <a:ext cx="96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165" name="Freeform 23"/>
            <p:cNvSpPr>
              <a:spLocks/>
            </p:cNvSpPr>
            <p:nvPr/>
          </p:nvSpPr>
          <p:spPr bwMode="auto">
            <a:xfrm>
              <a:off x="3936" y="1440"/>
              <a:ext cx="768" cy="432"/>
            </a:xfrm>
            <a:custGeom>
              <a:avLst/>
              <a:gdLst>
                <a:gd name="T0" fmla="*/ 0 w 1008"/>
                <a:gd name="T1" fmla="*/ 0 h 432"/>
                <a:gd name="T2" fmla="*/ 183 w 1008"/>
                <a:gd name="T3" fmla="*/ 240 h 432"/>
                <a:gd name="T4" fmla="*/ 512 w 1008"/>
                <a:gd name="T5" fmla="*/ 384 h 432"/>
                <a:gd name="T6" fmla="*/ 768 w 100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 cap="flat" cmpd="sng">
              <a:solidFill>
                <a:srgbClr val="00FF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166" name="Text Box 24"/>
            <p:cNvSpPr txBox="1">
              <a:spLocks noChangeArrowheads="1"/>
            </p:cNvSpPr>
            <p:nvPr/>
          </p:nvSpPr>
          <p:spPr bwMode="auto">
            <a:xfrm>
              <a:off x="4034" y="1728"/>
              <a:ext cx="30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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 </a:t>
              </a:r>
              <a:r>
                <a:rPr kumimoji="1" lang="zh-CN" altLang="en-US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小</a:t>
              </a:r>
            </a:p>
          </p:txBody>
        </p:sp>
        <p:sp>
          <p:nvSpPr>
            <p:cNvPr id="6167" name="Text Box 25"/>
            <p:cNvSpPr txBox="1">
              <a:spLocks noChangeArrowheads="1"/>
            </p:cNvSpPr>
            <p:nvPr/>
          </p:nvSpPr>
          <p:spPr bwMode="auto">
            <a:xfrm>
              <a:off x="4551" y="1470"/>
              <a:ext cx="30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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 </a:t>
              </a:r>
              <a:r>
                <a:rPr kumimoji="1" lang="zh-CN" altLang="en-US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大</a:t>
              </a:r>
            </a:p>
          </p:txBody>
        </p:sp>
      </p:grpSp>
      <p:sp>
        <p:nvSpPr>
          <p:cNvPr id="77850" name="Text Box 26"/>
          <p:cNvSpPr txBox="1">
            <a:spLocks noChangeArrowheads="1"/>
          </p:cNvSpPr>
          <p:nvPr/>
        </p:nvSpPr>
        <p:spPr bwMode="auto">
          <a:xfrm>
            <a:off x="1093385" y="5101855"/>
            <a:ext cx="4335139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C</a:t>
            </a:r>
            <a:r>
              <a:rPr kumimoji="1" lang="en-US" altLang="zh-CN" sz="200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大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（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R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一定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）   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W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=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Cv</a:t>
            </a:r>
            <a:r>
              <a:rPr kumimoji="1" lang="en-US" altLang="zh-CN" sz="2000" b="0" baseline="30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2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/2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  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储能大</a:t>
            </a:r>
          </a:p>
        </p:txBody>
      </p:sp>
      <p:sp>
        <p:nvSpPr>
          <p:cNvPr id="77852" name="Text Box 28"/>
          <p:cNvSpPr txBox="1">
            <a:spLocks noChangeArrowheads="1"/>
          </p:cNvSpPr>
          <p:nvPr/>
        </p:nvSpPr>
        <p:spPr bwMode="auto">
          <a:xfrm>
            <a:off x="611188" y="4195763"/>
            <a:ext cx="1871662" cy="461665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物理含义</a:t>
            </a:r>
          </a:p>
        </p:txBody>
      </p:sp>
      <p:sp>
        <p:nvSpPr>
          <p:cNvPr id="77853" name="AutoShape 29"/>
          <p:cNvSpPr>
            <a:spLocks noChangeArrowheads="1"/>
          </p:cNvSpPr>
          <p:nvPr/>
        </p:nvSpPr>
        <p:spPr bwMode="auto">
          <a:xfrm>
            <a:off x="2627313" y="4340225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7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7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7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77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7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7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uild="p" autoUpdateAnimBg="0"/>
      <p:bldP spid="77827" grpId="0" animBg="1"/>
      <p:bldP spid="77829" grpId="0"/>
      <p:bldP spid="77830" grpId="0"/>
      <p:bldP spid="77833" grpId="0" build="p" autoUpdateAnimBg="0"/>
      <p:bldP spid="77834" grpId="0" build="p" autoUpdateAnimBg="0"/>
      <p:bldP spid="77850" grpId="0" build="p" autoUpdateAnimBg="0"/>
      <p:bldP spid="77852" grpId="0" animBg="1"/>
      <p:bldP spid="778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684213" y="4796909"/>
            <a:ext cx="80645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rgbClr val="FFFF00"/>
              </a:buClr>
            </a:pP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(a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时间常数</a:t>
            </a:r>
            <a:r>
              <a:rPr kumimoji="1" lang="en-US" altLang="zh-CN" sz="20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 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: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电容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电压衰减到原来电压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36.8%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所需的时间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。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/>
            </a:r>
            <a:b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</a:b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工程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上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认为：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3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  <a:sym typeface="Symbol" pitchFamily="18" charset="2"/>
              </a:rPr>
              <a:t>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  <a:sym typeface="Symbol" pitchFamily="18" charset="2"/>
              </a:rPr>
              <a:t>~5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kumimoji="1" lang="en-US" altLang="zh-CN" sz="2000" i="1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000" i="1" dirty="0" smtClean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过渡过程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基本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结束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。</a:t>
            </a:r>
          </a:p>
        </p:txBody>
      </p:sp>
      <p:sp>
        <p:nvSpPr>
          <p:cNvPr id="110625" name="Text Box 33"/>
          <p:cNvSpPr txBox="1">
            <a:spLocks noChangeArrowheads="1"/>
          </p:cNvSpPr>
          <p:nvPr/>
        </p:nvSpPr>
        <p:spPr bwMode="auto">
          <a:xfrm>
            <a:off x="2339752" y="2579787"/>
            <a:ext cx="66967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b="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V</a:t>
            </a:r>
            <a:r>
              <a:rPr kumimoji="1" lang="en-US" altLang="zh-CN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       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0.368</a:t>
            </a:r>
            <a:r>
              <a:rPr kumimoji="1" lang="en-US" altLang="zh-CN" sz="24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     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0.135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     </a:t>
            </a:r>
            <a:r>
              <a:rPr kumimoji="1" lang="en-US" altLang="zh-CN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0.05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          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0.007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 </a:t>
            </a:r>
          </a:p>
        </p:txBody>
      </p:sp>
      <p:grpSp>
        <p:nvGrpSpPr>
          <p:cNvPr id="110643" name="Group 51"/>
          <p:cNvGrpSpPr>
            <a:grpSpLocks/>
          </p:cNvGrpSpPr>
          <p:nvPr/>
        </p:nvGrpSpPr>
        <p:grpSpPr bwMode="auto">
          <a:xfrm>
            <a:off x="468313" y="836712"/>
            <a:ext cx="8297862" cy="2290763"/>
            <a:chOff x="340" y="572"/>
            <a:chExt cx="5227" cy="1443"/>
          </a:xfrm>
        </p:grpSpPr>
        <p:sp>
          <p:nvSpPr>
            <p:cNvPr id="7177" name="Line 34"/>
            <p:cNvSpPr>
              <a:spLocks noChangeShapeType="1"/>
            </p:cNvSpPr>
            <p:nvPr/>
          </p:nvSpPr>
          <p:spPr bwMode="auto">
            <a:xfrm>
              <a:off x="340" y="1026"/>
              <a:ext cx="5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78" name="Line 35"/>
            <p:cNvSpPr>
              <a:spLocks noChangeShapeType="1"/>
            </p:cNvSpPr>
            <p:nvPr/>
          </p:nvSpPr>
          <p:spPr bwMode="auto">
            <a:xfrm>
              <a:off x="1337" y="572"/>
              <a:ext cx="0" cy="1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79" name="Text Box 36"/>
            <p:cNvSpPr txBox="1">
              <a:spLocks noChangeArrowheads="1"/>
            </p:cNvSpPr>
            <p:nvPr/>
          </p:nvSpPr>
          <p:spPr bwMode="auto">
            <a:xfrm>
              <a:off x="934" y="642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t</a:t>
              </a:r>
              <a:endPara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7180" name="Text Box 37"/>
            <p:cNvSpPr txBox="1">
              <a:spLocks noChangeArrowheads="1"/>
            </p:cNvSpPr>
            <p:nvPr/>
          </p:nvSpPr>
          <p:spPr bwMode="auto">
            <a:xfrm>
              <a:off x="1610" y="642"/>
              <a:ext cx="34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0        </a:t>
              </a:r>
              <a:r>
                <a:rPr kumimoji="1" lang="en-US" altLang="zh-CN" sz="2400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4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kumimoji="1" lang="en-US" altLang="zh-CN" sz="24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              </a:t>
              </a: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             </a:t>
              </a: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3</a:t>
              </a:r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     </a:t>
              </a: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     </a:t>
              </a: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 5</a:t>
              </a:r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endPara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graphicFrame>
          <p:nvGraphicFramePr>
            <p:cNvPr id="7181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6277300"/>
                </p:ext>
              </p:extLst>
            </p:nvPr>
          </p:nvGraphicFramePr>
          <p:xfrm>
            <a:off x="494" y="1094"/>
            <a:ext cx="826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5" name="Equation" r:id="rId3" imgW="596880" imgH="304560" progId="Equation.DSMT4">
                    <p:embed/>
                  </p:oleObj>
                </mc:Choice>
                <mc:Fallback>
                  <p:oleObj name="Equation" r:id="rId3" imgW="596880" imgH="30456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" y="1094"/>
                          <a:ext cx="826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FF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2" name="Line 39"/>
            <p:cNvSpPr>
              <a:spLocks noChangeShapeType="1"/>
            </p:cNvSpPr>
            <p:nvPr/>
          </p:nvSpPr>
          <p:spPr bwMode="auto">
            <a:xfrm flipV="1">
              <a:off x="340" y="1570"/>
              <a:ext cx="5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0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Line 35"/>
            <p:cNvSpPr>
              <a:spLocks noChangeShapeType="1"/>
            </p:cNvSpPr>
            <p:nvPr/>
          </p:nvSpPr>
          <p:spPr bwMode="auto">
            <a:xfrm>
              <a:off x="2018" y="572"/>
              <a:ext cx="0" cy="1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Line 35"/>
            <p:cNvSpPr>
              <a:spLocks noChangeShapeType="1"/>
            </p:cNvSpPr>
            <p:nvPr/>
          </p:nvSpPr>
          <p:spPr bwMode="auto">
            <a:xfrm>
              <a:off x="2744" y="572"/>
              <a:ext cx="0" cy="1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Line 35"/>
            <p:cNvSpPr>
              <a:spLocks noChangeShapeType="1"/>
            </p:cNvSpPr>
            <p:nvPr/>
          </p:nvSpPr>
          <p:spPr bwMode="auto">
            <a:xfrm>
              <a:off x="3515" y="572"/>
              <a:ext cx="0" cy="1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35"/>
            <p:cNvSpPr>
              <a:spLocks noChangeShapeType="1"/>
            </p:cNvSpPr>
            <p:nvPr/>
          </p:nvSpPr>
          <p:spPr bwMode="auto">
            <a:xfrm>
              <a:off x="4286" y="572"/>
              <a:ext cx="0" cy="1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0632" name="Text Box 40"/>
          <p:cNvSpPr txBox="1">
            <a:spLocks noChangeArrowheads="1"/>
          </p:cNvSpPr>
          <p:nvPr/>
        </p:nvSpPr>
        <p:spPr bwMode="auto">
          <a:xfrm>
            <a:off x="2411760" y="1787625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    </a:t>
            </a:r>
            <a:r>
              <a:rPr kumimoji="1" lang="en-US" altLang="zh-CN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0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-1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 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-2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       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 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-3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           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 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e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-5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110644" name="Group 52"/>
          <p:cNvGrpSpPr>
            <a:grpSpLocks/>
          </p:cNvGrpSpPr>
          <p:nvPr/>
        </p:nvGrpSpPr>
        <p:grpSpPr bwMode="auto">
          <a:xfrm>
            <a:off x="467544" y="3874244"/>
            <a:ext cx="1550988" cy="850900"/>
            <a:chOff x="385" y="3022"/>
            <a:chExt cx="977" cy="536"/>
          </a:xfrm>
        </p:grpSpPr>
        <p:pic>
          <p:nvPicPr>
            <p:cNvPr id="7175" name="Picture 53" descr="12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6" name="Text Box 54"/>
            <p:cNvSpPr txBox="1">
              <a:spLocks noChangeArrowheads="1"/>
            </p:cNvSpPr>
            <p:nvPr/>
          </p:nvSpPr>
          <p:spPr bwMode="auto">
            <a:xfrm>
              <a:off x="793" y="3182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行楷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build="p" autoUpdateAnimBg="0"/>
      <p:bldP spid="110625" grpId="0"/>
      <p:bldP spid="1106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2916238" y="4090840"/>
            <a:ext cx="161484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 </a:t>
            </a:r>
            <a:r>
              <a:rPr kumimoji="1" lang="zh-CN" altLang="en-US" sz="2400" b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＝</a:t>
            </a:r>
            <a:r>
              <a:rPr kumimoji="1" lang="zh-CN" altLang="en-US" sz="24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en-US" altLang="zh-CN" sz="24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400" b="0" i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kumimoji="1" lang="zh-CN" altLang="en-US" sz="24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－ </a:t>
            </a:r>
            <a:r>
              <a:rPr kumimoji="1" lang="en-US" altLang="zh-CN" sz="24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400" b="0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4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endParaRPr kumimoji="1" lang="en-US" altLang="zh-CN" sz="2400" b="0">
              <a:solidFill>
                <a:schemeClr val="tx1"/>
              </a:solidFill>
              <a:latin typeface="Times New Roman" pitchFamily="18" charset="0"/>
              <a:ea typeface="宋体" charset="-122"/>
              <a:sym typeface="Symbol" pitchFamily="18" charset="2"/>
            </a:endParaRP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899592" y="2017713"/>
            <a:ext cx="43910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时刻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曲线的斜率等于</a:t>
            </a:r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020481"/>
              </p:ext>
            </p:extLst>
          </p:nvPr>
        </p:nvGraphicFramePr>
        <p:xfrm>
          <a:off x="1676578" y="2583627"/>
          <a:ext cx="4125629" cy="944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8" name="Equation" r:id="rId3" imgW="1663560" imgH="380880" progId="Equation.DSMT4">
                  <p:embed/>
                </p:oleObj>
              </mc:Choice>
              <mc:Fallback>
                <p:oleObj name="Equation" r:id="rId3" imgW="1663560" imgH="3808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578" y="2583627"/>
                        <a:ext cx="4125629" cy="944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46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766677"/>
              </p:ext>
            </p:extLst>
          </p:nvPr>
        </p:nvGraphicFramePr>
        <p:xfrm>
          <a:off x="2806700" y="5745092"/>
          <a:ext cx="5954712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9" name="Equation" r:id="rId5" imgW="2743200" imgH="304560" progId="Equation.DSMT4">
                  <p:embed/>
                </p:oleObj>
              </mc:Choice>
              <mc:Fallback>
                <p:oleObj name="Equation" r:id="rId5" imgW="2743200" imgH="30456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5745092"/>
                        <a:ext cx="5954712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8" name="Rectangle 48"/>
          <p:cNvSpPr>
            <a:spLocks noChangeArrowheads="1"/>
          </p:cNvSpPr>
          <p:nvPr/>
        </p:nvSpPr>
        <p:spPr bwMode="auto">
          <a:xfrm>
            <a:off x="5795963" y="4143375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</a:rPr>
              <a:t>次切距的长度</a:t>
            </a:r>
          </a:p>
        </p:txBody>
      </p:sp>
      <p:sp>
        <p:nvSpPr>
          <p:cNvPr id="76849" name="AutoShape 49"/>
          <p:cNvSpPr>
            <a:spLocks noChangeArrowheads="1"/>
          </p:cNvSpPr>
          <p:nvPr/>
        </p:nvSpPr>
        <p:spPr bwMode="auto">
          <a:xfrm>
            <a:off x="4932040" y="4249738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76864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118386"/>
              </p:ext>
            </p:extLst>
          </p:nvPr>
        </p:nvGraphicFramePr>
        <p:xfrm>
          <a:off x="3743325" y="1087214"/>
          <a:ext cx="1280841" cy="728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0" name="Equation" r:id="rId7" imgW="685800" imgH="342720" progId="Equation.DSMT4">
                  <p:embed/>
                </p:oleObj>
              </mc:Choice>
              <mc:Fallback>
                <p:oleObj name="Equation" r:id="rId7" imgW="685800" imgH="34272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5" y="1087214"/>
                        <a:ext cx="1280841" cy="728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72" name="Text Box 72"/>
          <p:cNvSpPr txBox="1">
            <a:spLocks noChangeArrowheads="1"/>
          </p:cNvSpPr>
          <p:nvPr/>
        </p:nvSpPr>
        <p:spPr bwMode="auto">
          <a:xfrm>
            <a:off x="468313" y="549275"/>
            <a:ext cx="784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</a:pP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(b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)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时间常数</a:t>
            </a:r>
            <a:r>
              <a:rPr kumimoji="1" lang="zh-CN" altLang="en-US" sz="2000" i="1" dirty="0">
                <a:solidFill>
                  <a:schemeClr val="tx1"/>
                </a:solidFill>
                <a:ea typeface="仿宋_GB2312" pitchFamily="49" charset="-122"/>
                <a:sym typeface="Symbol" pitchFamily="18" charset="2"/>
              </a:rPr>
              <a:t> </a:t>
            </a:r>
            <a:r>
              <a:rPr kumimoji="1" lang="zh-CN" altLang="en-US" sz="2000" dirty="0">
                <a:solidFill>
                  <a:schemeClr val="tx1"/>
                </a:solidFill>
                <a:sym typeface="Symbol" pitchFamily="18" charset="2"/>
              </a:rPr>
              <a:t>的几何</a:t>
            </a:r>
            <a:r>
              <a:rPr kumimoji="1" lang="zh-CN" altLang="en-US" sz="2000" dirty="0" smtClean="0">
                <a:solidFill>
                  <a:schemeClr val="tx1"/>
                </a:solidFill>
                <a:sym typeface="Symbol" pitchFamily="18" charset="2"/>
              </a:rPr>
              <a:t>意义</a:t>
            </a:r>
            <a:endParaRPr kumimoji="1" lang="zh-CN" altLang="en-US" sz="2000" dirty="0">
              <a:solidFill>
                <a:schemeClr val="tx1"/>
              </a:solidFill>
              <a:latin typeface="楷体_GB2312" pitchFamily="49" charset="-122"/>
              <a:sym typeface="Symbol" pitchFamily="18" charset="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88325" y="3581494"/>
            <a:ext cx="3203555" cy="2530464"/>
            <a:chOff x="570359" y="3716527"/>
            <a:chExt cx="3425002" cy="2747743"/>
          </a:xfrm>
        </p:grpSpPr>
        <p:grpSp>
          <p:nvGrpSpPr>
            <p:cNvPr id="76851" name="Group 51"/>
            <p:cNvGrpSpPr>
              <a:grpSpLocks/>
            </p:cNvGrpSpPr>
            <p:nvPr/>
          </p:nvGrpSpPr>
          <p:grpSpPr bwMode="auto">
            <a:xfrm>
              <a:off x="570359" y="3716527"/>
              <a:ext cx="3425002" cy="2747743"/>
              <a:chOff x="435" y="2089"/>
              <a:chExt cx="1602" cy="1441"/>
            </a:xfrm>
          </p:grpSpPr>
          <p:sp>
            <p:nvSpPr>
              <p:cNvPr id="8205" name="Line 14"/>
              <p:cNvSpPr>
                <a:spLocks noChangeShapeType="1"/>
              </p:cNvSpPr>
              <p:nvPr/>
            </p:nvSpPr>
            <p:spPr bwMode="auto">
              <a:xfrm flipH="1">
                <a:off x="757" y="2677"/>
                <a:ext cx="2" cy="366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999999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 anchor="ctr">
                <a:sp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06" name="Line 15"/>
              <p:cNvSpPr>
                <a:spLocks noChangeShapeType="1"/>
              </p:cNvSpPr>
              <p:nvPr/>
            </p:nvSpPr>
            <p:spPr bwMode="auto">
              <a:xfrm>
                <a:off x="470" y="3036"/>
                <a:ext cx="151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07" name="Line 16"/>
              <p:cNvSpPr>
                <a:spLocks noChangeShapeType="1"/>
              </p:cNvSpPr>
              <p:nvPr/>
            </p:nvSpPr>
            <p:spPr bwMode="auto">
              <a:xfrm flipV="1">
                <a:off x="686" y="2223"/>
                <a:ext cx="0" cy="13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08" name="Freeform 17"/>
              <p:cNvSpPr>
                <a:spLocks/>
              </p:cNvSpPr>
              <p:nvPr/>
            </p:nvSpPr>
            <p:spPr bwMode="auto">
              <a:xfrm>
                <a:off x="686" y="2494"/>
                <a:ext cx="1226" cy="474"/>
              </a:xfrm>
              <a:custGeom>
                <a:avLst/>
                <a:gdLst>
                  <a:gd name="T0" fmla="*/ 0 w 1008"/>
                  <a:gd name="T1" fmla="*/ 0 h 432"/>
                  <a:gd name="T2" fmla="*/ 274 w 1008"/>
                  <a:gd name="T3" fmla="*/ 263 h 432"/>
                  <a:gd name="T4" fmla="*/ 767 w 1008"/>
                  <a:gd name="T5" fmla="*/ 421 h 432"/>
                  <a:gd name="T6" fmla="*/ 1151 w 1008"/>
                  <a:gd name="T7" fmla="*/ 474 h 4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8" h="432">
                    <a:moveTo>
                      <a:pt x="0" y="0"/>
                    </a:moveTo>
                    <a:cubicBezTo>
                      <a:pt x="64" y="88"/>
                      <a:pt x="128" y="176"/>
                      <a:pt x="240" y="240"/>
                    </a:cubicBezTo>
                    <a:cubicBezTo>
                      <a:pt x="352" y="304"/>
                      <a:pt x="544" y="352"/>
                      <a:pt x="672" y="384"/>
                    </a:cubicBezTo>
                    <a:cubicBezTo>
                      <a:pt x="800" y="416"/>
                      <a:pt x="952" y="424"/>
                      <a:pt x="1008" y="432"/>
                    </a:cubicBezTo>
                  </a:path>
                </a:pathLst>
              </a:custGeom>
              <a:noFill/>
              <a:ln w="28575" cap="flat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33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09" name="Text Box 18"/>
              <p:cNvSpPr txBox="1">
                <a:spLocks noChangeArrowheads="1"/>
              </p:cNvSpPr>
              <p:nvPr/>
            </p:nvSpPr>
            <p:spPr bwMode="auto">
              <a:xfrm>
                <a:off x="435" y="2354"/>
                <a:ext cx="221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33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400" b="0" baseline="-250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</a:t>
                </a:r>
                <a:endPara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8210" name="Text Box 19"/>
              <p:cNvSpPr txBox="1">
                <a:spLocks noChangeArrowheads="1"/>
              </p:cNvSpPr>
              <p:nvPr/>
            </p:nvSpPr>
            <p:spPr bwMode="auto">
              <a:xfrm>
                <a:off x="1912" y="2996"/>
                <a:ext cx="125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33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endPara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8211" name="Text Box 20"/>
              <p:cNvSpPr txBox="1">
                <a:spLocks noChangeArrowheads="1"/>
              </p:cNvSpPr>
              <p:nvPr/>
            </p:nvSpPr>
            <p:spPr bwMode="auto">
              <a:xfrm>
                <a:off x="690" y="2089"/>
                <a:ext cx="19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33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4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c</a:t>
                </a:r>
                <a:endPara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8212" name="Text Box 21"/>
              <p:cNvSpPr txBox="1">
                <a:spLocks noChangeArrowheads="1"/>
              </p:cNvSpPr>
              <p:nvPr/>
            </p:nvSpPr>
            <p:spPr bwMode="auto">
              <a:xfrm>
                <a:off x="510" y="3024"/>
                <a:ext cx="157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33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</a:t>
                </a:r>
              </a:p>
            </p:txBody>
          </p:sp>
          <p:sp>
            <p:nvSpPr>
              <p:cNvPr id="8213" name="Line 22"/>
              <p:cNvSpPr>
                <a:spLocks noChangeShapeType="1"/>
              </p:cNvSpPr>
              <p:nvPr/>
            </p:nvSpPr>
            <p:spPr bwMode="auto">
              <a:xfrm>
                <a:off x="651" y="2494"/>
                <a:ext cx="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14" name="Oval 23"/>
              <p:cNvSpPr>
                <a:spLocks noChangeArrowheads="1"/>
              </p:cNvSpPr>
              <p:nvPr/>
            </p:nvSpPr>
            <p:spPr bwMode="auto">
              <a:xfrm>
                <a:off x="1211" y="2821"/>
                <a:ext cx="44" cy="5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999999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15" name="Line 24"/>
              <p:cNvSpPr>
                <a:spLocks noChangeShapeType="1"/>
              </p:cNvSpPr>
              <p:nvPr/>
            </p:nvSpPr>
            <p:spPr bwMode="auto">
              <a:xfrm>
                <a:off x="1234" y="2880"/>
                <a:ext cx="0" cy="1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999999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217" name="Group 26"/>
              <p:cNvGrpSpPr>
                <a:grpSpLocks/>
              </p:cNvGrpSpPr>
              <p:nvPr/>
            </p:nvGrpSpPr>
            <p:grpSpPr bwMode="auto">
              <a:xfrm>
                <a:off x="756" y="3196"/>
                <a:ext cx="482" cy="244"/>
                <a:chOff x="1024" y="2821"/>
                <a:chExt cx="420" cy="216"/>
              </a:xfrm>
            </p:grpSpPr>
            <p:sp>
              <p:nvSpPr>
                <p:cNvPr id="8222" name="Line 27"/>
                <p:cNvSpPr>
                  <a:spLocks noChangeShapeType="1"/>
                </p:cNvSpPr>
                <p:nvPr/>
              </p:nvSpPr>
              <p:spPr bwMode="auto">
                <a:xfrm>
                  <a:off x="1025" y="2882"/>
                  <a:ext cx="0" cy="15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2700000" algn="ctr" rotWithShape="0">
                          <a:srgbClr val="999999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24" name="Line 29"/>
                <p:cNvSpPr>
                  <a:spLocks noChangeShapeType="1"/>
                </p:cNvSpPr>
                <p:nvPr/>
              </p:nvSpPr>
              <p:spPr bwMode="auto">
                <a:xfrm>
                  <a:off x="1024" y="2954"/>
                  <a:ext cx="10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triangl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2700000" algn="ctr" rotWithShape="0">
                          <a:srgbClr val="999999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25" name="Line 30"/>
                <p:cNvSpPr>
                  <a:spLocks noChangeShapeType="1"/>
                </p:cNvSpPr>
                <p:nvPr/>
              </p:nvSpPr>
              <p:spPr bwMode="auto">
                <a:xfrm>
                  <a:off x="1348" y="2958"/>
                  <a:ext cx="9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2700000" algn="ctr" rotWithShape="0">
                          <a:srgbClr val="999999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26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184" y="2821"/>
                  <a:ext cx="132" cy="2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2700000" algn="ctr" rotWithShape="0">
                          <a:srgbClr val="999999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400" b="0" i="1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  <a:sym typeface="Symbol" pitchFamily="18" charset="2"/>
                    </a:rPr>
                    <a:t></a:t>
                  </a:r>
                  <a:endParaRPr kumimoji="1" lang="en-US" altLang="zh-CN" sz="24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sym typeface="Symbol" pitchFamily="18" charset="2"/>
                  </a:endParaRPr>
                </a:p>
              </p:txBody>
            </p:sp>
          </p:grpSp>
          <p:sp>
            <p:nvSpPr>
              <p:cNvPr id="8220" name="Text Box 34"/>
              <p:cNvSpPr txBox="1">
                <a:spLocks noChangeArrowheads="1"/>
              </p:cNvSpPr>
              <p:nvPr/>
            </p:nvSpPr>
            <p:spPr bwMode="auto">
              <a:xfrm>
                <a:off x="685" y="3020"/>
                <a:ext cx="173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r>
                  <a:rPr kumimoji="1" lang="en-US" altLang="zh-CN" sz="2400" b="0" baseline="-250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1</a:t>
                </a:r>
              </a:p>
            </p:txBody>
          </p:sp>
          <p:sp>
            <p:nvSpPr>
              <p:cNvPr id="8221" name="Text Box 35"/>
              <p:cNvSpPr txBox="1">
                <a:spLocks noChangeArrowheads="1"/>
              </p:cNvSpPr>
              <p:nvPr/>
            </p:nvSpPr>
            <p:spPr bwMode="auto">
              <a:xfrm>
                <a:off x="1162" y="3018"/>
                <a:ext cx="286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r>
                  <a:rPr kumimoji="1" lang="en-US" altLang="zh-CN" sz="2400" b="0" baseline="-250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2</a:t>
                </a:r>
              </a:p>
            </p:txBody>
          </p:sp>
        </p:grpSp>
        <p:sp>
          <p:nvSpPr>
            <p:cNvPr id="76812" name="Line 12"/>
            <p:cNvSpPr>
              <a:spLocks noChangeShapeType="1"/>
            </p:cNvSpPr>
            <p:nvPr/>
          </p:nvSpPr>
          <p:spPr bwMode="auto">
            <a:xfrm>
              <a:off x="1266746" y="4681383"/>
              <a:ext cx="992597" cy="840914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9999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Line 27"/>
            <p:cNvSpPr>
              <a:spLocks noChangeShapeType="1"/>
            </p:cNvSpPr>
            <p:nvPr/>
          </p:nvSpPr>
          <p:spPr bwMode="auto">
            <a:xfrm>
              <a:off x="2267744" y="5986218"/>
              <a:ext cx="0" cy="3231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Oval 23"/>
            <p:cNvSpPr>
              <a:spLocks noChangeArrowheads="1"/>
            </p:cNvSpPr>
            <p:nvPr/>
          </p:nvSpPr>
          <p:spPr bwMode="auto">
            <a:xfrm>
              <a:off x="2229595" y="5460296"/>
              <a:ext cx="94070" cy="10106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Oval 23"/>
            <p:cNvSpPr>
              <a:spLocks noChangeArrowheads="1"/>
            </p:cNvSpPr>
            <p:nvPr/>
          </p:nvSpPr>
          <p:spPr bwMode="auto">
            <a:xfrm>
              <a:off x="1208243" y="5465320"/>
              <a:ext cx="94070" cy="10106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Oval 23"/>
            <p:cNvSpPr>
              <a:spLocks noChangeArrowheads="1"/>
            </p:cNvSpPr>
            <p:nvPr/>
          </p:nvSpPr>
          <p:spPr bwMode="auto">
            <a:xfrm>
              <a:off x="1217474" y="4633040"/>
              <a:ext cx="94070" cy="10106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313931"/>
              </p:ext>
            </p:extLst>
          </p:nvPr>
        </p:nvGraphicFramePr>
        <p:xfrm>
          <a:off x="5891735" y="2636912"/>
          <a:ext cx="1637395" cy="944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1" name="Equation" r:id="rId9" imgW="660240" imgH="380880" progId="Equation.DSMT4">
                  <p:embed/>
                </p:oleObj>
              </mc:Choice>
              <mc:Fallback>
                <p:oleObj name="Equation" r:id="rId9" imgW="6602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91735" y="2636912"/>
                        <a:ext cx="1637395" cy="944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7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6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76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6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76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6" grpId="0"/>
      <p:bldP spid="76810" grpId="0" build="p" autoUpdateAnimBg="0"/>
      <p:bldP spid="76848" grpId="0"/>
      <p:bldP spid="76849" grpId="0" animBg="1"/>
      <p:bldP spid="76872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467544" y="548680"/>
            <a:ext cx="17684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buFontTx/>
              <a:buAutoNum type="circleNumDbPlain" startAt="3"/>
            </a:pP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能量关系</a:t>
            </a:r>
          </a:p>
        </p:txBody>
      </p:sp>
      <p:graphicFrame>
        <p:nvGraphicFramePr>
          <p:cNvPr id="757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571341"/>
              </p:ext>
            </p:extLst>
          </p:nvPr>
        </p:nvGraphicFramePr>
        <p:xfrm>
          <a:off x="1123950" y="3949235"/>
          <a:ext cx="1741345" cy="623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96" name="Equation" r:id="rId3" imgW="774360" imgH="291960" progId="Equation.DSMT4">
                  <p:embed/>
                </p:oleObj>
              </mc:Choice>
              <mc:Fallback>
                <p:oleObj name="Equation" r:id="rId3" imgW="774360" imgH="291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3949235"/>
                        <a:ext cx="1741345" cy="6230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3563938" y="404813"/>
            <a:ext cx="49672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电容不断释放能量被电阻吸收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,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直到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全部消耗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完毕。</a:t>
            </a:r>
            <a:endParaRPr kumimoji="1" lang="en-US" altLang="zh-CN" sz="200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75785" name="Text Box 9"/>
          <p:cNvSpPr txBox="1">
            <a:spLocks noChangeArrowheads="1"/>
          </p:cNvSpPr>
          <p:nvPr/>
        </p:nvSpPr>
        <p:spPr bwMode="auto">
          <a:xfrm>
            <a:off x="3851275" y="1716554"/>
            <a:ext cx="396081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设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000" b="0" i="1" baseline="-2500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3635375" y="2478554"/>
            <a:ext cx="3240088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</a:rPr>
              <a:t>电容放出能量：             </a:t>
            </a:r>
          </a:p>
        </p:txBody>
      </p:sp>
      <p:graphicFrame>
        <p:nvGraphicFramePr>
          <p:cNvPr id="757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714308"/>
              </p:ext>
            </p:extLst>
          </p:nvPr>
        </p:nvGraphicFramePr>
        <p:xfrm>
          <a:off x="6655421" y="2348880"/>
          <a:ext cx="864096" cy="723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97" name="Equation" r:id="rId5" imgW="380880" imgH="355320" progId="Equation.DSMT4">
                  <p:embed/>
                </p:oleObj>
              </mc:Choice>
              <mc:Fallback>
                <p:oleObj name="Equation" r:id="rId5" imgW="380880" imgH="3553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5421" y="2348880"/>
                        <a:ext cx="864096" cy="7236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900113" y="3342154"/>
            <a:ext cx="4392612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电阻吸收（消耗）能量：</a:t>
            </a:r>
          </a:p>
        </p:txBody>
      </p:sp>
      <p:graphicFrame>
        <p:nvGraphicFramePr>
          <p:cNvPr id="757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948500"/>
              </p:ext>
            </p:extLst>
          </p:nvPr>
        </p:nvGraphicFramePr>
        <p:xfrm>
          <a:off x="2963863" y="3811588"/>
          <a:ext cx="22891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98" name="Equation" r:id="rId7" imgW="1104840" imgH="469800" progId="Equation.DSMT4">
                  <p:embed/>
                </p:oleObj>
              </mc:Choice>
              <mc:Fallback>
                <p:oleObj name="Equation" r:id="rId7" imgW="1104840" imgH="469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863" y="3811588"/>
                        <a:ext cx="228917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856706"/>
              </p:ext>
            </p:extLst>
          </p:nvPr>
        </p:nvGraphicFramePr>
        <p:xfrm>
          <a:off x="5911247" y="4909153"/>
          <a:ext cx="1039648" cy="735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99" name="Equation" r:id="rId9" imgW="507960" imgH="355320" progId="Equation.DSMT4">
                  <p:embed/>
                </p:oleObj>
              </mc:Choice>
              <mc:Fallback>
                <p:oleObj name="Equation" r:id="rId9" imgW="507960" imgH="35532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1247" y="4909153"/>
                        <a:ext cx="1039648" cy="735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721748"/>
              </p:ext>
            </p:extLst>
          </p:nvPr>
        </p:nvGraphicFramePr>
        <p:xfrm>
          <a:off x="1590248" y="4905928"/>
          <a:ext cx="1909031" cy="741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00" name="Equation" r:id="rId11" imgW="914400" imgH="380880" progId="Equation.DSMT4">
                  <p:embed/>
                </p:oleObj>
              </mc:Choice>
              <mc:Fallback>
                <p:oleObj name="Equation" r:id="rId11" imgW="914400" imgH="38088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248" y="4905928"/>
                        <a:ext cx="1909031" cy="741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733119"/>
              </p:ext>
            </p:extLst>
          </p:nvPr>
        </p:nvGraphicFramePr>
        <p:xfrm>
          <a:off x="3584118" y="4782744"/>
          <a:ext cx="2227634" cy="988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01" name="Equation" r:id="rId13" imgW="1130040" imgH="495000" progId="Equation.DSMT4">
                  <p:embed/>
                </p:oleObj>
              </mc:Choice>
              <mc:Fallback>
                <p:oleObj name="Equation" r:id="rId13" imgW="1130040" imgH="4950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118" y="4782744"/>
                        <a:ext cx="2227634" cy="988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1" name="AutoShape 35"/>
          <p:cNvSpPr>
            <a:spLocks noChangeArrowheads="1"/>
          </p:cNvSpPr>
          <p:nvPr/>
        </p:nvSpPr>
        <p:spPr bwMode="auto">
          <a:xfrm>
            <a:off x="2580159" y="702221"/>
            <a:ext cx="649287" cy="144462"/>
          </a:xfrm>
          <a:prstGeom prst="rightArrow">
            <a:avLst>
              <a:gd name="adj1" fmla="val 50000"/>
              <a:gd name="adj2" fmla="val 112363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75812" name="AutoShape 36"/>
          <p:cNvSpPr>
            <a:spLocks noChangeArrowheads="1"/>
          </p:cNvSpPr>
          <p:nvPr/>
        </p:nvSpPr>
        <p:spPr bwMode="auto">
          <a:xfrm>
            <a:off x="5687218" y="2636838"/>
            <a:ext cx="720725" cy="144462"/>
          </a:xfrm>
          <a:prstGeom prst="rightArrow">
            <a:avLst>
              <a:gd name="adj1" fmla="val 50000"/>
              <a:gd name="adj2" fmla="val 124726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75813" name="AutoShape 37"/>
          <p:cNvSpPr>
            <a:spLocks noChangeArrowheads="1"/>
          </p:cNvSpPr>
          <p:nvPr/>
        </p:nvSpPr>
        <p:spPr bwMode="auto">
          <a:xfrm>
            <a:off x="4211960" y="3471068"/>
            <a:ext cx="792162" cy="144462"/>
          </a:xfrm>
          <a:prstGeom prst="rightArrow">
            <a:avLst>
              <a:gd name="adj1" fmla="val 50000"/>
              <a:gd name="adj2" fmla="val 137088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75827" name="Group 51"/>
          <p:cNvGrpSpPr>
            <a:grpSpLocks/>
          </p:cNvGrpSpPr>
          <p:nvPr/>
        </p:nvGrpSpPr>
        <p:grpSpPr bwMode="auto">
          <a:xfrm>
            <a:off x="827089" y="1341438"/>
            <a:ext cx="2192338" cy="1655762"/>
            <a:chOff x="1201" y="2341"/>
            <a:chExt cx="1381" cy="1043"/>
          </a:xfrm>
        </p:grpSpPr>
        <p:sp>
          <p:nvSpPr>
            <p:cNvPr id="9233" name="Line 52"/>
            <p:cNvSpPr>
              <a:spLocks noChangeShapeType="1"/>
            </p:cNvSpPr>
            <p:nvPr/>
          </p:nvSpPr>
          <p:spPr bwMode="auto">
            <a:xfrm>
              <a:off x="1973" y="2432"/>
              <a:ext cx="288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4" name="Line 53"/>
            <p:cNvSpPr>
              <a:spLocks noChangeShapeType="1"/>
            </p:cNvSpPr>
            <p:nvPr/>
          </p:nvSpPr>
          <p:spPr bwMode="auto">
            <a:xfrm flipV="1">
              <a:off x="1648" y="2341"/>
              <a:ext cx="0" cy="46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5" name="Line 54"/>
            <p:cNvSpPr>
              <a:spLocks noChangeShapeType="1"/>
            </p:cNvSpPr>
            <p:nvPr/>
          </p:nvSpPr>
          <p:spPr bwMode="auto">
            <a:xfrm flipH="1">
              <a:off x="1648" y="2886"/>
              <a:ext cx="7" cy="49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6" name="Line 55"/>
            <p:cNvSpPr>
              <a:spLocks noChangeShapeType="1"/>
            </p:cNvSpPr>
            <p:nvPr/>
          </p:nvSpPr>
          <p:spPr bwMode="auto">
            <a:xfrm>
              <a:off x="1648" y="2341"/>
              <a:ext cx="86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7" name="Line 56"/>
            <p:cNvSpPr>
              <a:spLocks noChangeShapeType="1"/>
            </p:cNvSpPr>
            <p:nvPr/>
          </p:nvSpPr>
          <p:spPr bwMode="auto">
            <a:xfrm>
              <a:off x="1648" y="3384"/>
              <a:ext cx="86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8" name="Line 57"/>
            <p:cNvSpPr>
              <a:spLocks noChangeShapeType="1"/>
            </p:cNvSpPr>
            <p:nvPr/>
          </p:nvSpPr>
          <p:spPr bwMode="auto">
            <a:xfrm>
              <a:off x="2516" y="2341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9" name="Text Box 58"/>
            <p:cNvSpPr txBox="1">
              <a:spLocks noChangeArrowheads="1"/>
            </p:cNvSpPr>
            <p:nvPr/>
          </p:nvSpPr>
          <p:spPr bwMode="auto">
            <a:xfrm>
              <a:off x="1201" y="2658"/>
              <a:ext cx="36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4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240" name="Text Box 59"/>
            <p:cNvSpPr txBox="1">
              <a:spLocks noChangeArrowheads="1"/>
            </p:cNvSpPr>
            <p:nvPr/>
          </p:nvSpPr>
          <p:spPr bwMode="auto">
            <a:xfrm>
              <a:off x="2153" y="2658"/>
              <a:ext cx="26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241" name="Text Box 60"/>
            <p:cNvSpPr txBox="1">
              <a:spLocks noChangeArrowheads="1"/>
            </p:cNvSpPr>
            <p:nvPr/>
          </p:nvSpPr>
          <p:spPr bwMode="auto">
            <a:xfrm>
              <a:off x="1382" y="2474"/>
              <a:ext cx="22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9242" name="Text Box 61"/>
            <p:cNvSpPr txBox="1">
              <a:spLocks noChangeArrowheads="1"/>
            </p:cNvSpPr>
            <p:nvPr/>
          </p:nvSpPr>
          <p:spPr bwMode="auto">
            <a:xfrm>
              <a:off x="1338" y="2947"/>
              <a:ext cx="31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4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anose="05050102010706020507" pitchFamily="18" charset="2"/>
                </a:rPr>
                <a:t></a:t>
              </a:r>
              <a:endParaRPr kumimoji="1" lang="zh-CN" altLang="en-US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243" name="Text Box 62"/>
            <p:cNvSpPr txBox="1">
              <a:spLocks noChangeArrowheads="1"/>
            </p:cNvSpPr>
            <p:nvPr/>
          </p:nvSpPr>
          <p:spPr bwMode="auto">
            <a:xfrm>
              <a:off x="1726" y="2554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244" name="Group 63"/>
            <p:cNvGrpSpPr>
              <a:grpSpLocks/>
            </p:cNvGrpSpPr>
            <p:nvPr/>
          </p:nvGrpSpPr>
          <p:grpSpPr bwMode="auto">
            <a:xfrm>
              <a:off x="1534" y="2795"/>
              <a:ext cx="240" cy="93"/>
              <a:chOff x="3802" y="2478"/>
              <a:chExt cx="240" cy="93"/>
            </a:xfrm>
          </p:grpSpPr>
          <p:sp>
            <p:nvSpPr>
              <p:cNvPr id="9246" name="Line 64"/>
              <p:cNvSpPr>
                <a:spLocks noChangeShapeType="1"/>
              </p:cNvSpPr>
              <p:nvPr/>
            </p:nvSpPr>
            <p:spPr bwMode="auto">
              <a:xfrm flipV="1">
                <a:off x="3802" y="2568"/>
                <a:ext cx="240" cy="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9247" name="Line 65"/>
              <p:cNvSpPr>
                <a:spLocks noChangeShapeType="1"/>
              </p:cNvSpPr>
              <p:nvPr/>
            </p:nvSpPr>
            <p:spPr bwMode="auto">
              <a:xfrm>
                <a:off x="3802" y="2478"/>
                <a:ext cx="240" cy="1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245" name="Rectangle 66"/>
            <p:cNvSpPr>
              <a:spLocks noChangeArrowheads="1"/>
            </p:cNvSpPr>
            <p:nvPr/>
          </p:nvSpPr>
          <p:spPr bwMode="auto">
            <a:xfrm>
              <a:off x="2455" y="265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4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30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3" grpId="0"/>
      <p:bldP spid="75785" grpId="0"/>
      <p:bldP spid="75787" grpId="0"/>
      <p:bldP spid="75789" grpId="0"/>
      <p:bldP spid="75811" grpId="0" animBg="1"/>
      <p:bldP spid="75812" grpId="0" animBg="1"/>
      <p:bldP spid="758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452438" y="413088"/>
            <a:ext cx="8092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二、</a:t>
            </a:r>
            <a:r>
              <a:rPr kumimoji="1" lang="en-US" altLang="zh-CN" sz="2400" i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RL</a:t>
            </a:r>
            <a:r>
              <a:rPr kumimoji="1" lang="zh-CN" altLang="zh-CN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电路的</a:t>
            </a:r>
            <a:r>
              <a:rPr kumimoji="1" lang="zh-CN" altLang="zh-CN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零输入响应</a:t>
            </a:r>
            <a:endParaRPr kumimoji="1" lang="zh-CN" altLang="en-US" sz="2400" dirty="0">
              <a:solidFill>
                <a:srgbClr val="99003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539750" y="3460938"/>
            <a:ext cx="37449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zh-CN" sz="2000" dirty="0">
                <a:solidFill>
                  <a:schemeClr val="tx1"/>
                </a:solidFill>
                <a:latin typeface="Times New Roman" pitchFamily="18" charset="0"/>
              </a:rPr>
              <a:t>特征方程</a:t>
            </a:r>
            <a:r>
              <a:rPr kumimoji="1" lang="zh-CN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Ls+R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000" b="0" i="1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74813" name="Group 61"/>
          <p:cNvGrpSpPr>
            <a:grpSpLocks/>
          </p:cNvGrpSpPr>
          <p:nvPr/>
        </p:nvGrpSpPr>
        <p:grpSpPr bwMode="auto">
          <a:xfrm>
            <a:off x="539751" y="4109766"/>
            <a:ext cx="2039938" cy="688975"/>
            <a:chOff x="2760" y="2128"/>
            <a:chExt cx="1285" cy="434"/>
          </a:xfrm>
        </p:grpSpPr>
        <p:graphicFrame>
          <p:nvGraphicFramePr>
            <p:cNvPr id="1542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0410084"/>
                </p:ext>
              </p:extLst>
            </p:nvPr>
          </p:nvGraphicFramePr>
          <p:xfrm>
            <a:off x="3431" y="2128"/>
            <a:ext cx="614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20" name="Equation" r:id="rId3" imgW="495000" imgH="393480" progId="Equation.DSMT4">
                    <p:embed/>
                  </p:oleObj>
                </mc:Choice>
                <mc:Fallback>
                  <p:oleObj name="Equation" r:id="rId3" imgW="495000" imgH="3934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1" y="2128"/>
                          <a:ext cx="614" cy="4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29" name="Text Box 8"/>
            <p:cNvSpPr txBox="1">
              <a:spLocks noChangeArrowheads="1"/>
            </p:cNvSpPr>
            <p:nvPr/>
          </p:nvSpPr>
          <p:spPr bwMode="auto">
            <a:xfrm>
              <a:off x="2760" y="2222"/>
              <a:ext cx="81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zh-CN" sz="2000" dirty="0">
                  <a:solidFill>
                    <a:schemeClr val="tx1"/>
                  </a:solidFill>
                  <a:latin typeface="楷体_GB2312" pitchFamily="49" charset="-122"/>
                </a:rPr>
                <a:t>特征根 </a:t>
              </a:r>
              <a:endPara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endParaRPr>
            </a:p>
          </p:txBody>
        </p:sp>
      </p:grpSp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538163" y="5013176"/>
            <a:ext cx="2305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代入初始值</a:t>
            </a:r>
            <a:endParaRPr kumimoji="1" lang="zh-CN" altLang="en-US" sz="200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4762" name="Text Box 10"/>
          <p:cNvSpPr txBox="1">
            <a:spLocks noChangeArrowheads="1"/>
          </p:cNvSpPr>
          <p:nvPr/>
        </p:nvSpPr>
        <p:spPr bwMode="auto">
          <a:xfrm>
            <a:off x="3842670" y="5043338"/>
            <a:ext cx="15824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k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  <p:graphicFrame>
        <p:nvGraphicFramePr>
          <p:cNvPr id="747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918572"/>
              </p:ext>
            </p:extLst>
          </p:nvPr>
        </p:nvGraphicFramePr>
        <p:xfrm>
          <a:off x="1033265" y="1307145"/>
          <a:ext cx="2998986" cy="71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21" name="Equation" r:id="rId5" imgW="1536480" imgH="355320" progId="Equation.DSMT4">
                  <p:embed/>
                </p:oleObj>
              </mc:Choice>
              <mc:Fallback>
                <p:oleObj name="Equation" r:id="rId5" imgW="1536480" imgH="35532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265" y="1307145"/>
                        <a:ext cx="2998986" cy="71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128683"/>
              </p:ext>
            </p:extLst>
          </p:nvPr>
        </p:nvGraphicFramePr>
        <p:xfrm>
          <a:off x="922337" y="2250513"/>
          <a:ext cx="2654250" cy="683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22" name="Equation" r:id="rId7" imgW="1206360" imgH="355320" progId="Equation.DSMT4">
                  <p:embed/>
                </p:oleObj>
              </mc:Choice>
              <mc:Fallback>
                <p:oleObj name="Equation" r:id="rId7" imgW="1206360" imgH="35532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7" y="2250513"/>
                        <a:ext cx="2654250" cy="683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12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150065"/>
              </p:ext>
            </p:extLst>
          </p:nvPr>
        </p:nvGraphicFramePr>
        <p:xfrm>
          <a:off x="1461382" y="5627340"/>
          <a:ext cx="5265652" cy="750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23" name="Equation" r:id="rId9" imgW="2984400" imgH="419040" progId="Equation.DSMT4">
                  <p:embed/>
                </p:oleObj>
              </mc:Choice>
              <mc:Fallback>
                <p:oleObj name="Equation" r:id="rId9" imgW="2984400" imgH="41904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382" y="5627340"/>
                        <a:ext cx="5265652" cy="750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814" name="AutoShape 62"/>
          <p:cNvSpPr>
            <a:spLocks noChangeArrowheads="1"/>
          </p:cNvSpPr>
          <p:nvPr/>
        </p:nvSpPr>
        <p:spPr bwMode="auto">
          <a:xfrm>
            <a:off x="2771775" y="5170368"/>
            <a:ext cx="649288" cy="144463"/>
          </a:xfrm>
          <a:prstGeom prst="rightArrow">
            <a:avLst>
              <a:gd name="adj1" fmla="val 50000"/>
              <a:gd name="adj2" fmla="val 112362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74819" name="Group 67"/>
          <p:cNvGrpSpPr>
            <a:grpSpLocks/>
          </p:cNvGrpSpPr>
          <p:nvPr/>
        </p:nvGrpSpPr>
        <p:grpSpPr bwMode="auto">
          <a:xfrm>
            <a:off x="7092948" y="3140968"/>
            <a:ext cx="917021" cy="720725"/>
            <a:chOff x="1520" y="1706"/>
            <a:chExt cx="690" cy="454"/>
          </a:xfrm>
        </p:grpSpPr>
        <p:sp>
          <p:nvSpPr>
            <p:cNvPr id="15426" name="AutoShape 64"/>
            <p:cNvSpPr>
              <a:spLocks noChangeArrowheads="1"/>
            </p:cNvSpPr>
            <p:nvPr/>
          </p:nvSpPr>
          <p:spPr bwMode="auto">
            <a:xfrm>
              <a:off x="1520" y="1706"/>
              <a:ext cx="181" cy="454"/>
            </a:xfrm>
            <a:prstGeom prst="downArrow">
              <a:avLst>
                <a:gd name="adj1" fmla="val 50000"/>
                <a:gd name="adj2" fmla="val 62707"/>
              </a:avLst>
            </a:prstGeom>
            <a:solidFill>
              <a:srgbClr val="00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427" name="Text Box 65"/>
            <p:cNvSpPr txBox="1">
              <a:spLocks noChangeArrowheads="1"/>
            </p:cNvSpPr>
            <p:nvPr/>
          </p:nvSpPr>
          <p:spPr bwMode="auto">
            <a:xfrm>
              <a:off x="1716" y="1796"/>
              <a:ext cx="49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 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&gt; 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74879" name="AutoShape 127"/>
          <p:cNvSpPr>
            <a:spLocks noChangeArrowheads="1"/>
          </p:cNvSpPr>
          <p:nvPr/>
        </p:nvSpPr>
        <p:spPr bwMode="auto">
          <a:xfrm>
            <a:off x="597694" y="5956301"/>
            <a:ext cx="649287" cy="144462"/>
          </a:xfrm>
          <a:prstGeom prst="rightArrow">
            <a:avLst>
              <a:gd name="adj1" fmla="val 50000"/>
              <a:gd name="adj2" fmla="val 112363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74920" name="Group 168"/>
          <p:cNvGrpSpPr>
            <a:grpSpLocks/>
          </p:cNvGrpSpPr>
          <p:nvPr/>
        </p:nvGrpSpPr>
        <p:grpSpPr bwMode="auto">
          <a:xfrm>
            <a:off x="5148263" y="1101503"/>
            <a:ext cx="3622675" cy="1781176"/>
            <a:chOff x="2835" y="1537"/>
            <a:chExt cx="2282" cy="1122"/>
          </a:xfrm>
        </p:grpSpPr>
        <p:sp>
          <p:nvSpPr>
            <p:cNvPr id="15396" name="Oval 169"/>
            <p:cNvSpPr>
              <a:spLocks noChangeArrowheads="1"/>
            </p:cNvSpPr>
            <p:nvPr/>
          </p:nvSpPr>
          <p:spPr bwMode="auto">
            <a:xfrm>
              <a:off x="2835" y="193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15397" name="Line 170"/>
            <p:cNvSpPr>
              <a:spLocks noChangeShapeType="1"/>
            </p:cNvSpPr>
            <p:nvPr/>
          </p:nvSpPr>
          <p:spPr bwMode="auto">
            <a:xfrm flipV="1">
              <a:off x="3016" y="1661"/>
              <a:ext cx="68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398" name="Line 171"/>
            <p:cNvSpPr>
              <a:spLocks noChangeShapeType="1"/>
            </p:cNvSpPr>
            <p:nvPr/>
          </p:nvSpPr>
          <p:spPr bwMode="auto">
            <a:xfrm>
              <a:off x="4830" y="1661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399" name="Text Box 172"/>
            <p:cNvSpPr txBox="1">
              <a:spLocks noChangeArrowheads="1"/>
            </p:cNvSpPr>
            <p:nvPr/>
          </p:nvSpPr>
          <p:spPr bwMode="auto">
            <a:xfrm>
              <a:off x="4513" y="1661"/>
              <a:ext cx="22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400" name="Text Box 173"/>
            <p:cNvSpPr txBox="1">
              <a:spLocks noChangeArrowheads="1"/>
            </p:cNvSpPr>
            <p:nvPr/>
          </p:nvSpPr>
          <p:spPr bwMode="auto">
            <a:xfrm>
              <a:off x="3809" y="2073"/>
              <a:ext cx="7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S(</a:t>
              </a:r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 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=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0)</a:t>
              </a:r>
            </a:p>
          </p:txBody>
        </p:sp>
        <p:sp>
          <p:nvSpPr>
            <p:cNvPr id="15401" name="Text Box 174"/>
            <p:cNvSpPr txBox="1">
              <a:spLocks noChangeArrowheads="1"/>
            </p:cNvSpPr>
            <p:nvPr/>
          </p:nvSpPr>
          <p:spPr bwMode="auto">
            <a:xfrm>
              <a:off x="3194" y="2016"/>
              <a:ext cx="2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402" name="Text Box 175"/>
            <p:cNvSpPr txBox="1">
              <a:spLocks noChangeArrowheads="1"/>
            </p:cNvSpPr>
            <p:nvPr/>
          </p:nvSpPr>
          <p:spPr bwMode="auto">
            <a:xfrm>
              <a:off x="4511" y="2022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15403" name="Group 176"/>
            <p:cNvGrpSpPr>
              <a:grpSpLocks/>
            </p:cNvGrpSpPr>
            <p:nvPr/>
          </p:nvGrpSpPr>
          <p:grpSpPr bwMode="auto">
            <a:xfrm>
              <a:off x="4869" y="1769"/>
              <a:ext cx="248" cy="726"/>
              <a:chOff x="2010" y="763"/>
              <a:chExt cx="239" cy="586"/>
            </a:xfrm>
          </p:grpSpPr>
          <p:grpSp>
            <p:nvGrpSpPr>
              <p:cNvPr id="15422" name="Group 177"/>
              <p:cNvGrpSpPr>
                <a:grpSpLocks/>
              </p:cNvGrpSpPr>
              <p:nvPr/>
            </p:nvGrpSpPr>
            <p:grpSpPr bwMode="auto">
              <a:xfrm>
                <a:off x="2015" y="763"/>
                <a:ext cx="200" cy="586"/>
                <a:chOff x="1583" y="1291"/>
                <a:chExt cx="200" cy="586"/>
              </a:xfrm>
            </p:grpSpPr>
            <p:sp>
              <p:nvSpPr>
                <p:cNvPr id="15424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1583" y="1291"/>
                  <a:ext cx="200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15425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1585" y="1674"/>
                  <a:ext cx="190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15423" name="Text Box 180"/>
              <p:cNvSpPr txBox="1">
                <a:spLocks noChangeArrowheads="1"/>
              </p:cNvSpPr>
              <p:nvPr/>
            </p:nvSpPr>
            <p:spPr bwMode="auto">
              <a:xfrm>
                <a:off x="2010" y="945"/>
                <a:ext cx="239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L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5404" name="Line 181"/>
            <p:cNvSpPr>
              <a:spLocks noChangeShapeType="1"/>
            </p:cNvSpPr>
            <p:nvPr/>
          </p:nvSpPr>
          <p:spPr bwMode="auto">
            <a:xfrm>
              <a:off x="3016" y="1661"/>
              <a:ext cx="0" cy="99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405" name="Line 182"/>
            <p:cNvSpPr>
              <a:spLocks noChangeShapeType="1"/>
            </p:cNvSpPr>
            <p:nvPr/>
          </p:nvSpPr>
          <p:spPr bwMode="auto">
            <a:xfrm flipV="1">
              <a:off x="3016" y="2659"/>
              <a:ext cx="17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406" name="Line 183"/>
            <p:cNvSpPr>
              <a:spLocks noChangeShapeType="1"/>
            </p:cNvSpPr>
            <p:nvPr/>
          </p:nvSpPr>
          <p:spPr bwMode="auto">
            <a:xfrm flipV="1">
              <a:off x="4740" y="2341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407" name="Line 184"/>
            <p:cNvSpPr>
              <a:spLocks noChangeShapeType="1"/>
            </p:cNvSpPr>
            <p:nvPr/>
          </p:nvSpPr>
          <p:spPr bwMode="auto">
            <a:xfrm>
              <a:off x="4740" y="1661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408" name="Line 185"/>
            <p:cNvSpPr>
              <a:spLocks noChangeShapeType="1"/>
            </p:cNvSpPr>
            <p:nvPr/>
          </p:nvSpPr>
          <p:spPr bwMode="auto">
            <a:xfrm flipH="1">
              <a:off x="3642" y="1660"/>
              <a:ext cx="326" cy="4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/>
              <a:tailEnd type="non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409" name="Line 186"/>
            <p:cNvSpPr>
              <a:spLocks noChangeShapeType="1"/>
            </p:cNvSpPr>
            <p:nvPr/>
          </p:nvSpPr>
          <p:spPr bwMode="auto">
            <a:xfrm flipH="1">
              <a:off x="3740" y="1537"/>
              <a:ext cx="135" cy="3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410" name="Text Box 187"/>
            <p:cNvSpPr txBox="1">
              <a:spLocks noChangeArrowheads="1"/>
            </p:cNvSpPr>
            <p:nvPr/>
          </p:nvSpPr>
          <p:spPr bwMode="auto">
            <a:xfrm>
              <a:off x="4214" y="168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413" name="Line 190"/>
            <p:cNvSpPr>
              <a:spLocks noChangeShapeType="1"/>
            </p:cNvSpPr>
            <p:nvPr/>
          </p:nvSpPr>
          <p:spPr bwMode="auto">
            <a:xfrm flipH="1">
              <a:off x="3803" y="1877"/>
              <a:ext cx="5" cy="7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416" name="Text Box 193"/>
            <p:cNvSpPr txBox="1">
              <a:spLocks noChangeArrowheads="1"/>
            </p:cNvSpPr>
            <p:nvPr/>
          </p:nvSpPr>
          <p:spPr bwMode="auto">
            <a:xfrm>
              <a:off x="3015" y="1704"/>
              <a:ext cx="4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5417" name="Text Box 194"/>
            <p:cNvSpPr txBox="1">
              <a:spLocks noChangeArrowheads="1"/>
            </p:cNvSpPr>
            <p:nvPr/>
          </p:nvSpPr>
          <p:spPr bwMode="auto">
            <a:xfrm>
              <a:off x="3016" y="2296"/>
              <a:ext cx="4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70" name="Line 170"/>
            <p:cNvSpPr>
              <a:spLocks noChangeShapeType="1"/>
            </p:cNvSpPr>
            <p:nvPr/>
          </p:nvSpPr>
          <p:spPr bwMode="auto">
            <a:xfrm flipV="1">
              <a:off x="3952" y="1661"/>
              <a:ext cx="78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5418" name="Group 195"/>
            <p:cNvGrpSpPr>
              <a:grpSpLocks/>
            </p:cNvGrpSpPr>
            <p:nvPr/>
          </p:nvGrpSpPr>
          <p:grpSpPr bwMode="auto">
            <a:xfrm>
              <a:off x="4740" y="1979"/>
              <a:ext cx="91" cy="363"/>
              <a:chOff x="2744" y="2931"/>
              <a:chExt cx="57" cy="283"/>
            </a:xfrm>
          </p:grpSpPr>
          <p:sp>
            <p:nvSpPr>
              <p:cNvPr id="15419" name="Arc 196"/>
              <p:cNvSpPr>
                <a:spLocks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5420" name="Arc 197"/>
              <p:cNvSpPr>
                <a:spLocks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5421" name="Arc 198"/>
              <p:cNvSpPr>
                <a:spLocks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414" name="Rectangle 191"/>
            <p:cNvSpPr>
              <a:spLocks noChangeArrowheads="1"/>
            </p:cNvSpPr>
            <p:nvPr/>
          </p:nvSpPr>
          <p:spPr bwMode="auto">
            <a:xfrm>
              <a:off x="4150" y="159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74951" name="Group 199"/>
          <p:cNvGrpSpPr>
            <a:grpSpLocks/>
          </p:cNvGrpSpPr>
          <p:nvPr/>
        </p:nvGrpSpPr>
        <p:grpSpPr bwMode="auto">
          <a:xfrm>
            <a:off x="6300789" y="3717032"/>
            <a:ext cx="2478088" cy="1666875"/>
            <a:chOff x="3969" y="2271"/>
            <a:chExt cx="1561" cy="1050"/>
          </a:xfrm>
        </p:grpSpPr>
        <p:grpSp>
          <p:nvGrpSpPr>
            <p:cNvPr id="15376" name="Group 200"/>
            <p:cNvGrpSpPr>
              <a:grpSpLocks/>
            </p:cNvGrpSpPr>
            <p:nvPr/>
          </p:nvGrpSpPr>
          <p:grpSpPr bwMode="auto">
            <a:xfrm>
              <a:off x="4740" y="2271"/>
              <a:ext cx="272" cy="299"/>
              <a:chOff x="1872" y="566"/>
              <a:chExt cx="240" cy="202"/>
            </a:xfrm>
          </p:grpSpPr>
          <p:sp>
            <p:nvSpPr>
              <p:cNvPr id="15394" name="Line 201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5395" name="Text Box 202"/>
              <p:cNvSpPr txBox="1">
                <a:spLocks noChangeArrowheads="1"/>
              </p:cNvSpPr>
              <p:nvPr/>
            </p:nvSpPr>
            <p:spPr bwMode="auto">
              <a:xfrm>
                <a:off x="1894" y="566"/>
                <a:ext cx="142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i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5377" name="Text Box 203"/>
            <p:cNvSpPr txBox="1">
              <a:spLocks noChangeArrowheads="1"/>
            </p:cNvSpPr>
            <p:nvPr/>
          </p:nvSpPr>
          <p:spPr bwMode="auto">
            <a:xfrm>
              <a:off x="4943" y="276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15378" name="Group 204"/>
            <p:cNvGrpSpPr>
              <a:grpSpLocks/>
            </p:cNvGrpSpPr>
            <p:nvPr/>
          </p:nvGrpSpPr>
          <p:grpSpPr bwMode="auto">
            <a:xfrm>
              <a:off x="5252" y="2595"/>
              <a:ext cx="278" cy="726"/>
              <a:chOff x="2010" y="763"/>
              <a:chExt cx="269" cy="586"/>
            </a:xfrm>
          </p:grpSpPr>
          <p:grpSp>
            <p:nvGrpSpPr>
              <p:cNvPr id="15390" name="Group 205"/>
              <p:cNvGrpSpPr>
                <a:grpSpLocks/>
              </p:cNvGrpSpPr>
              <p:nvPr/>
            </p:nvGrpSpPr>
            <p:grpSpPr bwMode="auto">
              <a:xfrm>
                <a:off x="2077" y="763"/>
                <a:ext cx="202" cy="586"/>
                <a:chOff x="1645" y="1291"/>
                <a:chExt cx="202" cy="586"/>
              </a:xfrm>
            </p:grpSpPr>
            <p:sp>
              <p:nvSpPr>
                <p:cNvPr id="15392" name="Text Box 206"/>
                <p:cNvSpPr txBox="1">
                  <a:spLocks noChangeArrowheads="1"/>
                </p:cNvSpPr>
                <p:nvPr/>
              </p:nvSpPr>
              <p:spPr bwMode="auto">
                <a:xfrm>
                  <a:off x="1645" y="1291"/>
                  <a:ext cx="202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15393" name="Text Box 207"/>
                <p:cNvSpPr txBox="1">
                  <a:spLocks noChangeArrowheads="1"/>
                </p:cNvSpPr>
                <p:nvPr/>
              </p:nvSpPr>
              <p:spPr bwMode="auto">
                <a:xfrm>
                  <a:off x="1646" y="1674"/>
                  <a:ext cx="191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15391" name="Text Box 208"/>
              <p:cNvSpPr txBox="1">
                <a:spLocks noChangeArrowheads="1"/>
              </p:cNvSpPr>
              <p:nvPr/>
            </p:nvSpPr>
            <p:spPr bwMode="auto">
              <a:xfrm>
                <a:off x="2010" y="945"/>
                <a:ext cx="240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L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5379" name="Line 209"/>
            <p:cNvSpPr>
              <a:spLocks noChangeShapeType="1"/>
            </p:cNvSpPr>
            <p:nvPr/>
          </p:nvSpPr>
          <p:spPr bwMode="auto">
            <a:xfrm flipV="1">
              <a:off x="5148" y="3067"/>
              <a:ext cx="0" cy="23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380" name="Text Box 210"/>
            <p:cNvSpPr txBox="1">
              <a:spLocks noChangeArrowheads="1"/>
            </p:cNvSpPr>
            <p:nvPr/>
          </p:nvSpPr>
          <p:spPr bwMode="auto">
            <a:xfrm>
              <a:off x="4283" y="257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381" name="Line 211"/>
            <p:cNvSpPr>
              <a:spLocks noChangeShapeType="1"/>
            </p:cNvSpPr>
            <p:nvPr/>
          </p:nvSpPr>
          <p:spPr bwMode="auto">
            <a:xfrm>
              <a:off x="3969" y="3305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382" name="Line 212"/>
            <p:cNvSpPr>
              <a:spLocks noChangeShapeType="1"/>
            </p:cNvSpPr>
            <p:nvPr/>
          </p:nvSpPr>
          <p:spPr bwMode="auto">
            <a:xfrm>
              <a:off x="3969" y="2523"/>
              <a:ext cx="0" cy="7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383" name="Line 213"/>
            <p:cNvSpPr>
              <a:spLocks noChangeShapeType="1"/>
            </p:cNvSpPr>
            <p:nvPr/>
          </p:nvSpPr>
          <p:spPr bwMode="auto">
            <a:xfrm>
              <a:off x="3969" y="252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384" name="Line 214"/>
            <p:cNvSpPr>
              <a:spLocks noChangeShapeType="1"/>
            </p:cNvSpPr>
            <p:nvPr/>
          </p:nvSpPr>
          <p:spPr bwMode="auto">
            <a:xfrm>
              <a:off x="5148" y="2522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5385" name="Group 215"/>
            <p:cNvGrpSpPr>
              <a:grpSpLocks/>
            </p:cNvGrpSpPr>
            <p:nvPr/>
          </p:nvGrpSpPr>
          <p:grpSpPr bwMode="auto">
            <a:xfrm>
              <a:off x="5148" y="2704"/>
              <a:ext cx="91" cy="363"/>
              <a:chOff x="2744" y="2931"/>
              <a:chExt cx="57" cy="283"/>
            </a:xfrm>
          </p:grpSpPr>
          <p:sp>
            <p:nvSpPr>
              <p:cNvPr id="15387" name="Arc 216"/>
              <p:cNvSpPr>
                <a:spLocks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5388" name="Arc 217"/>
              <p:cNvSpPr>
                <a:spLocks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5389" name="Arc 218"/>
              <p:cNvSpPr>
                <a:spLocks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386" name="Rectangle 219"/>
            <p:cNvSpPr>
              <a:spLocks noChangeArrowheads="1"/>
            </p:cNvSpPr>
            <p:nvPr/>
          </p:nvSpPr>
          <p:spPr bwMode="auto">
            <a:xfrm>
              <a:off x="4241" y="245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522152" y="4183858"/>
            <a:ext cx="2046981" cy="463842"/>
            <a:chOff x="3653503" y="4134106"/>
            <a:chExt cx="2046981" cy="463842"/>
          </a:xfrm>
        </p:grpSpPr>
        <p:graphicFrame>
          <p:nvGraphicFramePr>
            <p:cNvPr id="74811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067467"/>
                </p:ext>
              </p:extLst>
            </p:nvPr>
          </p:nvGraphicFramePr>
          <p:xfrm>
            <a:off x="4467642" y="4134106"/>
            <a:ext cx="1232842" cy="463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24" name="Equation" r:id="rId11" imgW="672840" imgH="241200" progId="Equation.DSMT4">
                    <p:embed/>
                  </p:oleObj>
                </mc:Choice>
                <mc:Fallback>
                  <p:oleObj name="Equation" r:id="rId11" imgW="672840" imgH="241200" progId="Equation.DSMT4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7642" y="4134106"/>
                          <a:ext cx="1232842" cy="4638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Text Box 8"/>
            <p:cNvSpPr txBox="1">
              <a:spLocks noChangeArrowheads="1"/>
            </p:cNvSpPr>
            <p:nvPr/>
          </p:nvSpPr>
          <p:spPr bwMode="auto">
            <a:xfrm>
              <a:off x="3653503" y="4180834"/>
              <a:ext cx="718889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dirty="0" smtClean="0">
                  <a:solidFill>
                    <a:schemeClr val="tx1"/>
                  </a:solidFill>
                  <a:latin typeface="楷体_GB2312" pitchFamily="49" charset="-122"/>
                </a:rPr>
                <a:t>通解</a:t>
              </a:r>
              <a:r>
                <a:rPr kumimoji="1" lang="zh-CN" altLang="zh-CN" sz="2000" dirty="0" smtClean="0">
                  <a:solidFill>
                    <a:schemeClr val="tx1"/>
                  </a:solidFill>
                  <a:latin typeface="楷体_GB2312" pitchFamily="49" charset="-122"/>
                </a:rPr>
                <a:t> </a:t>
              </a:r>
              <a:endPara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7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4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4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4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7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74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7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7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/>
      <p:bldP spid="74757" grpId="0" autoUpdateAnimBg="0"/>
      <p:bldP spid="74761" grpId="0" build="p" autoUpdateAnimBg="0"/>
      <p:bldP spid="74762" grpId="0" build="p" autoUpdateAnimBg="0"/>
      <p:bldP spid="74814" grpId="0" animBg="1"/>
      <p:bldP spid="748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895006"/>
              </p:ext>
            </p:extLst>
          </p:nvPr>
        </p:nvGraphicFramePr>
        <p:xfrm>
          <a:off x="2024974" y="1684339"/>
          <a:ext cx="3205020" cy="79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49" name="Equation" r:id="rId3" imgW="1638000" imgH="419040" progId="Equation.DSMT4">
                  <p:embed/>
                </p:oleObj>
              </mc:Choice>
              <mc:Fallback>
                <p:oleObj name="Equation" r:id="rId3" imgW="1638000" imgH="419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974" y="1684339"/>
                        <a:ext cx="3205020" cy="797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02688"/>
              </p:ext>
            </p:extLst>
          </p:nvPr>
        </p:nvGraphicFramePr>
        <p:xfrm>
          <a:off x="2112591" y="546100"/>
          <a:ext cx="2387401" cy="706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0" name="Equation" r:id="rId5" imgW="1209730" imgH="333285" progId="Equation.DSMT4">
                  <p:embed/>
                </p:oleObj>
              </mc:Choice>
              <mc:Fallback>
                <p:oleObj name="Equation" r:id="rId5" imgW="1209730" imgH="33328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591" y="546100"/>
                        <a:ext cx="2387401" cy="706326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743" name="Group 79"/>
          <p:cNvGrpSpPr>
            <a:grpSpLocks/>
          </p:cNvGrpSpPr>
          <p:nvPr/>
        </p:nvGrpSpPr>
        <p:grpSpPr bwMode="auto">
          <a:xfrm>
            <a:off x="1054101" y="3881437"/>
            <a:ext cx="2782886" cy="2106611"/>
            <a:chOff x="664" y="2445"/>
            <a:chExt cx="1753" cy="1327"/>
          </a:xfrm>
        </p:grpSpPr>
        <p:sp>
          <p:nvSpPr>
            <p:cNvPr id="16427" name="Text Box 14"/>
            <p:cNvSpPr txBox="1">
              <a:spLocks noChangeArrowheads="1"/>
            </p:cNvSpPr>
            <p:nvPr/>
          </p:nvSpPr>
          <p:spPr bwMode="auto">
            <a:xfrm>
              <a:off x="2256" y="3424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6428" name="Line 15"/>
            <p:cNvSpPr>
              <a:spLocks noChangeShapeType="1"/>
            </p:cNvSpPr>
            <p:nvPr/>
          </p:nvSpPr>
          <p:spPr bwMode="auto">
            <a:xfrm>
              <a:off x="775" y="3479"/>
              <a:ext cx="15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429" name="Line 16"/>
            <p:cNvSpPr>
              <a:spLocks noChangeShapeType="1"/>
            </p:cNvSpPr>
            <p:nvPr/>
          </p:nvSpPr>
          <p:spPr bwMode="auto">
            <a:xfrm flipV="1">
              <a:off x="993" y="2602"/>
              <a:ext cx="0" cy="11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430" name="Freeform 17"/>
            <p:cNvSpPr>
              <a:spLocks/>
            </p:cNvSpPr>
            <p:nvPr/>
          </p:nvSpPr>
          <p:spPr bwMode="auto">
            <a:xfrm>
              <a:off x="993" y="2894"/>
              <a:ext cx="1146" cy="527"/>
            </a:xfrm>
            <a:custGeom>
              <a:avLst/>
              <a:gdLst>
                <a:gd name="T0" fmla="*/ 0 w 1008"/>
                <a:gd name="T1" fmla="*/ 0 h 432"/>
                <a:gd name="T2" fmla="*/ 273 w 1008"/>
                <a:gd name="T3" fmla="*/ 293 h 432"/>
                <a:gd name="T4" fmla="*/ 764 w 1008"/>
                <a:gd name="T5" fmla="*/ 468 h 432"/>
                <a:gd name="T6" fmla="*/ 1146 w 1008"/>
                <a:gd name="T7" fmla="*/ 527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431" name="Text Box 18"/>
            <p:cNvSpPr txBox="1">
              <a:spLocks noChangeArrowheads="1"/>
            </p:cNvSpPr>
            <p:nvPr/>
          </p:nvSpPr>
          <p:spPr bwMode="auto">
            <a:xfrm>
              <a:off x="664" y="2634"/>
              <a:ext cx="40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6432" name="Text Box 19"/>
            <p:cNvSpPr txBox="1">
              <a:spLocks noChangeArrowheads="1"/>
            </p:cNvSpPr>
            <p:nvPr/>
          </p:nvSpPr>
          <p:spPr bwMode="auto">
            <a:xfrm>
              <a:off x="1012" y="2445"/>
              <a:ext cx="22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6433" name="Text Box 20"/>
            <p:cNvSpPr txBox="1">
              <a:spLocks noChangeArrowheads="1"/>
            </p:cNvSpPr>
            <p:nvPr/>
          </p:nvSpPr>
          <p:spPr bwMode="auto">
            <a:xfrm>
              <a:off x="796" y="3471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16434" name="Line 21"/>
            <p:cNvSpPr>
              <a:spLocks noChangeShapeType="1"/>
            </p:cNvSpPr>
            <p:nvPr/>
          </p:nvSpPr>
          <p:spPr bwMode="auto">
            <a:xfrm flipV="1">
              <a:off x="703" y="2886"/>
              <a:ext cx="291" cy="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113686" name="AutoShape 22" descr="羊皮纸"/>
          <p:cNvSpPr>
            <a:spLocks noChangeArrowheads="1"/>
          </p:cNvSpPr>
          <p:nvPr/>
        </p:nvSpPr>
        <p:spPr bwMode="auto">
          <a:xfrm>
            <a:off x="2496589" y="4243080"/>
            <a:ext cx="1354024" cy="446974"/>
          </a:xfrm>
          <a:prstGeom prst="wedgeRoundRectCallout">
            <a:avLst>
              <a:gd name="adj1" fmla="val -65959"/>
              <a:gd name="adj2" fmla="val 156282"/>
              <a:gd name="adj3" fmla="val 16667"/>
            </a:avLst>
          </a:prstGeom>
          <a:solidFill>
            <a:srgbClr val="66CCFF"/>
          </a:solidFill>
          <a:ln>
            <a:noFill/>
          </a:ln>
          <a:effectLst/>
          <a:extLst/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</a:rPr>
              <a:t>连续函数</a:t>
            </a:r>
          </a:p>
        </p:txBody>
      </p:sp>
      <p:sp>
        <p:nvSpPr>
          <p:cNvPr id="113688" name="Text Box 24"/>
          <p:cNvSpPr txBox="1">
            <a:spLocks noChangeArrowheads="1"/>
          </p:cNvSpPr>
          <p:nvPr/>
        </p:nvSpPr>
        <p:spPr bwMode="auto">
          <a:xfrm>
            <a:off x="539750" y="3312468"/>
            <a:ext cx="8604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/>
            </a:pP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电压、电流是随时间按同一指数规律衰减的函数；</a:t>
            </a:r>
          </a:p>
        </p:txBody>
      </p:sp>
      <p:grpSp>
        <p:nvGrpSpPr>
          <p:cNvPr id="113696" name="Group 32"/>
          <p:cNvGrpSpPr>
            <a:grpSpLocks/>
          </p:cNvGrpSpPr>
          <p:nvPr/>
        </p:nvGrpSpPr>
        <p:grpSpPr bwMode="auto">
          <a:xfrm>
            <a:off x="611188" y="2565400"/>
            <a:ext cx="1344613" cy="850900"/>
            <a:chOff x="385" y="3022"/>
            <a:chExt cx="847" cy="536"/>
          </a:xfrm>
        </p:grpSpPr>
        <p:pic>
          <p:nvPicPr>
            <p:cNvPr id="16425" name="Picture 33" descr="12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6" name="Text Box 34"/>
            <p:cNvSpPr txBox="1">
              <a:spLocks noChangeArrowheads="1"/>
            </p:cNvSpPr>
            <p:nvPr/>
          </p:nvSpPr>
          <p:spPr bwMode="auto">
            <a:xfrm>
              <a:off x="793" y="3125"/>
              <a:ext cx="43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表明</a:t>
              </a:r>
            </a:p>
          </p:txBody>
        </p:sp>
      </p:grpSp>
      <p:grpSp>
        <p:nvGrpSpPr>
          <p:cNvPr id="113700" name="Group 36"/>
          <p:cNvGrpSpPr>
            <a:grpSpLocks/>
          </p:cNvGrpSpPr>
          <p:nvPr/>
        </p:nvGrpSpPr>
        <p:grpSpPr bwMode="auto">
          <a:xfrm>
            <a:off x="4908553" y="3914775"/>
            <a:ext cx="3033713" cy="2008188"/>
            <a:chOff x="3108" y="2573"/>
            <a:chExt cx="1911" cy="1265"/>
          </a:xfrm>
        </p:grpSpPr>
        <p:grpSp>
          <p:nvGrpSpPr>
            <p:cNvPr id="16415" name="Group 4"/>
            <p:cNvGrpSpPr>
              <a:grpSpLocks/>
            </p:cNvGrpSpPr>
            <p:nvPr/>
          </p:nvGrpSpPr>
          <p:grpSpPr bwMode="auto">
            <a:xfrm>
              <a:off x="3108" y="2573"/>
              <a:ext cx="1911" cy="1265"/>
              <a:chOff x="3711" y="1132"/>
              <a:chExt cx="1595" cy="948"/>
            </a:xfrm>
          </p:grpSpPr>
          <p:sp>
            <p:nvSpPr>
              <p:cNvPr id="16417" name="Line 5"/>
              <p:cNvSpPr>
                <a:spLocks noChangeShapeType="1"/>
              </p:cNvSpPr>
              <p:nvPr/>
            </p:nvSpPr>
            <p:spPr bwMode="auto">
              <a:xfrm>
                <a:off x="3880" y="1504"/>
                <a:ext cx="13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6418" name="Line 6"/>
              <p:cNvSpPr>
                <a:spLocks noChangeShapeType="1"/>
              </p:cNvSpPr>
              <p:nvPr/>
            </p:nvSpPr>
            <p:spPr bwMode="auto">
              <a:xfrm flipV="1">
                <a:off x="4024" y="1264"/>
                <a:ext cx="0" cy="8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6419" name="Freeform 7"/>
              <p:cNvSpPr>
                <a:spLocks/>
              </p:cNvSpPr>
              <p:nvPr/>
            </p:nvSpPr>
            <p:spPr bwMode="auto">
              <a:xfrm>
                <a:off x="4024" y="1552"/>
                <a:ext cx="912" cy="336"/>
              </a:xfrm>
              <a:custGeom>
                <a:avLst/>
                <a:gdLst>
                  <a:gd name="T0" fmla="*/ 0 w 912"/>
                  <a:gd name="T1" fmla="*/ 336 h 336"/>
                  <a:gd name="T2" fmla="*/ 250 w 912"/>
                  <a:gd name="T3" fmla="*/ 115 h 336"/>
                  <a:gd name="T4" fmla="*/ 528 w 912"/>
                  <a:gd name="T5" fmla="*/ 19 h 336"/>
                  <a:gd name="T6" fmla="*/ 912 w 912"/>
                  <a:gd name="T7" fmla="*/ 0 h 3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12" h="336">
                    <a:moveTo>
                      <a:pt x="0" y="336"/>
                    </a:moveTo>
                    <a:cubicBezTo>
                      <a:pt x="42" y="299"/>
                      <a:pt x="162" y="168"/>
                      <a:pt x="250" y="115"/>
                    </a:cubicBezTo>
                    <a:cubicBezTo>
                      <a:pt x="338" y="62"/>
                      <a:pt x="418" y="38"/>
                      <a:pt x="528" y="19"/>
                    </a:cubicBezTo>
                    <a:cubicBezTo>
                      <a:pt x="638" y="0"/>
                      <a:pt x="832" y="4"/>
                      <a:pt x="912" y="0"/>
                    </a:cubicBezTo>
                  </a:path>
                </a:pathLst>
              </a:custGeom>
              <a:noFill/>
              <a:ln w="28575" cap="flat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33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6420" name="Text Box 8"/>
              <p:cNvSpPr txBox="1">
                <a:spLocks noChangeArrowheads="1"/>
              </p:cNvSpPr>
              <p:nvPr/>
            </p:nvSpPr>
            <p:spPr bwMode="auto">
              <a:xfrm>
                <a:off x="3711" y="1793"/>
                <a:ext cx="314" cy="1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33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-</a:t>
                </a:r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RI</a:t>
                </a:r>
                <a:r>
                  <a:rPr kumimoji="1" lang="en-US" altLang="zh-CN" sz="2000" b="0" baseline="-250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</a:t>
                </a:r>
              </a:p>
            </p:txBody>
          </p:sp>
          <p:sp>
            <p:nvSpPr>
              <p:cNvPr id="16421" name="Text Box 9"/>
              <p:cNvSpPr txBox="1">
                <a:spLocks noChangeArrowheads="1"/>
              </p:cNvSpPr>
              <p:nvPr/>
            </p:nvSpPr>
            <p:spPr bwMode="auto">
              <a:xfrm>
                <a:off x="4018" y="1132"/>
                <a:ext cx="207" cy="1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33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L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6422" name="Text Box 10"/>
              <p:cNvSpPr txBox="1">
                <a:spLocks noChangeArrowheads="1"/>
              </p:cNvSpPr>
              <p:nvPr/>
            </p:nvSpPr>
            <p:spPr bwMode="auto">
              <a:xfrm>
                <a:off x="5172" y="1475"/>
                <a:ext cx="134" cy="1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66FF33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6423" name="Line 11"/>
              <p:cNvSpPr>
                <a:spLocks noChangeShapeType="1"/>
              </p:cNvSpPr>
              <p:nvPr/>
            </p:nvSpPr>
            <p:spPr bwMode="auto">
              <a:xfrm>
                <a:off x="3845" y="1500"/>
                <a:ext cx="173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6424" name="Line 12"/>
              <p:cNvSpPr>
                <a:spLocks noChangeShapeType="1"/>
              </p:cNvSpPr>
              <p:nvPr/>
            </p:nvSpPr>
            <p:spPr bwMode="auto">
              <a:xfrm>
                <a:off x="4018" y="1500"/>
                <a:ext cx="0" cy="38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416" name="Text Box 35"/>
            <p:cNvSpPr txBox="1">
              <a:spLocks noChangeArrowheads="1"/>
            </p:cNvSpPr>
            <p:nvPr/>
          </p:nvSpPr>
          <p:spPr bwMode="auto">
            <a:xfrm>
              <a:off x="3304" y="2853"/>
              <a:ext cx="4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pSp>
        <p:nvGrpSpPr>
          <p:cNvPr id="16394" name="Group 58"/>
          <p:cNvGrpSpPr>
            <a:grpSpLocks/>
          </p:cNvGrpSpPr>
          <p:nvPr/>
        </p:nvGrpSpPr>
        <p:grpSpPr bwMode="auto">
          <a:xfrm>
            <a:off x="6227764" y="635001"/>
            <a:ext cx="2411413" cy="1731963"/>
            <a:chOff x="3969" y="2214"/>
            <a:chExt cx="1519" cy="1091"/>
          </a:xfrm>
        </p:grpSpPr>
        <p:grpSp>
          <p:nvGrpSpPr>
            <p:cNvPr id="16395" name="Group 59"/>
            <p:cNvGrpSpPr>
              <a:grpSpLocks/>
            </p:cNvGrpSpPr>
            <p:nvPr/>
          </p:nvGrpSpPr>
          <p:grpSpPr bwMode="auto">
            <a:xfrm>
              <a:off x="4740" y="2214"/>
              <a:ext cx="272" cy="352"/>
              <a:chOff x="1872" y="529"/>
              <a:chExt cx="240" cy="239"/>
            </a:xfrm>
          </p:grpSpPr>
          <p:sp>
            <p:nvSpPr>
              <p:cNvPr id="16413" name="Line 60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6414" name="Text Box 61"/>
              <p:cNvSpPr txBox="1">
                <a:spLocks noChangeArrowheads="1"/>
              </p:cNvSpPr>
              <p:nvPr/>
            </p:nvSpPr>
            <p:spPr bwMode="auto">
              <a:xfrm>
                <a:off x="1894" y="529"/>
                <a:ext cx="142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i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6396" name="Text Box 62"/>
            <p:cNvSpPr txBox="1">
              <a:spLocks noChangeArrowheads="1"/>
            </p:cNvSpPr>
            <p:nvPr/>
          </p:nvSpPr>
          <p:spPr bwMode="auto">
            <a:xfrm>
              <a:off x="4938" y="2749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16397" name="Group 63"/>
            <p:cNvGrpSpPr>
              <a:grpSpLocks/>
            </p:cNvGrpSpPr>
            <p:nvPr/>
          </p:nvGrpSpPr>
          <p:grpSpPr bwMode="auto">
            <a:xfrm>
              <a:off x="5240" y="2477"/>
              <a:ext cx="248" cy="796"/>
              <a:chOff x="2008" y="668"/>
              <a:chExt cx="241" cy="642"/>
            </a:xfrm>
          </p:grpSpPr>
          <p:grpSp>
            <p:nvGrpSpPr>
              <p:cNvPr id="16409" name="Group 64"/>
              <p:cNvGrpSpPr>
                <a:grpSpLocks/>
              </p:cNvGrpSpPr>
              <p:nvPr/>
            </p:nvGrpSpPr>
            <p:grpSpPr bwMode="auto">
              <a:xfrm>
                <a:off x="2008" y="668"/>
                <a:ext cx="202" cy="642"/>
                <a:chOff x="1576" y="1196"/>
                <a:chExt cx="202" cy="642"/>
              </a:xfrm>
            </p:grpSpPr>
            <p:sp>
              <p:nvSpPr>
                <p:cNvPr id="16411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576" y="1196"/>
                  <a:ext cx="202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16412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1577" y="1635"/>
                  <a:ext cx="191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16410" name="Text Box 67"/>
              <p:cNvSpPr txBox="1">
                <a:spLocks noChangeArrowheads="1"/>
              </p:cNvSpPr>
              <p:nvPr/>
            </p:nvSpPr>
            <p:spPr bwMode="auto">
              <a:xfrm>
                <a:off x="2009" y="867"/>
                <a:ext cx="240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L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6398" name="Line 68"/>
            <p:cNvSpPr>
              <a:spLocks noChangeShapeType="1"/>
            </p:cNvSpPr>
            <p:nvPr/>
          </p:nvSpPr>
          <p:spPr bwMode="auto">
            <a:xfrm flipV="1">
              <a:off x="5148" y="3067"/>
              <a:ext cx="0" cy="23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399" name="Text Box 69"/>
            <p:cNvSpPr txBox="1">
              <a:spLocks noChangeArrowheads="1"/>
            </p:cNvSpPr>
            <p:nvPr/>
          </p:nvSpPr>
          <p:spPr bwMode="auto">
            <a:xfrm>
              <a:off x="4299" y="256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6400" name="Line 70"/>
            <p:cNvSpPr>
              <a:spLocks noChangeShapeType="1"/>
            </p:cNvSpPr>
            <p:nvPr/>
          </p:nvSpPr>
          <p:spPr bwMode="auto">
            <a:xfrm>
              <a:off x="3969" y="3305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401" name="Line 71"/>
            <p:cNvSpPr>
              <a:spLocks noChangeShapeType="1"/>
            </p:cNvSpPr>
            <p:nvPr/>
          </p:nvSpPr>
          <p:spPr bwMode="auto">
            <a:xfrm>
              <a:off x="3969" y="2523"/>
              <a:ext cx="0" cy="7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402" name="Line 72"/>
            <p:cNvSpPr>
              <a:spLocks noChangeShapeType="1"/>
            </p:cNvSpPr>
            <p:nvPr/>
          </p:nvSpPr>
          <p:spPr bwMode="auto">
            <a:xfrm>
              <a:off x="3969" y="252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403" name="Line 73"/>
            <p:cNvSpPr>
              <a:spLocks noChangeShapeType="1"/>
            </p:cNvSpPr>
            <p:nvPr/>
          </p:nvSpPr>
          <p:spPr bwMode="auto">
            <a:xfrm>
              <a:off x="5148" y="2522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6404" name="Group 74"/>
            <p:cNvGrpSpPr>
              <a:grpSpLocks/>
            </p:cNvGrpSpPr>
            <p:nvPr/>
          </p:nvGrpSpPr>
          <p:grpSpPr bwMode="auto">
            <a:xfrm>
              <a:off x="5148" y="2704"/>
              <a:ext cx="91" cy="363"/>
              <a:chOff x="2744" y="2931"/>
              <a:chExt cx="57" cy="283"/>
            </a:xfrm>
          </p:grpSpPr>
          <p:sp>
            <p:nvSpPr>
              <p:cNvPr id="16406" name="Arc 75"/>
              <p:cNvSpPr>
                <a:spLocks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6407" name="Arc 76"/>
              <p:cNvSpPr>
                <a:spLocks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6408" name="Arc 77"/>
              <p:cNvSpPr>
                <a:spLocks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405" name="Rectangle 78"/>
            <p:cNvSpPr>
              <a:spLocks noChangeArrowheads="1"/>
            </p:cNvSpPr>
            <p:nvPr/>
          </p:nvSpPr>
          <p:spPr bwMode="auto">
            <a:xfrm>
              <a:off x="4241" y="24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51" name="AutoShape 22" descr="羊皮纸"/>
          <p:cNvSpPr>
            <a:spLocks noChangeArrowheads="1"/>
          </p:cNvSpPr>
          <p:nvPr/>
        </p:nvSpPr>
        <p:spPr bwMode="auto">
          <a:xfrm>
            <a:off x="6209802" y="3947089"/>
            <a:ext cx="817530" cy="443400"/>
          </a:xfrm>
          <a:prstGeom prst="wedgeRoundRectCallout">
            <a:avLst>
              <a:gd name="adj1" fmla="val -137038"/>
              <a:gd name="adj2" fmla="val 122874"/>
              <a:gd name="adj3" fmla="val 16667"/>
            </a:avLst>
          </a:prstGeom>
          <a:solidFill>
            <a:srgbClr val="66CCFF"/>
          </a:solidFill>
          <a:ln>
            <a:noFill/>
          </a:ln>
          <a:effectLst/>
          <a:extLst/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 smtClean="0">
                <a:solidFill>
                  <a:schemeClr val="tx1"/>
                </a:solidFill>
              </a:rPr>
              <a:t>跃变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13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11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86" grpId="0" animBg="1"/>
      <p:bldP spid="113688" grpId="0" autoUpdateAnimBg="0"/>
      <p:bldP spid="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61" name="Text Box 57"/>
          <p:cNvSpPr txBox="1">
            <a:spLocks noChangeArrowheads="1"/>
          </p:cNvSpPr>
          <p:nvPr/>
        </p:nvSpPr>
        <p:spPr bwMode="auto">
          <a:xfrm>
            <a:off x="250825" y="883568"/>
            <a:ext cx="8893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响应与初始状态成线性关系，其衰减快慢与</a:t>
            </a:r>
            <a:r>
              <a:rPr lang="en-US" altLang="zh-CN" sz="2400" b="0" i="1" dirty="0">
                <a:solidFill>
                  <a:schemeClr val="tx1"/>
                </a:solidFill>
                <a:latin typeface="Times New Roman" pitchFamily="18" charset="0"/>
              </a:rPr>
              <a:t>L/</a:t>
            </a:r>
            <a:r>
              <a:rPr lang="en-US" altLang="zh-CN" sz="2400" b="0" dirty="0">
                <a:solidFill>
                  <a:schemeClr val="tx1"/>
                </a:solidFill>
                <a:latin typeface="Times New Roman" pitchFamily="18" charset="0"/>
              </a:rPr>
              <a:t>R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有关</a:t>
            </a: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;</a:t>
            </a:r>
          </a:p>
        </p:txBody>
      </p:sp>
      <p:grpSp>
        <p:nvGrpSpPr>
          <p:cNvPr id="72792" name="Group 88"/>
          <p:cNvGrpSpPr>
            <a:grpSpLocks/>
          </p:cNvGrpSpPr>
          <p:nvPr/>
        </p:nvGrpSpPr>
        <p:grpSpPr bwMode="auto">
          <a:xfrm>
            <a:off x="1476376" y="1507827"/>
            <a:ext cx="5999163" cy="481013"/>
            <a:chOff x="930" y="636"/>
            <a:chExt cx="3779" cy="303"/>
          </a:xfrm>
        </p:grpSpPr>
        <p:sp>
          <p:nvSpPr>
            <p:cNvPr id="17423" name="Text Box 73"/>
            <p:cNvSpPr txBox="1">
              <a:spLocks noChangeArrowheads="1"/>
            </p:cNvSpPr>
            <p:nvPr/>
          </p:nvSpPr>
          <p:spPr bwMode="auto">
            <a:xfrm>
              <a:off x="1016" y="636"/>
              <a:ext cx="369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400" dirty="0">
                  <a:solidFill>
                    <a:schemeClr val="tx1"/>
                  </a:solidFill>
                  <a:latin typeface="楷体_GB2312" pitchFamily="49" charset="-122"/>
                </a:rPr>
                <a:t>令        </a:t>
              </a:r>
              <a:r>
                <a:rPr kumimoji="1" lang="zh-CN" altLang="en-US" sz="2400" dirty="0">
                  <a:solidFill>
                    <a:schemeClr val="tx1"/>
                  </a:solidFill>
                  <a:latin typeface="仿宋_GB2312" pitchFamily="49" charset="-122"/>
                  <a:ea typeface="仿宋_GB2312" pitchFamily="49" charset="-122"/>
                </a:rPr>
                <a:t>        </a:t>
              </a:r>
              <a:r>
                <a:rPr kumimoji="1" lang="zh-CN" altLang="en-US" sz="2000" dirty="0">
                  <a:solidFill>
                    <a:schemeClr val="tx1"/>
                  </a:solidFill>
                  <a:latin typeface="楷体_GB2312" pitchFamily="49" charset="-122"/>
                </a:rPr>
                <a:t>称为一阶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</a:rPr>
                <a:t>RL</a:t>
              </a:r>
              <a:r>
                <a:rPr kumimoji="1" lang="zh-CN" altLang="en-US" sz="2000" dirty="0">
                  <a:solidFill>
                    <a:schemeClr val="tx1"/>
                  </a:solidFill>
                  <a:latin typeface="楷体_GB2312" pitchFamily="49" charset="-122"/>
                </a:rPr>
                <a:t>电路时间常数</a:t>
              </a:r>
            </a:p>
          </p:txBody>
        </p:sp>
        <p:sp>
          <p:nvSpPr>
            <p:cNvPr id="17424" name="Rectangle 75"/>
            <p:cNvSpPr>
              <a:spLocks noChangeArrowheads="1"/>
            </p:cNvSpPr>
            <p:nvPr/>
          </p:nvSpPr>
          <p:spPr bwMode="auto">
            <a:xfrm>
              <a:off x="930" y="647"/>
              <a:ext cx="1587" cy="292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7A00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</a:t>
              </a: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  = </a:t>
              </a:r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L/R</a:t>
              </a:r>
            </a:p>
          </p:txBody>
        </p:sp>
      </p:grpSp>
      <p:sp>
        <p:nvSpPr>
          <p:cNvPr id="72781" name="Rectangle 77"/>
          <p:cNvSpPr>
            <a:spLocks noChangeArrowheads="1"/>
          </p:cNvSpPr>
          <p:nvPr/>
        </p:nvSpPr>
        <p:spPr bwMode="auto">
          <a:xfrm>
            <a:off x="468313" y="2636912"/>
            <a:ext cx="6898739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时间常数</a:t>
            </a:r>
            <a:r>
              <a:rPr kumimoji="1" lang="zh-CN" altLang="en-US" sz="2000" b="0" i="1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</a:t>
            </a:r>
            <a:r>
              <a:rPr kumimoji="1" lang="zh-CN" altLang="en-US" sz="2000" b="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的大小反映了电路过渡过程时间的长短</a:t>
            </a:r>
          </a:p>
        </p:txBody>
      </p:sp>
      <p:sp>
        <p:nvSpPr>
          <p:cNvPr id="72782" name="Text Box 78"/>
          <p:cNvSpPr txBox="1">
            <a:spLocks noChangeArrowheads="1"/>
          </p:cNvSpPr>
          <p:nvPr/>
        </p:nvSpPr>
        <p:spPr bwMode="auto">
          <a:xfrm>
            <a:off x="1520032" y="5397556"/>
            <a:ext cx="6048375" cy="959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L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大</a:t>
            </a:r>
            <a:r>
              <a:rPr kumimoji="1" lang="zh-CN" altLang="en-US" sz="20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W=Li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L</a:t>
            </a:r>
            <a:r>
              <a:rPr kumimoji="1" lang="en-US" altLang="zh-CN" sz="2000" b="0" baseline="3000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2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/2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   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 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起始能量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大</a:t>
            </a:r>
            <a:endParaRPr kumimoji="1" lang="zh-CN" altLang="en-US" sz="2000" dirty="0">
              <a:solidFill>
                <a:schemeClr val="tx1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R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小</a:t>
            </a:r>
            <a:r>
              <a:rPr kumimoji="1" lang="zh-CN" altLang="en-US" sz="20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P=Ri</a:t>
            </a:r>
            <a:r>
              <a:rPr kumimoji="1" lang="en-US" altLang="zh-CN" sz="2000" b="0" baseline="300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1" lang="en-US" altLang="zh-CN" sz="2000" baseline="300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     </a:t>
            </a:r>
            <a:r>
              <a:rPr kumimoji="1" lang="en-US" altLang="zh-CN" sz="2000" baseline="30000" dirty="0" smtClean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放电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过程消耗能量小</a:t>
            </a:r>
            <a:endParaRPr kumimoji="1" lang="zh-CN" altLang="en-US" sz="2000" i="1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grpSp>
        <p:nvGrpSpPr>
          <p:cNvPr id="72791" name="Group 87"/>
          <p:cNvGrpSpPr>
            <a:grpSpLocks/>
          </p:cNvGrpSpPr>
          <p:nvPr/>
        </p:nvGrpSpPr>
        <p:grpSpPr bwMode="auto">
          <a:xfrm>
            <a:off x="5958147" y="5445224"/>
            <a:ext cx="2584449" cy="864096"/>
            <a:chOff x="3833" y="3265"/>
            <a:chExt cx="1628" cy="275"/>
          </a:xfrm>
        </p:grpSpPr>
        <p:sp>
          <p:nvSpPr>
            <p:cNvPr id="17421" name="AutoShape 80"/>
            <p:cNvSpPr>
              <a:spLocks/>
            </p:cNvSpPr>
            <p:nvPr/>
          </p:nvSpPr>
          <p:spPr bwMode="auto">
            <a:xfrm>
              <a:off x="3833" y="3265"/>
              <a:ext cx="82" cy="275"/>
            </a:xfrm>
            <a:prstGeom prst="rightBrace">
              <a:avLst>
                <a:gd name="adj1" fmla="val 49797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7422" name="Text Box 81"/>
            <p:cNvSpPr txBox="1">
              <a:spLocks noChangeArrowheads="1"/>
            </p:cNvSpPr>
            <p:nvPr/>
          </p:nvSpPr>
          <p:spPr bwMode="auto">
            <a:xfrm>
              <a:off x="3980" y="3265"/>
              <a:ext cx="1481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999999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楷体_GB2312" pitchFamily="49" charset="-122"/>
                </a:rPr>
                <a:t>放电慢，</a:t>
              </a:r>
              <a:r>
                <a:rPr kumimoji="1" lang="zh-CN" altLang="en-US" sz="2000" b="0" i="1" dirty="0">
                  <a:solidFill>
                    <a:schemeClr val="tx1"/>
                  </a:solidFill>
                  <a:latin typeface="楷体_GB2312" pitchFamily="49" charset="-122"/>
                  <a:sym typeface="Symbol" pitchFamily="18" charset="2"/>
                </a:rPr>
                <a:t></a:t>
              </a:r>
              <a:r>
                <a:rPr kumimoji="1" lang="zh-CN" altLang="en-US" sz="2000" i="1" dirty="0">
                  <a:solidFill>
                    <a:schemeClr val="tx1"/>
                  </a:solidFill>
                  <a:latin typeface="楷体_GB2312" pitchFamily="49" charset="-122"/>
                  <a:sym typeface="Symbol" pitchFamily="18" charset="2"/>
                </a:rPr>
                <a:t> </a:t>
              </a:r>
              <a:r>
                <a:rPr kumimoji="1" lang="zh-CN" altLang="en-US" sz="2000" dirty="0">
                  <a:solidFill>
                    <a:schemeClr val="tx1"/>
                  </a:solidFill>
                  <a:latin typeface="楷体_GB2312" pitchFamily="49" charset="-122"/>
                  <a:sym typeface="Symbol" pitchFamily="18" charset="2"/>
                </a:rPr>
                <a:t>大</a:t>
              </a:r>
            </a:p>
          </p:txBody>
        </p:sp>
      </p:grpSp>
      <p:sp>
        <p:nvSpPr>
          <p:cNvPr id="72786" name="Text Box 82"/>
          <p:cNvSpPr txBox="1">
            <a:spLocks noChangeArrowheads="1"/>
          </p:cNvSpPr>
          <p:nvPr/>
        </p:nvSpPr>
        <p:spPr bwMode="auto">
          <a:xfrm>
            <a:off x="468313" y="3213175"/>
            <a:ext cx="3744912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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大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→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过渡过程时间长</a:t>
            </a:r>
          </a:p>
        </p:txBody>
      </p:sp>
      <p:sp>
        <p:nvSpPr>
          <p:cNvPr id="72787" name="Text Box 83"/>
          <p:cNvSpPr txBox="1">
            <a:spLocks noChangeArrowheads="1"/>
          </p:cNvSpPr>
          <p:nvPr/>
        </p:nvSpPr>
        <p:spPr bwMode="auto">
          <a:xfrm>
            <a:off x="4572001" y="3194125"/>
            <a:ext cx="3312368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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小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→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过渡过程时间短</a:t>
            </a:r>
          </a:p>
        </p:txBody>
      </p:sp>
      <p:sp>
        <p:nvSpPr>
          <p:cNvPr id="72788" name="Text Box 84"/>
          <p:cNvSpPr txBox="1">
            <a:spLocks noChangeArrowheads="1"/>
          </p:cNvSpPr>
          <p:nvPr/>
        </p:nvSpPr>
        <p:spPr bwMode="auto">
          <a:xfrm>
            <a:off x="539750" y="4570537"/>
            <a:ext cx="1871663" cy="4572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ea typeface="宋体" charset="-122"/>
              </a:rPr>
              <a:t>物理含义</a:t>
            </a:r>
          </a:p>
        </p:txBody>
      </p:sp>
      <p:sp>
        <p:nvSpPr>
          <p:cNvPr id="72789" name="AutoShape 85"/>
          <p:cNvSpPr>
            <a:spLocks noChangeArrowheads="1"/>
          </p:cNvSpPr>
          <p:nvPr/>
        </p:nvSpPr>
        <p:spPr bwMode="auto">
          <a:xfrm>
            <a:off x="2627313" y="4786437"/>
            <a:ext cx="647700" cy="153987"/>
          </a:xfrm>
          <a:prstGeom prst="rightArrow">
            <a:avLst>
              <a:gd name="adj1" fmla="val 50000"/>
              <a:gd name="adj2" fmla="val 105155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790" name="Rectangle 86"/>
          <p:cNvSpPr>
            <a:spLocks noChangeArrowheads="1"/>
          </p:cNvSpPr>
          <p:nvPr/>
        </p:nvSpPr>
        <p:spPr bwMode="auto">
          <a:xfrm>
            <a:off x="3419475" y="4653136"/>
            <a:ext cx="24641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电流初值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</a:rPr>
              <a:t>L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(0)</a:t>
            </a:r>
            <a:r>
              <a:rPr kumimoji="1" lang="zh-CN" altLang="zh-CN" sz="2000" dirty="0">
                <a:solidFill>
                  <a:schemeClr val="tx1"/>
                </a:solidFill>
                <a:latin typeface="楷体_GB2312" pitchFamily="49" charset="-122"/>
              </a:rPr>
              <a:t>一定：</a:t>
            </a:r>
            <a:endParaRPr kumimoji="1" lang="zh-CN" altLang="en-US" sz="2000" dirty="0">
              <a:solidFill>
                <a:schemeClr val="tx1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2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7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7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2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2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61" grpId="0" autoUpdateAnimBg="0"/>
      <p:bldP spid="72781" grpId="0" build="p" autoUpdateAnimBg="0"/>
      <p:bldP spid="72782" grpId="0" build="p" autoUpdateAnimBg="0"/>
      <p:bldP spid="72786" grpId="0"/>
      <p:bldP spid="72787" grpId="0"/>
      <p:bldP spid="72788" grpId="0" animBg="1"/>
      <p:bldP spid="72789" grpId="0" animBg="1"/>
      <p:bldP spid="7279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684213" y="650875"/>
            <a:ext cx="2663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3"/>
            </a:pPr>
            <a:r>
              <a:rPr kumimoji="1" lang="zh-CN" altLang="en-US" sz="2400">
                <a:solidFill>
                  <a:schemeClr val="tx1"/>
                </a:solidFill>
                <a:latin typeface="楷体_GB2312" pitchFamily="49" charset="-122"/>
              </a:rPr>
              <a:t>能量关系</a:t>
            </a:r>
          </a:p>
        </p:txBody>
      </p:sp>
      <p:graphicFrame>
        <p:nvGraphicFramePr>
          <p:cNvPr id="706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316564"/>
              </p:ext>
            </p:extLst>
          </p:nvPr>
        </p:nvGraphicFramePr>
        <p:xfrm>
          <a:off x="1556693" y="4350005"/>
          <a:ext cx="1788589" cy="702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47" name="Equation" r:id="rId3" imgW="863280" imgH="330120" progId="Equation.DSMT4">
                  <p:embed/>
                </p:oleObj>
              </mc:Choice>
              <mc:Fallback>
                <p:oleObj name="Equation" r:id="rId3" imgW="863280" imgH="3301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693" y="4350005"/>
                        <a:ext cx="1788589" cy="702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3635375" y="549275"/>
            <a:ext cx="51133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电感不断释放能量被电阻吸收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,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直到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全部消耗完毕。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3995738" y="1685777"/>
            <a:ext cx="3240087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设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</a:t>
            </a:r>
            <a:r>
              <a:rPr kumimoji="1" lang="en-US" altLang="zh-CN" sz="24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4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</a:t>
            </a:r>
            <a:r>
              <a:rPr kumimoji="1" lang="en-US" altLang="zh-CN" sz="24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400" b="0" i="1" baseline="-2500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3960317" y="2394417"/>
            <a:ext cx="205184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电感放出能量：             </a:t>
            </a:r>
          </a:p>
        </p:txBody>
      </p:sp>
      <p:graphicFrame>
        <p:nvGraphicFramePr>
          <p:cNvPr id="706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254625"/>
              </p:ext>
            </p:extLst>
          </p:nvPr>
        </p:nvGraphicFramePr>
        <p:xfrm>
          <a:off x="6876256" y="2211759"/>
          <a:ext cx="893463" cy="767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48" name="Equation" r:id="rId5" imgW="380880" imgH="393480" progId="Equation.DSMT4">
                  <p:embed/>
                </p:oleObj>
              </mc:Choice>
              <mc:Fallback>
                <p:oleObj name="Equation" r:id="rId5" imgW="38088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2211759"/>
                        <a:ext cx="893463" cy="767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755650" y="3645024"/>
            <a:ext cx="460851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9999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电阻吸收（消耗）能量：</a:t>
            </a:r>
          </a:p>
        </p:txBody>
      </p:sp>
      <p:graphicFrame>
        <p:nvGraphicFramePr>
          <p:cNvPr id="706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845430"/>
              </p:ext>
            </p:extLst>
          </p:nvPr>
        </p:nvGraphicFramePr>
        <p:xfrm>
          <a:off x="3421512" y="4302380"/>
          <a:ext cx="2114723" cy="693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49" name="Equation" r:id="rId7" imgW="1180800" imgH="380880" progId="Equation.DSMT4">
                  <p:embed/>
                </p:oleObj>
              </mc:Choice>
              <mc:Fallback>
                <p:oleObj name="Equation" r:id="rId7" imgW="1180800" imgH="3808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512" y="4302380"/>
                        <a:ext cx="2114723" cy="6934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550894"/>
              </p:ext>
            </p:extLst>
          </p:nvPr>
        </p:nvGraphicFramePr>
        <p:xfrm>
          <a:off x="6760467" y="5452919"/>
          <a:ext cx="1051893" cy="779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50" name="Equation" r:id="rId9" imgW="533160" imgH="393480" progId="Equation.DSMT4">
                  <p:embed/>
                </p:oleObj>
              </mc:Choice>
              <mc:Fallback>
                <p:oleObj name="Equation" r:id="rId9" imgW="533160" imgH="3934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0467" y="5452919"/>
                        <a:ext cx="1051893" cy="779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675278"/>
              </p:ext>
            </p:extLst>
          </p:nvPr>
        </p:nvGraphicFramePr>
        <p:xfrm>
          <a:off x="2014388" y="5454508"/>
          <a:ext cx="2111125" cy="75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51" name="Equation" r:id="rId11" imgW="1079280" imgH="380880" progId="Equation.DSMT4">
                  <p:embed/>
                </p:oleObj>
              </mc:Choice>
              <mc:Fallback>
                <p:oleObj name="Equation" r:id="rId11" imgW="1079280" imgH="3808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388" y="5454508"/>
                        <a:ext cx="2111125" cy="754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033783"/>
              </p:ext>
            </p:extLst>
          </p:nvPr>
        </p:nvGraphicFramePr>
        <p:xfrm>
          <a:off x="4068763" y="5335588"/>
          <a:ext cx="2627312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52" name="Equation" r:id="rId13" imgW="1409400" imgH="545760" progId="Equation.DSMT4">
                  <p:embed/>
                </p:oleObj>
              </mc:Choice>
              <mc:Fallback>
                <p:oleObj name="Equation" r:id="rId13" imgW="1409400" imgH="54576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5335588"/>
                        <a:ext cx="2627312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90" name="AutoShape 34"/>
          <p:cNvSpPr>
            <a:spLocks noChangeArrowheads="1"/>
          </p:cNvSpPr>
          <p:nvPr/>
        </p:nvSpPr>
        <p:spPr bwMode="auto">
          <a:xfrm>
            <a:off x="2771775" y="836613"/>
            <a:ext cx="720725" cy="144462"/>
          </a:xfrm>
          <a:prstGeom prst="rightArrow">
            <a:avLst>
              <a:gd name="adj1" fmla="val 50000"/>
              <a:gd name="adj2" fmla="val 124726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691" name="AutoShape 35"/>
          <p:cNvSpPr>
            <a:spLocks noChangeArrowheads="1"/>
          </p:cNvSpPr>
          <p:nvPr/>
        </p:nvSpPr>
        <p:spPr bwMode="auto">
          <a:xfrm>
            <a:off x="6084888" y="2552700"/>
            <a:ext cx="647700" cy="155575"/>
          </a:xfrm>
          <a:prstGeom prst="rightArrow">
            <a:avLst>
              <a:gd name="adj1" fmla="val 50000"/>
              <a:gd name="adj2" fmla="val 104082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692" name="AutoShape 36"/>
          <p:cNvSpPr>
            <a:spLocks noChangeArrowheads="1"/>
          </p:cNvSpPr>
          <p:nvPr/>
        </p:nvSpPr>
        <p:spPr bwMode="auto">
          <a:xfrm>
            <a:off x="4044416" y="3771624"/>
            <a:ext cx="720725" cy="157162"/>
          </a:xfrm>
          <a:prstGeom prst="rightArrow">
            <a:avLst>
              <a:gd name="adj1" fmla="val 50000"/>
              <a:gd name="adj2" fmla="val 114647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70750" name="Group 94"/>
          <p:cNvGrpSpPr>
            <a:grpSpLocks/>
          </p:cNvGrpSpPr>
          <p:nvPr/>
        </p:nvGrpSpPr>
        <p:grpSpPr bwMode="auto">
          <a:xfrm>
            <a:off x="827090" y="1589535"/>
            <a:ext cx="2451101" cy="1636713"/>
            <a:chOff x="3969" y="2274"/>
            <a:chExt cx="1544" cy="1031"/>
          </a:xfrm>
        </p:grpSpPr>
        <p:grpSp>
          <p:nvGrpSpPr>
            <p:cNvPr id="18449" name="Group 95"/>
            <p:cNvGrpSpPr>
              <a:grpSpLocks/>
            </p:cNvGrpSpPr>
            <p:nvPr/>
          </p:nvGrpSpPr>
          <p:grpSpPr bwMode="auto">
            <a:xfrm>
              <a:off x="4740" y="2274"/>
              <a:ext cx="272" cy="296"/>
              <a:chOff x="1872" y="568"/>
              <a:chExt cx="240" cy="200"/>
            </a:xfrm>
          </p:grpSpPr>
          <p:sp>
            <p:nvSpPr>
              <p:cNvPr id="18467" name="Line 96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8468" name="Text Box 97"/>
              <p:cNvSpPr txBox="1">
                <a:spLocks noChangeArrowheads="1"/>
              </p:cNvSpPr>
              <p:nvPr/>
            </p:nvSpPr>
            <p:spPr bwMode="auto">
              <a:xfrm>
                <a:off x="1894" y="568"/>
                <a:ext cx="142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i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8450" name="Text Box 98"/>
            <p:cNvSpPr txBox="1">
              <a:spLocks noChangeArrowheads="1"/>
            </p:cNvSpPr>
            <p:nvPr/>
          </p:nvSpPr>
          <p:spPr bwMode="auto">
            <a:xfrm>
              <a:off x="4938" y="2752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18451" name="Group 99"/>
            <p:cNvGrpSpPr>
              <a:grpSpLocks/>
            </p:cNvGrpSpPr>
            <p:nvPr/>
          </p:nvGrpSpPr>
          <p:grpSpPr bwMode="auto">
            <a:xfrm>
              <a:off x="5263" y="2525"/>
              <a:ext cx="250" cy="726"/>
              <a:chOff x="2020" y="707"/>
              <a:chExt cx="242" cy="586"/>
            </a:xfrm>
          </p:grpSpPr>
          <p:grpSp>
            <p:nvGrpSpPr>
              <p:cNvPr id="18463" name="Group 100"/>
              <p:cNvGrpSpPr>
                <a:grpSpLocks/>
              </p:cNvGrpSpPr>
              <p:nvPr/>
            </p:nvGrpSpPr>
            <p:grpSpPr bwMode="auto">
              <a:xfrm>
                <a:off x="2020" y="707"/>
                <a:ext cx="202" cy="586"/>
                <a:chOff x="1588" y="1235"/>
                <a:chExt cx="202" cy="586"/>
              </a:xfrm>
            </p:grpSpPr>
            <p:sp>
              <p:nvSpPr>
                <p:cNvPr id="18465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1588" y="1235"/>
                  <a:ext cx="202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18466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1589" y="1618"/>
                  <a:ext cx="191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18464" name="Text Box 103"/>
              <p:cNvSpPr txBox="1">
                <a:spLocks noChangeArrowheads="1"/>
              </p:cNvSpPr>
              <p:nvPr/>
            </p:nvSpPr>
            <p:spPr bwMode="auto">
              <a:xfrm>
                <a:off x="2022" y="889"/>
                <a:ext cx="240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L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8452" name="Line 104"/>
            <p:cNvSpPr>
              <a:spLocks noChangeShapeType="1"/>
            </p:cNvSpPr>
            <p:nvPr/>
          </p:nvSpPr>
          <p:spPr bwMode="auto">
            <a:xfrm flipV="1">
              <a:off x="5148" y="3067"/>
              <a:ext cx="0" cy="23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453" name="Text Box 105"/>
            <p:cNvSpPr txBox="1">
              <a:spLocks noChangeArrowheads="1"/>
            </p:cNvSpPr>
            <p:nvPr/>
          </p:nvSpPr>
          <p:spPr bwMode="auto">
            <a:xfrm>
              <a:off x="4287" y="2526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8454" name="Line 106"/>
            <p:cNvSpPr>
              <a:spLocks noChangeShapeType="1"/>
            </p:cNvSpPr>
            <p:nvPr/>
          </p:nvSpPr>
          <p:spPr bwMode="auto">
            <a:xfrm>
              <a:off x="3969" y="3305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455" name="Line 107"/>
            <p:cNvSpPr>
              <a:spLocks noChangeShapeType="1"/>
            </p:cNvSpPr>
            <p:nvPr/>
          </p:nvSpPr>
          <p:spPr bwMode="auto">
            <a:xfrm>
              <a:off x="3969" y="2523"/>
              <a:ext cx="0" cy="7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456" name="Line 108"/>
            <p:cNvSpPr>
              <a:spLocks noChangeShapeType="1"/>
            </p:cNvSpPr>
            <p:nvPr/>
          </p:nvSpPr>
          <p:spPr bwMode="auto">
            <a:xfrm>
              <a:off x="3969" y="252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457" name="Line 109"/>
            <p:cNvSpPr>
              <a:spLocks noChangeShapeType="1"/>
            </p:cNvSpPr>
            <p:nvPr/>
          </p:nvSpPr>
          <p:spPr bwMode="auto">
            <a:xfrm>
              <a:off x="5148" y="2522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8458" name="Group 110"/>
            <p:cNvGrpSpPr>
              <a:grpSpLocks/>
            </p:cNvGrpSpPr>
            <p:nvPr/>
          </p:nvGrpSpPr>
          <p:grpSpPr bwMode="auto">
            <a:xfrm>
              <a:off x="5148" y="2704"/>
              <a:ext cx="91" cy="363"/>
              <a:chOff x="2744" y="2931"/>
              <a:chExt cx="57" cy="283"/>
            </a:xfrm>
          </p:grpSpPr>
          <p:sp>
            <p:nvSpPr>
              <p:cNvPr id="18460" name="Arc 111"/>
              <p:cNvSpPr>
                <a:spLocks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8461" name="Arc 112"/>
              <p:cNvSpPr>
                <a:spLocks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8462" name="Arc 113"/>
              <p:cNvSpPr>
                <a:spLocks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459" name="Rectangle 114"/>
            <p:cNvSpPr>
              <a:spLocks noChangeArrowheads="1"/>
            </p:cNvSpPr>
            <p:nvPr/>
          </p:nvSpPr>
          <p:spPr bwMode="auto">
            <a:xfrm>
              <a:off x="4241" y="245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0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70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7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2" grpId="0" autoUpdateAnimBg="0"/>
      <p:bldP spid="70664" grpId="0"/>
      <p:bldP spid="70665" grpId="0" build="p" autoUpdateAnimBg="0"/>
      <p:bldP spid="70666" grpId="0"/>
      <p:bldP spid="70668" grpId="0" build="p" autoUpdateAnimBg="0"/>
      <p:bldP spid="70690" grpId="0" animBg="1"/>
      <p:bldP spid="70691" grpId="0" animBg="1"/>
      <p:bldP spid="7069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611188" y="1339761"/>
            <a:ext cx="77152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circleNumDbPlain"/>
            </a:pP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一阶电路的零输入响应是由储能元件的初值引起的响应</a:t>
            </a:r>
            <a:r>
              <a:rPr kumimoji="1"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,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都是由初始值衰减为零的指数衰减函数。</a:t>
            </a:r>
          </a:p>
        </p:txBody>
      </p:sp>
      <p:sp>
        <p:nvSpPr>
          <p:cNvPr id="22531" name="Text Box 11"/>
          <p:cNvSpPr txBox="1">
            <a:spLocks noChangeArrowheads="1"/>
          </p:cNvSpPr>
          <p:nvPr/>
        </p:nvSpPr>
        <p:spPr bwMode="auto">
          <a:xfrm>
            <a:off x="2374900" y="23526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kumimoji="1" lang="zh-CN" altLang="zh-CN" sz="2400" b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675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484777"/>
              </p:ext>
            </p:extLst>
          </p:nvPr>
        </p:nvGraphicFramePr>
        <p:xfrm>
          <a:off x="3220187" y="2799209"/>
          <a:ext cx="2071894" cy="66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" name="公式" r:id="rId3" imgW="1095314" imgH="343016" progId="Equation.3">
                  <p:embed/>
                </p:oleObj>
              </mc:Choice>
              <mc:Fallback>
                <p:oleObj name="公式" r:id="rId3" imgW="1095314" imgH="34301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0187" y="2799209"/>
                        <a:ext cx="2071894" cy="66323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CC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609" name="Group 25"/>
          <p:cNvGrpSpPr>
            <a:grpSpLocks/>
          </p:cNvGrpSpPr>
          <p:nvPr/>
        </p:nvGrpSpPr>
        <p:grpSpPr bwMode="auto">
          <a:xfrm>
            <a:off x="2424491" y="4426619"/>
            <a:ext cx="4451765" cy="1090613"/>
            <a:chOff x="2925" y="1318"/>
            <a:chExt cx="2370" cy="687"/>
          </a:xfrm>
        </p:grpSpPr>
        <p:sp>
          <p:nvSpPr>
            <p:cNvPr id="22537" name="Text Box 15"/>
            <p:cNvSpPr txBox="1">
              <a:spLocks noChangeArrowheads="1"/>
            </p:cNvSpPr>
            <p:nvPr/>
          </p:nvSpPr>
          <p:spPr bwMode="auto">
            <a:xfrm>
              <a:off x="3797" y="1726"/>
              <a:ext cx="149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)= </a:t>
              </a: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zh-CN" altLang="en-US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－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22538" name="Text Box 19"/>
            <p:cNvSpPr txBox="1">
              <a:spLocks noChangeArrowheads="1"/>
            </p:cNvSpPr>
            <p:nvPr/>
          </p:nvSpPr>
          <p:spPr bwMode="auto">
            <a:xfrm>
              <a:off x="3800" y="1318"/>
              <a:ext cx="99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 = </a:t>
              </a: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zh-CN" altLang="en-US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－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22539" name="Text Box 23"/>
            <p:cNvSpPr txBox="1">
              <a:spLocks noChangeArrowheads="1"/>
            </p:cNvSpPr>
            <p:nvPr/>
          </p:nvSpPr>
          <p:spPr bwMode="auto">
            <a:xfrm>
              <a:off x="2925" y="1344"/>
              <a:ext cx="8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tx1"/>
                  </a:solidFill>
                  <a:latin typeface="Times New Roman" pitchFamily="18" charset="0"/>
                </a:rPr>
                <a:t>RC</a:t>
              </a:r>
              <a:r>
                <a:rPr lang="zh-CN" altLang="en-US" sz="2000" dirty="0">
                  <a:solidFill>
                    <a:schemeClr val="tx1"/>
                  </a:solidFill>
                  <a:latin typeface="楷体_GB2312" pitchFamily="49" charset="-122"/>
                </a:rPr>
                <a:t>电路</a:t>
              </a:r>
            </a:p>
          </p:txBody>
        </p:sp>
        <p:sp>
          <p:nvSpPr>
            <p:cNvPr id="22540" name="Text Box 24"/>
            <p:cNvSpPr txBox="1">
              <a:spLocks noChangeArrowheads="1"/>
            </p:cNvSpPr>
            <p:nvPr/>
          </p:nvSpPr>
          <p:spPr bwMode="auto">
            <a:xfrm>
              <a:off x="2939" y="1753"/>
              <a:ext cx="8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tx1"/>
                  </a:solidFill>
                  <a:latin typeface="Times New Roman" pitchFamily="18" charset="0"/>
                </a:rPr>
                <a:t>RL</a:t>
              </a:r>
              <a:r>
                <a:rPr lang="zh-CN" altLang="en-US" sz="2000" dirty="0">
                  <a:solidFill>
                    <a:schemeClr val="tx1"/>
                  </a:solidFill>
                  <a:latin typeface="楷体_GB2312" pitchFamily="49" charset="-122"/>
                </a:rPr>
                <a:t>电路</a:t>
              </a:r>
            </a:p>
          </p:txBody>
        </p:sp>
      </p:grpSp>
      <p:grpSp>
        <p:nvGrpSpPr>
          <p:cNvPr id="67622" name="Group 38"/>
          <p:cNvGrpSpPr>
            <a:grpSpLocks/>
          </p:cNvGrpSpPr>
          <p:nvPr/>
        </p:nvGrpSpPr>
        <p:grpSpPr bwMode="auto">
          <a:xfrm>
            <a:off x="611188" y="476250"/>
            <a:ext cx="1644650" cy="850900"/>
            <a:chOff x="385" y="3022"/>
            <a:chExt cx="1036" cy="536"/>
          </a:xfrm>
        </p:grpSpPr>
        <p:pic>
          <p:nvPicPr>
            <p:cNvPr id="22535" name="Picture 39" descr="12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36" name="Text Box 40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3200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小结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900113" y="4612861"/>
            <a:ext cx="763111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 startAt="4"/>
            </a:pP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一阶电路的零输入响应和初始值成正比，称为</a:t>
            </a:r>
            <a:r>
              <a:rPr kumimoji="1"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</a:rPr>
              <a:t>零输入线性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。</a:t>
            </a: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900113" y="764704"/>
            <a:ext cx="40687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zh-CN" sz="2400" dirty="0">
                <a:solidFill>
                  <a:schemeClr val="tx1"/>
                </a:solidFill>
                <a:latin typeface="楷体_GB2312" pitchFamily="49" charset="-122"/>
              </a:rPr>
              <a:t>衰减快慢取决于时间常数</a:t>
            </a:r>
            <a:r>
              <a:rPr kumimoji="1" lang="zh-CN" altLang="en-US" sz="2400" i="1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</a:t>
            </a:r>
            <a:endParaRPr kumimoji="1" lang="zh-CN" altLang="en-US" sz="2400" b="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900113" y="3717032"/>
            <a:ext cx="64091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3"/>
            </a:pP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同一电路中所有响应具有相同的时间常数。</a:t>
            </a:r>
          </a:p>
        </p:txBody>
      </p:sp>
      <p:sp>
        <p:nvSpPr>
          <p:cNvPr id="23557" name="Text Box 6"/>
          <p:cNvSpPr txBox="1">
            <a:spLocks noChangeArrowheads="1"/>
          </p:cNvSpPr>
          <p:nvPr/>
        </p:nvSpPr>
        <p:spPr bwMode="auto">
          <a:xfrm>
            <a:off x="2374900" y="2209254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kumimoji="1" lang="zh-CN" altLang="zh-CN" sz="2400" b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15734" name="Rectangle 22"/>
          <p:cNvSpPr>
            <a:spLocks noChangeArrowheads="1"/>
          </p:cNvSpPr>
          <p:nvPr/>
        </p:nvSpPr>
        <p:spPr bwMode="auto">
          <a:xfrm>
            <a:off x="2051050" y="1718569"/>
            <a:ext cx="2160588" cy="463846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7A0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4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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= </a:t>
            </a:r>
            <a:r>
              <a:rPr kumimoji="1" lang="en-US" altLang="zh-CN" sz="24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R C</a:t>
            </a:r>
          </a:p>
        </p:txBody>
      </p:sp>
      <p:sp>
        <p:nvSpPr>
          <p:cNvPr id="115735" name="Rectangle 23"/>
          <p:cNvSpPr>
            <a:spLocks noChangeArrowheads="1"/>
          </p:cNvSpPr>
          <p:nvPr/>
        </p:nvSpPr>
        <p:spPr bwMode="auto">
          <a:xfrm>
            <a:off x="4500563" y="1718569"/>
            <a:ext cx="2303462" cy="463846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97A0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4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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= </a:t>
            </a:r>
            <a:r>
              <a:rPr kumimoji="1" lang="en-US" altLang="zh-CN" sz="24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L/R</a:t>
            </a:r>
          </a:p>
        </p:txBody>
      </p:sp>
      <p:sp>
        <p:nvSpPr>
          <p:cNvPr id="115736" name="Rectangle 24"/>
          <p:cNvSpPr>
            <a:spLocks noChangeArrowheads="1"/>
          </p:cNvSpPr>
          <p:nvPr/>
        </p:nvSpPr>
        <p:spPr bwMode="auto">
          <a:xfrm>
            <a:off x="1300818" y="2636912"/>
            <a:ext cx="55034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R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为与动态元件相连的一端口电路的等效电阻。</a:t>
            </a:r>
          </a:p>
        </p:txBody>
      </p:sp>
      <p:sp>
        <p:nvSpPr>
          <p:cNvPr id="115737" name="AutoShape 25"/>
          <p:cNvSpPr>
            <a:spLocks noChangeArrowheads="1"/>
          </p:cNvSpPr>
          <p:nvPr/>
        </p:nvSpPr>
        <p:spPr bwMode="auto">
          <a:xfrm>
            <a:off x="468313" y="1556792"/>
            <a:ext cx="1079500" cy="881062"/>
          </a:xfrm>
          <a:prstGeom prst="wedgeRoundRectCallout">
            <a:avLst>
              <a:gd name="adj1" fmla="val 108972"/>
              <a:gd name="adj2" fmla="val -5435"/>
              <a:gd name="adj3" fmla="val 16667"/>
            </a:avLst>
          </a:prstGeom>
          <a:solidFill>
            <a:srgbClr val="0099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RC</a:t>
            </a:r>
          </a:p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</a:rPr>
              <a:t>电路</a:t>
            </a:r>
          </a:p>
        </p:txBody>
      </p:sp>
      <p:sp>
        <p:nvSpPr>
          <p:cNvPr id="115738" name="AutoShape 26"/>
          <p:cNvSpPr>
            <a:spLocks noChangeArrowheads="1"/>
          </p:cNvSpPr>
          <p:nvPr/>
        </p:nvSpPr>
        <p:spPr bwMode="auto">
          <a:xfrm>
            <a:off x="7451725" y="1701255"/>
            <a:ext cx="1079500" cy="736600"/>
          </a:xfrm>
          <a:prstGeom prst="wedgeRoundRectCallout">
            <a:avLst>
              <a:gd name="adj1" fmla="val -132500"/>
              <a:gd name="adj2" fmla="val -21023"/>
              <a:gd name="adj3" fmla="val 16667"/>
            </a:avLst>
          </a:prstGeom>
          <a:solidFill>
            <a:srgbClr val="0099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RL</a:t>
            </a:r>
          </a:p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</a:rPr>
              <a:t>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1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11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 autoUpdateAnimBg="0"/>
      <p:bldP spid="115716" grpId="0" autoUpdateAnimBg="0"/>
      <p:bldP spid="115717" grpId="0" autoUpdateAnimBg="0"/>
      <p:bldP spid="115734" grpId="0" animBg="1"/>
      <p:bldP spid="115735" grpId="0" animBg="1"/>
      <p:bldP spid="115736" grpId="0"/>
      <p:bldP spid="115737" grpId="0" animBg="1"/>
      <p:bldP spid="1157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3348038" y="1196975"/>
            <a:ext cx="55451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动态元件初始能量为零，由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</a:rPr>
              <a:t>t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&gt;0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电路中外加激励作用所产生的响应。</a:t>
            </a:r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86321"/>
              </p:ext>
            </p:extLst>
          </p:nvPr>
        </p:nvGraphicFramePr>
        <p:xfrm>
          <a:off x="5630863" y="3322638"/>
          <a:ext cx="2037481" cy="846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7" name="Equation" r:id="rId3" imgW="952200" imgH="355320" progId="Equation.DSMT4">
                  <p:embed/>
                </p:oleObj>
              </mc:Choice>
              <mc:Fallback>
                <p:oleObj name="Equation" r:id="rId3" imgW="952200" imgH="3553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0863" y="3322638"/>
                        <a:ext cx="2037481" cy="846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4540345" y="3486090"/>
            <a:ext cx="9463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方程：</a:t>
            </a:r>
          </a:p>
        </p:txBody>
      </p:sp>
      <p:sp>
        <p:nvSpPr>
          <p:cNvPr id="66610" name="Rectangle 50"/>
          <p:cNvSpPr>
            <a:spLocks noChangeArrowheads="1"/>
          </p:cNvSpPr>
          <p:nvPr/>
        </p:nvSpPr>
        <p:spPr bwMode="auto">
          <a:xfrm>
            <a:off x="395288" y="59848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4.1.2   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一阶电路的零状态响应         </a:t>
            </a:r>
          </a:p>
        </p:txBody>
      </p:sp>
      <p:sp>
        <p:nvSpPr>
          <p:cNvPr id="66612" name="Text Box 52"/>
          <p:cNvSpPr txBox="1">
            <a:spLocks noChangeArrowheads="1"/>
          </p:cNvSpPr>
          <p:nvPr/>
        </p:nvSpPr>
        <p:spPr bwMode="auto">
          <a:xfrm>
            <a:off x="5013516" y="4567208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解答形式为：</a:t>
            </a:r>
          </a:p>
        </p:txBody>
      </p:sp>
      <p:graphicFrame>
        <p:nvGraphicFramePr>
          <p:cNvPr id="66613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866299"/>
              </p:ext>
            </p:extLst>
          </p:nvPr>
        </p:nvGraphicFramePr>
        <p:xfrm>
          <a:off x="5364088" y="5016166"/>
          <a:ext cx="1675436" cy="540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38" name="Equation" r:id="rId5" imgW="660240" imgH="203040" progId="Equation.DSMT4">
                  <p:embed/>
                </p:oleObj>
              </mc:Choice>
              <mc:Fallback>
                <p:oleObj name="Equation" r:id="rId5" imgW="660240" imgH="20304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5016166"/>
                        <a:ext cx="1675436" cy="540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16" name="Text Box 56"/>
          <p:cNvSpPr txBox="1">
            <a:spLocks noChangeArrowheads="1"/>
          </p:cNvSpPr>
          <p:nvPr/>
        </p:nvSpPr>
        <p:spPr bwMode="auto">
          <a:xfrm>
            <a:off x="539750" y="2809231"/>
            <a:ext cx="34147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一、</a:t>
            </a:r>
            <a:r>
              <a:rPr kumimoji="1" lang="en-US" altLang="zh-CN" sz="2400" i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RC</a:t>
            </a:r>
            <a:r>
              <a:rPr kumimoji="1" lang="zh-CN" altLang="zh-CN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电路的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直流</a:t>
            </a:r>
            <a:r>
              <a:rPr kumimoji="1" lang="zh-CN" altLang="zh-CN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响应</a:t>
            </a:r>
            <a:endParaRPr kumimoji="1" lang="zh-CN" altLang="en-US" sz="2400" dirty="0">
              <a:solidFill>
                <a:srgbClr val="99003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6617" name="Text Box 57"/>
          <p:cNvSpPr txBox="1">
            <a:spLocks noChangeArrowheads="1"/>
          </p:cNvSpPr>
          <p:nvPr/>
        </p:nvSpPr>
        <p:spPr bwMode="auto">
          <a:xfrm>
            <a:off x="539750" y="1341438"/>
            <a:ext cx="2089150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零状态响应</a:t>
            </a:r>
          </a:p>
        </p:txBody>
      </p:sp>
      <p:sp>
        <p:nvSpPr>
          <p:cNvPr id="66618" name="AutoShape 58"/>
          <p:cNvSpPr>
            <a:spLocks noChangeArrowheads="1"/>
          </p:cNvSpPr>
          <p:nvPr/>
        </p:nvSpPr>
        <p:spPr bwMode="auto">
          <a:xfrm>
            <a:off x="2771775" y="1557338"/>
            <a:ext cx="576263" cy="144462"/>
          </a:xfrm>
          <a:prstGeom prst="rightArrow">
            <a:avLst>
              <a:gd name="adj1" fmla="val 50000"/>
              <a:gd name="adj2" fmla="val 99726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619" name="AutoShape 59"/>
          <p:cNvSpPr>
            <a:spLocks noChangeArrowheads="1"/>
          </p:cNvSpPr>
          <p:nvPr/>
        </p:nvSpPr>
        <p:spPr bwMode="auto">
          <a:xfrm>
            <a:off x="3563938" y="5937252"/>
            <a:ext cx="2254742" cy="431378"/>
          </a:xfrm>
          <a:prstGeom prst="wedgeRoundRectCallout">
            <a:avLst>
              <a:gd name="adj1" fmla="val 66120"/>
              <a:gd name="adj2" fmla="val -138109"/>
              <a:gd name="adj3" fmla="val 16667"/>
            </a:avLst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</a:rPr>
              <a:t>非齐次方程特解</a:t>
            </a:r>
          </a:p>
        </p:txBody>
      </p:sp>
      <p:sp>
        <p:nvSpPr>
          <p:cNvPr id="66620" name="AutoShape 60"/>
          <p:cNvSpPr>
            <a:spLocks noChangeArrowheads="1"/>
          </p:cNvSpPr>
          <p:nvPr/>
        </p:nvSpPr>
        <p:spPr bwMode="auto">
          <a:xfrm>
            <a:off x="7524328" y="4301017"/>
            <a:ext cx="1079500" cy="867886"/>
          </a:xfrm>
          <a:prstGeom prst="wedgeRoundRectCallout">
            <a:avLst>
              <a:gd name="adj1" fmla="val -97352"/>
              <a:gd name="adj2" fmla="val 65278"/>
              <a:gd name="adj3" fmla="val 16667"/>
            </a:avLst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</a:rPr>
              <a:t>齐次方程通解</a:t>
            </a:r>
          </a:p>
        </p:txBody>
      </p:sp>
      <p:grpSp>
        <p:nvGrpSpPr>
          <p:cNvPr id="66635" name="Group 75"/>
          <p:cNvGrpSpPr>
            <a:grpSpLocks/>
          </p:cNvGrpSpPr>
          <p:nvPr/>
        </p:nvGrpSpPr>
        <p:grpSpPr bwMode="auto">
          <a:xfrm>
            <a:off x="482600" y="3459163"/>
            <a:ext cx="3629024" cy="2400300"/>
            <a:chOff x="2980" y="2270"/>
            <a:chExt cx="2286" cy="1512"/>
          </a:xfrm>
        </p:grpSpPr>
        <p:sp>
          <p:nvSpPr>
            <p:cNvPr id="24591" name="Line 76"/>
            <p:cNvSpPr>
              <a:spLocks noChangeShapeType="1"/>
            </p:cNvSpPr>
            <p:nvPr/>
          </p:nvSpPr>
          <p:spPr bwMode="auto">
            <a:xfrm flipH="1" flipV="1">
              <a:off x="4966" y="3158"/>
              <a:ext cx="1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592" name="Line 77"/>
            <p:cNvSpPr>
              <a:spLocks noChangeShapeType="1"/>
            </p:cNvSpPr>
            <p:nvPr/>
          </p:nvSpPr>
          <p:spPr bwMode="auto">
            <a:xfrm flipV="1">
              <a:off x="4966" y="2705"/>
              <a:ext cx="0" cy="32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593" name="Oval 78"/>
            <p:cNvSpPr>
              <a:spLocks noChangeArrowheads="1"/>
            </p:cNvSpPr>
            <p:nvPr/>
          </p:nvSpPr>
          <p:spPr bwMode="auto">
            <a:xfrm>
              <a:off x="3061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24594" name="Group 79"/>
            <p:cNvGrpSpPr>
              <a:grpSpLocks/>
            </p:cNvGrpSpPr>
            <p:nvPr/>
          </p:nvGrpSpPr>
          <p:grpSpPr bwMode="auto">
            <a:xfrm>
              <a:off x="3969" y="3086"/>
              <a:ext cx="263" cy="335"/>
              <a:chOff x="1872" y="497"/>
              <a:chExt cx="240" cy="271"/>
            </a:xfrm>
          </p:grpSpPr>
          <p:sp>
            <p:nvSpPr>
              <p:cNvPr id="24623" name="Line 80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624" name="Text Box 81"/>
              <p:cNvSpPr txBox="1">
                <a:spLocks noChangeArrowheads="1"/>
              </p:cNvSpPr>
              <p:nvPr/>
            </p:nvSpPr>
            <p:spPr bwMode="auto">
              <a:xfrm>
                <a:off x="1888" y="497"/>
                <a:ext cx="15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i</a:t>
                </a:r>
                <a:endPara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24595" name="Line 82"/>
            <p:cNvSpPr>
              <a:spLocks noChangeShapeType="1"/>
            </p:cNvSpPr>
            <p:nvPr/>
          </p:nvSpPr>
          <p:spPr bwMode="auto">
            <a:xfrm flipH="1">
              <a:off x="3814" y="2456"/>
              <a:ext cx="158" cy="17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596" name="Text Box 83"/>
            <p:cNvSpPr txBox="1">
              <a:spLocks noChangeArrowheads="1"/>
            </p:cNvSpPr>
            <p:nvPr/>
          </p:nvSpPr>
          <p:spPr bwMode="auto">
            <a:xfrm>
              <a:off x="2980" y="2359"/>
              <a:ext cx="7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S(</a:t>
              </a:r>
              <a:r>
                <a:rPr kumimoji="1" lang="en-US" altLang="zh-CN" sz="24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 </a:t>
              </a:r>
              <a:r>
                <a:rPr kumimoji="1" lang="en-US" altLang="zh-CN" sz="24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= 0</a:t>
              </a:r>
              <a:r>
                <a: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24597" name="Text Box 84"/>
            <p:cNvSpPr txBox="1">
              <a:spLocks noChangeArrowheads="1"/>
            </p:cNvSpPr>
            <p:nvPr/>
          </p:nvSpPr>
          <p:spPr bwMode="auto">
            <a:xfrm>
              <a:off x="3395" y="2900"/>
              <a:ext cx="3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4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24598" name="Group 85"/>
            <p:cNvGrpSpPr>
              <a:grpSpLocks/>
            </p:cNvGrpSpPr>
            <p:nvPr/>
          </p:nvGrpSpPr>
          <p:grpSpPr bwMode="auto">
            <a:xfrm>
              <a:off x="3977" y="2661"/>
              <a:ext cx="637" cy="354"/>
              <a:chOff x="826" y="782"/>
              <a:chExt cx="582" cy="286"/>
            </a:xfrm>
          </p:grpSpPr>
          <p:grpSp>
            <p:nvGrpSpPr>
              <p:cNvPr id="24619" name="Group 86"/>
              <p:cNvGrpSpPr>
                <a:grpSpLocks/>
              </p:cNvGrpSpPr>
              <p:nvPr/>
            </p:nvGrpSpPr>
            <p:grpSpPr bwMode="auto">
              <a:xfrm>
                <a:off x="826" y="782"/>
                <a:ext cx="582" cy="247"/>
                <a:chOff x="826" y="782"/>
                <a:chExt cx="582" cy="247"/>
              </a:xfrm>
            </p:grpSpPr>
            <p:sp>
              <p:nvSpPr>
                <p:cNvPr id="24621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826" y="794"/>
                  <a:ext cx="206" cy="2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 b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24622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1213" y="782"/>
                  <a:ext cx="195" cy="2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24620" name="Text Box 89"/>
              <p:cNvSpPr txBox="1">
                <a:spLocks noChangeArrowheads="1"/>
              </p:cNvSpPr>
              <p:nvPr/>
            </p:nvSpPr>
            <p:spPr bwMode="auto">
              <a:xfrm>
                <a:off x="995" y="833"/>
                <a:ext cx="257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4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R</a:t>
                </a:r>
                <a:endParaRPr kumimoji="1" lang="en-US" altLang="zh-CN" sz="24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24599" name="Line 90"/>
            <p:cNvSpPr>
              <a:spLocks noChangeShapeType="1"/>
            </p:cNvSpPr>
            <p:nvPr/>
          </p:nvSpPr>
          <p:spPr bwMode="auto">
            <a:xfrm>
              <a:off x="3969" y="2704"/>
              <a:ext cx="10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600" name="Line 91"/>
            <p:cNvSpPr>
              <a:spLocks noChangeShapeType="1"/>
            </p:cNvSpPr>
            <p:nvPr/>
          </p:nvSpPr>
          <p:spPr bwMode="auto">
            <a:xfrm>
              <a:off x="3243" y="2704"/>
              <a:ext cx="36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601" name="Line 92"/>
            <p:cNvSpPr>
              <a:spLocks noChangeShapeType="1"/>
            </p:cNvSpPr>
            <p:nvPr/>
          </p:nvSpPr>
          <p:spPr bwMode="auto">
            <a:xfrm>
              <a:off x="3243" y="2704"/>
              <a:ext cx="0" cy="77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602" name="Text Box 93"/>
            <p:cNvSpPr txBox="1">
              <a:spLocks noChangeArrowheads="1"/>
            </p:cNvSpPr>
            <p:nvPr/>
          </p:nvSpPr>
          <p:spPr bwMode="auto">
            <a:xfrm>
              <a:off x="5022" y="267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24603" name="Group 94"/>
            <p:cNvGrpSpPr>
              <a:grpSpLocks/>
            </p:cNvGrpSpPr>
            <p:nvPr/>
          </p:nvGrpSpPr>
          <p:grpSpPr bwMode="auto">
            <a:xfrm>
              <a:off x="4493" y="2723"/>
              <a:ext cx="342" cy="743"/>
              <a:chOff x="1967" y="747"/>
              <a:chExt cx="311" cy="600"/>
            </a:xfrm>
          </p:grpSpPr>
          <p:grpSp>
            <p:nvGrpSpPr>
              <p:cNvPr id="24615" name="Group 95"/>
              <p:cNvGrpSpPr>
                <a:grpSpLocks/>
              </p:cNvGrpSpPr>
              <p:nvPr/>
            </p:nvGrpSpPr>
            <p:grpSpPr bwMode="auto">
              <a:xfrm>
                <a:off x="2074" y="747"/>
                <a:ext cx="204" cy="600"/>
                <a:chOff x="1642" y="1275"/>
                <a:chExt cx="204" cy="600"/>
              </a:xfrm>
            </p:grpSpPr>
            <p:sp>
              <p:nvSpPr>
                <p:cNvPr id="24617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1642" y="1275"/>
                  <a:ext cx="20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 b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24618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645" y="1642"/>
                  <a:ext cx="19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4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24616" name="Text Box 98"/>
              <p:cNvSpPr txBox="1">
                <a:spLocks noChangeArrowheads="1"/>
              </p:cNvSpPr>
              <p:nvPr/>
            </p:nvSpPr>
            <p:spPr bwMode="auto">
              <a:xfrm>
                <a:off x="1967" y="895"/>
                <a:ext cx="261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400" b="0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C</a:t>
                </a:r>
                <a:endPara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24604" name="Group 99"/>
            <p:cNvGrpSpPr>
              <a:grpSpLocks/>
            </p:cNvGrpSpPr>
            <p:nvPr/>
          </p:nvGrpSpPr>
          <p:grpSpPr bwMode="auto">
            <a:xfrm>
              <a:off x="4800" y="3022"/>
              <a:ext cx="317" cy="136"/>
              <a:chOff x="1806" y="1680"/>
              <a:chExt cx="192" cy="96"/>
            </a:xfrm>
          </p:grpSpPr>
          <p:sp>
            <p:nvSpPr>
              <p:cNvPr id="24613" name="Line 100"/>
              <p:cNvSpPr>
                <a:spLocks noChangeShapeType="1"/>
              </p:cNvSpPr>
              <p:nvPr/>
            </p:nvSpPr>
            <p:spPr bwMode="auto">
              <a:xfrm>
                <a:off x="1806" y="1680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614" name="Line 101"/>
              <p:cNvSpPr>
                <a:spLocks noChangeShapeType="1"/>
              </p:cNvSpPr>
              <p:nvPr/>
            </p:nvSpPr>
            <p:spPr bwMode="auto">
              <a:xfrm>
                <a:off x="1806" y="1776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605" name="Line 102"/>
            <p:cNvSpPr>
              <a:spLocks noChangeShapeType="1"/>
            </p:cNvSpPr>
            <p:nvPr/>
          </p:nvSpPr>
          <p:spPr bwMode="auto">
            <a:xfrm flipH="1" flipV="1">
              <a:off x="3651" y="2568"/>
              <a:ext cx="293" cy="11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606" name="Line 103"/>
            <p:cNvSpPr>
              <a:spLocks noChangeShapeType="1"/>
            </p:cNvSpPr>
            <p:nvPr/>
          </p:nvSpPr>
          <p:spPr bwMode="auto">
            <a:xfrm>
              <a:off x="3243" y="3475"/>
              <a:ext cx="174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607" name="Text Box 104"/>
            <p:cNvSpPr txBox="1">
              <a:spLocks noChangeArrowheads="1"/>
            </p:cNvSpPr>
            <p:nvPr/>
          </p:nvSpPr>
          <p:spPr bwMode="auto">
            <a:xfrm>
              <a:off x="4205" y="2270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4608" name="Text Box 105"/>
            <p:cNvSpPr txBox="1">
              <a:spLocks noChangeArrowheads="1"/>
            </p:cNvSpPr>
            <p:nvPr/>
          </p:nvSpPr>
          <p:spPr bwMode="auto">
            <a:xfrm>
              <a:off x="3334" y="3494"/>
              <a:ext cx="1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4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r>
                <a:rPr kumimoji="1" lang="en-US" altLang="zh-CN" sz="24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zh-CN" altLang="en-US" sz="24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－</a:t>
              </a: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)=0</a:t>
              </a:r>
            </a:p>
          </p:txBody>
        </p:sp>
        <p:sp>
          <p:nvSpPr>
            <p:cNvPr id="24609" name="Rectangle 106"/>
            <p:cNvSpPr>
              <a:spLocks noChangeArrowheads="1"/>
            </p:cNvSpPr>
            <p:nvPr/>
          </p:nvSpPr>
          <p:spPr bwMode="auto">
            <a:xfrm>
              <a:off x="4150" y="263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24610" name="Group 107"/>
            <p:cNvGrpSpPr>
              <a:grpSpLocks/>
            </p:cNvGrpSpPr>
            <p:nvPr/>
          </p:nvGrpSpPr>
          <p:grpSpPr bwMode="auto">
            <a:xfrm>
              <a:off x="3388" y="2678"/>
              <a:ext cx="225" cy="763"/>
              <a:chOff x="1641" y="1275"/>
              <a:chExt cx="205" cy="616"/>
            </a:xfrm>
          </p:grpSpPr>
          <p:sp>
            <p:nvSpPr>
              <p:cNvPr id="24611" name="Text Box 108"/>
              <p:cNvSpPr txBox="1">
                <a:spLocks noChangeArrowheads="1"/>
              </p:cNvSpPr>
              <p:nvPr/>
            </p:nvSpPr>
            <p:spPr bwMode="auto">
              <a:xfrm>
                <a:off x="1642" y="1275"/>
                <a:ext cx="20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b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+</a:t>
                </a:r>
              </a:p>
            </p:txBody>
          </p:sp>
          <p:sp>
            <p:nvSpPr>
              <p:cNvPr id="24612" name="Text Box 109"/>
              <p:cNvSpPr txBox="1">
                <a:spLocks noChangeArrowheads="1"/>
              </p:cNvSpPr>
              <p:nvPr/>
            </p:nvSpPr>
            <p:spPr bwMode="auto">
              <a:xfrm>
                <a:off x="1641" y="1658"/>
                <a:ext cx="19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b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–</a:t>
                </a:r>
              </a:p>
            </p:txBody>
          </p:sp>
        </p:grpSp>
      </p:grpSp>
      <p:sp>
        <p:nvSpPr>
          <p:cNvPr id="66670" name="AutoShape 110" descr="羊皮纸"/>
          <p:cNvSpPr>
            <a:spLocks noChangeArrowheads="1"/>
          </p:cNvSpPr>
          <p:nvPr/>
        </p:nvSpPr>
        <p:spPr bwMode="auto">
          <a:xfrm>
            <a:off x="4787900" y="2420938"/>
            <a:ext cx="4140200" cy="388293"/>
          </a:xfrm>
          <a:prstGeom prst="wedgeRoundRectCallout">
            <a:avLst>
              <a:gd name="adj1" fmla="val 1148"/>
              <a:gd name="adj2" fmla="val 146144"/>
              <a:gd name="adj3" fmla="val 16667"/>
            </a:avLst>
          </a:prstGeom>
          <a:blipFill dpi="0" rotWithShape="1">
            <a:blip r:embed="rId7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</a:rPr>
              <a:t>非齐次线性常微分方程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6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75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30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2000"/>
                                        <p:tgtEl>
                                          <p:spTgt spid="6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6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6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6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3" dur="2000"/>
                                        <p:tgtEl>
                                          <p:spTgt spid="6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8" dur="2000"/>
                                        <p:tgtEl>
                                          <p:spTgt spid="6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autoUpdateAnimBg="0"/>
      <p:bldP spid="66566" grpId="0" autoUpdateAnimBg="0"/>
      <p:bldP spid="66610" grpId="0" autoUpdateAnimBg="0"/>
      <p:bldP spid="66612" grpId="0" autoUpdateAnimBg="0"/>
      <p:bldP spid="66616" grpId="0"/>
      <p:bldP spid="66617" grpId="0" animBg="1"/>
      <p:bldP spid="66618" grpId="0" animBg="1"/>
      <p:bldP spid="66619" grpId="0" animBg="1"/>
      <p:bldP spid="66620" grpId="0" animBg="1"/>
      <p:bldP spid="6667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827088" y="2523718"/>
            <a:ext cx="53463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与输入激励的变化规律有关，为电路的稳态解</a:t>
            </a:r>
          </a:p>
        </p:txBody>
      </p:sp>
      <p:graphicFrame>
        <p:nvGraphicFramePr>
          <p:cNvPr id="1167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466073"/>
              </p:ext>
            </p:extLst>
          </p:nvPr>
        </p:nvGraphicFramePr>
        <p:xfrm>
          <a:off x="6227763" y="4005064"/>
          <a:ext cx="1782764" cy="844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64" name="Equation" r:id="rId3" imgW="672840" imgH="342720" progId="Equation.DSMT4">
                  <p:embed/>
                </p:oleObj>
              </mc:Choice>
              <mc:Fallback>
                <p:oleObj name="Equation" r:id="rId3" imgW="672840" imgH="3427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005064"/>
                        <a:ext cx="1782764" cy="844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971550" y="5189130"/>
            <a:ext cx="66960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变化规律由电路参数和结构决定</a:t>
            </a:r>
          </a:p>
        </p:txBody>
      </p:sp>
      <p:grpSp>
        <p:nvGrpSpPr>
          <p:cNvPr id="116772" name="Group 36"/>
          <p:cNvGrpSpPr>
            <a:grpSpLocks/>
          </p:cNvGrpSpPr>
          <p:nvPr/>
        </p:nvGrpSpPr>
        <p:grpSpPr bwMode="auto">
          <a:xfrm>
            <a:off x="1258888" y="4084260"/>
            <a:ext cx="4176713" cy="884238"/>
            <a:chOff x="801" y="2445"/>
            <a:chExt cx="2631" cy="557"/>
          </a:xfrm>
        </p:grpSpPr>
        <p:sp>
          <p:nvSpPr>
            <p:cNvPr id="25620" name="Text Box 10"/>
            <p:cNvSpPr txBox="1">
              <a:spLocks noChangeArrowheads="1"/>
            </p:cNvSpPr>
            <p:nvPr/>
          </p:nvSpPr>
          <p:spPr bwMode="auto">
            <a:xfrm>
              <a:off x="2253" y="2577"/>
              <a:ext cx="117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的通解</a:t>
              </a:r>
              <a:endParaRPr kumimoji="1" lang="zh-CN" altLang="en-US" sz="2000" i="1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endParaRPr>
            </a:p>
          </p:txBody>
        </p:sp>
        <p:graphicFrame>
          <p:nvGraphicFramePr>
            <p:cNvPr id="2562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6802066"/>
                </p:ext>
              </p:extLst>
            </p:nvPr>
          </p:nvGraphicFramePr>
          <p:xfrm>
            <a:off x="801" y="2445"/>
            <a:ext cx="1281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65" name="Equation" r:id="rId5" imgW="914400" imgH="355320" progId="Equation.DSMT4">
                    <p:embed/>
                  </p:oleObj>
                </mc:Choice>
                <mc:Fallback>
                  <p:oleObj name="Equation" r:id="rId5" imgW="914400" imgH="35532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" y="2445"/>
                          <a:ext cx="1281" cy="5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7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272518"/>
              </p:ext>
            </p:extLst>
          </p:nvPr>
        </p:nvGraphicFramePr>
        <p:xfrm>
          <a:off x="6567488" y="1638300"/>
          <a:ext cx="11176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66" name="Equation" r:id="rId7" imgW="419040" imgH="203040" progId="Equation.DSMT4">
                  <p:embed/>
                </p:oleObj>
              </mc:Choice>
              <mc:Fallback>
                <p:oleObj name="Equation" r:id="rId7" imgW="41904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7488" y="1638300"/>
                        <a:ext cx="11176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6771" name="Group 35"/>
          <p:cNvGrpSpPr>
            <a:grpSpLocks/>
          </p:cNvGrpSpPr>
          <p:nvPr/>
        </p:nvGrpSpPr>
        <p:grpSpPr bwMode="auto">
          <a:xfrm>
            <a:off x="815976" y="3147635"/>
            <a:ext cx="7113588" cy="615950"/>
            <a:chOff x="531" y="1864"/>
            <a:chExt cx="4481" cy="388"/>
          </a:xfrm>
        </p:grpSpPr>
        <p:sp>
          <p:nvSpPr>
            <p:cNvPr id="25617" name="Text Box 15"/>
            <p:cNvSpPr txBox="1">
              <a:spLocks noChangeArrowheads="1"/>
            </p:cNvSpPr>
            <p:nvPr/>
          </p:nvSpPr>
          <p:spPr bwMode="auto">
            <a:xfrm>
              <a:off x="1519" y="1970"/>
              <a:ext cx="34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chemeClr val="tx1"/>
                  </a:solidFill>
                  <a:latin typeface="Times New Roman" pitchFamily="18" charset="0"/>
                </a:rPr>
                <a:t>通解（自由分量，暂态分量）</a:t>
              </a:r>
            </a:p>
          </p:txBody>
        </p:sp>
        <p:graphicFrame>
          <p:nvGraphicFramePr>
            <p:cNvPr id="25618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6340744"/>
                </p:ext>
              </p:extLst>
            </p:nvPr>
          </p:nvGraphicFramePr>
          <p:xfrm>
            <a:off x="531" y="1864"/>
            <a:ext cx="435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67" name="Equation" r:id="rId9" imgW="152280" imgH="203040" progId="Equation.DSMT4">
                    <p:embed/>
                  </p:oleObj>
                </mc:Choice>
                <mc:Fallback>
                  <p:oleObj name="Equation" r:id="rId9" imgW="152280" imgH="20304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" y="1864"/>
                          <a:ext cx="435" cy="388"/>
                        </a:xfrm>
                        <a:prstGeom prst="rect">
                          <a:avLst/>
                        </a:prstGeom>
                        <a:solidFill>
                          <a:srgbClr val="FF99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9" name="AutoShape 17"/>
            <p:cNvSpPr>
              <a:spLocks noChangeArrowheads="1"/>
            </p:cNvSpPr>
            <p:nvPr/>
          </p:nvSpPr>
          <p:spPr bwMode="auto">
            <a:xfrm>
              <a:off x="1156" y="2069"/>
              <a:ext cx="318" cy="91"/>
            </a:xfrm>
            <a:prstGeom prst="rightArrow">
              <a:avLst>
                <a:gd name="adj1" fmla="val 50000"/>
                <a:gd name="adj2" fmla="val 87363"/>
              </a:avLst>
            </a:prstGeom>
            <a:solidFill>
              <a:srgbClr val="0099FF"/>
            </a:solidFill>
            <a:ln w="9525">
              <a:solidFill>
                <a:srgbClr val="0099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116754" name="Group 18"/>
          <p:cNvGrpSpPr>
            <a:grpSpLocks/>
          </p:cNvGrpSpPr>
          <p:nvPr/>
        </p:nvGrpSpPr>
        <p:grpSpPr bwMode="auto">
          <a:xfrm>
            <a:off x="879475" y="844173"/>
            <a:ext cx="3613151" cy="612775"/>
            <a:chOff x="388" y="175"/>
            <a:chExt cx="2276" cy="386"/>
          </a:xfrm>
        </p:grpSpPr>
        <p:sp>
          <p:nvSpPr>
            <p:cNvPr id="25614" name="Text Box 19"/>
            <p:cNvSpPr txBox="1">
              <a:spLocks noChangeArrowheads="1"/>
            </p:cNvSpPr>
            <p:nvPr/>
          </p:nvSpPr>
          <p:spPr bwMode="auto">
            <a:xfrm>
              <a:off x="1247" y="228"/>
              <a:ext cx="14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>
                  <a:solidFill>
                    <a:schemeClr val="tx1"/>
                  </a:solidFill>
                  <a:latin typeface="Times New Roman" pitchFamily="18" charset="0"/>
                </a:rPr>
                <a:t>特解（强制分量）</a:t>
              </a:r>
            </a:p>
          </p:txBody>
        </p:sp>
        <p:graphicFrame>
          <p:nvGraphicFramePr>
            <p:cNvPr id="25615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2197348"/>
                </p:ext>
              </p:extLst>
            </p:nvPr>
          </p:nvGraphicFramePr>
          <p:xfrm>
            <a:off x="388" y="175"/>
            <a:ext cx="386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68" name="Equation" r:id="rId11" imgW="152280" imgH="203040" progId="Equation.DSMT4">
                    <p:embed/>
                  </p:oleObj>
                </mc:Choice>
                <mc:Fallback>
                  <p:oleObj name="Equation" r:id="rId11" imgW="152280" imgH="20304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" y="175"/>
                          <a:ext cx="386" cy="386"/>
                        </a:xfrm>
                        <a:prstGeom prst="rect">
                          <a:avLst/>
                        </a:prstGeom>
                        <a:solidFill>
                          <a:srgbClr val="FF99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6" name="AutoShape 21"/>
            <p:cNvSpPr>
              <a:spLocks noChangeArrowheads="1"/>
            </p:cNvSpPr>
            <p:nvPr/>
          </p:nvSpPr>
          <p:spPr bwMode="auto">
            <a:xfrm>
              <a:off x="884" y="346"/>
              <a:ext cx="318" cy="90"/>
            </a:xfrm>
            <a:prstGeom prst="rightArrow">
              <a:avLst>
                <a:gd name="adj1" fmla="val 50000"/>
                <a:gd name="adj2" fmla="val 88333"/>
              </a:avLst>
            </a:prstGeom>
            <a:solidFill>
              <a:srgbClr val="0099FF"/>
            </a:solidFill>
            <a:ln w="9525">
              <a:solidFill>
                <a:srgbClr val="0099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116758" name="Line 22"/>
          <p:cNvSpPr>
            <a:spLocks noChangeShapeType="1"/>
          </p:cNvSpPr>
          <p:nvPr/>
        </p:nvSpPr>
        <p:spPr bwMode="auto">
          <a:xfrm>
            <a:off x="5580063" y="1889343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16759" name="Line 23"/>
          <p:cNvSpPr>
            <a:spLocks noChangeShapeType="1"/>
          </p:cNvSpPr>
          <p:nvPr/>
        </p:nvSpPr>
        <p:spPr bwMode="auto">
          <a:xfrm>
            <a:off x="5292725" y="4554160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16770" name="Group 34"/>
          <p:cNvGrpSpPr>
            <a:grpSpLocks/>
          </p:cNvGrpSpPr>
          <p:nvPr/>
        </p:nvGrpSpPr>
        <p:grpSpPr bwMode="auto">
          <a:xfrm>
            <a:off x="1419225" y="1488698"/>
            <a:ext cx="3738563" cy="858838"/>
            <a:chOff x="874" y="810"/>
            <a:chExt cx="2355" cy="541"/>
          </a:xfrm>
        </p:grpSpPr>
        <p:graphicFrame>
          <p:nvGraphicFramePr>
            <p:cNvPr id="25612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6957126"/>
                </p:ext>
              </p:extLst>
            </p:nvPr>
          </p:nvGraphicFramePr>
          <p:xfrm>
            <a:off x="874" y="810"/>
            <a:ext cx="1314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69" name="Equation" r:id="rId13" imgW="965160" imgH="355320" progId="Equation.DSMT4">
                    <p:embed/>
                  </p:oleObj>
                </mc:Choice>
                <mc:Fallback>
                  <p:oleObj name="Equation" r:id="rId13" imgW="965160" imgH="35532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4" y="810"/>
                          <a:ext cx="1314" cy="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3" name="Text Box 27"/>
            <p:cNvSpPr txBox="1">
              <a:spLocks noChangeArrowheads="1"/>
            </p:cNvSpPr>
            <p:nvPr/>
          </p:nvSpPr>
          <p:spPr bwMode="auto">
            <a:xfrm>
              <a:off x="2660" y="934"/>
              <a:ext cx="5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 smtClean="0">
                  <a:solidFill>
                    <a:schemeClr val="tx1"/>
                  </a:solidFill>
                </a:rPr>
                <a:t>特解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1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1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16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autoUpdateAnimBg="0"/>
      <p:bldP spid="116740" grpId="0" build="p" autoUpdateAnimBg="0"/>
      <p:bldP spid="116758" grpId="0" animBg="1"/>
      <p:bldP spid="11675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684213" y="1068809"/>
            <a:ext cx="1150937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全解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1474961" y="2574404"/>
            <a:ext cx="43211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k+V</a:t>
            </a:r>
            <a:r>
              <a:rPr kumimoji="1" lang="en-US" altLang="zh-CN" sz="2000" b="0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0</a:t>
            </a:r>
          </a:p>
        </p:txBody>
      </p:sp>
      <p:sp>
        <p:nvSpPr>
          <p:cNvPr id="65547" name="Text Box 11"/>
          <p:cNvSpPr txBox="1">
            <a:spLocks noChangeArrowheads="1"/>
          </p:cNvSpPr>
          <p:nvPr/>
        </p:nvSpPr>
        <p:spPr bwMode="auto">
          <a:xfrm>
            <a:off x="4932363" y="2574404"/>
            <a:ext cx="27352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k= </a:t>
            </a:r>
            <a:r>
              <a:rPr kumimoji="1" lang="zh-CN" altLang="en-US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－ 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</a:t>
            </a:r>
          </a:p>
        </p:txBody>
      </p:sp>
      <p:sp>
        <p:nvSpPr>
          <p:cNvPr id="65548" name="Text Box 12"/>
          <p:cNvSpPr txBox="1">
            <a:spLocks noChangeArrowheads="1"/>
          </p:cNvSpPr>
          <p:nvPr/>
        </p:nvSpPr>
        <p:spPr bwMode="auto">
          <a:xfrm>
            <a:off x="1403350" y="1907624"/>
            <a:ext cx="6985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由初始条件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</a:rPr>
              <a:t>v</a:t>
            </a:r>
            <a:r>
              <a:rPr kumimoji="1" lang="en-US" altLang="zh-CN" sz="2000" b="0" baseline="-25000" dirty="0" err="1" smtClean="0">
                <a:solidFill>
                  <a:schemeClr val="tx1"/>
                </a:solidFill>
                <a:latin typeface="Times New Roman" pitchFamily="18" charset="0"/>
              </a:rPr>
              <a:t>C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(0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</a:rPr>
              <a:t>+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)=0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定积分常数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</a:rPr>
              <a:t>k</a:t>
            </a:r>
          </a:p>
        </p:txBody>
      </p:sp>
      <p:graphicFrame>
        <p:nvGraphicFramePr>
          <p:cNvPr id="6556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526872"/>
              </p:ext>
            </p:extLst>
          </p:nvPr>
        </p:nvGraphicFramePr>
        <p:xfrm>
          <a:off x="2717800" y="765175"/>
          <a:ext cx="435768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0" name="Equation" r:id="rId3" imgW="1676160" imgH="342720" progId="Equation.DSMT4">
                  <p:embed/>
                </p:oleObj>
              </mc:Choice>
              <mc:Fallback>
                <p:oleObj name="Equation" r:id="rId3" imgW="1676160" imgH="34272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765175"/>
                        <a:ext cx="4357688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70" name="Line 34"/>
          <p:cNvSpPr>
            <a:spLocks noChangeShapeType="1"/>
          </p:cNvSpPr>
          <p:nvPr/>
        </p:nvSpPr>
        <p:spPr bwMode="auto">
          <a:xfrm>
            <a:off x="3851275" y="2803004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6558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172528"/>
              </p:ext>
            </p:extLst>
          </p:nvPr>
        </p:nvGraphicFramePr>
        <p:xfrm>
          <a:off x="1722438" y="3146425"/>
          <a:ext cx="5924550" cy="126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1" name="Equation" r:id="rId5" imgW="2323800" imgH="444240" progId="Equation.DSMT4">
                  <p:embed/>
                </p:oleObj>
              </mc:Choice>
              <mc:Fallback>
                <p:oleObj name="Equation" r:id="rId5" imgW="2323800" imgH="44424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438" y="3146425"/>
                        <a:ext cx="5924550" cy="126841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FF"/>
                          </a:gs>
                          <a:gs pos="50000">
                            <a:schemeClr val="bg1"/>
                          </a:gs>
                          <a:gs pos="100000">
                            <a:srgbClr val="00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86" name="Text Box 50"/>
          <p:cNvSpPr txBox="1">
            <a:spLocks noChangeArrowheads="1"/>
          </p:cNvSpPr>
          <p:nvPr/>
        </p:nvSpPr>
        <p:spPr bwMode="auto">
          <a:xfrm>
            <a:off x="1185475" y="5189130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从以上式子可以得出：</a:t>
            </a:r>
          </a:p>
        </p:txBody>
      </p:sp>
      <p:graphicFrame>
        <p:nvGraphicFramePr>
          <p:cNvPr id="6558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893152"/>
              </p:ext>
            </p:extLst>
          </p:nvPr>
        </p:nvGraphicFramePr>
        <p:xfrm>
          <a:off x="4160838" y="4852988"/>
          <a:ext cx="263048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2" name="Equation" r:id="rId7" imgW="1168200" imgH="380880" progId="Equation.DSMT4">
                  <p:embed/>
                </p:oleObj>
              </mc:Choice>
              <mc:Fallback>
                <p:oleObj name="Equation" r:id="rId7" imgW="1168200" imgH="38088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0838" y="4852988"/>
                        <a:ext cx="2630487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6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65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65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65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6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6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5" grpId="0" animBg="1"/>
      <p:bldP spid="65546" grpId="0" build="p" autoUpdateAnimBg="0"/>
      <p:bldP spid="65547" grpId="0" build="p" autoUpdateAnimBg="0"/>
      <p:bldP spid="65548" grpId="0" build="p" autoUpdateAnimBg="0"/>
      <p:bldP spid="65570" grpId="0" animBg="1"/>
      <p:bldP spid="6558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22" name="Group 10"/>
          <p:cNvGrpSpPr>
            <a:grpSpLocks/>
          </p:cNvGrpSpPr>
          <p:nvPr/>
        </p:nvGrpSpPr>
        <p:grpSpPr bwMode="auto">
          <a:xfrm>
            <a:off x="765175" y="4724401"/>
            <a:ext cx="2727325" cy="751055"/>
            <a:chOff x="489" y="2295"/>
            <a:chExt cx="1718" cy="428"/>
          </a:xfrm>
        </p:grpSpPr>
        <p:sp>
          <p:nvSpPr>
            <p:cNvPr id="27683" name="Freeform 11"/>
            <p:cNvSpPr>
              <a:spLocks/>
            </p:cNvSpPr>
            <p:nvPr/>
          </p:nvSpPr>
          <p:spPr bwMode="auto">
            <a:xfrm>
              <a:off x="863" y="2295"/>
              <a:ext cx="1344" cy="344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00FF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684" name="Text Box 12"/>
            <p:cNvSpPr txBox="1">
              <a:spLocks noChangeArrowheads="1"/>
            </p:cNvSpPr>
            <p:nvPr/>
          </p:nvSpPr>
          <p:spPr bwMode="auto">
            <a:xfrm>
              <a:off x="489" y="2460"/>
              <a:ext cx="364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-V</a:t>
              </a:r>
              <a:r>
                <a:rPr kumimoji="1" lang="en-US" altLang="zh-CN" sz="24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</a:p>
          </p:txBody>
        </p:sp>
        <p:sp>
          <p:nvSpPr>
            <p:cNvPr id="27685" name="Rectangle 13"/>
            <p:cNvSpPr>
              <a:spLocks noChangeArrowheads="1"/>
            </p:cNvSpPr>
            <p:nvPr/>
          </p:nvSpPr>
          <p:spPr bwMode="auto">
            <a:xfrm>
              <a:off x="1392" y="2354"/>
              <a:ext cx="383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400" b="0" i="1" baseline="-25000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r>
                <a:rPr kumimoji="1" lang="en-US" altLang="zh-CN" sz="24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/>
                </a:rPr>
                <a:t></a:t>
              </a:r>
              <a:endPara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64526" name="Group 14"/>
          <p:cNvGrpSpPr>
            <a:grpSpLocks/>
          </p:cNvGrpSpPr>
          <p:nvPr/>
        </p:nvGrpSpPr>
        <p:grpSpPr bwMode="auto">
          <a:xfrm>
            <a:off x="782638" y="3433764"/>
            <a:ext cx="2725737" cy="703263"/>
            <a:chOff x="538" y="1572"/>
            <a:chExt cx="1717" cy="443"/>
          </a:xfrm>
        </p:grpSpPr>
        <p:sp>
          <p:nvSpPr>
            <p:cNvPr id="27680" name="Line 15"/>
            <p:cNvSpPr>
              <a:spLocks noChangeShapeType="1"/>
            </p:cNvSpPr>
            <p:nvPr/>
          </p:nvSpPr>
          <p:spPr bwMode="auto">
            <a:xfrm>
              <a:off x="863" y="1871"/>
              <a:ext cx="1392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681" name="Rectangle 16"/>
            <p:cNvSpPr>
              <a:spLocks noChangeArrowheads="1"/>
            </p:cNvSpPr>
            <p:nvPr/>
          </p:nvSpPr>
          <p:spPr bwMode="auto">
            <a:xfrm>
              <a:off x="1641" y="1572"/>
              <a:ext cx="33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400" b="0" i="1" baseline="-25000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r>
                <a:rPr kumimoji="1" lang="en-US" altLang="zh-CN" sz="24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/>
                </a:rPr>
                <a:t></a:t>
              </a:r>
              <a:endParaRPr kumimoji="1" lang="en-US" altLang="zh-CN" sz="2400" b="0" i="1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7682" name="Text Box 17"/>
            <p:cNvSpPr txBox="1">
              <a:spLocks noChangeArrowheads="1"/>
            </p:cNvSpPr>
            <p:nvPr/>
          </p:nvSpPr>
          <p:spPr bwMode="auto">
            <a:xfrm>
              <a:off x="538" y="1727"/>
              <a:ext cx="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4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</a:p>
          </p:txBody>
        </p:sp>
      </p:grpSp>
      <p:grpSp>
        <p:nvGrpSpPr>
          <p:cNvPr id="64571" name="Group 59"/>
          <p:cNvGrpSpPr>
            <a:grpSpLocks/>
          </p:cNvGrpSpPr>
          <p:nvPr/>
        </p:nvGrpSpPr>
        <p:grpSpPr bwMode="auto">
          <a:xfrm>
            <a:off x="5121276" y="3500438"/>
            <a:ext cx="3100388" cy="2017712"/>
            <a:chOff x="3232" y="2205"/>
            <a:chExt cx="1953" cy="1271"/>
          </a:xfrm>
        </p:grpSpPr>
        <p:sp>
          <p:nvSpPr>
            <p:cNvPr id="27671" name="Line 22"/>
            <p:cNvSpPr>
              <a:spLocks noChangeShapeType="1"/>
            </p:cNvSpPr>
            <p:nvPr/>
          </p:nvSpPr>
          <p:spPr bwMode="auto">
            <a:xfrm>
              <a:off x="3357" y="3163"/>
              <a:ext cx="16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672" name="Line 23"/>
            <p:cNvSpPr>
              <a:spLocks noChangeShapeType="1"/>
            </p:cNvSpPr>
            <p:nvPr/>
          </p:nvSpPr>
          <p:spPr bwMode="auto">
            <a:xfrm flipV="1">
              <a:off x="3515" y="2286"/>
              <a:ext cx="0" cy="11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673" name="Freeform 24"/>
            <p:cNvSpPr>
              <a:spLocks/>
            </p:cNvSpPr>
            <p:nvPr/>
          </p:nvSpPr>
          <p:spPr bwMode="auto">
            <a:xfrm>
              <a:off x="3506" y="2536"/>
              <a:ext cx="1321" cy="588"/>
            </a:xfrm>
            <a:custGeom>
              <a:avLst/>
              <a:gdLst>
                <a:gd name="T0" fmla="*/ 0 w 1200"/>
                <a:gd name="T1" fmla="*/ 0 h 450"/>
                <a:gd name="T2" fmla="*/ 159 w 1200"/>
                <a:gd name="T3" fmla="*/ 251 h 450"/>
                <a:gd name="T4" fmla="*/ 423 w 1200"/>
                <a:gd name="T5" fmla="*/ 439 h 450"/>
                <a:gd name="T6" fmla="*/ 1004 w 1200"/>
                <a:gd name="T7" fmla="*/ 564 h 450"/>
                <a:gd name="T8" fmla="*/ 1321 w 1200"/>
                <a:gd name="T9" fmla="*/ 578 h 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674" name="Text Box 25"/>
            <p:cNvSpPr txBox="1">
              <a:spLocks noChangeArrowheads="1"/>
            </p:cNvSpPr>
            <p:nvPr/>
          </p:nvSpPr>
          <p:spPr bwMode="auto">
            <a:xfrm>
              <a:off x="5016" y="3081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7675" name="Text Box 26"/>
            <p:cNvSpPr txBox="1">
              <a:spLocks noChangeArrowheads="1"/>
            </p:cNvSpPr>
            <p:nvPr/>
          </p:nvSpPr>
          <p:spPr bwMode="auto">
            <a:xfrm>
              <a:off x="3528" y="2205"/>
              <a:ext cx="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40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</a:p>
          </p:txBody>
        </p:sp>
        <p:graphicFrame>
          <p:nvGraphicFramePr>
            <p:cNvPr id="27676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2376183"/>
                </p:ext>
              </p:extLst>
            </p:nvPr>
          </p:nvGraphicFramePr>
          <p:xfrm>
            <a:off x="3232" y="2251"/>
            <a:ext cx="205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90" name="Equation" r:id="rId3" imgW="190440" imgH="355320" progId="Equation.DSMT4">
                    <p:embed/>
                  </p:oleObj>
                </mc:Choice>
                <mc:Fallback>
                  <p:oleObj name="Equation" r:id="rId3" imgW="190440" imgH="35532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2" y="2251"/>
                          <a:ext cx="205" cy="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7" name="Text Box 28"/>
            <p:cNvSpPr txBox="1">
              <a:spLocks noChangeArrowheads="1"/>
            </p:cNvSpPr>
            <p:nvPr/>
          </p:nvSpPr>
          <p:spPr bwMode="auto">
            <a:xfrm>
              <a:off x="3261" y="314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27678" name="Line 29"/>
            <p:cNvSpPr>
              <a:spLocks noChangeShapeType="1"/>
            </p:cNvSpPr>
            <p:nvPr/>
          </p:nvSpPr>
          <p:spPr bwMode="auto">
            <a:xfrm flipH="1">
              <a:off x="3274" y="3147"/>
              <a:ext cx="23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679" name="Line 30"/>
            <p:cNvSpPr>
              <a:spLocks noChangeShapeType="1"/>
            </p:cNvSpPr>
            <p:nvPr/>
          </p:nvSpPr>
          <p:spPr bwMode="auto">
            <a:xfrm flipV="1">
              <a:off x="3505" y="2553"/>
              <a:ext cx="0" cy="59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4543" name="Group 31"/>
          <p:cNvGrpSpPr>
            <a:grpSpLocks/>
          </p:cNvGrpSpPr>
          <p:nvPr/>
        </p:nvGrpSpPr>
        <p:grpSpPr bwMode="auto">
          <a:xfrm>
            <a:off x="917575" y="3401816"/>
            <a:ext cx="3713318" cy="2114748"/>
            <a:chOff x="623" y="1550"/>
            <a:chExt cx="2130" cy="1185"/>
          </a:xfrm>
        </p:grpSpPr>
        <p:sp>
          <p:nvSpPr>
            <p:cNvPr id="27666" name="Line 32"/>
            <p:cNvSpPr>
              <a:spLocks noChangeShapeType="1"/>
            </p:cNvSpPr>
            <p:nvPr/>
          </p:nvSpPr>
          <p:spPr bwMode="auto">
            <a:xfrm>
              <a:off x="623" y="2255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667" name="Line 33"/>
            <p:cNvSpPr>
              <a:spLocks noChangeShapeType="1"/>
            </p:cNvSpPr>
            <p:nvPr/>
          </p:nvSpPr>
          <p:spPr bwMode="auto">
            <a:xfrm flipV="1">
              <a:off x="863" y="1631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668" name="Text Box 34"/>
            <p:cNvSpPr txBox="1">
              <a:spLocks noChangeArrowheads="1"/>
            </p:cNvSpPr>
            <p:nvPr/>
          </p:nvSpPr>
          <p:spPr bwMode="auto">
            <a:xfrm>
              <a:off x="2598" y="2125"/>
              <a:ext cx="155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7669" name="Text Box 35"/>
            <p:cNvSpPr txBox="1">
              <a:spLocks noChangeArrowheads="1"/>
            </p:cNvSpPr>
            <p:nvPr/>
          </p:nvSpPr>
          <p:spPr bwMode="auto">
            <a:xfrm>
              <a:off x="908" y="1550"/>
              <a:ext cx="272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4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7670" name="Text Box 36"/>
            <p:cNvSpPr txBox="1">
              <a:spLocks noChangeArrowheads="1"/>
            </p:cNvSpPr>
            <p:nvPr/>
          </p:nvSpPr>
          <p:spPr bwMode="auto">
            <a:xfrm>
              <a:off x="694" y="2235"/>
              <a:ext cx="194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</p:grpSp>
      <p:sp>
        <p:nvSpPr>
          <p:cNvPr id="64549" name="Text Box 37"/>
          <p:cNvSpPr txBox="1">
            <a:spLocks noChangeArrowheads="1"/>
          </p:cNvSpPr>
          <p:nvPr/>
        </p:nvSpPr>
        <p:spPr bwMode="auto">
          <a:xfrm>
            <a:off x="755650" y="1194973"/>
            <a:ext cx="7920038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400">
                <a:solidFill>
                  <a:schemeClr val="tx1"/>
                </a:solidFill>
                <a:latin typeface="楷体_GB2312" pitchFamily="49" charset="-122"/>
              </a:rPr>
              <a:t>电压、电流是随时间按同一指数规律变化的函数；电容电压由两部分构成：</a:t>
            </a:r>
          </a:p>
        </p:txBody>
      </p:sp>
      <p:sp>
        <p:nvSpPr>
          <p:cNvPr id="64551" name="AutoShape 39" descr="羊皮纸"/>
          <p:cNvSpPr>
            <a:spLocks noChangeArrowheads="1"/>
          </p:cNvSpPr>
          <p:nvPr/>
        </p:nvSpPr>
        <p:spPr bwMode="auto">
          <a:xfrm>
            <a:off x="3673477" y="5122665"/>
            <a:ext cx="1476375" cy="526849"/>
          </a:xfrm>
          <a:prstGeom prst="wedgeRoundRectCallout">
            <a:avLst>
              <a:gd name="adj1" fmla="val -114114"/>
              <a:gd name="adj2" fmla="val -270950"/>
              <a:gd name="adj3" fmla="val 16667"/>
            </a:avLst>
          </a:prstGeom>
          <a:solidFill>
            <a:srgbClr val="FFCC00"/>
          </a:solidFill>
          <a:ln>
            <a:noFill/>
          </a:ln>
          <a:effectLst/>
          <a:extLst/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</a:rPr>
              <a:t>连续函数</a:t>
            </a:r>
          </a:p>
        </p:txBody>
      </p:sp>
      <p:sp>
        <p:nvSpPr>
          <p:cNvPr id="64552" name="AutoShape 40" descr="羊皮纸"/>
          <p:cNvSpPr>
            <a:spLocks noChangeArrowheads="1"/>
          </p:cNvSpPr>
          <p:nvPr/>
        </p:nvSpPr>
        <p:spPr bwMode="auto">
          <a:xfrm>
            <a:off x="6254644" y="3546357"/>
            <a:ext cx="1077913" cy="445412"/>
          </a:xfrm>
          <a:prstGeom prst="wedgeRoundRectCallout">
            <a:avLst>
              <a:gd name="adj1" fmla="val -116221"/>
              <a:gd name="adj2" fmla="val 64688"/>
              <a:gd name="adj3" fmla="val 16667"/>
            </a:avLst>
          </a:prstGeom>
          <a:solidFill>
            <a:srgbClr val="FFCC00"/>
          </a:solidFill>
          <a:ln>
            <a:noFill/>
          </a:ln>
          <a:effectLst/>
          <a:extLst/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</a:rPr>
              <a:t>跃变</a:t>
            </a:r>
          </a:p>
        </p:txBody>
      </p:sp>
      <p:sp>
        <p:nvSpPr>
          <p:cNvPr id="64553" name="Text Box 41"/>
          <p:cNvSpPr txBox="1">
            <a:spLocks noChangeArrowheads="1"/>
          </p:cNvSpPr>
          <p:nvPr/>
        </p:nvSpPr>
        <p:spPr bwMode="auto">
          <a:xfrm>
            <a:off x="1480306" y="2466975"/>
            <a:ext cx="2659646" cy="40011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1"/>
                </a:solidFill>
              </a:rPr>
              <a:t>稳态分量（强制分量）</a:t>
            </a:r>
          </a:p>
        </p:txBody>
      </p:sp>
      <p:sp>
        <p:nvSpPr>
          <p:cNvPr id="64554" name="Text Box 42"/>
          <p:cNvSpPr txBox="1">
            <a:spLocks noChangeArrowheads="1"/>
          </p:cNvSpPr>
          <p:nvPr/>
        </p:nvSpPr>
        <p:spPr bwMode="auto">
          <a:xfrm>
            <a:off x="4682097" y="2466975"/>
            <a:ext cx="2770223" cy="40011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</a:rPr>
              <a:t>暂态分量（自由分量）</a:t>
            </a:r>
          </a:p>
        </p:txBody>
      </p:sp>
      <p:grpSp>
        <p:nvGrpSpPr>
          <p:cNvPr id="64568" name="Group 56"/>
          <p:cNvGrpSpPr>
            <a:grpSpLocks/>
          </p:cNvGrpSpPr>
          <p:nvPr/>
        </p:nvGrpSpPr>
        <p:grpSpPr bwMode="auto">
          <a:xfrm>
            <a:off x="611188" y="404813"/>
            <a:ext cx="1644650" cy="850900"/>
            <a:chOff x="385" y="3022"/>
            <a:chExt cx="1036" cy="536"/>
          </a:xfrm>
        </p:grpSpPr>
        <p:pic>
          <p:nvPicPr>
            <p:cNvPr id="27664" name="Picture 57" descr="12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65" name="Text Box 58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3200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表明</a:t>
              </a:r>
            </a:p>
          </p:txBody>
        </p:sp>
      </p:grpSp>
      <p:grpSp>
        <p:nvGrpSpPr>
          <p:cNvPr id="64530" name="Group 18"/>
          <p:cNvGrpSpPr>
            <a:grpSpLocks/>
          </p:cNvGrpSpPr>
          <p:nvPr/>
        </p:nvGrpSpPr>
        <p:grpSpPr bwMode="auto">
          <a:xfrm>
            <a:off x="900113" y="3940478"/>
            <a:ext cx="2565400" cy="699978"/>
            <a:chOff x="591" y="1922"/>
            <a:chExt cx="1616" cy="316"/>
          </a:xfrm>
        </p:grpSpPr>
        <p:sp>
          <p:nvSpPr>
            <p:cNvPr id="27662" name="Freeform 19"/>
            <p:cNvSpPr>
              <a:spLocks/>
            </p:cNvSpPr>
            <p:nvPr/>
          </p:nvSpPr>
          <p:spPr bwMode="auto">
            <a:xfrm>
              <a:off x="863" y="1922"/>
              <a:ext cx="1344" cy="316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663" name="Line 20"/>
            <p:cNvSpPr>
              <a:spLocks noChangeShapeType="1"/>
            </p:cNvSpPr>
            <p:nvPr/>
          </p:nvSpPr>
          <p:spPr bwMode="auto">
            <a:xfrm>
              <a:off x="591" y="2238"/>
              <a:ext cx="27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4572" name="Text Box 60"/>
          <p:cNvSpPr txBox="1">
            <a:spLocks noChangeArrowheads="1"/>
          </p:cNvSpPr>
          <p:nvPr/>
        </p:nvSpPr>
        <p:spPr bwMode="auto">
          <a:xfrm>
            <a:off x="4283968" y="2420888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+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4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4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4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4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2" dur="2000"/>
                                        <p:tgtEl>
                                          <p:spTgt spid="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1" dur="2000"/>
                                        <p:tgtEl>
                                          <p:spTgt spid="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49" grpId="0" autoUpdateAnimBg="0"/>
      <p:bldP spid="64551" grpId="0" animBg="1"/>
      <p:bldP spid="64552" grpId="0" animBg="1"/>
      <p:bldP spid="64553" grpId="0" animBg="1" autoUpdateAnimBg="0"/>
      <p:bldP spid="64554" grpId="0" animBg="1" autoUpdateAnimBg="0"/>
      <p:bldP spid="6457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395288" y="545686"/>
            <a:ext cx="83185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 startAt="2"/>
            </a:pP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响应变化的快慢，由时间常数</a:t>
            </a:r>
            <a:r>
              <a:rPr kumimoji="1" lang="zh-CN" altLang="en-US" sz="2400" i="1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 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＝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</a:rPr>
              <a:t>RC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决定；</a:t>
            </a:r>
            <a:r>
              <a:rPr kumimoji="1" lang="zh-CN" altLang="en-US" sz="2400" i="1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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大，充电慢，</a:t>
            </a:r>
            <a:r>
              <a:rPr kumimoji="1" lang="zh-CN" altLang="en-US" sz="2400" i="1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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小充电就快。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395288" y="1587500"/>
            <a:ext cx="5507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3"/>
            </a:pPr>
            <a:r>
              <a:rPr kumimoji="1" lang="zh-CN" altLang="en-US" sz="2400">
                <a:solidFill>
                  <a:schemeClr val="tx1"/>
                </a:solidFill>
                <a:latin typeface="楷体_GB2312" pitchFamily="49" charset="-122"/>
              </a:rPr>
              <a:t>响应与外加激励成线性关系；</a:t>
            </a:r>
          </a:p>
        </p:txBody>
      </p:sp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395288" y="2235200"/>
            <a:ext cx="2449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4"/>
            </a:pPr>
            <a:r>
              <a:rPr kumimoji="1" lang="zh-CN" altLang="en-US" sz="2400">
                <a:solidFill>
                  <a:schemeClr val="tx1"/>
                </a:solidFill>
                <a:latin typeface="楷体_GB2312" pitchFamily="49" charset="-122"/>
              </a:rPr>
              <a:t>能量关系</a:t>
            </a:r>
          </a:p>
        </p:txBody>
      </p:sp>
      <p:grpSp>
        <p:nvGrpSpPr>
          <p:cNvPr id="63540" name="Group 52"/>
          <p:cNvGrpSpPr>
            <a:grpSpLocks/>
          </p:cNvGrpSpPr>
          <p:nvPr/>
        </p:nvGrpSpPr>
        <p:grpSpPr bwMode="auto">
          <a:xfrm>
            <a:off x="395288" y="4451352"/>
            <a:ext cx="4032696" cy="839788"/>
            <a:chOff x="295" y="1896"/>
            <a:chExt cx="2302" cy="529"/>
          </a:xfrm>
        </p:grpSpPr>
        <p:graphicFrame>
          <p:nvGraphicFramePr>
            <p:cNvPr id="2870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9784628"/>
                </p:ext>
              </p:extLst>
            </p:nvPr>
          </p:nvGraphicFramePr>
          <p:xfrm>
            <a:off x="2038" y="1896"/>
            <a:ext cx="559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25" name="Equation" r:id="rId3" imgW="380880" imgH="355320" progId="Equation.DSMT4">
                    <p:embed/>
                  </p:oleObj>
                </mc:Choice>
                <mc:Fallback>
                  <p:oleObj name="Equation" r:id="rId3" imgW="380880" imgH="35532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8" y="1896"/>
                          <a:ext cx="559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8" name="Text Box 11"/>
            <p:cNvSpPr txBox="1">
              <a:spLocks noChangeArrowheads="1"/>
            </p:cNvSpPr>
            <p:nvPr/>
          </p:nvSpPr>
          <p:spPr bwMode="auto">
            <a:xfrm>
              <a:off x="295" y="2016"/>
              <a:ext cx="185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chemeClr val="tx1"/>
                  </a:solidFill>
                  <a:latin typeface="Times New Roman" pitchFamily="18" charset="0"/>
                </a:rPr>
                <a:t>电容储存能量：</a:t>
              </a:r>
            </a:p>
          </p:txBody>
        </p:sp>
      </p:grpSp>
      <p:grpSp>
        <p:nvGrpSpPr>
          <p:cNvPr id="63541" name="Group 53"/>
          <p:cNvGrpSpPr>
            <a:grpSpLocks/>
          </p:cNvGrpSpPr>
          <p:nvPr/>
        </p:nvGrpSpPr>
        <p:grpSpPr bwMode="auto">
          <a:xfrm>
            <a:off x="395288" y="2795590"/>
            <a:ext cx="5759451" cy="754063"/>
            <a:chOff x="340" y="2487"/>
            <a:chExt cx="3628" cy="475"/>
          </a:xfrm>
        </p:grpSpPr>
        <p:sp>
          <p:nvSpPr>
            <p:cNvPr id="28705" name="Text Box 13"/>
            <p:cNvSpPr txBox="1">
              <a:spLocks noChangeArrowheads="1"/>
            </p:cNvSpPr>
            <p:nvPr/>
          </p:nvSpPr>
          <p:spPr bwMode="auto">
            <a:xfrm>
              <a:off x="340" y="2545"/>
              <a:ext cx="125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电源提供能量：</a:t>
              </a:r>
            </a:p>
          </p:txBody>
        </p:sp>
        <p:graphicFrame>
          <p:nvGraphicFramePr>
            <p:cNvPr id="28706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5000565"/>
                </p:ext>
              </p:extLst>
            </p:nvPr>
          </p:nvGraphicFramePr>
          <p:xfrm>
            <a:off x="2213" y="2487"/>
            <a:ext cx="1755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26" name="Equation" r:id="rId5" imgW="1206360" imgH="317160" progId="Equation.DSMT4">
                    <p:embed/>
                  </p:oleObj>
                </mc:Choice>
                <mc:Fallback>
                  <p:oleObj name="Equation" r:id="rId5" imgW="1206360" imgH="31716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3" y="2487"/>
                          <a:ext cx="1755" cy="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4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660669"/>
              </p:ext>
            </p:extLst>
          </p:nvPr>
        </p:nvGraphicFramePr>
        <p:xfrm>
          <a:off x="7300913" y="3635375"/>
          <a:ext cx="12414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27" name="Equation" r:id="rId7" imgW="482400" imgH="355320" progId="Equation.DSMT4">
                  <p:embed/>
                </p:oleObj>
              </mc:Choice>
              <mc:Fallback>
                <p:oleObj name="Equation" r:id="rId7" imgW="482400" imgH="3553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0913" y="3635375"/>
                        <a:ext cx="12414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542" name="Group 54"/>
          <p:cNvGrpSpPr>
            <a:grpSpLocks/>
          </p:cNvGrpSpPr>
          <p:nvPr/>
        </p:nvGrpSpPr>
        <p:grpSpPr bwMode="auto">
          <a:xfrm>
            <a:off x="395288" y="3473452"/>
            <a:ext cx="6843712" cy="1101726"/>
            <a:chOff x="249" y="3005"/>
            <a:chExt cx="4311" cy="694"/>
          </a:xfrm>
        </p:grpSpPr>
        <p:sp>
          <p:nvSpPr>
            <p:cNvPr id="28703" name="Text Box 15"/>
            <p:cNvSpPr txBox="1">
              <a:spLocks noChangeArrowheads="1"/>
            </p:cNvSpPr>
            <p:nvPr/>
          </p:nvSpPr>
          <p:spPr bwMode="auto">
            <a:xfrm>
              <a:off x="249" y="3195"/>
              <a:ext cx="17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chemeClr val="tx1"/>
                  </a:solidFill>
                  <a:latin typeface="Times New Roman" pitchFamily="18" charset="0"/>
                </a:rPr>
                <a:t>电阻消耗能量：</a:t>
              </a:r>
            </a:p>
          </p:txBody>
        </p:sp>
        <p:graphicFrame>
          <p:nvGraphicFramePr>
            <p:cNvPr id="2870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648787"/>
                </p:ext>
              </p:extLst>
            </p:nvPr>
          </p:nvGraphicFramePr>
          <p:xfrm>
            <a:off x="2139" y="3005"/>
            <a:ext cx="2421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28" name="Equation" r:id="rId9" imgW="1663560" imgH="469800" progId="Equation.DSMT4">
                    <p:embed/>
                  </p:oleObj>
                </mc:Choice>
                <mc:Fallback>
                  <p:oleObj name="Equation" r:id="rId9" imgW="1663560" imgH="4698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9" y="3005"/>
                          <a:ext cx="2421" cy="6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526" name="Text Box 38" descr="新闻纸"/>
          <p:cNvSpPr txBox="1">
            <a:spLocks noChangeArrowheads="1"/>
          </p:cNvSpPr>
          <p:nvPr/>
        </p:nvSpPr>
        <p:spPr bwMode="auto">
          <a:xfrm>
            <a:off x="1187624" y="5588997"/>
            <a:ext cx="7489825" cy="93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      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电源提供的能量一半消耗在电阻上，一半转换成电场能量储存在电容中。</a:t>
            </a:r>
          </a:p>
        </p:txBody>
      </p:sp>
      <p:grpSp>
        <p:nvGrpSpPr>
          <p:cNvPr id="63561" name="Group 73"/>
          <p:cNvGrpSpPr>
            <a:grpSpLocks/>
          </p:cNvGrpSpPr>
          <p:nvPr/>
        </p:nvGrpSpPr>
        <p:grpSpPr bwMode="auto">
          <a:xfrm>
            <a:off x="323850" y="5157788"/>
            <a:ext cx="1543050" cy="850900"/>
            <a:chOff x="385" y="3022"/>
            <a:chExt cx="972" cy="536"/>
          </a:xfrm>
        </p:grpSpPr>
        <p:pic>
          <p:nvPicPr>
            <p:cNvPr id="28701" name="Picture 74" descr="123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702" name="Text Box 75"/>
            <p:cNvSpPr txBox="1">
              <a:spLocks noChangeArrowheads="1"/>
            </p:cNvSpPr>
            <p:nvPr/>
          </p:nvSpPr>
          <p:spPr bwMode="auto">
            <a:xfrm>
              <a:off x="793" y="3153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表明</a:t>
              </a:r>
            </a:p>
          </p:txBody>
        </p:sp>
      </p:grpSp>
      <p:grpSp>
        <p:nvGrpSpPr>
          <p:cNvPr id="63567" name="Group 79"/>
          <p:cNvGrpSpPr>
            <a:grpSpLocks/>
          </p:cNvGrpSpPr>
          <p:nvPr/>
        </p:nvGrpSpPr>
        <p:grpSpPr bwMode="auto">
          <a:xfrm>
            <a:off x="5427663" y="1255713"/>
            <a:ext cx="3132138" cy="1555750"/>
            <a:chOff x="3419" y="791"/>
            <a:chExt cx="1973" cy="980"/>
          </a:xfrm>
        </p:grpSpPr>
        <p:sp>
          <p:nvSpPr>
            <p:cNvPr id="28684" name="Oval 56"/>
            <p:cNvSpPr>
              <a:spLocks noChangeArrowheads="1"/>
            </p:cNvSpPr>
            <p:nvPr/>
          </p:nvSpPr>
          <p:spPr bwMode="auto">
            <a:xfrm>
              <a:off x="3710" y="104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685" name="Line 57"/>
            <p:cNvSpPr>
              <a:spLocks noChangeShapeType="1"/>
            </p:cNvSpPr>
            <p:nvPr/>
          </p:nvSpPr>
          <p:spPr bwMode="auto">
            <a:xfrm flipV="1">
              <a:off x="3878" y="890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686" name="Line 58"/>
            <p:cNvSpPr>
              <a:spLocks noChangeShapeType="1"/>
            </p:cNvSpPr>
            <p:nvPr/>
          </p:nvSpPr>
          <p:spPr bwMode="auto">
            <a:xfrm>
              <a:off x="5057" y="89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687" name="Line 59"/>
            <p:cNvSpPr>
              <a:spLocks noChangeShapeType="1"/>
            </p:cNvSpPr>
            <p:nvPr/>
          </p:nvSpPr>
          <p:spPr bwMode="auto">
            <a:xfrm flipH="1">
              <a:off x="5057" y="1344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688" name="Rectangle 60"/>
            <p:cNvSpPr>
              <a:spLocks noChangeArrowheads="1"/>
            </p:cNvSpPr>
            <p:nvPr/>
          </p:nvSpPr>
          <p:spPr bwMode="auto">
            <a:xfrm>
              <a:off x="4436" y="818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689" name="Line 61"/>
            <p:cNvSpPr>
              <a:spLocks noChangeShapeType="1"/>
            </p:cNvSpPr>
            <p:nvPr/>
          </p:nvSpPr>
          <p:spPr bwMode="auto">
            <a:xfrm flipH="1" flipV="1">
              <a:off x="3878" y="890"/>
              <a:ext cx="13" cy="88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690" name="Line 65"/>
            <p:cNvSpPr>
              <a:spLocks noChangeShapeType="1"/>
            </p:cNvSpPr>
            <p:nvPr/>
          </p:nvSpPr>
          <p:spPr bwMode="auto">
            <a:xfrm flipV="1">
              <a:off x="3878" y="1752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691" name="Text Box 66"/>
            <p:cNvSpPr txBox="1">
              <a:spLocks noChangeArrowheads="1"/>
            </p:cNvSpPr>
            <p:nvPr/>
          </p:nvSpPr>
          <p:spPr bwMode="auto">
            <a:xfrm>
              <a:off x="4558" y="91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8692" name="Text Box 67"/>
            <p:cNvSpPr txBox="1">
              <a:spLocks noChangeArrowheads="1"/>
            </p:cNvSpPr>
            <p:nvPr/>
          </p:nvSpPr>
          <p:spPr bwMode="auto">
            <a:xfrm>
              <a:off x="5168" y="1154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8693" name="AutoShape 68"/>
            <p:cNvSpPr>
              <a:spLocks noChangeArrowheads="1"/>
            </p:cNvSpPr>
            <p:nvPr/>
          </p:nvSpPr>
          <p:spPr bwMode="auto">
            <a:xfrm>
              <a:off x="4195" y="1117"/>
              <a:ext cx="384" cy="177"/>
            </a:xfrm>
            <a:custGeom>
              <a:avLst/>
              <a:gdLst>
                <a:gd name="T0" fmla="*/ 297 w 21600"/>
                <a:gd name="T1" fmla="*/ 0 h 21600"/>
                <a:gd name="T2" fmla="*/ 210 w 21600"/>
                <a:gd name="T3" fmla="*/ 59 h 21600"/>
                <a:gd name="T4" fmla="*/ 0 w 21600"/>
                <a:gd name="T5" fmla="*/ 160 h 21600"/>
                <a:gd name="T6" fmla="*/ 165 w 21600"/>
                <a:gd name="T7" fmla="*/ 177 h 21600"/>
                <a:gd name="T8" fmla="*/ 329 w 21600"/>
                <a:gd name="T9" fmla="*/ 123 h 21600"/>
                <a:gd name="T10" fmla="*/ 384 w 21600"/>
                <a:gd name="T11" fmla="*/ 59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7329 h 21600"/>
                <a:gd name="T20" fmla="*/ 18506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707" y="0"/>
                  </a:moveTo>
                  <a:lnTo>
                    <a:pt x="11813" y="7200"/>
                  </a:lnTo>
                  <a:lnTo>
                    <a:pt x="14899" y="7200"/>
                  </a:lnTo>
                  <a:lnTo>
                    <a:pt x="14899" y="17382"/>
                  </a:lnTo>
                  <a:lnTo>
                    <a:pt x="0" y="17382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6707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694" name="AutoShape 69"/>
            <p:cNvSpPr>
              <a:spLocks noChangeArrowheads="1"/>
            </p:cNvSpPr>
            <p:nvPr/>
          </p:nvSpPr>
          <p:spPr bwMode="auto">
            <a:xfrm>
              <a:off x="4195" y="1344"/>
              <a:ext cx="576" cy="90"/>
            </a:xfrm>
            <a:prstGeom prst="rightArrow">
              <a:avLst>
                <a:gd name="adj1" fmla="val 50000"/>
                <a:gd name="adj2" fmla="val 160000"/>
              </a:avLst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8695" name="Text Box 70"/>
            <p:cNvSpPr txBox="1">
              <a:spLocks noChangeArrowheads="1"/>
            </p:cNvSpPr>
            <p:nvPr/>
          </p:nvSpPr>
          <p:spPr bwMode="auto">
            <a:xfrm>
              <a:off x="3582" y="791"/>
              <a:ext cx="20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28696" name="Text Box 71"/>
            <p:cNvSpPr txBox="1">
              <a:spLocks noChangeArrowheads="1"/>
            </p:cNvSpPr>
            <p:nvPr/>
          </p:nvSpPr>
          <p:spPr bwMode="auto">
            <a:xfrm>
              <a:off x="3581" y="1471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28697" name="Text Box 72"/>
            <p:cNvSpPr txBox="1">
              <a:spLocks noChangeArrowheads="1"/>
            </p:cNvSpPr>
            <p:nvPr/>
          </p:nvSpPr>
          <p:spPr bwMode="auto">
            <a:xfrm>
              <a:off x="3419" y="1109"/>
              <a:ext cx="27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28698" name="Group 76"/>
            <p:cNvGrpSpPr>
              <a:grpSpLocks/>
            </p:cNvGrpSpPr>
            <p:nvPr/>
          </p:nvGrpSpPr>
          <p:grpSpPr bwMode="auto">
            <a:xfrm>
              <a:off x="4921" y="1253"/>
              <a:ext cx="240" cy="93"/>
              <a:chOff x="3787" y="2478"/>
              <a:chExt cx="240" cy="93"/>
            </a:xfrm>
          </p:grpSpPr>
          <p:sp>
            <p:nvSpPr>
              <p:cNvPr id="28699" name="Line 77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00" name="Line 78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utoUpdateAnimBg="0"/>
      <p:bldP spid="63493" grpId="0" autoUpdateAnimBg="0"/>
      <p:bldP spid="63495" grpId="0" autoUpdateAnimBg="0"/>
      <p:bldP spid="635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46085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二、</a:t>
            </a:r>
            <a:r>
              <a:rPr kumimoji="1" lang="en-US" altLang="zh-CN" sz="2400" i="1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RL</a:t>
            </a:r>
            <a:r>
              <a:rPr kumimoji="1" lang="zh-CN" altLang="zh-CN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电路的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直流</a:t>
            </a:r>
            <a:r>
              <a:rPr kumimoji="1" lang="zh-CN" altLang="zh-CN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响应</a:t>
            </a:r>
            <a:endParaRPr kumimoji="1" lang="zh-CN" altLang="en-US" sz="2400" dirty="0">
              <a:solidFill>
                <a:srgbClr val="990033"/>
              </a:solidFill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1658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661559"/>
              </p:ext>
            </p:extLst>
          </p:nvPr>
        </p:nvGraphicFramePr>
        <p:xfrm>
          <a:off x="989014" y="1905000"/>
          <a:ext cx="1789888" cy="823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45" name="Equation" r:id="rId3" imgW="914400" imgH="380880" progId="Equation.DSMT4">
                  <p:embed/>
                </p:oleObj>
              </mc:Choice>
              <mc:Fallback>
                <p:oleObj name="Equation" r:id="rId3" imgW="914400" imgH="380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4" y="1905000"/>
                        <a:ext cx="1789888" cy="823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537397"/>
              </p:ext>
            </p:extLst>
          </p:nvPr>
        </p:nvGraphicFramePr>
        <p:xfrm>
          <a:off x="1055688" y="5087938"/>
          <a:ext cx="23876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46" name="Equation" r:id="rId5" imgW="952200" imgH="431640" progId="Equation.DSMT4">
                  <p:embed/>
                </p:oleObj>
              </mc:Choice>
              <mc:Fallback>
                <p:oleObj name="Equation" r:id="rId5" imgW="95220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5087938"/>
                        <a:ext cx="2387600" cy="11017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FF"/>
                          </a:gs>
                          <a:gs pos="50000">
                            <a:schemeClr val="bg1"/>
                          </a:gs>
                          <a:gs pos="100000">
                            <a:srgbClr val="00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4" name="Rectangle 6"/>
          <p:cNvSpPr>
            <a:spLocks noChangeArrowheads="1"/>
          </p:cNvSpPr>
          <p:nvPr/>
        </p:nvSpPr>
        <p:spPr bwMode="auto">
          <a:xfrm>
            <a:off x="676890" y="1255683"/>
            <a:ext cx="360707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 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(0</a:t>
            </a:r>
            <a:r>
              <a:rPr kumimoji="1" lang="zh-CN" altLang="en-US" sz="2000" b="0" baseline="-2500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－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) = 0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，电路方程为：</a:t>
            </a:r>
          </a:p>
        </p:txBody>
      </p:sp>
      <p:graphicFrame>
        <p:nvGraphicFramePr>
          <p:cNvPr id="1658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166390"/>
              </p:ext>
            </p:extLst>
          </p:nvPr>
        </p:nvGraphicFramePr>
        <p:xfrm>
          <a:off x="952500" y="2912356"/>
          <a:ext cx="1575547" cy="537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47" name="Equation" r:id="rId7" imgW="583920" imgH="203040" progId="Equation.DSMT4">
                  <p:embed/>
                </p:oleObj>
              </mc:Choice>
              <mc:Fallback>
                <p:oleObj name="Equation" r:id="rId7" imgW="583920" imgH="203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912356"/>
                        <a:ext cx="1575547" cy="5372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5958" name="Group 70"/>
          <p:cNvGrpSpPr>
            <a:grpSpLocks/>
          </p:cNvGrpSpPr>
          <p:nvPr/>
        </p:nvGrpSpPr>
        <p:grpSpPr bwMode="auto">
          <a:xfrm>
            <a:off x="5443537" y="3817938"/>
            <a:ext cx="3436936" cy="2035175"/>
            <a:chOff x="3438" y="2401"/>
            <a:chExt cx="2165" cy="1282"/>
          </a:xfrm>
        </p:grpSpPr>
        <p:sp>
          <p:nvSpPr>
            <p:cNvPr id="30764" name="Line 9"/>
            <p:cNvSpPr>
              <a:spLocks noChangeShapeType="1"/>
            </p:cNvSpPr>
            <p:nvPr/>
          </p:nvSpPr>
          <p:spPr bwMode="auto">
            <a:xfrm>
              <a:off x="3470" y="3203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65" name="Line 10"/>
            <p:cNvSpPr>
              <a:spLocks noChangeShapeType="1"/>
            </p:cNvSpPr>
            <p:nvPr/>
          </p:nvSpPr>
          <p:spPr bwMode="auto">
            <a:xfrm flipV="1">
              <a:off x="3710" y="2579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66" name="Freeform 11"/>
            <p:cNvSpPr>
              <a:spLocks/>
            </p:cNvSpPr>
            <p:nvPr/>
          </p:nvSpPr>
          <p:spPr bwMode="auto">
            <a:xfrm>
              <a:off x="3705" y="2857"/>
              <a:ext cx="1344" cy="344"/>
            </a:xfrm>
            <a:custGeom>
              <a:avLst/>
              <a:gdLst>
                <a:gd name="T0" fmla="*/ 0 w 1344"/>
                <a:gd name="T1" fmla="*/ 344 h 344"/>
                <a:gd name="T2" fmla="*/ 288 w 1344"/>
                <a:gd name="T3" fmla="*/ 152 h 344"/>
                <a:gd name="T4" fmla="*/ 624 w 1344"/>
                <a:gd name="T5" fmla="*/ 56 h 344"/>
                <a:gd name="T6" fmla="*/ 1104 w 1344"/>
                <a:gd name="T7" fmla="*/ 8 h 344"/>
                <a:gd name="T8" fmla="*/ 1344 w 1344"/>
                <a:gd name="T9" fmla="*/ 8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67" name="Text Box 12"/>
            <p:cNvSpPr txBox="1">
              <a:spLocks noChangeArrowheads="1"/>
            </p:cNvSpPr>
            <p:nvPr/>
          </p:nvSpPr>
          <p:spPr bwMode="auto">
            <a:xfrm>
              <a:off x="5442" y="3077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30768" name="Line 15"/>
            <p:cNvSpPr>
              <a:spLocks noChangeShapeType="1"/>
            </p:cNvSpPr>
            <p:nvPr/>
          </p:nvSpPr>
          <p:spPr bwMode="auto">
            <a:xfrm>
              <a:off x="3438" y="3194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69" name="Text Box 20"/>
            <p:cNvSpPr txBox="1">
              <a:spLocks noChangeArrowheads="1"/>
            </p:cNvSpPr>
            <p:nvPr/>
          </p:nvSpPr>
          <p:spPr bwMode="auto">
            <a:xfrm>
              <a:off x="3622" y="2401"/>
              <a:ext cx="45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L</a:t>
              </a:r>
              <a:endPara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0770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0157758"/>
                </p:ext>
              </p:extLst>
            </p:nvPr>
          </p:nvGraphicFramePr>
          <p:xfrm>
            <a:off x="3463" y="2652"/>
            <a:ext cx="217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448" name="Equation" r:id="rId9" imgW="203040" imgH="355320" progId="Equation.DSMT4">
                    <p:embed/>
                  </p:oleObj>
                </mc:Choice>
                <mc:Fallback>
                  <p:oleObj name="Equation" r:id="rId9" imgW="203040" imgH="35532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3" y="2652"/>
                          <a:ext cx="217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71" name="Text Box 25"/>
            <p:cNvSpPr txBox="1">
              <a:spLocks noChangeArrowheads="1"/>
            </p:cNvSpPr>
            <p:nvPr/>
          </p:nvSpPr>
          <p:spPr bwMode="auto">
            <a:xfrm>
              <a:off x="3474" y="3217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0772" name="Line 27"/>
            <p:cNvSpPr>
              <a:spLocks noChangeShapeType="1"/>
            </p:cNvSpPr>
            <p:nvPr/>
          </p:nvSpPr>
          <p:spPr bwMode="auto">
            <a:xfrm flipH="1">
              <a:off x="3710" y="2833"/>
              <a:ext cx="1318" cy="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6591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711760"/>
              </p:ext>
            </p:extLst>
          </p:nvPr>
        </p:nvGraphicFramePr>
        <p:xfrm>
          <a:off x="982663" y="3775075"/>
          <a:ext cx="30988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49" name="Equation" r:id="rId11" imgW="1523880" imgH="393480" progId="Equation.DSMT4">
                  <p:embed/>
                </p:oleObj>
              </mc:Choice>
              <mc:Fallback>
                <p:oleObj name="Equation" r:id="rId11" imgW="1523880" imgH="39348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3775075"/>
                        <a:ext cx="30988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892037"/>
              </p:ext>
            </p:extLst>
          </p:nvPr>
        </p:nvGraphicFramePr>
        <p:xfrm>
          <a:off x="2847975" y="2780928"/>
          <a:ext cx="15589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50" name="Equation" r:id="rId13" imgW="774360" imgH="419040" progId="Equation.DSMT4">
                  <p:embed/>
                </p:oleObj>
              </mc:Choice>
              <mc:Fallback>
                <p:oleObj name="Equation" r:id="rId13" imgW="774360" imgH="41904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975" y="2780928"/>
                        <a:ext cx="15589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5924" name="Group 36"/>
          <p:cNvGrpSpPr>
            <a:grpSpLocks/>
          </p:cNvGrpSpPr>
          <p:nvPr/>
        </p:nvGrpSpPr>
        <p:grpSpPr bwMode="auto">
          <a:xfrm>
            <a:off x="5724526" y="936625"/>
            <a:ext cx="2868613" cy="2017713"/>
            <a:chOff x="3061" y="2133"/>
            <a:chExt cx="1807" cy="1271"/>
          </a:xfrm>
        </p:grpSpPr>
        <p:sp>
          <p:nvSpPr>
            <p:cNvPr id="30731" name="Oval 37"/>
            <p:cNvSpPr>
              <a:spLocks noChangeArrowheads="1"/>
            </p:cNvSpPr>
            <p:nvPr/>
          </p:nvSpPr>
          <p:spPr bwMode="auto">
            <a:xfrm>
              <a:off x="3061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732" name="Group 38"/>
            <p:cNvGrpSpPr>
              <a:grpSpLocks/>
            </p:cNvGrpSpPr>
            <p:nvPr/>
          </p:nvGrpSpPr>
          <p:grpSpPr bwMode="auto">
            <a:xfrm>
              <a:off x="4261" y="2172"/>
              <a:ext cx="253" cy="313"/>
              <a:chOff x="1852" y="511"/>
              <a:chExt cx="260" cy="257"/>
            </a:xfrm>
          </p:grpSpPr>
          <p:sp>
            <p:nvSpPr>
              <p:cNvPr id="30762" name="Line 39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63" name="Text Box 40"/>
              <p:cNvSpPr txBox="1">
                <a:spLocks noChangeArrowheads="1"/>
              </p:cNvSpPr>
              <p:nvPr/>
            </p:nvSpPr>
            <p:spPr bwMode="auto">
              <a:xfrm>
                <a:off x="1852" y="511"/>
                <a:ext cx="226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Times New Roman" panose="02020603050405020304" pitchFamily="18" charset="0"/>
                  </a:rPr>
                  <a:t>L</a:t>
                </a:r>
                <a:endPara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733" name="Text Box 41"/>
            <p:cNvSpPr txBox="1">
              <a:spLocks noChangeArrowheads="1"/>
            </p:cNvSpPr>
            <p:nvPr/>
          </p:nvSpPr>
          <p:spPr bwMode="auto">
            <a:xfrm>
              <a:off x="3118" y="2133"/>
              <a:ext cx="54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S(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t=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0)</a:t>
              </a:r>
            </a:p>
          </p:txBody>
        </p:sp>
        <p:sp>
          <p:nvSpPr>
            <p:cNvPr id="30734" name="Text Box 42"/>
            <p:cNvSpPr txBox="1">
              <a:spLocks noChangeArrowheads="1"/>
            </p:cNvSpPr>
            <p:nvPr/>
          </p:nvSpPr>
          <p:spPr bwMode="auto">
            <a:xfrm>
              <a:off x="3464" y="2750"/>
              <a:ext cx="27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V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0735" name="Group 43"/>
            <p:cNvGrpSpPr>
              <a:grpSpLocks/>
            </p:cNvGrpSpPr>
            <p:nvPr/>
          </p:nvGrpSpPr>
          <p:grpSpPr bwMode="auto">
            <a:xfrm>
              <a:off x="3795" y="2498"/>
              <a:ext cx="570" cy="300"/>
              <a:chOff x="822" y="808"/>
              <a:chExt cx="586" cy="246"/>
            </a:xfrm>
          </p:grpSpPr>
          <p:grpSp>
            <p:nvGrpSpPr>
              <p:cNvPr id="30758" name="Group 44"/>
              <p:cNvGrpSpPr>
                <a:grpSpLocks/>
              </p:cNvGrpSpPr>
              <p:nvPr/>
            </p:nvGrpSpPr>
            <p:grpSpPr bwMode="auto">
              <a:xfrm>
                <a:off x="822" y="808"/>
                <a:ext cx="586" cy="207"/>
                <a:chOff x="822" y="808"/>
                <a:chExt cx="586" cy="207"/>
              </a:xfrm>
            </p:grpSpPr>
            <p:sp>
              <p:nvSpPr>
                <p:cNvPr id="30760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822" y="808"/>
                  <a:ext cx="214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charset="-122"/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30761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205" y="808"/>
                  <a:ext cx="203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charset="-122"/>
                      <a:cs typeface="Times New Roman" panose="02020603050405020304" pitchFamily="18" charset="0"/>
                    </a:rPr>
                    <a:t>–</a:t>
                  </a:r>
                </a:p>
              </p:txBody>
            </p:sp>
          </p:grpSp>
          <p:sp>
            <p:nvSpPr>
              <p:cNvPr id="30759" name="Text Box 47"/>
              <p:cNvSpPr txBox="1">
                <a:spLocks noChangeArrowheads="1"/>
              </p:cNvSpPr>
              <p:nvPr/>
            </p:nvSpPr>
            <p:spPr bwMode="auto">
              <a:xfrm>
                <a:off x="989" y="847"/>
                <a:ext cx="267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charset="-122"/>
                    <a:cs typeface="Times New Roman" panose="02020603050405020304" pitchFamily="18" charset="0"/>
                  </a:rPr>
                  <a:t>v</a:t>
                </a:r>
                <a:r>
                  <a:rPr kumimoji="1" lang="en-US" altLang="zh-CN" sz="2000" b="0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Times New Roman" panose="02020603050405020304" pitchFamily="18" charset="0"/>
                  </a:rPr>
                  <a:t>R</a:t>
                </a:r>
              </a:p>
            </p:txBody>
          </p:sp>
        </p:grpSp>
        <p:sp>
          <p:nvSpPr>
            <p:cNvPr id="30736" name="Text Box 48"/>
            <p:cNvSpPr txBox="1">
              <a:spLocks noChangeArrowheads="1"/>
            </p:cNvSpPr>
            <p:nvPr/>
          </p:nvSpPr>
          <p:spPr bwMode="auto">
            <a:xfrm>
              <a:off x="4662" y="281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L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0737" name="Group 49"/>
            <p:cNvGrpSpPr>
              <a:grpSpLocks/>
            </p:cNvGrpSpPr>
            <p:nvPr/>
          </p:nvGrpSpPr>
          <p:grpSpPr bwMode="auto">
            <a:xfrm>
              <a:off x="4267" y="2561"/>
              <a:ext cx="272" cy="719"/>
              <a:chOff x="2002" y="761"/>
              <a:chExt cx="281" cy="592"/>
            </a:xfrm>
          </p:grpSpPr>
          <p:grpSp>
            <p:nvGrpSpPr>
              <p:cNvPr id="30754" name="Group 50"/>
              <p:cNvGrpSpPr>
                <a:grpSpLocks/>
              </p:cNvGrpSpPr>
              <p:nvPr/>
            </p:nvGrpSpPr>
            <p:grpSpPr bwMode="auto">
              <a:xfrm>
                <a:off x="2068" y="761"/>
                <a:ext cx="215" cy="592"/>
                <a:chOff x="1636" y="1289"/>
                <a:chExt cx="215" cy="592"/>
              </a:xfrm>
            </p:grpSpPr>
            <p:sp>
              <p:nvSpPr>
                <p:cNvPr id="30756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637" y="1289"/>
                  <a:ext cx="214" cy="2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charset="-122"/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30757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1636" y="1673"/>
                  <a:ext cx="203" cy="2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charset="-122"/>
                      <a:cs typeface="Times New Roman" panose="02020603050405020304" pitchFamily="18" charset="0"/>
                    </a:rPr>
                    <a:t>–</a:t>
                  </a:r>
                </a:p>
              </p:txBody>
            </p:sp>
          </p:grpSp>
          <p:sp>
            <p:nvSpPr>
              <p:cNvPr id="30755" name="Text Box 53"/>
              <p:cNvSpPr txBox="1">
                <a:spLocks noChangeArrowheads="1"/>
              </p:cNvSpPr>
              <p:nvPr/>
            </p:nvSpPr>
            <p:spPr bwMode="auto">
              <a:xfrm>
                <a:off x="2002" y="942"/>
                <a:ext cx="255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charset="-122"/>
                    <a:cs typeface="Times New Roman" panose="02020603050405020304" pitchFamily="18" charset="0"/>
                  </a:rPr>
                  <a:t>v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Times New Roman" panose="02020603050405020304" pitchFamily="18" charset="0"/>
                  </a:rPr>
                  <a:t>L</a:t>
                </a:r>
                <a:endPara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738" name="Line 54"/>
            <p:cNvSpPr>
              <a:spLocks noChangeShapeType="1"/>
            </p:cNvSpPr>
            <p:nvPr/>
          </p:nvSpPr>
          <p:spPr bwMode="auto">
            <a:xfrm>
              <a:off x="3833" y="2523"/>
              <a:ext cx="7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39" name="Line 55"/>
            <p:cNvSpPr>
              <a:spLocks noChangeShapeType="1"/>
            </p:cNvSpPr>
            <p:nvPr/>
          </p:nvSpPr>
          <p:spPr bwMode="auto">
            <a:xfrm>
              <a:off x="3243" y="2523"/>
              <a:ext cx="34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0" name="Line 56"/>
            <p:cNvSpPr>
              <a:spLocks noChangeShapeType="1"/>
            </p:cNvSpPr>
            <p:nvPr/>
          </p:nvSpPr>
          <p:spPr bwMode="auto">
            <a:xfrm>
              <a:off x="4558" y="3113"/>
              <a:ext cx="0" cy="29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1" name="Line 57"/>
            <p:cNvSpPr>
              <a:spLocks noChangeShapeType="1"/>
            </p:cNvSpPr>
            <p:nvPr/>
          </p:nvSpPr>
          <p:spPr bwMode="auto">
            <a:xfrm>
              <a:off x="3243" y="2523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2" name="Line 58"/>
            <p:cNvSpPr>
              <a:spLocks noChangeShapeType="1"/>
            </p:cNvSpPr>
            <p:nvPr/>
          </p:nvSpPr>
          <p:spPr bwMode="auto">
            <a:xfrm>
              <a:off x="3243" y="3385"/>
              <a:ext cx="131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3" name="Line 59"/>
            <p:cNvSpPr>
              <a:spLocks noChangeShapeType="1"/>
            </p:cNvSpPr>
            <p:nvPr/>
          </p:nvSpPr>
          <p:spPr bwMode="auto">
            <a:xfrm>
              <a:off x="4558" y="2523"/>
              <a:ext cx="0" cy="17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4" name="Text Box 60"/>
            <p:cNvSpPr txBox="1">
              <a:spLocks noChangeArrowheads="1"/>
            </p:cNvSpPr>
            <p:nvPr/>
          </p:nvSpPr>
          <p:spPr bwMode="auto">
            <a:xfrm>
              <a:off x="3983" y="217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R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30745" name="Line 61"/>
            <p:cNvSpPr>
              <a:spLocks noChangeShapeType="1"/>
            </p:cNvSpPr>
            <p:nvPr/>
          </p:nvSpPr>
          <p:spPr bwMode="auto">
            <a:xfrm flipH="1" flipV="1">
              <a:off x="3560" y="2432"/>
              <a:ext cx="278" cy="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6" name="Line 62"/>
            <p:cNvSpPr>
              <a:spLocks noChangeShapeType="1"/>
            </p:cNvSpPr>
            <p:nvPr/>
          </p:nvSpPr>
          <p:spPr bwMode="auto">
            <a:xfrm flipH="1">
              <a:off x="3742" y="2251"/>
              <a:ext cx="140" cy="23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7" name="Rectangle 63"/>
            <p:cNvSpPr>
              <a:spLocks noChangeArrowheads="1"/>
            </p:cNvSpPr>
            <p:nvPr/>
          </p:nvSpPr>
          <p:spPr bwMode="auto">
            <a:xfrm>
              <a:off x="3958" y="2457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748" name="Group 64"/>
            <p:cNvGrpSpPr>
              <a:grpSpLocks/>
            </p:cNvGrpSpPr>
            <p:nvPr/>
          </p:nvGrpSpPr>
          <p:grpSpPr bwMode="auto">
            <a:xfrm rot="5400000">
              <a:off x="4390" y="2825"/>
              <a:ext cx="377" cy="177"/>
              <a:chOff x="563" y="639"/>
              <a:chExt cx="582" cy="256"/>
            </a:xfrm>
          </p:grpSpPr>
          <p:sp>
            <p:nvSpPr>
              <p:cNvPr id="30751" name="AutoShape 65"/>
              <p:cNvSpPr>
                <a:spLocks noChangeArrowheads="1"/>
              </p:cNvSpPr>
              <p:nvPr/>
            </p:nvSpPr>
            <p:spPr bwMode="auto">
              <a:xfrm>
                <a:off x="563" y="639"/>
                <a:ext cx="130" cy="255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52" name="AutoShape 66"/>
              <p:cNvSpPr>
                <a:spLocks noChangeArrowheads="1"/>
              </p:cNvSpPr>
              <p:nvPr/>
            </p:nvSpPr>
            <p:spPr bwMode="auto">
              <a:xfrm>
                <a:off x="789" y="640"/>
                <a:ext cx="130" cy="255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53" name="AutoShape 67"/>
              <p:cNvSpPr>
                <a:spLocks noChangeArrowheads="1"/>
              </p:cNvSpPr>
              <p:nvPr/>
            </p:nvSpPr>
            <p:spPr bwMode="auto">
              <a:xfrm>
                <a:off x="1015" y="639"/>
                <a:ext cx="130" cy="255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749" name="Text Box 68"/>
            <p:cNvSpPr txBox="1">
              <a:spLocks noChangeArrowheads="1"/>
            </p:cNvSpPr>
            <p:nvPr/>
          </p:nvSpPr>
          <p:spPr bwMode="auto">
            <a:xfrm>
              <a:off x="3333" y="2544"/>
              <a:ext cx="3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0750" name="Text Box 69"/>
            <p:cNvSpPr txBox="1">
              <a:spLocks noChangeArrowheads="1"/>
            </p:cNvSpPr>
            <p:nvPr/>
          </p:nvSpPr>
          <p:spPr bwMode="auto">
            <a:xfrm>
              <a:off x="3333" y="3010"/>
              <a:ext cx="31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—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65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6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/>
      <p:bldP spid="16589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117641"/>
              </p:ext>
            </p:extLst>
          </p:nvPr>
        </p:nvGraphicFramePr>
        <p:xfrm>
          <a:off x="1115617" y="1341413"/>
          <a:ext cx="2448272" cy="111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1" name="Equation" r:id="rId3" imgW="933405" imgH="418971" progId="Equation.DSMT4">
                  <p:embed/>
                </p:oleObj>
              </mc:Choice>
              <mc:Fallback>
                <p:oleObj name="Equation" r:id="rId3" imgW="933405" imgH="41897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7" y="1341413"/>
                        <a:ext cx="2448272" cy="111954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FF"/>
                          </a:gs>
                          <a:gs pos="50000">
                            <a:schemeClr val="bg1"/>
                          </a:gs>
                          <a:gs pos="100000">
                            <a:srgbClr val="00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137902"/>
              </p:ext>
            </p:extLst>
          </p:nvPr>
        </p:nvGraphicFramePr>
        <p:xfrm>
          <a:off x="1115617" y="3489301"/>
          <a:ext cx="2618424" cy="968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2" name="Equation" r:id="rId5" imgW="1041120" imgH="380880" progId="Equation.DSMT4">
                  <p:embed/>
                </p:oleObj>
              </mc:Choice>
              <mc:Fallback>
                <p:oleObj name="Equation" r:id="rId5" imgW="1041120" imgH="3808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7" y="3489301"/>
                        <a:ext cx="2618424" cy="968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62" name="Group 122"/>
          <p:cNvGrpSpPr>
            <a:grpSpLocks/>
          </p:cNvGrpSpPr>
          <p:nvPr/>
        </p:nvGrpSpPr>
        <p:grpSpPr bwMode="auto">
          <a:xfrm>
            <a:off x="5038328" y="3289275"/>
            <a:ext cx="3149600" cy="1939925"/>
            <a:chOff x="3424" y="1845"/>
            <a:chExt cx="1984" cy="1222"/>
          </a:xfrm>
        </p:grpSpPr>
        <p:sp>
          <p:nvSpPr>
            <p:cNvPr id="31783" name="Text Box 59"/>
            <p:cNvSpPr txBox="1">
              <a:spLocks noChangeArrowheads="1"/>
            </p:cNvSpPr>
            <p:nvPr/>
          </p:nvSpPr>
          <p:spPr bwMode="auto">
            <a:xfrm>
              <a:off x="3963" y="1845"/>
              <a:ext cx="24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1784" name="Text Box 60"/>
            <p:cNvSpPr txBox="1">
              <a:spLocks noChangeArrowheads="1"/>
            </p:cNvSpPr>
            <p:nvPr/>
          </p:nvSpPr>
          <p:spPr bwMode="auto">
            <a:xfrm>
              <a:off x="3596" y="2056"/>
              <a:ext cx="2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</a:p>
          </p:txBody>
        </p:sp>
        <p:sp>
          <p:nvSpPr>
            <p:cNvPr id="31785" name="Line 62"/>
            <p:cNvSpPr>
              <a:spLocks noChangeShapeType="1"/>
            </p:cNvSpPr>
            <p:nvPr/>
          </p:nvSpPr>
          <p:spPr bwMode="auto">
            <a:xfrm>
              <a:off x="3424" y="2659"/>
              <a:ext cx="18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86" name="Line 63"/>
            <p:cNvSpPr>
              <a:spLocks noChangeShapeType="1"/>
            </p:cNvSpPr>
            <p:nvPr/>
          </p:nvSpPr>
          <p:spPr bwMode="auto">
            <a:xfrm flipV="1">
              <a:off x="3878" y="1987"/>
              <a:ext cx="8" cy="10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87" name="Freeform 64"/>
            <p:cNvSpPr>
              <a:spLocks/>
            </p:cNvSpPr>
            <p:nvPr/>
          </p:nvSpPr>
          <p:spPr bwMode="auto">
            <a:xfrm>
              <a:off x="3886" y="2179"/>
              <a:ext cx="1200" cy="450"/>
            </a:xfrm>
            <a:custGeom>
              <a:avLst/>
              <a:gdLst>
                <a:gd name="T0" fmla="*/ 0 w 1200"/>
                <a:gd name="T1" fmla="*/ 0 h 450"/>
                <a:gd name="T2" fmla="*/ 144 w 1200"/>
                <a:gd name="T3" fmla="*/ 192 h 450"/>
                <a:gd name="T4" fmla="*/ 384 w 1200"/>
                <a:gd name="T5" fmla="*/ 336 h 450"/>
                <a:gd name="T6" fmla="*/ 912 w 1200"/>
                <a:gd name="T7" fmla="*/ 432 h 450"/>
                <a:gd name="T8" fmla="*/ 1200 w 1200"/>
                <a:gd name="T9" fmla="*/ 442 h 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88" name="Text Box 65"/>
            <p:cNvSpPr txBox="1">
              <a:spLocks noChangeArrowheads="1"/>
            </p:cNvSpPr>
            <p:nvPr/>
          </p:nvSpPr>
          <p:spPr bwMode="auto">
            <a:xfrm>
              <a:off x="5247" y="2581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1789" name="Text Box 68"/>
            <p:cNvSpPr txBox="1">
              <a:spLocks noChangeArrowheads="1"/>
            </p:cNvSpPr>
            <p:nvPr/>
          </p:nvSpPr>
          <p:spPr bwMode="auto">
            <a:xfrm>
              <a:off x="3653" y="2629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31790" name="Line 69"/>
            <p:cNvSpPr>
              <a:spLocks noChangeShapeType="1"/>
            </p:cNvSpPr>
            <p:nvPr/>
          </p:nvSpPr>
          <p:spPr bwMode="auto">
            <a:xfrm flipH="1">
              <a:off x="3667" y="2647"/>
              <a:ext cx="21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91" name="Line 70"/>
            <p:cNvSpPr>
              <a:spLocks noChangeShapeType="1"/>
            </p:cNvSpPr>
            <p:nvPr/>
          </p:nvSpPr>
          <p:spPr bwMode="auto">
            <a:xfrm flipV="1">
              <a:off x="3877" y="2192"/>
              <a:ext cx="0" cy="45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92" name="Line 72"/>
            <p:cNvSpPr>
              <a:spLocks noChangeShapeType="1"/>
            </p:cNvSpPr>
            <p:nvPr/>
          </p:nvSpPr>
          <p:spPr bwMode="auto">
            <a:xfrm rot="-2533965">
              <a:off x="3875" y="2167"/>
              <a:ext cx="37" cy="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61528" name="Group 88"/>
          <p:cNvGrpSpPr>
            <a:grpSpLocks/>
          </p:cNvGrpSpPr>
          <p:nvPr/>
        </p:nvGrpSpPr>
        <p:grpSpPr bwMode="auto">
          <a:xfrm>
            <a:off x="5360591" y="1039789"/>
            <a:ext cx="2868613" cy="2017713"/>
            <a:chOff x="3061" y="2133"/>
            <a:chExt cx="1807" cy="1271"/>
          </a:xfrm>
        </p:grpSpPr>
        <p:sp>
          <p:nvSpPr>
            <p:cNvPr id="31750" name="Oval 89"/>
            <p:cNvSpPr>
              <a:spLocks noChangeArrowheads="1"/>
            </p:cNvSpPr>
            <p:nvPr/>
          </p:nvSpPr>
          <p:spPr bwMode="auto">
            <a:xfrm>
              <a:off x="3061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31751" name="Group 90"/>
            <p:cNvGrpSpPr>
              <a:grpSpLocks/>
            </p:cNvGrpSpPr>
            <p:nvPr/>
          </p:nvGrpSpPr>
          <p:grpSpPr bwMode="auto">
            <a:xfrm>
              <a:off x="4267" y="2171"/>
              <a:ext cx="253" cy="312"/>
              <a:chOff x="1853" y="511"/>
              <a:chExt cx="259" cy="257"/>
            </a:xfrm>
          </p:grpSpPr>
          <p:sp>
            <p:nvSpPr>
              <p:cNvPr id="31781" name="Line 91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31782" name="Text Box 92"/>
              <p:cNvSpPr txBox="1">
                <a:spLocks noChangeArrowheads="1"/>
              </p:cNvSpPr>
              <p:nvPr/>
            </p:nvSpPr>
            <p:spPr bwMode="auto">
              <a:xfrm>
                <a:off x="1853" y="511"/>
                <a:ext cx="226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i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L</a:t>
                </a:r>
                <a:endPara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31752" name="Text Box 93"/>
            <p:cNvSpPr txBox="1">
              <a:spLocks noChangeArrowheads="1"/>
            </p:cNvSpPr>
            <p:nvPr/>
          </p:nvSpPr>
          <p:spPr bwMode="auto">
            <a:xfrm>
              <a:off x="3118" y="2133"/>
              <a:ext cx="54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S(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t=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0)</a:t>
              </a:r>
            </a:p>
          </p:txBody>
        </p:sp>
        <p:sp>
          <p:nvSpPr>
            <p:cNvPr id="31753" name="Text Box 94"/>
            <p:cNvSpPr txBox="1">
              <a:spLocks noChangeArrowheads="1"/>
            </p:cNvSpPr>
            <p:nvPr/>
          </p:nvSpPr>
          <p:spPr bwMode="auto">
            <a:xfrm>
              <a:off x="3464" y="2787"/>
              <a:ext cx="27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31754" name="Group 95"/>
            <p:cNvGrpSpPr>
              <a:grpSpLocks/>
            </p:cNvGrpSpPr>
            <p:nvPr/>
          </p:nvGrpSpPr>
          <p:grpSpPr bwMode="auto">
            <a:xfrm>
              <a:off x="3794" y="2497"/>
              <a:ext cx="569" cy="300"/>
              <a:chOff x="822" y="808"/>
              <a:chExt cx="585" cy="247"/>
            </a:xfrm>
          </p:grpSpPr>
          <p:grpSp>
            <p:nvGrpSpPr>
              <p:cNvPr id="31777" name="Group 96"/>
              <p:cNvGrpSpPr>
                <a:grpSpLocks/>
              </p:cNvGrpSpPr>
              <p:nvPr/>
            </p:nvGrpSpPr>
            <p:grpSpPr bwMode="auto">
              <a:xfrm>
                <a:off x="822" y="808"/>
                <a:ext cx="585" cy="208"/>
                <a:chOff x="822" y="808"/>
                <a:chExt cx="585" cy="208"/>
              </a:xfrm>
            </p:grpSpPr>
            <p:sp>
              <p:nvSpPr>
                <p:cNvPr id="31779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822" y="808"/>
                  <a:ext cx="214" cy="2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31780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1205" y="808"/>
                  <a:ext cx="202" cy="2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31778" name="Text Box 99"/>
              <p:cNvSpPr txBox="1">
                <a:spLocks noChangeArrowheads="1"/>
              </p:cNvSpPr>
              <p:nvPr/>
            </p:nvSpPr>
            <p:spPr bwMode="auto">
              <a:xfrm>
                <a:off x="993" y="847"/>
                <a:ext cx="261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R</a:t>
                </a:r>
              </a:p>
            </p:txBody>
          </p:sp>
        </p:grpSp>
        <p:sp>
          <p:nvSpPr>
            <p:cNvPr id="31755" name="Text Box 100"/>
            <p:cNvSpPr txBox="1">
              <a:spLocks noChangeArrowheads="1"/>
            </p:cNvSpPr>
            <p:nvPr/>
          </p:nvSpPr>
          <p:spPr bwMode="auto">
            <a:xfrm>
              <a:off x="4662" y="281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31756" name="Group 101"/>
            <p:cNvGrpSpPr>
              <a:grpSpLocks/>
            </p:cNvGrpSpPr>
            <p:nvPr/>
          </p:nvGrpSpPr>
          <p:grpSpPr bwMode="auto">
            <a:xfrm>
              <a:off x="4272" y="2560"/>
              <a:ext cx="271" cy="717"/>
              <a:chOff x="2004" y="761"/>
              <a:chExt cx="279" cy="592"/>
            </a:xfrm>
          </p:grpSpPr>
          <p:grpSp>
            <p:nvGrpSpPr>
              <p:cNvPr id="31773" name="Group 102"/>
              <p:cNvGrpSpPr>
                <a:grpSpLocks/>
              </p:cNvGrpSpPr>
              <p:nvPr/>
            </p:nvGrpSpPr>
            <p:grpSpPr bwMode="auto">
              <a:xfrm>
                <a:off x="2069" y="761"/>
                <a:ext cx="214" cy="592"/>
                <a:chOff x="1637" y="1289"/>
                <a:chExt cx="214" cy="592"/>
              </a:xfrm>
            </p:grpSpPr>
            <p:sp>
              <p:nvSpPr>
                <p:cNvPr id="31775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1638" y="1289"/>
                  <a:ext cx="213" cy="2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31776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1637" y="1673"/>
                  <a:ext cx="203" cy="2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31774" name="Text Box 105"/>
              <p:cNvSpPr txBox="1">
                <a:spLocks noChangeArrowheads="1"/>
              </p:cNvSpPr>
              <p:nvPr/>
            </p:nvSpPr>
            <p:spPr bwMode="auto">
              <a:xfrm>
                <a:off x="2004" y="942"/>
                <a:ext cx="255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L</a:t>
                </a:r>
                <a:endPara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31757" name="Line 106"/>
            <p:cNvSpPr>
              <a:spLocks noChangeShapeType="1"/>
            </p:cNvSpPr>
            <p:nvPr/>
          </p:nvSpPr>
          <p:spPr bwMode="auto">
            <a:xfrm>
              <a:off x="3833" y="2523"/>
              <a:ext cx="7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58" name="Line 107"/>
            <p:cNvSpPr>
              <a:spLocks noChangeShapeType="1"/>
            </p:cNvSpPr>
            <p:nvPr/>
          </p:nvSpPr>
          <p:spPr bwMode="auto">
            <a:xfrm>
              <a:off x="3243" y="2523"/>
              <a:ext cx="34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59" name="Line 108"/>
            <p:cNvSpPr>
              <a:spLocks noChangeShapeType="1"/>
            </p:cNvSpPr>
            <p:nvPr/>
          </p:nvSpPr>
          <p:spPr bwMode="auto">
            <a:xfrm>
              <a:off x="4558" y="3113"/>
              <a:ext cx="0" cy="29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60" name="Line 109"/>
            <p:cNvSpPr>
              <a:spLocks noChangeShapeType="1"/>
            </p:cNvSpPr>
            <p:nvPr/>
          </p:nvSpPr>
          <p:spPr bwMode="auto">
            <a:xfrm>
              <a:off x="3243" y="2523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61" name="Line 110"/>
            <p:cNvSpPr>
              <a:spLocks noChangeShapeType="1"/>
            </p:cNvSpPr>
            <p:nvPr/>
          </p:nvSpPr>
          <p:spPr bwMode="auto">
            <a:xfrm>
              <a:off x="3243" y="3385"/>
              <a:ext cx="131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62" name="Line 111"/>
            <p:cNvSpPr>
              <a:spLocks noChangeShapeType="1"/>
            </p:cNvSpPr>
            <p:nvPr/>
          </p:nvSpPr>
          <p:spPr bwMode="auto">
            <a:xfrm>
              <a:off x="4558" y="2523"/>
              <a:ext cx="0" cy="17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63" name="Text Box 112"/>
            <p:cNvSpPr txBox="1">
              <a:spLocks noChangeArrowheads="1"/>
            </p:cNvSpPr>
            <p:nvPr/>
          </p:nvSpPr>
          <p:spPr bwMode="auto">
            <a:xfrm>
              <a:off x="3989" y="220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1764" name="Line 113"/>
            <p:cNvSpPr>
              <a:spLocks noChangeShapeType="1"/>
            </p:cNvSpPr>
            <p:nvPr/>
          </p:nvSpPr>
          <p:spPr bwMode="auto">
            <a:xfrm flipH="1" flipV="1">
              <a:off x="3560" y="2432"/>
              <a:ext cx="278" cy="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65" name="Line 114"/>
            <p:cNvSpPr>
              <a:spLocks noChangeShapeType="1"/>
            </p:cNvSpPr>
            <p:nvPr/>
          </p:nvSpPr>
          <p:spPr bwMode="auto">
            <a:xfrm flipH="1">
              <a:off x="3742" y="2251"/>
              <a:ext cx="140" cy="23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1766" name="Rectangle 115"/>
            <p:cNvSpPr>
              <a:spLocks noChangeArrowheads="1"/>
            </p:cNvSpPr>
            <p:nvPr/>
          </p:nvSpPr>
          <p:spPr bwMode="auto">
            <a:xfrm>
              <a:off x="3929" y="2456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31767" name="Group 116"/>
            <p:cNvGrpSpPr>
              <a:grpSpLocks/>
            </p:cNvGrpSpPr>
            <p:nvPr/>
          </p:nvGrpSpPr>
          <p:grpSpPr bwMode="auto">
            <a:xfrm rot="5400000">
              <a:off x="4398" y="2826"/>
              <a:ext cx="379" cy="162"/>
              <a:chOff x="560" y="642"/>
              <a:chExt cx="586" cy="236"/>
            </a:xfrm>
          </p:grpSpPr>
          <p:sp>
            <p:nvSpPr>
              <p:cNvPr id="31770" name="AutoShape 117"/>
              <p:cNvSpPr>
                <a:spLocks noChangeArrowheads="1"/>
              </p:cNvSpPr>
              <p:nvPr/>
            </p:nvSpPr>
            <p:spPr bwMode="auto">
              <a:xfrm>
                <a:off x="560" y="642"/>
                <a:ext cx="133" cy="235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31771" name="AutoShape 118"/>
              <p:cNvSpPr>
                <a:spLocks noChangeArrowheads="1"/>
              </p:cNvSpPr>
              <p:nvPr/>
            </p:nvSpPr>
            <p:spPr bwMode="auto">
              <a:xfrm>
                <a:off x="787" y="643"/>
                <a:ext cx="133" cy="235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31772" name="AutoShape 119"/>
              <p:cNvSpPr>
                <a:spLocks noChangeArrowheads="1"/>
              </p:cNvSpPr>
              <p:nvPr/>
            </p:nvSpPr>
            <p:spPr bwMode="auto">
              <a:xfrm>
                <a:off x="1013" y="642"/>
                <a:ext cx="133" cy="235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768" name="Text Box 120"/>
            <p:cNvSpPr txBox="1">
              <a:spLocks noChangeArrowheads="1"/>
            </p:cNvSpPr>
            <p:nvPr/>
          </p:nvSpPr>
          <p:spPr bwMode="auto">
            <a:xfrm>
              <a:off x="3288" y="2478"/>
              <a:ext cx="3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31769" name="Text Box 121"/>
            <p:cNvSpPr txBox="1">
              <a:spLocks noChangeArrowheads="1"/>
            </p:cNvSpPr>
            <p:nvPr/>
          </p:nvSpPr>
          <p:spPr bwMode="auto">
            <a:xfrm>
              <a:off x="3334" y="3113"/>
              <a:ext cx="3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—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1" name="Text Box 3"/>
          <p:cNvSpPr txBox="1">
            <a:spLocks noChangeArrowheads="1"/>
          </p:cNvSpPr>
          <p:nvPr/>
        </p:nvSpPr>
        <p:spPr bwMode="auto">
          <a:xfrm>
            <a:off x="755650" y="2271953"/>
            <a:ext cx="77771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circleNumDbPlain" startAt="2"/>
            </a:pPr>
            <a:r>
              <a:rPr kumimoji="1"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当系统的起始状态为零时，线性电路的零状态响应与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楷体_GB2312" pitchFamily="49" charset="-122"/>
              </a:rPr>
              <a:t>外加激励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成线性关系</a:t>
            </a:r>
            <a:r>
              <a:rPr kumimoji="1"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,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即所谓的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“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零状态线性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”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。</a:t>
            </a: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2339975" y="2813521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kumimoji="1" lang="zh-CN" altLang="zh-CN" sz="2400" b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36870" name="Group 6"/>
          <p:cNvGrpSpPr>
            <a:grpSpLocks/>
          </p:cNvGrpSpPr>
          <p:nvPr/>
        </p:nvGrpSpPr>
        <p:grpSpPr bwMode="auto">
          <a:xfrm>
            <a:off x="323528" y="561876"/>
            <a:ext cx="1644650" cy="850900"/>
            <a:chOff x="385" y="3022"/>
            <a:chExt cx="1036" cy="536"/>
          </a:xfrm>
        </p:grpSpPr>
        <p:pic>
          <p:nvPicPr>
            <p:cNvPr id="36873" name="Picture 7" descr="12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4" name="Text Box 8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3200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小结</a:t>
              </a:r>
            </a:p>
          </p:txBody>
        </p:sp>
      </p:grpSp>
      <p:sp>
        <p:nvSpPr>
          <p:cNvPr id="339977" name="Text Box 9"/>
          <p:cNvSpPr txBox="1">
            <a:spLocks noChangeArrowheads="1"/>
          </p:cNvSpPr>
          <p:nvPr/>
        </p:nvSpPr>
        <p:spPr bwMode="auto">
          <a:xfrm>
            <a:off x="755650" y="1664693"/>
            <a:ext cx="7920038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电路的零状态响应是由外加激励和电路特性决定的。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1" grpId="0" autoUpdateAnimBg="0"/>
      <p:bldP spid="33997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395288" y="549275"/>
            <a:ext cx="417671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4.1.3 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一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阶电路的全响应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771775" y="1229851"/>
            <a:ext cx="60499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电路的初始状态不为零，同时又有外加激励源作用时电路中产生的响应。</a:t>
            </a:r>
          </a:p>
        </p:txBody>
      </p:sp>
      <p:graphicFrame>
        <p:nvGraphicFramePr>
          <p:cNvPr id="5841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908780"/>
              </p:ext>
            </p:extLst>
          </p:nvPr>
        </p:nvGraphicFramePr>
        <p:xfrm>
          <a:off x="4957763" y="2957513"/>
          <a:ext cx="1990501" cy="727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01" name="Equation" r:id="rId4" imgW="952200" imgH="355320" progId="Equation.DSMT4">
                  <p:embed/>
                </p:oleObj>
              </mc:Choice>
              <mc:Fallback>
                <p:oleObj name="Equation" r:id="rId4" imgW="952200" imgH="35532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2957513"/>
                        <a:ext cx="1990501" cy="727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20" name="Text Box 52"/>
          <p:cNvSpPr txBox="1">
            <a:spLocks noChangeArrowheads="1"/>
          </p:cNvSpPr>
          <p:nvPr/>
        </p:nvSpPr>
        <p:spPr bwMode="auto">
          <a:xfrm>
            <a:off x="2843213" y="2276475"/>
            <a:ext cx="60483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8000" rIns="198000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</a:rPr>
              <a:t>以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</a:rPr>
              <a:t>RC</a:t>
            </a:r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</a:rPr>
              <a:t>电路为例，电路微分方程：</a:t>
            </a:r>
          </a:p>
        </p:txBody>
      </p:sp>
      <p:sp>
        <p:nvSpPr>
          <p:cNvPr id="58428" name="Text Box 60"/>
          <p:cNvSpPr txBox="1">
            <a:spLocks noChangeArrowheads="1"/>
          </p:cNvSpPr>
          <p:nvPr/>
        </p:nvSpPr>
        <p:spPr bwMode="auto">
          <a:xfrm>
            <a:off x="539750" y="2263131"/>
            <a:ext cx="2160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一、全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响应</a:t>
            </a:r>
          </a:p>
        </p:txBody>
      </p:sp>
      <p:sp>
        <p:nvSpPr>
          <p:cNvPr id="58434" name="Text Box 66"/>
          <p:cNvSpPr txBox="1">
            <a:spLocks noChangeArrowheads="1"/>
          </p:cNvSpPr>
          <p:nvPr/>
        </p:nvSpPr>
        <p:spPr bwMode="auto">
          <a:xfrm>
            <a:off x="539750" y="1455167"/>
            <a:ext cx="1439863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全响应</a:t>
            </a:r>
          </a:p>
        </p:txBody>
      </p:sp>
      <p:sp>
        <p:nvSpPr>
          <p:cNvPr id="58435" name="AutoShape 67"/>
          <p:cNvSpPr>
            <a:spLocks noChangeArrowheads="1"/>
          </p:cNvSpPr>
          <p:nvPr/>
        </p:nvSpPr>
        <p:spPr bwMode="auto">
          <a:xfrm>
            <a:off x="2124075" y="1556792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58453" name="Group 85"/>
          <p:cNvGrpSpPr>
            <a:grpSpLocks/>
          </p:cNvGrpSpPr>
          <p:nvPr/>
        </p:nvGrpSpPr>
        <p:grpSpPr bwMode="auto">
          <a:xfrm>
            <a:off x="468314" y="2851150"/>
            <a:ext cx="3435350" cy="2190749"/>
            <a:chOff x="2789" y="2050"/>
            <a:chExt cx="2164" cy="1380"/>
          </a:xfrm>
        </p:grpSpPr>
        <p:sp>
          <p:nvSpPr>
            <p:cNvPr id="37906" name="Line 86"/>
            <p:cNvSpPr>
              <a:spLocks noChangeShapeType="1"/>
            </p:cNvSpPr>
            <p:nvPr/>
          </p:nvSpPr>
          <p:spPr bwMode="auto">
            <a:xfrm flipV="1">
              <a:off x="4513" y="3067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7907" name="Oval 87"/>
            <p:cNvSpPr>
              <a:spLocks noChangeArrowheads="1"/>
            </p:cNvSpPr>
            <p:nvPr/>
          </p:nvSpPr>
          <p:spPr bwMode="auto">
            <a:xfrm>
              <a:off x="2789" y="279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37908" name="Group 88"/>
            <p:cNvGrpSpPr>
              <a:grpSpLocks/>
            </p:cNvGrpSpPr>
            <p:nvPr/>
          </p:nvGrpSpPr>
          <p:grpSpPr bwMode="auto">
            <a:xfrm>
              <a:off x="3561" y="3122"/>
              <a:ext cx="237" cy="252"/>
              <a:chOff x="1872" y="535"/>
              <a:chExt cx="240" cy="245"/>
            </a:xfrm>
          </p:grpSpPr>
          <p:sp>
            <p:nvSpPr>
              <p:cNvPr id="37935" name="Line 89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36" name="Text Box 90"/>
              <p:cNvSpPr txBox="1">
                <a:spLocks noChangeArrowheads="1"/>
              </p:cNvSpPr>
              <p:nvPr/>
            </p:nvSpPr>
            <p:spPr bwMode="auto">
              <a:xfrm>
                <a:off x="1923" y="535"/>
                <a:ext cx="163" cy="2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i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37909" name="Group 91"/>
            <p:cNvGrpSpPr>
              <a:grpSpLocks/>
            </p:cNvGrpSpPr>
            <p:nvPr/>
          </p:nvGrpSpPr>
          <p:grpSpPr bwMode="auto">
            <a:xfrm>
              <a:off x="3346" y="2050"/>
              <a:ext cx="533" cy="403"/>
              <a:chOff x="1200" y="858"/>
              <a:chExt cx="540" cy="390"/>
            </a:xfrm>
          </p:grpSpPr>
          <p:sp>
            <p:nvSpPr>
              <p:cNvPr id="37933" name="Line 92"/>
              <p:cNvSpPr>
                <a:spLocks noChangeShapeType="1"/>
              </p:cNvSpPr>
              <p:nvPr/>
            </p:nvSpPr>
            <p:spPr bwMode="auto">
              <a:xfrm flipH="1">
                <a:off x="1200" y="1104"/>
                <a:ext cx="144" cy="14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34" name="Text Box 93"/>
              <p:cNvSpPr txBox="1">
                <a:spLocks noChangeArrowheads="1"/>
              </p:cNvSpPr>
              <p:nvPr/>
            </p:nvSpPr>
            <p:spPr bwMode="auto">
              <a:xfrm>
                <a:off x="1204" y="858"/>
                <a:ext cx="536" cy="2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S(</a:t>
                </a:r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=0)</a:t>
                </a:r>
              </a:p>
            </p:txBody>
          </p:sp>
        </p:grpSp>
        <p:sp>
          <p:nvSpPr>
            <p:cNvPr id="37910" name="Text Box 94"/>
            <p:cNvSpPr txBox="1">
              <a:spLocks noChangeArrowheads="1"/>
            </p:cNvSpPr>
            <p:nvPr/>
          </p:nvSpPr>
          <p:spPr bwMode="auto">
            <a:xfrm>
              <a:off x="3178" y="2858"/>
              <a:ext cx="27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37911" name="Group 95"/>
            <p:cNvGrpSpPr>
              <a:grpSpLocks/>
            </p:cNvGrpSpPr>
            <p:nvPr/>
          </p:nvGrpSpPr>
          <p:grpSpPr bwMode="auto">
            <a:xfrm>
              <a:off x="3751" y="2584"/>
              <a:ext cx="574" cy="291"/>
              <a:chOff x="824" y="790"/>
              <a:chExt cx="581" cy="282"/>
            </a:xfrm>
          </p:grpSpPr>
          <p:grpSp>
            <p:nvGrpSpPr>
              <p:cNvPr id="37929" name="Group 96"/>
              <p:cNvGrpSpPr>
                <a:grpSpLocks/>
              </p:cNvGrpSpPr>
              <p:nvPr/>
            </p:nvGrpSpPr>
            <p:grpSpPr bwMode="auto">
              <a:xfrm>
                <a:off x="824" y="790"/>
                <a:ext cx="581" cy="244"/>
                <a:chOff x="824" y="790"/>
                <a:chExt cx="581" cy="244"/>
              </a:xfrm>
            </p:grpSpPr>
            <p:sp>
              <p:nvSpPr>
                <p:cNvPr id="37931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824" y="790"/>
                  <a:ext cx="210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37932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1206" y="790"/>
                  <a:ext cx="199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37930" name="Text Box 99"/>
              <p:cNvSpPr txBox="1">
                <a:spLocks noChangeArrowheads="1"/>
              </p:cNvSpPr>
              <p:nvPr/>
            </p:nvSpPr>
            <p:spPr bwMode="auto">
              <a:xfrm>
                <a:off x="994" y="828"/>
                <a:ext cx="257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R</a:t>
                </a:r>
                <a:endParaRPr kumimoji="1"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37912" name="Line 100"/>
            <p:cNvSpPr>
              <a:spLocks noChangeShapeType="1"/>
            </p:cNvSpPr>
            <p:nvPr/>
          </p:nvSpPr>
          <p:spPr bwMode="auto">
            <a:xfrm>
              <a:off x="3515" y="2568"/>
              <a:ext cx="99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7913" name="Line 101"/>
            <p:cNvSpPr>
              <a:spLocks noChangeShapeType="1"/>
            </p:cNvSpPr>
            <p:nvPr/>
          </p:nvSpPr>
          <p:spPr bwMode="auto">
            <a:xfrm>
              <a:off x="2971" y="2568"/>
              <a:ext cx="3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7914" name="Line 102"/>
            <p:cNvSpPr>
              <a:spLocks noChangeShapeType="1"/>
            </p:cNvSpPr>
            <p:nvPr/>
          </p:nvSpPr>
          <p:spPr bwMode="auto">
            <a:xfrm>
              <a:off x="2971" y="2568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7915" name="Text Box 103"/>
            <p:cNvSpPr txBox="1">
              <a:spLocks noChangeArrowheads="1"/>
            </p:cNvSpPr>
            <p:nvPr/>
          </p:nvSpPr>
          <p:spPr bwMode="auto">
            <a:xfrm>
              <a:off x="4125" y="2923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</a:p>
          </p:txBody>
        </p:sp>
        <p:grpSp>
          <p:nvGrpSpPr>
            <p:cNvPr id="37916" name="Group 104"/>
            <p:cNvGrpSpPr>
              <a:grpSpLocks/>
            </p:cNvGrpSpPr>
            <p:nvPr/>
          </p:nvGrpSpPr>
          <p:grpSpPr bwMode="auto">
            <a:xfrm>
              <a:off x="3106" y="2640"/>
              <a:ext cx="1847" cy="685"/>
              <a:chOff x="351" y="707"/>
              <a:chExt cx="1873" cy="663"/>
            </a:xfrm>
          </p:grpSpPr>
          <p:grpSp>
            <p:nvGrpSpPr>
              <p:cNvPr id="37925" name="Group 105"/>
              <p:cNvGrpSpPr>
                <a:grpSpLocks/>
              </p:cNvGrpSpPr>
              <p:nvPr/>
            </p:nvGrpSpPr>
            <p:grpSpPr bwMode="auto">
              <a:xfrm>
                <a:off x="351" y="707"/>
                <a:ext cx="1794" cy="663"/>
                <a:chOff x="-81" y="1235"/>
                <a:chExt cx="1794" cy="663"/>
              </a:xfrm>
            </p:grpSpPr>
            <p:sp>
              <p:nvSpPr>
                <p:cNvPr id="37927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1503" y="1270"/>
                  <a:ext cx="210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37928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1502" y="1654"/>
                  <a:ext cx="200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  <p:sp>
              <p:nvSpPr>
                <p:cNvPr id="49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-81" y="1235"/>
                  <a:ext cx="210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50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-81" y="1631"/>
                  <a:ext cx="200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37926" name="Text Box 108"/>
              <p:cNvSpPr txBox="1">
                <a:spLocks noChangeArrowheads="1"/>
              </p:cNvSpPr>
              <p:nvPr/>
            </p:nvSpPr>
            <p:spPr bwMode="auto">
              <a:xfrm>
                <a:off x="1961" y="923"/>
                <a:ext cx="263" cy="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C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37917" name="Group 109"/>
            <p:cNvGrpSpPr>
              <a:grpSpLocks/>
            </p:cNvGrpSpPr>
            <p:nvPr/>
          </p:nvGrpSpPr>
          <p:grpSpPr bwMode="auto">
            <a:xfrm>
              <a:off x="4377" y="2976"/>
              <a:ext cx="318" cy="91"/>
              <a:chOff x="1824" y="1680"/>
              <a:chExt cx="192" cy="96"/>
            </a:xfrm>
          </p:grpSpPr>
          <p:sp>
            <p:nvSpPr>
              <p:cNvPr id="37923" name="Line 110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24" name="Line 111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918" name="Line 112"/>
            <p:cNvSpPr>
              <a:spLocks noChangeShapeType="1"/>
            </p:cNvSpPr>
            <p:nvPr/>
          </p:nvSpPr>
          <p:spPr bwMode="auto">
            <a:xfrm flipV="1">
              <a:off x="4513" y="2568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7919" name="Line 113"/>
            <p:cNvSpPr>
              <a:spLocks noChangeShapeType="1"/>
            </p:cNvSpPr>
            <p:nvPr/>
          </p:nvSpPr>
          <p:spPr bwMode="auto">
            <a:xfrm flipH="1" flipV="1">
              <a:off x="3288" y="2432"/>
              <a:ext cx="227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7920" name="Line 114"/>
            <p:cNvSpPr>
              <a:spLocks noChangeShapeType="1"/>
            </p:cNvSpPr>
            <p:nvPr/>
          </p:nvSpPr>
          <p:spPr bwMode="auto">
            <a:xfrm>
              <a:off x="2971" y="3430"/>
              <a:ext cx="156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7921" name="Text Box 115"/>
            <p:cNvSpPr txBox="1">
              <a:spLocks noChangeArrowheads="1"/>
            </p:cNvSpPr>
            <p:nvPr/>
          </p:nvSpPr>
          <p:spPr bwMode="auto">
            <a:xfrm>
              <a:off x="3938" y="2269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7922" name="Rectangle 116"/>
            <p:cNvSpPr>
              <a:spLocks noChangeArrowheads="1"/>
            </p:cNvSpPr>
            <p:nvPr/>
          </p:nvSpPr>
          <p:spPr bwMode="auto">
            <a:xfrm>
              <a:off x="3878" y="2505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58492" name="Text Box 124"/>
          <p:cNvSpPr txBox="1">
            <a:spLocks noChangeArrowheads="1"/>
          </p:cNvSpPr>
          <p:nvPr/>
        </p:nvSpPr>
        <p:spPr bwMode="auto">
          <a:xfrm>
            <a:off x="2411413" y="5400675"/>
            <a:ext cx="89800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 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= 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RC</a:t>
            </a:r>
            <a:endParaRPr kumimoji="1" lang="en-US" altLang="zh-CN" sz="2000" b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389246" y="4941239"/>
            <a:ext cx="3855162" cy="1444297"/>
            <a:chOff x="4389246" y="4941239"/>
            <a:chExt cx="3855162" cy="1444297"/>
          </a:xfrm>
        </p:grpSpPr>
        <p:grpSp>
          <p:nvGrpSpPr>
            <p:cNvPr id="58486" name="Group 118"/>
            <p:cNvGrpSpPr>
              <a:grpSpLocks/>
            </p:cNvGrpSpPr>
            <p:nvPr/>
          </p:nvGrpSpPr>
          <p:grpSpPr bwMode="auto">
            <a:xfrm>
              <a:off x="4389246" y="4941239"/>
              <a:ext cx="3855162" cy="1444297"/>
              <a:chOff x="458" y="2603"/>
              <a:chExt cx="2125" cy="703"/>
            </a:xfrm>
          </p:grpSpPr>
          <p:sp>
            <p:nvSpPr>
              <p:cNvPr id="37901" name="Text Box 119"/>
              <p:cNvSpPr txBox="1">
                <a:spLocks noChangeArrowheads="1"/>
              </p:cNvSpPr>
              <p:nvPr/>
            </p:nvSpPr>
            <p:spPr bwMode="auto">
              <a:xfrm>
                <a:off x="558" y="2614"/>
                <a:ext cx="1859" cy="1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zh-CN" sz="2000" dirty="0" smtClean="0">
                    <a:solidFill>
                      <a:schemeClr val="tx1"/>
                    </a:solidFill>
                    <a:latin typeface="Times New Roman" pitchFamily="18" charset="0"/>
                  </a:rPr>
                  <a:t>特解</a:t>
                </a:r>
                <a:endPara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37902" name="Group 120"/>
              <p:cNvGrpSpPr>
                <a:grpSpLocks/>
              </p:cNvGrpSpPr>
              <p:nvPr/>
            </p:nvGrpSpPr>
            <p:grpSpPr bwMode="auto">
              <a:xfrm>
                <a:off x="542" y="2917"/>
                <a:ext cx="2041" cy="389"/>
                <a:chOff x="3611" y="2758"/>
                <a:chExt cx="1824" cy="346"/>
              </a:xfrm>
            </p:grpSpPr>
            <p:sp>
              <p:nvSpPr>
                <p:cNvPr id="37904" name="Text Box 121"/>
                <p:cNvSpPr txBox="1">
                  <a:spLocks noChangeArrowheads="1"/>
                </p:cNvSpPr>
                <p:nvPr/>
              </p:nvSpPr>
              <p:spPr bwMode="auto">
                <a:xfrm>
                  <a:off x="3611" y="2880"/>
                  <a:ext cx="1824" cy="2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000">
                      <a:solidFill>
                        <a:schemeClr val="tx1"/>
                      </a:solidFill>
                      <a:latin typeface="Times New Roman" pitchFamily="18" charset="0"/>
                    </a:rPr>
                    <a:t>通解</a:t>
                  </a:r>
                  <a:endParaRPr kumimoji="1" lang="zh-CN" altLang="en-US" sz="2000" i="1">
                    <a:solidFill>
                      <a:schemeClr val="tx1"/>
                    </a:solidFill>
                    <a:latin typeface="Times New Roman" pitchFamily="18" charset="0"/>
                    <a:sym typeface="Symbol" pitchFamily="18" charset="2"/>
                  </a:endParaRPr>
                </a:p>
              </p:txBody>
            </p:sp>
            <p:graphicFrame>
              <p:nvGraphicFramePr>
                <p:cNvPr id="37905" name="Object 12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94692448"/>
                    </p:ext>
                  </p:extLst>
                </p:nvPr>
              </p:nvGraphicFramePr>
              <p:xfrm>
                <a:off x="4060" y="2758"/>
                <a:ext cx="528" cy="3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2" name="Equation" r:id="rId6" imgW="596880" imgH="342720" progId="Equation.DSMT4">
                        <p:embed/>
                      </p:oleObj>
                    </mc:Choice>
                    <mc:Fallback>
                      <p:oleObj name="Equation" r:id="rId6" imgW="596880" imgH="342720" progId="Equation.DSMT4">
                        <p:embed/>
                        <p:pic>
                          <p:nvPicPr>
                            <p:cNvPr id="0" name="Object 12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60" y="2758"/>
                              <a:ext cx="528" cy="3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7903" name="AutoShape 123"/>
              <p:cNvSpPr>
                <a:spLocks/>
              </p:cNvSpPr>
              <p:nvPr/>
            </p:nvSpPr>
            <p:spPr bwMode="auto">
              <a:xfrm>
                <a:off x="458" y="2603"/>
                <a:ext cx="64" cy="687"/>
              </a:xfrm>
              <a:prstGeom prst="leftBrace">
                <a:avLst>
                  <a:gd name="adj1" fmla="val 142778"/>
                  <a:gd name="adj2" fmla="val 50000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aphicFrame>
          <p:nvGraphicFramePr>
            <p:cNvPr id="51" name="Object 1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1512403"/>
                </p:ext>
              </p:extLst>
            </p:nvPr>
          </p:nvGraphicFramePr>
          <p:xfrm>
            <a:off x="5436096" y="4972149"/>
            <a:ext cx="82232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03" name="Equation" r:id="rId8" imgW="457200" imgH="228600" progId="Equation.DSMT4">
                    <p:embed/>
                  </p:oleObj>
                </mc:Choice>
                <mc:Fallback>
                  <p:oleObj name="Equation" r:id="rId8" imgW="457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6096" y="4972149"/>
                          <a:ext cx="822325" cy="473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4427985" y="3926038"/>
            <a:ext cx="3096344" cy="525462"/>
            <a:chOff x="4427985" y="3926038"/>
            <a:chExt cx="3096344" cy="525462"/>
          </a:xfrm>
        </p:grpSpPr>
        <p:sp>
          <p:nvSpPr>
            <p:cNvPr id="58485" name="Text Box 117"/>
            <p:cNvSpPr txBox="1">
              <a:spLocks noChangeArrowheads="1"/>
            </p:cNvSpPr>
            <p:nvPr/>
          </p:nvSpPr>
          <p:spPr bwMode="auto">
            <a:xfrm>
              <a:off x="4427985" y="4012083"/>
              <a:ext cx="309634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解答为：</a:t>
              </a:r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endParaRPr kumimoji="1" lang="en-US" altLang="zh-CN" sz="2000" b="0" i="1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53" name="Object 1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7693231"/>
                </p:ext>
              </p:extLst>
            </p:nvPr>
          </p:nvGraphicFramePr>
          <p:xfrm>
            <a:off x="5560379" y="3926038"/>
            <a:ext cx="1665287" cy="525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04" name="Equation" r:id="rId10" imgW="927000" imgH="253800" progId="Equation.DSMT4">
                    <p:embed/>
                  </p:oleObj>
                </mc:Choice>
                <mc:Fallback>
                  <p:oleObj name="Equation" r:id="rId10" imgW="9270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0379" y="3926038"/>
                          <a:ext cx="1665287" cy="525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5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5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58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/>
      <p:bldP spid="58373" grpId="0" build="p" autoUpdateAnimBg="0"/>
      <p:bldP spid="58420" grpId="0" build="p" autoUpdateAnimBg="0" advAuto="1000"/>
      <p:bldP spid="58428" grpId="0"/>
      <p:bldP spid="58434" grpId="0" animBg="1"/>
      <p:bldP spid="58435" grpId="0" animBg="1"/>
      <p:bldP spid="58492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79" name="Text Box 47"/>
          <p:cNvSpPr txBox="1">
            <a:spLocks noChangeArrowheads="1"/>
          </p:cNvSpPr>
          <p:nvPr/>
        </p:nvSpPr>
        <p:spPr bwMode="auto">
          <a:xfrm>
            <a:off x="2555776" y="1336030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zh-CN" altLang="en-US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－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20891" name="Text Box 59"/>
          <p:cNvSpPr txBox="1">
            <a:spLocks noChangeArrowheads="1"/>
          </p:cNvSpPr>
          <p:nvPr/>
        </p:nvSpPr>
        <p:spPr bwMode="auto">
          <a:xfrm>
            <a:off x="2555776" y="2164794"/>
            <a:ext cx="33115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k+V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kumimoji="1" lang="en-US" altLang="zh-CN" sz="2000" b="0" i="1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=V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000" b="0" baseline="-2500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20892" name="Text Box 60"/>
          <p:cNvSpPr txBox="1">
            <a:spLocks noChangeArrowheads="1"/>
          </p:cNvSpPr>
          <p:nvPr/>
        </p:nvSpPr>
        <p:spPr bwMode="auto">
          <a:xfrm>
            <a:off x="2527693" y="3068960"/>
            <a:ext cx="25209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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k = V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宋体" charset="-122"/>
                <a:ea typeface="宋体" charset="-122"/>
              </a:rPr>
              <a:t>-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V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</a:t>
            </a:r>
            <a:endParaRPr kumimoji="1" lang="en-US" altLang="zh-CN" sz="2000" b="0" baseline="-2500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20893" name="Text Box 61"/>
          <p:cNvSpPr txBox="1">
            <a:spLocks noChangeArrowheads="1"/>
          </p:cNvSpPr>
          <p:nvPr/>
        </p:nvSpPr>
        <p:spPr bwMode="auto">
          <a:xfrm>
            <a:off x="755650" y="750858"/>
            <a:ext cx="29083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由初始值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定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</a:rPr>
              <a:t>k</a:t>
            </a:r>
            <a:endParaRPr kumimoji="1" lang="en-US" altLang="zh-CN" sz="2000" b="0" i="1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120901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032004"/>
              </p:ext>
            </p:extLst>
          </p:nvPr>
        </p:nvGraphicFramePr>
        <p:xfrm>
          <a:off x="1763651" y="4077072"/>
          <a:ext cx="5400600" cy="814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22" name="Equation" r:id="rId3" imgW="2466953" imgH="333285" progId="Equation.DSMT4">
                  <p:embed/>
                </p:oleObj>
              </mc:Choice>
              <mc:Fallback>
                <p:oleObj name="Equation" r:id="rId3" imgW="2466953" imgH="333285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51" y="4077072"/>
                        <a:ext cx="5400600" cy="81417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CC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2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2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2000"/>
                                        <p:tgtEl>
                                          <p:spTgt spid="12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79" grpId="0" build="p" autoUpdateAnimBg="0" advAuto="0"/>
      <p:bldP spid="120891" grpId="0" autoUpdateAnimBg="0"/>
      <p:bldP spid="120892" grpId="0" autoUpdateAnimBg="0"/>
      <p:bldP spid="12089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15900" y="268288"/>
            <a:ext cx="511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二、全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响应的两种分解方式</a:t>
            </a:r>
          </a:p>
        </p:txBody>
      </p:sp>
      <p:grpSp>
        <p:nvGrpSpPr>
          <p:cNvPr id="57388" name="Group 44"/>
          <p:cNvGrpSpPr>
            <a:grpSpLocks/>
          </p:cNvGrpSpPr>
          <p:nvPr/>
        </p:nvGrpSpPr>
        <p:grpSpPr bwMode="auto">
          <a:xfrm>
            <a:off x="4500563" y="5354942"/>
            <a:ext cx="4252688" cy="1082628"/>
            <a:chOff x="1694" y="3104"/>
            <a:chExt cx="2553" cy="681"/>
          </a:xfrm>
        </p:grpSpPr>
        <p:grpSp>
          <p:nvGrpSpPr>
            <p:cNvPr id="39967" name="Group 14"/>
            <p:cNvGrpSpPr>
              <a:grpSpLocks/>
            </p:cNvGrpSpPr>
            <p:nvPr/>
          </p:nvGrpSpPr>
          <p:grpSpPr bwMode="auto">
            <a:xfrm>
              <a:off x="2318" y="3104"/>
              <a:ext cx="1347" cy="632"/>
              <a:chOff x="1776" y="3352"/>
              <a:chExt cx="1347" cy="632"/>
            </a:xfrm>
          </p:grpSpPr>
          <p:sp>
            <p:nvSpPr>
              <p:cNvPr id="39972" name="Freeform 15"/>
              <p:cNvSpPr>
                <a:spLocks/>
              </p:cNvSpPr>
              <p:nvPr/>
            </p:nvSpPr>
            <p:spPr bwMode="auto">
              <a:xfrm>
                <a:off x="1776" y="3352"/>
                <a:ext cx="1347" cy="632"/>
              </a:xfrm>
              <a:custGeom>
                <a:avLst/>
                <a:gdLst>
                  <a:gd name="T0" fmla="*/ 0 w 1344"/>
                  <a:gd name="T1" fmla="*/ 632 h 344"/>
                  <a:gd name="T2" fmla="*/ 289 w 1344"/>
                  <a:gd name="T3" fmla="*/ 279 h 344"/>
                  <a:gd name="T4" fmla="*/ 625 w 1344"/>
                  <a:gd name="T5" fmla="*/ 103 h 344"/>
                  <a:gd name="T6" fmla="*/ 1106 w 1344"/>
                  <a:gd name="T7" fmla="*/ 15 h 344"/>
                  <a:gd name="T8" fmla="*/ 1347 w 1344"/>
                  <a:gd name="T9" fmla="*/ 15 h 3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4" h="344">
                    <a:moveTo>
                      <a:pt x="0" y="344"/>
                    </a:moveTo>
                    <a:cubicBezTo>
                      <a:pt x="92" y="272"/>
                      <a:pt x="184" y="200"/>
                      <a:pt x="288" y="152"/>
                    </a:cubicBezTo>
                    <a:cubicBezTo>
                      <a:pt x="392" y="104"/>
                      <a:pt x="488" y="80"/>
                      <a:pt x="624" y="56"/>
                    </a:cubicBezTo>
                    <a:cubicBezTo>
                      <a:pt x="760" y="32"/>
                      <a:pt x="984" y="16"/>
                      <a:pt x="1104" y="8"/>
                    </a:cubicBezTo>
                    <a:cubicBezTo>
                      <a:pt x="1224" y="0"/>
                      <a:pt x="1304" y="8"/>
                      <a:pt x="1344" y="8"/>
                    </a:cubicBezTo>
                  </a:path>
                </a:pathLst>
              </a:custGeom>
              <a:noFill/>
              <a:ln w="28575" cap="flat" cmpd="sng">
                <a:solidFill>
                  <a:srgbClr val="00FFFF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973" name="Rectangle 16"/>
              <p:cNvSpPr>
                <a:spLocks noChangeArrowheads="1"/>
              </p:cNvSpPr>
              <p:nvPr/>
            </p:nvSpPr>
            <p:spPr bwMode="auto">
              <a:xfrm>
                <a:off x="2059" y="3538"/>
                <a:ext cx="326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 dirty="0" err="1">
                    <a:solidFill>
                      <a:schemeClr val="tx1"/>
                    </a:solidFill>
                    <a:latin typeface="Times New Roman" pitchFamily="18" charset="0"/>
                  </a:rPr>
                  <a:t>v</a:t>
                </a:r>
                <a:r>
                  <a:rPr kumimoji="1" lang="en-US" altLang="zh-CN" sz="2400" b="0" i="1" baseline="-25000" dirty="0" err="1">
                    <a:solidFill>
                      <a:schemeClr val="tx1"/>
                    </a:solidFill>
                    <a:latin typeface="Times New Roman" pitchFamily="18" charset="0"/>
                  </a:rPr>
                  <a:t>C</a:t>
                </a:r>
                <a:r>
                  <a:rPr kumimoji="1" lang="en-US" altLang="zh-CN" sz="2400" b="0" i="1" baseline="30000" dirty="0">
                    <a:solidFill>
                      <a:schemeClr val="tx1"/>
                    </a:solidFill>
                    <a:latin typeface="Times New Roman" pitchFamily="18" charset="0"/>
                  </a:rPr>
                  <a:t>"</a:t>
                </a:r>
                <a:endPara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39968" name="Group 17"/>
            <p:cNvGrpSpPr>
              <a:grpSpLocks/>
            </p:cNvGrpSpPr>
            <p:nvPr/>
          </p:nvGrpSpPr>
          <p:grpSpPr bwMode="auto">
            <a:xfrm>
              <a:off x="1694" y="3494"/>
              <a:ext cx="547" cy="291"/>
              <a:chOff x="1152" y="3502"/>
              <a:chExt cx="547" cy="291"/>
            </a:xfrm>
          </p:grpSpPr>
          <p:sp>
            <p:nvSpPr>
              <p:cNvPr id="39970" name="Text Box 18"/>
              <p:cNvSpPr txBox="1">
                <a:spLocks noChangeArrowheads="1"/>
              </p:cNvSpPr>
              <p:nvPr/>
            </p:nvSpPr>
            <p:spPr bwMode="auto">
              <a:xfrm>
                <a:off x="1325" y="3505"/>
                <a:ext cx="3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99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 dirty="0">
                    <a:solidFill>
                      <a:schemeClr val="tx1"/>
                    </a:solidFill>
                    <a:latin typeface="楷体_GB2312" pitchFamily="49" charset="-122"/>
                  </a:rPr>
                  <a:t>-</a:t>
                </a:r>
                <a:r>
                  <a:rPr kumimoji="1" lang="en-US" altLang="zh-CN" sz="2400" b="0" i="1" dirty="0">
                    <a:solidFill>
                      <a:schemeClr val="tx1"/>
                    </a:solidFill>
                    <a:latin typeface="Times New Roman" pitchFamily="18" charset="0"/>
                  </a:rPr>
                  <a:t>V</a:t>
                </a:r>
                <a:r>
                  <a:rPr kumimoji="1" lang="en-US" altLang="zh-CN" sz="2400" b="0" i="1" baseline="-25000" dirty="0">
                    <a:solidFill>
                      <a:schemeClr val="tx1"/>
                    </a:solidFill>
                    <a:latin typeface="Times New Roman" pitchFamily="18" charset="0"/>
                  </a:rPr>
                  <a:t>S</a:t>
                </a:r>
              </a:p>
            </p:txBody>
          </p:sp>
          <p:sp>
            <p:nvSpPr>
              <p:cNvPr id="39971" name="Text Box 19"/>
              <p:cNvSpPr txBox="1">
                <a:spLocks noChangeArrowheads="1"/>
              </p:cNvSpPr>
              <p:nvPr/>
            </p:nvSpPr>
            <p:spPr bwMode="auto">
              <a:xfrm>
                <a:off x="1152" y="3502"/>
                <a:ext cx="319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>
                    <a:solidFill>
                      <a:schemeClr val="tx1"/>
                    </a:solidFill>
                    <a:latin typeface="Times New Roman" pitchFamily="18" charset="0"/>
                  </a:rPr>
                  <a:t>V</a:t>
                </a:r>
                <a:r>
                  <a:rPr kumimoji="1" lang="en-US" altLang="zh-CN" sz="2400" b="0" baseline="-25000">
                    <a:solidFill>
                      <a:schemeClr val="tx1"/>
                    </a:solidFill>
                    <a:latin typeface="Times New Roman" pitchFamily="18" charset="0"/>
                  </a:rPr>
                  <a:t>0</a:t>
                </a:r>
                <a:endParaRPr kumimoji="1" lang="en-US" altLang="zh-CN" sz="2400" b="0" i="1" baseline="-2500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9969" name="AutoShape 20" descr="蓝色面巾纸"/>
            <p:cNvSpPr>
              <a:spLocks noChangeArrowheads="1"/>
            </p:cNvSpPr>
            <p:nvPr/>
          </p:nvSpPr>
          <p:spPr bwMode="auto">
            <a:xfrm>
              <a:off x="3612" y="3545"/>
              <a:ext cx="635" cy="240"/>
            </a:xfrm>
            <a:prstGeom prst="wedgeRectCallout">
              <a:avLst>
                <a:gd name="adj1" fmla="val -52082"/>
                <a:gd name="adj2" fmla="val -205975"/>
              </a:avLst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楷体_GB2312" pitchFamily="49" charset="-122"/>
                </a:rPr>
                <a:t>暂态解</a:t>
              </a:r>
            </a:p>
          </p:txBody>
        </p:sp>
      </p:grpSp>
      <p:grpSp>
        <p:nvGrpSpPr>
          <p:cNvPr id="57387" name="Group 43"/>
          <p:cNvGrpSpPr>
            <a:grpSpLocks/>
          </p:cNvGrpSpPr>
          <p:nvPr/>
        </p:nvGrpSpPr>
        <p:grpSpPr bwMode="auto">
          <a:xfrm>
            <a:off x="5002912" y="3190875"/>
            <a:ext cx="3389452" cy="1003300"/>
            <a:chOff x="2010" y="1888"/>
            <a:chExt cx="2070" cy="632"/>
          </a:xfrm>
        </p:grpSpPr>
        <p:sp>
          <p:nvSpPr>
            <p:cNvPr id="39963" name="Line 23"/>
            <p:cNvSpPr>
              <a:spLocks noChangeShapeType="1"/>
            </p:cNvSpPr>
            <p:nvPr/>
          </p:nvSpPr>
          <p:spPr bwMode="auto">
            <a:xfrm>
              <a:off x="2316" y="2394"/>
              <a:ext cx="1392" cy="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9964" name="Rectangle 24"/>
            <p:cNvSpPr>
              <a:spLocks noChangeArrowheads="1"/>
            </p:cNvSpPr>
            <p:nvPr/>
          </p:nvSpPr>
          <p:spPr bwMode="auto">
            <a:xfrm>
              <a:off x="3806" y="2258"/>
              <a:ext cx="27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r>
                <a:rPr kumimoji="1" lang="en-US" altLang="zh-CN" sz="2000" b="0" i="1" baseline="30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'</a:t>
              </a:r>
            </a:p>
          </p:txBody>
        </p:sp>
        <p:sp>
          <p:nvSpPr>
            <p:cNvPr id="39965" name="Text Box 25"/>
            <p:cNvSpPr txBox="1">
              <a:spLocks noChangeArrowheads="1"/>
            </p:cNvSpPr>
            <p:nvPr/>
          </p:nvSpPr>
          <p:spPr bwMode="auto">
            <a:xfrm>
              <a:off x="2010" y="2268"/>
              <a:ext cx="26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</a:p>
          </p:txBody>
        </p:sp>
        <p:sp>
          <p:nvSpPr>
            <p:cNvPr id="39966" name="AutoShape 26" descr="羊皮纸"/>
            <p:cNvSpPr>
              <a:spLocks noChangeArrowheads="1"/>
            </p:cNvSpPr>
            <p:nvPr/>
          </p:nvSpPr>
          <p:spPr bwMode="auto">
            <a:xfrm>
              <a:off x="3107" y="1888"/>
              <a:ext cx="646" cy="240"/>
            </a:xfrm>
            <a:prstGeom prst="wedgeRectCallout">
              <a:avLst>
                <a:gd name="adj1" fmla="val -76347"/>
                <a:gd name="adj2" fmla="val 145833"/>
              </a:avLst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稳态解</a:t>
              </a:r>
            </a:p>
          </p:txBody>
        </p:sp>
      </p:grpSp>
      <p:grpSp>
        <p:nvGrpSpPr>
          <p:cNvPr id="57389" name="Group 45"/>
          <p:cNvGrpSpPr>
            <a:grpSpLocks/>
          </p:cNvGrpSpPr>
          <p:nvPr/>
        </p:nvGrpSpPr>
        <p:grpSpPr bwMode="auto">
          <a:xfrm>
            <a:off x="4984750" y="4054475"/>
            <a:ext cx="3417298" cy="885825"/>
            <a:chOff x="1996" y="2432"/>
            <a:chExt cx="1972" cy="480"/>
          </a:xfrm>
        </p:grpSpPr>
        <p:grpSp>
          <p:nvGrpSpPr>
            <p:cNvPr id="39956" name="Group 28"/>
            <p:cNvGrpSpPr>
              <a:grpSpLocks/>
            </p:cNvGrpSpPr>
            <p:nvPr/>
          </p:nvGrpSpPr>
          <p:grpSpPr bwMode="auto">
            <a:xfrm>
              <a:off x="1996" y="2432"/>
              <a:ext cx="1657" cy="480"/>
              <a:chOff x="1463" y="2688"/>
              <a:chExt cx="1657" cy="480"/>
            </a:xfrm>
          </p:grpSpPr>
          <p:grpSp>
            <p:nvGrpSpPr>
              <p:cNvPr id="39958" name="Group 29"/>
              <p:cNvGrpSpPr>
                <a:grpSpLocks/>
              </p:cNvGrpSpPr>
              <p:nvPr/>
            </p:nvGrpSpPr>
            <p:grpSpPr bwMode="auto">
              <a:xfrm>
                <a:off x="1488" y="2688"/>
                <a:ext cx="1632" cy="480"/>
                <a:chOff x="1488" y="2688"/>
                <a:chExt cx="1632" cy="480"/>
              </a:xfrm>
            </p:grpSpPr>
            <p:sp>
              <p:nvSpPr>
                <p:cNvPr id="39961" name="Freeform 30"/>
                <p:cNvSpPr>
                  <a:spLocks/>
                </p:cNvSpPr>
                <p:nvPr/>
              </p:nvSpPr>
              <p:spPr bwMode="auto">
                <a:xfrm>
                  <a:off x="1776" y="2688"/>
                  <a:ext cx="1344" cy="480"/>
                </a:xfrm>
                <a:custGeom>
                  <a:avLst/>
                  <a:gdLst>
                    <a:gd name="T0" fmla="*/ 0 w 1344"/>
                    <a:gd name="T1" fmla="*/ 480 h 344"/>
                    <a:gd name="T2" fmla="*/ 288 w 1344"/>
                    <a:gd name="T3" fmla="*/ 212 h 344"/>
                    <a:gd name="T4" fmla="*/ 624 w 1344"/>
                    <a:gd name="T5" fmla="*/ 78 h 344"/>
                    <a:gd name="T6" fmla="*/ 1104 w 1344"/>
                    <a:gd name="T7" fmla="*/ 11 h 344"/>
                    <a:gd name="T8" fmla="*/ 1344 w 1344"/>
                    <a:gd name="T9" fmla="*/ 11 h 3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4" h="344">
                      <a:moveTo>
                        <a:pt x="0" y="344"/>
                      </a:moveTo>
                      <a:cubicBezTo>
                        <a:pt x="92" y="272"/>
                        <a:pt x="184" y="200"/>
                        <a:pt x="288" y="152"/>
                      </a:cubicBezTo>
                      <a:cubicBezTo>
                        <a:pt x="392" y="104"/>
                        <a:pt x="488" y="80"/>
                        <a:pt x="624" y="56"/>
                      </a:cubicBezTo>
                      <a:cubicBezTo>
                        <a:pt x="760" y="32"/>
                        <a:pt x="984" y="16"/>
                        <a:pt x="1104" y="8"/>
                      </a:cubicBezTo>
                      <a:cubicBezTo>
                        <a:pt x="1224" y="0"/>
                        <a:pt x="1304" y="8"/>
                        <a:pt x="1344" y="8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FF3300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962" name="Line 31"/>
                <p:cNvSpPr>
                  <a:spLocks noChangeShapeType="1"/>
                </p:cNvSpPr>
                <p:nvPr/>
              </p:nvSpPr>
              <p:spPr bwMode="auto">
                <a:xfrm>
                  <a:off x="1488" y="3168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9959" name="Text Box 32"/>
              <p:cNvSpPr txBox="1">
                <a:spLocks noChangeArrowheads="1"/>
              </p:cNvSpPr>
              <p:nvPr/>
            </p:nvSpPr>
            <p:spPr bwMode="auto">
              <a:xfrm>
                <a:off x="1463" y="2852"/>
                <a:ext cx="272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>
                    <a:solidFill>
                      <a:schemeClr val="tx1"/>
                    </a:solidFill>
                    <a:latin typeface="Times New Roman" pitchFamily="18" charset="0"/>
                  </a:rPr>
                  <a:t>V</a:t>
                </a:r>
                <a:r>
                  <a:rPr kumimoji="1" lang="en-US" altLang="zh-CN" sz="2400" b="0" baseline="-25000">
                    <a:solidFill>
                      <a:schemeClr val="tx1"/>
                    </a:solidFill>
                    <a:latin typeface="Times New Roman" pitchFamily="18" charset="0"/>
                  </a:rPr>
                  <a:t>0</a:t>
                </a:r>
                <a:endParaRPr kumimoji="1" lang="en-US" altLang="zh-CN" sz="2400" b="0" i="1" baseline="-2500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9960" name="Text Box 33"/>
              <p:cNvSpPr txBox="1">
                <a:spLocks noChangeArrowheads="1"/>
              </p:cNvSpPr>
              <p:nvPr/>
            </p:nvSpPr>
            <p:spPr bwMode="auto">
              <a:xfrm>
                <a:off x="2183" y="2804"/>
                <a:ext cx="236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>
                    <a:solidFill>
                      <a:schemeClr val="tx1"/>
                    </a:solidFill>
                    <a:latin typeface="Times New Roman" pitchFamily="18" charset="0"/>
                  </a:rPr>
                  <a:t>v</a:t>
                </a:r>
                <a:r>
                  <a:rPr kumimoji="1" lang="en-US" altLang="zh-CN" sz="2400" b="0" i="1" baseline="-25000">
                    <a:solidFill>
                      <a:schemeClr val="tx1"/>
                    </a:solidFill>
                    <a:latin typeface="Times New Roman" pitchFamily="18" charset="0"/>
                  </a:rPr>
                  <a:t>c</a:t>
                </a:r>
                <a:endParaRPr kumimoji="1" lang="en-US" altLang="zh-CN" sz="2400" b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9957" name="AutoShape 34"/>
            <p:cNvSpPr>
              <a:spLocks noChangeArrowheads="1"/>
            </p:cNvSpPr>
            <p:nvPr/>
          </p:nvSpPr>
          <p:spPr bwMode="auto">
            <a:xfrm>
              <a:off x="3560" y="2659"/>
              <a:ext cx="408" cy="240"/>
            </a:xfrm>
            <a:prstGeom prst="wedgeRectCallout">
              <a:avLst>
                <a:gd name="adj1" fmla="val -78556"/>
                <a:gd name="adj2" fmla="val -122083"/>
              </a:avLst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楷体_GB2312" pitchFamily="49" charset="-122"/>
                </a:rPr>
                <a:t>全解</a:t>
              </a:r>
            </a:p>
          </p:txBody>
        </p:sp>
      </p:grpSp>
      <p:grpSp>
        <p:nvGrpSpPr>
          <p:cNvPr id="57379" name="Group 35"/>
          <p:cNvGrpSpPr>
            <a:grpSpLocks/>
          </p:cNvGrpSpPr>
          <p:nvPr/>
        </p:nvGrpSpPr>
        <p:grpSpPr bwMode="auto">
          <a:xfrm>
            <a:off x="5076825" y="3125784"/>
            <a:ext cx="3800674" cy="3732217"/>
            <a:chOff x="1575" y="1693"/>
            <a:chExt cx="2128" cy="2099"/>
          </a:xfrm>
        </p:grpSpPr>
        <p:grpSp>
          <p:nvGrpSpPr>
            <p:cNvPr id="39950" name="Group 36"/>
            <p:cNvGrpSpPr>
              <a:grpSpLocks/>
            </p:cNvGrpSpPr>
            <p:nvPr/>
          </p:nvGrpSpPr>
          <p:grpSpPr bwMode="auto">
            <a:xfrm>
              <a:off x="1575" y="1693"/>
              <a:ext cx="2128" cy="2099"/>
              <a:chOff x="1539" y="2077"/>
              <a:chExt cx="2128" cy="2099"/>
            </a:xfrm>
          </p:grpSpPr>
          <p:sp>
            <p:nvSpPr>
              <p:cNvPr id="39952" name="Line 37"/>
              <p:cNvSpPr>
                <a:spLocks noChangeShapeType="1"/>
              </p:cNvSpPr>
              <p:nvPr/>
            </p:nvSpPr>
            <p:spPr bwMode="auto">
              <a:xfrm>
                <a:off x="1539" y="3312"/>
                <a:ext cx="19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953" name="Line 38"/>
              <p:cNvSpPr>
                <a:spLocks noChangeShapeType="1"/>
              </p:cNvSpPr>
              <p:nvPr/>
            </p:nvSpPr>
            <p:spPr bwMode="auto">
              <a:xfrm flipV="1">
                <a:off x="1776" y="2256"/>
                <a:ext cx="0" cy="19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954" name="Text Box 39"/>
              <p:cNvSpPr txBox="1">
                <a:spLocks noChangeArrowheads="1"/>
              </p:cNvSpPr>
              <p:nvPr/>
            </p:nvSpPr>
            <p:spPr bwMode="auto">
              <a:xfrm>
                <a:off x="3516" y="3182"/>
                <a:ext cx="151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endPara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9955" name="Text Box 40"/>
              <p:cNvSpPr txBox="1">
                <a:spLocks noChangeArrowheads="1"/>
              </p:cNvSpPr>
              <p:nvPr/>
            </p:nvSpPr>
            <p:spPr bwMode="auto">
              <a:xfrm>
                <a:off x="1782" y="2077"/>
                <a:ext cx="231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4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4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c</a:t>
                </a:r>
                <a:endParaRPr kumimoji="1" lang="en-US" altLang="zh-CN" sz="24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39951" name="Text Box 41"/>
            <p:cNvSpPr txBox="1">
              <a:spLocks noChangeArrowheads="1"/>
            </p:cNvSpPr>
            <p:nvPr/>
          </p:nvSpPr>
          <p:spPr bwMode="auto">
            <a:xfrm>
              <a:off x="1601" y="2950"/>
              <a:ext cx="190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</p:grpSp>
      <p:sp>
        <p:nvSpPr>
          <p:cNvPr id="57386" name="Text Box 42"/>
          <p:cNvSpPr txBox="1">
            <a:spLocks noChangeArrowheads="1"/>
          </p:cNvSpPr>
          <p:nvPr/>
        </p:nvSpPr>
        <p:spPr bwMode="auto">
          <a:xfrm>
            <a:off x="897569" y="1384182"/>
            <a:ext cx="56926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全响应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</a:rPr>
              <a:t>=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强制分量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(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稳态解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)+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自由分量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(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暂态解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)</a:t>
            </a:r>
            <a:endParaRPr kumimoji="1" lang="en-US" altLang="zh-CN" sz="2000" b="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57390" name="Text Box 46"/>
          <p:cNvSpPr txBox="1">
            <a:spLocks noChangeArrowheads="1"/>
          </p:cNvSpPr>
          <p:nvPr/>
        </p:nvSpPr>
        <p:spPr bwMode="auto">
          <a:xfrm>
            <a:off x="539750" y="733425"/>
            <a:ext cx="6119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lang="zh-CN" altLang="en-US" sz="2400">
                <a:solidFill>
                  <a:schemeClr val="tx1"/>
                </a:solidFill>
                <a:latin typeface="楷体_GB2312" pitchFamily="49" charset="-122"/>
              </a:rPr>
              <a:t>着眼于电路的两种工作状态</a:t>
            </a:r>
          </a:p>
        </p:txBody>
      </p:sp>
      <p:sp>
        <p:nvSpPr>
          <p:cNvPr id="57391" name="Text Box 47"/>
          <p:cNvSpPr txBox="1">
            <a:spLocks noChangeArrowheads="1"/>
          </p:cNvSpPr>
          <p:nvPr/>
        </p:nvSpPr>
        <p:spPr bwMode="auto">
          <a:xfrm>
            <a:off x="5938179" y="761970"/>
            <a:ext cx="18450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物理概念清晰</a:t>
            </a:r>
          </a:p>
        </p:txBody>
      </p:sp>
      <p:sp>
        <p:nvSpPr>
          <p:cNvPr id="57404" name="Line 60"/>
          <p:cNvSpPr>
            <a:spLocks noChangeShapeType="1"/>
          </p:cNvSpPr>
          <p:nvPr/>
        </p:nvSpPr>
        <p:spPr bwMode="auto">
          <a:xfrm>
            <a:off x="5002912" y="979488"/>
            <a:ext cx="503238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57414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989990"/>
              </p:ext>
            </p:extLst>
          </p:nvPr>
        </p:nvGraphicFramePr>
        <p:xfrm>
          <a:off x="398201" y="3068960"/>
          <a:ext cx="4586549" cy="691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7" name="Equation" r:id="rId3" imgW="2466953" imgH="333285" progId="Equation.DSMT4">
                  <p:embed/>
                </p:oleObj>
              </mc:Choice>
              <mc:Fallback>
                <p:oleObj name="Equation" r:id="rId3" imgW="2466953" imgH="333285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01" y="3068960"/>
                        <a:ext cx="4586549" cy="69145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CC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15" name="AutoShape 71" descr="羊皮纸"/>
          <p:cNvSpPr>
            <a:spLocks noChangeArrowheads="1"/>
          </p:cNvSpPr>
          <p:nvPr/>
        </p:nvSpPr>
        <p:spPr bwMode="auto">
          <a:xfrm>
            <a:off x="897569" y="4094538"/>
            <a:ext cx="1223938" cy="431245"/>
          </a:xfrm>
          <a:prstGeom prst="wedgeRectCallout">
            <a:avLst>
              <a:gd name="adj1" fmla="val 64547"/>
              <a:gd name="adj2" fmla="val -131827"/>
            </a:avLst>
          </a:prstGeom>
          <a:solidFill>
            <a:srgbClr val="00CCFF"/>
          </a:soli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强制分量</a:t>
            </a:r>
          </a:p>
        </p:txBody>
      </p:sp>
      <p:sp>
        <p:nvSpPr>
          <p:cNvPr id="57416" name="AutoShape 72" descr="羊皮纸"/>
          <p:cNvSpPr>
            <a:spLocks noChangeArrowheads="1"/>
          </p:cNvSpPr>
          <p:nvPr/>
        </p:nvSpPr>
        <p:spPr bwMode="auto">
          <a:xfrm>
            <a:off x="2809081" y="4132658"/>
            <a:ext cx="1151508" cy="375424"/>
          </a:xfrm>
          <a:prstGeom prst="wedgeRectCallout">
            <a:avLst>
              <a:gd name="adj1" fmla="val 9654"/>
              <a:gd name="adj2" fmla="val -149628"/>
            </a:avLst>
          </a:prstGeom>
          <a:solidFill>
            <a:srgbClr val="00CCFF"/>
          </a:soli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自由分量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944815" y="1820143"/>
            <a:ext cx="7587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response  =  forced response    +      natural response</a:t>
            </a:r>
            <a:endParaRPr kumimoji="1"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3131840" y="2132856"/>
            <a:ext cx="17829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Steady-state</a:t>
            </a:r>
          </a:p>
          <a:p>
            <a:pPr algn="ctr" eaLnBrk="1" hangingPunct="1"/>
            <a:r>
              <a:rPr kumimoji="1"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)</a:t>
            </a:r>
            <a:endParaRPr kumimoji="1"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Box 42"/>
          <p:cNvSpPr txBox="1">
            <a:spLocks noChangeArrowheads="1"/>
          </p:cNvSpPr>
          <p:nvPr/>
        </p:nvSpPr>
        <p:spPr bwMode="auto">
          <a:xfrm>
            <a:off x="5421183" y="2134597"/>
            <a:ext cx="15973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transient</a:t>
            </a:r>
          </a:p>
          <a:p>
            <a:pPr algn="ctr" eaLnBrk="1" hangingPunct="1"/>
            <a:r>
              <a:rPr kumimoji="1"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)</a:t>
            </a:r>
            <a:endParaRPr kumimoji="1"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5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5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5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2000"/>
                                        <p:tgtEl>
                                          <p:spTgt spid="5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0"/>
                                        <p:tgtEl>
                                          <p:spTgt spid="5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1000"/>
                                        <p:tgtEl>
                                          <p:spTgt spid="5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57386" grpId="0" build="p" autoUpdateAnimBg="0"/>
      <p:bldP spid="57390" grpId="0"/>
      <p:bldP spid="57391" grpId="0"/>
      <p:bldP spid="57404" grpId="0" animBg="1"/>
      <p:bldP spid="57415" grpId="0" animBg="1" autoUpdateAnimBg="0"/>
      <p:bldP spid="57416" grpId="0" animBg="1" autoUpdateAnimBg="0"/>
      <p:bldP spid="38" grpId="0"/>
      <p:bldP spid="39" grpId="0"/>
      <p:bldP spid="4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54" name="Text Box 134"/>
          <p:cNvSpPr txBox="1">
            <a:spLocks noChangeArrowheads="1"/>
          </p:cNvSpPr>
          <p:nvPr/>
        </p:nvSpPr>
        <p:spPr bwMode="auto">
          <a:xfrm>
            <a:off x="1417189" y="3136370"/>
            <a:ext cx="51395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dirty="0">
                <a:solidFill>
                  <a:srgbClr val="FF0000"/>
                </a:solidFill>
                <a:latin typeface="楷体_GB2312" pitchFamily="49" charset="-122"/>
              </a:rPr>
              <a:t>全响应 </a:t>
            </a:r>
            <a:r>
              <a:rPr kumimoji="1" lang="en-US" altLang="zh-CN" sz="2400" dirty="0">
                <a:solidFill>
                  <a:srgbClr val="FF0000"/>
                </a:solidFill>
                <a:latin typeface="宋体" charset="-122"/>
                <a:ea typeface="宋体" charset="-122"/>
              </a:rPr>
              <a:t>=</a:t>
            </a:r>
            <a:r>
              <a:rPr kumimoji="1" lang="en-US" altLang="zh-CN" sz="2400" dirty="0">
                <a:solidFill>
                  <a:srgbClr val="FF0000"/>
                </a:solidFill>
                <a:latin typeface="楷体_GB2312" pitchFamily="49" charset="-122"/>
              </a:rPr>
              <a:t> </a:t>
            </a:r>
            <a:r>
              <a:rPr kumimoji="1" lang="zh-CN" altLang="en-US" sz="2400" dirty="0">
                <a:solidFill>
                  <a:srgbClr val="FF0000"/>
                </a:solidFill>
                <a:latin typeface="楷体_GB2312" pitchFamily="49" charset="-122"/>
              </a:rPr>
              <a:t>零状态响应 </a:t>
            </a:r>
            <a:r>
              <a:rPr kumimoji="1" lang="en-US" altLang="zh-CN" sz="2400" dirty="0">
                <a:solidFill>
                  <a:srgbClr val="FF0000"/>
                </a:solidFill>
                <a:latin typeface="宋体" charset="-122"/>
                <a:ea typeface="宋体" charset="-122"/>
              </a:rPr>
              <a:t>+</a:t>
            </a:r>
            <a:r>
              <a:rPr kumimoji="1" lang="en-US" altLang="zh-CN" sz="2400" dirty="0">
                <a:solidFill>
                  <a:srgbClr val="FF0000"/>
                </a:solidFill>
                <a:latin typeface="楷体_GB2312" pitchFamily="49" charset="-122"/>
              </a:rPr>
              <a:t> </a:t>
            </a:r>
            <a:r>
              <a:rPr kumimoji="1" lang="zh-CN" altLang="en-US" sz="2400" dirty="0">
                <a:solidFill>
                  <a:srgbClr val="FF0000"/>
                </a:solidFill>
                <a:latin typeface="楷体_GB2312" pitchFamily="49" charset="-122"/>
              </a:rPr>
              <a:t>零输入响应</a:t>
            </a:r>
          </a:p>
        </p:txBody>
      </p:sp>
      <p:graphicFrame>
        <p:nvGraphicFramePr>
          <p:cNvPr id="56457" name="Object 1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085983"/>
              </p:ext>
            </p:extLst>
          </p:nvPr>
        </p:nvGraphicFramePr>
        <p:xfrm>
          <a:off x="1714500" y="1257300"/>
          <a:ext cx="49212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5" name="Equation" r:id="rId3" imgW="1866810" imgH="295172" progId="Equation.DSMT4">
                  <p:embed/>
                </p:oleObj>
              </mc:Choice>
              <mc:Fallback>
                <p:oleObj name="Equation" r:id="rId3" imgW="1866810" imgH="295172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257300"/>
                        <a:ext cx="4921250" cy="7334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501" name="Text Box 181"/>
          <p:cNvSpPr txBox="1">
            <a:spLocks noChangeArrowheads="1"/>
          </p:cNvSpPr>
          <p:nvPr/>
        </p:nvSpPr>
        <p:spPr bwMode="auto">
          <a:xfrm>
            <a:off x="539750" y="492125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400">
                <a:solidFill>
                  <a:schemeClr val="tx1"/>
                </a:solidFill>
                <a:latin typeface="楷体_GB2312" pitchFamily="49" charset="-122"/>
              </a:rPr>
              <a:t>着眼于因果关系</a:t>
            </a:r>
          </a:p>
        </p:txBody>
      </p:sp>
      <p:sp>
        <p:nvSpPr>
          <p:cNvPr id="56503" name="Text Box 183"/>
          <p:cNvSpPr txBox="1">
            <a:spLocks noChangeArrowheads="1"/>
          </p:cNvSpPr>
          <p:nvPr/>
        </p:nvSpPr>
        <p:spPr bwMode="auto">
          <a:xfrm>
            <a:off x="4572000" y="490538"/>
            <a:ext cx="33845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便于叠加计算</a:t>
            </a:r>
          </a:p>
        </p:txBody>
      </p:sp>
      <p:sp>
        <p:nvSpPr>
          <p:cNvPr id="56516" name="Line 196"/>
          <p:cNvSpPr>
            <a:spLocks noChangeShapeType="1"/>
          </p:cNvSpPr>
          <p:nvPr/>
        </p:nvSpPr>
        <p:spPr bwMode="auto">
          <a:xfrm>
            <a:off x="3851275" y="720725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456" name="AutoShape 136"/>
          <p:cNvSpPr>
            <a:spLocks noChangeArrowheads="1"/>
          </p:cNvSpPr>
          <p:nvPr/>
        </p:nvSpPr>
        <p:spPr bwMode="auto">
          <a:xfrm>
            <a:off x="5003800" y="2349501"/>
            <a:ext cx="1552937" cy="431428"/>
          </a:xfrm>
          <a:prstGeom prst="wedgeRectCallout">
            <a:avLst>
              <a:gd name="adj1" fmla="val -58907"/>
              <a:gd name="adj2" fmla="val -122176"/>
            </a:avLst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零输入响应</a:t>
            </a:r>
          </a:p>
        </p:txBody>
      </p:sp>
      <p:sp>
        <p:nvSpPr>
          <p:cNvPr id="56455" name="AutoShape 135"/>
          <p:cNvSpPr>
            <a:spLocks noChangeArrowheads="1"/>
          </p:cNvSpPr>
          <p:nvPr/>
        </p:nvSpPr>
        <p:spPr bwMode="auto">
          <a:xfrm>
            <a:off x="971551" y="2349500"/>
            <a:ext cx="1764506" cy="431428"/>
          </a:xfrm>
          <a:prstGeom prst="wedgeRectCallout">
            <a:avLst>
              <a:gd name="adj1" fmla="val 48977"/>
              <a:gd name="adj2" fmla="val -126861"/>
            </a:avLst>
          </a:prstGeom>
          <a:solidFill>
            <a:srgbClr val="FFFF00"/>
          </a:soli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零状态响应</a:t>
            </a:r>
          </a:p>
        </p:txBody>
      </p:sp>
      <p:grpSp>
        <p:nvGrpSpPr>
          <p:cNvPr id="56517" name="Group 197"/>
          <p:cNvGrpSpPr>
            <a:grpSpLocks/>
          </p:cNvGrpSpPr>
          <p:nvPr/>
        </p:nvGrpSpPr>
        <p:grpSpPr bwMode="auto">
          <a:xfrm>
            <a:off x="395288" y="4063577"/>
            <a:ext cx="2592387" cy="2289175"/>
            <a:chOff x="2653" y="2069"/>
            <a:chExt cx="1633" cy="1442"/>
          </a:xfrm>
        </p:grpSpPr>
        <p:sp>
          <p:nvSpPr>
            <p:cNvPr id="41019" name="Oval 198"/>
            <p:cNvSpPr>
              <a:spLocks noChangeArrowheads="1"/>
            </p:cNvSpPr>
            <p:nvPr/>
          </p:nvSpPr>
          <p:spPr bwMode="auto">
            <a:xfrm>
              <a:off x="2653" y="265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20" name="Line 199"/>
            <p:cNvSpPr>
              <a:spLocks noChangeShapeType="1"/>
            </p:cNvSpPr>
            <p:nvPr/>
          </p:nvSpPr>
          <p:spPr bwMode="auto">
            <a:xfrm>
              <a:off x="2835" y="2523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21" name="Line 200"/>
            <p:cNvSpPr>
              <a:spLocks noChangeShapeType="1"/>
            </p:cNvSpPr>
            <p:nvPr/>
          </p:nvSpPr>
          <p:spPr bwMode="auto">
            <a:xfrm flipV="1">
              <a:off x="4105" y="2519"/>
              <a:ext cx="0" cy="23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22" name="Line 201"/>
            <p:cNvSpPr>
              <a:spLocks noChangeShapeType="1"/>
            </p:cNvSpPr>
            <p:nvPr/>
          </p:nvSpPr>
          <p:spPr bwMode="auto">
            <a:xfrm flipV="1">
              <a:off x="4105" y="2870"/>
              <a:ext cx="0" cy="3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41023" name="Group 202"/>
            <p:cNvGrpSpPr>
              <a:grpSpLocks/>
            </p:cNvGrpSpPr>
            <p:nvPr/>
          </p:nvGrpSpPr>
          <p:grpSpPr bwMode="auto">
            <a:xfrm>
              <a:off x="3102" y="2069"/>
              <a:ext cx="570" cy="527"/>
              <a:chOff x="1068" y="897"/>
              <a:chExt cx="808" cy="439"/>
            </a:xfrm>
          </p:grpSpPr>
          <p:sp>
            <p:nvSpPr>
              <p:cNvPr id="41039" name="Line 203"/>
              <p:cNvSpPr>
                <a:spLocks noChangeShapeType="1"/>
              </p:cNvSpPr>
              <p:nvPr/>
            </p:nvSpPr>
            <p:spPr bwMode="auto">
              <a:xfrm flipH="1">
                <a:off x="1099" y="1162"/>
                <a:ext cx="188" cy="17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1040" name="Text Box 204"/>
              <p:cNvSpPr txBox="1">
                <a:spLocks noChangeArrowheads="1"/>
              </p:cNvSpPr>
              <p:nvPr/>
            </p:nvSpPr>
            <p:spPr bwMode="auto">
              <a:xfrm>
                <a:off x="1068" y="897"/>
                <a:ext cx="80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dirty="0" smtClean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S(</a:t>
                </a:r>
                <a:r>
                  <a:rPr kumimoji="1" lang="en-US" altLang="zh-CN" sz="2000" b="0" i="1" dirty="0" smtClean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 </a:t>
                </a:r>
                <a:r>
                  <a:rPr kumimoji="1" lang="en-US" altLang="zh-CN" sz="2000" b="0" dirty="0" smtClean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=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0)</a:t>
                </a:r>
              </a:p>
            </p:txBody>
          </p:sp>
        </p:grpSp>
        <p:sp>
          <p:nvSpPr>
            <p:cNvPr id="41024" name="Text Box 205"/>
            <p:cNvSpPr txBox="1">
              <a:spLocks noChangeArrowheads="1"/>
            </p:cNvSpPr>
            <p:nvPr/>
          </p:nvSpPr>
          <p:spPr bwMode="auto">
            <a:xfrm>
              <a:off x="3044" y="2722"/>
              <a:ext cx="2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1025" name="Line 206"/>
            <p:cNvSpPr>
              <a:spLocks noChangeShapeType="1"/>
            </p:cNvSpPr>
            <p:nvPr/>
          </p:nvSpPr>
          <p:spPr bwMode="auto">
            <a:xfrm>
              <a:off x="3288" y="2523"/>
              <a:ext cx="81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26" name="Line 207"/>
            <p:cNvSpPr>
              <a:spLocks noChangeShapeType="1"/>
            </p:cNvSpPr>
            <p:nvPr/>
          </p:nvSpPr>
          <p:spPr bwMode="auto">
            <a:xfrm>
              <a:off x="2835" y="2523"/>
              <a:ext cx="23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27" name="Text Box 208"/>
            <p:cNvSpPr txBox="1">
              <a:spLocks noChangeArrowheads="1"/>
            </p:cNvSpPr>
            <p:nvPr/>
          </p:nvSpPr>
          <p:spPr bwMode="auto">
            <a:xfrm>
              <a:off x="3696" y="2713"/>
              <a:ext cx="2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41028" name="Group 209"/>
            <p:cNvGrpSpPr>
              <a:grpSpLocks/>
            </p:cNvGrpSpPr>
            <p:nvPr/>
          </p:nvGrpSpPr>
          <p:grpSpPr bwMode="auto">
            <a:xfrm>
              <a:off x="2930" y="2518"/>
              <a:ext cx="209" cy="713"/>
              <a:chOff x="1595" y="1287"/>
              <a:chExt cx="297" cy="594"/>
            </a:xfrm>
          </p:grpSpPr>
          <p:sp>
            <p:nvSpPr>
              <p:cNvPr id="41037" name="Text Box 210"/>
              <p:cNvSpPr txBox="1">
                <a:spLocks noChangeArrowheads="1"/>
              </p:cNvSpPr>
              <p:nvPr/>
            </p:nvSpPr>
            <p:spPr bwMode="auto">
              <a:xfrm>
                <a:off x="1598" y="1287"/>
                <a:ext cx="29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+</a:t>
                </a:r>
              </a:p>
            </p:txBody>
          </p:sp>
          <p:sp>
            <p:nvSpPr>
              <p:cNvPr id="41038" name="Text Box 211"/>
              <p:cNvSpPr txBox="1">
                <a:spLocks noChangeArrowheads="1"/>
              </p:cNvSpPr>
              <p:nvPr/>
            </p:nvSpPr>
            <p:spPr bwMode="auto">
              <a:xfrm>
                <a:off x="1595" y="1671"/>
                <a:ext cx="28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–</a:t>
                </a:r>
              </a:p>
            </p:txBody>
          </p:sp>
        </p:grpSp>
        <p:grpSp>
          <p:nvGrpSpPr>
            <p:cNvPr id="41029" name="Group 212"/>
            <p:cNvGrpSpPr>
              <a:grpSpLocks/>
            </p:cNvGrpSpPr>
            <p:nvPr/>
          </p:nvGrpSpPr>
          <p:grpSpPr bwMode="auto">
            <a:xfrm>
              <a:off x="3969" y="2744"/>
              <a:ext cx="317" cy="130"/>
              <a:chOff x="1824" y="1680"/>
              <a:chExt cx="192" cy="92"/>
            </a:xfrm>
          </p:grpSpPr>
          <p:sp>
            <p:nvSpPr>
              <p:cNvPr id="41035" name="Line 213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1036" name="Line 214"/>
              <p:cNvSpPr>
                <a:spLocks noChangeShapeType="1"/>
              </p:cNvSpPr>
              <p:nvPr/>
            </p:nvSpPr>
            <p:spPr bwMode="auto">
              <a:xfrm>
                <a:off x="1824" y="1772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1030" name="Line 215"/>
            <p:cNvSpPr>
              <a:spLocks noChangeShapeType="1"/>
            </p:cNvSpPr>
            <p:nvPr/>
          </p:nvSpPr>
          <p:spPr bwMode="auto">
            <a:xfrm flipH="1" flipV="1">
              <a:off x="3016" y="2387"/>
              <a:ext cx="272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31" name="Line 216"/>
            <p:cNvSpPr>
              <a:spLocks noChangeShapeType="1"/>
            </p:cNvSpPr>
            <p:nvPr/>
          </p:nvSpPr>
          <p:spPr bwMode="auto">
            <a:xfrm>
              <a:off x="2835" y="3249"/>
              <a:ext cx="127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32" name="Text Box 217"/>
            <p:cNvSpPr txBox="1">
              <a:spLocks noChangeArrowheads="1"/>
            </p:cNvSpPr>
            <p:nvPr/>
          </p:nvSpPr>
          <p:spPr bwMode="auto">
            <a:xfrm>
              <a:off x="3606" y="224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1033" name="Text Box 218"/>
            <p:cNvSpPr txBox="1">
              <a:spLocks noChangeArrowheads="1"/>
            </p:cNvSpPr>
            <p:nvPr/>
          </p:nvSpPr>
          <p:spPr bwMode="auto">
            <a:xfrm>
              <a:off x="3077" y="3259"/>
              <a:ext cx="82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 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zh-CN" altLang="en-US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－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)=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1034" name="Rectangle 219"/>
            <p:cNvSpPr>
              <a:spLocks noChangeArrowheads="1"/>
            </p:cNvSpPr>
            <p:nvPr/>
          </p:nvSpPr>
          <p:spPr bwMode="auto">
            <a:xfrm>
              <a:off x="3560" y="245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56563" name="Group 243"/>
          <p:cNvGrpSpPr>
            <a:grpSpLocks/>
          </p:cNvGrpSpPr>
          <p:nvPr/>
        </p:nvGrpSpPr>
        <p:grpSpPr bwMode="auto">
          <a:xfrm>
            <a:off x="6081986" y="4120038"/>
            <a:ext cx="2778124" cy="2286000"/>
            <a:chOff x="2899" y="2090"/>
            <a:chExt cx="1750" cy="1440"/>
          </a:xfrm>
        </p:grpSpPr>
        <p:sp>
          <p:nvSpPr>
            <p:cNvPr id="40997" name="Text Box 244"/>
            <p:cNvSpPr txBox="1">
              <a:spLocks noChangeArrowheads="1"/>
            </p:cNvSpPr>
            <p:nvPr/>
          </p:nvSpPr>
          <p:spPr bwMode="auto">
            <a:xfrm>
              <a:off x="2899" y="2741"/>
              <a:ext cx="26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32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40998" name="Line 245"/>
            <p:cNvSpPr>
              <a:spLocks noChangeShapeType="1"/>
            </p:cNvSpPr>
            <p:nvPr/>
          </p:nvSpPr>
          <p:spPr bwMode="auto">
            <a:xfrm>
              <a:off x="3198" y="2542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0999" name="Line 246"/>
            <p:cNvSpPr>
              <a:spLocks noChangeShapeType="1"/>
            </p:cNvSpPr>
            <p:nvPr/>
          </p:nvSpPr>
          <p:spPr bwMode="auto">
            <a:xfrm flipV="1">
              <a:off x="4468" y="2538"/>
              <a:ext cx="0" cy="23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00" name="Line 247"/>
            <p:cNvSpPr>
              <a:spLocks noChangeShapeType="1"/>
            </p:cNvSpPr>
            <p:nvPr/>
          </p:nvSpPr>
          <p:spPr bwMode="auto">
            <a:xfrm flipV="1">
              <a:off x="4468" y="2889"/>
              <a:ext cx="0" cy="3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41001" name="Group 248"/>
            <p:cNvGrpSpPr>
              <a:grpSpLocks/>
            </p:cNvGrpSpPr>
            <p:nvPr/>
          </p:nvGrpSpPr>
          <p:grpSpPr bwMode="auto">
            <a:xfrm>
              <a:off x="3466" y="2090"/>
              <a:ext cx="570" cy="533"/>
              <a:chOff x="1069" y="897"/>
              <a:chExt cx="808" cy="443"/>
            </a:xfrm>
          </p:grpSpPr>
          <p:sp>
            <p:nvSpPr>
              <p:cNvPr id="41017" name="Line 249"/>
              <p:cNvSpPr>
                <a:spLocks noChangeShapeType="1"/>
              </p:cNvSpPr>
              <p:nvPr/>
            </p:nvSpPr>
            <p:spPr bwMode="auto">
              <a:xfrm flipH="1">
                <a:off x="1088" y="1151"/>
                <a:ext cx="200" cy="189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1018" name="Text Box 250"/>
              <p:cNvSpPr txBox="1">
                <a:spLocks noChangeArrowheads="1"/>
              </p:cNvSpPr>
              <p:nvPr/>
            </p:nvSpPr>
            <p:spPr bwMode="auto">
              <a:xfrm>
                <a:off x="1069" y="897"/>
                <a:ext cx="808" cy="2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dirty="0" smtClean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S(</a:t>
                </a:r>
                <a:r>
                  <a:rPr kumimoji="1" lang="en-US" altLang="zh-CN" sz="2000" b="0" i="1" dirty="0" smtClean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 </a:t>
                </a:r>
                <a:r>
                  <a:rPr kumimoji="1" lang="en-US" altLang="zh-CN" sz="2000" b="0" dirty="0" smtClean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=0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)</a:t>
                </a:r>
              </a:p>
            </p:txBody>
          </p:sp>
        </p:grpSp>
        <p:sp>
          <p:nvSpPr>
            <p:cNvPr id="41002" name="Text Box 251"/>
            <p:cNvSpPr txBox="1">
              <a:spLocks noChangeArrowheads="1"/>
            </p:cNvSpPr>
            <p:nvPr/>
          </p:nvSpPr>
          <p:spPr bwMode="auto">
            <a:xfrm>
              <a:off x="3407" y="2741"/>
              <a:ext cx="2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1003" name="Line 252"/>
            <p:cNvSpPr>
              <a:spLocks noChangeShapeType="1"/>
            </p:cNvSpPr>
            <p:nvPr/>
          </p:nvSpPr>
          <p:spPr bwMode="auto">
            <a:xfrm>
              <a:off x="3651" y="2542"/>
              <a:ext cx="81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04" name="Line 253"/>
            <p:cNvSpPr>
              <a:spLocks noChangeShapeType="1"/>
            </p:cNvSpPr>
            <p:nvPr/>
          </p:nvSpPr>
          <p:spPr bwMode="auto">
            <a:xfrm>
              <a:off x="3198" y="2542"/>
              <a:ext cx="23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05" name="Text Box 254"/>
            <p:cNvSpPr txBox="1">
              <a:spLocks noChangeArrowheads="1"/>
            </p:cNvSpPr>
            <p:nvPr/>
          </p:nvSpPr>
          <p:spPr bwMode="auto">
            <a:xfrm>
              <a:off x="4059" y="2732"/>
              <a:ext cx="2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41006" name="Group 255"/>
            <p:cNvGrpSpPr>
              <a:grpSpLocks/>
            </p:cNvGrpSpPr>
            <p:nvPr/>
          </p:nvGrpSpPr>
          <p:grpSpPr bwMode="auto">
            <a:xfrm>
              <a:off x="3293" y="2537"/>
              <a:ext cx="209" cy="713"/>
              <a:chOff x="1595" y="1287"/>
              <a:chExt cx="297" cy="594"/>
            </a:xfrm>
          </p:grpSpPr>
          <p:sp>
            <p:nvSpPr>
              <p:cNvPr id="41015" name="Text Box 256"/>
              <p:cNvSpPr txBox="1">
                <a:spLocks noChangeArrowheads="1"/>
              </p:cNvSpPr>
              <p:nvPr/>
            </p:nvSpPr>
            <p:spPr bwMode="auto">
              <a:xfrm>
                <a:off x="1598" y="1287"/>
                <a:ext cx="29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+</a:t>
                </a:r>
              </a:p>
            </p:txBody>
          </p:sp>
          <p:sp>
            <p:nvSpPr>
              <p:cNvPr id="41016" name="Text Box 257"/>
              <p:cNvSpPr txBox="1">
                <a:spLocks noChangeArrowheads="1"/>
              </p:cNvSpPr>
              <p:nvPr/>
            </p:nvSpPr>
            <p:spPr bwMode="auto">
              <a:xfrm>
                <a:off x="1595" y="1671"/>
                <a:ext cx="28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–</a:t>
                </a:r>
              </a:p>
            </p:txBody>
          </p:sp>
        </p:grpSp>
        <p:grpSp>
          <p:nvGrpSpPr>
            <p:cNvPr id="41007" name="Group 258"/>
            <p:cNvGrpSpPr>
              <a:grpSpLocks/>
            </p:cNvGrpSpPr>
            <p:nvPr/>
          </p:nvGrpSpPr>
          <p:grpSpPr bwMode="auto">
            <a:xfrm>
              <a:off x="4332" y="2756"/>
              <a:ext cx="317" cy="124"/>
              <a:chOff x="1824" y="1680"/>
              <a:chExt cx="192" cy="88"/>
            </a:xfrm>
          </p:grpSpPr>
          <p:sp>
            <p:nvSpPr>
              <p:cNvPr id="41013" name="Line 259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1014" name="Line 260"/>
              <p:cNvSpPr>
                <a:spLocks noChangeShapeType="1"/>
              </p:cNvSpPr>
              <p:nvPr/>
            </p:nvSpPr>
            <p:spPr bwMode="auto">
              <a:xfrm>
                <a:off x="1824" y="1768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1008" name="Line 261"/>
            <p:cNvSpPr>
              <a:spLocks noChangeShapeType="1"/>
            </p:cNvSpPr>
            <p:nvPr/>
          </p:nvSpPr>
          <p:spPr bwMode="auto">
            <a:xfrm flipH="1" flipV="1">
              <a:off x="3379" y="2406"/>
              <a:ext cx="272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09" name="Line 262"/>
            <p:cNvSpPr>
              <a:spLocks noChangeShapeType="1"/>
            </p:cNvSpPr>
            <p:nvPr/>
          </p:nvSpPr>
          <p:spPr bwMode="auto">
            <a:xfrm>
              <a:off x="3198" y="3268"/>
              <a:ext cx="127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010" name="Text Box 263"/>
            <p:cNvSpPr txBox="1">
              <a:spLocks noChangeArrowheads="1"/>
            </p:cNvSpPr>
            <p:nvPr/>
          </p:nvSpPr>
          <p:spPr bwMode="auto">
            <a:xfrm>
              <a:off x="3943" y="2261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1011" name="Text Box 264"/>
            <p:cNvSpPr txBox="1">
              <a:spLocks noChangeArrowheads="1"/>
            </p:cNvSpPr>
            <p:nvPr/>
          </p:nvSpPr>
          <p:spPr bwMode="auto">
            <a:xfrm>
              <a:off x="3440" y="3278"/>
              <a:ext cx="82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 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zh-CN" altLang="en-US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－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)=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1012" name="Rectangle 265"/>
            <p:cNvSpPr>
              <a:spLocks noChangeArrowheads="1"/>
            </p:cNvSpPr>
            <p:nvPr/>
          </p:nvSpPr>
          <p:spPr bwMode="auto">
            <a:xfrm>
              <a:off x="3923" y="2477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56588" name="Group 268"/>
          <p:cNvGrpSpPr>
            <a:grpSpLocks/>
          </p:cNvGrpSpPr>
          <p:nvPr/>
        </p:nvGrpSpPr>
        <p:grpSpPr bwMode="auto">
          <a:xfrm>
            <a:off x="3080023" y="4117719"/>
            <a:ext cx="2952750" cy="2290763"/>
            <a:chOff x="1927" y="2359"/>
            <a:chExt cx="1860" cy="1443"/>
          </a:xfrm>
        </p:grpSpPr>
        <p:grpSp>
          <p:nvGrpSpPr>
            <p:cNvPr id="40972" name="Group 220"/>
            <p:cNvGrpSpPr>
              <a:grpSpLocks/>
            </p:cNvGrpSpPr>
            <p:nvPr/>
          </p:nvGrpSpPr>
          <p:grpSpPr bwMode="auto">
            <a:xfrm>
              <a:off x="2154" y="2359"/>
              <a:ext cx="1633" cy="1443"/>
              <a:chOff x="2653" y="2068"/>
              <a:chExt cx="1633" cy="1443"/>
            </a:xfrm>
          </p:grpSpPr>
          <p:sp>
            <p:nvSpPr>
              <p:cNvPr id="40975" name="Oval 221"/>
              <p:cNvSpPr>
                <a:spLocks noChangeArrowheads="1"/>
              </p:cNvSpPr>
              <p:nvPr/>
            </p:nvSpPr>
            <p:spPr bwMode="auto">
              <a:xfrm>
                <a:off x="2653" y="265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0976" name="Line 222"/>
              <p:cNvSpPr>
                <a:spLocks noChangeShapeType="1"/>
              </p:cNvSpPr>
              <p:nvPr/>
            </p:nvSpPr>
            <p:spPr bwMode="auto">
              <a:xfrm>
                <a:off x="2835" y="2523"/>
                <a:ext cx="0" cy="726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0977" name="Line 223"/>
              <p:cNvSpPr>
                <a:spLocks noChangeShapeType="1"/>
              </p:cNvSpPr>
              <p:nvPr/>
            </p:nvSpPr>
            <p:spPr bwMode="auto">
              <a:xfrm flipV="1">
                <a:off x="4105" y="2519"/>
                <a:ext cx="0" cy="231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0978" name="Line 224"/>
              <p:cNvSpPr>
                <a:spLocks noChangeShapeType="1"/>
              </p:cNvSpPr>
              <p:nvPr/>
            </p:nvSpPr>
            <p:spPr bwMode="auto">
              <a:xfrm flipV="1">
                <a:off x="4105" y="2870"/>
                <a:ext cx="0" cy="379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0979" name="Group 225"/>
              <p:cNvGrpSpPr>
                <a:grpSpLocks/>
              </p:cNvGrpSpPr>
              <p:nvPr/>
            </p:nvGrpSpPr>
            <p:grpSpPr bwMode="auto">
              <a:xfrm>
                <a:off x="3102" y="2068"/>
                <a:ext cx="570" cy="530"/>
                <a:chOff x="1068" y="897"/>
                <a:chExt cx="808" cy="442"/>
              </a:xfrm>
            </p:grpSpPr>
            <p:sp>
              <p:nvSpPr>
                <p:cNvPr id="40995" name="Line 226"/>
                <p:cNvSpPr>
                  <a:spLocks noChangeShapeType="1"/>
                </p:cNvSpPr>
                <p:nvPr/>
              </p:nvSpPr>
              <p:spPr bwMode="auto">
                <a:xfrm flipH="1">
                  <a:off x="1111" y="1161"/>
                  <a:ext cx="187" cy="178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996" name="Text Box 227"/>
                <p:cNvSpPr txBox="1">
                  <a:spLocks noChangeArrowheads="1"/>
                </p:cNvSpPr>
                <p:nvPr/>
              </p:nvSpPr>
              <p:spPr bwMode="auto">
                <a:xfrm>
                  <a:off x="1068" y="897"/>
                  <a:ext cx="808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 dirty="0" smtClean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S(</a:t>
                  </a:r>
                  <a:r>
                    <a:rPr kumimoji="1" lang="en-US" altLang="zh-CN" sz="2000" b="0" i="1" dirty="0" smtClean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t </a:t>
                  </a:r>
                  <a:r>
                    <a:rPr kumimoji="1" lang="en-US" altLang="zh-CN" sz="2000" b="0" dirty="0" smtClean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=</a:t>
                  </a: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0)</a:t>
                  </a:r>
                </a:p>
              </p:txBody>
            </p:sp>
          </p:grpSp>
          <p:sp>
            <p:nvSpPr>
              <p:cNvPr id="40980" name="Text Box 228"/>
              <p:cNvSpPr txBox="1">
                <a:spLocks noChangeArrowheads="1"/>
              </p:cNvSpPr>
              <p:nvPr/>
            </p:nvSpPr>
            <p:spPr bwMode="auto">
              <a:xfrm>
                <a:off x="3044" y="2722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S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0981" name="Line 229"/>
              <p:cNvSpPr>
                <a:spLocks noChangeShapeType="1"/>
              </p:cNvSpPr>
              <p:nvPr/>
            </p:nvSpPr>
            <p:spPr bwMode="auto">
              <a:xfrm>
                <a:off x="3288" y="2523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0982" name="Line 230"/>
              <p:cNvSpPr>
                <a:spLocks noChangeShapeType="1"/>
              </p:cNvSpPr>
              <p:nvPr/>
            </p:nvSpPr>
            <p:spPr bwMode="auto">
              <a:xfrm>
                <a:off x="2835" y="2523"/>
                <a:ext cx="237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0983" name="Text Box 231"/>
              <p:cNvSpPr txBox="1">
                <a:spLocks noChangeArrowheads="1"/>
              </p:cNvSpPr>
              <p:nvPr/>
            </p:nvSpPr>
            <p:spPr bwMode="auto">
              <a:xfrm>
                <a:off x="3696" y="2667"/>
                <a:ext cx="24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C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40984" name="Group 232"/>
              <p:cNvGrpSpPr>
                <a:grpSpLocks/>
              </p:cNvGrpSpPr>
              <p:nvPr/>
            </p:nvGrpSpPr>
            <p:grpSpPr bwMode="auto">
              <a:xfrm>
                <a:off x="2930" y="2518"/>
                <a:ext cx="209" cy="713"/>
                <a:chOff x="1595" y="1287"/>
                <a:chExt cx="297" cy="594"/>
              </a:xfrm>
            </p:grpSpPr>
            <p:sp>
              <p:nvSpPr>
                <p:cNvPr id="40993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1598" y="1287"/>
                  <a:ext cx="294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40994" name="Text Box 234"/>
                <p:cNvSpPr txBox="1">
                  <a:spLocks noChangeArrowheads="1"/>
                </p:cNvSpPr>
                <p:nvPr/>
              </p:nvSpPr>
              <p:spPr bwMode="auto">
                <a:xfrm>
                  <a:off x="1595" y="1671"/>
                  <a:ext cx="280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grpSp>
            <p:nvGrpSpPr>
              <p:cNvPr id="40985" name="Group 235"/>
              <p:cNvGrpSpPr>
                <a:grpSpLocks/>
              </p:cNvGrpSpPr>
              <p:nvPr/>
            </p:nvGrpSpPr>
            <p:grpSpPr bwMode="auto">
              <a:xfrm>
                <a:off x="3969" y="2744"/>
                <a:ext cx="317" cy="130"/>
                <a:chOff x="1824" y="1680"/>
                <a:chExt cx="192" cy="92"/>
              </a:xfrm>
            </p:grpSpPr>
            <p:sp>
              <p:nvSpPr>
                <p:cNvPr id="40991" name="Line 236"/>
                <p:cNvSpPr>
                  <a:spLocks noChangeShapeType="1"/>
                </p:cNvSpPr>
                <p:nvPr/>
              </p:nvSpPr>
              <p:spPr bwMode="auto">
                <a:xfrm>
                  <a:off x="1824" y="1680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992" name="Line 237"/>
                <p:cNvSpPr>
                  <a:spLocks noChangeShapeType="1"/>
                </p:cNvSpPr>
                <p:nvPr/>
              </p:nvSpPr>
              <p:spPr bwMode="auto">
                <a:xfrm>
                  <a:off x="1824" y="1772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0986" name="Line 238"/>
              <p:cNvSpPr>
                <a:spLocks noChangeShapeType="1"/>
              </p:cNvSpPr>
              <p:nvPr/>
            </p:nvSpPr>
            <p:spPr bwMode="auto">
              <a:xfrm flipH="1" flipV="1">
                <a:off x="3016" y="2387"/>
                <a:ext cx="272" cy="136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0987" name="Line 239"/>
              <p:cNvSpPr>
                <a:spLocks noChangeShapeType="1"/>
              </p:cNvSpPr>
              <p:nvPr/>
            </p:nvSpPr>
            <p:spPr bwMode="auto">
              <a:xfrm>
                <a:off x="2835" y="3249"/>
                <a:ext cx="1270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0988" name="Text Box 240"/>
              <p:cNvSpPr txBox="1">
                <a:spLocks noChangeArrowheads="1"/>
              </p:cNvSpPr>
              <p:nvPr/>
            </p:nvSpPr>
            <p:spPr bwMode="auto">
              <a:xfrm>
                <a:off x="3606" y="2242"/>
                <a:ext cx="21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R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0989" name="Text Box 241"/>
              <p:cNvSpPr txBox="1">
                <a:spLocks noChangeArrowheads="1"/>
              </p:cNvSpPr>
              <p:nvPr/>
            </p:nvSpPr>
            <p:spPr bwMode="auto">
              <a:xfrm>
                <a:off x="3094" y="3259"/>
                <a:ext cx="7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C </a:t>
                </a:r>
                <a:r>
                  <a:rPr kumimoji="1" lang="en-US" altLang="zh-CN" sz="2000" b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(0</a:t>
                </a:r>
                <a:r>
                  <a:rPr kumimoji="1" lang="zh-CN" altLang="en-US" sz="2000" b="0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－</a:t>
                </a:r>
                <a:r>
                  <a:rPr kumimoji="1" lang="en-US" altLang="zh-CN" sz="2000" b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)= 0</a:t>
                </a:r>
              </a:p>
            </p:txBody>
          </p:sp>
          <p:sp>
            <p:nvSpPr>
              <p:cNvPr id="40990" name="Rectangle 242"/>
              <p:cNvSpPr>
                <a:spLocks noChangeArrowheads="1"/>
              </p:cNvSpPr>
              <p:nvPr/>
            </p:nvSpPr>
            <p:spPr bwMode="auto">
              <a:xfrm>
                <a:off x="3560" y="2453"/>
                <a:ext cx="297" cy="137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973" name="Line 266"/>
            <p:cNvSpPr>
              <a:spLocks noChangeShapeType="1"/>
            </p:cNvSpPr>
            <p:nvPr/>
          </p:nvSpPr>
          <p:spPr bwMode="auto">
            <a:xfrm>
              <a:off x="1927" y="3067"/>
              <a:ext cx="181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0974" name="Line 267"/>
            <p:cNvSpPr>
              <a:spLocks noChangeShapeType="1"/>
            </p:cNvSpPr>
            <p:nvPr/>
          </p:nvSpPr>
          <p:spPr bwMode="auto">
            <a:xfrm>
              <a:off x="1927" y="3158"/>
              <a:ext cx="181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5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5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56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5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6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54" grpId="0" build="p" autoUpdateAnimBg="0"/>
      <p:bldP spid="56501" grpId="0" build="p" autoUpdateAnimBg="0"/>
      <p:bldP spid="56503" grpId="0"/>
      <p:bldP spid="56516" grpId="0" animBg="1"/>
      <p:bldP spid="56456" grpId="0" animBg="1" autoUpdateAnimBg="0"/>
      <p:bldP spid="56455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28" name="Group 32"/>
          <p:cNvGrpSpPr>
            <a:grpSpLocks/>
          </p:cNvGrpSpPr>
          <p:nvPr/>
        </p:nvGrpSpPr>
        <p:grpSpPr bwMode="auto">
          <a:xfrm>
            <a:off x="1238251" y="549275"/>
            <a:ext cx="5922963" cy="1446213"/>
            <a:chOff x="734" y="92"/>
            <a:chExt cx="3731" cy="911"/>
          </a:xfrm>
        </p:grpSpPr>
        <p:graphicFrame>
          <p:nvGraphicFramePr>
            <p:cNvPr id="4200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9978405"/>
                </p:ext>
              </p:extLst>
            </p:nvPr>
          </p:nvGraphicFramePr>
          <p:xfrm>
            <a:off x="1203" y="92"/>
            <a:ext cx="3262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14" name="Equation" r:id="rId3" imgW="1879600" imgH="304800" progId="Equation.DSMT4">
                    <p:embed/>
                  </p:oleObj>
                </mc:Choice>
                <mc:Fallback>
                  <p:oleObj name="Equation" r:id="rId3" imgW="1879600" imgH="3048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3" y="92"/>
                          <a:ext cx="3262" cy="526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FFCC00"/>
                            </a:gs>
                            <a:gs pos="100000">
                              <a:schemeClr val="bg1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9" name="AutoShape 4"/>
            <p:cNvSpPr>
              <a:spLocks noChangeArrowheads="1"/>
            </p:cNvSpPr>
            <p:nvPr/>
          </p:nvSpPr>
          <p:spPr bwMode="auto">
            <a:xfrm>
              <a:off x="734" y="776"/>
              <a:ext cx="1162" cy="227"/>
            </a:xfrm>
            <a:prstGeom prst="wedgeRectCallout">
              <a:avLst>
                <a:gd name="adj1" fmla="val 75618"/>
                <a:gd name="adj2" fmla="val -125752"/>
              </a:avLst>
            </a:prstGeom>
            <a:solidFill>
              <a:srgbClr val="92D05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000" dirty="0">
                  <a:solidFill>
                    <a:schemeClr val="bg1"/>
                  </a:solidFill>
                  <a:latin typeface="Times New Roman" pitchFamily="18" charset="0"/>
                </a:rPr>
                <a:t>零状态响应</a:t>
              </a:r>
            </a:p>
          </p:txBody>
        </p:sp>
        <p:sp>
          <p:nvSpPr>
            <p:cNvPr id="42010" name="AutoShape 5"/>
            <p:cNvSpPr>
              <a:spLocks noChangeArrowheads="1"/>
            </p:cNvSpPr>
            <p:nvPr/>
          </p:nvSpPr>
          <p:spPr bwMode="auto">
            <a:xfrm>
              <a:off x="3151" y="788"/>
              <a:ext cx="952" cy="203"/>
            </a:xfrm>
            <a:prstGeom prst="wedgeRectCallout">
              <a:avLst>
                <a:gd name="adj1" fmla="val -57858"/>
                <a:gd name="adj2" fmla="val -129189"/>
              </a:avLst>
            </a:prstGeom>
            <a:solidFill>
              <a:srgbClr val="92D05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000" dirty="0">
                  <a:solidFill>
                    <a:schemeClr val="bg1"/>
                  </a:solidFill>
                  <a:latin typeface="Times New Roman" pitchFamily="18" charset="0"/>
                </a:rPr>
                <a:t>零输入响应</a:t>
              </a:r>
            </a:p>
          </p:txBody>
        </p:sp>
      </p:grpSp>
      <p:sp>
        <p:nvSpPr>
          <p:cNvPr id="55304" name="Line 8"/>
          <p:cNvSpPr>
            <a:spLocks noChangeShapeType="1"/>
          </p:cNvSpPr>
          <p:nvPr/>
        </p:nvSpPr>
        <p:spPr bwMode="auto">
          <a:xfrm flipV="1">
            <a:off x="3211513" y="2482850"/>
            <a:ext cx="0" cy="3611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5344" name="Group 48"/>
          <p:cNvGrpSpPr>
            <a:grpSpLocks/>
          </p:cNvGrpSpPr>
          <p:nvPr/>
        </p:nvGrpSpPr>
        <p:grpSpPr bwMode="auto">
          <a:xfrm>
            <a:off x="2744787" y="2006600"/>
            <a:ext cx="4983161" cy="3708400"/>
            <a:chOff x="1729" y="1264"/>
            <a:chExt cx="3139" cy="2336"/>
          </a:xfrm>
        </p:grpSpPr>
        <p:sp>
          <p:nvSpPr>
            <p:cNvPr id="42004" name="Line 7"/>
            <p:cNvSpPr>
              <a:spLocks noChangeShapeType="1"/>
            </p:cNvSpPr>
            <p:nvPr/>
          </p:nvSpPr>
          <p:spPr bwMode="auto">
            <a:xfrm>
              <a:off x="1786" y="3330"/>
              <a:ext cx="2908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005" name="Text Box 9"/>
            <p:cNvSpPr txBox="1">
              <a:spLocks noChangeArrowheads="1"/>
            </p:cNvSpPr>
            <p:nvPr/>
          </p:nvSpPr>
          <p:spPr bwMode="auto">
            <a:xfrm>
              <a:off x="4699" y="3132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2006" name="Text Box 10"/>
            <p:cNvSpPr txBox="1">
              <a:spLocks noChangeArrowheads="1"/>
            </p:cNvSpPr>
            <p:nvPr/>
          </p:nvSpPr>
          <p:spPr bwMode="auto">
            <a:xfrm>
              <a:off x="1729" y="1264"/>
              <a:ext cx="2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4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2007" name="Text Box 11"/>
            <p:cNvSpPr txBox="1">
              <a:spLocks noChangeArrowheads="1"/>
            </p:cNvSpPr>
            <p:nvPr/>
          </p:nvSpPr>
          <p:spPr bwMode="auto">
            <a:xfrm>
              <a:off x="1785" y="33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</p:grpSp>
      <p:grpSp>
        <p:nvGrpSpPr>
          <p:cNvPr id="55346" name="Group 50"/>
          <p:cNvGrpSpPr>
            <a:grpSpLocks/>
          </p:cNvGrpSpPr>
          <p:nvPr/>
        </p:nvGrpSpPr>
        <p:grpSpPr bwMode="auto">
          <a:xfrm>
            <a:off x="2600325" y="3098800"/>
            <a:ext cx="3709988" cy="2138363"/>
            <a:chOff x="1638" y="1952"/>
            <a:chExt cx="2337" cy="1347"/>
          </a:xfrm>
        </p:grpSpPr>
        <p:sp>
          <p:nvSpPr>
            <p:cNvPr id="42000" name="Line 13"/>
            <p:cNvSpPr>
              <a:spLocks noChangeShapeType="1"/>
            </p:cNvSpPr>
            <p:nvPr/>
          </p:nvSpPr>
          <p:spPr bwMode="auto">
            <a:xfrm>
              <a:off x="2018" y="2115"/>
              <a:ext cx="1951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1" name="Text Box 14"/>
            <p:cNvSpPr txBox="1">
              <a:spLocks noChangeArrowheads="1"/>
            </p:cNvSpPr>
            <p:nvPr/>
          </p:nvSpPr>
          <p:spPr bwMode="auto">
            <a:xfrm>
              <a:off x="1638" y="1952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4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</a:p>
          </p:txBody>
        </p:sp>
        <p:sp>
          <p:nvSpPr>
            <p:cNvPr id="42002" name="Freeform 16"/>
            <p:cNvSpPr>
              <a:spLocks/>
            </p:cNvSpPr>
            <p:nvPr/>
          </p:nvSpPr>
          <p:spPr bwMode="auto">
            <a:xfrm>
              <a:off x="2033" y="2160"/>
              <a:ext cx="1890" cy="1139"/>
            </a:xfrm>
            <a:custGeom>
              <a:avLst/>
              <a:gdLst>
                <a:gd name="T0" fmla="*/ 0 w 1344"/>
                <a:gd name="T1" fmla="*/ 1139 h 344"/>
                <a:gd name="T2" fmla="*/ 405 w 1344"/>
                <a:gd name="T3" fmla="*/ 503 h 344"/>
                <a:gd name="T4" fmla="*/ 878 w 1344"/>
                <a:gd name="T5" fmla="*/ 185 h 344"/>
                <a:gd name="T6" fmla="*/ 1553 w 1344"/>
                <a:gd name="T7" fmla="*/ 26 h 344"/>
                <a:gd name="T8" fmla="*/ 1890 w 1344"/>
                <a:gd name="T9" fmla="*/ 26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FF99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3" name="AutoShape 17" descr="羊皮纸"/>
            <p:cNvSpPr>
              <a:spLocks noChangeArrowheads="1"/>
            </p:cNvSpPr>
            <p:nvPr/>
          </p:nvSpPr>
          <p:spPr bwMode="auto">
            <a:xfrm>
              <a:off x="3068" y="2685"/>
              <a:ext cx="907" cy="272"/>
            </a:xfrm>
            <a:prstGeom prst="wedgeRectCallout">
              <a:avLst>
                <a:gd name="adj1" fmla="val -81666"/>
                <a:gd name="adj2" fmla="val -151891"/>
              </a:avLst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零状态响应</a:t>
              </a:r>
            </a:p>
          </p:txBody>
        </p:sp>
      </p:grpSp>
      <p:grpSp>
        <p:nvGrpSpPr>
          <p:cNvPr id="55343" name="Group 47"/>
          <p:cNvGrpSpPr>
            <a:grpSpLocks/>
          </p:cNvGrpSpPr>
          <p:nvPr/>
        </p:nvGrpSpPr>
        <p:grpSpPr bwMode="auto">
          <a:xfrm>
            <a:off x="2771775" y="2692400"/>
            <a:ext cx="3424238" cy="1763713"/>
            <a:chOff x="1746" y="1696"/>
            <a:chExt cx="2157" cy="1111"/>
          </a:xfrm>
        </p:grpSpPr>
        <p:grpSp>
          <p:nvGrpSpPr>
            <p:cNvPr id="41996" name="Group 46"/>
            <p:cNvGrpSpPr>
              <a:grpSpLocks/>
            </p:cNvGrpSpPr>
            <p:nvPr/>
          </p:nvGrpSpPr>
          <p:grpSpPr bwMode="auto">
            <a:xfrm>
              <a:off x="2018" y="1696"/>
              <a:ext cx="1885" cy="1111"/>
              <a:chOff x="2038" y="1696"/>
              <a:chExt cx="1885" cy="1111"/>
            </a:xfrm>
          </p:grpSpPr>
          <p:sp>
            <p:nvSpPr>
              <p:cNvPr id="41998" name="Freeform 19"/>
              <p:cNvSpPr>
                <a:spLocks/>
              </p:cNvSpPr>
              <p:nvPr/>
            </p:nvSpPr>
            <p:spPr bwMode="auto">
              <a:xfrm>
                <a:off x="2038" y="2160"/>
                <a:ext cx="1885" cy="647"/>
              </a:xfrm>
              <a:custGeom>
                <a:avLst/>
                <a:gdLst>
                  <a:gd name="T0" fmla="*/ 0 w 1344"/>
                  <a:gd name="T1" fmla="*/ 647 h 344"/>
                  <a:gd name="T2" fmla="*/ 404 w 1344"/>
                  <a:gd name="T3" fmla="*/ 286 h 344"/>
                  <a:gd name="T4" fmla="*/ 875 w 1344"/>
                  <a:gd name="T5" fmla="*/ 105 h 344"/>
                  <a:gd name="T6" fmla="*/ 1548 w 1344"/>
                  <a:gd name="T7" fmla="*/ 15 h 344"/>
                  <a:gd name="T8" fmla="*/ 1885 w 1344"/>
                  <a:gd name="T9" fmla="*/ 15 h 3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4" h="344">
                    <a:moveTo>
                      <a:pt x="0" y="344"/>
                    </a:moveTo>
                    <a:cubicBezTo>
                      <a:pt x="92" y="272"/>
                      <a:pt x="184" y="200"/>
                      <a:pt x="288" y="152"/>
                    </a:cubicBezTo>
                    <a:cubicBezTo>
                      <a:pt x="392" y="104"/>
                      <a:pt x="488" y="80"/>
                      <a:pt x="624" y="56"/>
                    </a:cubicBezTo>
                    <a:cubicBezTo>
                      <a:pt x="760" y="32"/>
                      <a:pt x="984" y="16"/>
                      <a:pt x="1104" y="8"/>
                    </a:cubicBezTo>
                    <a:cubicBezTo>
                      <a:pt x="1224" y="0"/>
                      <a:pt x="1304" y="8"/>
                      <a:pt x="1344" y="8"/>
                    </a:cubicBezTo>
                  </a:path>
                </a:pathLst>
              </a:custGeom>
              <a:noFill/>
              <a:ln w="28575" cap="flat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9" name="AutoShape 21"/>
              <p:cNvSpPr>
                <a:spLocks noChangeArrowheads="1"/>
              </p:cNvSpPr>
              <p:nvPr/>
            </p:nvSpPr>
            <p:spPr bwMode="auto">
              <a:xfrm>
                <a:off x="2900" y="1696"/>
                <a:ext cx="635" cy="250"/>
              </a:xfrm>
              <a:prstGeom prst="wedgeRectCallout">
                <a:avLst>
                  <a:gd name="adj1" fmla="val -51458"/>
                  <a:gd name="adj2" fmla="val 186366"/>
                </a:avLst>
              </a:prstGeom>
              <a:solidFill>
                <a:srgbClr val="FFCC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zh-CN" altLang="en-US" sz="2000" dirty="0">
                    <a:solidFill>
                      <a:schemeClr val="tx1"/>
                    </a:solidFill>
                    <a:latin typeface="Times New Roman" pitchFamily="18" charset="0"/>
                  </a:rPr>
                  <a:t>全响应</a:t>
                </a:r>
              </a:p>
            </p:txBody>
          </p:sp>
        </p:grpSp>
        <p:sp>
          <p:nvSpPr>
            <p:cNvPr id="41997" name="Line 20"/>
            <p:cNvSpPr>
              <a:spLocks noChangeShapeType="1"/>
            </p:cNvSpPr>
            <p:nvPr/>
          </p:nvSpPr>
          <p:spPr bwMode="auto">
            <a:xfrm>
              <a:off x="1746" y="2795"/>
              <a:ext cx="2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5345" name="Group 49"/>
          <p:cNvGrpSpPr>
            <a:grpSpLocks/>
          </p:cNvGrpSpPr>
          <p:nvPr/>
        </p:nvGrpSpPr>
        <p:grpSpPr bwMode="auto">
          <a:xfrm>
            <a:off x="2600325" y="3876675"/>
            <a:ext cx="4859338" cy="2144713"/>
            <a:chOff x="1638" y="2442"/>
            <a:chExt cx="3061" cy="1351"/>
          </a:xfrm>
        </p:grpSpPr>
        <p:sp>
          <p:nvSpPr>
            <p:cNvPr id="41992" name="Freeform 26"/>
            <p:cNvSpPr>
              <a:spLocks/>
            </p:cNvSpPr>
            <p:nvPr/>
          </p:nvSpPr>
          <p:spPr bwMode="auto">
            <a:xfrm flipV="1">
              <a:off x="2018" y="2795"/>
              <a:ext cx="1957" cy="474"/>
            </a:xfrm>
            <a:custGeom>
              <a:avLst/>
              <a:gdLst>
                <a:gd name="T0" fmla="*/ 0 w 1344"/>
                <a:gd name="T1" fmla="*/ 474 h 344"/>
                <a:gd name="T2" fmla="*/ 419 w 1344"/>
                <a:gd name="T3" fmla="*/ 209 h 344"/>
                <a:gd name="T4" fmla="*/ 909 w 1344"/>
                <a:gd name="T5" fmla="*/ 77 h 344"/>
                <a:gd name="T6" fmla="*/ 1608 w 1344"/>
                <a:gd name="T7" fmla="*/ 11 h 344"/>
                <a:gd name="T8" fmla="*/ 1957 w 1344"/>
                <a:gd name="T9" fmla="*/ 11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00FF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3" name="AutoShape 27" descr="花束"/>
            <p:cNvSpPr>
              <a:spLocks noChangeArrowheads="1"/>
            </p:cNvSpPr>
            <p:nvPr/>
          </p:nvSpPr>
          <p:spPr bwMode="auto">
            <a:xfrm>
              <a:off x="3696" y="3521"/>
              <a:ext cx="1003" cy="272"/>
            </a:xfrm>
            <a:prstGeom prst="wedgeRectCallout">
              <a:avLst>
                <a:gd name="adj1" fmla="val -59085"/>
                <a:gd name="adj2" fmla="val -133272"/>
              </a:avLst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零输入响应</a:t>
              </a:r>
            </a:p>
          </p:txBody>
        </p:sp>
        <p:sp>
          <p:nvSpPr>
            <p:cNvPr id="41994" name="Text Box 28"/>
            <p:cNvSpPr txBox="1">
              <a:spLocks noChangeArrowheads="1"/>
            </p:cNvSpPr>
            <p:nvPr/>
          </p:nvSpPr>
          <p:spPr bwMode="auto">
            <a:xfrm>
              <a:off x="1638" y="2442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4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4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4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1995" name="Line 29"/>
            <p:cNvSpPr>
              <a:spLocks noChangeShapeType="1"/>
            </p:cNvSpPr>
            <p:nvPr/>
          </p:nvSpPr>
          <p:spPr bwMode="auto">
            <a:xfrm>
              <a:off x="1722" y="2795"/>
              <a:ext cx="296" cy="8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395288" y="692150"/>
            <a:ext cx="54006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4.1.4  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一阶电路的三要素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法</a:t>
            </a:r>
            <a:endParaRPr kumimoji="1" lang="zh-CN" altLang="en-US" sz="2400" dirty="0">
              <a:solidFill>
                <a:srgbClr val="99003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611188" y="1400939"/>
            <a:ext cx="50882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一阶电路的数学模型是一阶线性微分方程：</a:t>
            </a:r>
          </a:p>
        </p:txBody>
      </p:sp>
      <p:graphicFrame>
        <p:nvGraphicFramePr>
          <p:cNvPr id="512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261337"/>
              </p:ext>
            </p:extLst>
          </p:nvPr>
        </p:nvGraphicFramePr>
        <p:xfrm>
          <a:off x="4396705" y="3065256"/>
          <a:ext cx="2191519" cy="63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00" name="Equation" r:id="rId3" imgW="1143000" imgH="330120" progId="Equation.DSMT4">
                  <p:embed/>
                </p:oleObj>
              </mc:Choice>
              <mc:Fallback>
                <p:oleObj name="Equation" r:id="rId3" imgW="1143000" imgH="3301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6705" y="3065256"/>
                        <a:ext cx="2191519" cy="63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1295245" y="4336837"/>
            <a:ext cx="1512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令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0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</a:p>
        </p:txBody>
      </p:sp>
      <p:graphicFrame>
        <p:nvGraphicFramePr>
          <p:cNvPr id="512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390916"/>
              </p:ext>
            </p:extLst>
          </p:nvPr>
        </p:nvGraphicFramePr>
        <p:xfrm>
          <a:off x="3095625" y="4336837"/>
          <a:ext cx="2063551" cy="415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01" name="Equation" r:id="rId5" imgW="1168200" imgH="228600" progId="Equation.DSMT4">
                  <p:embed/>
                </p:oleObj>
              </mc:Choice>
              <mc:Fallback>
                <p:oleObj name="Equation" r:id="rId5" imgW="11682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336837"/>
                        <a:ext cx="2063551" cy="415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348171"/>
              </p:ext>
            </p:extLst>
          </p:nvPr>
        </p:nvGraphicFramePr>
        <p:xfrm>
          <a:off x="3131840" y="5517232"/>
          <a:ext cx="2281733" cy="45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02" name="Equation" r:id="rId7" imgW="1168200" imgH="228600" progId="Equation.DSMT4">
                  <p:embed/>
                </p:oleObj>
              </mc:Choice>
              <mc:Fallback>
                <p:oleObj name="Equation" r:id="rId7" imgW="116820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5517232"/>
                        <a:ext cx="2281733" cy="459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27576"/>
              </p:ext>
            </p:extLst>
          </p:nvPr>
        </p:nvGraphicFramePr>
        <p:xfrm>
          <a:off x="3095626" y="1965000"/>
          <a:ext cx="1589860" cy="815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03" name="Equation" r:id="rId9" imgW="850680" imgH="431640" progId="Equation.DSMT4">
                  <p:embed/>
                </p:oleObj>
              </mc:Choice>
              <mc:Fallback>
                <p:oleObj name="Equation" r:id="rId9" imgW="850680" imgH="4316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6" y="1965000"/>
                        <a:ext cx="1589860" cy="815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5" name="Text Box 15"/>
          <p:cNvSpPr txBox="1">
            <a:spLocks noChangeArrowheads="1"/>
          </p:cNvSpPr>
          <p:nvPr/>
        </p:nvSpPr>
        <p:spPr bwMode="auto">
          <a:xfrm>
            <a:off x="1043608" y="3302422"/>
            <a:ext cx="25074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其解答一般形式为：</a:t>
            </a:r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>
            <a:off x="1963156" y="5733256"/>
            <a:ext cx="8636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1239" name="AutoShape 39"/>
          <p:cNvSpPr>
            <a:spLocks noChangeArrowheads="1"/>
          </p:cNvSpPr>
          <p:nvPr/>
        </p:nvSpPr>
        <p:spPr bwMode="auto">
          <a:xfrm>
            <a:off x="5685917" y="2204864"/>
            <a:ext cx="1223962" cy="647700"/>
          </a:xfrm>
          <a:prstGeom prst="wedgeEllipseCallout">
            <a:avLst>
              <a:gd name="adj1" fmla="val -56316"/>
              <a:gd name="adj2" fmla="val 129461"/>
            </a:avLst>
          </a:prstGeom>
          <a:solidFill>
            <a:srgbClr val="92D050"/>
          </a:solidFill>
          <a:ln>
            <a:noFill/>
          </a:ln>
          <a:effectLst/>
          <a:extLst/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</a:rPr>
              <a:t>特解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/>
      <p:bldP spid="51207" grpId="0" build="p" autoUpdateAnimBg="0"/>
      <p:bldP spid="51209" grpId="0" build="p" autoUpdateAnimBg="0"/>
      <p:bldP spid="51215" grpId="0" autoUpdateAnimBg="0"/>
      <p:bldP spid="51216" grpId="0" animBg="1"/>
      <p:bldP spid="512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9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555034"/>
              </p:ext>
            </p:extLst>
          </p:nvPr>
        </p:nvGraphicFramePr>
        <p:xfrm>
          <a:off x="2551113" y="608013"/>
          <a:ext cx="42576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52" name="Equation" r:id="rId3" imgW="2120760" imgH="355320" progId="Equation.DSMT4">
                  <p:embed/>
                </p:oleObj>
              </mc:Choice>
              <mc:Fallback>
                <p:oleObj name="Equation" r:id="rId3" imgW="2120760" imgH="3553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608013"/>
                        <a:ext cx="4257675" cy="7112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6699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977944"/>
              </p:ext>
            </p:extLst>
          </p:nvPr>
        </p:nvGraphicFramePr>
        <p:xfrm>
          <a:off x="1876425" y="3673599"/>
          <a:ext cx="1309461" cy="1366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53" name="Equation" r:id="rId5" imgW="685800" imgH="711000" progId="Equation.DSMT4">
                  <p:embed/>
                </p:oleObj>
              </mc:Choice>
              <mc:Fallback>
                <p:oleObj name="Equation" r:id="rId5" imgW="685800" imgH="71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3673599"/>
                        <a:ext cx="1309461" cy="1366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7" name="Text Box 13" descr="绿色大理石"/>
          <p:cNvSpPr txBox="1">
            <a:spLocks noChangeArrowheads="1"/>
          </p:cNvSpPr>
          <p:nvPr/>
        </p:nvSpPr>
        <p:spPr bwMode="auto">
          <a:xfrm>
            <a:off x="1042988" y="5949280"/>
            <a:ext cx="6911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         </a:t>
            </a:r>
            <a:r>
              <a:rPr lang="zh-CN" altLang="en-US" sz="2000" dirty="0">
                <a:solidFill>
                  <a:schemeClr val="tx1"/>
                </a:solidFill>
              </a:rPr>
              <a:t>分析一阶电路问题转为求解电路的三个要素的问题。</a:t>
            </a:r>
          </a:p>
        </p:txBody>
      </p:sp>
      <p:sp>
        <p:nvSpPr>
          <p:cNvPr id="123918" name="Text Box 14"/>
          <p:cNvSpPr txBox="1">
            <a:spLocks noChangeArrowheads="1"/>
          </p:cNvSpPr>
          <p:nvPr/>
        </p:nvSpPr>
        <p:spPr bwMode="auto">
          <a:xfrm>
            <a:off x="4932363" y="4128990"/>
            <a:ext cx="34559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用</a:t>
            </a:r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  <a:r>
              <a:rPr lang="en-US" altLang="zh-CN" sz="2000" b="0" baseline="-25000" dirty="0">
                <a:solidFill>
                  <a:schemeClr val="tx1"/>
                </a:solidFill>
                <a:latin typeface="Times New Roman" pitchFamily="18" charset="0"/>
              </a:rPr>
              <a:t>+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等效电路求解</a:t>
            </a:r>
          </a:p>
        </p:txBody>
      </p:sp>
      <p:sp>
        <p:nvSpPr>
          <p:cNvPr id="123919" name="Text Box 15"/>
          <p:cNvSpPr txBox="1">
            <a:spLocks noChangeArrowheads="1"/>
          </p:cNvSpPr>
          <p:nvPr/>
        </p:nvSpPr>
        <p:spPr bwMode="auto">
          <a:xfrm>
            <a:off x="4932363" y="3656630"/>
            <a:ext cx="32400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用</a:t>
            </a:r>
            <a:r>
              <a:rPr lang="en-US" altLang="zh-CN" sz="2000" b="0" i="1" dirty="0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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  <a:sym typeface="Symbol" pitchFamily="18" charset="2"/>
              </a:rPr>
              <a:t>的稳态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电路求解</a:t>
            </a:r>
          </a:p>
        </p:txBody>
      </p:sp>
      <p:sp>
        <p:nvSpPr>
          <p:cNvPr id="123920" name="Line 16"/>
          <p:cNvSpPr>
            <a:spLocks noChangeShapeType="1"/>
          </p:cNvSpPr>
          <p:nvPr/>
        </p:nvSpPr>
        <p:spPr bwMode="auto">
          <a:xfrm>
            <a:off x="4320382" y="3889375"/>
            <a:ext cx="576262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23921" name="Line 17"/>
          <p:cNvSpPr>
            <a:spLocks noChangeShapeType="1"/>
          </p:cNvSpPr>
          <p:nvPr/>
        </p:nvSpPr>
        <p:spPr bwMode="auto">
          <a:xfrm>
            <a:off x="4320382" y="4344890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23937" name="Group 33"/>
          <p:cNvGrpSpPr>
            <a:grpSpLocks/>
          </p:cNvGrpSpPr>
          <p:nvPr/>
        </p:nvGrpSpPr>
        <p:grpSpPr bwMode="auto">
          <a:xfrm>
            <a:off x="684213" y="1628777"/>
            <a:ext cx="5256213" cy="458788"/>
            <a:chOff x="431" y="1071"/>
            <a:chExt cx="3311" cy="289"/>
          </a:xfrm>
        </p:grpSpPr>
        <p:sp>
          <p:nvSpPr>
            <p:cNvPr id="47122" name="Rectangle 27"/>
            <p:cNvSpPr>
              <a:spLocks noChangeArrowheads="1"/>
            </p:cNvSpPr>
            <p:nvPr/>
          </p:nvSpPr>
          <p:spPr bwMode="auto">
            <a:xfrm>
              <a:off x="431" y="1104"/>
              <a:ext cx="109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 dirty="0">
                  <a:solidFill>
                    <a:schemeClr val="tx1"/>
                  </a:solidFill>
                </a:rPr>
                <a:t>直流激励时：</a:t>
              </a:r>
            </a:p>
          </p:txBody>
        </p:sp>
        <p:graphicFrame>
          <p:nvGraphicFramePr>
            <p:cNvPr id="47123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4424437"/>
                </p:ext>
              </p:extLst>
            </p:nvPr>
          </p:nvGraphicFramePr>
          <p:xfrm>
            <a:off x="2091" y="1071"/>
            <a:ext cx="165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54" name="Equation" r:id="rId7" imgW="1358640" imgH="228600" progId="Equation.DSMT4">
                    <p:embed/>
                  </p:oleObj>
                </mc:Choice>
                <mc:Fallback>
                  <p:oleObj name="Equation" r:id="rId7" imgW="1358640" imgH="2286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1" y="1071"/>
                          <a:ext cx="165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3940" name="Group 36"/>
          <p:cNvGrpSpPr>
            <a:grpSpLocks/>
          </p:cNvGrpSpPr>
          <p:nvPr/>
        </p:nvGrpSpPr>
        <p:grpSpPr bwMode="auto">
          <a:xfrm>
            <a:off x="1331912" y="2133602"/>
            <a:ext cx="5353050" cy="1168401"/>
            <a:chOff x="839" y="1299"/>
            <a:chExt cx="3372" cy="736"/>
          </a:xfrm>
        </p:grpSpPr>
        <p:sp>
          <p:nvSpPr>
            <p:cNvPr id="47118" name="Line 31"/>
            <p:cNvSpPr>
              <a:spLocks noChangeShapeType="1"/>
            </p:cNvSpPr>
            <p:nvPr/>
          </p:nvSpPr>
          <p:spPr bwMode="auto">
            <a:xfrm>
              <a:off x="839" y="1888"/>
              <a:ext cx="408" cy="0"/>
            </a:xfrm>
            <a:prstGeom prst="line">
              <a:avLst/>
            </a:prstGeom>
            <a:noFill/>
            <a:ln w="76200">
              <a:solidFill>
                <a:srgbClr val="0099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aphicFrame>
          <p:nvGraphicFramePr>
            <p:cNvPr id="47119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6931786"/>
                </p:ext>
              </p:extLst>
            </p:nvPr>
          </p:nvGraphicFramePr>
          <p:xfrm>
            <a:off x="1639" y="1570"/>
            <a:ext cx="2572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55" name="Equation" r:id="rId9" imgW="2031840" imgH="355320" progId="Equation.DSMT4">
                    <p:embed/>
                  </p:oleObj>
                </mc:Choice>
                <mc:Fallback>
                  <p:oleObj name="Equation" r:id="rId9" imgW="2031840" imgH="35532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9" y="1570"/>
                          <a:ext cx="2572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0" name="AutoShape 34"/>
            <p:cNvSpPr>
              <a:spLocks/>
            </p:cNvSpPr>
            <p:nvPr/>
          </p:nvSpPr>
          <p:spPr bwMode="auto">
            <a:xfrm rot="5400000">
              <a:off x="3252" y="1108"/>
              <a:ext cx="162" cy="1088"/>
            </a:xfrm>
            <a:prstGeom prst="leftBrace">
              <a:avLst>
                <a:gd name="adj1" fmla="val 60214"/>
                <a:gd name="adj2" fmla="val 49448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7121" name="Text Box 35"/>
            <p:cNvSpPr txBox="1">
              <a:spLocks noChangeArrowheads="1"/>
            </p:cNvSpPr>
            <p:nvPr/>
          </p:nvSpPr>
          <p:spPr bwMode="auto">
            <a:xfrm>
              <a:off x="3152" y="1299"/>
              <a:ext cx="45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k</a:t>
              </a:r>
            </a:p>
          </p:txBody>
        </p:sp>
      </p:grpSp>
      <p:grpSp>
        <p:nvGrpSpPr>
          <p:cNvPr id="123941" name="Group 37"/>
          <p:cNvGrpSpPr>
            <a:grpSpLocks/>
          </p:cNvGrpSpPr>
          <p:nvPr/>
        </p:nvGrpSpPr>
        <p:grpSpPr bwMode="auto">
          <a:xfrm>
            <a:off x="395288" y="5170388"/>
            <a:ext cx="1550988" cy="850900"/>
            <a:chOff x="385" y="3022"/>
            <a:chExt cx="977" cy="536"/>
          </a:xfrm>
        </p:grpSpPr>
        <p:pic>
          <p:nvPicPr>
            <p:cNvPr id="47116" name="Picture 38" descr="123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17" name="Text Box 39"/>
            <p:cNvSpPr txBox="1">
              <a:spLocks noChangeArrowheads="1"/>
            </p:cNvSpPr>
            <p:nvPr/>
          </p:nvSpPr>
          <p:spPr bwMode="auto">
            <a:xfrm>
              <a:off x="793" y="3182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sp>
        <p:nvSpPr>
          <p:cNvPr id="20" name="Text Box 13" descr="绿色大理石"/>
          <p:cNvSpPr txBox="1">
            <a:spLocks noChangeArrowheads="1"/>
          </p:cNvSpPr>
          <p:nvPr/>
        </p:nvSpPr>
        <p:spPr bwMode="auto">
          <a:xfrm>
            <a:off x="1046932" y="4118947"/>
            <a:ext cx="1076796" cy="427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 smtClean="0">
                <a:solidFill>
                  <a:schemeClr val="tx1"/>
                </a:solidFill>
              </a:rPr>
              <a:t>三要素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Text Box 13" descr="绿色大理石"/>
          <p:cNvSpPr txBox="1">
            <a:spLocks noChangeArrowheads="1"/>
          </p:cNvSpPr>
          <p:nvPr/>
        </p:nvSpPr>
        <p:spPr bwMode="auto">
          <a:xfrm>
            <a:off x="3059832" y="3669831"/>
            <a:ext cx="1076796" cy="427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 smtClean="0">
                <a:solidFill>
                  <a:schemeClr val="tx1"/>
                </a:solidFill>
              </a:rPr>
              <a:t>稳态解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2" name="Text Box 13" descr="绿色大理石"/>
          <p:cNvSpPr txBox="1">
            <a:spLocks noChangeArrowheads="1"/>
          </p:cNvSpPr>
          <p:nvPr/>
        </p:nvSpPr>
        <p:spPr bwMode="auto">
          <a:xfrm>
            <a:off x="3086610" y="4115172"/>
            <a:ext cx="1076796" cy="427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 smtClean="0">
                <a:solidFill>
                  <a:schemeClr val="tx1"/>
                </a:solidFill>
              </a:rPr>
              <a:t>初始值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3" name="Text Box 13" descr="绿色大理石"/>
          <p:cNvSpPr txBox="1">
            <a:spLocks noChangeArrowheads="1"/>
          </p:cNvSpPr>
          <p:nvPr/>
        </p:nvSpPr>
        <p:spPr bwMode="auto">
          <a:xfrm>
            <a:off x="3100257" y="4581128"/>
            <a:ext cx="15576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 smtClean="0">
                <a:solidFill>
                  <a:schemeClr val="tx1"/>
                </a:solidFill>
              </a:rPr>
              <a:t>时间常数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3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3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2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7" grpId="0"/>
      <p:bldP spid="123918" grpId="0"/>
      <p:bldP spid="123919" grpId="0"/>
      <p:bldP spid="123920" grpId="0" animBg="1"/>
      <p:bldP spid="123921" grpId="0" animBg="1"/>
      <p:bldP spid="20" grpId="0"/>
      <p:bldP spid="21" grpId="0"/>
      <p:bldP spid="22" grpId="0"/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4932363" y="1917856"/>
            <a:ext cx="248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4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4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)=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</a:t>
            </a:r>
            <a:r>
              <a:rPr kumimoji="1" lang="en-US" altLang="zh-CN" sz="24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4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)=0</a:t>
            </a:r>
          </a:p>
        </p:txBody>
      </p:sp>
      <p:graphicFrame>
        <p:nvGraphicFramePr>
          <p:cNvPr id="173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326281"/>
              </p:ext>
            </p:extLst>
          </p:nvPr>
        </p:nvGraphicFramePr>
        <p:xfrm>
          <a:off x="4378325" y="4246563"/>
          <a:ext cx="3043238" cy="79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98" name="Equation" r:id="rId3" imgW="1485720" imgH="380880" progId="Equation.DSMT4">
                  <p:embed/>
                </p:oleObj>
              </mc:Choice>
              <mc:Fallback>
                <p:oleObj name="Equation" r:id="rId3" imgW="1485720" imgH="3808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4246563"/>
                        <a:ext cx="3043238" cy="796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1" name="Text Box 5"/>
          <p:cNvSpPr txBox="1">
            <a:spLocks noChangeArrowheads="1"/>
          </p:cNvSpPr>
          <p:nvPr/>
        </p:nvSpPr>
        <p:spPr bwMode="auto">
          <a:xfrm>
            <a:off x="3419475" y="1989138"/>
            <a:ext cx="9589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已知：</a:t>
            </a:r>
          </a:p>
        </p:txBody>
      </p:sp>
      <p:sp>
        <p:nvSpPr>
          <p:cNvPr id="173063" name="Text Box 7"/>
          <p:cNvSpPr txBox="1">
            <a:spLocks noChangeArrowheads="1"/>
          </p:cNvSpPr>
          <p:nvPr/>
        </p:nvSpPr>
        <p:spPr bwMode="auto">
          <a:xfrm>
            <a:off x="1195388" y="4510088"/>
            <a:ext cx="25074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以电容电压为变量：</a:t>
            </a:r>
          </a:p>
        </p:txBody>
      </p:sp>
      <p:sp>
        <p:nvSpPr>
          <p:cNvPr id="173064" name="Text Box 8"/>
          <p:cNvSpPr txBox="1">
            <a:spLocks noChangeArrowheads="1"/>
          </p:cNvSpPr>
          <p:nvPr/>
        </p:nvSpPr>
        <p:spPr bwMode="auto">
          <a:xfrm>
            <a:off x="3419475" y="2636838"/>
            <a:ext cx="147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电路方程：</a:t>
            </a:r>
          </a:p>
        </p:txBody>
      </p:sp>
      <p:graphicFrame>
        <p:nvGraphicFramePr>
          <p:cNvPr id="1730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613040"/>
              </p:ext>
            </p:extLst>
          </p:nvPr>
        </p:nvGraphicFramePr>
        <p:xfrm>
          <a:off x="5004048" y="2588691"/>
          <a:ext cx="1841500" cy="450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99" name="Equation" r:id="rId5" imgW="876240" imgH="203040" progId="Equation.DSMT4">
                  <p:embed/>
                </p:oleObj>
              </mc:Choice>
              <mc:Fallback>
                <p:oleObj name="Equation" r:id="rId5" imgW="87624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2588691"/>
                        <a:ext cx="1841500" cy="450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444806"/>
              </p:ext>
            </p:extLst>
          </p:nvPr>
        </p:nvGraphicFramePr>
        <p:xfrm>
          <a:off x="4502150" y="3311525"/>
          <a:ext cx="29178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00" name="Equation" r:id="rId7" imgW="1307880" imgH="355320" progId="Equation.DSMT4">
                  <p:embed/>
                </p:oleObj>
              </mc:Choice>
              <mc:Fallback>
                <p:oleObj name="Equation" r:id="rId7" imgW="1307880" imgH="3553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3311525"/>
                        <a:ext cx="29178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7" name="Text Box 11"/>
          <p:cNvSpPr txBox="1">
            <a:spLocks noChangeArrowheads="1"/>
          </p:cNvSpPr>
          <p:nvPr/>
        </p:nvSpPr>
        <p:spPr bwMode="auto">
          <a:xfrm>
            <a:off x="1200486" y="5508957"/>
            <a:ext cx="25074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以电感电流为变量：</a:t>
            </a:r>
          </a:p>
        </p:txBody>
      </p:sp>
      <p:graphicFrame>
        <p:nvGraphicFramePr>
          <p:cNvPr id="1730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736839"/>
              </p:ext>
            </p:extLst>
          </p:nvPr>
        </p:nvGraphicFramePr>
        <p:xfrm>
          <a:off x="4378392" y="5322114"/>
          <a:ext cx="2627089" cy="792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201" name="Equation" r:id="rId9" imgW="1231560" imgH="368280" progId="Equation.DSMT4">
                  <p:embed/>
                </p:oleObj>
              </mc:Choice>
              <mc:Fallback>
                <p:oleObj name="Equation" r:id="rId9" imgW="1231560" imgH="3682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92" y="5322114"/>
                        <a:ext cx="2627089" cy="792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6" name="Rectangle 49"/>
          <p:cNvSpPr>
            <a:spLocks noChangeArrowheads="1"/>
          </p:cNvSpPr>
          <p:nvPr/>
        </p:nvSpPr>
        <p:spPr bwMode="auto">
          <a:xfrm>
            <a:off x="250825" y="1268413"/>
            <a:ext cx="41809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4.2.1  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二阶电路的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零输入响应</a:t>
            </a:r>
          </a:p>
        </p:txBody>
      </p:sp>
      <p:grpSp>
        <p:nvGrpSpPr>
          <p:cNvPr id="173111" name="Group 55"/>
          <p:cNvGrpSpPr>
            <a:grpSpLocks/>
          </p:cNvGrpSpPr>
          <p:nvPr/>
        </p:nvGrpSpPr>
        <p:grpSpPr bwMode="auto">
          <a:xfrm>
            <a:off x="258763" y="2206626"/>
            <a:ext cx="3060700" cy="1835151"/>
            <a:chOff x="163" y="1390"/>
            <a:chExt cx="1928" cy="1156"/>
          </a:xfrm>
        </p:grpSpPr>
        <p:sp>
          <p:nvSpPr>
            <p:cNvPr id="57358" name="Line 20"/>
            <p:cNvSpPr>
              <a:spLocks noChangeShapeType="1"/>
            </p:cNvSpPr>
            <p:nvPr/>
          </p:nvSpPr>
          <p:spPr bwMode="auto">
            <a:xfrm>
              <a:off x="1701" y="1525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359" name="Line 21"/>
            <p:cNvSpPr>
              <a:spLocks noChangeShapeType="1"/>
            </p:cNvSpPr>
            <p:nvPr/>
          </p:nvSpPr>
          <p:spPr bwMode="auto">
            <a:xfrm>
              <a:off x="1701" y="2251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360" name="Line 22"/>
            <p:cNvSpPr>
              <a:spLocks noChangeShapeType="1"/>
            </p:cNvSpPr>
            <p:nvPr/>
          </p:nvSpPr>
          <p:spPr bwMode="auto">
            <a:xfrm>
              <a:off x="522" y="2478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361" name="Line 23"/>
            <p:cNvSpPr>
              <a:spLocks noChangeShapeType="1"/>
            </p:cNvSpPr>
            <p:nvPr/>
          </p:nvSpPr>
          <p:spPr bwMode="auto">
            <a:xfrm>
              <a:off x="522" y="1525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362" name="Line 24"/>
            <p:cNvSpPr>
              <a:spLocks noChangeShapeType="1"/>
            </p:cNvSpPr>
            <p:nvPr/>
          </p:nvSpPr>
          <p:spPr bwMode="auto">
            <a:xfrm flipH="1">
              <a:off x="522" y="2024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363" name="Rectangle 25"/>
            <p:cNvSpPr>
              <a:spLocks noChangeArrowheads="1"/>
            </p:cNvSpPr>
            <p:nvPr/>
          </p:nvSpPr>
          <p:spPr bwMode="auto">
            <a:xfrm>
              <a:off x="1066" y="2115"/>
              <a:ext cx="34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7364" name="Rectangle 26"/>
            <p:cNvSpPr>
              <a:spLocks noChangeArrowheads="1"/>
            </p:cNvSpPr>
            <p:nvPr/>
          </p:nvSpPr>
          <p:spPr bwMode="auto">
            <a:xfrm>
              <a:off x="1474" y="1888"/>
              <a:ext cx="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7365" name="Rectangle 27"/>
            <p:cNvSpPr>
              <a:spLocks noChangeArrowheads="1"/>
            </p:cNvSpPr>
            <p:nvPr/>
          </p:nvSpPr>
          <p:spPr bwMode="auto">
            <a:xfrm>
              <a:off x="163" y="1846"/>
              <a:ext cx="31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7366" name="Rectangle 28"/>
            <p:cNvSpPr>
              <a:spLocks noChangeArrowheads="1"/>
            </p:cNvSpPr>
            <p:nvPr/>
          </p:nvSpPr>
          <p:spPr bwMode="auto">
            <a:xfrm>
              <a:off x="567" y="1616"/>
              <a:ext cx="12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57367" name="Rectangle 29"/>
            <p:cNvSpPr>
              <a:spLocks noChangeArrowheads="1"/>
            </p:cNvSpPr>
            <p:nvPr/>
          </p:nvSpPr>
          <p:spPr bwMode="auto">
            <a:xfrm>
              <a:off x="567" y="20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57368" name="Rectangle 30"/>
            <p:cNvSpPr>
              <a:spLocks noChangeArrowheads="1"/>
            </p:cNvSpPr>
            <p:nvPr/>
          </p:nvSpPr>
          <p:spPr bwMode="auto">
            <a:xfrm>
              <a:off x="1247" y="1570"/>
              <a:ext cx="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endParaRPr kumimoji="1" lang="en-US" altLang="zh-CN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7369" name="Text Box 31"/>
            <p:cNvSpPr txBox="1">
              <a:spLocks noChangeArrowheads="1"/>
            </p:cNvSpPr>
            <p:nvPr/>
          </p:nvSpPr>
          <p:spPr bwMode="auto">
            <a:xfrm>
              <a:off x="612" y="1797"/>
              <a:ext cx="28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7370" name="Line 32"/>
            <p:cNvSpPr>
              <a:spLocks noChangeShapeType="1"/>
            </p:cNvSpPr>
            <p:nvPr/>
          </p:nvSpPr>
          <p:spPr bwMode="auto">
            <a:xfrm>
              <a:off x="522" y="1525"/>
              <a:ext cx="45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371" name="Line 33"/>
            <p:cNvSpPr>
              <a:spLocks noChangeShapeType="1"/>
            </p:cNvSpPr>
            <p:nvPr/>
          </p:nvSpPr>
          <p:spPr bwMode="auto">
            <a:xfrm>
              <a:off x="1202" y="1525"/>
              <a:ext cx="49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372" name="Line 34"/>
            <p:cNvSpPr>
              <a:spLocks noChangeShapeType="1"/>
            </p:cNvSpPr>
            <p:nvPr/>
          </p:nvSpPr>
          <p:spPr bwMode="auto">
            <a:xfrm flipV="1">
              <a:off x="975" y="1434"/>
              <a:ext cx="227" cy="9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373" name="Line 35"/>
            <p:cNvSpPr>
              <a:spLocks noChangeShapeType="1"/>
            </p:cNvSpPr>
            <p:nvPr/>
          </p:nvSpPr>
          <p:spPr bwMode="auto">
            <a:xfrm>
              <a:off x="1034" y="1390"/>
              <a:ext cx="90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374" name="Line 36"/>
            <p:cNvSpPr>
              <a:spLocks noChangeShapeType="1"/>
            </p:cNvSpPr>
            <p:nvPr/>
          </p:nvSpPr>
          <p:spPr bwMode="auto">
            <a:xfrm>
              <a:off x="1338" y="1616"/>
              <a:ext cx="272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57375" name="Group 37"/>
            <p:cNvGrpSpPr>
              <a:grpSpLocks/>
            </p:cNvGrpSpPr>
            <p:nvPr/>
          </p:nvGrpSpPr>
          <p:grpSpPr bwMode="auto">
            <a:xfrm>
              <a:off x="398" y="1945"/>
              <a:ext cx="240" cy="78"/>
              <a:chOff x="4616" y="2490"/>
              <a:chExt cx="240" cy="78"/>
            </a:xfrm>
          </p:grpSpPr>
          <p:sp>
            <p:nvSpPr>
              <p:cNvPr id="57384" name="Line 38"/>
              <p:cNvSpPr>
                <a:spLocks noChangeShapeType="1"/>
              </p:cNvSpPr>
              <p:nvPr/>
            </p:nvSpPr>
            <p:spPr bwMode="auto">
              <a:xfrm>
                <a:off x="4616" y="249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385" name="Line 39"/>
              <p:cNvSpPr>
                <a:spLocks noChangeShapeType="1"/>
              </p:cNvSpPr>
              <p:nvPr/>
            </p:nvSpPr>
            <p:spPr bwMode="auto">
              <a:xfrm>
                <a:off x="4616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7376" name="Group 40"/>
            <p:cNvGrpSpPr>
              <a:grpSpLocks/>
            </p:cNvGrpSpPr>
            <p:nvPr/>
          </p:nvGrpSpPr>
          <p:grpSpPr bwMode="auto">
            <a:xfrm rot="5400000">
              <a:off x="1528" y="1932"/>
              <a:ext cx="383" cy="192"/>
              <a:chOff x="529" y="635"/>
              <a:chExt cx="592" cy="281"/>
            </a:xfrm>
          </p:grpSpPr>
          <p:sp>
            <p:nvSpPr>
              <p:cNvPr id="57381" name="AutoShape 41"/>
              <p:cNvSpPr>
                <a:spLocks noChangeArrowheads="1"/>
              </p:cNvSpPr>
              <p:nvPr/>
            </p:nvSpPr>
            <p:spPr bwMode="auto">
              <a:xfrm>
                <a:off x="529" y="635"/>
                <a:ext cx="138" cy="281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382" name="AutoShape 42"/>
              <p:cNvSpPr>
                <a:spLocks noChangeArrowheads="1"/>
              </p:cNvSpPr>
              <p:nvPr/>
            </p:nvSpPr>
            <p:spPr bwMode="auto">
              <a:xfrm>
                <a:off x="755" y="635"/>
                <a:ext cx="139" cy="281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383" name="AutoShape 43"/>
              <p:cNvSpPr>
                <a:spLocks noChangeArrowheads="1"/>
              </p:cNvSpPr>
              <p:nvPr/>
            </p:nvSpPr>
            <p:spPr bwMode="auto">
              <a:xfrm>
                <a:off x="982" y="635"/>
                <a:ext cx="139" cy="281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7377" name="Rectangle 44"/>
            <p:cNvSpPr>
              <a:spLocks noChangeArrowheads="1"/>
            </p:cNvSpPr>
            <p:nvPr/>
          </p:nvSpPr>
          <p:spPr bwMode="auto">
            <a:xfrm>
              <a:off x="975" y="241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378" name="Rectangle 50"/>
            <p:cNvSpPr>
              <a:spLocks noChangeArrowheads="1"/>
            </p:cNvSpPr>
            <p:nvPr/>
          </p:nvSpPr>
          <p:spPr bwMode="auto">
            <a:xfrm>
              <a:off x="1746" y="1616"/>
              <a:ext cx="18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57379" name="Rectangle 51"/>
            <p:cNvSpPr>
              <a:spLocks noChangeArrowheads="1"/>
            </p:cNvSpPr>
            <p:nvPr/>
          </p:nvSpPr>
          <p:spPr bwMode="auto">
            <a:xfrm>
              <a:off x="1791" y="216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57380" name="Text Box 52"/>
            <p:cNvSpPr txBox="1">
              <a:spLocks noChangeArrowheads="1"/>
            </p:cNvSpPr>
            <p:nvPr/>
          </p:nvSpPr>
          <p:spPr bwMode="auto">
            <a:xfrm>
              <a:off x="1791" y="1797"/>
              <a:ext cx="3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43" name="Rectangle 64"/>
          <p:cNvSpPr>
            <a:spLocks noChangeArrowheads="1"/>
          </p:cNvSpPr>
          <p:nvPr/>
        </p:nvSpPr>
        <p:spPr bwMode="auto">
          <a:xfrm>
            <a:off x="666750" y="407521"/>
            <a:ext cx="7515225" cy="523220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CN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 </a:t>
            </a:r>
            <a:r>
              <a:rPr lang="zh-CN" altLang="en-US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二阶电路</a:t>
            </a:r>
            <a:r>
              <a:rPr lang="zh-CN" altLang="en-US" dirty="0">
                <a:solidFill>
                  <a:schemeClr val="tx2"/>
                </a:solidFill>
              </a:rPr>
              <a:t>的</a:t>
            </a:r>
            <a:r>
              <a:rPr lang="zh-CN" altLang="en-US" dirty="0" smtClean="0">
                <a:solidFill>
                  <a:schemeClr val="tx2"/>
                </a:solidFill>
              </a:rPr>
              <a:t>响应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 autoUpdateAnimBg="0"/>
      <p:bldP spid="173061" grpId="0" autoUpdateAnimBg="0"/>
      <p:bldP spid="173063" grpId="0" autoUpdateAnimBg="0"/>
      <p:bldP spid="173064" grpId="0" autoUpdateAnimBg="0"/>
      <p:bldP spid="17306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059631"/>
              </p:ext>
            </p:extLst>
          </p:nvPr>
        </p:nvGraphicFramePr>
        <p:xfrm>
          <a:off x="3059833" y="5697332"/>
          <a:ext cx="2160662" cy="395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92" name="Equation" r:id="rId3" imgW="1180800" imgH="203040" progId="Equation.DSMT4">
                  <p:embed/>
                </p:oleObj>
              </mc:Choice>
              <mc:Fallback>
                <p:oleObj name="Equation" r:id="rId3" imgW="118080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3" y="5697332"/>
                        <a:ext cx="2160662" cy="395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1007181" y="5677312"/>
            <a:ext cx="147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特征方程：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1011593" y="4869305"/>
            <a:ext cx="147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电路方程：</a:t>
            </a:r>
          </a:p>
        </p:txBody>
      </p:sp>
      <p:graphicFrame>
        <p:nvGraphicFramePr>
          <p:cNvPr id="174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859227"/>
              </p:ext>
            </p:extLst>
          </p:nvPr>
        </p:nvGraphicFramePr>
        <p:xfrm>
          <a:off x="3018482" y="4663388"/>
          <a:ext cx="3107035" cy="811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93" name="Equation" r:id="rId5" imgW="1485720" imgH="380880" progId="Equation.DSMT4">
                  <p:embed/>
                </p:oleObj>
              </mc:Choice>
              <mc:Fallback>
                <p:oleObj name="Equation" r:id="rId5" imgW="1485720" imgH="3808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482" y="4663388"/>
                        <a:ext cx="3107035" cy="8119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11188" y="708437"/>
            <a:ext cx="40559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>
                <a:solidFill>
                  <a:schemeClr val="tx1"/>
                </a:solidFill>
              </a:rPr>
              <a:t>以电容电压为变量时的</a:t>
            </a: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初始条件：</a:t>
            </a:r>
          </a:p>
        </p:txBody>
      </p:sp>
      <p:sp>
        <p:nvSpPr>
          <p:cNvPr id="174087" name="Text Box 7"/>
          <p:cNvSpPr txBox="1">
            <a:spLocks noChangeArrowheads="1"/>
          </p:cNvSpPr>
          <p:nvPr/>
        </p:nvSpPr>
        <p:spPr bwMode="auto">
          <a:xfrm>
            <a:off x="1403350" y="1332325"/>
            <a:ext cx="11929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)=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3419475" y="1332325"/>
            <a:ext cx="9220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)=0</a:t>
            </a:r>
          </a:p>
        </p:txBody>
      </p:sp>
      <p:sp>
        <p:nvSpPr>
          <p:cNvPr id="174089" name="Line 9"/>
          <p:cNvSpPr>
            <a:spLocks noChangeShapeType="1"/>
          </p:cNvSpPr>
          <p:nvPr/>
        </p:nvSpPr>
        <p:spPr bwMode="auto">
          <a:xfrm>
            <a:off x="4932363" y="1539536"/>
            <a:ext cx="576262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1740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028518"/>
              </p:ext>
            </p:extLst>
          </p:nvPr>
        </p:nvGraphicFramePr>
        <p:xfrm>
          <a:off x="6084168" y="1108547"/>
          <a:ext cx="1719263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94" name="Equation" r:id="rId7" imgW="698400" imgH="419040" progId="Equation.DSMT4">
                  <p:embed/>
                </p:oleObj>
              </mc:Choice>
              <mc:Fallback>
                <p:oleObj name="Equation" r:id="rId7" imgW="698400" imgH="419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1108547"/>
                        <a:ext cx="1719263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91" name="Text Box 11"/>
          <p:cNvSpPr txBox="1">
            <a:spLocks noChangeArrowheads="1"/>
          </p:cNvSpPr>
          <p:nvPr/>
        </p:nvSpPr>
        <p:spPr bwMode="auto">
          <a:xfrm>
            <a:off x="611188" y="2076862"/>
            <a:ext cx="40559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>
                <a:solidFill>
                  <a:schemeClr val="tx1"/>
                </a:solidFill>
              </a:rPr>
              <a:t>以电感电流为变量时的</a:t>
            </a: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初始条件：</a:t>
            </a:r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827088" y="2772187"/>
            <a:ext cx="9220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000" b="0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)=0</a:t>
            </a:r>
          </a:p>
        </p:txBody>
      </p:sp>
      <p:sp>
        <p:nvSpPr>
          <p:cNvPr id="174093" name="Text Box 13"/>
          <p:cNvSpPr txBox="1">
            <a:spLocks noChangeArrowheads="1"/>
          </p:cNvSpPr>
          <p:nvPr/>
        </p:nvSpPr>
        <p:spPr bwMode="auto">
          <a:xfrm>
            <a:off x="2627313" y="2772187"/>
            <a:ext cx="11929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000" b="0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)=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000" b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74094" name="Line 14"/>
          <p:cNvSpPr>
            <a:spLocks noChangeShapeType="1"/>
          </p:cNvSpPr>
          <p:nvPr/>
        </p:nvSpPr>
        <p:spPr bwMode="auto">
          <a:xfrm>
            <a:off x="4572000" y="3013487"/>
            <a:ext cx="576263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1740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459267"/>
              </p:ext>
            </p:extLst>
          </p:nvPr>
        </p:nvGraphicFramePr>
        <p:xfrm>
          <a:off x="1331913" y="3404012"/>
          <a:ext cx="384492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95" name="Equation" r:id="rId9" imgW="1726920" imgH="419040" progId="Equation.DSMT4">
                  <p:embed/>
                </p:oleObj>
              </mc:Choice>
              <mc:Fallback>
                <p:oleObj name="Equation" r:id="rId9" imgW="1726920" imgH="4190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404012"/>
                        <a:ext cx="3844925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96" name="Line 16"/>
          <p:cNvSpPr>
            <a:spLocks noChangeShapeType="1"/>
          </p:cNvSpPr>
          <p:nvPr/>
        </p:nvSpPr>
        <p:spPr bwMode="auto">
          <a:xfrm>
            <a:off x="5867400" y="3805650"/>
            <a:ext cx="576263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1740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164930"/>
              </p:ext>
            </p:extLst>
          </p:nvPr>
        </p:nvGraphicFramePr>
        <p:xfrm>
          <a:off x="6827838" y="3332575"/>
          <a:ext cx="157162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96" name="Equation" r:id="rId11" imgW="698400" imgH="419040" progId="Equation.DSMT4">
                  <p:embed/>
                </p:oleObj>
              </mc:Choice>
              <mc:Fallback>
                <p:oleObj name="Equation" r:id="rId11" imgW="698400" imgH="4190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7838" y="3332575"/>
                        <a:ext cx="1571625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17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7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17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17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7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17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autoUpdateAnimBg="0"/>
      <p:bldP spid="174084" grpId="0" autoUpdateAnimBg="0"/>
      <p:bldP spid="174086" grpId="0" autoUpdateAnimBg="0"/>
      <p:bldP spid="174087" grpId="0" autoUpdateAnimBg="0"/>
      <p:bldP spid="174088" grpId="0" autoUpdateAnimBg="0"/>
      <p:bldP spid="174089" grpId="0" animBg="1"/>
      <p:bldP spid="174091" grpId="0" autoUpdateAnimBg="0"/>
      <p:bldP spid="174092" grpId="0" autoUpdateAnimBg="0"/>
      <p:bldP spid="174093" grpId="0" autoUpdateAnimBg="0"/>
      <p:bldP spid="174094" grpId="0" animBg="1"/>
      <p:bldP spid="17409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ChangeArrowheads="1"/>
          </p:cNvSpPr>
          <p:nvPr/>
        </p:nvSpPr>
        <p:spPr bwMode="auto">
          <a:xfrm>
            <a:off x="768301" y="1925167"/>
            <a:ext cx="3456756" cy="461665"/>
          </a:xfrm>
          <a:prstGeom prst="rect">
            <a:avLst/>
          </a:prstGeom>
          <a:solidFill>
            <a:srgbClr val="CCECFF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/>
            <a:r>
              <a:rPr kumimoji="1" lang="zh-CN" altLang="en-US" sz="2400" dirty="0" smtClean="0">
                <a:solidFill>
                  <a:schemeClr val="tx1"/>
                </a:solidFill>
                <a:latin typeface="楷体_GB2312" pitchFamily="49" charset="-122"/>
              </a:rPr>
              <a:t>零输入响应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的三种情况</a:t>
            </a:r>
          </a:p>
        </p:txBody>
      </p:sp>
      <p:graphicFrame>
        <p:nvGraphicFramePr>
          <p:cNvPr id="1751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885085"/>
              </p:ext>
            </p:extLst>
          </p:nvPr>
        </p:nvGraphicFramePr>
        <p:xfrm>
          <a:off x="2496679" y="2639542"/>
          <a:ext cx="1420813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2" name="Equation" r:id="rId3" imgW="622080" imgH="444240" progId="Equation.DSMT4">
                  <p:embed/>
                </p:oleObj>
              </mc:Choice>
              <mc:Fallback>
                <p:oleObj name="Equation" r:id="rId3" imgW="622080" imgH="4442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6679" y="2639542"/>
                        <a:ext cx="1420813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066214"/>
              </p:ext>
            </p:extLst>
          </p:nvPr>
        </p:nvGraphicFramePr>
        <p:xfrm>
          <a:off x="2555776" y="3953197"/>
          <a:ext cx="141128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3" name="Equation" r:id="rId5" imgW="622080" imgH="444240" progId="Equation.DSMT4">
                  <p:embed/>
                </p:oleObj>
              </mc:Choice>
              <mc:Fallback>
                <p:oleObj name="Equation" r:id="rId5" imgW="62208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953197"/>
                        <a:ext cx="1411288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849909"/>
              </p:ext>
            </p:extLst>
          </p:nvPr>
        </p:nvGraphicFramePr>
        <p:xfrm>
          <a:off x="2555776" y="5273234"/>
          <a:ext cx="1522412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4" name="Equation" r:id="rId7" imgW="622080" imgH="444240" progId="Equation.DSMT4">
                  <p:embed/>
                </p:oleObj>
              </mc:Choice>
              <mc:Fallback>
                <p:oleObj name="Equation" r:id="rId7" imgW="62208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5273234"/>
                        <a:ext cx="1522412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991620"/>
              </p:ext>
            </p:extLst>
          </p:nvPr>
        </p:nvGraphicFramePr>
        <p:xfrm>
          <a:off x="2449462" y="764704"/>
          <a:ext cx="2741613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5" name="Equation" r:id="rId9" imgW="1384200" imgH="457200" progId="Equation.DSMT4">
                  <p:embed/>
                </p:oleObj>
              </mc:Choice>
              <mc:Fallback>
                <p:oleObj name="Equation" r:id="rId9" imgW="138420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462" y="764704"/>
                        <a:ext cx="2741613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1" name="Text Box 7" descr="绿色大理石"/>
          <p:cNvSpPr txBox="1">
            <a:spLocks noChangeArrowheads="1"/>
          </p:cNvSpPr>
          <p:nvPr/>
        </p:nvSpPr>
        <p:spPr bwMode="auto">
          <a:xfrm>
            <a:off x="6745237" y="2921293"/>
            <a:ext cx="1008211" cy="40011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过阻尼</a:t>
            </a:r>
          </a:p>
        </p:txBody>
      </p:sp>
      <p:sp>
        <p:nvSpPr>
          <p:cNvPr id="175112" name="Text Box 8" descr="绿色大理石"/>
          <p:cNvSpPr txBox="1">
            <a:spLocks noChangeArrowheads="1"/>
          </p:cNvSpPr>
          <p:nvPr/>
        </p:nvSpPr>
        <p:spPr bwMode="auto">
          <a:xfrm>
            <a:off x="6745237" y="4218280"/>
            <a:ext cx="1224235" cy="40011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临界阻尼</a:t>
            </a:r>
          </a:p>
        </p:txBody>
      </p:sp>
      <p:sp>
        <p:nvSpPr>
          <p:cNvPr id="175113" name="Text Box 9" descr="绿色大理石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6744667" y="5568331"/>
            <a:ext cx="1008781" cy="40011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欠阻尼</a:t>
            </a:r>
          </a:p>
        </p:txBody>
      </p:sp>
      <p:graphicFrame>
        <p:nvGraphicFramePr>
          <p:cNvPr id="1751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67221"/>
              </p:ext>
            </p:extLst>
          </p:nvPr>
        </p:nvGraphicFramePr>
        <p:xfrm>
          <a:off x="5259337" y="771054"/>
          <a:ext cx="291306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6" name="Equation" r:id="rId11" imgW="1485720" imgH="507960" progId="Equation.DSMT4">
                  <p:embed/>
                </p:oleObj>
              </mc:Choice>
              <mc:Fallback>
                <p:oleObj name="Equation" r:id="rId11" imgW="1485720" imgH="5079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37" y="771054"/>
                        <a:ext cx="2913063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5" name="Text Box 11"/>
          <p:cNvSpPr txBox="1">
            <a:spLocks noChangeArrowheads="1"/>
          </p:cNvSpPr>
          <p:nvPr/>
        </p:nvSpPr>
        <p:spPr bwMode="auto">
          <a:xfrm>
            <a:off x="625425" y="917104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特征根：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297064" y="2921293"/>
            <a:ext cx="22322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两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个不等负实根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297064" y="4212362"/>
            <a:ext cx="22322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两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个相等负实根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369072" y="5571535"/>
            <a:ext cx="19442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两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个共轭复根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" name="Text Box 7" descr="绿色大理石"/>
          <p:cNvSpPr txBox="1">
            <a:spLocks noChangeArrowheads="1"/>
          </p:cNvSpPr>
          <p:nvPr/>
        </p:nvSpPr>
        <p:spPr bwMode="auto">
          <a:xfrm>
            <a:off x="6745236" y="3366146"/>
            <a:ext cx="1643188" cy="40011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dirty="0" smtClean="0">
                <a:solidFill>
                  <a:schemeClr val="tx1"/>
                </a:solidFill>
                <a:latin typeface="Times New Roman" pitchFamily="18" charset="0"/>
              </a:rPr>
              <a:t>overdamped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6" name="Text Box 7" descr="绿色大理石"/>
          <p:cNvSpPr txBox="1">
            <a:spLocks noChangeArrowheads="1"/>
          </p:cNvSpPr>
          <p:nvPr/>
        </p:nvSpPr>
        <p:spPr bwMode="auto">
          <a:xfrm>
            <a:off x="6745186" y="4668902"/>
            <a:ext cx="2291310" cy="40011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dirty="0" smtClean="0">
                <a:solidFill>
                  <a:schemeClr val="tx1"/>
                </a:solidFill>
                <a:latin typeface="Times New Roman" pitchFamily="18" charset="0"/>
              </a:rPr>
              <a:t>Critically damped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7" name="Text Box 7" descr="绿色大理石"/>
          <p:cNvSpPr txBox="1">
            <a:spLocks noChangeArrowheads="1"/>
          </p:cNvSpPr>
          <p:nvPr/>
        </p:nvSpPr>
        <p:spPr bwMode="auto">
          <a:xfrm>
            <a:off x="6736630" y="6021288"/>
            <a:ext cx="1723802" cy="40011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dirty="0" smtClean="0">
                <a:solidFill>
                  <a:schemeClr val="tx1"/>
                </a:solidFill>
                <a:latin typeface="Times New Roman" pitchFamily="18" charset="0"/>
              </a:rPr>
              <a:t>underdamped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7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7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animBg="1"/>
      <p:bldP spid="175111" grpId="0" animBg="1"/>
      <p:bldP spid="175112" grpId="0" animBg="1"/>
      <p:bldP spid="175113" grpId="0" animBg="1"/>
      <p:bldP spid="175115" grpId="0" autoUpdateAnimBg="0"/>
      <p:bldP spid="12" grpId="0"/>
      <p:bldP spid="13" grpId="0"/>
      <p:bldP spid="14" grpId="0"/>
      <p:bldP spid="15" grpId="0" animBg="1"/>
      <p:bldP spid="16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823177"/>
              </p:ext>
            </p:extLst>
          </p:nvPr>
        </p:nvGraphicFramePr>
        <p:xfrm>
          <a:off x="661988" y="809625"/>
          <a:ext cx="236378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4" name="Equation" r:id="rId3" imgW="1104840" imgH="444240" progId="Equation.DSMT4">
                  <p:embed/>
                </p:oleObj>
              </mc:Choice>
              <mc:Fallback>
                <p:oleObj name="Equation" r:id="rId3" imgW="110484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809625"/>
                        <a:ext cx="2363787" cy="9604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595988"/>
              </p:ext>
            </p:extLst>
          </p:nvPr>
        </p:nvGraphicFramePr>
        <p:xfrm>
          <a:off x="4211960" y="908720"/>
          <a:ext cx="3312368" cy="686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5" name="Equation" r:id="rId5" imgW="1238334" imgH="228677" progId="Equation.DSMT4">
                  <p:embed/>
                </p:oleObj>
              </mc:Choice>
              <mc:Fallback>
                <p:oleObj name="Equation" r:id="rId5" imgW="1238334" imgH="22867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908720"/>
                        <a:ext cx="3312368" cy="686176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CC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499838"/>
              </p:ext>
            </p:extLst>
          </p:nvPr>
        </p:nvGraphicFramePr>
        <p:xfrm>
          <a:off x="1119189" y="2193925"/>
          <a:ext cx="3452812" cy="512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6" name="Equation" r:id="rId7" imgW="1600200" imgH="228600" progId="Equation.DSMT4">
                  <p:embed/>
                </p:oleObj>
              </mc:Choice>
              <mc:Fallback>
                <p:oleObj name="Equation" r:id="rId7" imgW="16002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9" y="2193925"/>
                        <a:ext cx="3452812" cy="512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91851"/>
              </p:ext>
            </p:extLst>
          </p:nvPr>
        </p:nvGraphicFramePr>
        <p:xfrm>
          <a:off x="1115616" y="3140968"/>
          <a:ext cx="3523679" cy="111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7" name="Equation" r:id="rId9" imgW="1523880" imgH="469800" progId="Equation.DSMT4">
                  <p:embed/>
                </p:oleObj>
              </mc:Choice>
              <mc:Fallback>
                <p:oleObj name="Equation" r:id="rId9" imgW="1523880" imgH="469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140968"/>
                        <a:ext cx="3523679" cy="1110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904827"/>
              </p:ext>
            </p:extLst>
          </p:nvPr>
        </p:nvGraphicFramePr>
        <p:xfrm>
          <a:off x="5815013" y="2195513"/>
          <a:ext cx="2338387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8" name="Equation" r:id="rId11" imgW="952200" imgH="914400" progId="Equation.DSMT4">
                  <p:embed/>
                </p:oleObj>
              </mc:Choice>
              <mc:Fallback>
                <p:oleObj name="Equation" r:id="rId11" imgW="952200" imgH="914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013" y="2195513"/>
                        <a:ext cx="2338387" cy="190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017093"/>
              </p:ext>
            </p:extLst>
          </p:nvPr>
        </p:nvGraphicFramePr>
        <p:xfrm>
          <a:off x="1169989" y="4588949"/>
          <a:ext cx="4050083" cy="99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9" name="Equation" r:id="rId13" imgW="1574640" imgH="431640" progId="Equation.DSMT4">
                  <p:embed/>
                </p:oleObj>
              </mc:Choice>
              <mc:Fallback>
                <p:oleObj name="Equation" r:id="rId13" imgW="157464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989" y="4588949"/>
                        <a:ext cx="4050083" cy="99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20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1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50091"/>
              </p:ext>
            </p:extLst>
          </p:nvPr>
        </p:nvGraphicFramePr>
        <p:xfrm>
          <a:off x="3763963" y="677863"/>
          <a:ext cx="40989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3" name="Equation" r:id="rId3" imgW="1574640" imgH="431640" progId="Equation.DSMT4">
                  <p:embed/>
                </p:oleObj>
              </mc:Choice>
              <mc:Fallback>
                <p:oleObj name="Equation" r:id="rId3" imgW="1574640" imgH="431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677863"/>
                        <a:ext cx="409892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5" name="Freeform 3"/>
          <p:cNvSpPr>
            <a:spLocks/>
          </p:cNvSpPr>
          <p:nvPr/>
        </p:nvSpPr>
        <p:spPr bwMode="auto">
          <a:xfrm>
            <a:off x="2954338" y="2667000"/>
            <a:ext cx="4381500" cy="1058863"/>
          </a:xfrm>
          <a:custGeom>
            <a:avLst/>
            <a:gdLst>
              <a:gd name="T0" fmla="*/ 0 w 1958"/>
              <a:gd name="T1" fmla="*/ 0 h 653"/>
              <a:gd name="T2" fmla="*/ 859293 w 1958"/>
              <a:gd name="T3" fmla="*/ 389169 h 653"/>
              <a:gd name="T4" fmla="*/ 2685291 w 1958"/>
              <a:gd name="T5" fmla="*/ 856171 h 653"/>
              <a:gd name="T6" fmla="*/ 4381500 w 1958"/>
              <a:gd name="T7" fmla="*/ 1058863 h 6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58" h="653">
                <a:moveTo>
                  <a:pt x="0" y="0"/>
                </a:moveTo>
                <a:cubicBezTo>
                  <a:pt x="92" y="76"/>
                  <a:pt x="184" y="152"/>
                  <a:pt x="384" y="240"/>
                </a:cubicBezTo>
                <a:cubicBezTo>
                  <a:pt x="584" y="328"/>
                  <a:pt x="938" y="459"/>
                  <a:pt x="1200" y="528"/>
                </a:cubicBezTo>
                <a:cubicBezTo>
                  <a:pt x="1462" y="597"/>
                  <a:pt x="1800" y="627"/>
                  <a:pt x="1958" y="653"/>
                </a:cubicBezTo>
              </a:path>
            </a:pathLst>
          </a:custGeom>
          <a:noFill/>
          <a:ln w="28575" cap="rnd" cmpd="sng">
            <a:solidFill>
              <a:srgbClr val="66FF66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77156" name="Freeform 4"/>
          <p:cNvSpPr>
            <a:spLocks/>
          </p:cNvSpPr>
          <p:nvPr/>
        </p:nvSpPr>
        <p:spPr bwMode="auto">
          <a:xfrm>
            <a:off x="2968625" y="4251325"/>
            <a:ext cx="2565400" cy="403225"/>
          </a:xfrm>
          <a:custGeom>
            <a:avLst/>
            <a:gdLst>
              <a:gd name="T0" fmla="*/ 0 w 1616"/>
              <a:gd name="T1" fmla="*/ 403225 h 254"/>
              <a:gd name="T2" fmla="*/ 569913 w 1616"/>
              <a:gd name="T3" fmla="*/ 228600 h 254"/>
              <a:gd name="T4" fmla="*/ 1209675 w 1616"/>
              <a:gd name="T5" fmla="*/ 122238 h 254"/>
              <a:gd name="T6" fmla="*/ 1955800 w 1616"/>
              <a:gd name="T7" fmla="*/ 30163 h 254"/>
              <a:gd name="T8" fmla="*/ 2565400 w 1616"/>
              <a:gd name="T9" fmla="*/ 0 h 2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16" h="254">
                <a:moveTo>
                  <a:pt x="0" y="254"/>
                </a:moveTo>
                <a:cubicBezTo>
                  <a:pt x="60" y="236"/>
                  <a:pt x="232" y="173"/>
                  <a:pt x="359" y="144"/>
                </a:cubicBezTo>
                <a:cubicBezTo>
                  <a:pt x="486" y="115"/>
                  <a:pt x="617" y="98"/>
                  <a:pt x="762" y="77"/>
                </a:cubicBezTo>
                <a:cubicBezTo>
                  <a:pt x="907" y="56"/>
                  <a:pt x="1090" y="32"/>
                  <a:pt x="1232" y="19"/>
                </a:cubicBezTo>
                <a:cubicBezTo>
                  <a:pt x="1374" y="6"/>
                  <a:pt x="1536" y="4"/>
                  <a:pt x="1616" y="0"/>
                </a:cubicBezTo>
              </a:path>
            </a:pathLst>
          </a:custGeom>
          <a:noFill/>
          <a:ln w="28575" cap="rnd" cmpd="sng">
            <a:solidFill>
              <a:srgbClr val="00FFFF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77157" name="Freeform 5"/>
          <p:cNvSpPr>
            <a:spLocks/>
          </p:cNvSpPr>
          <p:nvPr/>
        </p:nvSpPr>
        <p:spPr bwMode="auto">
          <a:xfrm>
            <a:off x="2954338" y="3189288"/>
            <a:ext cx="4130675" cy="820737"/>
          </a:xfrm>
          <a:custGeom>
            <a:avLst/>
            <a:gdLst>
              <a:gd name="T0" fmla="*/ 0 w 2602"/>
              <a:gd name="T1" fmla="*/ 12700 h 517"/>
              <a:gd name="T2" fmla="*/ 198438 w 2602"/>
              <a:gd name="T3" fmla="*/ 12700 h 517"/>
              <a:gd name="T4" fmla="*/ 442913 w 2602"/>
              <a:gd name="T5" fmla="*/ 88900 h 517"/>
              <a:gd name="T6" fmla="*/ 1006475 w 2602"/>
              <a:gd name="T7" fmla="*/ 287337 h 517"/>
              <a:gd name="T8" fmla="*/ 1128713 w 2602"/>
              <a:gd name="T9" fmla="*/ 333375 h 517"/>
              <a:gd name="T10" fmla="*/ 1433513 w 2602"/>
              <a:gd name="T11" fmla="*/ 423862 h 517"/>
              <a:gd name="T12" fmla="*/ 1828800 w 2602"/>
              <a:gd name="T13" fmla="*/ 515937 h 517"/>
              <a:gd name="T14" fmla="*/ 3078163 w 2602"/>
              <a:gd name="T15" fmla="*/ 714375 h 517"/>
              <a:gd name="T16" fmla="*/ 4130675 w 2602"/>
              <a:gd name="T17" fmla="*/ 820737 h 51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602" h="517">
                <a:moveTo>
                  <a:pt x="0" y="8"/>
                </a:moveTo>
                <a:cubicBezTo>
                  <a:pt x="39" y="4"/>
                  <a:pt x="79" y="0"/>
                  <a:pt x="125" y="8"/>
                </a:cubicBezTo>
                <a:cubicBezTo>
                  <a:pt x="171" y="16"/>
                  <a:pt x="194" y="27"/>
                  <a:pt x="279" y="56"/>
                </a:cubicBezTo>
                <a:cubicBezTo>
                  <a:pt x="364" y="85"/>
                  <a:pt x="562" y="155"/>
                  <a:pt x="634" y="181"/>
                </a:cubicBezTo>
                <a:cubicBezTo>
                  <a:pt x="706" y="207"/>
                  <a:pt x="666" y="196"/>
                  <a:pt x="711" y="210"/>
                </a:cubicBezTo>
                <a:cubicBezTo>
                  <a:pt x="756" y="224"/>
                  <a:pt x="830" y="248"/>
                  <a:pt x="903" y="267"/>
                </a:cubicBezTo>
                <a:cubicBezTo>
                  <a:pt x="976" y="286"/>
                  <a:pt x="979" y="294"/>
                  <a:pt x="1152" y="325"/>
                </a:cubicBezTo>
                <a:cubicBezTo>
                  <a:pt x="1325" y="356"/>
                  <a:pt x="1697" y="418"/>
                  <a:pt x="1939" y="450"/>
                </a:cubicBezTo>
                <a:cubicBezTo>
                  <a:pt x="2181" y="482"/>
                  <a:pt x="2492" y="506"/>
                  <a:pt x="2602" y="517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77158" name="Text Box 6"/>
          <p:cNvSpPr txBox="1">
            <a:spLocks noChangeArrowheads="1"/>
          </p:cNvSpPr>
          <p:nvPr/>
        </p:nvSpPr>
        <p:spPr bwMode="auto">
          <a:xfrm>
            <a:off x="2555875" y="2976534"/>
            <a:ext cx="4267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177159" name="Group 7"/>
          <p:cNvGrpSpPr>
            <a:grpSpLocks/>
          </p:cNvGrpSpPr>
          <p:nvPr/>
        </p:nvGrpSpPr>
        <p:grpSpPr bwMode="auto">
          <a:xfrm>
            <a:off x="2627313" y="2133600"/>
            <a:ext cx="5375274" cy="3671888"/>
            <a:chOff x="1061" y="1101"/>
            <a:chExt cx="3386" cy="2313"/>
          </a:xfrm>
        </p:grpSpPr>
        <p:sp>
          <p:nvSpPr>
            <p:cNvPr id="61453" name="Line 8"/>
            <p:cNvSpPr>
              <a:spLocks noChangeShapeType="1"/>
            </p:cNvSpPr>
            <p:nvPr/>
          </p:nvSpPr>
          <p:spPr bwMode="auto">
            <a:xfrm>
              <a:off x="1061" y="2400"/>
              <a:ext cx="32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1454" name="Line 9"/>
            <p:cNvSpPr>
              <a:spLocks noChangeShapeType="1"/>
            </p:cNvSpPr>
            <p:nvPr/>
          </p:nvSpPr>
          <p:spPr bwMode="auto">
            <a:xfrm>
              <a:off x="1272" y="1310"/>
              <a:ext cx="9" cy="2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1455" name="Text Box 10"/>
            <p:cNvSpPr txBox="1">
              <a:spLocks noChangeArrowheads="1"/>
            </p:cNvSpPr>
            <p:nvPr/>
          </p:nvSpPr>
          <p:spPr bwMode="auto">
            <a:xfrm>
              <a:off x="4286" y="2370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1456" name="Text Box 11"/>
            <p:cNvSpPr txBox="1">
              <a:spLocks noChangeArrowheads="1"/>
            </p:cNvSpPr>
            <p:nvPr/>
          </p:nvSpPr>
          <p:spPr bwMode="auto">
            <a:xfrm>
              <a:off x="1267" y="1101"/>
              <a:ext cx="23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aphicFrame>
        <p:nvGraphicFramePr>
          <p:cNvPr id="1771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087251"/>
              </p:ext>
            </p:extLst>
          </p:nvPr>
        </p:nvGraphicFramePr>
        <p:xfrm>
          <a:off x="4381499" y="2389873"/>
          <a:ext cx="1357313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4" name="Equation" r:id="rId5" imgW="609480" imgH="431640" progId="Equation.DSMT4">
                  <p:embed/>
                </p:oleObj>
              </mc:Choice>
              <mc:Fallback>
                <p:oleObj name="Equation" r:id="rId5" imgW="609480" imgH="4316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499" y="2389873"/>
                        <a:ext cx="1357313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923660"/>
              </p:ext>
            </p:extLst>
          </p:nvPr>
        </p:nvGraphicFramePr>
        <p:xfrm>
          <a:off x="3556383" y="4381502"/>
          <a:ext cx="134143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5" name="Equation" r:id="rId7" imgW="622080" imgH="431640" progId="Equation.DSMT4">
                  <p:embed/>
                </p:oleObj>
              </mc:Choice>
              <mc:Fallback>
                <p:oleObj name="Equation" r:id="rId7" imgW="62208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383" y="4381502"/>
                        <a:ext cx="134143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6" name="Rectangle 14"/>
          <p:cNvSpPr>
            <a:spLocks noChangeArrowheads="1"/>
          </p:cNvSpPr>
          <p:nvPr/>
        </p:nvSpPr>
        <p:spPr bwMode="auto">
          <a:xfrm>
            <a:off x="611188" y="1700213"/>
            <a:ext cx="28082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设   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|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| &gt; |</a:t>
            </a:r>
            <a:r>
              <a:rPr kumimoji="1" lang="en-US" altLang="zh-CN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kumimoji="1" lang="en-US" altLang="zh-CN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|</a:t>
            </a:r>
          </a:p>
        </p:txBody>
      </p:sp>
      <p:sp>
        <p:nvSpPr>
          <p:cNvPr id="177173" name="Text Box 21"/>
          <p:cNvSpPr txBox="1">
            <a:spLocks noChangeArrowheads="1"/>
          </p:cNvSpPr>
          <p:nvPr/>
        </p:nvSpPr>
        <p:spPr bwMode="auto">
          <a:xfrm>
            <a:off x="2625725" y="4143346"/>
            <a:ext cx="3587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0</a:t>
            </a:r>
          </a:p>
        </p:txBody>
      </p:sp>
      <p:sp>
        <p:nvSpPr>
          <p:cNvPr id="177174" name="Rectangle 22"/>
          <p:cNvSpPr>
            <a:spLocks noChangeArrowheads="1"/>
          </p:cNvSpPr>
          <p:nvPr/>
        </p:nvSpPr>
        <p:spPr bwMode="auto">
          <a:xfrm>
            <a:off x="684213" y="692150"/>
            <a:ext cx="2376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buFontTx/>
              <a:buAutoNum type="circleNumDbPlain"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电容电压</a:t>
            </a:r>
            <a:endParaRPr kumimoji="1" lang="zh-CN" altLang="en-US" sz="24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animBg="1"/>
      <p:bldP spid="177156" grpId="0" animBg="1"/>
      <p:bldP spid="177157" grpId="0" animBg="1"/>
      <p:bldP spid="177158" grpId="0" autoUpdateAnimBg="0"/>
      <p:bldP spid="177166" grpId="0" autoUpdateAnimBg="0"/>
      <p:bldP spid="177173" grpId="0"/>
      <p:bldP spid="17717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1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198149"/>
              </p:ext>
            </p:extLst>
          </p:nvPr>
        </p:nvGraphicFramePr>
        <p:xfrm>
          <a:off x="2415729" y="4160183"/>
          <a:ext cx="4460527" cy="891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89" name="Equation" r:id="rId3" imgW="2247840" imgH="444240" progId="Equation.DSMT4">
                  <p:embed/>
                </p:oleObj>
              </mc:Choice>
              <mc:Fallback>
                <p:oleObj name="Equation" r:id="rId3" imgW="224784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5729" y="4160183"/>
                        <a:ext cx="4460527" cy="8913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79" name="Rectangle 3"/>
          <p:cNvSpPr>
            <a:spLocks noChangeArrowheads="1"/>
          </p:cNvSpPr>
          <p:nvPr/>
        </p:nvSpPr>
        <p:spPr bwMode="auto">
          <a:xfrm>
            <a:off x="2381475" y="5281481"/>
            <a:ext cx="4422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 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0</a:t>
            </a:r>
            <a:r>
              <a:rPr kumimoji="1" lang="en-US" altLang="zh-CN" sz="24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en-US" altLang="zh-CN" sz="2400" b="0" i="1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</a:t>
            </a:r>
            <a:r>
              <a:rPr kumimoji="1" lang="en-US" altLang="zh-CN" sz="24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4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0,   </a:t>
            </a:r>
            <a:r>
              <a:rPr kumimoji="1" lang="en-US" altLang="zh-CN" sz="24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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  </a:t>
            </a:r>
            <a:r>
              <a:rPr kumimoji="1" lang="en-US" altLang="zh-CN" sz="24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i</a:t>
            </a:r>
            <a:r>
              <a:rPr kumimoji="1" lang="en-US" altLang="zh-CN" sz="2400" b="0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c</a:t>
            </a:r>
            <a:r>
              <a:rPr kumimoji="1" lang="en-US" altLang="zh-CN" sz="2400" b="0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 0</a:t>
            </a:r>
            <a:endParaRPr kumimoji="1" lang="en-US" altLang="zh-CN" sz="2400" b="0" dirty="0">
              <a:solidFill>
                <a:schemeClr val="tx1"/>
              </a:solidFill>
              <a:latin typeface="Times New Roman" pitchFamily="18" charset="0"/>
              <a:ea typeface="宋体" charset="-122"/>
              <a:sym typeface="Symbol" pitchFamily="18" charset="2"/>
            </a:endParaRPr>
          </a:p>
        </p:txBody>
      </p:sp>
      <p:sp>
        <p:nvSpPr>
          <p:cNvPr id="178180" name="Rectangle 4"/>
          <p:cNvSpPr>
            <a:spLocks noChangeArrowheads="1"/>
          </p:cNvSpPr>
          <p:nvPr/>
        </p:nvSpPr>
        <p:spPr bwMode="auto">
          <a:xfrm>
            <a:off x="2339529" y="6053226"/>
            <a:ext cx="4464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4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4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400" b="0" i="1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&gt; 0    </a:t>
            </a:r>
            <a:r>
              <a:rPr kumimoji="1" lang="en-US" altLang="zh-CN" sz="24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 = t</a:t>
            </a:r>
            <a:r>
              <a:rPr kumimoji="1" lang="en-US" altLang="zh-CN" sz="24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 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Times New Roman" pitchFamily="18" charset="0"/>
              </a:rPr>
              <a:t>时 </a:t>
            </a:r>
            <a:r>
              <a:rPr kumimoji="1" lang="en-US" altLang="zh-CN" sz="24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4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4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最大</a:t>
            </a:r>
          </a:p>
        </p:txBody>
      </p:sp>
      <p:sp>
        <p:nvSpPr>
          <p:cNvPr id="178181" name="Freeform 5"/>
          <p:cNvSpPr>
            <a:spLocks/>
          </p:cNvSpPr>
          <p:nvPr/>
        </p:nvSpPr>
        <p:spPr bwMode="auto">
          <a:xfrm>
            <a:off x="1353693" y="2912898"/>
            <a:ext cx="3299841" cy="458946"/>
          </a:xfrm>
          <a:custGeom>
            <a:avLst/>
            <a:gdLst>
              <a:gd name="T0" fmla="*/ 0 w 2151"/>
              <a:gd name="T1" fmla="*/ 436562 h 254"/>
              <a:gd name="T2" fmla="*/ 204988 w 2151"/>
              <a:gd name="T3" fmla="*/ 173594 h 254"/>
              <a:gd name="T4" fmla="*/ 551006 w 2151"/>
              <a:gd name="T5" fmla="*/ 8594 h 254"/>
              <a:gd name="T6" fmla="*/ 944582 w 2151"/>
              <a:gd name="T7" fmla="*/ 123750 h 254"/>
              <a:gd name="T8" fmla="*/ 1559545 w 2151"/>
              <a:gd name="T9" fmla="*/ 271562 h 254"/>
              <a:gd name="T10" fmla="*/ 2158108 w 2151"/>
              <a:gd name="T11" fmla="*/ 338593 h 254"/>
              <a:gd name="T12" fmla="*/ 2723874 w 2151"/>
              <a:gd name="T13" fmla="*/ 386718 h 254"/>
              <a:gd name="T14" fmla="*/ 3527425 w 2151"/>
              <a:gd name="T15" fmla="*/ 421093 h 25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51" h="254">
                <a:moveTo>
                  <a:pt x="0" y="254"/>
                </a:moveTo>
                <a:cubicBezTo>
                  <a:pt x="21" y="229"/>
                  <a:pt x="69" y="142"/>
                  <a:pt x="125" y="101"/>
                </a:cubicBezTo>
                <a:cubicBezTo>
                  <a:pt x="181" y="60"/>
                  <a:pt x="261" y="10"/>
                  <a:pt x="336" y="5"/>
                </a:cubicBezTo>
                <a:cubicBezTo>
                  <a:pt x="411" y="0"/>
                  <a:pt x="474" y="47"/>
                  <a:pt x="576" y="72"/>
                </a:cubicBezTo>
                <a:cubicBezTo>
                  <a:pt x="678" y="97"/>
                  <a:pt x="828" y="137"/>
                  <a:pt x="951" y="158"/>
                </a:cubicBezTo>
                <a:cubicBezTo>
                  <a:pt x="1074" y="179"/>
                  <a:pt x="1198" y="186"/>
                  <a:pt x="1316" y="197"/>
                </a:cubicBezTo>
                <a:cubicBezTo>
                  <a:pt x="1434" y="208"/>
                  <a:pt x="1522" y="217"/>
                  <a:pt x="1661" y="225"/>
                </a:cubicBezTo>
                <a:cubicBezTo>
                  <a:pt x="1800" y="233"/>
                  <a:pt x="2049" y="241"/>
                  <a:pt x="2151" y="245"/>
                </a:cubicBezTo>
              </a:path>
            </a:pathLst>
          </a:custGeom>
          <a:noFill/>
          <a:ln w="28575" cmpd="sng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78182" name="Text Box 6"/>
          <p:cNvSpPr txBox="1">
            <a:spLocks noChangeArrowheads="1"/>
          </p:cNvSpPr>
          <p:nvPr/>
        </p:nvSpPr>
        <p:spPr bwMode="auto">
          <a:xfrm>
            <a:off x="1738258" y="3339614"/>
            <a:ext cx="3786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78183" name="Text Box 7"/>
          <p:cNvSpPr txBox="1">
            <a:spLocks noChangeArrowheads="1"/>
          </p:cNvSpPr>
          <p:nvPr/>
        </p:nvSpPr>
        <p:spPr bwMode="auto">
          <a:xfrm>
            <a:off x="2072047" y="2655962"/>
            <a:ext cx="3952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78184" name="Line 8"/>
          <p:cNvSpPr>
            <a:spLocks noChangeShapeType="1"/>
          </p:cNvSpPr>
          <p:nvPr/>
        </p:nvSpPr>
        <p:spPr bwMode="auto">
          <a:xfrm flipV="1">
            <a:off x="1859345" y="2960776"/>
            <a:ext cx="0" cy="431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62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435800"/>
              </p:ext>
            </p:extLst>
          </p:nvPr>
        </p:nvGraphicFramePr>
        <p:xfrm>
          <a:off x="4571554" y="1757084"/>
          <a:ext cx="3240806" cy="907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90" name="Equation" r:id="rId5" imgW="1574640" imgH="431640" progId="Equation.DSMT4">
                  <p:embed/>
                </p:oleObj>
              </mc:Choice>
              <mc:Fallback>
                <p:oleObj name="Equation" r:id="rId5" imgW="1574640" imgH="4316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1554" y="1757084"/>
                        <a:ext cx="3240806" cy="907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474" name="Group 16"/>
          <p:cNvGrpSpPr>
            <a:grpSpLocks/>
          </p:cNvGrpSpPr>
          <p:nvPr/>
        </p:nvGrpSpPr>
        <p:grpSpPr bwMode="auto">
          <a:xfrm>
            <a:off x="904429" y="1444713"/>
            <a:ext cx="5311775" cy="3097213"/>
            <a:chOff x="1020" y="1797"/>
            <a:chExt cx="3346" cy="1951"/>
          </a:xfrm>
        </p:grpSpPr>
        <p:sp>
          <p:nvSpPr>
            <p:cNvPr id="62477" name="Line 17"/>
            <p:cNvSpPr>
              <a:spLocks noChangeShapeType="1"/>
            </p:cNvSpPr>
            <p:nvPr/>
          </p:nvSpPr>
          <p:spPr bwMode="auto">
            <a:xfrm flipV="1">
              <a:off x="1075" y="3022"/>
              <a:ext cx="316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2478" name="Line 18"/>
            <p:cNvSpPr>
              <a:spLocks noChangeShapeType="1"/>
            </p:cNvSpPr>
            <p:nvPr/>
          </p:nvSpPr>
          <p:spPr bwMode="auto">
            <a:xfrm>
              <a:off x="1292" y="1797"/>
              <a:ext cx="0" cy="19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2479" name="Text Box 19"/>
            <p:cNvSpPr txBox="1">
              <a:spLocks noChangeArrowheads="1"/>
            </p:cNvSpPr>
            <p:nvPr/>
          </p:nvSpPr>
          <p:spPr bwMode="auto">
            <a:xfrm>
              <a:off x="4205" y="2992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2480" name="Freeform 20"/>
            <p:cNvSpPr>
              <a:spLocks/>
            </p:cNvSpPr>
            <p:nvPr/>
          </p:nvSpPr>
          <p:spPr bwMode="auto">
            <a:xfrm>
              <a:off x="1297" y="2390"/>
              <a:ext cx="2687" cy="560"/>
            </a:xfrm>
            <a:custGeom>
              <a:avLst/>
              <a:gdLst>
                <a:gd name="T0" fmla="*/ 0 w 2602"/>
                <a:gd name="T1" fmla="*/ 9 h 517"/>
                <a:gd name="T2" fmla="*/ 129 w 2602"/>
                <a:gd name="T3" fmla="*/ 9 h 517"/>
                <a:gd name="T4" fmla="*/ 288 w 2602"/>
                <a:gd name="T5" fmla="*/ 61 h 517"/>
                <a:gd name="T6" fmla="*/ 655 w 2602"/>
                <a:gd name="T7" fmla="*/ 196 h 517"/>
                <a:gd name="T8" fmla="*/ 734 w 2602"/>
                <a:gd name="T9" fmla="*/ 227 h 517"/>
                <a:gd name="T10" fmla="*/ 932 w 2602"/>
                <a:gd name="T11" fmla="*/ 289 h 517"/>
                <a:gd name="T12" fmla="*/ 1190 w 2602"/>
                <a:gd name="T13" fmla="*/ 352 h 517"/>
                <a:gd name="T14" fmla="*/ 2002 w 2602"/>
                <a:gd name="T15" fmla="*/ 487 h 517"/>
                <a:gd name="T16" fmla="*/ 2687 w 2602"/>
                <a:gd name="T17" fmla="*/ 560 h 5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02" h="517">
                  <a:moveTo>
                    <a:pt x="0" y="8"/>
                  </a:moveTo>
                  <a:cubicBezTo>
                    <a:pt x="39" y="4"/>
                    <a:pt x="79" y="0"/>
                    <a:pt x="125" y="8"/>
                  </a:cubicBezTo>
                  <a:cubicBezTo>
                    <a:pt x="171" y="16"/>
                    <a:pt x="194" y="27"/>
                    <a:pt x="279" y="56"/>
                  </a:cubicBezTo>
                  <a:cubicBezTo>
                    <a:pt x="364" y="85"/>
                    <a:pt x="562" y="155"/>
                    <a:pt x="634" y="181"/>
                  </a:cubicBezTo>
                  <a:cubicBezTo>
                    <a:pt x="706" y="207"/>
                    <a:pt x="666" y="196"/>
                    <a:pt x="711" y="210"/>
                  </a:cubicBezTo>
                  <a:cubicBezTo>
                    <a:pt x="756" y="224"/>
                    <a:pt x="830" y="248"/>
                    <a:pt x="903" y="267"/>
                  </a:cubicBezTo>
                  <a:cubicBezTo>
                    <a:pt x="976" y="286"/>
                    <a:pt x="979" y="294"/>
                    <a:pt x="1152" y="325"/>
                  </a:cubicBezTo>
                  <a:cubicBezTo>
                    <a:pt x="1325" y="356"/>
                    <a:pt x="1697" y="418"/>
                    <a:pt x="1939" y="450"/>
                  </a:cubicBezTo>
                  <a:cubicBezTo>
                    <a:pt x="2181" y="482"/>
                    <a:pt x="2492" y="506"/>
                    <a:pt x="2602" y="517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2481" name="Text Box 21"/>
            <p:cNvSpPr txBox="1">
              <a:spLocks noChangeArrowheads="1"/>
            </p:cNvSpPr>
            <p:nvPr/>
          </p:nvSpPr>
          <p:spPr bwMode="auto">
            <a:xfrm>
              <a:off x="1020" y="2251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2482" name="Text Box 22"/>
            <p:cNvSpPr txBox="1">
              <a:spLocks noChangeArrowheads="1"/>
            </p:cNvSpPr>
            <p:nvPr/>
          </p:nvSpPr>
          <p:spPr bwMode="auto">
            <a:xfrm>
              <a:off x="1651" y="2260"/>
              <a:ext cx="23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62475" name="Text Box 23"/>
          <p:cNvSpPr txBox="1">
            <a:spLocks noChangeArrowheads="1"/>
          </p:cNvSpPr>
          <p:nvPr/>
        </p:nvSpPr>
        <p:spPr bwMode="auto">
          <a:xfrm>
            <a:off x="1001267" y="3355953"/>
            <a:ext cx="3587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0</a:t>
            </a:r>
          </a:p>
        </p:txBody>
      </p:sp>
      <p:sp>
        <p:nvSpPr>
          <p:cNvPr id="178200" name="Rectangle 24"/>
          <p:cNvSpPr>
            <a:spLocks noChangeArrowheads="1"/>
          </p:cNvSpPr>
          <p:nvPr/>
        </p:nvSpPr>
        <p:spPr bwMode="auto">
          <a:xfrm>
            <a:off x="539750" y="620713"/>
            <a:ext cx="3671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buFontTx/>
              <a:buAutoNum type="circleNumDbPlain" startAt="2"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电容和电感电流</a:t>
            </a:r>
            <a:endParaRPr kumimoji="1" lang="zh-CN" altLang="en-US" sz="24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/>
      <p:bldP spid="178180" grpId="0"/>
      <p:bldP spid="178181" grpId="0" animBg="1"/>
      <p:bldP spid="178182" grpId="0"/>
      <p:bldP spid="178183" grpId="0"/>
      <p:bldP spid="178184" grpId="0" animBg="1"/>
      <p:bldP spid="62475" grpId="0"/>
      <p:bldP spid="178200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2"/>
          <p:cNvGrpSpPr>
            <a:grpSpLocks/>
          </p:cNvGrpSpPr>
          <p:nvPr/>
        </p:nvGrpSpPr>
        <p:grpSpPr bwMode="auto">
          <a:xfrm>
            <a:off x="323851" y="1162646"/>
            <a:ext cx="5708650" cy="3162301"/>
            <a:chOff x="1037" y="7"/>
            <a:chExt cx="3596" cy="1992"/>
          </a:xfrm>
        </p:grpSpPr>
        <p:sp>
          <p:nvSpPr>
            <p:cNvPr id="63529" name="Line 3"/>
            <p:cNvSpPr>
              <a:spLocks noChangeShapeType="1"/>
            </p:cNvSpPr>
            <p:nvPr/>
          </p:nvSpPr>
          <p:spPr bwMode="auto">
            <a:xfrm>
              <a:off x="1091" y="1188"/>
              <a:ext cx="31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530" name="Line 4"/>
            <p:cNvSpPr>
              <a:spLocks noChangeShapeType="1"/>
            </p:cNvSpPr>
            <p:nvPr/>
          </p:nvSpPr>
          <p:spPr bwMode="auto">
            <a:xfrm>
              <a:off x="1323" y="7"/>
              <a:ext cx="0" cy="19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531" name="Text Box 5"/>
            <p:cNvSpPr txBox="1">
              <a:spLocks noChangeArrowheads="1"/>
            </p:cNvSpPr>
            <p:nvPr/>
          </p:nvSpPr>
          <p:spPr bwMode="auto">
            <a:xfrm>
              <a:off x="4517" y="1219"/>
              <a:ext cx="11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/>
              <a:endParaRPr kumimoji="1" lang="zh-CN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3532" name="Freeform 6"/>
            <p:cNvSpPr>
              <a:spLocks/>
            </p:cNvSpPr>
            <p:nvPr/>
          </p:nvSpPr>
          <p:spPr bwMode="auto">
            <a:xfrm>
              <a:off x="1323" y="558"/>
              <a:ext cx="2687" cy="604"/>
            </a:xfrm>
            <a:custGeom>
              <a:avLst/>
              <a:gdLst>
                <a:gd name="T0" fmla="*/ 0 w 2602"/>
                <a:gd name="T1" fmla="*/ 9 h 517"/>
                <a:gd name="T2" fmla="*/ 129 w 2602"/>
                <a:gd name="T3" fmla="*/ 9 h 517"/>
                <a:gd name="T4" fmla="*/ 288 w 2602"/>
                <a:gd name="T5" fmla="*/ 61 h 517"/>
                <a:gd name="T6" fmla="*/ 655 w 2602"/>
                <a:gd name="T7" fmla="*/ 196 h 517"/>
                <a:gd name="T8" fmla="*/ 734 w 2602"/>
                <a:gd name="T9" fmla="*/ 227 h 517"/>
                <a:gd name="T10" fmla="*/ 932 w 2602"/>
                <a:gd name="T11" fmla="*/ 289 h 517"/>
                <a:gd name="T12" fmla="*/ 1190 w 2602"/>
                <a:gd name="T13" fmla="*/ 352 h 517"/>
                <a:gd name="T14" fmla="*/ 2002 w 2602"/>
                <a:gd name="T15" fmla="*/ 487 h 517"/>
                <a:gd name="T16" fmla="*/ 2687 w 2602"/>
                <a:gd name="T17" fmla="*/ 560 h 5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02" h="517">
                  <a:moveTo>
                    <a:pt x="0" y="8"/>
                  </a:moveTo>
                  <a:cubicBezTo>
                    <a:pt x="39" y="4"/>
                    <a:pt x="79" y="0"/>
                    <a:pt x="125" y="8"/>
                  </a:cubicBezTo>
                  <a:cubicBezTo>
                    <a:pt x="171" y="16"/>
                    <a:pt x="194" y="27"/>
                    <a:pt x="279" y="56"/>
                  </a:cubicBezTo>
                  <a:cubicBezTo>
                    <a:pt x="364" y="85"/>
                    <a:pt x="562" y="155"/>
                    <a:pt x="634" y="181"/>
                  </a:cubicBezTo>
                  <a:cubicBezTo>
                    <a:pt x="706" y="207"/>
                    <a:pt x="666" y="196"/>
                    <a:pt x="711" y="210"/>
                  </a:cubicBezTo>
                  <a:cubicBezTo>
                    <a:pt x="756" y="224"/>
                    <a:pt x="830" y="248"/>
                    <a:pt x="903" y="267"/>
                  </a:cubicBezTo>
                  <a:cubicBezTo>
                    <a:pt x="976" y="286"/>
                    <a:pt x="979" y="294"/>
                    <a:pt x="1152" y="325"/>
                  </a:cubicBezTo>
                  <a:cubicBezTo>
                    <a:pt x="1325" y="356"/>
                    <a:pt x="1697" y="418"/>
                    <a:pt x="1939" y="450"/>
                  </a:cubicBezTo>
                  <a:cubicBezTo>
                    <a:pt x="2181" y="482"/>
                    <a:pt x="2492" y="506"/>
                    <a:pt x="2602" y="517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533" name="Text Box 7"/>
            <p:cNvSpPr txBox="1">
              <a:spLocks noChangeArrowheads="1"/>
            </p:cNvSpPr>
            <p:nvPr/>
          </p:nvSpPr>
          <p:spPr bwMode="auto">
            <a:xfrm>
              <a:off x="1037" y="412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3534" name="Text Box 8"/>
            <p:cNvSpPr txBox="1">
              <a:spLocks noChangeArrowheads="1"/>
            </p:cNvSpPr>
            <p:nvPr/>
          </p:nvSpPr>
          <p:spPr bwMode="auto">
            <a:xfrm>
              <a:off x="1757" y="458"/>
              <a:ext cx="23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63491" name="Freeform 9"/>
          <p:cNvSpPr>
            <a:spLocks/>
          </p:cNvSpPr>
          <p:nvPr/>
        </p:nvSpPr>
        <p:spPr bwMode="auto">
          <a:xfrm>
            <a:off x="793749" y="2588553"/>
            <a:ext cx="3934620" cy="436563"/>
          </a:xfrm>
          <a:custGeom>
            <a:avLst/>
            <a:gdLst>
              <a:gd name="T0" fmla="*/ 0 w 2151"/>
              <a:gd name="T1" fmla="*/ 436563 h 254"/>
              <a:gd name="T2" fmla="*/ 204988 w 2151"/>
              <a:gd name="T3" fmla="*/ 173594 h 254"/>
              <a:gd name="T4" fmla="*/ 551006 w 2151"/>
              <a:gd name="T5" fmla="*/ 8594 h 254"/>
              <a:gd name="T6" fmla="*/ 944582 w 2151"/>
              <a:gd name="T7" fmla="*/ 123750 h 254"/>
              <a:gd name="T8" fmla="*/ 1559545 w 2151"/>
              <a:gd name="T9" fmla="*/ 271563 h 254"/>
              <a:gd name="T10" fmla="*/ 2158108 w 2151"/>
              <a:gd name="T11" fmla="*/ 338594 h 254"/>
              <a:gd name="T12" fmla="*/ 2723874 w 2151"/>
              <a:gd name="T13" fmla="*/ 386719 h 254"/>
              <a:gd name="T14" fmla="*/ 3527425 w 2151"/>
              <a:gd name="T15" fmla="*/ 421094 h 25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51" h="254">
                <a:moveTo>
                  <a:pt x="0" y="254"/>
                </a:moveTo>
                <a:cubicBezTo>
                  <a:pt x="21" y="229"/>
                  <a:pt x="69" y="142"/>
                  <a:pt x="125" y="101"/>
                </a:cubicBezTo>
                <a:cubicBezTo>
                  <a:pt x="181" y="60"/>
                  <a:pt x="261" y="10"/>
                  <a:pt x="336" y="5"/>
                </a:cubicBezTo>
                <a:cubicBezTo>
                  <a:pt x="411" y="0"/>
                  <a:pt x="474" y="47"/>
                  <a:pt x="576" y="72"/>
                </a:cubicBezTo>
                <a:cubicBezTo>
                  <a:pt x="678" y="97"/>
                  <a:pt x="828" y="137"/>
                  <a:pt x="951" y="158"/>
                </a:cubicBezTo>
                <a:cubicBezTo>
                  <a:pt x="1074" y="179"/>
                  <a:pt x="1198" y="186"/>
                  <a:pt x="1316" y="197"/>
                </a:cubicBezTo>
                <a:cubicBezTo>
                  <a:pt x="1434" y="208"/>
                  <a:pt x="1522" y="217"/>
                  <a:pt x="1661" y="225"/>
                </a:cubicBezTo>
                <a:cubicBezTo>
                  <a:pt x="1800" y="233"/>
                  <a:pt x="2049" y="241"/>
                  <a:pt x="2151" y="245"/>
                </a:cubicBezTo>
              </a:path>
            </a:pathLst>
          </a:custGeom>
          <a:noFill/>
          <a:ln w="28575" cmpd="sng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79210" name="Freeform 10"/>
          <p:cNvSpPr>
            <a:spLocks/>
          </p:cNvSpPr>
          <p:nvPr/>
        </p:nvSpPr>
        <p:spPr bwMode="auto">
          <a:xfrm>
            <a:off x="793748" y="2070696"/>
            <a:ext cx="3706244" cy="1787525"/>
          </a:xfrm>
          <a:custGeom>
            <a:avLst/>
            <a:gdLst>
              <a:gd name="T0" fmla="*/ 0 w 2227"/>
              <a:gd name="T1" fmla="*/ 0 h 1039"/>
              <a:gd name="T2" fmla="*/ 329547 w 2227"/>
              <a:gd name="T3" fmla="*/ 562580 h 1039"/>
              <a:gd name="T4" fmla="*/ 786978 w 2227"/>
              <a:gd name="T5" fmla="*/ 1223225 h 1039"/>
              <a:gd name="T6" fmla="*/ 1242769 w 2227"/>
              <a:gd name="T7" fmla="*/ 1718708 h 1039"/>
              <a:gd name="T8" fmla="*/ 1605107 w 2227"/>
              <a:gd name="T9" fmla="*/ 1636127 h 1039"/>
              <a:gd name="T10" fmla="*/ 2029747 w 2227"/>
              <a:gd name="T11" fmla="*/ 1321289 h 1039"/>
              <a:gd name="T12" fmla="*/ 2644574 w 2227"/>
              <a:gd name="T13" fmla="*/ 1140644 h 1039"/>
              <a:gd name="T14" fmla="*/ 3651250 w 2227"/>
              <a:gd name="T15" fmla="*/ 1023655 h 10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227" h="1039">
                <a:moveTo>
                  <a:pt x="0" y="0"/>
                </a:moveTo>
                <a:cubicBezTo>
                  <a:pt x="34" y="55"/>
                  <a:pt x="121" y="209"/>
                  <a:pt x="201" y="327"/>
                </a:cubicBezTo>
                <a:cubicBezTo>
                  <a:pt x="281" y="445"/>
                  <a:pt x="387" y="599"/>
                  <a:pt x="480" y="711"/>
                </a:cubicBezTo>
                <a:cubicBezTo>
                  <a:pt x="573" y="823"/>
                  <a:pt x="675" y="959"/>
                  <a:pt x="758" y="999"/>
                </a:cubicBezTo>
                <a:cubicBezTo>
                  <a:pt x="841" y="1039"/>
                  <a:pt x="899" y="989"/>
                  <a:pt x="979" y="951"/>
                </a:cubicBezTo>
                <a:cubicBezTo>
                  <a:pt x="1059" y="913"/>
                  <a:pt x="1132" y="816"/>
                  <a:pt x="1238" y="768"/>
                </a:cubicBezTo>
                <a:cubicBezTo>
                  <a:pt x="1344" y="720"/>
                  <a:pt x="1448" y="692"/>
                  <a:pt x="1613" y="663"/>
                </a:cubicBezTo>
                <a:cubicBezTo>
                  <a:pt x="1778" y="634"/>
                  <a:pt x="2125" y="606"/>
                  <a:pt x="2227" y="595"/>
                </a:cubicBezTo>
              </a:path>
            </a:pathLst>
          </a:custGeom>
          <a:noFill/>
          <a:ln w="28575" cmpd="sng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63493" name="Text Box 11"/>
          <p:cNvSpPr txBox="1">
            <a:spLocks noChangeArrowheads="1"/>
          </p:cNvSpPr>
          <p:nvPr/>
        </p:nvSpPr>
        <p:spPr bwMode="auto">
          <a:xfrm>
            <a:off x="1187624" y="2956882"/>
            <a:ext cx="3786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79212" name="Text Box 12"/>
          <p:cNvSpPr txBox="1">
            <a:spLocks noChangeArrowheads="1"/>
          </p:cNvSpPr>
          <p:nvPr/>
        </p:nvSpPr>
        <p:spPr bwMode="auto">
          <a:xfrm>
            <a:off x="2180149" y="2956882"/>
            <a:ext cx="5068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79213" name="Text Box 13"/>
          <p:cNvSpPr txBox="1">
            <a:spLocks noChangeArrowheads="1"/>
          </p:cNvSpPr>
          <p:nvPr/>
        </p:nvSpPr>
        <p:spPr bwMode="auto">
          <a:xfrm>
            <a:off x="2914652" y="3228722"/>
            <a:ext cx="3930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3496" name="Text Box 14"/>
          <p:cNvSpPr txBox="1">
            <a:spLocks noChangeArrowheads="1"/>
          </p:cNvSpPr>
          <p:nvPr/>
        </p:nvSpPr>
        <p:spPr bwMode="auto">
          <a:xfrm>
            <a:off x="1541463" y="2283240"/>
            <a:ext cx="395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1792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305254"/>
              </p:ext>
            </p:extLst>
          </p:nvPr>
        </p:nvGraphicFramePr>
        <p:xfrm>
          <a:off x="3051170" y="3893883"/>
          <a:ext cx="4033838" cy="862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50" name="Equation" r:id="rId3" imgW="2070000" imgH="431640" progId="Equation.DSMT4">
                  <p:embed/>
                </p:oleObj>
              </mc:Choice>
              <mc:Fallback>
                <p:oleObj name="Equation" r:id="rId3" imgW="2070000" imgH="4316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0" y="3893883"/>
                        <a:ext cx="4033838" cy="862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6" name="Line 16"/>
          <p:cNvSpPr>
            <a:spLocks noChangeShapeType="1"/>
          </p:cNvSpPr>
          <p:nvPr/>
        </p:nvSpPr>
        <p:spPr bwMode="auto">
          <a:xfrm>
            <a:off x="2163981" y="3048596"/>
            <a:ext cx="0" cy="750888"/>
          </a:xfrm>
          <a:prstGeom prst="line">
            <a:avLst/>
          </a:prstGeom>
          <a:noFill/>
          <a:ln w="38100" cap="rnd">
            <a:solidFill>
              <a:srgbClr val="7030A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63499" name="Line 17"/>
          <p:cNvSpPr>
            <a:spLocks noChangeShapeType="1"/>
          </p:cNvSpPr>
          <p:nvPr/>
        </p:nvSpPr>
        <p:spPr bwMode="auto">
          <a:xfrm flipV="1">
            <a:off x="1431925" y="2600921"/>
            <a:ext cx="0" cy="431800"/>
          </a:xfrm>
          <a:prstGeom prst="line">
            <a:avLst/>
          </a:prstGeom>
          <a:noFill/>
          <a:ln w="38100" cap="rnd">
            <a:solidFill>
              <a:srgbClr val="7030A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6350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495321"/>
              </p:ext>
            </p:extLst>
          </p:nvPr>
        </p:nvGraphicFramePr>
        <p:xfrm>
          <a:off x="2627313" y="989356"/>
          <a:ext cx="3221037" cy="902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51" name="Equation" r:id="rId5" imgW="1574640" imgH="431640" progId="Equation.DSMT4">
                  <p:embed/>
                </p:oleObj>
              </mc:Choice>
              <mc:Fallback>
                <p:oleObj name="Equation" r:id="rId5" imgW="1574640" imgH="4316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989356"/>
                        <a:ext cx="3221037" cy="902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9256" name="Group 56"/>
          <p:cNvGrpSpPr>
            <a:grpSpLocks/>
          </p:cNvGrpSpPr>
          <p:nvPr/>
        </p:nvGrpSpPr>
        <p:grpSpPr bwMode="auto">
          <a:xfrm>
            <a:off x="1489198" y="4940897"/>
            <a:ext cx="5680662" cy="1538288"/>
            <a:chOff x="385" y="2940"/>
            <a:chExt cx="3424" cy="969"/>
          </a:xfrm>
        </p:grpSpPr>
        <p:sp>
          <p:nvSpPr>
            <p:cNvPr id="63525" name="Text Box 20"/>
            <p:cNvSpPr txBox="1">
              <a:spLocks noChangeArrowheads="1"/>
            </p:cNvSpPr>
            <p:nvPr/>
          </p:nvSpPr>
          <p:spPr bwMode="auto">
            <a:xfrm>
              <a:off x="385" y="3294"/>
              <a:ext cx="187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 &lt; 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&lt; 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m  </a:t>
              </a:r>
              <a:r>
                <a:rPr kumimoji="1" lang="zh-CN" altLang="en-US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， </a:t>
              </a: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增加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,  </a:t>
              </a:r>
              <a:r>
                <a:rPr kumimoji="1" lang="en-US" altLang="zh-CN" sz="2000" b="0" i="1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r>
                <a:rPr kumimoji="1" lang="en-US" altLang="zh-CN" sz="2000" b="0" i="1" baseline="-2500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&gt; 0</a:t>
              </a:r>
              <a:r>
                <a:rPr kumimoji="1" lang="zh-CN" altLang="en-US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，</a:t>
              </a:r>
            </a:p>
          </p:txBody>
        </p:sp>
        <p:sp>
          <p:nvSpPr>
            <p:cNvPr id="63526" name="Text Box 21"/>
            <p:cNvSpPr txBox="1">
              <a:spLocks noChangeArrowheads="1"/>
            </p:cNvSpPr>
            <p:nvPr/>
          </p:nvSpPr>
          <p:spPr bwMode="auto">
            <a:xfrm>
              <a:off x="2113" y="3294"/>
              <a:ext cx="16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 &gt; t</a:t>
              </a:r>
              <a:r>
                <a:rPr kumimoji="1"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m      </a:t>
              </a: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zh-CN" altLang="en-US" sz="2000" dirty="0" smtClean="0">
                  <a:solidFill>
                    <a:schemeClr val="tx1"/>
                  </a:solidFill>
                  <a:latin typeface="Times New Roman" pitchFamily="18" charset="0"/>
                </a:rPr>
                <a:t>减小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,  </a:t>
              </a: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&lt; 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3527" name="Text Box 22"/>
            <p:cNvSpPr txBox="1">
              <a:spLocks noChangeArrowheads="1"/>
            </p:cNvSpPr>
            <p:nvPr/>
          </p:nvSpPr>
          <p:spPr bwMode="auto">
            <a:xfrm>
              <a:off x="397" y="3657"/>
              <a:ext cx="21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 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= 2</a:t>
              </a:r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i="1" baseline="-2500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m </a:t>
              </a:r>
              <a:r>
                <a:rPr kumimoji="1" lang="zh-CN" altLang="en-US" sz="2000" dirty="0" smtClean="0">
                  <a:solidFill>
                    <a:schemeClr val="tx1"/>
                  </a:solidFill>
                  <a:latin typeface="Times New Roman" pitchFamily="18" charset="0"/>
                </a:rPr>
                <a:t>时</a:t>
              </a:r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，</a:t>
              </a:r>
              <a:r>
                <a:rPr kumimoji="1" lang="zh-CN" altLang="en-US" sz="2000" b="0" dirty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</a:t>
              </a:r>
              <a:r>
                <a:rPr kumimoji="1" lang="zh-CN" altLang="en-US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 </a:t>
              </a:r>
              <a:r>
                <a:rPr kumimoji="1" lang="zh-CN" altLang="en-US" sz="2000" dirty="0" smtClean="0">
                  <a:solidFill>
                    <a:schemeClr val="tx1"/>
                  </a:solidFill>
                  <a:latin typeface="Times New Roman" pitchFamily="18" charset="0"/>
                </a:rPr>
                <a:t>最大</a:t>
              </a:r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。</a:t>
              </a:r>
            </a:p>
          </p:txBody>
        </p:sp>
        <p:graphicFrame>
          <p:nvGraphicFramePr>
            <p:cNvPr id="6352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9201750"/>
                </p:ext>
              </p:extLst>
            </p:nvPr>
          </p:nvGraphicFramePr>
          <p:xfrm>
            <a:off x="442" y="2940"/>
            <a:ext cx="219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52" name="Equation" r:id="rId7" imgW="1625400" imgH="203040" progId="Equation.DSMT4">
                    <p:embed/>
                  </p:oleObj>
                </mc:Choice>
                <mc:Fallback>
                  <p:oleObj name="Equation" r:id="rId7" imgW="1625400" imgH="20304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" y="2940"/>
                          <a:ext cx="2196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502" name="Group 30"/>
          <p:cNvGrpSpPr>
            <a:grpSpLocks/>
          </p:cNvGrpSpPr>
          <p:nvPr/>
        </p:nvGrpSpPr>
        <p:grpSpPr bwMode="auto">
          <a:xfrm>
            <a:off x="5919788" y="1803995"/>
            <a:ext cx="3060701" cy="1892300"/>
            <a:chOff x="554" y="2477"/>
            <a:chExt cx="1928" cy="1192"/>
          </a:xfrm>
        </p:grpSpPr>
        <p:sp>
          <p:nvSpPr>
            <p:cNvPr id="63506" name="Line 31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507" name="Line 32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508" name="Line 33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509" name="Line 34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510" name="Line 35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3511" name="Rectangle 36"/>
            <p:cNvSpPr>
              <a:spLocks noChangeArrowheads="1"/>
            </p:cNvSpPr>
            <p:nvPr/>
          </p:nvSpPr>
          <p:spPr bwMode="auto">
            <a:xfrm>
              <a:off x="1494" y="3475"/>
              <a:ext cx="3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3512" name="Rectangle 37"/>
            <p:cNvSpPr>
              <a:spLocks noChangeArrowheads="1"/>
            </p:cNvSpPr>
            <p:nvPr/>
          </p:nvSpPr>
          <p:spPr bwMode="auto">
            <a:xfrm>
              <a:off x="2392" y="2886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3513" name="Rectangle 38"/>
            <p:cNvSpPr>
              <a:spLocks noChangeArrowheads="1"/>
            </p:cNvSpPr>
            <p:nvPr/>
          </p:nvSpPr>
          <p:spPr bwMode="auto">
            <a:xfrm>
              <a:off x="929" y="2825"/>
              <a:ext cx="31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3514" name="Rectangle 39"/>
            <p:cNvSpPr>
              <a:spLocks noChangeArrowheads="1"/>
            </p:cNvSpPr>
            <p:nvPr/>
          </p:nvSpPr>
          <p:spPr bwMode="auto">
            <a:xfrm>
              <a:off x="554" y="2636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63515" name="Rectangle 40"/>
            <p:cNvSpPr>
              <a:spLocks noChangeArrowheads="1"/>
            </p:cNvSpPr>
            <p:nvPr/>
          </p:nvSpPr>
          <p:spPr bwMode="auto">
            <a:xfrm>
              <a:off x="567" y="3022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63516" name="Line 41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63517" name="Group 42"/>
            <p:cNvGrpSpPr>
              <a:grpSpLocks/>
            </p:cNvGrpSpPr>
            <p:nvPr/>
          </p:nvGrpSpPr>
          <p:grpSpPr bwMode="auto">
            <a:xfrm>
              <a:off x="636" y="2885"/>
              <a:ext cx="240" cy="90"/>
              <a:chOff x="4628" y="2478"/>
              <a:chExt cx="240" cy="90"/>
            </a:xfrm>
          </p:grpSpPr>
          <p:sp>
            <p:nvSpPr>
              <p:cNvPr id="63523" name="Line 43"/>
              <p:cNvSpPr>
                <a:spLocks noChangeShapeType="1"/>
              </p:cNvSpPr>
              <p:nvPr/>
            </p:nvSpPr>
            <p:spPr bwMode="auto">
              <a:xfrm>
                <a:off x="4628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3524" name="Line 44"/>
              <p:cNvSpPr>
                <a:spLocks noChangeShapeType="1"/>
              </p:cNvSpPr>
              <p:nvPr/>
            </p:nvSpPr>
            <p:spPr bwMode="auto">
              <a:xfrm>
                <a:off x="4628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518" name="Group 45"/>
            <p:cNvGrpSpPr>
              <a:grpSpLocks/>
            </p:cNvGrpSpPr>
            <p:nvPr/>
          </p:nvGrpSpPr>
          <p:grpSpPr bwMode="auto">
            <a:xfrm rot="5400000">
              <a:off x="2049" y="2910"/>
              <a:ext cx="383" cy="146"/>
              <a:chOff x="538" y="649"/>
              <a:chExt cx="592" cy="213"/>
            </a:xfrm>
          </p:grpSpPr>
          <p:sp>
            <p:nvSpPr>
              <p:cNvPr id="63520" name="AutoShape 46"/>
              <p:cNvSpPr>
                <a:spLocks noChangeArrowheads="1"/>
              </p:cNvSpPr>
              <p:nvPr/>
            </p:nvSpPr>
            <p:spPr bwMode="auto">
              <a:xfrm>
                <a:off x="538" y="649"/>
                <a:ext cx="138" cy="213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3521" name="AutoShape 47"/>
              <p:cNvSpPr>
                <a:spLocks noChangeArrowheads="1"/>
              </p:cNvSpPr>
              <p:nvPr/>
            </p:nvSpPr>
            <p:spPr bwMode="auto">
              <a:xfrm>
                <a:off x="765" y="649"/>
                <a:ext cx="138" cy="213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3522" name="AutoShape 48"/>
              <p:cNvSpPr>
                <a:spLocks noChangeArrowheads="1"/>
              </p:cNvSpPr>
              <p:nvPr/>
            </p:nvSpPr>
            <p:spPr bwMode="auto">
              <a:xfrm>
                <a:off x="992" y="649"/>
                <a:ext cx="138" cy="213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519" name="Rectangle 49"/>
            <p:cNvSpPr>
              <a:spLocks noChangeArrowheads="1"/>
            </p:cNvSpPr>
            <p:nvPr/>
          </p:nvSpPr>
          <p:spPr bwMode="auto">
            <a:xfrm>
              <a:off x="1384" y="336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63503" name="Text Box 50"/>
          <p:cNvSpPr txBox="1">
            <a:spLocks noChangeArrowheads="1"/>
          </p:cNvSpPr>
          <p:nvPr/>
        </p:nvSpPr>
        <p:spPr bwMode="auto">
          <a:xfrm>
            <a:off x="5148064" y="3007321"/>
            <a:ext cx="5048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t</a:t>
            </a:r>
          </a:p>
        </p:txBody>
      </p:sp>
      <p:sp>
        <p:nvSpPr>
          <p:cNvPr id="63504" name="Text Box 51"/>
          <p:cNvSpPr txBox="1">
            <a:spLocks noChangeArrowheads="1"/>
          </p:cNvSpPr>
          <p:nvPr/>
        </p:nvSpPr>
        <p:spPr bwMode="auto">
          <a:xfrm>
            <a:off x="434974" y="2980779"/>
            <a:ext cx="3587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0</a:t>
            </a:r>
          </a:p>
        </p:txBody>
      </p:sp>
      <p:sp>
        <p:nvSpPr>
          <p:cNvPr id="179252" name="Rectangle 52"/>
          <p:cNvSpPr>
            <a:spLocks noChangeArrowheads="1"/>
          </p:cNvSpPr>
          <p:nvPr/>
        </p:nvSpPr>
        <p:spPr bwMode="auto">
          <a:xfrm>
            <a:off x="611188" y="404813"/>
            <a:ext cx="36718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buFontTx/>
              <a:buAutoNum type="circleNumDbPlain" startAt="3"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电感电压</a:t>
            </a:r>
            <a:endParaRPr kumimoji="1" lang="zh-CN" altLang="en-US" sz="24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7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7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7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7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nimBg="1"/>
      <p:bldP spid="179210" grpId="0" animBg="1"/>
      <p:bldP spid="63493" grpId="0"/>
      <p:bldP spid="179212" grpId="0"/>
      <p:bldP spid="179213" grpId="0"/>
      <p:bldP spid="63496" grpId="0"/>
      <p:bldP spid="179216" grpId="0" animBg="1"/>
      <p:bldP spid="63499" grpId="0" animBg="1"/>
      <p:bldP spid="63503" grpId="0"/>
      <p:bldP spid="63504" grpId="0"/>
      <p:bldP spid="179252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2"/>
          <p:cNvSpPr txBox="1">
            <a:spLocks noChangeArrowheads="1"/>
          </p:cNvSpPr>
          <p:nvPr/>
        </p:nvSpPr>
        <p:spPr bwMode="auto">
          <a:xfrm>
            <a:off x="611188" y="1628775"/>
            <a:ext cx="4883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i="1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为极值时，即 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时的</a:t>
            </a:r>
            <a:r>
              <a:rPr kumimoji="1" lang="zh-CN" altLang="en-US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计算如下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:</a:t>
            </a:r>
          </a:p>
        </p:txBody>
      </p:sp>
      <p:graphicFrame>
        <p:nvGraphicFramePr>
          <p:cNvPr id="180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303755"/>
              </p:ext>
            </p:extLst>
          </p:nvPr>
        </p:nvGraphicFramePr>
        <p:xfrm>
          <a:off x="971600" y="2420888"/>
          <a:ext cx="1759968" cy="4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05" name="Equation" r:id="rId3" imgW="977760" imgH="241200" progId="Equation.DSMT4">
                  <p:embed/>
                </p:oleObj>
              </mc:Choice>
              <mc:Fallback>
                <p:oleObj name="Equation" r:id="rId3" imgW="97776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420888"/>
                        <a:ext cx="1759968" cy="43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371600"/>
              </p:ext>
            </p:extLst>
          </p:nvPr>
        </p:nvGraphicFramePr>
        <p:xfrm>
          <a:off x="6948264" y="2280262"/>
          <a:ext cx="1474666" cy="114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06" name="Equation" r:id="rId5" imgW="819259" imgH="638188" progId="Equation.DSMT4">
                  <p:embed/>
                </p:oleObj>
              </mc:Choice>
              <mc:Fallback>
                <p:oleObj name="Equation" r:id="rId5" imgW="819259" imgH="63818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2280262"/>
                        <a:ext cx="1474666" cy="11487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CC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29" name="Text Box 5"/>
          <p:cNvSpPr txBox="1">
            <a:spLocks noChangeArrowheads="1"/>
          </p:cNvSpPr>
          <p:nvPr/>
        </p:nvSpPr>
        <p:spPr bwMode="auto">
          <a:xfrm>
            <a:off x="611188" y="3429000"/>
            <a:ext cx="42019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由 </a:t>
            </a:r>
            <a:r>
              <a:rPr kumimoji="1" lang="en-US" altLang="zh-CN" sz="2000" b="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/</a:t>
            </a:r>
            <a:r>
              <a:rPr kumimoji="1" lang="en-US" altLang="zh-CN" sz="2000" b="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可确定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000" b="0" i="1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为极小时的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min</a:t>
            </a:r>
            <a:r>
              <a:rPr kumimoji="1" lang="en-US" altLang="zh-CN" sz="2000" b="0" i="1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.</a:t>
            </a:r>
          </a:p>
        </p:txBody>
      </p:sp>
      <p:graphicFrame>
        <p:nvGraphicFramePr>
          <p:cNvPr id="1802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25360"/>
              </p:ext>
            </p:extLst>
          </p:nvPr>
        </p:nvGraphicFramePr>
        <p:xfrm>
          <a:off x="1043608" y="4293096"/>
          <a:ext cx="1942704" cy="4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07" name="Equation" r:id="rId7" imgW="1079280" imgH="241200" progId="Equation.DSMT4">
                  <p:embed/>
                </p:oleObj>
              </mc:Choice>
              <mc:Fallback>
                <p:oleObj name="Equation" r:id="rId7" imgW="107928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293096"/>
                        <a:ext cx="1942704" cy="43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825813"/>
              </p:ext>
            </p:extLst>
          </p:nvPr>
        </p:nvGraphicFramePr>
        <p:xfrm>
          <a:off x="3275856" y="5672773"/>
          <a:ext cx="1028376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08" name="Equation" r:id="rId9" imgW="571320" imgH="228600" progId="Equation.DSMT4">
                  <p:embed/>
                </p:oleObj>
              </mc:Choice>
              <mc:Fallback>
                <p:oleObj name="Equation" r:id="rId9" imgW="57132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5672773"/>
                        <a:ext cx="1028376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813771"/>
              </p:ext>
            </p:extLst>
          </p:nvPr>
        </p:nvGraphicFramePr>
        <p:xfrm>
          <a:off x="1763713" y="533400"/>
          <a:ext cx="3726000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09" name="Equation" r:id="rId11" imgW="2070000" imgH="431640" progId="Equation.DSMT4">
                  <p:embed/>
                </p:oleObj>
              </mc:Choice>
              <mc:Fallback>
                <p:oleObj name="Equation" r:id="rId11" imgW="2070000" imgH="431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33400"/>
                        <a:ext cx="3726000" cy="77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139102"/>
              </p:ext>
            </p:extLst>
          </p:nvPr>
        </p:nvGraphicFramePr>
        <p:xfrm>
          <a:off x="4860032" y="4077072"/>
          <a:ext cx="1439856" cy="1165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10" name="Equation" r:id="rId13" imgW="799920" imgH="647640" progId="Equation.DSMT4">
                  <p:embed/>
                </p:oleObj>
              </mc:Choice>
              <mc:Fallback>
                <p:oleObj name="Equation" r:id="rId13" imgW="799920" imgH="6476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4077072"/>
                        <a:ext cx="1439856" cy="1165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932529"/>
              </p:ext>
            </p:extLst>
          </p:nvPr>
        </p:nvGraphicFramePr>
        <p:xfrm>
          <a:off x="4067944" y="2204864"/>
          <a:ext cx="1097064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11" name="Equation" r:id="rId15" imgW="609480" imgH="457200" progId="Equation.DSMT4">
                  <p:embed/>
                </p:oleObj>
              </mc:Choice>
              <mc:Fallback>
                <p:oleObj name="Equation" r:id="rId15" imgW="60948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2204864"/>
                        <a:ext cx="1097064" cy="822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5" name="Line 11"/>
          <p:cNvSpPr>
            <a:spLocks noChangeShapeType="1"/>
          </p:cNvSpPr>
          <p:nvPr/>
        </p:nvSpPr>
        <p:spPr bwMode="auto">
          <a:xfrm>
            <a:off x="2403435" y="5878513"/>
            <a:ext cx="649287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80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0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8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8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 build="p" autoUpdateAnimBg="0"/>
      <p:bldP spid="180229" grpId="0" build="p" autoUpdateAnimBg="0"/>
      <p:bldP spid="1802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 Box 2" descr="绿色大理石"/>
          <p:cNvSpPr txBox="1">
            <a:spLocks noChangeArrowheads="1"/>
          </p:cNvSpPr>
          <p:nvPr/>
        </p:nvSpPr>
        <p:spPr bwMode="auto">
          <a:xfrm>
            <a:off x="395288" y="620713"/>
            <a:ext cx="3095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buFontTx/>
              <a:buAutoNum type="circleNumDbPlain" startAt="4"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能量转换关系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1431925" y="611663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endParaRPr kumimoji="1" lang="zh-CN" altLang="zh-CN" sz="200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81266" name="Text Box 18"/>
          <p:cNvSpPr txBox="1">
            <a:spLocks noChangeArrowheads="1"/>
          </p:cNvSpPr>
          <p:nvPr/>
        </p:nvSpPr>
        <p:spPr bwMode="auto">
          <a:xfrm>
            <a:off x="468313" y="3744913"/>
            <a:ext cx="32480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 &lt; 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&lt; 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="0" i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     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 </a:t>
            </a: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减小</a:t>
            </a:r>
            <a:r>
              <a:rPr kumimoji="1" lang="zh-CN" altLang="en-US" sz="2000" b="0" i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，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 </a:t>
            </a: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增加</a:t>
            </a:r>
            <a:r>
              <a:rPr kumimoji="1" lang="zh-CN" altLang="en-US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。</a:t>
            </a:r>
          </a:p>
        </p:txBody>
      </p:sp>
      <p:sp>
        <p:nvSpPr>
          <p:cNvPr id="181267" name="Text Box 19"/>
          <p:cNvSpPr txBox="1">
            <a:spLocks noChangeArrowheads="1"/>
          </p:cNvSpPr>
          <p:nvPr/>
        </p:nvSpPr>
        <p:spPr bwMode="auto">
          <a:xfrm>
            <a:off x="4211960" y="3721100"/>
            <a:ext cx="28472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&gt;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    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i="1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减小</a:t>
            </a:r>
            <a:r>
              <a:rPr kumimoji="1" lang="zh-CN" altLang="en-US" sz="2000" b="0" i="1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减小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。</a:t>
            </a:r>
          </a:p>
        </p:txBody>
      </p:sp>
      <p:grpSp>
        <p:nvGrpSpPr>
          <p:cNvPr id="181276" name="Group 28"/>
          <p:cNvGrpSpPr>
            <a:grpSpLocks/>
          </p:cNvGrpSpPr>
          <p:nvPr/>
        </p:nvGrpSpPr>
        <p:grpSpPr bwMode="auto">
          <a:xfrm>
            <a:off x="5148263" y="4440240"/>
            <a:ext cx="3040063" cy="1922463"/>
            <a:chOff x="567" y="2477"/>
            <a:chExt cx="1915" cy="1211"/>
          </a:xfrm>
        </p:grpSpPr>
        <p:sp>
          <p:nvSpPr>
            <p:cNvPr id="65584" name="Line 29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85" name="Line 30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86" name="Line 31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87" name="Line 32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88" name="Line 33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89" name="Rectangle 34"/>
            <p:cNvSpPr>
              <a:spLocks noChangeArrowheads="1"/>
            </p:cNvSpPr>
            <p:nvPr/>
          </p:nvSpPr>
          <p:spPr bwMode="auto">
            <a:xfrm>
              <a:off x="1479" y="3494"/>
              <a:ext cx="3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5590" name="Rectangle 35"/>
            <p:cNvSpPr>
              <a:spLocks noChangeArrowheads="1"/>
            </p:cNvSpPr>
            <p:nvPr/>
          </p:nvSpPr>
          <p:spPr bwMode="auto">
            <a:xfrm>
              <a:off x="2392" y="2886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5591" name="Rectangle 36"/>
            <p:cNvSpPr>
              <a:spLocks noChangeArrowheads="1"/>
            </p:cNvSpPr>
            <p:nvPr/>
          </p:nvSpPr>
          <p:spPr bwMode="auto">
            <a:xfrm>
              <a:off x="930" y="2825"/>
              <a:ext cx="31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5592" name="Rectangle 37"/>
            <p:cNvSpPr>
              <a:spLocks noChangeArrowheads="1"/>
            </p:cNvSpPr>
            <p:nvPr/>
          </p:nvSpPr>
          <p:spPr bwMode="auto">
            <a:xfrm>
              <a:off x="567" y="2568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65593" name="Rectangle 38"/>
            <p:cNvSpPr>
              <a:spLocks noChangeArrowheads="1"/>
            </p:cNvSpPr>
            <p:nvPr/>
          </p:nvSpPr>
          <p:spPr bwMode="auto">
            <a:xfrm>
              <a:off x="567" y="3022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65594" name="Line 39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65595" name="Group 40"/>
            <p:cNvGrpSpPr>
              <a:grpSpLocks/>
            </p:cNvGrpSpPr>
            <p:nvPr/>
          </p:nvGrpSpPr>
          <p:grpSpPr bwMode="auto">
            <a:xfrm>
              <a:off x="636" y="2897"/>
              <a:ext cx="240" cy="90"/>
              <a:chOff x="4628" y="2490"/>
              <a:chExt cx="240" cy="90"/>
            </a:xfrm>
          </p:grpSpPr>
          <p:sp>
            <p:nvSpPr>
              <p:cNvPr id="65601" name="Line 41"/>
              <p:cNvSpPr>
                <a:spLocks noChangeShapeType="1"/>
              </p:cNvSpPr>
              <p:nvPr/>
            </p:nvSpPr>
            <p:spPr bwMode="auto">
              <a:xfrm>
                <a:off x="4628" y="249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5602" name="Line 42"/>
              <p:cNvSpPr>
                <a:spLocks noChangeShapeType="1"/>
              </p:cNvSpPr>
              <p:nvPr/>
            </p:nvSpPr>
            <p:spPr bwMode="auto">
              <a:xfrm>
                <a:off x="4628" y="258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596" name="Group 43"/>
            <p:cNvGrpSpPr>
              <a:grpSpLocks/>
            </p:cNvGrpSpPr>
            <p:nvPr/>
          </p:nvGrpSpPr>
          <p:grpSpPr bwMode="auto">
            <a:xfrm rot="5400000">
              <a:off x="2036" y="2887"/>
              <a:ext cx="378" cy="192"/>
              <a:chOff x="544" y="649"/>
              <a:chExt cx="584" cy="280"/>
            </a:xfrm>
          </p:grpSpPr>
          <p:sp>
            <p:nvSpPr>
              <p:cNvPr id="65598" name="AutoShape 44"/>
              <p:cNvSpPr>
                <a:spLocks noChangeArrowheads="1"/>
              </p:cNvSpPr>
              <p:nvPr/>
            </p:nvSpPr>
            <p:spPr bwMode="auto">
              <a:xfrm>
                <a:off x="544" y="649"/>
                <a:ext cx="129" cy="280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5599" name="AutoShape 45"/>
              <p:cNvSpPr>
                <a:spLocks noChangeArrowheads="1"/>
              </p:cNvSpPr>
              <p:nvPr/>
            </p:nvSpPr>
            <p:spPr bwMode="auto">
              <a:xfrm>
                <a:off x="772" y="649"/>
                <a:ext cx="129" cy="280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5600" name="AutoShape 46"/>
              <p:cNvSpPr>
                <a:spLocks noChangeArrowheads="1"/>
              </p:cNvSpPr>
              <p:nvPr/>
            </p:nvSpPr>
            <p:spPr bwMode="auto">
              <a:xfrm>
                <a:off x="999" y="649"/>
                <a:ext cx="129" cy="280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597" name="Rectangle 47"/>
            <p:cNvSpPr>
              <a:spLocks noChangeArrowheads="1"/>
            </p:cNvSpPr>
            <p:nvPr/>
          </p:nvSpPr>
          <p:spPr bwMode="auto">
            <a:xfrm>
              <a:off x="1384" y="336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181296" name="Group 48"/>
          <p:cNvGrpSpPr>
            <a:grpSpLocks/>
          </p:cNvGrpSpPr>
          <p:nvPr/>
        </p:nvGrpSpPr>
        <p:grpSpPr bwMode="auto">
          <a:xfrm>
            <a:off x="1187450" y="4508500"/>
            <a:ext cx="3040063" cy="1903413"/>
            <a:chOff x="567" y="2477"/>
            <a:chExt cx="1915" cy="1199"/>
          </a:xfrm>
        </p:grpSpPr>
        <p:sp>
          <p:nvSpPr>
            <p:cNvPr id="65565" name="Line 49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66" name="Line 50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67" name="Line 51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68" name="Line 52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69" name="Line 53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70" name="Rectangle 54"/>
            <p:cNvSpPr>
              <a:spLocks noChangeArrowheads="1"/>
            </p:cNvSpPr>
            <p:nvPr/>
          </p:nvSpPr>
          <p:spPr bwMode="auto">
            <a:xfrm>
              <a:off x="1495" y="3482"/>
              <a:ext cx="3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5571" name="Rectangle 55"/>
            <p:cNvSpPr>
              <a:spLocks noChangeArrowheads="1"/>
            </p:cNvSpPr>
            <p:nvPr/>
          </p:nvSpPr>
          <p:spPr bwMode="auto">
            <a:xfrm>
              <a:off x="2392" y="2886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5572" name="Rectangle 56"/>
            <p:cNvSpPr>
              <a:spLocks noChangeArrowheads="1"/>
            </p:cNvSpPr>
            <p:nvPr/>
          </p:nvSpPr>
          <p:spPr bwMode="auto">
            <a:xfrm>
              <a:off x="930" y="2828"/>
              <a:ext cx="31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5573" name="Rectangle 57"/>
            <p:cNvSpPr>
              <a:spLocks noChangeArrowheads="1"/>
            </p:cNvSpPr>
            <p:nvPr/>
          </p:nvSpPr>
          <p:spPr bwMode="auto">
            <a:xfrm>
              <a:off x="567" y="2568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65574" name="Rectangle 58"/>
            <p:cNvSpPr>
              <a:spLocks noChangeArrowheads="1"/>
            </p:cNvSpPr>
            <p:nvPr/>
          </p:nvSpPr>
          <p:spPr bwMode="auto">
            <a:xfrm>
              <a:off x="567" y="3022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65575" name="Line 59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65576" name="Group 60"/>
            <p:cNvGrpSpPr>
              <a:grpSpLocks/>
            </p:cNvGrpSpPr>
            <p:nvPr/>
          </p:nvGrpSpPr>
          <p:grpSpPr bwMode="auto">
            <a:xfrm>
              <a:off x="633" y="2897"/>
              <a:ext cx="240" cy="90"/>
              <a:chOff x="4625" y="2490"/>
              <a:chExt cx="240" cy="90"/>
            </a:xfrm>
          </p:grpSpPr>
          <p:sp>
            <p:nvSpPr>
              <p:cNvPr id="65582" name="Line 61"/>
              <p:cNvSpPr>
                <a:spLocks noChangeShapeType="1"/>
              </p:cNvSpPr>
              <p:nvPr/>
            </p:nvSpPr>
            <p:spPr bwMode="auto">
              <a:xfrm>
                <a:off x="4625" y="249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5583" name="Line 62"/>
              <p:cNvSpPr>
                <a:spLocks noChangeShapeType="1"/>
              </p:cNvSpPr>
              <p:nvPr/>
            </p:nvSpPr>
            <p:spPr bwMode="auto">
              <a:xfrm>
                <a:off x="4625" y="258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577" name="Group 63"/>
            <p:cNvGrpSpPr>
              <a:grpSpLocks/>
            </p:cNvGrpSpPr>
            <p:nvPr/>
          </p:nvGrpSpPr>
          <p:grpSpPr bwMode="auto">
            <a:xfrm rot="5400000">
              <a:off x="2029" y="2875"/>
              <a:ext cx="395" cy="191"/>
              <a:chOff x="508" y="642"/>
              <a:chExt cx="611" cy="279"/>
            </a:xfrm>
          </p:grpSpPr>
          <p:sp>
            <p:nvSpPr>
              <p:cNvPr id="65579" name="AutoShape 64"/>
              <p:cNvSpPr>
                <a:spLocks noChangeArrowheads="1"/>
              </p:cNvSpPr>
              <p:nvPr/>
            </p:nvSpPr>
            <p:spPr bwMode="auto">
              <a:xfrm>
                <a:off x="508" y="642"/>
                <a:ext cx="157" cy="279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5580" name="AutoShape 65"/>
              <p:cNvSpPr>
                <a:spLocks noChangeArrowheads="1"/>
              </p:cNvSpPr>
              <p:nvPr/>
            </p:nvSpPr>
            <p:spPr bwMode="auto">
              <a:xfrm>
                <a:off x="735" y="642"/>
                <a:ext cx="157" cy="279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5581" name="AutoShape 66"/>
              <p:cNvSpPr>
                <a:spLocks noChangeArrowheads="1"/>
              </p:cNvSpPr>
              <p:nvPr/>
            </p:nvSpPr>
            <p:spPr bwMode="auto">
              <a:xfrm>
                <a:off x="962" y="642"/>
                <a:ext cx="157" cy="279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578" name="Rectangle 67"/>
            <p:cNvSpPr>
              <a:spLocks noChangeArrowheads="1"/>
            </p:cNvSpPr>
            <p:nvPr/>
          </p:nvSpPr>
          <p:spPr bwMode="auto">
            <a:xfrm>
              <a:off x="1384" y="336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181316" name="AutoShape 68"/>
          <p:cNvSpPr>
            <a:spLocks noChangeArrowheads="1"/>
          </p:cNvSpPr>
          <p:nvPr/>
        </p:nvSpPr>
        <p:spPr bwMode="auto">
          <a:xfrm rot="10800000">
            <a:off x="6732588" y="5016500"/>
            <a:ext cx="720725" cy="503238"/>
          </a:xfrm>
          <a:custGeom>
            <a:avLst/>
            <a:gdLst>
              <a:gd name="T0" fmla="*/ 543714 w 21600"/>
              <a:gd name="T1" fmla="*/ 0 h 21600"/>
              <a:gd name="T2" fmla="*/ 366702 w 21600"/>
              <a:gd name="T3" fmla="*/ 149224 h 21600"/>
              <a:gd name="T4" fmla="*/ 0 w 21600"/>
              <a:gd name="T5" fmla="*/ 474838 h 21600"/>
              <a:gd name="T6" fmla="*/ 288123 w 21600"/>
              <a:gd name="T7" fmla="*/ 503238 h 21600"/>
              <a:gd name="T8" fmla="*/ 576246 w 21600"/>
              <a:gd name="T9" fmla="*/ 344951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9161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95" y="0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1317" name="AutoShape 69"/>
          <p:cNvSpPr>
            <a:spLocks noChangeArrowheads="1"/>
          </p:cNvSpPr>
          <p:nvPr/>
        </p:nvSpPr>
        <p:spPr bwMode="auto">
          <a:xfrm flipV="1">
            <a:off x="6011863" y="5016500"/>
            <a:ext cx="720725" cy="503238"/>
          </a:xfrm>
          <a:custGeom>
            <a:avLst/>
            <a:gdLst>
              <a:gd name="T0" fmla="*/ 543714 w 21600"/>
              <a:gd name="T1" fmla="*/ 0 h 21600"/>
              <a:gd name="T2" fmla="*/ 366702 w 21600"/>
              <a:gd name="T3" fmla="*/ 149224 h 21600"/>
              <a:gd name="T4" fmla="*/ 0 w 21600"/>
              <a:gd name="T5" fmla="*/ 474838 h 21600"/>
              <a:gd name="T6" fmla="*/ 288123 w 21600"/>
              <a:gd name="T7" fmla="*/ 503238 h 21600"/>
              <a:gd name="T8" fmla="*/ 576246 w 21600"/>
              <a:gd name="T9" fmla="*/ 344951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9161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95" y="0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1318" name="AutoShape 70"/>
          <p:cNvSpPr>
            <a:spLocks noChangeArrowheads="1"/>
          </p:cNvSpPr>
          <p:nvPr/>
        </p:nvSpPr>
        <p:spPr bwMode="auto">
          <a:xfrm flipV="1">
            <a:off x="2266950" y="5160963"/>
            <a:ext cx="720725" cy="503237"/>
          </a:xfrm>
          <a:custGeom>
            <a:avLst/>
            <a:gdLst>
              <a:gd name="T0" fmla="*/ 541345 w 21600"/>
              <a:gd name="T1" fmla="*/ 0 h 21600"/>
              <a:gd name="T2" fmla="*/ 361931 w 21600"/>
              <a:gd name="T3" fmla="*/ 149224 h 21600"/>
              <a:gd name="T4" fmla="*/ 0 w 21600"/>
              <a:gd name="T5" fmla="*/ 472763 h 21600"/>
              <a:gd name="T6" fmla="*/ 288123 w 21600"/>
              <a:gd name="T7" fmla="*/ 503237 h 21600"/>
              <a:gd name="T8" fmla="*/ 576246 w 21600"/>
              <a:gd name="T9" fmla="*/ 344950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8982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24" y="0"/>
                </a:moveTo>
                <a:lnTo>
                  <a:pt x="10847" y="6405"/>
                </a:lnTo>
                <a:lnTo>
                  <a:pt x="15177" y="6405"/>
                </a:lnTo>
                <a:lnTo>
                  <a:pt x="15177" y="18982"/>
                </a:lnTo>
                <a:lnTo>
                  <a:pt x="0" y="18982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24" y="0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1319" name="AutoShape 71"/>
          <p:cNvSpPr>
            <a:spLocks noChangeArrowheads="1"/>
          </p:cNvSpPr>
          <p:nvPr/>
        </p:nvSpPr>
        <p:spPr bwMode="auto">
          <a:xfrm>
            <a:off x="2197100" y="4946650"/>
            <a:ext cx="1150938" cy="141288"/>
          </a:xfrm>
          <a:prstGeom prst="rightArrow">
            <a:avLst>
              <a:gd name="adj1" fmla="val 50000"/>
              <a:gd name="adj2" fmla="val 203651"/>
            </a:avLst>
          </a:prstGeom>
          <a:solidFill>
            <a:srgbClr val="00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81324" name="Group 76"/>
          <p:cNvGrpSpPr>
            <a:grpSpLocks/>
          </p:cNvGrpSpPr>
          <p:nvPr/>
        </p:nvGrpSpPr>
        <p:grpSpPr bwMode="auto">
          <a:xfrm>
            <a:off x="3065463" y="547688"/>
            <a:ext cx="5649913" cy="3162300"/>
            <a:chOff x="1931" y="345"/>
            <a:chExt cx="3559" cy="1992"/>
          </a:xfrm>
        </p:grpSpPr>
        <p:grpSp>
          <p:nvGrpSpPr>
            <p:cNvPr id="65549" name="Group 5"/>
            <p:cNvGrpSpPr>
              <a:grpSpLocks/>
            </p:cNvGrpSpPr>
            <p:nvPr/>
          </p:nvGrpSpPr>
          <p:grpSpPr bwMode="auto">
            <a:xfrm>
              <a:off x="1931" y="345"/>
              <a:ext cx="3559" cy="1992"/>
              <a:chOff x="1039" y="7"/>
              <a:chExt cx="3559" cy="1992"/>
            </a:xfrm>
          </p:grpSpPr>
          <p:sp>
            <p:nvSpPr>
              <p:cNvPr id="65559" name="Line 6"/>
              <p:cNvSpPr>
                <a:spLocks noChangeShapeType="1"/>
              </p:cNvSpPr>
              <p:nvPr/>
            </p:nvSpPr>
            <p:spPr bwMode="auto">
              <a:xfrm>
                <a:off x="1091" y="1188"/>
                <a:ext cx="33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5560" name="Line 7"/>
              <p:cNvSpPr>
                <a:spLocks noChangeShapeType="1"/>
              </p:cNvSpPr>
              <p:nvPr/>
            </p:nvSpPr>
            <p:spPr bwMode="auto">
              <a:xfrm>
                <a:off x="1323" y="7"/>
                <a:ext cx="0" cy="19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5561" name="Text Box 8"/>
              <p:cNvSpPr txBox="1">
                <a:spLocks noChangeArrowheads="1"/>
              </p:cNvSpPr>
              <p:nvPr/>
            </p:nvSpPr>
            <p:spPr bwMode="auto">
              <a:xfrm>
                <a:off x="4437" y="1142"/>
                <a:ext cx="16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/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65562" name="Freeform 9"/>
              <p:cNvSpPr>
                <a:spLocks/>
              </p:cNvSpPr>
              <p:nvPr/>
            </p:nvSpPr>
            <p:spPr bwMode="auto">
              <a:xfrm>
                <a:off x="1323" y="594"/>
                <a:ext cx="2687" cy="559"/>
              </a:xfrm>
              <a:custGeom>
                <a:avLst/>
                <a:gdLst>
                  <a:gd name="T0" fmla="*/ 0 w 2602"/>
                  <a:gd name="T1" fmla="*/ 9 h 517"/>
                  <a:gd name="T2" fmla="*/ 129 w 2602"/>
                  <a:gd name="T3" fmla="*/ 9 h 517"/>
                  <a:gd name="T4" fmla="*/ 288 w 2602"/>
                  <a:gd name="T5" fmla="*/ 61 h 517"/>
                  <a:gd name="T6" fmla="*/ 655 w 2602"/>
                  <a:gd name="T7" fmla="*/ 196 h 517"/>
                  <a:gd name="T8" fmla="*/ 734 w 2602"/>
                  <a:gd name="T9" fmla="*/ 227 h 517"/>
                  <a:gd name="T10" fmla="*/ 932 w 2602"/>
                  <a:gd name="T11" fmla="*/ 289 h 517"/>
                  <a:gd name="T12" fmla="*/ 1190 w 2602"/>
                  <a:gd name="T13" fmla="*/ 352 h 517"/>
                  <a:gd name="T14" fmla="*/ 2002 w 2602"/>
                  <a:gd name="T15" fmla="*/ 487 h 517"/>
                  <a:gd name="T16" fmla="*/ 2687 w 2602"/>
                  <a:gd name="T17" fmla="*/ 560 h 5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02" h="517">
                    <a:moveTo>
                      <a:pt x="0" y="8"/>
                    </a:moveTo>
                    <a:cubicBezTo>
                      <a:pt x="39" y="4"/>
                      <a:pt x="79" y="0"/>
                      <a:pt x="125" y="8"/>
                    </a:cubicBezTo>
                    <a:cubicBezTo>
                      <a:pt x="171" y="16"/>
                      <a:pt x="194" y="27"/>
                      <a:pt x="279" y="56"/>
                    </a:cubicBezTo>
                    <a:cubicBezTo>
                      <a:pt x="364" y="85"/>
                      <a:pt x="562" y="155"/>
                      <a:pt x="634" y="181"/>
                    </a:cubicBezTo>
                    <a:cubicBezTo>
                      <a:pt x="706" y="207"/>
                      <a:pt x="666" y="196"/>
                      <a:pt x="711" y="210"/>
                    </a:cubicBezTo>
                    <a:cubicBezTo>
                      <a:pt x="756" y="224"/>
                      <a:pt x="830" y="248"/>
                      <a:pt x="903" y="267"/>
                    </a:cubicBezTo>
                    <a:cubicBezTo>
                      <a:pt x="976" y="286"/>
                      <a:pt x="979" y="294"/>
                      <a:pt x="1152" y="325"/>
                    </a:cubicBezTo>
                    <a:cubicBezTo>
                      <a:pt x="1325" y="356"/>
                      <a:pt x="1697" y="418"/>
                      <a:pt x="1939" y="450"/>
                    </a:cubicBezTo>
                    <a:cubicBezTo>
                      <a:pt x="2181" y="482"/>
                      <a:pt x="2492" y="506"/>
                      <a:pt x="2602" y="517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5563" name="Text Box 10"/>
              <p:cNvSpPr txBox="1">
                <a:spLocks noChangeArrowheads="1"/>
              </p:cNvSpPr>
              <p:nvPr/>
            </p:nvSpPr>
            <p:spPr bwMode="auto">
              <a:xfrm>
                <a:off x="1039" y="391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baseline="-250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65564" name="Text Box 11"/>
              <p:cNvSpPr txBox="1">
                <a:spLocks noChangeArrowheads="1"/>
              </p:cNvSpPr>
              <p:nvPr/>
            </p:nvSpPr>
            <p:spPr bwMode="auto">
              <a:xfrm>
                <a:off x="1670" y="476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r>
                  <a:rPr kumimoji="1"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C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65550" name="Freeform 12"/>
            <p:cNvSpPr>
              <a:spLocks/>
            </p:cNvSpPr>
            <p:nvPr/>
          </p:nvSpPr>
          <p:spPr bwMode="auto">
            <a:xfrm>
              <a:off x="2223" y="1240"/>
              <a:ext cx="2222" cy="275"/>
            </a:xfrm>
            <a:custGeom>
              <a:avLst/>
              <a:gdLst>
                <a:gd name="T0" fmla="*/ 0 w 2151"/>
                <a:gd name="T1" fmla="*/ 275 h 254"/>
                <a:gd name="T2" fmla="*/ 129 w 2151"/>
                <a:gd name="T3" fmla="*/ 109 h 254"/>
                <a:gd name="T4" fmla="*/ 347 w 2151"/>
                <a:gd name="T5" fmla="*/ 5 h 254"/>
                <a:gd name="T6" fmla="*/ 595 w 2151"/>
                <a:gd name="T7" fmla="*/ 78 h 254"/>
                <a:gd name="T8" fmla="*/ 982 w 2151"/>
                <a:gd name="T9" fmla="*/ 171 h 254"/>
                <a:gd name="T10" fmla="*/ 1359 w 2151"/>
                <a:gd name="T11" fmla="*/ 213 h 254"/>
                <a:gd name="T12" fmla="*/ 1716 w 2151"/>
                <a:gd name="T13" fmla="*/ 244 h 254"/>
                <a:gd name="T14" fmla="*/ 2222 w 2151"/>
                <a:gd name="T15" fmla="*/ 265 h 2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51" h="254">
                  <a:moveTo>
                    <a:pt x="0" y="254"/>
                  </a:moveTo>
                  <a:cubicBezTo>
                    <a:pt x="21" y="229"/>
                    <a:pt x="69" y="142"/>
                    <a:pt x="125" y="101"/>
                  </a:cubicBezTo>
                  <a:cubicBezTo>
                    <a:pt x="181" y="60"/>
                    <a:pt x="261" y="10"/>
                    <a:pt x="336" y="5"/>
                  </a:cubicBezTo>
                  <a:cubicBezTo>
                    <a:pt x="411" y="0"/>
                    <a:pt x="474" y="47"/>
                    <a:pt x="576" y="72"/>
                  </a:cubicBezTo>
                  <a:cubicBezTo>
                    <a:pt x="678" y="97"/>
                    <a:pt x="828" y="137"/>
                    <a:pt x="951" y="158"/>
                  </a:cubicBezTo>
                  <a:cubicBezTo>
                    <a:pt x="1074" y="179"/>
                    <a:pt x="1198" y="186"/>
                    <a:pt x="1316" y="197"/>
                  </a:cubicBezTo>
                  <a:cubicBezTo>
                    <a:pt x="1434" y="208"/>
                    <a:pt x="1522" y="217"/>
                    <a:pt x="1661" y="225"/>
                  </a:cubicBezTo>
                  <a:cubicBezTo>
                    <a:pt x="1800" y="233"/>
                    <a:pt x="2049" y="241"/>
                    <a:pt x="2151" y="245"/>
                  </a:cubicBezTo>
                </a:path>
              </a:pathLst>
            </a:custGeom>
            <a:noFill/>
            <a:ln w="28575" cmpd="sng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51" name="Freeform 13"/>
            <p:cNvSpPr>
              <a:spLocks/>
            </p:cNvSpPr>
            <p:nvPr/>
          </p:nvSpPr>
          <p:spPr bwMode="auto">
            <a:xfrm>
              <a:off x="2215" y="922"/>
              <a:ext cx="2300" cy="1126"/>
            </a:xfrm>
            <a:custGeom>
              <a:avLst/>
              <a:gdLst>
                <a:gd name="T0" fmla="*/ 0 w 2227"/>
                <a:gd name="T1" fmla="*/ 0 h 1039"/>
                <a:gd name="T2" fmla="*/ 208 w 2227"/>
                <a:gd name="T3" fmla="*/ 354 h 1039"/>
                <a:gd name="T4" fmla="*/ 496 w 2227"/>
                <a:gd name="T5" fmla="*/ 771 h 1039"/>
                <a:gd name="T6" fmla="*/ 783 w 2227"/>
                <a:gd name="T7" fmla="*/ 1083 h 1039"/>
                <a:gd name="T8" fmla="*/ 1011 w 2227"/>
                <a:gd name="T9" fmla="*/ 1031 h 1039"/>
                <a:gd name="T10" fmla="*/ 1279 w 2227"/>
                <a:gd name="T11" fmla="*/ 832 h 1039"/>
                <a:gd name="T12" fmla="*/ 1666 w 2227"/>
                <a:gd name="T13" fmla="*/ 719 h 1039"/>
                <a:gd name="T14" fmla="*/ 2300 w 2227"/>
                <a:gd name="T15" fmla="*/ 645 h 10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27" h="1039">
                  <a:moveTo>
                    <a:pt x="0" y="0"/>
                  </a:moveTo>
                  <a:cubicBezTo>
                    <a:pt x="34" y="55"/>
                    <a:pt x="121" y="209"/>
                    <a:pt x="201" y="327"/>
                  </a:cubicBezTo>
                  <a:cubicBezTo>
                    <a:pt x="281" y="445"/>
                    <a:pt x="387" y="599"/>
                    <a:pt x="480" y="711"/>
                  </a:cubicBezTo>
                  <a:cubicBezTo>
                    <a:pt x="573" y="823"/>
                    <a:pt x="675" y="959"/>
                    <a:pt x="758" y="999"/>
                  </a:cubicBezTo>
                  <a:cubicBezTo>
                    <a:pt x="841" y="1039"/>
                    <a:pt x="899" y="989"/>
                    <a:pt x="979" y="951"/>
                  </a:cubicBezTo>
                  <a:cubicBezTo>
                    <a:pt x="1059" y="913"/>
                    <a:pt x="1132" y="816"/>
                    <a:pt x="1238" y="768"/>
                  </a:cubicBezTo>
                  <a:cubicBezTo>
                    <a:pt x="1344" y="720"/>
                    <a:pt x="1448" y="692"/>
                    <a:pt x="1613" y="663"/>
                  </a:cubicBezTo>
                  <a:cubicBezTo>
                    <a:pt x="1778" y="634"/>
                    <a:pt x="2125" y="606"/>
                    <a:pt x="2227" y="595"/>
                  </a:cubicBezTo>
                </a:path>
              </a:pathLst>
            </a:custGeom>
            <a:noFill/>
            <a:ln w="28575" cmpd="sng">
              <a:solidFill>
                <a:srgbClr val="66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52" name="Text Box 14"/>
            <p:cNvSpPr txBox="1">
              <a:spLocks noChangeArrowheads="1"/>
            </p:cNvSpPr>
            <p:nvPr/>
          </p:nvSpPr>
          <p:spPr bwMode="auto">
            <a:xfrm>
              <a:off x="2426" y="1480"/>
              <a:ext cx="23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m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5553" name="Text Box 15"/>
            <p:cNvSpPr txBox="1">
              <a:spLocks noChangeArrowheads="1"/>
            </p:cNvSpPr>
            <p:nvPr/>
          </p:nvSpPr>
          <p:spPr bwMode="auto">
            <a:xfrm>
              <a:off x="3070" y="1488"/>
              <a:ext cx="31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m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5554" name="Text Box 16"/>
            <p:cNvSpPr txBox="1">
              <a:spLocks noChangeArrowheads="1"/>
            </p:cNvSpPr>
            <p:nvPr/>
          </p:nvSpPr>
          <p:spPr bwMode="auto">
            <a:xfrm>
              <a:off x="3563" y="1636"/>
              <a:ext cx="2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5555" name="Text Box 17"/>
            <p:cNvSpPr txBox="1">
              <a:spLocks noChangeArrowheads="1"/>
            </p:cNvSpPr>
            <p:nvPr/>
          </p:nvSpPr>
          <p:spPr bwMode="auto">
            <a:xfrm>
              <a:off x="2735" y="1081"/>
              <a:ext cx="37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5556" name="Line 20"/>
            <p:cNvSpPr>
              <a:spLocks noChangeShapeType="1"/>
            </p:cNvSpPr>
            <p:nvPr/>
          </p:nvSpPr>
          <p:spPr bwMode="auto">
            <a:xfrm flipV="1">
              <a:off x="2582" y="1237"/>
              <a:ext cx="0" cy="288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57" name="Line 21"/>
            <p:cNvSpPr>
              <a:spLocks noChangeShapeType="1"/>
            </p:cNvSpPr>
            <p:nvPr/>
          </p:nvSpPr>
          <p:spPr bwMode="auto">
            <a:xfrm>
              <a:off x="3061" y="1525"/>
              <a:ext cx="0" cy="528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5558" name="Text Box 72"/>
            <p:cNvSpPr txBox="1">
              <a:spLocks noChangeArrowheads="1"/>
            </p:cNvSpPr>
            <p:nvPr/>
          </p:nvSpPr>
          <p:spPr bwMode="auto">
            <a:xfrm>
              <a:off x="2019" y="1480"/>
              <a:ext cx="22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66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8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8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8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/>
      <p:bldP spid="181266" grpId="0" build="p" autoUpdateAnimBg="0"/>
      <p:bldP spid="181267" grpId="0" build="p" autoUpdateAnimBg="0"/>
      <p:bldP spid="181316" grpId="0" animBg="1"/>
      <p:bldP spid="181317" grpId="0" animBg="1"/>
      <p:bldP spid="181318" grpId="0" animBg="1"/>
      <p:bldP spid="1813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5028"/>
              </p:ext>
            </p:extLst>
          </p:nvPr>
        </p:nvGraphicFramePr>
        <p:xfrm>
          <a:off x="714375" y="738188"/>
          <a:ext cx="24352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64" name="Equation" r:id="rId3" imgW="1079280" imgH="444240" progId="Equation.DSMT4">
                  <p:embed/>
                </p:oleObj>
              </mc:Choice>
              <mc:Fallback>
                <p:oleObj name="Equation" r:id="rId3" imgW="107928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738188"/>
                        <a:ext cx="2435225" cy="10128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637685"/>
              </p:ext>
            </p:extLst>
          </p:nvPr>
        </p:nvGraphicFramePr>
        <p:xfrm>
          <a:off x="3922713" y="617538"/>
          <a:ext cx="3438525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65" name="Equation" r:id="rId5" imgW="1714320" imgH="507960" progId="Equation.DSMT4">
                  <p:embed/>
                </p:oleObj>
              </mc:Choice>
              <mc:Fallback>
                <p:oleObj name="Equation" r:id="rId5" imgW="1714320" imgH="5079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617538"/>
                        <a:ext cx="3438525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799287"/>
              </p:ext>
            </p:extLst>
          </p:nvPr>
        </p:nvGraphicFramePr>
        <p:xfrm>
          <a:off x="5652120" y="3573016"/>
          <a:ext cx="1736675" cy="445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66" name="Equation" r:id="rId7" imgW="774360" imgH="190440" progId="Equation.DSMT4">
                  <p:embed/>
                </p:oleObj>
              </mc:Choice>
              <mc:Fallback>
                <p:oleObj name="Equation" r:id="rId7" imgW="774360" imgH="1904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3573016"/>
                        <a:ext cx="1736675" cy="445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531099"/>
              </p:ext>
            </p:extLst>
          </p:nvPr>
        </p:nvGraphicFramePr>
        <p:xfrm>
          <a:off x="671513" y="2425531"/>
          <a:ext cx="6348759" cy="793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67" name="Equation" r:id="rId9" imgW="3593880" imgH="444240" progId="Equation.DSMT4">
                  <p:embed/>
                </p:oleObj>
              </mc:Choice>
              <mc:Fallback>
                <p:oleObj name="Equation" r:id="rId9" imgW="359388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2425531"/>
                        <a:ext cx="6348759" cy="793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630070"/>
              </p:ext>
            </p:extLst>
          </p:nvPr>
        </p:nvGraphicFramePr>
        <p:xfrm>
          <a:off x="539552" y="3526257"/>
          <a:ext cx="4464496" cy="531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68" name="Equation" r:id="rId11" imgW="2489040" imgH="291960" progId="Equation.DSMT4">
                  <p:embed/>
                </p:oleObj>
              </mc:Choice>
              <mc:Fallback>
                <p:oleObj name="Equation" r:id="rId11" imgW="2489040" imgH="291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526257"/>
                        <a:ext cx="4464496" cy="531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79" name="Rectangle 7"/>
          <p:cNvSpPr>
            <a:spLocks noChangeArrowheads="1"/>
          </p:cNvSpPr>
          <p:nvPr/>
        </p:nvSpPr>
        <p:spPr bwMode="auto">
          <a:xfrm>
            <a:off x="684213" y="4147266"/>
            <a:ext cx="200728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</a:rPr>
              <a:t>c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的解答形式：</a:t>
            </a:r>
          </a:p>
        </p:txBody>
      </p:sp>
      <p:graphicFrame>
        <p:nvGraphicFramePr>
          <p:cNvPr id="1822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605840"/>
              </p:ext>
            </p:extLst>
          </p:nvPr>
        </p:nvGraphicFramePr>
        <p:xfrm>
          <a:off x="1954213" y="4724400"/>
          <a:ext cx="58451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69" name="Equation" r:id="rId13" imgW="2628720" imgH="241200" progId="Equation.DSMT4">
                  <p:embed/>
                </p:oleObj>
              </mc:Choice>
              <mc:Fallback>
                <p:oleObj name="Equation" r:id="rId13" imgW="262872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4724400"/>
                        <a:ext cx="584517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1" name="Text Box 9"/>
          <p:cNvSpPr txBox="1">
            <a:spLocks noChangeArrowheads="1"/>
          </p:cNvSpPr>
          <p:nvPr/>
        </p:nvSpPr>
        <p:spPr bwMode="auto">
          <a:xfrm>
            <a:off x="899592" y="5627669"/>
            <a:ext cx="147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经常写为：</a:t>
            </a:r>
          </a:p>
        </p:txBody>
      </p:sp>
      <p:graphicFrame>
        <p:nvGraphicFramePr>
          <p:cNvPr id="1822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199331"/>
              </p:ext>
            </p:extLst>
          </p:nvPr>
        </p:nvGraphicFramePr>
        <p:xfrm>
          <a:off x="3563889" y="5747212"/>
          <a:ext cx="3096344" cy="558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70" name="Equation" r:id="rId15" imgW="1333500" imgH="241300" progId="Equation.DSMT4">
                  <p:embed/>
                </p:oleObj>
              </mc:Choice>
              <mc:Fallback>
                <p:oleObj name="Equation" r:id="rId15" imgW="1333500" imgH="241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9" y="5747212"/>
                        <a:ext cx="3096344" cy="55842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FFFF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9" name="AutoShape 17" descr="羊皮纸"/>
          <p:cNvSpPr>
            <a:spLocks noChangeArrowheads="1"/>
          </p:cNvSpPr>
          <p:nvPr/>
        </p:nvSpPr>
        <p:spPr bwMode="auto">
          <a:xfrm>
            <a:off x="6228184" y="1844824"/>
            <a:ext cx="1871662" cy="504825"/>
          </a:xfrm>
          <a:prstGeom prst="wedgeRoundRectCallout">
            <a:avLst>
              <a:gd name="adj1" fmla="val -85524"/>
              <a:gd name="adj2" fmla="val -106411"/>
              <a:gd name="adj3" fmla="val 16667"/>
            </a:avLst>
          </a:prstGeom>
          <a:blipFill dpi="0" rotWithShape="1">
            <a:blip r:embed="rId17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</a:rPr>
              <a:t>共轭复根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8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9" grpId="0" autoUpdateAnimBg="0"/>
      <p:bldP spid="182281" grpId="0" autoUpdateAnimBg="0"/>
      <p:bldP spid="18228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298" name="Object 2"/>
          <p:cNvGraphicFramePr>
            <a:graphicFrameLocks noChangeAspect="1"/>
          </p:cNvGraphicFramePr>
          <p:nvPr>
            <p:extLst/>
          </p:nvPr>
        </p:nvGraphicFramePr>
        <p:xfrm>
          <a:off x="1079415" y="1333668"/>
          <a:ext cx="6692902" cy="1346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74" name="Equation" r:id="rId3" imgW="3441600" imgH="685800" progId="Equation.DSMT4">
                  <p:embed/>
                </p:oleObj>
              </mc:Choice>
              <mc:Fallback>
                <p:oleObj name="Equation" r:id="rId3" imgW="34416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415" y="1333668"/>
                        <a:ext cx="6692902" cy="1346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299" name="Object 3"/>
          <p:cNvGraphicFramePr>
            <a:graphicFrameLocks noChangeAspect="1"/>
          </p:cNvGraphicFramePr>
          <p:nvPr>
            <p:extLst/>
          </p:nvPr>
        </p:nvGraphicFramePr>
        <p:xfrm>
          <a:off x="1187450" y="3212282"/>
          <a:ext cx="3348038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75" name="Equation" r:id="rId5" imgW="1562151" imgH="409511" progId="Equation.DSMT4">
                  <p:embed/>
                </p:oleObj>
              </mc:Choice>
              <mc:Fallback>
                <p:oleObj name="Equation" r:id="rId5" imgW="1562151" imgH="40951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212282"/>
                        <a:ext cx="3348038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3300" name="Group 4"/>
          <p:cNvGrpSpPr>
            <a:grpSpLocks/>
          </p:cNvGrpSpPr>
          <p:nvPr/>
        </p:nvGrpSpPr>
        <p:grpSpPr bwMode="auto">
          <a:xfrm>
            <a:off x="6376990" y="2709045"/>
            <a:ext cx="1508125" cy="1811338"/>
            <a:chOff x="4153" y="1888"/>
            <a:chExt cx="950" cy="1141"/>
          </a:xfrm>
        </p:grpSpPr>
        <p:sp>
          <p:nvSpPr>
            <p:cNvPr id="67595" name="Line 5"/>
            <p:cNvSpPr>
              <a:spLocks noChangeShapeType="1"/>
            </p:cNvSpPr>
            <p:nvPr/>
          </p:nvSpPr>
          <p:spPr bwMode="auto">
            <a:xfrm>
              <a:off x="4873" y="1888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596" name="Line 6"/>
            <p:cNvSpPr>
              <a:spLocks noChangeShapeType="1"/>
            </p:cNvSpPr>
            <p:nvPr/>
          </p:nvSpPr>
          <p:spPr bwMode="auto">
            <a:xfrm>
              <a:off x="4153" y="280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597" name="Line 7"/>
            <p:cNvSpPr>
              <a:spLocks noChangeShapeType="1"/>
            </p:cNvSpPr>
            <p:nvPr/>
          </p:nvSpPr>
          <p:spPr bwMode="auto">
            <a:xfrm flipH="1">
              <a:off x="4153" y="1888"/>
              <a:ext cx="72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599" name="Text Box 9"/>
            <p:cNvSpPr txBox="1">
              <a:spLocks noChangeArrowheads="1"/>
            </p:cNvSpPr>
            <p:nvPr/>
          </p:nvSpPr>
          <p:spPr bwMode="auto">
            <a:xfrm>
              <a:off x="4441" y="2777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a</a:t>
              </a:r>
              <a:endParaRPr kumimoji="1"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00" name="Text Box 10"/>
            <p:cNvSpPr txBox="1">
              <a:spLocks noChangeArrowheads="1"/>
            </p:cNvSpPr>
            <p:nvPr/>
          </p:nvSpPr>
          <p:spPr bwMode="auto">
            <a:xfrm>
              <a:off x="4873" y="2226"/>
              <a:ext cx="2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ω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01" name="Text Box 11"/>
            <p:cNvSpPr txBox="1">
              <a:spLocks noChangeArrowheads="1"/>
            </p:cNvSpPr>
            <p:nvPr/>
          </p:nvSpPr>
          <p:spPr bwMode="auto">
            <a:xfrm>
              <a:off x="4240" y="2135"/>
              <a:ext cx="31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ω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02" name="Freeform 12"/>
            <p:cNvSpPr>
              <a:spLocks/>
            </p:cNvSpPr>
            <p:nvPr/>
          </p:nvSpPr>
          <p:spPr bwMode="auto">
            <a:xfrm>
              <a:off x="4297" y="2608"/>
              <a:ext cx="80" cy="192"/>
            </a:xfrm>
            <a:custGeom>
              <a:avLst/>
              <a:gdLst>
                <a:gd name="T0" fmla="*/ 0 w 80"/>
                <a:gd name="T1" fmla="*/ 0 h 192"/>
                <a:gd name="T2" fmla="*/ 72 w 80"/>
                <a:gd name="T3" fmla="*/ 108 h 192"/>
                <a:gd name="T4" fmla="*/ 48 w 80"/>
                <a:gd name="T5" fmla="*/ 192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0" h="192">
                  <a:moveTo>
                    <a:pt x="0" y="0"/>
                  </a:moveTo>
                  <a:cubicBezTo>
                    <a:pt x="12" y="18"/>
                    <a:pt x="64" y="76"/>
                    <a:pt x="72" y="108"/>
                  </a:cubicBezTo>
                  <a:cubicBezTo>
                    <a:pt x="80" y="140"/>
                    <a:pt x="53" y="175"/>
                    <a:pt x="48" y="192"/>
                  </a:cubicBez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603" name="Text Box 13"/>
            <p:cNvSpPr txBox="1">
              <a:spLocks noChangeArrowheads="1"/>
            </p:cNvSpPr>
            <p:nvPr/>
          </p:nvSpPr>
          <p:spPr bwMode="auto">
            <a:xfrm>
              <a:off x="4399" y="2498"/>
              <a:ext cx="2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</a:t>
              </a:r>
              <a:endPara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758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770534"/>
              </p:ext>
            </p:extLst>
          </p:nvPr>
        </p:nvGraphicFramePr>
        <p:xfrm>
          <a:off x="2225926" y="441381"/>
          <a:ext cx="3371411" cy="620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76" name="Equation" r:id="rId7" imgW="1307880" imgH="241200" progId="Equation.DSMT4">
                  <p:embed/>
                </p:oleObj>
              </mc:Choice>
              <mc:Fallback>
                <p:oleObj name="Equation" r:id="rId7" imgW="1307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926" y="441381"/>
                        <a:ext cx="3371411" cy="62000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FFFF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17" name="Object 21"/>
          <p:cNvGraphicFramePr>
            <a:graphicFrameLocks noChangeAspect="1"/>
          </p:cNvGraphicFramePr>
          <p:nvPr>
            <p:extLst/>
          </p:nvPr>
        </p:nvGraphicFramePr>
        <p:xfrm>
          <a:off x="1120775" y="4504507"/>
          <a:ext cx="1427163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77" name="Equation" r:id="rId9" imgW="685800" imgH="431640" progId="Equation.DSMT4">
                  <p:embed/>
                </p:oleObj>
              </mc:Choice>
              <mc:Fallback>
                <p:oleObj name="Equation" r:id="rId9" imgW="685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4504507"/>
                        <a:ext cx="1427163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18" name="Object 22"/>
          <p:cNvGraphicFramePr>
            <a:graphicFrameLocks noChangeAspect="1"/>
          </p:cNvGraphicFramePr>
          <p:nvPr>
            <p:extLst/>
          </p:nvPr>
        </p:nvGraphicFramePr>
        <p:xfrm>
          <a:off x="3240088" y="4423544"/>
          <a:ext cx="13906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78" name="Equation" r:id="rId11" imgW="596880" imgH="393480" progId="Equation.DSMT4">
                  <p:embed/>
                </p:oleObj>
              </mc:Choice>
              <mc:Fallback>
                <p:oleObj name="Equation" r:id="rId11" imgW="596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4423544"/>
                        <a:ext cx="13906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19" name="Line 23"/>
          <p:cNvSpPr>
            <a:spLocks noChangeShapeType="1"/>
          </p:cNvSpPr>
          <p:nvPr/>
        </p:nvSpPr>
        <p:spPr bwMode="auto">
          <a:xfrm>
            <a:off x="5219700" y="3572644"/>
            <a:ext cx="720725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320" name="AutoShape 24" descr="羊皮纸"/>
          <p:cNvSpPr>
            <a:spLocks noChangeArrowheads="1"/>
          </p:cNvSpPr>
          <p:nvPr/>
        </p:nvSpPr>
        <p:spPr bwMode="auto">
          <a:xfrm>
            <a:off x="6376990" y="4725144"/>
            <a:ext cx="2303983" cy="865188"/>
          </a:xfrm>
          <a:prstGeom prst="wedgeRoundRectCallout">
            <a:avLst>
              <a:gd name="adj1" fmla="val 2134"/>
              <a:gd name="adj2" fmla="val -109264"/>
              <a:gd name="adj3" fmla="val 16667"/>
            </a:avLst>
          </a:prstGeom>
          <a:solidFill>
            <a:srgbClr val="92D050"/>
          </a:solidFill>
          <a:ln>
            <a:noFill/>
          </a:ln>
          <a:effectLst/>
          <a:extLst/>
        </p:spPr>
        <p:txBody>
          <a:bodyPr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ω</a:t>
            </a:r>
            <a:r>
              <a:rPr kumimoji="1" lang="zh-CN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ω</a:t>
            </a:r>
            <a:r>
              <a:rPr kumimoji="1" lang="zh-CN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０</a:t>
            </a:r>
            <a:r>
              <a:rPr kumimoji="1" lang="zh-CN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δ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的关系</a:t>
            </a:r>
          </a:p>
        </p:txBody>
      </p:sp>
      <p:graphicFrame>
        <p:nvGraphicFramePr>
          <p:cNvPr id="18332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682574"/>
              </p:ext>
            </p:extLst>
          </p:nvPr>
        </p:nvGraphicFramePr>
        <p:xfrm>
          <a:off x="1187450" y="5589626"/>
          <a:ext cx="4415989" cy="965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79" name="Equation" r:id="rId13" imgW="1742950" imgH="381129" progId="Equation.DSMT4">
                  <p:embed/>
                </p:oleObj>
              </mc:Choice>
              <mc:Fallback>
                <p:oleObj name="Equation" r:id="rId13" imgW="1742950" imgH="3811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589626"/>
                        <a:ext cx="4415989" cy="965639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433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8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18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8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1000"/>
                                        <p:tgtEl>
                                          <p:spTgt spid="18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19" grpId="0" animBg="1"/>
      <p:bldP spid="1833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077001"/>
              </p:ext>
            </p:extLst>
          </p:nvPr>
        </p:nvGraphicFramePr>
        <p:xfrm>
          <a:off x="2476500" y="461312"/>
          <a:ext cx="3417888" cy="87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48" name="Equation" r:id="rId3" imgW="1587240" imgH="393480" progId="Equation.DSMT4">
                  <p:embed/>
                </p:oleObj>
              </mc:Choice>
              <mc:Fallback>
                <p:oleObj name="Equation" r:id="rId3" imgW="158724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461312"/>
                        <a:ext cx="3417888" cy="87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1188269" y="2380818"/>
            <a:ext cx="21595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0 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时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=V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84325" name="Text Box 5"/>
          <p:cNvSpPr txBox="1">
            <a:spLocks noChangeArrowheads="1"/>
          </p:cNvSpPr>
          <p:nvPr/>
        </p:nvSpPr>
        <p:spPr bwMode="auto">
          <a:xfrm>
            <a:off x="3492500" y="2349500"/>
            <a:ext cx="37994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</a:rPr>
              <a:t>= 0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kumimoji="1" lang="zh-CN" altLang="en-US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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=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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，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2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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...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n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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  <a:sym typeface="Symbol" pitchFamily="18" charset="2"/>
            </a:endParaRPr>
          </a:p>
        </p:txBody>
      </p:sp>
      <p:grpSp>
        <p:nvGrpSpPr>
          <p:cNvPr id="184326" name="Group 6"/>
          <p:cNvGrpSpPr>
            <a:grpSpLocks/>
          </p:cNvGrpSpPr>
          <p:nvPr/>
        </p:nvGrpSpPr>
        <p:grpSpPr bwMode="auto">
          <a:xfrm>
            <a:off x="1619250" y="2852738"/>
            <a:ext cx="5765800" cy="3402012"/>
            <a:chOff x="1020" y="1797"/>
            <a:chExt cx="3632" cy="2143"/>
          </a:xfrm>
        </p:grpSpPr>
        <p:sp>
          <p:nvSpPr>
            <p:cNvPr id="68618" name="Freeform 7"/>
            <p:cNvSpPr>
              <a:spLocks/>
            </p:cNvSpPr>
            <p:nvPr/>
          </p:nvSpPr>
          <p:spPr bwMode="auto">
            <a:xfrm>
              <a:off x="1308" y="2195"/>
              <a:ext cx="2405" cy="1289"/>
            </a:xfrm>
            <a:custGeom>
              <a:avLst/>
              <a:gdLst>
                <a:gd name="T0" fmla="*/ 5 w 2405"/>
                <a:gd name="T1" fmla="*/ 0 h 1289"/>
                <a:gd name="T2" fmla="*/ 5 w 2405"/>
                <a:gd name="T3" fmla="*/ 5 h 1289"/>
                <a:gd name="T4" fmla="*/ 15 w 2405"/>
                <a:gd name="T5" fmla="*/ 5 h 1289"/>
                <a:gd name="T6" fmla="*/ 96 w 2405"/>
                <a:gd name="T7" fmla="*/ 24 h 1289"/>
                <a:gd name="T8" fmla="*/ 202 w 2405"/>
                <a:gd name="T9" fmla="*/ 144 h 1289"/>
                <a:gd name="T10" fmla="*/ 399 w 2405"/>
                <a:gd name="T11" fmla="*/ 516 h 1289"/>
                <a:gd name="T12" fmla="*/ 547 w 2405"/>
                <a:gd name="T13" fmla="*/ 877 h 1289"/>
                <a:gd name="T14" fmla="*/ 600 w 2405"/>
                <a:gd name="T15" fmla="*/ 985 h 1289"/>
                <a:gd name="T16" fmla="*/ 734 w 2405"/>
                <a:gd name="T17" fmla="*/ 1174 h 1289"/>
                <a:gd name="T18" fmla="*/ 936 w 2405"/>
                <a:gd name="T19" fmla="*/ 1287 h 1289"/>
                <a:gd name="T20" fmla="*/ 1121 w 2405"/>
                <a:gd name="T21" fmla="*/ 1189 h 1289"/>
                <a:gd name="T22" fmla="*/ 1242 w 2405"/>
                <a:gd name="T23" fmla="*/ 1068 h 1289"/>
                <a:gd name="T24" fmla="*/ 1469 w 2405"/>
                <a:gd name="T25" fmla="*/ 755 h 1289"/>
                <a:gd name="T26" fmla="*/ 1657 w 2405"/>
                <a:gd name="T27" fmla="*/ 581 h 1289"/>
                <a:gd name="T28" fmla="*/ 1853 w 2405"/>
                <a:gd name="T29" fmla="*/ 504 h 1289"/>
                <a:gd name="T30" fmla="*/ 2138 w 2405"/>
                <a:gd name="T31" fmla="*/ 635 h 1289"/>
                <a:gd name="T32" fmla="*/ 2271 w 2405"/>
                <a:gd name="T33" fmla="*/ 755 h 1289"/>
                <a:gd name="T34" fmla="*/ 2405 w 2405"/>
                <a:gd name="T35" fmla="*/ 875 h 12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05" h="1289">
                  <a:moveTo>
                    <a:pt x="5" y="0"/>
                  </a:moveTo>
                  <a:cubicBezTo>
                    <a:pt x="5" y="1"/>
                    <a:pt x="3" y="4"/>
                    <a:pt x="5" y="5"/>
                  </a:cubicBezTo>
                  <a:cubicBezTo>
                    <a:pt x="7" y="6"/>
                    <a:pt x="0" y="2"/>
                    <a:pt x="15" y="5"/>
                  </a:cubicBezTo>
                  <a:cubicBezTo>
                    <a:pt x="30" y="8"/>
                    <a:pt x="65" y="1"/>
                    <a:pt x="96" y="24"/>
                  </a:cubicBezTo>
                  <a:cubicBezTo>
                    <a:pt x="127" y="47"/>
                    <a:pt x="152" y="62"/>
                    <a:pt x="202" y="144"/>
                  </a:cubicBezTo>
                  <a:cubicBezTo>
                    <a:pt x="252" y="226"/>
                    <a:pt x="342" y="394"/>
                    <a:pt x="399" y="516"/>
                  </a:cubicBezTo>
                  <a:cubicBezTo>
                    <a:pt x="456" y="638"/>
                    <a:pt x="513" y="799"/>
                    <a:pt x="547" y="877"/>
                  </a:cubicBezTo>
                  <a:cubicBezTo>
                    <a:pt x="580" y="956"/>
                    <a:pt x="569" y="935"/>
                    <a:pt x="600" y="985"/>
                  </a:cubicBezTo>
                  <a:cubicBezTo>
                    <a:pt x="630" y="1035"/>
                    <a:pt x="678" y="1124"/>
                    <a:pt x="734" y="1174"/>
                  </a:cubicBezTo>
                  <a:cubicBezTo>
                    <a:pt x="790" y="1224"/>
                    <a:pt x="872" y="1285"/>
                    <a:pt x="936" y="1287"/>
                  </a:cubicBezTo>
                  <a:cubicBezTo>
                    <a:pt x="1000" y="1289"/>
                    <a:pt x="1070" y="1225"/>
                    <a:pt x="1121" y="1189"/>
                  </a:cubicBezTo>
                  <a:cubicBezTo>
                    <a:pt x="1172" y="1153"/>
                    <a:pt x="1183" y="1141"/>
                    <a:pt x="1242" y="1068"/>
                  </a:cubicBezTo>
                  <a:cubicBezTo>
                    <a:pt x="1300" y="996"/>
                    <a:pt x="1399" y="836"/>
                    <a:pt x="1469" y="755"/>
                  </a:cubicBezTo>
                  <a:cubicBezTo>
                    <a:pt x="1539" y="675"/>
                    <a:pt x="1593" y="623"/>
                    <a:pt x="1657" y="581"/>
                  </a:cubicBezTo>
                  <a:cubicBezTo>
                    <a:pt x="1721" y="539"/>
                    <a:pt x="1773" y="495"/>
                    <a:pt x="1853" y="504"/>
                  </a:cubicBezTo>
                  <a:cubicBezTo>
                    <a:pt x="1933" y="513"/>
                    <a:pt x="2068" y="593"/>
                    <a:pt x="2138" y="635"/>
                  </a:cubicBezTo>
                  <a:cubicBezTo>
                    <a:pt x="2208" y="677"/>
                    <a:pt x="2227" y="716"/>
                    <a:pt x="2271" y="755"/>
                  </a:cubicBezTo>
                  <a:cubicBezTo>
                    <a:pt x="2316" y="795"/>
                    <a:pt x="2360" y="835"/>
                    <a:pt x="2405" y="875"/>
                  </a:cubicBezTo>
                </a:path>
              </a:pathLst>
            </a:custGeom>
            <a:noFill/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8619" name="Freeform 8"/>
            <p:cNvSpPr>
              <a:spLocks/>
            </p:cNvSpPr>
            <p:nvPr/>
          </p:nvSpPr>
          <p:spPr bwMode="auto">
            <a:xfrm>
              <a:off x="1299" y="2147"/>
              <a:ext cx="2727" cy="641"/>
            </a:xfrm>
            <a:custGeom>
              <a:avLst/>
              <a:gdLst>
                <a:gd name="T0" fmla="*/ 0 w 1958"/>
                <a:gd name="T1" fmla="*/ 0 h 653"/>
                <a:gd name="T2" fmla="*/ 535 w 1958"/>
                <a:gd name="T3" fmla="*/ 236 h 653"/>
                <a:gd name="T4" fmla="*/ 1671 w 1958"/>
                <a:gd name="T5" fmla="*/ 518 h 653"/>
                <a:gd name="T6" fmla="*/ 2727 w 1958"/>
                <a:gd name="T7" fmla="*/ 641 h 6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58" h="653">
                  <a:moveTo>
                    <a:pt x="0" y="0"/>
                  </a:moveTo>
                  <a:cubicBezTo>
                    <a:pt x="92" y="76"/>
                    <a:pt x="184" y="152"/>
                    <a:pt x="384" y="240"/>
                  </a:cubicBezTo>
                  <a:cubicBezTo>
                    <a:pt x="584" y="328"/>
                    <a:pt x="938" y="459"/>
                    <a:pt x="1200" y="528"/>
                  </a:cubicBezTo>
                  <a:cubicBezTo>
                    <a:pt x="1462" y="597"/>
                    <a:pt x="1800" y="627"/>
                    <a:pt x="1958" y="653"/>
                  </a:cubicBezTo>
                </a:path>
              </a:pathLst>
            </a:custGeom>
            <a:noFill/>
            <a:ln w="28575" cap="rnd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8620" name="Freeform 9"/>
            <p:cNvSpPr>
              <a:spLocks/>
            </p:cNvSpPr>
            <p:nvPr/>
          </p:nvSpPr>
          <p:spPr bwMode="auto">
            <a:xfrm>
              <a:off x="1339" y="3189"/>
              <a:ext cx="2875" cy="659"/>
            </a:xfrm>
            <a:custGeom>
              <a:avLst/>
              <a:gdLst>
                <a:gd name="T0" fmla="*/ 0 w 2064"/>
                <a:gd name="T1" fmla="*/ 659 h 672"/>
                <a:gd name="T2" fmla="*/ 602 w 2064"/>
                <a:gd name="T3" fmla="*/ 377 h 672"/>
                <a:gd name="T4" fmla="*/ 1337 w 2064"/>
                <a:gd name="T5" fmla="*/ 188 h 672"/>
                <a:gd name="T6" fmla="*/ 2206 w 2064"/>
                <a:gd name="T7" fmla="*/ 47 h 672"/>
                <a:gd name="T8" fmla="*/ 2875 w 2064"/>
                <a:gd name="T9" fmla="*/ 0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64" h="672">
                  <a:moveTo>
                    <a:pt x="0" y="672"/>
                  </a:moveTo>
                  <a:cubicBezTo>
                    <a:pt x="136" y="568"/>
                    <a:pt x="272" y="464"/>
                    <a:pt x="432" y="384"/>
                  </a:cubicBezTo>
                  <a:cubicBezTo>
                    <a:pt x="592" y="304"/>
                    <a:pt x="768" y="248"/>
                    <a:pt x="960" y="192"/>
                  </a:cubicBezTo>
                  <a:cubicBezTo>
                    <a:pt x="1152" y="136"/>
                    <a:pt x="1400" y="80"/>
                    <a:pt x="1584" y="48"/>
                  </a:cubicBezTo>
                  <a:cubicBezTo>
                    <a:pt x="1768" y="16"/>
                    <a:pt x="1916" y="8"/>
                    <a:pt x="2064" y="0"/>
                  </a:cubicBezTo>
                </a:path>
              </a:pathLst>
            </a:custGeom>
            <a:noFill/>
            <a:ln w="28575" cap="rnd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8621" name="Line 10"/>
            <p:cNvSpPr>
              <a:spLocks noChangeShapeType="1"/>
            </p:cNvSpPr>
            <p:nvPr/>
          </p:nvSpPr>
          <p:spPr bwMode="auto">
            <a:xfrm>
              <a:off x="1098" y="2951"/>
              <a:ext cx="32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8622" name="Line 11"/>
            <p:cNvSpPr>
              <a:spLocks noChangeShapeType="1"/>
            </p:cNvSpPr>
            <p:nvPr/>
          </p:nvSpPr>
          <p:spPr bwMode="auto">
            <a:xfrm>
              <a:off x="1299" y="2010"/>
              <a:ext cx="0" cy="19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8623" name="Text Box 12"/>
            <p:cNvSpPr txBox="1">
              <a:spLocks noChangeArrowheads="1"/>
            </p:cNvSpPr>
            <p:nvPr/>
          </p:nvSpPr>
          <p:spPr bwMode="auto">
            <a:xfrm>
              <a:off x="4380" y="2868"/>
              <a:ext cx="27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/>
              <a:r>
                <a:rPr kumimoji="1" lang="en-US" altLang="zh-CN" sz="2000" b="0" i="1" dirty="0" err="1" smtClean="0">
                  <a:solidFill>
                    <a:schemeClr val="tx1"/>
                  </a:solidFill>
                  <a:latin typeface="Symbol" panose="05050102010706020507" pitchFamily="18" charset="2"/>
                  <a:ea typeface="宋体" charset="-122"/>
                </a:rPr>
                <a:t>w</a:t>
              </a:r>
              <a:r>
                <a:rPr kumimoji="1" lang="en-US" altLang="zh-CN" sz="2000" b="0" i="1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8624" name="Text Box 13"/>
            <p:cNvSpPr txBox="1">
              <a:spLocks noChangeArrowheads="1"/>
            </p:cNvSpPr>
            <p:nvPr/>
          </p:nvSpPr>
          <p:spPr bwMode="auto">
            <a:xfrm>
              <a:off x="1699" y="2901"/>
              <a:ext cx="3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-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</a:t>
              </a:r>
            </a:p>
          </p:txBody>
        </p:sp>
        <p:sp>
          <p:nvSpPr>
            <p:cNvPr id="68625" name="Text Box 14"/>
            <p:cNvSpPr txBox="1">
              <a:spLocks noChangeArrowheads="1"/>
            </p:cNvSpPr>
            <p:nvPr/>
          </p:nvSpPr>
          <p:spPr bwMode="auto">
            <a:xfrm>
              <a:off x="2518" y="2901"/>
              <a:ext cx="4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2-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</a:t>
              </a:r>
            </a:p>
          </p:txBody>
        </p:sp>
        <p:sp>
          <p:nvSpPr>
            <p:cNvPr id="68626" name="Text Box 15"/>
            <p:cNvSpPr txBox="1">
              <a:spLocks noChangeArrowheads="1"/>
            </p:cNvSpPr>
            <p:nvPr/>
          </p:nvSpPr>
          <p:spPr bwMode="auto">
            <a:xfrm>
              <a:off x="3045" y="2901"/>
              <a:ext cx="28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2</a:t>
              </a:r>
            </a:p>
          </p:txBody>
        </p:sp>
        <p:sp>
          <p:nvSpPr>
            <p:cNvPr id="68627" name="Text Box 16"/>
            <p:cNvSpPr txBox="1">
              <a:spLocks noChangeArrowheads="1"/>
            </p:cNvSpPr>
            <p:nvPr/>
          </p:nvSpPr>
          <p:spPr bwMode="auto">
            <a:xfrm>
              <a:off x="2245" y="2906"/>
              <a:ext cx="2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</a:t>
              </a:r>
            </a:p>
          </p:txBody>
        </p:sp>
        <p:sp>
          <p:nvSpPr>
            <p:cNvPr id="68628" name="Text Box 17"/>
            <p:cNvSpPr txBox="1">
              <a:spLocks noChangeArrowheads="1"/>
            </p:cNvSpPr>
            <p:nvPr/>
          </p:nvSpPr>
          <p:spPr bwMode="auto">
            <a:xfrm>
              <a:off x="1296" y="2951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68629" name="Line 18"/>
            <p:cNvSpPr>
              <a:spLocks noChangeShapeType="1"/>
            </p:cNvSpPr>
            <p:nvPr/>
          </p:nvSpPr>
          <p:spPr bwMode="auto">
            <a:xfrm>
              <a:off x="2251" y="2951"/>
              <a:ext cx="0" cy="531"/>
            </a:xfrm>
            <a:prstGeom prst="line">
              <a:avLst/>
            </a:prstGeom>
            <a:noFill/>
            <a:ln w="38100" cap="rnd">
              <a:solidFill>
                <a:srgbClr val="7030A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8630" name="Text Box 19"/>
            <p:cNvSpPr txBox="1">
              <a:spLocks noChangeArrowheads="1"/>
            </p:cNvSpPr>
            <p:nvPr/>
          </p:nvSpPr>
          <p:spPr bwMode="auto">
            <a:xfrm>
              <a:off x="1020" y="2069"/>
              <a:ext cx="27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8631" name="Text Box 20"/>
            <p:cNvSpPr txBox="1">
              <a:spLocks noChangeArrowheads="1"/>
            </p:cNvSpPr>
            <p:nvPr/>
          </p:nvSpPr>
          <p:spPr bwMode="auto">
            <a:xfrm>
              <a:off x="1292" y="1797"/>
              <a:ext cx="2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8632" name="Line 21"/>
            <p:cNvSpPr>
              <a:spLocks noChangeShapeType="1"/>
            </p:cNvSpPr>
            <p:nvPr/>
          </p:nvSpPr>
          <p:spPr bwMode="auto">
            <a:xfrm>
              <a:off x="3159" y="2697"/>
              <a:ext cx="0" cy="254"/>
            </a:xfrm>
            <a:prstGeom prst="line">
              <a:avLst/>
            </a:prstGeom>
            <a:noFill/>
            <a:ln w="38100" cap="rnd">
              <a:solidFill>
                <a:srgbClr val="7030A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aphicFrame>
          <p:nvGraphicFramePr>
            <p:cNvPr id="68633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1366325"/>
                </p:ext>
              </p:extLst>
            </p:nvPr>
          </p:nvGraphicFramePr>
          <p:xfrm>
            <a:off x="3215" y="2253"/>
            <a:ext cx="663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749" name="Equation" r:id="rId5" imgW="583920" imgH="393480" progId="Equation.DSMT4">
                    <p:embed/>
                  </p:oleObj>
                </mc:Choice>
                <mc:Fallback>
                  <p:oleObj name="Equation" r:id="rId5" imgW="583920" imgH="3934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5" y="2253"/>
                          <a:ext cx="663" cy="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3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2412629"/>
                </p:ext>
              </p:extLst>
            </p:nvPr>
          </p:nvGraphicFramePr>
          <p:xfrm>
            <a:off x="2978" y="3284"/>
            <a:ext cx="794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750" name="Equation" r:id="rId7" imgW="685800" imgH="393480" progId="Equation.DSMT4">
                    <p:embed/>
                  </p:oleObj>
                </mc:Choice>
                <mc:Fallback>
                  <p:oleObj name="Equation" r:id="rId7" imgW="685800" imgH="39348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8" y="3284"/>
                          <a:ext cx="794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614" name="Group 36"/>
          <p:cNvGrpSpPr>
            <a:grpSpLocks/>
          </p:cNvGrpSpPr>
          <p:nvPr/>
        </p:nvGrpSpPr>
        <p:grpSpPr bwMode="auto">
          <a:xfrm>
            <a:off x="1154509" y="1412777"/>
            <a:ext cx="6873875" cy="792162"/>
            <a:chOff x="186" y="914"/>
            <a:chExt cx="4330" cy="499"/>
          </a:xfrm>
        </p:grpSpPr>
        <p:graphicFrame>
          <p:nvGraphicFramePr>
            <p:cNvPr id="6861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4742121"/>
                </p:ext>
              </p:extLst>
            </p:nvPr>
          </p:nvGraphicFramePr>
          <p:xfrm>
            <a:off x="1114" y="914"/>
            <a:ext cx="835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751" name="Equation" r:id="rId9" imgW="609480" imgH="355320" progId="Equation.DSMT4">
                    <p:embed/>
                  </p:oleObj>
                </mc:Choice>
                <mc:Fallback>
                  <p:oleObj name="Equation" r:id="rId9" imgW="609480" imgH="35532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4" y="914"/>
                          <a:ext cx="835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616" name="Text Box 33"/>
            <p:cNvSpPr txBox="1">
              <a:spLocks noChangeArrowheads="1"/>
            </p:cNvSpPr>
            <p:nvPr/>
          </p:nvSpPr>
          <p:spPr bwMode="auto">
            <a:xfrm>
              <a:off x="358" y="1026"/>
              <a:ext cx="415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是振幅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以                  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为包络线依指数衰减的正弦函数。</a:t>
              </a:r>
            </a:p>
          </p:txBody>
        </p:sp>
        <p:graphicFrame>
          <p:nvGraphicFramePr>
            <p:cNvPr id="68617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2511366"/>
                </p:ext>
              </p:extLst>
            </p:nvPr>
          </p:nvGraphicFramePr>
          <p:xfrm>
            <a:off x="186" y="974"/>
            <a:ext cx="258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752" name="Equation" r:id="rId11" imgW="164880" imgH="203040" progId="Equation.DSMT4">
                    <p:embed/>
                  </p:oleObj>
                </mc:Choice>
                <mc:Fallback>
                  <p:oleObj name="Equation" r:id="rId11" imgW="164880" imgH="20304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" y="974"/>
                          <a:ext cx="258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5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64" name="Freeform 20"/>
          <p:cNvSpPr>
            <a:spLocks/>
          </p:cNvSpPr>
          <p:nvPr/>
        </p:nvSpPr>
        <p:spPr bwMode="auto">
          <a:xfrm>
            <a:off x="1086346" y="1700213"/>
            <a:ext cx="4307980" cy="836612"/>
          </a:xfrm>
          <a:custGeom>
            <a:avLst/>
            <a:gdLst>
              <a:gd name="T0" fmla="*/ 0 w 2740"/>
              <a:gd name="T1" fmla="*/ 454025 h 527"/>
              <a:gd name="T2" fmla="*/ 190500 w 2740"/>
              <a:gd name="T3" fmla="*/ 217487 h 527"/>
              <a:gd name="T4" fmla="*/ 357188 w 2740"/>
              <a:gd name="T5" fmla="*/ 80962 h 527"/>
              <a:gd name="T6" fmla="*/ 547688 w 2740"/>
              <a:gd name="T7" fmla="*/ 4762 h 527"/>
              <a:gd name="T8" fmla="*/ 990600 w 2740"/>
              <a:gd name="T9" fmla="*/ 111125 h 527"/>
              <a:gd name="T10" fmla="*/ 1317625 w 2740"/>
              <a:gd name="T11" fmla="*/ 323850 h 527"/>
              <a:gd name="T12" fmla="*/ 1516063 w 2740"/>
              <a:gd name="T13" fmla="*/ 492125 h 527"/>
              <a:gd name="T14" fmla="*/ 1584325 w 2740"/>
              <a:gd name="T15" fmla="*/ 560387 h 527"/>
              <a:gd name="T16" fmla="*/ 1652588 w 2740"/>
              <a:gd name="T17" fmla="*/ 636587 h 527"/>
              <a:gd name="T18" fmla="*/ 1836738 w 2740"/>
              <a:gd name="T19" fmla="*/ 742950 h 527"/>
              <a:gd name="T20" fmla="*/ 2109788 w 2740"/>
              <a:gd name="T21" fmla="*/ 833437 h 527"/>
              <a:gd name="T22" fmla="*/ 2393950 w 2740"/>
              <a:gd name="T23" fmla="*/ 763587 h 527"/>
              <a:gd name="T24" fmla="*/ 2578100 w 2740"/>
              <a:gd name="T25" fmla="*/ 685800 h 527"/>
              <a:gd name="T26" fmla="*/ 2924175 w 2740"/>
              <a:gd name="T27" fmla="*/ 479425 h 527"/>
              <a:gd name="T28" fmla="*/ 3211513 w 2740"/>
              <a:gd name="T29" fmla="*/ 365125 h 527"/>
              <a:gd name="T30" fmla="*/ 3495675 w 2740"/>
              <a:gd name="T31" fmla="*/ 304800 h 527"/>
              <a:gd name="T32" fmla="*/ 3941763 w 2740"/>
              <a:gd name="T33" fmla="*/ 401637 h 527"/>
              <a:gd name="T34" fmla="*/ 4146550 w 2740"/>
              <a:gd name="T35" fmla="*/ 479425 h 527"/>
              <a:gd name="T36" fmla="*/ 4349750 w 2740"/>
              <a:gd name="T37" fmla="*/ 557212 h 52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527">
                <a:moveTo>
                  <a:pt x="0" y="286"/>
                </a:moveTo>
                <a:cubicBezTo>
                  <a:pt x="20" y="261"/>
                  <a:pt x="83" y="176"/>
                  <a:pt x="120" y="137"/>
                </a:cubicBezTo>
                <a:cubicBezTo>
                  <a:pt x="157" y="98"/>
                  <a:pt x="187" y="73"/>
                  <a:pt x="225" y="51"/>
                </a:cubicBezTo>
                <a:cubicBezTo>
                  <a:pt x="263" y="29"/>
                  <a:pt x="279" y="0"/>
                  <a:pt x="345" y="3"/>
                </a:cubicBezTo>
                <a:cubicBezTo>
                  <a:pt x="411" y="6"/>
                  <a:pt x="543" y="37"/>
                  <a:pt x="624" y="70"/>
                </a:cubicBezTo>
                <a:cubicBezTo>
                  <a:pt x="705" y="103"/>
                  <a:pt x="775" y="164"/>
                  <a:pt x="830" y="204"/>
                </a:cubicBezTo>
                <a:cubicBezTo>
                  <a:pt x="885" y="244"/>
                  <a:pt x="927" y="285"/>
                  <a:pt x="955" y="310"/>
                </a:cubicBezTo>
                <a:cubicBezTo>
                  <a:pt x="983" y="335"/>
                  <a:pt x="984" y="338"/>
                  <a:pt x="998" y="353"/>
                </a:cubicBezTo>
                <a:cubicBezTo>
                  <a:pt x="1012" y="368"/>
                  <a:pt x="1015" y="382"/>
                  <a:pt x="1041" y="401"/>
                </a:cubicBezTo>
                <a:cubicBezTo>
                  <a:pt x="1067" y="420"/>
                  <a:pt x="1109" y="447"/>
                  <a:pt x="1157" y="468"/>
                </a:cubicBezTo>
                <a:cubicBezTo>
                  <a:pt x="1205" y="489"/>
                  <a:pt x="1271" y="523"/>
                  <a:pt x="1329" y="525"/>
                </a:cubicBezTo>
                <a:cubicBezTo>
                  <a:pt x="1387" y="527"/>
                  <a:pt x="1459" y="497"/>
                  <a:pt x="1508" y="481"/>
                </a:cubicBezTo>
                <a:cubicBezTo>
                  <a:pt x="1558" y="466"/>
                  <a:pt x="1569" y="461"/>
                  <a:pt x="1624" y="432"/>
                </a:cubicBezTo>
                <a:cubicBezTo>
                  <a:pt x="1680" y="402"/>
                  <a:pt x="1775" y="336"/>
                  <a:pt x="1842" y="302"/>
                </a:cubicBezTo>
                <a:cubicBezTo>
                  <a:pt x="1909" y="269"/>
                  <a:pt x="1962" y="249"/>
                  <a:pt x="2023" y="230"/>
                </a:cubicBezTo>
                <a:cubicBezTo>
                  <a:pt x="2083" y="212"/>
                  <a:pt x="2125" y="188"/>
                  <a:pt x="2202" y="192"/>
                </a:cubicBezTo>
                <a:cubicBezTo>
                  <a:pt x="2278" y="195"/>
                  <a:pt x="2415" y="234"/>
                  <a:pt x="2483" y="253"/>
                </a:cubicBezTo>
                <a:cubicBezTo>
                  <a:pt x="2552" y="271"/>
                  <a:pt x="2569" y="286"/>
                  <a:pt x="2612" y="302"/>
                </a:cubicBezTo>
                <a:cubicBezTo>
                  <a:pt x="2654" y="319"/>
                  <a:pt x="2698" y="335"/>
                  <a:pt x="2740" y="351"/>
                </a:cubicBezTo>
              </a:path>
            </a:pathLst>
          </a:custGeom>
          <a:noFill/>
          <a:ln w="28575" cap="flat" cmpd="sng">
            <a:solidFill>
              <a:srgbClr val="66FF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33" name="矩形标注 32"/>
          <p:cNvSpPr/>
          <p:nvPr/>
        </p:nvSpPr>
        <p:spPr bwMode="auto">
          <a:xfrm>
            <a:off x="2517775" y="1524000"/>
            <a:ext cx="546895" cy="431800"/>
          </a:xfrm>
          <a:prstGeom prst="wedgeRectCallout">
            <a:avLst>
              <a:gd name="adj1" fmla="val -110076"/>
              <a:gd name="adj2" fmla="val 125340"/>
            </a:avLst>
          </a:prstGeom>
          <a:solidFill>
            <a:srgbClr val="66CCFF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楷体_GB2312" pitchFamily="49" charset="-122"/>
              </a:rPr>
              <a:t>b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ymbol" panose="05050102010706020507" pitchFamily="18" charset="2"/>
              <a:ea typeface="楷体_GB2312" pitchFamily="49" charset="-122"/>
            </a:endParaRPr>
          </a:p>
        </p:txBody>
      </p:sp>
      <p:sp>
        <p:nvSpPr>
          <p:cNvPr id="2" name="矩形标注 1"/>
          <p:cNvSpPr/>
          <p:nvPr/>
        </p:nvSpPr>
        <p:spPr bwMode="auto">
          <a:xfrm>
            <a:off x="1269207" y="2415381"/>
            <a:ext cx="386395" cy="431800"/>
          </a:xfrm>
          <a:prstGeom prst="wedgeRectCallout">
            <a:avLst>
              <a:gd name="adj1" fmla="val 91955"/>
              <a:gd name="adj2" fmla="val -132748"/>
            </a:avLst>
          </a:prstGeom>
          <a:solidFill>
            <a:srgbClr val="66CCFF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楷体_GB2312" pitchFamily="49" charset="-122"/>
              </a:rPr>
              <a:t>b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ymbol" panose="05050102010706020507" pitchFamily="18" charset="2"/>
              <a:ea typeface="楷体_GB2312" pitchFamily="49" charset="-122"/>
            </a:endParaRPr>
          </a:p>
        </p:txBody>
      </p:sp>
      <p:grpSp>
        <p:nvGrpSpPr>
          <p:cNvPr id="69634" name="Group 2"/>
          <p:cNvGrpSpPr>
            <a:grpSpLocks/>
          </p:cNvGrpSpPr>
          <p:nvPr/>
        </p:nvGrpSpPr>
        <p:grpSpPr bwMode="auto">
          <a:xfrm>
            <a:off x="622300" y="663576"/>
            <a:ext cx="5446713" cy="3063875"/>
            <a:chOff x="919" y="2140"/>
            <a:chExt cx="3431" cy="1930"/>
          </a:xfrm>
        </p:grpSpPr>
        <p:sp>
          <p:nvSpPr>
            <p:cNvPr id="69645" name="Text Box 3"/>
            <p:cNvSpPr txBox="1">
              <a:spLocks noChangeArrowheads="1"/>
            </p:cNvSpPr>
            <p:nvPr/>
          </p:nvSpPr>
          <p:spPr bwMode="auto">
            <a:xfrm>
              <a:off x="3792" y="3447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endParaRPr kumimoji="1" lang="zh-CN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endParaRPr>
            </a:p>
          </p:txBody>
        </p:sp>
        <p:sp>
          <p:nvSpPr>
            <p:cNvPr id="69646" name="Freeform 4"/>
            <p:cNvSpPr>
              <a:spLocks/>
            </p:cNvSpPr>
            <p:nvPr/>
          </p:nvSpPr>
          <p:spPr bwMode="auto">
            <a:xfrm>
              <a:off x="1198" y="2277"/>
              <a:ext cx="2727" cy="641"/>
            </a:xfrm>
            <a:custGeom>
              <a:avLst/>
              <a:gdLst>
                <a:gd name="T0" fmla="*/ 0 w 1958"/>
                <a:gd name="T1" fmla="*/ 0 h 653"/>
                <a:gd name="T2" fmla="*/ 535 w 1958"/>
                <a:gd name="T3" fmla="*/ 236 h 653"/>
                <a:gd name="T4" fmla="*/ 1671 w 1958"/>
                <a:gd name="T5" fmla="*/ 518 h 653"/>
                <a:gd name="T6" fmla="*/ 2727 w 1958"/>
                <a:gd name="T7" fmla="*/ 641 h 6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58" h="653">
                  <a:moveTo>
                    <a:pt x="0" y="0"/>
                  </a:moveTo>
                  <a:cubicBezTo>
                    <a:pt x="92" y="76"/>
                    <a:pt x="184" y="152"/>
                    <a:pt x="384" y="240"/>
                  </a:cubicBezTo>
                  <a:cubicBezTo>
                    <a:pt x="584" y="328"/>
                    <a:pt x="938" y="459"/>
                    <a:pt x="1200" y="528"/>
                  </a:cubicBezTo>
                  <a:cubicBezTo>
                    <a:pt x="1462" y="597"/>
                    <a:pt x="1800" y="627"/>
                    <a:pt x="1958" y="653"/>
                  </a:cubicBezTo>
                </a:path>
              </a:pathLst>
            </a:custGeom>
            <a:noFill/>
            <a:ln w="28575" cap="rnd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9647" name="Freeform 5"/>
            <p:cNvSpPr>
              <a:spLocks/>
            </p:cNvSpPr>
            <p:nvPr/>
          </p:nvSpPr>
          <p:spPr bwMode="auto">
            <a:xfrm>
              <a:off x="1195" y="2323"/>
              <a:ext cx="2484" cy="1289"/>
            </a:xfrm>
            <a:custGeom>
              <a:avLst/>
              <a:gdLst>
                <a:gd name="T0" fmla="*/ 5 w 2405"/>
                <a:gd name="T1" fmla="*/ 0 h 1289"/>
                <a:gd name="T2" fmla="*/ 5 w 2405"/>
                <a:gd name="T3" fmla="*/ 5 h 1289"/>
                <a:gd name="T4" fmla="*/ 15 w 2405"/>
                <a:gd name="T5" fmla="*/ 5 h 1289"/>
                <a:gd name="T6" fmla="*/ 96 w 2405"/>
                <a:gd name="T7" fmla="*/ 24 h 1289"/>
                <a:gd name="T8" fmla="*/ 202 w 2405"/>
                <a:gd name="T9" fmla="*/ 144 h 1289"/>
                <a:gd name="T10" fmla="*/ 399 w 2405"/>
                <a:gd name="T11" fmla="*/ 516 h 1289"/>
                <a:gd name="T12" fmla="*/ 547 w 2405"/>
                <a:gd name="T13" fmla="*/ 877 h 1289"/>
                <a:gd name="T14" fmla="*/ 600 w 2405"/>
                <a:gd name="T15" fmla="*/ 985 h 1289"/>
                <a:gd name="T16" fmla="*/ 734 w 2405"/>
                <a:gd name="T17" fmla="*/ 1174 h 1289"/>
                <a:gd name="T18" fmla="*/ 936 w 2405"/>
                <a:gd name="T19" fmla="*/ 1287 h 1289"/>
                <a:gd name="T20" fmla="*/ 1121 w 2405"/>
                <a:gd name="T21" fmla="*/ 1189 h 1289"/>
                <a:gd name="T22" fmla="*/ 1242 w 2405"/>
                <a:gd name="T23" fmla="*/ 1068 h 1289"/>
                <a:gd name="T24" fmla="*/ 1469 w 2405"/>
                <a:gd name="T25" fmla="*/ 755 h 1289"/>
                <a:gd name="T26" fmla="*/ 1657 w 2405"/>
                <a:gd name="T27" fmla="*/ 581 h 1289"/>
                <a:gd name="T28" fmla="*/ 1853 w 2405"/>
                <a:gd name="T29" fmla="*/ 504 h 1289"/>
                <a:gd name="T30" fmla="*/ 2138 w 2405"/>
                <a:gd name="T31" fmla="*/ 635 h 1289"/>
                <a:gd name="T32" fmla="*/ 2271 w 2405"/>
                <a:gd name="T33" fmla="*/ 755 h 1289"/>
                <a:gd name="T34" fmla="*/ 2405 w 2405"/>
                <a:gd name="T35" fmla="*/ 875 h 12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05" h="1289">
                  <a:moveTo>
                    <a:pt x="5" y="0"/>
                  </a:moveTo>
                  <a:cubicBezTo>
                    <a:pt x="5" y="1"/>
                    <a:pt x="3" y="4"/>
                    <a:pt x="5" y="5"/>
                  </a:cubicBezTo>
                  <a:cubicBezTo>
                    <a:pt x="7" y="6"/>
                    <a:pt x="0" y="2"/>
                    <a:pt x="15" y="5"/>
                  </a:cubicBezTo>
                  <a:cubicBezTo>
                    <a:pt x="30" y="8"/>
                    <a:pt x="65" y="1"/>
                    <a:pt x="96" y="24"/>
                  </a:cubicBezTo>
                  <a:cubicBezTo>
                    <a:pt x="127" y="47"/>
                    <a:pt x="152" y="62"/>
                    <a:pt x="202" y="144"/>
                  </a:cubicBezTo>
                  <a:cubicBezTo>
                    <a:pt x="252" y="226"/>
                    <a:pt x="342" y="394"/>
                    <a:pt x="399" y="516"/>
                  </a:cubicBezTo>
                  <a:cubicBezTo>
                    <a:pt x="456" y="638"/>
                    <a:pt x="513" y="799"/>
                    <a:pt x="547" y="877"/>
                  </a:cubicBezTo>
                  <a:cubicBezTo>
                    <a:pt x="580" y="956"/>
                    <a:pt x="569" y="935"/>
                    <a:pt x="600" y="985"/>
                  </a:cubicBezTo>
                  <a:cubicBezTo>
                    <a:pt x="630" y="1035"/>
                    <a:pt x="678" y="1124"/>
                    <a:pt x="734" y="1174"/>
                  </a:cubicBezTo>
                  <a:cubicBezTo>
                    <a:pt x="790" y="1224"/>
                    <a:pt x="872" y="1285"/>
                    <a:pt x="936" y="1287"/>
                  </a:cubicBezTo>
                  <a:cubicBezTo>
                    <a:pt x="1000" y="1289"/>
                    <a:pt x="1070" y="1225"/>
                    <a:pt x="1121" y="1189"/>
                  </a:cubicBezTo>
                  <a:cubicBezTo>
                    <a:pt x="1172" y="1153"/>
                    <a:pt x="1183" y="1141"/>
                    <a:pt x="1242" y="1068"/>
                  </a:cubicBezTo>
                  <a:cubicBezTo>
                    <a:pt x="1300" y="996"/>
                    <a:pt x="1399" y="836"/>
                    <a:pt x="1469" y="755"/>
                  </a:cubicBezTo>
                  <a:cubicBezTo>
                    <a:pt x="1539" y="675"/>
                    <a:pt x="1593" y="623"/>
                    <a:pt x="1657" y="581"/>
                  </a:cubicBezTo>
                  <a:cubicBezTo>
                    <a:pt x="1721" y="539"/>
                    <a:pt x="1773" y="495"/>
                    <a:pt x="1853" y="504"/>
                  </a:cubicBezTo>
                  <a:cubicBezTo>
                    <a:pt x="1933" y="513"/>
                    <a:pt x="2068" y="593"/>
                    <a:pt x="2138" y="635"/>
                  </a:cubicBezTo>
                  <a:cubicBezTo>
                    <a:pt x="2208" y="677"/>
                    <a:pt x="2227" y="716"/>
                    <a:pt x="2271" y="755"/>
                  </a:cubicBezTo>
                  <a:cubicBezTo>
                    <a:pt x="2316" y="795"/>
                    <a:pt x="2360" y="835"/>
                    <a:pt x="2405" y="875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9648" name="Freeform 6"/>
            <p:cNvSpPr>
              <a:spLocks/>
            </p:cNvSpPr>
            <p:nvPr/>
          </p:nvSpPr>
          <p:spPr bwMode="auto">
            <a:xfrm>
              <a:off x="1238" y="3319"/>
              <a:ext cx="2875" cy="659"/>
            </a:xfrm>
            <a:custGeom>
              <a:avLst/>
              <a:gdLst>
                <a:gd name="T0" fmla="*/ 0 w 2064"/>
                <a:gd name="T1" fmla="*/ 659 h 672"/>
                <a:gd name="T2" fmla="*/ 602 w 2064"/>
                <a:gd name="T3" fmla="*/ 377 h 672"/>
                <a:gd name="T4" fmla="*/ 1337 w 2064"/>
                <a:gd name="T5" fmla="*/ 188 h 672"/>
                <a:gd name="T6" fmla="*/ 2206 w 2064"/>
                <a:gd name="T7" fmla="*/ 47 h 672"/>
                <a:gd name="T8" fmla="*/ 2875 w 2064"/>
                <a:gd name="T9" fmla="*/ 0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64" h="672">
                  <a:moveTo>
                    <a:pt x="0" y="672"/>
                  </a:moveTo>
                  <a:cubicBezTo>
                    <a:pt x="136" y="568"/>
                    <a:pt x="272" y="464"/>
                    <a:pt x="432" y="384"/>
                  </a:cubicBezTo>
                  <a:cubicBezTo>
                    <a:pt x="592" y="304"/>
                    <a:pt x="768" y="248"/>
                    <a:pt x="960" y="192"/>
                  </a:cubicBezTo>
                  <a:cubicBezTo>
                    <a:pt x="1152" y="136"/>
                    <a:pt x="1400" y="80"/>
                    <a:pt x="1584" y="48"/>
                  </a:cubicBezTo>
                  <a:cubicBezTo>
                    <a:pt x="1768" y="16"/>
                    <a:pt x="1916" y="8"/>
                    <a:pt x="2064" y="0"/>
                  </a:cubicBezTo>
                </a:path>
              </a:pathLst>
            </a:custGeom>
            <a:noFill/>
            <a:ln w="28575" cap="rnd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9649" name="Line 7"/>
            <p:cNvSpPr>
              <a:spLocks noChangeShapeType="1"/>
            </p:cNvSpPr>
            <p:nvPr/>
          </p:nvSpPr>
          <p:spPr bwMode="auto">
            <a:xfrm>
              <a:off x="997" y="3081"/>
              <a:ext cx="32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9650" name="Line 8"/>
            <p:cNvSpPr>
              <a:spLocks noChangeShapeType="1"/>
            </p:cNvSpPr>
            <p:nvPr/>
          </p:nvSpPr>
          <p:spPr bwMode="auto">
            <a:xfrm>
              <a:off x="1198" y="2140"/>
              <a:ext cx="0" cy="19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9651" name="Text Box 9"/>
            <p:cNvSpPr txBox="1">
              <a:spLocks noChangeArrowheads="1"/>
            </p:cNvSpPr>
            <p:nvPr/>
          </p:nvSpPr>
          <p:spPr bwMode="auto">
            <a:xfrm>
              <a:off x="4078" y="3049"/>
              <a:ext cx="27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/>
              <a:r>
                <a:rPr kumimoji="1" lang="en-US" altLang="zh-CN" sz="2000" b="0" i="1" dirty="0" err="1">
                  <a:solidFill>
                    <a:schemeClr val="tx1"/>
                  </a:solidFill>
                  <a:latin typeface="Symbol" panose="05050102010706020507" pitchFamily="18" charset="2"/>
                  <a:ea typeface="宋体" charset="-122"/>
                </a:rPr>
                <a:t>w</a:t>
              </a:r>
              <a:r>
                <a:rPr kumimoji="1" lang="en-US" altLang="zh-CN" sz="2000" b="0" i="1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9652" name="Text Box 10"/>
            <p:cNvSpPr txBox="1">
              <a:spLocks noChangeArrowheads="1"/>
            </p:cNvSpPr>
            <p:nvPr/>
          </p:nvSpPr>
          <p:spPr bwMode="auto">
            <a:xfrm>
              <a:off x="1598" y="3031"/>
              <a:ext cx="38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</a:t>
              </a:r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</a:t>
              </a:r>
              <a:endPara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endParaRPr>
            </a:p>
          </p:txBody>
        </p:sp>
        <p:sp>
          <p:nvSpPr>
            <p:cNvPr id="69653" name="Text Box 11"/>
            <p:cNvSpPr txBox="1">
              <a:spLocks noChangeArrowheads="1"/>
            </p:cNvSpPr>
            <p:nvPr/>
          </p:nvSpPr>
          <p:spPr bwMode="auto">
            <a:xfrm>
              <a:off x="2417" y="3031"/>
              <a:ext cx="4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2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</a:t>
              </a:r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</a:t>
              </a:r>
              <a:endPara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endParaRPr>
            </a:p>
          </p:txBody>
        </p:sp>
        <p:sp>
          <p:nvSpPr>
            <p:cNvPr id="69654" name="Text Box 12"/>
            <p:cNvSpPr txBox="1">
              <a:spLocks noChangeArrowheads="1"/>
            </p:cNvSpPr>
            <p:nvPr/>
          </p:nvSpPr>
          <p:spPr bwMode="auto">
            <a:xfrm>
              <a:off x="2944" y="3031"/>
              <a:ext cx="28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2</a:t>
              </a:r>
            </a:p>
          </p:txBody>
        </p:sp>
        <p:sp>
          <p:nvSpPr>
            <p:cNvPr id="69656" name="Text Box 14"/>
            <p:cNvSpPr txBox="1">
              <a:spLocks noChangeArrowheads="1"/>
            </p:cNvSpPr>
            <p:nvPr/>
          </p:nvSpPr>
          <p:spPr bwMode="auto">
            <a:xfrm>
              <a:off x="1195" y="3081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69657" name="Line 15"/>
            <p:cNvSpPr>
              <a:spLocks noChangeShapeType="1"/>
            </p:cNvSpPr>
            <p:nvPr/>
          </p:nvSpPr>
          <p:spPr bwMode="auto">
            <a:xfrm>
              <a:off x="2155" y="3081"/>
              <a:ext cx="0" cy="531"/>
            </a:xfrm>
            <a:prstGeom prst="line">
              <a:avLst/>
            </a:prstGeom>
            <a:noFill/>
            <a:ln w="38100" cap="rnd">
              <a:solidFill>
                <a:srgbClr val="7030A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9658" name="Text Box 16"/>
            <p:cNvSpPr txBox="1">
              <a:spLocks noChangeArrowheads="1"/>
            </p:cNvSpPr>
            <p:nvPr/>
          </p:nvSpPr>
          <p:spPr bwMode="auto">
            <a:xfrm>
              <a:off x="919" y="2204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9659" name="Text Box 17"/>
            <p:cNvSpPr txBox="1">
              <a:spLocks noChangeArrowheads="1"/>
            </p:cNvSpPr>
            <p:nvPr/>
          </p:nvSpPr>
          <p:spPr bwMode="auto">
            <a:xfrm>
              <a:off x="2228" y="3494"/>
              <a:ext cx="2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err="1">
                  <a:solidFill>
                    <a:srgbClr val="00CCFF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rgbClr val="00CCFF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i="1" baseline="-25000" dirty="0">
                <a:solidFill>
                  <a:srgbClr val="00CC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9660" name="Line 18"/>
            <p:cNvSpPr>
              <a:spLocks noChangeShapeType="1"/>
            </p:cNvSpPr>
            <p:nvPr/>
          </p:nvSpPr>
          <p:spPr bwMode="auto">
            <a:xfrm>
              <a:off x="3058" y="2827"/>
              <a:ext cx="0" cy="254"/>
            </a:xfrm>
            <a:prstGeom prst="line">
              <a:avLst/>
            </a:prstGeom>
            <a:noFill/>
            <a:ln w="38100" cap="rnd">
              <a:solidFill>
                <a:srgbClr val="7030A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0" name="Line 15"/>
            <p:cNvSpPr>
              <a:spLocks noChangeShapeType="1"/>
            </p:cNvSpPr>
            <p:nvPr/>
          </p:nvSpPr>
          <p:spPr bwMode="auto">
            <a:xfrm>
              <a:off x="1994" y="3111"/>
              <a:ext cx="0" cy="537"/>
            </a:xfrm>
            <a:prstGeom prst="line">
              <a:avLst/>
            </a:prstGeom>
            <a:noFill/>
            <a:ln w="38100" cap="rnd">
              <a:solidFill>
                <a:srgbClr val="7030A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9655" name="Text Box 13"/>
            <p:cNvSpPr txBox="1">
              <a:spLocks noChangeArrowheads="1"/>
            </p:cNvSpPr>
            <p:nvPr/>
          </p:nvSpPr>
          <p:spPr bwMode="auto">
            <a:xfrm>
              <a:off x="2113" y="3020"/>
              <a:ext cx="2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</a:t>
              </a:r>
            </a:p>
          </p:txBody>
        </p:sp>
        <p:sp>
          <p:nvSpPr>
            <p:cNvPr id="34" name="Text Box 17"/>
            <p:cNvSpPr txBox="1">
              <a:spLocks noChangeArrowheads="1"/>
            </p:cNvSpPr>
            <p:nvPr/>
          </p:nvSpPr>
          <p:spPr bwMode="auto">
            <a:xfrm>
              <a:off x="1629" y="3383"/>
              <a:ext cx="2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err="1" smtClean="0">
                  <a:solidFill>
                    <a:srgbClr val="FF9900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 smtClean="0">
                  <a:solidFill>
                    <a:srgbClr val="FF9900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i="1" baseline="-25000" dirty="0">
                <a:solidFill>
                  <a:srgbClr val="FF99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85365" name="Line 21"/>
          <p:cNvSpPr>
            <a:spLocks noChangeShapeType="1"/>
          </p:cNvSpPr>
          <p:nvPr/>
        </p:nvSpPr>
        <p:spPr bwMode="auto">
          <a:xfrm>
            <a:off x="1733633" y="1700213"/>
            <a:ext cx="0" cy="454025"/>
          </a:xfrm>
          <a:prstGeom prst="line">
            <a:avLst/>
          </a:prstGeom>
          <a:noFill/>
          <a:ln w="38100" cap="rnd">
            <a:solidFill>
              <a:srgbClr val="7030A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5366" name="Text Box 22"/>
          <p:cNvSpPr txBox="1">
            <a:spLocks noChangeArrowheads="1"/>
          </p:cNvSpPr>
          <p:nvPr/>
        </p:nvSpPr>
        <p:spPr bwMode="auto">
          <a:xfrm>
            <a:off x="2042748" y="1484784"/>
            <a:ext cx="3690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 err="1">
                <a:solidFill>
                  <a:srgbClr val="00B050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>
                <a:solidFill>
                  <a:srgbClr val="00B050"/>
                </a:solidFill>
                <a:latin typeface="Times New Roman" pitchFamily="18" charset="0"/>
                <a:ea typeface="宋体" charset="-122"/>
              </a:rPr>
              <a:t>C</a:t>
            </a:r>
            <a:endParaRPr kumimoji="1" lang="en-US" altLang="zh-CN" sz="2000" b="0" dirty="0">
              <a:solidFill>
                <a:srgbClr val="00B050"/>
              </a:solidFill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6963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651267"/>
              </p:ext>
            </p:extLst>
          </p:nvPr>
        </p:nvGraphicFramePr>
        <p:xfrm>
          <a:off x="4277490" y="467448"/>
          <a:ext cx="3390854" cy="735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79" name="Equation" r:id="rId3" imgW="1752480" imgH="393480" progId="Equation.DSMT4">
                  <p:embed/>
                </p:oleObj>
              </mc:Choice>
              <mc:Fallback>
                <p:oleObj name="Equation" r:id="rId3" imgW="1752480" imgH="393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7490" y="467448"/>
                        <a:ext cx="3390854" cy="735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1" name="Rectangle 25"/>
          <p:cNvSpPr>
            <a:spLocks noChangeArrowheads="1"/>
          </p:cNvSpPr>
          <p:nvPr/>
        </p:nvSpPr>
        <p:spPr bwMode="auto">
          <a:xfrm>
            <a:off x="901700" y="5473700"/>
            <a:ext cx="5207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endParaRPr kumimoji="1" lang="en-US" altLang="zh-CN" sz="2000">
              <a:solidFill>
                <a:schemeClr val="tx1"/>
              </a:solidFill>
              <a:latin typeface="Times New Roman" pitchFamily="18" charset="0"/>
              <a:ea typeface="宋体" charset="-122"/>
              <a:sym typeface="Symbol" pitchFamily="18" charset="2"/>
            </a:endParaRPr>
          </a:p>
          <a:p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 </a:t>
            </a:r>
          </a:p>
          <a:p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  </a:t>
            </a:r>
          </a:p>
        </p:txBody>
      </p:sp>
      <p:graphicFrame>
        <p:nvGraphicFramePr>
          <p:cNvPr id="18537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362489"/>
              </p:ext>
            </p:extLst>
          </p:nvPr>
        </p:nvGraphicFramePr>
        <p:xfrm>
          <a:off x="1994251" y="4869160"/>
          <a:ext cx="3685474" cy="712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80" name="Equation" r:id="rId5" imgW="2095200" imgH="393480" progId="Equation.DSMT4">
                  <p:embed/>
                </p:oleObj>
              </mc:Choice>
              <mc:Fallback>
                <p:oleObj name="Equation" r:id="rId5" imgW="2095200" imgH="3934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251" y="4869160"/>
                        <a:ext cx="3685474" cy="712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71" name="Text Box 27"/>
          <p:cNvSpPr txBox="1">
            <a:spLocks noChangeArrowheads="1"/>
          </p:cNvSpPr>
          <p:nvPr/>
        </p:nvSpPr>
        <p:spPr bwMode="auto">
          <a:xfrm>
            <a:off x="1949004" y="5716618"/>
            <a:ext cx="44005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0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kumimoji="1" lang="zh-CN" altLang="en-US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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t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=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，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+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，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2+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... 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，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n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+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</a:t>
            </a:r>
          </a:p>
        </p:txBody>
      </p:sp>
      <p:sp>
        <p:nvSpPr>
          <p:cNvPr id="185372" name="Text Box 28"/>
          <p:cNvSpPr txBox="1">
            <a:spLocks noChangeArrowheads="1"/>
          </p:cNvSpPr>
          <p:nvPr/>
        </p:nvSpPr>
        <p:spPr bwMode="auto">
          <a:xfrm>
            <a:off x="1949004" y="3861048"/>
            <a:ext cx="539763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0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kumimoji="1" lang="zh-CN" altLang="en-US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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= 0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，，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2    ... 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，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n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 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，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为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000" dirty="0">
                <a:solidFill>
                  <a:schemeClr val="tx1"/>
                </a:solidFill>
              </a:rPr>
              <a:t>极值点，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  <a:sym typeface="Symbol" pitchFamily="18" charset="2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的极值点为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000" b="0" i="1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零点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。</a:t>
            </a:r>
          </a:p>
        </p:txBody>
      </p:sp>
      <p:sp>
        <p:nvSpPr>
          <p:cNvPr id="29" name="Freeform 5"/>
          <p:cNvSpPr>
            <a:spLocks/>
          </p:cNvSpPr>
          <p:nvPr/>
        </p:nvSpPr>
        <p:spPr bwMode="auto">
          <a:xfrm>
            <a:off x="1041400" y="900113"/>
            <a:ext cx="3325355" cy="2119311"/>
          </a:xfrm>
          <a:custGeom>
            <a:avLst/>
            <a:gdLst>
              <a:gd name="T0" fmla="*/ 5 w 2405"/>
              <a:gd name="T1" fmla="*/ 0 h 1289"/>
              <a:gd name="T2" fmla="*/ 5 w 2405"/>
              <a:gd name="T3" fmla="*/ 5 h 1289"/>
              <a:gd name="T4" fmla="*/ 15 w 2405"/>
              <a:gd name="T5" fmla="*/ 5 h 1289"/>
              <a:gd name="T6" fmla="*/ 96 w 2405"/>
              <a:gd name="T7" fmla="*/ 24 h 1289"/>
              <a:gd name="T8" fmla="*/ 202 w 2405"/>
              <a:gd name="T9" fmla="*/ 144 h 1289"/>
              <a:gd name="T10" fmla="*/ 399 w 2405"/>
              <a:gd name="T11" fmla="*/ 516 h 1289"/>
              <a:gd name="T12" fmla="*/ 547 w 2405"/>
              <a:gd name="T13" fmla="*/ 877 h 1289"/>
              <a:gd name="T14" fmla="*/ 600 w 2405"/>
              <a:gd name="T15" fmla="*/ 985 h 1289"/>
              <a:gd name="T16" fmla="*/ 734 w 2405"/>
              <a:gd name="T17" fmla="*/ 1174 h 1289"/>
              <a:gd name="T18" fmla="*/ 936 w 2405"/>
              <a:gd name="T19" fmla="*/ 1287 h 1289"/>
              <a:gd name="T20" fmla="*/ 1121 w 2405"/>
              <a:gd name="T21" fmla="*/ 1189 h 1289"/>
              <a:gd name="T22" fmla="*/ 1242 w 2405"/>
              <a:gd name="T23" fmla="*/ 1068 h 1289"/>
              <a:gd name="T24" fmla="*/ 1469 w 2405"/>
              <a:gd name="T25" fmla="*/ 755 h 1289"/>
              <a:gd name="T26" fmla="*/ 1657 w 2405"/>
              <a:gd name="T27" fmla="*/ 581 h 1289"/>
              <a:gd name="T28" fmla="*/ 1853 w 2405"/>
              <a:gd name="T29" fmla="*/ 504 h 1289"/>
              <a:gd name="T30" fmla="*/ 2138 w 2405"/>
              <a:gd name="T31" fmla="*/ 635 h 1289"/>
              <a:gd name="T32" fmla="*/ 2271 w 2405"/>
              <a:gd name="T33" fmla="*/ 755 h 1289"/>
              <a:gd name="T34" fmla="*/ 2405 w 2405"/>
              <a:gd name="T35" fmla="*/ 875 h 128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05" h="1289">
                <a:moveTo>
                  <a:pt x="5" y="0"/>
                </a:moveTo>
                <a:cubicBezTo>
                  <a:pt x="5" y="1"/>
                  <a:pt x="3" y="4"/>
                  <a:pt x="5" y="5"/>
                </a:cubicBezTo>
                <a:cubicBezTo>
                  <a:pt x="7" y="6"/>
                  <a:pt x="0" y="2"/>
                  <a:pt x="15" y="5"/>
                </a:cubicBezTo>
                <a:cubicBezTo>
                  <a:pt x="30" y="8"/>
                  <a:pt x="65" y="1"/>
                  <a:pt x="96" y="24"/>
                </a:cubicBezTo>
                <a:cubicBezTo>
                  <a:pt x="127" y="47"/>
                  <a:pt x="152" y="62"/>
                  <a:pt x="202" y="144"/>
                </a:cubicBezTo>
                <a:cubicBezTo>
                  <a:pt x="252" y="226"/>
                  <a:pt x="342" y="394"/>
                  <a:pt x="399" y="516"/>
                </a:cubicBezTo>
                <a:cubicBezTo>
                  <a:pt x="456" y="638"/>
                  <a:pt x="513" y="799"/>
                  <a:pt x="547" y="877"/>
                </a:cubicBezTo>
                <a:cubicBezTo>
                  <a:pt x="580" y="956"/>
                  <a:pt x="569" y="935"/>
                  <a:pt x="600" y="985"/>
                </a:cubicBezTo>
                <a:cubicBezTo>
                  <a:pt x="630" y="1035"/>
                  <a:pt x="678" y="1124"/>
                  <a:pt x="734" y="1174"/>
                </a:cubicBezTo>
                <a:cubicBezTo>
                  <a:pt x="790" y="1224"/>
                  <a:pt x="872" y="1285"/>
                  <a:pt x="936" y="1287"/>
                </a:cubicBezTo>
                <a:cubicBezTo>
                  <a:pt x="1000" y="1289"/>
                  <a:pt x="1070" y="1225"/>
                  <a:pt x="1121" y="1189"/>
                </a:cubicBezTo>
                <a:cubicBezTo>
                  <a:pt x="1172" y="1153"/>
                  <a:pt x="1183" y="1141"/>
                  <a:pt x="1242" y="1068"/>
                </a:cubicBezTo>
                <a:cubicBezTo>
                  <a:pt x="1300" y="996"/>
                  <a:pt x="1399" y="836"/>
                  <a:pt x="1469" y="755"/>
                </a:cubicBezTo>
                <a:cubicBezTo>
                  <a:pt x="1539" y="675"/>
                  <a:pt x="1593" y="623"/>
                  <a:pt x="1657" y="581"/>
                </a:cubicBezTo>
                <a:cubicBezTo>
                  <a:pt x="1721" y="539"/>
                  <a:pt x="1773" y="495"/>
                  <a:pt x="1853" y="504"/>
                </a:cubicBezTo>
                <a:cubicBezTo>
                  <a:pt x="1933" y="513"/>
                  <a:pt x="2068" y="593"/>
                  <a:pt x="2138" y="635"/>
                </a:cubicBezTo>
                <a:cubicBezTo>
                  <a:pt x="2208" y="677"/>
                  <a:pt x="2227" y="716"/>
                  <a:pt x="2271" y="755"/>
                </a:cubicBezTo>
                <a:cubicBezTo>
                  <a:pt x="2316" y="795"/>
                  <a:pt x="2360" y="835"/>
                  <a:pt x="2405" y="875"/>
                </a:cubicBezTo>
              </a:path>
            </a:pathLst>
          </a:cu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2" descr="绿色大理石"/>
          <p:cNvSpPr txBox="1">
            <a:spLocks noChangeArrowheads="1"/>
          </p:cNvSpPr>
          <p:nvPr/>
        </p:nvSpPr>
        <p:spPr bwMode="auto">
          <a:xfrm>
            <a:off x="4859338" y="744538"/>
            <a:ext cx="19912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能量转换关系：</a:t>
            </a:r>
          </a:p>
        </p:txBody>
      </p:sp>
      <p:sp>
        <p:nvSpPr>
          <p:cNvPr id="186371" name="Text Box 3"/>
          <p:cNvSpPr txBox="1">
            <a:spLocks noChangeArrowheads="1"/>
          </p:cNvSpPr>
          <p:nvPr/>
        </p:nvSpPr>
        <p:spPr bwMode="auto">
          <a:xfrm>
            <a:off x="755650" y="5684838"/>
            <a:ext cx="13099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0 &lt; 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t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&lt; 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</a:p>
        </p:txBody>
      </p:sp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3708400" y="5611813"/>
            <a:ext cx="16049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&lt;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t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&lt;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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</a:t>
            </a:r>
            <a:endParaRPr kumimoji="1" lang="en-US" altLang="zh-CN" sz="2000" b="0" i="1" dirty="0">
              <a:solidFill>
                <a:schemeClr val="tx1"/>
              </a:solidFill>
              <a:latin typeface="Times New Roman" pitchFamily="18" charset="0"/>
              <a:ea typeface="宋体" charset="-122"/>
              <a:sym typeface="Symbol" pitchFamily="18" charset="2"/>
            </a:endParaRPr>
          </a:p>
        </p:txBody>
      </p:sp>
      <p:sp>
        <p:nvSpPr>
          <p:cNvPr id="186373" name="Text Box 5"/>
          <p:cNvSpPr txBox="1">
            <a:spLocks noChangeArrowheads="1"/>
          </p:cNvSpPr>
          <p:nvPr/>
        </p:nvSpPr>
        <p:spPr bwMode="auto">
          <a:xfrm>
            <a:off x="6682154" y="5532407"/>
            <a:ext cx="16690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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 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&lt;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t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&lt;  </a:t>
            </a:r>
          </a:p>
        </p:txBody>
      </p:sp>
      <p:grpSp>
        <p:nvGrpSpPr>
          <p:cNvPr id="186401" name="Group 33"/>
          <p:cNvGrpSpPr>
            <a:grpSpLocks/>
          </p:cNvGrpSpPr>
          <p:nvPr/>
        </p:nvGrpSpPr>
        <p:grpSpPr bwMode="auto">
          <a:xfrm>
            <a:off x="3276600" y="3716339"/>
            <a:ext cx="2771166" cy="1892300"/>
            <a:chOff x="567" y="2477"/>
            <a:chExt cx="1924" cy="1192"/>
          </a:xfrm>
        </p:grpSpPr>
        <p:sp>
          <p:nvSpPr>
            <p:cNvPr id="70714" name="Line 34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715" name="Line 35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716" name="Line 36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717" name="Line 37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718" name="Line 38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719" name="Rectangle 39"/>
            <p:cNvSpPr>
              <a:spLocks noChangeArrowheads="1"/>
            </p:cNvSpPr>
            <p:nvPr/>
          </p:nvSpPr>
          <p:spPr bwMode="auto">
            <a:xfrm>
              <a:off x="1494" y="3475"/>
              <a:ext cx="3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0720" name="Rectangle 40"/>
            <p:cNvSpPr>
              <a:spLocks noChangeArrowheads="1"/>
            </p:cNvSpPr>
            <p:nvPr/>
          </p:nvSpPr>
          <p:spPr bwMode="auto">
            <a:xfrm>
              <a:off x="2392" y="2886"/>
              <a:ext cx="9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0721" name="Rectangle 41"/>
            <p:cNvSpPr>
              <a:spLocks noChangeArrowheads="1"/>
            </p:cNvSpPr>
            <p:nvPr/>
          </p:nvSpPr>
          <p:spPr bwMode="auto">
            <a:xfrm>
              <a:off x="919" y="2830"/>
              <a:ext cx="31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0722" name="Rectangle 42"/>
            <p:cNvSpPr>
              <a:spLocks noChangeArrowheads="1"/>
            </p:cNvSpPr>
            <p:nvPr/>
          </p:nvSpPr>
          <p:spPr bwMode="auto">
            <a:xfrm>
              <a:off x="567" y="2568"/>
              <a:ext cx="1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70723" name="Rectangle 43"/>
            <p:cNvSpPr>
              <a:spLocks noChangeArrowheads="1"/>
            </p:cNvSpPr>
            <p:nvPr/>
          </p:nvSpPr>
          <p:spPr bwMode="auto">
            <a:xfrm>
              <a:off x="567" y="3022"/>
              <a:ext cx="8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70724" name="Line 44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70725" name="Group 45"/>
            <p:cNvGrpSpPr>
              <a:grpSpLocks/>
            </p:cNvGrpSpPr>
            <p:nvPr/>
          </p:nvGrpSpPr>
          <p:grpSpPr bwMode="auto">
            <a:xfrm>
              <a:off x="626" y="2897"/>
              <a:ext cx="240" cy="90"/>
              <a:chOff x="4618" y="2490"/>
              <a:chExt cx="240" cy="90"/>
            </a:xfrm>
          </p:grpSpPr>
          <p:sp>
            <p:nvSpPr>
              <p:cNvPr id="70731" name="Line 46"/>
              <p:cNvSpPr>
                <a:spLocks noChangeShapeType="1"/>
              </p:cNvSpPr>
              <p:nvPr/>
            </p:nvSpPr>
            <p:spPr bwMode="auto">
              <a:xfrm>
                <a:off x="4618" y="249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0732" name="Line 47"/>
              <p:cNvSpPr>
                <a:spLocks noChangeShapeType="1"/>
              </p:cNvSpPr>
              <p:nvPr/>
            </p:nvSpPr>
            <p:spPr bwMode="auto">
              <a:xfrm>
                <a:off x="4618" y="258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0726" name="Group 48"/>
            <p:cNvGrpSpPr>
              <a:grpSpLocks/>
            </p:cNvGrpSpPr>
            <p:nvPr/>
          </p:nvGrpSpPr>
          <p:grpSpPr bwMode="auto">
            <a:xfrm rot="5400000">
              <a:off x="2053" y="2889"/>
              <a:ext cx="388" cy="181"/>
              <a:chOff x="523" y="631"/>
              <a:chExt cx="600" cy="270"/>
            </a:xfrm>
          </p:grpSpPr>
          <p:sp>
            <p:nvSpPr>
              <p:cNvPr id="70728" name="AutoShape 49"/>
              <p:cNvSpPr>
                <a:spLocks noChangeArrowheads="1"/>
              </p:cNvSpPr>
              <p:nvPr/>
            </p:nvSpPr>
            <p:spPr bwMode="auto">
              <a:xfrm>
                <a:off x="523" y="631"/>
                <a:ext cx="146" cy="269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0729" name="AutoShape 50"/>
              <p:cNvSpPr>
                <a:spLocks noChangeArrowheads="1"/>
              </p:cNvSpPr>
              <p:nvPr/>
            </p:nvSpPr>
            <p:spPr bwMode="auto">
              <a:xfrm>
                <a:off x="750" y="632"/>
                <a:ext cx="146" cy="269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0730" name="AutoShape 51"/>
              <p:cNvSpPr>
                <a:spLocks noChangeArrowheads="1"/>
              </p:cNvSpPr>
              <p:nvPr/>
            </p:nvSpPr>
            <p:spPr bwMode="auto">
              <a:xfrm>
                <a:off x="977" y="631"/>
                <a:ext cx="146" cy="269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0727" name="Rectangle 52"/>
            <p:cNvSpPr>
              <a:spLocks noChangeArrowheads="1"/>
            </p:cNvSpPr>
            <p:nvPr/>
          </p:nvSpPr>
          <p:spPr bwMode="auto">
            <a:xfrm>
              <a:off x="1384" y="336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186421" name="Group 53"/>
          <p:cNvGrpSpPr>
            <a:grpSpLocks/>
          </p:cNvGrpSpPr>
          <p:nvPr/>
        </p:nvGrpSpPr>
        <p:grpSpPr bwMode="auto">
          <a:xfrm>
            <a:off x="323850" y="3716339"/>
            <a:ext cx="2758595" cy="1905000"/>
            <a:chOff x="567" y="2477"/>
            <a:chExt cx="1925" cy="1200"/>
          </a:xfrm>
        </p:grpSpPr>
        <p:sp>
          <p:nvSpPr>
            <p:cNvPr id="70695" name="Line 54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696" name="Line 55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697" name="Line 56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698" name="Line 57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699" name="Line 58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700" name="Rectangle 59"/>
            <p:cNvSpPr>
              <a:spLocks noChangeArrowheads="1"/>
            </p:cNvSpPr>
            <p:nvPr/>
          </p:nvSpPr>
          <p:spPr bwMode="auto">
            <a:xfrm>
              <a:off x="1469" y="3483"/>
              <a:ext cx="3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0701" name="Rectangle 60"/>
            <p:cNvSpPr>
              <a:spLocks noChangeArrowheads="1"/>
            </p:cNvSpPr>
            <p:nvPr/>
          </p:nvSpPr>
          <p:spPr bwMode="auto">
            <a:xfrm>
              <a:off x="2392" y="2886"/>
              <a:ext cx="1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0702" name="Rectangle 61"/>
            <p:cNvSpPr>
              <a:spLocks noChangeArrowheads="1"/>
            </p:cNvSpPr>
            <p:nvPr/>
          </p:nvSpPr>
          <p:spPr bwMode="auto">
            <a:xfrm>
              <a:off x="908" y="2830"/>
              <a:ext cx="31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0703" name="Rectangle 62"/>
            <p:cNvSpPr>
              <a:spLocks noChangeArrowheads="1"/>
            </p:cNvSpPr>
            <p:nvPr/>
          </p:nvSpPr>
          <p:spPr bwMode="auto">
            <a:xfrm>
              <a:off x="567" y="2568"/>
              <a:ext cx="10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70704" name="Rectangle 63"/>
            <p:cNvSpPr>
              <a:spLocks noChangeArrowheads="1"/>
            </p:cNvSpPr>
            <p:nvPr/>
          </p:nvSpPr>
          <p:spPr bwMode="auto">
            <a:xfrm>
              <a:off x="567" y="3022"/>
              <a:ext cx="8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70705" name="Line 64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70706" name="Group 65"/>
            <p:cNvGrpSpPr>
              <a:grpSpLocks/>
            </p:cNvGrpSpPr>
            <p:nvPr/>
          </p:nvGrpSpPr>
          <p:grpSpPr bwMode="auto">
            <a:xfrm>
              <a:off x="626" y="2897"/>
              <a:ext cx="240" cy="90"/>
              <a:chOff x="4618" y="2490"/>
              <a:chExt cx="240" cy="90"/>
            </a:xfrm>
          </p:grpSpPr>
          <p:sp>
            <p:nvSpPr>
              <p:cNvPr id="70712" name="Line 66"/>
              <p:cNvSpPr>
                <a:spLocks noChangeShapeType="1"/>
              </p:cNvSpPr>
              <p:nvPr/>
            </p:nvSpPr>
            <p:spPr bwMode="auto">
              <a:xfrm>
                <a:off x="4618" y="249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0713" name="Line 67"/>
              <p:cNvSpPr>
                <a:spLocks noChangeShapeType="1"/>
              </p:cNvSpPr>
              <p:nvPr/>
            </p:nvSpPr>
            <p:spPr bwMode="auto">
              <a:xfrm>
                <a:off x="4618" y="258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0707" name="Group 68"/>
            <p:cNvGrpSpPr>
              <a:grpSpLocks/>
            </p:cNvGrpSpPr>
            <p:nvPr/>
          </p:nvGrpSpPr>
          <p:grpSpPr bwMode="auto">
            <a:xfrm rot="5400000">
              <a:off x="2052" y="2915"/>
              <a:ext cx="406" cy="157"/>
              <a:chOff x="539" y="628"/>
              <a:chExt cx="627" cy="229"/>
            </a:xfrm>
          </p:grpSpPr>
          <p:sp>
            <p:nvSpPr>
              <p:cNvPr id="70709" name="AutoShape 69"/>
              <p:cNvSpPr>
                <a:spLocks noChangeArrowheads="1"/>
              </p:cNvSpPr>
              <p:nvPr/>
            </p:nvSpPr>
            <p:spPr bwMode="auto">
              <a:xfrm>
                <a:off x="539" y="628"/>
                <a:ext cx="146" cy="228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0710" name="AutoShape 70"/>
              <p:cNvSpPr>
                <a:spLocks noChangeArrowheads="1"/>
              </p:cNvSpPr>
              <p:nvPr/>
            </p:nvSpPr>
            <p:spPr bwMode="auto">
              <a:xfrm>
                <a:off x="775" y="629"/>
                <a:ext cx="146" cy="228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0711" name="AutoShape 71"/>
              <p:cNvSpPr>
                <a:spLocks noChangeArrowheads="1"/>
              </p:cNvSpPr>
              <p:nvPr/>
            </p:nvSpPr>
            <p:spPr bwMode="auto">
              <a:xfrm>
                <a:off x="1020" y="628"/>
                <a:ext cx="146" cy="228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0708" name="Rectangle 72"/>
            <p:cNvSpPr>
              <a:spLocks noChangeArrowheads="1"/>
            </p:cNvSpPr>
            <p:nvPr/>
          </p:nvSpPr>
          <p:spPr bwMode="auto">
            <a:xfrm>
              <a:off x="1384" y="335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186441" name="AutoShape 73"/>
          <p:cNvSpPr>
            <a:spLocks noChangeArrowheads="1"/>
          </p:cNvSpPr>
          <p:nvPr/>
        </p:nvSpPr>
        <p:spPr bwMode="auto">
          <a:xfrm rot="10800000">
            <a:off x="4643438" y="4221163"/>
            <a:ext cx="720725" cy="503237"/>
          </a:xfrm>
          <a:custGeom>
            <a:avLst/>
            <a:gdLst>
              <a:gd name="T0" fmla="*/ 543714 w 21600"/>
              <a:gd name="T1" fmla="*/ 0 h 21600"/>
              <a:gd name="T2" fmla="*/ 366702 w 21600"/>
              <a:gd name="T3" fmla="*/ 149224 h 21600"/>
              <a:gd name="T4" fmla="*/ 0 w 21600"/>
              <a:gd name="T5" fmla="*/ 474837 h 21600"/>
              <a:gd name="T6" fmla="*/ 288123 w 21600"/>
              <a:gd name="T7" fmla="*/ 503237 h 21600"/>
              <a:gd name="T8" fmla="*/ 576246 w 21600"/>
              <a:gd name="T9" fmla="*/ 344950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9161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95" y="0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6442" name="AutoShape 74"/>
          <p:cNvSpPr>
            <a:spLocks noChangeArrowheads="1"/>
          </p:cNvSpPr>
          <p:nvPr/>
        </p:nvSpPr>
        <p:spPr bwMode="auto">
          <a:xfrm flipV="1">
            <a:off x="3924300" y="4221163"/>
            <a:ext cx="720725" cy="503237"/>
          </a:xfrm>
          <a:custGeom>
            <a:avLst/>
            <a:gdLst>
              <a:gd name="T0" fmla="*/ 543714 w 21600"/>
              <a:gd name="T1" fmla="*/ 0 h 21600"/>
              <a:gd name="T2" fmla="*/ 366702 w 21600"/>
              <a:gd name="T3" fmla="*/ 149224 h 21600"/>
              <a:gd name="T4" fmla="*/ 0 w 21600"/>
              <a:gd name="T5" fmla="*/ 474837 h 21600"/>
              <a:gd name="T6" fmla="*/ 288123 w 21600"/>
              <a:gd name="T7" fmla="*/ 503237 h 21600"/>
              <a:gd name="T8" fmla="*/ 576246 w 21600"/>
              <a:gd name="T9" fmla="*/ 344950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9161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95" y="0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6443" name="AutoShape 75"/>
          <p:cNvSpPr>
            <a:spLocks noChangeArrowheads="1"/>
          </p:cNvSpPr>
          <p:nvPr/>
        </p:nvSpPr>
        <p:spPr bwMode="auto">
          <a:xfrm flipV="1">
            <a:off x="1258888" y="4437063"/>
            <a:ext cx="720725" cy="503237"/>
          </a:xfrm>
          <a:custGeom>
            <a:avLst/>
            <a:gdLst>
              <a:gd name="T0" fmla="*/ 541345 w 21600"/>
              <a:gd name="T1" fmla="*/ 0 h 21600"/>
              <a:gd name="T2" fmla="*/ 361931 w 21600"/>
              <a:gd name="T3" fmla="*/ 149224 h 21600"/>
              <a:gd name="T4" fmla="*/ 0 w 21600"/>
              <a:gd name="T5" fmla="*/ 472763 h 21600"/>
              <a:gd name="T6" fmla="*/ 288123 w 21600"/>
              <a:gd name="T7" fmla="*/ 503237 h 21600"/>
              <a:gd name="T8" fmla="*/ 576246 w 21600"/>
              <a:gd name="T9" fmla="*/ 344950 h 21600"/>
              <a:gd name="T10" fmla="*/ 720725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8982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24" y="0"/>
                </a:moveTo>
                <a:lnTo>
                  <a:pt x="10847" y="6405"/>
                </a:lnTo>
                <a:lnTo>
                  <a:pt x="15177" y="6405"/>
                </a:lnTo>
                <a:lnTo>
                  <a:pt x="15177" y="18982"/>
                </a:lnTo>
                <a:lnTo>
                  <a:pt x="0" y="18982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24" y="0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6444" name="AutoShape 76"/>
          <p:cNvSpPr>
            <a:spLocks noChangeArrowheads="1"/>
          </p:cNvSpPr>
          <p:nvPr/>
        </p:nvSpPr>
        <p:spPr bwMode="auto">
          <a:xfrm>
            <a:off x="1258888" y="4221163"/>
            <a:ext cx="1150937" cy="141287"/>
          </a:xfrm>
          <a:prstGeom prst="rightArrow">
            <a:avLst>
              <a:gd name="adj1" fmla="val 50000"/>
              <a:gd name="adj2" fmla="val 203652"/>
            </a:avLst>
          </a:prstGeom>
          <a:solidFill>
            <a:srgbClr val="00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86445" name="Group 77"/>
          <p:cNvGrpSpPr>
            <a:grpSpLocks/>
          </p:cNvGrpSpPr>
          <p:nvPr/>
        </p:nvGrpSpPr>
        <p:grpSpPr bwMode="auto">
          <a:xfrm>
            <a:off x="6227763" y="3644899"/>
            <a:ext cx="2735569" cy="1898650"/>
            <a:chOff x="567" y="2477"/>
            <a:chExt cx="1925" cy="1196"/>
          </a:xfrm>
        </p:grpSpPr>
        <p:sp>
          <p:nvSpPr>
            <p:cNvPr id="70676" name="Line 78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677" name="Line 79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678" name="Line 80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679" name="Line 81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680" name="Line 82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681" name="Rectangle 83"/>
            <p:cNvSpPr>
              <a:spLocks noChangeArrowheads="1"/>
            </p:cNvSpPr>
            <p:nvPr/>
          </p:nvSpPr>
          <p:spPr bwMode="auto">
            <a:xfrm>
              <a:off x="1474" y="3479"/>
              <a:ext cx="3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0682" name="Rectangle 84"/>
            <p:cNvSpPr>
              <a:spLocks noChangeArrowheads="1"/>
            </p:cNvSpPr>
            <p:nvPr/>
          </p:nvSpPr>
          <p:spPr bwMode="auto">
            <a:xfrm>
              <a:off x="2392" y="2886"/>
              <a:ext cx="10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0683" name="Rectangle 85"/>
            <p:cNvSpPr>
              <a:spLocks noChangeArrowheads="1"/>
            </p:cNvSpPr>
            <p:nvPr/>
          </p:nvSpPr>
          <p:spPr bwMode="auto">
            <a:xfrm>
              <a:off x="910" y="2830"/>
              <a:ext cx="31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0684" name="Rectangle 86"/>
            <p:cNvSpPr>
              <a:spLocks noChangeArrowheads="1"/>
            </p:cNvSpPr>
            <p:nvPr/>
          </p:nvSpPr>
          <p:spPr bwMode="auto">
            <a:xfrm>
              <a:off x="567" y="2568"/>
              <a:ext cx="10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70685" name="Rectangle 87"/>
            <p:cNvSpPr>
              <a:spLocks noChangeArrowheads="1"/>
            </p:cNvSpPr>
            <p:nvPr/>
          </p:nvSpPr>
          <p:spPr bwMode="auto">
            <a:xfrm>
              <a:off x="567" y="3022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70686" name="Line 88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70687" name="Group 89"/>
            <p:cNvGrpSpPr>
              <a:grpSpLocks/>
            </p:cNvGrpSpPr>
            <p:nvPr/>
          </p:nvGrpSpPr>
          <p:grpSpPr bwMode="auto">
            <a:xfrm>
              <a:off x="626" y="2897"/>
              <a:ext cx="240" cy="90"/>
              <a:chOff x="4618" y="2490"/>
              <a:chExt cx="240" cy="90"/>
            </a:xfrm>
          </p:grpSpPr>
          <p:sp>
            <p:nvSpPr>
              <p:cNvPr id="70693" name="Line 90"/>
              <p:cNvSpPr>
                <a:spLocks noChangeShapeType="1"/>
              </p:cNvSpPr>
              <p:nvPr/>
            </p:nvSpPr>
            <p:spPr bwMode="auto">
              <a:xfrm>
                <a:off x="4618" y="249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0694" name="Line 91"/>
              <p:cNvSpPr>
                <a:spLocks noChangeShapeType="1"/>
              </p:cNvSpPr>
              <p:nvPr/>
            </p:nvSpPr>
            <p:spPr bwMode="auto">
              <a:xfrm>
                <a:off x="4618" y="2580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0688" name="Group 92"/>
            <p:cNvGrpSpPr>
              <a:grpSpLocks/>
            </p:cNvGrpSpPr>
            <p:nvPr/>
          </p:nvGrpSpPr>
          <p:grpSpPr bwMode="auto">
            <a:xfrm rot="5400000">
              <a:off x="2077" y="2909"/>
              <a:ext cx="351" cy="163"/>
              <a:chOff x="568" y="643"/>
              <a:chExt cx="543" cy="238"/>
            </a:xfrm>
          </p:grpSpPr>
          <p:sp>
            <p:nvSpPr>
              <p:cNvPr id="70690" name="AutoShape 93"/>
              <p:cNvSpPr>
                <a:spLocks noChangeArrowheads="1"/>
              </p:cNvSpPr>
              <p:nvPr/>
            </p:nvSpPr>
            <p:spPr bwMode="auto">
              <a:xfrm>
                <a:off x="568" y="643"/>
                <a:ext cx="108" cy="237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0691" name="AutoShape 94"/>
              <p:cNvSpPr>
                <a:spLocks noChangeArrowheads="1"/>
              </p:cNvSpPr>
              <p:nvPr/>
            </p:nvSpPr>
            <p:spPr bwMode="auto">
              <a:xfrm>
                <a:off x="777" y="644"/>
                <a:ext cx="108" cy="237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0692" name="AutoShape 95"/>
              <p:cNvSpPr>
                <a:spLocks noChangeArrowheads="1"/>
              </p:cNvSpPr>
              <p:nvPr/>
            </p:nvSpPr>
            <p:spPr bwMode="auto">
              <a:xfrm>
                <a:off x="1003" y="643"/>
                <a:ext cx="108" cy="237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0689" name="Rectangle 96"/>
            <p:cNvSpPr>
              <a:spLocks noChangeArrowheads="1"/>
            </p:cNvSpPr>
            <p:nvPr/>
          </p:nvSpPr>
          <p:spPr bwMode="auto">
            <a:xfrm>
              <a:off x="1384" y="335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186465" name="AutoShape 97"/>
          <p:cNvSpPr>
            <a:spLocks noChangeArrowheads="1"/>
          </p:cNvSpPr>
          <p:nvPr/>
        </p:nvSpPr>
        <p:spPr bwMode="auto">
          <a:xfrm flipH="1">
            <a:off x="7164388" y="4076700"/>
            <a:ext cx="1079500" cy="144463"/>
          </a:xfrm>
          <a:prstGeom prst="rightArrow">
            <a:avLst>
              <a:gd name="adj1" fmla="val 50000"/>
              <a:gd name="adj2" fmla="val 186813"/>
            </a:avLst>
          </a:prstGeom>
          <a:solidFill>
            <a:srgbClr val="00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6466" name="AutoShape 98"/>
          <p:cNvSpPr>
            <a:spLocks noChangeArrowheads="1"/>
          </p:cNvSpPr>
          <p:nvPr/>
        </p:nvSpPr>
        <p:spPr bwMode="auto">
          <a:xfrm flipH="1" flipV="1">
            <a:off x="7380288" y="4292600"/>
            <a:ext cx="792162" cy="503238"/>
          </a:xfrm>
          <a:custGeom>
            <a:avLst/>
            <a:gdLst>
              <a:gd name="T0" fmla="*/ 595002 w 21600"/>
              <a:gd name="T1" fmla="*/ 0 h 21600"/>
              <a:gd name="T2" fmla="*/ 397805 w 21600"/>
              <a:gd name="T3" fmla="*/ 149224 h 21600"/>
              <a:gd name="T4" fmla="*/ 0 w 21600"/>
              <a:gd name="T5" fmla="*/ 472764 h 21600"/>
              <a:gd name="T6" fmla="*/ 316681 w 21600"/>
              <a:gd name="T7" fmla="*/ 503238 h 21600"/>
              <a:gd name="T8" fmla="*/ 633363 w 21600"/>
              <a:gd name="T9" fmla="*/ 344951 h 21600"/>
              <a:gd name="T10" fmla="*/ 792162 w 21600"/>
              <a:gd name="T11" fmla="*/ 149224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8982 h 21600"/>
              <a:gd name="T20" fmla="*/ 1727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24" y="0"/>
                </a:moveTo>
                <a:lnTo>
                  <a:pt x="10847" y="6405"/>
                </a:lnTo>
                <a:lnTo>
                  <a:pt x="15177" y="6405"/>
                </a:lnTo>
                <a:lnTo>
                  <a:pt x="15177" y="18982"/>
                </a:lnTo>
                <a:lnTo>
                  <a:pt x="0" y="18982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24" y="0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3" name="Freeform 20"/>
          <p:cNvSpPr>
            <a:spLocks/>
          </p:cNvSpPr>
          <p:nvPr/>
        </p:nvSpPr>
        <p:spPr bwMode="auto">
          <a:xfrm>
            <a:off x="1086346" y="1369293"/>
            <a:ext cx="4349750" cy="836612"/>
          </a:xfrm>
          <a:custGeom>
            <a:avLst/>
            <a:gdLst>
              <a:gd name="T0" fmla="*/ 0 w 2740"/>
              <a:gd name="T1" fmla="*/ 454025 h 527"/>
              <a:gd name="T2" fmla="*/ 190500 w 2740"/>
              <a:gd name="T3" fmla="*/ 217487 h 527"/>
              <a:gd name="T4" fmla="*/ 357188 w 2740"/>
              <a:gd name="T5" fmla="*/ 80962 h 527"/>
              <a:gd name="T6" fmla="*/ 547688 w 2740"/>
              <a:gd name="T7" fmla="*/ 4762 h 527"/>
              <a:gd name="T8" fmla="*/ 990600 w 2740"/>
              <a:gd name="T9" fmla="*/ 111125 h 527"/>
              <a:gd name="T10" fmla="*/ 1317625 w 2740"/>
              <a:gd name="T11" fmla="*/ 323850 h 527"/>
              <a:gd name="T12" fmla="*/ 1516063 w 2740"/>
              <a:gd name="T13" fmla="*/ 492125 h 527"/>
              <a:gd name="T14" fmla="*/ 1584325 w 2740"/>
              <a:gd name="T15" fmla="*/ 560387 h 527"/>
              <a:gd name="T16" fmla="*/ 1652588 w 2740"/>
              <a:gd name="T17" fmla="*/ 636587 h 527"/>
              <a:gd name="T18" fmla="*/ 1836738 w 2740"/>
              <a:gd name="T19" fmla="*/ 742950 h 527"/>
              <a:gd name="T20" fmla="*/ 2109788 w 2740"/>
              <a:gd name="T21" fmla="*/ 833437 h 527"/>
              <a:gd name="T22" fmla="*/ 2393950 w 2740"/>
              <a:gd name="T23" fmla="*/ 763587 h 527"/>
              <a:gd name="T24" fmla="*/ 2578100 w 2740"/>
              <a:gd name="T25" fmla="*/ 685800 h 527"/>
              <a:gd name="T26" fmla="*/ 2924175 w 2740"/>
              <a:gd name="T27" fmla="*/ 479425 h 527"/>
              <a:gd name="T28" fmla="*/ 3211513 w 2740"/>
              <a:gd name="T29" fmla="*/ 365125 h 527"/>
              <a:gd name="T30" fmla="*/ 3495675 w 2740"/>
              <a:gd name="T31" fmla="*/ 304800 h 527"/>
              <a:gd name="T32" fmla="*/ 3941763 w 2740"/>
              <a:gd name="T33" fmla="*/ 401637 h 527"/>
              <a:gd name="T34" fmla="*/ 4146550 w 2740"/>
              <a:gd name="T35" fmla="*/ 479425 h 527"/>
              <a:gd name="T36" fmla="*/ 4349750 w 2740"/>
              <a:gd name="T37" fmla="*/ 557212 h 52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527">
                <a:moveTo>
                  <a:pt x="0" y="286"/>
                </a:moveTo>
                <a:cubicBezTo>
                  <a:pt x="20" y="261"/>
                  <a:pt x="83" y="176"/>
                  <a:pt x="120" y="137"/>
                </a:cubicBezTo>
                <a:cubicBezTo>
                  <a:pt x="157" y="98"/>
                  <a:pt x="187" y="73"/>
                  <a:pt x="225" y="51"/>
                </a:cubicBezTo>
                <a:cubicBezTo>
                  <a:pt x="263" y="29"/>
                  <a:pt x="279" y="0"/>
                  <a:pt x="345" y="3"/>
                </a:cubicBezTo>
                <a:cubicBezTo>
                  <a:pt x="411" y="6"/>
                  <a:pt x="543" y="37"/>
                  <a:pt x="624" y="70"/>
                </a:cubicBezTo>
                <a:cubicBezTo>
                  <a:pt x="705" y="103"/>
                  <a:pt x="775" y="164"/>
                  <a:pt x="830" y="204"/>
                </a:cubicBezTo>
                <a:cubicBezTo>
                  <a:pt x="885" y="244"/>
                  <a:pt x="927" y="285"/>
                  <a:pt x="955" y="310"/>
                </a:cubicBezTo>
                <a:cubicBezTo>
                  <a:pt x="983" y="335"/>
                  <a:pt x="984" y="338"/>
                  <a:pt x="998" y="353"/>
                </a:cubicBezTo>
                <a:cubicBezTo>
                  <a:pt x="1012" y="368"/>
                  <a:pt x="1015" y="382"/>
                  <a:pt x="1041" y="401"/>
                </a:cubicBezTo>
                <a:cubicBezTo>
                  <a:pt x="1067" y="420"/>
                  <a:pt x="1109" y="447"/>
                  <a:pt x="1157" y="468"/>
                </a:cubicBezTo>
                <a:cubicBezTo>
                  <a:pt x="1205" y="489"/>
                  <a:pt x="1271" y="523"/>
                  <a:pt x="1329" y="525"/>
                </a:cubicBezTo>
                <a:cubicBezTo>
                  <a:pt x="1387" y="527"/>
                  <a:pt x="1459" y="497"/>
                  <a:pt x="1508" y="481"/>
                </a:cubicBezTo>
                <a:cubicBezTo>
                  <a:pt x="1558" y="466"/>
                  <a:pt x="1569" y="461"/>
                  <a:pt x="1624" y="432"/>
                </a:cubicBezTo>
                <a:cubicBezTo>
                  <a:pt x="1680" y="402"/>
                  <a:pt x="1775" y="336"/>
                  <a:pt x="1842" y="302"/>
                </a:cubicBezTo>
                <a:cubicBezTo>
                  <a:pt x="1909" y="269"/>
                  <a:pt x="1962" y="249"/>
                  <a:pt x="2023" y="230"/>
                </a:cubicBezTo>
                <a:cubicBezTo>
                  <a:pt x="2083" y="212"/>
                  <a:pt x="2125" y="188"/>
                  <a:pt x="2202" y="192"/>
                </a:cubicBezTo>
                <a:cubicBezTo>
                  <a:pt x="2278" y="195"/>
                  <a:pt x="2415" y="234"/>
                  <a:pt x="2483" y="253"/>
                </a:cubicBezTo>
                <a:cubicBezTo>
                  <a:pt x="2552" y="271"/>
                  <a:pt x="2569" y="286"/>
                  <a:pt x="2612" y="302"/>
                </a:cubicBezTo>
                <a:cubicBezTo>
                  <a:pt x="2654" y="319"/>
                  <a:pt x="2698" y="335"/>
                  <a:pt x="2740" y="351"/>
                </a:cubicBezTo>
              </a:path>
            </a:pathLst>
          </a:custGeom>
          <a:noFill/>
          <a:ln w="28575" cap="flat" cmpd="sng">
            <a:solidFill>
              <a:srgbClr val="66FF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4" name="矩形标注 93"/>
          <p:cNvSpPr/>
          <p:nvPr/>
        </p:nvSpPr>
        <p:spPr bwMode="auto">
          <a:xfrm>
            <a:off x="2517775" y="1193080"/>
            <a:ext cx="546895" cy="431800"/>
          </a:xfrm>
          <a:prstGeom prst="wedgeRectCallout">
            <a:avLst>
              <a:gd name="adj1" fmla="val -110076"/>
              <a:gd name="adj2" fmla="val 125340"/>
            </a:avLst>
          </a:prstGeom>
          <a:solidFill>
            <a:srgbClr val="66CCFF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楷体_GB2312" pitchFamily="49" charset="-122"/>
              </a:rPr>
              <a:t>b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ymbol" panose="05050102010706020507" pitchFamily="18" charset="2"/>
              <a:ea typeface="楷体_GB2312" pitchFamily="49" charset="-122"/>
            </a:endParaRPr>
          </a:p>
        </p:txBody>
      </p:sp>
      <p:sp>
        <p:nvSpPr>
          <p:cNvPr id="95" name="矩形标注 94"/>
          <p:cNvSpPr/>
          <p:nvPr/>
        </p:nvSpPr>
        <p:spPr bwMode="auto">
          <a:xfrm>
            <a:off x="1269207" y="2084461"/>
            <a:ext cx="386395" cy="431800"/>
          </a:xfrm>
          <a:prstGeom prst="wedgeRectCallout">
            <a:avLst>
              <a:gd name="adj1" fmla="val 91955"/>
              <a:gd name="adj2" fmla="val -132748"/>
            </a:avLst>
          </a:prstGeom>
          <a:solidFill>
            <a:srgbClr val="66CCFF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anose="05050102010706020507" pitchFamily="18" charset="2"/>
                <a:ea typeface="楷体_GB2312" pitchFamily="49" charset="-122"/>
              </a:rPr>
              <a:t>b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ymbol" panose="05050102010706020507" pitchFamily="18" charset="2"/>
              <a:ea typeface="楷体_GB2312" pitchFamily="49" charset="-122"/>
            </a:endParaRPr>
          </a:p>
        </p:txBody>
      </p:sp>
      <p:grpSp>
        <p:nvGrpSpPr>
          <p:cNvPr id="96" name="Group 2"/>
          <p:cNvGrpSpPr>
            <a:grpSpLocks/>
          </p:cNvGrpSpPr>
          <p:nvPr/>
        </p:nvGrpSpPr>
        <p:grpSpPr bwMode="auto">
          <a:xfrm>
            <a:off x="622300" y="332656"/>
            <a:ext cx="5446713" cy="3063875"/>
            <a:chOff x="919" y="2140"/>
            <a:chExt cx="3431" cy="1930"/>
          </a:xfrm>
        </p:grpSpPr>
        <p:sp>
          <p:nvSpPr>
            <p:cNvPr id="97" name="Text Box 3"/>
            <p:cNvSpPr txBox="1">
              <a:spLocks noChangeArrowheads="1"/>
            </p:cNvSpPr>
            <p:nvPr/>
          </p:nvSpPr>
          <p:spPr bwMode="auto">
            <a:xfrm>
              <a:off x="3792" y="3447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endParaRPr kumimoji="1" lang="zh-CN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endParaRPr>
            </a:p>
          </p:txBody>
        </p:sp>
        <p:sp>
          <p:nvSpPr>
            <p:cNvPr id="98" name="Freeform 4"/>
            <p:cNvSpPr>
              <a:spLocks/>
            </p:cNvSpPr>
            <p:nvPr/>
          </p:nvSpPr>
          <p:spPr bwMode="auto">
            <a:xfrm>
              <a:off x="1198" y="2277"/>
              <a:ext cx="2727" cy="641"/>
            </a:xfrm>
            <a:custGeom>
              <a:avLst/>
              <a:gdLst>
                <a:gd name="T0" fmla="*/ 0 w 1958"/>
                <a:gd name="T1" fmla="*/ 0 h 653"/>
                <a:gd name="T2" fmla="*/ 535 w 1958"/>
                <a:gd name="T3" fmla="*/ 236 h 653"/>
                <a:gd name="T4" fmla="*/ 1671 w 1958"/>
                <a:gd name="T5" fmla="*/ 518 h 653"/>
                <a:gd name="T6" fmla="*/ 2727 w 1958"/>
                <a:gd name="T7" fmla="*/ 641 h 6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58" h="653">
                  <a:moveTo>
                    <a:pt x="0" y="0"/>
                  </a:moveTo>
                  <a:cubicBezTo>
                    <a:pt x="92" y="76"/>
                    <a:pt x="184" y="152"/>
                    <a:pt x="384" y="240"/>
                  </a:cubicBezTo>
                  <a:cubicBezTo>
                    <a:pt x="584" y="328"/>
                    <a:pt x="938" y="459"/>
                    <a:pt x="1200" y="528"/>
                  </a:cubicBezTo>
                  <a:cubicBezTo>
                    <a:pt x="1462" y="597"/>
                    <a:pt x="1800" y="627"/>
                    <a:pt x="1958" y="653"/>
                  </a:cubicBezTo>
                </a:path>
              </a:pathLst>
            </a:custGeom>
            <a:noFill/>
            <a:ln w="28575" cap="rnd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" name="Freeform 5"/>
            <p:cNvSpPr>
              <a:spLocks/>
            </p:cNvSpPr>
            <p:nvPr/>
          </p:nvSpPr>
          <p:spPr bwMode="auto">
            <a:xfrm>
              <a:off x="1195" y="2323"/>
              <a:ext cx="2484" cy="1289"/>
            </a:xfrm>
            <a:custGeom>
              <a:avLst/>
              <a:gdLst>
                <a:gd name="T0" fmla="*/ 5 w 2405"/>
                <a:gd name="T1" fmla="*/ 0 h 1289"/>
                <a:gd name="T2" fmla="*/ 5 w 2405"/>
                <a:gd name="T3" fmla="*/ 5 h 1289"/>
                <a:gd name="T4" fmla="*/ 15 w 2405"/>
                <a:gd name="T5" fmla="*/ 5 h 1289"/>
                <a:gd name="T6" fmla="*/ 96 w 2405"/>
                <a:gd name="T7" fmla="*/ 24 h 1289"/>
                <a:gd name="T8" fmla="*/ 202 w 2405"/>
                <a:gd name="T9" fmla="*/ 144 h 1289"/>
                <a:gd name="T10" fmla="*/ 399 w 2405"/>
                <a:gd name="T11" fmla="*/ 516 h 1289"/>
                <a:gd name="T12" fmla="*/ 547 w 2405"/>
                <a:gd name="T13" fmla="*/ 877 h 1289"/>
                <a:gd name="T14" fmla="*/ 600 w 2405"/>
                <a:gd name="T15" fmla="*/ 985 h 1289"/>
                <a:gd name="T16" fmla="*/ 734 w 2405"/>
                <a:gd name="T17" fmla="*/ 1174 h 1289"/>
                <a:gd name="T18" fmla="*/ 936 w 2405"/>
                <a:gd name="T19" fmla="*/ 1287 h 1289"/>
                <a:gd name="T20" fmla="*/ 1121 w 2405"/>
                <a:gd name="T21" fmla="*/ 1189 h 1289"/>
                <a:gd name="T22" fmla="*/ 1242 w 2405"/>
                <a:gd name="T23" fmla="*/ 1068 h 1289"/>
                <a:gd name="T24" fmla="*/ 1469 w 2405"/>
                <a:gd name="T25" fmla="*/ 755 h 1289"/>
                <a:gd name="T26" fmla="*/ 1657 w 2405"/>
                <a:gd name="T27" fmla="*/ 581 h 1289"/>
                <a:gd name="T28" fmla="*/ 1853 w 2405"/>
                <a:gd name="T29" fmla="*/ 504 h 1289"/>
                <a:gd name="T30" fmla="*/ 2138 w 2405"/>
                <a:gd name="T31" fmla="*/ 635 h 1289"/>
                <a:gd name="T32" fmla="*/ 2271 w 2405"/>
                <a:gd name="T33" fmla="*/ 755 h 1289"/>
                <a:gd name="T34" fmla="*/ 2405 w 2405"/>
                <a:gd name="T35" fmla="*/ 875 h 128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05" h="1289">
                  <a:moveTo>
                    <a:pt x="5" y="0"/>
                  </a:moveTo>
                  <a:cubicBezTo>
                    <a:pt x="5" y="1"/>
                    <a:pt x="3" y="4"/>
                    <a:pt x="5" y="5"/>
                  </a:cubicBezTo>
                  <a:cubicBezTo>
                    <a:pt x="7" y="6"/>
                    <a:pt x="0" y="2"/>
                    <a:pt x="15" y="5"/>
                  </a:cubicBezTo>
                  <a:cubicBezTo>
                    <a:pt x="30" y="8"/>
                    <a:pt x="65" y="1"/>
                    <a:pt x="96" y="24"/>
                  </a:cubicBezTo>
                  <a:cubicBezTo>
                    <a:pt x="127" y="47"/>
                    <a:pt x="152" y="62"/>
                    <a:pt x="202" y="144"/>
                  </a:cubicBezTo>
                  <a:cubicBezTo>
                    <a:pt x="252" y="226"/>
                    <a:pt x="342" y="394"/>
                    <a:pt x="399" y="516"/>
                  </a:cubicBezTo>
                  <a:cubicBezTo>
                    <a:pt x="456" y="638"/>
                    <a:pt x="513" y="799"/>
                    <a:pt x="547" y="877"/>
                  </a:cubicBezTo>
                  <a:cubicBezTo>
                    <a:pt x="580" y="956"/>
                    <a:pt x="569" y="935"/>
                    <a:pt x="600" y="985"/>
                  </a:cubicBezTo>
                  <a:cubicBezTo>
                    <a:pt x="630" y="1035"/>
                    <a:pt x="678" y="1124"/>
                    <a:pt x="734" y="1174"/>
                  </a:cubicBezTo>
                  <a:cubicBezTo>
                    <a:pt x="790" y="1224"/>
                    <a:pt x="872" y="1285"/>
                    <a:pt x="936" y="1287"/>
                  </a:cubicBezTo>
                  <a:cubicBezTo>
                    <a:pt x="1000" y="1289"/>
                    <a:pt x="1070" y="1225"/>
                    <a:pt x="1121" y="1189"/>
                  </a:cubicBezTo>
                  <a:cubicBezTo>
                    <a:pt x="1172" y="1153"/>
                    <a:pt x="1183" y="1141"/>
                    <a:pt x="1242" y="1068"/>
                  </a:cubicBezTo>
                  <a:cubicBezTo>
                    <a:pt x="1300" y="996"/>
                    <a:pt x="1399" y="836"/>
                    <a:pt x="1469" y="755"/>
                  </a:cubicBezTo>
                  <a:cubicBezTo>
                    <a:pt x="1539" y="675"/>
                    <a:pt x="1593" y="623"/>
                    <a:pt x="1657" y="581"/>
                  </a:cubicBezTo>
                  <a:cubicBezTo>
                    <a:pt x="1721" y="539"/>
                    <a:pt x="1773" y="495"/>
                    <a:pt x="1853" y="504"/>
                  </a:cubicBezTo>
                  <a:cubicBezTo>
                    <a:pt x="1933" y="513"/>
                    <a:pt x="2068" y="593"/>
                    <a:pt x="2138" y="635"/>
                  </a:cubicBezTo>
                  <a:cubicBezTo>
                    <a:pt x="2208" y="677"/>
                    <a:pt x="2227" y="716"/>
                    <a:pt x="2271" y="755"/>
                  </a:cubicBezTo>
                  <a:cubicBezTo>
                    <a:pt x="2316" y="795"/>
                    <a:pt x="2360" y="835"/>
                    <a:pt x="2405" y="875"/>
                  </a:cubicBez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" name="Freeform 6"/>
            <p:cNvSpPr>
              <a:spLocks/>
            </p:cNvSpPr>
            <p:nvPr/>
          </p:nvSpPr>
          <p:spPr bwMode="auto">
            <a:xfrm>
              <a:off x="1238" y="3319"/>
              <a:ext cx="2875" cy="659"/>
            </a:xfrm>
            <a:custGeom>
              <a:avLst/>
              <a:gdLst>
                <a:gd name="T0" fmla="*/ 0 w 2064"/>
                <a:gd name="T1" fmla="*/ 659 h 672"/>
                <a:gd name="T2" fmla="*/ 602 w 2064"/>
                <a:gd name="T3" fmla="*/ 377 h 672"/>
                <a:gd name="T4" fmla="*/ 1337 w 2064"/>
                <a:gd name="T5" fmla="*/ 188 h 672"/>
                <a:gd name="T6" fmla="*/ 2206 w 2064"/>
                <a:gd name="T7" fmla="*/ 47 h 672"/>
                <a:gd name="T8" fmla="*/ 2875 w 2064"/>
                <a:gd name="T9" fmla="*/ 0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64" h="672">
                  <a:moveTo>
                    <a:pt x="0" y="672"/>
                  </a:moveTo>
                  <a:cubicBezTo>
                    <a:pt x="136" y="568"/>
                    <a:pt x="272" y="464"/>
                    <a:pt x="432" y="384"/>
                  </a:cubicBezTo>
                  <a:cubicBezTo>
                    <a:pt x="592" y="304"/>
                    <a:pt x="768" y="248"/>
                    <a:pt x="960" y="192"/>
                  </a:cubicBezTo>
                  <a:cubicBezTo>
                    <a:pt x="1152" y="136"/>
                    <a:pt x="1400" y="80"/>
                    <a:pt x="1584" y="48"/>
                  </a:cubicBezTo>
                  <a:cubicBezTo>
                    <a:pt x="1768" y="16"/>
                    <a:pt x="1916" y="8"/>
                    <a:pt x="2064" y="0"/>
                  </a:cubicBezTo>
                </a:path>
              </a:pathLst>
            </a:custGeom>
            <a:noFill/>
            <a:ln w="28575" cap="rnd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1" name="Line 7"/>
            <p:cNvSpPr>
              <a:spLocks noChangeShapeType="1"/>
            </p:cNvSpPr>
            <p:nvPr/>
          </p:nvSpPr>
          <p:spPr bwMode="auto">
            <a:xfrm>
              <a:off x="997" y="3081"/>
              <a:ext cx="32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" name="Line 8"/>
            <p:cNvSpPr>
              <a:spLocks noChangeShapeType="1"/>
            </p:cNvSpPr>
            <p:nvPr/>
          </p:nvSpPr>
          <p:spPr bwMode="auto">
            <a:xfrm>
              <a:off x="1198" y="2140"/>
              <a:ext cx="0" cy="19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3" name="Text Box 9"/>
            <p:cNvSpPr txBox="1">
              <a:spLocks noChangeArrowheads="1"/>
            </p:cNvSpPr>
            <p:nvPr/>
          </p:nvSpPr>
          <p:spPr bwMode="auto">
            <a:xfrm>
              <a:off x="4078" y="3049"/>
              <a:ext cx="27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/>
              <a:r>
                <a:rPr kumimoji="1" lang="en-US" altLang="zh-CN" sz="2000" b="0" i="1" dirty="0" err="1">
                  <a:solidFill>
                    <a:schemeClr val="tx1"/>
                  </a:solidFill>
                  <a:latin typeface="Symbol" panose="05050102010706020507" pitchFamily="18" charset="2"/>
                  <a:ea typeface="宋体" charset="-122"/>
                </a:rPr>
                <a:t>w</a:t>
              </a:r>
              <a:r>
                <a:rPr kumimoji="1" lang="en-US" altLang="zh-CN" sz="2000" b="0" i="1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4" name="Text Box 10"/>
            <p:cNvSpPr txBox="1">
              <a:spLocks noChangeArrowheads="1"/>
            </p:cNvSpPr>
            <p:nvPr/>
          </p:nvSpPr>
          <p:spPr bwMode="auto">
            <a:xfrm>
              <a:off x="1607" y="3040"/>
              <a:ext cx="3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18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</a:t>
              </a:r>
              <a:r>
                <a:rPr kumimoji="1" lang="en-US" altLang="zh-CN" sz="18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</a:t>
              </a:r>
              <a:endParaRPr kumimoji="1" lang="en-US" altLang="zh-CN" sz="18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endParaRPr>
            </a:p>
          </p:txBody>
        </p:sp>
        <p:sp>
          <p:nvSpPr>
            <p:cNvPr id="105" name="Text Box 11"/>
            <p:cNvSpPr txBox="1">
              <a:spLocks noChangeArrowheads="1"/>
            </p:cNvSpPr>
            <p:nvPr/>
          </p:nvSpPr>
          <p:spPr bwMode="auto">
            <a:xfrm>
              <a:off x="2417" y="3031"/>
              <a:ext cx="42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18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2</a:t>
              </a:r>
              <a:r>
                <a:rPr kumimoji="1" lang="en-US" altLang="zh-CN" sz="18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</a:t>
              </a:r>
              <a:r>
                <a:rPr kumimoji="1" lang="en-US" altLang="zh-CN" sz="18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</a:t>
              </a:r>
              <a:endParaRPr kumimoji="1" lang="en-US" altLang="zh-CN" sz="18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endParaRPr>
            </a:p>
          </p:txBody>
        </p:sp>
        <p:sp>
          <p:nvSpPr>
            <p:cNvPr id="106" name="Text Box 12"/>
            <p:cNvSpPr txBox="1">
              <a:spLocks noChangeArrowheads="1"/>
            </p:cNvSpPr>
            <p:nvPr/>
          </p:nvSpPr>
          <p:spPr bwMode="auto">
            <a:xfrm>
              <a:off x="2944" y="3031"/>
              <a:ext cx="26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18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2</a:t>
              </a:r>
            </a:p>
          </p:txBody>
        </p:sp>
        <p:sp>
          <p:nvSpPr>
            <p:cNvPr id="107" name="Text Box 14"/>
            <p:cNvSpPr txBox="1">
              <a:spLocks noChangeArrowheads="1"/>
            </p:cNvSpPr>
            <p:nvPr/>
          </p:nvSpPr>
          <p:spPr bwMode="auto">
            <a:xfrm>
              <a:off x="1016" y="3049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108" name="Line 15"/>
            <p:cNvSpPr>
              <a:spLocks noChangeShapeType="1"/>
            </p:cNvSpPr>
            <p:nvPr/>
          </p:nvSpPr>
          <p:spPr bwMode="auto">
            <a:xfrm>
              <a:off x="2155" y="3081"/>
              <a:ext cx="0" cy="531"/>
            </a:xfrm>
            <a:prstGeom prst="line">
              <a:avLst/>
            </a:prstGeom>
            <a:noFill/>
            <a:ln w="38100" cap="rnd">
              <a:solidFill>
                <a:srgbClr val="7030A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9" name="Text Box 16"/>
            <p:cNvSpPr txBox="1">
              <a:spLocks noChangeArrowheads="1"/>
            </p:cNvSpPr>
            <p:nvPr/>
          </p:nvSpPr>
          <p:spPr bwMode="auto">
            <a:xfrm>
              <a:off x="919" y="2204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0" name="Text Box 17"/>
            <p:cNvSpPr txBox="1">
              <a:spLocks noChangeArrowheads="1"/>
            </p:cNvSpPr>
            <p:nvPr/>
          </p:nvSpPr>
          <p:spPr bwMode="auto">
            <a:xfrm>
              <a:off x="2228" y="3494"/>
              <a:ext cx="2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err="1">
                  <a:solidFill>
                    <a:srgbClr val="00CCFF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rgbClr val="00CCFF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i="1" baseline="-25000" dirty="0">
                <a:solidFill>
                  <a:srgbClr val="00CC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1" name="Line 18"/>
            <p:cNvSpPr>
              <a:spLocks noChangeShapeType="1"/>
            </p:cNvSpPr>
            <p:nvPr/>
          </p:nvSpPr>
          <p:spPr bwMode="auto">
            <a:xfrm>
              <a:off x="3058" y="2827"/>
              <a:ext cx="0" cy="254"/>
            </a:xfrm>
            <a:prstGeom prst="line">
              <a:avLst/>
            </a:prstGeom>
            <a:noFill/>
            <a:ln w="38100" cap="rnd">
              <a:solidFill>
                <a:srgbClr val="7030A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2" name="Line 15"/>
            <p:cNvSpPr>
              <a:spLocks noChangeShapeType="1"/>
            </p:cNvSpPr>
            <p:nvPr/>
          </p:nvSpPr>
          <p:spPr bwMode="auto">
            <a:xfrm>
              <a:off x="1994" y="3111"/>
              <a:ext cx="0" cy="537"/>
            </a:xfrm>
            <a:prstGeom prst="line">
              <a:avLst/>
            </a:prstGeom>
            <a:noFill/>
            <a:ln w="38100" cap="rnd">
              <a:solidFill>
                <a:srgbClr val="7030A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3" name="Text Box 13"/>
            <p:cNvSpPr txBox="1">
              <a:spLocks noChangeArrowheads="1"/>
            </p:cNvSpPr>
            <p:nvPr/>
          </p:nvSpPr>
          <p:spPr bwMode="auto">
            <a:xfrm>
              <a:off x="2113" y="3020"/>
              <a:ext cx="1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18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</a:t>
              </a:r>
            </a:p>
          </p:txBody>
        </p:sp>
        <p:sp>
          <p:nvSpPr>
            <p:cNvPr id="114" name="Text Box 17"/>
            <p:cNvSpPr txBox="1">
              <a:spLocks noChangeArrowheads="1"/>
            </p:cNvSpPr>
            <p:nvPr/>
          </p:nvSpPr>
          <p:spPr bwMode="auto">
            <a:xfrm>
              <a:off x="1629" y="3383"/>
              <a:ext cx="2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 err="1" smtClean="0">
                  <a:solidFill>
                    <a:srgbClr val="FF9900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 smtClean="0">
                  <a:solidFill>
                    <a:srgbClr val="FF9900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i="1" baseline="-25000" dirty="0">
                <a:solidFill>
                  <a:srgbClr val="FF99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15" name="Line 21"/>
          <p:cNvSpPr>
            <a:spLocks noChangeShapeType="1"/>
          </p:cNvSpPr>
          <p:nvPr/>
        </p:nvSpPr>
        <p:spPr bwMode="auto">
          <a:xfrm>
            <a:off x="1749399" y="1369293"/>
            <a:ext cx="0" cy="454025"/>
          </a:xfrm>
          <a:prstGeom prst="line">
            <a:avLst/>
          </a:prstGeom>
          <a:noFill/>
          <a:ln w="38100" cap="rnd">
            <a:solidFill>
              <a:srgbClr val="7030A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16" name="Text Box 22"/>
          <p:cNvSpPr txBox="1">
            <a:spLocks noChangeArrowheads="1"/>
          </p:cNvSpPr>
          <p:nvPr/>
        </p:nvSpPr>
        <p:spPr bwMode="auto">
          <a:xfrm>
            <a:off x="2042748" y="1153864"/>
            <a:ext cx="3690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000" b="0" i="1" dirty="0" err="1">
                <a:solidFill>
                  <a:srgbClr val="00B050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>
                <a:solidFill>
                  <a:srgbClr val="00B050"/>
                </a:solidFill>
                <a:latin typeface="Times New Roman" pitchFamily="18" charset="0"/>
                <a:ea typeface="宋体" charset="-122"/>
              </a:rPr>
              <a:t>C</a:t>
            </a:r>
            <a:endParaRPr kumimoji="1" lang="en-US" altLang="zh-CN" sz="2000" b="0" dirty="0">
              <a:solidFill>
                <a:srgbClr val="00B05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17" name="Freeform 5"/>
          <p:cNvSpPr>
            <a:spLocks/>
          </p:cNvSpPr>
          <p:nvPr/>
        </p:nvSpPr>
        <p:spPr bwMode="auto">
          <a:xfrm>
            <a:off x="1041400" y="569193"/>
            <a:ext cx="3325355" cy="2119311"/>
          </a:xfrm>
          <a:custGeom>
            <a:avLst/>
            <a:gdLst>
              <a:gd name="T0" fmla="*/ 5 w 2405"/>
              <a:gd name="T1" fmla="*/ 0 h 1289"/>
              <a:gd name="T2" fmla="*/ 5 w 2405"/>
              <a:gd name="T3" fmla="*/ 5 h 1289"/>
              <a:gd name="T4" fmla="*/ 15 w 2405"/>
              <a:gd name="T5" fmla="*/ 5 h 1289"/>
              <a:gd name="T6" fmla="*/ 96 w 2405"/>
              <a:gd name="T7" fmla="*/ 24 h 1289"/>
              <a:gd name="T8" fmla="*/ 202 w 2405"/>
              <a:gd name="T9" fmla="*/ 144 h 1289"/>
              <a:gd name="T10" fmla="*/ 399 w 2405"/>
              <a:gd name="T11" fmla="*/ 516 h 1289"/>
              <a:gd name="T12" fmla="*/ 547 w 2405"/>
              <a:gd name="T13" fmla="*/ 877 h 1289"/>
              <a:gd name="T14" fmla="*/ 600 w 2405"/>
              <a:gd name="T15" fmla="*/ 985 h 1289"/>
              <a:gd name="T16" fmla="*/ 734 w 2405"/>
              <a:gd name="T17" fmla="*/ 1174 h 1289"/>
              <a:gd name="T18" fmla="*/ 936 w 2405"/>
              <a:gd name="T19" fmla="*/ 1287 h 1289"/>
              <a:gd name="T20" fmla="*/ 1121 w 2405"/>
              <a:gd name="T21" fmla="*/ 1189 h 1289"/>
              <a:gd name="T22" fmla="*/ 1242 w 2405"/>
              <a:gd name="T23" fmla="*/ 1068 h 1289"/>
              <a:gd name="T24" fmla="*/ 1469 w 2405"/>
              <a:gd name="T25" fmla="*/ 755 h 1289"/>
              <a:gd name="T26" fmla="*/ 1657 w 2405"/>
              <a:gd name="T27" fmla="*/ 581 h 1289"/>
              <a:gd name="T28" fmla="*/ 1853 w 2405"/>
              <a:gd name="T29" fmla="*/ 504 h 1289"/>
              <a:gd name="T30" fmla="*/ 2138 w 2405"/>
              <a:gd name="T31" fmla="*/ 635 h 1289"/>
              <a:gd name="T32" fmla="*/ 2271 w 2405"/>
              <a:gd name="T33" fmla="*/ 755 h 1289"/>
              <a:gd name="T34" fmla="*/ 2405 w 2405"/>
              <a:gd name="T35" fmla="*/ 875 h 128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05" h="1289">
                <a:moveTo>
                  <a:pt x="5" y="0"/>
                </a:moveTo>
                <a:cubicBezTo>
                  <a:pt x="5" y="1"/>
                  <a:pt x="3" y="4"/>
                  <a:pt x="5" y="5"/>
                </a:cubicBezTo>
                <a:cubicBezTo>
                  <a:pt x="7" y="6"/>
                  <a:pt x="0" y="2"/>
                  <a:pt x="15" y="5"/>
                </a:cubicBezTo>
                <a:cubicBezTo>
                  <a:pt x="30" y="8"/>
                  <a:pt x="65" y="1"/>
                  <a:pt x="96" y="24"/>
                </a:cubicBezTo>
                <a:cubicBezTo>
                  <a:pt x="127" y="47"/>
                  <a:pt x="152" y="62"/>
                  <a:pt x="202" y="144"/>
                </a:cubicBezTo>
                <a:cubicBezTo>
                  <a:pt x="252" y="226"/>
                  <a:pt x="342" y="394"/>
                  <a:pt x="399" y="516"/>
                </a:cubicBezTo>
                <a:cubicBezTo>
                  <a:pt x="456" y="638"/>
                  <a:pt x="513" y="799"/>
                  <a:pt x="547" y="877"/>
                </a:cubicBezTo>
                <a:cubicBezTo>
                  <a:pt x="580" y="956"/>
                  <a:pt x="569" y="935"/>
                  <a:pt x="600" y="985"/>
                </a:cubicBezTo>
                <a:cubicBezTo>
                  <a:pt x="630" y="1035"/>
                  <a:pt x="678" y="1124"/>
                  <a:pt x="734" y="1174"/>
                </a:cubicBezTo>
                <a:cubicBezTo>
                  <a:pt x="790" y="1224"/>
                  <a:pt x="872" y="1285"/>
                  <a:pt x="936" y="1287"/>
                </a:cubicBezTo>
                <a:cubicBezTo>
                  <a:pt x="1000" y="1289"/>
                  <a:pt x="1070" y="1225"/>
                  <a:pt x="1121" y="1189"/>
                </a:cubicBezTo>
                <a:cubicBezTo>
                  <a:pt x="1172" y="1153"/>
                  <a:pt x="1183" y="1141"/>
                  <a:pt x="1242" y="1068"/>
                </a:cubicBezTo>
                <a:cubicBezTo>
                  <a:pt x="1300" y="996"/>
                  <a:pt x="1399" y="836"/>
                  <a:pt x="1469" y="755"/>
                </a:cubicBezTo>
                <a:cubicBezTo>
                  <a:pt x="1539" y="675"/>
                  <a:pt x="1593" y="623"/>
                  <a:pt x="1657" y="581"/>
                </a:cubicBezTo>
                <a:cubicBezTo>
                  <a:pt x="1721" y="539"/>
                  <a:pt x="1773" y="495"/>
                  <a:pt x="1853" y="504"/>
                </a:cubicBezTo>
                <a:cubicBezTo>
                  <a:pt x="1933" y="513"/>
                  <a:pt x="2068" y="593"/>
                  <a:pt x="2138" y="635"/>
                </a:cubicBezTo>
                <a:cubicBezTo>
                  <a:pt x="2208" y="677"/>
                  <a:pt x="2227" y="716"/>
                  <a:pt x="2271" y="755"/>
                </a:cubicBezTo>
                <a:cubicBezTo>
                  <a:pt x="2316" y="795"/>
                  <a:pt x="2360" y="835"/>
                  <a:pt x="2405" y="875"/>
                </a:cubicBezTo>
              </a:path>
            </a:pathLst>
          </a:cu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/>
      <p:bldP spid="186371" grpId="0" autoUpdateAnimBg="0"/>
      <p:bldP spid="186372" grpId="0" autoUpdateAnimBg="0"/>
      <p:bldP spid="186373" grpId="0" build="p" autoUpdateAnimBg="0"/>
      <p:bldP spid="186441" grpId="0" animBg="1"/>
      <p:bldP spid="186442" grpId="0" animBg="1"/>
      <p:bldP spid="186443" grpId="0" animBg="1"/>
      <p:bldP spid="186444" grpId="0" animBg="1"/>
      <p:bldP spid="186465" grpId="0" animBg="1"/>
      <p:bldP spid="18646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ext Box 2" descr="绿色大理石"/>
          <p:cNvSpPr txBox="1">
            <a:spLocks noChangeArrowheads="1"/>
          </p:cNvSpPr>
          <p:nvPr/>
        </p:nvSpPr>
        <p:spPr bwMode="auto">
          <a:xfrm>
            <a:off x="539750" y="692150"/>
            <a:ext cx="1985963" cy="400110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特例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0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时</a:t>
            </a:r>
          </a:p>
        </p:txBody>
      </p:sp>
      <p:graphicFrame>
        <p:nvGraphicFramePr>
          <p:cNvPr id="187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415713"/>
              </p:ext>
            </p:extLst>
          </p:nvPr>
        </p:nvGraphicFramePr>
        <p:xfrm>
          <a:off x="3531788" y="824405"/>
          <a:ext cx="4302526" cy="875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9" name="Equation" r:id="rId3" imgW="2095200" imgH="419040" progId="Equation.DSMT4">
                  <p:embed/>
                </p:oleObj>
              </mc:Choice>
              <mc:Fallback>
                <p:oleObj name="Equation" r:id="rId3" imgW="209520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1788" y="824405"/>
                        <a:ext cx="4302526" cy="875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790391"/>
              </p:ext>
            </p:extLst>
          </p:nvPr>
        </p:nvGraphicFramePr>
        <p:xfrm>
          <a:off x="1476376" y="1885219"/>
          <a:ext cx="3132538" cy="1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0" name="Equation" r:id="rId5" imgW="1371600" imgH="583920" progId="Equation.DSMT4">
                  <p:embed/>
                </p:oleObj>
              </mc:Choice>
              <mc:Fallback>
                <p:oleObj name="Equation" r:id="rId5" imgW="1371600" imgH="5839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6" y="1885219"/>
                        <a:ext cx="3132538" cy="1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7" name="Text Box 5"/>
          <p:cNvSpPr txBox="1">
            <a:spLocks noChangeArrowheads="1"/>
          </p:cNvSpPr>
          <p:nvPr/>
        </p:nvSpPr>
        <p:spPr bwMode="auto">
          <a:xfrm>
            <a:off x="6133582" y="2348880"/>
            <a:ext cx="20885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98000" rIns="198000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等幅振荡</a:t>
            </a:r>
          </a:p>
        </p:txBody>
      </p:sp>
      <p:grpSp>
        <p:nvGrpSpPr>
          <p:cNvPr id="187398" name="Group 6"/>
          <p:cNvGrpSpPr>
            <a:grpSpLocks/>
          </p:cNvGrpSpPr>
          <p:nvPr/>
        </p:nvGrpSpPr>
        <p:grpSpPr bwMode="auto">
          <a:xfrm>
            <a:off x="900113" y="3644900"/>
            <a:ext cx="3646488" cy="1838325"/>
            <a:chOff x="897" y="2278"/>
            <a:chExt cx="2297" cy="1158"/>
          </a:xfrm>
        </p:grpSpPr>
        <p:grpSp>
          <p:nvGrpSpPr>
            <p:cNvPr id="71710" name="Group 7"/>
            <p:cNvGrpSpPr>
              <a:grpSpLocks/>
            </p:cNvGrpSpPr>
            <p:nvPr/>
          </p:nvGrpSpPr>
          <p:grpSpPr bwMode="auto">
            <a:xfrm>
              <a:off x="897" y="2651"/>
              <a:ext cx="2297" cy="785"/>
              <a:chOff x="2976" y="1375"/>
              <a:chExt cx="2297" cy="785"/>
            </a:xfrm>
          </p:grpSpPr>
          <p:sp>
            <p:nvSpPr>
              <p:cNvPr id="71712" name="Freeform 8"/>
              <p:cNvSpPr>
                <a:spLocks/>
              </p:cNvSpPr>
              <p:nvPr/>
            </p:nvSpPr>
            <p:spPr bwMode="auto">
              <a:xfrm>
                <a:off x="3066" y="1375"/>
                <a:ext cx="1868" cy="785"/>
              </a:xfrm>
              <a:custGeom>
                <a:avLst/>
                <a:gdLst>
                  <a:gd name="T0" fmla="*/ 0 w 1868"/>
                  <a:gd name="T1" fmla="*/ 403 h 785"/>
                  <a:gd name="T2" fmla="*/ 63 w 1868"/>
                  <a:gd name="T3" fmla="*/ 262 h 785"/>
                  <a:gd name="T4" fmla="*/ 135 w 1868"/>
                  <a:gd name="T5" fmla="*/ 141 h 785"/>
                  <a:gd name="T6" fmla="*/ 190 w 1868"/>
                  <a:gd name="T7" fmla="*/ 60 h 785"/>
                  <a:gd name="T8" fmla="*/ 256 w 1868"/>
                  <a:gd name="T9" fmla="*/ 7 h 785"/>
                  <a:gd name="T10" fmla="*/ 332 w 1868"/>
                  <a:gd name="T11" fmla="*/ 17 h 785"/>
                  <a:gd name="T12" fmla="*/ 406 w 1868"/>
                  <a:gd name="T13" fmla="*/ 75 h 785"/>
                  <a:gd name="T14" fmla="*/ 496 w 1868"/>
                  <a:gd name="T15" fmla="*/ 206 h 785"/>
                  <a:gd name="T16" fmla="*/ 569 w 1868"/>
                  <a:gd name="T17" fmla="*/ 353 h 785"/>
                  <a:gd name="T18" fmla="*/ 695 w 1868"/>
                  <a:gd name="T19" fmla="*/ 585 h 785"/>
                  <a:gd name="T20" fmla="*/ 812 w 1868"/>
                  <a:gd name="T21" fmla="*/ 730 h 785"/>
                  <a:gd name="T22" fmla="*/ 948 w 1868"/>
                  <a:gd name="T23" fmla="*/ 774 h 785"/>
                  <a:gd name="T24" fmla="*/ 1083 w 1868"/>
                  <a:gd name="T25" fmla="*/ 665 h 785"/>
                  <a:gd name="T26" fmla="*/ 1218 w 1868"/>
                  <a:gd name="T27" fmla="*/ 424 h 785"/>
                  <a:gd name="T28" fmla="*/ 1354 w 1868"/>
                  <a:gd name="T29" fmla="*/ 184 h 785"/>
                  <a:gd name="T30" fmla="*/ 1444 w 1868"/>
                  <a:gd name="T31" fmla="*/ 75 h 785"/>
                  <a:gd name="T32" fmla="*/ 1516 w 1868"/>
                  <a:gd name="T33" fmla="*/ 43 h 785"/>
                  <a:gd name="T34" fmla="*/ 1579 w 1868"/>
                  <a:gd name="T35" fmla="*/ 54 h 785"/>
                  <a:gd name="T36" fmla="*/ 1670 w 1868"/>
                  <a:gd name="T37" fmla="*/ 119 h 785"/>
                  <a:gd name="T38" fmla="*/ 1868 w 1868"/>
                  <a:gd name="T39" fmla="*/ 401 h 78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868" h="785">
                    <a:moveTo>
                      <a:pt x="0" y="403"/>
                    </a:moveTo>
                    <a:cubicBezTo>
                      <a:pt x="10" y="379"/>
                      <a:pt x="40" y="306"/>
                      <a:pt x="63" y="262"/>
                    </a:cubicBezTo>
                    <a:cubicBezTo>
                      <a:pt x="86" y="218"/>
                      <a:pt x="115" y="174"/>
                      <a:pt x="135" y="141"/>
                    </a:cubicBezTo>
                    <a:cubicBezTo>
                      <a:pt x="156" y="107"/>
                      <a:pt x="170" y="82"/>
                      <a:pt x="190" y="60"/>
                    </a:cubicBezTo>
                    <a:cubicBezTo>
                      <a:pt x="210" y="38"/>
                      <a:pt x="232" y="14"/>
                      <a:pt x="256" y="7"/>
                    </a:cubicBezTo>
                    <a:cubicBezTo>
                      <a:pt x="280" y="0"/>
                      <a:pt x="307" y="6"/>
                      <a:pt x="332" y="17"/>
                    </a:cubicBezTo>
                    <a:cubicBezTo>
                      <a:pt x="357" y="28"/>
                      <a:pt x="379" y="43"/>
                      <a:pt x="406" y="75"/>
                    </a:cubicBezTo>
                    <a:cubicBezTo>
                      <a:pt x="433" y="107"/>
                      <a:pt x="469" y="160"/>
                      <a:pt x="496" y="206"/>
                    </a:cubicBezTo>
                    <a:cubicBezTo>
                      <a:pt x="524" y="252"/>
                      <a:pt x="536" y="290"/>
                      <a:pt x="569" y="353"/>
                    </a:cubicBezTo>
                    <a:cubicBezTo>
                      <a:pt x="602" y="416"/>
                      <a:pt x="654" y="522"/>
                      <a:pt x="695" y="585"/>
                    </a:cubicBezTo>
                    <a:cubicBezTo>
                      <a:pt x="735" y="648"/>
                      <a:pt x="770" y="699"/>
                      <a:pt x="812" y="730"/>
                    </a:cubicBezTo>
                    <a:cubicBezTo>
                      <a:pt x="855" y="762"/>
                      <a:pt x="903" y="785"/>
                      <a:pt x="948" y="774"/>
                    </a:cubicBezTo>
                    <a:cubicBezTo>
                      <a:pt x="993" y="763"/>
                      <a:pt x="1038" y="723"/>
                      <a:pt x="1083" y="665"/>
                    </a:cubicBezTo>
                    <a:cubicBezTo>
                      <a:pt x="1128" y="607"/>
                      <a:pt x="1173" y="505"/>
                      <a:pt x="1218" y="424"/>
                    </a:cubicBezTo>
                    <a:cubicBezTo>
                      <a:pt x="1264" y="344"/>
                      <a:pt x="1316" y="243"/>
                      <a:pt x="1354" y="184"/>
                    </a:cubicBezTo>
                    <a:cubicBezTo>
                      <a:pt x="1391" y="126"/>
                      <a:pt x="1417" y="99"/>
                      <a:pt x="1444" y="75"/>
                    </a:cubicBezTo>
                    <a:cubicBezTo>
                      <a:pt x="1471" y="52"/>
                      <a:pt x="1494" y="47"/>
                      <a:pt x="1516" y="43"/>
                    </a:cubicBezTo>
                    <a:cubicBezTo>
                      <a:pt x="1539" y="40"/>
                      <a:pt x="1554" y="40"/>
                      <a:pt x="1579" y="54"/>
                    </a:cubicBezTo>
                    <a:cubicBezTo>
                      <a:pt x="1605" y="66"/>
                      <a:pt x="1622" y="61"/>
                      <a:pt x="1670" y="119"/>
                    </a:cubicBezTo>
                    <a:cubicBezTo>
                      <a:pt x="1718" y="176"/>
                      <a:pt x="1827" y="342"/>
                      <a:pt x="1868" y="401"/>
                    </a:cubicBezTo>
                  </a:path>
                </a:pathLst>
              </a:custGeom>
              <a:noFill/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1713" name="Line 9"/>
              <p:cNvSpPr>
                <a:spLocks noChangeShapeType="1"/>
              </p:cNvSpPr>
              <p:nvPr/>
            </p:nvSpPr>
            <p:spPr bwMode="auto">
              <a:xfrm>
                <a:off x="2976" y="1776"/>
                <a:ext cx="22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1714" name="Text Box 10"/>
              <p:cNvSpPr txBox="1">
                <a:spLocks noChangeArrowheads="1"/>
              </p:cNvSpPr>
              <p:nvPr/>
            </p:nvSpPr>
            <p:spPr bwMode="auto">
              <a:xfrm>
                <a:off x="5112" y="1735"/>
                <a:ext cx="16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/>
                <a:r>
                  <a:rPr kumimoji="1" lang="en-US" altLang="zh-CN" sz="200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endParaRPr kumimoji="1" lang="en-US" altLang="zh-CN" sz="2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71711" name="Line 11"/>
            <p:cNvSpPr>
              <a:spLocks noChangeShapeType="1"/>
            </p:cNvSpPr>
            <p:nvPr/>
          </p:nvSpPr>
          <p:spPr bwMode="auto">
            <a:xfrm flipV="1">
              <a:off x="1260" y="2278"/>
              <a:ext cx="0" cy="1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187404" name="Line 12"/>
          <p:cNvSpPr>
            <a:spLocks noChangeShapeType="1"/>
          </p:cNvSpPr>
          <p:nvPr/>
        </p:nvSpPr>
        <p:spPr bwMode="auto">
          <a:xfrm>
            <a:off x="5219700" y="2563813"/>
            <a:ext cx="720725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87411" name="Group 19"/>
          <p:cNvGrpSpPr>
            <a:grpSpLocks/>
          </p:cNvGrpSpPr>
          <p:nvPr/>
        </p:nvGrpSpPr>
        <p:grpSpPr bwMode="auto">
          <a:xfrm>
            <a:off x="5053014" y="3933825"/>
            <a:ext cx="2781301" cy="1512888"/>
            <a:chOff x="3183" y="2478"/>
            <a:chExt cx="1752" cy="953"/>
          </a:xfrm>
        </p:grpSpPr>
        <p:grpSp>
          <p:nvGrpSpPr>
            <p:cNvPr id="71690" name="Group 20"/>
            <p:cNvGrpSpPr>
              <a:grpSpLocks/>
            </p:cNvGrpSpPr>
            <p:nvPr/>
          </p:nvGrpSpPr>
          <p:grpSpPr bwMode="auto">
            <a:xfrm>
              <a:off x="3833" y="2795"/>
              <a:ext cx="725" cy="272"/>
              <a:chOff x="3833" y="2795"/>
              <a:chExt cx="725" cy="272"/>
            </a:xfrm>
          </p:grpSpPr>
          <p:sp>
            <p:nvSpPr>
              <p:cNvPr id="71708" name="Line 21"/>
              <p:cNvSpPr>
                <a:spLocks noChangeShapeType="1"/>
              </p:cNvSpPr>
              <p:nvPr/>
            </p:nvSpPr>
            <p:spPr bwMode="auto">
              <a:xfrm>
                <a:off x="3878" y="2795"/>
                <a:ext cx="680" cy="0"/>
              </a:xfrm>
              <a:prstGeom prst="line">
                <a:avLst/>
              </a:prstGeom>
              <a:noFill/>
              <a:ln w="57150">
                <a:solidFill>
                  <a:srgbClr val="00CC66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1709" name="Line 22"/>
              <p:cNvSpPr>
                <a:spLocks noChangeShapeType="1"/>
              </p:cNvSpPr>
              <p:nvPr/>
            </p:nvSpPr>
            <p:spPr bwMode="auto">
              <a:xfrm>
                <a:off x="3833" y="3067"/>
                <a:ext cx="680" cy="0"/>
              </a:xfrm>
              <a:prstGeom prst="line">
                <a:avLst/>
              </a:prstGeom>
              <a:noFill/>
              <a:ln w="57150">
                <a:solidFill>
                  <a:srgbClr val="00CC66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1691" name="Line 23"/>
            <p:cNvSpPr>
              <a:spLocks noChangeShapeType="1"/>
            </p:cNvSpPr>
            <p:nvPr/>
          </p:nvSpPr>
          <p:spPr bwMode="auto">
            <a:xfrm>
              <a:off x="4681" y="2478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1692" name="Line 24"/>
            <p:cNvSpPr>
              <a:spLocks noChangeShapeType="1"/>
            </p:cNvSpPr>
            <p:nvPr/>
          </p:nvSpPr>
          <p:spPr bwMode="auto">
            <a:xfrm>
              <a:off x="4681" y="3204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1693" name="Line 25"/>
            <p:cNvSpPr>
              <a:spLocks noChangeShapeType="1"/>
            </p:cNvSpPr>
            <p:nvPr/>
          </p:nvSpPr>
          <p:spPr bwMode="auto">
            <a:xfrm>
              <a:off x="3361" y="3431"/>
              <a:ext cx="131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1694" name="Line 26"/>
            <p:cNvSpPr>
              <a:spLocks noChangeShapeType="1"/>
            </p:cNvSpPr>
            <p:nvPr/>
          </p:nvSpPr>
          <p:spPr bwMode="auto">
            <a:xfrm>
              <a:off x="3361" y="2478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1695" name="Line 27"/>
            <p:cNvSpPr>
              <a:spLocks noChangeShapeType="1"/>
            </p:cNvSpPr>
            <p:nvPr/>
          </p:nvSpPr>
          <p:spPr bwMode="auto">
            <a:xfrm flipH="1">
              <a:off x="3361" y="2977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1696" name="Rectangle 28"/>
            <p:cNvSpPr>
              <a:spLocks noChangeArrowheads="1"/>
            </p:cNvSpPr>
            <p:nvPr/>
          </p:nvSpPr>
          <p:spPr bwMode="auto">
            <a:xfrm>
              <a:off x="4845" y="2887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1697" name="Rectangle 29"/>
            <p:cNvSpPr>
              <a:spLocks noChangeArrowheads="1"/>
            </p:cNvSpPr>
            <p:nvPr/>
          </p:nvSpPr>
          <p:spPr bwMode="auto">
            <a:xfrm>
              <a:off x="3520" y="2828"/>
              <a:ext cx="28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1698" name="Rectangle 30"/>
            <p:cNvSpPr>
              <a:spLocks noChangeArrowheads="1"/>
            </p:cNvSpPr>
            <p:nvPr/>
          </p:nvSpPr>
          <p:spPr bwMode="auto">
            <a:xfrm>
              <a:off x="3183" y="2640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71699" name="Rectangle 31"/>
            <p:cNvSpPr>
              <a:spLocks noChangeArrowheads="1"/>
            </p:cNvSpPr>
            <p:nvPr/>
          </p:nvSpPr>
          <p:spPr bwMode="auto">
            <a:xfrm>
              <a:off x="3198" y="3023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71700" name="Line 32"/>
            <p:cNvSpPr>
              <a:spLocks noChangeShapeType="1"/>
            </p:cNvSpPr>
            <p:nvPr/>
          </p:nvSpPr>
          <p:spPr bwMode="auto">
            <a:xfrm>
              <a:off x="3361" y="2478"/>
              <a:ext cx="1311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71701" name="Group 33"/>
            <p:cNvGrpSpPr>
              <a:grpSpLocks/>
            </p:cNvGrpSpPr>
            <p:nvPr/>
          </p:nvGrpSpPr>
          <p:grpSpPr bwMode="auto">
            <a:xfrm>
              <a:off x="3257" y="2886"/>
              <a:ext cx="216" cy="90"/>
              <a:chOff x="4625" y="2478"/>
              <a:chExt cx="240" cy="90"/>
            </a:xfrm>
          </p:grpSpPr>
          <p:sp>
            <p:nvSpPr>
              <p:cNvPr id="71706" name="Line 34"/>
              <p:cNvSpPr>
                <a:spLocks noChangeShapeType="1"/>
              </p:cNvSpPr>
              <p:nvPr/>
            </p:nvSpPr>
            <p:spPr bwMode="auto">
              <a:xfrm>
                <a:off x="4625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1707" name="Line 35"/>
              <p:cNvSpPr>
                <a:spLocks noChangeShapeType="1"/>
              </p:cNvSpPr>
              <p:nvPr/>
            </p:nvSpPr>
            <p:spPr bwMode="auto">
              <a:xfrm>
                <a:off x="4625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1702" name="Group 36"/>
            <p:cNvGrpSpPr>
              <a:grpSpLocks/>
            </p:cNvGrpSpPr>
            <p:nvPr/>
          </p:nvGrpSpPr>
          <p:grpSpPr bwMode="auto">
            <a:xfrm rot="5400000">
              <a:off x="4527" y="2914"/>
              <a:ext cx="363" cy="160"/>
              <a:chOff x="567" y="639"/>
              <a:chExt cx="560" cy="258"/>
            </a:xfrm>
          </p:grpSpPr>
          <p:sp>
            <p:nvSpPr>
              <p:cNvPr id="71703" name="AutoShape 37"/>
              <p:cNvSpPr>
                <a:spLocks noChangeArrowheads="1"/>
              </p:cNvSpPr>
              <p:nvPr/>
            </p:nvSpPr>
            <p:spPr bwMode="auto">
              <a:xfrm>
                <a:off x="567" y="639"/>
                <a:ext cx="108" cy="257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1704" name="AutoShape 38"/>
              <p:cNvSpPr>
                <a:spLocks noChangeArrowheads="1"/>
              </p:cNvSpPr>
              <p:nvPr/>
            </p:nvSpPr>
            <p:spPr bwMode="auto">
              <a:xfrm>
                <a:off x="793" y="640"/>
                <a:ext cx="108" cy="257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1705" name="AutoShape 39"/>
              <p:cNvSpPr>
                <a:spLocks noChangeArrowheads="1"/>
              </p:cNvSpPr>
              <p:nvPr/>
            </p:nvSpPr>
            <p:spPr bwMode="auto">
              <a:xfrm>
                <a:off x="1019" y="639"/>
                <a:ext cx="108" cy="257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87432" name="Text Box 40"/>
          <p:cNvSpPr txBox="1">
            <a:spLocks noChangeArrowheads="1"/>
          </p:cNvSpPr>
          <p:nvPr/>
        </p:nvSpPr>
        <p:spPr bwMode="auto">
          <a:xfrm>
            <a:off x="1115616" y="4797152"/>
            <a:ext cx="3587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18740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87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 animBg="1"/>
      <p:bldP spid="187397" grpId="0" build="p" autoUpdateAnimBg="0"/>
      <p:bldP spid="187404" grpId="0" animBg="1"/>
      <p:bldP spid="18743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4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047810"/>
              </p:ext>
            </p:extLst>
          </p:nvPr>
        </p:nvGraphicFramePr>
        <p:xfrm>
          <a:off x="838200" y="669925"/>
          <a:ext cx="26527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30" name="Equation" r:id="rId3" imgW="1117440" imgH="444240" progId="Equation.DSMT4">
                  <p:embed/>
                </p:oleObj>
              </mc:Choice>
              <mc:Fallback>
                <p:oleObj name="Equation" r:id="rId3" imgW="111744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669925"/>
                        <a:ext cx="2652713" cy="10668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691677"/>
              </p:ext>
            </p:extLst>
          </p:nvPr>
        </p:nvGraphicFramePr>
        <p:xfrm>
          <a:off x="4405313" y="665163"/>
          <a:ext cx="28511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31" name="Equation" r:id="rId5" imgW="1218960" imgH="393480" progId="Equation.DSMT4">
                  <p:embed/>
                </p:oleObj>
              </mc:Choice>
              <mc:Fallback>
                <p:oleObj name="Equation" r:id="rId5" imgW="121896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313" y="665163"/>
                        <a:ext cx="28511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378293"/>
              </p:ext>
            </p:extLst>
          </p:nvPr>
        </p:nvGraphicFramePr>
        <p:xfrm>
          <a:off x="2699792" y="2205038"/>
          <a:ext cx="3168352" cy="526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32" name="Equation" r:id="rId7" imgW="1193760" imgH="241200" progId="Equation.DSMT4">
                  <p:embed/>
                </p:oleObj>
              </mc:Choice>
              <mc:Fallback>
                <p:oleObj name="Equation" r:id="rId7" imgW="11937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205038"/>
                        <a:ext cx="3168352" cy="526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205294"/>
              </p:ext>
            </p:extLst>
          </p:nvPr>
        </p:nvGraphicFramePr>
        <p:xfrm>
          <a:off x="1714500" y="3068638"/>
          <a:ext cx="5427663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33" name="Equation" r:id="rId9" imgW="2844720" imgH="685800" progId="Equation.DSMT4">
                  <p:embed/>
                </p:oleObj>
              </mc:Choice>
              <mc:Fallback>
                <p:oleObj name="Equation" r:id="rId9" imgW="2844720" imgH="685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3068638"/>
                        <a:ext cx="5427663" cy="126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677224"/>
              </p:ext>
            </p:extLst>
          </p:nvPr>
        </p:nvGraphicFramePr>
        <p:xfrm>
          <a:off x="3563888" y="5013176"/>
          <a:ext cx="1238489" cy="942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34" name="Equation" r:id="rId11" imgW="634680" imgH="482400" progId="Equation.DSMT4">
                  <p:embed/>
                </p:oleObj>
              </mc:Choice>
              <mc:Fallback>
                <p:oleObj name="Equation" r:id="rId11" imgW="634680" imgH="482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5013176"/>
                        <a:ext cx="1238489" cy="942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9" name="AutoShape 13" descr="羊皮纸"/>
          <p:cNvSpPr>
            <a:spLocks noChangeArrowheads="1"/>
          </p:cNvSpPr>
          <p:nvPr/>
        </p:nvSpPr>
        <p:spPr bwMode="auto">
          <a:xfrm>
            <a:off x="6732588" y="1700213"/>
            <a:ext cx="1727844" cy="504825"/>
          </a:xfrm>
          <a:prstGeom prst="wedgeRoundRectCallout">
            <a:avLst>
              <a:gd name="adj1" fmla="val -37926"/>
              <a:gd name="adj2" fmla="val -111634"/>
              <a:gd name="adj3" fmla="val 16667"/>
            </a:avLst>
          </a:prstGeom>
          <a:solidFill>
            <a:srgbClr val="92D050"/>
          </a:solidFill>
          <a:ln>
            <a:noFill/>
          </a:ln>
          <a:effectLst/>
          <a:extLst/>
        </p:spPr>
        <p:txBody>
          <a:bodyPr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>
                <a:solidFill>
                  <a:schemeClr val="tx1"/>
                </a:solidFill>
              </a:rPr>
              <a:t>相等负实根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8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350902"/>
              </p:ext>
            </p:extLst>
          </p:nvPr>
        </p:nvGraphicFramePr>
        <p:xfrm>
          <a:off x="1979712" y="836712"/>
          <a:ext cx="3600946" cy="597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2" name="Equation" r:id="rId3" imgW="1193760" imgH="241200" progId="Equation.DSMT4">
                  <p:embed/>
                </p:oleObj>
              </mc:Choice>
              <mc:Fallback>
                <p:oleObj name="Equation" r:id="rId3" imgW="119376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836712"/>
                        <a:ext cx="3600946" cy="597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301461"/>
              </p:ext>
            </p:extLst>
          </p:nvPr>
        </p:nvGraphicFramePr>
        <p:xfrm>
          <a:off x="1979712" y="1844824"/>
          <a:ext cx="2518679" cy="513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3" name="Equation" r:id="rId5" imgW="1155600" imgH="228600" progId="Equation.DSMT4">
                  <p:embed/>
                </p:oleObj>
              </mc:Choice>
              <mc:Fallback>
                <p:oleObj name="Equation" r:id="rId5" imgW="11556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844824"/>
                        <a:ext cx="2518679" cy="513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316927"/>
              </p:ext>
            </p:extLst>
          </p:nvPr>
        </p:nvGraphicFramePr>
        <p:xfrm>
          <a:off x="1979712" y="2852936"/>
          <a:ext cx="5160615" cy="2454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4" name="Equation" r:id="rId7" imgW="2577960" imgH="1218960" progId="Equation.DSMT4">
                  <p:embed/>
                </p:oleObj>
              </mc:Choice>
              <mc:Fallback>
                <p:oleObj name="Equation" r:id="rId7" imgW="2577960" imgH="12189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852936"/>
                        <a:ext cx="5160615" cy="2454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8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212725" y="24923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endParaRPr kumimoji="1" lang="zh-CN" altLang="zh-CN" sz="200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304800" y="228600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endParaRPr kumimoji="1" lang="zh-CN" altLang="zh-CN" sz="200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190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063420"/>
              </p:ext>
            </p:extLst>
          </p:nvPr>
        </p:nvGraphicFramePr>
        <p:xfrm>
          <a:off x="898620" y="946862"/>
          <a:ext cx="1249610" cy="80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53" name="Equation" r:id="rId3" imgW="698400" imgH="444240" progId="Equation.DSMT4">
                  <p:embed/>
                </p:oleObj>
              </mc:Choice>
              <mc:Fallback>
                <p:oleObj name="Equation" r:id="rId3" imgW="69840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620" y="946862"/>
                        <a:ext cx="1249610" cy="80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198436"/>
              </p:ext>
            </p:extLst>
          </p:nvPr>
        </p:nvGraphicFramePr>
        <p:xfrm>
          <a:off x="5796136" y="1110374"/>
          <a:ext cx="2436842" cy="547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54" name="Equation" r:id="rId5" imgW="1054080" imgH="241200" progId="Equation.DSMT4">
                  <p:embed/>
                </p:oleObj>
              </mc:Choice>
              <mc:Fallback>
                <p:oleObj name="Equation" r:id="rId5" imgW="105408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1110374"/>
                        <a:ext cx="2436842" cy="547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625188"/>
              </p:ext>
            </p:extLst>
          </p:nvPr>
        </p:nvGraphicFramePr>
        <p:xfrm>
          <a:off x="898620" y="2982953"/>
          <a:ext cx="1308424" cy="848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55" name="Equation" r:id="rId7" imgW="698400" imgH="444240" progId="Equation.DSMT4">
                  <p:embed/>
                </p:oleObj>
              </mc:Choice>
              <mc:Fallback>
                <p:oleObj name="Equation" r:id="rId7" imgW="69840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620" y="2982953"/>
                        <a:ext cx="1308424" cy="848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281150"/>
              </p:ext>
            </p:extLst>
          </p:nvPr>
        </p:nvGraphicFramePr>
        <p:xfrm>
          <a:off x="5796136" y="3212976"/>
          <a:ext cx="3091085" cy="528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56" name="Equation" r:id="rId9" imgW="1333440" imgH="241200" progId="Equation.DSMT4">
                  <p:embed/>
                </p:oleObj>
              </mc:Choice>
              <mc:Fallback>
                <p:oleObj name="Equation" r:id="rId9" imgW="133344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3212976"/>
                        <a:ext cx="3091085" cy="528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555554"/>
              </p:ext>
            </p:extLst>
          </p:nvPr>
        </p:nvGraphicFramePr>
        <p:xfrm>
          <a:off x="868258" y="1942361"/>
          <a:ext cx="1270898" cy="820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57" name="Equation" r:id="rId11" imgW="698400" imgH="444240" progId="Equation.DSMT4">
                  <p:embed/>
                </p:oleObj>
              </mc:Choice>
              <mc:Fallback>
                <p:oleObj name="Equation" r:id="rId11" imgW="698400" imgH="4442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258" y="1942361"/>
                        <a:ext cx="1270898" cy="820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283841"/>
              </p:ext>
            </p:extLst>
          </p:nvPr>
        </p:nvGraphicFramePr>
        <p:xfrm>
          <a:off x="5796136" y="2060848"/>
          <a:ext cx="2544667" cy="538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58" name="Equation" r:id="rId13" imgW="1193760" imgH="241200" progId="Equation.DSMT4">
                  <p:embed/>
                </p:oleObj>
              </mc:Choice>
              <mc:Fallback>
                <p:oleObj name="Equation" r:id="rId13" imgW="11937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2060848"/>
                        <a:ext cx="2544667" cy="538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7" name="Text Box 13" descr="绿色大理石"/>
          <p:cNvSpPr txBox="1">
            <a:spLocks noChangeArrowheads="1"/>
          </p:cNvSpPr>
          <p:nvPr/>
        </p:nvSpPr>
        <p:spPr bwMode="auto">
          <a:xfrm>
            <a:off x="1128502" y="5805264"/>
            <a:ext cx="3312368" cy="400110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 wrap="square" lIns="54000" rIns="54000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可推广应用于一般二阶电路</a:t>
            </a:r>
          </a:p>
        </p:txBody>
      </p:sp>
      <p:grpSp>
        <p:nvGrpSpPr>
          <p:cNvPr id="190484" name="Group 20"/>
          <p:cNvGrpSpPr>
            <a:grpSpLocks/>
          </p:cNvGrpSpPr>
          <p:nvPr/>
        </p:nvGrpSpPr>
        <p:grpSpPr bwMode="auto">
          <a:xfrm>
            <a:off x="250920" y="259474"/>
            <a:ext cx="1550988" cy="850900"/>
            <a:chOff x="385" y="3022"/>
            <a:chExt cx="977" cy="536"/>
          </a:xfrm>
        </p:grpSpPr>
        <p:pic>
          <p:nvPicPr>
            <p:cNvPr id="74768" name="Picture 21" descr="123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69" name="Text Box 22"/>
            <p:cNvSpPr txBox="1">
              <a:spLocks noChangeArrowheads="1"/>
            </p:cNvSpPr>
            <p:nvPr/>
          </p:nvSpPr>
          <p:spPr bwMode="auto">
            <a:xfrm>
              <a:off x="793" y="3125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小结</a:t>
              </a:r>
            </a:p>
          </p:txBody>
        </p:sp>
      </p:grpSp>
      <p:grpSp>
        <p:nvGrpSpPr>
          <p:cNvPr id="190493" name="Group 29"/>
          <p:cNvGrpSpPr>
            <a:grpSpLocks/>
          </p:cNvGrpSpPr>
          <p:nvPr/>
        </p:nvGrpSpPr>
        <p:grpSpPr bwMode="auto">
          <a:xfrm>
            <a:off x="2375967" y="3973987"/>
            <a:ext cx="5400675" cy="1538287"/>
            <a:chOff x="1383" y="3195"/>
            <a:chExt cx="3402" cy="969"/>
          </a:xfrm>
        </p:grpSpPr>
        <p:sp>
          <p:nvSpPr>
            <p:cNvPr id="74765" name="Rectangle 11"/>
            <p:cNvSpPr>
              <a:spLocks noChangeArrowheads="1"/>
            </p:cNvSpPr>
            <p:nvPr/>
          </p:nvSpPr>
          <p:spPr bwMode="auto">
            <a:xfrm>
              <a:off x="3742" y="3475"/>
              <a:ext cx="10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8000" rIns="19800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zh-CN" altLang="en-US" sz="200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定常数</a:t>
              </a:r>
            </a:p>
          </p:txBody>
        </p:sp>
        <p:graphicFrame>
          <p:nvGraphicFramePr>
            <p:cNvPr id="74766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6924867"/>
                </p:ext>
              </p:extLst>
            </p:nvPr>
          </p:nvGraphicFramePr>
          <p:xfrm>
            <a:off x="2694" y="3195"/>
            <a:ext cx="865" cy="9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459" name="Equation" r:id="rId16" imgW="558720" imgH="571320" progId="Equation.DSMT4">
                    <p:embed/>
                  </p:oleObj>
                </mc:Choice>
                <mc:Fallback>
                  <p:oleObj name="Equation" r:id="rId16" imgW="558720" imgH="57132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4" y="3195"/>
                          <a:ext cx="865" cy="9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767" name="Rectangle 28"/>
            <p:cNvSpPr>
              <a:spLocks noChangeArrowheads="1"/>
            </p:cNvSpPr>
            <p:nvPr/>
          </p:nvSpPr>
          <p:spPr bwMode="auto">
            <a:xfrm>
              <a:off x="1383" y="3475"/>
              <a:ext cx="145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8000" rIns="19800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  <a:sym typeface="Symbol" pitchFamily="18" charset="2"/>
                </a:rPr>
                <a:t>由初始条件</a:t>
              </a:r>
            </a:p>
          </p:txBody>
        </p:sp>
      </p:grpSp>
      <p:sp>
        <p:nvSpPr>
          <p:cNvPr id="18" name="Text Box 7" descr="绿色大理石"/>
          <p:cNvSpPr txBox="1">
            <a:spLocks noChangeArrowheads="1"/>
          </p:cNvSpPr>
          <p:nvPr/>
        </p:nvSpPr>
        <p:spPr bwMode="auto">
          <a:xfrm>
            <a:off x="2555578" y="1184336"/>
            <a:ext cx="2497421" cy="40011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过阻尼，非振荡放电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9" name="Text Box 8" descr="绿色大理石"/>
          <p:cNvSpPr txBox="1">
            <a:spLocks noChangeArrowheads="1"/>
          </p:cNvSpPr>
          <p:nvPr/>
        </p:nvSpPr>
        <p:spPr bwMode="auto">
          <a:xfrm>
            <a:off x="2555578" y="2164794"/>
            <a:ext cx="2880320" cy="40011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临界阻尼，非振荡放电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0" name="Text Box 9" descr="绿色大理石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2555578" y="3244914"/>
            <a:ext cx="2281397" cy="40011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欠阻尼，振荡放电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9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7" grpId="0" animBg="1" autoUpdateAnimBg="0"/>
      <p:bldP spid="18" grpId="0" animBg="1"/>
      <p:bldP spid="19" grpId="0" animBg="1"/>
      <p:bldP spid="20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1207676" y="1442780"/>
            <a:ext cx="39608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198000" rIns="198000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zh-CN" altLang="en-US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－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0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,   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zh-CN" altLang="en-US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－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0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4657725" y="2038350"/>
            <a:ext cx="17331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微分方程为：</a:t>
            </a:r>
            <a:endParaRPr kumimoji="1" lang="zh-CN" altLang="en-US" sz="2000" b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1966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588579"/>
              </p:ext>
            </p:extLst>
          </p:nvPr>
        </p:nvGraphicFramePr>
        <p:xfrm>
          <a:off x="5054600" y="2565400"/>
          <a:ext cx="34988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96" name="Equation" r:id="rId3" imgW="1574640" imgH="380880" progId="Equation.DSMT4">
                  <p:embed/>
                </p:oleObj>
              </mc:Choice>
              <mc:Fallback>
                <p:oleObj name="Equation" r:id="rId3" imgW="1574640" imgH="3808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2565400"/>
                        <a:ext cx="34988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693603"/>
              </p:ext>
            </p:extLst>
          </p:nvPr>
        </p:nvGraphicFramePr>
        <p:xfrm>
          <a:off x="1296988" y="4538663"/>
          <a:ext cx="154146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97" name="Equation" r:id="rId5" imgW="609480" imgH="203040" progId="Equation.DSMT4">
                  <p:embed/>
                </p:oleObj>
              </mc:Choice>
              <mc:Fallback>
                <p:oleObj name="Equation" r:id="rId5" imgW="60948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8" y="4538663"/>
                        <a:ext cx="154146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5" name="AutoShape 7" descr="羊皮纸"/>
          <p:cNvSpPr>
            <a:spLocks/>
          </p:cNvSpPr>
          <p:nvPr/>
        </p:nvSpPr>
        <p:spPr bwMode="auto">
          <a:xfrm>
            <a:off x="3314701" y="5516563"/>
            <a:ext cx="753244" cy="400110"/>
          </a:xfrm>
          <a:prstGeom prst="callout2">
            <a:avLst>
              <a:gd name="adj1" fmla="val 32231"/>
              <a:gd name="adj2" fmla="val -7560"/>
              <a:gd name="adj3" fmla="val 32231"/>
              <a:gd name="adj4" fmla="val -36380"/>
              <a:gd name="adj5" fmla="val -100226"/>
              <a:gd name="adj6" fmla="val -82376"/>
            </a:avLst>
          </a:prstGeom>
          <a:blipFill dpi="0" rotWithShape="1">
            <a:blip r:embed="rId7"/>
            <a:srcRect/>
            <a:tile tx="0" ty="0" sx="100000" sy="100000" flip="none" algn="tl"/>
          </a:blipFill>
          <a:ln w="57150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通解</a:t>
            </a:r>
            <a:endParaRPr kumimoji="1" lang="zh-CN" altLang="en-US" sz="2000" b="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96616" name="AutoShape 8" descr="羊皮纸"/>
          <p:cNvSpPr>
            <a:spLocks/>
          </p:cNvSpPr>
          <p:nvPr/>
        </p:nvSpPr>
        <p:spPr bwMode="auto">
          <a:xfrm>
            <a:off x="558801" y="5494338"/>
            <a:ext cx="792956" cy="400110"/>
          </a:xfrm>
          <a:prstGeom prst="callout2">
            <a:avLst>
              <a:gd name="adj1" fmla="val 32231"/>
              <a:gd name="adj2" fmla="val 107560"/>
              <a:gd name="adj3" fmla="val 32231"/>
              <a:gd name="adj4" fmla="val 129449"/>
              <a:gd name="adj5" fmla="val -96853"/>
              <a:gd name="adj6" fmla="val 178372"/>
            </a:avLst>
          </a:prstGeom>
          <a:blipFill dpi="0" rotWithShape="1">
            <a:blip r:embed="rId7"/>
            <a:srcRect/>
            <a:tile tx="0" ty="0" sx="100000" sy="100000" flip="none" algn="tl"/>
          </a:blipFill>
          <a:ln w="57150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特解</a:t>
            </a:r>
          </a:p>
        </p:txBody>
      </p:sp>
      <p:sp>
        <p:nvSpPr>
          <p:cNvPr id="196617" name="Text Box 9"/>
          <p:cNvSpPr txBox="1">
            <a:spLocks noChangeArrowheads="1"/>
          </p:cNvSpPr>
          <p:nvPr/>
        </p:nvSpPr>
        <p:spPr bwMode="auto">
          <a:xfrm>
            <a:off x="4787900" y="4979508"/>
            <a:ext cx="10871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特解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:</a:t>
            </a:r>
            <a:r>
              <a:rPr kumimoji="1" lang="en-US" altLang="zh-CN" sz="2000" b="0" dirty="0">
                <a:solidFill>
                  <a:schemeClr val="tx1"/>
                </a:solidFill>
                <a:latin typeface="楷体_GB2312" pitchFamily="49" charset="-122"/>
              </a:rPr>
              <a:t>  </a:t>
            </a:r>
          </a:p>
        </p:txBody>
      </p:sp>
      <p:graphicFrame>
        <p:nvGraphicFramePr>
          <p:cNvPr id="1966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260868"/>
              </p:ext>
            </p:extLst>
          </p:nvPr>
        </p:nvGraphicFramePr>
        <p:xfrm>
          <a:off x="5874161" y="4922568"/>
          <a:ext cx="1033462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98" name="Equation" r:id="rId8" imgW="406080" imgH="203040" progId="Equation.DSMT4">
                  <p:embed/>
                </p:oleObj>
              </mc:Choice>
              <mc:Fallback>
                <p:oleObj name="Equation" r:id="rId8" imgW="40608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4161" y="4922568"/>
                        <a:ext cx="1033462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9" name="Text Box 11"/>
          <p:cNvSpPr txBox="1">
            <a:spLocks noChangeArrowheads="1"/>
          </p:cNvSpPr>
          <p:nvPr/>
        </p:nvSpPr>
        <p:spPr bwMode="auto">
          <a:xfrm>
            <a:off x="4657725" y="3694113"/>
            <a:ext cx="25923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特征方程为</a:t>
            </a:r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</a:rPr>
              <a:t>:</a:t>
            </a:r>
            <a:endParaRPr kumimoji="1" lang="en-US" altLang="zh-CN" sz="2000" b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1966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343464"/>
              </p:ext>
            </p:extLst>
          </p:nvPr>
        </p:nvGraphicFramePr>
        <p:xfrm>
          <a:off x="5451475" y="4219533"/>
          <a:ext cx="2304255" cy="41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99" name="Equation" r:id="rId10" imgW="1180800" imgH="203040" progId="Equation.DSMT4">
                  <p:embed/>
                </p:oleObj>
              </mc:Choice>
              <mc:Fallback>
                <p:oleObj name="Equation" r:id="rId10" imgW="118080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1475" y="4219533"/>
                        <a:ext cx="2304255" cy="41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53" name="Text Box 45"/>
          <p:cNvSpPr txBox="1">
            <a:spLocks noChangeArrowheads="1"/>
          </p:cNvSpPr>
          <p:nvPr/>
        </p:nvSpPr>
        <p:spPr bwMode="auto">
          <a:xfrm>
            <a:off x="625475" y="1462088"/>
            <a:ext cx="647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</a:t>
            </a:r>
            <a:endParaRPr kumimoji="1" lang="zh-CN" altLang="en-US" sz="2000" b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96654" name="Rectangle 46"/>
          <p:cNvSpPr>
            <a:spLocks noChangeArrowheads="1"/>
          </p:cNvSpPr>
          <p:nvPr/>
        </p:nvSpPr>
        <p:spPr bwMode="auto">
          <a:xfrm>
            <a:off x="323850" y="620713"/>
            <a:ext cx="64801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kumimoji="1" lang="en-US" altLang="zh-CN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4.2.2 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二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阶电路的零状态响应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5114" y="1947565"/>
            <a:ext cx="3776663" cy="2252964"/>
            <a:chOff x="265114" y="1947565"/>
            <a:chExt cx="3776663" cy="2252964"/>
          </a:xfrm>
        </p:grpSpPr>
        <p:sp>
          <p:nvSpPr>
            <p:cNvPr id="77839" name="Oval 20"/>
            <p:cNvSpPr>
              <a:spLocks noChangeArrowheads="1"/>
            </p:cNvSpPr>
            <p:nvPr/>
          </p:nvSpPr>
          <p:spPr bwMode="auto">
            <a:xfrm>
              <a:off x="265114" y="3141291"/>
              <a:ext cx="576263" cy="5762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77840" name="Group 21"/>
            <p:cNvGrpSpPr>
              <a:grpSpLocks/>
            </p:cNvGrpSpPr>
            <p:nvPr/>
          </p:nvGrpSpPr>
          <p:grpSpPr bwMode="auto">
            <a:xfrm>
              <a:off x="3398839" y="3190878"/>
              <a:ext cx="381000" cy="142875"/>
              <a:chOff x="4627" y="2478"/>
              <a:chExt cx="240" cy="90"/>
            </a:xfrm>
          </p:grpSpPr>
          <p:sp>
            <p:nvSpPr>
              <p:cNvPr id="77862" name="Line 22"/>
              <p:cNvSpPr>
                <a:spLocks noChangeShapeType="1"/>
              </p:cNvSpPr>
              <p:nvPr/>
            </p:nvSpPr>
            <p:spPr bwMode="auto">
              <a:xfrm>
                <a:off x="4627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7863" name="Line 23"/>
              <p:cNvSpPr>
                <a:spLocks noChangeShapeType="1"/>
              </p:cNvSpPr>
              <p:nvPr/>
            </p:nvSpPr>
            <p:spPr bwMode="auto">
              <a:xfrm>
                <a:off x="4627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7841" name="Line 24"/>
            <p:cNvSpPr>
              <a:spLocks noChangeShapeType="1"/>
            </p:cNvSpPr>
            <p:nvPr/>
          </p:nvSpPr>
          <p:spPr bwMode="auto">
            <a:xfrm>
              <a:off x="554039" y="2471740"/>
              <a:ext cx="0" cy="172720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7842" name="Line 25"/>
            <p:cNvSpPr>
              <a:spLocks noChangeShapeType="1"/>
            </p:cNvSpPr>
            <p:nvPr/>
          </p:nvSpPr>
          <p:spPr bwMode="auto">
            <a:xfrm>
              <a:off x="1425149" y="2471739"/>
              <a:ext cx="1146393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7843" name="Freeform 26"/>
            <p:cNvSpPr>
              <a:spLocks/>
            </p:cNvSpPr>
            <p:nvPr/>
          </p:nvSpPr>
          <p:spPr bwMode="auto">
            <a:xfrm>
              <a:off x="3207579" y="2471740"/>
              <a:ext cx="370648" cy="719138"/>
            </a:xfrm>
            <a:custGeom>
              <a:avLst/>
              <a:gdLst>
                <a:gd name="T0" fmla="*/ 0 w 337"/>
                <a:gd name="T1" fmla="*/ 0 h 346"/>
                <a:gd name="T2" fmla="*/ 454 w 337"/>
                <a:gd name="T3" fmla="*/ 0 h 346"/>
                <a:gd name="T4" fmla="*/ 454 w 337"/>
                <a:gd name="T5" fmla="*/ 453 h 3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7" h="346">
                  <a:moveTo>
                    <a:pt x="0" y="0"/>
                  </a:moveTo>
                  <a:lnTo>
                    <a:pt x="337" y="0"/>
                  </a:lnTo>
                  <a:lnTo>
                    <a:pt x="337" y="346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7844" name="Line 27"/>
            <p:cNvSpPr>
              <a:spLocks noChangeShapeType="1"/>
            </p:cNvSpPr>
            <p:nvPr/>
          </p:nvSpPr>
          <p:spPr bwMode="auto">
            <a:xfrm>
              <a:off x="3578227" y="3335341"/>
              <a:ext cx="0" cy="86360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7845" name="Line 28"/>
            <p:cNvSpPr>
              <a:spLocks noChangeShapeType="1"/>
            </p:cNvSpPr>
            <p:nvPr/>
          </p:nvSpPr>
          <p:spPr bwMode="auto">
            <a:xfrm>
              <a:off x="554039" y="4198941"/>
              <a:ext cx="3014663" cy="15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7846" name="Rectangle 29"/>
            <p:cNvSpPr>
              <a:spLocks noChangeArrowheads="1"/>
            </p:cNvSpPr>
            <p:nvPr/>
          </p:nvSpPr>
          <p:spPr bwMode="auto">
            <a:xfrm>
              <a:off x="1946079" y="2048675"/>
              <a:ext cx="15716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7847" name="Rectangle 30"/>
            <p:cNvSpPr>
              <a:spLocks noChangeArrowheads="1"/>
            </p:cNvSpPr>
            <p:nvPr/>
          </p:nvSpPr>
          <p:spPr bwMode="auto">
            <a:xfrm>
              <a:off x="2784710" y="1947565"/>
              <a:ext cx="1428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7848" name="Rectangle 31"/>
            <p:cNvSpPr>
              <a:spLocks noChangeArrowheads="1"/>
            </p:cNvSpPr>
            <p:nvPr/>
          </p:nvSpPr>
          <p:spPr bwMode="auto">
            <a:xfrm>
              <a:off x="3870327" y="3111503"/>
              <a:ext cx="17145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7849" name="Rectangle 32"/>
            <p:cNvSpPr>
              <a:spLocks noChangeArrowheads="1"/>
            </p:cNvSpPr>
            <p:nvPr/>
          </p:nvSpPr>
          <p:spPr bwMode="auto">
            <a:xfrm>
              <a:off x="3248440" y="2763851"/>
              <a:ext cx="14446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77850" name="Rectangle 33"/>
            <p:cNvSpPr>
              <a:spLocks noChangeArrowheads="1"/>
            </p:cNvSpPr>
            <p:nvPr/>
          </p:nvSpPr>
          <p:spPr bwMode="auto">
            <a:xfrm>
              <a:off x="3267905" y="3457610"/>
              <a:ext cx="12858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77851" name="Rectangle 34"/>
            <p:cNvSpPr>
              <a:spLocks noChangeArrowheads="1"/>
            </p:cNvSpPr>
            <p:nvPr/>
          </p:nvSpPr>
          <p:spPr bwMode="auto">
            <a:xfrm>
              <a:off x="3009935" y="3048095"/>
              <a:ext cx="39528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7852" name="Line 35"/>
            <p:cNvSpPr>
              <a:spLocks noChangeShapeType="1"/>
            </p:cNvSpPr>
            <p:nvPr/>
          </p:nvSpPr>
          <p:spPr bwMode="auto">
            <a:xfrm>
              <a:off x="2628868" y="2565919"/>
              <a:ext cx="504825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7853" name="Rectangle 36"/>
            <p:cNvSpPr>
              <a:spLocks noChangeArrowheads="1"/>
            </p:cNvSpPr>
            <p:nvPr/>
          </p:nvSpPr>
          <p:spPr bwMode="auto">
            <a:xfrm>
              <a:off x="2788129" y="2562285"/>
              <a:ext cx="1651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7854" name="Text Box 37"/>
            <p:cNvSpPr txBox="1">
              <a:spLocks noChangeArrowheads="1"/>
            </p:cNvSpPr>
            <p:nvPr/>
          </p:nvSpPr>
          <p:spPr bwMode="auto">
            <a:xfrm>
              <a:off x="850902" y="3207889"/>
              <a:ext cx="42672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endParaRPr>
            </a:p>
          </p:txBody>
        </p:sp>
        <p:grpSp>
          <p:nvGrpSpPr>
            <p:cNvPr id="77855" name="Group 38"/>
            <p:cNvGrpSpPr>
              <a:grpSpLocks/>
            </p:cNvGrpSpPr>
            <p:nvPr/>
          </p:nvGrpSpPr>
          <p:grpSpPr bwMode="auto">
            <a:xfrm>
              <a:off x="2613407" y="2301877"/>
              <a:ext cx="574675" cy="215900"/>
              <a:chOff x="572" y="636"/>
              <a:chExt cx="560" cy="197"/>
            </a:xfrm>
          </p:grpSpPr>
          <p:sp>
            <p:nvSpPr>
              <p:cNvPr id="77859" name="AutoShape 39"/>
              <p:cNvSpPr>
                <a:spLocks noChangeArrowheads="1"/>
              </p:cNvSpPr>
              <p:nvPr/>
            </p:nvSpPr>
            <p:spPr bwMode="auto">
              <a:xfrm>
                <a:off x="572" y="637"/>
                <a:ext cx="106" cy="194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7860" name="AutoShape 40"/>
              <p:cNvSpPr>
                <a:spLocks noChangeArrowheads="1"/>
              </p:cNvSpPr>
              <p:nvPr/>
            </p:nvSpPr>
            <p:spPr bwMode="auto">
              <a:xfrm>
                <a:off x="799" y="636"/>
                <a:ext cx="106" cy="194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7861" name="AutoShape 41"/>
              <p:cNvSpPr>
                <a:spLocks noChangeArrowheads="1"/>
              </p:cNvSpPr>
              <p:nvPr/>
            </p:nvSpPr>
            <p:spPr bwMode="auto">
              <a:xfrm>
                <a:off x="1026" y="638"/>
                <a:ext cx="106" cy="195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7856" name="Rectangle 42"/>
            <p:cNvSpPr>
              <a:spLocks noChangeArrowheads="1"/>
            </p:cNvSpPr>
            <p:nvPr/>
          </p:nvSpPr>
          <p:spPr bwMode="auto">
            <a:xfrm>
              <a:off x="1764506" y="2371727"/>
              <a:ext cx="503238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7857" name="Rectangle 43"/>
            <p:cNvSpPr>
              <a:spLocks noChangeArrowheads="1"/>
            </p:cNvSpPr>
            <p:nvPr/>
          </p:nvSpPr>
          <p:spPr bwMode="auto">
            <a:xfrm>
              <a:off x="696914" y="2832993"/>
              <a:ext cx="14446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77858" name="Rectangle 44"/>
            <p:cNvSpPr>
              <a:spLocks noChangeArrowheads="1"/>
            </p:cNvSpPr>
            <p:nvPr/>
          </p:nvSpPr>
          <p:spPr bwMode="auto">
            <a:xfrm>
              <a:off x="696914" y="3717554"/>
              <a:ext cx="12858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40" name="Line 24"/>
            <p:cNvSpPr>
              <a:spLocks noChangeShapeType="1"/>
            </p:cNvSpPr>
            <p:nvPr/>
          </p:nvSpPr>
          <p:spPr bwMode="auto">
            <a:xfrm flipV="1">
              <a:off x="1039434" y="2315323"/>
              <a:ext cx="450850" cy="1571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Line 25"/>
            <p:cNvSpPr>
              <a:spLocks noChangeShapeType="1"/>
            </p:cNvSpPr>
            <p:nvPr/>
          </p:nvSpPr>
          <p:spPr bwMode="auto">
            <a:xfrm flipV="1">
              <a:off x="540945" y="2473233"/>
              <a:ext cx="511189" cy="412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2" name="Line 26"/>
            <p:cNvSpPr>
              <a:spLocks noChangeShapeType="1"/>
            </p:cNvSpPr>
            <p:nvPr/>
          </p:nvSpPr>
          <p:spPr bwMode="auto">
            <a:xfrm>
              <a:off x="1074379" y="2219029"/>
              <a:ext cx="285750" cy="37782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3" name="Text Box 37"/>
            <p:cNvSpPr txBox="1">
              <a:spLocks noChangeArrowheads="1"/>
            </p:cNvSpPr>
            <p:nvPr/>
          </p:nvSpPr>
          <p:spPr bwMode="auto">
            <a:xfrm>
              <a:off x="1080454" y="2540719"/>
              <a:ext cx="32733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96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96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9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96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9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 build="p" autoUpdateAnimBg="0"/>
      <p:bldP spid="196612" grpId="0" build="p" autoUpdateAnimBg="0"/>
      <p:bldP spid="196615" grpId="0" animBg="1" autoUpdateAnimBg="0"/>
      <p:bldP spid="196616" grpId="0" animBg="1" autoUpdateAnimBg="0"/>
      <p:bldP spid="196617" grpId="0" build="p" autoUpdateAnimBg="0"/>
      <p:bldP spid="196619" grpId="0" build="p" autoUpdateAnimBg="0"/>
      <p:bldP spid="196653" grpId="0"/>
      <p:bldP spid="19665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6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046827"/>
              </p:ext>
            </p:extLst>
          </p:nvPr>
        </p:nvGraphicFramePr>
        <p:xfrm>
          <a:off x="1117600" y="1536700"/>
          <a:ext cx="6694488" cy="301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53" name="Equation" r:id="rId3" imgW="3568680" imgH="1523880" progId="Equation.DSMT4">
                  <p:embed/>
                </p:oleObj>
              </mc:Choice>
              <mc:Fallback>
                <p:oleObj name="Equation" r:id="rId3" imgW="3568680" imgH="15238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1536700"/>
                        <a:ext cx="6694488" cy="301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37" name="Text Box 5"/>
          <p:cNvSpPr txBox="1">
            <a:spLocks noChangeArrowheads="1"/>
          </p:cNvSpPr>
          <p:nvPr/>
        </p:nvSpPr>
        <p:spPr bwMode="auto">
          <a:xfrm>
            <a:off x="548959" y="872957"/>
            <a:ext cx="2262158" cy="400110"/>
          </a:xfrm>
          <a:prstGeom prst="rect">
            <a:avLst/>
          </a:prstGeom>
          <a:noFill/>
          <a:ln w="2857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v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C</a:t>
            </a:r>
            <a:r>
              <a:rPr kumimoji="1" lang="en-US" altLang="zh-CN" sz="2000" b="0" i="1" baseline="-25000" dirty="0" smtClean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的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一般形式</a:t>
            </a:r>
            <a:r>
              <a:rPr kumimoji="1" lang="zh-CN" altLang="en-US" sz="20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为：</a:t>
            </a:r>
          </a:p>
        </p:txBody>
      </p:sp>
      <p:grpSp>
        <p:nvGrpSpPr>
          <p:cNvPr id="197664" name="Group 32"/>
          <p:cNvGrpSpPr>
            <a:grpSpLocks/>
          </p:cNvGrpSpPr>
          <p:nvPr/>
        </p:nvGrpSpPr>
        <p:grpSpPr bwMode="auto">
          <a:xfrm>
            <a:off x="1032173" y="5157192"/>
            <a:ext cx="6769100" cy="787400"/>
            <a:chOff x="1292" y="3779"/>
            <a:chExt cx="4264" cy="496"/>
          </a:xfrm>
        </p:grpSpPr>
        <p:sp>
          <p:nvSpPr>
            <p:cNvPr id="78857" name="Text Box 29"/>
            <p:cNvSpPr txBox="1">
              <a:spLocks noChangeArrowheads="1"/>
            </p:cNvSpPr>
            <p:nvPr/>
          </p:nvSpPr>
          <p:spPr bwMode="auto">
            <a:xfrm>
              <a:off x="1292" y="3929"/>
              <a:ext cx="426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由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初值             和               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确定两个常数。</a:t>
              </a:r>
            </a:p>
          </p:txBody>
        </p:sp>
        <p:graphicFrame>
          <p:nvGraphicFramePr>
            <p:cNvPr id="78858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8974405"/>
                </p:ext>
              </p:extLst>
            </p:nvPr>
          </p:nvGraphicFramePr>
          <p:xfrm>
            <a:off x="1881" y="3915"/>
            <a:ext cx="545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854" name="Equation" r:id="rId5" imgW="419040" imgH="215640" progId="Equation.DSMT4">
                    <p:embed/>
                  </p:oleObj>
                </mc:Choice>
                <mc:Fallback>
                  <p:oleObj name="Equation" r:id="rId5" imgW="419040" imgH="21564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1" y="3915"/>
                          <a:ext cx="545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59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1546396"/>
                </p:ext>
              </p:extLst>
            </p:nvPr>
          </p:nvGraphicFramePr>
          <p:xfrm>
            <a:off x="2628" y="3779"/>
            <a:ext cx="660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855" name="Equation" r:id="rId7" imgW="507960" imgH="380880" progId="Equation.DSMT4">
                    <p:embed/>
                  </p:oleObj>
                </mc:Choice>
                <mc:Fallback>
                  <p:oleObj name="Equation" r:id="rId7" imgW="507960" imgH="38088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8" y="3779"/>
                          <a:ext cx="660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9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6048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4.2.3  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二阶电路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的全响应</a:t>
            </a:r>
          </a:p>
        </p:txBody>
      </p:sp>
      <p:sp>
        <p:nvSpPr>
          <p:cNvPr id="82989" name="Text Box 4"/>
          <p:cNvSpPr txBox="1">
            <a:spLocks noChangeArrowheads="1"/>
          </p:cNvSpPr>
          <p:nvPr/>
        </p:nvSpPr>
        <p:spPr bwMode="auto">
          <a:xfrm>
            <a:off x="449756" y="1209813"/>
            <a:ext cx="86088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例  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Times New Roman" pitchFamily="18" charset="0"/>
              </a:rPr>
              <a:t>已知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R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= 50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L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= 0.5 H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C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= 100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anose="05050102010706020507" pitchFamily="18" charset="2"/>
              </a:rPr>
              <a:t>F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宋体" charset="-122"/>
                <a:ea typeface="宋体" charset="-122"/>
              </a:rPr>
              <a:t>-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2 A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</a:t>
            </a:r>
            <a:r>
              <a:rPr kumimoji="1" lang="en-US" altLang="zh-CN" sz="2000" b="0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宋体" charset="-122"/>
                <a:ea typeface="宋体" charset="-122"/>
              </a:rPr>
              <a:t>-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) = 0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</a:rPr>
              <a:t>求：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01734" name="Text Box 6"/>
          <p:cNvSpPr txBox="1">
            <a:spLocks noChangeArrowheads="1"/>
          </p:cNvSpPr>
          <p:nvPr/>
        </p:nvSpPr>
        <p:spPr bwMode="auto">
          <a:xfrm>
            <a:off x="541921" y="2276872"/>
            <a:ext cx="29511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列微分方程</a:t>
            </a:r>
          </a:p>
        </p:txBody>
      </p:sp>
      <p:graphicFrame>
        <p:nvGraphicFramePr>
          <p:cNvPr id="2017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581591"/>
              </p:ext>
            </p:extLst>
          </p:nvPr>
        </p:nvGraphicFramePr>
        <p:xfrm>
          <a:off x="1131441" y="4642338"/>
          <a:ext cx="3068265" cy="762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27" name="Equation" r:id="rId3" imgW="1726920" imgH="419040" progId="Equation.DSMT4">
                  <p:embed/>
                </p:oleObj>
              </mc:Choice>
              <mc:Fallback>
                <p:oleObj name="Equation" r:id="rId3" imgW="1726920" imgH="419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441" y="4642338"/>
                        <a:ext cx="3068265" cy="762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6" name="Text Box 8"/>
          <p:cNvSpPr txBox="1">
            <a:spLocks noChangeArrowheads="1"/>
          </p:cNvSpPr>
          <p:nvPr/>
        </p:nvSpPr>
        <p:spPr bwMode="auto">
          <a:xfrm>
            <a:off x="685540" y="5517232"/>
            <a:ext cx="27352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求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特解</a:t>
            </a:r>
          </a:p>
        </p:txBody>
      </p:sp>
      <p:graphicFrame>
        <p:nvGraphicFramePr>
          <p:cNvPr id="2017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031104"/>
              </p:ext>
            </p:extLst>
          </p:nvPr>
        </p:nvGraphicFramePr>
        <p:xfrm>
          <a:off x="1123881" y="3583235"/>
          <a:ext cx="26987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28" name="Equation" r:id="rId5" imgW="1498320" imgH="419040" progId="Equation.DSMT4">
                  <p:embed/>
                </p:oleObj>
              </mc:Choice>
              <mc:Fallback>
                <p:oleObj name="Equation" r:id="rId5" imgW="1498320" imgH="419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881" y="3583235"/>
                        <a:ext cx="269875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063913"/>
              </p:ext>
            </p:extLst>
          </p:nvPr>
        </p:nvGraphicFramePr>
        <p:xfrm>
          <a:off x="2501900" y="5932488"/>
          <a:ext cx="9556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29" name="Equation" r:id="rId7" imgW="507960" imgH="228600" progId="Equation.DSMT4">
                  <p:embed/>
                </p:oleObj>
              </mc:Choice>
              <mc:Fallback>
                <p:oleObj name="Equation" r:id="rId7" imgW="50796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5932488"/>
                        <a:ext cx="95567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9" name="Text Box 11"/>
          <p:cNvSpPr txBox="1">
            <a:spLocks noChangeArrowheads="1"/>
          </p:cNvSpPr>
          <p:nvPr/>
        </p:nvSpPr>
        <p:spPr bwMode="auto">
          <a:xfrm>
            <a:off x="415801" y="1828994"/>
            <a:ext cx="647700" cy="40011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宋体" charset="-122"/>
              </a:rPr>
              <a:t>解</a:t>
            </a:r>
          </a:p>
        </p:txBody>
      </p:sp>
      <p:sp>
        <p:nvSpPr>
          <p:cNvPr id="201780" name="Text Box 52"/>
          <p:cNvSpPr txBox="1">
            <a:spLocks noChangeArrowheads="1"/>
          </p:cNvSpPr>
          <p:nvPr/>
        </p:nvSpPr>
        <p:spPr bwMode="auto">
          <a:xfrm>
            <a:off x="1189621" y="2781697"/>
            <a:ext cx="2808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应用结点法：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067466" y="2394813"/>
            <a:ext cx="3969020" cy="1833191"/>
            <a:chOff x="5067466" y="2394813"/>
            <a:chExt cx="3969020" cy="1833191"/>
          </a:xfrm>
        </p:grpSpPr>
        <p:sp>
          <p:nvSpPr>
            <p:cNvPr id="49" name="Line 20"/>
            <p:cNvSpPr>
              <a:spLocks noChangeShapeType="1"/>
            </p:cNvSpPr>
            <p:nvPr/>
          </p:nvSpPr>
          <p:spPr bwMode="auto">
            <a:xfrm>
              <a:off x="8395136" y="2407141"/>
              <a:ext cx="0" cy="7921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0" name="Line 21"/>
            <p:cNvSpPr>
              <a:spLocks noChangeShapeType="1"/>
            </p:cNvSpPr>
            <p:nvPr/>
          </p:nvSpPr>
          <p:spPr bwMode="auto">
            <a:xfrm>
              <a:off x="5658286" y="2407141"/>
              <a:ext cx="0" cy="1800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3" name="Line 24"/>
            <p:cNvSpPr>
              <a:spLocks noChangeShapeType="1"/>
            </p:cNvSpPr>
            <p:nvPr/>
          </p:nvSpPr>
          <p:spPr bwMode="auto">
            <a:xfrm>
              <a:off x="5658286" y="2403504"/>
              <a:ext cx="2736850" cy="363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4" name="Line 25"/>
            <p:cNvSpPr>
              <a:spLocks noChangeShapeType="1"/>
            </p:cNvSpPr>
            <p:nvPr/>
          </p:nvSpPr>
          <p:spPr bwMode="auto">
            <a:xfrm>
              <a:off x="8509436" y="3773979"/>
              <a:ext cx="0" cy="360363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6" name="Line 27"/>
            <p:cNvSpPr>
              <a:spLocks noChangeShapeType="1"/>
            </p:cNvSpPr>
            <p:nvPr/>
          </p:nvSpPr>
          <p:spPr bwMode="auto">
            <a:xfrm>
              <a:off x="7634724" y="3702541"/>
              <a:ext cx="0" cy="5048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7" name="Line 28"/>
            <p:cNvSpPr>
              <a:spLocks noChangeShapeType="1"/>
            </p:cNvSpPr>
            <p:nvPr/>
          </p:nvSpPr>
          <p:spPr bwMode="auto">
            <a:xfrm>
              <a:off x="7634724" y="2407141"/>
              <a:ext cx="1587" cy="6064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8" name="Line 29"/>
            <p:cNvSpPr>
              <a:spLocks noChangeShapeType="1"/>
            </p:cNvSpPr>
            <p:nvPr/>
          </p:nvSpPr>
          <p:spPr bwMode="auto">
            <a:xfrm>
              <a:off x="5658286" y="4207366"/>
              <a:ext cx="273685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0" name="Line 31"/>
            <p:cNvSpPr>
              <a:spLocks noChangeShapeType="1"/>
            </p:cNvSpPr>
            <p:nvPr/>
          </p:nvSpPr>
          <p:spPr bwMode="auto">
            <a:xfrm>
              <a:off x="7760136" y="3733640"/>
              <a:ext cx="0" cy="43180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1" name="Rectangle 32"/>
            <p:cNvSpPr>
              <a:spLocks noChangeArrowheads="1"/>
            </p:cNvSpPr>
            <p:nvPr/>
          </p:nvSpPr>
          <p:spPr bwMode="auto">
            <a:xfrm>
              <a:off x="7144692" y="3155694"/>
              <a:ext cx="157162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4" name="Rectangle 35"/>
            <p:cNvSpPr>
              <a:spLocks noChangeArrowheads="1"/>
            </p:cNvSpPr>
            <p:nvPr/>
          </p:nvSpPr>
          <p:spPr bwMode="auto">
            <a:xfrm>
              <a:off x="5067466" y="2556464"/>
              <a:ext cx="37369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 A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9" name="Line 40"/>
            <p:cNvSpPr>
              <a:spLocks noChangeShapeType="1"/>
            </p:cNvSpPr>
            <p:nvPr/>
          </p:nvSpPr>
          <p:spPr bwMode="auto">
            <a:xfrm>
              <a:off x="8395136" y="3342179"/>
              <a:ext cx="0" cy="8858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71" name="Group 42"/>
            <p:cNvGrpSpPr>
              <a:grpSpLocks/>
            </p:cNvGrpSpPr>
            <p:nvPr/>
          </p:nvGrpSpPr>
          <p:grpSpPr bwMode="auto">
            <a:xfrm rot="5400000">
              <a:off x="7335959" y="3178677"/>
              <a:ext cx="642938" cy="358775"/>
              <a:chOff x="528" y="513"/>
              <a:chExt cx="626" cy="330"/>
            </a:xfrm>
          </p:grpSpPr>
          <p:sp>
            <p:nvSpPr>
              <p:cNvPr id="77" name="AutoShape 43"/>
              <p:cNvSpPr>
                <a:spLocks noChangeArrowheads="1"/>
              </p:cNvSpPr>
              <p:nvPr/>
            </p:nvSpPr>
            <p:spPr bwMode="auto">
              <a:xfrm>
                <a:off x="528" y="513"/>
                <a:ext cx="172" cy="330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AutoShape 44"/>
              <p:cNvSpPr>
                <a:spLocks noChangeArrowheads="1"/>
              </p:cNvSpPr>
              <p:nvPr/>
            </p:nvSpPr>
            <p:spPr bwMode="auto">
              <a:xfrm>
                <a:off x="755" y="513"/>
                <a:ext cx="172" cy="330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AutoShape 45"/>
              <p:cNvSpPr>
                <a:spLocks noChangeArrowheads="1"/>
              </p:cNvSpPr>
              <p:nvPr/>
            </p:nvSpPr>
            <p:spPr bwMode="auto">
              <a:xfrm>
                <a:off x="982" y="513"/>
                <a:ext cx="172" cy="330"/>
              </a:xfrm>
              <a:custGeom>
                <a:avLst/>
                <a:gdLst>
                  <a:gd name="T0" fmla="*/ 159 w 21600"/>
                  <a:gd name="T1" fmla="*/ 0 h 21600"/>
                  <a:gd name="T2" fmla="*/ 39 w 21600"/>
                  <a:gd name="T3" fmla="*/ 148 h 21600"/>
                  <a:gd name="T4" fmla="*/ 159 w 21600"/>
                  <a:gd name="T5" fmla="*/ 0 h 21600"/>
                  <a:gd name="T6" fmla="*/ 278 w 21600"/>
                  <a:gd name="T7" fmla="*/ 148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1295 w 21600"/>
                  <a:gd name="T13" fmla="*/ 0 h 21600"/>
                  <a:gd name="T14" fmla="*/ 20305 w 21600"/>
                  <a:gd name="T15" fmla="*/ 571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2" name="Group 46"/>
            <p:cNvGrpSpPr>
              <a:grpSpLocks/>
            </p:cNvGrpSpPr>
            <p:nvPr/>
          </p:nvGrpSpPr>
          <p:grpSpPr bwMode="auto">
            <a:xfrm>
              <a:off x="8209399" y="3199304"/>
              <a:ext cx="381000" cy="142875"/>
              <a:chOff x="4623" y="2478"/>
              <a:chExt cx="240" cy="90"/>
            </a:xfrm>
          </p:grpSpPr>
          <p:sp>
            <p:nvSpPr>
              <p:cNvPr id="75" name="Line 47"/>
              <p:cNvSpPr>
                <a:spLocks noChangeShapeType="1"/>
              </p:cNvSpPr>
              <p:nvPr/>
            </p:nvSpPr>
            <p:spPr bwMode="auto">
              <a:xfrm>
                <a:off x="4623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Line 48"/>
              <p:cNvSpPr>
                <a:spLocks noChangeShapeType="1"/>
              </p:cNvSpPr>
              <p:nvPr/>
            </p:nvSpPr>
            <p:spPr bwMode="auto">
              <a:xfrm>
                <a:off x="4623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3" name="Rectangle 49"/>
            <p:cNvSpPr>
              <a:spLocks noChangeArrowheads="1"/>
            </p:cNvSpPr>
            <p:nvPr/>
          </p:nvSpPr>
          <p:spPr bwMode="auto">
            <a:xfrm>
              <a:off x="7833161" y="3733640"/>
              <a:ext cx="45402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4" name="Rectangle 50"/>
            <p:cNvSpPr>
              <a:spLocks noChangeArrowheads="1"/>
            </p:cNvSpPr>
            <p:nvPr/>
          </p:nvSpPr>
          <p:spPr bwMode="auto">
            <a:xfrm>
              <a:off x="8582461" y="3702541"/>
              <a:ext cx="45402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5370949" y="2984991"/>
              <a:ext cx="576262" cy="5762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0" name="Line 28"/>
            <p:cNvSpPr>
              <a:spLocks noChangeShapeType="1"/>
            </p:cNvSpPr>
            <p:nvPr/>
          </p:nvSpPr>
          <p:spPr bwMode="auto">
            <a:xfrm>
              <a:off x="5366313" y="3269726"/>
              <a:ext cx="576263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1" name="Line 25"/>
            <p:cNvSpPr>
              <a:spLocks noChangeShapeType="1"/>
            </p:cNvSpPr>
            <p:nvPr/>
          </p:nvSpPr>
          <p:spPr bwMode="auto">
            <a:xfrm>
              <a:off x="5520053" y="2550016"/>
              <a:ext cx="0" cy="360363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5" name="Line 28"/>
            <p:cNvSpPr>
              <a:spLocks noChangeShapeType="1"/>
            </p:cNvSpPr>
            <p:nvPr/>
          </p:nvSpPr>
          <p:spPr bwMode="auto">
            <a:xfrm flipH="1">
              <a:off x="6960213" y="2403505"/>
              <a:ext cx="6588" cy="1803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0" name="Rectangle 41"/>
            <p:cNvSpPr>
              <a:spLocks noChangeArrowheads="1"/>
            </p:cNvSpPr>
            <p:nvPr/>
          </p:nvSpPr>
          <p:spPr bwMode="auto">
            <a:xfrm rot="5400000">
              <a:off x="6710650" y="3227307"/>
              <a:ext cx="503237" cy="215900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6" name="Line 39"/>
            <p:cNvSpPr>
              <a:spLocks noChangeShapeType="1"/>
            </p:cNvSpPr>
            <p:nvPr/>
          </p:nvSpPr>
          <p:spPr bwMode="auto">
            <a:xfrm>
              <a:off x="6338931" y="3037751"/>
              <a:ext cx="36513" cy="436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7" name="Line 40"/>
            <p:cNvSpPr>
              <a:spLocks noChangeShapeType="1"/>
            </p:cNvSpPr>
            <p:nvPr/>
          </p:nvSpPr>
          <p:spPr bwMode="auto">
            <a:xfrm>
              <a:off x="6315119" y="2394813"/>
              <a:ext cx="3175" cy="614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8" name="Line 41"/>
            <p:cNvSpPr>
              <a:spLocks noChangeShapeType="1"/>
            </p:cNvSpPr>
            <p:nvPr/>
          </p:nvSpPr>
          <p:spPr bwMode="auto">
            <a:xfrm>
              <a:off x="6315118" y="3402876"/>
              <a:ext cx="9123" cy="8016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9" name="Line 58"/>
            <p:cNvSpPr>
              <a:spLocks noChangeShapeType="1"/>
            </p:cNvSpPr>
            <p:nvPr/>
          </p:nvSpPr>
          <p:spPr bwMode="auto">
            <a:xfrm flipH="1">
              <a:off x="6103981" y="3072676"/>
              <a:ext cx="511175" cy="2079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" name="Rectangle 32"/>
            <p:cNvSpPr>
              <a:spLocks noChangeArrowheads="1"/>
            </p:cNvSpPr>
            <p:nvPr/>
          </p:nvSpPr>
          <p:spPr bwMode="auto">
            <a:xfrm>
              <a:off x="7918197" y="3166537"/>
              <a:ext cx="14266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1" name="Rectangle 32"/>
            <p:cNvSpPr>
              <a:spLocks noChangeArrowheads="1"/>
            </p:cNvSpPr>
            <p:nvPr/>
          </p:nvSpPr>
          <p:spPr bwMode="auto">
            <a:xfrm>
              <a:off x="8705318" y="3136550"/>
              <a:ext cx="1715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2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0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01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0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01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20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0" grpId="0"/>
      <p:bldP spid="82989" grpId="0"/>
      <p:bldP spid="201734" grpId="0" build="p" autoUpdateAnimBg="0"/>
      <p:bldP spid="201736" grpId="0" build="p" autoUpdateAnimBg="0"/>
      <p:bldP spid="201739" grpId="0" animBg="1"/>
      <p:bldP spid="201780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468313" y="1628775"/>
            <a:ext cx="22320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通解</a:t>
            </a:r>
          </a:p>
        </p:txBody>
      </p:sp>
      <p:graphicFrame>
        <p:nvGraphicFramePr>
          <p:cNvPr id="2027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642318"/>
              </p:ext>
            </p:extLst>
          </p:nvPr>
        </p:nvGraphicFramePr>
        <p:xfrm>
          <a:off x="4217605" y="1556792"/>
          <a:ext cx="2670447" cy="423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4" name="Equation" r:id="rId3" imgW="1358640" imgH="203040" progId="Equation.DSMT4">
                  <p:embed/>
                </p:oleObj>
              </mc:Choice>
              <mc:Fallback>
                <p:oleObj name="Equation" r:id="rId3" imgW="135864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605" y="1556792"/>
                        <a:ext cx="2670447" cy="423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2555875" y="2254250"/>
            <a:ext cx="34692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特征根为：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s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anose="05050102010706020507" pitchFamily="18" charset="2"/>
              </a:rPr>
              <a:t>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100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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j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100</a:t>
            </a:r>
          </a:p>
        </p:txBody>
      </p:sp>
      <p:graphicFrame>
        <p:nvGraphicFramePr>
          <p:cNvPr id="2027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929747"/>
              </p:ext>
            </p:extLst>
          </p:nvPr>
        </p:nvGraphicFramePr>
        <p:xfrm>
          <a:off x="2987824" y="2800444"/>
          <a:ext cx="3217837" cy="484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5" name="Equation" r:id="rId5" imgW="1574640" imgH="228600" progId="Equation.DSMT4">
                  <p:embed/>
                </p:oleObj>
              </mc:Choice>
              <mc:Fallback>
                <p:oleObj name="Equation" r:id="rId5" imgW="157464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2800444"/>
                        <a:ext cx="3217837" cy="484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8" name="Rectangle 6"/>
          <p:cNvSpPr>
            <a:spLocks noChangeArrowheads="1"/>
          </p:cNvSpPr>
          <p:nvPr/>
        </p:nvSpPr>
        <p:spPr bwMode="auto">
          <a:xfrm>
            <a:off x="539750" y="3429000"/>
            <a:ext cx="2519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定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常数</a:t>
            </a:r>
          </a:p>
        </p:txBody>
      </p:sp>
      <p:graphicFrame>
        <p:nvGraphicFramePr>
          <p:cNvPr id="202759" name="Object 7">
            <a:hlinkClick r:id="" action="ppaction://hlinkshowjump?jump=previousslide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318548"/>
              </p:ext>
            </p:extLst>
          </p:nvPr>
        </p:nvGraphicFramePr>
        <p:xfrm>
          <a:off x="1403648" y="3947566"/>
          <a:ext cx="73120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6" name="Equation" r:id="rId7" imgW="3784320" imgH="482400" progId="Equation.DSMT4">
                  <p:embed/>
                </p:oleObj>
              </mc:Choice>
              <mc:Fallback>
                <p:oleObj name="Equation" r:id="rId7" imgW="3784320" imgH="4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947566"/>
                        <a:ext cx="73120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734604"/>
              </p:ext>
            </p:extLst>
          </p:nvPr>
        </p:nvGraphicFramePr>
        <p:xfrm>
          <a:off x="1881733" y="5122316"/>
          <a:ext cx="1131888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7" name="Equation" r:id="rId9" imgW="558720" imgH="507960" progId="Equation.DSMT4">
                  <p:embed/>
                </p:oleObj>
              </mc:Choice>
              <mc:Fallback>
                <p:oleObj name="Equation" r:id="rId9" imgW="558720" imgH="507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733" y="5122316"/>
                        <a:ext cx="1131888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956872"/>
              </p:ext>
            </p:extLst>
          </p:nvPr>
        </p:nvGraphicFramePr>
        <p:xfrm>
          <a:off x="4319513" y="5369750"/>
          <a:ext cx="3780879" cy="514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8" name="Equation" r:id="rId11" imgW="1942920" imgH="253800" progId="Equation.DSMT4">
                  <p:embed/>
                </p:oleObj>
              </mc:Choice>
              <mc:Fallback>
                <p:oleObj name="Equation" r:id="rId11" imgW="1942920" imgH="253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13" y="5369750"/>
                        <a:ext cx="3780879" cy="514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62" name="Rectangle 10"/>
          <p:cNvSpPr>
            <a:spLocks noChangeArrowheads="1"/>
          </p:cNvSpPr>
          <p:nvPr/>
        </p:nvSpPr>
        <p:spPr bwMode="auto">
          <a:xfrm>
            <a:off x="2484438" y="1628775"/>
            <a:ext cx="17331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特征方程为：</a:t>
            </a:r>
            <a:endParaRPr kumimoji="1" lang="zh-CN" altLang="en-US" sz="2000">
              <a:solidFill>
                <a:schemeClr val="tx1"/>
              </a:solidFill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8397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595594"/>
              </p:ext>
            </p:extLst>
          </p:nvPr>
        </p:nvGraphicFramePr>
        <p:xfrm>
          <a:off x="2519363" y="590550"/>
          <a:ext cx="3132757" cy="807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9" name="Equation" r:id="rId13" imgW="1663560" imgH="419040" progId="Equation.DSMT4">
                  <p:embed/>
                </p:oleObj>
              </mc:Choice>
              <mc:Fallback>
                <p:oleObj name="Equation" r:id="rId13" imgW="1663560" imgH="4190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590550"/>
                        <a:ext cx="3132757" cy="807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70" name="Line 18"/>
          <p:cNvSpPr>
            <a:spLocks noChangeShapeType="1"/>
          </p:cNvSpPr>
          <p:nvPr/>
        </p:nvSpPr>
        <p:spPr bwMode="auto">
          <a:xfrm>
            <a:off x="3312071" y="5627141"/>
            <a:ext cx="647700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02771" name="Line 19"/>
          <p:cNvSpPr>
            <a:spLocks noChangeShapeType="1"/>
          </p:cNvSpPr>
          <p:nvPr/>
        </p:nvSpPr>
        <p:spPr bwMode="auto">
          <a:xfrm>
            <a:off x="1979613" y="3068638"/>
            <a:ext cx="647700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2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0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02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20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0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02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20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20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0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0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build="p" autoUpdateAnimBg="0"/>
      <p:bldP spid="202756" grpId="0" build="p" autoUpdateAnimBg="0"/>
      <p:bldP spid="202758" grpId="0" build="p" autoUpdateAnimBg="0"/>
      <p:bldP spid="202762" grpId="0" build="p" autoUpdateAnimBg="0"/>
      <p:bldP spid="202770" grpId="0" animBg="1"/>
      <p:bldP spid="20277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Text Box 2"/>
          <p:cNvSpPr txBox="1">
            <a:spLocks noChangeArrowheads="1"/>
          </p:cNvSpPr>
          <p:nvPr/>
        </p:nvSpPr>
        <p:spPr bwMode="auto">
          <a:xfrm>
            <a:off x="755576" y="1230471"/>
            <a:ext cx="75247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eriod"/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二阶电路含二个独立储能元件，是用二阶常微分方程所描述的电路。</a:t>
            </a:r>
          </a:p>
        </p:txBody>
      </p:sp>
      <p:sp>
        <p:nvSpPr>
          <p:cNvPr id="205827" name="Text Box 3"/>
          <p:cNvSpPr txBox="1">
            <a:spLocks noChangeArrowheads="1"/>
          </p:cNvSpPr>
          <p:nvPr/>
        </p:nvSpPr>
        <p:spPr bwMode="auto">
          <a:xfrm>
            <a:off x="755576" y="2309971"/>
            <a:ext cx="75247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eriod" startAt="2"/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二阶电路的性质取决于特征根，特征根取决于电路结构和参数，与激励和初值无关。</a:t>
            </a:r>
          </a:p>
        </p:txBody>
      </p:sp>
      <p:graphicFrame>
        <p:nvGraphicFramePr>
          <p:cNvPr id="2058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264132"/>
              </p:ext>
            </p:extLst>
          </p:nvPr>
        </p:nvGraphicFramePr>
        <p:xfrm>
          <a:off x="1008014" y="4330714"/>
          <a:ext cx="3683569" cy="44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90" name="Equation" r:id="rId3" imgW="1955520" imgH="228600" progId="Equation.DSMT4">
                  <p:embed/>
                </p:oleObj>
              </mc:Choice>
              <mc:Fallback>
                <p:oleObj name="Equation" r:id="rId3" imgW="195552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14" y="4330714"/>
                        <a:ext cx="3683569" cy="44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29" name="Object 5" descr="蓝色面巾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608238"/>
              </p:ext>
            </p:extLst>
          </p:nvPr>
        </p:nvGraphicFramePr>
        <p:xfrm>
          <a:off x="5429200" y="4251721"/>
          <a:ext cx="24241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91" name="Equation" r:id="rId5" imgW="1054080" imgH="241200" progId="Equation.DSMT4">
                  <p:embed/>
                </p:oleObj>
              </mc:Choice>
              <mc:Fallback>
                <p:oleObj name="Equation" r:id="rId5" imgW="1054080" imgH="241200" progId="Equation.DSMT4">
                  <p:embed/>
                  <p:pic>
                    <p:nvPicPr>
                      <p:cNvPr id="0" name="Object 5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00" y="4251721"/>
                        <a:ext cx="2424113" cy="508000"/>
                      </a:xfrm>
                      <a:prstGeom prst="rect">
                        <a:avLst/>
                      </a:prstGeom>
                      <a:blipFill dpi="0" rotWithShape="1">
                        <a:blip r:embed="rId7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84601"/>
              </p:ext>
            </p:extLst>
          </p:nvPr>
        </p:nvGraphicFramePr>
        <p:xfrm>
          <a:off x="1187400" y="5948522"/>
          <a:ext cx="3216151" cy="432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92" name="Equation" r:id="rId8" imgW="1752480" imgH="228600" progId="Equation.DSMT4">
                  <p:embed/>
                </p:oleObj>
              </mc:Choice>
              <mc:Fallback>
                <p:oleObj name="Equation" r:id="rId8" imgW="175248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00" y="5948522"/>
                        <a:ext cx="3216151" cy="432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523185"/>
              </p:ext>
            </p:extLst>
          </p:nvPr>
        </p:nvGraphicFramePr>
        <p:xfrm>
          <a:off x="1087388" y="5195720"/>
          <a:ext cx="3820219" cy="434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93" name="Equation" r:id="rId10" imgW="2070000" imgH="228600" progId="Equation.DSMT4">
                  <p:embed/>
                </p:oleObj>
              </mc:Choice>
              <mc:Fallback>
                <p:oleObj name="Equation" r:id="rId10" imgW="20700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388" y="5195720"/>
                        <a:ext cx="3820219" cy="4347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2" name="Object 8" descr="再生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344426"/>
              </p:ext>
            </p:extLst>
          </p:nvPr>
        </p:nvGraphicFramePr>
        <p:xfrm>
          <a:off x="5429200" y="5043809"/>
          <a:ext cx="265906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94" name="Equation" r:id="rId12" imgW="1193760" imgH="241200" progId="Equation.DSMT4">
                  <p:embed/>
                </p:oleObj>
              </mc:Choice>
              <mc:Fallback>
                <p:oleObj name="Equation" r:id="rId12" imgW="1193760" imgH="241200" progId="Equation.DSMT4">
                  <p:embed/>
                  <p:pic>
                    <p:nvPicPr>
                      <p:cNvPr id="0" name="Object 8" descr="再生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00" y="5043809"/>
                        <a:ext cx="2659063" cy="534988"/>
                      </a:xfrm>
                      <a:prstGeom prst="rect">
                        <a:avLst/>
                      </a:prstGeom>
                      <a:blipFill dpi="0" rotWithShape="1">
                        <a:blip r:embed="rId14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152143"/>
              </p:ext>
            </p:extLst>
          </p:nvPr>
        </p:nvGraphicFramePr>
        <p:xfrm>
          <a:off x="2915817" y="3301810"/>
          <a:ext cx="2808312" cy="695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95" name="Equation" r:id="rId15" imgW="1171681" imgH="285711" progId="Equation.DSMT4">
                  <p:embed/>
                </p:oleObj>
              </mc:Choice>
              <mc:Fallback>
                <p:oleObj name="Equation" r:id="rId15" imgW="1171681" imgH="28571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7" y="3301810"/>
                        <a:ext cx="2808312" cy="695391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4" name="Object 10" descr="羊皮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826866"/>
              </p:ext>
            </p:extLst>
          </p:nvPr>
        </p:nvGraphicFramePr>
        <p:xfrm>
          <a:off x="5429200" y="5835897"/>
          <a:ext cx="2743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96" name="Equation" r:id="rId17" imgW="1333440" imgH="241200" progId="Equation.DSMT4">
                  <p:embed/>
                </p:oleObj>
              </mc:Choice>
              <mc:Fallback>
                <p:oleObj name="Equation" r:id="rId17" imgW="1333440" imgH="241200" progId="Equation.DSMT4">
                  <p:embed/>
                  <p:pic>
                    <p:nvPicPr>
                      <p:cNvPr id="0" name="Object 10" descr="羊皮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00" y="5835897"/>
                        <a:ext cx="2743200" cy="498475"/>
                      </a:xfrm>
                      <a:prstGeom prst="rect">
                        <a:avLst/>
                      </a:prstGeom>
                      <a:blipFill dpi="0" rotWithShape="1">
                        <a:blip r:embed="rId19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841" name="Group 17"/>
          <p:cNvGrpSpPr>
            <a:grpSpLocks/>
          </p:cNvGrpSpPr>
          <p:nvPr/>
        </p:nvGrpSpPr>
        <p:grpSpPr bwMode="auto">
          <a:xfrm>
            <a:off x="34925" y="346075"/>
            <a:ext cx="1550988" cy="850900"/>
            <a:chOff x="385" y="3022"/>
            <a:chExt cx="977" cy="536"/>
          </a:xfrm>
        </p:grpSpPr>
        <p:pic>
          <p:nvPicPr>
            <p:cNvPr id="87052" name="Picture 18" descr="123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53" name="Text Box 19"/>
            <p:cNvSpPr txBox="1">
              <a:spLocks noChangeArrowheads="1"/>
            </p:cNvSpPr>
            <p:nvPr/>
          </p:nvSpPr>
          <p:spPr bwMode="auto">
            <a:xfrm>
              <a:off x="793" y="3125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行楷" pitchFamily="2" charset="-122"/>
                  <a:cs typeface="Times New Roman" panose="02020603050405020304" pitchFamily="18" charset="0"/>
                </a:rPr>
                <a:t>小结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05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20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20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20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6" grpId="0" build="p" autoUpdateAnimBg="0"/>
      <p:bldP spid="205827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ChangeArrowheads="1"/>
          </p:cNvSpPr>
          <p:nvPr/>
        </p:nvSpPr>
        <p:spPr bwMode="auto">
          <a:xfrm>
            <a:off x="827584" y="549275"/>
            <a:ext cx="54006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arabicPeriod" startAt="3"/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求二阶电路全响应的步骤</a:t>
            </a:r>
          </a:p>
        </p:txBody>
      </p:sp>
      <p:sp>
        <p:nvSpPr>
          <p:cNvPr id="206851" name="Rectangle 3"/>
          <p:cNvSpPr>
            <a:spLocks noChangeArrowheads="1"/>
          </p:cNvSpPr>
          <p:nvPr/>
        </p:nvSpPr>
        <p:spPr bwMode="auto">
          <a:xfrm>
            <a:off x="1116509" y="1196975"/>
            <a:ext cx="36118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列写 </a:t>
            </a:r>
            <a:r>
              <a:rPr kumimoji="1" lang="en-US" altLang="zh-CN" sz="2000" i="1" dirty="0" smtClean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  &gt; 0</a:t>
            </a:r>
            <a:r>
              <a:rPr kumimoji="1" lang="en-US" altLang="zh-CN" sz="20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+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的微分方程</a:t>
            </a:r>
          </a:p>
        </p:txBody>
      </p:sp>
      <p:sp>
        <p:nvSpPr>
          <p:cNvPr id="206852" name="Rectangle 4"/>
          <p:cNvSpPr>
            <a:spLocks noChangeArrowheads="1"/>
          </p:cNvSpPr>
          <p:nvPr/>
        </p:nvSpPr>
        <p:spPr bwMode="auto">
          <a:xfrm>
            <a:off x="1116509" y="1844675"/>
            <a:ext cx="2592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通解</a:t>
            </a:r>
          </a:p>
        </p:txBody>
      </p:sp>
      <p:sp>
        <p:nvSpPr>
          <p:cNvPr id="206853" name="Rectangle 5"/>
          <p:cNvSpPr>
            <a:spLocks noChangeArrowheads="1"/>
          </p:cNvSpPr>
          <p:nvPr/>
        </p:nvSpPr>
        <p:spPr bwMode="auto">
          <a:xfrm>
            <a:off x="1116509" y="2492375"/>
            <a:ext cx="25193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特解</a:t>
            </a:r>
          </a:p>
        </p:txBody>
      </p:sp>
      <p:sp>
        <p:nvSpPr>
          <p:cNvPr id="206854" name="Rectangle 6"/>
          <p:cNvSpPr>
            <a:spLocks noChangeArrowheads="1"/>
          </p:cNvSpPr>
          <p:nvPr/>
        </p:nvSpPr>
        <p:spPr bwMode="auto">
          <a:xfrm>
            <a:off x="1116509" y="3016250"/>
            <a:ext cx="58324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响应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强制分量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自由分量</a:t>
            </a:r>
          </a:p>
        </p:txBody>
      </p:sp>
      <p:graphicFrame>
        <p:nvGraphicFramePr>
          <p:cNvPr id="2068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718176"/>
              </p:ext>
            </p:extLst>
          </p:nvPr>
        </p:nvGraphicFramePr>
        <p:xfrm>
          <a:off x="2363348" y="3495422"/>
          <a:ext cx="1265378" cy="119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75" name="Equation" r:id="rId3" imgW="660240" imgH="660240" progId="Equation.DSMT4">
                  <p:embed/>
                </p:oleObj>
              </mc:Choice>
              <mc:Fallback>
                <p:oleObj name="Equation" r:id="rId3" imgW="660240" imgH="6602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348" y="3495422"/>
                        <a:ext cx="1265378" cy="119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115616" y="3892986"/>
            <a:ext cx="58324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由初值                      定常数。</a:t>
            </a:r>
            <a:endParaRPr kumimoji="1"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06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06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0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0" grpId="0"/>
      <p:bldP spid="206851" grpId="0" build="p" autoUpdateAnimBg="0"/>
      <p:bldP spid="206852" grpId="0" build="p" autoUpdateAnimBg="0"/>
      <p:bldP spid="206853" grpId="0" build="p" autoUpdateAnimBg="0"/>
      <p:bldP spid="206854" grpId="0" build="p" autoUpdateAnimBg="0"/>
      <p:bldP spid="8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Text Box 3"/>
          <p:cNvSpPr txBox="1">
            <a:spLocks noChangeArrowheads="1"/>
          </p:cNvSpPr>
          <p:nvPr/>
        </p:nvSpPr>
        <p:spPr bwMode="auto">
          <a:xfrm>
            <a:off x="539750" y="1400324"/>
            <a:ext cx="4032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单位阶跃函数简介</a:t>
            </a:r>
            <a:endParaRPr kumimoji="1" lang="zh-CN" altLang="en-US" sz="2400" dirty="0">
              <a:solidFill>
                <a:srgbClr val="99003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770657" y="2464073"/>
            <a:ext cx="1224062" cy="461665"/>
          </a:xfrm>
          <a:prstGeom prst="rect">
            <a:avLst/>
          </a:prstGeom>
          <a:noFill/>
          <a:ln w="38100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 typeface="Wingdings" pitchFamily="2" charset="2"/>
              <a:buChar char="l"/>
            </a:pPr>
            <a:r>
              <a: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endParaRPr kumimoji="1" lang="zh-CN" altLang="en-US" sz="24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5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423599"/>
              </p:ext>
            </p:extLst>
          </p:nvPr>
        </p:nvGraphicFramePr>
        <p:xfrm>
          <a:off x="2493361" y="2225286"/>
          <a:ext cx="2251122" cy="93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1" name="Equation" r:id="rId3" imgW="1104840" imgH="457200" progId="Equation.DSMT4">
                  <p:embed/>
                </p:oleObj>
              </mc:Choice>
              <mc:Fallback>
                <p:oleObj name="Equation" r:id="rId3" imgW="110484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361" y="2225286"/>
                        <a:ext cx="2251122" cy="93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046" name="Group 6"/>
          <p:cNvGrpSpPr>
            <a:grpSpLocks/>
          </p:cNvGrpSpPr>
          <p:nvPr/>
        </p:nvGrpSpPr>
        <p:grpSpPr bwMode="auto">
          <a:xfrm>
            <a:off x="5930651" y="1617936"/>
            <a:ext cx="2817813" cy="1850404"/>
            <a:chOff x="3511" y="798"/>
            <a:chExt cx="1775" cy="908"/>
          </a:xfrm>
        </p:grpSpPr>
        <p:sp>
          <p:nvSpPr>
            <p:cNvPr id="89116" name="Line 7"/>
            <p:cNvSpPr>
              <a:spLocks noChangeShapeType="1"/>
            </p:cNvSpPr>
            <p:nvPr/>
          </p:nvSpPr>
          <p:spPr bwMode="auto">
            <a:xfrm>
              <a:off x="3572" y="1548"/>
              <a:ext cx="1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117" name="Line 8"/>
            <p:cNvSpPr>
              <a:spLocks noChangeShapeType="1"/>
            </p:cNvSpPr>
            <p:nvPr/>
          </p:nvSpPr>
          <p:spPr bwMode="auto">
            <a:xfrm flipV="1">
              <a:off x="3668" y="972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118" name="Text Box 9"/>
            <p:cNvSpPr txBox="1">
              <a:spLocks noChangeArrowheads="1"/>
            </p:cNvSpPr>
            <p:nvPr/>
          </p:nvSpPr>
          <p:spPr bwMode="auto">
            <a:xfrm>
              <a:off x="5125" y="1450"/>
              <a:ext cx="161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89119" name="Text Box 10"/>
            <p:cNvSpPr txBox="1">
              <a:spLocks noChangeArrowheads="1"/>
            </p:cNvSpPr>
            <p:nvPr/>
          </p:nvSpPr>
          <p:spPr bwMode="auto">
            <a:xfrm>
              <a:off x="3584" y="798"/>
              <a:ext cx="419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 </a:t>
              </a:r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)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89120" name="Text Box 11"/>
            <p:cNvSpPr txBox="1">
              <a:spLocks noChangeArrowheads="1"/>
            </p:cNvSpPr>
            <p:nvPr/>
          </p:nvSpPr>
          <p:spPr bwMode="auto">
            <a:xfrm>
              <a:off x="3511" y="1510"/>
              <a:ext cx="197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215052" name="Group 12"/>
          <p:cNvGrpSpPr>
            <a:grpSpLocks/>
          </p:cNvGrpSpPr>
          <p:nvPr/>
        </p:nvGrpSpPr>
        <p:grpSpPr bwMode="auto">
          <a:xfrm>
            <a:off x="5667126" y="2205006"/>
            <a:ext cx="2209800" cy="919998"/>
            <a:chOff x="3332" y="1086"/>
            <a:chExt cx="1392" cy="462"/>
          </a:xfrm>
        </p:grpSpPr>
        <p:sp>
          <p:nvSpPr>
            <p:cNvPr id="89112" name="Line 13"/>
            <p:cNvSpPr>
              <a:spLocks noChangeShapeType="1"/>
            </p:cNvSpPr>
            <p:nvPr/>
          </p:nvSpPr>
          <p:spPr bwMode="auto">
            <a:xfrm>
              <a:off x="3668" y="1176"/>
              <a:ext cx="1056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113" name="Line 14"/>
            <p:cNvSpPr>
              <a:spLocks noChangeShapeType="1"/>
            </p:cNvSpPr>
            <p:nvPr/>
          </p:nvSpPr>
          <p:spPr bwMode="auto">
            <a:xfrm flipH="1">
              <a:off x="3332" y="1548"/>
              <a:ext cx="336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114" name="Line 15"/>
            <p:cNvSpPr>
              <a:spLocks noChangeShapeType="1"/>
            </p:cNvSpPr>
            <p:nvPr/>
          </p:nvSpPr>
          <p:spPr bwMode="auto">
            <a:xfrm>
              <a:off x="3668" y="1164"/>
              <a:ext cx="0" cy="384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115" name="Text Box 16"/>
            <p:cNvSpPr txBox="1">
              <a:spLocks noChangeArrowheads="1"/>
            </p:cNvSpPr>
            <p:nvPr/>
          </p:nvSpPr>
          <p:spPr bwMode="auto">
            <a:xfrm>
              <a:off x="3498" y="1086"/>
              <a:ext cx="197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15057" name="Rectangle 17"/>
          <p:cNvSpPr>
            <a:spLocks noChangeArrowheads="1"/>
          </p:cNvSpPr>
          <p:nvPr/>
        </p:nvSpPr>
        <p:spPr bwMode="auto">
          <a:xfrm>
            <a:off x="770657" y="3764236"/>
            <a:ext cx="3312294" cy="461665"/>
          </a:xfrm>
          <a:prstGeom prst="rect">
            <a:avLst/>
          </a:prstGeom>
          <a:noFill/>
          <a:ln w="38100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 typeface="Wingdings" pitchFamily="2" charset="2"/>
              <a:buChar char="l"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单位阶跃函数的延迟</a:t>
            </a:r>
          </a:p>
        </p:txBody>
      </p:sp>
      <p:graphicFrame>
        <p:nvGraphicFramePr>
          <p:cNvPr id="21505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462953"/>
              </p:ext>
            </p:extLst>
          </p:nvPr>
        </p:nvGraphicFramePr>
        <p:xfrm>
          <a:off x="5426099" y="4904713"/>
          <a:ext cx="2741198" cy="997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2" name="Equation" r:id="rId5" imgW="1333440" imgH="482400" progId="Equation.DSMT4">
                  <p:embed/>
                </p:oleObj>
              </mc:Choice>
              <mc:Fallback>
                <p:oleObj name="Equation" r:id="rId5" imgW="1333440" imgH="4824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6099" y="4904713"/>
                        <a:ext cx="2741198" cy="997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059" name="Group 19"/>
          <p:cNvGrpSpPr>
            <a:grpSpLocks/>
          </p:cNvGrpSpPr>
          <p:nvPr/>
        </p:nvGrpSpPr>
        <p:grpSpPr bwMode="auto">
          <a:xfrm>
            <a:off x="1820768" y="4404152"/>
            <a:ext cx="3270294" cy="1833160"/>
            <a:chOff x="390" y="691"/>
            <a:chExt cx="1783" cy="881"/>
          </a:xfrm>
        </p:grpSpPr>
        <p:grpSp>
          <p:nvGrpSpPr>
            <p:cNvPr id="89099" name="Group 20"/>
            <p:cNvGrpSpPr>
              <a:grpSpLocks/>
            </p:cNvGrpSpPr>
            <p:nvPr/>
          </p:nvGrpSpPr>
          <p:grpSpPr bwMode="auto">
            <a:xfrm>
              <a:off x="390" y="691"/>
              <a:ext cx="1783" cy="881"/>
              <a:chOff x="390" y="691"/>
              <a:chExt cx="1783" cy="881"/>
            </a:xfrm>
          </p:grpSpPr>
          <p:grpSp>
            <p:nvGrpSpPr>
              <p:cNvPr id="89102" name="Group 21"/>
              <p:cNvGrpSpPr>
                <a:grpSpLocks/>
              </p:cNvGrpSpPr>
              <p:nvPr/>
            </p:nvGrpSpPr>
            <p:grpSpPr bwMode="auto">
              <a:xfrm>
                <a:off x="472" y="691"/>
                <a:ext cx="1701" cy="881"/>
                <a:chOff x="472" y="691"/>
                <a:chExt cx="1701" cy="881"/>
              </a:xfrm>
            </p:grpSpPr>
            <p:sp>
              <p:nvSpPr>
                <p:cNvPr id="89104" name="Line 22"/>
                <p:cNvSpPr>
                  <a:spLocks noChangeShapeType="1"/>
                </p:cNvSpPr>
                <p:nvPr/>
              </p:nvSpPr>
              <p:spPr bwMode="auto">
                <a:xfrm>
                  <a:off x="472" y="1400"/>
                  <a:ext cx="15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105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568" y="824"/>
                  <a:ext cx="0" cy="72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106" name="Line 24"/>
                <p:cNvSpPr>
                  <a:spLocks noChangeShapeType="1"/>
                </p:cNvSpPr>
                <p:nvPr/>
              </p:nvSpPr>
              <p:spPr bwMode="auto">
                <a:xfrm>
                  <a:off x="856" y="1064"/>
                  <a:ext cx="1056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10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034" y="1304"/>
                  <a:ext cx="139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000" b="0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charset="-122"/>
                      <a:cs typeface="Times New Roman" panose="02020603050405020304" pitchFamily="18" charset="0"/>
                    </a:rPr>
                    <a:t>t</a:t>
                  </a:r>
                  <a:endParaRPr kumimoji="1" lang="en-US" altLang="zh-CN" sz="2000" b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10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587" y="691"/>
                  <a:ext cx="714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000" b="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charset="-122"/>
                      <a:cs typeface="Times New Roman" panose="02020603050405020304" pitchFamily="18" charset="0"/>
                      <a:sym typeface="Symbol" pitchFamily="18" charset="2"/>
                    </a:rPr>
                    <a:t> </a:t>
                  </a: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  <a:cs typeface="Times New Roman" panose="02020603050405020304" pitchFamily="18" charset="0"/>
                      <a:sym typeface="Symbol" pitchFamily="18" charset="2"/>
                    </a:rPr>
                    <a:t>(</a:t>
                  </a:r>
                  <a:r>
                    <a:rPr kumimoji="1" lang="en-US" altLang="zh-CN" sz="2000" b="0" i="1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  <a:cs typeface="Times New Roman" panose="02020603050405020304" pitchFamily="18" charset="0"/>
                      <a:sym typeface="Symbol" pitchFamily="18" charset="2"/>
                    </a:rPr>
                    <a:t>t-t</a:t>
                  </a:r>
                  <a:r>
                    <a:rPr kumimoji="1" lang="en-US" altLang="zh-CN" sz="2000" b="0" baseline="-2500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  <a:cs typeface="Times New Roman" panose="02020603050405020304" pitchFamily="18" charset="0"/>
                      <a:sym typeface="Symbol" pitchFamily="18" charset="2"/>
                    </a:rPr>
                    <a:t>0</a:t>
                  </a: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  <a:cs typeface="Times New Roman" panose="02020603050405020304" pitchFamily="18" charset="0"/>
                      <a:sym typeface="Symbol" pitchFamily="18" charset="2"/>
                    </a:rPr>
                    <a:t>)</a:t>
                  </a:r>
                  <a:endPara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109" name="Line 27"/>
                <p:cNvSpPr>
                  <a:spLocks noChangeShapeType="1"/>
                </p:cNvSpPr>
                <p:nvPr/>
              </p:nvSpPr>
              <p:spPr bwMode="auto">
                <a:xfrm>
                  <a:off x="856" y="10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11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759" y="1380"/>
                  <a:ext cx="18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000" b="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charset="-122"/>
                      <a:cs typeface="Times New Roman" panose="02020603050405020304" pitchFamily="18" charset="0"/>
                    </a:rPr>
                    <a:t>t</a:t>
                  </a:r>
                  <a:r>
                    <a:rPr kumimoji="1" lang="en-US" altLang="zh-CN" sz="2000" b="0" baseline="-2500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  <a:cs typeface="Times New Roman" panose="02020603050405020304" pitchFamily="18" charset="0"/>
                    </a:rPr>
                    <a:t>0</a:t>
                  </a:r>
                  <a:endPara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111" name="Line 29"/>
                <p:cNvSpPr>
                  <a:spLocks noChangeShapeType="1"/>
                </p:cNvSpPr>
                <p:nvPr/>
              </p:nvSpPr>
              <p:spPr bwMode="auto">
                <a:xfrm>
                  <a:off x="488" y="1392"/>
                  <a:ext cx="368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9103" name="Text Box 30"/>
              <p:cNvSpPr txBox="1">
                <a:spLocks noChangeArrowheads="1"/>
              </p:cNvSpPr>
              <p:nvPr/>
            </p:nvSpPr>
            <p:spPr bwMode="auto">
              <a:xfrm>
                <a:off x="390" y="1362"/>
                <a:ext cx="21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89100" name="Text Box 31"/>
            <p:cNvSpPr txBox="1">
              <a:spLocks noChangeArrowheads="1"/>
            </p:cNvSpPr>
            <p:nvPr/>
          </p:nvSpPr>
          <p:spPr bwMode="auto">
            <a:xfrm>
              <a:off x="403" y="999"/>
              <a:ext cx="17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9101" name="Line 32"/>
            <p:cNvSpPr>
              <a:spLocks noChangeShapeType="1"/>
            </p:cNvSpPr>
            <p:nvPr/>
          </p:nvSpPr>
          <p:spPr bwMode="auto">
            <a:xfrm>
              <a:off x="578" y="1058"/>
              <a:ext cx="27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Rectangle 64"/>
          <p:cNvSpPr>
            <a:spLocks noChangeArrowheads="1"/>
          </p:cNvSpPr>
          <p:nvPr/>
        </p:nvSpPr>
        <p:spPr bwMode="auto">
          <a:xfrm>
            <a:off x="666750" y="409575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CN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</a:t>
            </a:r>
            <a:r>
              <a:rPr lang="zh-CN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阶电路和二阶电路的阶跃响应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15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3000"/>
                                        <p:tgtEl>
                                          <p:spTgt spid="21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/>
      <p:bldP spid="215044" grpId="0" animBg="1"/>
      <p:bldP spid="21505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066" name="Group 2"/>
          <p:cNvGrpSpPr>
            <a:grpSpLocks/>
          </p:cNvGrpSpPr>
          <p:nvPr/>
        </p:nvGrpSpPr>
        <p:grpSpPr bwMode="auto">
          <a:xfrm>
            <a:off x="5327651" y="3775083"/>
            <a:ext cx="2770188" cy="446088"/>
            <a:chOff x="3347" y="2405"/>
            <a:chExt cx="1745" cy="281"/>
          </a:xfrm>
        </p:grpSpPr>
        <p:sp>
          <p:nvSpPr>
            <p:cNvPr id="90199" name="Text Box 3"/>
            <p:cNvSpPr txBox="1">
              <a:spLocks noChangeArrowheads="1"/>
            </p:cNvSpPr>
            <p:nvPr/>
          </p:nvSpPr>
          <p:spPr bwMode="auto">
            <a:xfrm>
              <a:off x="3347" y="2405"/>
              <a:ext cx="14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 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= 0  </a:t>
              </a:r>
              <a:r>
                <a:rPr kumimoji="1" lang="zh-CN" altLang="zh-CN" sz="2000">
                  <a:solidFill>
                    <a:schemeClr val="tx1"/>
                  </a:solidFill>
                  <a:latin typeface="Times New Roman" pitchFamily="18" charset="0"/>
                </a:rPr>
                <a:t>合闸</a:t>
              </a:r>
              <a:r>
                <a:rPr kumimoji="1" lang="zh-CN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  = 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</a:p>
          </p:txBody>
        </p:sp>
        <p:graphicFrame>
          <p:nvGraphicFramePr>
            <p:cNvPr id="9020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1945089"/>
                </p:ext>
              </p:extLst>
            </p:nvPr>
          </p:nvGraphicFramePr>
          <p:xfrm>
            <a:off x="4685" y="2408"/>
            <a:ext cx="40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42" name="Equation" r:id="rId3" imgW="279360" imgH="190440" progId="Equation.DSMT4">
                    <p:embed/>
                  </p:oleObj>
                </mc:Choice>
                <mc:Fallback>
                  <p:oleObj name="Equation" r:id="rId3" imgW="279360" imgH="19044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2408"/>
                          <a:ext cx="407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6069" name="AutoShape 5"/>
          <p:cNvSpPr>
            <a:spLocks noChangeArrowheads="1"/>
          </p:cNvSpPr>
          <p:nvPr/>
        </p:nvSpPr>
        <p:spPr bwMode="auto">
          <a:xfrm>
            <a:off x="4284663" y="4581525"/>
            <a:ext cx="792162" cy="144463"/>
          </a:xfrm>
          <a:prstGeom prst="rightArrow">
            <a:avLst>
              <a:gd name="adj1" fmla="val 50000"/>
              <a:gd name="adj2" fmla="val 137087"/>
            </a:avLst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16070" name="AutoShape 6"/>
          <p:cNvSpPr>
            <a:spLocks noChangeArrowheads="1"/>
          </p:cNvSpPr>
          <p:nvPr/>
        </p:nvSpPr>
        <p:spPr bwMode="auto">
          <a:xfrm>
            <a:off x="4140200" y="2205038"/>
            <a:ext cx="792163" cy="144462"/>
          </a:xfrm>
          <a:prstGeom prst="rightArrow">
            <a:avLst>
              <a:gd name="adj1" fmla="val 50000"/>
              <a:gd name="adj2" fmla="val 137088"/>
            </a:avLst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16071" name="Text Box 7"/>
          <p:cNvSpPr txBox="1">
            <a:spLocks noChangeArrowheads="1"/>
          </p:cNvSpPr>
          <p:nvPr/>
        </p:nvSpPr>
        <p:spPr bwMode="auto">
          <a:xfrm>
            <a:off x="395288" y="1327914"/>
            <a:ext cx="4897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在电路中模拟开关的动作</a:t>
            </a:r>
          </a:p>
        </p:txBody>
      </p:sp>
      <p:grpSp>
        <p:nvGrpSpPr>
          <p:cNvPr id="216072" name="Group 8"/>
          <p:cNvGrpSpPr>
            <a:grpSpLocks/>
          </p:cNvGrpSpPr>
          <p:nvPr/>
        </p:nvGrpSpPr>
        <p:grpSpPr bwMode="auto">
          <a:xfrm>
            <a:off x="5334000" y="1400181"/>
            <a:ext cx="2908300" cy="444501"/>
            <a:chOff x="2813" y="1108"/>
            <a:chExt cx="1832" cy="280"/>
          </a:xfrm>
        </p:grpSpPr>
        <p:sp>
          <p:nvSpPr>
            <p:cNvPr id="90197" name="Text Box 9"/>
            <p:cNvSpPr txBox="1">
              <a:spLocks noChangeArrowheads="1"/>
            </p:cNvSpPr>
            <p:nvPr/>
          </p:nvSpPr>
          <p:spPr bwMode="auto">
            <a:xfrm>
              <a:off x="2813" y="1108"/>
              <a:ext cx="148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 </a:t>
              </a:r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= 0  </a:t>
              </a:r>
              <a:r>
                <a:rPr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合闸</a:t>
              </a:r>
              <a:r>
                <a:rPr lang="zh-CN" altLang="en-US" sz="2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 </a:t>
              </a:r>
              <a:r>
                <a:rPr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 = </a:t>
              </a:r>
              <a:r>
                <a:rPr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</a:p>
          </p:txBody>
        </p:sp>
        <p:graphicFrame>
          <p:nvGraphicFramePr>
            <p:cNvPr id="9019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6634842"/>
                </p:ext>
              </p:extLst>
            </p:nvPr>
          </p:nvGraphicFramePr>
          <p:xfrm>
            <a:off x="4238" y="1109"/>
            <a:ext cx="40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43" name="Equation" r:id="rId5" imgW="279360" imgH="190440" progId="Equation.DSMT4">
                    <p:embed/>
                  </p:oleObj>
                </mc:Choice>
                <mc:Fallback>
                  <p:oleObj name="Equation" r:id="rId5" imgW="279360" imgH="1904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8" y="1109"/>
                          <a:ext cx="407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6075" name="Rectangle 11"/>
          <p:cNvSpPr>
            <a:spLocks noChangeArrowheads="1"/>
          </p:cNvSpPr>
          <p:nvPr/>
        </p:nvSpPr>
        <p:spPr bwMode="auto">
          <a:xfrm>
            <a:off x="468313" y="668487"/>
            <a:ext cx="3348037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6000"/>
              <a:buFont typeface="Wingdings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单位阶跃函数的作用</a:t>
            </a:r>
          </a:p>
        </p:txBody>
      </p:sp>
      <p:grpSp>
        <p:nvGrpSpPr>
          <p:cNvPr id="216082" name="Group 18"/>
          <p:cNvGrpSpPr>
            <a:grpSpLocks/>
          </p:cNvGrpSpPr>
          <p:nvPr/>
        </p:nvGrpSpPr>
        <p:grpSpPr bwMode="auto">
          <a:xfrm>
            <a:off x="455613" y="2001838"/>
            <a:ext cx="3360737" cy="1643063"/>
            <a:chOff x="-8" y="2123"/>
            <a:chExt cx="2117" cy="1035"/>
          </a:xfrm>
        </p:grpSpPr>
        <p:sp>
          <p:nvSpPr>
            <p:cNvPr id="90177" name="Oval 19"/>
            <p:cNvSpPr>
              <a:spLocks noChangeArrowheads="1"/>
            </p:cNvSpPr>
            <p:nvPr/>
          </p:nvSpPr>
          <p:spPr bwMode="auto">
            <a:xfrm>
              <a:off x="249" y="2505"/>
              <a:ext cx="363" cy="336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78" name="Text Box 20"/>
            <p:cNvSpPr txBox="1">
              <a:spLocks noChangeArrowheads="1"/>
            </p:cNvSpPr>
            <p:nvPr/>
          </p:nvSpPr>
          <p:spPr bwMode="auto">
            <a:xfrm>
              <a:off x="920" y="2333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</a:p>
          </p:txBody>
        </p:sp>
        <p:sp>
          <p:nvSpPr>
            <p:cNvPr id="90179" name="Text Box 21"/>
            <p:cNvSpPr txBox="1">
              <a:spLocks noChangeArrowheads="1"/>
            </p:cNvSpPr>
            <p:nvPr/>
          </p:nvSpPr>
          <p:spPr bwMode="auto">
            <a:xfrm>
              <a:off x="-8" y="2560"/>
              <a:ext cx="2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</a:p>
          </p:txBody>
        </p:sp>
        <p:sp>
          <p:nvSpPr>
            <p:cNvPr id="90180" name="Line 22"/>
            <p:cNvSpPr>
              <a:spLocks noChangeShapeType="1"/>
            </p:cNvSpPr>
            <p:nvPr/>
          </p:nvSpPr>
          <p:spPr bwMode="auto">
            <a:xfrm>
              <a:off x="431" y="2251"/>
              <a:ext cx="35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81" name="Line 23"/>
            <p:cNvSpPr>
              <a:spLocks noChangeShapeType="1"/>
            </p:cNvSpPr>
            <p:nvPr/>
          </p:nvSpPr>
          <p:spPr bwMode="auto">
            <a:xfrm flipV="1">
              <a:off x="431" y="2251"/>
              <a:ext cx="11" cy="86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82" name="Line 24"/>
            <p:cNvSpPr>
              <a:spLocks noChangeShapeType="1"/>
            </p:cNvSpPr>
            <p:nvPr/>
          </p:nvSpPr>
          <p:spPr bwMode="auto">
            <a:xfrm flipH="1">
              <a:off x="817" y="2251"/>
              <a:ext cx="249" cy="18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83" name="Line 25"/>
            <p:cNvSpPr>
              <a:spLocks noChangeShapeType="1"/>
            </p:cNvSpPr>
            <p:nvPr/>
          </p:nvSpPr>
          <p:spPr bwMode="auto">
            <a:xfrm>
              <a:off x="907" y="2404"/>
              <a:ext cx="0" cy="7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84" name="Line 26"/>
            <p:cNvSpPr>
              <a:spLocks noChangeShapeType="1"/>
            </p:cNvSpPr>
            <p:nvPr/>
          </p:nvSpPr>
          <p:spPr bwMode="auto">
            <a:xfrm>
              <a:off x="204" y="3022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0185" name="Group 27"/>
            <p:cNvGrpSpPr>
              <a:grpSpLocks/>
            </p:cNvGrpSpPr>
            <p:nvPr/>
          </p:nvGrpSpPr>
          <p:grpSpPr bwMode="auto">
            <a:xfrm>
              <a:off x="249" y="2251"/>
              <a:ext cx="128" cy="136"/>
              <a:chOff x="648" y="2472"/>
              <a:chExt cx="128" cy="136"/>
            </a:xfrm>
          </p:grpSpPr>
          <p:sp>
            <p:nvSpPr>
              <p:cNvPr id="90195" name="Line 28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0196" name="Line 29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0186" name="Group 30"/>
            <p:cNvGrpSpPr>
              <a:grpSpLocks/>
            </p:cNvGrpSpPr>
            <p:nvPr/>
          </p:nvGrpSpPr>
          <p:grpSpPr bwMode="auto">
            <a:xfrm>
              <a:off x="1156" y="2296"/>
              <a:ext cx="128" cy="136"/>
              <a:chOff x="648" y="2472"/>
              <a:chExt cx="128" cy="136"/>
            </a:xfrm>
          </p:grpSpPr>
          <p:sp>
            <p:nvSpPr>
              <p:cNvPr id="90193" name="Line 31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0194" name="Line 32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187" name="Line 33"/>
            <p:cNvSpPr>
              <a:spLocks noChangeShapeType="1"/>
            </p:cNvSpPr>
            <p:nvPr/>
          </p:nvSpPr>
          <p:spPr bwMode="auto">
            <a:xfrm>
              <a:off x="1156" y="3022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88" name="Text Box 34"/>
            <p:cNvSpPr txBox="1">
              <a:spLocks noChangeArrowheads="1"/>
            </p:cNvSpPr>
            <p:nvPr/>
          </p:nvSpPr>
          <p:spPr bwMode="auto">
            <a:xfrm>
              <a:off x="980" y="2560"/>
              <a:ext cx="33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90189" name="Line 35"/>
            <p:cNvSpPr>
              <a:spLocks noChangeShapeType="1"/>
            </p:cNvSpPr>
            <p:nvPr/>
          </p:nvSpPr>
          <p:spPr bwMode="auto">
            <a:xfrm>
              <a:off x="431" y="311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90" name="Line 36"/>
            <p:cNvSpPr>
              <a:spLocks noChangeShapeType="1"/>
            </p:cNvSpPr>
            <p:nvPr/>
          </p:nvSpPr>
          <p:spPr bwMode="auto">
            <a:xfrm>
              <a:off x="1066" y="2251"/>
              <a:ext cx="58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91" name="Line 37"/>
            <p:cNvSpPr>
              <a:spLocks noChangeShapeType="1"/>
            </p:cNvSpPr>
            <p:nvPr/>
          </p:nvSpPr>
          <p:spPr bwMode="auto">
            <a:xfrm flipH="1" flipV="1">
              <a:off x="848" y="2123"/>
              <a:ext cx="154" cy="27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92" name="Rectangle 38"/>
            <p:cNvSpPr>
              <a:spLocks noChangeArrowheads="1"/>
            </p:cNvSpPr>
            <p:nvPr/>
          </p:nvSpPr>
          <p:spPr bwMode="auto">
            <a:xfrm>
              <a:off x="1474" y="2160"/>
              <a:ext cx="635" cy="998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16103" name="Group 39"/>
          <p:cNvGrpSpPr>
            <a:grpSpLocks/>
          </p:cNvGrpSpPr>
          <p:nvPr/>
        </p:nvGrpSpPr>
        <p:grpSpPr bwMode="auto">
          <a:xfrm>
            <a:off x="4459288" y="1989138"/>
            <a:ext cx="3659187" cy="1584325"/>
            <a:chOff x="870" y="2115"/>
            <a:chExt cx="2305" cy="998"/>
          </a:xfrm>
        </p:grpSpPr>
        <p:sp>
          <p:nvSpPr>
            <p:cNvPr id="90160" name="Oval 40"/>
            <p:cNvSpPr>
              <a:spLocks noChangeArrowheads="1"/>
            </p:cNvSpPr>
            <p:nvPr/>
          </p:nvSpPr>
          <p:spPr bwMode="auto">
            <a:xfrm>
              <a:off x="2154" y="2115"/>
              <a:ext cx="91" cy="9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aphicFrame>
          <p:nvGraphicFramePr>
            <p:cNvPr id="90161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8431352"/>
                </p:ext>
              </p:extLst>
            </p:nvPr>
          </p:nvGraphicFramePr>
          <p:xfrm>
            <a:off x="870" y="2464"/>
            <a:ext cx="418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44" name="Equation" r:id="rId7" imgW="368280" imgH="203040" progId="Equation.DSMT4">
                    <p:embed/>
                  </p:oleObj>
                </mc:Choice>
                <mc:Fallback>
                  <p:oleObj name="Equation" r:id="rId7" imgW="368280" imgH="20304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" y="2464"/>
                          <a:ext cx="418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62" name="Oval 42"/>
            <p:cNvSpPr>
              <a:spLocks noChangeArrowheads="1"/>
            </p:cNvSpPr>
            <p:nvPr/>
          </p:nvSpPr>
          <p:spPr bwMode="auto">
            <a:xfrm>
              <a:off x="1315" y="238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63" name="Line 43"/>
            <p:cNvSpPr>
              <a:spLocks noChangeShapeType="1"/>
            </p:cNvSpPr>
            <p:nvPr/>
          </p:nvSpPr>
          <p:spPr bwMode="auto">
            <a:xfrm>
              <a:off x="1497" y="2160"/>
              <a:ext cx="106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64" name="Line 44"/>
            <p:cNvSpPr>
              <a:spLocks noChangeShapeType="1"/>
            </p:cNvSpPr>
            <p:nvPr/>
          </p:nvSpPr>
          <p:spPr bwMode="auto">
            <a:xfrm flipV="1">
              <a:off x="1497" y="2160"/>
              <a:ext cx="0" cy="91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65" name="Line 45"/>
            <p:cNvSpPr>
              <a:spLocks noChangeShapeType="1"/>
            </p:cNvSpPr>
            <p:nvPr/>
          </p:nvSpPr>
          <p:spPr bwMode="auto">
            <a:xfrm>
              <a:off x="1315" y="2931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0166" name="Group 46"/>
            <p:cNvGrpSpPr>
              <a:grpSpLocks/>
            </p:cNvGrpSpPr>
            <p:nvPr/>
          </p:nvGrpSpPr>
          <p:grpSpPr bwMode="auto">
            <a:xfrm>
              <a:off x="1315" y="2206"/>
              <a:ext cx="128" cy="136"/>
              <a:chOff x="648" y="2472"/>
              <a:chExt cx="128" cy="136"/>
            </a:xfrm>
          </p:grpSpPr>
          <p:sp>
            <p:nvSpPr>
              <p:cNvPr id="90175" name="Line 47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0176" name="Line 48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0167" name="Group 49"/>
            <p:cNvGrpSpPr>
              <a:grpSpLocks/>
            </p:cNvGrpSpPr>
            <p:nvPr/>
          </p:nvGrpSpPr>
          <p:grpSpPr bwMode="auto">
            <a:xfrm>
              <a:off x="2217" y="2251"/>
              <a:ext cx="128" cy="136"/>
              <a:chOff x="643" y="2472"/>
              <a:chExt cx="128" cy="136"/>
            </a:xfrm>
          </p:grpSpPr>
          <p:sp>
            <p:nvSpPr>
              <p:cNvPr id="90173" name="Line 50"/>
              <p:cNvSpPr>
                <a:spLocks noChangeShapeType="1"/>
              </p:cNvSpPr>
              <p:nvPr/>
            </p:nvSpPr>
            <p:spPr bwMode="auto">
              <a:xfrm>
                <a:off x="643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0174" name="Line 51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168" name="Line 52"/>
            <p:cNvSpPr>
              <a:spLocks noChangeShapeType="1"/>
            </p:cNvSpPr>
            <p:nvPr/>
          </p:nvSpPr>
          <p:spPr bwMode="auto">
            <a:xfrm>
              <a:off x="2222" y="2977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69" name="Text Box 53"/>
            <p:cNvSpPr txBox="1">
              <a:spLocks noChangeArrowheads="1"/>
            </p:cNvSpPr>
            <p:nvPr/>
          </p:nvSpPr>
          <p:spPr bwMode="auto">
            <a:xfrm>
              <a:off x="2046" y="2515"/>
              <a:ext cx="33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90170" name="Line 54"/>
            <p:cNvSpPr>
              <a:spLocks noChangeShapeType="1"/>
            </p:cNvSpPr>
            <p:nvPr/>
          </p:nvSpPr>
          <p:spPr bwMode="auto">
            <a:xfrm>
              <a:off x="1474" y="3067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71" name="Rectangle 55"/>
            <p:cNvSpPr>
              <a:spLocks noChangeArrowheads="1"/>
            </p:cNvSpPr>
            <p:nvPr/>
          </p:nvSpPr>
          <p:spPr bwMode="auto">
            <a:xfrm>
              <a:off x="2540" y="2115"/>
              <a:ext cx="635" cy="998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72" name="Oval 56"/>
            <p:cNvSpPr>
              <a:spLocks noChangeArrowheads="1"/>
            </p:cNvSpPr>
            <p:nvPr/>
          </p:nvSpPr>
          <p:spPr bwMode="auto">
            <a:xfrm>
              <a:off x="2154" y="3022"/>
              <a:ext cx="91" cy="9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16162" name="Group 98"/>
          <p:cNvGrpSpPr>
            <a:grpSpLocks/>
          </p:cNvGrpSpPr>
          <p:nvPr/>
        </p:nvGrpSpPr>
        <p:grpSpPr bwMode="auto">
          <a:xfrm>
            <a:off x="827088" y="3975099"/>
            <a:ext cx="3067050" cy="1974850"/>
            <a:chOff x="521" y="2504"/>
            <a:chExt cx="1932" cy="1244"/>
          </a:xfrm>
        </p:grpSpPr>
        <p:sp>
          <p:nvSpPr>
            <p:cNvPr id="90140" name="Line 59"/>
            <p:cNvSpPr>
              <a:spLocks noChangeShapeType="1"/>
            </p:cNvSpPr>
            <p:nvPr/>
          </p:nvSpPr>
          <p:spPr bwMode="auto">
            <a:xfrm flipV="1">
              <a:off x="788" y="2840"/>
              <a:ext cx="0" cy="86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41" name="Text Box 62"/>
            <p:cNvSpPr txBox="1">
              <a:spLocks noChangeArrowheads="1"/>
            </p:cNvSpPr>
            <p:nvPr/>
          </p:nvSpPr>
          <p:spPr bwMode="auto">
            <a:xfrm>
              <a:off x="825" y="2941"/>
              <a:ext cx="2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0142" name="Line 63"/>
            <p:cNvSpPr>
              <a:spLocks noChangeShapeType="1"/>
            </p:cNvSpPr>
            <p:nvPr/>
          </p:nvSpPr>
          <p:spPr bwMode="auto">
            <a:xfrm>
              <a:off x="1464" y="2750"/>
              <a:ext cx="307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aphicFrame>
          <p:nvGraphicFramePr>
            <p:cNvPr id="90143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4647142"/>
                </p:ext>
              </p:extLst>
            </p:nvPr>
          </p:nvGraphicFramePr>
          <p:xfrm>
            <a:off x="1432" y="2504"/>
            <a:ext cx="317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45" name="Equation" r:id="rId9" imgW="279360" imgH="203040" progId="Equation.DSMT4">
                    <p:embed/>
                  </p:oleObj>
                </mc:Choice>
                <mc:Fallback>
                  <p:oleObj name="Equation" r:id="rId9" imgW="279360" imgH="203040" progId="Equation.DSMT4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2" y="2504"/>
                          <a:ext cx="317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44" name="Text Box 65"/>
            <p:cNvSpPr txBox="1">
              <a:spLocks noChangeArrowheads="1"/>
            </p:cNvSpPr>
            <p:nvPr/>
          </p:nvSpPr>
          <p:spPr bwMode="auto">
            <a:xfrm>
              <a:off x="1273" y="2929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0145" name="Line 66"/>
            <p:cNvSpPr>
              <a:spLocks noChangeShapeType="1"/>
            </p:cNvSpPr>
            <p:nvPr/>
          </p:nvSpPr>
          <p:spPr bwMode="auto">
            <a:xfrm>
              <a:off x="775" y="2840"/>
              <a:ext cx="35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46" name="Line 67"/>
            <p:cNvSpPr>
              <a:spLocks noChangeShapeType="1"/>
            </p:cNvSpPr>
            <p:nvPr/>
          </p:nvSpPr>
          <p:spPr bwMode="auto">
            <a:xfrm>
              <a:off x="1130" y="2840"/>
              <a:ext cx="193" cy="15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47" name="Line 68"/>
            <p:cNvSpPr>
              <a:spLocks noChangeShapeType="1"/>
            </p:cNvSpPr>
            <p:nvPr/>
          </p:nvSpPr>
          <p:spPr bwMode="auto">
            <a:xfrm>
              <a:off x="1272" y="2994"/>
              <a:ext cx="0" cy="7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48" name="Line 69"/>
            <p:cNvSpPr>
              <a:spLocks noChangeShapeType="1"/>
            </p:cNvSpPr>
            <p:nvPr/>
          </p:nvSpPr>
          <p:spPr bwMode="auto">
            <a:xfrm>
              <a:off x="521" y="3612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0149" name="Group 70"/>
            <p:cNvGrpSpPr>
              <a:grpSpLocks/>
            </p:cNvGrpSpPr>
            <p:nvPr/>
          </p:nvGrpSpPr>
          <p:grpSpPr bwMode="auto">
            <a:xfrm>
              <a:off x="529" y="2886"/>
              <a:ext cx="128" cy="136"/>
              <a:chOff x="648" y="2472"/>
              <a:chExt cx="128" cy="136"/>
            </a:xfrm>
          </p:grpSpPr>
          <p:sp>
            <p:nvSpPr>
              <p:cNvPr id="90158" name="Line 71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0159" name="Line 72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150" name="Line 73"/>
            <p:cNvSpPr>
              <a:spLocks noChangeShapeType="1"/>
            </p:cNvSpPr>
            <p:nvPr/>
          </p:nvSpPr>
          <p:spPr bwMode="auto">
            <a:xfrm>
              <a:off x="775" y="370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51" name="Line 74"/>
            <p:cNvSpPr>
              <a:spLocks noChangeShapeType="1"/>
            </p:cNvSpPr>
            <p:nvPr/>
          </p:nvSpPr>
          <p:spPr bwMode="auto">
            <a:xfrm>
              <a:off x="1432" y="2841"/>
              <a:ext cx="56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52" name="Line 75"/>
            <p:cNvSpPr>
              <a:spLocks noChangeShapeType="1"/>
            </p:cNvSpPr>
            <p:nvPr/>
          </p:nvSpPr>
          <p:spPr bwMode="auto">
            <a:xfrm flipV="1">
              <a:off x="1141" y="2779"/>
              <a:ext cx="226" cy="1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53" name="Rectangle 76"/>
            <p:cNvSpPr>
              <a:spLocks noChangeArrowheads="1"/>
            </p:cNvSpPr>
            <p:nvPr/>
          </p:nvSpPr>
          <p:spPr bwMode="auto">
            <a:xfrm>
              <a:off x="1818" y="2750"/>
              <a:ext cx="635" cy="998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54" name="Line 77"/>
            <p:cNvSpPr>
              <a:spLocks noChangeShapeType="1"/>
            </p:cNvSpPr>
            <p:nvPr/>
          </p:nvSpPr>
          <p:spPr bwMode="auto">
            <a:xfrm flipV="1">
              <a:off x="788" y="2885"/>
              <a:ext cx="0" cy="31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0155" name="Group 97"/>
            <p:cNvGrpSpPr>
              <a:grpSpLocks/>
            </p:cNvGrpSpPr>
            <p:nvPr/>
          </p:nvGrpSpPr>
          <p:grpSpPr bwMode="auto">
            <a:xfrm>
              <a:off x="612" y="3158"/>
              <a:ext cx="363" cy="363"/>
              <a:chOff x="593" y="3022"/>
              <a:chExt cx="363" cy="363"/>
            </a:xfrm>
          </p:grpSpPr>
          <p:sp>
            <p:nvSpPr>
              <p:cNvPr id="90156" name="Oval 60"/>
              <p:cNvSpPr>
                <a:spLocks noChangeArrowheads="1"/>
              </p:cNvSpPr>
              <p:nvPr/>
            </p:nvSpPr>
            <p:spPr bwMode="auto">
              <a:xfrm>
                <a:off x="593" y="3022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0157" name="Line 61"/>
              <p:cNvSpPr>
                <a:spLocks noChangeShapeType="1"/>
              </p:cNvSpPr>
              <p:nvPr/>
            </p:nvSpPr>
            <p:spPr bwMode="auto">
              <a:xfrm>
                <a:off x="615" y="3203"/>
                <a:ext cx="318" cy="0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16164" name="Group 100"/>
          <p:cNvGrpSpPr>
            <a:grpSpLocks/>
          </p:cNvGrpSpPr>
          <p:nvPr/>
        </p:nvGrpSpPr>
        <p:grpSpPr bwMode="auto">
          <a:xfrm>
            <a:off x="5364163" y="4365625"/>
            <a:ext cx="2989262" cy="1584325"/>
            <a:chOff x="3379" y="2750"/>
            <a:chExt cx="1883" cy="998"/>
          </a:xfrm>
        </p:grpSpPr>
        <p:sp>
          <p:nvSpPr>
            <p:cNvPr id="90124" name="Line 79"/>
            <p:cNvSpPr>
              <a:spLocks noChangeShapeType="1"/>
            </p:cNvSpPr>
            <p:nvPr/>
          </p:nvSpPr>
          <p:spPr bwMode="auto">
            <a:xfrm flipV="1">
              <a:off x="3560" y="2795"/>
              <a:ext cx="0" cy="91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aphicFrame>
          <p:nvGraphicFramePr>
            <p:cNvPr id="90125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8375140"/>
                </p:ext>
              </p:extLst>
            </p:nvPr>
          </p:nvGraphicFramePr>
          <p:xfrm>
            <a:off x="3598" y="2885"/>
            <a:ext cx="439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46" name="Equation" r:id="rId11" imgW="406080" imgH="228600" progId="Equation.DSMT4">
                    <p:embed/>
                  </p:oleObj>
                </mc:Choice>
                <mc:Fallback>
                  <p:oleObj name="Equation" r:id="rId11" imgW="406080" imgH="228600" progId="Equation.DSMT4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8" y="2885"/>
                          <a:ext cx="439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26" name="Line 82"/>
            <p:cNvSpPr>
              <a:spLocks noChangeShapeType="1"/>
            </p:cNvSpPr>
            <p:nvPr/>
          </p:nvSpPr>
          <p:spPr bwMode="auto">
            <a:xfrm flipH="1" flipV="1">
              <a:off x="3560" y="2840"/>
              <a:ext cx="1" cy="41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27" name="Oval 84"/>
            <p:cNvSpPr>
              <a:spLocks noChangeArrowheads="1"/>
            </p:cNvSpPr>
            <p:nvPr/>
          </p:nvSpPr>
          <p:spPr bwMode="auto">
            <a:xfrm>
              <a:off x="4241" y="2750"/>
              <a:ext cx="91" cy="9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28" name="Line 85"/>
            <p:cNvSpPr>
              <a:spLocks noChangeShapeType="1"/>
            </p:cNvSpPr>
            <p:nvPr/>
          </p:nvSpPr>
          <p:spPr bwMode="auto">
            <a:xfrm>
              <a:off x="3560" y="2795"/>
              <a:ext cx="108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0129" name="Group 86"/>
            <p:cNvGrpSpPr>
              <a:grpSpLocks/>
            </p:cNvGrpSpPr>
            <p:nvPr/>
          </p:nvGrpSpPr>
          <p:grpSpPr bwMode="auto">
            <a:xfrm>
              <a:off x="4375" y="2840"/>
              <a:ext cx="128" cy="136"/>
              <a:chOff x="638" y="2472"/>
              <a:chExt cx="128" cy="136"/>
            </a:xfrm>
          </p:grpSpPr>
          <p:sp>
            <p:nvSpPr>
              <p:cNvPr id="90138" name="Line 87"/>
              <p:cNvSpPr>
                <a:spLocks noChangeShapeType="1"/>
              </p:cNvSpPr>
              <p:nvPr/>
            </p:nvSpPr>
            <p:spPr bwMode="auto">
              <a:xfrm>
                <a:off x="63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0139" name="Line 88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130" name="Line 89"/>
            <p:cNvSpPr>
              <a:spLocks noChangeShapeType="1"/>
            </p:cNvSpPr>
            <p:nvPr/>
          </p:nvSpPr>
          <p:spPr bwMode="auto">
            <a:xfrm>
              <a:off x="4409" y="3612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31" name="Text Box 90"/>
            <p:cNvSpPr txBox="1">
              <a:spLocks noChangeArrowheads="1"/>
            </p:cNvSpPr>
            <p:nvPr/>
          </p:nvSpPr>
          <p:spPr bwMode="auto">
            <a:xfrm>
              <a:off x="4245" y="3104"/>
              <a:ext cx="33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90132" name="Line 91"/>
            <p:cNvSpPr>
              <a:spLocks noChangeShapeType="1"/>
            </p:cNvSpPr>
            <p:nvPr/>
          </p:nvSpPr>
          <p:spPr bwMode="auto">
            <a:xfrm>
              <a:off x="3561" y="3702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33" name="Rectangle 92"/>
            <p:cNvSpPr>
              <a:spLocks noChangeArrowheads="1"/>
            </p:cNvSpPr>
            <p:nvPr/>
          </p:nvSpPr>
          <p:spPr bwMode="auto">
            <a:xfrm>
              <a:off x="4627" y="2750"/>
              <a:ext cx="635" cy="998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0134" name="Oval 93"/>
            <p:cNvSpPr>
              <a:spLocks noChangeArrowheads="1"/>
            </p:cNvSpPr>
            <p:nvPr/>
          </p:nvSpPr>
          <p:spPr bwMode="auto">
            <a:xfrm>
              <a:off x="4241" y="3657"/>
              <a:ext cx="91" cy="9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0135" name="Group 99"/>
            <p:cNvGrpSpPr>
              <a:grpSpLocks/>
            </p:cNvGrpSpPr>
            <p:nvPr/>
          </p:nvGrpSpPr>
          <p:grpSpPr bwMode="auto">
            <a:xfrm>
              <a:off x="3379" y="3203"/>
              <a:ext cx="363" cy="363"/>
              <a:chOff x="3402" y="3022"/>
              <a:chExt cx="363" cy="363"/>
            </a:xfrm>
          </p:grpSpPr>
          <p:sp>
            <p:nvSpPr>
              <p:cNvPr id="90136" name="Oval 80"/>
              <p:cNvSpPr>
                <a:spLocks noChangeArrowheads="1"/>
              </p:cNvSpPr>
              <p:nvPr/>
            </p:nvSpPr>
            <p:spPr bwMode="auto">
              <a:xfrm>
                <a:off x="3402" y="3022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0137" name="Line 83"/>
              <p:cNvSpPr>
                <a:spLocks noChangeShapeType="1"/>
              </p:cNvSpPr>
              <p:nvPr/>
            </p:nvSpPr>
            <p:spPr bwMode="auto">
              <a:xfrm>
                <a:off x="3425" y="3204"/>
                <a:ext cx="318" cy="0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1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 animBg="1"/>
      <p:bldP spid="216070" grpId="0" animBg="1"/>
      <p:bldP spid="216071" grpId="0"/>
      <p:bldP spid="216075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Text Box 2"/>
          <p:cNvSpPr txBox="1">
            <a:spLocks noChangeArrowheads="1"/>
          </p:cNvSpPr>
          <p:nvPr/>
        </p:nvSpPr>
        <p:spPr bwMode="auto">
          <a:xfrm>
            <a:off x="684213" y="608776"/>
            <a:ext cx="381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lang="zh-CN" altLang="en-US" sz="2000">
                <a:solidFill>
                  <a:schemeClr val="tx1"/>
                </a:solidFill>
                <a:latin typeface="Times New Roman" pitchFamily="18" charset="0"/>
              </a:rPr>
              <a:t>起始一个函数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217091" name="Group 3"/>
          <p:cNvGrpSpPr>
            <a:grpSpLocks/>
          </p:cNvGrpSpPr>
          <p:nvPr/>
        </p:nvGrpSpPr>
        <p:grpSpPr bwMode="auto">
          <a:xfrm>
            <a:off x="2214562" y="3789363"/>
            <a:ext cx="5597525" cy="2663826"/>
            <a:chOff x="1259" y="2387"/>
            <a:chExt cx="3526" cy="1678"/>
          </a:xfrm>
        </p:grpSpPr>
        <p:sp>
          <p:nvSpPr>
            <p:cNvPr id="91155" name="Line 4"/>
            <p:cNvSpPr>
              <a:spLocks noChangeShapeType="1"/>
            </p:cNvSpPr>
            <p:nvPr/>
          </p:nvSpPr>
          <p:spPr bwMode="auto">
            <a:xfrm flipH="1" flipV="1">
              <a:off x="1474" y="2478"/>
              <a:ext cx="8" cy="11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1156" name="Text Box 5"/>
            <p:cNvSpPr txBox="1">
              <a:spLocks noChangeArrowheads="1"/>
            </p:cNvSpPr>
            <p:nvPr/>
          </p:nvSpPr>
          <p:spPr bwMode="auto">
            <a:xfrm>
              <a:off x="2934" y="3467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1157" name="Text Box 6"/>
            <p:cNvSpPr txBox="1">
              <a:spLocks noChangeArrowheads="1"/>
            </p:cNvSpPr>
            <p:nvPr/>
          </p:nvSpPr>
          <p:spPr bwMode="auto">
            <a:xfrm>
              <a:off x="1519" y="2387"/>
              <a:ext cx="35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f 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91158" name="Line 7"/>
            <p:cNvSpPr>
              <a:spLocks noChangeShapeType="1"/>
            </p:cNvSpPr>
            <p:nvPr/>
          </p:nvSpPr>
          <p:spPr bwMode="auto">
            <a:xfrm flipV="1">
              <a:off x="1286" y="3475"/>
              <a:ext cx="349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1159" name="Text Box 8"/>
            <p:cNvSpPr txBox="1">
              <a:spLocks noChangeArrowheads="1"/>
            </p:cNvSpPr>
            <p:nvPr/>
          </p:nvSpPr>
          <p:spPr bwMode="auto">
            <a:xfrm>
              <a:off x="1259" y="3430"/>
              <a:ext cx="26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91160" name="Freeform 9"/>
            <p:cNvSpPr>
              <a:spLocks/>
            </p:cNvSpPr>
            <p:nvPr/>
          </p:nvSpPr>
          <p:spPr bwMode="auto">
            <a:xfrm>
              <a:off x="1791" y="2886"/>
              <a:ext cx="2449" cy="1179"/>
            </a:xfrm>
            <a:custGeom>
              <a:avLst/>
              <a:gdLst>
                <a:gd name="T0" fmla="*/ 0 w 1724"/>
                <a:gd name="T1" fmla="*/ 589 h 907"/>
                <a:gd name="T2" fmla="*/ 709 w 1724"/>
                <a:gd name="T3" fmla="*/ 0 h 907"/>
                <a:gd name="T4" fmla="*/ 1288 w 1724"/>
                <a:gd name="T5" fmla="*/ 589 h 907"/>
                <a:gd name="T6" fmla="*/ 1804 w 1724"/>
                <a:gd name="T7" fmla="*/ 1179 h 907"/>
                <a:gd name="T8" fmla="*/ 2449 w 1724"/>
                <a:gd name="T9" fmla="*/ 589 h 9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4" h="907">
                  <a:moveTo>
                    <a:pt x="0" y="453"/>
                  </a:moveTo>
                  <a:cubicBezTo>
                    <a:pt x="174" y="226"/>
                    <a:pt x="348" y="0"/>
                    <a:pt x="499" y="0"/>
                  </a:cubicBezTo>
                  <a:cubicBezTo>
                    <a:pt x="650" y="0"/>
                    <a:pt x="779" y="302"/>
                    <a:pt x="907" y="453"/>
                  </a:cubicBezTo>
                  <a:cubicBezTo>
                    <a:pt x="1035" y="604"/>
                    <a:pt x="1134" y="907"/>
                    <a:pt x="1270" y="907"/>
                  </a:cubicBezTo>
                  <a:cubicBezTo>
                    <a:pt x="1406" y="907"/>
                    <a:pt x="1656" y="529"/>
                    <a:pt x="1724" y="453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aphicFrame>
          <p:nvGraphicFramePr>
            <p:cNvPr id="9116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0267449"/>
                </p:ext>
              </p:extLst>
            </p:nvPr>
          </p:nvGraphicFramePr>
          <p:xfrm>
            <a:off x="2956" y="2717"/>
            <a:ext cx="1294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772" name="Equation" r:id="rId3" imgW="1079280" imgH="228600" progId="Equation.DSMT4">
                    <p:embed/>
                  </p:oleObj>
                </mc:Choice>
                <mc:Fallback>
                  <p:oleObj name="Equation" r:id="rId3" imgW="1079280" imgH="228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6" y="2717"/>
                          <a:ext cx="1294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62" name="Text Box 11"/>
            <p:cNvSpPr txBox="1">
              <a:spLocks noChangeArrowheads="1"/>
            </p:cNvSpPr>
            <p:nvPr/>
          </p:nvSpPr>
          <p:spPr bwMode="auto">
            <a:xfrm>
              <a:off x="1655" y="3430"/>
              <a:ext cx="3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t</a:t>
              </a:r>
              <a:r>
                <a:rPr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sp>
        <p:nvSpPr>
          <p:cNvPr id="217100" name="Text Box 12"/>
          <p:cNvSpPr txBox="1">
            <a:spLocks noChangeArrowheads="1"/>
          </p:cNvSpPr>
          <p:nvPr/>
        </p:nvSpPr>
        <p:spPr bwMode="auto">
          <a:xfrm>
            <a:off x="682625" y="3417064"/>
            <a:ext cx="28813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3"/>
            </a:pPr>
            <a:r>
              <a:rPr lang="zh-CN" altLang="en-US" sz="2000">
                <a:solidFill>
                  <a:schemeClr val="tx1"/>
                </a:solidFill>
                <a:latin typeface="楷体_GB2312" pitchFamily="49" charset="-122"/>
              </a:rPr>
              <a:t>延迟一个函数</a:t>
            </a:r>
          </a:p>
        </p:txBody>
      </p:sp>
      <p:grpSp>
        <p:nvGrpSpPr>
          <p:cNvPr id="217107" name="Group 19"/>
          <p:cNvGrpSpPr>
            <a:grpSpLocks/>
          </p:cNvGrpSpPr>
          <p:nvPr/>
        </p:nvGrpSpPr>
        <p:grpSpPr bwMode="auto">
          <a:xfrm>
            <a:off x="2503488" y="981077"/>
            <a:ext cx="4714875" cy="2881314"/>
            <a:chOff x="1577" y="527"/>
            <a:chExt cx="2970" cy="1815"/>
          </a:xfrm>
        </p:grpSpPr>
        <p:sp>
          <p:nvSpPr>
            <p:cNvPr id="91146" name="Freeform 20"/>
            <p:cNvSpPr>
              <a:spLocks/>
            </p:cNvSpPr>
            <p:nvPr/>
          </p:nvSpPr>
          <p:spPr bwMode="auto">
            <a:xfrm>
              <a:off x="1791" y="845"/>
              <a:ext cx="2359" cy="1497"/>
            </a:xfrm>
            <a:custGeom>
              <a:avLst/>
              <a:gdLst>
                <a:gd name="T0" fmla="*/ 0 w 1724"/>
                <a:gd name="T1" fmla="*/ 748 h 907"/>
                <a:gd name="T2" fmla="*/ 683 w 1724"/>
                <a:gd name="T3" fmla="*/ 0 h 907"/>
                <a:gd name="T4" fmla="*/ 1241 w 1724"/>
                <a:gd name="T5" fmla="*/ 748 h 907"/>
                <a:gd name="T6" fmla="*/ 1738 w 1724"/>
                <a:gd name="T7" fmla="*/ 1497 h 907"/>
                <a:gd name="T8" fmla="*/ 2359 w 1724"/>
                <a:gd name="T9" fmla="*/ 748 h 9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4" h="907">
                  <a:moveTo>
                    <a:pt x="0" y="453"/>
                  </a:moveTo>
                  <a:cubicBezTo>
                    <a:pt x="174" y="226"/>
                    <a:pt x="348" y="0"/>
                    <a:pt x="499" y="0"/>
                  </a:cubicBezTo>
                  <a:cubicBezTo>
                    <a:pt x="650" y="0"/>
                    <a:pt x="779" y="302"/>
                    <a:pt x="907" y="453"/>
                  </a:cubicBezTo>
                  <a:cubicBezTo>
                    <a:pt x="1035" y="604"/>
                    <a:pt x="1134" y="907"/>
                    <a:pt x="1270" y="907"/>
                  </a:cubicBezTo>
                  <a:cubicBezTo>
                    <a:pt x="1406" y="907"/>
                    <a:pt x="1656" y="529"/>
                    <a:pt x="1724" y="453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1147" name="Group 21"/>
            <p:cNvGrpSpPr>
              <a:grpSpLocks/>
            </p:cNvGrpSpPr>
            <p:nvPr/>
          </p:nvGrpSpPr>
          <p:grpSpPr bwMode="auto">
            <a:xfrm>
              <a:off x="1577" y="527"/>
              <a:ext cx="2970" cy="1406"/>
              <a:chOff x="1577" y="527"/>
              <a:chExt cx="2970" cy="1406"/>
            </a:xfrm>
          </p:grpSpPr>
          <p:sp>
            <p:nvSpPr>
              <p:cNvPr id="91148" name="Text Box 22"/>
              <p:cNvSpPr txBox="1">
                <a:spLocks noChangeArrowheads="1"/>
              </p:cNvSpPr>
              <p:nvPr/>
            </p:nvSpPr>
            <p:spPr bwMode="auto">
              <a:xfrm>
                <a:off x="4386" y="1653"/>
                <a:ext cx="16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endParaRPr lang="en-US" altLang="zh-CN" sz="2000" b="0">
                  <a:solidFill>
                    <a:schemeClr val="tx1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91149" name="Text Box 23"/>
              <p:cNvSpPr txBox="1">
                <a:spLocks noChangeArrowheads="1"/>
              </p:cNvSpPr>
              <p:nvPr/>
            </p:nvSpPr>
            <p:spPr bwMode="auto">
              <a:xfrm>
                <a:off x="1837" y="527"/>
                <a:ext cx="31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f</a:t>
                </a:r>
                <a:r>
                  <a:rPr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(</a:t>
                </a:r>
                <a:r>
                  <a:rPr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r>
                  <a:rPr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)</a:t>
                </a:r>
                <a:endParaRPr lang="en-US" altLang="zh-CN" sz="2000" b="0" dirty="0">
                  <a:solidFill>
                    <a:schemeClr val="tx1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91151" name="Text Box 25"/>
              <p:cNvSpPr txBox="1">
                <a:spLocks noChangeArrowheads="1"/>
              </p:cNvSpPr>
              <p:nvPr/>
            </p:nvSpPr>
            <p:spPr bwMode="auto">
              <a:xfrm>
                <a:off x="1577" y="1525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</a:t>
                </a:r>
                <a:endParaRPr lang="en-US" altLang="zh-CN" sz="2000" b="0" dirty="0">
                  <a:solidFill>
                    <a:schemeClr val="tx1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91152" name="Text Box 26"/>
              <p:cNvSpPr txBox="1">
                <a:spLocks noChangeArrowheads="1"/>
              </p:cNvSpPr>
              <p:nvPr/>
            </p:nvSpPr>
            <p:spPr bwMode="auto">
              <a:xfrm>
                <a:off x="2154" y="1570"/>
                <a:ext cx="31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t</a:t>
                </a:r>
                <a:r>
                  <a:rPr lang="en-US" altLang="zh-CN" sz="2000" b="0" baseline="-25000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0</a:t>
                </a:r>
                <a:endParaRPr lang="en-US" altLang="zh-CN" sz="2000" b="0">
                  <a:solidFill>
                    <a:schemeClr val="tx1"/>
                  </a:solidFill>
                  <a:ea typeface="仿宋_GB2312" pitchFamily="49" charset="-122"/>
                </a:endParaRPr>
              </a:p>
            </p:txBody>
          </p:sp>
          <p:graphicFrame>
            <p:nvGraphicFramePr>
              <p:cNvPr id="91153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91495945"/>
                  </p:ext>
                </p:extLst>
              </p:nvPr>
            </p:nvGraphicFramePr>
            <p:xfrm>
              <a:off x="2767" y="766"/>
              <a:ext cx="880" cy="3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1773" name="Equation" r:id="rId5" imgW="609480" imgH="203040" progId="Equation.DSMT4">
                      <p:embed/>
                    </p:oleObj>
                  </mc:Choice>
                  <mc:Fallback>
                    <p:oleObj name="Equation" r:id="rId5" imgW="609480" imgH="203040" progId="Equation.DSMT4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7" y="766"/>
                            <a:ext cx="880" cy="3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FF99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1150" name="Line 24"/>
              <p:cNvSpPr>
                <a:spLocks noChangeShapeType="1"/>
              </p:cNvSpPr>
              <p:nvPr/>
            </p:nvSpPr>
            <p:spPr bwMode="auto">
              <a:xfrm flipV="1">
                <a:off x="1603" y="1570"/>
                <a:ext cx="2910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1154" name="Line 28"/>
              <p:cNvSpPr>
                <a:spLocks noChangeShapeType="1"/>
              </p:cNvSpPr>
              <p:nvPr/>
            </p:nvSpPr>
            <p:spPr bwMode="auto">
              <a:xfrm flipH="1" flipV="1">
                <a:off x="1791" y="618"/>
                <a:ext cx="0" cy="131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17117" name="Group 29"/>
          <p:cNvGrpSpPr>
            <a:grpSpLocks/>
          </p:cNvGrpSpPr>
          <p:nvPr/>
        </p:nvGrpSpPr>
        <p:grpSpPr bwMode="auto">
          <a:xfrm>
            <a:off x="2868614" y="1371602"/>
            <a:ext cx="3206750" cy="1263651"/>
            <a:chOff x="1807" y="774"/>
            <a:chExt cx="2020" cy="796"/>
          </a:xfrm>
        </p:grpSpPr>
        <p:sp>
          <p:nvSpPr>
            <p:cNvPr id="91143" name="Rectangle 30"/>
            <p:cNvSpPr>
              <a:spLocks noChangeArrowheads="1"/>
            </p:cNvSpPr>
            <p:nvPr/>
          </p:nvSpPr>
          <p:spPr bwMode="auto">
            <a:xfrm>
              <a:off x="1807" y="963"/>
              <a:ext cx="465" cy="5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1144" name="Line 31"/>
            <p:cNvSpPr>
              <a:spLocks noChangeShapeType="1"/>
            </p:cNvSpPr>
            <p:nvPr/>
          </p:nvSpPr>
          <p:spPr bwMode="auto">
            <a:xfrm>
              <a:off x="2244" y="981"/>
              <a:ext cx="0" cy="589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aphicFrame>
          <p:nvGraphicFramePr>
            <p:cNvPr id="91145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8487300"/>
                </p:ext>
              </p:extLst>
            </p:nvPr>
          </p:nvGraphicFramePr>
          <p:xfrm>
            <a:off x="2744" y="774"/>
            <a:ext cx="1083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774" name="Equation" r:id="rId7" imgW="850680" imgH="228600" progId="Equation.DSMT4">
                    <p:embed/>
                  </p:oleObj>
                </mc:Choice>
                <mc:Fallback>
                  <p:oleObj name="Equation" r:id="rId7" imgW="850680" imgH="2286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774"/>
                          <a:ext cx="1083" cy="29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17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1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0" grpId="0"/>
      <p:bldP spid="21710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ChangeArrowheads="1"/>
          </p:cNvSpPr>
          <p:nvPr/>
        </p:nvSpPr>
        <p:spPr bwMode="auto">
          <a:xfrm>
            <a:off x="395288" y="592287"/>
            <a:ext cx="4836580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 typeface="Wingdings" pitchFamily="2" charset="2"/>
              <a:buChar char="l"/>
            </a:pP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用单位阶跃函数表示复杂的信号</a:t>
            </a:r>
          </a:p>
        </p:txBody>
      </p:sp>
      <p:sp>
        <p:nvSpPr>
          <p:cNvPr id="218115" name="Text Box 3"/>
          <p:cNvSpPr txBox="1">
            <a:spLocks noChangeArrowheads="1"/>
          </p:cNvSpPr>
          <p:nvPr/>
        </p:nvSpPr>
        <p:spPr bwMode="auto">
          <a:xfrm>
            <a:off x="395288" y="1647001"/>
            <a:ext cx="9715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 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graphicFrame>
        <p:nvGraphicFramePr>
          <p:cNvPr id="218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756125"/>
              </p:ext>
            </p:extLst>
          </p:nvPr>
        </p:nvGraphicFramePr>
        <p:xfrm>
          <a:off x="1772891" y="3149202"/>
          <a:ext cx="2436366" cy="450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5" name="Equation" r:id="rId3" imgW="1295280" imgH="228600" progId="Equation.DSMT4">
                  <p:embed/>
                </p:oleObj>
              </mc:Choice>
              <mc:Fallback>
                <p:oleObj name="Equation" r:id="rId3" imgW="129528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2891" y="3149202"/>
                        <a:ext cx="2436366" cy="4505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8117" name="Group 5"/>
          <p:cNvGrpSpPr>
            <a:grpSpLocks/>
          </p:cNvGrpSpPr>
          <p:nvPr/>
        </p:nvGrpSpPr>
        <p:grpSpPr bwMode="auto">
          <a:xfrm>
            <a:off x="5338762" y="1116017"/>
            <a:ext cx="2190750" cy="1619252"/>
            <a:chOff x="3074" y="2074"/>
            <a:chExt cx="1380" cy="1020"/>
          </a:xfrm>
        </p:grpSpPr>
        <p:sp>
          <p:nvSpPr>
            <p:cNvPr id="92211" name="Text Box 6"/>
            <p:cNvSpPr txBox="1">
              <a:spLocks noChangeArrowheads="1"/>
            </p:cNvSpPr>
            <p:nvPr/>
          </p:nvSpPr>
          <p:spPr bwMode="auto">
            <a:xfrm>
              <a:off x="4004" y="2218"/>
              <a:ext cx="33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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(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t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)</a:t>
              </a:r>
            </a:p>
          </p:txBody>
        </p:sp>
        <p:sp>
          <p:nvSpPr>
            <p:cNvPr id="92212" name="Line 7"/>
            <p:cNvSpPr>
              <a:spLocks noChangeShapeType="1"/>
            </p:cNvSpPr>
            <p:nvPr/>
          </p:nvSpPr>
          <p:spPr bwMode="auto">
            <a:xfrm>
              <a:off x="3136" y="2824"/>
              <a:ext cx="12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213" name="Line 8"/>
            <p:cNvSpPr>
              <a:spLocks noChangeShapeType="1"/>
            </p:cNvSpPr>
            <p:nvPr/>
          </p:nvSpPr>
          <p:spPr bwMode="auto">
            <a:xfrm flipV="1">
              <a:off x="3280" y="2200"/>
              <a:ext cx="8" cy="7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214" name="Line 9"/>
            <p:cNvSpPr>
              <a:spLocks noChangeShapeType="1"/>
            </p:cNvSpPr>
            <p:nvPr/>
          </p:nvSpPr>
          <p:spPr bwMode="auto">
            <a:xfrm>
              <a:off x="3280" y="2488"/>
              <a:ext cx="950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215" name="Text Box 10"/>
            <p:cNvSpPr txBox="1">
              <a:spLocks noChangeArrowheads="1"/>
            </p:cNvSpPr>
            <p:nvPr/>
          </p:nvSpPr>
          <p:spPr bwMode="auto">
            <a:xfrm>
              <a:off x="4293" y="2842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2216" name="Line 11"/>
            <p:cNvSpPr>
              <a:spLocks noChangeShapeType="1"/>
            </p:cNvSpPr>
            <p:nvPr/>
          </p:nvSpPr>
          <p:spPr bwMode="auto">
            <a:xfrm flipH="1">
              <a:off x="3079" y="2803"/>
              <a:ext cx="198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217" name="Line 12"/>
            <p:cNvSpPr>
              <a:spLocks noChangeShapeType="1"/>
            </p:cNvSpPr>
            <p:nvPr/>
          </p:nvSpPr>
          <p:spPr bwMode="auto">
            <a:xfrm>
              <a:off x="3272" y="2472"/>
              <a:ext cx="0" cy="352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218" name="Text Box 13"/>
            <p:cNvSpPr txBox="1">
              <a:spLocks noChangeArrowheads="1"/>
            </p:cNvSpPr>
            <p:nvPr/>
          </p:nvSpPr>
          <p:spPr bwMode="auto">
            <a:xfrm>
              <a:off x="3362" y="2074"/>
              <a:ext cx="31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f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92219" name="Text Box 14"/>
            <p:cNvSpPr txBox="1">
              <a:spLocks noChangeArrowheads="1"/>
            </p:cNvSpPr>
            <p:nvPr/>
          </p:nvSpPr>
          <p:spPr bwMode="auto">
            <a:xfrm>
              <a:off x="3074" y="2352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2220" name="Text Box 15"/>
            <p:cNvSpPr txBox="1">
              <a:spLocks noChangeArrowheads="1"/>
            </p:cNvSpPr>
            <p:nvPr/>
          </p:nvSpPr>
          <p:spPr bwMode="auto">
            <a:xfrm>
              <a:off x="3094" y="2784"/>
              <a:ext cx="21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</p:grpSp>
      <p:grpSp>
        <p:nvGrpSpPr>
          <p:cNvPr id="218128" name="Group 16"/>
          <p:cNvGrpSpPr>
            <a:grpSpLocks/>
          </p:cNvGrpSpPr>
          <p:nvPr/>
        </p:nvGrpSpPr>
        <p:grpSpPr bwMode="auto">
          <a:xfrm>
            <a:off x="1547813" y="1300762"/>
            <a:ext cx="2724823" cy="1762542"/>
            <a:chOff x="1008" y="2213"/>
            <a:chExt cx="1401" cy="951"/>
          </a:xfrm>
        </p:grpSpPr>
        <p:grpSp>
          <p:nvGrpSpPr>
            <p:cNvPr id="92197" name="Group 17"/>
            <p:cNvGrpSpPr>
              <a:grpSpLocks/>
            </p:cNvGrpSpPr>
            <p:nvPr/>
          </p:nvGrpSpPr>
          <p:grpSpPr bwMode="auto">
            <a:xfrm>
              <a:off x="1008" y="2213"/>
              <a:ext cx="1401" cy="951"/>
              <a:chOff x="1008" y="2213"/>
              <a:chExt cx="1401" cy="951"/>
            </a:xfrm>
          </p:grpSpPr>
          <p:sp>
            <p:nvSpPr>
              <p:cNvPr id="92199" name="Line 18"/>
              <p:cNvSpPr>
                <a:spLocks noChangeShapeType="1"/>
              </p:cNvSpPr>
              <p:nvPr/>
            </p:nvSpPr>
            <p:spPr bwMode="auto">
              <a:xfrm>
                <a:off x="1098" y="2912"/>
                <a:ext cx="12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2200" name="Line 19"/>
              <p:cNvSpPr>
                <a:spLocks noChangeShapeType="1"/>
              </p:cNvSpPr>
              <p:nvPr/>
            </p:nvSpPr>
            <p:spPr bwMode="auto">
              <a:xfrm flipV="1">
                <a:off x="1242" y="228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2201" name="Line 20"/>
              <p:cNvSpPr>
                <a:spLocks noChangeShapeType="1"/>
              </p:cNvSpPr>
              <p:nvPr/>
            </p:nvSpPr>
            <p:spPr bwMode="auto">
              <a:xfrm>
                <a:off x="1242" y="2576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2202" name="Line 21"/>
              <p:cNvSpPr>
                <a:spLocks noChangeShapeType="1"/>
              </p:cNvSpPr>
              <p:nvPr/>
            </p:nvSpPr>
            <p:spPr bwMode="auto">
              <a:xfrm>
                <a:off x="1626" y="2576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2203" name="Text Box 22"/>
              <p:cNvSpPr txBox="1">
                <a:spLocks noChangeArrowheads="1"/>
              </p:cNvSpPr>
              <p:nvPr/>
            </p:nvSpPr>
            <p:spPr bwMode="auto">
              <a:xfrm>
                <a:off x="1106" y="2468"/>
                <a:ext cx="161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1</a:t>
                </a:r>
              </a:p>
            </p:txBody>
          </p:sp>
          <p:sp>
            <p:nvSpPr>
              <p:cNvPr id="92204" name="Text Box 23"/>
              <p:cNvSpPr txBox="1">
                <a:spLocks noChangeArrowheads="1"/>
              </p:cNvSpPr>
              <p:nvPr/>
            </p:nvSpPr>
            <p:spPr bwMode="auto">
              <a:xfrm>
                <a:off x="1539" y="2948"/>
                <a:ext cx="175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r>
                  <a:rPr kumimoji="1" lang="en-US" altLang="zh-CN" sz="2000" b="0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2205" name="Text Box 24"/>
              <p:cNvSpPr txBox="1">
                <a:spLocks noChangeArrowheads="1"/>
              </p:cNvSpPr>
              <p:nvPr/>
            </p:nvSpPr>
            <p:spPr bwMode="auto">
              <a:xfrm>
                <a:off x="2278" y="2948"/>
                <a:ext cx="131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2206" name="Text Box 25"/>
              <p:cNvSpPr txBox="1">
                <a:spLocks noChangeArrowheads="1"/>
              </p:cNvSpPr>
              <p:nvPr/>
            </p:nvSpPr>
            <p:spPr bwMode="auto">
              <a:xfrm>
                <a:off x="1304" y="2213"/>
                <a:ext cx="255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f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(</a:t>
                </a:r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)</a:t>
                </a:r>
              </a:p>
            </p:txBody>
          </p:sp>
          <p:sp>
            <p:nvSpPr>
              <p:cNvPr id="92207" name="Line 26"/>
              <p:cNvSpPr>
                <a:spLocks noChangeShapeType="1"/>
              </p:cNvSpPr>
              <p:nvPr/>
            </p:nvSpPr>
            <p:spPr bwMode="auto">
              <a:xfrm flipH="1">
                <a:off x="1008" y="2904"/>
                <a:ext cx="232" cy="0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2208" name="Line 27"/>
              <p:cNvSpPr>
                <a:spLocks noChangeShapeType="1"/>
              </p:cNvSpPr>
              <p:nvPr/>
            </p:nvSpPr>
            <p:spPr bwMode="auto">
              <a:xfrm flipV="1">
                <a:off x="1232" y="2568"/>
                <a:ext cx="8" cy="33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2209" name="Line 28"/>
              <p:cNvSpPr>
                <a:spLocks noChangeShapeType="1"/>
              </p:cNvSpPr>
              <p:nvPr/>
            </p:nvSpPr>
            <p:spPr bwMode="auto">
              <a:xfrm>
                <a:off x="1632" y="2904"/>
                <a:ext cx="5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2210" name="Line 29"/>
              <p:cNvSpPr>
                <a:spLocks noChangeShapeType="1"/>
              </p:cNvSpPr>
              <p:nvPr/>
            </p:nvSpPr>
            <p:spPr bwMode="auto">
              <a:xfrm>
                <a:off x="1632" y="2901"/>
                <a:ext cx="632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2198" name="Text Box 30"/>
            <p:cNvSpPr txBox="1">
              <a:spLocks noChangeArrowheads="1"/>
            </p:cNvSpPr>
            <p:nvPr/>
          </p:nvSpPr>
          <p:spPr bwMode="auto">
            <a:xfrm>
              <a:off x="1082" y="2876"/>
              <a:ext cx="212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</p:grpSp>
      <p:grpSp>
        <p:nvGrpSpPr>
          <p:cNvPr id="218143" name="Group 31"/>
          <p:cNvGrpSpPr>
            <a:grpSpLocks/>
          </p:cNvGrpSpPr>
          <p:nvPr/>
        </p:nvGrpSpPr>
        <p:grpSpPr bwMode="auto">
          <a:xfrm>
            <a:off x="5435601" y="1773239"/>
            <a:ext cx="2246313" cy="1408113"/>
            <a:chOff x="3135" y="2488"/>
            <a:chExt cx="1415" cy="887"/>
          </a:xfrm>
        </p:grpSpPr>
        <p:sp>
          <p:nvSpPr>
            <p:cNvPr id="92190" name="Line 32"/>
            <p:cNvSpPr>
              <a:spLocks noChangeShapeType="1"/>
            </p:cNvSpPr>
            <p:nvPr/>
          </p:nvSpPr>
          <p:spPr bwMode="auto">
            <a:xfrm>
              <a:off x="3642" y="2488"/>
              <a:ext cx="0" cy="336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2191" name="Group 33"/>
            <p:cNvGrpSpPr>
              <a:grpSpLocks/>
            </p:cNvGrpSpPr>
            <p:nvPr/>
          </p:nvGrpSpPr>
          <p:grpSpPr bwMode="auto">
            <a:xfrm>
              <a:off x="3135" y="2776"/>
              <a:ext cx="1415" cy="599"/>
              <a:chOff x="3135" y="2776"/>
              <a:chExt cx="1415" cy="599"/>
            </a:xfrm>
          </p:grpSpPr>
          <p:sp>
            <p:nvSpPr>
              <p:cNvPr id="92192" name="Text Box 34"/>
              <p:cNvSpPr txBox="1">
                <a:spLocks noChangeArrowheads="1"/>
              </p:cNvSpPr>
              <p:nvPr/>
            </p:nvSpPr>
            <p:spPr bwMode="auto">
              <a:xfrm>
                <a:off x="3640" y="2776"/>
                <a:ext cx="21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r>
                  <a:rPr kumimoji="1" lang="en-US" altLang="zh-CN" sz="2000" b="0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2193" name="Line 35"/>
              <p:cNvSpPr>
                <a:spLocks noChangeShapeType="1"/>
              </p:cNvSpPr>
              <p:nvPr/>
            </p:nvSpPr>
            <p:spPr bwMode="auto">
              <a:xfrm>
                <a:off x="3654" y="2824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2194" name="Line 36"/>
              <p:cNvSpPr>
                <a:spLocks noChangeShapeType="1"/>
              </p:cNvSpPr>
              <p:nvPr/>
            </p:nvSpPr>
            <p:spPr bwMode="auto">
              <a:xfrm>
                <a:off x="3654" y="3160"/>
                <a:ext cx="672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2195" name="Text Box 37"/>
              <p:cNvSpPr txBox="1">
                <a:spLocks noChangeArrowheads="1"/>
              </p:cNvSpPr>
              <p:nvPr/>
            </p:nvSpPr>
            <p:spPr bwMode="auto">
              <a:xfrm>
                <a:off x="3912" y="3123"/>
                <a:ext cx="63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dirty="0">
                    <a:solidFill>
                      <a:schemeClr val="tx1"/>
                    </a:solidFill>
                    <a:latin typeface="宋体" charset="-122"/>
                    <a:ea typeface="宋体" charset="-122"/>
                    <a:sym typeface="Symbol" pitchFamily="18" charset="2"/>
                  </a:rPr>
                  <a:t>-</a:t>
                </a:r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sym typeface="Symbol" pitchFamily="18" charset="2"/>
                  </a:rPr>
                  <a:t> 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sym typeface="Symbol" pitchFamily="18" charset="2"/>
                  </a:rPr>
                  <a:t>(</a:t>
                </a:r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sym typeface="Symbol" pitchFamily="18" charset="2"/>
                  </a:rPr>
                  <a:t>t</a:t>
                </a:r>
                <a:r>
                  <a:rPr kumimoji="1" lang="en-US" altLang="zh-CN" sz="2000" b="0" i="1" dirty="0">
                    <a:solidFill>
                      <a:schemeClr val="tx1"/>
                    </a:solidFill>
                    <a:latin typeface="宋体" charset="-122"/>
                    <a:ea typeface="宋体" charset="-122"/>
                    <a:sym typeface="Symbol" pitchFamily="18" charset="2"/>
                  </a:rPr>
                  <a:t>-</a:t>
                </a:r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sym typeface="Symbol" pitchFamily="18" charset="2"/>
                  </a:rPr>
                  <a:t>t</a:t>
                </a:r>
                <a:r>
                  <a:rPr kumimoji="1" lang="en-US" altLang="zh-CN" sz="2000" b="0" baseline="-250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sym typeface="Symbol" pitchFamily="18" charset="2"/>
                  </a:rPr>
                  <a:t>0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sym typeface="Symbol" pitchFamily="18" charset="2"/>
                  </a:rPr>
                  <a:t>)</a:t>
                </a:r>
              </a:p>
            </p:txBody>
          </p:sp>
          <p:sp>
            <p:nvSpPr>
              <p:cNvPr id="92196" name="Line 38"/>
              <p:cNvSpPr>
                <a:spLocks noChangeShapeType="1"/>
              </p:cNvSpPr>
              <p:nvPr/>
            </p:nvSpPr>
            <p:spPr bwMode="auto">
              <a:xfrm>
                <a:off x="3135" y="2841"/>
                <a:ext cx="518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21815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959149"/>
              </p:ext>
            </p:extLst>
          </p:nvPr>
        </p:nvGraphicFramePr>
        <p:xfrm>
          <a:off x="4080256" y="4665722"/>
          <a:ext cx="3601658" cy="42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6" name="Equation" r:id="rId5" imgW="2108160" imgH="203040" progId="Equation.DSMT4">
                  <p:embed/>
                </p:oleObj>
              </mc:Choice>
              <mc:Fallback>
                <p:oleObj name="Equation" r:id="rId5" imgW="2108160" imgH="20304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256" y="4665722"/>
                        <a:ext cx="3601658" cy="42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52" name="Text Box 40"/>
          <p:cNvSpPr txBox="1">
            <a:spLocks noChangeArrowheads="1"/>
          </p:cNvSpPr>
          <p:nvPr/>
        </p:nvSpPr>
        <p:spPr bwMode="auto">
          <a:xfrm>
            <a:off x="468313" y="3632964"/>
            <a:ext cx="10080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 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</a:p>
        </p:txBody>
      </p:sp>
      <p:grpSp>
        <p:nvGrpSpPr>
          <p:cNvPr id="218153" name="Group 41"/>
          <p:cNvGrpSpPr>
            <a:grpSpLocks/>
          </p:cNvGrpSpPr>
          <p:nvPr/>
        </p:nvGrpSpPr>
        <p:grpSpPr bwMode="auto">
          <a:xfrm>
            <a:off x="1331913" y="4279900"/>
            <a:ext cx="3005137" cy="1974850"/>
            <a:chOff x="703" y="2424"/>
            <a:chExt cx="1893" cy="1244"/>
          </a:xfrm>
        </p:grpSpPr>
        <p:sp>
          <p:nvSpPr>
            <p:cNvPr id="92171" name="Line 42"/>
            <p:cNvSpPr>
              <a:spLocks noChangeShapeType="1"/>
            </p:cNvSpPr>
            <p:nvPr/>
          </p:nvSpPr>
          <p:spPr bwMode="auto">
            <a:xfrm flipV="1">
              <a:off x="878" y="3385"/>
              <a:ext cx="1684" cy="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172" name="Line 43"/>
            <p:cNvSpPr>
              <a:spLocks noChangeShapeType="1"/>
            </p:cNvSpPr>
            <p:nvPr/>
          </p:nvSpPr>
          <p:spPr bwMode="auto">
            <a:xfrm flipV="1">
              <a:off x="974" y="2478"/>
              <a:ext cx="1" cy="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173" name="Text Box 44"/>
            <p:cNvSpPr txBox="1">
              <a:spLocks noChangeArrowheads="1"/>
            </p:cNvSpPr>
            <p:nvPr/>
          </p:nvSpPr>
          <p:spPr bwMode="auto">
            <a:xfrm>
              <a:off x="1211" y="3416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2174" name="Text Box 45"/>
            <p:cNvSpPr txBox="1">
              <a:spLocks noChangeArrowheads="1"/>
            </p:cNvSpPr>
            <p:nvPr/>
          </p:nvSpPr>
          <p:spPr bwMode="auto">
            <a:xfrm>
              <a:off x="2435" y="3376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2175" name="Text Box 46"/>
            <p:cNvSpPr txBox="1">
              <a:spLocks noChangeArrowheads="1"/>
            </p:cNvSpPr>
            <p:nvPr/>
          </p:nvSpPr>
          <p:spPr bwMode="auto">
            <a:xfrm>
              <a:off x="814" y="2923"/>
              <a:ext cx="17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2176" name="Text Box 47"/>
            <p:cNvSpPr txBox="1">
              <a:spLocks noChangeArrowheads="1"/>
            </p:cNvSpPr>
            <p:nvPr/>
          </p:nvSpPr>
          <p:spPr bwMode="auto">
            <a:xfrm>
              <a:off x="907" y="2424"/>
              <a:ext cx="43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 f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92177" name="Text Box 48"/>
            <p:cNvSpPr txBox="1">
              <a:spLocks noChangeArrowheads="1"/>
            </p:cNvSpPr>
            <p:nvPr/>
          </p:nvSpPr>
          <p:spPr bwMode="auto">
            <a:xfrm>
              <a:off x="805" y="3339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92178" name="Line 49"/>
            <p:cNvSpPr>
              <a:spLocks noChangeShapeType="1"/>
            </p:cNvSpPr>
            <p:nvPr/>
          </p:nvSpPr>
          <p:spPr bwMode="auto">
            <a:xfrm flipH="1">
              <a:off x="973" y="2750"/>
              <a:ext cx="352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179" name="Line 50"/>
            <p:cNvSpPr>
              <a:spLocks noChangeShapeType="1"/>
            </p:cNvSpPr>
            <p:nvPr/>
          </p:nvSpPr>
          <p:spPr bwMode="auto">
            <a:xfrm flipH="1">
              <a:off x="975" y="3067"/>
              <a:ext cx="352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180" name="Text Box 51"/>
            <p:cNvSpPr txBox="1">
              <a:spLocks noChangeArrowheads="1"/>
            </p:cNvSpPr>
            <p:nvPr/>
          </p:nvSpPr>
          <p:spPr bwMode="auto">
            <a:xfrm>
              <a:off x="794" y="263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  <p:sp>
          <p:nvSpPr>
            <p:cNvPr id="92181" name="Line 52"/>
            <p:cNvSpPr>
              <a:spLocks noChangeShapeType="1"/>
            </p:cNvSpPr>
            <p:nvPr/>
          </p:nvSpPr>
          <p:spPr bwMode="auto">
            <a:xfrm>
              <a:off x="1338" y="2750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182" name="Line 53"/>
            <p:cNvSpPr>
              <a:spLocks noChangeShapeType="1"/>
            </p:cNvSpPr>
            <p:nvPr/>
          </p:nvSpPr>
          <p:spPr bwMode="auto">
            <a:xfrm>
              <a:off x="1338" y="2750"/>
              <a:ext cx="54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183" name="Line 54"/>
            <p:cNvSpPr>
              <a:spLocks noChangeShapeType="1"/>
            </p:cNvSpPr>
            <p:nvPr/>
          </p:nvSpPr>
          <p:spPr bwMode="auto">
            <a:xfrm>
              <a:off x="1882" y="2750"/>
              <a:ext cx="0" cy="3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184" name="Line 55"/>
            <p:cNvSpPr>
              <a:spLocks noChangeShapeType="1"/>
            </p:cNvSpPr>
            <p:nvPr/>
          </p:nvSpPr>
          <p:spPr bwMode="auto">
            <a:xfrm>
              <a:off x="1882" y="3113"/>
              <a:ext cx="3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185" name="Line 56"/>
            <p:cNvSpPr>
              <a:spLocks noChangeShapeType="1"/>
            </p:cNvSpPr>
            <p:nvPr/>
          </p:nvSpPr>
          <p:spPr bwMode="auto">
            <a:xfrm>
              <a:off x="2245" y="3113"/>
              <a:ext cx="0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186" name="Text Box 57"/>
            <p:cNvSpPr txBox="1">
              <a:spLocks noChangeArrowheads="1"/>
            </p:cNvSpPr>
            <p:nvPr/>
          </p:nvSpPr>
          <p:spPr bwMode="auto">
            <a:xfrm>
              <a:off x="2124" y="3376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4</a:t>
              </a:r>
            </a:p>
          </p:txBody>
        </p:sp>
        <p:sp>
          <p:nvSpPr>
            <p:cNvPr id="92187" name="Text Box 58"/>
            <p:cNvSpPr txBox="1">
              <a:spLocks noChangeArrowheads="1"/>
            </p:cNvSpPr>
            <p:nvPr/>
          </p:nvSpPr>
          <p:spPr bwMode="auto">
            <a:xfrm>
              <a:off x="1806" y="3376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3</a:t>
              </a:r>
            </a:p>
          </p:txBody>
        </p:sp>
        <p:sp>
          <p:nvSpPr>
            <p:cNvPr id="92188" name="Line 59"/>
            <p:cNvSpPr>
              <a:spLocks noChangeShapeType="1"/>
            </p:cNvSpPr>
            <p:nvPr/>
          </p:nvSpPr>
          <p:spPr bwMode="auto">
            <a:xfrm>
              <a:off x="1882" y="3067"/>
              <a:ext cx="0" cy="318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2189" name="Line 60"/>
            <p:cNvSpPr>
              <a:spLocks noChangeShapeType="1"/>
            </p:cNvSpPr>
            <p:nvPr/>
          </p:nvSpPr>
          <p:spPr bwMode="auto">
            <a:xfrm>
              <a:off x="703" y="3385"/>
              <a:ext cx="63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8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1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0"/>
                                        <p:tgtEl>
                                          <p:spTgt spid="21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animBg="1"/>
      <p:bldP spid="218115" grpId="0"/>
      <p:bldP spid="21815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1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914447"/>
              </p:ext>
            </p:extLst>
          </p:nvPr>
        </p:nvGraphicFramePr>
        <p:xfrm>
          <a:off x="1556201" y="3690658"/>
          <a:ext cx="63658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64" name="Equation" r:id="rId3" imgW="3288960" imgH="203040" progId="Equation.DSMT4">
                  <p:embed/>
                </p:oleObj>
              </mc:Choice>
              <mc:Fallback>
                <p:oleObj name="Equation" r:id="rId3" imgW="328896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201" y="3690658"/>
                        <a:ext cx="63658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725433" y="3658319"/>
            <a:ext cx="6351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4</a:t>
            </a:r>
          </a:p>
        </p:txBody>
      </p:sp>
      <p:grpSp>
        <p:nvGrpSpPr>
          <p:cNvPr id="219140" name="Group 4"/>
          <p:cNvGrpSpPr>
            <a:grpSpLocks/>
          </p:cNvGrpSpPr>
          <p:nvPr/>
        </p:nvGrpSpPr>
        <p:grpSpPr bwMode="auto">
          <a:xfrm>
            <a:off x="1482329" y="4732041"/>
            <a:ext cx="2841625" cy="1300163"/>
            <a:chOff x="752" y="2822"/>
            <a:chExt cx="1790" cy="819"/>
          </a:xfrm>
        </p:grpSpPr>
        <p:sp>
          <p:nvSpPr>
            <p:cNvPr id="93221" name="Line 5"/>
            <p:cNvSpPr>
              <a:spLocks noChangeShapeType="1"/>
            </p:cNvSpPr>
            <p:nvPr/>
          </p:nvSpPr>
          <p:spPr bwMode="auto">
            <a:xfrm>
              <a:off x="878" y="3398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22" name="Line 6"/>
            <p:cNvSpPr>
              <a:spLocks noChangeShapeType="1"/>
            </p:cNvSpPr>
            <p:nvPr/>
          </p:nvSpPr>
          <p:spPr bwMode="auto">
            <a:xfrm flipV="1">
              <a:off x="974" y="2822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23" name="Line 7"/>
            <p:cNvSpPr>
              <a:spLocks noChangeShapeType="1"/>
            </p:cNvSpPr>
            <p:nvPr/>
          </p:nvSpPr>
          <p:spPr bwMode="auto">
            <a:xfrm flipV="1">
              <a:off x="974" y="3014"/>
              <a:ext cx="336" cy="38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24" name="Line 8"/>
            <p:cNvSpPr>
              <a:spLocks noChangeShapeType="1"/>
            </p:cNvSpPr>
            <p:nvPr/>
          </p:nvSpPr>
          <p:spPr bwMode="auto">
            <a:xfrm>
              <a:off x="1310" y="3014"/>
              <a:ext cx="86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25" name="Line 9"/>
            <p:cNvSpPr>
              <a:spLocks noChangeShapeType="1"/>
            </p:cNvSpPr>
            <p:nvPr/>
          </p:nvSpPr>
          <p:spPr bwMode="auto">
            <a:xfrm>
              <a:off x="1310" y="3014"/>
              <a:ext cx="0" cy="384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26" name="Text Box 10"/>
            <p:cNvSpPr txBox="1">
              <a:spLocks noChangeArrowheads="1"/>
            </p:cNvSpPr>
            <p:nvPr/>
          </p:nvSpPr>
          <p:spPr bwMode="auto">
            <a:xfrm>
              <a:off x="1211" y="3380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3227" name="Text Box 11"/>
            <p:cNvSpPr txBox="1">
              <a:spLocks noChangeArrowheads="1"/>
            </p:cNvSpPr>
            <p:nvPr/>
          </p:nvSpPr>
          <p:spPr bwMode="auto">
            <a:xfrm>
              <a:off x="2161" y="3389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3228" name="Text Box 12"/>
            <p:cNvSpPr txBox="1">
              <a:spLocks noChangeArrowheads="1"/>
            </p:cNvSpPr>
            <p:nvPr/>
          </p:nvSpPr>
          <p:spPr bwMode="auto">
            <a:xfrm>
              <a:off x="779" y="2909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3229" name="Text Box 13"/>
            <p:cNvSpPr txBox="1">
              <a:spLocks noChangeArrowheads="1"/>
            </p:cNvSpPr>
            <p:nvPr/>
          </p:nvSpPr>
          <p:spPr bwMode="auto">
            <a:xfrm>
              <a:off x="2109" y="2888"/>
              <a:ext cx="43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 f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93230" name="Text Box 14"/>
            <p:cNvSpPr txBox="1">
              <a:spLocks noChangeArrowheads="1"/>
            </p:cNvSpPr>
            <p:nvPr/>
          </p:nvSpPr>
          <p:spPr bwMode="auto">
            <a:xfrm>
              <a:off x="752" y="3362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93231" name="Line 15"/>
            <p:cNvSpPr>
              <a:spLocks noChangeShapeType="1"/>
            </p:cNvSpPr>
            <p:nvPr/>
          </p:nvSpPr>
          <p:spPr bwMode="auto">
            <a:xfrm flipH="1">
              <a:off x="973" y="3014"/>
              <a:ext cx="352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19153" name="Group 17"/>
          <p:cNvGrpSpPr>
            <a:grpSpLocks/>
          </p:cNvGrpSpPr>
          <p:nvPr/>
        </p:nvGrpSpPr>
        <p:grpSpPr bwMode="auto">
          <a:xfrm>
            <a:off x="1188642" y="5625802"/>
            <a:ext cx="3689350" cy="971550"/>
            <a:chOff x="2740" y="3222"/>
            <a:chExt cx="2324" cy="612"/>
          </a:xfrm>
        </p:grpSpPr>
        <p:grpSp>
          <p:nvGrpSpPr>
            <p:cNvPr id="93217" name="Group 18"/>
            <p:cNvGrpSpPr>
              <a:grpSpLocks/>
            </p:cNvGrpSpPr>
            <p:nvPr/>
          </p:nvGrpSpPr>
          <p:grpSpPr bwMode="auto">
            <a:xfrm>
              <a:off x="2740" y="3222"/>
              <a:ext cx="1320" cy="612"/>
              <a:chOff x="456" y="864"/>
              <a:chExt cx="1320" cy="612"/>
            </a:xfrm>
          </p:grpSpPr>
          <p:sp>
            <p:nvSpPr>
              <p:cNvPr id="93219" name="Line 19"/>
              <p:cNvSpPr>
                <a:spLocks noChangeShapeType="1"/>
              </p:cNvSpPr>
              <p:nvPr/>
            </p:nvSpPr>
            <p:spPr bwMode="auto">
              <a:xfrm>
                <a:off x="1212" y="864"/>
                <a:ext cx="564" cy="612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3220" name="Line 20"/>
              <p:cNvSpPr>
                <a:spLocks noChangeShapeType="1"/>
              </p:cNvSpPr>
              <p:nvPr/>
            </p:nvSpPr>
            <p:spPr bwMode="auto">
              <a:xfrm>
                <a:off x="456" y="876"/>
                <a:ext cx="756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aphicFrame>
          <p:nvGraphicFramePr>
            <p:cNvPr id="93218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8020859"/>
                </p:ext>
              </p:extLst>
            </p:nvPr>
          </p:nvGraphicFramePr>
          <p:xfrm>
            <a:off x="4061" y="3598"/>
            <a:ext cx="1003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065" name="Equation" r:id="rId5" imgW="888840" imgH="203040" progId="Equation.DSMT4">
                    <p:embed/>
                  </p:oleObj>
                </mc:Choice>
                <mc:Fallback>
                  <p:oleObj name="Equation" r:id="rId5" imgW="888840" imgH="20304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1" y="3598"/>
                          <a:ext cx="1003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9158" name="Group 22"/>
          <p:cNvGrpSpPr>
            <a:grpSpLocks/>
          </p:cNvGrpSpPr>
          <p:nvPr/>
        </p:nvGrpSpPr>
        <p:grpSpPr bwMode="auto">
          <a:xfrm>
            <a:off x="1115616" y="4257377"/>
            <a:ext cx="2546350" cy="1371600"/>
            <a:chOff x="372" y="0"/>
            <a:chExt cx="1604" cy="864"/>
          </a:xfrm>
        </p:grpSpPr>
        <p:grpSp>
          <p:nvGrpSpPr>
            <p:cNvPr id="93213" name="Group 23"/>
            <p:cNvGrpSpPr>
              <a:grpSpLocks/>
            </p:cNvGrpSpPr>
            <p:nvPr/>
          </p:nvGrpSpPr>
          <p:grpSpPr bwMode="auto">
            <a:xfrm>
              <a:off x="372" y="0"/>
              <a:ext cx="1248" cy="864"/>
              <a:chOff x="372" y="0"/>
              <a:chExt cx="1248" cy="864"/>
            </a:xfrm>
          </p:grpSpPr>
          <p:sp>
            <p:nvSpPr>
              <p:cNvPr id="93215" name="Line 24"/>
              <p:cNvSpPr>
                <a:spLocks noChangeShapeType="1"/>
              </p:cNvSpPr>
              <p:nvPr/>
            </p:nvSpPr>
            <p:spPr bwMode="auto">
              <a:xfrm flipV="1">
                <a:off x="864" y="0"/>
                <a:ext cx="756" cy="864"/>
              </a:xfrm>
              <a:prstGeom prst="line">
                <a:avLst/>
              </a:prstGeom>
              <a:noFill/>
              <a:ln w="2857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3216" name="Line 25"/>
              <p:cNvSpPr>
                <a:spLocks noChangeShapeType="1"/>
              </p:cNvSpPr>
              <p:nvPr/>
            </p:nvSpPr>
            <p:spPr bwMode="auto">
              <a:xfrm>
                <a:off x="372" y="852"/>
                <a:ext cx="492" cy="0"/>
              </a:xfrm>
              <a:prstGeom prst="line">
                <a:avLst/>
              </a:prstGeom>
              <a:noFill/>
              <a:ln w="28575">
                <a:solidFill>
                  <a:srgbClr val="66FF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aphicFrame>
          <p:nvGraphicFramePr>
            <p:cNvPr id="93214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9283959"/>
                </p:ext>
              </p:extLst>
            </p:nvPr>
          </p:nvGraphicFramePr>
          <p:xfrm>
            <a:off x="1597" y="23"/>
            <a:ext cx="379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066" name="Equation" r:id="rId7" imgW="330120" imgH="203040" progId="Equation.DSMT4">
                    <p:embed/>
                  </p:oleObj>
                </mc:Choice>
                <mc:Fallback>
                  <p:oleObj name="Equation" r:id="rId7" imgW="330120" imgH="20304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7" y="23"/>
                          <a:ext cx="379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91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039355"/>
              </p:ext>
            </p:extLst>
          </p:nvPr>
        </p:nvGraphicFramePr>
        <p:xfrm>
          <a:off x="1174860" y="545231"/>
          <a:ext cx="40941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67" name="Equation" r:id="rId9" imgW="2400120" imgH="203040" progId="Equation.DSMT4">
                  <p:embed/>
                </p:oleObj>
              </mc:Choice>
              <mc:Fallback>
                <p:oleObj name="Equation" r:id="rId9" imgW="2400120" imgH="2030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860" y="545231"/>
                        <a:ext cx="409416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64" name="Text Box 28"/>
          <p:cNvSpPr txBox="1">
            <a:spLocks noChangeArrowheads="1"/>
          </p:cNvSpPr>
          <p:nvPr/>
        </p:nvSpPr>
        <p:spPr bwMode="auto">
          <a:xfrm>
            <a:off x="539750" y="525357"/>
            <a:ext cx="6351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</a:t>
            </a:r>
          </a:p>
        </p:txBody>
      </p:sp>
      <p:grpSp>
        <p:nvGrpSpPr>
          <p:cNvPr id="219165" name="Group 29"/>
          <p:cNvGrpSpPr>
            <a:grpSpLocks/>
          </p:cNvGrpSpPr>
          <p:nvPr/>
        </p:nvGrpSpPr>
        <p:grpSpPr bwMode="auto">
          <a:xfrm>
            <a:off x="1523224" y="1156996"/>
            <a:ext cx="2852738" cy="1874838"/>
            <a:chOff x="1038" y="410"/>
            <a:chExt cx="1797" cy="1181"/>
          </a:xfrm>
        </p:grpSpPr>
        <p:sp>
          <p:nvSpPr>
            <p:cNvPr id="93195" name="Line 30"/>
            <p:cNvSpPr>
              <a:spLocks noChangeShapeType="1"/>
            </p:cNvSpPr>
            <p:nvPr/>
          </p:nvSpPr>
          <p:spPr bwMode="auto">
            <a:xfrm flipV="1">
              <a:off x="1111" y="1344"/>
              <a:ext cx="17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196" name="Line 31"/>
            <p:cNvSpPr>
              <a:spLocks noChangeShapeType="1"/>
            </p:cNvSpPr>
            <p:nvPr/>
          </p:nvSpPr>
          <p:spPr bwMode="auto">
            <a:xfrm flipV="1">
              <a:off x="1212" y="437"/>
              <a:ext cx="1" cy="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197" name="Text Box 32"/>
            <p:cNvSpPr txBox="1">
              <a:spLocks noChangeArrowheads="1"/>
            </p:cNvSpPr>
            <p:nvPr/>
          </p:nvSpPr>
          <p:spPr bwMode="auto">
            <a:xfrm>
              <a:off x="1467" y="1330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3198" name="Text Box 33"/>
            <p:cNvSpPr txBox="1">
              <a:spLocks noChangeArrowheads="1"/>
            </p:cNvSpPr>
            <p:nvPr/>
          </p:nvSpPr>
          <p:spPr bwMode="auto">
            <a:xfrm>
              <a:off x="2673" y="1335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3199" name="Text Box 34"/>
            <p:cNvSpPr txBox="1">
              <a:spLocks noChangeArrowheads="1"/>
            </p:cNvSpPr>
            <p:nvPr/>
          </p:nvSpPr>
          <p:spPr bwMode="auto">
            <a:xfrm>
              <a:off x="1038" y="909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3200" name="Text Box 35"/>
            <p:cNvSpPr txBox="1">
              <a:spLocks noChangeArrowheads="1"/>
            </p:cNvSpPr>
            <p:nvPr/>
          </p:nvSpPr>
          <p:spPr bwMode="auto">
            <a:xfrm>
              <a:off x="1598" y="410"/>
              <a:ext cx="43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 f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93201" name="Text Box 36"/>
            <p:cNvSpPr txBox="1">
              <a:spLocks noChangeArrowheads="1"/>
            </p:cNvSpPr>
            <p:nvPr/>
          </p:nvSpPr>
          <p:spPr bwMode="auto">
            <a:xfrm>
              <a:off x="1038" y="1317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93202" name="Line 37"/>
            <p:cNvSpPr>
              <a:spLocks noChangeShapeType="1"/>
            </p:cNvSpPr>
            <p:nvPr/>
          </p:nvSpPr>
          <p:spPr bwMode="auto">
            <a:xfrm flipH="1">
              <a:off x="1211" y="709"/>
              <a:ext cx="352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03" name="Text Box 38"/>
            <p:cNvSpPr txBox="1">
              <a:spLocks noChangeArrowheads="1"/>
            </p:cNvSpPr>
            <p:nvPr/>
          </p:nvSpPr>
          <p:spPr bwMode="auto">
            <a:xfrm>
              <a:off x="1038" y="591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  <p:sp>
          <p:nvSpPr>
            <p:cNvPr id="93204" name="Line 39"/>
            <p:cNvSpPr>
              <a:spLocks noChangeShapeType="1"/>
            </p:cNvSpPr>
            <p:nvPr/>
          </p:nvSpPr>
          <p:spPr bwMode="auto">
            <a:xfrm flipH="1">
              <a:off x="1575" y="709"/>
              <a:ext cx="1" cy="3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05" name="Line 40"/>
            <p:cNvSpPr>
              <a:spLocks noChangeShapeType="1"/>
            </p:cNvSpPr>
            <p:nvPr/>
          </p:nvSpPr>
          <p:spPr bwMode="auto">
            <a:xfrm>
              <a:off x="1576" y="709"/>
              <a:ext cx="54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06" name="Line 41"/>
            <p:cNvSpPr>
              <a:spLocks noChangeShapeType="1"/>
            </p:cNvSpPr>
            <p:nvPr/>
          </p:nvSpPr>
          <p:spPr bwMode="auto">
            <a:xfrm>
              <a:off x="2120" y="709"/>
              <a:ext cx="0" cy="3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07" name="Line 42"/>
            <p:cNvSpPr>
              <a:spLocks noChangeShapeType="1"/>
            </p:cNvSpPr>
            <p:nvPr/>
          </p:nvSpPr>
          <p:spPr bwMode="auto">
            <a:xfrm>
              <a:off x="2120" y="1072"/>
              <a:ext cx="3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08" name="Line 43"/>
            <p:cNvSpPr>
              <a:spLocks noChangeShapeType="1"/>
            </p:cNvSpPr>
            <p:nvPr/>
          </p:nvSpPr>
          <p:spPr bwMode="auto">
            <a:xfrm>
              <a:off x="2483" y="1072"/>
              <a:ext cx="0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09" name="Text Box 44"/>
            <p:cNvSpPr txBox="1">
              <a:spLocks noChangeArrowheads="1"/>
            </p:cNvSpPr>
            <p:nvPr/>
          </p:nvSpPr>
          <p:spPr bwMode="auto">
            <a:xfrm>
              <a:off x="2362" y="1335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4</a:t>
              </a:r>
            </a:p>
          </p:txBody>
        </p:sp>
        <p:sp>
          <p:nvSpPr>
            <p:cNvPr id="93210" name="Text Box 45"/>
            <p:cNvSpPr txBox="1">
              <a:spLocks noChangeArrowheads="1"/>
            </p:cNvSpPr>
            <p:nvPr/>
          </p:nvSpPr>
          <p:spPr bwMode="auto">
            <a:xfrm>
              <a:off x="2044" y="1333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3</a:t>
              </a:r>
            </a:p>
          </p:txBody>
        </p:sp>
        <p:sp>
          <p:nvSpPr>
            <p:cNvPr id="93211" name="Line 46"/>
            <p:cNvSpPr>
              <a:spLocks noChangeShapeType="1"/>
            </p:cNvSpPr>
            <p:nvPr/>
          </p:nvSpPr>
          <p:spPr bwMode="auto">
            <a:xfrm>
              <a:off x="2120" y="1026"/>
              <a:ext cx="0" cy="318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3212" name="Line 47"/>
            <p:cNvSpPr>
              <a:spLocks noChangeShapeType="1"/>
            </p:cNvSpPr>
            <p:nvPr/>
          </p:nvSpPr>
          <p:spPr bwMode="auto">
            <a:xfrm>
              <a:off x="1213" y="1026"/>
              <a:ext cx="3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8" name="Text Box 32"/>
            <p:cNvSpPr txBox="1">
              <a:spLocks noChangeArrowheads="1"/>
            </p:cNvSpPr>
            <p:nvPr/>
          </p:nvSpPr>
          <p:spPr bwMode="auto">
            <a:xfrm>
              <a:off x="1764" y="1339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1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21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/>
      <p:bldP spid="21916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1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206027"/>
              </p:ext>
            </p:extLst>
          </p:nvPr>
        </p:nvGraphicFramePr>
        <p:xfrm>
          <a:off x="946150" y="3675971"/>
          <a:ext cx="1470874" cy="408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1" name="Equation" r:id="rId3" imgW="660240" imgH="190440" progId="Equation.DSMT4">
                  <p:embed/>
                </p:oleObj>
              </mc:Choice>
              <mc:Fallback>
                <p:oleObj name="Equation" r:id="rId3" imgW="660240" imgH="1904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3675971"/>
                        <a:ext cx="1470874" cy="408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3" name="Text Box 3"/>
          <p:cNvSpPr txBox="1">
            <a:spLocks noChangeArrowheads="1"/>
          </p:cNvSpPr>
          <p:nvPr/>
        </p:nvSpPr>
        <p:spPr bwMode="auto">
          <a:xfrm>
            <a:off x="527568" y="625330"/>
            <a:ext cx="7320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5</a:t>
            </a:r>
          </a:p>
        </p:txBody>
      </p:sp>
      <p:grpSp>
        <p:nvGrpSpPr>
          <p:cNvPr id="220164" name="Group 4"/>
          <p:cNvGrpSpPr>
            <a:grpSpLocks/>
          </p:cNvGrpSpPr>
          <p:nvPr/>
        </p:nvGrpSpPr>
        <p:grpSpPr bwMode="auto">
          <a:xfrm>
            <a:off x="3959609" y="1687513"/>
            <a:ext cx="2000250" cy="1984375"/>
            <a:chOff x="2608" y="1063"/>
            <a:chExt cx="1260" cy="1250"/>
          </a:xfrm>
        </p:grpSpPr>
        <p:sp>
          <p:nvSpPr>
            <p:cNvPr id="94261" name="Line 5"/>
            <p:cNvSpPr>
              <a:spLocks noChangeShapeType="1"/>
            </p:cNvSpPr>
            <p:nvPr/>
          </p:nvSpPr>
          <p:spPr bwMode="auto">
            <a:xfrm>
              <a:off x="2608" y="2069"/>
              <a:ext cx="122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62" name="Line 6"/>
            <p:cNvSpPr>
              <a:spLocks noChangeShapeType="1"/>
            </p:cNvSpPr>
            <p:nvPr/>
          </p:nvSpPr>
          <p:spPr bwMode="auto">
            <a:xfrm flipV="1">
              <a:off x="2915" y="1163"/>
              <a:ext cx="1" cy="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63" name="Text Box 7"/>
            <p:cNvSpPr txBox="1">
              <a:spLocks noChangeArrowheads="1"/>
            </p:cNvSpPr>
            <p:nvPr/>
          </p:nvSpPr>
          <p:spPr bwMode="auto">
            <a:xfrm>
              <a:off x="3707" y="2061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4264" name="Text Box 8"/>
            <p:cNvSpPr txBox="1">
              <a:spLocks noChangeArrowheads="1"/>
            </p:cNvSpPr>
            <p:nvPr/>
          </p:nvSpPr>
          <p:spPr bwMode="auto">
            <a:xfrm>
              <a:off x="2719" y="1245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4265" name="Text Box 9"/>
            <p:cNvSpPr txBox="1">
              <a:spLocks noChangeArrowheads="1"/>
            </p:cNvSpPr>
            <p:nvPr/>
          </p:nvSpPr>
          <p:spPr bwMode="auto">
            <a:xfrm>
              <a:off x="3016" y="1063"/>
              <a:ext cx="23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 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4266" name="Text Box 10"/>
            <p:cNvSpPr txBox="1">
              <a:spLocks noChangeArrowheads="1"/>
            </p:cNvSpPr>
            <p:nvPr/>
          </p:nvSpPr>
          <p:spPr bwMode="auto">
            <a:xfrm>
              <a:off x="2735" y="202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94267" name="Text Box 11"/>
            <p:cNvSpPr txBox="1">
              <a:spLocks noChangeArrowheads="1"/>
            </p:cNvSpPr>
            <p:nvPr/>
          </p:nvSpPr>
          <p:spPr bwMode="auto">
            <a:xfrm>
              <a:off x="3445" y="202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  <p:sp>
          <p:nvSpPr>
            <p:cNvPr id="94268" name="Line 12"/>
            <p:cNvSpPr>
              <a:spLocks noChangeShapeType="1"/>
            </p:cNvSpPr>
            <p:nvPr/>
          </p:nvSpPr>
          <p:spPr bwMode="auto">
            <a:xfrm>
              <a:off x="2916" y="1389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220173" name="Text Box 13"/>
          <p:cNvSpPr txBox="1">
            <a:spLocks noChangeArrowheads="1"/>
          </p:cNvSpPr>
          <p:nvPr/>
        </p:nvSpPr>
        <p:spPr bwMode="auto">
          <a:xfrm>
            <a:off x="1259632" y="591071"/>
            <a:ext cx="68397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已知电压</a:t>
            </a:r>
            <a:r>
              <a:rPr lang="en-US" altLang="zh-CN" sz="2000" b="0" i="1" dirty="0">
                <a:solidFill>
                  <a:schemeClr val="tx1"/>
                </a:solidFill>
                <a:latin typeface="Times New Roman" pitchFamily="18" charset="0"/>
              </a:rPr>
              <a:t>v</a:t>
            </a:r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(t)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的波形如图，试画出下列电压的波形。</a:t>
            </a:r>
          </a:p>
        </p:txBody>
      </p:sp>
      <p:graphicFrame>
        <p:nvGraphicFramePr>
          <p:cNvPr id="2201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486476"/>
              </p:ext>
            </p:extLst>
          </p:nvPr>
        </p:nvGraphicFramePr>
        <p:xfrm>
          <a:off x="884238" y="5804809"/>
          <a:ext cx="2162969" cy="360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2" name="Equation" r:id="rId5" imgW="1002960" imgH="190440" progId="Equation.DSMT4">
                  <p:embed/>
                </p:oleObj>
              </mc:Choice>
              <mc:Fallback>
                <p:oleObj name="Equation" r:id="rId5" imgW="1002960" imgH="1904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5804809"/>
                        <a:ext cx="2162969" cy="360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291829"/>
              </p:ext>
            </p:extLst>
          </p:nvPr>
        </p:nvGraphicFramePr>
        <p:xfrm>
          <a:off x="893763" y="5115834"/>
          <a:ext cx="2063902" cy="394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3" name="Equation" r:id="rId7" imgW="977760" imgH="190440" progId="Equation.DSMT4">
                  <p:embed/>
                </p:oleObj>
              </mc:Choice>
              <mc:Fallback>
                <p:oleObj name="Equation" r:id="rId7" imgW="977760" imgH="1904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5115834"/>
                        <a:ext cx="2063902" cy="394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218452"/>
              </p:ext>
            </p:extLst>
          </p:nvPr>
        </p:nvGraphicFramePr>
        <p:xfrm>
          <a:off x="922338" y="4396696"/>
          <a:ext cx="1803850" cy="393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84" name="Equation" r:id="rId9" imgW="850680" imgH="190440" progId="Equation.DSMT4">
                  <p:embed/>
                </p:oleObj>
              </mc:Choice>
              <mc:Fallback>
                <p:oleObj name="Equation" r:id="rId9" imgW="850680" imgH="1904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4396696"/>
                        <a:ext cx="1803850" cy="393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0177" name="Group 17"/>
          <p:cNvGrpSpPr>
            <a:grpSpLocks/>
          </p:cNvGrpSpPr>
          <p:nvPr/>
        </p:nvGrpSpPr>
        <p:grpSpPr bwMode="auto">
          <a:xfrm>
            <a:off x="539552" y="1223177"/>
            <a:ext cx="2838450" cy="2043113"/>
            <a:chOff x="434" y="255"/>
            <a:chExt cx="1788" cy="1287"/>
          </a:xfrm>
        </p:grpSpPr>
        <p:sp>
          <p:nvSpPr>
            <p:cNvPr id="94251" name="Line 18"/>
            <p:cNvSpPr>
              <a:spLocks noChangeShapeType="1"/>
            </p:cNvSpPr>
            <p:nvPr/>
          </p:nvSpPr>
          <p:spPr bwMode="auto">
            <a:xfrm>
              <a:off x="476" y="1298"/>
              <a:ext cx="171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52" name="Line 19"/>
            <p:cNvSpPr>
              <a:spLocks noChangeShapeType="1"/>
            </p:cNvSpPr>
            <p:nvPr/>
          </p:nvSpPr>
          <p:spPr bwMode="auto">
            <a:xfrm flipV="1">
              <a:off x="1269" y="392"/>
              <a:ext cx="1" cy="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53" name="Text Box 20"/>
            <p:cNvSpPr txBox="1">
              <a:spLocks noChangeArrowheads="1"/>
            </p:cNvSpPr>
            <p:nvPr/>
          </p:nvSpPr>
          <p:spPr bwMode="auto">
            <a:xfrm>
              <a:off x="2061" y="1290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4254" name="Text Box 21"/>
            <p:cNvSpPr txBox="1">
              <a:spLocks noChangeArrowheads="1"/>
            </p:cNvSpPr>
            <p:nvPr/>
          </p:nvSpPr>
          <p:spPr bwMode="auto">
            <a:xfrm>
              <a:off x="1050" y="47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4255" name="Text Box 22"/>
            <p:cNvSpPr txBox="1">
              <a:spLocks noChangeArrowheads="1"/>
            </p:cNvSpPr>
            <p:nvPr/>
          </p:nvSpPr>
          <p:spPr bwMode="auto">
            <a:xfrm>
              <a:off x="1194" y="255"/>
              <a:ext cx="4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 v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  <p:sp>
          <p:nvSpPr>
            <p:cNvPr id="94256" name="Text Box 23"/>
            <p:cNvSpPr txBox="1">
              <a:spLocks noChangeArrowheads="1"/>
            </p:cNvSpPr>
            <p:nvPr/>
          </p:nvSpPr>
          <p:spPr bwMode="auto">
            <a:xfrm>
              <a:off x="1099" y="1256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94257" name="Text Box 24"/>
            <p:cNvSpPr txBox="1">
              <a:spLocks noChangeArrowheads="1"/>
            </p:cNvSpPr>
            <p:nvPr/>
          </p:nvSpPr>
          <p:spPr bwMode="auto">
            <a:xfrm>
              <a:off x="434" y="1253"/>
              <a:ext cx="35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－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  <p:sp>
          <p:nvSpPr>
            <p:cNvPr id="94258" name="Text Box 25"/>
            <p:cNvSpPr txBox="1">
              <a:spLocks noChangeArrowheads="1"/>
            </p:cNvSpPr>
            <p:nvPr/>
          </p:nvSpPr>
          <p:spPr bwMode="auto">
            <a:xfrm>
              <a:off x="1821" y="1253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  <p:sp>
          <p:nvSpPr>
            <p:cNvPr id="94259" name="Line 26"/>
            <p:cNvSpPr>
              <a:spLocks noChangeShapeType="1"/>
            </p:cNvSpPr>
            <p:nvPr/>
          </p:nvSpPr>
          <p:spPr bwMode="auto">
            <a:xfrm flipV="1">
              <a:off x="635" y="618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60" name="Line 27"/>
            <p:cNvSpPr>
              <a:spLocks noChangeShapeType="1"/>
            </p:cNvSpPr>
            <p:nvPr/>
          </p:nvSpPr>
          <p:spPr bwMode="auto">
            <a:xfrm>
              <a:off x="1270" y="618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20188" name="Group 28"/>
          <p:cNvGrpSpPr>
            <a:grpSpLocks/>
          </p:cNvGrpSpPr>
          <p:nvPr/>
        </p:nvGrpSpPr>
        <p:grpSpPr bwMode="auto">
          <a:xfrm>
            <a:off x="6432934" y="1687512"/>
            <a:ext cx="2574925" cy="1984375"/>
            <a:chOff x="3923" y="972"/>
            <a:chExt cx="1622" cy="1250"/>
          </a:xfrm>
        </p:grpSpPr>
        <p:sp>
          <p:nvSpPr>
            <p:cNvPr id="94241" name="Line 29"/>
            <p:cNvSpPr>
              <a:spLocks noChangeShapeType="1"/>
            </p:cNvSpPr>
            <p:nvPr/>
          </p:nvSpPr>
          <p:spPr bwMode="auto">
            <a:xfrm flipV="1">
              <a:off x="3923" y="1979"/>
              <a:ext cx="1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42" name="Line 30"/>
            <p:cNvSpPr>
              <a:spLocks noChangeShapeType="1"/>
            </p:cNvSpPr>
            <p:nvPr/>
          </p:nvSpPr>
          <p:spPr bwMode="auto">
            <a:xfrm flipV="1">
              <a:off x="4367" y="1072"/>
              <a:ext cx="1" cy="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43" name="Text Box 31"/>
            <p:cNvSpPr txBox="1">
              <a:spLocks noChangeArrowheads="1"/>
            </p:cNvSpPr>
            <p:nvPr/>
          </p:nvSpPr>
          <p:spPr bwMode="auto">
            <a:xfrm>
              <a:off x="5384" y="1970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44" name="Text Box 32"/>
            <p:cNvSpPr txBox="1">
              <a:spLocks noChangeArrowheads="1"/>
            </p:cNvSpPr>
            <p:nvPr/>
          </p:nvSpPr>
          <p:spPr bwMode="auto">
            <a:xfrm>
              <a:off x="4065" y="115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45" name="Text Box 33"/>
            <p:cNvSpPr txBox="1">
              <a:spLocks noChangeArrowheads="1"/>
            </p:cNvSpPr>
            <p:nvPr/>
          </p:nvSpPr>
          <p:spPr bwMode="auto">
            <a:xfrm>
              <a:off x="4468" y="972"/>
              <a:ext cx="23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 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46" name="Text Box 34"/>
            <p:cNvSpPr txBox="1">
              <a:spLocks noChangeArrowheads="1"/>
            </p:cNvSpPr>
            <p:nvPr/>
          </p:nvSpPr>
          <p:spPr bwMode="auto">
            <a:xfrm>
              <a:off x="4156" y="1970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48" name="Text Box 36"/>
            <p:cNvSpPr txBox="1">
              <a:spLocks noChangeArrowheads="1"/>
            </p:cNvSpPr>
            <p:nvPr/>
          </p:nvSpPr>
          <p:spPr bwMode="auto">
            <a:xfrm>
              <a:off x="4619" y="1970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49" name="Line 37"/>
            <p:cNvSpPr>
              <a:spLocks noChangeShapeType="1"/>
            </p:cNvSpPr>
            <p:nvPr/>
          </p:nvSpPr>
          <p:spPr bwMode="auto">
            <a:xfrm flipV="1">
              <a:off x="4377" y="1298"/>
              <a:ext cx="317" cy="3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50" name="Line 38"/>
            <p:cNvSpPr>
              <a:spLocks noChangeShapeType="1"/>
            </p:cNvSpPr>
            <p:nvPr/>
          </p:nvSpPr>
          <p:spPr bwMode="auto">
            <a:xfrm>
              <a:off x="4694" y="1298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20199" name="Group 39"/>
          <p:cNvGrpSpPr>
            <a:grpSpLocks/>
          </p:cNvGrpSpPr>
          <p:nvPr/>
        </p:nvGrpSpPr>
        <p:grpSpPr bwMode="auto">
          <a:xfrm>
            <a:off x="3726681" y="4064001"/>
            <a:ext cx="2244725" cy="1984375"/>
            <a:chOff x="2453" y="2515"/>
            <a:chExt cx="1414" cy="1250"/>
          </a:xfrm>
        </p:grpSpPr>
        <p:sp>
          <p:nvSpPr>
            <p:cNvPr id="94232" name="Line 40"/>
            <p:cNvSpPr>
              <a:spLocks noChangeShapeType="1"/>
            </p:cNvSpPr>
            <p:nvPr/>
          </p:nvSpPr>
          <p:spPr bwMode="auto">
            <a:xfrm>
              <a:off x="2562" y="3521"/>
              <a:ext cx="122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33" name="Line 41"/>
            <p:cNvSpPr>
              <a:spLocks noChangeShapeType="1"/>
            </p:cNvSpPr>
            <p:nvPr/>
          </p:nvSpPr>
          <p:spPr bwMode="auto">
            <a:xfrm flipV="1">
              <a:off x="2689" y="2615"/>
              <a:ext cx="1" cy="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34" name="Text Box 42"/>
            <p:cNvSpPr txBox="1">
              <a:spLocks noChangeArrowheads="1"/>
            </p:cNvSpPr>
            <p:nvPr/>
          </p:nvSpPr>
          <p:spPr bwMode="auto">
            <a:xfrm>
              <a:off x="3706" y="3513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35" name="Text Box 43"/>
            <p:cNvSpPr txBox="1">
              <a:spLocks noChangeArrowheads="1"/>
            </p:cNvSpPr>
            <p:nvPr/>
          </p:nvSpPr>
          <p:spPr bwMode="auto">
            <a:xfrm>
              <a:off x="2453" y="2750"/>
              <a:ext cx="23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1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36" name="Text Box 44"/>
            <p:cNvSpPr txBox="1">
              <a:spLocks noChangeArrowheads="1"/>
            </p:cNvSpPr>
            <p:nvPr/>
          </p:nvSpPr>
          <p:spPr bwMode="auto">
            <a:xfrm>
              <a:off x="2790" y="2515"/>
              <a:ext cx="23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 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37" name="Text Box 45"/>
            <p:cNvSpPr txBox="1">
              <a:spLocks noChangeArrowheads="1"/>
            </p:cNvSpPr>
            <p:nvPr/>
          </p:nvSpPr>
          <p:spPr bwMode="auto">
            <a:xfrm>
              <a:off x="2508" y="3476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2000" b="0" dirty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38" name="Text Box 46"/>
            <p:cNvSpPr txBox="1">
              <a:spLocks noChangeArrowheads="1"/>
            </p:cNvSpPr>
            <p:nvPr/>
          </p:nvSpPr>
          <p:spPr bwMode="auto">
            <a:xfrm>
              <a:off x="2941" y="3513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39" name="Line 47"/>
            <p:cNvSpPr>
              <a:spLocks noChangeShapeType="1"/>
            </p:cNvSpPr>
            <p:nvPr/>
          </p:nvSpPr>
          <p:spPr bwMode="auto">
            <a:xfrm>
              <a:off x="3016" y="2841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40" name="Line 48"/>
            <p:cNvSpPr>
              <a:spLocks noChangeShapeType="1"/>
            </p:cNvSpPr>
            <p:nvPr/>
          </p:nvSpPr>
          <p:spPr bwMode="auto">
            <a:xfrm>
              <a:off x="3016" y="2840"/>
              <a:ext cx="0" cy="6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20209" name="Group 49"/>
          <p:cNvGrpSpPr>
            <a:grpSpLocks/>
          </p:cNvGrpSpPr>
          <p:nvPr/>
        </p:nvGrpSpPr>
        <p:grpSpPr bwMode="auto">
          <a:xfrm>
            <a:off x="6312346" y="4135438"/>
            <a:ext cx="2724150" cy="1911350"/>
            <a:chOff x="3826" y="2605"/>
            <a:chExt cx="1716" cy="1204"/>
          </a:xfrm>
        </p:grpSpPr>
        <p:sp>
          <p:nvSpPr>
            <p:cNvPr id="94221" name="Text Box 50"/>
            <p:cNvSpPr txBox="1">
              <a:spLocks noChangeArrowheads="1"/>
            </p:cNvSpPr>
            <p:nvPr/>
          </p:nvSpPr>
          <p:spPr bwMode="auto">
            <a:xfrm>
              <a:off x="4114" y="2605"/>
              <a:ext cx="23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 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22" name="Line 51"/>
            <p:cNvSpPr>
              <a:spLocks noChangeShapeType="1"/>
            </p:cNvSpPr>
            <p:nvPr/>
          </p:nvSpPr>
          <p:spPr bwMode="auto">
            <a:xfrm>
              <a:off x="3887" y="3566"/>
              <a:ext cx="16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23" name="Line 52"/>
            <p:cNvSpPr>
              <a:spLocks noChangeShapeType="1"/>
            </p:cNvSpPr>
            <p:nvPr/>
          </p:nvSpPr>
          <p:spPr bwMode="auto">
            <a:xfrm flipV="1">
              <a:off x="4013" y="2660"/>
              <a:ext cx="1" cy="1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24" name="Text Box 53"/>
            <p:cNvSpPr txBox="1">
              <a:spLocks noChangeArrowheads="1"/>
            </p:cNvSpPr>
            <p:nvPr/>
          </p:nvSpPr>
          <p:spPr bwMode="auto">
            <a:xfrm>
              <a:off x="5373" y="3557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lang="en-US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25" name="Text Box 54"/>
            <p:cNvSpPr txBox="1">
              <a:spLocks noChangeArrowheads="1"/>
            </p:cNvSpPr>
            <p:nvPr/>
          </p:nvSpPr>
          <p:spPr bwMode="auto">
            <a:xfrm>
              <a:off x="3826" y="2750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  <a:endParaRPr lang="en-US" altLang="zh-CN" sz="2000" b="0" dirty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26" name="Text Box 55"/>
            <p:cNvSpPr txBox="1">
              <a:spLocks noChangeArrowheads="1"/>
            </p:cNvSpPr>
            <p:nvPr/>
          </p:nvSpPr>
          <p:spPr bwMode="auto">
            <a:xfrm>
              <a:off x="3841" y="3521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2000" b="0" dirty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27" name="Text Box 56"/>
            <p:cNvSpPr txBox="1">
              <a:spLocks noChangeArrowheads="1"/>
            </p:cNvSpPr>
            <p:nvPr/>
          </p:nvSpPr>
          <p:spPr bwMode="auto">
            <a:xfrm>
              <a:off x="4627" y="3521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  <a:endParaRPr lang="en-US" altLang="zh-CN" sz="2000" b="0" dirty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94228" name="Line 57"/>
            <p:cNvSpPr>
              <a:spLocks noChangeShapeType="1"/>
            </p:cNvSpPr>
            <p:nvPr/>
          </p:nvSpPr>
          <p:spPr bwMode="auto">
            <a:xfrm flipV="1">
              <a:off x="4386" y="2885"/>
              <a:ext cx="317" cy="3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29" name="Line 58"/>
            <p:cNvSpPr>
              <a:spLocks noChangeShapeType="1"/>
            </p:cNvSpPr>
            <p:nvPr/>
          </p:nvSpPr>
          <p:spPr bwMode="auto">
            <a:xfrm>
              <a:off x="4703" y="2885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30" name="Line 59"/>
            <p:cNvSpPr>
              <a:spLocks noChangeShapeType="1"/>
            </p:cNvSpPr>
            <p:nvPr/>
          </p:nvSpPr>
          <p:spPr bwMode="auto">
            <a:xfrm>
              <a:off x="4386" y="3248"/>
              <a:ext cx="0" cy="3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4231" name="Text Box 60"/>
            <p:cNvSpPr txBox="1">
              <a:spLocks noChangeArrowheads="1"/>
            </p:cNvSpPr>
            <p:nvPr/>
          </p:nvSpPr>
          <p:spPr bwMode="auto">
            <a:xfrm>
              <a:off x="4265" y="3521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  <a:endParaRPr lang="en-US" altLang="zh-CN" sz="2000" b="0" dirty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525316" y="148742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175561" y="150489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419872" y="402269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8853" y="398825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2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2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20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20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2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000"/>
                                        <p:tgtEl>
                                          <p:spTgt spid="22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2000"/>
                                        <p:tgtEl>
                                          <p:spTgt spid="22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/>
      <p:bldP spid="220173" grpId="0"/>
      <p:bldP spid="2" grpId="0"/>
      <p:bldP spid="61" grpId="0"/>
      <p:bldP spid="62" grpId="0"/>
      <p:bldP spid="6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1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381816"/>
              </p:ext>
            </p:extLst>
          </p:nvPr>
        </p:nvGraphicFramePr>
        <p:xfrm>
          <a:off x="989013" y="2260600"/>
          <a:ext cx="26797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74" name="Equation" r:id="rId3" imgW="1269720" imgH="444240" progId="Equation.DSMT4">
                  <p:embed/>
                </p:oleObj>
              </mc:Choice>
              <mc:Fallback>
                <p:oleObj name="Equation" r:id="rId3" imgW="126972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2260600"/>
                        <a:ext cx="26797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176808"/>
              </p:ext>
            </p:extLst>
          </p:nvPr>
        </p:nvGraphicFramePr>
        <p:xfrm>
          <a:off x="1014413" y="3425826"/>
          <a:ext cx="2117427" cy="810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75" name="Equation" r:id="rId5" imgW="1002960" imgH="380880" progId="Equation.DSMT4">
                  <p:embed/>
                </p:oleObj>
              </mc:Choice>
              <mc:Fallback>
                <p:oleObj name="Equation" r:id="rId5" imgW="1002960" imgH="380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3425826"/>
                        <a:ext cx="2117427" cy="8104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1188" name="Group 4"/>
          <p:cNvGrpSpPr>
            <a:grpSpLocks/>
          </p:cNvGrpSpPr>
          <p:nvPr/>
        </p:nvGrpSpPr>
        <p:grpSpPr bwMode="auto">
          <a:xfrm>
            <a:off x="1619266" y="5513412"/>
            <a:ext cx="5256990" cy="723900"/>
            <a:chOff x="1317" y="3149"/>
            <a:chExt cx="2944" cy="456"/>
          </a:xfrm>
        </p:grpSpPr>
        <p:graphicFrame>
          <p:nvGraphicFramePr>
            <p:cNvPr id="9527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7318074"/>
                </p:ext>
              </p:extLst>
            </p:nvPr>
          </p:nvGraphicFramePr>
          <p:xfrm>
            <a:off x="1317" y="3149"/>
            <a:ext cx="968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76" name="Equation" r:id="rId7" imgW="825480" imgH="330120" progId="Equation.DSMT4">
                    <p:embed/>
                  </p:oleObj>
                </mc:Choice>
                <mc:Fallback>
                  <p:oleObj name="Equation" r:id="rId7" imgW="825480" imgH="33012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7" y="3149"/>
                          <a:ext cx="968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71" name="Text Box 6"/>
            <p:cNvSpPr txBox="1">
              <a:spLocks noChangeArrowheads="1"/>
            </p:cNvSpPr>
            <p:nvPr/>
          </p:nvSpPr>
          <p:spPr bwMode="auto">
            <a:xfrm>
              <a:off x="2366" y="3331"/>
              <a:ext cx="24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和</a:t>
              </a:r>
              <a:endParaRPr kumimoji="1" lang="zh-CN" altLang="en-US" sz="2000" b="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9527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2553310"/>
                </p:ext>
              </p:extLst>
            </p:nvPr>
          </p:nvGraphicFramePr>
          <p:xfrm>
            <a:off x="2648" y="3158"/>
            <a:ext cx="987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77" name="Equation" r:id="rId9" imgW="914400" imgH="304560" progId="Equation.DSMT4">
                    <p:embed/>
                  </p:oleObj>
                </mc:Choice>
                <mc:Fallback>
                  <p:oleObj name="Equation" r:id="rId9" imgW="914400" imgH="30456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8" y="3158"/>
                          <a:ext cx="987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73" name="Text Box 8"/>
            <p:cNvSpPr txBox="1">
              <a:spLocks noChangeArrowheads="1"/>
            </p:cNvSpPr>
            <p:nvPr/>
          </p:nvSpPr>
          <p:spPr bwMode="auto">
            <a:xfrm>
              <a:off x="3539" y="3314"/>
              <a:ext cx="72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的区别</a:t>
              </a:r>
              <a:endParaRPr kumimoji="1" lang="zh-CN" altLang="en-US" sz="2000" b="0" dirty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221196" name="Text Box 12"/>
          <p:cNvSpPr txBox="1">
            <a:spLocks noChangeArrowheads="1"/>
          </p:cNvSpPr>
          <p:nvPr/>
        </p:nvSpPr>
        <p:spPr bwMode="auto">
          <a:xfrm>
            <a:off x="3492500" y="1360219"/>
            <a:ext cx="49672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激励为单位阶跃函数时，电路中产生的零状态响应。</a:t>
            </a:r>
          </a:p>
        </p:txBody>
      </p:sp>
      <p:sp>
        <p:nvSpPr>
          <p:cNvPr id="221197" name="Text Box 13"/>
          <p:cNvSpPr txBox="1">
            <a:spLocks noChangeArrowheads="1"/>
          </p:cNvSpPr>
          <p:nvPr/>
        </p:nvSpPr>
        <p:spPr bwMode="auto">
          <a:xfrm>
            <a:off x="611188" y="1527324"/>
            <a:ext cx="1871662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阶跃响应</a:t>
            </a:r>
          </a:p>
        </p:txBody>
      </p:sp>
      <p:sp>
        <p:nvSpPr>
          <p:cNvPr id="221198" name="Line 14"/>
          <p:cNvSpPr>
            <a:spLocks noChangeShapeType="1"/>
          </p:cNvSpPr>
          <p:nvPr/>
        </p:nvSpPr>
        <p:spPr bwMode="auto">
          <a:xfrm>
            <a:off x="2627313" y="1773238"/>
            <a:ext cx="720725" cy="0"/>
          </a:xfrm>
          <a:prstGeom prst="line">
            <a:avLst/>
          </a:prstGeom>
          <a:noFill/>
          <a:ln w="76200">
            <a:solidFill>
              <a:srgbClr val="00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221205" name="Group 21"/>
          <p:cNvGrpSpPr>
            <a:grpSpLocks/>
          </p:cNvGrpSpPr>
          <p:nvPr/>
        </p:nvGrpSpPr>
        <p:grpSpPr bwMode="auto">
          <a:xfrm>
            <a:off x="5076825" y="2381249"/>
            <a:ext cx="3455988" cy="2400300"/>
            <a:chOff x="2880" y="2045"/>
            <a:chExt cx="2177" cy="1512"/>
          </a:xfrm>
        </p:grpSpPr>
        <p:sp>
          <p:nvSpPr>
            <p:cNvPr id="95245" name="Oval 22"/>
            <p:cNvSpPr>
              <a:spLocks noChangeArrowheads="1"/>
            </p:cNvSpPr>
            <p:nvPr/>
          </p:nvSpPr>
          <p:spPr bwMode="auto">
            <a:xfrm>
              <a:off x="2880" y="261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5246" name="Line 23"/>
            <p:cNvSpPr>
              <a:spLocks noChangeShapeType="1"/>
            </p:cNvSpPr>
            <p:nvPr/>
          </p:nvSpPr>
          <p:spPr bwMode="auto">
            <a:xfrm>
              <a:off x="3152" y="3113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5247" name="Group 24"/>
            <p:cNvGrpSpPr>
              <a:grpSpLocks/>
            </p:cNvGrpSpPr>
            <p:nvPr/>
          </p:nvGrpSpPr>
          <p:grpSpPr bwMode="auto">
            <a:xfrm>
              <a:off x="3152" y="2478"/>
              <a:ext cx="128" cy="136"/>
              <a:chOff x="648" y="2472"/>
              <a:chExt cx="128" cy="136"/>
            </a:xfrm>
          </p:grpSpPr>
          <p:sp>
            <p:nvSpPr>
              <p:cNvPr id="95268" name="Line 25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5269" name="Line 26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5248" name="Line 27"/>
            <p:cNvSpPr>
              <a:spLocks noChangeShapeType="1"/>
            </p:cNvSpPr>
            <p:nvPr/>
          </p:nvSpPr>
          <p:spPr bwMode="auto">
            <a:xfrm>
              <a:off x="3061" y="2341"/>
              <a:ext cx="160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5249" name="Line 28"/>
            <p:cNvSpPr>
              <a:spLocks noChangeShapeType="1"/>
            </p:cNvSpPr>
            <p:nvPr/>
          </p:nvSpPr>
          <p:spPr bwMode="auto">
            <a:xfrm>
              <a:off x="4150" y="2432"/>
              <a:ext cx="26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5250" name="Text Box 29"/>
            <p:cNvSpPr txBox="1">
              <a:spLocks noChangeArrowheads="1"/>
            </p:cNvSpPr>
            <p:nvPr/>
          </p:nvSpPr>
          <p:spPr bwMode="auto">
            <a:xfrm>
              <a:off x="4208" y="2045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51" name="Line 30"/>
            <p:cNvSpPr>
              <a:spLocks noChangeShapeType="1"/>
            </p:cNvSpPr>
            <p:nvPr/>
          </p:nvSpPr>
          <p:spPr bwMode="auto">
            <a:xfrm flipH="1">
              <a:off x="3061" y="2341"/>
              <a:ext cx="0" cy="9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5252" name="Text Box 31"/>
            <p:cNvSpPr txBox="1">
              <a:spLocks noChangeArrowheads="1"/>
            </p:cNvSpPr>
            <p:nvPr/>
          </p:nvSpPr>
          <p:spPr bwMode="auto">
            <a:xfrm>
              <a:off x="4213" y="2677"/>
              <a:ext cx="30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  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5253" name="Group 32"/>
            <p:cNvGrpSpPr>
              <a:grpSpLocks/>
            </p:cNvGrpSpPr>
            <p:nvPr/>
          </p:nvGrpSpPr>
          <p:grpSpPr bwMode="auto">
            <a:xfrm>
              <a:off x="4787" y="2451"/>
              <a:ext cx="270" cy="674"/>
              <a:chOff x="2005" y="749"/>
              <a:chExt cx="245" cy="614"/>
            </a:xfrm>
          </p:grpSpPr>
          <p:grpSp>
            <p:nvGrpSpPr>
              <p:cNvPr id="95264" name="Group 33"/>
              <p:cNvGrpSpPr>
                <a:grpSpLocks/>
              </p:cNvGrpSpPr>
              <p:nvPr/>
            </p:nvGrpSpPr>
            <p:grpSpPr bwMode="auto">
              <a:xfrm>
                <a:off x="2005" y="749"/>
                <a:ext cx="190" cy="614"/>
                <a:chOff x="1573" y="1277"/>
                <a:chExt cx="190" cy="614"/>
              </a:xfrm>
            </p:grpSpPr>
            <p:sp>
              <p:nvSpPr>
                <p:cNvPr id="95266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574" y="1277"/>
                  <a:ext cx="189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95267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573" y="1661"/>
                  <a:ext cx="180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95265" name="Text Box 36"/>
              <p:cNvSpPr txBox="1">
                <a:spLocks noChangeArrowheads="1"/>
              </p:cNvSpPr>
              <p:nvPr/>
            </p:nvSpPr>
            <p:spPr bwMode="auto">
              <a:xfrm>
                <a:off x="2012" y="932"/>
                <a:ext cx="238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C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54" name="Line 37"/>
            <p:cNvSpPr>
              <a:spLocks noChangeShapeType="1"/>
            </p:cNvSpPr>
            <p:nvPr/>
          </p:nvSpPr>
          <p:spPr bwMode="auto">
            <a:xfrm flipV="1">
              <a:off x="4649" y="2840"/>
              <a:ext cx="0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5255" name="Line 38"/>
            <p:cNvSpPr>
              <a:spLocks noChangeShapeType="1"/>
            </p:cNvSpPr>
            <p:nvPr/>
          </p:nvSpPr>
          <p:spPr bwMode="auto">
            <a:xfrm flipV="1">
              <a:off x="4649" y="2341"/>
              <a:ext cx="0" cy="3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5256" name="Line 39"/>
            <p:cNvSpPr>
              <a:spLocks noChangeShapeType="1"/>
            </p:cNvSpPr>
            <p:nvPr/>
          </p:nvSpPr>
          <p:spPr bwMode="auto">
            <a:xfrm>
              <a:off x="3061" y="3249"/>
              <a:ext cx="15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5257" name="Text Box 40"/>
            <p:cNvSpPr txBox="1">
              <a:spLocks noChangeArrowheads="1"/>
            </p:cNvSpPr>
            <p:nvPr/>
          </p:nvSpPr>
          <p:spPr bwMode="auto">
            <a:xfrm>
              <a:off x="3757" y="2405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58" name="Text Box 41"/>
            <p:cNvSpPr txBox="1">
              <a:spLocks noChangeArrowheads="1"/>
            </p:cNvSpPr>
            <p:nvPr/>
          </p:nvSpPr>
          <p:spPr bwMode="auto">
            <a:xfrm>
              <a:off x="3434" y="3305"/>
              <a:ext cx="75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 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zh-CN" altLang="en-US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－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)=0</a:t>
              </a:r>
            </a:p>
          </p:txBody>
        </p:sp>
        <p:graphicFrame>
          <p:nvGraphicFramePr>
            <p:cNvPr id="95259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5856689"/>
                </p:ext>
              </p:extLst>
            </p:nvPr>
          </p:nvGraphicFramePr>
          <p:xfrm>
            <a:off x="3297" y="2671"/>
            <a:ext cx="418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78" name="Equation" r:id="rId11" imgW="330120" imgH="203040" progId="Equation.DSMT4">
                    <p:embed/>
                  </p:oleObj>
                </mc:Choice>
                <mc:Fallback>
                  <p:oleObj name="Equation" r:id="rId11" imgW="330120" imgH="20304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7" y="2671"/>
                          <a:ext cx="418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60" name="Rectangle 43"/>
            <p:cNvSpPr>
              <a:spLocks noChangeArrowheads="1"/>
            </p:cNvSpPr>
            <p:nvPr/>
          </p:nvSpPr>
          <p:spPr bwMode="auto">
            <a:xfrm>
              <a:off x="3696" y="22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5261" name="Group 44"/>
            <p:cNvGrpSpPr>
              <a:grpSpLocks/>
            </p:cNvGrpSpPr>
            <p:nvPr/>
          </p:nvGrpSpPr>
          <p:grpSpPr bwMode="auto">
            <a:xfrm>
              <a:off x="4532" y="2750"/>
              <a:ext cx="240" cy="90"/>
              <a:chOff x="4623" y="2478"/>
              <a:chExt cx="240" cy="90"/>
            </a:xfrm>
          </p:grpSpPr>
          <p:sp>
            <p:nvSpPr>
              <p:cNvPr id="95262" name="Line 45"/>
              <p:cNvSpPr>
                <a:spLocks noChangeShapeType="1"/>
              </p:cNvSpPr>
              <p:nvPr/>
            </p:nvSpPr>
            <p:spPr bwMode="auto">
              <a:xfrm>
                <a:off x="4623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5263" name="Line 46"/>
              <p:cNvSpPr>
                <a:spLocks noChangeShapeType="1"/>
              </p:cNvSpPr>
              <p:nvPr/>
            </p:nvSpPr>
            <p:spPr bwMode="auto">
              <a:xfrm>
                <a:off x="4623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21231" name="Group 47"/>
          <p:cNvGrpSpPr>
            <a:grpSpLocks/>
          </p:cNvGrpSpPr>
          <p:nvPr/>
        </p:nvGrpSpPr>
        <p:grpSpPr bwMode="auto">
          <a:xfrm>
            <a:off x="428724" y="4954364"/>
            <a:ext cx="1550988" cy="850900"/>
            <a:chOff x="385" y="3022"/>
            <a:chExt cx="977" cy="536"/>
          </a:xfrm>
        </p:grpSpPr>
        <p:pic>
          <p:nvPicPr>
            <p:cNvPr id="95243" name="Picture 48" descr="123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244" name="Text Box 49"/>
            <p:cNvSpPr txBox="1">
              <a:spLocks noChangeArrowheads="1"/>
            </p:cNvSpPr>
            <p:nvPr/>
          </p:nvSpPr>
          <p:spPr bwMode="auto">
            <a:xfrm>
              <a:off x="793" y="3125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6048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4.3.1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 一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阶电路的阶跃响应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2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22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2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6" grpId="0"/>
      <p:bldP spid="221197" grpId="0" animBg="1"/>
      <p:bldP spid="22119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2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500505"/>
              </p:ext>
            </p:extLst>
          </p:nvPr>
        </p:nvGraphicFramePr>
        <p:xfrm>
          <a:off x="1703768" y="5392065"/>
          <a:ext cx="1838325" cy="758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99" name="Equation" r:id="rId3" imgW="825480" imgH="330120" progId="Equation.DSMT4">
                  <p:embed/>
                </p:oleObj>
              </mc:Choice>
              <mc:Fallback>
                <p:oleObj name="Equation" r:id="rId3" imgW="825480" imgH="3301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768" y="5392065"/>
                        <a:ext cx="1838325" cy="758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244945"/>
              </p:ext>
            </p:extLst>
          </p:nvPr>
        </p:nvGraphicFramePr>
        <p:xfrm>
          <a:off x="5469012" y="5418164"/>
          <a:ext cx="2414147" cy="74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00" name="Equation" r:id="rId5" imgW="1015920" imgH="330120" progId="Equation.DSMT4">
                  <p:embed/>
                </p:oleObj>
              </mc:Choice>
              <mc:Fallback>
                <p:oleObj name="Equation" r:id="rId5" imgW="1015920" imgH="3301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9012" y="5418164"/>
                        <a:ext cx="2414147" cy="749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2212" name="Group 4"/>
          <p:cNvGrpSpPr>
            <a:grpSpLocks/>
          </p:cNvGrpSpPr>
          <p:nvPr/>
        </p:nvGrpSpPr>
        <p:grpSpPr bwMode="auto">
          <a:xfrm>
            <a:off x="5076825" y="2878163"/>
            <a:ext cx="3306763" cy="2540001"/>
            <a:chOff x="3198" y="1524"/>
            <a:chExt cx="2083" cy="1600"/>
          </a:xfrm>
        </p:grpSpPr>
        <p:sp>
          <p:nvSpPr>
            <p:cNvPr id="96282" name="Text Box 5"/>
            <p:cNvSpPr txBox="1">
              <a:spLocks noChangeArrowheads="1"/>
            </p:cNvSpPr>
            <p:nvPr/>
          </p:nvSpPr>
          <p:spPr bwMode="auto">
            <a:xfrm>
              <a:off x="3198" y="1925"/>
              <a:ext cx="45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kumimoji="1" lang="zh-CN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6283" name="Group 6"/>
            <p:cNvGrpSpPr>
              <a:grpSpLocks/>
            </p:cNvGrpSpPr>
            <p:nvPr/>
          </p:nvGrpSpPr>
          <p:grpSpPr bwMode="auto">
            <a:xfrm>
              <a:off x="3364" y="1524"/>
              <a:ext cx="1917" cy="1600"/>
              <a:chOff x="3421" y="2308"/>
              <a:chExt cx="1655" cy="1056"/>
            </a:xfrm>
          </p:grpSpPr>
          <p:sp>
            <p:nvSpPr>
              <p:cNvPr id="96287" name="Line 7"/>
              <p:cNvSpPr>
                <a:spLocks noChangeShapeType="1"/>
              </p:cNvSpPr>
              <p:nvPr/>
            </p:nvSpPr>
            <p:spPr bwMode="auto">
              <a:xfrm>
                <a:off x="3423" y="3078"/>
                <a:ext cx="14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6288" name="Line 8"/>
              <p:cNvSpPr>
                <a:spLocks noChangeShapeType="1"/>
              </p:cNvSpPr>
              <p:nvPr/>
            </p:nvSpPr>
            <p:spPr bwMode="auto">
              <a:xfrm flipH="1" flipV="1">
                <a:off x="3576" y="2397"/>
                <a:ext cx="9" cy="96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6289" name="Text Box 9"/>
              <p:cNvSpPr txBox="1">
                <a:spLocks noChangeArrowheads="1"/>
              </p:cNvSpPr>
              <p:nvPr/>
            </p:nvSpPr>
            <p:spPr bwMode="auto">
              <a:xfrm>
                <a:off x="4937" y="3043"/>
                <a:ext cx="139" cy="1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290" name="Text Box 10"/>
              <p:cNvSpPr txBox="1">
                <a:spLocks noChangeArrowheads="1"/>
              </p:cNvSpPr>
              <p:nvPr/>
            </p:nvSpPr>
            <p:spPr bwMode="auto">
              <a:xfrm>
                <a:off x="3566" y="3052"/>
                <a:ext cx="170" cy="1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</a:t>
                </a:r>
              </a:p>
            </p:txBody>
          </p:sp>
          <p:sp>
            <p:nvSpPr>
              <p:cNvPr id="96291" name="Text Box 11"/>
              <p:cNvSpPr txBox="1">
                <a:spLocks noChangeArrowheads="1"/>
              </p:cNvSpPr>
              <p:nvPr/>
            </p:nvSpPr>
            <p:spPr bwMode="auto">
              <a:xfrm>
                <a:off x="3421" y="2563"/>
                <a:ext cx="170" cy="1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1</a:t>
                </a:r>
              </a:p>
            </p:txBody>
          </p:sp>
          <p:sp>
            <p:nvSpPr>
              <p:cNvPr id="96292" name="Text Box 12"/>
              <p:cNvSpPr txBox="1">
                <a:spLocks noChangeArrowheads="1"/>
              </p:cNvSpPr>
              <p:nvPr/>
            </p:nvSpPr>
            <p:spPr bwMode="auto">
              <a:xfrm>
                <a:off x="3630" y="2308"/>
                <a:ext cx="139" cy="1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i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6284" name="Freeform 13"/>
            <p:cNvSpPr>
              <a:spLocks/>
            </p:cNvSpPr>
            <p:nvPr/>
          </p:nvSpPr>
          <p:spPr bwMode="auto">
            <a:xfrm>
              <a:off x="3560" y="2069"/>
              <a:ext cx="1400" cy="604"/>
            </a:xfrm>
            <a:custGeom>
              <a:avLst/>
              <a:gdLst>
                <a:gd name="T0" fmla="*/ 0 w 1200"/>
                <a:gd name="T1" fmla="*/ 0 h 450"/>
                <a:gd name="T2" fmla="*/ 168 w 1200"/>
                <a:gd name="T3" fmla="*/ 258 h 450"/>
                <a:gd name="T4" fmla="*/ 448 w 1200"/>
                <a:gd name="T5" fmla="*/ 451 h 450"/>
                <a:gd name="T6" fmla="*/ 1064 w 1200"/>
                <a:gd name="T7" fmla="*/ 580 h 450"/>
                <a:gd name="T8" fmla="*/ 1400 w 1200"/>
                <a:gd name="T9" fmla="*/ 593 h 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22224" name="Group 16"/>
          <p:cNvGrpSpPr>
            <a:grpSpLocks/>
          </p:cNvGrpSpPr>
          <p:nvPr/>
        </p:nvGrpSpPr>
        <p:grpSpPr bwMode="auto">
          <a:xfrm>
            <a:off x="1116011" y="2808646"/>
            <a:ext cx="3423728" cy="2501566"/>
            <a:chOff x="3267" y="1317"/>
            <a:chExt cx="1765" cy="998"/>
          </a:xfrm>
        </p:grpSpPr>
        <p:grpSp>
          <p:nvGrpSpPr>
            <p:cNvPr id="96272" name="Group 17"/>
            <p:cNvGrpSpPr>
              <a:grpSpLocks/>
            </p:cNvGrpSpPr>
            <p:nvPr/>
          </p:nvGrpSpPr>
          <p:grpSpPr bwMode="auto">
            <a:xfrm>
              <a:off x="3267" y="1403"/>
              <a:ext cx="1765" cy="912"/>
              <a:chOff x="3281" y="1552"/>
              <a:chExt cx="1765" cy="912"/>
            </a:xfrm>
          </p:grpSpPr>
          <p:sp>
            <p:nvSpPr>
              <p:cNvPr id="96274" name="Line 18"/>
              <p:cNvSpPr>
                <a:spLocks noChangeShapeType="1"/>
              </p:cNvSpPr>
              <p:nvPr/>
            </p:nvSpPr>
            <p:spPr bwMode="auto">
              <a:xfrm>
                <a:off x="3431" y="2233"/>
                <a:ext cx="14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6275" name="Line 19"/>
              <p:cNvSpPr>
                <a:spLocks noChangeShapeType="1"/>
              </p:cNvSpPr>
              <p:nvPr/>
            </p:nvSpPr>
            <p:spPr bwMode="auto">
              <a:xfrm flipV="1">
                <a:off x="3584" y="1552"/>
                <a:ext cx="0" cy="9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6276" name="Freeform 20"/>
              <p:cNvSpPr>
                <a:spLocks/>
              </p:cNvSpPr>
              <p:nvPr/>
            </p:nvSpPr>
            <p:spPr bwMode="auto">
              <a:xfrm>
                <a:off x="3575" y="1753"/>
                <a:ext cx="1200" cy="450"/>
              </a:xfrm>
              <a:custGeom>
                <a:avLst/>
                <a:gdLst>
                  <a:gd name="T0" fmla="*/ 0 w 1200"/>
                  <a:gd name="T1" fmla="*/ 0 h 450"/>
                  <a:gd name="T2" fmla="*/ 144 w 1200"/>
                  <a:gd name="T3" fmla="*/ 192 h 450"/>
                  <a:gd name="T4" fmla="*/ 384 w 1200"/>
                  <a:gd name="T5" fmla="*/ 336 h 450"/>
                  <a:gd name="T6" fmla="*/ 912 w 1200"/>
                  <a:gd name="T7" fmla="*/ 432 h 450"/>
                  <a:gd name="T8" fmla="*/ 1200 w 1200"/>
                  <a:gd name="T9" fmla="*/ 442 h 4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00" h="450">
                    <a:moveTo>
                      <a:pt x="0" y="0"/>
                    </a:moveTo>
                    <a:cubicBezTo>
                      <a:pt x="40" y="68"/>
                      <a:pt x="80" y="136"/>
                      <a:pt x="144" y="192"/>
                    </a:cubicBezTo>
                    <a:cubicBezTo>
                      <a:pt x="208" y="248"/>
                      <a:pt x="256" y="296"/>
                      <a:pt x="384" y="336"/>
                    </a:cubicBezTo>
                    <a:cubicBezTo>
                      <a:pt x="512" y="376"/>
                      <a:pt x="776" y="414"/>
                      <a:pt x="912" y="432"/>
                    </a:cubicBezTo>
                    <a:cubicBezTo>
                      <a:pt x="1048" y="450"/>
                      <a:pt x="1140" y="440"/>
                      <a:pt x="1200" y="442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6277" name="Text Box 21"/>
              <p:cNvSpPr txBox="1">
                <a:spLocks noChangeArrowheads="1"/>
              </p:cNvSpPr>
              <p:nvPr/>
            </p:nvSpPr>
            <p:spPr bwMode="auto">
              <a:xfrm>
                <a:off x="4914" y="2202"/>
                <a:ext cx="132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t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278" name="Text Box 22"/>
              <p:cNvSpPr txBox="1">
                <a:spLocks noChangeArrowheads="1"/>
              </p:cNvSpPr>
              <p:nvPr/>
            </p:nvSpPr>
            <p:spPr bwMode="auto">
              <a:xfrm>
                <a:off x="3429" y="2214"/>
                <a:ext cx="161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</a:t>
                </a:r>
              </a:p>
            </p:txBody>
          </p:sp>
          <p:graphicFrame>
            <p:nvGraphicFramePr>
              <p:cNvPr id="96279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5767027"/>
                  </p:ext>
                </p:extLst>
              </p:nvPr>
            </p:nvGraphicFramePr>
            <p:xfrm>
              <a:off x="3466" y="1685"/>
              <a:ext cx="99" cy="1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6901" name="Equation" r:id="rId7" imgW="88560" imgH="164880" progId="Equation.DSMT4">
                      <p:embed/>
                    </p:oleObj>
                  </mc:Choice>
                  <mc:Fallback>
                    <p:oleObj name="Equation" r:id="rId7" imgW="88560" imgH="164880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66" y="1685"/>
                            <a:ext cx="99" cy="1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280" name="Line 24"/>
              <p:cNvSpPr>
                <a:spLocks noChangeShapeType="1"/>
              </p:cNvSpPr>
              <p:nvPr/>
            </p:nvSpPr>
            <p:spPr bwMode="auto">
              <a:xfrm flipH="1">
                <a:off x="3281" y="2227"/>
                <a:ext cx="291" cy="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6281" name="Line 25"/>
              <p:cNvSpPr>
                <a:spLocks noChangeShapeType="1"/>
              </p:cNvSpPr>
              <p:nvPr/>
            </p:nvSpPr>
            <p:spPr bwMode="auto">
              <a:xfrm>
                <a:off x="3581" y="1763"/>
                <a:ext cx="0" cy="4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6273" name="Text Box 26"/>
            <p:cNvSpPr txBox="1">
              <a:spLocks noChangeArrowheads="1"/>
            </p:cNvSpPr>
            <p:nvPr/>
          </p:nvSpPr>
          <p:spPr bwMode="auto">
            <a:xfrm>
              <a:off x="3599" y="1317"/>
              <a:ext cx="132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222241" name="Group 33"/>
          <p:cNvGrpSpPr>
            <a:grpSpLocks/>
          </p:cNvGrpSpPr>
          <p:nvPr/>
        </p:nvGrpSpPr>
        <p:grpSpPr bwMode="auto">
          <a:xfrm>
            <a:off x="2427288" y="404814"/>
            <a:ext cx="3984625" cy="2397126"/>
            <a:chOff x="1519" y="119"/>
            <a:chExt cx="2510" cy="1510"/>
          </a:xfrm>
        </p:grpSpPr>
        <p:sp>
          <p:nvSpPr>
            <p:cNvPr id="96263" name="Line 34"/>
            <p:cNvSpPr>
              <a:spLocks noChangeShapeType="1"/>
            </p:cNvSpPr>
            <p:nvPr/>
          </p:nvSpPr>
          <p:spPr bwMode="auto">
            <a:xfrm>
              <a:off x="1565" y="1389"/>
              <a:ext cx="23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6264" name="Line 35"/>
            <p:cNvSpPr>
              <a:spLocks noChangeShapeType="1"/>
            </p:cNvSpPr>
            <p:nvPr/>
          </p:nvSpPr>
          <p:spPr bwMode="auto">
            <a:xfrm flipV="1">
              <a:off x="1859" y="240"/>
              <a:ext cx="0" cy="13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6265" name="Line 36"/>
            <p:cNvSpPr>
              <a:spLocks noChangeShapeType="1"/>
            </p:cNvSpPr>
            <p:nvPr/>
          </p:nvSpPr>
          <p:spPr bwMode="auto">
            <a:xfrm>
              <a:off x="1859" y="674"/>
              <a:ext cx="1635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6266" name="Freeform 37"/>
            <p:cNvSpPr>
              <a:spLocks/>
            </p:cNvSpPr>
            <p:nvPr/>
          </p:nvSpPr>
          <p:spPr bwMode="auto">
            <a:xfrm>
              <a:off x="1859" y="709"/>
              <a:ext cx="1579" cy="674"/>
            </a:xfrm>
            <a:custGeom>
              <a:avLst/>
              <a:gdLst>
                <a:gd name="T0" fmla="*/ 0 w 1344"/>
                <a:gd name="T1" fmla="*/ 674 h 344"/>
                <a:gd name="T2" fmla="*/ 338 w 1344"/>
                <a:gd name="T3" fmla="*/ 298 h 344"/>
                <a:gd name="T4" fmla="*/ 733 w 1344"/>
                <a:gd name="T5" fmla="*/ 110 h 344"/>
                <a:gd name="T6" fmla="*/ 1297 w 1344"/>
                <a:gd name="T7" fmla="*/ 16 h 344"/>
                <a:gd name="T8" fmla="*/ 1579 w 1344"/>
                <a:gd name="T9" fmla="*/ 16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6267" name="Text Box 38"/>
            <p:cNvSpPr txBox="1">
              <a:spLocks noChangeArrowheads="1"/>
            </p:cNvSpPr>
            <p:nvPr/>
          </p:nvSpPr>
          <p:spPr bwMode="auto">
            <a:xfrm>
              <a:off x="3868" y="1318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6268" name="Text Box 39"/>
            <p:cNvSpPr txBox="1">
              <a:spLocks noChangeArrowheads="1"/>
            </p:cNvSpPr>
            <p:nvPr/>
          </p:nvSpPr>
          <p:spPr bwMode="auto">
            <a:xfrm>
              <a:off x="1872" y="119"/>
              <a:ext cx="26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6269" name="Text Box 40"/>
            <p:cNvSpPr txBox="1">
              <a:spLocks noChangeArrowheads="1"/>
            </p:cNvSpPr>
            <p:nvPr/>
          </p:nvSpPr>
          <p:spPr bwMode="auto">
            <a:xfrm>
              <a:off x="1588" y="527"/>
              <a:ext cx="37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6270" name="Line 41"/>
            <p:cNvSpPr>
              <a:spLocks noChangeShapeType="1"/>
            </p:cNvSpPr>
            <p:nvPr/>
          </p:nvSpPr>
          <p:spPr bwMode="auto">
            <a:xfrm>
              <a:off x="1519" y="1389"/>
              <a:ext cx="36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6271" name="Text Box 42"/>
            <p:cNvSpPr txBox="1">
              <a:spLocks noChangeArrowheads="1"/>
            </p:cNvSpPr>
            <p:nvPr/>
          </p:nvSpPr>
          <p:spPr bwMode="auto">
            <a:xfrm>
              <a:off x="1588" y="1337"/>
              <a:ext cx="37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234" name="Group 2"/>
          <p:cNvGrpSpPr>
            <a:grpSpLocks/>
          </p:cNvGrpSpPr>
          <p:nvPr/>
        </p:nvGrpSpPr>
        <p:grpSpPr bwMode="auto">
          <a:xfrm>
            <a:off x="4792021" y="2853708"/>
            <a:ext cx="3678140" cy="2529505"/>
            <a:chOff x="3309" y="1205"/>
            <a:chExt cx="1642" cy="980"/>
          </a:xfrm>
        </p:grpSpPr>
        <p:sp>
          <p:nvSpPr>
            <p:cNvPr id="97337" name="Line 3"/>
            <p:cNvSpPr>
              <a:spLocks noChangeShapeType="1"/>
            </p:cNvSpPr>
            <p:nvPr/>
          </p:nvSpPr>
          <p:spPr bwMode="auto">
            <a:xfrm>
              <a:off x="3309" y="1945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7338" name="Line 4"/>
            <p:cNvSpPr>
              <a:spLocks noChangeShapeType="1"/>
            </p:cNvSpPr>
            <p:nvPr/>
          </p:nvSpPr>
          <p:spPr bwMode="auto">
            <a:xfrm flipV="1">
              <a:off x="3453" y="1273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7339" name="Text Box 5"/>
            <p:cNvSpPr txBox="1">
              <a:spLocks noChangeArrowheads="1"/>
            </p:cNvSpPr>
            <p:nvPr/>
          </p:nvSpPr>
          <p:spPr bwMode="auto">
            <a:xfrm>
              <a:off x="4837" y="1916"/>
              <a:ext cx="114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7340" name="Text Box 6"/>
            <p:cNvSpPr txBox="1">
              <a:spLocks noChangeArrowheads="1"/>
            </p:cNvSpPr>
            <p:nvPr/>
          </p:nvSpPr>
          <p:spPr bwMode="auto">
            <a:xfrm>
              <a:off x="3417" y="1205"/>
              <a:ext cx="276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7341" name="Text Box 7"/>
            <p:cNvSpPr txBox="1">
              <a:spLocks noChangeArrowheads="1"/>
            </p:cNvSpPr>
            <p:nvPr/>
          </p:nvSpPr>
          <p:spPr bwMode="auto">
            <a:xfrm>
              <a:off x="3328" y="1930"/>
              <a:ext cx="140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</p:grpSp>
      <p:sp>
        <p:nvSpPr>
          <p:cNvPr id="223240" name="Text Box 8"/>
          <p:cNvSpPr txBox="1">
            <a:spLocks noChangeArrowheads="1"/>
          </p:cNvSpPr>
          <p:nvPr/>
        </p:nvSpPr>
        <p:spPr bwMode="auto">
          <a:xfrm>
            <a:off x="539750" y="835451"/>
            <a:ext cx="43926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激励在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</a:rPr>
              <a:t>t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=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时加入，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则响应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从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</a:rPr>
              <a:t>t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</a:rPr>
              <a:t>= 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kumimoji="1" lang="en-US" altLang="zh-CN" sz="2000" b="0" baseline="-25000" dirty="0" smtClean="0">
                <a:solidFill>
                  <a:schemeClr val="tx1"/>
                </a:solidFill>
                <a:latin typeface="Times New Roman" pitchFamily="18" charset="0"/>
              </a:rPr>
              <a:t>0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楷体_GB2312" pitchFamily="49" charset="-122"/>
              </a:rPr>
              <a:t>开始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。</a:t>
            </a:r>
          </a:p>
        </p:txBody>
      </p:sp>
      <p:graphicFrame>
        <p:nvGraphicFramePr>
          <p:cNvPr id="973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212356"/>
              </p:ext>
            </p:extLst>
          </p:nvPr>
        </p:nvGraphicFramePr>
        <p:xfrm>
          <a:off x="771525" y="1963738"/>
          <a:ext cx="28495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57" name="Equation" r:id="rId3" imgW="1282680" imgH="419040" progId="Equation.DSMT4">
                  <p:embed/>
                </p:oleObj>
              </mc:Choice>
              <mc:Fallback>
                <p:oleObj name="Equation" r:id="rId3" imgW="1282680" imgH="419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1963738"/>
                        <a:ext cx="2849563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3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879420"/>
              </p:ext>
            </p:extLst>
          </p:nvPr>
        </p:nvGraphicFramePr>
        <p:xfrm>
          <a:off x="1476375" y="4925062"/>
          <a:ext cx="253206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58" name="Equation" r:id="rId5" imgW="927000" imgH="419040" progId="Equation.DSMT4">
                  <p:embed/>
                </p:oleObj>
              </mc:Choice>
              <mc:Fallback>
                <p:oleObj name="Equation" r:id="rId5" imgW="927000" imgH="419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925062"/>
                        <a:ext cx="2532063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8" name="Text Box 16"/>
          <p:cNvSpPr txBox="1">
            <a:spLocks noChangeArrowheads="1"/>
          </p:cNvSpPr>
          <p:nvPr/>
        </p:nvSpPr>
        <p:spPr bwMode="auto">
          <a:xfrm>
            <a:off x="1639094" y="4382423"/>
            <a:ext cx="21939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不要写为：</a:t>
            </a:r>
            <a:endParaRPr kumimoji="1" lang="zh-CN" altLang="en-US" sz="2000" b="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223255" name="Group 23"/>
          <p:cNvGrpSpPr>
            <a:grpSpLocks/>
          </p:cNvGrpSpPr>
          <p:nvPr/>
        </p:nvGrpSpPr>
        <p:grpSpPr bwMode="auto">
          <a:xfrm>
            <a:off x="4932363" y="436562"/>
            <a:ext cx="3419475" cy="1943100"/>
            <a:chOff x="385" y="1934"/>
            <a:chExt cx="2154" cy="1224"/>
          </a:xfrm>
        </p:grpSpPr>
        <p:sp>
          <p:nvSpPr>
            <p:cNvPr id="97308" name="Text Box 24"/>
            <p:cNvSpPr txBox="1">
              <a:spLocks noChangeArrowheads="1"/>
            </p:cNvSpPr>
            <p:nvPr/>
          </p:nvSpPr>
          <p:spPr bwMode="auto">
            <a:xfrm>
              <a:off x="1655" y="1934"/>
              <a:ext cx="23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7309" name="Text Box 25"/>
            <p:cNvSpPr txBox="1">
              <a:spLocks noChangeArrowheads="1"/>
            </p:cNvSpPr>
            <p:nvPr/>
          </p:nvSpPr>
          <p:spPr bwMode="auto">
            <a:xfrm>
              <a:off x="748" y="2549"/>
              <a:ext cx="57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 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 -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t</a:t>
              </a:r>
              <a:r>
                <a: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0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)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7310" name="Oval 26"/>
            <p:cNvSpPr>
              <a:spLocks noChangeArrowheads="1"/>
            </p:cNvSpPr>
            <p:nvPr/>
          </p:nvSpPr>
          <p:spPr bwMode="auto">
            <a:xfrm>
              <a:off x="385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7311" name="Line 27"/>
            <p:cNvSpPr>
              <a:spLocks noChangeShapeType="1"/>
            </p:cNvSpPr>
            <p:nvPr/>
          </p:nvSpPr>
          <p:spPr bwMode="auto">
            <a:xfrm>
              <a:off x="657" y="3022"/>
              <a:ext cx="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7312" name="Group 28"/>
            <p:cNvGrpSpPr>
              <a:grpSpLocks/>
            </p:cNvGrpSpPr>
            <p:nvPr/>
          </p:nvGrpSpPr>
          <p:grpSpPr bwMode="auto">
            <a:xfrm>
              <a:off x="657" y="2387"/>
              <a:ext cx="128" cy="136"/>
              <a:chOff x="648" y="2472"/>
              <a:chExt cx="128" cy="136"/>
            </a:xfrm>
          </p:grpSpPr>
          <p:sp>
            <p:nvSpPr>
              <p:cNvPr id="97330" name="Line 29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7331" name="Line 30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313" name="Line 31"/>
            <p:cNvSpPr>
              <a:spLocks noChangeShapeType="1"/>
            </p:cNvSpPr>
            <p:nvPr/>
          </p:nvSpPr>
          <p:spPr bwMode="auto">
            <a:xfrm>
              <a:off x="566" y="2250"/>
              <a:ext cx="160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7314" name="Line 32"/>
            <p:cNvSpPr>
              <a:spLocks noChangeShapeType="1"/>
            </p:cNvSpPr>
            <p:nvPr/>
          </p:nvSpPr>
          <p:spPr bwMode="auto">
            <a:xfrm>
              <a:off x="1655" y="2341"/>
              <a:ext cx="26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7315" name="Line 33"/>
            <p:cNvSpPr>
              <a:spLocks noChangeShapeType="1"/>
            </p:cNvSpPr>
            <p:nvPr/>
          </p:nvSpPr>
          <p:spPr bwMode="auto">
            <a:xfrm flipH="1">
              <a:off x="566" y="2250"/>
              <a:ext cx="0" cy="9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7316" name="Text Box 34"/>
            <p:cNvSpPr txBox="1">
              <a:spLocks noChangeArrowheads="1"/>
            </p:cNvSpPr>
            <p:nvPr/>
          </p:nvSpPr>
          <p:spPr bwMode="auto">
            <a:xfrm>
              <a:off x="1758" y="2586"/>
              <a:ext cx="30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  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7317" name="Group 35"/>
            <p:cNvGrpSpPr>
              <a:grpSpLocks/>
            </p:cNvGrpSpPr>
            <p:nvPr/>
          </p:nvGrpSpPr>
          <p:grpSpPr bwMode="auto">
            <a:xfrm>
              <a:off x="2239" y="2360"/>
              <a:ext cx="300" cy="674"/>
              <a:chOff x="1977" y="749"/>
              <a:chExt cx="275" cy="614"/>
            </a:xfrm>
          </p:grpSpPr>
          <p:grpSp>
            <p:nvGrpSpPr>
              <p:cNvPr id="97326" name="Group 36"/>
              <p:cNvGrpSpPr>
                <a:grpSpLocks/>
              </p:cNvGrpSpPr>
              <p:nvPr/>
            </p:nvGrpSpPr>
            <p:grpSpPr bwMode="auto">
              <a:xfrm>
                <a:off x="1977" y="749"/>
                <a:ext cx="189" cy="614"/>
                <a:chOff x="1545" y="1277"/>
                <a:chExt cx="189" cy="614"/>
              </a:xfrm>
            </p:grpSpPr>
            <p:sp>
              <p:nvSpPr>
                <p:cNvPr id="97328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545" y="1277"/>
                  <a:ext cx="189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+</a:t>
                  </a:r>
                </a:p>
              </p:txBody>
            </p:sp>
            <p:sp>
              <p:nvSpPr>
                <p:cNvPr id="97329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550" y="1661"/>
                  <a:ext cx="180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US" altLang="zh-CN" sz="2000" b="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–</a:t>
                  </a:r>
                </a:p>
              </p:txBody>
            </p:sp>
          </p:grpSp>
          <p:sp>
            <p:nvSpPr>
              <p:cNvPr id="97327" name="Text Box 39"/>
              <p:cNvSpPr txBox="1">
                <a:spLocks noChangeArrowheads="1"/>
              </p:cNvSpPr>
              <p:nvPr/>
            </p:nvSpPr>
            <p:spPr bwMode="auto">
              <a:xfrm>
                <a:off x="2014" y="932"/>
                <a:ext cx="238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C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7318" name="Line 40"/>
            <p:cNvSpPr>
              <a:spLocks noChangeShapeType="1"/>
            </p:cNvSpPr>
            <p:nvPr/>
          </p:nvSpPr>
          <p:spPr bwMode="auto">
            <a:xfrm flipV="1">
              <a:off x="2154" y="2749"/>
              <a:ext cx="0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7319" name="Line 41"/>
            <p:cNvSpPr>
              <a:spLocks noChangeShapeType="1"/>
            </p:cNvSpPr>
            <p:nvPr/>
          </p:nvSpPr>
          <p:spPr bwMode="auto">
            <a:xfrm flipV="1">
              <a:off x="2154" y="2250"/>
              <a:ext cx="0" cy="3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7320" name="Line 42"/>
            <p:cNvSpPr>
              <a:spLocks noChangeShapeType="1"/>
            </p:cNvSpPr>
            <p:nvPr/>
          </p:nvSpPr>
          <p:spPr bwMode="auto">
            <a:xfrm>
              <a:off x="566" y="3158"/>
              <a:ext cx="15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7321" name="Text Box 43"/>
            <p:cNvSpPr txBox="1">
              <a:spLocks noChangeArrowheads="1"/>
            </p:cNvSpPr>
            <p:nvPr/>
          </p:nvSpPr>
          <p:spPr bwMode="auto">
            <a:xfrm>
              <a:off x="1247" y="2277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7322" name="Rectangle 44"/>
            <p:cNvSpPr>
              <a:spLocks noChangeArrowheads="1"/>
            </p:cNvSpPr>
            <p:nvPr/>
          </p:nvSpPr>
          <p:spPr bwMode="auto">
            <a:xfrm>
              <a:off x="1201" y="218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7323" name="Group 45"/>
            <p:cNvGrpSpPr>
              <a:grpSpLocks/>
            </p:cNvGrpSpPr>
            <p:nvPr/>
          </p:nvGrpSpPr>
          <p:grpSpPr bwMode="auto">
            <a:xfrm>
              <a:off x="2018" y="2659"/>
              <a:ext cx="240" cy="90"/>
              <a:chOff x="4604" y="2478"/>
              <a:chExt cx="240" cy="90"/>
            </a:xfrm>
          </p:grpSpPr>
          <p:sp>
            <p:nvSpPr>
              <p:cNvPr id="97324" name="Line 46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7325" name="Line 47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23280" name="Group 48"/>
          <p:cNvGrpSpPr>
            <a:grpSpLocks/>
          </p:cNvGrpSpPr>
          <p:nvPr/>
        </p:nvGrpSpPr>
        <p:grpSpPr bwMode="auto">
          <a:xfrm>
            <a:off x="4763877" y="3345436"/>
            <a:ext cx="3553036" cy="1779907"/>
            <a:chOff x="3298" y="1291"/>
            <a:chExt cx="1611" cy="807"/>
          </a:xfrm>
        </p:grpSpPr>
        <p:grpSp>
          <p:nvGrpSpPr>
            <p:cNvPr id="97298" name="Group 49"/>
            <p:cNvGrpSpPr>
              <a:grpSpLocks/>
            </p:cNvGrpSpPr>
            <p:nvPr/>
          </p:nvGrpSpPr>
          <p:grpSpPr bwMode="auto">
            <a:xfrm>
              <a:off x="3298" y="1291"/>
              <a:ext cx="1611" cy="807"/>
              <a:chOff x="3298" y="1291"/>
              <a:chExt cx="1611" cy="807"/>
            </a:xfrm>
          </p:grpSpPr>
          <p:graphicFrame>
            <p:nvGraphicFramePr>
              <p:cNvPr id="97300" name="Object 5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8153846"/>
                  </p:ext>
                </p:extLst>
              </p:nvPr>
            </p:nvGraphicFramePr>
            <p:xfrm>
              <a:off x="3298" y="1291"/>
              <a:ext cx="142" cy="2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959" name="Equation" r:id="rId7" imgW="177480" imgH="393480" progId="Equation.DSMT4">
                      <p:embed/>
                    </p:oleObj>
                  </mc:Choice>
                  <mc:Fallback>
                    <p:oleObj name="Equation" r:id="rId7" imgW="177480" imgH="393480" progId="Equation.DSMT4">
                      <p:embed/>
                      <p:pic>
                        <p:nvPicPr>
                          <p:cNvPr id="0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98" y="1291"/>
                            <a:ext cx="142" cy="2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7301" name="Group 51"/>
              <p:cNvGrpSpPr>
                <a:grpSpLocks/>
              </p:cNvGrpSpPr>
              <p:nvPr/>
            </p:nvGrpSpPr>
            <p:grpSpPr bwMode="auto">
              <a:xfrm>
                <a:off x="3320" y="1465"/>
                <a:ext cx="1589" cy="633"/>
                <a:chOff x="3312" y="1465"/>
                <a:chExt cx="1589" cy="633"/>
              </a:xfrm>
            </p:grpSpPr>
            <p:sp>
              <p:nvSpPr>
                <p:cNvPr id="97302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3637" y="1917"/>
                  <a:ext cx="154" cy="1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000" b="0" i="1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t</a:t>
                  </a:r>
                  <a:r>
                    <a:rPr kumimoji="1" lang="en-US" altLang="zh-CN" sz="2000" b="0" baseline="-25000" dirty="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rPr>
                    <a:t>0</a:t>
                  </a:r>
                  <a:endParaRPr kumimoji="1"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endParaRPr>
                </a:p>
              </p:txBody>
            </p:sp>
            <p:grpSp>
              <p:nvGrpSpPr>
                <p:cNvPr id="97303" name="Group 53"/>
                <p:cNvGrpSpPr>
                  <a:grpSpLocks/>
                </p:cNvGrpSpPr>
                <p:nvPr/>
              </p:nvGrpSpPr>
              <p:grpSpPr bwMode="auto">
                <a:xfrm>
                  <a:off x="3312" y="1465"/>
                  <a:ext cx="1589" cy="480"/>
                  <a:chOff x="3304" y="1465"/>
                  <a:chExt cx="1589" cy="480"/>
                </a:xfrm>
              </p:grpSpPr>
              <p:sp>
                <p:nvSpPr>
                  <p:cNvPr id="97304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3693" y="1465"/>
                    <a:ext cx="0" cy="480"/>
                  </a:xfrm>
                  <a:prstGeom prst="line">
                    <a:avLst/>
                  </a:prstGeom>
                  <a:noFill/>
                  <a:ln w="28575">
                    <a:solidFill>
                      <a:srgbClr val="00FF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200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97305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3304" y="1465"/>
                    <a:ext cx="1589" cy="463"/>
                    <a:chOff x="3304" y="1465"/>
                    <a:chExt cx="1589" cy="463"/>
                  </a:xfrm>
                </p:grpSpPr>
                <p:sp>
                  <p:nvSpPr>
                    <p:cNvPr id="97306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3693" y="1465"/>
                      <a:ext cx="1200" cy="450"/>
                    </a:xfrm>
                    <a:custGeom>
                      <a:avLst/>
                      <a:gdLst>
                        <a:gd name="T0" fmla="*/ 0 w 1200"/>
                        <a:gd name="T1" fmla="*/ 0 h 450"/>
                        <a:gd name="T2" fmla="*/ 144 w 1200"/>
                        <a:gd name="T3" fmla="*/ 192 h 450"/>
                        <a:gd name="T4" fmla="*/ 384 w 1200"/>
                        <a:gd name="T5" fmla="*/ 336 h 450"/>
                        <a:gd name="T6" fmla="*/ 912 w 1200"/>
                        <a:gd name="T7" fmla="*/ 432 h 450"/>
                        <a:gd name="T8" fmla="*/ 1200 w 1200"/>
                        <a:gd name="T9" fmla="*/ 442 h 45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1200" h="450">
                          <a:moveTo>
                            <a:pt x="0" y="0"/>
                          </a:moveTo>
                          <a:cubicBezTo>
                            <a:pt x="40" y="68"/>
                            <a:pt x="80" y="136"/>
                            <a:pt x="144" y="192"/>
                          </a:cubicBezTo>
                          <a:cubicBezTo>
                            <a:pt x="208" y="248"/>
                            <a:pt x="256" y="296"/>
                            <a:pt x="384" y="336"/>
                          </a:cubicBezTo>
                          <a:cubicBezTo>
                            <a:pt x="512" y="376"/>
                            <a:pt x="776" y="414"/>
                            <a:pt x="912" y="432"/>
                          </a:cubicBezTo>
                          <a:cubicBezTo>
                            <a:pt x="1048" y="450"/>
                            <a:pt x="1140" y="440"/>
                            <a:pt x="1200" y="442"/>
                          </a:cubicBezTo>
                        </a:path>
                      </a:pathLst>
                    </a:custGeom>
                    <a:noFill/>
                    <a:ln w="28575" cap="flat" cmpd="sng">
                      <a:solidFill>
                        <a:srgbClr val="00FF00"/>
                      </a:solidFill>
                      <a:prstDash val="solid"/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00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2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97307" name="Line 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04" y="1928"/>
                      <a:ext cx="400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FF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200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</p:grpSp>
        <p:sp>
          <p:nvSpPr>
            <p:cNvPr id="97299" name="Line 58"/>
            <p:cNvSpPr>
              <a:spLocks noChangeShapeType="1"/>
            </p:cNvSpPr>
            <p:nvPr/>
          </p:nvSpPr>
          <p:spPr bwMode="auto">
            <a:xfrm>
              <a:off x="3448" y="1448"/>
              <a:ext cx="256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23291" name="Group 59"/>
          <p:cNvGrpSpPr>
            <a:grpSpLocks/>
          </p:cNvGrpSpPr>
          <p:nvPr/>
        </p:nvGrpSpPr>
        <p:grpSpPr bwMode="auto">
          <a:xfrm>
            <a:off x="4787900" y="3716338"/>
            <a:ext cx="2955925" cy="1082675"/>
            <a:chOff x="3016" y="2341"/>
            <a:chExt cx="1862" cy="682"/>
          </a:xfrm>
        </p:grpSpPr>
        <p:grpSp>
          <p:nvGrpSpPr>
            <p:cNvPr id="97293" name="Group 60"/>
            <p:cNvGrpSpPr>
              <a:grpSpLocks/>
            </p:cNvGrpSpPr>
            <p:nvPr/>
          </p:nvGrpSpPr>
          <p:grpSpPr bwMode="auto">
            <a:xfrm>
              <a:off x="3243" y="2341"/>
              <a:ext cx="1635" cy="682"/>
              <a:chOff x="3600" y="1776"/>
              <a:chExt cx="1200" cy="480"/>
            </a:xfrm>
          </p:grpSpPr>
          <p:sp>
            <p:nvSpPr>
              <p:cNvPr id="97295" name="Freeform 61"/>
              <p:cNvSpPr>
                <a:spLocks/>
              </p:cNvSpPr>
              <p:nvPr/>
            </p:nvSpPr>
            <p:spPr bwMode="auto">
              <a:xfrm>
                <a:off x="3600" y="1776"/>
                <a:ext cx="1200" cy="450"/>
              </a:xfrm>
              <a:custGeom>
                <a:avLst/>
                <a:gdLst>
                  <a:gd name="T0" fmla="*/ 0 w 1200"/>
                  <a:gd name="T1" fmla="*/ 0 h 450"/>
                  <a:gd name="T2" fmla="*/ 144 w 1200"/>
                  <a:gd name="T3" fmla="*/ 192 h 450"/>
                  <a:gd name="T4" fmla="*/ 384 w 1200"/>
                  <a:gd name="T5" fmla="*/ 336 h 450"/>
                  <a:gd name="T6" fmla="*/ 912 w 1200"/>
                  <a:gd name="T7" fmla="*/ 432 h 450"/>
                  <a:gd name="T8" fmla="*/ 1200 w 1200"/>
                  <a:gd name="T9" fmla="*/ 442 h 4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00" h="450">
                    <a:moveTo>
                      <a:pt x="0" y="0"/>
                    </a:moveTo>
                    <a:cubicBezTo>
                      <a:pt x="40" y="68"/>
                      <a:pt x="80" y="136"/>
                      <a:pt x="144" y="192"/>
                    </a:cubicBezTo>
                    <a:cubicBezTo>
                      <a:pt x="208" y="248"/>
                      <a:pt x="256" y="296"/>
                      <a:pt x="384" y="336"/>
                    </a:cubicBezTo>
                    <a:cubicBezTo>
                      <a:pt x="512" y="376"/>
                      <a:pt x="776" y="414"/>
                      <a:pt x="912" y="432"/>
                    </a:cubicBezTo>
                    <a:cubicBezTo>
                      <a:pt x="1048" y="450"/>
                      <a:pt x="1140" y="440"/>
                      <a:pt x="1200" y="442"/>
                    </a:cubicBezTo>
                  </a:path>
                </a:pathLst>
              </a:custGeom>
              <a:noFill/>
              <a:ln w="28575" cap="flat" cmpd="sng">
                <a:solidFill>
                  <a:srgbClr val="7030A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7296" name="Freeform 62"/>
              <p:cNvSpPr>
                <a:spLocks/>
              </p:cNvSpPr>
              <p:nvPr/>
            </p:nvSpPr>
            <p:spPr bwMode="auto">
              <a:xfrm>
                <a:off x="3840" y="2016"/>
                <a:ext cx="960" cy="200"/>
              </a:xfrm>
              <a:custGeom>
                <a:avLst/>
                <a:gdLst>
                  <a:gd name="T0" fmla="*/ 0 w 960"/>
                  <a:gd name="T1" fmla="*/ 0 h 200"/>
                  <a:gd name="T2" fmla="*/ 144 w 960"/>
                  <a:gd name="T3" fmla="*/ 96 h 200"/>
                  <a:gd name="T4" fmla="*/ 432 w 960"/>
                  <a:gd name="T5" fmla="*/ 144 h 200"/>
                  <a:gd name="T6" fmla="*/ 768 w 960"/>
                  <a:gd name="T7" fmla="*/ 192 h 200"/>
                  <a:gd name="T8" fmla="*/ 960 w 960"/>
                  <a:gd name="T9" fmla="*/ 192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0" h="200">
                    <a:moveTo>
                      <a:pt x="0" y="0"/>
                    </a:moveTo>
                    <a:cubicBezTo>
                      <a:pt x="36" y="36"/>
                      <a:pt x="72" y="72"/>
                      <a:pt x="144" y="96"/>
                    </a:cubicBezTo>
                    <a:cubicBezTo>
                      <a:pt x="216" y="120"/>
                      <a:pt x="328" y="128"/>
                      <a:pt x="432" y="144"/>
                    </a:cubicBezTo>
                    <a:cubicBezTo>
                      <a:pt x="536" y="160"/>
                      <a:pt x="680" y="184"/>
                      <a:pt x="768" y="192"/>
                    </a:cubicBezTo>
                    <a:cubicBezTo>
                      <a:pt x="856" y="200"/>
                      <a:pt x="928" y="192"/>
                      <a:pt x="960" y="192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7297" name="Line 63"/>
              <p:cNvSpPr>
                <a:spLocks noChangeShapeType="1"/>
              </p:cNvSpPr>
              <p:nvPr/>
            </p:nvSpPr>
            <p:spPr bwMode="auto">
              <a:xfrm flipV="1">
                <a:off x="3840" y="206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294" name="Line 64"/>
            <p:cNvSpPr>
              <a:spLocks noChangeShapeType="1"/>
            </p:cNvSpPr>
            <p:nvPr/>
          </p:nvSpPr>
          <p:spPr bwMode="auto">
            <a:xfrm flipH="1">
              <a:off x="3016" y="3022"/>
              <a:ext cx="534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23297" name="Group 65"/>
          <p:cNvGrpSpPr>
            <a:grpSpLocks/>
          </p:cNvGrpSpPr>
          <p:nvPr/>
        </p:nvGrpSpPr>
        <p:grpSpPr bwMode="auto">
          <a:xfrm>
            <a:off x="539750" y="3644900"/>
            <a:ext cx="1550988" cy="850900"/>
            <a:chOff x="385" y="3022"/>
            <a:chExt cx="977" cy="536"/>
          </a:xfrm>
        </p:grpSpPr>
        <p:pic>
          <p:nvPicPr>
            <p:cNvPr id="97291" name="Picture 66" descr="12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292" name="Text Box 67"/>
            <p:cNvSpPr txBox="1">
              <a:spLocks noChangeArrowheads="1"/>
            </p:cNvSpPr>
            <p:nvPr/>
          </p:nvSpPr>
          <p:spPr bwMode="auto">
            <a:xfrm>
              <a:off x="793" y="3125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2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2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2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2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40" grpId="0"/>
      <p:bldP spid="22324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2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01277"/>
              </p:ext>
            </p:extLst>
          </p:nvPr>
        </p:nvGraphicFramePr>
        <p:xfrm>
          <a:off x="5089525" y="4992860"/>
          <a:ext cx="2866851" cy="450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63" name="Equation" r:id="rId3" imgW="1371600" imgH="203040" progId="Equation.DSMT4">
                  <p:embed/>
                </p:oleObj>
              </mc:Choice>
              <mc:Fallback>
                <p:oleObj name="Equation" r:id="rId3" imgW="137160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525" y="4992860"/>
                        <a:ext cx="2866851" cy="450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59" name="Text Box 3"/>
          <p:cNvSpPr txBox="1">
            <a:spLocks noChangeArrowheads="1"/>
          </p:cNvSpPr>
          <p:nvPr/>
        </p:nvSpPr>
        <p:spPr bwMode="auto">
          <a:xfrm>
            <a:off x="1258888" y="548680"/>
            <a:ext cx="46799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求图示电路中电流 </a:t>
            </a:r>
            <a:r>
              <a:rPr kumimoji="1" lang="en-US" altLang="zh-CN" sz="2000" b="0" i="1" dirty="0" err="1" smtClean="0">
                <a:solidFill>
                  <a:schemeClr val="tx1"/>
                </a:solidFill>
                <a:latin typeface="Times New Roman" pitchFamily="18" charset="0"/>
              </a:rPr>
              <a:t>i</a:t>
            </a:r>
            <a:r>
              <a:rPr kumimoji="1" lang="en-US" altLang="zh-CN" sz="2000" b="0" i="1" baseline="-25000" dirty="0" err="1" smtClean="0">
                <a:solidFill>
                  <a:schemeClr val="tx1"/>
                </a:solidFill>
                <a:latin typeface="Times New Roman" pitchFamily="18" charset="0"/>
              </a:rPr>
              <a:t>C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</a:rPr>
              <a:t>)</a:t>
            </a:r>
            <a:endParaRPr kumimoji="1" lang="zh-CN" altLang="en-US" sz="2000" b="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468313" y="549275"/>
            <a:ext cx="7921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宋体" charset="-122"/>
              </a:rPr>
              <a:t>例</a:t>
            </a:r>
          </a:p>
        </p:txBody>
      </p:sp>
      <p:grpSp>
        <p:nvGrpSpPr>
          <p:cNvPr id="224267" name="Group 11"/>
          <p:cNvGrpSpPr>
            <a:grpSpLocks/>
          </p:cNvGrpSpPr>
          <p:nvPr/>
        </p:nvGrpSpPr>
        <p:grpSpPr bwMode="auto">
          <a:xfrm>
            <a:off x="1258889" y="1239837"/>
            <a:ext cx="3457575" cy="2189162"/>
            <a:chOff x="3243" y="691"/>
            <a:chExt cx="2178" cy="1379"/>
          </a:xfrm>
        </p:grpSpPr>
        <p:sp>
          <p:nvSpPr>
            <p:cNvPr id="98341" name="Oval 12"/>
            <p:cNvSpPr>
              <a:spLocks noChangeArrowheads="1"/>
            </p:cNvSpPr>
            <p:nvPr/>
          </p:nvSpPr>
          <p:spPr bwMode="auto">
            <a:xfrm>
              <a:off x="3243" y="111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42" name="Line 13"/>
            <p:cNvSpPr>
              <a:spLocks noChangeShapeType="1"/>
            </p:cNvSpPr>
            <p:nvPr/>
          </p:nvSpPr>
          <p:spPr bwMode="auto">
            <a:xfrm>
              <a:off x="3424" y="754"/>
              <a:ext cx="0" cy="10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43" name="Line 14"/>
            <p:cNvSpPr>
              <a:spLocks noChangeShapeType="1"/>
            </p:cNvSpPr>
            <p:nvPr/>
          </p:nvSpPr>
          <p:spPr bwMode="auto">
            <a:xfrm>
              <a:off x="3431" y="754"/>
              <a:ext cx="158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44" name="Line 15"/>
            <p:cNvSpPr>
              <a:spLocks noChangeShapeType="1"/>
            </p:cNvSpPr>
            <p:nvPr/>
          </p:nvSpPr>
          <p:spPr bwMode="auto">
            <a:xfrm>
              <a:off x="5012" y="754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45" name="Line 16"/>
            <p:cNvSpPr>
              <a:spLocks noChangeShapeType="1"/>
            </p:cNvSpPr>
            <p:nvPr/>
          </p:nvSpPr>
          <p:spPr bwMode="auto">
            <a:xfrm>
              <a:off x="5012" y="1389"/>
              <a:ext cx="0" cy="48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46" name="Line 17"/>
            <p:cNvSpPr>
              <a:spLocks noChangeShapeType="1"/>
            </p:cNvSpPr>
            <p:nvPr/>
          </p:nvSpPr>
          <p:spPr bwMode="auto">
            <a:xfrm>
              <a:off x="3424" y="1842"/>
              <a:ext cx="15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47" name="Line 18"/>
            <p:cNvSpPr>
              <a:spLocks noChangeShapeType="1"/>
            </p:cNvSpPr>
            <p:nvPr/>
          </p:nvSpPr>
          <p:spPr bwMode="auto">
            <a:xfrm>
              <a:off x="4377" y="754"/>
              <a:ext cx="0" cy="10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48" name="Text Box 19"/>
            <p:cNvSpPr txBox="1">
              <a:spLocks noChangeArrowheads="1"/>
            </p:cNvSpPr>
            <p:nvPr/>
          </p:nvSpPr>
          <p:spPr bwMode="auto">
            <a:xfrm>
              <a:off x="3834" y="836"/>
              <a:ext cx="35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10k</a:t>
              </a:r>
            </a:p>
          </p:txBody>
        </p:sp>
        <p:sp>
          <p:nvSpPr>
            <p:cNvPr id="98349" name="Text Box 20"/>
            <p:cNvSpPr txBox="1">
              <a:spLocks noChangeArrowheads="1"/>
            </p:cNvSpPr>
            <p:nvPr/>
          </p:nvSpPr>
          <p:spPr bwMode="auto">
            <a:xfrm>
              <a:off x="4423" y="1208"/>
              <a:ext cx="35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10k</a:t>
              </a:r>
            </a:p>
          </p:txBody>
        </p:sp>
        <p:sp>
          <p:nvSpPr>
            <p:cNvPr id="98350" name="Text Box 21"/>
            <p:cNvSpPr txBox="1">
              <a:spLocks noChangeArrowheads="1"/>
            </p:cNvSpPr>
            <p:nvPr/>
          </p:nvSpPr>
          <p:spPr bwMode="auto">
            <a:xfrm>
              <a:off x="3628" y="1174"/>
              <a:ext cx="23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8351" name="Text Box 22"/>
            <p:cNvSpPr txBox="1">
              <a:spLocks noChangeArrowheads="1"/>
            </p:cNvSpPr>
            <p:nvPr/>
          </p:nvSpPr>
          <p:spPr bwMode="auto">
            <a:xfrm>
              <a:off x="3524" y="976"/>
              <a:ext cx="207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  <a:p>
              <a:pPr algn="ctr" eaLnBrk="1" hangingPunct="1"/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98352" name="Line 23"/>
            <p:cNvSpPr>
              <a:spLocks noChangeShapeType="1"/>
            </p:cNvSpPr>
            <p:nvPr/>
          </p:nvSpPr>
          <p:spPr bwMode="auto">
            <a:xfrm>
              <a:off x="4513" y="845"/>
              <a:ext cx="36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53" name="Text Box 24"/>
            <p:cNvSpPr txBox="1">
              <a:spLocks noChangeArrowheads="1"/>
            </p:cNvSpPr>
            <p:nvPr/>
          </p:nvSpPr>
          <p:spPr bwMode="auto">
            <a:xfrm>
              <a:off x="4576" y="836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8354" name="Text Box 25"/>
            <p:cNvSpPr txBox="1">
              <a:spLocks noChangeArrowheads="1"/>
            </p:cNvSpPr>
            <p:nvPr/>
          </p:nvSpPr>
          <p:spPr bwMode="auto">
            <a:xfrm rot="5400000">
              <a:off x="5024" y="1175"/>
              <a:ext cx="5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100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F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8355" name="Text Box 26"/>
            <p:cNvSpPr txBox="1">
              <a:spLocks noChangeArrowheads="1"/>
            </p:cNvSpPr>
            <p:nvPr/>
          </p:nvSpPr>
          <p:spPr bwMode="auto">
            <a:xfrm>
              <a:off x="3486" y="1818"/>
              <a:ext cx="8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zh-CN" altLang="en-US" sz="2000" b="0" baseline="30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－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 = 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8356" name="Rectangle 27"/>
            <p:cNvSpPr>
              <a:spLocks noChangeArrowheads="1"/>
            </p:cNvSpPr>
            <p:nvPr/>
          </p:nvSpPr>
          <p:spPr bwMode="auto">
            <a:xfrm>
              <a:off x="3842" y="69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57" name="Rectangle 28"/>
            <p:cNvSpPr>
              <a:spLocks noChangeArrowheads="1"/>
            </p:cNvSpPr>
            <p:nvPr/>
          </p:nvSpPr>
          <p:spPr bwMode="auto">
            <a:xfrm>
              <a:off x="4314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8358" name="Group 29"/>
            <p:cNvGrpSpPr>
              <a:grpSpLocks/>
            </p:cNvGrpSpPr>
            <p:nvPr/>
          </p:nvGrpSpPr>
          <p:grpSpPr bwMode="auto">
            <a:xfrm>
              <a:off x="4906" y="1298"/>
              <a:ext cx="240" cy="90"/>
              <a:chOff x="4634" y="2478"/>
              <a:chExt cx="240" cy="90"/>
            </a:xfrm>
          </p:grpSpPr>
          <p:sp>
            <p:nvSpPr>
              <p:cNvPr id="98359" name="Line 30"/>
              <p:cNvSpPr>
                <a:spLocks noChangeShapeType="1"/>
              </p:cNvSpPr>
              <p:nvPr/>
            </p:nvSpPr>
            <p:spPr bwMode="auto">
              <a:xfrm>
                <a:off x="463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8360" name="Line 31"/>
              <p:cNvSpPr>
                <a:spLocks noChangeShapeType="1"/>
              </p:cNvSpPr>
              <p:nvPr/>
            </p:nvSpPr>
            <p:spPr bwMode="auto">
              <a:xfrm>
                <a:off x="463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24288" name="Group 32"/>
          <p:cNvGrpSpPr>
            <a:grpSpLocks/>
          </p:cNvGrpSpPr>
          <p:nvPr/>
        </p:nvGrpSpPr>
        <p:grpSpPr bwMode="auto">
          <a:xfrm>
            <a:off x="5364162" y="981077"/>
            <a:ext cx="3240089" cy="2416176"/>
            <a:chOff x="521" y="1842"/>
            <a:chExt cx="2041" cy="1522"/>
          </a:xfrm>
        </p:grpSpPr>
        <p:sp>
          <p:nvSpPr>
            <p:cNvPr id="98332" name="Line 33"/>
            <p:cNvSpPr>
              <a:spLocks noChangeShapeType="1"/>
            </p:cNvSpPr>
            <p:nvPr/>
          </p:nvSpPr>
          <p:spPr bwMode="auto">
            <a:xfrm flipV="1">
              <a:off x="777" y="1979"/>
              <a:ext cx="16" cy="13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33" name="Line 34"/>
            <p:cNvSpPr>
              <a:spLocks noChangeShapeType="1"/>
            </p:cNvSpPr>
            <p:nvPr/>
          </p:nvSpPr>
          <p:spPr bwMode="auto">
            <a:xfrm flipV="1">
              <a:off x="793" y="2387"/>
              <a:ext cx="86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34" name="Line 35"/>
            <p:cNvSpPr>
              <a:spLocks noChangeShapeType="1"/>
            </p:cNvSpPr>
            <p:nvPr/>
          </p:nvSpPr>
          <p:spPr bwMode="auto">
            <a:xfrm>
              <a:off x="1655" y="2387"/>
              <a:ext cx="0" cy="72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35" name="Text Box 36"/>
            <p:cNvSpPr txBox="1">
              <a:spLocks noChangeArrowheads="1"/>
            </p:cNvSpPr>
            <p:nvPr/>
          </p:nvSpPr>
          <p:spPr bwMode="auto">
            <a:xfrm>
              <a:off x="1468" y="3066"/>
              <a:ext cx="3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0.5</a:t>
              </a:r>
            </a:p>
          </p:txBody>
        </p:sp>
        <p:sp>
          <p:nvSpPr>
            <p:cNvPr id="98336" name="Text Box 37"/>
            <p:cNvSpPr txBox="1">
              <a:spLocks noChangeArrowheads="1"/>
            </p:cNvSpPr>
            <p:nvPr/>
          </p:nvSpPr>
          <p:spPr bwMode="auto">
            <a:xfrm>
              <a:off x="521" y="2250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</a:t>
              </a:r>
            </a:p>
          </p:txBody>
        </p:sp>
        <p:sp>
          <p:nvSpPr>
            <p:cNvPr id="98337" name="Text Box 38"/>
            <p:cNvSpPr txBox="1">
              <a:spLocks noChangeArrowheads="1"/>
            </p:cNvSpPr>
            <p:nvPr/>
          </p:nvSpPr>
          <p:spPr bwMode="auto">
            <a:xfrm>
              <a:off x="2232" y="3112"/>
              <a:ext cx="33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(s)</a:t>
              </a:r>
            </a:p>
          </p:txBody>
        </p:sp>
        <p:sp>
          <p:nvSpPr>
            <p:cNvPr id="98338" name="Text Box 39"/>
            <p:cNvSpPr txBox="1">
              <a:spLocks noChangeArrowheads="1"/>
            </p:cNvSpPr>
            <p:nvPr/>
          </p:nvSpPr>
          <p:spPr bwMode="auto">
            <a:xfrm>
              <a:off x="838" y="1842"/>
              <a:ext cx="45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(V)</a:t>
              </a:r>
            </a:p>
          </p:txBody>
        </p:sp>
        <p:sp>
          <p:nvSpPr>
            <p:cNvPr id="98339" name="Text Box 40"/>
            <p:cNvSpPr txBox="1">
              <a:spLocks noChangeArrowheads="1"/>
            </p:cNvSpPr>
            <p:nvPr/>
          </p:nvSpPr>
          <p:spPr bwMode="auto">
            <a:xfrm>
              <a:off x="596" y="3066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98340" name="Line 41"/>
            <p:cNvSpPr>
              <a:spLocks noChangeShapeType="1"/>
            </p:cNvSpPr>
            <p:nvPr/>
          </p:nvSpPr>
          <p:spPr bwMode="auto">
            <a:xfrm flipV="1">
              <a:off x="681" y="3113"/>
              <a:ext cx="1745" cy="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24298" name="Group 42"/>
          <p:cNvGrpSpPr>
            <a:grpSpLocks/>
          </p:cNvGrpSpPr>
          <p:nvPr/>
        </p:nvGrpSpPr>
        <p:grpSpPr bwMode="auto">
          <a:xfrm>
            <a:off x="1187449" y="3910014"/>
            <a:ext cx="3025775" cy="2182813"/>
            <a:chOff x="3243" y="694"/>
            <a:chExt cx="1906" cy="1375"/>
          </a:xfrm>
        </p:grpSpPr>
        <p:sp>
          <p:nvSpPr>
            <p:cNvPr id="98315" name="Oval 43"/>
            <p:cNvSpPr>
              <a:spLocks noChangeArrowheads="1"/>
            </p:cNvSpPr>
            <p:nvPr/>
          </p:nvSpPr>
          <p:spPr bwMode="auto">
            <a:xfrm>
              <a:off x="3243" y="111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16" name="Line 44"/>
            <p:cNvSpPr>
              <a:spLocks noChangeShapeType="1"/>
            </p:cNvSpPr>
            <p:nvPr/>
          </p:nvSpPr>
          <p:spPr bwMode="auto">
            <a:xfrm>
              <a:off x="3424" y="754"/>
              <a:ext cx="0" cy="10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17" name="Line 45"/>
            <p:cNvSpPr>
              <a:spLocks noChangeShapeType="1"/>
            </p:cNvSpPr>
            <p:nvPr/>
          </p:nvSpPr>
          <p:spPr bwMode="auto">
            <a:xfrm>
              <a:off x="3431" y="754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18" name="Line 46"/>
            <p:cNvSpPr>
              <a:spLocks noChangeShapeType="1"/>
            </p:cNvSpPr>
            <p:nvPr/>
          </p:nvSpPr>
          <p:spPr bwMode="auto">
            <a:xfrm>
              <a:off x="4740" y="754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19" name="Line 47"/>
            <p:cNvSpPr>
              <a:spLocks noChangeShapeType="1"/>
            </p:cNvSpPr>
            <p:nvPr/>
          </p:nvSpPr>
          <p:spPr bwMode="auto">
            <a:xfrm>
              <a:off x="4740" y="1389"/>
              <a:ext cx="0" cy="4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20" name="Line 48"/>
            <p:cNvSpPr>
              <a:spLocks noChangeShapeType="1"/>
            </p:cNvSpPr>
            <p:nvPr/>
          </p:nvSpPr>
          <p:spPr bwMode="auto">
            <a:xfrm>
              <a:off x="3424" y="1842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21" name="Text Box 49"/>
            <p:cNvSpPr txBox="1">
              <a:spLocks noChangeArrowheads="1"/>
            </p:cNvSpPr>
            <p:nvPr/>
          </p:nvSpPr>
          <p:spPr bwMode="auto">
            <a:xfrm>
              <a:off x="3918" y="799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5k</a:t>
              </a:r>
            </a:p>
          </p:txBody>
        </p:sp>
        <p:sp>
          <p:nvSpPr>
            <p:cNvPr id="98322" name="Text Box 50"/>
            <p:cNvSpPr txBox="1">
              <a:spLocks noChangeArrowheads="1"/>
            </p:cNvSpPr>
            <p:nvPr/>
          </p:nvSpPr>
          <p:spPr bwMode="auto">
            <a:xfrm>
              <a:off x="3628" y="1137"/>
              <a:ext cx="43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0.5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s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8323" name="Text Box 51"/>
            <p:cNvSpPr txBox="1">
              <a:spLocks noChangeArrowheads="1"/>
            </p:cNvSpPr>
            <p:nvPr/>
          </p:nvSpPr>
          <p:spPr bwMode="auto">
            <a:xfrm>
              <a:off x="3580" y="976"/>
              <a:ext cx="207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  <a:p>
              <a:pPr algn="ctr" eaLnBrk="1" hangingPunct="1"/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98324" name="Line 52"/>
            <p:cNvSpPr>
              <a:spLocks noChangeShapeType="1"/>
            </p:cNvSpPr>
            <p:nvPr/>
          </p:nvSpPr>
          <p:spPr bwMode="auto">
            <a:xfrm>
              <a:off x="4649" y="799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8325" name="Text Box 53"/>
            <p:cNvSpPr txBox="1">
              <a:spLocks noChangeArrowheads="1"/>
            </p:cNvSpPr>
            <p:nvPr/>
          </p:nvSpPr>
          <p:spPr bwMode="auto">
            <a:xfrm>
              <a:off x="4395" y="927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8326" name="Text Box 54"/>
            <p:cNvSpPr txBox="1">
              <a:spLocks noChangeArrowheads="1"/>
            </p:cNvSpPr>
            <p:nvPr/>
          </p:nvSpPr>
          <p:spPr bwMode="auto">
            <a:xfrm rot="5400000">
              <a:off x="4752" y="1219"/>
              <a:ext cx="5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100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F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8327" name="Text Box 55"/>
            <p:cNvSpPr txBox="1">
              <a:spLocks noChangeArrowheads="1"/>
            </p:cNvSpPr>
            <p:nvPr/>
          </p:nvSpPr>
          <p:spPr bwMode="auto">
            <a:xfrm>
              <a:off x="3732" y="1817"/>
              <a:ext cx="7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zh-CN" altLang="en-US" sz="2000" b="0" baseline="30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－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)=0</a:t>
              </a:r>
            </a:p>
          </p:txBody>
        </p:sp>
        <p:sp>
          <p:nvSpPr>
            <p:cNvPr id="98328" name="Rectangle 56"/>
            <p:cNvSpPr>
              <a:spLocks noChangeArrowheads="1"/>
            </p:cNvSpPr>
            <p:nvPr/>
          </p:nvSpPr>
          <p:spPr bwMode="auto">
            <a:xfrm>
              <a:off x="3878" y="69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8329" name="Group 57"/>
            <p:cNvGrpSpPr>
              <a:grpSpLocks/>
            </p:cNvGrpSpPr>
            <p:nvPr/>
          </p:nvGrpSpPr>
          <p:grpSpPr bwMode="auto">
            <a:xfrm>
              <a:off x="4622" y="1298"/>
              <a:ext cx="240" cy="90"/>
              <a:chOff x="4622" y="2478"/>
              <a:chExt cx="240" cy="90"/>
            </a:xfrm>
          </p:grpSpPr>
          <p:sp>
            <p:nvSpPr>
              <p:cNvPr id="98330" name="Line 58"/>
              <p:cNvSpPr>
                <a:spLocks noChangeShapeType="1"/>
              </p:cNvSpPr>
              <p:nvPr/>
            </p:nvSpPr>
            <p:spPr bwMode="auto">
              <a:xfrm>
                <a:off x="4622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8331" name="Line 59"/>
              <p:cNvSpPr>
                <a:spLocks noChangeShapeType="1"/>
              </p:cNvSpPr>
              <p:nvPr/>
            </p:nvSpPr>
            <p:spPr bwMode="auto">
              <a:xfrm>
                <a:off x="4622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24316" name="Group 60"/>
          <p:cNvGrpSpPr>
            <a:grpSpLocks/>
          </p:cNvGrpSpPr>
          <p:nvPr/>
        </p:nvGrpSpPr>
        <p:grpSpPr bwMode="auto">
          <a:xfrm>
            <a:off x="4140200" y="2924175"/>
            <a:ext cx="1295400" cy="1871663"/>
            <a:chOff x="2608" y="1752"/>
            <a:chExt cx="816" cy="1179"/>
          </a:xfrm>
        </p:grpSpPr>
        <p:sp>
          <p:nvSpPr>
            <p:cNvPr id="98313" name="Text Box 61"/>
            <p:cNvSpPr txBox="1">
              <a:spLocks noChangeArrowheads="1"/>
            </p:cNvSpPr>
            <p:nvPr/>
          </p:nvSpPr>
          <p:spPr bwMode="auto">
            <a:xfrm>
              <a:off x="2608" y="2152"/>
              <a:ext cx="682" cy="25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等效</a:t>
              </a:r>
            </a:p>
          </p:txBody>
        </p:sp>
        <p:sp>
          <p:nvSpPr>
            <p:cNvPr id="98314" name="AutoShape 62"/>
            <p:cNvSpPr>
              <a:spLocks noChangeArrowheads="1"/>
            </p:cNvSpPr>
            <p:nvPr/>
          </p:nvSpPr>
          <p:spPr bwMode="auto">
            <a:xfrm>
              <a:off x="2925" y="1752"/>
              <a:ext cx="499" cy="1179"/>
            </a:xfrm>
            <a:prstGeom prst="curvedLeftArrow">
              <a:avLst>
                <a:gd name="adj1" fmla="val 21680"/>
                <a:gd name="adj2" fmla="val 68935"/>
                <a:gd name="adj3" fmla="val 33269"/>
              </a:avLst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2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build="p" autoUpdateAnimBg="0"/>
      <p:bldP spid="22426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673757"/>
              </p:ext>
            </p:extLst>
          </p:nvPr>
        </p:nvGraphicFramePr>
        <p:xfrm>
          <a:off x="4184650" y="577850"/>
          <a:ext cx="2690813" cy="422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470" name="Equation" r:id="rId3" imgW="1371600" imgH="203040" progId="Equation.DSMT4">
                  <p:embed/>
                </p:oleObj>
              </mc:Choice>
              <mc:Fallback>
                <p:oleObj name="Equation" r:id="rId3" imgW="137160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577850"/>
                        <a:ext cx="2690813" cy="422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3" name="Text Box 3"/>
          <p:cNvSpPr txBox="1">
            <a:spLocks noChangeArrowheads="1"/>
          </p:cNvSpPr>
          <p:nvPr/>
        </p:nvSpPr>
        <p:spPr bwMode="auto">
          <a:xfrm>
            <a:off x="539750" y="549275"/>
            <a:ext cx="24479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</a:rPr>
              <a:t>应用叠加定理</a:t>
            </a:r>
          </a:p>
        </p:txBody>
      </p:sp>
      <p:grpSp>
        <p:nvGrpSpPr>
          <p:cNvPr id="225290" name="Group 10"/>
          <p:cNvGrpSpPr>
            <a:grpSpLocks/>
          </p:cNvGrpSpPr>
          <p:nvPr/>
        </p:nvGrpSpPr>
        <p:grpSpPr bwMode="auto">
          <a:xfrm>
            <a:off x="827090" y="1239838"/>
            <a:ext cx="2932113" cy="1612900"/>
            <a:chOff x="2381" y="1371"/>
            <a:chExt cx="1847" cy="1016"/>
          </a:xfrm>
        </p:grpSpPr>
        <p:graphicFrame>
          <p:nvGraphicFramePr>
            <p:cNvPr id="9937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5989409"/>
                </p:ext>
              </p:extLst>
            </p:nvPr>
          </p:nvGraphicFramePr>
          <p:xfrm>
            <a:off x="2817" y="1808"/>
            <a:ext cx="378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471" name="Equation" r:id="rId5" imgW="355320" imgH="203040" progId="Equation.DSMT4">
                    <p:embed/>
                  </p:oleObj>
                </mc:Choice>
                <mc:Fallback>
                  <p:oleObj name="Equation" r:id="rId5" imgW="355320" imgH="2030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7" y="1808"/>
                          <a:ext cx="378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72" name="Oval 12"/>
            <p:cNvSpPr>
              <a:spLocks noChangeArrowheads="1"/>
            </p:cNvSpPr>
            <p:nvPr/>
          </p:nvSpPr>
          <p:spPr bwMode="auto">
            <a:xfrm>
              <a:off x="2381" y="170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73" name="Line 13"/>
            <p:cNvSpPr>
              <a:spLocks noChangeShapeType="1"/>
            </p:cNvSpPr>
            <p:nvPr/>
          </p:nvSpPr>
          <p:spPr bwMode="auto">
            <a:xfrm>
              <a:off x="2562" y="1434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74" name="Line 14"/>
            <p:cNvSpPr>
              <a:spLocks noChangeShapeType="1"/>
            </p:cNvSpPr>
            <p:nvPr/>
          </p:nvSpPr>
          <p:spPr bwMode="auto">
            <a:xfrm>
              <a:off x="2569" y="1434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75" name="Line 15"/>
            <p:cNvSpPr>
              <a:spLocks noChangeShapeType="1"/>
            </p:cNvSpPr>
            <p:nvPr/>
          </p:nvSpPr>
          <p:spPr bwMode="auto">
            <a:xfrm>
              <a:off x="3878" y="1434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76" name="Line 16"/>
            <p:cNvSpPr>
              <a:spLocks noChangeShapeType="1"/>
            </p:cNvSpPr>
            <p:nvPr/>
          </p:nvSpPr>
          <p:spPr bwMode="auto">
            <a:xfrm>
              <a:off x="3878" y="2069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77" name="Line 17"/>
            <p:cNvSpPr>
              <a:spLocks noChangeShapeType="1"/>
            </p:cNvSpPr>
            <p:nvPr/>
          </p:nvSpPr>
          <p:spPr bwMode="auto">
            <a:xfrm>
              <a:off x="2562" y="2387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78" name="Text Box 18"/>
            <p:cNvSpPr txBox="1">
              <a:spLocks noChangeArrowheads="1"/>
            </p:cNvSpPr>
            <p:nvPr/>
          </p:nvSpPr>
          <p:spPr bwMode="auto">
            <a:xfrm>
              <a:off x="3056" y="1480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5k</a:t>
              </a:r>
            </a:p>
          </p:txBody>
        </p:sp>
        <p:sp>
          <p:nvSpPr>
            <p:cNvPr id="99379" name="Text Box 19"/>
            <p:cNvSpPr txBox="1">
              <a:spLocks noChangeArrowheads="1"/>
            </p:cNvSpPr>
            <p:nvPr/>
          </p:nvSpPr>
          <p:spPr bwMode="auto">
            <a:xfrm>
              <a:off x="2673" y="1592"/>
              <a:ext cx="207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  <a:p>
              <a:pPr algn="ctr" eaLnBrk="1" hangingPunct="1"/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99380" name="Line 20"/>
            <p:cNvSpPr>
              <a:spLocks noChangeShapeType="1"/>
            </p:cNvSpPr>
            <p:nvPr/>
          </p:nvSpPr>
          <p:spPr bwMode="auto">
            <a:xfrm>
              <a:off x="3787" y="1479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81" name="Text Box 21"/>
            <p:cNvSpPr txBox="1">
              <a:spLocks noChangeArrowheads="1"/>
            </p:cNvSpPr>
            <p:nvPr/>
          </p:nvSpPr>
          <p:spPr bwMode="auto">
            <a:xfrm>
              <a:off x="3533" y="1525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9382" name="Text Box 22"/>
            <p:cNvSpPr txBox="1">
              <a:spLocks noChangeArrowheads="1"/>
            </p:cNvSpPr>
            <p:nvPr/>
          </p:nvSpPr>
          <p:spPr bwMode="auto">
            <a:xfrm rot="5400000">
              <a:off x="3831" y="1905"/>
              <a:ext cx="5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100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F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9383" name="Rectangle 23"/>
            <p:cNvSpPr>
              <a:spLocks noChangeArrowheads="1"/>
            </p:cNvSpPr>
            <p:nvPr/>
          </p:nvSpPr>
          <p:spPr bwMode="auto">
            <a:xfrm>
              <a:off x="3016" y="137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9384" name="Group 24"/>
            <p:cNvGrpSpPr>
              <a:grpSpLocks/>
            </p:cNvGrpSpPr>
            <p:nvPr/>
          </p:nvGrpSpPr>
          <p:grpSpPr bwMode="auto">
            <a:xfrm>
              <a:off x="3742" y="1978"/>
              <a:ext cx="240" cy="90"/>
              <a:chOff x="4604" y="2478"/>
              <a:chExt cx="240" cy="90"/>
            </a:xfrm>
          </p:grpSpPr>
          <p:sp>
            <p:nvSpPr>
              <p:cNvPr id="99385" name="Line 25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9386" name="Line 26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25307" name="Group 27"/>
          <p:cNvGrpSpPr>
            <a:grpSpLocks/>
          </p:cNvGrpSpPr>
          <p:nvPr/>
        </p:nvGrpSpPr>
        <p:grpSpPr bwMode="auto">
          <a:xfrm>
            <a:off x="4529138" y="1228733"/>
            <a:ext cx="3182938" cy="1624015"/>
            <a:chOff x="630" y="2543"/>
            <a:chExt cx="2005" cy="1023"/>
          </a:xfrm>
        </p:grpSpPr>
        <p:graphicFrame>
          <p:nvGraphicFramePr>
            <p:cNvPr id="99355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433442"/>
                </p:ext>
              </p:extLst>
            </p:nvPr>
          </p:nvGraphicFramePr>
          <p:xfrm>
            <a:off x="1068" y="3203"/>
            <a:ext cx="832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472" name="Equation" r:id="rId7" imgW="685800" imgH="190440" progId="Equation.DSMT4">
                    <p:embed/>
                  </p:oleObj>
                </mc:Choice>
                <mc:Fallback>
                  <p:oleObj name="Equation" r:id="rId7" imgW="685800" imgH="19044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8" y="3203"/>
                          <a:ext cx="832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56" name="Oval 29"/>
            <p:cNvSpPr>
              <a:spLocks noChangeArrowheads="1"/>
            </p:cNvSpPr>
            <p:nvPr/>
          </p:nvSpPr>
          <p:spPr bwMode="auto">
            <a:xfrm>
              <a:off x="748" y="288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57" name="Line 30"/>
            <p:cNvSpPr>
              <a:spLocks noChangeShapeType="1"/>
            </p:cNvSpPr>
            <p:nvPr/>
          </p:nvSpPr>
          <p:spPr bwMode="auto">
            <a:xfrm>
              <a:off x="929" y="2613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58" name="Line 31"/>
            <p:cNvSpPr>
              <a:spLocks noChangeShapeType="1"/>
            </p:cNvSpPr>
            <p:nvPr/>
          </p:nvSpPr>
          <p:spPr bwMode="auto">
            <a:xfrm>
              <a:off x="936" y="2613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59" name="Line 32"/>
            <p:cNvSpPr>
              <a:spLocks noChangeShapeType="1"/>
            </p:cNvSpPr>
            <p:nvPr/>
          </p:nvSpPr>
          <p:spPr bwMode="auto">
            <a:xfrm>
              <a:off x="2245" y="2613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60" name="Line 33"/>
            <p:cNvSpPr>
              <a:spLocks noChangeShapeType="1"/>
            </p:cNvSpPr>
            <p:nvPr/>
          </p:nvSpPr>
          <p:spPr bwMode="auto">
            <a:xfrm>
              <a:off x="2245" y="3248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61" name="Line 34"/>
            <p:cNvSpPr>
              <a:spLocks noChangeShapeType="1"/>
            </p:cNvSpPr>
            <p:nvPr/>
          </p:nvSpPr>
          <p:spPr bwMode="auto">
            <a:xfrm>
              <a:off x="929" y="3566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62" name="Text Box 35"/>
            <p:cNvSpPr txBox="1">
              <a:spLocks noChangeArrowheads="1"/>
            </p:cNvSpPr>
            <p:nvPr/>
          </p:nvSpPr>
          <p:spPr bwMode="auto">
            <a:xfrm>
              <a:off x="1417" y="2630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5k</a:t>
              </a:r>
            </a:p>
          </p:txBody>
        </p:sp>
        <p:sp>
          <p:nvSpPr>
            <p:cNvPr id="99363" name="Text Box 36"/>
            <p:cNvSpPr txBox="1">
              <a:spLocks noChangeArrowheads="1"/>
            </p:cNvSpPr>
            <p:nvPr/>
          </p:nvSpPr>
          <p:spPr bwMode="auto">
            <a:xfrm>
              <a:off x="630" y="2771"/>
              <a:ext cx="207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  <a:p>
              <a:pPr algn="ctr" eaLnBrk="1" hangingPunct="1"/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99364" name="Line 37"/>
            <p:cNvSpPr>
              <a:spLocks noChangeShapeType="1"/>
            </p:cNvSpPr>
            <p:nvPr/>
          </p:nvSpPr>
          <p:spPr bwMode="auto">
            <a:xfrm>
              <a:off x="2154" y="2658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65" name="Text Box 38"/>
            <p:cNvSpPr txBox="1">
              <a:spLocks noChangeArrowheads="1"/>
            </p:cNvSpPr>
            <p:nvPr/>
          </p:nvSpPr>
          <p:spPr bwMode="auto">
            <a:xfrm>
              <a:off x="1900" y="2704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9366" name="Text Box 39"/>
            <p:cNvSpPr txBox="1">
              <a:spLocks noChangeArrowheads="1"/>
            </p:cNvSpPr>
            <p:nvPr/>
          </p:nvSpPr>
          <p:spPr bwMode="auto">
            <a:xfrm rot="5400000">
              <a:off x="2238" y="3084"/>
              <a:ext cx="5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100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F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9367" name="Rectangle 40"/>
            <p:cNvSpPr>
              <a:spLocks noChangeArrowheads="1"/>
            </p:cNvSpPr>
            <p:nvPr/>
          </p:nvSpPr>
          <p:spPr bwMode="auto">
            <a:xfrm>
              <a:off x="1383" y="254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9368" name="Group 41"/>
            <p:cNvGrpSpPr>
              <a:grpSpLocks/>
            </p:cNvGrpSpPr>
            <p:nvPr/>
          </p:nvGrpSpPr>
          <p:grpSpPr bwMode="auto">
            <a:xfrm>
              <a:off x="2129" y="3157"/>
              <a:ext cx="240" cy="90"/>
              <a:chOff x="4624" y="2478"/>
              <a:chExt cx="240" cy="90"/>
            </a:xfrm>
          </p:grpSpPr>
          <p:sp>
            <p:nvSpPr>
              <p:cNvPr id="99369" name="Line 42"/>
              <p:cNvSpPr>
                <a:spLocks noChangeShapeType="1"/>
              </p:cNvSpPr>
              <p:nvPr/>
            </p:nvSpPr>
            <p:spPr bwMode="auto">
              <a:xfrm>
                <a:off x="462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9370" name="Line 43"/>
              <p:cNvSpPr>
                <a:spLocks noChangeShapeType="1"/>
              </p:cNvSpPr>
              <p:nvPr/>
            </p:nvSpPr>
            <p:spPr bwMode="auto">
              <a:xfrm>
                <a:off x="462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25324" name="Group 44"/>
          <p:cNvGrpSpPr>
            <a:grpSpLocks/>
          </p:cNvGrpSpPr>
          <p:nvPr/>
        </p:nvGrpSpPr>
        <p:grpSpPr bwMode="auto">
          <a:xfrm>
            <a:off x="539749" y="3602039"/>
            <a:ext cx="2974975" cy="1627189"/>
            <a:chOff x="2381" y="1362"/>
            <a:chExt cx="1874" cy="1025"/>
          </a:xfrm>
        </p:grpSpPr>
        <p:graphicFrame>
          <p:nvGraphicFramePr>
            <p:cNvPr id="99339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2910293"/>
                </p:ext>
              </p:extLst>
            </p:nvPr>
          </p:nvGraphicFramePr>
          <p:xfrm>
            <a:off x="2796" y="1732"/>
            <a:ext cx="35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473" name="Equation" r:id="rId9" imgW="279360" imgH="203040" progId="Equation.DSMT4">
                    <p:embed/>
                  </p:oleObj>
                </mc:Choice>
                <mc:Fallback>
                  <p:oleObj name="Equation" r:id="rId9" imgW="279360" imgH="20304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6" y="1732"/>
                          <a:ext cx="35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40" name="Oval 46"/>
            <p:cNvSpPr>
              <a:spLocks noChangeArrowheads="1"/>
            </p:cNvSpPr>
            <p:nvPr/>
          </p:nvSpPr>
          <p:spPr bwMode="auto">
            <a:xfrm>
              <a:off x="2381" y="170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41" name="Line 47"/>
            <p:cNvSpPr>
              <a:spLocks noChangeShapeType="1"/>
            </p:cNvSpPr>
            <p:nvPr/>
          </p:nvSpPr>
          <p:spPr bwMode="auto">
            <a:xfrm>
              <a:off x="2562" y="1434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42" name="Line 48"/>
            <p:cNvSpPr>
              <a:spLocks noChangeShapeType="1"/>
            </p:cNvSpPr>
            <p:nvPr/>
          </p:nvSpPr>
          <p:spPr bwMode="auto">
            <a:xfrm>
              <a:off x="2569" y="1434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43" name="Line 49"/>
            <p:cNvSpPr>
              <a:spLocks noChangeShapeType="1"/>
            </p:cNvSpPr>
            <p:nvPr/>
          </p:nvSpPr>
          <p:spPr bwMode="auto">
            <a:xfrm>
              <a:off x="3878" y="1434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44" name="Line 50"/>
            <p:cNvSpPr>
              <a:spLocks noChangeShapeType="1"/>
            </p:cNvSpPr>
            <p:nvPr/>
          </p:nvSpPr>
          <p:spPr bwMode="auto">
            <a:xfrm>
              <a:off x="3878" y="2069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45" name="Line 51"/>
            <p:cNvSpPr>
              <a:spLocks noChangeShapeType="1"/>
            </p:cNvSpPr>
            <p:nvPr/>
          </p:nvSpPr>
          <p:spPr bwMode="auto">
            <a:xfrm>
              <a:off x="2562" y="2387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46" name="Text Box 52"/>
            <p:cNvSpPr txBox="1">
              <a:spLocks noChangeArrowheads="1"/>
            </p:cNvSpPr>
            <p:nvPr/>
          </p:nvSpPr>
          <p:spPr bwMode="auto">
            <a:xfrm>
              <a:off x="3055" y="1455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5k</a:t>
              </a:r>
            </a:p>
          </p:txBody>
        </p:sp>
        <p:sp>
          <p:nvSpPr>
            <p:cNvPr id="99347" name="Text Box 53"/>
            <p:cNvSpPr txBox="1">
              <a:spLocks noChangeArrowheads="1"/>
            </p:cNvSpPr>
            <p:nvPr/>
          </p:nvSpPr>
          <p:spPr bwMode="auto">
            <a:xfrm>
              <a:off x="2673" y="1571"/>
              <a:ext cx="207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  <a:p>
              <a:pPr algn="ctr" eaLnBrk="1" hangingPunct="1"/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99348" name="Line 54"/>
            <p:cNvSpPr>
              <a:spLocks noChangeShapeType="1"/>
            </p:cNvSpPr>
            <p:nvPr/>
          </p:nvSpPr>
          <p:spPr bwMode="auto">
            <a:xfrm>
              <a:off x="3787" y="1479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9349" name="Text Box 55"/>
            <p:cNvSpPr txBox="1">
              <a:spLocks noChangeArrowheads="1"/>
            </p:cNvSpPr>
            <p:nvPr/>
          </p:nvSpPr>
          <p:spPr bwMode="auto">
            <a:xfrm>
              <a:off x="3533" y="1607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9350" name="Text Box 56"/>
            <p:cNvSpPr txBox="1">
              <a:spLocks noChangeArrowheads="1"/>
            </p:cNvSpPr>
            <p:nvPr/>
          </p:nvSpPr>
          <p:spPr bwMode="auto">
            <a:xfrm rot="5400000">
              <a:off x="3858" y="1921"/>
              <a:ext cx="5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100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F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9351" name="Rectangle 57"/>
            <p:cNvSpPr>
              <a:spLocks noChangeArrowheads="1"/>
            </p:cNvSpPr>
            <p:nvPr/>
          </p:nvSpPr>
          <p:spPr bwMode="auto">
            <a:xfrm>
              <a:off x="3016" y="136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99352" name="Group 58"/>
            <p:cNvGrpSpPr>
              <a:grpSpLocks/>
            </p:cNvGrpSpPr>
            <p:nvPr/>
          </p:nvGrpSpPr>
          <p:grpSpPr bwMode="auto">
            <a:xfrm>
              <a:off x="3762" y="1978"/>
              <a:ext cx="240" cy="90"/>
              <a:chOff x="4624" y="2478"/>
              <a:chExt cx="240" cy="90"/>
            </a:xfrm>
          </p:grpSpPr>
          <p:sp>
            <p:nvSpPr>
              <p:cNvPr id="99353" name="Line 59"/>
              <p:cNvSpPr>
                <a:spLocks noChangeShapeType="1"/>
              </p:cNvSpPr>
              <p:nvPr/>
            </p:nvSpPr>
            <p:spPr bwMode="auto">
              <a:xfrm>
                <a:off x="462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9354" name="Line 60"/>
              <p:cNvSpPr>
                <a:spLocks noChangeShapeType="1"/>
              </p:cNvSpPr>
              <p:nvPr/>
            </p:nvSpPr>
            <p:spPr bwMode="auto">
              <a:xfrm>
                <a:off x="462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225341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010102"/>
              </p:ext>
            </p:extLst>
          </p:nvPr>
        </p:nvGraphicFramePr>
        <p:xfrm>
          <a:off x="4269581" y="3925329"/>
          <a:ext cx="397986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474" name="Equation" r:id="rId11" imgW="1968480" imgH="190440" progId="Equation.DSMT4">
                  <p:embed/>
                </p:oleObj>
              </mc:Choice>
              <mc:Fallback>
                <p:oleObj name="Equation" r:id="rId11" imgW="1968480" imgH="19044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9581" y="3925329"/>
                        <a:ext cx="3979862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2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016819"/>
              </p:ext>
            </p:extLst>
          </p:nvPr>
        </p:nvGraphicFramePr>
        <p:xfrm>
          <a:off x="4377531" y="5238194"/>
          <a:ext cx="3014663" cy="763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475" name="Equation" r:id="rId13" imgW="1574640" imgH="355320" progId="Equation.DSMT4">
                  <p:embed/>
                </p:oleObj>
              </mc:Choice>
              <mc:Fallback>
                <p:oleObj name="Equation" r:id="rId13" imgW="1574640" imgH="35532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7531" y="5238194"/>
                        <a:ext cx="3014663" cy="763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3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472499"/>
              </p:ext>
            </p:extLst>
          </p:nvPr>
        </p:nvGraphicFramePr>
        <p:xfrm>
          <a:off x="4275138" y="4565650"/>
          <a:ext cx="26336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476" name="Equation" r:id="rId15" imgW="1143000" imgH="215640" progId="Equation.DSMT4">
                  <p:embed/>
                </p:oleObj>
              </mc:Choice>
              <mc:Fallback>
                <p:oleObj name="Equation" r:id="rId15" imgW="1143000" imgH="21564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138" y="4565650"/>
                        <a:ext cx="26336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4" name="Text Box 64"/>
          <p:cNvSpPr txBox="1">
            <a:spLocks noChangeArrowheads="1"/>
          </p:cNvSpPr>
          <p:nvPr/>
        </p:nvSpPr>
        <p:spPr bwMode="auto">
          <a:xfrm>
            <a:off x="3851275" y="3252688"/>
            <a:ext cx="32400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</a:rPr>
              <a:t>阶跃响应为：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5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5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2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2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2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3" grpId="0"/>
      <p:bldP spid="22534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Text Box 2"/>
          <p:cNvSpPr txBox="1">
            <a:spLocks noChangeArrowheads="1"/>
          </p:cNvSpPr>
          <p:nvPr/>
        </p:nvSpPr>
        <p:spPr bwMode="auto">
          <a:xfrm>
            <a:off x="900113" y="765175"/>
            <a:ext cx="63373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</a:rPr>
              <a:t>由齐次性和叠加性得实际响应为：</a:t>
            </a:r>
          </a:p>
        </p:txBody>
      </p:sp>
      <p:graphicFrame>
        <p:nvGraphicFramePr>
          <p:cNvPr id="2263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862161"/>
              </p:ext>
            </p:extLst>
          </p:nvPr>
        </p:nvGraphicFramePr>
        <p:xfrm>
          <a:off x="2239293" y="1360488"/>
          <a:ext cx="4785612" cy="86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203" name="Equation" r:id="rId3" imgW="2323800" imgH="431640" progId="Equation.DSMT4">
                  <p:embed/>
                </p:oleObj>
              </mc:Choice>
              <mc:Fallback>
                <p:oleObj name="Equation" r:id="rId3" imgW="232380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293" y="1360488"/>
                        <a:ext cx="4785612" cy="86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329884"/>
              </p:ext>
            </p:extLst>
          </p:nvPr>
        </p:nvGraphicFramePr>
        <p:xfrm>
          <a:off x="2555776" y="2587625"/>
          <a:ext cx="4341813" cy="478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204" name="Equation" r:id="rId5" imgW="2108160" imgH="228600" progId="Equation.DSMT4">
                  <p:embed/>
                </p:oleObj>
              </mc:Choice>
              <mc:Fallback>
                <p:oleObj name="Equation" r:id="rId5" imgW="210816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587625"/>
                        <a:ext cx="4341813" cy="4781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357" name="Group 11"/>
          <p:cNvGrpSpPr>
            <a:grpSpLocks/>
          </p:cNvGrpSpPr>
          <p:nvPr/>
        </p:nvGrpSpPr>
        <p:grpSpPr bwMode="auto">
          <a:xfrm>
            <a:off x="684217" y="3602039"/>
            <a:ext cx="3206752" cy="1627189"/>
            <a:chOff x="2245" y="1362"/>
            <a:chExt cx="2020" cy="1025"/>
          </a:xfrm>
        </p:grpSpPr>
        <p:graphicFrame>
          <p:nvGraphicFramePr>
            <p:cNvPr id="10037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9289585"/>
                </p:ext>
              </p:extLst>
            </p:nvPr>
          </p:nvGraphicFramePr>
          <p:xfrm>
            <a:off x="2771" y="1777"/>
            <a:ext cx="381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205" name="Equation" r:id="rId7" imgW="355320" imgH="203040" progId="Equation.DSMT4">
                    <p:embed/>
                  </p:oleObj>
                </mc:Choice>
                <mc:Fallback>
                  <p:oleObj name="Equation" r:id="rId7" imgW="355320" imgH="20304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" y="1777"/>
                          <a:ext cx="381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376" name="Oval 13"/>
            <p:cNvSpPr>
              <a:spLocks noChangeArrowheads="1"/>
            </p:cNvSpPr>
            <p:nvPr/>
          </p:nvSpPr>
          <p:spPr bwMode="auto">
            <a:xfrm>
              <a:off x="2381" y="170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77" name="Line 14"/>
            <p:cNvSpPr>
              <a:spLocks noChangeShapeType="1"/>
            </p:cNvSpPr>
            <p:nvPr/>
          </p:nvSpPr>
          <p:spPr bwMode="auto">
            <a:xfrm>
              <a:off x="2562" y="1434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78" name="Line 15"/>
            <p:cNvSpPr>
              <a:spLocks noChangeShapeType="1"/>
            </p:cNvSpPr>
            <p:nvPr/>
          </p:nvSpPr>
          <p:spPr bwMode="auto">
            <a:xfrm>
              <a:off x="2569" y="1434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79" name="Line 16"/>
            <p:cNvSpPr>
              <a:spLocks noChangeShapeType="1"/>
            </p:cNvSpPr>
            <p:nvPr/>
          </p:nvSpPr>
          <p:spPr bwMode="auto">
            <a:xfrm>
              <a:off x="3878" y="1434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80" name="Line 17"/>
            <p:cNvSpPr>
              <a:spLocks noChangeShapeType="1"/>
            </p:cNvSpPr>
            <p:nvPr/>
          </p:nvSpPr>
          <p:spPr bwMode="auto">
            <a:xfrm>
              <a:off x="3878" y="2069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81" name="Line 18"/>
            <p:cNvSpPr>
              <a:spLocks noChangeShapeType="1"/>
            </p:cNvSpPr>
            <p:nvPr/>
          </p:nvSpPr>
          <p:spPr bwMode="auto">
            <a:xfrm>
              <a:off x="2562" y="2387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82" name="Text Box 19"/>
            <p:cNvSpPr txBox="1">
              <a:spLocks noChangeArrowheads="1"/>
            </p:cNvSpPr>
            <p:nvPr/>
          </p:nvSpPr>
          <p:spPr bwMode="auto">
            <a:xfrm>
              <a:off x="2977" y="1455"/>
              <a:ext cx="40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5k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anose="05050102010706020507" pitchFamily="18" charset="2"/>
                </a:rPr>
                <a:t>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383" name="Text Box 20"/>
            <p:cNvSpPr txBox="1">
              <a:spLocks noChangeArrowheads="1"/>
            </p:cNvSpPr>
            <p:nvPr/>
          </p:nvSpPr>
          <p:spPr bwMode="auto">
            <a:xfrm>
              <a:off x="2245" y="1566"/>
              <a:ext cx="207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  <a:p>
              <a:pPr algn="ctr" eaLnBrk="1" hangingPunct="1"/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100384" name="Line 21"/>
            <p:cNvSpPr>
              <a:spLocks noChangeShapeType="1"/>
            </p:cNvSpPr>
            <p:nvPr/>
          </p:nvSpPr>
          <p:spPr bwMode="auto">
            <a:xfrm>
              <a:off x="3787" y="1479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85" name="Text Box 22"/>
            <p:cNvSpPr txBox="1">
              <a:spLocks noChangeArrowheads="1"/>
            </p:cNvSpPr>
            <p:nvPr/>
          </p:nvSpPr>
          <p:spPr bwMode="auto">
            <a:xfrm>
              <a:off x="3533" y="1525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386" name="Text Box 23"/>
            <p:cNvSpPr txBox="1">
              <a:spLocks noChangeArrowheads="1"/>
            </p:cNvSpPr>
            <p:nvPr/>
          </p:nvSpPr>
          <p:spPr bwMode="auto">
            <a:xfrm rot="5400000">
              <a:off x="3868" y="1888"/>
              <a:ext cx="5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100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F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387" name="Rectangle 24"/>
            <p:cNvSpPr>
              <a:spLocks noChangeArrowheads="1"/>
            </p:cNvSpPr>
            <p:nvPr/>
          </p:nvSpPr>
          <p:spPr bwMode="auto">
            <a:xfrm>
              <a:off x="3016" y="136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00388" name="Group 25"/>
            <p:cNvGrpSpPr>
              <a:grpSpLocks/>
            </p:cNvGrpSpPr>
            <p:nvPr/>
          </p:nvGrpSpPr>
          <p:grpSpPr bwMode="auto">
            <a:xfrm>
              <a:off x="3753" y="1978"/>
              <a:ext cx="240" cy="90"/>
              <a:chOff x="4615" y="2478"/>
              <a:chExt cx="240" cy="90"/>
            </a:xfrm>
          </p:grpSpPr>
          <p:sp>
            <p:nvSpPr>
              <p:cNvPr id="100389" name="Line 26"/>
              <p:cNvSpPr>
                <a:spLocks noChangeShapeType="1"/>
              </p:cNvSpPr>
              <p:nvPr/>
            </p:nvSpPr>
            <p:spPr bwMode="auto">
              <a:xfrm>
                <a:off x="4615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0390" name="Line 27"/>
              <p:cNvSpPr>
                <a:spLocks noChangeShapeType="1"/>
              </p:cNvSpPr>
              <p:nvPr/>
            </p:nvSpPr>
            <p:spPr bwMode="auto">
              <a:xfrm>
                <a:off x="4615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0358" name="Group 28"/>
          <p:cNvGrpSpPr>
            <a:grpSpLocks/>
          </p:cNvGrpSpPr>
          <p:nvPr/>
        </p:nvGrpSpPr>
        <p:grpSpPr bwMode="auto">
          <a:xfrm>
            <a:off x="4745038" y="3602042"/>
            <a:ext cx="3175000" cy="1627189"/>
            <a:chOff x="630" y="2541"/>
            <a:chExt cx="2000" cy="1025"/>
          </a:xfrm>
        </p:grpSpPr>
        <p:graphicFrame>
          <p:nvGraphicFramePr>
            <p:cNvPr id="100359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1447072"/>
                </p:ext>
              </p:extLst>
            </p:nvPr>
          </p:nvGraphicFramePr>
          <p:xfrm>
            <a:off x="1156" y="2976"/>
            <a:ext cx="81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206" name="Equation" r:id="rId9" imgW="761760" imgH="203040" progId="Equation.DSMT4">
                    <p:embed/>
                  </p:oleObj>
                </mc:Choice>
                <mc:Fallback>
                  <p:oleObj name="Equation" r:id="rId9" imgW="761760" imgH="20304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2976"/>
                          <a:ext cx="81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360" name="Oval 30"/>
            <p:cNvSpPr>
              <a:spLocks noChangeArrowheads="1"/>
            </p:cNvSpPr>
            <p:nvPr/>
          </p:nvSpPr>
          <p:spPr bwMode="auto">
            <a:xfrm>
              <a:off x="748" y="288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61" name="Line 31"/>
            <p:cNvSpPr>
              <a:spLocks noChangeShapeType="1"/>
            </p:cNvSpPr>
            <p:nvPr/>
          </p:nvSpPr>
          <p:spPr bwMode="auto">
            <a:xfrm>
              <a:off x="929" y="2613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62" name="Line 32"/>
            <p:cNvSpPr>
              <a:spLocks noChangeShapeType="1"/>
            </p:cNvSpPr>
            <p:nvPr/>
          </p:nvSpPr>
          <p:spPr bwMode="auto">
            <a:xfrm>
              <a:off x="936" y="2613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63" name="Line 33"/>
            <p:cNvSpPr>
              <a:spLocks noChangeShapeType="1"/>
            </p:cNvSpPr>
            <p:nvPr/>
          </p:nvSpPr>
          <p:spPr bwMode="auto">
            <a:xfrm>
              <a:off x="2245" y="2613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64" name="Line 34"/>
            <p:cNvSpPr>
              <a:spLocks noChangeShapeType="1"/>
            </p:cNvSpPr>
            <p:nvPr/>
          </p:nvSpPr>
          <p:spPr bwMode="auto">
            <a:xfrm>
              <a:off x="2245" y="3248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65" name="Line 35"/>
            <p:cNvSpPr>
              <a:spLocks noChangeShapeType="1"/>
            </p:cNvSpPr>
            <p:nvPr/>
          </p:nvSpPr>
          <p:spPr bwMode="auto">
            <a:xfrm>
              <a:off x="929" y="3566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66" name="Text Box 36"/>
            <p:cNvSpPr txBox="1">
              <a:spLocks noChangeArrowheads="1"/>
            </p:cNvSpPr>
            <p:nvPr/>
          </p:nvSpPr>
          <p:spPr bwMode="auto">
            <a:xfrm>
              <a:off x="1344" y="2634"/>
              <a:ext cx="40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5k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anose="05050102010706020507" pitchFamily="18" charset="2"/>
                </a:rPr>
                <a:t>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367" name="Text Box 37"/>
            <p:cNvSpPr txBox="1">
              <a:spLocks noChangeArrowheads="1"/>
            </p:cNvSpPr>
            <p:nvPr/>
          </p:nvSpPr>
          <p:spPr bwMode="auto">
            <a:xfrm>
              <a:off x="630" y="2772"/>
              <a:ext cx="207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  <a:p>
              <a:pPr algn="ctr" eaLnBrk="1" hangingPunct="1"/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100368" name="Line 38"/>
            <p:cNvSpPr>
              <a:spLocks noChangeShapeType="1"/>
            </p:cNvSpPr>
            <p:nvPr/>
          </p:nvSpPr>
          <p:spPr bwMode="auto">
            <a:xfrm>
              <a:off x="2154" y="2658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0369" name="Text Box 39"/>
            <p:cNvSpPr txBox="1">
              <a:spLocks noChangeArrowheads="1"/>
            </p:cNvSpPr>
            <p:nvPr/>
          </p:nvSpPr>
          <p:spPr bwMode="auto">
            <a:xfrm>
              <a:off x="1900" y="2704"/>
              <a:ext cx="2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370" name="Text Box 40"/>
            <p:cNvSpPr txBox="1">
              <a:spLocks noChangeArrowheads="1"/>
            </p:cNvSpPr>
            <p:nvPr/>
          </p:nvSpPr>
          <p:spPr bwMode="auto">
            <a:xfrm rot="5400000">
              <a:off x="2233" y="3101"/>
              <a:ext cx="5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100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F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371" name="Rectangle 41"/>
            <p:cNvSpPr>
              <a:spLocks noChangeArrowheads="1"/>
            </p:cNvSpPr>
            <p:nvPr/>
          </p:nvSpPr>
          <p:spPr bwMode="auto">
            <a:xfrm>
              <a:off x="1383" y="254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00372" name="Group 42"/>
            <p:cNvGrpSpPr>
              <a:grpSpLocks/>
            </p:cNvGrpSpPr>
            <p:nvPr/>
          </p:nvGrpSpPr>
          <p:grpSpPr bwMode="auto">
            <a:xfrm>
              <a:off x="2133" y="3157"/>
              <a:ext cx="240" cy="90"/>
              <a:chOff x="4628" y="2478"/>
              <a:chExt cx="240" cy="90"/>
            </a:xfrm>
          </p:grpSpPr>
          <p:sp>
            <p:nvSpPr>
              <p:cNvPr id="100373" name="Line 43"/>
              <p:cNvSpPr>
                <a:spLocks noChangeShapeType="1"/>
              </p:cNvSpPr>
              <p:nvPr/>
            </p:nvSpPr>
            <p:spPr bwMode="auto">
              <a:xfrm>
                <a:off x="4628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0374" name="Line 44"/>
              <p:cNvSpPr>
                <a:spLocks noChangeShapeType="1"/>
              </p:cNvSpPr>
              <p:nvPr/>
            </p:nvSpPr>
            <p:spPr bwMode="auto">
              <a:xfrm>
                <a:off x="4628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2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393835"/>
              </p:ext>
            </p:extLst>
          </p:nvPr>
        </p:nvGraphicFramePr>
        <p:xfrm>
          <a:off x="2130655" y="1709254"/>
          <a:ext cx="3816424" cy="497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99" name="Equation" r:id="rId3" imgW="1879560" imgH="241200" progId="Equation.DSMT4">
                  <p:embed/>
                </p:oleObj>
              </mc:Choice>
              <mc:Fallback>
                <p:oleObj name="Equation" r:id="rId3" imgW="187956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655" y="1709254"/>
                        <a:ext cx="3816424" cy="497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509817"/>
              </p:ext>
            </p:extLst>
          </p:nvPr>
        </p:nvGraphicFramePr>
        <p:xfrm>
          <a:off x="1331640" y="2629256"/>
          <a:ext cx="4294931" cy="406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12" name="Equation" r:id="rId5" imgW="2234880" imgH="203040" progId="Equation.DSMT4">
                  <p:embed/>
                </p:oleObj>
              </mc:Choice>
              <mc:Fallback>
                <p:oleObj name="Equation" r:id="rId5" imgW="223488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629256"/>
                        <a:ext cx="4294931" cy="406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826884"/>
              </p:ext>
            </p:extLst>
          </p:nvPr>
        </p:nvGraphicFramePr>
        <p:xfrm>
          <a:off x="2159602" y="3240590"/>
          <a:ext cx="1023856" cy="488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13" name="Equation" r:id="rId7" imgW="507960" imgH="241200" progId="Equation.DSMT4">
                  <p:embed/>
                </p:oleObj>
              </mc:Choice>
              <mc:Fallback>
                <p:oleObj name="Equation" r:id="rId7" imgW="507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602" y="3240590"/>
                        <a:ext cx="1023856" cy="488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722965"/>
              </p:ext>
            </p:extLst>
          </p:nvPr>
        </p:nvGraphicFramePr>
        <p:xfrm>
          <a:off x="2130655" y="4758924"/>
          <a:ext cx="5105641" cy="968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14" name="Equation" r:id="rId9" imgW="2171520" imgH="457200" progId="Equation.DSMT4">
                  <p:embed/>
                </p:oleObj>
              </mc:Choice>
              <mc:Fallback>
                <p:oleObj name="Equation" r:id="rId9" imgW="217152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655" y="4758924"/>
                        <a:ext cx="5105641" cy="968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828089"/>
              </p:ext>
            </p:extLst>
          </p:nvPr>
        </p:nvGraphicFramePr>
        <p:xfrm>
          <a:off x="1331640" y="4039877"/>
          <a:ext cx="378301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15" name="Equation" r:id="rId11" imgW="1955520" imgH="203040" progId="Equation.DSMT4">
                  <p:embed/>
                </p:oleObj>
              </mc:Choice>
              <mc:Fallback>
                <p:oleObj name="Equation" r:id="rId11" imgW="195552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039877"/>
                        <a:ext cx="3783012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41" name="Text Box 13"/>
          <p:cNvSpPr txBox="1">
            <a:spLocks noChangeArrowheads="1"/>
          </p:cNvSpPr>
          <p:nvPr/>
        </p:nvSpPr>
        <p:spPr bwMode="auto">
          <a:xfrm>
            <a:off x="899592" y="1151761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分段表示为：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2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2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2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41" grpId="0" build="p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 Box 2"/>
          <p:cNvSpPr txBox="1">
            <a:spLocks noChangeArrowheads="1"/>
          </p:cNvSpPr>
          <p:nvPr/>
        </p:nvSpPr>
        <p:spPr bwMode="auto">
          <a:xfrm>
            <a:off x="765367" y="2204864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分段表示为：</a:t>
            </a:r>
          </a:p>
        </p:txBody>
      </p:sp>
      <p:graphicFrame>
        <p:nvGraphicFramePr>
          <p:cNvPr id="2293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773658"/>
              </p:ext>
            </p:extLst>
          </p:nvPr>
        </p:nvGraphicFramePr>
        <p:xfrm>
          <a:off x="2628077" y="1929078"/>
          <a:ext cx="4972050" cy="995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0" name="Equation" r:id="rId3" imgW="2476440" imgH="507960" progId="Equation.DSMT4">
                  <p:embed/>
                </p:oleObj>
              </mc:Choice>
              <mc:Fallback>
                <p:oleObj name="Equation" r:id="rId3" imgW="2476440" imgH="5079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077" y="1929078"/>
                        <a:ext cx="4972050" cy="995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9380" name="Group 4"/>
          <p:cNvGrpSpPr>
            <a:grpSpLocks/>
          </p:cNvGrpSpPr>
          <p:nvPr/>
        </p:nvGrpSpPr>
        <p:grpSpPr bwMode="auto">
          <a:xfrm>
            <a:off x="1331913" y="3343275"/>
            <a:ext cx="5846763" cy="2822575"/>
            <a:chOff x="839" y="2106"/>
            <a:chExt cx="3683" cy="1778"/>
          </a:xfrm>
        </p:grpSpPr>
        <p:sp>
          <p:nvSpPr>
            <p:cNvPr id="102406" name="Line 5"/>
            <p:cNvSpPr>
              <a:spLocks noChangeShapeType="1"/>
            </p:cNvSpPr>
            <p:nvPr/>
          </p:nvSpPr>
          <p:spPr bwMode="auto">
            <a:xfrm>
              <a:off x="2154" y="3158"/>
              <a:ext cx="19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407" name="Line 6"/>
            <p:cNvSpPr>
              <a:spLocks noChangeShapeType="1"/>
            </p:cNvSpPr>
            <p:nvPr/>
          </p:nvSpPr>
          <p:spPr bwMode="auto">
            <a:xfrm flipV="1">
              <a:off x="2290" y="2250"/>
              <a:ext cx="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408" name="Freeform 7"/>
            <p:cNvSpPr>
              <a:spLocks/>
            </p:cNvSpPr>
            <p:nvPr/>
          </p:nvSpPr>
          <p:spPr bwMode="auto">
            <a:xfrm>
              <a:off x="2290" y="2341"/>
              <a:ext cx="726" cy="454"/>
            </a:xfrm>
            <a:custGeom>
              <a:avLst/>
              <a:gdLst>
                <a:gd name="T0" fmla="*/ 0 w 1200"/>
                <a:gd name="T1" fmla="*/ 0 h 450"/>
                <a:gd name="T2" fmla="*/ 87 w 1200"/>
                <a:gd name="T3" fmla="*/ 194 h 450"/>
                <a:gd name="T4" fmla="*/ 232 w 1200"/>
                <a:gd name="T5" fmla="*/ 339 h 450"/>
                <a:gd name="T6" fmla="*/ 552 w 1200"/>
                <a:gd name="T7" fmla="*/ 436 h 450"/>
                <a:gd name="T8" fmla="*/ 726 w 1200"/>
                <a:gd name="T9" fmla="*/ 446 h 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409" name="Text Box 8"/>
            <p:cNvSpPr txBox="1">
              <a:spLocks noChangeArrowheads="1"/>
            </p:cNvSpPr>
            <p:nvPr/>
          </p:nvSpPr>
          <p:spPr bwMode="auto">
            <a:xfrm>
              <a:off x="4192" y="3013"/>
              <a:ext cx="33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(s)</a:t>
              </a:r>
            </a:p>
          </p:txBody>
        </p:sp>
        <p:sp>
          <p:nvSpPr>
            <p:cNvPr id="102410" name="Text Box 9"/>
            <p:cNvSpPr txBox="1">
              <a:spLocks noChangeArrowheads="1"/>
            </p:cNvSpPr>
            <p:nvPr/>
          </p:nvSpPr>
          <p:spPr bwMode="auto">
            <a:xfrm>
              <a:off x="2335" y="2106"/>
              <a:ext cx="8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(mA)</a:t>
              </a:r>
            </a:p>
          </p:txBody>
        </p:sp>
        <p:sp>
          <p:nvSpPr>
            <p:cNvPr id="102411" name="Text Box 10"/>
            <p:cNvSpPr txBox="1">
              <a:spLocks noChangeArrowheads="1"/>
            </p:cNvSpPr>
            <p:nvPr/>
          </p:nvSpPr>
          <p:spPr bwMode="auto">
            <a:xfrm>
              <a:off x="2109" y="3113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102412" name="Text Box 11"/>
            <p:cNvSpPr txBox="1">
              <a:spLocks noChangeArrowheads="1"/>
            </p:cNvSpPr>
            <p:nvPr/>
          </p:nvSpPr>
          <p:spPr bwMode="auto">
            <a:xfrm>
              <a:off x="2032" y="2230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102413" name="Line 12"/>
            <p:cNvSpPr>
              <a:spLocks noChangeShapeType="1"/>
            </p:cNvSpPr>
            <p:nvPr/>
          </p:nvSpPr>
          <p:spPr bwMode="auto">
            <a:xfrm flipV="1">
              <a:off x="2259" y="2348"/>
              <a:ext cx="56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414" name="Line 13"/>
            <p:cNvSpPr>
              <a:spLocks noChangeShapeType="1"/>
            </p:cNvSpPr>
            <p:nvPr/>
          </p:nvSpPr>
          <p:spPr bwMode="auto">
            <a:xfrm flipH="1" flipV="1">
              <a:off x="2290" y="2795"/>
              <a:ext cx="726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415" name="Line 14"/>
            <p:cNvSpPr>
              <a:spLocks noChangeShapeType="1"/>
            </p:cNvSpPr>
            <p:nvPr/>
          </p:nvSpPr>
          <p:spPr bwMode="auto">
            <a:xfrm>
              <a:off x="3016" y="2795"/>
              <a:ext cx="0" cy="99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416" name="Freeform 15"/>
            <p:cNvSpPr>
              <a:spLocks/>
            </p:cNvSpPr>
            <p:nvPr/>
          </p:nvSpPr>
          <p:spPr bwMode="auto">
            <a:xfrm flipV="1">
              <a:off x="3016" y="3203"/>
              <a:ext cx="952" cy="578"/>
            </a:xfrm>
            <a:custGeom>
              <a:avLst/>
              <a:gdLst>
                <a:gd name="T0" fmla="*/ 0 w 1200"/>
                <a:gd name="T1" fmla="*/ 0 h 450"/>
                <a:gd name="T2" fmla="*/ 114 w 1200"/>
                <a:gd name="T3" fmla="*/ 247 h 450"/>
                <a:gd name="T4" fmla="*/ 305 w 1200"/>
                <a:gd name="T5" fmla="*/ 432 h 450"/>
                <a:gd name="T6" fmla="*/ 724 w 1200"/>
                <a:gd name="T7" fmla="*/ 555 h 450"/>
                <a:gd name="T8" fmla="*/ 952 w 1200"/>
                <a:gd name="T9" fmla="*/ 568 h 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417" name="Line 16"/>
            <p:cNvSpPr>
              <a:spLocks noChangeShapeType="1"/>
            </p:cNvSpPr>
            <p:nvPr/>
          </p:nvSpPr>
          <p:spPr bwMode="auto">
            <a:xfrm flipH="1" flipV="1">
              <a:off x="2290" y="3747"/>
              <a:ext cx="726" cy="0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418" name="Text Box 17"/>
            <p:cNvSpPr txBox="1">
              <a:spLocks noChangeArrowheads="1"/>
            </p:cNvSpPr>
            <p:nvPr/>
          </p:nvSpPr>
          <p:spPr bwMode="auto">
            <a:xfrm>
              <a:off x="1757" y="3632"/>
              <a:ext cx="53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-0.632</a:t>
              </a:r>
            </a:p>
          </p:txBody>
        </p:sp>
        <p:sp>
          <p:nvSpPr>
            <p:cNvPr id="102419" name="Text Box 18"/>
            <p:cNvSpPr txBox="1">
              <a:spLocks noChangeArrowheads="1"/>
            </p:cNvSpPr>
            <p:nvPr/>
          </p:nvSpPr>
          <p:spPr bwMode="auto">
            <a:xfrm>
              <a:off x="2699" y="3113"/>
              <a:ext cx="3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0.5</a:t>
              </a:r>
            </a:p>
          </p:txBody>
        </p:sp>
        <p:sp>
          <p:nvSpPr>
            <p:cNvPr id="102420" name="Text Box 19"/>
            <p:cNvSpPr txBox="1">
              <a:spLocks noChangeArrowheads="1"/>
            </p:cNvSpPr>
            <p:nvPr/>
          </p:nvSpPr>
          <p:spPr bwMode="auto">
            <a:xfrm>
              <a:off x="839" y="2124"/>
              <a:ext cx="4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 dirty="0">
                  <a:solidFill>
                    <a:schemeClr val="tx1"/>
                  </a:solidFill>
                  <a:latin typeface="Times New Roman" pitchFamily="18" charset="0"/>
                </a:rPr>
                <a:t>波形</a:t>
              </a:r>
            </a:p>
          </p:txBody>
        </p:sp>
        <p:sp>
          <p:nvSpPr>
            <p:cNvPr id="102421" name="Text Box 20"/>
            <p:cNvSpPr txBox="1">
              <a:spLocks noChangeArrowheads="1"/>
            </p:cNvSpPr>
            <p:nvPr/>
          </p:nvSpPr>
          <p:spPr bwMode="auto">
            <a:xfrm>
              <a:off x="1810" y="2659"/>
              <a:ext cx="48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0.368</a:t>
              </a:r>
            </a:p>
          </p:txBody>
        </p:sp>
      </p:grpSp>
      <p:graphicFrame>
        <p:nvGraphicFramePr>
          <p:cNvPr id="22940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215040"/>
              </p:ext>
            </p:extLst>
          </p:nvPr>
        </p:nvGraphicFramePr>
        <p:xfrm>
          <a:off x="999331" y="836712"/>
          <a:ext cx="6729413" cy="515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1" name="Equation" r:id="rId5" imgW="3035160" imgH="253800" progId="Equation.DSMT4">
                  <p:embed/>
                </p:oleObj>
              </mc:Choice>
              <mc:Fallback>
                <p:oleObj name="Equation" r:id="rId5" imgW="3035160" imgH="2538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331" y="836712"/>
                        <a:ext cx="6729413" cy="515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9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9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build="p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02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268978"/>
              </p:ext>
            </p:extLst>
          </p:nvPr>
        </p:nvGraphicFramePr>
        <p:xfrm>
          <a:off x="2411414" y="5157192"/>
          <a:ext cx="2376864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79" name="Equation" r:id="rId3" imgW="1320480" imgH="228600" progId="Equation.DSMT4">
                  <p:embed/>
                </p:oleObj>
              </mc:Choice>
              <mc:Fallback>
                <p:oleObj name="Equation" r:id="rId3" imgW="1320480" imgH="2286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4" y="5157192"/>
                        <a:ext cx="2376864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26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150065"/>
              </p:ext>
            </p:extLst>
          </p:nvPr>
        </p:nvGraphicFramePr>
        <p:xfrm>
          <a:off x="2450238" y="5805264"/>
          <a:ext cx="2194128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80" name="Equation" r:id="rId5" imgW="1218960" imgH="228600" progId="Equation.DSMT4">
                  <p:embed/>
                </p:oleObj>
              </mc:Choice>
              <mc:Fallback>
                <p:oleObj name="Equation" r:id="rId5" imgW="1218960" imgH="2286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238" y="5805264"/>
                        <a:ext cx="2194128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42" name="Rectangle 66"/>
          <p:cNvSpPr>
            <a:spLocks noChangeArrowheads="1"/>
          </p:cNvSpPr>
          <p:nvPr/>
        </p:nvSpPr>
        <p:spPr bwMode="auto">
          <a:xfrm>
            <a:off x="1403350" y="4420364"/>
            <a:ext cx="64087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对电路应用</a:t>
            </a:r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KCL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列结点电流方程</a:t>
            </a:r>
            <a:r>
              <a:rPr lang="zh-CN" altLang="en-US" sz="2000" dirty="0" smtClean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有</a:t>
            </a:r>
            <a:endParaRPr lang="zh-CN" altLang="en-US" sz="2000" b="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077" name="Text Box 101"/>
          <p:cNvSpPr txBox="1">
            <a:spLocks noChangeArrowheads="1"/>
          </p:cNvSpPr>
          <p:nvPr/>
        </p:nvSpPr>
        <p:spPr bwMode="auto">
          <a:xfrm>
            <a:off x="971600" y="1156682"/>
            <a:ext cx="69309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已知图示电路中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</a:rPr>
              <a:t>C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(0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宋体" charset="-122"/>
                <a:ea typeface="宋体" charset="-122"/>
              </a:rPr>
              <a:t>-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</a:rPr>
              <a:t>) = 0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, 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L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(0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宋体" charset="-122"/>
                <a:ea typeface="宋体" charset="-122"/>
              </a:rPr>
              <a:t>-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) = 0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，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求单位阶跃响应 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</a:rPr>
              <a:t>L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(t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</a:rPr>
              <a:t>）</a:t>
            </a:r>
          </a:p>
        </p:txBody>
      </p:sp>
      <p:sp>
        <p:nvSpPr>
          <p:cNvPr id="255078" name="Text Box 102"/>
          <p:cNvSpPr txBox="1">
            <a:spLocks noChangeArrowheads="1"/>
          </p:cNvSpPr>
          <p:nvPr/>
        </p:nvSpPr>
        <p:spPr bwMode="auto">
          <a:xfrm>
            <a:off x="468313" y="1156682"/>
            <a:ext cx="5746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宋体" charset="-122"/>
              </a:rPr>
              <a:t>例</a:t>
            </a:r>
          </a:p>
        </p:txBody>
      </p:sp>
      <p:sp>
        <p:nvSpPr>
          <p:cNvPr id="255079" name="Text Box 103"/>
          <p:cNvSpPr txBox="1">
            <a:spLocks noChangeArrowheads="1"/>
          </p:cNvSpPr>
          <p:nvPr/>
        </p:nvSpPr>
        <p:spPr bwMode="auto">
          <a:xfrm>
            <a:off x="755650" y="4360863"/>
            <a:ext cx="647700" cy="40011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宋体" charset="-122"/>
              </a:rPr>
              <a:t>解</a:t>
            </a:r>
          </a:p>
        </p:txBody>
      </p:sp>
      <p:grpSp>
        <p:nvGrpSpPr>
          <p:cNvPr id="255086" name="Group 110"/>
          <p:cNvGrpSpPr>
            <a:grpSpLocks/>
          </p:cNvGrpSpPr>
          <p:nvPr/>
        </p:nvGrpSpPr>
        <p:grpSpPr bwMode="auto">
          <a:xfrm>
            <a:off x="1766889" y="2133600"/>
            <a:ext cx="6657976" cy="2016125"/>
            <a:chOff x="1113" y="1344"/>
            <a:chExt cx="4194" cy="1270"/>
          </a:xfrm>
        </p:grpSpPr>
        <p:sp>
          <p:nvSpPr>
            <p:cNvPr id="103434" name="Text Box 100"/>
            <p:cNvSpPr txBox="1">
              <a:spLocks noChangeArrowheads="1"/>
            </p:cNvSpPr>
            <p:nvPr/>
          </p:nvSpPr>
          <p:spPr bwMode="auto">
            <a:xfrm>
              <a:off x="1156" y="1908"/>
              <a:ext cx="36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  <a:r>
                <a:rPr lang="en-US" altLang="zh-CN" sz="2000" b="0" baseline="-25000" dirty="0" err="1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S</a:t>
              </a:r>
              <a:endParaRPr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endParaRPr>
            </a:p>
          </p:txBody>
        </p:sp>
        <p:grpSp>
          <p:nvGrpSpPr>
            <p:cNvPr id="103435" name="Group 109"/>
            <p:cNvGrpSpPr>
              <a:grpSpLocks/>
            </p:cNvGrpSpPr>
            <p:nvPr/>
          </p:nvGrpSpPr>
          <p:grpSpPr bwMode="auto">
            <a:xfrm>
              <a:off x="1113" y="1344"/>
              <a:ext cx="4194" cy="1270"/>
              <a:chOff x="1113" y="1344"/>
              <a:chExt cx="4194" cy="1270"/>
            </a:xfrm>
          </p:grpSpPr>
          <p:sp>
            <p:nvSpPr>
              <p:cNvPr id="103436" name="Line 69"/>
              <p:cNvSpPr>
                <a:spLocks noChangeShapeType="1"/>
              </p:cNvSpPr>
              <p:nvPr/>
            </p:nvSpPr>
            <p:spPr bwMode="auto">
              <a:xfrm>
                <a:off x="2200" y="1344"/>
                <a:ext cx="0" cy="1270"/>
              </a:xfrm>
              <a:prstGeom prst="line">
                <a:avLst/>
              </a:prstGeom>
              <a:noFill/>
              <a:ln w="28575" cap="sq">
                <a:solidFill>
                  <a:srgbClr val="FFCC00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437" name="Rectangle 70"/>
              <p:cNvSpPr>
                <a:spLocks noChangeArrowheads="1"/>
              </p:cNvSpPr>
              <p:nvPr/>
            </p:nvSpPr>
            <p:spPr bwMode="auto">
              <a:xfrm>
                <a:off x="1610" y="1344"/>
                <a:ext cx="2994" cy="1270"/>
              </a:xfrm>
              <a:prstGeom prst="rect">
                <a:avLst/>
              </a:prstGeom>
              <a:noFill/>
              <a:ln w="28575">
                <a:solidFill>
                  <a:srgbClr val="FFCC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438" name="Line 71"/>
              <p:cNvSpPr>
                <a:spLocks noChangeShapeType="1"/>
              </p:cNvSpPr>
              <p:nvPr/>
            </p:nvSpPr>
            <p:spPr bwMode="auto">
              <a:xfrm>
                <a:off x="2971" y="1344"/>
                <a:ext cx="0" cy="499"/>
              </a:xfrm>
              <a:prstGeom prst="line">
                <a:avLst/>
              </a:prstGeom>
              <a:noFill/>
              <a:ln w="28575" cap="sq">
                <a:solidFill>
                  <a:srgbClr val="FFCC00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439" name="Line 72"/>
              <p:cNvSpPr>
                <a:spLocks noChangeShapeType="1"/>
              </p:cNvSpPr>
              <p:nvPr/>
            </p:nvSpPr>
            <p:spPr bwMode="auto">
              <a:xfrm flipV="1">
                <a:off x="2971" y="1934"/>
                <a:ext cx="0" cy="680"/>
              </a:xfrm>
              <a:prstGeom prst="line">
                <a:avLst/>
              </a:prstGeom>
              <a:noFill/>
              <a:ln w="28575" cap="sq">
                <a:solidFill>
                  <a:srgbClr val="FFCC00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3440" name="Group 73"/>
              <p:cNvGrpSpPr>
                <a:grpSpLocks/>
              </p:cNvGrpSpPr>
              <p:nvPr/>
            </p:nvGrpSpPr>
            <p:grpSpPr bwMode="auto">
              <a:xfrm>
                <a:off x="2867" y="1843"/>
                <a:ext cx="240" cy="93"/>
                <a:chOff x="3819" y="2478"/>
                <a:chExt cx="240" cy="93"/>
              </a:xfrm>
            </p:grpSpPr>
            <p:sp>
              <p:nvSpPr>
                <p:cNvPr id="103465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3819" y="2568"/>
                  <a:ext cx="240" cy="3"/>
                </a:xfrm>
                <a:prstGeom prst="line">
                  <a:avLst/>
                </a:prstGeom>
                <a:noFill/>
                <a:ln w="5715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466" name="Line 75"/>
                <p:cNvSpPr>
                  <a:spLocks noChangeShapeType="1"/>
                </p:cNvSpPr>
                <p:nvPr/>
              </p:nvSpPr>
              <p:spPr bwMode="auto">
                <a:xfrm>
                  <a:off x="3819" y="2478"/>
                  <a:ext cx="240" cy="1"/>
                </a:xfrm>
                <a:prstGeom prst="line">
                  <a:avLst/>
                </a:prstGeom>
                <a:noFill/>
                <a:ln w="5715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3441" name="Rectangle 76"/>
              <p:cNvSpPr>
                <a:spLocks noChangeArrowheads="1"/>
              </p:cNvSpPr>
              <p:nvPr/>
            </p:nvSpPr>
            <p:spPr bwMode="auto">
              <a:xfrm>
                <a:off x="2136" y="1798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442" name="Line 78"/>
              <p:cNvSpPr>
                <a:spLocks noChangeShapeType="1"/>
              </p:cNvSpPr>
              <p:nvPr/>
            </p:nvSpPr>
            <p:spPr bwMode="auto">
              <a:xfrm>
                <a:off x="3516" y="1344"/>
                <a:ext cx="0" cy="454"/>
              </a:xfrm>
              <a:prstGeom prst="line">
                <a:avLst/>
              </a:prstGeom>
              <a:noFill/>
              <a:ln w="28575" cap="sq">
                <a:solidFill>
                  <a:srgbClr val="FFCC00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443" name="Line 79"/>
              <p:cNvSpPr>
                <a:spLocks noChangeShapeType="1"/>
              </p:cNvSpPr>
              <p:nvPr/>
            </p:nvSpPr>
            <p:spPr bwMode="auto">
              <a:xfrm flipV="1">
                <a:off x="3516" y="2160"/>
                <a:ext cx="0" cy="454"/>
              </a:xfrm>
              <a:prstGeom prst="line">
                <a:avLst/>
              </a:prstGeom>
              <a:noFill/>
              <a:ln w="28575" cap="sq">
                <a:solidFill>
                  <a:srgbClr val="FFCC00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3444" name="Group 80"/>
              <p:cNvGrpSpPr>
                <a:grpSpLocks/>
              </p:cNvGrpSpPr>
              <p:nvPr/>
            </p:nvGrpSpPr>
            <p:grpSpPr bwMode="auto">
              <a:xfrm rot="10800000" flipH="1">
                <a:off x="3515" y="1798"/>
                <a:ext cx="92" cy="362"/>
                <a:chOff x="2744" y="2931"/>
                <a:chExt cx="57" cy="283"/>
              </a:xfrm>
            </p:grpSpPr>
            <p:sp>
              <p:nvSpPr>
                <p:cNvPr id="103462" name="Arc 81"/>
                <p:cNvSpPr>
                  <a:spLocks/>
                </p:cNvSpPr>
                <p:nvPr/>
              </p:nvSpPr>
              <p:spPr bwMode="auto">
                <a:xfrm rot="10800000" flipH="1" flipV="1">
                  <a:off x="2744" y="2931"/>
                  <a:ext cx="57" cy="91"/>
                </a:xfrm>
                <a:custGeom>
                  <a:avLst/>
                  <a:gdLst>
                    <a:gd name="T0" fmla="*/ 3 w 22723"/>
                    <a:gd name="T1" fmla="*/ 0 h 43200"/>
                    <a:gd name="T2" fmla="*/ 0 w 22723"/>
                    <a:gd name="T3" fmla="*/ 91 h 43200"/>
                    <a:gd name="T4" fmla="*/ 3 w 22723"/>
                    <a:gd name="T5" fmla="*/ 46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  <a:lnTo>
                        <a:pt x="1123" y="21600"/>
                      </a:lnTo>
                      <a:lnTo>
                        <a:pt x="1122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463" name="Arc 82"/>
                <p:cNvSpPr>
                  <a:spLocks/>
                </p:cNvSpPr>
                <p:nvPr/>
              </p:nvSpPr>
              <p:spPr bwMode="auto">
                <a:xfrm rot="10800000" flipH="1" flipV="1">
                  <a:off x="2744" y="3027"/>
                  <a:ext cx="57" cy="91"/>
                </a:xfrm>
                <a:custGeom>
                  <a:avLst/>
                  <a:gdLst>
                    <a:gd name="T0" fmla="*/ 3 w 22723"/>
                    <a:gd name="T1" fmla="*/ 0 h 43200"/>
                    <a:gd name="T2" fmla="*/ 0 w 22723"/>
                    <a:gd name="T3" fmla="*/ 91 h 43200"/>
                    <a:gd name="T4" fmla="*/ 3 w 22723"/>
                    <a:gd name="T5" fmla="*/ 46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  <a:lnTo>
                        <a:pt x="1123" y="21600"/>
                      </a:lnTo>
                      <a:lnTo>
                        <a:pt x="1122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464" name="Arc 83"/>
                <p:cNvSpPr>
                  <a:spLocks/>
                </p:cNvSpPr>
                <p:nvPr/>
              </p:nvSpPr>
              <p:spPr bwMode="auto">
                <a:xfrm rot="10800000" flipH="1" flipV="1">
                  <a:off x="2744" y="3123"/>
                  <a:ext cx="57" cy="91"/>
                </a:xfrm>
                <a:custGeom>
                  <a:avLst/>
                  <a:gdLst>
                    <a:gd name="T0" fmla="*/ 3 w 22723"/>
                    <a:gd name="T1" fmla="*/ 0 h 43200"/>
                    <a:gd name="T2" fmla="*/ 0 w 22723"/>
                    <a:gd name="T3" fmla="*/ 91 h 43200"/>
                    <a:gd name="T4" fmla="*/ 3 w 22723"/>
                    <a:gd name="T5" fmla="*/ 46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  <a:lnTo>
                        <a:pt x="1123" y="21600"/>
                      </a:lnTo>
                      <a:lnTo>
                        <a:pt x="1122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3445" name="Text Box 87"/>
              <p:cNvSpPr txBox="1">
                <a:spLocks noChangeArrowheads="1"/>
              </p:cNvSpPr>
              <p:nvPr/>
            </p:nvSpPr>
            <p:spPr bwMode="auto">
              <a:xfrm>
                <a:off x="3606" y="1843"/>
                <a:ext cx="77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0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0.25H</a:t>
                </a:r>
              </a:p>
            </p:txBody>
          </p:sp>
          <p:sp>
            <p:nvSpPr>
              <p:cNvPr id="103446" name="Text Box 88"/>
              <p:cNvSpPr txBox="1">
                <a:spLocks noChangeArrowheads="1"/>
              </p:cNvSpPr>
              <p:nvPr/>
            </p:nvSpPr>
            <p:spPr bwMode="auto">
              <a:xfrm>
                <a:off x="2245" y="1843"/>
                <a:ext cx="77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0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0.2</a:t>
                </a:r>
                <a:r>
                  <a:rPr lang="en-US" altLang="zh-CN" sz="2000" b="0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  <a:sym typeface="Symbol" pitchFamily="18" charset="2"/>
                  </a:rPr>
                  <a:t></a:t>
                </a:r>
              </a:p>
            </p:txBody>
          </p:sp>
          <p:sp>
            <p:nvSpPr>
              <p:cNvPr id="103447" name="Text Box 89"/>
              <p:cNvSpPr txBox="1">
                <a:spLocks noChangeArrowheads="1"/>
              </p:cNvSpPr>
              <p:nvPr/>
            </p:nvSpPr>
            <p:spPr bwMode="auto">
              <a:xfrm>
                <a:off x="3106" y="1752"/>
                <a:ext cx="31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2F</a:t>
                </a:r>
                <a:endParaRPr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  <a:sym typeface="Symbol" pitchFamily="18" charset="2"/>
                </a:endParaRPr>
              </a:p>
            </p:txBody>
          </p:sp>
          <p:graphicFrame>
            <p:nvGraphicFramePr>
              <p:cNvPr id="103448" name="Object 9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740691"/>
                  </p:ext>
                </p:extLst>
              </p:nvPr>
            </p:nvGraphicFramePr>
            <p:xfrm>
              <a:off x="1113" y="1577"/>
              <a:ext cx="446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081" name="Equation" r:id="rId7" imgW="393480" imgH="203040" progId="Equation.DSMT4">
                      <p:embed/>
                    </p:oleObj>
                  </mc:Choice>
                  <mc:Fallback>
                    <p:oleObj name="Equation" r:id="rId7" imgW="393480" imgH="203040" progId="Equation.DSMT4">
                      <p:embed/>
                      <p:pic>
                        <p:nvPicPr>
                          <p:cNvPr id="0" name="Object 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3" y="1577"/>
                            <a:ext cx="446" cy="2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449" name="Line 91"/>
              <p:cNvSpPr>
                <a:spLocks noChangeShapeType="1"/>
              </p:cNvSpPr>
              <p:nvPr/>
            </p:nvSpPr>
            <p:spPr bwMode="auto">
              <a:xfrm flipV="1">
                <a:off x="1610" y="1480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450" name="Line 92"/>
              <p:cNvSpPr>
                <a:spLocks noChangeShapeType="1"/>
              </p:cNvSpPr>
              <p:nvPr/>
            </p:nvSpPr>
            <p:spPr bwMode="auto">
              <a:xfrm flipV="1">
                <a:off x="2245" y="14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451" name="Line 93"/>
              <p:cNvSpPr>
                <a:spLocks noChangeShapeType="1"/>
              </p:cNvSpPr>
              <p:nvPr/>
            </p:nvSpPr>
            <p:spPr bwMode="auto">
              <a:xfrm flipV="1">
                <a:off x="3062" y="14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452" name="Line 94"/>
              <p:cNvSpPr>
                <a:spLocks noChangeShapeType="1"/>
              </p:cNvSpPr>
              <p:nvPr/>
            </p:nvSpPr>
            <p:spPr bwMode="auto">
              <a:xfrm flipV="1">
                <a:off x="3607" y="1435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453" name="Text Box 95"/>
              <p:cNvSpPr txBox="1">
                <a:spLocks noChangeArrowheads="1"/>
              </p:cNvSpPr>
              <p:nvPr/>
            </p:nvSpPr>
            <p:spPr bwMode="auto">
              <a:xfrm>
                <a:off x="2245" y="1389"/>
                <a:ext cx="77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i</a:t>
                </a:r>
                <a:r>
                  <a:rPr lang="en-US" altLang="zh-CN" sz="20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R</a:t>
                </a:r>
                <a:endParaRPr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  <a:sym typeface="Symbol" pitchFamily="18" charset="2"/>
                </a:endParaRPr>
              </a:p>
            </p:txBody>
          </p:sp>
          <p:sp>
            <p:nvSpPr>
              <p:cNvPr id="103454" name="Text Box 96"/>
              <p:cNvSpPr txBox="1">
                <a:spLocks noChangeArrowheads="1"/>
              </p:cNvSpPr>
              <p:nvPr/>
            </p:nvSpPr>
            <p:spPr bwMode="auto">
              <a:xfrm>
                <a:off x="3606" y="1383"/>
                <a:ext cx="77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i</a:t>
                </a:r>
                <a:r>
                  <a:rPr lang="en-US" altLang="zh-CN" sz="20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L</a:t>
                </a:r>
                <a:endParaRPr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  <a:sym typeface="Symbol" pitchFamily="18" charset="2"/>
                </a:endParaRPr>
              </a:p>
            </p:txBody>
          </p:sp>
          <p:sp>
            <p:nvSpPr>
              <p:cNvPr id="103455" name="Text Box 97"/>
              <p:cNvSpPr txBox="1">
                <a:spLocks noChangeArrowheads="1"/>
              </p:cNvSpPr>
              <p:nvPr/>
            </p:nvSpPr>
            <p:spPr bwMode="auto">
              <a:xfrm>
                <a:off x="3062" y="1389"/>
                <a:ext cx="77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0" i="1" dirty="0" err="1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i</a:t>
                </a:r>
                <a:r>
                  <a:rPr lang="en-US" altLang="zh-CN" sz="20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C</a:t>
                </a:r>
                <a:endParaRPr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  <a:sym typeface="Symbol" pitchFamily="18" charset="2"/>
                </a:endParaRPr>
              </a:p>
            </p:txBody>
          </p:sp>
          <p:sp>
            <p:nvSpPr>
              <p:cNvPr id="103456" name="Line 98"/>
              <p:cNvSpPr>
                <a:spLocks noChangeShapeType="1"/>
              </p:cNvSpPr>
              <p:nvPr/>
            </p:nvSpPr>
            <p:spPr bwMode="auto">
              <a:xfrm flipV="1">
                <a:off x="4604" y="1480"/>
                <a:ext cx="0" cy="317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457" name="Text Box 99"/>
              <p:cNvSpPr txBox="1">
                <a:spLocks noChangeArrowheads="1"/>
              </p:cNvSpPr>
              <p:nvPr/>
            </p:nvSpPr>
            <p:spPr bwMode="auto">
              <a:xfrm>
                <a:off x="4649" y="1525"/>
                <a:ext cx="65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0" dirty="0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0.5</a:t>
                </a:r>
                <a:r>
                  <a:rPr lang="en-US" altLang="zh-CN" sz="2000" b="0" i="1" dirty="0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i</a:t>
                </a:r>
                <a:r>
                  <a:rPr lang="en-US" altLang="zh-CN" sz="2000" b="0" i="1" baseline="-25000" dirty="0">
                    <a:solidFill>
                      <a:schemeClr val="tx1"/>
                    </a:solidFill>
                    <a:latin typeface="Times New Roman" pitchFamily="18" charset="0"/>
                    <a:ea typeface="仿宋_GB2312" pitchFamily="49" charset="-122"/>
                  </a:rPr>
                  <a:t>C</a:t>
                </a:r>
                <a:endParaRPr lang="en-US" altLang="zh-CN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  <a:sym typeface="Symbol" pitchFamily="18" charset="2"/>
                </a:endParaRPr>
              </a:p>
            </p:txBody>
          </p:sp>
          <p:grpSp>
            <p:nvGrpSpPr>
              <p:cNvPr id="103458" name="Group 84"/>
              <p:cNvGrpSpPr>
                <a:grpSpLocks/>
              </p:cNvGrpSpPr>
              <p:nvPr/>
            </p:nvGrpSpPr>
            <p:grpSpPr bwMode="auto">
              <a:xfrm>
                <a:off x="1429" y="1888"/>
                <a:ext cx="363" cy="363"/>
                <a:chOff x="4785" y="709"/>
                <a:chExt cx="363" cy="363"/>
              </a:xfrm>
            </p:grpSpPr>
            <p:sp>
              <p:nvSpPr>
                <p:cNvPr id="103460" name="Oval 85"/>
                <p:cNvSpPr>
                  <a:spLocks noChangeArrowheads="1"/>
                </p:cNvSpPr>
                <p:nvPr/>
              </p:nvSpPr>
              <p:spPr bwMode="auto">
                <a:xfrm>
                  <a:off x="4785" y="709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</a:gradFill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FFFF00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endParaRPr lang="zh-CN" altLang="zh-CN" sz="2000" b="0">
                    <a:solidFill>
                      <a:schemeClr val="tx1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3461" name="Line 86"/>
                <p:cNvSpPr>
                  <a:spLocks noChangeShapeType="1"/>
                </p:cNvSpPr>
                <p:nvPr/>
              </p:nvSpPr>
              <p:spPr bwMode="auto">
                <a:xfrm>
                  <a:off x="4785" y="890"/>
                  <a:ext cx="363" cy="0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3459" name="AutoShape 77"/>
              <p:cNvSpPr>
                <a:spLocks noChangeArrowheads="1"/>
              </p:cNvSpPr>
              <p:nvPr/>
            </p:nvSpPr>
            <p:spPr bwMode="auto">
              <a:xfrm rot="10800000">
                <a:off x="4377" y="1751"/>
                <a:ext cx="453" cy="501"/>
              </a:xfrm>
              <a:prstGeom prst="flowChartSort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3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6048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4.3.2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 二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阶电路的阶跃响应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5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5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5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55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55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5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5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5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5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5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042" grpId="0"/>
      <p:bldP spid="255077" grpId="0" build="p" autoUpdateAnimBg="0"/>
      <p:bldP spid="255078" grpId="0"/>
      <p:bldP spid="25507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3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605700"/>
              </p:ext>
            </p:extLst>
          </p:nvPr>
        </p:nvGraphicFramePr>
        <p:xfrm>
          <a:off x="1025525" y="531814"/>
          <a:ext cx="1805328" cy="708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5" name="Equation" r:id="rId3" imgW="1002960" imgH="393480" progId="Equation.DSMT4">
                  <p:embed/>
                </p:oleObj>
              </mc:Choice>
              <mc:Fallback>
                <p:oleObj name="Equation" r:id="rId3" imgW="1002960" imgH="39348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531814"/>
                        <a:ext cx="1805328" cy="708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835343"/>
              </p:ext>
            </p:extLst>
          </p:nvPr>
        </p:nvGraphicFramePr>
        <p:xfrm>
          <a:off x="4506913" y="538164"/>
          <a:ext cx="2468880" cy="754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6" name="Equation" r:id="rId5" imgW="1371600" imgH="419040" progId="Equation.DSMT4">
                  <p:embed/>
                </p:oleObj>
              </mc:Choice>
              <mc:Fallback>
                <p:oleObj name="Equation" r:id="rId5" imgW="1371600" imgH="41904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13" y="538164"/>
                        <a:ext cx="2468880" cy="754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340102"/>
              </p:ext>
            </p:extLst>
          </p:nvPr>
        </p:nvGraphicFramePr>
        <p:xfrm>
          <a:off x="3779912" y="1627791"/>
          <a:ext cx="2720304" cy="754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7" name="Equation" r:id="rId7" imgW="1511280" imgH="419040" progId="Equation.DSMT4">
                  <p:embed/>
                </p:oleObj>
              </mc:Choice>
              <mc:Fallback>
                <p:oleObj name="Equation" r:id="rId7" imgW="1511280" imgH="41904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1627791"/>
                        <a:ext cx="2720304" cy="754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052074"/>
              </p:ext>
            </p:extLst>
          </p:nvPr>
        </p:nvGraphicFramePr>
        <p:xfrm>
          <a:off x="3234749" y="3143220"/>
          <a:ext cx="1097064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8" name="Equation" r:id="rId9" imgW="609480" imgH="228600" progId="Equation.DSMT4">
                  <p:embed/>
                </p:oleObj>
              </mc:Choice>
              <mc:Fallback>
                <p:oleObj name="Equation" r:id="rId9" imgW="60948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4749" y="3143220"/>
                        <a:ext cx="1097064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843700"/>
              </p:ext>
            </p:extLst>
          </p:nvPr>
        </p:nvGraphicFramePr>
        <p:xfrm>
          <a:off x="1610918" y="5968799"/>
          <a:ext cx="1805328" cy="4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9" name="Equation" r:id="rId11" imgW="1002960" imgH="241200" progId="Equation.DSMT4">
                  <p:embed/>
                </p:oleObj>
              </mc:Choice>
              <mc:Fallback>
                <p:oleObj name="Equation" r:id="rId11" imgW="1002960" imgH="2412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918" y="5968799"/>
                        <a:ext cx="1805328" cy="43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2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745337"/>
              </p:ext>
            </p:extLst>
          </p:nvPr>
        </p:nvGraphicFramePr>
        <p:xfrm>
          <a:off x="2743172" y="4349888"/>
          <a:ext cx="1599912" cy="36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30" name="Equation" r:id="rId13" imgW="888840" imgH="203040" progId="Equation.DSMT4">
                  <p:embed/>
                </p:oleObj>
              </mc:Choice>
              <mc:Fallback>
                <p:oleObj name="Equation" r:id="rId13" imgW="888840" imgH="20304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72" y="4349888"/>
                        <a:ext cx="1599912" cy="365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2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062397"/>
              </p:ext>
            </p:extLst>
          </p:nvPr>
        </p:nvGraphicFramePr>
        <p:xfrm>
          <a:off x="3593375" y="5326741"/>
          <a:ext cx="82296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31" name="Equation" r:id="rId15" imgW="457200" imgH="228600" progId="Equation.DSMT4">
                  <p:embed/>
                </p:oleObj>
              </mc:Choice>
              <mc:Fallback>
                <p:oleObj name="Equation" r:id="rId15" imgW="457200" imgH="2286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375" y="5326741"/>
                        <a:ext cx="822960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784494"/>
              </p:ext>
            </p:extLst>
          </p:nvPr>
        </p:nvGraphicFramePr>
        <p:xfrm>
          <a:off x="5028356" y="5307691"/>
          <a:ext cx="8683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32" name="Equation" r:id="rId17" imgW="482400" imgH="228600" progId="Equation.DSMT4">
                  <p:embed/>
                </p:oleObj>
              </mc:Choice>
              <mc:Fallback>
                <p:oleObj name="Equation" r:id="rId17" imgW="48240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8356" y="5307691"/>
                        <a:ext cx="868320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0" name="Rectangle 40"/>
          <p:cNvSpPr>
            <a:spLocks noChangeArrowheads="1"/>
          </p:cNvSpPr>
          <p:nvPr/>
        </p:nvSpPr>
        <p:spPr bwMode="auto">
          <a:xfrm>
            <a:off x="468313" y="1832739"/>
            <a:ext cx="5111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代入已知参数并整理得：	</a:t>
            </a:r>
          </a:p>
        </p:txBody>
      </p:sp>
      <p:sp>
        <p:nvSpPr>
          <p:cNvPr id="256042" name="Rectangle 42"/>
          <p:cNvSpPr>
            <a:spLocks noChangeArrowheads="1"/>
          </p:cNvSpPr>
          <p:nvPr/>
        </p:nvSpPr>
        <p:spPr bwMode="auto">
          <a:xfrm>
            <a:off x="467544" y="2696339"/>
            <a:ext cx="45720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这是一</a:t>
            </a:r>
            <a:r>
              <a:rPr lang="zh-CN" altLang="en-US" sz="2000" dirty="0" smtClean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个</a:t>
            </a:r>
            <a:r>
              <a:rPr lang="zh-CN" altLang="en-US" sz="2000" dirty="0" smtClean="0">
                <a:solidFill>
                  <a:schemeClr val="tx1"/>
                </a:solidFill>
                <a:cs typeface="Times New Roman" pitchFamily="18" charset="0"/>
              </a:rPr>
              <a:t>二</a:t>
            </a:r>
            <a:r>
              <a:rPr lang="zh-CN" altLang="en-US" sz="2000" dirty="0">
                <a:solidFill>
                  <a:schemeClr val="tx1"/>
                </a:solidFill>
                <a:cs typeface="Times New Roman" pitchFamily="18" charset="0"/>
              </a:rPr>
              <a:t>阶线性非齐次方程，其解为</a:t>
            </a:r>
            <a:endParaRPr lang="zh-CN" altLang="en-US" sz="2000" dirty="0">
              <a:solidFill>
                <a:schemeClr val="tx1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56045" name="Rectangle 45"/>
          <p:cNvSpPr>
            <a:spLocks noChangeArrowheads="1"/>
          </p:cNvSpPr>
          <p:nvPr/>
        </p:nvSpPr>
        <p:spPr bwMode="auto">
          <a:xfrm>
            <a:off x="640781" y="3621100"/>
            <a:ext cx="9701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 eaLnBrk="0" hangingPunct="0"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特解</a:t>
            </a:r>
          </a:p>
        </p:txBody>
      </p:sp>
      <p:sp>
        <p:nvSpPr>
          <p:cNvPr id="256046" name="Rectangle 46"/>
          <p:cNvSpPr>
            <a:spLocks noChangeArrowheads="1"/>
          </p:cNvSpPr>
          <p:nvPr/>
        </p:nvSpPr>
        <p:spPr bwMode="auto">
          <a:xfrm>
            <a:off x="1040890" y="4375531"/>
            <a:ext cx="14863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特征方程</a:t>
            </a:r>
          </a:p>
        </p:txBody>
      </p:sp>
      <p:sp>
        <p:nvSpPr>
          <p:cNvPr id="256050" name="Rectangle 50"/>
          <p:cNvSpPr>
            <a:spLocks noChangeArrowheads="1"/>
          </p:cNvSpPr>
          <p:nvPr/>
        </p:nvSpPr>
        <p:spPr bwMode="auto">
          <a:xfrm>
            <a:off x="640781" y="5965706"/>
            <a:ext cx="9701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 eaLnBrk="0" hangingPunct="0"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通解</a:t>
            </a:r>
          </a:p>
        </p:txBody>
      </p:sp>
      <p:sp>
        <p:nvSpPr>
          <p:cNvPr id="256051" name="Rectangle 51"/>
          <p:cNvSpPr>
            <a:spLocks noChangeArrowheads="1"/>
          </p:cNvSpPr>
          <p:nvPr/>
        </p:nvSpPr>
        <p:spPr bwMode="auto">
          <a:xfrm>
            <a:off x="1785099" y="4926631"/>
            <a:ext cx="14750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</a:rPr>
              <a:t>解得特征根</a:t>
            </a:r>
          </a:p>
        </p:txBody>
      </p:sp>
      <p:sp>
        <p:nvSpPr>
          <p:cNvPr id="104464" name="Rectangle 53"/>
          <p:cNvSpPr>
            <a:spLocks noChangeArrowheads="1"/>
          </p:cNvSpPr>
          <p:nvPr/>
        </p:nvSpPr>
        <p:spPr bwMode="auto">
          <a:xfrm>
            <a:off x="0" y="3143220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256052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014241"/>
              </p:ext>
            </p:extLst>
          </p:nvPr>
        </p:nvGraphicFramePr>
        <p:xfrm>
          <a:off x="1617663" y="3675063"/>
          <a:ext cx="868362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33" name="Equation" r:id="rId19" imgW="482400" imgH="177480" progId="Equation.DSMT4">
                  <p:embed/>
                </p:oleObj>
              </mc:Choice>
              <mc:Fallback>
                <p:oleObj name="Equation" r:id="rId19" imgW="482400" imgH="17748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63" y="3675063"/>
                        <a:ext cx="868362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5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5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5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5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5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5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5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5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5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0" grpId="0"/>
      <p:bldP spid="256042" grpId="0"/>
      <p:bldP spid="256045" grpId="0"/>
      <p:bldP spid="256046" grpId="0"/>
      <p:bldP spid="256050" grpId="0"/>
      <p:bldP spid="25605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05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340880"/>
              </p:ext>
            </p:extLst>
          </p:nvPr>
        </p:nvGraphicFramePr>
        <p:xfrm>
          <a:off x="3166244" y="836712"/>
          <a:ext cx="2262816" cy="4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57" name="Equation" r:id="rId3" imgW="1257120" imgH="241200" progId="Equation.DSMT4">
                  <p:embed/>
                </p:oleObj>
              </mc:Choice>
              <mc:Fallback>
                <p:oleObj name="Equation" r:id="rId3" imgW="1257120" imgH="2412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6244" y="836712"/>
                        <a:ext cx="2262816" cy="43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5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143932"/>
              </p:ext>
            </p:extLst>
          </p:nvPr>
        </p:nvGraphicFramePr>
        <p:xfrm>
          <a:off x="2339752" y="1544508"/>
          <a:ext cx="20574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58" name="Equation" r:id="rId5" imgW="1143000" imgH="228600" progId="Equation.DSMT4">
                  <p:embed/>
                </p:oleObj>
              </mc:Choice>
              <mc:Fallback>
                <p:oleObj name="Equation" r:id="rId5" imgW="1143000" imgH="228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544508"/>
                        <a:ext cx="2057400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5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185688"/>
              </p:ext>
            </p:extLst>
          </p:nvPr>
        </p:nvGraphicFramePr>
        <p:xfrm>
          <a:off x="2339752" y="2060848"/>
          <a:ext cx="2194128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59" name="Equation" r:id="rId7" imgW="1218960" imgH="228600" progId="Equation.DSMT4">
                  <p:embed/>
                </p:oleObj>
              </mc:Choice>
              <mc:Fallback>
                <p:oleObj name="Equation" r:id="rId7" imgW="121896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060848"/>
                        <a:ext cx="2194128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5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888306"/>
              </p:ext>
            </p:extLst>
          </p:nvPr>
        </p:nvGraphicFramePr>
        <p:xfrm>
          <a:off x="2483768" y="4552851"/>
          <a:ext cx="4274208" cy="77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60" name="Equation" r:id="rId9" imgW="2374560" imgH="431640" progId="Equation.DSMT4">
                  <p:embed/>
                </p:oleObj>
              </mc:Choice>
              <mc:Fallback>
                <p:oleObj name="Equation" r:id="rId9" imgW="2374560" imgH="4316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552851"/>
                        <a:ext cx="4274208" cy="776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62" name="Rectangle 38"/>
          <p:cNvSpPr>
            <a:spLocks noChangeArrowheads="1"/>
          </p:cNvSpPr>
          <p:nvPr/>
        </p:nvSpPr>
        <p:spPr bwMode="auto">
          <a:xfrm>
            <a:off x="395288" y="1544508"/>
            <a:ext cx="24669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代</a:t>
            </a:r>
            <a:r>
              <a:rPr lang="zh-CN" altLang="en-US" sz="2000">
                <a:solidFill>
                  <a:schemeClr val="tx1"/>
                </a:solidFill>
                <a:cs typeface="Times New Roman" pitchFamily="18" charset="0"/>
              </a:rPr>
              <a:t>初始条件</a:t>
            </a:r>
            <a:endParaRPr lang="zh-CN" altLang="en-US" sz="2000">
              <a:solidFill>
                <a:schemeClr val="tx1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57065" name="Rectangle 41"/>
          <p:cNvSpPr>
            <a:spLocks noChangeArrowheads="1"/>
          </p:cNvSpPr>
          <p:nvPr/>
        </p:nvSpPr>
        <p:spPr bwMode="auto">
          <a:xfrm>
            <a:off x="755650" y="4352796"/>
            <a:ext cx="1217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阶跃响应</a:t>
            </a:r>
            <a:endParaRPr lang="zh-CN" altLang="en-US" sz="200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257067" name="Rectangle 43"/>
          <p:cNvSpPr>
            <a:spLocks noChangeArrowheads="1"/>
          </p:cNvSpPr>
          <p:nvPr/>
        </p:nvSpPr>
        <p:spPr bwMode="auto">
          <a:xfrm>
            <a:off x="1198513" y="5621178"/>
            <a:ext cx="40559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电路的动态</a:t>
            </a:r>
            <a:r>
              <a:rPr lang="zh-CN" alt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过程</a:t>
            </a:r>
            <a:r>
              <a:rPr lang="zh-CN" alt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具有</a:t>
            </a:r>
            <a:r>
              <a:rPr lang="zh-CN" alt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过阻尼性质。</a:t>
            </a:r>
            <a:endParaRPr lang="zh-CN" altLang="en-US" sz="2000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257068" name="Line 44"/>
          <p:cNvSpPr>
            <a:spLocks noChangeShapeType="1"/>
          </p:cNvSpPr>
          <p:nvPr/>
        </p:nvSpPr>
        <p:spPr bwMode="auto">
          <a:xfrm>
            <a:off x="1187450" y="3212207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57071" name="Line 47"/>
          <p:cNvSpPr>
            <a:spLocks noChangeShapeType="1"/>
          </p:cNvSpPr>
          <p:nvPr/>
        </p:nvSpPr>
        <p:spPr bwMode="auto">
          <a:xfrm>
            <a:off x="5219700" y="3285232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257075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070781"/>
              </p:ext>
            </p:extLst>
          </p:nvPr>
        </p:nvGraphicFramePr>
        <p:xfrm>
          <a:off x="2268539" y="2761357"/>
          <a:ext cx="1622592" cy="86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61" name="Equation" r:id="rId11" imgW="901440" imgH="482400" progId="Equation.DSMT4">
                  <p:embed/>
                </p:oleObj>
              </mc:Choice>
              <mc:Fallback>
                <p:oleObj name="Equation" r:id="rId11" imgW="901440" imgH="4824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9" y="2761357"/>
                        <a:ext cx="1622592" cy="868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76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621886"/>
              </p:ext>
            </p:extLst>
          </p:nvPr>
        </p:nvGraphicFramePr>
        <p:xfrm>
          <a:off x="6084888" y="2520903"/>
          <a:ext cx="1051056" cy="1508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62" name="Equation" r:id="rId13" imgW="583920" imgH="838080" progId="Equation.DSMT4">
                  <p:embed/>
                </p:oleObj>
              </mc:Choice>
              <mc:Fallback>
                <p:oleObj name="Equation" r:id="rId13" imgW="583920" imgH="83808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520903"/>
                        <a:ext cx="1051056" cy="1508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5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5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5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5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62" grpId="0"/>
      <p:bldP spid="257065" grpId="0"/>
      <p:bldP spid="257067" grpId="0"/>
      <p:bldP spid="257068" grpId="0" animBg="1"/>
      <p:bldP spid="25707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60" name="Text Box 36"/>
          <p:cNvSpPr txBox="1">
            <a:spLocks noChangeArrowheads="1"/>
          </p:cNvSpPr>
          <p:nvPr/>
        </p:nvSpPr>
        <p:spPr bwMode="auto">
          <a:xfrm>
            <a:off x="755651" y="1959124"/>
            <a:ext cx="1152054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SzPct val="85000"/>
              <a:buFont typeface="Wingdings" pitchFamily="2" charset="2"/>
              <a:buChar char="l"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endParaRPr kumimoji="1"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1461" name="Group 37"/>
          <p:cNvGrpSpPr>
            <a:grpSpLocks/>
          </p:cNvGrpSpPr>
          <p:nvPr/>
        </p:nvGrpSpPr>
        <p:grpSpPr bwMode="auto">
          <a:xfrm>
            <a:off x="2249807" y="2258221"/>
            <a:ext cx="2160389" cy="1207172"/>
            <a:chOff x="2562" y="701"/>
            <a:chExt cx="1764" cy="915"/>
          </a:xfrm>
        </p:grpSpPr>
        <p:graphicFrame>
          <p:nvGraphicFramePr>
            <p:cNvPr id="106525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1734786"/>
                </p:ext>
              </p:extLst>
            </p:nvPr>
          </p:nvGraphicFramePr>
          <p:xfrm>
            <a:off x="2700" y="701"/>
            <a:ext cx="1626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772" name="Equation" r:id="rId3" imgW="1015920" imgH="203040" progId="Equation.DSMT4">
                    <p:embed/>
                  </p:oleObj>
                </mc:Choice>
                <mc:Fallback>
                  <p:oleObj name="Equation" r:id="rId3" imgW="1015920" imgH="20304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0" y="701"/>
                          <a:ext cx="1626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26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541346"/>
                </p:ext>
              </p:extLst>
            </p:nvPr>
          </p:nvGraphicFramePr>
          <p:xfrm>
            <a:off x="2777" y="1061"/>
            <a:ext cx="1218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9773" name="Equation" r:id="rId5" imgW="812520" imgH="330120" progId="Equation.DSMT4">
                    <p:embed/>
                  </p:oleObj>
                </mc:Choice>
                <mc:Fallback>
                  <p:oleObj name="Equation" r:id="rId5" imgW="812520" imgH="33012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7" y="1061"/>
                          <a:ext cx="1218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527" name="AutoShape 40"/>
            <p:cNvSpPr>
              <a:spLocks/>
            </p:cNvSpPr>
            <p:nvPr/>
          </p:nvSpPr>
          <p:spPr bwMode="auto">
            <a:xfrm>
              <a:off x="2562" y="754"/>
              <a:ext cx="91" cy="862"/>
            </a:xfrm>
            <a:prstGeom prst="leftBrace">
              <a:avLst>
                <a:gd name="adj1" fmla="val 78938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1465" name="Group 41"/>
          <p:cNvGrpSpPr>
            <a:grpSpLocks/>
          </p:cNvGrpSpPr>
          <p:nvPr/>
        </p:nvGrpSpPr>
        <p:grpSpPr bwMode="auto">
          <a:xfrm>
            <a:off x="5724128" y="1268414"/>
            <a:ext cx="2124075" cy="1755776"/>
            <a:chOff x="4293" y="962"/>
            <a:chExt cx="1338" cy="1106"/>
          </a:xfrm>
        </p:grpSpPr>
        <p:sp>
          <p:nvSpPr>
            <p:cNvPr id="106518" name="Line 42"/>
            <p:cNvSpPr>
              <a:spLocks noChangeShapeType="1"/>
            </p:cNvSpPr>
            <p:nvPr/>
          </p:nvSpPr>
          <p:spPr bwMode="auto">
            <a:xfrm flipV="1">
              <a:off x="4332" y="1797"/>
              <a:ext cx="11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519" name="Line 43"/>
            <p:cNvSpPr>
              <a:spLocks noChangeShapeType="1"/>
            </p:cNvSpPr>
            <p:nvPr/>
          </p:nvSpPr>
          <p:spPr bwMode="auto">
            <a:xfrm flipV="1">
              <a:off x="4539" y="1103"/>
              <a:ext cx="0" cy="9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520" name="Text Box 44"/>
            <p:cNvSpPr txBox="1">
              <a:spLocks noChangeArrowheads="1"/>
            </p:cNvSpPr>
            <p:nvPr/>
          </p:nvSpPr>
          <p:spPr bwMode="auto">
            <a:xfrm>
              <a:off x="5470" y="1679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521" name="Text Box 45"/>
            <p:cNvSpPr txBox="1">
              <a:spLocks noChangeArrowheads="1"/>
            </p:cNvSpPr>
            <p:nvPr/>
          </p:nvSpPr>
          <p:spPr bwMode="auto">
            <a:xfrm>
              <a:off x="4530" y="962"/>
              <a:ext cx="38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 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)</a:t>
              </a:r>
            </a:p>
          </p:txBody>
        </p:sp>
        <p:sp>
          <p:nvSpPr>
            <p:cNvPr id="106522" name="Line 46"/>
            <p:cNvSpPr>
              <a:spLocks noChangeShapeType="1"/>
            </p:cNvSpPr>
            <p:nvPr/>
          </p:nvSpPr>
          <p:spPr bwMode="auto">
            <a:xfrm flipV="1">
              <a:off x="4539" y="1351"/>
              <a:ext cx="0" cy="45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523" name="Text Box 47"/>
            <p:cNvSpPr txBox="1">
              <a:spLocks noChangeArrowheads="1"/>
            </p:cNvSpPr>
            <p:nvPr/>
          </p:nvSpPr>
          <p:spPr bwMode="auto">
            <a:xfrm>
              <a:off x="4293" y="1225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6524" name="Text Box 48"/>
            <p:cNvSpPr txBox="1">
              <a:spLocks noChangeArrowheads="1"/>
            </p:cNvSpPr>
            <p:nvPr/>
          </p:nvSpPr>
          <p:spPr bwMode="auto">
            <a:xfrm>
              <a:off x="4353" y="1770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31473" name="AutoShape 49" descr="羊皮纸"/>
          <p:cNvSpPr>
            <a:spLocks noChangeArrowheads="1"/>
          </p:cNvSpPr>
          <p:nvPr/>
        </p:nvSpPr>
        <p:spPr bwMode="auto">
          <a:xfrm>
            <a:off x="6310312" y="2806702"/>
            <a:ext cx="1871663" cy="935038"/>
          </a:xfrm>
          <a:prstGeom prst="wedgeRoundRectCallout">
            <a:avLst>
              <a:gd name="adj1" fmla="val -51493"/>
              <a:gd name="adj2" fmla="val -100962"/>
              <a:gd name="adj3" fmla="val 16667"/>
            </a:avLst>
          </a:prstGeom>
          <a:blipFill dpi="0" rotWithShape="1">
            <a:blip r:embed="rId7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单位脉冲函数的极限</a:t>
            </a:r>
          </a:p>
        </p:txBody>
      </p:sp>
      <p:grpSp>
        <p:nvGrpSpPr>
          <p:cNvPr id="231474" name="Group 50"/>
          <p:cNvGrpSpPr>
            <a:grpSpLocks/>
          </p:cNvGrpSpPr>
          <p:nvPr/>
        </p:nvGrpSpPr>
        <p:grpSpPr bwMode="auto">
          <a:xfrm>
            <a:off x="5594907" y="3860800"/>
            <a:ext cx="2614084" cy="2544763"/>
            <a:chOff x="856" y="653"/>
            <a:chExt cx="1444" cy="1603"/>
          </a:xfrm>
        </p:grpSpPr>
        <p:sp>
          <p:nvSpPr>
            <p:cNvPr id="106508" name="Line 51"/>
            <p:cNvSpPr>
              <a:spLocks noChangeShapeType="1"/>
            </p:cNvSpPr>
            <p:nvPr/>
          </p:nvSpPr>
          <p:spPr bwMode="auto">
            <a:xfrm>
              <a:off x="856" y="1920"/>
              <a:ext cx="1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509" name="Line 52"/>
            <p:cNvSpPr>
              <a:spLocks noChangeShapeType="1"/>
            </p:cNvSpPr>
            <p:nvPr/>
          </p:nvSpPr>
          <p:spPr bwMode="auto">
            <a:xfrm flipV="1">
              <a:off x="1424" y="768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510" name="Line 53"/>
            <p:cNvSpPr>
              <a:spLocks noChangeShapeType="1"/>
            </p:cNvSpPr>
            <p:nvPr/>
          </p:nvSpPr>
          <p:spPr bwMode="auto">
            <a:xfrm>
              <a:off x="1208" y="1192"/>
              <a:ext cx="43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511" name="Text Box 54"/>
            <p:cNvSpPr txBox="1">
              <a:spLocks noChangeArrowheads="1"/>
            </p:cNvSpPr>
            <p:nvPr/>
          </p:nvSpPr>
          <p:spPr bwMode="auto">
            <a:xfrm>
              <a:off x="1365" y="1923"/>
              <a:ext cx="5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/2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512" name="Text Box 55"/>
            <p:cNvSpPr txBox="1">
              <a:spLocks noChangeArrowheads="1"/>
            </p:cNvSpPr>
            <p:nvPr/>
          </p:nvSpPr>
          <p:spPr bwMode="auto">
            <a:xfrm>
              <a:off x="1125" y="945"/>
              <a:ext cx="2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/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06513" name="Text Box 56"/>
            <p:cNvSpPr txBox="1">
              <a:spLocks noChangeArrowheads="1"/>
            </p:cNvSpPr>
            <p:nvPr/>
          </p:nvSpPr>
          <p:spPr bwMode="auto">
            <a:xfrm>
              <a:off x="2159" y="1878"/>
              <a:ext cx="14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514" name="Text Box 57"/>
            <p:cNvSpPr txBox="1">
              <a:spLocks noChangeArrowheads="1"/>
            </p:cNvSpPr>
            <p:nvPr/>
          </p:nvSpPr>
          <p:spPr bwMode="auto">
            <a:xfrm>
              <a:off x="1444" y="653"/>
              <a:ext cx="3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p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06515" name="Line 58"/>
            <p:cNvSpPr>
              <a:spLocks noChangeShapeType="1"/>
            </p:cNvSpPr>
            <p:nvPr/>
          </p:nvSpPr>
          <p:spPr bwMode="auto">
            <a:xfrm>
              <a:off x="1208" y="1176"/>
              <a:ext cx="0" cy="7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516" name="Text Box 59"/>
            <p:cNvSpPr txBox="1">
              <a:spLocks noChangeArrowheads="1"/>
            </p:cNvSpPr>
            <p:nvPr/>
          </p:nvSpPr>
          <p:spPr bwMode="auto">
            <a:xfrm>
              <a:off x="888" y="1933"/>
              <a:ext cx="5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/2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517" name="Line 60"/>
            <p:cNvSpPr>
              <a:spLocks noChangeShapeType="1"/>
            </p:cNvSpPr>
            <p:nvPr/>
          </p:nvSpPr>
          <p:spPr bwMode="auto">
            <a:xfrm>
              <a:off x="1640" y="1200"/>
              <a:ext cx="0" cy="7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31485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089660"/>
              </p:ext>
            </p:extLst>
          </p:nvPr>
        </p:nvGraphicFramePr>
        <p:xfrm>
          <a:off x="1547664" y="4844545"/>
          <a:ext cx="2186384" cy="759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4" name="Equation" r:id="rId8" imgW="1143000" imgH="393480" progId="Equation.DSMT4">
                  <p:embed/>
                </p:oleObj>
              </mc:Choice>
              <mc:Fallback>
                <p:oleObj name="Equation" r:id="rId8" imgW="1143000" imgH="39348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844545"/>
                        <a:ext cx="2186384" cy="759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86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742457"/>
              </p:ext>
            </p:extLst>
          </p:nvPr>
        </p:nvGraphicFramePr>
        <p:xfrm>
          <a:off x="1585144" y="5859463"/>
          <a:ext cx="2016224" cy="618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5" name="Equation" r:id="rId10" imgW="927000" imgH="279360" progId="Equation.DSMT4">
                  <p:embed/>
                </p:oleObj>
              </mc:Choice>
              <mc:Fallback>
                <p:oleObj name="Equation" r:id="rId10" imgW="927000" imgH="27936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144" y="5859463"/>
                        <a:ext cx="2016224" cy="618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87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873026"/>
              </p:ext>
            </p:extLst>
          </p:nvPr>
        </p:nvGraphicFramePr>
        <p:xfrm>
          <a:off x="1043608" y="3738029"/>
          <a:ext cx="3969444" cy="92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6" name="Equation" r:id="rId12" imgW="1968480" imgH="457200" progId="Equation.DSMT4">
                  <p:embed/>
                </p:oleObj>
              </mc:Choice>
              <mc:Fallback>
                <p:oleObj name="Equation" r:id="rId12" imgW="1968480" imgH="4572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738029"/>
                        <a:ext cx="3969444" cy="92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64"/>
          <p:cNvSpPr>
            <a:spLocks noChangeArrowheads="1"/>
          </p:cNvSpPr>
          <p:nvPr/>
        </p:nvSpPr>
        <p:spPr bwMode="auto">
          <a:xfrm>
            <a:off x="666750" y="409575"/>
            <a:ext cx="751522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CN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4.4 </a:t>
            </a:r>
            <a:r>
              <a:rPr lang="zh-CN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阶电路和二阶电路的冲激响应</a:t>
            </a:r>
          </a:p>
        </p:txBody>
      </p:sp>
      <p:sp>
        <p:nvSpPr>
          <p:cNvPr id="33" name="Text Box 27"/>
          <p:cNvSpPr txBox="1">
            <a:spLocks noChangeArrowheads="1"/>
          </p:cNvSpPr>
          <p:nvPr/>
        </p:nvSpPr>
        <p:spPr bwMode="auto">
          <a:xfrm>
            <a:off x="666750" y="1184424"/>
            <a:ext cx="332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单位冲激函数简介</a:t>
            </a:r>
            <a:endParaRPr kumimoji="1" lang="zh-CN" altLang="en-US" sz="2400" dirty="0">
              <a:solidFill>
                <a:srgbClr val="990033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1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1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23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23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3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3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3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3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60" grpId="0" animBg="1"/>
      <p:bldP spid="231473" grpId="0" animBg="1"/>
      <p:bldP spid="3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2" name="Rectangle 4"/>
          <p:cNvSpPr>
            <a:spLocks noChangeArrowheads="1"/>
          </p:cNvSpPr>
          <p:nvPr/>
        </p:nvSpPr>
        <p:spPr bwMode="auto">
          <a:xfrm>
            <a:off x="468313" y="730028"/>
            <a:ext cx="3455615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 typeface="Wingdings" pitchFamily="2" charset="2"/>
              <a:buChar char="l"/>
            </a:pPr>
            <a:r>
              <a:rPr kumimoji="1"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单位冲激函数的延迟</a:t>
            </a:r>
            <a:endParaRPr kumimoji="1" lang="zh-CN" altLang="en-US" sz="2400" dirty="0">
              <a:solidFill>
                <a:schemeClr val="tx1"/>
              </a:solidFill>
              <a:latin typeface="楷体_GB2312" pitchFamily="49" charset="-122"/>
              <a:sym typeface="Symbol" pitchFamily="18" charset="2"/>
            </a:endParaRPr>
          </a:p>
        </p:txBody>
      </p:sp>
      <p:graphicFrame>
        <p:nvGraphicFramePr>
          <p:cNvPr id="2324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96718"/>
              </p:ext>
            </p:extLst>
          </p:nvPr>
        </p:nvGraphicFramePr>
        <p:xfrm>
          <a:off x="1215194" y="1554575"/>
          <a:ext cx="2825824" cy="1226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43" name="Equation" r:id="rId3" imgW="1358640" imgH="583920" progId="Equation.DSMT4">
                  <p:embed/>
                </p:oleObj>
              </mc:Choice>
              <mc:Fallback>
                <p:oleObj name="Equation" r:id="rId3" imgW="1358640" imgH="5839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5194" y="1554575"/>
                        <a:ext cx="2825824" cy="1226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2454" name="Group 6"/>
          <p:cNvGrpSpPr>
            <a:grpSpLocks/>
          </p:cNvGrpSpPr>
          <p:nvPr/>
        </p:nvGrpSpPr>
        <p:grpSpPr bwMode="auto">
          <a:xfrm>
            <a:off x="5338762" y="823913"/>
            <a:ext cx="3330575" cy="1709738"/>
            <a:chOff x="3316" y="1908"/>
            <a:chExt cx="2098" cy="1077"/>
          </a:xfrm>
        </p:grpSpPr>
        <p:sp>
          <p:nvSpPr>
            <p:cNvPr id="107530" name="Line 7"/>
            <p:cNvSpPr>
              <a:spLocks noChangeShapeType="1"/>
            </p:cNvSpPr>
            <p:nvPr/>
          </p:nvSpPr>
          <p:spPr bwMode="auto">
            <a:xfrm>
              <a:off x="3328" y="2774"/>
              <a:ext cx="1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7531" name="Line 8"/>
            <p:cNvSpPr>
              <a:spLocks noChangeShapeType="1"/>
            </p:cNvSpPr>
            <p:nvPr/>
          </p:nvSpPr>
          <p:spPr bwMode="auto">
            <a:xfrm flipV="1">
              <a:off x="3520" y="2128"/>
              <a:ext cx="0" cy="7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7532" name="Text Box 9"/>
            <p:cNvSpPr txBox="1">
              <a:spLocks noChangeArrowheads="1"/>
            </p:cNvSpPr>
            <p:nvPr/>
          </p:nvSpPr>
          <p:spPr bwMode="auto">
            <a:xfrm>
              <a:off x="5253" y="2610"/>
              <a:ext cx="1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</a:p>
          </p:txBody>
        </p:sp>
        <p:sp>
          <p:nvSpPr>
            <p:cNvPr id="107533" name="Text Box 10"/>
            <p:cNvSpPr txBox="1">
              <a:spLocks noChangeArrowheads="1"/>
            </p:cNvSpPr>
            <p:nvPr/>
          </p:nvSpPr>
          <p:spPr bwMode="auto">
            <a:xfrm>
              <a:off x="3319" y="2268"/>
              <a:ext cx="11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kumimoji="1" lang="zh-CN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7534" name="Line 11"/>
            <p:cNvSpPr>
              <a:spLocks noChangeShapeType="1"/>
            </p:cNvSpPr>
            <p:nvPr/>
          </p:nvSpPr>
          <p:spPr bwMode="auto">
            <a:xfrm flipV="1">
              <a:off x="3943" y="2320"/>
              <a:ext cx="0" cy="45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7535" name="Text Box 12"/>
            <p:cNvSpPr txBox="1">
              <a:spLocks noChangeArrowheads="1"/>
            </p:cNvSpPr>
            <p:nvPr/>
          </p:nvSpPr>
          <p:spPr bwMode="auto">
            <a:xfrm>
              <a:off x="4541" y="2268"/>
              <a:ext cx="11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kumimoji="1" lang="zh-CN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7536" name="Text Box 13"/>
            <p:cNvSpPr txBox="1">
              <a:spLocks noChangeArrowheads="1"/>
            </p:cNvSpPr>
            <p:nvPr/>
          </p:nvSpPr>
          <p:spPr bwMode="auto">
            <a:xfrm>
              <a:off x="3563" y="1908"/>
              <a:ext cx="5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 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(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t</a:t>
              </a:r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  <a:sym typeface="Symbol" pitchFamily="18" charset="2"/>
                </a:rPr>
                <a:t>-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t</a:t>
              </a:r>
              <a:r>
                <a:rPr kumimoji="1"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0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)</a:t>
              </a:r>
            </a:p>
          </p:txBody>
        </p:sp>
        <p:sp>
          <p:nvSpPr>
            <p:cNvPr id="107537" name="Text Box 14"/>
            <p:cNvSpPr txBox="1">
              <a:spLocks noChangeArrowheads="1"/>
            </p:cNvSpPr>
            <p:nvPr/>
          </p:nvSpPr>
          <p:spPr bwMode="auto">
            <a:xfrm>
              <a:off x="3857" y="2722"/>
              <a:ext cx="2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7538" name="Text Box 15"/>
            <p:cNvSpPr txBox="1">
              <a:spLocks noChangeArrowheads="1"/>
            </p:cNvSpPr>
            <p:nvPr/>
          </p:nvSpPr>
          <p:spPr bwMode="auto">
            <a:xfrm>
              <a:off x="3316" y="2733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107539" name="Text Box 16"/>
            <p:cNvSpPr txBox="1">
              <a:spLocks noChangeArrowheads="1"/>
            </p:cNvSpPr>
            <p:nvPr/>
          </p:nvSpPr>
          <p:spPr bwMode="auto">
            <a:xfrm>
              <a:off x="3921" y="2265"/>
              <a:ext cx="52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（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  <a:r>
                <a:rPr kumimoji="1" lang="zh-CN" altLang="en-US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）</a:t>
              </a:r>
            </a:p>
          </p:txBody>
        </p:sp>
      </p:grpSp>
      <p:sp>
        <p:nvSpPr>
          <p:cNvPr id="232465" name="Text Box 17"/>
          <p:cNvSpPr txBox="1">
            <a:spLocks noChangeArrowheads="1"/>
          </p:cNvSpPr>
          <p:nvPr/>
        </p:nvSpPr>
        <p:spPr bwMode="auto">
          <a:xfrm>
            <a:off x="468313" y="3255367"/>
            <a:ext cx="3455615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 typeface="Wingdings" pitchFamily="2" charset="2"/>
              <a:buChar char="l"/>
            </a:pPr>
            <a:r>
              <a:rPr kumimoji="1" lang="en-US" altLang="zh-CN" sz="24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zh-CN" altLang="en-US" sz="2400" dirty="0">
                <a:solidFill>
                  <a:schemeClr val="tx1"/>
                </a:solidFill>
                <a:latin typeface="楷体_GB2312" pitchFamily="49" charset="-122"/>
              </a:rPr>
              <a:t>单位冲激函数的性质</a:t>
            </a:r>
            <a:endParaRPr kumimoji="1" lang="zh-CN" altLang="en-US" sz="2400" b="0" dirty="0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232466" name="Text Box 18"/>
          <p:cNvSpPr txBox="1">
            <a:spLocks noChangeArrowheads="1"/>
          </p:cNvSpPr>
          <p:nvPr/>
        </p:nvSpPr>
        <p:spPr bwMode="auto">
          <a:xfrm>
            <a:off x="755576" y="4184758"/>
            <a:ext cx="68405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lang="zh-CN" altLang="en-US" sz="2000" dirty="0">
                <a:solidFill>
                  <a:schemeClr val="tx1"/>
                </a:solidFill>
              </a:rPr>
              <a:t>冲激函数对时间的积分等于阶跃函数</a:t>
            </a:r>
          </a:p>
        </p:txBody>
      </p:sp>
      <p:graphicFrame>
        <p:nvGraphicFramePr>
          <p:cNvPr id="2324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994493"/>
              </p:ext>
            </p:extLst>
          </p:nvPr>
        </p:nvGraphicFramePr>
        <p:xfrm>
          <a:off x="1547664" y="4869160"/>
          <a:ext cx="3671639" cy="1000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44" name="公式" r:id="rId5" imgW="2085927" imgH="561962" progId="Equation.3">
                  <p:embed/>
                </p:oleObj>
              </mc:Choice>
              <mc:Fallback>
                <p:oleObj name="公式" r:id="rId5" imgW="2085927" imgH="561962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869160"/>
                        <a:ext cx="3671639" cy="100008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FF"/>
                          </a:gs>
                          <a:gs pos="50000">
                            <a:schemeClr val="bg1"/>
                          </a:gs>
                          <a:gs pos="100000">
                            <a:srgbClr val="00CC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68" name="Line 20"/>
          <p:cNvSpPr>
            <a:spLocks noChangeShapeType="1"/>
          </p:cNvSpPr>
          <p:nvPr/>
        </p:nvSpPr>
        <p:spPr bwMode="auto">
          <a:xfrm>
            <a:off x="5550297" y="5373216"/>
            <a:ext cx="649288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2324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548699"/>
              </p:ext>
            </p:extLst>
          </p:nvPr>
        </p:nvGraphicFramePr>
        <p:xfrm>
          <a:off x="6356747" y="4970958"/>
          <a:ext cx="1713904" cy="804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45" name="Equation" r:id="rId7" imgW="850680" imgH="393480" progId="Equation.DSMT4">
                  <p:embed/>
                </p:oleObj>
              </mc:Choice>
              <mc:Fallback>
                <p:oleObj name="Equation" r:id="rId7" imgW="850680" imgH="39348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747" y="4970958"/>
                        <a:ext cx="1713904" cy="804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3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3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3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3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2" grpId="0" animBg="1"/>
      <p:bldP spid="232465" grpId="0" animBg="1"/>
      <p:bldP spid="232466" grpId="0"/>
      <p:bldP spid="23246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6" name="Text Box 4"/>
          <p:cNvSpPr txBox="1">
            <a:spLocks noChangeArrowheads="1"/>
          </p:cNvSpPr>
          <p:nvPr/>
        </p:nvSpPr>
        <p:spPr bwMode="auto">
          <a:xfrm>
            <a:off x="468313" y="464313"/>
            <a:ext cx="3706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8001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2573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7145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171700" indent="-3429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sym typeface="Symbol" pitchFamily="18" charset="2"/>
              </a:rPr>
              <a:t>冲激函数的筛分性</a:t>
            </a:r>
            <a:r>
              <a:rPr kumimoji="1" lang="zh-CN" altLang="en-US" sz="2000" b="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</a:p>
        </p:txBody>
      </p:sp>
      <p:graphicFrame>
        <p:nvGraphicFramePr>
          <p:cNvPr id="2334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998118"/>
              </p:ext>
            </p:extLst>
          </p:nvPr>
        </p:nvGraphicFramePr>
        <p:xfrm>
          <a:off x="1386367" y="1124744"/>
          <a:ext cx="4625496" cy="555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79" name="公式" r:id="rId3" imgW="2628861" imgH="304903" progId="Equation.3">
                  <p:embed/>
                </p:oleObj>
              </mc:Choice>
              <mc:Fallback>
                <p:oleObj name="公式" r:id="rId3" imgW="2628861" imgH="30490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367" y="1124744"/>
                        <a:ext cx="4625496" cy="55531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66CCFF"/>
                          </a:gs>
                          <a:gs pos="50000">
                            <a:schemeClr val="bg1"/>
                          </a:gs>
                          <a:gs pos="100000">
                            <a:srgbClr val="66CC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634326"/>
              </p:ext>
            </p:extLst>
          </p:nvPr>
        </p:nvGraphicFramePr>
        <p:xfrm>
          <a:off x="1206668" y="3228439"/>
          <a:ext cx="3240904" cy="70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80" name="Equation" r:id="rId5" imgW="1574640" imgH="330120" progId="Equation.DSMT4">
                  <p:embed/>
                </p:oleObj>
              </mc:Choice>
              <mc:Fallback>
                <p:oleObj name="Equation" r:id="rId5" imgW="1574640" imgH="3301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668" y="3228439"/>
                        <a:ext cx="3240904" cy="704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79" name="Text Box 7"/>
          <p:cNvSpPr txBox="1">
            <a:spLocks noChangeArrowheads="1"/>
          </p:cNvSpPr>
          <p:nvPr/>
        </p:nvSpPr>
        <p:spPr bwMode="auto">
          <a:xfrm>
            <a:off x="494134" y="3417063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同理</a:t>
            </a:r>
            <a:endParaRPr kumimoji="1" lang="zh-CN" altLang="en-US" sz="2000" b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2334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326206"/>
              </p:ext>
            </p:extLst>
          </p:nvPr>
        </p:nvGraphicFramePr>
        <p:xfrm>
          <a:off x="1331852" y="4574852"/>
          <a:ext cx="2984500" cy="768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81" name="Equation" r:id="rId7" imgW="1549080" imgH="393480" progId="Equation.DSMT4">
                  <p:embed/>
                </p:oleObj>
              </mc:Choice>
              <mc:Fallback>
                <p:oleObj name="Equation" r:id="rId7" imgW="154908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852" y="4574852"/>
                        <a:ext cx="2984500" cy="7688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248698"/>
              </p:ext>
            </p:extLst>
          </p:nvPr>
        </p:nvGraphicFramePr>
        <p:xfrm>
          <a:off x="1563627" y="5441628"/>
          <a:ext cx="3296405" cy="795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82" name="Equation" r:id="rId9" imgW="1650960" imgH="393480" progId="Equation.DSMT4">
                  <p:embed/>
                </p:oleObj>
              </mc:Choice>
              <mc:Fallback>
                <p:oleObj name="Equation" r:id="rId9" imgW="1650960" imgH="393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627" y="5441628"/>
                        <a:ext cx="3296405" cy="795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2" name="Text Box 10"/>
          <p:cNvSpPr txBox="1">
            <a:spLocks noChangeArrowheads="1"/>
          </p:cNvSpPr>
          <p:nvPr/>
        </p:nvSpPr>
        <p:spPr bwMode="auto">
          <a:xfrm>
            <a:off x="539771" y="4670865"/>
            <a:ext cx="4427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</a:t>
            </a:r>
          </a:p>
        </p:txBody>
      </p:sp>
      <p:grpSp>
        <p:nvGrpSpPr>
          <p:cNvPr id="233483" name="Group 11"/>
          <p:cNvGrpSpPr>
            <a:grpSpLocks/>
          </p:cNvGrpSpPr>
          <p:nvPr/>
        </p:nvGrpSpPr>
        <p:grpSpPr bwMode="auto">
          <a:xfrm>
            <a:off x="6203915" y="2794980"/>
            <a:ext cx="2656392" cy="1430667"/>
            <a:chOff x="3043" y="2680"/>
            <a:chExt cx="1600" cy="840"/>
          </a:xfrm>
        </p:grpSpPr>
        <p:sp>
          <p:nvSpPr>
            <p:cNvPr id="108568" name="Line 12"/>
            <p:cNvSpPr>
              <a:spLocks noChangeShapeType="1"/>
            </p:cNvSpPr>
            <p:nvPr/>
          </p:nvSpPr>
          <p:spPr bwMode="auto">
            <a:xfrm>
              <a:off x="3048" y="3292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8569" name="Line 13"/>
            <p:cNvSpPr>
              <a:spLocks noChangeShapeType="1"/>
            </p:cNvSpPr>
            <p:nvPr/>
          </p:nvSpPr>
          <p:spPr bwMode="auto">
            <a:xfrm flipV="1">
              <a:off x="3240" y="2680"/>
              <a:ext cx="0" cy="8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8570" name="Text Box 14"/>
            <p:cNvSpPr txBox="1">
              <a:spLocks noChangeArrowheads="1"/>
            </p:cNvSpPr>
            <p:nvPr/>
          </p:nvSpPr>
          <p:spPr bwMode="auto">
            <a:xfrm>
              <a:off x="4489" y="3246"/>
              <a:ext cx="154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8571" name="Text Box 15"/>
            <p:cNvSpPr txBox="1">
              <a:spLocks noChangeArrowheads="1"/>
            </p:cNvSpPr>
            <p:nvPr/>
          </p:nvSpPr>
          <p:spPr bwMode="auto">
            <a:xfrm>
              <a:off x="3231" y="2690"/>
              <a:ext cx="332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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)</a:t>
              </a:r>
            </a:p>
          </p:txBody>
        </p:sp>
        <p:sp>
          <p:nvSpPr>
            <p:cNvPr id="108572" name="Line 16"/>
            <p:cNvSpPr>
              <a:spLocks noChangeShapeType="1"/>
            </p:cNvSpPr>
            <p:nvPr/>
          </p:nvSpPr>
          <p:spPr bwMode="auto">
            <a:xfrm flipV="1">
              <a:off x="3240" y="2896"/>
              <a:ext cx="0" cy="396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8573" name="Text Box 17"/>
            <p:cNvSpPr txBox="1">
              <a:spLocks noChangeArrowheads="1"/>
            </p:cNvSpPr>
            <p:nvPr/>
          </p:nvSpPr>
          <p:spPr bwMode="auto">
            <a:xfrm>
              <a:off x="3043" y="2817"/>
              <a:ext cx="188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108574" name="Text Box 18"/>
            <p:cNvSpPr txBox="1">
              <a:spLocks noChangeArrowheads="1"/>
            </p:cNvSpPr>
            <p:nvPr/>
          </p:nvSpPr>
          <p:spPr bwMode="auto">
            <a:xfrm>
              <a:off x="3043" y="3264"/>
              <a:ext cx="188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</p:grpSp>
      <p:grpSp>
        <p:nvGrpSpPr>
          <p:cNvPr id="233491" name="Group 19"/>
          <p:cNvGrpSpPr>
            <a:grpSpLocks/>
          </p:cNvGrpSpPr>
          <p:nvPr/>
        </p:nvGrpSpPr>
        <p:grpSpPr bwMode="auto">
          <a:xfrm>
            <a:off x="6227761" y="2900358"/>
            <a:ext cx="2170451" cy="744540"/>
            <a:chOff x="3930" y="1811"/>
            <a:chExt cx="1269" cy="432"/>
          </a:xfrm>
        </p:grpSpPr>
        <p:sp>
          <p:nvSpPr>
            <p:cNvPr id="108566" name="Freeform 20"/>
            <p:cNvSpPr>
              <a:spLocks/>
            </p:cNvSpPr>
            <p:nvPr/>
          </p:nvSpPr>
          <p:spPr bwMode="auto">
            <a:xfrm>
              <a:off x="3930" y="1920"/>
              <a:ext cx="975" cy="323"/>
            </a:xfrm>
            <a:custGeom>
              <a:avLst/>
              <a:gdLst>
                <a:gd name="T0" fmla="*/ 0 w 975"/>
                <a:gd name="T1" fmla="*/ 323 h 323"/>
                <a:gd name="T2" fmla="*/ 164 w 975"/>
                <a:gd name="T3" fmla="*/ 203 h 323"/>
                <a:gd name="T4" fmla="*/ 342 w 975"/>
                <a:gd name="T5" fmla="*/ 150 h 323"/>
                <a:gd name="T6" fmla="*/ 606 w 975"/>
                <a:gd name="T7" fmla="*/ 188 h 323"/>
                <a:gd name="T8" fmla="*/ 975 w 975"/>
                <a:gd name="T9" fmla="*/ 0 h 3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5" h="323">
                  <a:moveTo>
                    <a:pt x="0" y="323"/>
                  </a:moveTo>
                  <a:cubicBezTo>
                    <a:pt x="53" y="277"/>
                    <a:pt x="107" y="232"/>
                    <a:pt x="164" y="203"/>
                  </a:cubicBezTo>
                  <a:cubicBezTo>
                    <a:pt x="221" y="174"/>
                    <a:pt x="268" y="152"/>
                    <a:pt x="342" y="150"/>
                  </a:cubicBezTo>
                  <a:cubicBezTo>
                    <a:pt x="416" y="148"/>
                    <a:pt x="500" y="213"/>
                    <a:pt x="606" y="188"/>
                  </a:cubicBezTo>
                  <a:cubicBezTo>
                    <a:pt x="712" y="163"/>
                    <a:pt x="898" y="39"/>
                    <a:pt x="975" y="0"/>
                  </a:cubicBezTo>
                </a:path>
              </a:pathLst>
            </a:custGeom>
            <a:noFill/>
            <a:ln w="28575" cap="flat" cmpd="sng">
              <a:solidFill>
                <a:srgbClr val="00FF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8567" name="Text Box 21"/>
            <p:cNvSpPr txBox="1">
              <a:spLocks noChangeArrowheads="1"/>
            </p:cNvSpPr>
            <p:nvPr/>
          </p:nvSpPr>
          <p:spPr bwMode="auto">
            <a:xfrm>
              <a:off x="4909" y="1811"/>
              <a:ext cx="290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f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</a:t>
              </a:r>
            </a:p>
          </p:txBody>
        </p:sp>
      </p:grpSp>
      <p:grpSp>
        <p:nvGrpSpPr>
          <p:cNvPr id="233494" name="Group 22"/>
          <p:cNvGrpSpPr>
            <a:grpSpLocks/>
          </p:cNvGrpSpPr>
          <p:nvPr/>
        </p:nvGrpSpPr>
        <p:grpSpPr bwMode="auto">
          <a:xfrm>
            <a:off x="6499228" y="3313109"/>
            <a:ext cx="766763" cy="400050"/>
            <a:chOff x="4077" y="2084"/>
            <a:chExt cx="483" cy="252"/>
          </a:xfrm>
        </p:grpSpPr>
        <p:sp>
          <p:nvSpPr>
            <p:cNvPr id="108564" name="Text Box 23"/>
            <p:cNvSpPr txBox="1">
              <a:spLocks noChangeArrowheads="1"/>
            </p:cNvSpPr>
            <p:nvPr/>
          </p:nvSpPr>
          <p:spPr bwMode="auto">
            <a:xfrm>
              <a:off x="4211" y="2084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f</a:t>
              </a:r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(0)</a:t>
              </a:r>
            </a:p>
          </p:txBody>
        </p:sp>
        <p:sp>
          <p:nvSpPr>
            <p:cNvPr id="108565" name="Oval 24"/>
            <p:cNvSpPr>
              <a:spLocks noChangeArrowheads="1"/>
            </p:cNvSpPr>
            <p:nvPr/>
          </p:nvSpPr>
          <p:spPr bwMode="auto">
            <a:xfrm>
              <a:off x="4077" y="2124"/>
              <a:ext cx="47" cy="4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kumimoji="1" lang="zh-CN" altLang="zh-CN" sz="200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233497" name="Text Box 25"/>
          <p:cNvSpPr txBox="1">
            <a:spLocks noChangeArrowheads="1"/>
          </p:cNvSpPr>
          <p:nvPr/>
        </p:nvSpPr>
        <p:spPr bwMode="auto">
          <a:xfrm>
            <a:off x="6516041" y="5621178"/>
            <a:ext cx="2082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</a:rPr>
              <a:t>f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)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在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</a:rPr>
              <a:t>0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处连续</a:t>
            </a:r>
          </a:p>
        </p:txBody>
      </p:sp>
      <p:grpSp>
        <p:nvGrpSpPr>
          <p:cNvPr id="233502" name="Group 30"/>
          <p:cNvGrpSpPr>
            <a:grpSpLocks/>
          </p:cNvGrpSpPr>
          <p:nvPr/>
        </p:nvGrpSpPr>
        <p:grpSpPr bwMode="auto">
          <a:xfrm>
            <a:off x="1403350" y="1916113"/>
            <a:ext cx="1873250" cy="1025525"/>
            <a:chOff x="884" y="1207"/>
            <a:chExt cx="1180" cy="646"/>
          </a:xfrm>
        </p:grpSpPr>
        <p:sp>
          <p:nvSpPr>
            <p:cNvPr id="108561" name="Text Box 27" descr="羊皮纸"/>
            <p:cNvSpPr txBox="1">
              <a:spLocks noChangeArrowheads="1"/>
            </p:cNvSpPr>
            <p:nvPr/>
          </p:nvSpPr>
          <p:spPr bwMode="auto">
            <a:xfrm>
              <a:off x="884" y="1601"/>
              <a:ext cx="1180" cy="252"/>
            </a:xfrm>
            <a:prstGeom prst="rect">
              <a:avLst/>
            </a:prstGeom>
            <a:blipFill dpi="0" rotWithShape="1">
              <a:blip r:embed="rId11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f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(0)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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)</a:t>
              </a:r>
            </a:p>
          </p:txBody>
        </p:sp>
        <p:sp>
          <p:nvSpPr>
            <p:cNvPr id="108562" name="Line 28"/>
            <p:cNvSpPr>
              <a:spLocks noChangeShapeType="1"/>
            </p:cNvSpPr>
            <p:nvPr/>
          </p:nvSpPr>
          <p:spPr bwMode="auto">
            <a:xfrm>
              <a:off x="1383" y="1207"/>
              <a:ext cx="0" cy="22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8563" name="Line 29"/>
            <p:cNvSpPr>
              <a:spLocks noChangeShapeType="1"/>
            </p:cNvSpPr>
            <p:nvPr/>
          </p:nvSpPr>
          <p:spPr bwMode="auto">
            <a:xfrm>
              <a:off x="1519" y="1207"/>
              <a:ext cx="0" cy="22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33503" name="Group 31"/>
          <p:cNvGrpSpPr>
            <a:grpSpLocks/>
          </p:cNvGrpSpPr>
          <p:nvPr/>
        </p:nvGrpSpPr>
        <p:grpSpPr bwMode="auto">
          <a:xfrm>
            <a:off x="6011863" y="4769515"/>
            <a:ext cx="1550988" cy="850900"/>
            <a:chOff x="385" y="3022"/>
            <a:chExt cx="977" cy="536"/>
          </a:xfrm>
        </p:grpSpPr>
        <p:pic>
          <p:nvPicPr>
            <p:cNvPr id="108559" name="Picture 32" descr="123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560" name="Text Box 33"/>
            <p:cNvSpPr txBox="1">
              <a:spLocks noChangeArrowheads="1"/>
            </p:cNvSpPr>
            <p:nvPr/>
          </p:nvSpPr>
          <p:spPr bwMode="auto">
            <a:xfrm>
              <a:off x="793" y="3125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3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23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23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6" grpId="0" build="p" autoUpdateAnimBg="0"/>
      <p:bldP spid="233479" grpId="0" build="p" autoUpdateAnimBg="0"/>
      <p:bldP spid="233482" grpId="0"/>
      <p:bldP spid="23349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501" name="Object 5"/>
          <p:cNvGraphicFramePr>
            <a:graphicFrameLocks noChangeAspect="1"/>
          </p:cNvGraphicFramePr>
          <p:nvPr>
            <p:extLst/>
          </p:nvPr>
        </p:nvGraphicFramePr>
        <p:xfrm>
          <a:off x="1817472" y="4342047"/>
          <a:ext cx="1994941" cy="764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37" name="Equation" r:id="rId3" imgW="952200" imgH="355320" progId="Equation.DSMT4">
                  <p:embed/>
                </p:oleObj>
              </mc:Choice>
              <mc:Fallback>
                <p:oleObj name="Equation" r:id="rId3" imgW="95220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472" y="4342047"/>
                        <a:ext cx="1994941" cy="764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2" name="Text Box 6"/>
          <p:cNvSpPr txBox="1">
            <a:spLocks noChangeArrowheads="1"/>
          </p:cNvSpPr>
          <p:nvPr/>
        </p:nvSpPr>
        <p:spPr bwMode="auto">
          <a:xfrm>
            <a:off x="1763688" y="5949280"/>
            <a:ext cx="64087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</a:rPr>
              <a:t>c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不是冲激函数 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,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否则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</a:rPr>
              <a:t>KCL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不成立</a:t>
            </a:r>
          </a:p>
        </p:txBody>
      </p:sp>
      <p:sp>
        <p:nvSpPr>
          <p:cNvPr id="234503" name="Text Box 7"/>
          <p:cNvSpPr txBox="1">
            <a:spLocks noChangeArrowheads="1"/>
          </p:cNvSpPr>
          <p:nvPr/>
        </p:nvSpPr>
        <p:spPr bwMode="auto">
          <a:xfrm>
            <a:off x="971550" y="2781300"/>
            <a:ext cx="51133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</a:rPr>
              <a:t>分二个时间段考虑冲激响应</a:t>
            </a:r>
          </a:p>
        </p:txBody>
      </p:sp>
      <p:sp>
        <p:nvSpPr>
          <p:cNvPr id="234505" name="Text Box 9"/>
          <p:cNvSpPr txBox="1">
            <a:spLocks noChangeArrowheads="1"/>
          </p:cNvSpPr>
          <p:nvPr/>
        </p:nvSpPr>
        <p:spPr bwMode="auto">
          <a:xfrm>
            <a:off x="900113" y="3860800"/>
            <a:ext cx="3276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电容充电，方程为</a:t>
            </a:r>
            <a:endParaRPr kumimoji="1" lang="zh-CN" altLang="en-US" sz="2000" b="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09609" name="Text Box 11"/>
          <p:cNvSpPr txBox="1">
            <a:spLocks noChangeArrowheads="1"/>
          </p:cNvSpPr>
          <p:nvPr/>
        </p:nvSpPr>
        <p:spPr bwMode="auto">
          <a:xfrm>
            <a:off x="468313" y="3357563"/>
            <a:ext cx="4103687" cy="40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(1)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在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zh-CN" altLang="en-US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－</a:t>
            </a:r>
            <a:r>
              <a:rPr kumimoji="1" lang="zh-CN" altLang="en-US" sz="2000" b="0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→</a:t>
            </a:r>
            <a:r>
              <a:rPr kumimoji="1" lang="zh-CN" altLang="en-US" sz="2000" b="0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间</a:t>
            </a:r>
          </a:p>
        </p:txBody>
      </p:sp>
      <p:sp>
        <p:nvSpPr>
          <p:cNvPr id="234510" name="Text Box 14"/>
          <p:cNvSpPr txBox="1">
            <a:spLocks noChangeArrowheads="1"/>
          </p:cNvSpPr>
          <p:nvPr/>
        </p:nvSpPr>
        <p:spPr bwMode="auto">
          <a:xfrm>
            <a:off x="256594" y="2132856"/>
            <a:ext cx="570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endParaRPr kumimoji="1" lang="en-US" altLang="zh-CN" sz="2000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34512" name="Text Box 16"/>
          <p:cNvSpPr txBox="1">
            <a:spLocks noChangeArrowheads="1"/>
          </p:cNvSpPr>
          <p:nvPr/>
        </p:nvSpPr>
        <p:spPr bwMode="auto">
          <a:xfrm>
            <a:off x="3203575" y="1085835"/>
            <a:ext cx="55451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</a:rPr>
              <a:t>激励表示为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单位冲激函数时，电路中产生的零状态响应。</a:t>
            </a:r>
          </a:p>
        </p:txBody>
      </p:sp>
      <p:sp>
        <p:nvSpPr>
          <p:cNvPr id="234513" name="Text Box 17"/>
          <p:cNvSpPr txBox="1">
            <a:spLocks noChangeArrowheads="1"/>
          </p:cNvSpPr>
          <p:nvPr/>
        </p:nvSpPr>
        <p:spPr bwMode="auto">
          <a:xfrm>
            <a:off x="395288" y="1200631"/>
            <a:ext cx="1422184" cy="461665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冲激响应</a:t>
            </a:r>
          </a:p>
        </p:txBody>
      </p:sp>
      <p:sp>
        <p:nvSpPr>
          <p:cNvPr id="234514" name="Line 18"/>
          <p:cNvSpPr>
            <a:spLocks noChangeShapeType="1"/>
          </p:cNvSpPr>
          <p:nvPr/>
        </p:nvSpPr>
        <p:spPr bwMode="auto">
          <a:xfrm>
            <a:off x="2268538" y="1446545"/>
            <a:ext cx="792162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34572" name="Rectangle 76"/>
          <p:cNvSpPr>
            <a:spLocks noChangeArrowheads="1"/>
          </p:cNvSpPr>
          <p:nvPr/>
        </p:nvSpPr>
        <p:spPr bwMode="auto">
          <a:xfrm>
            <a:off x="971550" y="2120076"/>
            <a:ext cx="81724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求单位冲激电流激励下的</a:t>
            </a:r>
            <a:r>
              <a:rPr lang="en-US" altLang="zh-CN" sz="2000" b="0" i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RC</a:t>
            </a:r>
            <a:r>
              <a:rPr lang="zh-CN" altLang="en-US" sz="200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电路的零状态响应。</a:t>
            </a:r>
          </a:p>
        </p:txBody>
      </p:sp>
      <p:sp>
        <p:nvSpPr>
          <p:cNvPr id="234574" name="Text Box 78"/>
          <p:cNvSpPr txBox="1">
            <a:spLocks noChangeArrowheads="1"/>
          </p:cNvSpPr>
          <p:nvPr/>
        </p:nvSpPr>
        <p:spPr bwMode="auto">
          <a:xfrm>
            <a:off x="250825" y="2781300"/>
            <a:ext cx="647700" cy="40011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宋体" charset="-122"/>
              </a:rPr>
              <a:t>解</a:t>
            </a:r>
          </a:p>
        </p:txBody>
      </p:sp>
      <p:grpSp>
        <p:nvGrpSpPr>
          <p:cNvPr id="234575" name="Group 79"/>
          <p:cNvGrpSpPr>
            <a:grpSpLocks/>
          </p:cNvGrpSpPr>
          <p:nvPr/>
        </p:nvGrpSpPr>
        <p:grpSpPr bwMode="auto">
          <a:xfrm>
            <a:off x="250825" y="5229200"/>
            <a:ext cx="1550988" cy="850900"/>
            <a:chOff x="385" y="3022"/>
            <a:chExt cx="977" cy="536"/>
          </a:xfrm>
        </p:grpSpPr>
        <p:pic>
          <p:nvPicPr>
            <p:cNvPr id="109607" name="Picture 80" descr="12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608" name="Text Box 81"/>
            <p:cNvSpPr txBox="1">
              <a:spLocks noChangeArrowheads="1"/>
            </p:cNvSpPr>
            <p:nvPr/>
          </p:nvSpPr>
          <p:spPr bwMode="auto">
            <a:xfrm>
              <a:off x="793" y="3125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234590" name="Group 94"/>
          <p:cNvGrpSpPr>
            <a:grpSpLocks/>
          </p:cNvGrpSpPr>
          <p:nvPr/>
        </p:nvGrpSpPr>
        <p:grpSpPr bwMode="auto">
          <a:xfrm>
            <a:off x="5220076" y="2924174"/>
            <a:ext cx="3363915" cy="2200275"/>
            <a:chOff x="3606" y="1842"/>
            <a:chExt cx="2119" cy="1386"/>
          </a:xfrm>
        </p:grpSpPr>
        <p:sp>
          <p:nvSpPr>
            <p:cNvPr id="109584" name="Text Box 52"/>
            <p:cNvSpPr txBox="1">
              <a:spLocks noChangeArrowheads="1"/>
            </p:cNvSpPr>
            <p:nvPr/>
          </p:nvSpPr>
          <p:spPr bwMode="auto">
            <a:xfrm>
              <a:off x="4161" y="2976"/>
              <a:ext cx="808" cy="25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(0</a:t>
              </a:r>
              <a:r>
                <a:rPr kumimoji="1" lang="zh-CN" altLang="en-US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－</a:t>
              </a: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) = 0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9585" name="Line 53"/>
            <p:cNvSpPr>
              <a:spLocks noChangeShapeType="1"/>
            </p:cNvSpPr>
            <p:nvPr/>
          </p:nvSpPr>
          <p:spPr bwMode="auto">
            <a:xfrm>
              <a:off x="4660" y="1842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9586" name="Line 54"/>
            <p:cNvSpPr>
              <a:spLocks noChangeShapeType="1"/>
            </p:cNvSpPr>
            <p:nvPr/>
          </p:nvSpPr>
          <p:spPr bwMode="auto">
            <a:xfrm>
              <a:off x="5250" y="1887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9587" name="Text Box 55"/>
            <p:cNvSpPr txBox="1">
              <a:spLocks noChangeArrowheads="1"/>
            </p:cNvSpPr>
            <p:nvPr/>
          </p:nvSpPr>
          <p:spPr bwMode="auto">
            <a:xfrm>
              <a:off x="4978" y="1887"/>
              <a:ext cx="2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9588" name="Text Box 56"/>
            <p:cNvSpPr txBox="1">
              <a:spLocks noChangeArrowheads="1"/>
            </p:cNvSpPr>
            <p:nvPr/>
          </p:nvSpPr>
          <p:spPr bwMode="auto">
            <a:xfrm>
              <a:off x="4389" y="2204"/>
              <a:ext cx="2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9589" name="Text Box 57"/>
            <p:cNvSpPr txBox="1">
              <a:spLocks noChangeArrowheads="1"/>
            </p:cNvSpPr>
            <p:nvPr/>
          </p:nvSpPr>
          <p:spPr bwMode="auto">
            <a:xfrm>
              <a:off x="3606" y="2044"/>
              <a:ext cx="5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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sym typeface="Symbol" pitchFamily="18" charset="2"/>
                </a:rPr>
                <a:t>)</a:t>
              </a:r>
              <a:endPara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endParaRPr>
            </a:p>
          </p:txBody>
        </p:sp>
        <p:sp>
          <p:nvSpPr>
            <p:cNvPr id="109590" name="Line 58"/>
            <p:cNvSpPr>
              <a:spLocks noChangeShapeType="1"/>
            </p:cNvSpPr>
            <p:nvPr/>
          </p:nvSpPr>
          <p:spPr bwMode="auto">
            <a:xfrm flipV="1">
              <a:off x="5341" y="2341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9591" name="Rectangle 59"/>
            <p:cNvSpPr>
              <a:spLocks noChangeArrowheads="1"/>
            </p:cNvSpPr>
            <p:nvPr/>
          </p:nvSpPr>
          <p:spPr bwMode="auto">
            <a:xfrm>
              <a:off x="4932" y="2204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</a:p>
          </p:txBody>
        </p:sp>
        <p:sp>
          <p:nvSpPr>
            <p:cNvPr id="109592" name="Text Box 61"/>
            <p:cNvSpPr txBox="1">
              <a:spLocks noChangeArrowheads="1"/>
            </p:cNvSpPr>
            <p:nvPr/>
          </p:nvSpPr>
          <p:spPr bwMode="auto">
            <a:xfrm>
              <a:off x="5386" y="1887"/>
              <a:ext cx="2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+</a:t>
              </a:r>
            </a:p>
          </p:txBody>
        </p:sp>
        <p:sp>
          <p:nvSpPr>
            <p:cNvPr id="109593" name="Text Box 62"/>
            <p:cNvSpPr txBox="1">
              <a:spLocks noChangeArrowheads="1"/>
            </p:cNvSpPr>
            <p:nvPr/>
          </p:nvSpPr>
          <p:spPr bwMode="auto">
            <a:xfrm>
              <a:off x="5386" y="2386"/>
              <a:ext cx="3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</a:p>
          </p:txBody>
        </p:sp>
        <p:sp>
          <p:nvSpPr>
            <p:cNvPr id="109594" name="Text Box 63"/>
            <p:cNvSpPr txBox="1">
              <a:spLocks noChangeArrowheads="1"/>
            </p:cNvSpPr>
            <p:nvPr/>
          </p:nvSpPr>
          <p:spPr bwMode="auto">
            <a:xfrm>
              <a:off x="5456" y="2159"/>
              <a:ext cx="2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9595" name="Line 64"/>
            <p:cNvSpPr>
              <a:spLocks noChangeShapeType="1"/>
            </p:cNvSpPr>
            <p:nvPr/>
          </p:nvSpPr>
          <p:spPr bwMode="auto">
            <a:xfrm>
              <a:off x="3969" y="1842"/>
              <a:ext cx="13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9596" name="Line 65"/>
            <p:cNvSpPr>
              <a:spLocks noChangeShapeType="1"/>
            </p:cNvSpPr>
            <p:nvPr/>
          </p:nvSpPr>
          <p:spPr bwMode="auto">
            <a:xfrm>
              <a:off x="5341" y="1842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9597" name="Line 66"/>
            <p:cNvSpPr>
              <a:spLocks noChangeShapeType="1"/>
            </p:cNvSpPr>
            <p:nvPr/>
          </p:nvSpPr>
          <p:spPr bwMode="auto">
            <a:xfrm>
              <a:off x="3969" y="1842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9598" name="Line 67"/>
            <p:cNvSpPr>
              <a:spLocks noChangeShapeType="1"/>
            </p:cNvSpPr>
            <p:nvPr/>
          </p:nvSpPr>
          <p:spPr bwMode="auto">
            <a:xfrm flipV="1">
              <a:off x="3969" y="2885"/>
              <a:ext cx="137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9599" name="Rectangle 68"/>
            <p:cNvSpPr>
              <a:spLocks noChangeArrowheads="1"/>
            </p:cNvSpPr>
            <p:nvPr/>
          </p:nvSpPr>
          <p:spPr bwMode="auto">
            <a:xfrm>
              <a:off x="4595" y="22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09600" name="Group 69"/>
            <p:cNvGrpSpPr>
              <a:grpSpLocks/>
            </p:cNvGrpSpPr>
            <p:nvPr/>
          </p:nvGrpSpPr>
          <p:grpSpPr bwMode="auto">
            <a:xfrm>
              <a:off x="5230" y="2250"/>
              <a:ext cx="240" cy="90"/>
              <a:chOff x="4629" y="2478"/>
              <a:chExt cx="240" cy="90"/>
            </a:xfrm>
          </p:grpSpPr>
          <p:sp>
            <p:nvSpPr>
              <p:cNvPr id="109605" name="Line 70"/>
              <p:cNvSpPr>
                <a:spLocks noChangeShapeType="1"/>
              </p:cNvSpPr>
              <p:nvPr/>
            </p:nvSpPr>
            <p:spPr bwMode="auto">
              <a:xfrm>
                <a:off x="4629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9606" name="Line 71"/>
              <p:cNvSpPr>
                <a:spLocks noChangeShapeType="1"/>
              </p:cNvSpPr>
              <p:nvPr/>
            </p:nvSpPr>
            <p:spPr bwMode="auto">
              <a:xfrm>
                <a:off x="4629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9601" name="Line 60"/>
            <p:cNvSpPr>
              <a:spLocks noChangeShapeType="1"/>
            </p:cNvSpPr>
            <p:nvPr/>
          </p:nvSpPr>
          <p:spPr bwMode="auto">
            <a:xfrm flipV="1">
              <a:off x="3969" y="1933"/>
              <a:ext cx="0" cy="40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09602" name="Group 72"/>
            <p:cNvGrpSpPr>
              <a:grpSpLocks/>
            </p:cNvGrpSpPr>
            <p:nvPr/>
          </p:nvGrpSpPr>
          <p:grpSpPr bwMode="auto">
            <a:xfrm>
              <a:off x="3798" y="2296"/>
              <a:ext cx="363" cy="363"/>
              <a:chOff x="4785" y="709"/>
              <a:chExt cx="363" cy="363"/>
            </a:xfrm>
          </p:grpSpPr>
          <p:sp>
            <p:nvSpPr>
              <p:cNvPr id="109603" name="Oval 73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zh-CN" sz="2000" b="0">
                  <a:solidFill>
                    <a:schemeClr val="tx1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109604" name="Line 74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6048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4.4.1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 一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阶电路的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冲激响应</a:t>
            </a:r>
            <a:endParaRPr kumimoji="1" lang="zh-CN" altLang="en-US" sz="2400" dirty="0">
              <a:solidFill>
                <a:srgbClr val="990033"/>
              </a:solidFill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133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3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" fill="hold"/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fill="hold"/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23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4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4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4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4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0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3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2" grpId="0" autoUpdateAnimBg="0"/>
      <p:bldP spid="234503" grpId="0"/>
      <p:bldP spid="234505" grpId="0"/>
      <p:bldP spid="109609" grpId="0"/>
      <p:bldP spid="234510" grpId="0"/>
      <p:bldP spid="234512" grpId="0"/>
      <p:bldP spid="234513" grpId="0" animBg="1"/>
      <p:bldP spid="234514" grpId="0" animBg="1"/>
      <p:bldP spid="234572" grpId="0"/>
      <p:bldP spid="23457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079729"/>
              </p:ext>
            </p:extLst>
          </p:nvPr>
        </p:nvGraphicFramePr>
        <p:xfrm>
          <a:off x="6007100" y="1533476"/>
          <a:ext cx="266541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39" name="Equation" r:id="rId3" imgW="1143000" imgH="355320" progId="Equation.DSMT4">
                  <p:embed/>
                </p:oleObj>
              </mc:Choice>
              <mc:Fallback>
                <p:oleObj name="Equation" r:id="rId3" imgW="1143000" imgH="3553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1533476"/>
                        <a:ext cx="266541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9" name="Text Box 13"/>
          <p:cNvSpPr txBox="1">
            <a:spLocks noChangeArrowheads="1"/>
          </p:cNvSpPr>
          <p:nvPr/>
        </p:nvSpPr>
        <p:spPr bwMode="auto">
          <a:xfrm>
            <a:off x="1835150" y="2596842"/>
            <a:ext cx="48301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电容中的冲激电流使电容电压发生跃变。</a:t>
            </a:r>
            <a:endParaRPr kumimoji="1" lang="zh-CN" altLang="en-US" sz="2000" b="0" dirty="0">
              <a:solidFill>
                <a:schemeClr val="tx1"/>
              </a:solidFill>
              <a:latin typeface="Times New Roman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014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543263"/>
              </p:ext>
            </p:extLst>
          </p:nvPr>
        </p:nvGraphicFramePr>
        <p:xfrm>
          <a:off x="1397000" y="511175"/>
          <a:ext cx="595788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40" name="Equation" r:id="rId5" imgW="2019240" imgH="368280" progId="Equation.DSMT4">
                  <p:embed/>
                </p:oleObj>
              </mc:Choice>
              <mc:Fallback>
                <p:oleObj name="Equation" r:id="rId5" imgW="2019240" imgH="36828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511175"/>
                        <a:ext cx="5957888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0141" name="Group 45"/>
          <p:cNvGrpSpPr>
            <a:grpSpLocks/>
          </p:cNvGrpSpPr>
          <p:nvPr/>
        </p:nvGrpSpPr>
        <p:grpSpPr bwMode="auto">
          <a:xfrm>
            <a:off x="3492500" y="188913"/>
            <a:ext cx="1943100" cy="1511300"/>
            <a:chOff x="1837" y="2523"/>
            <a:chExt cx="1224" cy="952"/>
          </a:xfrm>
        </p:grpSpPr>
        <p:sp>
          <p:nvSpPr>
            <p:cNvPr id="110623" name="Line 46"/>
            <p:cNvSpPr>
              <a:spLocks noChangeShapeType="1"/>
            </p:cNvSpPr>
            <p:nvPr/>
          </p:nvSpPr>
          <p:spPr bwMode="auto">
            <a:xfrm flipV="1">
              <a:off x="1837" y="2704"/>
              <a:ext cx="816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24" name="Text Box 47"/>
            <p:cNvSpPr txBox="1">
              <a:spLocks noChangeArrowheads="1"/>
            </p:cNvSpPr>
            <p:nvPr/>
          </p:nvSpPr>
          <p:spPr bwMode="auto">
            <a:xfrm>
              <a:off x="2653" y="2523"/>
              <a:ext cx="4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26014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233463"/>
              </p:ext>
            </p:extLst>
          </p:nvPr>
        </p:nvGraphicFramePr>
        <p:xfrm>
          <a:off x="1446213" y="1703388"/>
          <a:ext cx="30273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41" name="Equation" r:id="rId7" imgW="1282680" imgH="253800" progId="Equation.DSMT4">
                  <p:embed/>
                </p:oleObj>
              </mc:Choice>
              <mc:Fallback>
                <p:oleObj name="Equation" r:id="rId7" imgW="1282680" imgH="25380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1703388"/>
                        <a:ext cx="302736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46" name="Line 50"/>
          <p:cNvSpPr>
            <a:spLocks noChangeShapeType="1"/>
          </p:cNvSpPr>
          <p:nvPr/>
        </p:nvSpPr>
        <p:spPr bwMode="auto">
          <a:xfrm>
            <a:off x="431800" y="1989138"/>
            <a:ext cx="649288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147" name="Line 51"/>
          <p:cNvSpPr>
            <a:spLocks noChangeShapeType="1"/>
          </p:cNvSpPr>
          <p:nvPr/>
        </p:nvSpPr>
        <p:spPr bwMode="auto">
          <a:xfrm>
            <a:off x="4897438" y="1989138"/>
            <a:ext cx="649287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0148" name="Group 52"/>
          <p:cNvGrpSpPr>
            <a:grpSpLocks/>
          </p:cNvGrpSpPr>
          <p:nvPr/>
        </p:nvGrpSpPr>
        <p:grpSpPr bwMode="auto">
          <a:xfrm>
            <a:off x="179388" y="2349500"/>
            <a:ext cx="1550988" cy="850900"/>
            <a:chOff x="385" y="3022"/>
            <a:chExt cx="977" cy="536"/>
          </a:xfrm>
        </p:grpSpPr>
        <p:pic>
          <p:nvPicPr>
            <p:cNvPr id="110621" name="Picture 53" descr="12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622" name="Text Box 54"/>
            <p:cNvSpPr txBox="1">
              <a:spLocks noChangeArrowheads="1"/>
            </p:cNvSpPr>
            <p:nvPr/>
          </p:nvSpPr>
          <p:spPr bwMode="auto">
            <a:xfrm>
              <a:off x="793" y="3125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行楷" pitchFamily="2" charset="-122"/>
                  <a:cs typeface="Times New Roman" panose="02020603050405020304" pitchFamily="18" charset="0"/>
                </a:rPr>
                <a:t>结论</a:t>
              </a:r>
            </a:p>
          </p:txBody>
        </p:sp>
      </p:grpSp>
      <p:sp>
        <p:nvSpPr>
          <p:cNvPr id="260151" name="Rectangle 55"/>
          <p:cNvSpPr>
            <a:spLocks noChangeArrowheads="1"/>
          </p:cNvSpPr>
          <p:nvPr/>
        </p:nvSpPr>
        <p:spPr bwMode="auto">
          <a:xfrm>
            <a:off x="611188" y="3628543"/>
            <a:ext cx="42995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t &gt;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00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为零输入响应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电容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放电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zh-CN" altLang="en-US" sz="2000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0152" name="Group 56"/>
          <p:cNvGrpSpPr>
            <a:grpSpLocks/>
          </p:cNvGrpSpPr>
          <p:nvPr/>
        </p:nvGrpSpPr>
        <p:grpSpPr bwMode="auto">
          <a:xfrm>
            <a:off x="6559556" y="3389313"/>
            <a:ext cx="2212977" cy="1560512"/>
            <a:chOff x="2816" y="2602"/>
            <a:chExt cx="1394" cy="983"/>
          </a:xfrm>
        </p:grpSpPr>
        <p:sp>
          <p:nvSpPr>
            <p:cNvPr id="110607" name="Line 57"/>
            <p:cNvSpPr>
              <a:spLocks noChangeShapeType="1"/>
            </p:cNvSpPr>
            <p:nvPr/>
          </p:nvSpPr>
          <p:spPr bwMode="auto">
            <a:xfrm>
              <a:off x="2880" y="2614"/>
              <a:ext cx="95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08" name="Line 58"/>
            <p:cNvSpPr>
              <a:spLocks noChangeShapeType="1"/>
            </p:cNvSpPr>
            <p:nvPr/>
          </p:nvSpPr>
          <p:spPr bwMode="auto">
            <a:xfrm>
              <a:off x="3833" y="3067"/>
              <a:ext cx="0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09" name="Line 59"/>
            <p:cNvSpPr>
              <a:spLocks noChangeShapeType="1"/>
            </p:cNvSpPr>
            <p:nvPr/>
          </p:nvSpPr>
          <p:spPr bwMode="auto">
            <a:xfrm>
              <a:off x="3833" y="2614"/>
              <a:ext cx="0" cy="3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10" name="Line 60"/>
            <p:cNvSpPr>
              <a:spLocks noChangeShapeType="1"/>
            </p:cNvSpPr>
            <p:nvPr/>
          </p:nvSpPr>
          <p:spPr bwMode="auto">
            <a:xfrm>
              <a:off x="2880" y="2614"/>
              <a:ext cx="0" cy="97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11" name="Line 61"/>
            <p:cNvSpPr>
              <a:spLocks noChangeShapeType="1"/>
            </p:cNvSpPr>
            <p:nvPr/>
          </p:nvSpPr>
          <p:spPr bwMode="auto">
            <a:xfrm>
              <a:off x="2880" y="3566"/>
              <a:ext cx="95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12" name="Line 62"/>
            <p:cNvSpPr>
              <a:spLocks noChangeShapeType="1"/>
            </p:cNvSpPr>
            <p:nvPr/>
          </p:nvSpPr>
          <p:spPr bwMode="auto">
            <a:xfrm>
              <a:off x="3742" y="2659"/>
              <a:ext cx="0" cy="24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13" name="Text Box 63"/>
            <p:cNvSpPr txBox="1">
              <a:spLocks noChangeArrowheads="1"/>
            </p:cNvSpPr>
            <p:nvPr/>
          </p:nvSpPr>
          <p:spPr bwMode="auto">
            <a:xfrm>
              <a:off x="3470" y="2602"/>
              <a:ext cx="2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614" name="Text Box 64"/>
            <p:cNvSpPr txBox="1">
              <a:spLocks noChangeArrowheads="1"/>
            </p:cNvSpPr>
            <p:nvPr/>
          </p:nvSpPr>
          <p:spPr bwMode="auto">
            <a:xfrm>
              <a:off x="2943" y="2931"/>
              <a:ext cx="2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R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615" name="Text Box 65"/>
            <p:cNvSpPr txBox="1">
              <a:spLocks noChangeArrowheads="1"/>
            </p:cNvSpPr>
            <p:nvPr/>
          </p:nvSpPr>
          <p:spPr bwMode="auto">
            <a:xfrm>
              <a:off x="3424" y="2899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C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616" name="Text Box 66"/>
            <p:cNvSpPr txBox="1">
              <a:spLocks noChangeArrowheads="1"/>
            </p:cNvSpPr>
            <p:nvPr/>
          </p:nvSpPr>
          <p:spPr bwMode="auto">
            <a:xfrm>
              <a:off x="3950" y="2672"/>
              <a:ext cx="260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+</a:t>
              </a:r>
            </a:p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C</a:t>
              </a:r>
              <a:endParaRPr kumimoji="1" lang="en-US" altLang="zh-CN" sz="2000" b="0" i="1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  <a:p>
              <a:pPr eaLnBrk="1" hangingPunct="1"/>
              <a:r>
                <a:rPr kumimoji="1" lang="zh-CN" altLang="en-US" sz="2000" b="0" i="1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－</a:t>
              </a:r>
              <a:endPara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617" name="Rectangle 67"/>
            <p:cNvSpPr>
              <a:spLocks noChangeArrowheads="1"/>
            </p:cNvSpPr>
            <p:nvPr/>
          </p:nvSpPr>
          <p:spPr bwMode="auto">
            <a:xfrm>
              <a:off x="2816" y="293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0618" name="Group 68"/>
            <p:cNvGrpSpPr>
              <a:grpSpLocks/>
            </p:cNvGrpSpPr>
            <p:nvPr/>
          </p:nvGrpSpPr>
          <p:grpSpPr bwMode="auto">
            <a:xfrm>
              <a:off x="3711" y="2976"/>
              <a:ext cx="240" cy="93"/>
              <a:chOff x="3802" y="2478"/>
              <a:chExt cx="240" cy="93"/>
            </a:xfrm>
          </p:grpSpPr>
          <p:sp>
            <p:nvSpPr>
              <p:cNvPr id="110619" name="Line 69"/>
              <p:cNvSpPr>
                <a:spLocks noChangeShapeType="1"/>
              </p:cNvSpPr>
              <p:nvPr/>
            </p:nvSpPr>
            <p:spPr bwMode="auto">
              <a:xfrm flipV="1">
                <a:off x="3802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620" name="Line 70"/>
              <p:cNvSpPr>
                <a:spLocks noChangeShapeType="1"/>
              </p:cNvSpPr>
              <p:nvPr/>
            </p:nvSpPr>
            <p:spPr bwMode="auto">
              <a:xfrm>
                <a:off x="3802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260167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526345"/>
              </p:ext>
            </p:extLst>
          </p:nvPr>
        </p:nvGraphicFramePr>
        <p:xfrm>
          <a:off x="6792913" y="5068888"/>
          <a:ext cx="1315607" cy="736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42" name="Equation" r:id="rId10" imgW="647640" imgH="355320" progId="Equation.DSMT4">
                  <p:embed/>
                </p:oleObj>
              </mc:Choice>
              <mc:Fallback>
                <p:oleObj name="Equation" r:id="rId10" imgW="647640" imgH="355320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2913" y="5068888"/>
                        <a:ext cx="1315607" cy="736376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68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133020"/>
              </p:ext>
            </p:extLst>
          </p:nvPr>
        </p:nvGraphicFramePr>
        <p:xfrm>
          <a:off x="1439863" y="4109492"/>
          <a:ext cx="2700135" cy="927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43" name="Equation" r:id="rId12" imgW="1130040" imgH="380880" progId="Equation.DSMT4">
                  <p:embed/>
                </p:oleObj>
              </mc:Choice>
              <mc:Fallback>
                <p:oleObj name="Equation" r:id="rId12" imgW="1130040" imgH="380880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4109492"/>
                        <a:ext cx="2700135" cy="927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69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513523"/>
              </p:ext>
            </p:extLst>
          </p:nvPr>
        </p:nvGraphicFramePr>
        <p:xfrm>
          <a:off x="1408113" y="5192167"/>
          <a:ext cx="4168775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44" name="Equation" r:id="rId14" imgW="1650960" imgH="380880" progId="Equation.DSMT4">
                  <p:embed/>
                </p:oleObj>
              </mc:Choice>
              <mc:Fallback>
                <p:oleObj name="Equation" r:id="rId14" imgW="1650960" imgH="38088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5192167"/>
                        <a:ext cx="4168775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26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6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26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0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0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0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0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6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26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9" grpId="0"/>
      <p:bldP spid="260146" grpId="0" animBg="1"/>
      <p:bldP spid="260147" grpId="0" animBg="1"/>
      <p:bldP spid="26015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71" name="Group 51"/>
          <p:cNvGrpSpPr>
            <a:grpSpLocks/>
          </p:cNvGrpSpPr>
          <p:nvPr/>
        </p:nvGrpSpPr>
        <p:grpSpPr bwMode="auto">
          <a:xfrm>
            <a:off x="1173162" y="3794598"/>
            <a:ext cx="3035300" cy="2135188"/>
            <a:chOff x="739" y="1863"/>
            <a:chExt cx="1912" cy="1345"/>
          </a:xfrm>
        </p:grpSpPr>
        <p:sp>
          <p:nvSpPr>
            <p:cNvPr id="111633" name="Text Box 25"/>
            <p:cNvSpPr txBox="1">
              <a:spLocks noChangeArrowheads="1"/>
            </p:cNvSpPr>
            <p:nvPr/>
          </p:nvSpPr>
          <p:spPr bwMode="auto">
            <a:xfrm>
              <a:off x="1020" y="1863"/>
              <a:ext cx="2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1634" name="Line 26"/>
            <p:cNvSpPr>
              <a:spLocks noChangeShapeType="1"/>
            </p:cNvSpPr>
            <p:nvPr/>
          </p:nvSpPr>
          <p:spPr bwMode="auto">
            <a:xfrm>
              <a:off x="776" y="2962"/>
              <a:ext cx="17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635" name="Line 27"/>
            <p:cNvSpPr>
              <a:spLocks noChangeShapeType="1"/>
            </p:cNvSpPr>
            <p:nvPr/>
          </p:nvSpPr>
          <p:spPr bwMode="auto">
            <a:xfrm flipV="1">
              <a:off x="1035" y="2025"/>
              <a:ext cx="0" cy="11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636" name="Line 28"/>
            <p:cNvSpPr>
              <a:spLocks noChangeShapeType="1"/>
            </p:cNvSpPr>
            <p:nvPr/>
          </p:nvSpPr>
          <p:spPr bwMode="auto">
            <a:xfrm flipH="1">
              <a:off x="787" y="2962"/>
              <a:ext cx="2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637" name="Line 29"/>
            <p:cNvSpPr>
              <a:spLocks noChangeShapeType="1"/>
            </p:cNvSpPr>
            <p:nvPr/>
          </p:nvSpPr>
          <p:spPr bwMode="auto">
            <a:xfrm>
              <a:off x="1046" y="2376"/>
              <a:ext cx="1291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638" name="Arc 30"/>
            <p:cNvSpPr>
              <a:spLocks/>
            </p:cNvSpPr>
            <p:nvPr/>
          </p:nvSpPr>
          <p:spPr bwMode="auto">
            <a:xfrm flipH="1" flipV="1">
              <a:off x="1020" y="2160"/>
              <a:ext cx="1218" cy="773"/>
            </a:xfrm>
            <a:custGeom>
              <a:avLst/>
              <a:gdLst>
                <a:gd name="T0" fmla="*/ 0 w 25162"/>
                <a:gd name="T1" fmla="*/ 16 h 21600"/>
                <a:gd name="T2" fmla="*/ 1218 w 25162"/>
                <a:gd name="T3" fmla="*/ 568 h 21600"/>
                <a:gd name="T4" fmla="*/ 210 w 25162"/>
                <a:gd name="T5" fmla="*/ 773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62" h="21600" fill="none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639" name="Text Box 31"/>
            <p:cNvSpPr txBox="1">
              <a:spLocks noChangeArrowheads="1"/>
            </p:cNvSpPr>
            <p:nvPr/>
          </p:nvSpPr>
          <p:spPr bwMode="auto">
            <a:xfrm>
              <a:off x="2490" y="2815"/>
              <a:ext cx="16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1640" name="Text Box 32"/>
            <p:cNvSpPr txBox="1">
              <a:spLocks noChangeArrowheads="1"/>
            </p:cNvSpPr>
            <p:nvPr/>
          </p:nvSpPr>
          <p:spPr bwMode="auto">
            <a:xfrm>
              <a:off x="839" y="293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111641" name="Line 33"/>
            <p:cNvSpPr>
              <a:spLocks noChangeShapeType="1"/>
            </p:cNvSpPr>
            <p:nvPr/>
          </p:nvSpPr>
          <p:spPr bwMode="auto">
            <a:xfrm flipV="1">
              <a:off x="1020" y="2387"/>
              <a:ext cx="2" cy="58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aphicFrame>
          <p:nvGraphicFramePr>
            <p:cNvPr id="111642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634535"/>
                </p:ext>
              </p:extLst>
            </p:nvPr>
          </p:nvGraphicFramePr>
          <p:xfrm>
            <a:off x="739" y="2144"/>
            <a:ext cx="191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49" name="Equation" r:id="rId3" imgW="177480" imgH="393480" progId="Equation.DSMT4">
                    <p:embed/>
                  </p:oleObj>
                </mc:Choice>
                <mc:Fallback>
                  <p:oleObj name="Equation" r:id="rId3" imgW="177480" imgH="39348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" y="2144"/>
                          <a:ext cx="191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1631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855241"/>
              </p:ext>
            </p:extLst>
          </p:nvPr>
        </p:nvGraphicFramePr>
        <p:xfrm>
          <a:off x="2834888" y="1052736"/>
          <a:ext cx="3263863" cy="1825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50" name="Equation" r:id="rId5" imgW="1384200" imgH="774360" progId="Equation.DSMT4">
                  <p:embed/>
                </p:oleObj>
              </mc:Choice>
              <mc:Fallback>
                <p:oleObj name="Equation" r:id="rId5" imgW="1384200" imgH="77436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4888" y="1052736"/>
                        <a:ext cx="3263863" cy="1825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70" name="Group 50"/>
          <p:cNvGrpSpPr>
            <a:grpSpLocks/>
          </p:cNvGrpSpPr>
          <p:nvPr/>
        </p:nvGrpSpPr>
        <p:grpSpPr bwMode="auto">
          <a:xfrm>
            <a:off x="5281613" y="3289772"/>
            <a:ext cx="3068638" cy="2592388"/>
            <a:chOff x="3146" y="1739"/>
            <a:chExt cx="1933" cy="1633"/>
          </a:xfrm>
        </p:grpSpPr>
        <p:sp>
          <p:nvSpPr>
            <p:cNvPr id="111621" name="Line 36"/>
            <p:cNvSpPr>
              <a:spLocks noChangeShapeType="1"/>
            </p:cNvSpPr>
            <p:nvPr/>
          </p:nvSpPr>
          <p:spPr bwMode="auto">
            <a:xfrm>
              <a:off x="3397" y="2732"/>
              <a:ext cx="15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622" name="Line 37"/>
            <p:cNvSpPr>
              <a:spLocks noChangeShapeType="1"/>
            </p:cNvSpPr>
            <p:nvPr/>
          </p:nvSpPr>
          <p:spPr bwMode="auto">
            <a:xfrm flipV="1">
              <a:off x="3626" y="1907"/>
              <a:ext cx="0" cy="14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623" name="Line 38"/>
            <p:cNvSpPr>
              <a:spLocks noChangeShapeType="1"/>
            </p:cNvSpPr>
            <p:nvPr/>
          </p:nvSpPr>
          <p:spPr bwMode="auto">
            <a:xfrm flipH="1" flipV="1">
              <a:off x="3386" y="2722"/>
              <a:ext cx="231" cy="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624" name="Arc 39"/>
            <p:cNvSpPr>
              <a:spLocks/>
            </p:cNvSpPr>
            <p:nvPr/>
          </p:nvSpPr>
          <p:spPr bwMode="auto">
            <a:xfrm flipH="1">
              <a:off x="3641" y="2773"/>
              <a:ext cx="1081" cy="412"/>
            </a:xfrm>
            <a:custGeom>
              <a:avLst/>
              <a:gdLst>
                <a:gd name="T0" fmla="*/ 0 w 25162"/>
                <a:gd name="T1" fmla="*/ 8 h 21600"/>
                <a:gd name="T2" fmla="*/ 1081 w 25162"/>
                <a:gd name="T3" fmla="*/ 303 h 21600"/>
                <a:gd name="T4" fmla="*/ 186 w 25162"/>
                <a:gd name="T5" fmla="*/ 41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62" h="21600" fill="none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625" name="Text Box 40"/>
            <p:cNvSpPr txBox="1">
              <a:spLocks noChangeArrowheads="1"/>
            </p:cNvSpPr>
            <p:nvPr/>
          </p:nvSpPr>
          <p:spPr bwMode="auto">
            <a:xfrm>
              <a:off x="3646" y="1739"/>
              <a:ext cx="2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1626" name="Text Box 41"/>
            <p:cNvSpPr txBox="1">
              <a:spLocks noChangeArrowheads="1"/>
            </p:cNvSpPr>
            <p:nvPr/>
          </p:nvSpPr>
          <p:spPr bwMode="auto">
            <a:xfrm>
              <a:off x="4918" y="2601"/>
              <a:ext cx="16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1627" name="Line 42"/>
            <p:cNvSpPr>
              <a:spLocks noChangeShapeType="1"/>
            </p:cNvSpPr>
            <p:nvPr/>
          </p:nvSpPr>
          <p:spPr bwMode="auto">
            <a:xfrm flipV="1">
              <a:off x="3630" y="2322"/>
              <a:ext cx="0" cy="41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1628" name="Text Box 43"/>
            <p:cNvSpPr txBox="1">
              <a:spLocks noChangeArrowheads="1"/>
            </p:cNvSpPr>
            <p:nvPr/>
          </p:nvSpPr>
          <p:spPr bwMode="auto">
            <a:xfrm>
              <a:off x="3334" y="2160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graphicFrame>
          <p:nvGraphicFramePr>
            <p:cNvPr id="111629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0556851"/>
                </p:ext>
              </p:extLst>
            </p:nvPr>
          </p:nvGraphicFramePr>
          <p:xfrm>
            <a:off x="3146" y="2911"/>
            <a:ext cx="385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51" name="Equation" r:id="rId7" imgW="380880" imgH="393480" progId="Equation.DSMT4">
                    <p:embed/>
                  </p:oleObj>
                </mc:Choice>
                <mc:Fallback>
                  <p:oleObj name="Equation" r:id="rId7" imgW="380880" imgH="39348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6" y="2911"/>
                          <a:ext cx="385" cy="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630" name="Text Box 49"/>
            <p:cNvSpPr txBox="1">
              <a:spLocks noChangeArrowheads="1"/>
            </p:cNvSpPr>
            <p:nvPr/>
          </p:nvSpPr>
          <p:spPr bwMode="auto">
            <a:xfrm>
              <a:off x="3424" y="2704"/>
              <a:ext cx="4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>
                  <a:solidFill>
                    <a:schemeClr val="tx1"/>
                  </a:solidFill>
                  <a:latin typeface="Times New Roman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5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385504"/>
              </p:ext>
            </p:extLst>
          </p:nvPr>
        </p:nvGraphicFramePr>
        <p:xfrm>
          <a:off x="1293813" y="2273300"/>
          <a:ext cx="1988712" cy="708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0" name="Equation" r:id="rId3" imgW="1104840" imgH="393480" progId="Equation.DSMT4">
                  <p:embed/>
                </p:oleObj>
              </mc:Choice>
              <mc:Fallback>
                <p:oleObj name="Equation" r:id="rId3" imgW="110484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2273300"/>
                        <a:ext cx="1988712" cy="708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6" name="Text Box 12"/>
          <p:cNvSpPr txBox="1">
            <a:spLocks noChangeArrowheads="1"/>
          </p:cNvSpPr>
          <p:nvPr/>
        </p:nvSpPr>
        <p:spPr bwMode="auto">
          <a:xfrm>
            <a:off x="250825" y="333375"/>
            <a:ext cx="570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36585" name="Rectangle 41"/>
          <p:cNvSpPr>
            <a:spLocks noChangeArrowheads="1"/>
          </p:cNvSpPr>
          <p:nvPr/>
        </p:nvSpPr>
        <p:spPr bwMode="auto">
          <a:xfrm>
            <a:off x="899592" y="332656"/>
            <a:ext cx="81724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求单位冲激电压激励下的</a:t>
            </a:r>
            <a:r>
              <a:rPr lang="en-US" altLang="zh-CN" sz="20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RL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电路的零状态响应。</a:t>
            </a:r>
          </a:p>
        </p:txBody>
      </p:sp>
      <p:sp>
        <p:nvSpPr>
          <p:cNvPr id="236586" name="Text Box 42"/>
          <p:cNvSpPr txBox="1">
            <a:spLocks noChangeArrowheads="1"/>
          </p:cNvSpPr>
          <p:nvPr/>
        </p:nvSpPr>
        <p:spPr bwMode="auto">
          <a:xfrm>
            <a:off x="1042988" y="1052513"/>
            <a:ext cx="51133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分二个时间段考虑冲激响应</a:t>
            </a:r>
          </a:p>
        </p:txBody>
      </p:sp>
      <p:sp>
        <p:nvSpPr>
          <p:cNvPr id="236591" name="Text Box 47"/>
          <p:cNvSpPr txBox="1">
            <a:spLocks noChangeArrowheads="1"/>
          </p:cNvSpPr>
          <p:nvPr/>
        </p:nvSpPr>
        <p:spPr bwMode="auto">
          <a:xfrm>
            <a:off x="322263" y="1052513"/>
            <a:ext cx="647700" cy="40011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解</a:t>
            </a:r>
          </a:p>
        </p:txBody>
      </p:sp>
      <p:grpSp>
        <p:nvGrpSpPr>
          <p:cNvPr id="236593" name="Group 49"/>
          <p:cNvGrpSpPr>
            <a:grpSpLocks/>
          </p:cNvGrpSpPr>
          <p:nvPr/>
        </p:nvGrpSpPr>
        <p:grpSpPr bwMode="auto">
          <a:xfrm>
            <a:off x="5580064" y="1003300"/>
            <a:ext cx="3228975" cy="2320925"/>
            <a:chOff x="3515" y="949"/>
            <a:chExt cx="2034" cy="1462"/>
          </a:xfrm>
        </p:grpSpPr>
        <p:grpSp>
          <p:nvGrpSpPr>
            <p:cNvPr id="112663" name="Group 20"/>
            <p:cNvGrpSpPr>
              <a:grpSpLocks/>
            </p:cNvGrpSpPr>
            <p:nvPr/>
          </p:nvGrpSpPr>
          <p:grpSpPr bwMode="auto">
            <a:xfrm>
              <a:off x="3515" y="949"/>
              <a:ext cx="2034" cy="1120"/>
              <a:chOff x="930" y="2219"/>
              <a:chExt cx="2034" cy="1120"/>
            </a:xfrm>
          </p:grpSpPr>
          <p:sp>
            <p:nvSpPr>
              <p:cNvPr id="112665" name="Oval 21"/>
              <p:cNvSpPr>
                <a:spLocks noChangeArrowheads="1"/>
              </p:cNvSpPr>
              <p:nvPr/>
            </p:nvSpPr>
            <p:spPr bwMode="auto">
              <a:xfrm>
                <a:off x="930" y="2614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666" name="Text Box 22"/>
              <p:cNvSpPr txBox="1">
                <a:spLocks noChangeArrowheads="1"/>
              </p:cNvSpPr>
              <p:nvPr/>
            </p:nvSpPr>
            <p:spPr bwMode="auto">
              <a:xfrm>
                <a:off x="2708" y="2655"/>
                <a:ext cx="20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charset="-122"/>
                    <a:cs typeface="Times New Roman" panose="02020603050405020304" pitchFamily="18" charset="0"/>
                  </a:rPr>
                  <a:t>L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667" name="Line 23"/>
              <p:cNvSpPr>
                <a:spLocks noChangeShapeType="1"/>
              </p:cNvSpPr>
              <p:nvPr/>
            </p:nvSpPr>
            <p:spPr bwMode="auto">
              <a:xfrm>
                <a:off x="1111" y="2296"/>
                <a:ext cx="1497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668" name="Line 24"/>
              <p:cNvSpPr>
                <a:spLocks noChangeShapeType="1"/>
              </p:cNvSpPr>
              <p:nvPr/>
            </p:nvSpPr>
            <p:spPr bwMode="auto">
              <a:xfrm>
                <a:off x="1111" y="3339"/>
                <a:ext cx="1497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669" name="Line 25"/>
              <p:cNvSpPr>
                <a:spLocks noChangeShapeType="1"/>
              </p:cNvSpPr>
              <p:nvPr/>
            </p:nvSpPr>
            <p:spPr bwMode="auto">
              <a:xfrm>
                <a:off x="2608" y="2976"/>
                <a:ext cx="0" cy="363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670" name="Text Box 26"/>
              <p:cNvSpPr txBox="1">
                <a:spLocks noChangeArrowheads="1"/>
              </p:cNvSpPr>
              <p:nvPr/>
            </p:nvSpPr>
            <p:spPr bwMode="auto">
              <a:xfrm>
                <a:off x="1248" y="2418"/>
                <a:ext cx="207" cy="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000" b="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charset="-122"/>
                    <a:cs typeface="Times New Roman" panose="02020603050405020304" pitchFamily="18" charset="0"/>
                  </a:rPr>
                  <a:t>+</a:t>
                </a:r>
              </a:p>
              <a:p>
                <a:pPr eaLnBrk="1" hangingPunct="1"/>
                <a:endPara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endParaRPr>
              </a:p>
              <a:p>
                <a:pPr eaLnBrk="1" hangingPunct="1"/>
                <a:endParaRPr kumimoji="1" lang="en-US" altLang="zh-CN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kumimoji="1" lang="en-US" altLang="zh-CN" sz="2000" b="0" dirty="0">
                    <a:solidFill>
                      <a:schemeClr val="tx1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112671" name="Line 27"/>
              <p:cNvSpPr>
                <a:spLocks noChangeShapeType="1"/>
              </p:cNvSpPr>
              <p:nvPr/>
            </p:nvSpPr>
            <p:spPr bwMode="auto">
              <a:xfrm>
                <a:off x="2699" y="2296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672" name="Text Box 28"/>
              <p:cNvSpPr txBox="1">
                <a:spLocks noChangeArrowheads="1"/>
              </p:cNvSpPr>
              <p:nvPr/>
            </p:nvSpPr>
            <p:spPr bwMode="auto">
              <a:xfrm>
                <a:off x="2744" y="2219"/>
                <a:ext cx="22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000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000" b="0" i="1" baseline="-25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Times New Roman" panose="02020603050405020304" pitchFamily="18" charset="0"/>
                  </a:rPr>
                  <a:t>L</a:t>
                </a:r>
                <a:endPara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673" name="Text Box 29"/>
              <p:cNvSpPr txBox="1">
                <a:spLocks noChangeArrowheads="1"/>
              </p:cNvSpPr>
              <p:nvPr/>
            </p:nvSpPr>
            <p:spPr bwMode="auto">
              <a:xfrm>
                <a:off x="1746" y="2341"/>
                <a:ext cx="21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0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charset="-122"/>
                    <a:cs typeface="Times New Roman" panose="02020603050405020304" pitchFamily="18" charset="0"/>
                  </a:rPr>
                  <a:t>R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12674" name="Object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0769167"/>
                  </p:ext>
                </p:extLst>
              </p:nvPr>
            </p:nvGraphicFramePr>
            <p:xfrm>
              <a:off x="1312" y="2669"/>
              <a:ext cx="304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481" name="Equation" r:id="rId5" imgW="291960" imgH="203040" progId="Equation.DSMT4">
                      <p:embed/>
                    </p:oleObj>
                  </mc:Choice>
                  <mc:Fallback>
                    <p:oleObj name="Equation" r:id="rId5" imgW="291960" imgH="203040" progId="Equation.DSMT4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12" y="2669"/>
                            <a:ext cx="304" cy="2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675" name="Text Box 31"/>
              <p:cNvSpPr txBox="1">
                <a:spLocks noChangeArrowheads="1"/>
              </p:cNvSpPr>
              <p:nvPr/>
            </p:nvSpPr>
            <p:spPr bwMode="auto">
              <a:xfrm>
                <a:off x="2336" y="2355"/>
                <a:ext cx="20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000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12676" name="Text Box 32"/>
              <p:cNvSpPr txBox="1">
                <a:spLocks noChangeArrowheads="1"/>
              </p:cNvSpPr>
              <p:nvPr/>
            </p:nvSpPr>
            <p:spPr bwMode="auto">
              <a:xfrm>
                <a:off x="2336" y="29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000" b="0" dirty="0">
                    <a:solidFill>
                      <a:schemeClr val="tx1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-</a:t>
                </a:r>
              </a:p>
            </p:txBody>
          </p:sp>
          <p:sp>
            <p:nvSpPr>
              <p:cNvPr id="112677" name="Text Box 33"/>
              <p:cNvSpPr txBox="1">
                <a:spLocks noChangeArrowheads="1"/>
              </p:cNvSpPr>
              <p:nvPr/>
            </p:nvSpPr>
            <p:spPr bwMode="auto">
              <a:xfrm>
                <a:off x="2264" y="2627"/>
                <a:ext cx="24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000" b="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charset="-122"/>
                    <a:cs typeface="Times New Roman" panose="02020603050405020304" pitchFamily="18" charset="0"/>
                  </a:rPr>
                  <a:t>v</a:t>
                </a:r>
                <a:r>
                  <a:rPr kumimoji="1" lang="en-US" altLang="zh-CN" sz="2000" b="0" i="1" baseline="-25000" dirty="0" err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  <a:cs typeface="Times New Roman" panose="02020603050405020304" pitchFamily="18" charset="0"/>
                  </a:rPr>
                  <a:t>L</a:t>
                </a:r>
                <a:endPara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678" name="Rectangle 34"/>
              <p:cNvSpPr>
                <a:spLocks noChangeArrowheads="1"/>
              </p:cNvSpPr>
              <p:nvPr/>
            </p:nvSpPr>
            <p:spPr bwMode="auto">
              <a:xfrm>
                <a:off x="1701" y="2223"/>
                <a:ext cx="317" cy="1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2679" name="Group 35"/>
              <p:cNvGrpSpPr>
                <a:grpSpLocks/>
              </p:cNvGrpSpPr>
              <p:nvPr/>
            </p:nvGrpSpPr>
            <p:grpSpPr bwMode="auto">
              <a:xfrm>
                <a:off x="2608" y="2614"/>
                <a:ext cx="91" cy="363"/>
                <a:chOff x="2744" y="2931"/>
                <a:chExt cx="57" cy="283"/>
              </a:xfrm>
            </p:grpSpPr>
            <p:sp>
              <p:nvSpPr>
                <p:cNvPr id="112682" name="Arc 36"/>
                <p:cNvSpPr>
                  <a:spLocks/>
                </p:cNvSpPr>
                <p:nvPr/>
              </p:nvSpPr>
              <p:spPr bwMode="auto">
                <a:xfrm rot="10800000" flipH="1" flipV="1">
                  <a:off x="2744" y="2931"/>
                  <a:ext cx="57" cy="91"/>
                </a:xfrm>
                <a:custGeom>
                  <a:avLst/>
                  <a:gdLst>
                    <a:gd name="T0" fmla="*/ 3 w 22723"/>
                    <a:gd name="T1" fmla="*/ 0 h 43200"/>
                    <a:gd name="T2" fmla="*/ 0 w 22723"/>
                    <a:gd name="T3" fmla="*/ 91 h 43200"/>
                    <a:gd name="T4" fmla="*/ 3 w 22723"/>
                    <a:gd name="T5" fmla="*/ 46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  <a:lnTo>
                        <a:pt x="1123" y="21600"/>
                      </a:lnTo>
                      <a:lnTo>
                        <a:pt x="1122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683" name="Arc 37"/>
                <p:cNvSpPr>
                  <a:spLocks/>
                </p:cNvSpPr>
                <p:nvPr/>
              </p:nvSpPr>
              <p:spPr bwMode="auto">
                <a:xfrm rot="10800000" flipH="1" flipV="1">
                  <a:off x="2744" y="3027"/>
                  <a:ext cx="57" cy="91"/>
                </a:xfrm>
                <a:custGeom>
                  <a:avLst/>
                  <a:gdLst>
                    <a:gd name="T0" fmla="*/ 3 w 22723"/>
                    <a:gd name="T1" fmla="*/ 0 h 43200"/>
                    <a:gd name="T2" fmla="*/ 0 w 22723"/>
                    <a:gd name="T3" fmla="*/ 91 h 43200"/>
                    <a:gd name="T4" fmla="*/ 3 w 22723"/>
                    <a:gd name="T5" fmla="*/ 46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  <a:lnTo>
                        <a:pt x="1123" y="21600"/>
                      </a:lnTo>
                      <a:lnTo>
                        <a:pt x="1122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684" name="Arc 38"/>
                <p:cNvSpPr>
                  <a:spLocks/>
                </p:cNvSpPr>
                <p:nvPr/>
              </p:nvSpPr>
              <p:spPr bwMode="auto">
                <a:xfrm rot="10800000" flipH="1" flipV="1">
                  <a:off x="2744" y="3123"/>
                  <a:ext cx="57" cy="91"/>
                </a:xfrm>
                <a:custGeom>
                  <a:avLst/>
                  <a:gdLst>
                    <a:gd name="T0" fmla="*/ 3 w 22723"/>
                    <a:gd name="T1" fmla="*/ 0 h 43200"/>
                    <a:gd name="T2" fmla="*/ 0 w 22723"/>
                    <a:gd name="T3" fmla="*/ 91 h 43200"/>
                    <a:gd name="T4" fmla="*/ 3 w 22723"/>
                    <a:gd name="T5" fmla="*/ 46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2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  <a:lnTo>
                        <a:pt x="1123" y="21600"/>
                      </a:lnTo>
                      <a:lnTo>
                        <a:pt x="1122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2680" name="Line 39"/>
              <p:cNvSpPr>
                <a:spLocks noChangeShapeType="1"/>
              </p:cNvSpPr>
              <p:nvPr/>
            </p:nvSpPr>
            <p:spPr bwMode="auto">
              <a:xfrm>
                <a:off x="1111" y="2296"/>
                <a:ext cx="0" cy="1043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681" name="Line 40"/>
              <p:cNvSpPr>
                <a:spLocks noChangeShapeType="1"/>
              </p:cNvSpPr>
              <p:nvPr/>
            </p:nvSpPr>
            <p:spPr bwMode="auto">
              <a:xfrm>
                <a:off x="2608" y="2296"/>
                <a:ext cx="0" cy="318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112664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1335731"/>
                </p:ext>
              </p:extLst>
            </p:nvPr>
          </p:nvGraphicFramePr>
          <p:xfrm>
            <a:off x="4061" y="2127"/>
            <a:ext cx="67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482" name="Equation" r:id="rId7" imgW="634680" imgH="241200" progId="Equation.DSMT4">
                    <p:embed/>
                  </p:oleObj>
                </mc:Choice>
                <mc:Fallback>
                  <p:oleObj name="Equation" r:id="rId7" imgW="634680" imgH="241200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1" y="2127"/>
                          <a:ext cx="679" cy="284"/>
                        </a:xfrm>
                        <a:prstGeom prst="rect">
                          <a:avLst/>
                        </a:prstGeom>
                        <a:solidFill>
                          <a:srgbClr val="CCECFF"/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6594" name="Text Box 50"/>
          <p:cNvSpPr txBox="1">
            <a:spLocks noChangeArrowheads="1"/>
          </p:cNvSpPr>
          <p:nvPr/>
        </p:nvSpPr>
        <p:spPr bwMode="auto">
          <a:xfrm>
            <a:off x="1909690" y="5639434"/>
            <a:ext cx="64087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不是冲激函数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否则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KVL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不成立。</a:t>
            </a:r>
          </a:p>
        </p:txBody>
      </p:sp>
      <p:grpSp>
        <p:nvGrpSpPr>
          <p:cNvPr id="236595" name="Group 51"/>
          <p:cNvGrpSpPr>
            <a:grpSpLocks/>
          </p:cNvGrpSpPr>
          <p:nvPr/>
        </p:nvGrpSpPr>
        <p:grpSpPr bwMode="auto">
          <a:xfrm>
            <a:off x="323850" y="5116294"/>
            <a:ext cx="1550988" cy="850900"/>
            <a:chOff x="385" y="3022"/>
            <a:chExt cx="977" cy="536"/>
          </a:xfrm>
        </p:grpSpPr>
        <p:pic>
          <p:nvPicPr>
            <p:cNvPr id="112661" name="Picture 52" descr="12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662" name="Text Box 53"/>
            <p:cNvSpPr txBox="1">
              <a:spLocks noChangeArrowheads="1"/>
            </p:cNvSpPr>
            <p:nvPr/>
          </p:nvSpPr>
          <p:spPr bwMode="auto">
            <a:xfrm>
              <a:off x="793" y="3125"/>
              <a:ext cx="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行楷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graphicFrame>
        <p:nvGraphicFramePr>
          <p:cNvPr id="236598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19159"/>
              </p:ext>
            </p:extLst>
          </p:nvPr>
        </p:nvGraphicFramePr>
        <p:xfrm>
          <a:off x="615950" y="3409951"/>
          <a:ext cx="4091472" cy="730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3" name="Equation" r:id="rId10" imgW="2273040" imgH="406080" progId="Equation.DSMT4">
                  <p:embed/>
                </p:oleObj>
              </mc:Choice>
              <mc:Fallback>
                <p:oleObj name="Equation" r:id="rId10" imgW="2273040" imgH="40608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3409951"/>
                        <a:ext cx="4091472" cy="730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6599" name="Group 55"/>
          <p:cNvGrpSpPr>
            <a:grpSpLocks/>
          </p:cNvGrpSpPr>
          <p:nvPr/>
        </p:nvGrpSpPr>
        <p:grpSpPr bwMode="auto">
          <a:xfrm>
            <a:off x="539552" y="3140646"/>
            <a:ext cx="1132532" cy="1008434"/>
            <a:chOff x="2200" y="845"/>
            <a:chExt cx="824" cy="745"/>
          </a:xfrm>
        </p:grpSpPr>
        <p:sp>
          <p:nvSpPr>
            <p:cNvPr id="112659" name="Line 56"/>
            <p:cNvSpPr>
              <a:spLocks noChangeShapeType="1"/>
            </p:cNvSpPr>
            <p:nvPr/>
          </p:nvSpPr>
          <p:spPr bwMode="auto">
            <a:xfrm>
              <a:off x="2381" y="1072"/>
              <a:ext cx="643" cy="5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660" name="Text Box 57"/>
            <p:cNvSpPr txBox="1">
              <a:spLocks noChangeArrowheads="1"/>
            </p:cNvSpPr>
            <p:nvPr/>
          </p:nvSpPr>
          <p:spPr bwMode="auto">
            <a:xfrm>
              <a:off x="2200" y="845"/>
              <a:ext cx="2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rPr>
                <a:t>0</a:t>
              </a:r>
            </a:p>
          </p:txBody>
        </p:sp>
      </p:grpSp>
      <p:graphicFrame>
        <p:nvGraphicFramePr>
          <p:cNvPr id="236602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631131"/>
              </p:ext>
            </p:extLst>
          </p:nvPr>
        </p:nvGraphicFramePr>
        <p:xfrm>
          <a:off x="2438400" y="4370388"/>
          <a:ext cx="23780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4" name="Equation" r:id="rId12" imgW="1320480" imgH="253800" progId="Equation.DSMT4">
                  <p:embed/>
                </p:oleObj>
              </mc:Choice>
              <mc:Fallback>
                <p:oleObj name="Equation" r:id="rId12" imgW="1320480" imgH="2538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370388"/>
                        <a:ext cx="237807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604" name="Line 60"/>
          <p:cNvSpPr>
            <a:spLocks noChangeShapeType="1"/>
          </p:cNvSpPr>
          <p:nvPr/>
        </p:nvSpPr>
        <p:spPr bwMode="auto">
          <a:xfrm>
            <a:off x="1475656" y="4600697"/>
            <a:ext cx="719137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605" name="Line 61"/>
          <p:cNvSpPr>
            <a:spLocks noChangeShapeType="1"/>
          </p:cNvSpPr>
          <p:nvPr/>
        </p:nvSpPr>
        <p:spPr bwMode="auto">
          <a:xfrm>
            <a:off x="5220791" y="4600697"/>
            <a:ext cx="719138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57" name="Text Box 45"/>
          <p:cNvSpPr txBox="1">
            <a:spLocks noChangeArrowheads="1"/>
          </p:cNvSpPr>
          <p:nvPr/>
        </p:nvSpPr>
        <p:spPr bwMode="auto">
          <a:xfrm>
            <a:off x="539750" y="1700213"/>
            <a:ext cx="4679950" cy="40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(1)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在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－</a:t>
            </a:r>
            <a:r>
              <a:rPr kumimoji="1" lang="zh-CN" altLang="en-US" sz="2000" b="0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→</a:t>
            </a:r>
            <a:r>
              <a:rPr kumimoji="1" lang="zh-CN" altLang="en-US" sz="2000" b="0" baseline="30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间方程为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891365"/>
              </p:ext>
            </p:extLst>
          </p:nvPr>
        </p:nvGraphicFramePr>
        <p:xfrm>
          <a:off x="6138862" y="4229100"/>
          <a:ext cx="2256697" cy="761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85" name="Equation" r:id="rId14" imgW="1054080" imgH="355320" progId="Equation.DSMT4">
                  <p:embed/>
                </p:oleObj>
              </mc:Choice>
              <mc:Fallback>
                <p:oleObj name="Equation" r:id="rId14" imgW="1054080" imgH="35532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8862" y="4229100"/>
                        <a:ext cx="2256697" cy="761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19"/>
          <p:cNvSpPr txBox="1">
            <a:spLocks noChangeArrowheads="1"/>
          </p:cNvSpPr>
          <p:nvPr/>
        </p:nvSpPr>
        <p:spPr bwMode="auto">
          <a:xfrm>
            <a:off x="1899371" y="6165304"/>
            <a:ext cx="48301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电感上的冲激电压使电感电流发生跃变。</a:t>
            </a:r>
            <a:endParaRPr kumimoji="1" lang="zh-CN" altLang="en-US" sz="2000" b="0" dirty="0">
              <a:solidFill>
                <a:schemeClr val="tx1"/>
              </a:solidFill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6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2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3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36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3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3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86" grpId="0"/>
      <p:bldP spid="236591" grpId="0" animBg="1"/>
      <p:bldP spid="236594" grpId="0"/>
      <p:bldP spid="236604" grpId="0" animBg="1"/>
      <p:bldP spid="236605" grpId="0" animBg="1"/>
      <p:bldP spid="112657" grpId="0"/>
      <p:bldP spid="44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65" name="Rectangle 45"/>
          <p:cNvSpPr>
            <a:spLocks noChangeArrowheads="1"/>
          </p:cNvSpPr>
          <p:nvPr/>
        </p:nvSpPr>
        <p:spPr bwMode="auto">
          <a:xfrm>
            <a:off x="539750" y="555589"/>
            <a:ext cx="44518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(2)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  t &gt;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000" b="0" i="1" baseline="-2500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+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为零输入响应（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  <a:cs typeface="Times New Roman" panose="02020603050405020304" pitchFamily="18" charset="0"/>
              </a:rPr>
              <a:t>电感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放电）</a:t>
            </a:r>
            <a:endParaRPr kumimoji="1"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1166" name="Group 46"/>
          <p:cNvGrpSpPr>
            <a:grpSpLocks/>
          </p:cNvGrpSpPr>
          <p:nvPr/>
        </p:nvGrpSpPr>
        <p:grpSpPr bwMode="auto">
          <a:xfrm>
            <a:off x="5148064" y="569319"/>
            <a:ext cx="2884488" cy="1757363"/>
            <a:chOff x="1111" y="2232"/>
            <a:chExt cx="1817" cy="1107"/>
          </a:xfrm>
        </p:grpSpPr>
        <p:sp>
          <p:nvSpPr>
            <p:cNvPr id="113675" name="Text Box 47"/>
            <p:cNvSpPr txBox="1">
              <a:spLocks noChangeArrowheads="1"/>
            </p:cNvSpPr>
            <p:nvPr/>
          </p:nvSpPr>
          <p:spPr bwMode="auto">
            <a:xfrm>
              <a:off x="2715" y="2661"/>
              <a:ext cx="20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676" name="Line 48"/>
            <p:cNvSpPr>
              <a:spLocks noChangeShapeType="1"/>
            </p:cNvSpPr>
            <p:nvPr/>
          </p:nvSpPr>
          <p:spPr bwMode="auto">
            <a:xfrm>
              <a:off x="1111" y="2296"/>
              <a:ext cx="14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677" name="Line 49"/>
            <p:cNvSpPr>
              <a:spLocks noChangeShapeType="1"/>
            </p:cNvSpPr>
            <p:nvPr/>
          </p:nvSpPr>
          <p:spPr bwMode="auto">
            <a:xfrm>
              <a:off x="1111" y="3339"/>
              <a:ext cx="14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678" name="Line 50"/>
            <p:cNvSpPr>
              <a:spLocks noChangeShapeType="1"/>
            </p:cNvSpPr>
            <p:nvPr/>
          </p:nvSpPr>
          <p:spPr bwMode="auto">
            <a:xfrm>
              <a:off x="2608" y="2976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679" name="Line 51"/>
            <p:cNvSpPr>
              <a:spLocks noChangeShapeType="1"/>
            </p:cNvSpPr>
            <p:nvPr/>
          </p:nvSpPr>
          <p:spPr bwMode="auto">
            <a:xfrm>
              <a:off x="2699" y="2296"/>
              <a:ext cx="0" cy="27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680" name="Text Box 52"/>
            <p:cNvSpPr txBox="1">
              <a:spLocks noChangeArrowheads="1"/>
            </p:cNvSpPr>
            <p:nvPr/>
          </p:nvSpPr>
          <p:spPr bwMode="auto">
            <a:xfrm>
              <a:off x="2708" y="2272"/>
              <a:ext cx="22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681" name="Text Box 53"/>
            <p:cNvSpPr txBox="1">
              <a:spLocks noChangeArrowheads="1"/>
            </p:cNvSpPr>
            <p:nvPr/>
          </p:nvSpPr>
          <p:spPr bwMode="auto">
            <a:xfrm>
              <a:off x="1741" y="2336"/>
              <a:ext cx="2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682" name="Text Box 54"/>
            <p:cNvSpPr txBox="1">
              <a:spLocks noChangeArrowheads="1"/>
            </p:cNvSpPr>
            <p:nvPr/>
          </p:nvSpPr>
          <p:spPr bwMode="auto">
            <a:xfrm>
              <a:off x="2336" y="2355"/>
              <a:ext cx="2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13683" name="Text Box 55"/>
            <p:cNvSpPr txBox="1">
              <a:spLocks noChangeArrowheads="1"/>
            </p:cNvSpPr>
            <p:nvPr/>
          </p:nvSpPr>
          <p:spPr bwMode="auto">
            <a:xfrm>
              <a:off x="2336" y="2930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113684" name="Text Box 56"/>
            <p:cNvSpPr txBox="1">
              <a:spLocks noChangeArrowheads="1"/>
            </p:cNvSpPr>
            <p:nvPr/>
          </p:nvSpPr>
          <p:spPr bwMode="auto">
            <a:xfrm>
              <a:off x="2315" y="2627"/>
              <a:ext cx="2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685" name="Rectangle 57"/>
            <p:cNvSpPr>
              <a:spLocks noChangeArrowheads="1"/>
            </p:cNvSpPr>
            <p:nvPr/>
          </p:nvSpPr>
          <p:spPr bwMode="auto">
            <a:xfrm>
              <a:off x="1701" y="22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3686" name="Group 58"/>
            <p:cNvGrpSpPr>
              <a:grpSpLocks/>
            </p:cNvGrpSpPr>
            <p:nvPr/>
          </p:nvGrpSpPr>
          <p:grpSpPr bwMode="auto">
            <a:xfrm>
              <a:off x="2608" y="2614"/>
              <a:ext cx="91" cy="363"/>
              <a:chOff x="2744" y="2931"/>
              <a:chExt cx="57" cy="283"/>
            </a:xfrm>
          </p:grpSpPr>
          <p:sp>
            <p:nvSpPr>
              <p:cNvPr id="113689" name="Arc 59"/>
              <p:cNvSpPr>
                <a:spLocks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690" name="Arc 60"/>
              <p:cNvSpPr>
                <a:spLocks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691" name="Arc 61"/>
              <p:cNvSpPr>
                <a:spLocks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3687" name="Line 62"/>
            <p:cNvSpPr>
              <a:spLocks noChangeShapeType="1"/>
            </p:cNvSpPr>
            <p:nvPr/>
          </p:nvSpPr>
          <p:spPr bwMode="auto">
            <a:xfrm>
              <a:off x="1111" y="2296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688" name="Line 63"/>
            <p:cNvSpPr>
              <a:spLocks noChangeShapeType="1"/>
            </p:cNvSpPr>
            <p:nvPr/>
          </p:nvSpPr>
          <p:spPr bwMode="auto">
            <a:xfrm>
              <a:off x="2608" y="2296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61184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537562"/>
              </p:ext>
            </p:extLst>
          </p:nvPr>
        </p:nvGraphicFramePr>
        <p:xfrm>
          <a:off x="1057275" y="1133240"/>
          <a:ext cx="639576" cy="639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5" name="Equation" r:id="rId3" imgW="355320" imgH="355320" progId="Equation.DSMT4">
                  <p:embed/>
                </p:oleObj>
              </mc:Choice>
              <mc:Fallback>
                <p:oleObj name="Equation" r:id="rId3" imgW="355320" imgH="35532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1133240"/>
                        <a:ext cx="639576" cy="639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85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320392"/>
              </p:ext>
            </p:extLst>
          </p:nvPr>
        </p:nvGraphicFramePr>
        <p:xfrm>
          <a:off x="2571750" y="1131653"/>
          <a:ext cx="1097064" cy="639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6" name="Equation" r:id="rId5" imgW="609480" imgH="355320" progId="Equation.DSMT4">
                  <p:embed/>
                </p:oleObj>
              </mc:Choice>
              <mc:Fallback>
                <p:oleObj name="Equation" r:id="rId5" imgW="609480" imgH="355320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1131653"/>
                        <a:ext cx="1097064" cy="639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86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56011"/>
              </p:ext>
            </p:extLst>
          </p:nvPr>
        </p:nvGraphicFramePr>
        <p:xfrm>
          <a:off x="1274763" y="1951328"/>
          <a:ext cx="1828656" cy="68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7" name="Equation" r:id="rId7" imgW="1015920" imgH="380880" progId="Equation.DSMT4">
                  <p:embed/>
                </p:oleObj>
              </mc:Choice>
              <mc:Fallback>
                <p:oleObj name="Equation" r:id="rId7" imgW="1015920" imgH="380880" progId="Equation.DSMT4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3" y="1951328"/>
                        <a:ext cx="1828656" cy="685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87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072909"/>
              </p:ext>
            </p:extLst>
          </p:nvPr>
        </p:nvGraphicFramePr>
        <p:xfrm>
          <a:off x="1187624" y="2924944"/>
          <a:ext cx="2742984" cy="68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8" name="Equation" r:id="rId9" imgW="1523880" imgH="380880" progId="Equation.DSMT4">
                  <p:embed/>
                </p:oleObj>
              </mc:Choice>
              <mc:Fallback>
                <p:oleObj name="Equation" r:id="rId9" imgW="1523880" imgH="38088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924944"/>
                        <a:ext cx="2742984" cy="685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52"/>
          <p:cNvGrpSpPr>
            <a:grpSpLocks/>
          </p:cNvGrpSpPr>
          <p:nvPr/>
        </p:nvGrpSpPr>
        <p:grpSpPr bwMode="auto">
          <a:xfrm>
            <a:off x="6369448" y="2894160"/>
            <a:ext cx="2352675" cy="1439863"/>
            <a:chOff x="911" y="572"/>
            <a:chExt cx="1482" cy="907"/>
          </a:xfrm>
        </p:grpSpPr>
        <p:graphicFrame>
          <p:nvGraphicFramePr>
            <p:cNvPr id="3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5118397"/>
                </p:ext>
              </p:extLst>
            </p:nvPr>
          </p:nvGraphicFramePr>
          <p:xfrm>
            <a:off x="1066" y="572"/>
            <a:ext cx="907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549" name="Equation" r:id="rId11" imgW="799920" imgH="380880" progId="Equation.DSMT4">
                    <p:embed/>
                  </p:oleObj>
                </mc:Choice>
                <mc:Fallback>
                  <p:oleObj name="Equation" r:id="rId11" imgW="7999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572"/>
                          <a:ext cx="907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4371185"/>
                </p:ext>
              </p:extLst>
            </p:nvPr>
          </p:nvGraphicFramePr>
          <p:xfrm>
            <a:off x="1068" y="1021"/>
            <a:ext cx="1325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550" name="Equation" r:id="rId13" imgW="1168200" imgH="380880" progId="Equation.DSMT4">
                    <p:embed/>
                  </p:oleObj>
                </mc:Choice>
                <mc:Fallback>
                  <p:oleObj name="Equation" r:id="rId13" imgW="116820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8" y="1021"/>
                          <a:ext cx="1325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AutoShape 9"/>
            <p:cNvSpPr>
              <a:spLocks/>
            </p:cNvSpPr>
            <p:nvPr/>
          </p:nvSpPr>
          <p:spPr bwMode="auto">
            <a:xfrm>
              <a:off x="911" y="663"/>
              <a:ext cx="109" cy="816"/>
            </a:xfrm>
            <a:prstGeom prst="leftBrace">
              <a:avLst>
                <a:gd name="adj1" fmla="val 58395"/>
                <a:gd name="adj2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xtLst/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Group 53"/>
          <p:cNvGrpSpPr>
            <a:grpSpLocks/>
          </p:cNvGrpSpPr>
          <p:nvPr/>
        </p:nvGrpSpPr>
        <p:grpSpPr bwMode="auto">
          <a:xfrm>
            <a:off x="683568" y="4149874"/>
            <a:ext cx="2998788" cy="2185988"/>
            <a:chOff x="762" y="1831"/>
            <a:chExt cx="1889" cy="1377"/>
          </a:xfrm>
        </p:grpSpPr>
        <p:sp>
          <p:nvSpPr>
            <p:cNvPr id="35" name="Text Box 54"/>
            <p:cNvSpPr txBox="1">
              <a:spLocks noChangeArrowheads="1"/>
            </p:cNvSpPr>
            <p:nvPr/>
          </p:nvSpPr>
          <p:spPr bwMode="auto">
            <a:xfrm>
              <a:off x="1030" y="1831"/>
              <a:ext cx="2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000" b="0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55"/>
            <p:cNvSpPr>
              <a:spLocks noChangeShapeType="1"/>
            </p:cNvSpPr>
            <p:nvPr/>
          </p:nvSpPr>
          <p:spPr bwMode="auto">
            <a:xfrm>
              <a:off x="776" y="2962"/>
              <a:ext cx="17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Line 56"/>
            <p:cNvSpPr>
              <a:spLocks noChangeShapeType="1"/>
            </p:cNvSpPr>
            <p:nvPr/>
          </p:nvSpPr>
          <p:spPr bwMode="auto">
            <a:xfrm flipV="1">
              <a:off x="1035" y="2025"/>
              <a:ext cx="0" cy="11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57"/>
            <p:cNvSpPr>
              <a:spLocks noChangeShapeType="1"/>
            </p:cNvSpPr>
            <p:nvPr/>
          </p:nvSpPr>
          <p:spPr bwMode="auto">
            <a:xfrm flipH="1">
              <a:off x="787" y="2962"/>
              <a:ext cx="2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Line 58"/>
            <p:cNvSpPr>
              <a:spLocks noChangeShapeType="1"/>
            </p:cNvSpPr>
            <p:nvPr/>
          </p:nvSpPr>
          <p:spPr bwMode="auto">
            <a:xfrm>
              <a:off x="1046" y="2376"/>
              <a:ext cx="1291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Arc 59"/>
            <p:cNvSpPr>
              <a:spLocks/>
            </p:cNvSpPr>
            <p:nvPr/>
          </p:nvSpPr>
          <p:spPr bwMode="auto">
            <a:xfrm flipH="1" flipV="1">
              <a:off x="1020" y="2160"/>
              <a:ext cx="1218" cy="773"/>
            </a:xfrm>
            <a:custGeom>
              <a:avLst/>
              <a:gdLst>
                <a:gd name="T0" fmla="*/ 0 w 25162"/>
                <a:gd name="T1" fmla="*/ 16 h 21600"/>
                <a:gd name="T2" fmla="*/ 1218 w 25162"/>
                <a:gd name="T3" fmla="*/ 568 h 21600"/>
                <a:gd name="T4" fmla="*/ 210 w 25162"/>
                <a:gd name="T5" fmla="*/ 773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62" h="21600" fill="none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60"/>
            <p:cNvSpPr txBox="1">
              <a:spLocks noChangeArrowheads="1"/>
            </p:cNvSpPr>
            <p:nvPr/>
          </p:nvSpPr>
          <p:spPr bwMode="auto">
            <a:xfrm>
              <a:off x="2490" y="2701"/>
              <a:ext cx="16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61"/>
            <p:cNvSpPr txBox="1">
              <a:spLocks noChangeArrowheads="1"/>
            </p:cNvSpPr>
            <p:nvPr/>
          </p:nvSpPr>
          <p:spPr bwMode="auto">
            <a:xfrm>
              <a:off x="762" y="293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3" name="Line 62"/>
            <p:cNvSpPr>
              <a:spLocks noChangeShapeType="1"/>
            </p:cNvSpPr>
            <p:nvPr/>
          </p:nvSpPr>
          <p:spPr bwMode="auto">
            <a:xfrm flipV="1">
              <a:off x="1020" y="2387"/>
              <a:ext cx="2" cy="58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4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2398219"/>
                </p:ext>
              </p:extLst>
            </p:nvPr>
          </p:nvGraphicFramePr>
          <p:xfrm>
            <a:off x="767" y="2121"/>
            <a:ext cx="172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551" name="Equation" r:id="rId15" imgW="164880" imgH="393480" progId="Equation.DSMT4">
                    <p:embed/>
                  </p:oleObj>
                </mc:Choice>
                <mc:Fallback>
                  <p:oleObj name="Equation" r:id="rId15" imgW="16488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" y="2121"/>
                          <a:ext cx="172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" name="Group 64"/>
          <p:cNvGrpSpPr>
            <a:grpSpLocks/>
          </p:cNvGrpSpPr>
          <p:nvPr/>
        </p:nvGrpSpPr>
        <p:grpSpPr bwMode="auto">
          <a:xfrm>
            <a:off x="4211960" y="3933973"/>
            <a:ext cx="2952750" cy="2519363"/>
            <a:chOff x="3219" y="1785"/>
            <a:chExt cx="1860" cy="1587"/>
          </a:xfrm>
        </p:grpSpPr>
        <p:sp>
          <p:nvSpPr>
            <p:cNvPr id="46" name="Line 65"/>
            <p:cNvSpPr>
              <a:spLocks noChangeShapeType="1"/>
            </p:cNvSpPr>
            <p:nvPr/>
          </p:nvSpPr>
          <p:spPr bwMode="auto">
            <a:xfrm>
              <a:off x="3397" y="2732"/>
              <a:ext cx="15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Line 66"/>
            <p:cNvSpPr>
              <a:spLocks noChangeShapeType="1"/>
            </p:cNvSpPr>
            <p:nvPr/>
          </p:nvSpPr>
          <p:spPr bwMode="auto">
            <a:xfrm flipV="1">
              <a:off x="3626" y="1907"/>
              <a:ext cx="0" cy="14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Line 67"/>
            <p:cNvSpPr>
              <a:spLocks noChangeShapeType="1"/>
            </p:cNvSpPr>
            <p:nvPr/>
          </p:nvSpPr>
          <p:spPr bwMode="auto">
            <a:xfrm flipH="1">
              <a:off x="3392" y="2732"/>
              <a:ext cx="225" cy="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Arc 68"/>
            <p:cNvSpPr>
              <a:spLocks/>
            </p:cNvSpPr>
            <p:nvPr/>
          </p:nvSpPr>
          <p:spPr bwMode="auto">
            <a:xfrm flipH="1">
              <a:off x="3641" y="2773"/>
              <a:ext cx="1081" cy="412"/>
            </a:xfrm>
            <a:custGeom>
              <a:avLst/>
              <a:gdLst>
                <a:gd name="T0" fmla="*/ 0 w 25162"/>
                <a:gd name="T1" fmla="*/ 8 h 21600"/>
                <a:gd name="T2" fmla="*/ 1081 w 25162"/>
                <a:gd name="T3" fmla="*/ 303 h 21600"/>
                <a:gd name="T4" fmla="*/ 186 w 25162"/>
                <a:gd name="T5" fmla="*/ 41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62" h="21600" fill="none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 Box 69"/>
            <p:cNvSpPr txBox="1">
              <a:spLocks noChangeArrowheads="1"/>
            </p:cNvSpPr>
            <p:nvPr/>
          </p:nvSpPr>
          <p:spPr bwMode="auto">
            <a:xfrm>
              <a:off x="3649" y="1785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v</a:t>
              </a:r>
              <a:r>
                <a:rPr kumimoji="1" lang="en-US" altLang="zh-CN" sz="2000" b="0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L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70"/>
            <p:cNvSpPr txBox="1">
              <a:spLocks noChangeArrowheads="1"/>
            </p:cNvSpPr>
            <p:nvPr/>
          </p:nvSpPr>
          <p:spPr bwMode="auto">
            <a:xfrm>
              <a:off x="4918" y="2499"/>
              <a:ext cx="16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Line 71"/>
            <p:cNvSpPr>
              <a:spLocks noChangeShapeType="1"/>
            </p:cNvSpPr>
            <p:nvPr/>
          </p:nvSpPr>
          <p:spPr bwMode="auto">
            <a:xfrm flipV="1">
              <a:off x="3630" y="2328"/>
              <a:ext cx="0" cy="41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 Box 72"/>
            <p:cNvSpPr txBox="1">
              <a:spLocks noChangeArrowheads="1"/>
            </p:cNvSpPr>
            <p:nvPr/>
          </p:nvSpPr>
          <p:spPr bwMode="auto">
            <a:xfrm>
              <a:off x="3334" y="2160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1</a:t>
              </a:r>
            </a:p>
          </p:txBody>
        </p:sp>
        <p:graphicFrame>
          <p:nvGraphicFramePr>
            <p:cNvPr id="54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8997025"/>
                </p:ext>
              </p:extLst>
            </p:nvPr>
          </p:nvGraphicFramePr>
          <p:xfrm>
            <a:off x="3219" y="2881"/>
            <a:ext cx="294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552" name="Equation" r:id="rId17" imgW="279360" imgH="393480" progId="Equation.DSMT4">
                    <p:embed/>
                  </p:oleObj>
                </mc:Choice>
                <mc:Fallback>
                  <p:oleObj name="Equation" r:id="rId17" imgW="27936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9" y="2881"/>
                          <a:ext cx="294" cy="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Text Box 74"/>
            <p:cNvSpPr txBox="1">
              <a:spLocks noChangeArrowheads="1"/>
            </p:cNvSpPr>
            <p:nvPr/>
          </p:nvSpPr>
          <p:spPr bwMode="auto">
            <a:xfrm>
              <a:off x="3424" y="2704"/>
              <a:ext cx="4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6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6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6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6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6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594" name="Group 2"/>
          <p:cNvGrpSpPr>
            <a:grpSpLocks/>
          </p:cNvGrpSpPr>
          <p:nvPr/>
        </p:nvGrpSpPr>
        <p:grpSpPr bwMode="auto">
          <a:xfrm>
            <a:off x="2483107" y="1608585"/>
            <a:ext cx="3958671" cy="1029211"/>
            <a:chOff x="1127" y="920"/>
            <a:chExt cx="2361" cy="604"/>
          </a:xfrm>
        </p:grpSpPr>
        <p:sp>
          <p:nvSpPr>
            <p:cNvPr id="115728" name="Rectangle 3"/>
            <p:cNvSpPr>
              <a:spLocks noChangeArrowheads="1"/>
            </p:cNvSpPr>
            <p:nvPr/>
          </p:nvSpPr>
          <p:spPr bwMode="auto">
            <a:xfrm>
              <a:off x="1885" y="920"/>
              <a:ext cx="887" cy="604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零状态</a:t>
              </a:r>
            </a:p>
          </p:txBody>
        </p:sp>
        <p:sp>
          <p:nvSpPr>
            <p:cNvPr id="115729" name="Line 4"/>
            <p:cNvSpPr>
              <a:spLocks noChangeShapeType="1"/>
            </p:cNvSpPr>
            <p:nvPr/>
          </p:nvSpPr>
          <p:spPr bwMode="auto">
            <a:xfrm>
              <a:off x="1344" y="1236"/>
              <a:ext cx="516" cy="1"/>
            </a:xfrm>
            <a:prstGeom prst="line">
              <a:avLst/>
            </a:prstGeom>
            <a:noFill/>
            <a:ln w="57150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730" name="Line 5"/>
            <p:cNvSpPr>
              <a:spLocks noChangeShapeType="1"/>
            </p:cNvSpPr>
            <p:nvPr/>
          </p:nvSpPr>
          <p:spPr bwMode="auto">
            <a:xfrm>
              <a:off x="2784" y="1236"/>
              <a:ext cx="516" cy="1"/>
            </a:xfrm>
            <a:prstGeom prst="line">
              <a:avLst/>
            </a:prstGeom>
            <a:noFill/>
            <a:ln w="57150">
              <a:solidFill>
                <a:srgbClr val="00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731" name="Text Box 6"/>
            <p:cNvSpPr txBox="1">
              <a:spLocks noChangeArrowheads="1"/>
            </p:cNvSpPr>
            <p:nvPr/>
          </p:nvSpPr>
          <p:spPr bwMode="auto">
            <a:xfrm>
              <a:off x="3141" y="951"/>
              <a:ext cx="347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)</a:t>
              </a:r>
            </a:p>
          </p:txBody>
        </p:sp>
        <p:graphicFrame>
          <p:nvGraphicFramePr>
            <p:cNvPr id="11573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2080847"/>
                </p:ext>
              </p:extLst>
            </p:nvPr>
          </p:nvGraphicFramePr>
          <p:xfrm>
            <a:off x="1127" y="979"/>
            <a:ext cx="299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42" name="Equation" r:id="rId3" imgW="266400" imgH="203040" progId="Equation.DSMT4">
                    <p:embed/>
                  </p:oleObj>
                </mc:Choice>
                <mc:Fallback>
                  <p:oleObj name="Equation" r:id="rId3" imgW="266400" imgH="20304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7" y="979"/>
                          <a:ext cx="299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8600" name="Text Box 8"/>
          <p:cNvSpPr txBox="1">
            <a:spLocks noChangeArrowheads="1"/>
          </p:cNvSpPr>
          <p:nvPr/>
        </p:nvSpPr>
        <p:spPr bwMode="auto">
          <a:xfrm>
            <a:off x="179388" y="620688"/>
            <a:ext cx="48253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FF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单位阶跃响应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和单位冲激响应关系</a:t>
            </a:r>
          </a:p>
        </p:txBody>
      </p:sp>
      <p:sp>
        <p:nvSpPr>
          <p:cNvPr id="238601" name="Text Box 9"/>
          <p:cNvSpPr txBox="1">
            <a:spLocks noChangeArrowheads="1"/>
          </p:cNvSpPr>
          <p:nvPr/>
        </p:nvSpPr>
        <p:spPr bwMode="auto">
          <a:xfrm>
            <a:off x="3630921" y="3596673"/>
            <a:ext cx="1733167" cy="400110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单位阶跃响应</a:t>
            </a:r>
          </a:p>
        </p:txBody>
      </p:sp>
      <p:sp>
        <p:nvSpPr>
          <p:cNvPr id="238602" name="Text Box 10"/>
          <p:cNvSpPr txBox="1">
            <a:spLocks noChangeArrowheads="1"/>
          </p:cNvSpPr>
          <p:nvPr/>
        </p:nvSpPr>
        <p:spPr bwMode="auto">
          <a:xfrm>
            <a:off x="3563938" y="5148911"/>
            <a:ext cx="1733167" cy="400110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单位冲激响应</a:t>
            </a:r>
          </a:p>
        </p:txBody>
      </p:sp>
      <p:sp>
        <p:nvSpPr>
          <p:cNvPr id="238603" name="Rectangle 11"/>
          <p:cNvSpPr>
            <a:spLocks noChangeArrowheads="1"/>
          </p:cNvSpPr>
          <p:nvPr/>
        </p:nvSpPr>
        <p:spPr bwMode="auto">
          <a:xfrm>
            <a:off x="4220825" y="5549170"/>
            <a:ext cx="5533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h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38604" name="Rectangle 12"/>
          <p:cNvSpPr>
            <a:spLocks noChangeArrowheads="1"/>
          </p:cNvSpPr>
          <p:nvPr/>
        </p:nvSpPr>
        <p:spPr bwMode="auto">
          <a:xfrm>
            <a:off x="4236180" y="4068369"/>
            <a:ext cx="5905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38605" name="Text Box 13"/>
          <p:cNvSpPr txBox="1">
            <a:spLocks noChangeArrowheads="1"/>
          </p:cNvSpPr>
          <p:nvPr/>
        </p:nvSpPr>
        <p:spPr bwMode="auto">
          <a:xfrm>
            <a:off x="1118291" y="5148911"/>
            <a:ext cx="1217000" cy="400110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单位冲激</a:t>
            </a:r>
          </a:p>
        </p:txBody>
      </p:sp>
      <p:sp>
        <p:nvSpPr>
          <p:cNvPr id="238606" name="Text Box 14"/>
          <p:cNvSpPr txBox="1">
            <a:spLocks noChangeArrowheads="1"/>
          </p:cNvSpPr>
          <p:nvPr/>
        </p:nvSpPr>
        <p:spPr bwMode="auto">
          <a:xfrm>
            <a:off x="1435846" y="5549170"/>
            <a:ext cx="6158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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anose="02020603050405020304" pitchFamily="18" charset="0"/>
            </a:endParaRPr>
          </a:p>
        </p:txBody>
      </p:sp>
      <p:sp>
        <p:nvSpPr>
          <p:cNvPr id="238607" name="Text Box 15"/>
          <p:cNvSpPr txBox="1">
            <a:spLocks noChangeArrowheads="1"/>
          </p:cNvSpPr>
          <p:nvPr/>
        </p:nvSpPr>
        <p:spPr bwMode="auto">
          <a:xfrm>
            <a:off x="1109971" y="3596673"/>
            <a:ext cx="1217000" cy="400110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单位阶跃</a:t>
            </a:r>
          </a:p>
        </p:txBody>
      </p:sp>
      <p:sp>
        <p:nvSpPr>
          <p:cNvPr id="238608" name="Text Box 16"/>
          <p:cNvSpPr txBox="1">
            <a:spLocks noChangeArrowheads="1"/>
          </p:cNvSpPr>
          <p:nvPr/>
        </p:nvSpPr>
        <p:spPr bwMode="auto">
          <a:xfrm>
            <a:off x="1413612" y="4068369"/>
            <a:ext cx="6014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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1" lang="en-US" altLang="zh-CN" sz="2000" b="0" dirty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860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26723"/>
              </p:ext>
            </p:extLst>
          </p:nvPr>
        </p:nvGraphicFramePr>
        <p:xfrm>
          <a:off x="6623997" y="3383184"/>
          <a:ext cx="17462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43" name="Equation" r:id="rId5" imgW="742892" imgH="343016" progId="Equation.DSMT4">
                  <p:embed/>
                </p:oleObj>
              </mc:Choice>
              <mc:Fallback>
                <p:oleObj name="Equation" r:id="rId5" imgW="742892" imgH="343016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997" y="3383184"/>
                        <a:ext cx="1746250" cy="8270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FFCC"/>
                          </a:gs>
                          <a:gs pos="50000">
                            <a:schemeClr val="bg1"/>
                          </a:gs>
                          <a:gs pos="100000">
                            <a:srgbClr val="00FFCC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1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970765"/>
              </p:ext>
            </p:extLst>
          </p:nvPr>
        </p:nvGraphicFramePr>
        <p:xfrm>
          <a:off x="6659716" y="4936721"/>
          <a:ext cx="167481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44" name="Equation" r:id="rId7" imgW="714288" imgH="343016" progId="Equation.DSMT4">
                  <p:embed/>
                </p:oleObj>
              </mc:Choice>
              <mc:Fallback>
                <p:oleObj name="Equation" r:id="rId7" imgW="714288" imgH="343016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716" y="4936721"/>
                        <a:ext cx="1674813" cy="82391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FF"/>
                          </a:gs>
                          <a:gs pos="50000">
                            <a:schemeClr val="bg1"/>
                          </a:gs>
                          <a:gs pos="100000">
                            <a:srgbClr val="00CC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617" name="AutoShape 25" descr="羊皮纸"/>
          <p:cNvSpPr>
            <a:spLocks noChangeArrowheads="1"/>
          </p:cNvSpPr>
          <p:nvPr/>
        </p:nvSpPr>
        <p:spPr bwMode="auto">
          <a:xfrm>
            <a:off x="1223740" y="1373278"/>
            <a:ext cx="791319" cy="473152"/>
          </a:xfrm>
          <a:prstGeom prst="wedgeRoundRectCallout">
            <a:avLst>
              <a:gd name="adj1" fmla="val 93167"/>
              <a:gd name="adj2" fmla="val 47145"/>
              <a:gd name="adj3" fmla="val 16667"/>
            </a:avLst>
          </a:prstGeom>
          <a:blipFill dpi="0" rotWithShape="1">
            <a:blip r:embed="rId9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激励</a:t>
            </a:r>
          </a:p>
        </p:txBody>
      </p:sp>
      <p:sp>
        <p:nvSpPr>
          <p:cNvPr id="238618" name="AutoShape 26" descr="羊皮纸"/>
          <p:cNvSpPr>
            <a:spLocks noChangeArrowheads="1"/>
          </p:cNvSpPr>
          <p:nvPr/>
        </p:nvSpPr>
        <p:spPr bwMode="auto">
          <a:xfrm>
            <a:off x="7019603" y="1340768"/>
            <a:ext cx="864765" cy="503548"/>
          </a:xfrm>
          <a:prstGeom prst="wedgeRoundRectCallout">
            <a:avLst>
              <a:gd name="adj1" fmla="val -109609"/>
              <a:gd name="adj2" fmla="val 65586"/>
              <a:gd name="adj3" fmla="val 16667"/>
            </a:avLst>
          </a:prstGeom>
          <a:blipFill dpi="0" rotWithShape="1">
            <a:blip r:embed="rId9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响应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3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1000"/>
                                        <p:tgtEl>
                                          <p:spTgt spid="23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1000"/>
                                        <p:tgtEl>
                                          <p:spTgt spid="23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3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3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3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3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3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3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600" grpId="0"/>
      <p:bldP spid="238601" grpId="0" animBg="1" autoUpdateAnimBg="0"/>
      <p:bldP spid="238602" grpId="0" animBg="1" autoUpdateAnimBg="0"/>
      <p:bldP spid="238603" grpId="0" autoUpdateAnimBg="0"/>
      <p:bldP spid="238604" grpId="0" autoUpdateAnimBg="0"/>
      <p:bldP spid="238605" grpId="0" animBg="1" autoUpdateAnimBg="0"/>
      <p:bldP spid="238606" grpId="0" autoUpdateAnimBg="0"/>
      <p:bldP spid="238607" grpId="0" animBg="1" autoUpdateAnimBg="0"/>
      <p:bldP spid="238608" grpId="0" autoUpdateAnimBg="0"/>
      <p:bldP spid="238617" grpId="0" animBg="1"/>
      <p:bldP spid="23861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276668"/>
              </p:ext>
            </p:extLst>
          </p:nvPr>
        </p:nvGraphicFramePr>
        <p:xfrm>
          <a:off x="1654175" y="2314153"/>
          <a:ext cx="1419601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83" name="Equation" r:id="rId3" imgW="698400" imgH="228600" progId="Equation.DSMT4">
                  <p:embed/>
                </p:oleObj>
              </mc:Choice>
              <mc:Fallback>
                <p:oleObj name="Equation" r:id="rId3" imgW="6984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2314153"/>
                        <a:ext cx="1419601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49" name="Text Box 5"/>
          <p:cNvSpPr txBox="1">
            <a:spLocks noChangeArrowheads="1"/>
          </p:cNvSpPr>
          <p:nvPr/>
        </p:nvSpPr>
        <p:spPr bwMode="auto">
          <a:xfrm>
            <a:off x="1042988" y="1737891"/>
            <a:ext cx="3889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先求单位阶跃响应：</a:t>
            </a:r>
          </a:p>
        </p:txBody>
      </p:sp>
      <p:sp>
        <p:nvSpPr>
          <p:cNvPr id="262157" name="Text Box 13"/>
          <p:cNvSpPr txBox="1">
            <a:spLocks noChangeArrowheads="1"/>
          </p:cNvSpPr>
          <p:nvPr/>
        </p:nvSpPr>
        <p:spPr bwMode="auto">
          <a:xfrm>
            <a:off x="755650" y="730721"/>
            <a:ext cx="77057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0" i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为单位冲激时电路响应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 (</a:t>
            </a:r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262194" name="Text Box 50"/>
          <p:cNvSpPr txBox="1">
            <a:spLocks noChangeArrowheads="1"/>
          </p:cNvSpPr>
          <p:nvPr/>
        </p:nvSpPr>
        <p:spPr bwMode="auto">
          <a:xfrm>
            <a:off x="281863" y="730721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例</a:t>
            </a:r>
            <a:endParaRPr kumimoji="1" lang="zh-CN" altLang="en-US" sz="2000" b="0" dirty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anose="02020603050405020304" pitchFamily="18" charset="0"/>
            </a:endParaRPr>
          </a:p>
        </p:txBody>
      </p:sp>
      <p:sp>
        <p:nvSpPr>
          <p:cNvPr id="262220" name="Text Box 76"/>
          <p:cNvSpPr txBox="1">
            <a:spLocks noChangeArrowheads="1"/>
          </p:cNvSpPr>
          <p:nvPr/>
        </p:nvSpPr>
        <p:spPr bwMode="auto">
          <a:xfrm>
            <a:off x="179388" y="1449859"/>
            <a:ext cx="647700" cy="40011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262221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588601"/>
              </p:ext>
            </p:extLst>
          </p:nvPr>
        </p:nvGraphicFramePr>
        <p:xfrm>
          <a:off x="1482163" y="3738141"/>
          <a:ext cx="2706688" cy="942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84" name="Equation" r:id="rId5" imgW="1307880" imgH="444240" progId="Equation.DSMT4">
                  <p:embed/>
                </p:oleObj>
              </mc:Choice>
              <mc:Fallback>
                <p:oleObj name="Equation" r:id="rId5" imgW="1307880" imgH="444240" progId="Equation.DSMT4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163" y="3738141"/>
                        <a:ext cx="2706688" cy="942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222" name="Text Box 78"/>
          <p:cNvSpPr txBox="1">
            <a:spLocks noChangeArrowheads="1"/>
          </p:cNvSpPr>
          <p:nvPr/>
        </p:nvSpPr>
        <p:spPr bwMode="auto">
          <a:xfrm>
            <a:off x="827088" y="3034878"/>
            <a:ext cx="12073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000" b="0" i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(0</a:t>
            </a:r>
            <a:r>
              <a:rPr kumimoji="1" lang="en-US" altLang="zh-CN" sz="2000" b="0" baseline="-250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)=0  </a:t>
            </a:r>
          </a:p>
        </p:txBody>
      </p:sp>
      <p:sp>
        <p:nvSpPr>
          <p:cNvPr id="262223" name="Text Box 79"/>
          <p:cNvSpPr txBox="1">
            <a:spLocks noChangeArrowheads="1"/>
          </p:cNvSpPr>
          <p:nvPr/>
        </p:nvSpPr>
        <p:spPr bwMode="auto">
          <a:xfrm>
            <a:off x="2627313" y="3034878"/>
            <a:ext cx="11945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000" b="0" i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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)=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62224" name="Text Box 80"/>
          <p:cNvSpPr txBox="1">
            <a:spLocks noChangeArrowheads="1"/>
          </p:cNvSpPr>
          <p:nvPr/>
        </p:nvSpPr>
        <p:spPr bwMode="auto">
          <a:xfrm>
            <a:off x="4500563" y="3034878"/>
            <a:ext cx="10550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 = </a:t>
            </a:r>
            <a:r>
              <a:rPr kumimoji="1" lang="en-US" altLang="zh-CN" sz="2000" b="0" i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RC</a:t>
            </a:r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62225" name="Text Box 81"/>
          <p:cNvSpPr txBox="1">
            <a:spLocks noChangeArrowheads="1"/>
          </p:cNvSpPr>
          <p:nvPr/>
        </p:nvSpPr>
        <p:spPr bwMode="auto">
          <a:xfrm>
            <a:off x="900113" y="4901098"/>
            <a:ext cx="11641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(0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)=1  </a:t>
            </a:r>
          </a:p>
        </p:txBody>
      </p:sp>
      <p:sp>
        <p:nvSpPr>
          <p:cNvPr id="262226" name="Text Box 82"/>
          <p:cNvSpPr txBox="1">
            <a:spLocks noChangeArrowheads="1"/>
          </p:cNvSpPr>
          <p:nvPr/>
        </p:nvSpPr>
        <p:spPr bwMode="auto">
          <a:xfrm>
            <a:off x="2771775" y="4901098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000" b="0" i="1" baseline="-25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rPr>
              <a:t>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rPr>
              <a:t>)=0  </a:t>
            </a:r>
          </a:p>
        </p:txBody>
      </p:sp>
      <p:graphicFrame>
        <p:nvGraphicFramePr>
          <p:cNvPr id="262227" name="Object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643704"/>
              </p:ext>
            </p:extLst>
          </p:nvPr>
        </p:nvGraphicFramePr>
        <p:xfrm>
          <a:off x="5538788" y="4602163"/>
          <a:ext cx="18478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85" name="Equation" r:id="rId7" imgW="749160" imgH="304560" progId="Equation.DSMT4">
                  <p:embed/>
                </p:oleObj>
              </mc:Choice>
              <mc:Fallback>
                <p:oleObj name="Equation" r:id="rId7" imgW="749160" imgH="304560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788" y="4602163"/>
                        <a:ext cx="18478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228" name="Line 84"/>
          <p:cNvSpPr>
            <a:spLocks noChangeShapeType="1"/>
          </p:cNvSpPr>
          <p:nvPr/>
        </p:nvSpPr>
        <p:spPr bwMode="auto">
          <a:xfrm>
            <a:off x="468313" y="4258841"/>
            <a:ext cx="719137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229" name="Line 85"/>
          <p:cNvSpPr>
            <a:spLocks noChangeShapeType="1"/>
          </p:cNvSpPr>
          <p:nvPr/>
        </p:nvSpPr>
        <p:spPr bwMode="auto">
          <a:xfrm>
            <a:off x="4427538" y="5085184"/>
            <a:ext cx="719137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230" name="Text Box 86"/>
          <p:cNvSpPr txBox="1">
            <a:spLocks noChangeArrowheads="1"/>
          </p:cNvSpPr>
          <p:nvPr/>
        </p:nvSpPr>
        <p:spPr bwMode="auto">
          <a:xfrm>
            <a:off x="395288" y="5770141"/>
            <a:ext cx="46815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再求单位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冲激响应，令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262231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189995"/>
              </p:ext>
            </p:extLst>
          </p:nvPr>
        </p:nvGraphicFramePr>
        <p:xfrm>
          <a:off x="3516314" y="5928606"/>
          <a:ext cx="1416049" cy="483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86" name="Equation" r:id="rId9" imgW="622080" imgH="203040" progId="Equation.DSMT4">
                  <p:embed/>
                </p:oleObj>
              </mc:Choice>
              <mc:Fallback>
                <p:oleObj name="Equation" r:id="rId9" imgW="622080" imgH="203040" progId="Equation.DSMT4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4" y="5928606"/>
                        <a:ext cx="1416049" cy="483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241" name="Text Box 97"/>
          <p:cNvSpPr txBox="1">
            <a:spLocks noChangeArrowheads="1"/>
          </p:cNvSpPr>
          <p:nvPr/>
        </p:nvSpPr>
        <p:spPr bwMode="auto">
          <a:xfrm>
            <a:off x="1044575" y="2314153"/>
            <a:ext cx="7191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</a:p>
        </p:txBody>
      </p:sp>
      <p:grpSp>
        <p:nvGrpSpPr>
          <p:cNvPr id="262242" name="Group 98"/>
          <p:cNvGrpSpPr>
            <a:grpSpLocks/>
          </p:cNvGrpSpPr>
          <p:nvPr/>
        </p:nvGrpSpPr>
        <p:grpSpPr bwMode="auto">
          <a:xfrm>
            <a:off x="5562600" y="1449859"/>
            <a:ext cx="3509963" cy="2200275"/>
            <a:chOff x="3504" y="663"/>
            <a:chExt cx="2211" cy="1386"/>
          </a:xfrm>
        </p:grpSpPr>
        <p:sp>
          <p:nvSpPr>
            <p:cNvPr id="116756" name="Text Box 53"/>
            <p:cNvSpPr txBox="1">
              <a:spLocks noChangeArrowheads="1"/>
            </p:cNvSpPr>
            <p:nvPr/>
          </p:nvSpPr>
          <p:spPr bwMode="auto">
            <a:xfrm>
              <a:off x="4161" y="1797"/>
              <a:ext cx="727" cy="25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(0</a:t>
              </a:r>
              <a:r>
                <a:rPr kumimoji="1" lang="zh-CN" altLang="en-US" sz="2000" b="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－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)=0</a:t>
              </a:r>
            </a:p>
          </p:txBody>
        </p:sp>
        <p:sp>
          <p:nvSpPr>
            <p:cNvPr id="116757" name="Line 54"/>
            <p:cNvSpPr>
              <a:spLocks noChangeShapeType="1"/>
            </p:cNvSpPr>
            <p:nvPr/>
          </p:nvSpPr>
          <p:spPr bwMode="auto">
            <a:xfrm>
              <a:off x="4660" y="663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758" name="Line 55"/>
            <p:cNvSpPr>
              <a:spLocks noChangeShapeType="1"/>
            </p:cNvSpPr>
            <p:nvPr/>
          </p:nvSpPr>
          <p:spPr bwMode="auto">
            <a:xfrm>
              <a:off x="5250" y="708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759" name="Text Box 56"/>
            <p:cNvSpPr txBox="1">
              <a:spLocks noChangeArrowheads="1"/>
            </p:cNvSpPr>
            <p:nvPr/>
          </p:nvSpPr>
          <p:spPr bwMode="auto">
            <a:xfrm>
              <a:off x="5039" y="702"/>
              <a:ext cx="2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760" name="Text Box 57"/>
            <p:cNvSpPr txBox="1">
              <a:spLocks noChangeArrowheads="1"/>
            </p:cNvSpPr>
            <p:nvPr/>
          </p:nvSpPr>
          <p:spPr bwMode="auto">
            <a:xfrm>
              <a:off x="4372" y="1056"/>
              <a:ext cx="2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761" name="Text Box 58"/>
            <p:cNvSpPr txBox="1">
              <a:spLocks noChangeArrowheads="1"/>
            </p:cNvSpPr>
            <p:nvPr/>
          </p:nvSpPr>
          <p:spPr bwMode="auto">
            <a:xfrm>
              <a:off x="3504" y="900"/>
              <a:ext cx="57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(</a:t>
              </a:r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t</a:t>
              </a: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)</a:t>
              </a:r>
              <a:endPara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16762" name="Line 59"/>
            <p:cNvSpPr>
              <a:spLocks noChangeShapeType="1"/>
            </p:cNvSpPr>
            <p:nvPr/>
          </p:nvSpPr>
          <p:spPr bwMode="auto">
            <a:xfrm flipV="1">
              <a:off x="5341" y="1162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763" name="Rectangle 60"/>
            <p:cNvSpPr>
              <a:spLocks noChangeArrowheads="1"/>
            </p:cNvSpPr>
            <p:nvPr/>
          </p:nvSpPr>
          <p:spPr bwMode="auto">
            <a:xfrm>
              <a:off x="4970" y="1007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6764" name="Text Box 62"/>
            <p:cNvSpPr txBox="1">
              <a:spLocks noChangeArrowheads="1"/>
            </p:cNvSpPr>
            <p:nvPr/>
          </p:nvSpPr>
          <p:spPr bwMode="auto">
            <a:xfrm>
              <a:off x="5362" y="757"/>
              <a:ext cx="2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16765" name="Text Box 63"/>
            <p:cNvSpPr txBox="1">
              <a:spLocks noChangeArrowheads="1"/>
            </p:cNvSpPr>
            <p:nvPr/>
          </p:nvSpPr>
          <p:spPr bwMode="auto">
            <a:xfrm>
              <a:off x="5386" y="1207"/>
              <a:ext cx="3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766" name="Text Box 64"/>
            <p:cNvSpPr txBox="1">
              <a:spLocks noChangeArrowheads="1"/>
            </p:cNvSpPr>
            <p:nvPr/>
          </p:nvSpPr>
          <p:spPr bwMode="auto">
            <a:xfrm>
              <a:off x="5455" y="980"/>
              <a:ext cx="2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charset="-122"/>
                  <a:cs typeface="Times New Roman" panose="02020603050405020304" pitchFamily="18" charset="0"/>
                </a:rPr>
                <a:t>v</a:t>
              </a:r>
              <a:r>
                <a:rPr kumimoji="1" lang="en-US" altLang="zh-CN" sz="2000" b="0" i="1" baseline="-25000">
                  <a:solidFill>
                    <a:schemeClr val="tx1"/>
                  </a:solidFill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6767" name="Line 65"/>
            <p:cNvSpPr>
              <a:spLocks noChangeShapeType="1"/>
            </p:cNvSpPr>
            <p:nvPr/>
          </p:nvSpPr>
          <p:spPr bwMode="auto">
            <a:xfrm>
              <a:off x="3969" y="663"/>
              <a:ext cx="13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768" name="Line 66"/>
            <p:cNvSpPr>
              <a:spLocks noChangeShapeType="1"/>
            </p:cNvSpPr>
            <p:nvPr/>
          </p:nvSpPr>
          <p:spPr bwMode="auto">
            <a:xfrm>
              <a:off x="5341" y="663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769" name="Line 67"/>
            <p:cNvSpPr>
              <a:spLocks noChangeShapeType="1"/>
            </p:cNvSpPr>
            <p:nvPr/>
          </p:nvSpPr>
          <p:spPr bwMode="auto">
            <a:xfrm>
              <a:off x="3969" y="663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770" name="Line 68"/>
            <p:cNvSpPr>
              <a:spLocks noChangeShapeType="1"/>
            </p:cNvSpPr>
            <p:nvPr/>
          </p:nvSpPr>
          <p:spPr bwMode="auto">
            <a:xfrm>
              <a:off x="3969" y="1706"/>
              <a:ext cx="13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771" name="Rectangle 69"/>
            <p:cNvSpPr>
              <a:spLocks noChangeArrowheads="1"/>
            </p:cNvSpPr>
            <p:nvPr/>
          </p:nvSpPr>
          <p:spPr bwMode="auto">
            <a:xfrm>
              <a:off x="4597" y="10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6772" name="Group 70"/>
            <p:cNvGrpSpPr>
              <a:grpSpLocks/>
            </p:cNvGrpSpPr>
            <p:nvPr/>
          </p:nvGrpSpPr>
          <p:grpSpPr bwMode="auto">
            <a:xfrm>
              <a:off x="5229" y="1071"/>
              <a:ext cx="240" cy="90"/>
              <a:chOff x="4628" y="2478"/>
              <a:chExt cx="240" cy="90"/>
            </a:xfrm>
          </p:grpSpPr>
          <p:sp>
            <p:nvSpPr>
              <p:cNvPr id="116777" name="Line 71"/>
              <p:cNvSpPr>
                <a:spLocks noChangeShapeType="1"/>
              </p:cNvSpPr>
              <p:nvPr/>
            </p:nvSpPr>
            <p:spPr bwMode="auto">
              <a:xfrm>
                <a:off x="4628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778" name="Line 72"/>
              <p:cNvSpPr>
                <a:spLocks noChangeShapeType="1"/>
              </p:cNvSpPr>
              <p:nvPr/>
            </p:nvSpPr>
            <p:spPr bwMode="auto">
              <a:xfrm>
                <a:off x="4628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6773" name="Line 61"/>
            <p:cNvSpPr>
              <a:spLocks noChangeShapeType="1"/>
            </p:cNvSpPr>
            <p:nvPr/>
          </p:nvSpPr>
          <p:spPr bwMode="auto">
            <a:xfrm flipV="1">
              <a:off x="3969" y="709"/>
              <a:ext cx="0" cy="40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6774" name="Group 73"/>
            <p:cNvGrpSpPr>
              <a:grpSpLocks/>
            </p:cNvGrpSpPr>
            <p:nvPr/>
          </p:nvGrpSpPr>
          <p:grpSpPr bwMode="auto">
            <a:xfrm>
              <a:off x="3798" y="1117"/>
              <a:ext cx="363" cy="363"/>
              <a:chOff x="4785" y="709"/>
              <a:chExt cx="363" cy="363"/>
            </a:xfrm>
          </p:grpSpPr>
          <p:sp>
            <p:nvSpPr>
              <p:cNvPr id="116775" name="Oval 74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776" name="Line 75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2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2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2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62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6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2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2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6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6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26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6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6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26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26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000" fill="hold"/>
                                        <p:tgtEl>
                                          <p:spTgt spid="26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26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26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6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9" grpId="0"/>
      <p:bldP spid="262157" grpId="0" autoUpdateAnimBg="0"/>
      <p:bldP spid="262194" grpId="0"/>
      <p:bldP spid="262220" grpId="0" animBg="1"/>
      <p:bldP spid="262222" grpId="0" autoUpdateAnimBg="0"/>
      <p:bldP spid="262223" grpId="0" autoUpdateAnimBg="0"/>
      <p:bldP spid="262224" grpId="0" autoUpdateAnimBg="0"/>
      <p:bldP spid="262225" grpId="0" autoUpdateAnimBg="0"/>
      <p:bldP spid="262226" grpId="0" autoUpdateAnimBg="0"/>
      <p:bldP spid="262228" grpId="0" animBg="1"/>
      <p:bldP spid="262229" grpId="0" animBg="1"/>
      <p:bldP spid="262230" grpId="0"/>
      <p:bldP spid="26224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6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41731"/>
              </p:ext>
            </p:extLst>
          </p:nvPr>
        </p:nvGraphicFramePr>
        <p:xfrm>
          <a:off x="1019175" y="476672"/>
          <a:ext cx="3048769" cy="1021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3" name="Equation" r:id="rId3" imgW="1346040" imgH="444240" progId="Equation.DSMT4">
                  <p:embed/>
                </p:oleObj>
              </mc:Choice>
              <mc:Fallback>
                <p:oleObj name="Equation" r:id="rId3" imgW="1346040" imgH="4442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476672"/>
                        <a:ext cx="3048769" cy="1021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5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454763"/>
              </p:ext>
            </p:extLst>
          </p:nvPr>
        </p:nvGraphicFramePr>
        <p:xfrm>
          <a:off x="1330325" y="1731863"/>
          <a:ext cx="2233563" cy="980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4" name="Equation" r:id="rId5" imgW="1028520" imgH="444240" progId="Equation.DSMT4">
                  <p:embed/>
                </p:oleObj>
              </mc:Choice>
              <mc:Fallback>
                <p:oleObj name="Equation" r:id="rId5" imgW="1028520" imgH="4442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325" y="1731863"/>
                        <a:ext cx="2233563" cy="980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5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428789"/>
              </p:ext>
            </p:extLst>
          </p:nvPr>
        </p:nvGraphicFramePr>
        <p:xfrm>
          <a:off x="3635896" y="1741752"/>
          <a:ext cx="1591741" cy="86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5" name="Equation" r:id="rId7" imgW="711000" imgH="380880" progId="Equation.DSMT4">
                  <p:embed/>
                </p:oleObj>
              </mc:Choice>
              <mc:Fallback>
                <p:oleObj name="Equation" r:id="rId7" imgW="711000" imgH="3808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1741752"/>
                        <a:ext cx="1591741" cy="86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6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77343"/>
              </p:ext>
            </p:extLst>
          </p:nvPr>
        </p:nvGraphicFramePr>
        <p:xfrm>
          <a:off x="5220072" y="1726276"/>
          <a:ext cx="17002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6" name="Equation" r:id="rId9" imgW="723600" imgH="380880" progId="Equation.DSMT4">
                  <p:embed/>
                </p:oleObj>
              </mc:Choice>
              <mc:Fallback>
                <p:oleObj name="Equation" r:id="rId9" imgW="723600" imgH="3808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1726276"/>
                        <a:ext cx="17002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6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713134"/>
              </p:ext>
            </p:extLst>
          </p:nvPr>
        </p:nvGraphicFramePr>
        <p:xfrm>
          <a:off x="3071814" y="3140968"/>
          <a:ext cx="2668587" cy="465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7" name="Equation" r:id="rId11" imgW="1091726" imgH="190417" progId="Equation.DSMT4">
                  <p:embed/>
                </p:oleObj>
              </mc:Choice>
              <mc:Fallback>
                <p:oleObj name="Equation" r:id="rId11" imgW="1091726" imgH="190417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3140968"/>
                        <a:ext cx="2668587" cy="465606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FF"/>
                          </a:gs>
                          <a:gs pos="50000">
                            <a:srgbClr val="FFFFFF"/>
                          </a:gs>
                          <a:gs pos="100000">
                            <a:srgbClr val="00CC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0690" name="Group 50"/>
          <p:cNvGrpSpPr>
            <a:grpSpLocks/>
          </p:cNvGrpSpPr>
          <p:nvPr/>
        </p:nvGrpSpPr>
        <p:grpSpPr bwMode="auto">
          <a:xfrm>
            <a:off x="1763713" y="1485282"/>
            <a:ext cx="1308100" cy="1216447"/>
            <a:chOff x="2200" y="894"/>
            <a:chExt cx="824" cy="678"/>
          </a:xfrm>
        </p:grpSpPr>
        <p:sp>
          <p:nvSpPr>
            <p:cNvPr id="117771" name="Line 51"/>
            <p:cNvSpPr>
              <a:spLocks noChangeShapeType="1"/>
            </p:cNvSpPr>
            <p:nvPr/>
          </p:nvSpPr>
          <p:spPr bwMode="auto">
            <a:xfrm>
              <a:off x="2381" y="1054"/>
              <a:ext cx="643" cy="5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7772" name="Text Box 52"/>
            <p:cNvSpPr txBox="1">
              <a:spLocks noChangeArrowheads="1"/>
            </p:cNvSpPr>
            <p:nvPr/>
          </p:nvSpPr>
          <p:spPr bwMode="auto">
            <a:xfrm>
              <a:off x="2200" y="894"/>
              <a:ext cx="227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dirty="0">
                  <a:solidFill>
                    <a:srgbClr val="FF0000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aphicFrame>
        <p:nvGraphicFramePr>
          <p:cNvPr id="240693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48915"/>
              </p:ext>
            </p:extLst>
          </p:nvPr>
        </p:nvGraphicFramePr>
        <p:xfrm>
          <a:off x="1115616" y="3933056"/>
          <a:ext cx="2347323" cy="1040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8" name="Equation" r:id="rId13" imgW="1015920" imgH="444240" progId="Equation.DSMT4">
                  <p:embed/>
                </p:oleObj>
              </mc:Choice>
              <mc:Fallback>
                <p:oleObj name="Equation" r:id="rId13" imgW="1015920" imgH="44424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933056"/>
                        <a:ext cx="2347323" cy="10403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94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373320"/>
              </p:ext>
            </p:extLst>
          </p:nvPr>
        </p:nvGraphicFramePr>
        <p:xfrm>
          <a:off x="3563888" y="3995874"/>
          <a:ext cx="3268962" cy="873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9" name="Equation" r:id="rId15" imgW="1447560" imgH="380880" progId="Equation.DSMT4">
                  <p:embed/>
                </p:oleObj>
              </mc:Choice>
              <mc:Fallback>
                <p:oleObj name="Equation" r:id="rId15" imgW="1447560" imgH="38088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3995874"/>
                        <a:ext cx="3268962" cy="873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95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699957"/>
              </p:ext>
            </p:extLst>
          </p:nvPr>
        </p:nvGraphicFramePr>
        <p:xfrm>
          <a:off x="1430502" y="5086250"/>
          <a:ext cx="2637442" cy="86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80" name="Equation" r:id="rId17" imgW="1180800" imgH="380880" progId="Equation.DSMT4">
                  <p:embed/>
                </p:oleObj>
              </mc:Choice>
              <mc:Fallback>
                <p:oleObj name="Equation" r:id="rId17" imgW="1180800" imgH="38088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502" y="5086250"/>
                        <a:ext cx="2637442" cy="863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4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4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4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0"/>
                                        <p:tgtEl>
                                          <p:spTgt spid="24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4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4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4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671" name="Group 7"/>
          <p:cNvGrpSpPr>
            <a:grpSpLocks/>
          </p:cNvGrpSpPr>
          <p:nvPr/>
        </p:nvGrpSpPr>
        <p:grpSpPr bwMode="auto">
          <a:xfrm>
            <a:off x="2411413" y="980728"/>
            <a:ext cx="2520950" cy="1844675"/>
            <a:chOff x="1115" y="1546"/>
            <a:chExt cx="1588" cy="1162"/>
          </a:xfrm>
        </p:grpSpPr>
        <p:sp>
          <p:nvSpPr>
            <p:cNvPr id="118822" name="Line 8"/>
            <p:cNvSpPr>
              <a:spLocks noChangeShapeType="1"/>
            </p:cNvSpPr>
            <p:nvPr/>
          </p:nvSpPr>
          <p:spPr bwMode="auto">
            <a:xfrm>
              <a:off x="1155" y="2483"/>
              <a:ext cx="13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23" name="Line 9"/>
            <p:cNvSpPr>
              <a:spLocks noChangeShapeType="1"/>
            </p:cNvSpPr>
            <p:nvPr/>
          </p:nvSpPr>
          <p:spPr bwMode="auto">
            <a:xfrm flipV="1">
              <a:off x="1364" y="1755"/>
              <a:ext cx="0" cy="9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24" name="Line 10"/>
            <p:cNvSpPr>
              <a:spLocks noChangeShapeType="1"/>
            </p:cNvSpPr>
            <p:nvPr/>
          </p:nvSpPr>
          <p:spPr bwMode="auto">
            <a:xfrm flipH="1" flipV="1">
              <a:off x="1145" y="2474"/>
              <a:ext cx="210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25" name="Line 11"/>
            <p:cNvSpPr>
              <a:spLocks noChangeShapeType="1"/>
            </p:cNvSpPr>
            <p:nvPr/>
          </p:nvSpPr>
          <p:spPr bwMode="auto">
            <a:xfrm>
              <a:off x="1373" y="2028"/>
              <a:ext cx="1045" cy="0"/>
            </a:xfrm>
            <a:prstGeom prst="line">
              <a:avLst/>
            </a:prstGeom>
            <a:noFill/>
            <a:ln w="28575">
              <a:solidFill>
                <a:srgbClr val="00CC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26" name="Arc 12"/>
            <p:cNvSpPr>
              <a:spLocks/>
            </p:cNvSpPr>
            <p:nvPr/>
          </p:nvSpPr>
          <p:spPr bwMode="auto">
            <a:xfrm flipH="1">
              <a:off x="1377" y="2047"/>
              <a:ext cx="986" cy="600"/>
            </a:xfrm>
            <a:custGeom>
              <a:avLst/>
              <a:gdLst>
                <a:gd name="T0" fmla="*/ 0 w 25162"/>
                <a:gd name="T1" fmla="*/ 12 h 21600"/>
                <a:gd name="T2" fmla="*/ 986 w 25162"/>
                <a:gd name="T3" fmla="*/ 441 h 21600"/>
                <a:gd name="T4" fmla="*/ 170 w 25162"/>
                <a:gd name="T5" fmla="*/ 60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62" h="21600" fill="none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27" name="Text Box 13"/>
            <p:cNvSpPr txBox="1">
              <a:spLocks noChangeArrowheads="1"/>
            </p:cNvSpPr>
            <p:nvPr/>
          </p:nvSpPr>
          <p:spPr bwMode="auto">
            <a:xfrm>
              <a:off x="1342" y="1546"/>
              <a:ext cx="2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8828" name="Text Box 14"/>
            <p:cNvSpPr txBox="1">
              <a:spLocks noChangeArrowheads="1"/>
            </p:cNvSpPr>
            <p:nvPr/>
          </p:nvSpPr>
          <p:spPr bwMode="auto">
            <a:xfrm>
              <a:off x="1115" y="1836"/>
              <a:ext cx="21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8829" name="Text Box 15"/>
            <p:cNvSpPr txBox="1">
              <a:spLocks noChangeArrowheads="1"/>
            </p:cNvSpPr>
            <p:nvPr/>
          </p:nvSpPr>
          <p:spPr bwMode="auto">
            <a:xfrm>
              <a:off x="2542" y="2273"/>
              <a:ext cx="16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8830" name="Text Box 16"/>
            <p:cNvSpPr txBox="1">
              <a:spLocks noChangeArrowheads="1"/>
            </p:cNvSpPr>
            <p:nvPr/>
          </p:nvSpPr>
          <p:spPr bwMode="auto">
            <a:xfrm>
              <a:off x="1143" y="245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</p:grpSp>
      <p:grpSp>
        <p:nvGrpSpPr>
          <p:cNvPr id="241681" name="Group 17"/>
          <p:cNvGrpSpPr>
            <a:grpSpLocks/>
          </p:cNvGrpSpPr>
          <p:nvPr/>
        </p:nvGrpSpPr>
        <p:grpSpPr bwMode="auto">
          <a:xfrm>
            <a:off x="5435599" y="1053753"/>
            <a:ext cx="2520950" cy="1844675"/>
            <a:chOff x="2851" y="1528"/>
            <a:chExt cx="1588" cy="1162"/>
          </a:xfrm>
        </p:grpSpPr>
        <p:sp>
          <p:nvSpPr>
            <p:cNvPr id="118812" name="Line 18"/>
            <p:cNvSpPr>
              <a:spLocks noChangeShapeType="1"/>
            </p:cNvSpPr>
            <p:nvPr/>
          </p:nvSpPr>
          <p:spPr bwMode="auto">
            <a:xfrm>
              <a:off x="2891" y="2465"/>
              <a:ext cx="13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13" name="Line 19"/>
            <p:cNvSpPr>
              <a:spLocks noChangeShapeType="1"/>
            </p:cNvSpPr>
            <p:nvPr/>
          </p:nvSpPr>
          <p:spPr bwMode="auto">
            <a:xfrm flipV="1">
              <a:off x="3100" y="1737"/>
              <a:ext cx="0" cy="9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14" name="Line 20"/>
            <p:cNvSpPr>
              <a:spLocks noChangeShapeType="1"/>
            </p:cNvSpPr>
            <p:nvPr/>
          </p:nvSpPr>
          <p:spPr bwMode="auto">
            <a:xfrm flipH="1">
              <a:off x="2900" y="2465"/>
              <a:ext cx="19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15" name="Line 21"/>
            <p:cNvSpPr>
              <a:spLocks noChangeShapeType="1"/>
            </p:cNvSpPr>
            <p:nvPr/>
          </p:nvSpPr>
          <p:spPr bwMode="auto">
            <a:xfrm>
              <a:off x="3109" y="2010"/>
              <a:ext cx="1045" cy="0"/>
            </a:xfrm>
            <a:prstGeom prst="line">
              <a:avLst/>
            </a:prstGeom>
            <a:noFill/>
            <a:ln w="28575">
              <a:solidFill>
                <a:srgbClr val="00CC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16" name="Arc 22"/>
            <p:cNvSpPr>
              <a:spLocks/>
            </p:cNvSpPr>
            <p:nvPr/>
          </p:nvSpPr>
          <p:spPr bwMode="auto">
            <a:xfrm flipH="1" flipV="1">
              <a:off x="3122" y="1829"/>
              <a:ext cx="986" cy="600"/>
            </a:xfrm>
            <a:custGeom>
              <a:avLst/>
              <a:gdLst>
                <a:gd name="T0" fmla="*/ 0 w 25162"/>
                <a:gd name="T1" fmla="*/ 12 h 21600"/>
                <a:gd name="T2" fmla="*/ 986 w 25162"/>
                <a:gd name="T3" fmla="*/ 441 h 21600"/>
                <a:gd name="T4" fmla="*/ 170 w 25162"/>
                <a:gd name="T5" fmla="*/ 60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62" h="21600" fill="none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17" name="Text Box 23"/>
            <p:cNvSpPr txBox="1">
              <a:spLocks noChangeArrowheads="1"/>
            </p:cNvSpPr>
            <p:nvPr/>
          </p:nvSpPr>
          <p:spPr bwMode="auto">
            <a:xfrm>
              <a:off x="3078" y="1528"/>
              <a:ext cx="2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8818" name="Text Box 24"/>
            <p:cNvSpPr txBox="1">
              <a:spLocks noChangeArrowheads="1"/>
            </p:cNvSpPr>
            <p:nvPr/>
          </p:nvSpPr>
          <p:spPr bwMode="auto">
            <a:xfrm>
              <a:off x="2851" y="1818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118819" name="Text Box 25"/>
            <p:cNvSpPr txBox="1">
              <a:spLocks noChangeArrowheads="1"/>
            </p:cNvSpPr>
            <p:nvPr/>
          </p:nvSpPr>
          <p:spPr bwMode="auto">
            <a:xfrm>
              <a:off x="4278" y="2255"/>
              <a:ext cx="16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8820" name="Text Box 26"/>
            <p:cNvSpPr txBox="1">
              <a:spLocks noChangeArrowheads="1"/>
            </p:cNvSpPr>
            <p:nvPr/>
          </p:nvSpPr>
          <p:spPr bwMode="auto">
            <a:xfrm>
              <a:off x="2879" y="2438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118821" name="Line 27"/>
            <p:cNvSpPr>
              <a:spLocks noChangeShapeType="1"/>
            </p:cNvSpPr>
            <p:nvPr/>
          </p:nvSpPr>
          <p:spPr bwMode="auto">
            <a:xfrm flipV="1">
              <a:off x="3091" y="1991"/>
              <a:ext cx="1" cy="45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241692" name="Group 28"/>
          <p:cNvGrpSpPr>
            <a:grpSpLocks/>
          </p:cNvGrpSpPr>
          <p:nvPr/>
        </p:nvGrpSpPr>
        <p:grpSpPr bwMode="auto">
          <a:xfrm>
            <a:off x="2124075" y="3748036"/>
            <a:ext cx="2769054" cy="1846904"/>
            <a:chOff x="1376" y="2654"/>
            <a:chExt cx="1674" cy="1084"/>
          </a:xfrm>
        </p:grpSpPr>
        <p:sp>
          <p:nvSpPr>
            <p:cNvPr id="118802" name="Text Box 29"/>
            <p:cNvSpPr txBox="1">
              <a:spLocks noChangeArrowheads="1"/>
            </p:cNvSpPr>
            <p:nvPr/>
          </p:nvSpPr>
          <p:spPr bwMode="auto">
            <a:xfrm>
              <a:off x="1724" y="2654"/>
              <a:ext cx="249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8803" name="Line 30"/>
            <p:cNvSpPr>
              <a:spLocks noChangeShapeType="1"/>
            </p:cNvSpPr>
            <p:nvPr/>
          </p:nvSpPr>
          <p:spPr bwMode="auto">
            <a:xfrm>
              <a:off x="1509" y="3530"/>
              <a:ext cx="13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04" name="Line 31"/>
            <p:cNvSpPr>
              <a:spLocks noChangeShapeType="1"/>
            </p:cNvSpPr>
            <p:nvPr/>
          </p:nvSpPr>
          <p:spPr bwMode="auto">
            <a:xfrm flipV="1">
              <a:off x="1718" y="2802"/>
              <a:ext cx="0" cy="9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05" name="Line 32"/>
            <p:cNvSpPr>
              <a:spLocks noChangeShapeType="1"/>
            </p:cNvSpPr>
            <p:nvPr/>
          </p:nvSpPr>
          <p:spPr bwMode="auto">
            <a:xfrm flipH="1">
              <a:off x="1518" y="3530"/>
              <a:ext cx="191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06" name="Line 33"/>
            <p:cNvSpPr>
              <a:spLocks noChangeShapeType="1"/>
            </p:cNvSpPr>
            <p:nvPr/>
          </p:nvSpPr>
          <p:spPr bwMode="auto">
            <a:xfrm>
              <a:off x="1727" y="3075"/>
              <a:ext cx="1045" cy="0"/>
            </a:xfrm>
            <a:prstGeom prst="line">
              <a:avLst/>
            </a:prstGeom>
            <a:noFill/>
            <a:ln w="28575">
              <a:solidFill>
                <a:srgbClr val="00CC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07" name="Arc 34"/>
            <p:cNvSpPr>
              <a:spLocks/>
            </p:cNvSpPr>
            <p:nvPr/>
          </p:nvSpPr>
          <p:spPr bwMode="auto">
            <a:xfrm flipH="1" flipV="1">
              <a:off x="1740" y="2894"/>
              <a:ext cx="986" cy="600"/>
            </a:xfrm>
            <a:custGeom>
              <a:avLst/>
              <a:gdLst>
                <a:gd name="T0" fmla="*/ 0 w 25162"/>
                <a:gd name="T1" fmla="*/ 12 h 21600"/>
                <a:gd name="T2" fmla="*/ 986 w 25162"/>
                <a:gd name="T3" fmla="*/ 441 h 21600"/>
                <a:gd name="T4" fmla="*/ 170 w 25162"/>
                <a:gd name="T5" fmla="*/ 60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62" h="21600" fill="none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808" name="Text Box 35"/>
            <p:cNvSpPr txBox="1">
              <a:spLocks noChangeArrowheads="1"/>
            </p:cNvSpPr>
            <p:nvPr/>
          </p:nvSpPr>
          <p:spPr bwMode="auto">
            <a:xfrm>
              <a:off x="2896" y="3320"/>
              <a:ext cx="154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8809" name="Text Box 36"/>
            <p:cNvSpPr txBox="1">
              <a:spLocks noChangeArrowheads="1"/>
            </p:cNvSpPr>
            <p:nvPr/>
          </p:nvSpPr>
          <p:spPr bwMode="auto">
            <a:xfrm>
              <a:off x="1497" y="3503"/>
              <a:ext cx="189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118810" name="Line 37"/>
            <p:cNvSpPr>
              <a:spLocks noChangeShapeType="1"/>
            </p:cNvSpPr>
            <p:nvPr/>
          </p:nvSpPr>
          <p:spPr bwMode="auto">
            <a:xfrm flipV="1">
              <a:off x="1709" y="3056"/>
              <a:ext cx="1" cy="45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graphicFrame>
          <p:nvGraphicFramePr>
            <p:cNvPr id="118811" name="Object 38"/>
            <p:cNvGraphicFramePr>
              <a:graphicFrameLocks noChangeAspect="1"/>
            </p:cNvGraphicFramePr>
            <p:nvPr/>
          </p:nvGraphicFramePr>
          <p:xfrm>
            <a:off x="1376" y="2764"/>
            <a:ext cx="245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31" name="公式" r:id="rId3" imgW="181068" imgH="447624" progId="Equation.3">
                    <p:embed/>
                  </p:oleObj>
                </mc:Choice>
                <mc:Fallback>
                  <p:oleObj name="公式" r:id="rId3" imgW="181068" imgH="447624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" y="2764"/>
                          <a:ext cx="245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1713" name="Text Box 49"/>
          <p:cNvSpPr txBox="1">
            <a:spLocks noChangeArrowheads="1"/>
          </p:cNvSpPr>
          <p:nvPr/>
        </p:nvSpPr>
        <p:spPr bwMode="auto">
          <a:xfrm>
            <a:off x="539750" y="3736180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冲激响应</a:t>
            </a:r>
          </a:p>
        </p:txBody>
      </p:sp>
      <p:sp>
        <p:nvSpPr>
          <p:cNvPr id="241714" name="Text Box 50"/>
          <p:cNvSpPr txBox="1">
            <a:spLocks noChangeArrowheads="1"/>
          </p:cNvSpPr>
          <p:nvPr/>
        </p:nvSpPr>
        <p:spPr bwMode="auto">
          <a:xfrm>
            <a:off x="468313" y="1341092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</a:rPr>
              <a:t>阶跃响应</a:t>
            </a:r>
          </a:p>
        </p:txBody>
      </p:sp>
      <p:grpSp>
        <p:nvGrpSpPr>
          <p:cNvPr id="241715" name="Group 51"/>
          <p:cNvGrpSpPr>
            <a:grpSpLocks/>
          </p:cNvGrpSpPr>
          <p:nvPr/>
        </p:nvGrpSpPr>
        <p:grpSpPr bwMode="auto">
          <a:xfrm>
            <a:off x="5364163" y="3172016"/>
            <a:ext cx="3025721" cy="2561240"/>
            <a:chOff x="2971" y="1696"/>
            <a:chExt cx="2126" cy="1809"/>
          </a:xfrm>
        </p:grpSpPr>
        <p:sp>
          <p:nvSpPr>
            <p:cNvPr id="118792" name="Line 52"/>
            <p:cNvSpPr>
              <a:spLocks noChangeShapeType="1"/>
            </p:cNvSpPr>
            <p:nvPr/>
          </p:nvSpPr>
          <p:spPr bwMode="auto">
            <a:xfrm>
              <a:off x="3397" y="2732"/>
              <a:ext cx="15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793" name="Line 53"/>
            <p:cNvSpPr>
              <a:spLocks noChangeShapeType="1"/>
            </p:cNvSpPr>
            <p:nvPr/>
          </p:nvSpPr>
          <p:spPr bwMode="auto">
            <a:xfrm flipV="1">
              <a:off x="3626" y="1907"/>
              <a:ext cx="0" cy="14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794" name="Line 54"/>
            <p:cNvSpPr>
              <a:spLocks noChangeShapeType="1"/>
            </p:cNvSpPr>
            <p:nvPr/>
          </p:nvSpPr>
          <p:spPr bwMode="auto">
            <a:xfrm flipH="1" flipV="1">
              <a:off x="3386" y="2722"/>
              <a:ext cx="231" cy="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795" name="Arc 55"/>
            <p:cNvSpPr>
              <a:spLocks/>
            </p:cNvSpPr>
            <p:nvPr/>
          </p:nvSpPr>
          <p:spPr bwMode="auto">
            <a:xfrm flipH="1">
              <a:off x="3641" y="2773"/>
              <a:ext cx="1081" cy="412"/>
            </a:xfrm>
            <a:custGeom>
              <a:avLst/>
              <a:gdLst>
                <a:gd name="T0" fmla="*/ 0 w 25162"/>
                <a:gd name="T1" fmla="*/ 8 h 21600"/>
                <a:gd name="T2" fmla="*/ 1081 w 25162"/>
                <a:gd name="T3" fmla="*/ 303 h 21600"/>
                <a:gd name="T4" fmla="*/ 186 w 25162"/>
                <a:gd name="T5" fmla="*/ 41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62" h="21600" fill="none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 extrusionOk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796" name="Text Box 56"/>
            <p:cNvSpPr txBox="1">
              <a:spLocks noChangeArrowheads="1"/>
            </p:cNvSpPr>
            <p:nvPr/>
          </p:nvSpPr>
          <p:spPr bwMode="auto">
            <a:xfrm>
              <a:off x="3629" y="1696"/>
              <a:ext cx="259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8797" name="Text Box 57"/>
            <p:cNvSpPr txBox="1">
              <a:spLocks noChangeArrowheads="1"/>
            </p:cNvSpPr>
            <p:nvPr/>
          </p:nvSpPr>
          <p:spPr bwMode="auto">
            <a:xfrm>
              <a:off x="4918" y="2499"/>
              <a:ext cx="179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t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8798" name="Line 58"/>
            <p:cNvSpPr>
              <a:spLocks noChangeShapeType="1"/>
            </p:cNvSpPr>
            <p:nvPr/>
          </p:nvSpPr>
          <p:spPr bwMode="auto">
            <a:xfrm flipV="1">
              <a:off x="3630" y="2322"/>
              <a:ext cx="0" cy="41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8799" name="Text Box 59"/>
            <p:cNvSpPr txBox="1">
              <a:spLocks noChangeArrowheads="1"/>
            </p:cNvSpPr>
            <p:nvPr/>
          </p:nvSpPr>
          <p:spPr bwMode="auto">
            <a:xfrm>
              <a:off x="3334" y="2160"/>
              <a:ext cx="22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graphicFrame>
          <p:nvGraphicFramePr>
            <p:cNvPr id="118800" name="Object 60"/>
            <p:cNvGraphicFramePr>
              <a:graphicFrameLocks noChangeAspect="1"/>
            </p:cNvGraphicFramePr>
            <p:nvPr/>
          </p:nvGraphicFramePr>
          <p:xfrm>
            <a:off x="2971" y="2840"/>
            <a:ext cx="626" cy="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32" name="公式" r:id="rId5" imgW="438234" imgH="447624" progId="Equation.3">
                    <p:embed/>
                  </p:oleObj>
                </mc:Choice>
                <mc:Fallback>
                  <p:oleObj name="公式" r:id="rId5" imgW="438234" imgH="447624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2840"/>
                          <a:ext cx="626" cy="6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8801" name="Text Box 61"/>
            <p:cNvSpPr txBox="1">
              <a:spLocks noChangeArrowheads="1"/>
            </p:cNvSpPr>
            <p:nvPr/>
          </p:nvSpPr>
          <p:spPr bwMode="auto">
            <a:xfrm>
              <a:off x="3424" y="2704"/>
              <a:ext cx="499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>
                  <a:solidFill>
                    <a:schemeClr val="tx1"/>
                  </a:solidFill>
                  <a:latin typeface="Times New Roman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1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1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4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4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1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1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4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13" grpId="0" autoUpdateAnimBg="0"/>
      <p:bldP spid="241714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2" name="AutoShape 4" descr="羊皮纸"/>
          <p:cNvSpPr>
            <a:spLocks/>
          </p:cNvSpPr>
          <p:nvPr/>
        </p:nvSpPr>
        <p:spPr bwMode="auto">
          <a:xfrm>
            <a:off x="2627784" y="4868319"/>
            <a:ext cx="1080492" cy="400110"/>
          </a:xfrm>
          <a:prstGeom prst="callout2">
            <a:avLst>
              <a:gd name="adj1" fmla="val 20514"/>
              <a:gd name="adj2" fmla="val 105537"/>
              <a:gd name="adj3" fmla="val 20514"/>
              <a:gd name="adj4" fmla="val 119722"/>
              <a:gd name="adj5" fmla="val -83477"/>
              <a:gd name="adj6" fmla="val 125491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3810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有限值</a:t>
            </a:r>
          </a:p>
        </p:txBody>
      </p:sp>
      <p:sp>
        <p:nvSpPr>
          <p:cNvPr id="263173" name="AutoShape 5" descr="羊皮纸"/>
          <p:cNvSpPr>
            <a:spLocks/>
          </p:cNvSpPr>
          <p:nvPr/>
        </p:nvSpPr>
        <p:spPr bwMode="auto">
          <a:xfrm>
            <a:off x="5940426" y="4766198"/>
            <a:ext cx="1157287" cy="400110"/>
          </a:xfrm>
          <a:prstGeom prst="callout2">
            <a:avLst>
              <a:gd name="adj1" fmla="val 20514"/>
              <a:gd name="adj2" fmla="val -5537"/>
              <a:gd name="adj3" fmla="val 20514"/>
              <a:gd name="adj4" fmla="val -17532"/>
              <a:gd name="adj5" fmla="val -69514"/>
              <a:gd name="adj6" fmla="val -29991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3810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有限值</a:t>
            </a:r>
          </a:p>
        </p:txBody>
      </p:sp>
      <p:sp>
        <p:nvSpPr>
          <p:cNvPr id="263174" name="Rectangle 6"/>
          <p:cNvSpPr>
            <a:spLocks noChangeArrowheads="1"/>
          </p:cNvSpPr>
          <p:nvPr/>
        </p:nvSpPr>
        <p:spPr bwMode="auto">
          <a:xfrm>
            <a:off x="1258888" y="1700213"/>
            <a:ext cx="33845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>
                <a:solidFill>
                  <a:schemeClr val="tx1"/>
                </a:solidFill>
                <a:latin typeface="Times New Roman" pitchFamily="18" charset="0"/>
              </a:rPr>
              <a:t>KVL</a:t>
            </a:r>
            <a:r>
              <a:rPr kumimoji="1" lang="zh-CN" altLang="en-US" sz="2000">
                <a:solidFill>
                  <a:schemeClr val="tx1"/>
                </a:solidFill>
                <a:latin typeface="楷体_GB2312" pitchFamily="49" charset="-122"/>
              </a:rPr>
              <a:t>方程为</a:t>
            </a:r>
          </a:p>
        </p:txBody>
      </p:sp>
      <p:graphicFrame>
        <p:nvGraphicFramePr>
          <p:cNvPr id="2631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116223"/>
              </p:ext>
            </p:extLst>
          </p:nvPr>
        </p:nvGraphicFramePr>
        <p:xfrm>
          <a:off x="1095375" y="2501900"/>
          <a:ext cx="34258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51" name="Equation" r:id="rId4" imgW="1650960" imgH="380880" progId="Equation.DSMT4">
                  <p:embed/>
                </p:oleObj>
              </mc:Choice>
              <mc:Fallback>
                <p:oleObj name="Equation" r:id="rId4" imgW="1650960" imgH="3808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2501900"/>
                        <a:ext cx="34258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518075"/>
              </p:ext>
            </p:extLst>
          </p:nvPr>
        </p:nvGraphicFramePr>
        <p:xfrm>
          <a:off x="1120775" y="3670300"/>
          <a:ext cx="6421438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52" name="Equation" r:id="rId6" imgW="2806560" imgH="380880" progId="Equation.DSMT4">
                  <p:embed/>
                </p:oleObj>
              </mc:Choice>
              <mc:Fallback>
                <p:oleObj name="Equation" r:id="rId6" imgW="2806560" imgH="3808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3670300"/>
                        <a:ext cx="6421438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86" name="Text Box 18"/>
          <p:cNvSpPr txBox="1">
            <a:spLocks noChangeArrowheads="1"/>
          </p:cNvSpPr>
          <p:nvPr/>
        </p:nvSpPr>
        <p:spPr bwMode="auto">
          <a:xfrm>
            <a:off x="611188" y="1142176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</a:t>
            </a:r>
            <a:endParaRPr kumimoji="1" lang="zh-CN" altLang="en-US" sz="2000" b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263188" name="Group 20"/>
          <p:cNvGrpSpPr>
            <a:grpSpLocks/>
          </p:cNvGrpSpPr>
          <p:nvPr/>
        </p:nvGrpSpPr>
        <p:grpSpPr bwMode="auto">
          <a:xfrm>
            <a:off x="5081588" y="1609726"/>
            <a:ext cx="4062412" cy="2106613"/>
            <a:chOff x="476" y="2557"/>
            <a:chExt cx="2559" cy="1327"/>
          </a:xfrm>
        </p:grpSpPr>
        <p:sp>
          <p:nvSpPr>
            <p:cNvPr id="119822" name="Oval 21"/>
            <p:cNvSpPr>
              <a:spLocks noChangeArrowheads="1"/>
            </p:cNvSpPr>
            <p:nvPr/>
          </p:nvSpPr>
          <p:spPr bwMode="auto">
            <a:xfrm>
              <a:off x="476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zh-CN" sz="2000" b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119823" name="Line 22"/>
            <p:cNvSpPr>
              <a:spLocks noChangeShapeType="1"/>
            </p:cNvSpPr>
            <p:nvPr/>
          </p:nvSpPr>
          <p:spPr bwMode="auto">
            <a:xfrm flipH="1">
              <a:off x="657" y="2840"/>
              <a:ext cx="0" cy="10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9824" name="Line 23"/>
            <p:cNvSpPr>
              <a:spLocks noChangeShapeType="1"/>
            </p:cNvSpPr>
            <p:nvPr/>
          </p:nvSpPr>
          <p:spPr bwMode="auto">
            <a:xfrm>
              <a:off x="657" y="2840"/>
              <a:ext cx="108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9825" name="Line 24"/>
            <p:cNvSpPr>
              <a:spLocks noChangeShapeType="1"/>
            </p:cNvSpPr>
            <p:nvPr/>
          </p:nvSpPr>
          <p:spPr bwMode="auto">
            <a:xfrm>
              <a:off x="2154" y="2840"/>
              <a:ext cx="36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9826" name="Line 25"/>
            <p:cNvSpPr>
              <a:spLocks noChangeShapeType="1"/>
            </p:cNvSpPr>
            <p:nvPr/>
          </p:nvSpPr>
          <p:spPr bwMode="auto">
            <a:xfrm flipH="1">
              <a:off x="2517" y="2840"/>
              <a:ext cx="7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9827" name="Line 26"/>
            <p:cNvSpPr>
              <a:spLocks noChangeShapeType="1"/>
            </p:cNvSpPr>
            <p:nvPr/>
          </p:nvSpPr>
          <p:spPr bwMode="auto">
            <a:xfrm>
              <a:off x="657" y="3884"/>
              <a:ext cx="186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9828" name="Rectangle 27"/>
            <p:cNvSpPr>
              <a:spLocks noChangeArrowheads="1"/>
            </p:cNvSpPr>
            <p:nvPr/>
          </p:nvSpPr>
          <p:spPr bwMode="auto">
            <a:xfrm>
              <a:off x="1244" y="2886"/>
              <a:ext cx="19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9829" name="Rectangle 28"/>
            <p:cNvSpPr>
              <a:spLocks noChangeArrowheads="1"/>
            </p:cNvSpPr>
            <p:nvPr/>
          </p:nvSpPr>
          <p:spPr bwMode="auto">
            <a:xfrm>
              <a:off x="1882" y="2840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L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9830" name="Rectangle 29"/>
            <p:cNvSpPr>
              <a:spLocks noChangeArrowheads="1"/>
            </p:cNvSpPr>
            <p:nvPr/>
          </p:nvSpPr>
          <p:spPr bwMode="auto">
            <a:xfrm>
              <a:off x="2200" y="3203"/>
              <a:ext cx="10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9831" name="Rectangle 30"/>
            <p:cNvSpPr>
              <a:spLocks noChangeArrowheads="1"/>
            </p:cNvSpPr>
            <p:nvPr/>
          </p:nvSpPr>
          <p:spPr bwMode="auto">
            <a:xfrm>
              <a:off x="2562" y="2931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+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9832" name="Rectangle 31"/>
            <p:cNvSpPr>
              <a:spLocks noChangeArrowheads="1"/>
            </p:cNvSpPr>
            <p:nvPr/>
          </p:nvSpPr>
          <p:spPr bwMode="auto">
            <a:xfrm>
              <a:off x="2562" y="3475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  <a:endParaRPr kumimoji="1" lang="en-US" altLang="zh-CN" sz="2000" b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9833" name="Rectangle 32"/>
            <p:cNvSpPr>
              <a:spLocks noChangeArrowheads="1"/>
            </p:cNvSpPr>
            <p:nvPr/>
          </p:nvSpPr>
          <p:spPr bwMode="auto">
            <a:xfrm>
              <a:off x="790" y="2965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+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9834" name="Rectangle 33"/>
            <p:cNvSpPr>
              <a:spLocks noChangeArrowheads="1"/>
            </p:cNvSpPr>
            <p:nvPr/>
          </p:nvSpPr>
          <p:spPr bwMode="auto">
            <a:xfrm>
              <a:off x="800" y="3521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0" dirty="0">
                  <a:solidFill>
                    <a:schemeClr val="tx1"/>
                  </a:solidFill>
                  <a:latin typeface="宋体" charset="-122"/>
                  <a:ea typeface="宋体" charset="-122"/>
                </a:rPr>
                <a:t>-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9835" name="Text Box 34"/>
            <p:cNvSpPr txBox="1">
              <a:spLocks noChangeArrowheads="1"/>
            </p:cNvSpPr>
            <p:nvPr/>
          </p:nvSpPr>
          <p:spPr bwMode="auto">
            <a:xfrm>
              <a:off x="2608" y="3158"/>
              <a:ext cx="4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v</a:t>
              </a:r>
              <a:r>
                <a:rPr lang="en-US" altLang="zh-CN" sz="2000" b="0" baseline="-2500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119836" name="Text Box 35"/>
            <p:cNvSpPr txBox="1">
              <a:spLocks noChangeArrowheads="1"/>
            </p:cNvSpPr>
            <p:nvPr/>
          </p:nvSpPr>
          <p:spPr bwMode="auto">
            <a:xfrm>
              <a:off x="829" y="2557"/>
              <a:ext cx="4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b="0" i="1" dirty="0" err="1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  <a:r>
                <a:rPr lang="en-US" altLang="zh-CN" sz="2000" b="0" i="1" baseline="-25000" dirty="0" err="1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</a:rPr>
                <a:t>R</a:t>
              </a:r>
              <a:endParaRPr lang="en-US" altLang="zh-CN" sz="2000" b="0" i="1" dirty="0">
                <a:solidFill>
                  <a:schemeClr val="tx1"/>
                </a:solidFill>
                <a:ea typeface="仿宋_GB2312" pitchFamily="49" charset="-122"/>
              </a:endParaRPr>
            </a:p>
          </p:txBody>
        </p:sp>
        <p:sp>
          <p:nvSpPr>
            <p:cNvPr id="119837" name="Text Box 36"/>
            <p:cNvSpPr txBox="1">
              <a:spLocks noChangeArrowheads="1"/>
            </p:cNvSpPr>
            <p:nvPr/>
          </p:nvSpPr>
          <p:spPr bwMode="auto">
            <a:xfrm>
              <a:off x="839" y="3158"/>
              <a:ext cx="49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  <a:sym typeface="Symbol" pitchFamily="18" charset="2"/>
                </a:rPr>
                <a:t></a:t>
              </a:r>
              <a:r>
                <a:rPr lang="en-US" altLang="zh-CN" sz="2000" b="0">
                  <a:solidFill>
                    <a:schemeClr val="tx1"/>
                  </a:solidFill>
                  <a:latin typeface="Times New Roman" pitchFamily="18" charset="0"/>
                  <a:ea typeface="仿宋_GB2312" pitchFamily="49" charset="-122"/>
                  <a:sym typeface="Symbol" pitchFamily="18" charset="2"/>
                </a:rPr>
                <a:t> (t)</a:t>
              </a:r>
            </a:p>
          </p:txBody>
        </p:sp>
        <p:sp>
          <p:nvSpPr>
            <p:cNvPr id="119838" name="Rectangle 37"/>
            <p:cNvSpPr>
              <a:spLocks noChangeArrowheads="1"/>
            </p:cNvSpPr>
            <p:nvPr/>
          </p:nvSpPr>
          <p:spPr bwMode="auto">
            <a:xfrm>
              <a:off x="1156" y="277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19839" name="Group 38"/>
            <p:cNvGrpSpPr>
              <a:grpSpLocks/>
            </p:cNvGrpSpPr>
            <p:nvPr/>
          </p:nvGrpSpPr>
          <p:grpSpPr bwMode="auto">
            <a:xfrm rot="-5400000">
              <a:off x="1905" y="2591"/>
              <a:ext cx="90" cy="408"/>
              <a:chOff x="2744" y="2931"/>
              <a:chExt cx="57" cy="283"/>
            </a:xfrm>
          </p:grpSpPr>
          <p:sp>
            <p:nvSpPr>
              <p:cNvPr id="119845" name="Arc 39"/>
              <p:cNvSpPr>
                <a:spLocks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46" name="Arc 40"/>
              <p:cNvSpPr>
                <a:spLocks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47" name="Arc 41"/>
              <p:cNvSpPr>
                <a:spLocks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>
                  <a:gd name="T0" fmla="*/ 3 w 22723"/>
                  <a:gd name="T1" fmla="*/ 0 h 43200"/>
                  <a:gd name="T2" fmla="*/ 0 w 22723"/>
                  <a:gd name="T3" fmla="*/ 91 h 43200"/>
                  <a:gd name="T4" fmla="*/ 3 w 22723"/>
                  <a:gd name="T5" fmla="*/ 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9840" name="Group 42"/>
            <p:cNvGrpSpPr>
              <a:grpSpLocks/>
            </p:cNvGrpSpPr>
            <p:nvPr/>
          </p:nvGrpSpPr>
          <p:grpSpPr bwMode="auto">
            <a:xfrm>
              <a:off x="2381" y="3249"/>
              <a:ext cx="240" cy="90"/>
              <a:chOff x="4604" y="2478"/>
              <a:chExt cx="240" cy="90"/>
            </a:xfrm>
          </p:grpSpPr>
          <p:sp>
            <p:nvSpPr>
              <p:cNvPr id="119843" name="Line 43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44" name="Line 44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841" name="Line 45"/>
            <p:cNvSpPr>
              <a:spLocks noChangeShapeType="1"/>
            </p:cNvSpPr>
            <p:nvPr/>
          </p:nvSpPr>
          <p:spPr bwMode="auto">
            <a:xfrm flipH="1">
              <a:off x="2517" y="3339"/>
              <a:ext cx="0" cy="54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19842" name="Line 46"/>
            <p:cNvSpPr>
              <a:spLocks noChangeShapeType="1"/>
            </p:cNvSpPr>
            <p:nvPr/>
          </p:nvSpPr>
          <p:spPr bwMode="auto">
            <a:xfrm>
              <a:off x="839" y="2886"/>
              <a:ext cx="272" cy="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263215" name="Rectangle 47"/>
          <p:cNvSpPr>
            <a:spLocks noChangeArrowheads="1"/>
          </p:cNvSpPr>
          <p:nvPr/>
        </p:nvSpPr>
        <p:spPr bwMode="auto">
          <a:xfrm>
            <a:off x="1115616" y="1156682"/>
            <a:ext cx="81724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求单位冲激电压激励下的</a:t>
            </a:r>
            <a:r>
              <a:rPr lang="en-US" altLang="zh-CN" sz="20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RLC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cs typeface="Times New Roman" pitchFamily="18" charset="0"/>
              </a:rPr>
              <a:t>电路的零状态响应。</a:t>
            </a:r>
          </a:p>
        </p:txBody>
      </p:sp>
      <p:sp>
        <p:nvSpPr>
          <p:cNvPr id="263216" name="Text Box 48"/>
          <p:cNvSpPr txBox="1">
            <a:spLocks noChangeArrowheads="1"/>
          </p:cNvSpPr>
          <p:nvPr/>
        </p:nvSpPr>
        <p:spPr bwMode="auto">
          <a:xfrm>
            <a:off x="395288" y="1700213"/>
            <a:ext cx="647700" cy="40011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宋体" charset="-122"/>
              </a:rPr>
              <a:t>解</a:t>
            </a:r>
          </a:p>
        </p:txBody>
      </p:sp>
      <p:sp>
        <p:nvSpPr>
          <p:cNvPr id="263217" name="Rectangle 49"/>
          <p:cNvSpPr>
            <a:spLocks noChangeArrowheads="1"/>
          </p:cNvSpPr>
          <p:nvPr/>
        </p:nvSpPr>
        <p:spPr bwMode="auto">
          <a:xfrm>
            <a:off x="1547986" y="5934105"/>
            <a:ext cx="1727547" cy="40011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</a:t>
            </a:r>
            <a:r>
              <a:rPr kumimoji="1" lang="en-US" altLang="zh-CN" sz="2000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在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zh-CN" altLang="en-US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－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至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zh-CN" altLang="en-US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＋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</a:rPr>
              <a:t>间</a:t>
            </a:r>
          </a:p>
        </p:txBody>
      </p:sp>
      <p:graphicFrame>
        <p:nvGraphicFramePr>
          <p:cNvPr id="263218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478118"/>
              </p:ext>
            </p:extLst>
          </p:nvPr>
        </p:nvGraphicFramePr>
        <p:xfrm>
          <a:off x="3588544" y="5685691"/>
          <a:ext cx="2373312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53" name="Equation" r:id="rId8" imgW="977760" imgH="380880" progId="Equation.DSMT4">
                  <p:embed/>
                </p:oleObj>
              </mc:Choice>
              <mc:Fallback>
                <p:oleObj name="Equation" r:id="rId8" imgW="977760" imgH="38088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8544" y="5685691"/>
                        <a:ext cx="2373312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6048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4.4.2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 二阶</a:t>
            </a:r>
            <a:r>
              <a:rPr kumimoji="1" lang="zh-CN" altLang="en-US" sz="2400" dirty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电路的</a:t>
            </a:r>
            <a:r>
              <a:rPr kumimoji="1" lang="zh-CN" altLang="en-US" sz="2400" dirty="0" smtClean="0">
                <a:solidFill>
                  <a:srgbClr val="990033"/>
                </a:solidFill>
                <a:latin typeface="Times New Roman" pitchFamily="18" charset="0"/>
                <a:ea typeface="宋体" charset="-122"/>
              </a:rPr>
              <a:t>冲激响应</a:t>
            </a:r>
            <a:endParaRPr kumimoji="1" lang="zh-CN" altLang="en-US" sz="2400" dirty="0">
              <a:solidFill>
                <a:srgbClr val="990033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6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63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6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3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3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6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2" grpId="0" animBg="1" autoUpdateAnimBg="0"/>
      <p:bldP spid="263173" grpId="0" animBg="1" autoUpdateAnimBg="0"/>
      <p:bldP spid="263174" grpId="0" build="p" autoUpdateAnimBg="0"/>
      <p:bldP spid="263186" grpId="0"/>
      <p:bldP spid="263215" grpId="0"/>
      <p:bldP spid="263216" grpId="0" animBg="1"/>
      <p:bldP spid="2632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8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402180"/>
              </p:ext>
            </p:extLst>
          </p:nvPr>
        </p:nvGraphicFramePr>
        <p:xfrm>
          <a:off x="4845050" y="714375"/>
          <a:ext cx="3468688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93" name="Equation" r:id="rId3" imgW="1638000" imgH="355320" progId="Equation.DSMT4">
                  <p:embed/>
                </p:oleObj>
              </mc:Choice>
              <mc:Fallback>
                <p:oleObj name="Equation" r:id="rId3" imgW="1638000" imgH="35532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714375"/>
                        <a:ext cx="3468688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51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802495"/>
              </p:ext>
            </p:extLst>
          </p:nvPr>
        </p:nvGraphicFramePr>
        <p:xfrm>
          <a:off x="936625" y="639763"/>
          <a:ext cx="23749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94" name="Equation" r:id="rId5" imgW="977760" imgH="380880" progId="Equation.DSMT4">
                  <p:embed/>
                </p:oleObj>
              </mc:Choice>
              <mc:Fallback>
                <p:oleObj name="Equation" r:id="rId5" imgW="977760" imgH="380880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639763"/>
                        <a:ext cx="23749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52" name="Line 80"/>
          <p:cNvSpPr>
            <a:spLocks noChangeShapeType="1"/>
          </p:cNvSpPr>
          <p:nvPr/>
        </p:nvSpPr>
        <p:spPr bwMode="auto">
          <a:xfrm>
            <a:off x="3708400" y="1052513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207953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78630"/>
              </p:ext>
            </p:extLst>
          </p:nvPr>
        </p:nvGraphicFramePr>
        <p:xfrm>
          <a:off x="1701842" y="1696243"/>
          <a:ext cx="24177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95" name="Equation" r:id="rId7" imgW="1066680" imgH="355320" progId="Equation.DSMT4">
                  <p:embed/>
                </p:oleObj>
              </mc:Choice>
              <mc:Fallback>
                <p:oleObj name="Equation" r:id="rId7" imgW="1066680" imgH="355320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42" y="1696243"/>
                        <a:ext cx="24177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54" name="Line 82"/>
          <p:cNvSpPr>
            <a:spLocks noChangeShapeType="1"/>
          </p:cNvSpPr>
          <p:nvPr/>
        </p:nvSpPr>
        <p:spPr bwMode="auto">
          <a:xfrm>
            <a:off x="971550" y="2133600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07955" name="Text Box 83"/>
          <p:cNvSpPr txBox="1">
            <a:spLocks noChangeArrowheads="1"/>
          </p:cNvSpPr>
          <p:nvPr/>
        </p:nvSpPr>
        <p:spPr bwMode="auto">
          <a:xfrm>
            <a:off x="755650" y="3365946"/>
            <a:ext cx="2300630" cy="400110"/>
          </a:xfrm>
          <a:prstGeom prst="rect">
            <a:avLst/>
          </a:prstGeom>
          <a:solidFill>
            <a:srgbClr val="CCEC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0" i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t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&gt; 0</a:t>
            </a:r>
            <a:r>
              <a:rPr kumimoji="1" lang="en-US" altLang="zh-CN" sz="2000" b="0" baseline="-25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</a:t>
            </a:r>
            <a:r>
              <a:rPr kumimoji="1" lang="zh-CN" altLang="en-US" sz="2000" dirty="0">
                <a:solidFill>
                  <a:schemeClr val="tx1"/>
                </a:solidFill>
              </a:rPr>
              <a:t>为零输入响应</a:t>
            </a:r>
          </a:p>
        </p:txBody>
      </p:sp>
      <p:graphicFrame>
        <p:nvGraphicFramePr>
          <p:cNvPr id="207956" name="Object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283508"/>
              </p:ext>
            </p:extLst>
          </p:nvPr>
        </p:nvGraphicFramePr>
        <p:xfrm>
          <a:off x="4418013" y="3284984"/>
          <a:ext cx="307657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96" name="Equation" r:id="rId9" imgW="1498320" imgH="380880" progId="Equation.DSMT4">
                  <p:embed/>
                </p:oleObj>
              </mc:Choice>
              <mc:Fallback>
                <p:oleObj name="Equation" r:id="rId9" imgW="1498320" imgH="380880" progId="Equation.DSMT4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3284984"/>
                        <a:ext cx="307657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57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001664"/>
              </p:ext>
            </p:extLst>
          </p:nvPr>
        </p:nvGraphicFramePr>
        <p:xfrm>
          <a:off x="917575" y="4200971"/>
          <a:ext cx="16240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97" name="Equation" r:id="rId11" imgW="787320" imgH="444240" progId="Equation.DSMT4">
                  <p:embed/>
                </p:oleObj>
              </mc:Choice>
              <mc:Fallback>
                <p:oleObj name="Equation" r:id="rId11" imgW="787320" imgH="44424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4200971"/>
                        <a:ext cx="162401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chemeClr val="accent1"/>
                                </a:gs>
                                <a:gs pos="100000">
                                  <a:schemeClr val="bg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59" name="Line 87"/>
          <p:cNvSpPr>
            <a:spLocks noChangeShapeType="1"/>
          </p:cNvSpPr>
          <p:nvPr/>
        </p:nvSpPr>
        <p:spPr bwMode="auto">
          <a:xfrm>
            <a:off x="2916238" y="4662934"/>
            <a:ext cx="576262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207960" name="Object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403600"/>
              </p:ext>
            </p:extLst>
          </p:nvPr>
        </p:nvGraphicFramePr>
        <p:xfrm>
          <a:off x="4024709" y="4375781"/>
          <a:ext cx="2225079" cy="574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98" name="Equation" r:id="rId13" imgW="1054080" imgH="241200" progId="Equation.DSMT4">
                  <p:embed/>
                </p:oleObj>
              </mc:Choice>
              <mc:Fallback>
                <p:oleObj name="Equation" r:id="rId13" imgW="1054080" imgH="241200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709" y="4375781"/>
                        <a:ext cx="2225079" cy="574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61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670876"/>
              </p:ext>
            </p:extLst>
          </p:nvPr>
        </p:nvGraphicFramePr>
        <p:xfrm>
          <a:off x="1185863" y="5272360"/>
          <a:ext cx="23114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99" name="Equation" r:id="rId15" imgW="1104840" imgH="660240" progId="Equation.DSMT4">
                  <p:embed/>
                </p:oleObj>
              </mc:Choice>
              <mc:Fallback>
                <p:oleObj name="Equation" r:id="rId15" imgW="1104840" imgH="660240" progId="Equation.DSMT4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5272360"/>
                        <a:ext cx="23114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62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18122"/>
              </p:ext>
            </p:extLst>
          </p:nvPr>
        </p:nvGraphicFramePr>
        <p:xfrm>
          <a:off x="4721225" y="5061222"/>
          <a:ext cx="2366963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00" name="Equation" r:id="rId17" imgW="1079280" imgH="609480" progId="Equation.DSMT4">
                  <p:embed/>
                </p:oleObj>
              </mc:Choice>
              <mc:Fallback>
                <p:oleObj name="Equation" r:id="rId17" imgW="1079280" imgH="609480" progId="Equation.DSMT4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225" y="5061222"/>
                        <a:ext cx="2366963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63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345621"/>
              </p:ext>
            </p:extLst>
          </p:nvPr>
        </p:nvGraphicFramePr>
        <p:xfrm>
          <a:off x="4845050" y="1617053"/>
          <a:ext cx="229711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01" name="Equation" r:id="rId19" imgW="1079280" imgH="203040" progId="Equation.DSMT4">
                  <p:embed/>
                </p:oleObj>
              </mc:Choice>
              <mc:Fallback>
                <p:oleObj name="Equation" r:id="rId19" imgW="1079280" imgH="203040" progId="Equation.DSMT4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1617053"/>
                        <a:ext cx="229711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51"/>
          <p:cNvSpPr>
            <a:spLocks noChangeShapeType="1"/>
          </p:cNvSpPr>
          <p:nvPr/>
        </p:nvSpPr>
        <p:spPr bwMode="auto">
          <a:xfrm>
            <a:off x="6577806" y="621608"/>
            <a:ext cx="1020763" cy="92938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6" name="Text Box 52"/>
          <p:cNvSpPr txBox="1">
            <a:spLocks noChangeArrowheads="1"/>
          </p:cNvSpPr>
          <p:nvPr/>
        </p:nvSpPr>
        <p:spPr bwMode="auto">
          <a:xfrm>
            <a:off x="6290468" y="334541"/>
            <a:ext cx="360363" cy="4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0" dirty="0">
                <a:solidFill>
                  <a:srgbClr val="FF0000"/>
                </a:solidFill>
                <a:latin typeface="Times New Roman" pitchFamily="18" charset="0"/>
                <a:ea typeface="仿宋_GB2312" pitchFamily="49" charset="-122"/>
              </a:rPr>
              <a:t>0</a:t>
            </a:r>
          </a:p>
        </p:txBody>
      </p:sp>
      <p:graphicFrame>
        <p:nvGraphicFramePr>
          <p:cNvPr id="1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029214"/>
              </p:ext>
            </p:extLst>
          </p:nvPr>
        </p:nvGraphicFramePr>
        <p:xfrm>
          <a:off x="4745038" y="2222120"/>
          <a:ext cx="2749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02" name="Equation" r:id="rId21" imgW="1333440" imgH="380880" progId="Equation.DSMT4">
                  <p:embed/>
                </p:oleObj>
              </mc:Choice>
              <mc:Fallback>
                <p:oleObj name="Equation" r:id="rId21" imgW="1333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8" y="2222120"/>
                        <a:ext cx="27495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0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0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20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0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0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0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0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20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20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7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7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2000"/>
                                        <p:tgtEl>
                                          <p:spTgt spid="207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20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52" grpId="0" animBg="1"/>
      <p:bldP spid="207954" grpId="0" animBg="1"/>
      <p:bldP spid="207955" grpId="0" animBg="1" autoUpdateAnimBg="0"/>
      <p:bldP spid="207959" grpId="0" animBg="1"/>
      <p:bldP spid="15" grpId="0" animBg="1"/>
      <p:bldP spid="1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9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116427"/>
              </p:ext>
            </p:extLst>
          </p:nvPr>
        </p:nvGraphicFramePr>
        <p:xfrm>
          <a:off x="1026442" y="2394942"/>
          <a:ext cx="1508471" cy="818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79" name="Equation" r:id="rId3" imgW="825480" imgH="444240" progId="Equation.DSMT4">
                  <p:embed/>
                </p:oleObj>
              </mc:Choice>
              <mc:Fallback>
                <p:oleObj name="Equation" r:id="rId3" imgW="82548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442" y="2394942"/>
                        <a:ext cx="1508471" cy="818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880892"/>
              </p:ext>
            </p:extLst>
          </p:nvPr>
        </p:nvGraphicFramePr>
        <p:xfrm>
          <a:off x="3275856" y="5291162"/>
          <a:ext cx="3216611" cy="802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36" name="Equation" r:id="rId5" imgW="1612800" imgH="393480" progId="Equation.DSMT4">
                  <p:embed/>
                </p:oleObj>
              </mc:Choice>
              <mc:Fallback>
                <p:oleObj name="Equation" r:id="rId5" imgW="16128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5291162"/>
                        <a:ext cx="3216611" cy="802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746648"/>
              </p:ext>
            </p:extLst>
          </p:nvPr>
        </p:nvGraphicFramePr>
        <p:xfrm>
          <a:off x="1780677" y="4064552"/>
          <a:ext cx="2917899" cy="517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37" name="Equation" r:id="rId7" imgW="1422360" imgH="241200" progId="Equation.DSMT4">
                  <p:embed/>
                </p:oleObj>
              </mc:Choice>
              <mc:Fallback>
                <p:oleObj name="Equation" r:id="rId7" imgW="14223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677" y="4064552"/>
                        <a:ext cx="2917899" cy="517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243912"/>
              </p:ext>
            </p:extLst>
          </p:nvPr>
        </p:nvGraphicFramePr>
        <p:xfrm>
          <a:off x="3099717" y="3146663"/>
          <a:ext cx="2264371" cy="504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38" name="Equation" r:id="rId9" imgW="1041120" imgH="228600" progId="Equation.DSMT4">
                  <p:embed/>
                </p:oleObj>
              </mc:Choice>
              <mc:Fallback>
                <p:oleObj name="Equation" r:id="rId9" imgW="104112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9717" y="3146663"/>
                        <a:ext cx="2264371" cy="504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783311"/>
              </p:ext>
            </p:extLst>
          </p:nvPr>
        </p:nvGraphicFramePr>
        <p:xfrm>
          <a:off x="2442057" y="836712"/>
          <a:ext cx="4002151" cy="937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39" name="Equation" r:id="rId11" imgW="1892160" imgH="431640" progId="Equation.DSMT4">
                  <p:embed/>
                </p:oleObj>
              </mc:Choice>
              <mc:Fallback>
                <p:oleObj name="Equation" r:id="rId11" imgW="189216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057" y="836712"/>
                        <a:ext cx="4002151" cy="937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33" name="Line 13"/>
          <p:cNvSpPr>
            <a:spLocks noChangeShapeType="1"/>
          </p:cNvSpPr>
          <p:nvPr/>
        </p:nvSpPr>
        <p:spPr bwMode="auto">
          <a:xfrm>
            <a:off x="2015455" y="5692229"/>
            <a:ext cx="8636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579580"/>
              </p:ext>
            </p:extLst>
          </p:nvPr>
        </p:nvGraphicFramePr>
        <p:xfrm>
          <a:off x="5931521" y="3625005"/>
          <a:ext cx="14351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40" name="Equation" r:id="rId13" imgW="685800" imgH="660240" progId="Equation.DSMT4">
                  <p:embed/>
                </p:oleObj>
              </mc:Choice>
              <mc:Fallback>
                <p:oleObj name="Equation" r:id="rId13" imgW="68580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1521" y="3625005"/>
                        <a:ext cx="14351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9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09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0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957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64460"/>
              </p:ext>
            </p:extLst>
          </p:nvPr>
        </p:nvGraphicFramePr>
        <p:xfrm>
          <a:off x="1248842" y="894421"/>
          <a:ext cx="16240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94" name="Equation" r:id="rId3" imgW="787320" imgH="444240" progId="Equation.DSMT4">
                  <p:embed/>
                </p:oleObj>
              </mc:Choice>
              <mc:Fallback>
                <p:oleObj name="Equation" r:id="rId3" imgW="787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8842" y="894421"/>
                        <a:ext cx="162401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chemeClr val="accent1"/>
                                </a:gs>
                                <a:gs pos="100000">
                                  <a:schemeClr val="bg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59" name="Line 87"/>
          <p:cNvSpPr>
            <a:spLocks noChangeShapeType="1"/>
          </p:cNvSpPr>
          <p:nvPr/>
        </p:nvSpPr>
        <p:spPr bwMode="auto">
          <a:xfrm>
            <a:off x="3247505" y="1356384"/>
            <a:ext cx="576262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207960" name="Object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416728"/>
              </p:ext>
            </p:extLst>
          </p:nvPr>
        </p:nvGraphicFramePr>
        <p:xfrm>
          <a:off x="4210050" y="1068685"/>
          <a:ext cx="25209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95" name="Equation" r:id="rId5" imgW="1193760" imgH="241200" progId="Equation.DSMT4">
                  <p:embed/>
                </p:oleObj>
              </mc:Choice>
              <mc:Fallback>
                <p:oleObj name="Equation" r:id="rId5" imgW="1193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1068685"/>
                        <a:ext cx="25209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61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095148"/>
              </p:ext>
            </p:extLst>
          </p:nvPr>
        </p:nvGraphicFramePr>
        <p:xfrm>
          <a:off x="1543050" y="2362356"/>
          <a:ext cx="2259013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96" name="Equation" r:id="rId7" imgW="1079280" imgH="660240" progId="Equation.DSMT4">
                  <p:embed/>
                </p:oleObj>
              </mc:Choice>
              <mc:Fallback>
                <p:oleObj name="Equation" r:id="rId7" imgW="107928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2362356"/>
                        <a:ext cx="2259013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62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510492"/>
              </p:ext>
            </p:extLst>
          </p:nvPr>
        </p:nvGraphicFramePr>
        <p:xfrm>
          <a:off x="5470525" y="2332988"/>
          <a:ext cx="1392238" cy="14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97" name="Equation" r:id="rId9" imgW="634680" imgH="660240" progId="Equation.DSMT4">
                  <p:embed/>
                </p:oleObj>
              </mc:Choice>
              <mc:Fallback>
                <p:oleObj name="Equation" r:id="rId9" imgW="63468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0525" y="2332988"/>
                        <a:ext cx="1392238" cy="145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023332"/>
              </p:ext>
            </p:extLst>
          </p:nvPr>
        </p:nvGraphicFramePr>
        <p:xfrm>
          <a:off x="3233416" y="4765327"/>
          <a:ext cx="22828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98" name="Equation" r:id="rId11" imgW="1079280" imgH="393480" progId="Equation.DSMT4">
                  <p:embed/>
                </p:oleObj>
              </mc:Choice>
              <mc:Fallback>
                <p:oleObj name="Equation" r:id="rId11" imgW="1079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416" y="4765327"/>
                        <a:ext cx="2282825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917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7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7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59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10813</TotalTime>
  <Words>3040</Words>
  <Application>Microsoft Office PowerPoint</Application>
  <PresentationFormat>全屏显示(4:3)</PresentationFormat>
  <Paragraphs>1022</Paragraphs>
  <Slides>87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87</vt:i4>
      </vt:variant>
    </vt:vector>
  </HeadingPairs>
  <TitlesOfParts>
    <vt:vector size="100" baseType="lpstr">
      <vt:lpstr>仿宋_GB2312</vt:lpstr>
      <vt:lpstr>华文行楷</vt:lpstr>
      <vt:lpstr>楷体_GB2312</vt:lpstr>
      <vt:lpstr>隶书</vt:lpstr>
      <vt:lpstr>宋体</vt:lpstr>
      <vt:lpstr>Arial</vt:lpstr>
      <vt:lpstr>Symbol</vt:lpstr>
      <vt:lpstr>Times New Roman</vt:lpstr>
      <vt:lpstr>Wingdings</vt:lpstr>
      <vt:lpstr>默认设计模板</vt:lpstr>
      <vt:lpstr>1_默认设计模板</vt:lpstr>
      <vt:lpstr>Equation</vt:lpstr>
      <vt:lpstr>公式</vt:lpstr>
      <vt:lpstr>第4章 动态电路的时域分析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JT</cp:lastModifiedBy>
  <cp:revision>838</cp:revision>
  <dcterms:created xsi:type="dcterms:W3CDTF">2002-08-11T02:46:23Z</dcterms:created>
  <dcterms:modified xsi:type="dcterms:W3CDTF">2024-06-25T14:04:22Z</dcterms:modified>
</cp:coreProperties>
</file>
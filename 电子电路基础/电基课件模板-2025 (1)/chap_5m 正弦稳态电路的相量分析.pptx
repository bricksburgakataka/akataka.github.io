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vsd" ContentType="application/vnd.visio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88" r:id="rId2"/>
    <p:sldId id="289" r:id="rId3"/>
    <p:sldId id="290" r:id="rId4"/>
    <p:sldId id="291" r:id="rId5"/>
    <p:sldId id="295" r:id="rId6"/>
    <p:sldId id="296" r:id="rId7"/>
    <p:sldId id="298" r:id="rId8"/>
    <p:sldId id="299" r:id="rId9"/>
    <p:sldId id="438" r:id="rId10"/>
    <p:sldId id="304" r:id="rId11"/>
    <p:sldId id="305" r:id="rId12"/>
    <p:sldId id="306" r:id="rId13"/>
    <p:sldId id="308" r:id="rId14"/>
    <p:sldId id="309" r:id="rId15"/>
    <p:sldId id="310" r:id="rId16"/>
    <p:sldId id="311" r:id="rId17"/>
    <p:sldId id="313" r:id="rId18"/>
    <p:sldId id="323" r:id="rId19"/>
    <p:sldId id="324" r:id="rId20"/>
    <p:sldId id="325" r:id="rId21"/>
    <p:sldId id="327" r:id="rId22"/>
    <p:sldId id="328" r:id="rId23"/>
    <p:sldId id="331" r:id="rId24"/>
    <p:sldId id="322" r:id="rId25"/>
    <p:sldId id="440" r:id="rId26"/>
    <p:sldId id="441" r:id="rId27"/>
    <p:sldId id="442" r:id="rId28"/>
    <p:sldId id="444" r:id="rId29"/>
    <p:sldId id="446" r:id="rId30"/>
    <p:sldId id="447" r:id="rId31"/>
    <p:sldId id="334" r:id="rId32"/>
    <p:sldId id="445" r:id="rId33"/>
    <p:sldId id="338" r:id="rId34"/>
    <p:sldId id="339" r:id="rId35"/>
    <p:sldId id="347" r:id="rId36"/>
    <p:sldId id="349" r:id="rId37"/>
    <p:sldId id="350" r:id="rId38"/>
    <p:sldId id="352" r:id="rId39"/>
    <p:sldId id="413" r:id="rId40"/>
    <p:sldId id="414" r:id="rId41"/>
    <p:sldId id="355" r:id="rId42"/>
    <p:sldId id="356" r:id="rId43"/>
    <p:sldId id="358" r:id="rId44"/>
    <p:sldId id="359" r:id="rId45"/>
    <p:sldId id="364" r:id="rId4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66CCFF"/>
    <a:srgbClr val="FF0066"/>
    <a:srgbClr val="FF9900"/>
    <a:srgbClr val="00FFFF"/>
    <a:srgbClr val="FF00FF"/>
    <a:srgbClr val="FFCCFF"/>
    <a:srgbClr val="FFCC99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9662" autoAdjust="0"/>
  </p:normalViewPr>
  <p:slideViewPr>
    <p:cSldViewPr snapToGrid="0">
      <p:cViewPr>
        <p:scale>
          <a:sx n="100" d="100"/>
          <a:sy n="100" d="100"/>
        </p:scale>
        <p:origin x="1914" y="5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e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e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53.e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png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4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4" Type="http://schemas.openxmlformats.org/officeDocument/2006/relationships/image" Target="../media/image7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12" Type="http://schemas.openxmlformats.org/officeDocument/2006/relationships/image" Target="../media/image92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11" Type="http://schemas.openxmlformats.org/officeDocument/2006/relationships/image" Target="../media/image91.wmf"/><Relationship Id="rId5" Type="http://schemas.openxmlformats.org/officeDocument/2006/relationships/image" Target="../media/image85.wmf"/><Relationship Id="rId10" Type="http://schemas.openxmlformats.org/officeDocument/2006/relationships/image" Target="../media/image90.wmf"/><Relationship Id="rId4" Type="http://schemas.openxmlformats.org/officeDocument/2006/relationships/image" Target="../media/image84.wmf"/><Relationship Id="rId9" Type="http://schemas.openxmlformats.org/officeDocument/2006/relationships/image" Target="../media/image89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4" Type="http://schemas.openxmlformats.org/officeDocument/2006/relationships/image" Target="../media/image104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39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image" Target="../media/image115.wmf"/><Relationship Id="rId7" Type="http://schemas.openxmlformats.org/officeDocument/2006/relationships/image" Target="../media/image118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39.wmf"/><Relationship Id="rId9" Type="http://schemas.openxmlformats.org/officeDocument/2006/relationships/image" Target="../media/image120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wmf"/><Relationship Id="rId1" Type="http://schemas.openxmlformats.org/officeDocument/2006/relationships/image" Target="../media/image121.jpeg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10" Type="http://schemas.openxmlformats.org/officeDocument/2006/relationships/image" Target="../media/image132.wmf"/><Relationship Id="rId4" Type="http://schemas.openxmlformats.org/officeDocument/2006/relationships/image" Target="../media/image126.wmf"/><Relationship Id="rId9" Type="http://schemas.openxmlformats.org/officeDocument/2006/relationships/image" Target="../media/image13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image" Target="../media/image135.wmf"/><Relationship Id="rId7" Type="http://schemas.openxmlformats.org/officeDocument/2006/relationships/image" Target="../media/image139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38.wmf"/><Relationship Id="rId11" Type="http://schemas.openxmlformats.org/officeDocument/2006/relationships/image" Target="../media/image141.wmf"/><Relationship Id="rId5" Type="http://schemas.openxmlformats.org/officeDocument/2006/relationships/image" Target="../media/image137.wmf"/><Relationship Id="rId10" Type="http://schemas.openxmlformats.org/officeDocument/2006/relationships/image" Target="../media/image131.wmf"/><Relationship Id="rId4" Type="http://schemas.openxmlformats.org/officeDocument/2006/relationships/image" Target="../media/image136.wmf"/><Relationship Id="rId9" Type="http://schemas.openxmlformats.org/officeDocument/2006/relationships/image" Target="../media/image140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wmf"/><Relationship Id="rId1" Type="http://schemas.openxmlformats.org/officeDocument/2006/relationships/image" Target="../media/image144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image" Target="../media/image157.wmf"/><Relationship Id="rId7" Type="http://schemas.openxmlformats.org/officeDocument/2006/relationships/image" Target="../media/image151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50.wmf"/><Relationship Id="rId5" Type="http://schemas.openxmlformats.org/officeDocument/2006/relationships/image" Target="../media/image159.wmf"/><Relationship Id="rId10" Type="http://schemas.openxmlformats.org/officeDocument/2006/relationships/image" Target="../media/image154.wmf"/><Relationship Id="rId4" Type="http://schemas.openxmlformats.org/officeDocument/2006/relationships/image" Target="../media/image158.wmf"/><Relationship Id="rId9" Type="http://schemas.openxmlformats.org/officeDocument/2006/relationships/image" Target="../media/image153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emf"/><Relationship Id="rId13" Type="http://schemas.openxmlformats.org/officeDocument/2006/relationships/image" Target="../media/image171.wmf"/><Relationship Id="rId3" Type="http://schemas.openxmlformats.org/officeDocument/2006/relationships/image" Target="../media/image162.wmf"/><Relationship Id="rId7" Type="http://schemas.openxmlformats.org/officeDocument/2006/relationships/image" Target="../media/image166.emf"/><Relationship Id="rId12" Type="http://schemas.openxmlformats.org/officeDocument/2006/relationships/image" Target="../media/image154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11" Type="http://schemas.openxmlformats.org/officeDocument/2006/relationships/image" Target="../media/image170.wmf"/><Relationship Id="rId5" Type="http://schemas.openxmlformats.org/officeDocument/2006/relationships/image" Target="../media/image164.wmf"/><Relationship Id="rId10" Type="http://schemas.openxmlformats.org/officeDocument/2006/relationships/image" Target="../media/image169.emf"/><Relationship Id="rId4" Type="http://schemas.openxmlformats.org/officeDocument/2006/relationships/image" Target="../media/image163.wmf"/><Relationship Id="rId9" Type="http://schemas.openxmlformats.org/officeDocument/2006/relationships/image" Target="../media/image168.emf"/><Relationship Id="rId14" Type="http://schemas.openxmlformats.org/officeDocument/2006/relationships/image" Target="../media/image172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75.wmf"/><Relationship Id="rId7" Type="http://schemas.openxmlformats.org/officeDocument/2006/relationships/image" Target="../media/image179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6" Type="http://schemas.openxmlformats.org/officeDocument/2006/relationships/image" Target="../media/image178.emf"/><Relationship Id="rId5" Type="http://schemas.openxmlformats.org/officeDocument/2006/relationships/image" Target="../media/image177.emf"/><Relationship Id="rId10" Type="http://schemas.openxmlformats.org/officeDocument/2006/relationships/image" Target="../media/image181.wmf"/><Relationship Id="rId4" Type="http://schemas.openxmlformats.org/officeDocument/2006/relationships/image" Target="../media/image176.emf"/><Relationship Id="rId9" Type="http://schemas.openxmlformats.org/officeDocument/2006/relationships/image" Target="../media/image180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image" Target="../media/image184.wmf"/><Relationship Id="rId7" Type="http://schemas.openxmlformats.org/officeDocument/2006/relationships/image" Target="../media/image188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10" Type="http://schemas.openxmlformats.org/officeDocument/2006/relationships/image" Target="../media/image191.wmf"/><Relationship Id="rId4" Type="http://schemas.openxmlformats.org/officeDocument/2006/relationships/image" Target="../media/image185.wmf"/><Relationship Id="rId9" Type="http://schemas.openxmlformats.org/officeDocument/2006/relationships/image" Target="../media/image19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/>
            </a:lvl1pPr>
          </a:lstStyle>
          <a:p>
            <a:fld id="{DFDC01C9-C4C1-4AD8-842E-B200FEA38C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4606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083089-6367-45C9-A91B-412A7E447FC3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70938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92426-0C17-40DA-BE6C-46DB375643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80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6A24B4-3BF1-41DB-A50E-63DFCA7F53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775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CF0862-DC3D-46EF-AC96-7A0F644C39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0218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5A2A8F-0406-436A-B288-84FDA5869B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088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F76DDC-B03C-4961-8569-6BC0831200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838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59C473-55DB-49BB-96F1-84D9CE3526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698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08D90A-EB22-4702-A250-3536D3C4E7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390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ADD27-7F4E-4BAB-B071-EE8DA2484A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409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4CC5A9-8671-4DED-A484-DCDF245883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5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BCA86E-EBC8-4914-81F4-B51F31BAA9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01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72A76A-5589-4920-ADD2-1DBAB81EB1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286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 b="0"/>
            </a:lvl1pPr>
          </a:lstStyle>
          <a:p>
            <a:fld id="{6A54088F-A737-4DB2-B432-3778C2F6A44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3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4.w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3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Microsoft_Visio_2003-2010___1.vsd"/><Relationship Id="rId10" Type="http://schemas.openxmlformats.org/officeDocument/2006/relationships/image" Target="../media/image50.png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6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5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0.wmf"/><Relationship Id="rId11" Type="http://schemas.openxmlformats.org/officeDocument/2006/relationships/image" Target="../media/image58.jpeg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7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8.wmf"/><Relationship Id="rId26" Type="http://schemas.openxmlformats.org/officeDocument/2006/relationships/image" Target="../media/image92.wmf"/><Relationship Id="rId3" Type="http://schemas.openxmlformats.org/officeDocument/2006/relationships/oleObject" Target="../embeddings/oleObject78.bin"/><Relationship Id="rId21" Type="http://schemas.openxmlformats.org/officeDocument/2006/relationships/oleObject" Target="../embeddings/oleObject87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7.wmf"/><Relationship Id="rId20" Type="http://schemas.openxmlformats.org/officeDocument/2006/relationships/image" Target="../media/image89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91.wmf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81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6.wmf"/><Relationship Id="rId22" Type="http://schemas.openxmlformats.org/officeDocument/2006/relationships/image" Target="../media/image9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0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07.bin"/><Relationship Id="rId18" Type="http://schemas.openxmlformats.org/officeDocument/2006/relationships/oleObject" Target="../embeddings/oleObject110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0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107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09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1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19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16.wmf"/><Relationship Id="rId17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8.wmf"/><Relationship Id="rId20" Type="http://schemas.openxmlformats.org/officeDocument/2006/relationships/image" Target="../media/image120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121.bin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17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121.jpeg"/><Relationship Id="rId4" Type="http://schemas.openxmlformats.org/officeDocument/2006/relationships/image" Target="../media/image12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130.wmf"/><Relationship Id="rId3" Type="http://schemas.openxmlformats.org/officeDocument/2006/relationships/oleObject" Target="../embeddings/oleObject123.bin"/><Relationship Id="rId21" Type="http://schemas.openxmlformats.org/officeDocument/2006/relationships/oleObject" Target="../embeddings/oleObject132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9.wmf"/><Relationship Id="rId20" Type="http://schemas.openxmlformats.org/officeDocument/2006/relationships/image" Target="../media/image131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9.bin"/><Relationship Id="rId10" Type="http://schemas.openxmlformats.org/officeDocument/2006/relationships/image" Target="../media/image126.wmf"/><Relationship Id="rId19" Type="http://schemas.openxmlformats.org/officeDocument/2006/relationships/oleObject" Target="../embeddings/oleObject131.bin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28.wmf"/><Relationship Id="rId22" Type="http://schemas.openxmlformats.org/officeDocument/2006/relationships/image" Target="../media/image13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29.wmf"/><Relationship Id="rId3" Type="http://schemas.openxmlformats.org/officeDocument/2006/relationships/oleObject" Target="../embeddings/oleObject133.bin"/><Relationship Id="rId21" Type="http://schemas.openxmlformats.org/officeDocument/2006/relationships/oleObject" Target="../embeddings/oleObject142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37.wmf"/><Relationship Id="rId17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9.wmf"/><Relationship Id="rId20" Type="http://schemas.openxmlformats.org/officeDocument/2006/relationships/image" Target="../media/image140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37.bin"/><Relationship Id="rId24" Type="http://schemas.openxmlformats.org/officeDocument/2006/relationships/image" Target="../media/image141.wmf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23" Type="http://schemas.openxmlformats.org/officeDocument/2006/relationships/oleObject" Target="../embeddings/oleObject143.bin"/><Relationship Id="rId10" Type="http://schemas.openxmlformats.org/officeDocument/2006/relationships/image" Target="../media/image136.wmf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38.wmf"/><Relationship Id="rId22" Type="http://schemas.openxmlformats.org/officeDocument/2006/relationships/image" Target="../media/image13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4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2.vsd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4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146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54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3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52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161.bin"/><Relationship Id="rId18" Type="http://schemas.openxmlformats.org/officeDocument/2006/relationships/image" Target="../media/image152.wmf"/><Relationship Id="rId3" Type="http://schemas.openxmlformats.org/officeDocument/2006/relationships/oleObject" Target="../embeddings/oleObject156.bin"/><Relationship Id="rId21" Type="http://schemas.openxmlformats.org/officeDocument/2006/relationships/oleObject" Target="../embeddings/oleObject165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1.wmf"/><Relationship Id="rId20" Type="http://schemas.openxmlformats.org/officeDocument/2006/relationships/image" Target="../media/image153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10" Type="http://schemas.openxmlformats.org/officeDocument/2006/relationships/image" Target="../media/image158.wmf"/><Relationship Id="rId19" Type="http://schemas.openxmlformats.org/officeDocument/2006/relationships/oleObject" Target="../embeddings/oleObject164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50.wmf"/><Relationship Id="rId22" Type="http://schemas.openxmlformats.org/officeDocument/2006/relationships/image" Target="../media/image15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71.bin"/><Relationship Id="rId18" Type="http://schemas.openxmlformats.org/officeDocument/2006/relationships/image" Target="../media/image167.emf"/><Relationship Id="rId26" Type="http://schemas.openxmlformats.org/officeDocument/2006/relationships/image" Target="../media/image154.wmf"/><Relationship Id="rId3" Type="http://schemas.openxmlformats.org/officeDocument/2006/relationships/oleObject" Target="../embeddings/oleObject166.bin"/><Relationship Id="rId21" Type="http://schemas.openxmlformats.org/officeDocument/2006/relationships/oleObject" Target="../embeddings/oleObject175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64.wmf"/><Relationship Id="rId17" Type="http://schemas.openxmlformats.org/officeDocument/2006/relationships/oleObject" Target="../embeddings/oleObject173.bin"/><Relationship Id="rId25" Type="http://schemas.openxmlformats.org/officeDocument/2006/relationships/oleObject" Target="../embeddings/oleObject1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6.emf"/><Relationship Id="rId20" Type="http://schemas.openxmlformats.org/officeDocument/2006/relationships/image" Target="../media/image168.emf"/><Relationship Id="rId29" Type="http://schemas.openxmlformats.org/officeDocument/2006/relationships/oleObject" Target="../embeddings/oleObject179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70.bin"/><Relationship Id="rId24" Type="http://schemas.openxmlformats.org/officeDocument/2006/relationships/image" Target="../media/image170.wmf"/><Relationship Id="rId5" Type="http://schemas.openxmlformats.org/officeDocument/2006/relationships/oleObject" Target="../embeddings/oleObject167.bin"/><Relationship Id="rId15" Type="http://schemas.openxmlformats.org/officeDocument/2006/relationships/oleObject" Target="../embeddings/oleObject172.bin"/><Relationship Id="rId23" Type="http://schemas.openxmlformats.org/officeDocument/2006/relationships/oleObject" Target="../embeddings/oleObject176.bin"/><Relationship Id="rId28" Type="http://schemas.openxmlformats.org/officeDocument/2006/relationships/image" Target="../media/image171.wmf"/><Relationship Id="rId10" Type="http://schemas.openxmlformats.org/officeDocument/2006/relationships/image" Target="../media/image163.wmf"/><Relationship Id="rId19" Type="http://schemas.openxmlformats.org/officeDocument/2006/relationships/oleObject" Target="../embeddings/oleObject174.bin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65.wmf"/><Relationship Id="rId22" Type="http://schemas.openxmlformats.org/officeDocument/2006/relationships/image" Target="../media/image169.emf"/><Relationship Id="rId27" Type="http://schemas.openxmlformats.org/officeDocument/2006/relationships/oleObject" Target="../embeddings/oleObject178.bin"/><Relationship Id="rId30" Type="http://schemas.openxmlformats.org/officeDocument/2006/relationships/image" Target="../media/image17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oleObject" Target="../embeddings/oleObject185.bin"/><Relationship Id="rId18" Type="http://schemas.openxmlformats.org/officeDocument/2006/relationships/image" Target="../media/image172.wmf"/><Relationship Id="rId3" Type="http://schemas.openxmlformats.org/officeDocument/2006/relationships/oleObject" Target="../embeddings/oleObject180.bin"/><Relationship Id="rId21" Type="http://schemas.openxmlformats.org/officeDocument/2006/relationships/oleObject" Target="../embeddings/oleObject189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77.emf"/><Relationship Id="rId1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9.wmf"/><Relationship Id="rId20" Type="http://schemas.openxmlformats.org/officeDocument/2006/relationships/image" Target="../media/image180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86.bin"/><Relationship Id="rId10" Type="http://schemas.openxmlformats.org/officeDocument/2006/relationships/image" Target="../media/image176.emf"/><Relationship Id="rId19" Type="http://schemas.openxmlformats.org/officeDocument/2006/relationships/oleObject" Target="../embeddings/oleObject188.bin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178.emf"/><Relationship Id="rId22" Type="http://schemas.openxmlformats.org/officeDocument/2006/relationships/image" Target="../media/image181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195.bin"/><Relationship Id="rId18" Type="http://schemas.openxmlformats.org/officeDocument/2006/relationships/image" Target="../media/image189.wmf"/><Relationship Id="rId3" Type="http://schemas.openxmlformats.org/officeDocument/2006/relationships/oleObject" Target="../embeddings/oleObject190.bin"/><Relationship Id="rId21" Type="http://schemas.openxmlformats.org/officeDocument/2006/relationships/oleObject" Target="../embeddings/oleObject199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86.wmf"/><Relationship Id="rId17" Type="http://schemas.openxmlformats.org/officeDocument/2006/relationships/oleObject" Target="../embeddings/oleObject1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8.wmf"/><Relationship Id="rId20" Type="http://schemas.openxmlformats.org/officeDocument/2006/relationships/image" Target="../media/image190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5" Type="http://schemas.openxmlformats.org/officeDocument/2006/relationships/oleObject" Target="../embeddings/oleObject196.bin"/><Relationship Id="rId10" Type="http://schemas.openxmlformats.org/officeDocument/2006/relationships/image" Target="../media/image185.wmf"/><Relationship Id="rId19" Type="http://schemas.openxmlformats.org/officeDocument/2006/relationships/oleObject" Target="../embeddings/oleObject198.bin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187.wmf"/><Relationship Id="rId22" Type="http://schemas.openxmlformats.org/officeDocument/2006/relationships/image" Target="../media/image19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71550" y="969963"/>
            <a:ext cx="7067550" cy="684212"/>
          </a:xfr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/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5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章 </a:t>
            </a:r>
            <a:r>
              <a:rPr lang="zh-CN" altLang="zh-C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正弦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交流</a:t>
            </a:r>
            <a:r>
              <a:rPr lang="zh-CN" altLang="zh-C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电路</a:t>
            </a:r>
            <a:endParaRPr lang="zh-CN" alt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7902" name="Text Box 14" descr="蓝色砂纸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205038" y="2601913"/>
            <a:ext cx="3095625" cy="519112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800">
                <a:ea typeface="楷体_GB2312" pitchFamily="49" charset="-122"/>
              </a:rPr>
              <a:t>正弦量的基本概念</a:t>
            </a:r>
          </a:p>
        </p:txBody>
      </p:sp>
      <p:sp>
        <p:nvSpPr>
          <p:cNvPr id="37909" name="Text Box 21" descr="蓝色砂纸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205038" y="3602038"/>
            <a:ext cx="4219575" cy="519112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800">
                <a:ea typeface="楷体_GB2312" pitchFamily="49" charset="-122"/>
              </a:rPr>
              <a:t>正弦交流电量的相量表示</a:t>
            </a:r>
          </a:p>
        </p:txBody>
      </p:sp>
      <p:sp>
        <p:nvSpPr>
          <p:cNvPr id="37913" name="Text Box 25" descr="蓝色砂纸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205038" y="2620963"/>
            <a:ext cx="5062537" cy="519112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800" dirty="0">
                <a:ea typeface="楷体_GB2312" pitchFamily="49" charset="-122"/>
              </a:rPr>
              <a:t>正弦量的基本概念</a:t>
            </a:r>
          </a:p>
        </p:txBody>
      </p:sp>
      <p:sp>
        <p:nvSpPr>
          <p:cNvPr id="37914" name="Text Box 26" descr="蓝色砂纸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205037" y="3599984"/>
            <a:ext cx="5062538" cy="52322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800" dirty="0">
                <a:ea typeface="楷体_GB2312" pitchFamily="49" charset="-122"/>
              </a:rPr>
              <a:t>正弦稳态电路的相量分析方法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8" name="Text Box 4"/>
          <p:cNvSpPr txBox="1">
            <a:spLocks noChangeArrowheads="1"/>
          </p:cNvSpPr>
          <p:nvPr/>
        </p:nvSpPr>
        <p:spPr bwMode="auto">
          <a:xfrm>
            <a:off x="1489075" y="2459713"/>
            <a:ext cx="5551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/>
              <a:t>大小方向随时间按正弦规律变化的电压、电流。</a:t>
            </a:r>
          </a:p>
        </p:txBody>
      </p:sp>
      <p:sp>
        <p:nvSpPr>
          <p:cNvPr id="410629" name="Text Box 5"/>
          <p:cNvSpPr txBox="1">
            <a:spLocks noChangeArrowheads="1"/>
          </p:cNvSpPr>
          <p:nvPr/>
        </p:nvSpPr>
        <p:spPr bwMode="auto">
          <a:xfrm>
            <a:off x="533400" y="1381125"/>
            <a:ext cx="47355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5.1.1 </a:t>
            </a:r>
            <a:r>
              <a:rPr lang="zh-CN" altLang="en-US" dirty="0" smtClean="0">
                <a:solidFill>
                  <a:srgbClr val="990033"/>
                </a:solidFill>
              </a:rPr>
              <a:t>正弦量</a:t>
            </a:r>
            <a:r>
              <a:rPr lang="zh-CN" altLang="en-US" dirty="0" smtClean="0">
                <a:solidFill>
                  <a:srgbClr val="990033"/>
                </a:solidFill>
              </a:rPr>
              <a:t>的重要特性参数</a:t>
            </a:r>
            <a:endParaRPr lang="zh-CN" altLang="en-US" dirty="0">
              <a:solidFill>
                <a:srgbClr val="990033"/>
              </a:solidFill>
            </a:endParaRPr>
          </a:p>
        </p:txBody>
      </p:sp>
      <p:sp>
        <p:nvSpPr>
          <p:cNvPr id="410630" name="Text Box 6"/>
          <p:cNvSpPr txBox="1">
            <a:spLocks noChangeArrowheads="1"/>
          </p:cNvSpPr>
          <p:nvPr/>
        </p:nvSpPr>
        <p:spPr bwMode="auto">
          <a:xfrm>
            <a:off x="2943225" y="3104920"/>
            <a:ext cx="237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i="1" dirty="0"/>
              <a:t>v</a:t>
            </a:r>
            <a:r>
              <a:rPr lang="en-US" altLang="zh-CN" sz="2000" dirty="0"/>
              <a:t>(</a:t>
            </a:r>
            <a:r>
              <a:rPr lang="en-US" altLang="zh-CN" sz="2000" i="1" dirty="0"/>
              <a:t>t</a:t>
            </a:r>
            <a:r>
              <a:rPr lang="en-US" altLang="zh-CN" sz="2000" dirty="0"/>
              <a:t>) =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m</a:t>
            </a:r>
            <a:r>
              <a:rPr lang="en-US" altLang="zh-CN" sz="2000" i="1" baseline="-25000" dirty="0" smtClean="0"/>
              <a:t> </a:t>
            </a:r>
            <a:r>
              <a:rPr lang="en-US" altLang="zh-CN" sz="2000" dirty="0" smtClean="0"/>
              <a:t>cos(</a:t>
            </a:r>
            <a:r>
              <a:rPr lang="en-US" altLang="zh-CN" sz="2000" i="1" dirty="0" smtClean="0">
                <a:latin typeface="Symbol" pitchFamily="18" charset="2"/>
              </a:rPr>
              <a:t>w </a:t>
            </a:r>
            <a:r>
              <a:rPr lang="en-US" altLang="zh-CN" sz="2000" i="1" dirty="0" err="1"/>
              <a:t>t</a:t>
            </a:r>
            <a:r>
              <a:rPr lang="en-US" altLang="zh-CN" sz="2000" dirty="0" err="1"/>
              <a:t>+</a:t>
            </a:r>
            <a:r>
              <a:rPr lang="en-US" altLang="zh-CN" sz="2000" i="1" dirty="0" err="1">
                <a:latin typeface="Symbol" pitchFamily="18" charset="2"/>
                <a:sym typeface="Symbol" pitchFamily="18" charset="2"/>
              </a:rPr>
              <a:t>q</a:t>
            </a:r>
            <a:r>
              <a:rPr lang="en-US" altLang="zh-CN" sz="2000" i="1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CN" sz="2000" dirty="0"/>
              <a:t>)</a:t>
            </a:r>
            <a:endParaRPr lang="en-US" altLang="zh-CN" sz="2000" dirty="0">
              <a:latin typeface="Symbol" pitchFamily="18" charset="2"/>
            </a:endParaRPr>
          </a:p>
        </p:txBody>
      </p:sp>
      <p:sp>
        <p:nvSpPr>
          <p:cNvPr id="410631" name="Text Box 7"/>
          <p:cNvSpPr txBox="1">
            <a:spLocks noChangeArrowheads="1"/>
          </p:cNvSpPr>
          <p:nvPr/>
        </p:nvSpPr>
        <p:spPr bwMode="auto">
          <a:xfrm>
            <a:off x="990600" y="6030682"/>
            <a:ext cx="6330950" cy="426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572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47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000" i="1" dirty="0" err="1"/>
              <a:t>V</a:t>
            </a:r>
            <a:r>
              <a:rPr lang="en-US" altLang="zh-CN" sz="2000" i="1" baseline="-25000" dirty="0" err="1"/>
              <a:t>m</a:t>
            </a:r>
            <a:r>
              <a:rPr lang="en-US" altLang="zh-CN" sz="2000" baseline="-25000" dirty="0"/>
              <a:t>  </a:t>
            </a:r>
            <a:r>
              <a:rPr lang="en-US" altLang="zh-CN" sz="2000" dirty="0"/>
              <a:t>, </a:t>
            </a:r>
            <a:r>
              <a:rPr lang="en-US" altLang="zh-CN" sz="2000" i="1" dirty="0">
                <a:latin typeface="Symbol" pitchFamily="18" charset="2"/>
              </a:rPr>
              <a:t>w   </a:t>
            </a:r>
            <a:r>
              <a:rPr lang="en-US" altLang="zh-CN" sz="2000" dirty="0">
                <a:latin typeface="Symbol" pitchFamily="18" charset="2"/>
              </a:rPr>
              <a:t>,  </a:t>
            </a:r>
            <a:r>
              <a:rPr lang="en-US" altLang="zh-CN" sz="2000" i="1" dirty="0">
                <a:latin typeface="Symbol" pitchFamily="18" charset="2"/>
              </a:rPr>
              <a:t>q    </a:t>
            </a:r>
            <a:r>
              <a:rPr lang="en-US" altLang="zh-CN" sz="2000" dirty="0"/>
              <a:t>——</a:t>
            </a:r>
            <a:r>
              <a:rPr lang="zh-CN" altLang="en-US" sz="2000" dirty="0"/>
              <a:t>正弦量的</a:t>
            </a:r>
            <a:r>
              <a:rPr lang="zh-CN" altLang="en-US" sz="2000" dirty="0">
                <a:solidFill>
                  <a:srgbClr val="FF0066"/>
                </a:solidFill>
              </a:rPr>
              <a:t>三要素</a:t>
            </a:r>
            <a:endParaRPr lang="zh-CN" altLang="en-US" sz="2000" dirty="0"/>
          </a:p>
        </p:txBody>
      </p:sp>
      <p:sp>
        <p:nvSpPr>
          <p:cNvPr id="410632" name="Text Box 8"/>
          <p:cNvSpPr txBox="1">
            <a:spLocks noChangeArrowheads="1"/>
          </p:cNvSpPr>
          <p:nvPr/>
        </p:nvSpPr>
        <p:spPr bwMode="auto">
          <a:xfrm>
            <a:off x="1065213" y="4392382"/>
            <a:ext cx="955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</a:rPr>
              <a:t>波形</a:t>
            </a:r>
            <a:endParaRPr lang="zh-CN" altLang="en-US" sz="2000" dirty="0"/>
          </a:p>
        </p:txBody>
      </p:sp>
      <p:sp>
        <p:nvSpPr>
          <p:cNvPr id="410657" name="Text Box 33"/>
          <p:cNvSpPr txBox="1">
            <a:spLocks noChangeArrowheads="1"/>
          </p:cNvSpPr>
          <p:nvPr/>
        </p:nvSpPr>
        <p:spPr bwMode="auto">
          <a:xfrm>
            <a:off x="914400" y="3111270"/>
            <a:ext cx="1717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</a:rPr>
              <a:t>瞬时值表达式</a:t>
            </a:r>
            <a:endParaRPr lang="zh-CN" altLang="en-US" sz="2000" dirty="0"/>
          </a:p>
        </p:txBody>
      </p:sp>
      <p:sp>
        <p:nvSpPr>
          <p:cNvPr id="410659" name="Rectangle 35"/>
          <p:cNvSpPr>
            <a:spLocks noChangeArrowheads="1"/>
          </p:cNvSpPr>
          <p:nvPr/>
        </p:nvSpPr>
        <p:spPr bwMode="auto">
          <a:xfrm>
            <a:off x="762000" y="571500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800" dirty="0" smtClean="0">
                <a:solidFill>
                  <a:schemeClr val="tx2"/>
                </a:solidFill>
              </a:rPr>
              <a:t>5.1 </a:t>
            </a:r>
            <a:r>
              <a:rPr lang="zh-CN" altLang="en-US" sz="2800" dirty="0" smtClean="0">
                <a:solidFill>
                  <a:schemeClr val="tx2"/>
                </a:solidFill>
              </a:rPr>
              <a:t>正弦量的基本概念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grpSp>
        <p:nvGrpSpPr>
          <p:cNvPr id="410664" name="Group 40"/>
          <p:cNvGrpSpPr>
            <a:grpSpLocks/>
          </p:cNvGrpSpPr>
          <p:nvPr/>
        </p:nvGrpSpPr>
        <p:grpSpPr bwMode="auto">
          <a:xfrm>
            <a:off x="5680075" y="3104920"/>
            <a:ext cx="2852738" cy="396875"/>
            <a:chOff x="3578" y="1673"/>
            <a:chExt cx="1797" cy="250"/>
          </a:xfrm>
        </p:grpSpPr>
        <p:sp>
          <p:nvSpPr>
            <p:cNvPr id="410660" name="Text Box 36"/>
            <p:cNvSpPr txBox="1">
              <a:spLocks noChangeArrowheads="1"/>
            </p:cNvSpPr>
            <p:nvPr/>
          </p:nvSpPr>
          <p:spPr bwMode="auto">
            <a:xfrm>
              <a:off x="3882" y="1673"/>
              <a:ext cx="14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v</a:t>
              </a:r>
              <a:r>
                <a:rPr lang="en-US" altLang="zh-CN" sz="2000" dirty="0"/>
                <a:t>(</a:t>
              </a:r>
              <a:r>
                <a:rPr lang="en-US" altLang="zh-CN" sz="2000" i="1" dirty="0"/>
                <a:t>t</a:t>
              </a:r>
              <a:r>
                <a:rPr lang="en-US" altLang="zh-CN" sz="2000" dirty="0"/>
                <a:t>) = </a:t>
              </a:r>
              <a:r>
                <a:rPr lang="en-US" altLang="zh-CN" sz="2000" i="1" dirty="0" err="1" smtClean="0"/>
                <a:t>V</a:t>
              </a:r>
              <a:r>
                <a:rPr lang="en-US" altLang="zh-CN" sz="2000" i="1" baseline="-25000" dirty="0" err="1" smtClean="0"/>
                <a:t>m</a:t>
              </a:r>
              <a:r>
                <a:rPr lang="en-US" altLang="zh-CN" sz="2000" i="1" baseline="-25000" dirty="0" smtClean="0"/>
                <a:t> </a:t>
              </a:r>
              <a:r>
                <a:rPr lang="en-US" altLang="zh-CN" sz="2000" dirty="0" smtClean="0"/>
                <a:t>sin(</a:t>
              </a:r>
              <a:r>
                <a:rPr lang="en-US" altLang="zh-CN" sz="2000" i="1" dirty="0" smtClean="0">
                  <a:latin typeface="Symbol" pitchFamily="18" charset="2"/>
                </a:rPr>
                <a:t>w </a:t>
              </a:r>
              <a:r>
                <a:rPr lang="en-US" altLang="zh-CN" sz="2000" i="1" dirty="0" err="1"/>
                <a:t>t</a:t>
              </a:r>
              <a:r>
                <a:rPr lang="en-US" altLang="zh-CN" sz="2000" dirty="0" err="1"/>
                <a:t>+</a:t>
              </a:r>
              <a:r>
                <a:rPr lang="en-US" altLang="zh-CN" sz="2000" i="1" dirty="0" err="1">
                  <a:latin typeface="Symbol" pitchFamily="18" charset="2"/>
                  <a:sym typeface="Symbol" pitchFamily="18" charset="2"/>
                </a:rPr>
                <a:t>q</a:t>
              </a:r>
              <a:r>
                <a:rPr lang="en-US" altLang="zh-CN" sz="2000" i="1" dirty="0">
                  <a:latin typeface="Symbol" pitchFamily="18" charset="2"/>
                  <a:sym typeface="Symbol" pitchFamily="18" charset="2"/>
                </a:rPr>
                <a:t> </a:t>
              </a:r>
              <a:r>
                <a:rPr lang="en-US" altLang="zh-CN" sz="2000" dirty="0"/>
                <a:t>)</a:t>
              </a:r>
              <a:endParaRPr lang="en-US" altLang="zh-CN" sz="2000" dirty="0">
                <a:latin typeface="Symbol" pitchFamily="18" charset="2"/>
              </a:endParaRPr>
            </a:p>
          </p:txBody>
        </p:sp>
        <p:sp>
          <p:nvSpPr>
            <p:cNvPr id="410661" name="Text Box 37"/>
            <p:cNvSpPr txBox="1">
              <a:spLocks noChangeArrowheads="1"/>
            </p:cNvSpPr>
            <p:nvPr/>
          </p:nvSpPr>
          <p:spPr bwMode="auto">
            <a:xfrm>
              <a:off x="3578" y="1673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/>
                <a:t>或</a:t>
              </a:r>
            </a:p>
          </p:txBody>
        </p:sp>
      </p:grpSp>
      <p:grpSp>
        <p:nvGrpSpPr>
          <p:cNvPr id="410665" name="Group 41"/>
          <p:cNvGrpSpPr>
            <a:grpSpLocks/>
          </p:cNvGrpSpPr>
          <p:nvPr/>
        </p:nvGrpSpPr>
        <p:grpSpPr bwMode="auto">
          <a:xfrm>
            <a:off x="2541588" y="3762145"/>
            <a:ext cx="3390900" cy="2106612"/>
            <a:chOff x="3287" y="305"/>
            <a:chExt cx="2136" cy="1327"/>
          </a:xfrm>
        </p:grpSpPr>
        <p:sp>
          <p:nvSpPr>
            <p:cNvPr id="410666" name="Freeform 42"/>
            <p:cNvSpPr>
              <a:spLocks/>
            </p:cNvSpPr>
            <p:nvPr/>
          </p:nvSpPr>
          <p:spPr bwMode="auto">
            <a:xfrm>
              <a:off x="4416" y="861"/>
              <a:ext cx="119" cy="274"/>
            </a:xfrm>
            <a:custGeom>
              <a:avLst/>
              <a:gdLst>
                <a:gd name="T0" fmla="*/ 0 w 119"/>
                <a:gd name="T1" fmla="*/ 274 h 274"/>
                <a:gd name="T2" fmla="*/ 14 w 119"/>
                <a:gd name="T3" fmla="*/ 240 h 274"/>
                <a:gd name="T4" fmla="*/ 30 w 119"/>
                <a:gd name="T5" fmla="*/ 203 h 274"/>
                <a:gd name="T6" fmla="*/ 60 w 119"/>
                <a:gd name="T7" fmla="*/ 127 h 274"/>
                <a:gd name="T8" fmla="*/ 76 w 119"/>
                <a:gd name="T9" fmla="*/ 90 h 274"/>
                <a:gd name="T10" fmla="*/ 89 w 119"/>
                <a:gd name="T11" fmla="*/ 56 h 274"/>
                <a:gd name="T12" fmla="*/ 105 w 119"/>
                <a:gd name="T13" fmla="*/ 27 h 274"/>
                <a:gd name="T14" fmla="*/ 119 w 119"/>
                <a:gd name="T15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274">
                  <a:moveTo>
                    <a:pt x="0" y="274"/>
                  </a:moveTo>
                  <a:lnTo>
                    <a:pt x="14" y="240"/>
                  </a:lnTo>
                  <a:lnTo>
                    <a:pt x="30" y="203"/>
                  </a:lnTo>
                  <a:lnTo>
                    <a:pt x="60" y="127"/>
                  </a:lnTo>
                  <a:lnTo>
                    <a:pt x="76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9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67" name="Freeform 43"/>
            <p:cNvSpPr>
              <a:spLocks/>
            </p:cNvSpPr>
            <p:nvPr/>
          </p:nvSpPr>
          <p:spPr bwMode="auto">
            <a:xfrm>
              <a:off x="4535" y="748"/>
              <a:ext cx="116" cy="113"/>
            </a:xfrm>
            <a:custGeom>
              <a:avLst/>
              <a:gdLst>
                <a:gd name="T0" fmla="*/ 0 w 116"/>
                <a:gd name="T1" fmla="*/ 113 h 113"/>
                <a:gd name="T2" fmla="*/ 13 w 116"/>
                <a:gd name="T3" fmla="*/ 88 h 113"/>
                <a:gd name="T4" fmla="*/ 30 w 116"/>
                <a:gd name="T5" fmla="*/ 69 h 113"/>
                <a:gd name="T6" fmla="*/ 43 w 116"/>
                <a:gd name="T7" fmla="*/ 49 h 113"/>
                <a:gd name="T8" fmla="*/ 57 w 116"/>
                <a:gd name="T9" fmla="*/ 32 h 113"/>
                <a:gd name="T10" fmla="*/ 73 w 116"/>
                <a:gd name="T11" fmla="*/ 20 h 113"/>
                <a:gd name="T12" fmla="*/ 86 w 116"/>
                <a:gd name="T13" fmla="*/ 8 h 113"/>
                <a:gd name="T14" fmla="*/ 103 w 116"/>
                <a:gd name="T15" fmla="*/ 3 h 113"/>
                <a:gd name="T16" fmla="*/ 116 w 116"/>
                <a:gd name="T17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13">
                  <a:moveTo>
                    <a:pt x="0" y="113"/>
                  </a:moveTo>
                  <a:lnTo>
                    <a:pt x="13" y="88"/>
                  </a:lnTo>
                  <a:lnTo>
                    <a:pt x="30" y="69"/>
                  </a:lnTo>
                  <a:lnTo>
                    <a:pt x="43" y="49"/>
                  </a:lnTo>
                  <a:lnTo>
                    <a:pt x="57" y="32"/>
                  </a:lnTo>
                  <a:lnTo>
                    <a:pt x="73" y="20"/>
                  </a:lnTo>
                  <a:lnTo>
                    <a:pt x="86" y="8"/>
                  </a:lnTo>
                  <a:lnTo>
                    <a:pt x="103" y="3"/>
                  </a:lnTo>
                  <a:lnTo>
                    <a:pt x="116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68" name="Freeform 44"/>
            <p:cNvSpPr>
              <a:spLocks/>
            </p:cNvSpPr>
            <p:nvPr/>
          </p:nvSpPr>
          <p:spPr bwMode="auto">
            <a:xfrm>
              <a:off x="4651" y="748"/>
              <a:ext cx="119" cy="113"/>
            </a:xfrm>
            <a:custGeom>
              <a:avLst/>
              <a:gdLst>
                <a:gd name="T0" fmla="*/ 0 w 119"/>
                <a:gd name="T1" fmla="*/ 0 h 113"/>
                <a:gd name="T2" fmla="*/ 14 w 119"/>
                <a:gd name="T3" fmla="*/ 3 h 113"/>
                <a:gd name="T4" fmla="*/ 30 w 119"/>
                <a:gd name="T5" fmla="*/ 8 h 113"/>
                <a:gd name="T6" fmla="*/ 43 w 119"/>
                <a:gd name="T7" fmla="*/ 20 h 113"/>
                <a:gd name="T8" fmla="*/ 59 w 119"/>
                <a:gd name="T9" fmla="*/ 32 h 113"/>
                <a:gd name="T10" fmla="*/ 76 w 119"/>
                <a:gd name="T11" fmla="*/ 49 h 113"/>
                <a:gd name="T12" fmla="*/ 89 w 119"/>
                <a:gd name="T13" fmla="*/ 69 h 113"/>
                <a:gd name="T14" fmla="*/ 105 w 119"/>
                <a:gd name="T15" fmla="*/ 88 h 113"/>
                <a:gd name="T16" fmla="*/ 119 w 119"/>
                <a:gd name="T17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13">
                  <a:moveTo>
                    <a:pt x="0" y="0"/>
                  </a:moveTo>
                  <a:lnTo>
                    <a:pt x="14" y="3"/>
                  </a:lnTo>
                  <a:lnTo>
                    <a:pt x="30" y="8"/>
                  </a:lnTo>
                  <a:lnTo>
                    <a:pt x="43" y="20"/>
                  </a:lnTo>
                  <a:lnTo>
                    <a:pt x="59" y="32"/>
                  </a:lnTo>
                  <a:lnTo>
                    <a:pt x="76" y="49"/>
                  </a:lnTo>
                  <a:lnTo>
                    <a:pt x="89" y="69"/>
                  </a:lnTo>
                  <a:lnTo>
                    <a:pt x="105" y="88"/>
                  </a:lnTo>
                  <a:lnTo>
                    <a:pt x="119" y="113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69" name="Freeform 45"/>
            <p:cNvSpPr>
              <a:spLocks/>
            </p:cNvSpPr>
            <p:nvPr/>
          </p:nvSpPr>
          <p:spPr bwMode="auto">
            <a:xfrm>
              <a:off x="4770" y="861"/>
              <a:ext cx="116" cy="274"/>
            </a:xfrm>
            <a:custGeom>
              <a:avLst/>
              <a:gdLst>
                <a:gd name="T0" fmla="*/ 0 w 116"/>
                <a:gd name="T1" fmla="*/ 0 h 274"/>
                <a:gd name="T2" fmla="*/ 13 w 116"/>
                <a:gd name="T3" fmla="*/ 27 h 274"/>
                <a:gd name="T4" fmla="*/ 30 w 116"/>
                <a:gd name="T5" fmla="*/ 56 h 274"/>
                <a:gd name="T6" fmla="*/ 43 w 116"/>
                <a:gd name="T7" fmla="*/ 90 h 274"/>
                <a:gd name="T8" fmla="*/ 57 w 116"/>
                <a:gd name="T9" fmla="*/ 127 h 274"/>
                <a:gd name="T10" fmla="*/ 86 w 116"/>
                <a:gd name="T11" fmla="*/ 203 h 274"/>
                <a:gd name="T12" fmla="*/ 102 w 116"/>
                <a:gd name="T13" fmla="*/ 240 h 274"/>
                <a:gd name="T14" fmla="*/ 116 w 116"/>
                <a:gd name="T15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274">
                  <a:moveTo>
                    <a:pt x="0" y="0"/>
                  </a:moveTo>
                  <a:lnTo>
                    <a:pt x="13" y="27"/>
                  </a:lnTo>
                  <a:lnTo>
                    <a:pt x="30" y="56"/>
                  </a:lnTo>
                  <a:lnTo>
                    <a:pt x="43" y="90"/>
                  </a:lnTo>
                  <a:lnTo>
                    <a:pt x="57" y="127"/>
                  </a:lnTo>
                  <a:lnTo>
                    <a:pt x="86" y="203"/>
                  </a:lnTo>
                  <a:lnTo>
                    <a:pt x="102" y="240"/>
                  </a:lnTo>
                  <a:lnTo>
                    <a:pt x="116" y="274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70" name="Line 46"/>
            <p:cNvSpPr>
              <a:spLocks noChangeShapeType="1"/>
            </p:cNvSpPr>
            <p:nvPr/>
          </p:nvSpPr>
          <p:spPr bwMode="auto">
            <a:xfrm>
              <a:off x="3287" y="1102"/>
              <a:ext cx="19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71" name="Freeform 47"/>
            <p:cNvSpPr>
              <a:spLocks/>
            </p:cNvSpPr>
            <p:nvPr/>
          </p:nvSpPr>
          <p:spPr bwMode="auto">
            <a:xfrm>
              <a:off x="3830" y="861"/>
              <a:ext cx="116" cy="274"/>
            </a:xfrm>
            <a:custGeom>
              <a:avLst/>
              <a:gdLst>
                <a:gd name="T0" fmla="*/ 0 w 116"/>
                <a:gd name="T1" fmla="*/ 0 h 274"/>
                <a:gd name="T2" fmla="*/ 14 w 116"/>
                <a:gd name="T3" fmla="*/ 27 h 274"/>
                <a:gd name="T4" fmla="*/ 30 w 116"/>
                <a:gd name="T5" fmla="*/ 56 h 274"/>
                <a:gd name="T6" fmla="*/ 43 w 116"/>
                <a:gd name="T7" fmla="*/ 90 h 274"/>
                <a:gd name="T8" fmla="*/ 57 w 116"/>
                <a:gd name="T9" fmla="*/ 127 h 274"/>
                <a:gd name="T10" fmla="*/ 87 w 116"/>
                <a:gd name="T11" fmla="*/ 203 h 274"/>
                <a:gd name="T12" fmla="*/ 103 w 116"/>
                <a:gd name="T13" fmla="*/ 240 h 274"/>
                <a:gd name="T14" fmla="*/ 116 w 116"/>
                <a:gd name="T15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274">
                  <a:moveTo>
                    <a:pt x="0" y="0"/>
                  </a:moveTo>
                  <a:lnTo>
                    <a:pt x="14" y="27"/>
                  </a:lnTo>
                  <a:lnTo>
                    <a:pt x="30" y="56"/>
                  </a:lnTo>
                  <a:lnTo>
                    <a:pt x="43" y="90"/>
                  </a:lnTo>
                  <a:lnTo>
                    <a:pt x="57" y="127"/>
                  </a:lnTo>
                  <a:lnTo>
                    <a:pt x="87" y="203"/>
                  </a:lnTo>
                  <a:lnTo>
                    <a:pt x="103" y="240"/>
                  </a:lnTo>
                  <a:lnTo>
                    <a:pt x="116" y="274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72" name="Freeform 48"/>
            <p:cNvSpPr>
              <a:spLocks/>
            </p:cNvSpPr>
            <p:nvPr/>
          </p:nvSpPr>
          <p:spPr bwMode="auto">
            <a:xfrm>
              <a:off x="3477" y="861"/>
              <a:ext cx="118" cy="274"/>
            </a:xfrm>
            <a:custGeom>
              <a:avLst/>
              <a:gdLst>
                <a:gd name="T0" fmla="*/ 0 w 118"/>
                <a:gd name="T1" fmla="*/ 274 h 274"/>
                <a:gd name="T2" fmla="*/ 13 w 118"/>
                <a:gd name="T3" fmla="*/ 240 h 274"/>
                <a:gd name="T4" fmla="*/ 29 w 118"/>
                <a:gd name="T5" fmla="*/ 200 h 274"/>
                <a:gd name="T6" fmla="*/ 59 w 118"/>
                <a:gd name="T7" fmla="*/ 127 h 274"/>
                <a:gd name="T8" fmla="*/ 75 w 118"/>
                <a:gd name="T9" fmla="*/ 90 h 274"/>
                <a:gd name="T10" fmla="*/ 89 w 118"/>
                <a:gd name="T11" fmla="*/ 56 h 274"/>
                <a:gd name="T12" fmla="*/ 105 w 118"/>
                <a:gd name="T13" fmla="*/ 27 h 274"/>
                <a:gd name="T14" fmla="*/ 118 w 118"/>
                <a:gd name="T15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" h="274">
                  <a:moveTo>
                    <a:pt x="0" y="274"/>
                  </a:moveTo>
                  <a:lnTo>
                    <a:pt x="13" y="240"/>
                  </a:lnTo>
                  <a:lnTo>
                    <a:pt x="29" y="200"/>
                  </a:lnTo>
                  <a:lnTo>
                    <a:pt x="59" y="127"/>
                  </a:lnTo>
                  <a:lnTo>
                    <a:pt x="75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8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73" name="Freeform 49"/>
            <p:cNvSpPr>
              <a:spLocks/>
            </p:cNvSpPr>
            <p:nvPr/>
          </p:nvSpPr>
          <p:spPr bwMode="auto">
            <a:xfrm>
              <a:off x="3595" y="748"/>
              <a:ext cx="116" cy="113"/>
            </a:xfrm>
            <a:custGeom>
              <a:avLst/>
              <a:gdLst>
                <a:gd name="T0" fmla="*/ 0 w 116"/>
                <a:gd name="T1" fmla="*/ 113 h 113"/>
                <a:gd name="T2" fmla="*/ 14 w 116"/>
                <a:gd name="T3" fmla="*/ 88 h 113"/>
                <a:gd name="T4" fmla="*/ 30 w 116"/>
                <a:gd name="T5" fmla="*/ 69 h 113"/>
                <a:gd name="T6" fmla="*/ 44 w 116"/>
                <a:gd name="T7" fmla="*/ 49 h 113"/>
                <a:gd name="T8" fmla="*/ 57 w 116"/>
                <a:gd name="T9" fmla="*/ 32 h 113"/>
                <a:gd name="T10" fmla="*/ 73 w 116"/>
                <a:gd name="T11" fmla="*/ 20 h 113"/>
                <a:gd name="T12" fmla="*/ 87 w 116"/>
                <a:gd name="T13" fmla="*/ 8 h 113"/>
                <a:gd name="T14" fmla="*/ 103 w 116"/>
                <a:gd name="T15" fmla="*/ 3 h 113"/>
                <a:gd name="T16" fmla="*/ 116 w 116"/>
                <a:gd name="T17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13">
                  <a:moveTo>
                    <a:pt x="0" y="113"/>
                  </a:moveTo>
                  <a:lnTo>
                    <a:pt x="14" y="88"/>
                  </a:lnTo>
                  <a:lnTo>
                    <a:pt x="30" y="69"/>
                  </a:lnTo>
                  <a:lnTo>
                    <a:pt x="44" y="49"/>
                  </a:lnTo>
                  <a:lnTo>
                    <a:pt x="57" y="32"/>
                  </a:lnTo>
                  <a:lnTo>
                    <a:pt x="73" y="20"/>
                  </a:lnTo>
                  <a:lnTo>
                    <a:pt x="87" y="8"/>
                  </a:lnTo>
                  <a:lnTo>
                    <a:pt x="103" y="3"/>
                  </a:lnTo>
                  <a:lnTo>
                    <a:pt x="116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74" name="Freeform 50"/>
            <p:cNvSpPr>
              <a:spLocks/>
            </p:cNvSpPr>
            <p:nvPr/>
          </p:nvSpPr>
          <p:spPr bwMode="auto">
            <a:xfrm>
              <a:off x="3946" y="1135"/>
              <a:ext cx="119" cy="271"/>
            </a:xfrm>
            <a:custGeom>
              <a:avLst/>
              <a:gdLst>
                <a:gd name="T0" fmla="*/ 0 w 119"/>
                <a:gd name="T1" fmla="*/ 0 h 271"/>
                <a:gd name="T2" fmla="*/ 14 w 119"/>
                <a:gd name="T3" fmla="*/ 34 h 271"/>
                <a:gd name="T4" fmla="*/ 30 w 119"/>
                <a:gd name="T5" fmla="*/ 71 h 271"/>
                <a:gd name="T6" fmla="*/ 60 w 119"/>
                <a:gd name="T7" fmla="*/ 146 h 271"/>
                <a:gd name="T8" fmla="*/ 76 w 119"/>
                <a:gd name="T9" fmla="*/ 181 h 271"/>
                <a:gd name="T10" fmla="*/ 89 w 119"/>
                <a:gd name="T11" fmla="*/ 215 h 271"/>
                <a:gd name="T12" fmla="*/ 106 w 119"/>
                <a:gd name="T13" fmla="*/ 244 h 271"/>
                <a:gd name="T14" fmla="*/ 119 w 119"/>
                <a:gd name="T1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271">
                  <a:moveTo>
                    <a:pt x="0" y="0"/>
                  </a:moveTo>
                  <a:lnTo>
                    <a:pt x="14" y="34"/>
                  </a:lnTo>
                  <a:lnTo>
                    <a:pt x="30" y="71"/>
                  </a:lnTo>
                  <a:lnTo>
                    <a:pt x="60" y="146"/>
                  </a:lnTo>
                  <a:lnTo>
                    <a:pt x="76" y="181"/>
                  </a:lnTo>
                  <a:lnTo>
                    <a:pt x="89" y="215"/>
                  </a:lnTo>
                  <a:lnTo>
                    <a:pt x="106" y="244"/>
                  </a:lnTo>
                  <a:lnTo>
                    <a:pt x="119" y="271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75" name="Freeform 51"/>
            <p:cNvSpPr>
              <a:spLocks/>
            </p:cNvSpPr>
            <p:nvPr/>
          </p:nvSpPr>
          <p:spPr bwMode="auto">
            <a:xfrm>
              <a:off x="4065" y="1406"/>
              <a:ext cx="116" cy="115"/>
            </a:xfrm>
            <a:custGeom>
              <a:avLst/>
              <a:gdLst>
                <a:gd name="T0" fmla="*/ 0 w 116"/>
                <a:gd name="T1" fmla="*/ 0 h 115"/>
                <a:gd name="T2" fmla="*/ 14 w 116"/>
                <a:gd name="T3" fmla="*/ 25 h 115"/>
                <a:gd name="T4" fmla="*/ 30 w 116"/>
                <a:gd name="T5" fmla="*/ 44 h 115"/>
                <a:gd name="T6" fmla="*/ 43 w 116"/>
                <a:gd name="T7" fmla="*/ 64 h 115"/>
                <a:gd name="T8" fmla="*/ 57 w 116"/>
                <a:gd name="T9" fmla="*/ 81 h 115"/>
                <a:gd name="T10" fmla="*/ 73 w 116"/>
                <a:gd name="T11" fmla="*/ 96 h 115"/>
                <a:gd name="T12" fmla="*/ 87 w 116"/>
                <a:gd name="T13" fmla="*/ 105 h 115"/>
                <a:gd name="T14" fmla="*/ 103 w 116"/>
                <a:gd name="T15" fmla="*/ 113 h 115"/>
                <a:gd name="T16" fmla="*/ 116 w 116"/>
                <a:gd name="T1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15">
                  <a:moveTo>
                    <a:pt x="0" y="0"/>
                  </a:moveTo>
                  <a:lnTo>
                    <a:pt x="14" y="25"/>
                  </a:lnTo>
                  <a:lnTo>
                    <a:pt x="30" y="44"/>
                  </a:lnTo>
                  <a:lnTo>
                    <a:pt x="43" y="64"/>
                  </a:lnTo>
                  <a:lnTo>
                    <a:pt x="57" y="81"/>
                  </a:lnTo>
                  <a:lnTo>
                    <a:pt x="73" y="96"/>
                  </a:lnTo>
                  <a:lnTo>
                    <a:pt x="87" y="105"/>
                  </a:lnTo>
                  <a:lnTo>
                    <a:pt x="103" y="113"/>
                  </a:lnTo>
                  <a:lnTo>
                    <a:pt x="116" y="115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76" name="Freeform 52"/>
            <p:cNvSpPr>
              <a:spLocks/>
            </p:cNvSpPr>
            <p:nvPr/>
          </p:nvSpPr>
          <p:spPr bwMode="auto">
            <a:xfrm>
              <a:off x="4181" y="1406"/>
              <a:ext cx="119" cy="115"/>
            </a:xfrm>
            <a:custGeom>
              <a:avLst/>
              <a:gdLst>
                <a:gd name="T0" fmla="*/ 0 w 119"/>
                <a:gd name="T1" fmla="*/ 115 h 115"/>
                <a:gd name="T2" fmla="*/ 14 w 119"/>
                <a:gd name="T3" fmla="*/ 113 h 115"/>
                <a:gd name="T4" fmla="*/ 30 w 119"/>
                <a:gd name="T5" fmla="*/ 105 h 115"/>
                <a:gd name="T6" fmla="*/ 43 w 119"/>
                <a:gd name="T7" fmla="*/ 96 h 115"/>
                <a:gd name="T8" fmla="*/ 60 w 119"/>
                <a:gd name="T9" fmla="*/ 81 h 115"/>
                <a:gd name="T10" fmla="*/ 76 w 119"/>
                <a:gd name="T11" fmla="*/ 64 h 115"/>
                <a:gd name="T12" fmla="*/ 89 w 119"/>
                <a:gd name="T13" fmla="*/ 44 h 115"/>
                <a:gd name="T14" fmla="*/ 106 w 119"/>
                <a:gd name="T15" fmla="*/ 25 h 115"/>
                <a:gd name="T16" fmla="*/ 119 w 119"/>
                <a:gd name="T1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15">
                  <a:moveTo>
                    <a:pt x="0" y="115"/>
                  </a:moveTo>
                  <a:lnTo>
                    <a:pt x="14" y="113"/>
                  </a:lnTo>
                  <a:lnTo>
                    <a:pt x="30" y="105"/>
                  </a:lnTo>
                  <a:lnTo>
                    <a:pt x="43" y="96"/>
                  </a:lnTo>
                  <a:lnTo>
                    <a:pt x="60" y="81"/>
                  </a:lnTo>
                  <a:lnTo>
                    <a:pt x="76" y="64"/>
                  </a:lnTo>
                  <a:lnTo>
                    <a:pt x="89" y="44"/>
                  </a:lnTo>
                  <a:lnTo>
                    <a:pt x="106" y="25"/>
                  </a:lnTo>
                  <a:lnTo>
                    <a:pt x="119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77" name="Freeform 53"/>
            <p:cNvSpPr>
              <a:spLocks/>
            </p:cNvSpPr>
            <p:nvPr/>
          </p:nvSpPr>
          <p:spPr bwMode="auto">
            <a:xfrm>
              <a:off x="4300" y="1135"/>
              <a:ext cx="116" cy="271"/>
            </a:xfrm>
            <a:custGeom>
              <a:avLst/>
              <a:gdLst>
                <a:gd name="T0" fmla="*/ 0 w 116"/>
                <a:gd name="T1" fmla="*/ 271 h 271"/>
                <a:gd name="T2" fmla="*/ 14 w 116"/>
                <a:gd name="T3" fmla="*/ 244 h 271"/>
                <a:gd name="T4" fmla="*/ 30 w 116"/>
                <a:gd name="T5" fmla="*/ 215 h 271"/>
                <a:gd name="T6" fmla="*/ 43 w 116"/>
                <a:gd name="T7" fmla="*/ 181 h 271"/>
                <a:gd name="T8" fmla="*/ 57 w 116"/>
                <a:gd name="T9" fmla="*/ 146 h 271"/>
                <a:gd name="T10" fmla="*/ 86 w 116"/>
                <a:gd name="T11" fmla="*/ 71 h 271"/>
                <a:gd name="T12" fmla="*/ 103 w 116"/>
                <a:gd name="T13" fmla="*/ 34 h 271"/>
                <a:gd name="T14" fmla="*/ 116 w 116"/>
                <a:gd name="T15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271">
                  <a:moveTo>
                    <a:pt x="0" y="271"/>
                  </a:moveTo>
                  <a:lnTo>
                    <a:pt x="14" y="244"/>
                  </a:lnTo>
                  <a:lnTo>
                    <a:pt x="30" y="215"/>
                  </a:lnTo>
                  <a:lnTo>
                    <a:pt x="43" y="181"/>
                  </a:lnTo>
                  <a:lnTo>
                    <a:pt x="57" y="146"/>
                  </a:lnTo>
                  <a:lnTo>
                    <a:pt x="86" y="71"/>
                  </a:lnTo>
                  <a:lnTo>
                    <a:pt x="103" y="34"/>
                  </a:lnTo>
                  <a:lnTo>
                    <a:pt x="116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78" name="Line 54"/>
            <p:cNvSpPr>
              <a:spLocks noChangeShapeType="1"/>
            </p:cNvSpPr>
            <p:nvPr/>
          </p:nvSpPr>
          <p:spPr bwMode="auto">
            <a:xfrm>
              <a:off x="4886" y="1135"/>
              <a:ext cx="119" cy="27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79" name="Line 55"/>
            <p:cNvSpPr>
              <a:spLocks noChangeShapeType="1"/>
            </p:cNvSpPr>
            <p:nvPr/>
          </p:nvSpPr>
          <p:spPr bwMode="auto">
            <a:xfrm flipV="1">
              <a:off x="3853" y="432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80" name="Text Box 56"/>
            <p:cNvSpPr txBox="1">
              <a:spLocks noChangeArrowheads="1"/>
            </p:cNvSpPr>
            <p:nvPr/>
          </p:nvSpPr>
          <p:spPr bwMode="auto">
            <a:xfrm>
              <a:off x="5113" y="1057"/>
              <a:ext cx="3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>
                  <a:sym typeface="Symbol" pitchFamily="18" charset="2"/>
                </a:rPr>
                <a:t> </a:t>
              </a:r>
              <a:r>
                <a:rPr lang="en-US" altLang="zh-CN" sz="2000" i="1" dirty="0"/>
                <a:t>t</a:t>
              </a:r>
              <a:endParaRPr lang="en-US" altLang="zh-CN" sz="2000" dirty="0"/>
            </a:p>
          </p:txBody>
        </p:sp>
        <p:sp>
          <p:nvSpPr>
            <p:cNvPr id="410681" name="Text Box 57"/>
            <p:cNvSpPr txBox="1">
              <a:spLocks noChangeArrowheads="1"/>
            </p:cNvSpPr>
            <p:nvPr/>
          </p:nvSpPr>
          <p:spPr bwMode="auto">
            <a:xfrm>
              <a:off x="3649" y="305"/>
              <a:ext cx="1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v</a:t>
              </a:r>
              <a:endParaRPr lang="en-US" altLang="zh-CN" sz="2000" dirty="0"/>
            </a:p>
          </p:txBody>
        </p:sp>
        <p:sp>
          <p:nvSpPr>
            <p:cNvPr id="410682" name="Text Box 58"/>
            <p:cNvSpPr txBox="1">
              <a:spLocks noChangeArrowheads="1"/>
            </p:cNvSpPr>
            <p:nvPr/>
          </p:nvSpPr>
          <p:spPr bwMode="auto">
            <a:xfrm>
              <a:off x="3699" y="104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/>
                <a:t>0</a:t>
              </a:r>
            </a:p>
          </p:txBody>
        </p:sp>
        <p:sp>
          <p:nvSpPr>
            <p:cNvPr id="410683" name="Text Box 59"/>
            <p:cNvSpPr txBox="1">
              <a:spLocks noChangeArrowheads="1"/>
            </p:cNvSpPr>
            <p:nvPr/>
          </p:nvSpPr>
          <p:spPr bwMode="auto">
            <a:xfrm>
              <a:off x="3661" y="13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 dirty="0">
                  <a:latin typeface="Symbol" pitchFamily="18" charset="2"/>
                  <a:sym typeface="Symbol" pitchFamily="18" charset="2"/>
                </a:rPr>
                <a:t>q</a:t>
              </a:r>
            </a:p>
          </p:txBody>
        </p:sp>
        <p:sp>
          <p:nvSpPr>
            <p:cNvPr id="410684" name="Line 60"/>
            <p:cNvSpPr>
              <a:spLocks noChangeShapeType="1"/>
            </p:cNvSpPr>
            <p:nvPr/>
          </p:nvSpPr>
          <p:spPr bwMode="auto">
            <a:xfrm>
              <a:off x="3714" y="757"/>
              <a:ext cx="0" cy="8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685" name="Line 61"/>
            <p:cNvSpPr>
              <a:spLocks noChangeShapeType="1"/>
            </p:cNvSpPr>
            <p:nvPr/>
          </p:nvSpPr>
          <p:spPr bwMode="auto">
            <a:xfrm>
              <a:off x="3557" y="1483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686" name="Line 62"/>
            <p:cNvSpPr>
              <a:spLocks noChangeShapeType="1"/>
            </p:cNvSpPr>
            <p:nvPr/>
          </p:nvSpPr>
          <p:spPr bwMode="auto">
            <a:xfrm flipH="1">
              <a:off x="3839" y="1483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687" name="Freeform 63"/>
            <p:cNvSpPr>
              <a:spLocks/>
            </p:cNvSpPr>
            <p:nvPr/>
          </p:nvSpPr>
          <p:spPr bwMode="auto">
            <a:xfrm>
              <a:off x="3711" y="748"/>
              <a:ext cx="119" cy="113"/>
            </a:xfrm>
            <a:custGeom>
              <a:avLst/>
              <a:gdLst>
                <a:gd name="T0" fmla="*/ 0 w 119"/>
                <a:gd name="T1" fmla="*/ 0 h 113"/>
                <a:gd name="T2" fmla="*/ 14 w 119"/>
                <a:gd name="T3" fmla="*/ 3 h 113"/>
                <a:gd name="T4" fmla="*/ 30 w 119"/>
                <a:gd name="T5" fmla="*/ 8 h 113"/>
                <a:gd name="T6" fmla="*/ 44 w 119"/>
                <a:gd name="T7" fmla="*/ 20 h 113"/>
                <a:gd name="T8" fmla="*/ 60 w 119"/>
                <a:gd name="T9" fmla="*/ 32 h 113"/>
                <a:gd name="T10" fmla="*/ 76 w 119"/>
                <a:gd name="T11" fmla="*/ 49 h 113"/>
                <a:gd name="T12" fmla="*/ 90 w 119"/>
                <a:gd name="T13" fmla="*/ 69 h 113"/>
                <a:gd name="T14" fmla="*/ 106 w 119"/>
                <a:gd name="T15" fmla="*/ 88 h 113"/>
                <a:gd name="T16" fmla="*/ 119 w 119"/>
                <a:gd name="T17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13">
                  <a:moveTo>
                    <a:pt x="0" y="0"/>
                  </a:moveTo>
                  <a:lnTo>
                    <a:pt x="14" y="3"/>
                  </a:lnTo>
                  <a:lnTo>
                    <a:pt x="30" y="8"/>
                  </a:lnTo>
                  <a:lnTo>
                    <a:pt x="44" y="20"/>
                  </a:lnTo>
                  <a:lnTo>
                    <a:pt x="60" y="32"/>
                  </a:lnTo>
                  <a:lnTo>
                    <a:pt x="76" y="49"/>
                  </a:lnTo>
                  <a:lnTo>
                    <a:pt x="90" y="69"/>
                  </a:lnTo>
                  <a:lnTo>
                    <a:pt x="106" y="88"/>
                  </a:lnTo>
                  <a:lnTo>
                    <a:pt x="119" y="113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" name="Text Box 56"/>
          <p:cNvSpPr txBox="1">
            <a:spLocks noChangeArrowheads="1"/>
          </p:cNvSpPr>
          <p:nvPr/>
        </p:nvSpPr>
        <p:spPr bwMode="auto">
          <a:xfrm>
            <a:off x="539750" y="1927486"/>
            <a:ext cx="2659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一、</a:t>
            </a:r>
            <a:r>
              <a:rPr lang="zh-CN" altLang="en-US" sz="2400" dirty="0">
                <a:solidFill>
                  <a:srgbClr val="990033"/>
                </a:solidFill>
              </a:rPr>
              <a:t>正弦量</a:t>
            </a:r>
            <a:r>
              <a:rPr lang="zh-CN" altLang="en-US" sz="2400" dirty="0" smtClean="0">
                <a:solidFill>
                  <a:srgbClr val="990033"/>
                </a:solidFill>
              </a:rPr>
              <a:t>的定义</a:t>
            </a:r>
            <a:endParaRPr lang="zh-CN" altLang="en-US" sz="2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41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500"/>
                                        <p:tgtEl>
                                          <p:spTgt spid="4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8" grpId="0" autoUpdateAnimBg="0"/>
      <p:bldP spid="410629" grpId="0" autoUpdateAnimBg="0"/>
      <p:bldP spid="410630" grpId="0" autoUpdateAnimBg="0"/>
      <p:bldP spid="410631" grpId="0" autoUpdateAnimBg="0"/>
      <p:bldP spid="410632" grpId="0" autoUpdateAnimBg="0"/>
      <p:bldP spid="410657" grpId="0" autoUpdateAnimBg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ChangeArrowheads="1"/>
          </p:cNvSpPr>
          <p:nvPr/>
        </p:nvSpPr>
        <p:spPr bwMode="auto">
          <a:xfrm>
            <a:off x="390525" y="1924050"/>
            <a:ext cx="4343400" cy="426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12395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chemeClr val="tx1"/>
              </a:buClr>
              <a:buFontTx/>
              <a:buAutoNum type="arabicParenBoth"/>
            </a:pPr>
            <a:r>
              <a:rPr lang="zh-CN" altLang="zh-CN" sz="2000" dirty="0">
                <a:solidFill>
                  <a:srgbClr val="FF0000"/>
                </a:solidFill>
              </a:rPr>
              <a:t>幅值</a:t>
            </a:r>
            <a:r>
              <a:rPr lang="zh-CN" altLang="zh-CN" sz="2000" dirty="0"/>
              <a:t> </a:t>
            </a:r>
            <a:r>
              <a:rPr lang="en-US" altLang="zh-CN" sz="2000" dirty="0"/>
              <a:t>(</a:t>
            </a:r>
            <a:r>
              <a:rPr lang="zh-CN" altLang="en-US" sz="2000" dirty="0"/>
              <a:t>振幅、 最大值</a:t>
            </a:r>
            <a:r>
              <a:rPr lang="en-US" altLang="zh-CN" sz="2000" dirty="0" smtClean="0"/>
              <a:t>) </a:t>
            </a:r>
            <a:r>
              <a:rPr lang="en-US" altLang="zh-CN" sz="2000" i="1" dirty="0" err="1" smtClean="0">
                <a:solidFill>
                  <a:srgbClr val="FF0000"/>
                </a:solidFill>
              </a:rPr>
              <a:t>V</a:t>
            </a:r>
            <a:r>
              <a:rPr lang="en-US" altLang="zh-CN" sz="2000" i="1" baseline="-25000" dirty="0" err="1" smtClean="0">
                <a:solidFill>
                  <a:srgbClr val="FF0000"/>
                </a:solidFill>
              </a:rPr>
              <a:t>m</a:t>
            </a:r>
            <a:endParaRPr lang="en-US" altLang="zh-CN" sz="2000" i="1" dirty="0"/>
          </a:p>
        </p:txBody>
      </p:sp>
      <p:graphicFrame>
        <p:nvGraphicFramePr>
          <p:cNvPr id="411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426931"/>
              </p:ext>
            </p:extLst>
          </p:nvPr>
        </p:nvGraphicFramePr>
        <p:xfrm>
          <a:off x="1066800" y="5581650"/>
          <a:ext cx="43656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35" name="Equation" r:id="rId3" imgW="2184120" imgH="393480" progId="Equation.3">
                  <p:embed/>
                </p:oleObj>
              </mc:Choice>
              <mc:Fallback>
                <p:oleObj name="Equation" r:id="rId3" imgW="218412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581650"/>
                        <a:ext cx="4365625" cy="784225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652" name="Group 4"/>
          <p:cNvGrpSpPr>
            <a:grpSpLocks/>
          </p:cNvGrpSpPr>
          <p:nvPr/>
        </p:nvGrpSpPr>
        <p:grpSpPr bwMode="auto">
          <a:xfrm>
            <a:off x="381000" y="2762250"/>
            <a:ext cx="7905750" cy="1111250"/>
            <a:chOff x="564" y="986"/>
            <a:chExt cx="4980" cy="700"/>
          </a:xfrm>
        </p:grpSpPr>
        <p:sp>
          <p:nvSpPr>
            <p:cNvPr id="411653" name="Text Box 5"/>
            <p:cNvSpPr txBox="1">
              <a:spLocks noChangeArrowheads="1"/>
            </p:cNvSpPr>
            <p:nvPr/>
          </p:nvSpPr>
          <p:spPr bwMode="auto">
            <a:xfrm>
              <a:off x="564" y="986"/>
              <a:ext cx="49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76250" indent="-47625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66675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r>
                <a:rPr lang="en-US" altLang="zh-CN" sz="2000" dirty="0">
                  <a:latin typeface="Symbol" pitchFamily="18" charset="2"/>
                </a:rPr>
                <a:t>(2) </a:t>
              </a:r>
              <a:r>
                <a:rPr lang="en-US" altLang="zh-CN" sz="2000" dirty="0" smtClean="0">
                  <a:latin typeface="Symbol" pitchFamily="18" charset="2"/>
                </a:rPr>
                <a:t> </a:t>
              </a:r>
              <a:r>
                <a:rPr lang="zh-CN" altLang="en-US" sz="2000" dirty="0" smtClean="0">
                  <a:solidFill>
                    <a:srgbClr val="FF0000"/>
                  </a:solidFill>
                  <a:latin typeface="Symbol" pitchFamily="18" charset="2"/>
                </a:rPr>
                <a:t>角频率 </a:t>
              </a:r>
              <a:r>
                <a:rPr lang="en-US" altLang="zh-CN" sz="2000" i="1" dirty="0" smtClean="0">
                  <a:solidFill>
                    <a:srgbClr val="FF0000"/>
                  </a:solidFill>
                  <a:latin typeface="Symbol" pitchFamily="18" charset="2"/>
                </a:rPr>
                <a:t>w</a:t>
              </a:r>
              <a:r>
                <a:rPr lang="en-US" altLang="zh-CN" sz="2000" i="1" dirty="0" smtClean="0">
                  <a:latin typeface="Symbol" pitchFamily="18" charset="2"/>
                </a:rPr>
                <a:t> </a:t>
              </a:r>
              <a:r>
                <a:rPr lang="zh-CN" altLang="en-US" sz="2000" dirty="0">
                  <a:latin typeface="Symbol" pitchFamily="18" charset="2"/>
                </a:rPr>
                <a:t>： </a:t>
              </a:r>
              <a:r>
                <a:rPr lang="zh-CN" altLang="en-US" sz="2000" dirty="0"/>
                <a:t>反映正弦量变化的快慢。 </a:t>
              </a:r>
              <a:r>
                <a:rPr lang="en-US" altLang="zh-CN" sz="2000" i="1" dirty="0">
                  <a:latin typeface="Symbol" pitchFamily="18" charset="2"/>
                </a:rPr>
                <a:t>w</a:t>
              </a:r>
              <a:r>
                <a:rPr lang="en-US" altLang="zh-CN" sz="2000" dirty="0"/>
                <a:t> </a:t>
              </a:r>
              <a:r>
                <a:rPr lang="en-US" altLang="zh-CN" sz="2000" dirty="0" smtClean="0"/>
                <a:t>= d(</a:t>
              </a:r>
              <a:r>
                <a:rPr lang="en-US" altLang="zh-CN" sz="2000" i="1" dirty="0" smtClean="0">
                  <a:latin typeface="Symbol" pitchFamily="18" charset="2"/>
                </a:rPr>
                <a:t>w </a:t>
              </a:r>
              <a:r>
                <a:rPr lang="en-US" altLang="zh-CN" sz="2000" i="1" dirty="0" smtClean="0"/>
                <a:t>t +</a:t>
              </a:r>
              <a:r>
                <a:rPr lang="en-US" altLang="zh-CN" sz="2000" i="1" dirty="0">
                  <a:latin typeface="Symbol" pitchFamily="18" charset="2"/>
                  <a:sym typeface="Symbol" pitchFamily="18" charset="2"/>
                </a:rPr>
                <a:t>q</a:t>
              </a:r>
              <a:r>
                <a:rPr lang="en-US" altLang="zh-CN" sz="2000" i="1" dirty="0">
                  <a:sym typeface="Symbol" pitchFamily="18" charset="2"/>
                </a:rPr>
                <a:t> </a:t>
              </a:r>
              <a:r>
                <a:rPr lang="en-US" altLang="zh-CN" sz="2000" dirty="0" smtClean="0">
                  <a:sym typeface="Symbol" pitchFamily="18" charset="2"/>
                </a:rPr>
                <a:t>) / </a:t>
              </a:r>
              <a:r>
                <a:rPr lang="en-US" altLang="zh-CN" sz="2000" dirty="0" err="1" smtClean="0">
                  <a:sym typeface="Symbol" pitchFamily="18" charset="2"/>
                </a:rPr>
                <a:t>d</a:t>
              </a:r>
              <a:r>
                <a:rPr lang="en-US" altLang="zh-CN" sz="2000" i="1" dirty="0" err="1" smtClean="0">
                  <a:sym typeface="Symbol" pitchFamily="18" charset="2"/>
                </a:rPr>
                <a:t>t</a:t>
              </a:r>
              <a:endParaRPr lang="en-US" altLang="zh-CN" sz="2000" dirty="0"/>
            </a:p>
          </p:txBody>
        </p:sp>
        <p:sp>
          <p:nvSpPr>
            <p:cNvPr id="411654" name="Text Box 6"/>
            <p:cNvSpPr txBox="1">
              <a:spLocks noChangeArrowheads="1"/>
            </p:cNvSpPr>
            <p:nvPr/>
          </p:nvSpPr>
          <p:spPr bwMode="auto">
            <a:xfrm>
              <a:off x="842" y="1426"/>
              <a:ext cx="17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/>
                <a:t>单位时间内变化的角度</a:t>
              </a:r>
            </a:p>
          </p:txBody>
        </p:sp>
        <p:sp>
          <p:nvSpPr>
            <p:cNvPr id="411655" name="Rectangle 7"/>
            <p:cNvSpPr>
              <a:spLocks noChangeArrowheads="1"/>
            </p:cNvSpPr>
            <p:nvPr/>
          </p:nvSpPr>
          <p:spPr bwMode="auto">
            <a:xfrm>
              <a:off x="2952" y="1436"/>
              <a:ext cx="167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/>
                <a:t>单位： </a:t>
              </a:r>
              <a:r>
                <a:rPr lang="en-US" altLang="zh-CN" sz="2000"/>
                <a:t>rad/s</a:t>
              </a:r>
              <a:r>
                <a:rPr lang="zh-CN" altLang="en-US" sz="2000"/>
                <a:t>，</a:t>
              </a:r>
              <a:r>
                <a:rPr lang="zh-CN" altLang="zh-CN" sz="2000"/>
                <a:t>弧度</a:t>
              </a:r>
              <a:r>
                <a:rPr lang="en-US" altLang="zh-CN" sz="2000"/>
                <a:t>/</a:t>
              </a:r>
              <a:r>
                <a:rPr lang="zh-CN" altLang="en-US" sz="2000"/>
                <a:t>秒</a:t>
              </a:r>
              <a:endParaRPr lang="zh-CN" altLang="en-US" sz="2000" baseline="30000"/>
            </a:p>
          </p:txBody>
        </p:sp>
      </p:grpSp>
      <p:sp>
        <p:nvSpPr>
          <p:cNvPr id="411656" name="Text Box 8"/>
          <p:cNvSpPr txBox="1">
            <a:spLocks noChangeArrowheads="1"/>
          </p:cNvSpPr>
          <p:nvPr/>
        </p:nvSpPr>
        <p:spPr bwMode="auto">
          <a:xfrm>
            <a:off x="696313" y="4106863"/>
            <a:ext cx="56861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 smtClean="0">
                <a:solidFill>
                  <a:srgbClr val="6600FF"/>
                </a:solidFill>
              </a:rPr>
              <a:t>周期 </a:t>
            </a:r>
            <a:r>
              <a:rPr lang="en-US" altLang="zh-CN" sz="2000" i="1" dirty="0" smtClean="0">
                <a:solidFill>
                  <a:srgbClr val="6600FF"/>
                </a:solidFill>
              </a:rPr>
              <a:t>T</a:t>
            </a:r>
            <a:r>
              <a:rPr lang="en-US" altLang="zh-CN" sz="2000" i="1" dirty="0" smtClean="0"/>
              <a:t> </a:t>
            </a:r>
            <a:r>
              <a:rPr lang="en-US" altLang="zh-CN" sz="2000" dirty="0">
                <a:solidFill>
                  <a:srgbClr val="6600FF"/>
                </a:solidFill>
              </a:rPr>
              <a:t>: </a:t>
            </a:r>
            <a:r>
              <a:rPr lang="zh-CN" altLang="en-US" sz="2000" dirty="0"/>
              <a:t>完成一个循环变化所需时间，</a:t>
            </a:r>
            <a:r>
              <a:rPr lang="zh-CN" altLang="en-US" sz="2000" dirty="0" smtClean="0"/>
              <a:t>单位：</a:t>
            </a:r>
            <a:r>
              <a:rPr lang="en-US" altLang="zh-CN" sz="2000" dirty="0" smtClean="0"/>
              <a:t>s 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sp>
        <p:nvSpPr>
          <p:cNvPr id="411657" name="Text Box 9"/>
          <p:cNvSpPr txBox="1">
            <a:spLocks noChangeArrowheads="1"/>
          </p:cNvSpPr>
          <p:nvPr/>
        </p:nvSpPr>
        <p:spPr bwMode="auto">
          <a:xfrm>
            <a:off x="685800" y="4792663"/>
            <a:ext cx="53110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 smtClean="0">
                <a:solidFill>
                  <a:srgbClr val="6600FF"/>
                </a:solidFill>
              </a:rPr>
              <a:t>频率 </a:t>
            </a:r>
            <a:r>
              <a:rPr lang="en-US" altLang="zh-CN" sz="2000" i="1" dirty="0" smtClean="0">
                <a:solidFill>
                  <a:srgbClr val="6600FF"/>
                </a:solidFill>
              </a:rPr>
              <a:t>f</a:t>
            </a:r>
            <a:r>
              <a:rPr lang="en-US" altLang="zh-CN" sz="2000" dirty="0" smtClean="0">
                <a:solidFill>
                  <a:srgbClr val="6600FF"/>
                </a:solidFill>
              </a:rPr>
              <a:t> </a:t>
            </a:r>
            <a:r>
              <a:rPr lang="en-US" altLang="zh-CN" sz="2000" dirty="0">
                <a:solidFill>
                  <a:srgbClr val="6600FF"/>
                </a:solidFill>
              </a:rPr>
              <a:t>: </a:t>
            </a:r>
            <a:r>
              <a:rPr lang="zh-CN" altLang="en-US" sz="2000" dirty="0"/>
              <a:t>每秒钟完成循环的次数，单位：</a:t>
            </a:r>
            <a:r>
              <a:rPr lang="en-US" altLang="zh-CN" sz="2000" dirty="0" smtClean="0"/>
              <a:t>Hz 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411689" name="Rectangle 41"/>
          <p:cNvSpPr>
            <a:spLocks noChangeArrowheads="1"/>
          </p:cNvSpPr>
          <p:nvPr/>
        </p:nvSpPr>
        <p:spPr bwMode="auto">
          <a:xfrm>
            <a:off x="1828800" y="304800"/>
            <a:ext cx="266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i="1" dirty="0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= </a:t>
            </a:r>
            <a:r>
              <a:rPr lang="en-US" altLang="zh-CN" i="1" dirty="0" err="1" smtClean="0"/>
              <a:t>V</a:t>
            </a:r>
            <a:r>
              <a:rPr lang="en-US" altLang="zh-CN" i="1" baseline="-25000" dirty="0" err="1" smtClean="0"/>
              <a:t>m</a:t>
            </a:r>
            <a:r>
              <a:rPr lang="en-US" altLang="zh-CN" i="1" baseline="-25000" dirty="0" smtClean="0"/>
              <a:t> </a:t>
            </a:r>
            <a:r>
              <a:rPr lang="en-US" altLang="zh-CN" dirty="0" smtClean="0"/>
              <a:t>cos(</a:t>
            </a:r>
            <a:r>
              <a:rPr lang="en-US" altLang="zh-CN" i="1" dirty="0" smtClean="0">
                <a:latin typeface="Symbol" pitchFamily="18" charset="2"/>
              </a:rPr>
              <a:t>w </a:t>
            </a:r>
            <a:r>
              <a:rPr lang="en-US" altLang="zh-CN" i="1" dirty="0" err="1"/>
              <a:t>t</a:t>
            </a:r>
            <a:r>
              <a:rPr lang="en-US" altLang="zh-CN" dirty="0" err="1"/>
              <a:t>+</a:t>
            </a:r>
            <a:r>
              <a:rPr lang="en-US" altLang="zh-CN" i="1" dirty="0" err="1">
                <a:latin typeface="Symbol" pitchFamily="18" charset="2"/>
                <a:sym typeface="Symbol" pitchFamily="18" charset="2"/>
              </a:rPr>
              <a:t>q</a:t>
            </a:r>
            <a:r>
              <a:rPr lang="en-US" altLang="zh-CN" i="1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CN" dirty="0"/>
              <a:t>)</a:t>
            </a:r>
          </a:p>
        </p:txBody>
      </p:sp>
      <p:sp>
        <p:nvSpPr>
          <p:cNvPr id="411690" name="Rectangle 42"/>
          <p:cNvSpPr>
            <a:spLocks noChangeArrowheads="1"/>
          </p:cNvSpPr>
          <p:nvPr/>
        </p:nvSpPr>
        <p:spPr bwMode="auto">
          <a:xfrm>
            <a:off x="457200" y="1238250"/>
            <a:ext cx="3167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990033"/>
                </a:solidFill>
              </a:rPr>
              <a:t>正弦量</a:t>
            </a:r>
            <a:r>
              <a:rPr lang="zh-CN" altLang="en-US" dirty="0">
                <a:solidFill>
                  <a:srgbClr val="990033"/>
                </a:solidFill>
              </a:rPr>
              <a:t>的三要素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891880" y="273049"/>
            <a:ext cx="3871915" cy="2108201"/>
            <a:chOff x="5418137" y="188912"/>
            <a:chExt cx="3871915" cy="2108201"/>
          </a:xfrm>
        </p:grpSpPr>
        <p:grpSp>
          <p:nvGrpSpPr>
            <p:cNvPr id="411700" name="Group 52"/>
            <p:cNvGrpSpPr>
              <a:grpSpLocks/>
            </p:cNvGrpSpPr>
            <p:nvPr/>
          </p:nvGrpSpPr>
          <p:grpSpPr bwMode="auto">
            <a:xfrm>
              <a:off x="7226303" y="488952"/>
              <a:ext cx="1481138" cy="1031875"/>
              <a:chOff x="3946" y="439"/>
              <a:chExt cx="933" cy="650"/>
            </a:xfrm>
          </p:grpSpPr>
          <p:sp>
            <p:nvSpPr>
              <p:cNvPr id="411684" name="Line 36"/>
              <p:cNvSpPr>
                <a:spLocks noChangeShapeType="1"/>
              </p:cNvSpPr>
              <p:nvPr/>
            </p:nvSpPr>
            <p:spPr bwMode="auto">
              <a:xfrm>
                <a:off x="3946" y="538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1685" name="Line 37"/>
              <p:cNvSpPr>
                <a:spLocks noChangeShapeType="1"/>
              </p:cNvSpPr>
              <p:nvPr/>
            </p:nvSpPr>
            <p:spPr bwMode="auto">
              <a:xfrm>
                <a:off x="4876" y="561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1687" name="Line 39"/>
              <p:cNvSpPr>
                <a:spLocks noChangeShapeType="1"/>
              </p:cNvSpPr>
              <p:nvPr/>
            </p:nvSpPr>
            <p:spPr bwMode="auto">
              <a:xfrm flipV="1">
                <a:off x="3946" y="665"/>
                <a:ext cx="933" cy="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1688" name="Text Box 40"/>
              <p:cNvSpPr txBox="1">
                <a:spLocks noChangeArrowheads="1"/>
              </p:cNvSpPr>
              <p:nvPr/>
            </p:nvSpPr>
            <p:spPr bwMode="auto">
              <a:xfrm>
                <a:off x="4119" y="439"/>
                <a:ext cx="6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1" dirty="0">
                    <a:sym typeface="Symbol" pitchFamily="18" charset="2"/>
                  </a:rPr>
                  <a:t></a:t>
                </a:r>
                <a:r>
                  <a:rPr lang="en-US" altLang="zh-CN" sz="2000" i="1" dirty="0" smtClean="0"/>
                  <a:t>T </a:t>
                </a:r>
                <a:r>
                  <a:rPr lang="en-US" altLang="zh-CN" sz="2000" dirty="0" smtClean="0"/>
                  <a:t>= 2</a:t>
                </a:r>
                <a:r>
                  <a:rPr lang="en-US" altLang="zh-CN" sz="2000" dirty="0">
                    <a:sym typeface="Symbol" pitchFamily="18" charset="2"/>
                  </a:rPr>
                  <a:t></a:t>
                </a:r>
                <a:endParaRPr lang="en-US" altLang="zh-CN" sz="2000" i="1" dirty="0"/>
              </a:p>
            </p:txBody>
          </p:sp>
        </p:grpSp>
        <p:sp>
          <p:nvSpPr>
            <p:cNvPr id="411679" name="Freeform 31"/>
            <p:cNvSpPr>
              <a:spLocks/>
            </p:cNvSpPr>
            <p:nvPr/>
          </p:nvSpPr>
          <p:spPr bwMode="auto">
            <a:xfrm>
              <a:off x="7210426" y="1119188"/>
              <a:ext cx="188913" cy="434975"/>
            </a:xfrm>
            <a:custGeom>
              <a:avLst/>
              <a:gdLst>
                <a:gd name="T0" fmla="*/ 0 w 119"/>
                <a:gd name="T1" fmla="*/ 274 h 274"/>
                <a:gd name="T2" fmla="*/ 14 w 119"/>
                <a:gd name="T3" fmla="*/ 240 h 274"/>
                <a:gd name="T4" fmla="*/ 30 w 119"/>
                <a:gd name="T5" fmla="*/ 203 h 274"/>
                <a:gd name="T6" fmla="*/ 60 w 119"/>
                <a:gd name="T7" fmla="*/ 127 h 274"/>
                <a:gd name="T8" fmla="*/ 76 w 119"/>
                <a:gd name="T9" fmla="*/ 90 h 274"/>
                <a:gd name="T10" fmla="*/ 89 w 119"/>
                <a:gd name="T11" fmla="*/ 56 h 274"/>
                <a:gd name="T12" fmla="*/ 105 w 119"/>
                <a:gd name="T13" fmla="*/ 27 h 274"/>
                <a:gd name="T14" fmla="*/ 119 w 119"/>
                <a:gd name="T15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274">
                  <a:moveTo>
                    <a:pt x="0" y="274"/>
                  </a:moveTo>
                  <a:lnTo>
                    <a:pt x="14" y="240"/>
                  </a:lnTo>
                  <a:lnTo>
                    <a:pt x="30" y="203"/>
                  </a:lnTo>
                  <a:lnTo>
                    <a:pt x="60" y="127"/>
                  </a:lnTo>
                  <a:lnTo>
                    <a:pt x="76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9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80" name="Freeform 32"/>
            <p:cNvSpPr>
              <a:spLocks/>
            </p:cNvSpPr>
            <p:nvPr/>
          </p:nvSpPr>
          <p:spPr bwMode="auto">
            <a:xfrm>
              <a:off x="7399338" y="939800"/>
              <a:ext cx="184150" cy="179387"/>
            </a:xfrm>
            <a:custGeom>
              <a:avLst/>
              <a:gdLst>
                <a:gd name="T0" fmla="*/ 0 w 116"/>
                <a:gd name="T1" fmla="*/ 113 h 113"/>
                <a:gd name="T2" fmla="*/ 13 w 116"/>
                <a:gd name="T3" fmla="*/ 88 h 113"/>
                <a:gd name="T4" fmla="*/ 30 w 116"/>
                <a:gd name="T5" fmla="*/ 69 h 113"/>
                <a:gd name="T6" fmla="*/ 43 w 116"/>
                <a:gd name="T7" fmla="*/ 49 h 113"/>
                <a:gd name="T8" fmla="*/ 57 w 116"/>
                <a:gd name="T9" fmla="*/ 32 h 113"/>
                <a:gd name="T10" fmla="*/ 73 w 116"/>
                <a:gd name="T11" fmla="*/ 20 h 113"/>
                <a:gd name="T12" fmla="*/ 86 w 116"/>
                <a:gd name="T13" fmla="*/ 8 h 113"/>
                <a:gd name="T14" fmla="*/ 103 w 116"/>
                <a:gd name="T15" fmla="*/ 3 h 113"/>
                <a:gd name="T16" fmla="*/ 116 w 116"/>
                <a:gd name="T17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13">
                  <a:moveTo>
                    <a:pt x="0" y="113"/>
                  </a:moveTo>
                  <a:lnTo>
                    <a:pt x="13" y="88"/>
                  </a:lnTo>
                  <a:lnTo>
                    <a:pt x="30" y="69"/>
                  </a:lnTo>
                  <a:lnTo>
                    <a:pt x="43" y="49"/>
                  </a:lnTo>
                  <a:lnTo>
                    <a:pt x="57" y="32"/>
                  </a:lnTo>
                  <a:lnTo>
                    <a:pt x="73" y="20"/>
                  </a:lnTo>
                  <a:lnTo>
                    <a:pt x="86" y="8"/>
                  </a:lnTo>
                  <a:lnTo>
                    <a:pt x="103" y="3"/>
                  </a:lnTo>
                  <a:lnTo>
                    <a:pt x="116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81" name="Freeform 33"/>
            <p:cNvSpPr>
              <a:spLocks/>
            </p:cNvSpPr>
            <p:nvPr/>
          </p:nvSpPr>
          <p:spPr bwMode="auto">
            <a:xfrm>
              <a:off x="7583488" y="939800"/>
              <a:ext cx="188913" cy="179387"/>
            </a:xfrm>
            <a:custGeom>
              <a:avLst/>
              <a:gdLst>
                <a:gd name="T0" fmla="*/ 0 w 119"/>
                <a:gd name="T1" fmla="*/ 0 h 113"/>
                <a:gd name="T2" fmla="*/ 14 w 119"/>
                <a:gd name="T3" fmla="*/ 3 h 113"/>
                <a:gd name="T4" fmla="*/ 30 w 119"/>
                <a:gd name="T5" fmla="*/ 8 h 113"/>
                <a:gd name="T6" fmla="*/ 43 w 119"/>
                <a:gd name="T7" fmla="*/ 20 h 113"/>
                <a:gd name="T8" fmla="*/ 59 w 119"/>
                <a:gd name="T9" fmla="*/ 32 h 113"/>
                <a:gd name="T10" fmla="*/ 76 w 119"/>
                <a:gd name="T11" fmla="*/ 49 h 113"/>
                <a:gd name="T12" fmla="*/ 89 w 119"/>
                <a:gd name="T13" fmla="*/ 69 h 113"/>
                <a:gd name="T14" fmla="*/ 105 w 119"/>
                <a:gd name="T15" fmla="*/ 88 h 113"/>
                <a:gd name="T16" fmla="*/ 119 w 119"/>
                <a:gd name="T17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13">
                  <a:moveTo>
                    <a:pt x="0" y="0"/>
                  </a:moveTo>
                  <a:lnTo>
                    <a:pt x="14" y="3"/>
                  </a:lnTo>
                  <a:lnTo>
                    <a:pt x="30" y="8"/>
                  </a:lnTo>
                  <a:lnTo>
                    <a:pt x="43" y="20"/>
                  </a:lnTo>
                  <a:lnTo>
                    <a:pt x="59" y="32"/>
                  </a:lnTo>
                  <a:lnTo>
                    <a:pt x="76" y="49"/>
                  </a:lnTo>
                  <a:lnTo>
                    <a:pt x="89" y="69"/>
                  </a:lnTo>
                  <a:lnTo>
                    <a:pt x="105" y="88"/>
                  </a:lnTo>
                  <a:lnTo>
                    <a:pt x="119" y="113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82" name="Freeform 34"/>
            <p:cNvSpPr>
              <a:spLocks/>
            </p:cNvSpPr>
            <p:nvPr/>
          </p:nvSpPr>
          <p:spPr bwMode="auto">
            <a:xfrm>
              <a:off x="7772401" y="1119188"/>
              <a:ext cx="184150" cy="434975"/>
            </a:xfrm>
            <a:custGeom>
              <a:avLst/>
              <a:gdLst>
                <a:gd name="T0" fmla="*/ 0 w 116"/>
                <a:gd name="T1" fmla="*/ 0 h 274"/>
                <a:gd name="T2" fmla="*/ 13 w 116"/>
                <a:gd name="T3" fmla="*/ 27 h 274"/>
                <a:gd name="T4" fmla="*/ 30 w 116"/>
                <a:gd name="T5" fmla="*/ 56 h 274"/>
                <a:gd name="T6" fmla="*/ 43 w 116"/>
                <a:gd name="T7" fmla="*/ 90 h 274"/>
                <a:gd name="T8" fmla="*/ 57 w 116"/>
                <a:gd name="T9" fmla="*/ 127 h 274"/>
                <a:gd name="T10" fmla="*/ 86 w 116"/>
                <a:gd name="T11" fmla="*/ 203 h 274"/>
                <a:gd name="T12" fmla="*/ 102 w 116"/>
                <a:gd name="T13" fmla="*/ 240 h 274"/>
                <a:gd name="T14" fmla="*/ 116 w 116"/>
                <a:gd name="T15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274">
                  <a:moveTo>
                    <a:pt x="0" y="0"/>
                  </a:moveTo>
                  <a:lnTo>
                    <a:pt x="13" y="27"/>
                  </a:lnTo>
                  <a:lnTo>
                    <a:pt x="30" y="56"/>
                  </a:lnTo>
                  <a:lnTo>
                    <a:pt x="43" y="90"/>
                  </a:lnTo>
                  <a:lnTo>
                    <a:pt x="57" y="127"/>
                  </a:lnTo>
                  <a:lnTo>
                    <a:pt x="86" y="203"/>
                  </a:lnTo>
                  <a:lnTo>
                    <a:pt x="102" y="240"/>
                  </a:lnTo>
                  <a:lnTo>
                    <a:pt x="116" y="274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68" name="Line 20"/>
            <p:cNvSpPr>
              <a:spLocks noChangeShapeType="1"/>
            </p:cNvSpPr>
            <p:nvPr/>
          </p:nvSpPr>
          <p:spPr bwMode="auto">
            <a:xfrm>
              <a:off x="5418137" y="1501774"/>
              <a:ext cx="3725863" cy="63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678" name="Freeform 30"/>
            <p:cNvSpPr>
              <a:spLocks/>
            </p:cNvSpPr>
            <p:nvPr/>
          </p:nvSpPr>
          <p:spPr bwMode="auto">
            <a:xfrm>
              <a:off x="6280151" y="1119188"/>
              <a:ext cx="184150" cy="434975"/>
            </a:xfrm>
            <a:custGeom>
              <a:avLst/>
              <a:gdLst>
                <a:gd name="T0" fmla="*/ 0 w 116"/>
                <a:gd name="T1" fmla="*/ 0 h 274"/>
                <a:gd name="T2" fmla="*/ 14 w 116"/>
                <a:gd name="T3" fmla="*/ 27 h 274"/>
                <a:gd name="T4" fmla="*/ 30 w 116"/>
                <a:gd name="T5" fmla="*/ 56 h 274"/>
                <a:gd name="T6" fmla="*/ 43 w 116"/>
                <a:gd name="T7" fmla="*/ 90 h 274"/>
                <a:gd name="T8" fmla="*/ 57 w 116"/>
                <a:gd name="T9" fmla="*/ 127 h 274"/>
                <a:gd name="T10" fmla="*/ 87 w 116"/>
                <a:gd name="T11" fmla="*/ 203 h 274"/>
                <a:gd name="T12" fmla="*/ 103 w 116"/>
                <a:gd name="T13" fmla="*/ 240 h 274"/>
                <a:gd name="T14" fmla="*/ 116 w 116"/>
                <a:gd name="T15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274">
                  <a:moveTo>
                    <a:pt x="0" y="0"/>
                  </a:moveTo>
                  <a:lnTo>
                    <a:pt x="14" y="27"/>
                  </a:lnTo>
                  <a:lnTo>
                    <a:pt x="30" y="56"/>
                  </a:lnTo>
                  <a:lnTo>
                    <a:pt x="43" y="90"/>
                  </a:lnTo>
                  <a:lnTo>
                    <a:pt x="57" y="127"/>
                  </a:lnTo>
                  <a:lnTo>
                    <a:pt x="87" y="203"/>
                  </a:lnTo>
                  <a:lnTo>
                    <a:pt x="103" y="240"/>
                  </a:lnTo>
                  <a:lnTo>
                    <a:pt x="116" y="274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61" name="Freeform 13"/>
            <p:cNvSpPr>
              <a:spLocks/>
            </p:cNvSpPr>
            <p:nvPr/>
          </p:nvSpPr>
          <p:spPr bwMode="auto">
            <a:xfrm>
              <a:off x="5719763" y="1119188"/>
              <a:ext cx="187325" cy="434975"/>
            </a:xfrm>
            <a:custGeom>
              <a:avLst/>
              <a:gdLst>
                <a:gd name="T0" fmla="*/ 0 w 118"/>
                <a:gd name="T1" fmla="*/ 274 h 274"/>
                <a:gd name="T2" fmla="*/ 13 w 118"/>
                <a:gd name="T3" fmla="*/ 240 h 274"/>
                <a:gd name="T4" fmla="*/ 29 w 118"/>
                <a:gd name="T5" fmla="*/ 200 h 274"/>
                <a:gd name="T6" fmla="*/ 59 w 118"/>
                <a:gd name="T7" fmla="*/ 127 h 274"/>
                <a:gd name="T8" fmla="*/ 75 w 118"/>
                <a:gd name="T9" fmla="*/ 90 h 274"/>
                <a:gd name="T10" fmla="*/ 89 w 118"/>
                <a:gd name="T11" fmla="*/ 56 h 274"/>
                <a:gd name="T12" fmla="*/ 105 w 118"/>
                <a:gd name="T13" fmla="*/ 27 h 274"/>
                <a:gd name="T14" fmla="*/ 118 w 118"/>
                <a:gd name="T15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" h="274">
                  <a:moveTo>
                    <a:pt x="0" y="274"/>
                  </a:moveTo>
                  <a:lnTo>
                    <a:pt x="13" y="240"/>
                  </a:lnTo>
                  <a:lnTo>
                    <a:pt x="29" y="200"/>
                  </a:lnTo>
                  <a:lnTo>
                    <a:pt x="59" y="127"/>
                  </a:lnTo>
                  <a:lnTo>
                    <a:pt x="75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8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62" name="Freeform 14"/>
            <p:cNvSpPr>
              <a:spLocks/>
            </p:cNvSpPr>
            <p:nvPr/>
          </p:nvSpPr>
          <p:spPr bwMode="auto">
            <a:xfrm>
              <a:off x="5907088" y="939800"/>
              <a:ext cx="184150" cy="179387"/>
            </a:xfrm>
            <a:custGeom>
              <a:avLst/>
              <a:gdLst>
                <a:gd name="T0" fmla="*/ 0 w 116"/>
                <a:gd name="T1" fmla="*/ 113 h 113"/>
                <a:gd name="T2" fmla="*/ 14 w 116"/>
                <a:gd name="T3" fmla="*/ 88 h 113"/>
                <a:gd name="T4" fmla="*/ 30 w 116"/>
                <a:gd name="T5" fmla="*/ 69 h 113"/>
                <a:gd name="T6" fmla="*/ 44 w 116"/>
                <a:gd name="T7" fmla="*/ 49 h 113"/>
                <a:gd name="T8" fmla="*/ 57 w 116"/>
                <a:gd name="T9" fmla="*/ 32 h 113"/>
                <a:gd name="T10" fmla="*/ 73 w 116"/>
                <a:gd name="T11" fmla="*/ 20 h 113"/>
                <a:gd name="T12" fmla="*/ 87 w 116"/>
                <a:gd name="T13" fmla="*/ 8 h 113"/>
                <a:gd name="T14" fmla="*/ 103 w 116"/>
                <a:gd name="T15" fmla="*/ 3 h 113"/>
                <a:gd name="T16" fmla="*/ 116 w 116"/>
                <a:gd name="T17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13">
                  <a:moveTo>
                    <a:pt x="0" y="113"/>
                  </a:moveTo>
                  <a:lnTo>
                    <a:pt x="14" y="88"/>
                  </a:lnTo>
                  <a:lnTo>
                    <a:pt x="30" y="69"/>
                  </a:lnTo>
                  <a:lnTo>
                    <a:pt x="44" y="49"/>
                  </a:lnTo>
                  <a:lnTo>
                    <a:pt x="57" y="32"/>
                  </a:lnTo>
                  <a:lnTo>
                    <a:pt x="73" y="20"/>
                  </a:lnTo>
                  <a:lnTo>
                    <a:pt x="87" y="8"/>
                  </a:lnTo>
                  <a:lnTo>
                    <a:pt x="103" y="3"/>
                  </a:lnTo>
                  <a:lnTo>
                    <a:pt x="116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63" name="Freeform 15"/>
            <p:cNvSpPr>
              <a:spLocks/>
            </p:cNvSpPr>
            <p:nvPr/>
          </p:nvSpPr>
          <p:spPr bwMode="auto">
            <a:xfrm>
              <a:off x="6464301" y="1554163"/>
              <a:ext cx="188913" cy="430212"/>
            </a:xfrm>
            <a:custGeom>
              <a:avLst/>
              <a:gdLst>
                <a:gd name="T0" fmla="*/ 0 w 119"/>
                <a:gd name="T1" fmla="*/ 0 h 271"/>
                <a:gd name="T2" fmla="*/ 14 w 119"/>
                <a:gd name="T3" fmla="*/ 34 h 271"/>
                <a:gd name="T4" fmla="*/ 30 w 119"/>
                <a:gd name="T5" fmla="*/ 71 h 271"/>
                <a:gd name="T6" fmla="*/ 60 w 119"/>
                <a:gd name="T7" fmla="*/ 146 h 271"/>
                <a:gd name="T8" fmla="*/ 76 w 119"/>
                <a:gd name="T9" fmla="*/ 181 h 271"/>
                <a:gd name="T10" fmla="*/ 89 w 119"/>
                <a:gd name="T11" fmla="*/ 215 h 271"/>
                <a:gd name="T12" fmla="*/ 106 w 119"/>
                <a:gd name="T13" fmla="*/ 244 h 271"/>
                <a:gd name="T14" fmla="*/ 119 w 119"/>
                <a:gd name="T1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271">
                  <a:moveTo>
                    <a:pt x="0" y="0"/>
                  </a:moveTo>
                  <a:lnTo>
                    <a:pt x="14" y="34"/>
                  </a:lnTo>
                  <a:lnTo>
                    <a:pt x="30" y="71"/>
                  </a:lnTo>
                  <a:lnTo>
                    <a:pt x="60" y="146"/>
                  </a:lnTo>
                  <a:lnTo>
                    <a:pt x="76" y="181"/>
                  </a:lnTo>
                  <a:lnTo>
                    <a:pt x="89" y="215"/>
                  </a:lnTo>
                  <a:lnTo>
                    <a:pt x="106" y="244"/>
                  </a:lnTo>
                  <a:lnTo>
                    <a:pt x="119" y="271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64" name="Freeform 16"/>
            <p:cNvSpPr>
              <a:spLocks/>
            </p:cNvSpPr>
            <p:nvPr/>
          </p:nvSpPr>
          <p:spPr bwMode="auto">
            <a:xfrm>
              <a:off x="6653213" y="1984375"/>
              <a:ext cx="184150" cy="182562"/>
            </a:xfrm>
            <a:custGeom>
              <a:avLst/>
              <a:gdLst>
                <a:gd name="T0" fmla="*/ 0 w 116"/>
                <a:gd name="T1" fmla="*/ 0 h 115"/>
                <a:gd name="T2" fmla="*/ 14 w 116"/>
                <a:gd name="T3" fmla="*/ 25 h 115"/>
                <a:gd name="T4" fmla="*/ 30 w 116"/>
                <a:gd name="T5" fmla="*/ 44 h 115"/>
                <a:gd name="T6" fmla="*/ 43 w 116"/>
                <a:gd name="T7" fmla="*/ 64 h 115"/>
                <a:gd name="T8" fmla="*/ 57 w 116"/>
                <a:gd name="T9" fmla="*/ 81 h 115"/>
                <a:gd name="T10" fmla="*/ 73 w 116"/>
                <a:gd name="T11" fmla="*/ 96 h 115"/>
                <a:gd name="T12" fmla="*/ 87 w 116"/>
                <a:gd name="T13" fmla="*/ 105 h 115"/>
                <a:gd name="T14" fmla="*/ 103 w 116"/>
                <a:gd name="T15" fmla="*/ 113 h 115"/>
                <a:gd name="T16" fmla="*/ 116 w 116"/>
                <a:gd name="T1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15">
                  <a:moveTo>
                    <a:pt x="0" y="0"/>
                  </a:moveTo>
                  <a:lnTo>
                    <a:pt x="14" y="25"/>
                  </a:lnTo>
                  <a:lnTo>
                    <a:pt x="30" y="44"/>
                  </a:lnTo>
                  <a:lnTo>
                    <a:pt x="43" y="64"/>
                  </a:lnTo>
                  <a:lnTo>
                    <a:pt x="57" y="81"/>
                  </a:lnTo>
                  <a:lnTo>
                    <a:pt x="73" y="96"/>
                  </a:lnTo>
                  <a:lnTo>
                    <a:pt x="87" y="105"/>
                  </a:lnTo>
                  <a:lnTo>
                    <a:pt x="103" y="113"/>
                  </a:lnTo>
                  <a:lnTo>
                    <a:pt x="116" y="115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65" name="Freeform 17"/>
            <p:cNvSpPr>
              <a:spLocks/>
            </p:cNvSpPr>
            <p:nvPr/>
          </p:nvSpPr>
          <p:spPr bwMode="auto">
            <a:xfrm>
              <a:off x="6837363" y="1984375"/>
              <a:ext cx="188913" cy="182562"/>
            </a:xfrm>
            <a:custGeom>
              <a:avLst/>
              <a:gdLst>
                <a:gd name="T0" fmla="*/ 0 w 119"/>
                <a:gd name="T1" fmla="*/ 115 h 115"/>
                <a:gd name="T2" fmla="*/ 14 w 119"/>
                <a:gd name="T3" fmla="*/ 113 h 115"/>
                <a:gd name="T4" fmla="*/ 30 w 119"/>
                <a:gd name="T5" fmla="*/ 105 h 115"/>
                <a:gd name="T6" fmla="*/ 43 w 119"/>
                <a:gd name="T7" fmla="*/ 96 h 115"/>
                <a:gd name="T8" fmla="*/ 60 w 119"/>
                <a:gd name="T9" fmla="*/ 81 h 115"/>
                <a:gd name="T10" fmla="*/ 76 w 119"/>
                <a:gd name="T11" fmla="*/ 64 h 115"/>
                <a:gd name="T12" fmla="*/ 89 w 119"/>
                <a:gd name="T13" fmla="*/ 44 h 115"/>
                <a:gd name="T14" fmla="*/ 106 w 119"/>
                <a:gd name="T15" fmla="*/ 25 h 115"/>
                <a:gd name="T16" fmla="*/ 119 w 119"/>
                <a:gd name="T1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15">
                  <a:moveTo>
                    <a:pt x="0" y="115"/>
                  </a:moveTo>
                  <a:lnTo>
                    <a:pt x="14" y="113"/>
                  </a:lnTo>
                  <a:lnTo>
                    <a:pt x="30" y="105"/>
                  </a:lnTo>
                  <a:lnTo>
                    <a:pt x="43" y="96"/>
                  </a:lnTo>
                  <a:lnTo>
                    <a:pt x="60" y="81"/>
                  </a:lnTo>
                  <a:lnTo>
                    <a:pt x="76" y="64"/>
                  </a:lnTo>
                  <a:lnTo>
                    <a:pt x="89" y="44"/>
                  </a:lnTo>
                  <a:lnTo>
                    <a:pt x="106" y="25"/>
                  </a:lnTo>
                  <a:lnTo>
                    <a:pt x="119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66" name="Freeform 18"/>
            <p:cNvSpPr>
              <a:spLocks/>
            </p:cNvSpPr>
            <p:nvPr/>
          </p:nvSpPr>
          <p:spPr bwMode="auto">
            <a:xfrm>
              <a:off x="7026276" y="1554163"/>
              <a:ext cx="184150" cy="430212"/>
            </a:xfrm>
            <a:custGeom>
              <a:avLst/>
              <a:gdLst>
                <a:gd name="T0" fmla="*/ 0 w 116"/>
                <a:gd name="T1" fmla="*/ 271 h 271"/>
                <a:gd name="T2" fmla="*/ 14 w 116"/>
                <a:gd name="T3" fmla="*/ 244 h 271"/>
                <a:gd name="T4" fmla="*/ 30 w 116"/>
                <a:gd name="T5" fmla="*/ 215 h 271"/>
                <a:gd name="T6" fmla="*/ 43 w 116"/>
                <a:gd name="T7" fmla="*/ 181 h 271"/>
                <a:gd name="T8" fmla="*/ 57 w 116"/>
                <a:gd name="T9" fmla="*/ 146 h 271"/>
                <a:gd name="T10" fmla="*/ 86 w 116"/>
                <a:gd name="T11" fmla="*/ 71 h 271"/>
                <a:gd name="T12" fmla="*/ 103 w 116"/>
                <a:gd name="T13" fmla="*/ 34 h 271"/>
                <a:gd name="T14" fmla="*/ 116 w 116"/>
                <a:gd name="T15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271">
                  <a:moveTo>
                    <a:pt x="0" y="271"/>
                  </a:moveTo>
                  <a:lnTo>
                    <a:pt x="14" y="244"/>
                  </a:lnTo>
                  <a:lnTo>
                    <a:pt x="30" y="215"/>
                  </a:lnTo>
                  <a:lnTo>
                    <a:pt x="43" y="181"/>
                  </a:lnTo>
                  <a:lnTo>
                    <a:pt x="57" y="146"/>
                  </a:lnTo>
                  <a:lnTo>
                    <a:pt x="86" y="71"/>
                  </a:lnTo>
                  <a:lnTo>
                    <a:pt x="103" y="34"/>
                  </a:lnTo>
                  <a:lnTo>
                    <a:pt x="116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67" name="Line 19"/>
            <p:cNvSpPr>
              <a:spLocks noChangeShapeType="1"/>
            </p:cNvSpPr>
            <p:nvPr/>
          </p:nvSpPr>
          <p:spPr bwMode="auto">
            <a:xfrm>
              <a:off x="7956551" y="1554163"/>
              <a:ext cx="188913" cy="43021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69" name="Line 21"/>
            <p:cNvSpPr>
              <a:spLocks noChangeShapeType="1"/>
            </p:cNvSpPr>
            <p:nvPr/>
          </p:nvSpPr>
          <p:spPr bwMode="auto">
            <a:xfrm flipV="1">
              <a:off x="6320715" y="392113"/>
              <a:ext cx="0" cy="1905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670" name="Text Box 22"/>
            <p:cNvSpPr txBox="1">
              <a:spLocks noChangeArrowheads="1"/>
            </p:cNvSpPr>
            <p:nvPr/>
          </p:nvSpPr>
          <p:spPr bwMode="auto">
            <a:xfrm>
              <a:off x="8797927" y="1466850"/>
              <a:ext cx="4921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>
                  <a:sym typeface="Symbol" pitchFamily="18" charset="2"/>
                </a:rPr>
                <a:t> </a:t>
              </a:r>
              <a:r>
                <a:rPr lang="en-US" altLang="zh-CN" sz="2000" i="1" dirty="0"/>
                <a:t>t</a:t>
              </a:r>
              <a:endParaRPr lang="en-US" altLang="zh-CN" sz="2000" dirty="0"/>
            </a:p>
          </p:txBody>
        </p:sp>
        <p:sp>
          <p:nvSpPr>
            <p:cNvPr id="411671" name="Text Box 23"/>
            <p:cNvSpPr txBox="1">
              <a:spLocks noChangeArrowheads="1"/>
            </p:cNvSpPr>
            <p:nvPr/>
          </p:nvSpPr>
          <p:spPr bwMode="auto">
            <a:xfrm>
              <a:off x="6009017" y="188912"/>
              <a:ext cx="2968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v</a:t>
              </a:r>
              <a:endParaRPr lang="en-US" altLang="zh-CN" sz="2000" dirty="0"/>
            </a:p>
          </p:txBody>
        </p:sp>
        <p:sp>
          <p:nvSpPr>
            <p:cNvPr id="411672" name="Text Box 24"/>
            <p:cNvSpPr txBox="1">
              <a:spLocks noChangeArrowheads="1"/>
            </p:cNvSpPr>
            <p:nvPr/>
          </p:nvSpPr>
          <p:spPr bwMode="auto">
            <a:xfrm>
              <a:off x="6068965" y="1409973"/>
              <a:ext cx="311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/>
                <a:t>0</a:t>
              </a:r>
            </a:p>
          </p:txBody>
        </p:sp>
        <p:sp>
          <p:nvSpPr>
            <p:cNvPr id="411673" name="Text Box 25"/>
            <p:cNvSpPr txBox="1">
              <a:spLocks noChangeArrowheads="1"/>
            </p:cNvSpPr>
            <p:nvPr/>
          </p:nvSpPr>
          <p:spPr bwMode="auto">
            <a:xfrm>
              <a:off x="6024401" y="1900238"/>
              <a:ext cx="311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latin typeface="Symbol" pitchFamily="18" charset="2"/>
                  <a:sym typeface="Symbol" pitchFamily="18" charset="2"/>
                </a:rPr>
                <a:t>q</a:t>
              </a:r>
            </a:p>
          </p:txBody>
        </p:sp>
        <p:sp>
          <p:nvSpPr>
            <p:cNvPr id="411674" name="Line 26"/>
            <p:cNvSpPr>
              <a:spLocks noChangeShapeType="1"/>
            </p:cNvSpPr>
            <p:nvPr/>
          </p:nvSpPr>
          <p:spPr bwMode="auto">
            <a:xfrm>
              <a:off x="6096001" y="954088"/>
              <a:ext cx="0" cy="1304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1675" name="Line 27"/>
            <p:cNvSpPr>
              <a:spLocks noChangeShapeType="1"/>
            </p:cNvSpPr>
            <p:nvPr/>
          </p:nvSpPr>
          <p:spPr bwMode="auto">
            <a:xfrm>
              <a:off x="5846713" y="2106613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1676" name="Line 28"/>
            <p:cNvSpPr>
              <a:spLocks noChangeShapeType="1"/>
            </p:cNvSpPr>
            <p:nvPr/>
          </p:nvSpPr>
          <p:spPr bwMode="auto">
            <a:xfrm flipH="1">
              <a:off x="6324600" y="2106613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1677" name="Freeform 29"/>
            <p:cNvSpPr>
              <a:spLocks/>
            </p:cNvSpPr>
            <p:nvPr/>
          </p:nvSpPr>
          <p:spPr bwMode="auto">
            <a:xfrm>
              <a:off x="6091238" y="939800"/>
              <a:ext cx="188913" cy="179387"/>
            </a:xfrm>
            <a:custGeom>
              <a:avLst/>
              <a:gdLst>
                <a:gd name="T0" fmla="*/ 0 w 119"/>
                <a:gd name="T1" fmla="*/ 0 h 113"/>
                <a:gd name="T2" fmla="*/ 14 w 119"/>
                <a:gd name="T3" fmla="*/ 3 h 113"/>
                <a:gd name="T4" fmla="*/ 30 w 119"/>
                <a:gd name="T5" fmla="*/ 8 h 113"/>
                <a:gd name="T6" fmla="*/ 44 w 119"/>
                <a:gd name="T7" fmla="*/ 20 h 113"/>
                <a:gd name="T8" fmla="*/ 60 w 119"/>
                <a:gd name="T9" fmla="*/ 32 h 113"/>
                <a:gd name="T10" fmla="*/ 76 w 119"/>
                <a:gd name="T11" fmla="*/ 49 h 113"/>
                <a:gd name="T12" fmla="*/ 90 w 119"/>
                <a:gd name="T13" fmla="*/ 69 h 113"/>
                <a:gd name="T14" fmla="*/ 106 w 119"/>
                <a:gd name="T15" fmla="*/ 88 h 113"/>
                <a:gd name="T16" fmla="*/ 119 w 119"/>
                <a:gd name="T17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13">
                  <a:moveTo>
                    <a:pt x="0" y="0"/>
                  </a:moveTo>
                  <a:lnTo>
                    <a:pt x="14" y="3"/>
                  </a:lnTo>
                  <a:lnTo>
                    <a:pt x="30" y="8"/>
                  </a:lnTo>
                  <a:lnTo>
                    <a:pt x="44" y="20"/>
                  </a:lnTo>
                  <a:lnTo>
                    <a:pt x="60" y="32"/>
                  </a:lnTo>
                  <a:lnTo>
                    <a:pt x="76" y="49"/>
                  </a:lnTo>
                  <a:lnTo>
                    <a:pt x="90" y="69"/>
                  </a:lnTo>
                  <a:lnTo>
                    <a:pt x="106" y="88"/>
                  </a:lnTo>
                  <a:lnTo>
                    <a:pt x="119" y="113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16"/>
            <p:cNvSpPr>
              <a:spLocks/>
            </p:cNvSpPr>
            <p:nvPr/>
          </p:nvSpPr>
          <p:spPr bwMode="auto">
            <a:xfrm>
              <a:off x="8145464" y="1977231"/>
              <a:ext cx="184150" cy="182562"/>
            </a:xfrm>
            <a:custGeom>
              <a:avLst/>
              <a:gdLst>
                <a:gd name="T0" fmla="*/ 0 w 116"/>
                <a:gd name="T1" fmla="*/ 0 h 115"/>
                <a:gd name="T2" fmla="*/ 14 w 116"/>
                <a:gd name="T3" fmla="*/ 25 h 115"/>
                <a:gd name="T4" fmla="*/ 30 w 116"/>
                <a:gd name="T5" fmla="*/ 44 h 115"/>
                <a:gd name="T6" fmla="*/ 43 w 116"/>
                <a:gd name="T7" fmla="*/ 64 h 115"/>
                <a:gd name="T8" fmla="*/ 57 w 116"/>
                <a:gd name="T9" fmla="*/ 81 h 115"/>
                <a:gd name="T10" fmla="*/ 73 w 116"/>
                <a:gd name="T11" fmla="*/ 96 h 115"/>
                <a:gd name="T12" fmla="*/ 87 w 116"/>
                <a:gd name="T13" fmla="*/ 105 h 115"/>
                <a:gd name="T14" fmla="*/ 103 w 116"/>
                <a:gd name="T15" fmla="*/ 113 h 115"/>
                <a:gd name="T16" fmla="*/ 116 w 116"/>
                <a:gd name="T1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15">
                  <a:moveTo>
                    <a:pt x="0" y="0"/>
                  </a:moveTo>
                  <a:lnTo>
                    <a:pt x="14" y="25"/>
                  </a:lnTo>
                  <a:lnTo>
                    <a:pt x="30" y="44"/>
                  </a:lnTo>
                  <a:lnTo>
                    <a:pt x="43" y="64"/>
                  </a:lnTo>
                  <a:lnTo>
                    <a:pt x="57" y="81"/>
                  </a:lnTo>
                  <a:lnTo>
                    <a:pt x="73" y="96"/>
                  </a:lnTo>
                  <a:lnTo>
                    <a:pt x="87" y="105"/>
                  </a:lnTo>
                  <a:lnTo>
                    <a:pt x="103" y="113"/>
                  </a:lnTo>
                  <a:lnTo>
                    <a:pt x="116" y="115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17"/>
            <p:cNvSpPr>
              <a:spLocks/>
            </p:cNvSpPr>
            <p:nvPr/>
          </p:nvSpPr>
          <p:spPr bwMode="auto">
            <a:xfrm>
              <a:off x="8313739" y="1977231"/>
              <a:ext cx="188913" cy="182562"/>
            </a:xfrm>
            <a:custGeom>
              <a:avLst/>
              <a:gdLst>
                <a:gd name="T0" fmla="*/ 0 w 119"/>
                <a:gd name="T1" fmla="*/ 115 h 115"/>
                <a:gd name="T2" fmla="*/ 14 w 119"/>
                <a:gd name="T3" fmla="*/ 113 h 115"/>
                <a:gd name="T4" fmla="*/ 30 w 119"/>
                <a:gd name="T5" fmla="*/ 105 h 115"/>
                <a:gd name="T6" fmla="*/ 43 w 119"/>
                <a:gd name="T7" fmla="*/ 96 h 115"/>
                <a:gd name="T8" fmla="*/ 60 w 119"/>
                <a:gd name="T9" fmla="*/ 81 h 115"/>
                <a:gd name="T10" fmla="*/ 76 w 119"/>
                <a:gd name="T11" fmla="*/ 64 h 115"/>
                <a:gd name="T12" fmla="*/ 89 w 119"/>
                <a:gd name="T13" fmla="*/ 44 h 115"/>
                <a:gd name="T14" fmla="*/ 106 w 119"/>
                <a:gd name="T15" fmla="*/ 25 h 115"/>
                <a:gd name="T16" fmla="*/ 119 w 119"/>
                <a:gd name="T1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15">
                  <a:moveTo>
                    <a:pt x="0" y="115"/>
                  </a:moveTo>
                  <a:lnTo>
                    <a:pt x="14" y="113"/>
                  </a:lnTo>
                  <a:lnTo>
                    <a:pt x="30" y="105"/>
                  </a:lnTo>
                  <a:lnTo>
                    <a:pt x="43" y="96"/>
                  </a:lnTo>
                  <a:lnTo>
                    <a:pt x="60" y="81"/>
                  </a:lnTo>
                  <a:lnTo>
                    <a:pt x="76" y="64"/>
                  </a:lnTo>
                  <a:lnTo>
                    <a:pt x="89" y="44"/>
                  </a:lnTo>
                  <a:lnTo>
                    <a:pt x="106" y="25"/>
                  </a:lnTo>
                  <a:lnTo>
                    <a:pt x="119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18"/>
            <p:cNvSpPr>
              <a:spLocks/>
            </p:cNvSpPr>
            <p:nvPr/>
          </p:nvSpPr>
          <p:spPr bwMode="auto">
            <a:xfrm>
              <a:off x="8502652" y="1547019"/>
              <a:ext cx="184150" cy="430212"/>
            </a:xfrm>
            <a:custGeom>
              <a:avLst/>
              <a:gdLst>
                <a:gd name="T0" fmla="*/ 0 w 116"/>
                <a:gd name="T1" fmla="*/ 271 h 271"/>
                <a:gd name="T2" fmla="*/ 14 w 116"/>
                <a:gd name="T3" fmla="*/ 244 h 271"/>
                <a:gd name="T4" fmla="*/ 30 w 116"/>
                <a:gd name="T5" fmla="*/ 215 h 271"/>
                <a:gd name="T6" fmla="*/ 43 w 116"/>
                <a:gd name="T7" fmla="*/ 181 h 271"/>
                <a:gd name="T8" fmla="*/ 57 w 116"/>
                <a:gd name="T9" fmla="*/ 146 h 271"/>
                <a:gd name="T10" fmla="*/ 86 w 116"/>
                <a:gd name="T11" fmla="*/ 71 h 271"/>
                <a:gd name="T12" fmla="*/ 103 w 116"/>
                <a:gd name="T13" fmla="*/ 34 h 271"/>
                <a:gd name="T14" fmla="*/ 116 w 116"/>
                <a:gd name="T15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271">
                  <a:moveTo>
                    <a:pt x="0" y="271"/>
                  </a:moveTo>
                  <a:lnTo>
                    <a:pt x="14" y="244"/>
                  </a:lnTo>
                  <a:lnTo>
                    <a:pt x="30" y="215"/>
                  </a:lnTo>
                  <a:lnTo>
                    <a:pt x="43" y="181"/>
                  </a:lnTo>
                  <a:lnTo>
                    <a:pt x="57" y="146"/>
                  </a:lnTo>
                  <a:lnTo>
                    <a:pt x="86" y="71"/>
                  </a:lnTo>
                  <a:lnTo>
                    <a:pt x="103" y="34"/>
                  </a:lnTo>
                  <a:lnTo>
                    <a:pt x="116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31"/>
            <p:cNvSpPr>
              <a:spLocks/>
            </p:cNvSpPr>
            <p:nvPr/>
          </p:nvSpPr>
          <p:spPr bwMode="auto">
            <a:xfrm>
              <a:off x="8686802" y="1120611"/>
              <a:ext cx="188913" cy="434975"/>
            </a:xfrm>
            <a:custGeom>
              <a:avLst/>
              <a:gdLst>
                <a:gd name="T0" fmla="*/ 0 w 119"/>
                <a:gd name="T1" fmla="*/ 274 h 274"/>
                <a:gd name="T2" fmla="*/ 14 w 119"/>
                <a:gd name="T3" fmla="*/ 240 h 274"/>
                <a:gd name="T4" fmla="*/ 30 w 119"/>
                <a:gd name="T5" fmla="*/ 203 h 274"/>
                <a:gd name="T6" fmla="*/ 60 w 119"/>
                <a:gd name="T7" fmla="*/ 127 h 274"/>
                <a:gd name="T8" fmla="*/ 76 w 119"/>
                <a:gd name="T9" fmla="*/ 90 h 274"/>
                <a:gd name="T10" fmla="*/ 89 w 119"/>
                <a:gd name="T11" fmla="*/ 56 h 274"/>
                <a:gd name="T12" fmla="*/ 105 w 119"/>
                <a:gd name="T13" fmla="*/ 27 h 274"/>
                <a:gd name="T14" fmla="*/ 119 w 119"/>
                <a:gd name="T15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274">
                  <a:moveTo>
                    <a:pt x="0" y="274"/>
                  </a:moveTo>
                  <a:lnTo>
                    <a:pt x="14" y="240"/>
                  </a:lnTo>
                  <a:lnTo>
                    <a:pt x="30" y="203"/>
                  </a:lnTo>
                  <a:lnTo>
                    <a:pt x="60" y="127"/>
                  </a:lnTo>
                  <a:lnTo>
                    <a:pt x="76" y="90"/>
                  </a:lnTo>
                  <a:lnTo>
                    <a:pt x="89" y="56"/>
                  </a:lnTo>
                  <a:lnTo>
                    <a:pt x="105" y="27"/>
                  </a:lnTo>
                  <a:lnTo>
                    <a:pt x="119" y="0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 autoUpdateAnimBg="0"/>
      <p:bldP spid="411656" grpId="0" autoUpdateAnimBg="0"/>
      <p:bldP spid="411657" grpId="0" autoUpdateAnimBg="0"/>
      <p:bldP spid="41169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600075" y="971550"/>
            <a:ext cx="782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/>
              <a:t>(3) </a:t>
            </a:r>
            <a:r>
              <a:rPr lang="zh-CN" altLang="en-US" sz="2000" dirty="0">
                <a:solidFill>
                  <a:srgbClr val="FF0000"/>
                </a:solidFill>
              </a:rPr>
              <a:t>初相位</a:t>
            </a:r>
            <a:r>
              <a:rPr lang="en-US" altLang="zh-CN" sz="2000" i="1" dirty="0" smtClean="0">
                <a:solidFill>
                  <a:srgbClr val="FF0000"/>
                </a:solidFill>
                <a:latin typeface="Symbol" pitchFamily="18" charset="2"/>
              </a:rPr>
              <a:t>q </a:t>
            </a:r>
            <a:r>
              <a:rPr lang="zh-CN" altLang="en-US" sz="2000" dirty="0" smtClean="0">
                <a:latin typeface="Symbol" pitchFamily="18" charset="2"/>
              </a:rPr>
              <a:t>：</a:t>
            </a:r>
            <a:r>
              <a:rPr lang="zh-CN" altLang="en-US" sz="2000" dirty="0">
                <a:latin typeface="Symbol" pitchFamily="18" charset="2"/>
              </a:rPr>
              <a:t>正弦量在 </a:t>
            </a:r>
            <a:r>
              <a:rPr lang="en-US" altLang="zh-CN" sz="2000" i="1" dirty="0"/>
              <a:t>t </a:t>
            </a:r>
            <a:r>
              <a:rPr lang="en-US" altLang="zh-CN" sz="2000" dirty="0">
                <a:latin typeface="Symbol" pitchFamily="18" charset="2"/>
              </a:rPr>
              <a:t>= 0</a:t>
            </a:r>
            <a:r>
              <a:rPr lang="zh-CN" altLang="en-US" sz="2000" dirty="0">
                <a:latin typeface="Symbol" pitchFamily="18" charset="2"/>
              </a:rPr>
              <a:t>时的相</a:t>
            </a:r>
            <a:r>
              <a:rPr lang="zh-CN" altLang="zh-CN" sz="2000" dirty="0"/>
              <a:t>位角</a:t>
            </a:r>
            <a:r>
              <a:rPr lang="zh-CN" altLang="en-US" sz="2000" dirty="0">
                <a:latin typeface="Symbol" pitchFamily="18" charset="2"/>
              </a:rPr>
              <a:t>。</a:t>
            </a:r>
            <a:r>
              <a:rPr lang="en-US" altLang="zh-CN" sz="2000" dirty="0">
                <a:latin typeface="Symbol" pitchFamily="18" charset="2"/>
              </a:rPr>
              <a:t>(</a:t>
            </a:r>
            <a:r>
              <a:rPr lang="zh-CN" altLang="en-US" sz="2000" dirty="0">
                <a:latin typeface="Symbol" pitchFamily="18" charset="2"/>
              </a:rPr>
              <a:t>反映正弦量的</a:t>
            </a:r>
            <a:r>
              <a:rPr lang="zh-CN" altLang="en-US" sz="2000" dirty="0" smtClean="0">
                <a:latin typeface="Symbol" pitchFamily="18" charset="2"/>
              </a:rPr>
              <a:t>初始值</a:t>
            </a:r>
            <a:r>
              <a:rPr lang="en-US" altLang="zh-CN" sz="2000" dirty="0" smtClean="0">
                <a:latin typeface="Symbol" pitchFamily="18" charset="2"/>
              </a:rPr>
              <a:t>)</a:t>
            </a:r>
            <a:endParaRPr lang="en-US" altLang="zh-CN" sz="2000" dirty="0">
              <a:latin typeface="Symbol" pitchFamily="18" charset="2"/>
            </a:endParaRPr>
          </a:p>
        </p:txBody>
      </p:sp>
      <p:sp>
        <p:nvSpPr>
          <p:cNvPr id="412675" name="Text Box 3"/>
          <p:cNvSpPr txBox="1">
            <a:spLocks noChangeArrowheads="1"/>
          </p:cNvSpPr>
          <p:nvPr/>
        </p:nvSpPr>
        <p:spPr bwMode="auto">
          <a:xfrm>
            <a:off x="4991100" y="5283200"/>
            <a:ext cx="2547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u="sng">
                <a:solidFill>
                  <a:srgbClr val="FF0000"/>
                </a:solidFill>
              </a:rPr>
              <a:t>一般规定</a:t>
            </a:r>
            <a:r>
              <a:rPr lang="zh-CN" altLang="en-US" sz="2000"/>
              <a:t>：</a:t>
            </a:r>
            <a:r>
              <a:rPr lang="en-US" altLang="zh-CN" sz="2000"/>
              <a:t>|</a:t>
            </a:r>
            <a:r>
              <a:rPr lang="en-US" altLang="zh-CN" sz="2000" i="1">
                <a:latin typeface="Symbol" pitchFamily="18" charset="2"/>
                <a:sym typeface="Symbol" pitchFamily="18" charset="2"/>
              </a:rPr>
              <a:t>q</a:t>
            </a:r>
            <a:r>
              <a:rPr lang="en-US" altLang="zh-CN" sz="2000">
                <a:sym typeface="Symbol" pitchFamily="18" charset="2"/>
              </a:rPr>
              <a:t> |    </a:t>
            </a:r>
            <a:r>
              <a:rPr lang="zh-CN" altLang="en-US" sz="2000">
                <a:sym typeface="Symbol" pitchFamily="18" charset="2"/>
              </a:rPr>
              <a:t>。</a:t>
            </a:r>
            <a:endParaRPr lang="zh-CN" altLang="en-US" sz="2000"/>
          </a:p>
        </p:txBody>
      </p:sp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4552950" y="395288"/>
            <a:ext cx="4244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000">
                <a:solidFill>
                  <a:srgbClr val="FF0000"/>
                </a:solidFill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Symbol" pitchFamily="18" charset="2"/>
              </a:rPr>
              <a:t>w </a:t>
            </a:r>
            <a:r>
              <a:rPr lang="en-US" altLang="zh-CN" sz="2000" i="1">
                <a:solidFill>
                  <a:srgbClr val="FF0000"/>
                </a:solidFill>
              </a:rPr>
              <a:t>t</a:t>
            </a:r>
            <a:r>
              <a:rPr lang="en-US" altLang="zh-CN" sz="2000">
                <a:solidFill>
                  <a:srgbClr val="FF0000"/>
                </a:solidFill>
              </a:rPr>
              <a:t>+</a:t>
            </a:r>
            <a:r>
              <a:rPr lang="en-US" altLang="zh-CN" sz="2000" i="1">
                <a:solidFill>
                  <a:srgbClr val="FF0000"/>
                </a:solidFill>
                <a:latin typeface="Symbol" pitchFamily="18" charset="2"/>
              </a:rPr>
              <a:t>q </a:t>
            </a:r>
            <a:r>
              <a:rPr lang="en-US" altLang="zh-CN" sz="2000">
                <a:solidFill>
                  <a:srgbClr val="FF0000"/>
                </a:solidFill>
              </a:rPr>
              <a:t>)</a:t>
            </a:r>
            <a:r>
              <a:rPr lang="en-US" altLang="zh-CN" sz="2000"/>
              <a:t> </a:t>
            </a:r>
            <a:r>
              <a:rPr lang="zh-CN" altLang="en-US" sz="2000"/>
              <a:t>：</a:t>
            </a:r>
            <a:r>
              <a:rPr lang="zh-CN" altLang="zh-CN" sz="2000"/>
              <a:t>相位</a:t>
            </a:r>
            <a:r>
              <a:rPr lang="zh-CN" altLang="en-US" sz="2000"/>
              <a:t>、相角、</a:t>
            </a:r>
            <a:r>
              <a:rPr lang="zh-CN" altLang="zh-CN" sz="2000"/>
              <a:t>相位角</a:t>
            </a:r>
            <a:endParaRPr lang="zh-CN" altLang="en-US" sz="2000"/>
          </a:p>
        </p:txBody>
      </p:sp>
      <p:graphicFrame>
        <p:nvGraphicFramePr>
          <p:cNvPr id="412678" name="Object 6"/>
          <p:cNvGraphicFramePr>
            <a:graphicFrameLocks noChangeAspect="1"/>
          </p:cNvGraphicFramePr>
          <p:nvPr/>
        </p:nvGraphicFramePr>
        <p:xfrm>
          <a:off x="5132388" y="3019425"/>
          <a:ext cx="277971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738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88" y="3019425"/>
                        <a:ext cx="277971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9" name="Object 7"/>
          <p:cNvGraphicFramePr>
            <a:graphicFrameLocks noChangeAspect="1"/>
          </p:cNvGraphicFramePr>
          <p:nvPr/>
        </p:nvGraphicFramePr>
        <p:xfrm>
          <a:off x="2516188" y="6075363"/>
          <a:ext cx="410051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739" name="Equation" r:id="rId5" imgW="1701720" imgH="190440" progId="Equation.DSMT4">
                  <p:embed/>
                </p:oleObj>
              </mc:Choice>
              <mc:Fallback>
                <p:oleObj name="Equation" r:id="rId5" imgW="1701720" imgH="190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6075363"/>
                        <a:ext cx="410051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0" name="Text Box 8"/>
          <p:cNvSpPr txBox="1">
            <a:spLocks noChangeArrowheads="1"/>
          </p:cNvSpPr>
          <p:nvPr/>
        </p:nvSpPr>
        <p:spPr bwMode="auto">
          <a:xfrm>
            <a:off x="990600" y="2182813"/>
            <a:ext cx="6513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FF0000"/>
                </a:solidFill>
              </a:rPr>
              <a:t>初相位</a:t>
            </a:r>
            <a:r>
              <a:rPr lang="en-US" altLang="zh-CN" sz="2000" i="1">
                <a:solidFill>
                  <a:srgbClr val="FF0000"/>
                </a:solidFill>
                <a:latin typeface="Symbol" pitchFamily="18" charset="2"/>
              </a:rPr>
              <a:t>q </a:t>
            </a:r>
            <a:r>
              <a:rPr lang="zh-CN" altLang="en-US" sz="2000">
                <a:solidFill>
                  <a:srgbClr val="FF0000"/>
                </a:solidFill>
                <a:latin typeface="Symbol" pitchFamily="18" charset="2"/>
              </a:rPr>
              <a:t>和</a:t>
            </a:r>
            <a:r>
              <a:rPr lang="zh-CN" altLang="en-US" sz="2000">
                <a:solidFill>
                  <a:srgbClr val="FF0000"/>
                </a:solidFill>
              </a:rPr>
              <a:t>计时起点有关，计时起点不同，初相位不同。</a:t>
            </a:r>
          </a:p>
        </p:txBody>
      </p:sp>
      <p:sp>
        <p:nvSpPr>
          <p:cNvPr id="412683" name="Rectangle 11"/>
          <p:cNvSpPr>
            <a:spLocks noChangeArrowheads="1"/>
          </p:cNvSpPr>
          <p:nvPr/>
        </p:nvSpPr>
        <p:spPr bwMode="auto">
          <a:xfrm>
            <a:off x="1255418" y="425450"/>
            <a:ext cx="232627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000" i="1" dirty="0"/>
              <a:t>v</a:t>
            </a:r>
            <a:r>
              <a:rPr lang="en-US" altLang="zh-CN" sz="2000" dirty="0"/>
              <a:t>(</a:t>
            </a:r>
            <a:r>
              <a:rPr lang="en-US" altLang="zh-CN" sz="2000" i="1" dirty="0"/>
              <a:t>t</a:t>
            </a:r>
            <a:r>
              <a:rPr lang="en-US" altLang="zh-CN" sz="2000" dirty="0" smtClean="0"/>
              <a:t>) =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m</a:t>
            </a:r>
            <a:r>
              <a:rPr lang="en-US" altLang="zh-CN" sz="2000" i="1" baseline="-25000" dirty="0" smtClean="0"/>
              <a:t> </a:t>
            </a:r>
            <a:r>
              <a:rPr lang="en-US" altLang="zh-CN" sz="2000" dirty="0" smtClean="0"/>
              <a:t>cos(</a:t>
            </a:r>
            <a:r>
              <a:rPr lang="en-US" altLang="zh-CN" sz="2000" i="1" dirty="0" smtClean="0">
                <a:latin typeface="Symbol" pitchFamily="18" charset="2"/>
              </a:rPr>
              <a:t>w </a:t>
            </a:r>
            <a:r>
              <a:rPr lang="en-US" altLang="zh-CN" sz="2000" i="1" dirty="0" err="1"/>
              <a:t>t</a:t>
            </a:r>
            <a:r>
              <a:rPr lang="en-US" altLang="zh-CN" sz="2000" dirty="0" err="1"/>
              <a:t>+</a:t>
            </a:r>
            <a:r>
              <a:rPr lang="en-US" altLang="zh-CN" sz="2000" i="1" dirty="0" err="1">
                <a:latin typeface="Symbol" pitchFamily="18" charset="2"/>
              </a:rPr>
              <a:t>q</a:t>
            </a:r>
            <a:r>
              <a:rPr lang="en-US" altLang="zh-CN" sz="2000" i="1" dirty="0">
                <a:latin typeface="Symbol" pitchFamily="18" charset="2"/>
              </a:rPr>
              <a:t> </a:t>
            </a:r>
            <a:r>
              <a:rPr lang="en-US" altLang="zh-CN" sz="2000" dirty="0"/>
              <a:t>)</a:t>
            </a:r>
          </a:p>
        </p:txBody>
      </p:sp>
      <p:graphicFrame>
        <p:nvGraphicFramePr>
          <p:cNvPr id="412684" name="Object 12"/>
          <p:cNvGraphicFramePr>
            <a:graphicFrameLocks noChangeAspect="1"/>
          </p:cNvGraphicFramePr>
          <p:nvPr/>
        </p:nvGraphicFramePr>
        <p:xfrm>
          <a:off x="5114925" y="3616325"/>
          <a:ext cx="350678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740" name="Equation" r:id="rId7" imgW="1625400" imgH="355320" progId="Equation.DSMT4">
                  <p:embed/>
                </p:oleObj>
              </mc:Choice>
              <mc:Fallback>
                <p:oleObj name="Equation" r:id="rId7" imgW="1625400" imgH="3553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4925" y="3616325"/>
                        <a:ext cx="350678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2773" name="Group 101"/>
          <p:cNvGrpSpPr>
            <a:grpSpLocks/>
          </p:cNvGrpSpPr>
          <p:nvPr/>
        </p:nvGrpSpPr>
        <p:grpSpPr bwMode="auto">
          <a:xfrm>
            <a:off x="1751013" y="2971800"/>
            <a:ext cx="771525" cy="2343150"/>
            <a:chOff x="1103" y="1872"/>
            <a:chExt cx="486" cy="1476"/>
          </a:xfrm>
        </p:grpSpPr>
        <p:sp>
          <p:nvSpPr>
            <p:cNvPr id="412706" name="Text Box 34"/>
            <p:cNvSpPr txBox="1">
              <a:spLocks noChangeArrowheads="1"/>
            </p:cNvSpPr>
            <p:nvPr/>
          </p:nvSpPr>
          <p:spPr bwMode="auto">
            <a:xfrm>
              <a:off x="1103" y="3135"/>
              <a:ext cx="48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600" i="1" dirty="0">
                  <a:latin typeface="Symbol" pitchFamily="18" charset="2"/>
                  <a:sym typeface="Symbol" pitchFamily="18" charset="2"/>
                </a:rPr>
                <a:t>q</a:t>
              </a:r>
              <a:r>
                <a:rPr lang="en-US" altLang="zh-CN" sz="1600" i="1" dirty="0">
                  <a:latin typeface="Symbol" pitchFamily="18" charset="2"/>
                </a:rPr>
                <a:t> </a:t>
              </a:r>
              <a:r>
                <a:rPr lang="en-US" altLang="zh-CN" sz="1600" dirty="0">
                  <a:latin typeface="宋体" charset="-122"/>
                  <a:sym typeface="Symbol" pitchFamily="18" charset="2"/>
                </a:rPr>
                <a:t>=0</a:t>
              </a:r>
            </a:p>
          </p:txBody>
        </p:sp>
        <p:sp>
          <p:nvSpPr>
            <p:cNvPr id="412709" name="Line 37"/>
            <p:cNvSpPr>
              <a:spLocks noChangeShapeType="1"/>
            </p:cNvSpPr>
            <p:nvPr/>
          </p:nvSpPr>
          <p:spPr bwMode="auto">
            <a:xfrm flipV="1">
              <a:off x="1296" y="1872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775" name="Group 103"/>
          <p:cNvGrpSpPr>
            <a:grpSpLocks/>
          </p:cNvGrpSpPr>
          <p:nvPr/>
        </p:nvGrpSpPr>
        <p:grpSpPr bwMode="auto">
          <a:xfrm>
            <a:off x="2197101" y="2943226"/>
            <a:ext cx="981075" cy="2370138"/>
            <a:chOff x="1384" y="1854"/>
            <a:chExt cx="618" cy="1493"/>
          </a:xfrm>
        </p:grpSpPr>
        <p:sp>
          <p:nvSpPr>
            <p:cNvPr id="412710" name="Text Box 38"/>
            <p:cNvSpPr txBox="1">
              <a:spLocks noChangeArrowheads="1"/>
            </p:cNvSpPr>
            <p:nvPr/>
          </p:nvSpPr>
          <p:spPr bwMode="auto">
            <a:xfrm>
              <a:off x="1384" y="3134"/>
              <a:ext cx="61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600" i="1" dirty="0">
                  <a:latin typeface="Symbol" pitchFamily="18" charset="2"/>
                  <a:sym typeface="Symbol" pitchFamily="18" charset="2"/>
                </a:rPr>
                <a:t>q</a:t>
              </a:r>
              <a:r>
                <a:rPr lang="en-US" altLang="zh-CN" sz="1600" i="1" dirty="0">
                  <a:latin typeface="Symbol" pitchFamily="18" charset="2"/>
                </a:rPr>
                <a:t> </a:t>
              </a:r>
              <a:r>
                <a:rPr lang="en-US" altLang="zh-CN" sz="1600" dirty="0">
                  <a:latin typeface="宋体" charset="-122"/>
                  <a:sym typeface="Symbol" pitchFamily="18" charset="2"/>
                </a:rPr>
                <a:t>=/</a:t>
              </a:r>
              <a:r>
                <a:rPr lang="en-US" altLang="zh-CN" sz="1600" dirty="0">
                  <a:sym typeface="Symbol" pitchFamily="18" charset="2"/>
                </a:rPr>
                <a:t>2</a:t>
              </a:r>
              <a:endParaRPr lang="en-US" altLang="zh-CN" sz="1600" dirty="0">
                <a:latin typeface="宋体" charset="-122"/>
                <a:sym typeface="Symbol" pitchFamily="18" charset="2"/>
              </a:endParaRPr>
            </a:p>
          </p:txBody>
        </p:sp>
        <p:sp>
          <p:nvSpPr>
            <p:cNvPr id="412712" name="Line 40"/>
            <p:cNvSpPr>
              <a:spLocks noChangeShapeType="1"/>
            </p:cNvSpPr>
            <p:nvPr/>
          </p:nvSpPr>
          <p:spPr bwMode="auto">
            <a:xfrm flipV="1">
              <a:off x="1518" y="1854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774" name="Group 102"/>
          <p:cNvGrpSpPr>
            <a:grpSpLocks/>
          </p:cNvGrpSpPr>
          <p:nvPr/>
        </p:nvGrpSpPr>
        <p:grpSpPr bwMode="auto">
          <a:xfrm>
            <a:off x="947738" y="2971801"/>
            <a:ext cx="1266826" cy="2360613"/>
            <a:chOff x="597" y="1872"/>
            <a:chExt cx="798" cy="1487"/>
          </a:xfrm>
        </p:grpSpPr>
        <p:sp>
          <p:nvSpPr>
            <p:cNvPr id="412707" name="Line 35"/>
            <p:cNvSpPr>
              <a:spLocks noChangeShapeType="1"/>
            </p:cNvSpPr>
            <p:nvPr/>
          </p:nvSpPr>
          <p:spPr bwMode="auto">
            <a:xfrm flipV="1">
              <a:off x="1056" y="1872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13" name="Text Box 41"/>
            <p:cNvSpPr txBox="1">
              <a:spLocks noChangeArrowheads="1"/>
            </p:cNvSpPr>
            <p:nvPr/>
          </p:nvSpPr>
          <p:spPr bwMode="auto">
            <a:xfrm>
              <a:off x="597" y="3146"/>
              <a:ext cx="7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600" i="1" dirty="0">
                  <a:latin typeface="Symbol" pitchFamily="18" charset="2"/>
                  <a:sym typeface="Symbol" pitchFamily="18" charset="2"/>
                </a:rPr>
                <a:t>q</a:t>
              </a:r>
              <a:r>
                <a:rPr lang="en-US" altLang="zh-CN" sz="1600" i="1" dirty="0">
                  <a:latin typeface="宋体" charset="-122"/>
                  <a:sym typeface="Symbol" pitchFamily="18" charset="2"/>
                </a:rPr>
                <a:t> </a:t>
              </a:r>
              <a:r>
                <a:rPr lang="en-US" altLang="zh-CN" sz="1600" dirty="0">
                  <a:latin typeface="宋体" charset="-122"/>
                  <a:sym typeface="Symbol" pitchFamily="18" charset="2"/>
                </a:rPr>
                <a:t>=-/</a:t>
              </a:r>
              <a:r>
                <a:rPr lang="en-US" altLang="zh-CN" sz="1600" dirty="0">
                  <a:sym typeface="Symbol" pitchFamily="18" charset="2"/>
                </a:rPr>
                <a:t>2</a:t>
              </a:r>
              <a:endParaRPr lang="en-US" altLang="zh-CN" sz="1600" dirty="0"/>
            </a:p>
          </p:txBody>
        </p:sp>
      </p:grpSp>
      <p:grpSp>
        <p:nvGrpSpPr>
          <p:cNvPr id="412777" name="Group 105"/>
          <p:cNvGrpSpPr>
            <a:grpSpLocks/>
          </p:cNvGrpSpPr>
          <p:nvPr/>
        </p:nvGrpSpPr>
        <p:grpSpPr bwMode="auto">
          <a:xfrm>
            <a:off x="1371600" y="2597151"/>
            <a:ext cx="3275013" cy="2203450"/>
            <a:chOff x="864" y="1636"/>
            <a:chExt cx="2063" cy="1388"/>
          </a:xfrm>
        </p:grpSpPr>
        <p:sp>
          <p:nvSpPr>
            <p:cNvPr id="412703" name="Text Box 31"/>
            <p:cNvSpPr txBox="1">
              <a:spLocks noChangeArrowheads="1"/>
            </p:cNvSpPr>
            <p:nvPr/>
          </p:nvSpPr>
          <p:spPr bwMode="auto">
            <a:xfrm>
              <a:off x="1063" y="1636"/>
              <a:ext cx="1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v</a:t>
              </a:r>
              <a:endParaRPr lang="en-US" altLang="zh-CN" sz="2000" dirty="0"/>
            </a:p>
          </p:txBody>
        </p:sp>
        <p:grpSp>
          <p:nvGrpSpPr>
            <p:cNvPr id="412686" name="Group 14"/>
            <p:cNvGrpSpPr>
              <a:grpSpLocks/>
            </p:cNvGrpSpPr>
            <p:nvPr/>
          </p:nvGrpSpPr>
          <p:grpSpPr bwMode="auto">
            <a:xfrm>
              <a:off x="1067" y="2150"/>
              <a:ext cx="1528" cy="773"/>
              <a:chOff x="1267" y="2338"/>
              <a:chExt cx="1528" cy="773"/>
            </a:xfrm>
          </p:grpSpPr>
          <p:sp>
            <p:nvSpPr>
              <p:cNvPr id="412687" name="Freeform 15"/>
              <p:cNvSpPr>
                <a:spLocks/>
              </p:cNvSpPr>
              <p:nvPr/>
            </p:nvSpPr>
            <p:spPr bwMode="auto">
              <a:xfrm>
                <a:off x="1267" y="2451"/>
                <a:ext cx="118" cy="274"/>
              </a:xfrm>
              <a:custGeom>
                <a:avLst/>
                <a:gdLst>
                  <a:gd name="T0" fmla="*/ 0 w 118"/>
                  <a:gd name="T1" fmla="*/ 274 h 274"/>
                  <a:gd name="T2" fmla="*/ 13 w 118"/>
                  <a:gd name="T3" fmla="*/ 240 h 274"/>
                  <a:gd name="T4" fmla="*/ 29 w 118"/>
                  <a:gd name="T5" fmla="*/ 200 h 274"/>
                  <a:gd name="T6" fmla="*/ 59 w 118"/>
                  <a:gd name="T7" fmla="*/ 127 h 274"/>
                  <a:gd name="T8" fmla="*/ 75 w 118"/>
                  <a:gd name="T9" fmla="*/ 90 h 274"/>
                  <a:gd name="T10" fmla="*/ 89 w 118"/>
                  <a:gd name="T11" fmla="*/ 56 h 274"/>
                  <a:gd name="T12" fmla="*/ 105 w 118"/>
                  <a:gd name="T13" fmla="*/ 27 h 274"/>
                  <a:gd name="T14" fmla="*/ 118 w 118"/>
                  <a:gd name="T15" fmla="*/ 0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8" h="274">
                    <a:moveTo>
                      <a:pt x="0" y="274"/>
                    </a:moveTo>
                    <a:lnTo>
                      <a:pt x="13" y="240"/>
                    </a:lnTo>
                    <a:lnTo>
                      <a:pt x="29" y="200"/>
                    </a:lnTo>
                    <a:lnTo>
                      <a:pt x="59" y="127"/>
                    </a:lnTo>
                    <a:lnTo>
                      <a:pt x="75" y="90"/>
                    </a:lnTo>
                    <a:lnTo>
                      <a:pt x="89" y="56"/>
                    </a:lnTo>
                    <a:lnTo>
                      <a:pt x="105" y="27"/>
                    </a:lnTo>
                    <a:lnTo>
                      <a:pt x="118" y="0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88" name="Freeform 16"/>
              <p:cNvSpPr>
                <a:spLocks/>
              </p:cNvSpPr>
              <p:nvPr/>
            </p:nvSpPr>
            <p:spPr bwMode="auto">
              <a:xfrm>
                <a:off x="1385" y="2338"/>
                <a:ext cx="116" cy="113"/>
              </a:xfrm>
              <a:custGeom>
                <a:avLst/>
                <a:gdLst>
                  <a:gd name="T0" fmla="*/ 0 w 116"/>
                  <a:gd name="T1" fmla="*/ 113 h 113"/>
                  <a:gd name="T2" fmla="*/ 14 w 116"/>
                  <a:gd name="T3" fmla="*/ 88 h 113"/>
                  <a:gd name="T4" fmla="*/ 30 w 116"/>
                  <a:gd name="T5" fmla="*/ 69 h 113"/>
                  <a:gd name="T6" fmla="*/ 44 w 116"/>
                  <a:gd name="T7" fmla="*/ 49 h 113"/>
                  <a:gd name="T8" fmla="*/ 57 w 116"/>
                  <a:gd name="T9" fmla="*/ 32 h 113"/>
                  <a:gd name="T10" fmla="*/ 73 w 116"/>
                  <a:gd name="T11" fmla="*/ 20 h 113"/>
                  <a:gd name="T12" fmla="*/ 87 w 116"/>
                  <a:gd name="T13" fmla="*/ 8 h 113"/>
                  <a:gd name="T14" fmla="*/ 103 w 116"/>
                  <a:gd name="T15" fmla="*/ 3 h 113"/>
                  <a:gd name="T16" fmla="*/ 116 w 116"/>
                  <a:gd name="T17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113">
                    <a:moveTo>
                      <a:pt x="0" y="113"/>
                    </a:moveTo>
                    <a:lnTo>
                      <a:pt x="14" y="88"/>
                    </a:lnTo>
                    <a:lnTo>
                      <a:pt x="30" y="69"/>
                    </a:lnTo>
                    <a:lnTo>
                      <a:pt x="44" y="49"/>
                    </a:lnTo>
                    <a:lnTo>
                      <a:pt x="57" y="32"/>
                    </a:lnTo>
                    <a:lnTo>
                      <a:pt x="73" y="20"/>
                    </a:lnTo>
                    <a:lnTo>
                      <a:pt x="87" y="8"/>
                    </a:lnTo>
                    <a:lnTo>
                      <a:pt x="103" y="3"/>
                    </a:lnTo>
                    <a:lnTo>
                      <a:pt x="116" y="0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89" name="Freeform 17"/>
              <p:cNvSpPr>
                <a:spLocks/>
              </p:cNvSpPr>
              <p:nvPr/>
            </p:nvSpPr>
            <p:spPr bwMode="auto">
              <a:xfrm>
                <a:off x="1501" y="2338"/>
                <a:ext cx="119" cy="113"/>
              </a:xfrm>
              <a:custGeom>
                <a:avLst/>
                <a:gdLst>
                  <a:gd name="T0" fmla="*/ 0 w 119"/>
                  <a:gd name="T1" fmla="*/ 0 h 113"/>
                  <a:gd name="T2" fmla="*/ 14 w 119"/>
                  <a:gd name="T3" fmla="*/ 3 h 113"/>
                  <a:gd name="T4" fmla="*/ 30 w 119"/>
                  <a:gd name="T5" fmla="*/ 8 h 113"/>
                  <a:gd name="T6" fmla="*/ 44 w 119"/>
                  <a:gd name="T7" fmla="*/ 20 h 113"/>
                  <a:gd name="T8" fmla="*/ 60 w 119"/>
                  <a:gd name="T9" fmla="*/ 32 h 113"/>
                  <a:gd name="T10" fmla="*/ 76 w 119"/>
                  <a:gd name="T11" fmla="*/ 49 h 113"/>
                  <a:gd name="T12" fmla="*/ 90 w 119"/>
                  <a:gd name="T13" fmla="*/ 69 h 113"/>
                  <a:gd name="T14" fmla="*/ 106 w 119"/>
                  <a:gd name="T15" fmla="*/ 88 h 113"/>
                  <a:gd name="T16" fmla="*/ 119 w 119"/>
                  <a:gd name="T17" fmla="*/ 113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113">
                    <a:moveTo>
                      <a:pt x="0" y="0"/>
                    </a:moveTo>
                    <a:lnTo>
                      <a:pt x="14" y="3"/>
                    </a:lnTo>
                    <a:lnTo>
                      <a:pt x="30" y="8"/>
                    </a:lnTo>
                    <a:lnTo>
                      <a:pt x="44" y="20"/>
                    </a:lnTo>
                    <a:lnTo>
                      <a:pt x="60" y="32"/>
                    </a:lnTo>
                    <a:lnTo>
                      <a:pt x="76" y="49"/>
                    </a:lnTo>
                    <a:lnTo>
                      <a:pt x="90" y="69"/>
                    </a:lnTo>
                    <a:lnTo>
                      <a:pt x="106" y="88"/>
                    </a:lnTo>
                    <a:lnTo>
                      <a:pt x="119" y="113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0" name="Freeform 18"/>
              <p:cNvSpPr>
                <a:spLocks/>
              </p:cNvSpPr>
              <p:nvPr/>
            </p:nvSpPr>
            <p:spPr bwMode="auto">
              <a:xfrm>
                <a:off x="1620" y="2451"/>
                <a:ext cx="116" cy="274"/>
              </a:xfrm>
              <a:custGeom>
                <a:avLst/>
                <a:gdLst>
                  <a:gd name="T0" fmla="*/ 0 w 116"/>
                  <a:gd name="T1" fmla="*/ 0 h 274"/>
                  <a:gd name="T2" fmla="*/ 14 w 116"/>
                  <a:gd name="T3" fmla="*/ 27 h 274"/>
                  <a:gd name="T4" fmla="*/ 30 w 116"/>
                  <a:gd name="T5" fmla="*/ 56 h 274"/>
                  <a:gd name="T6" fmla="*/ 43 w 116"/>
                  <a:gd name="T7" fmla="*/ 90 h 274"/>
                  <a:gd name="T8" fmla="*/ 57 w 116"/>
                  <a:gd name="T9" fmla="*/ 127 h 274"/>
                  <a:gd name="T10" fmla="*/ 87 w 116"/>
                  <a:gd name="T11" fmla="*/ 203 h 274"/>
                  <a:gd name="T12" fmla="*/ 103 w 116"/>
                  <a:gd name="T13" fmla="*/ 240 h 274"/>
                  <a:gd name="T14" fmla="*/ 116 w 116"/>
                  <a:gd name="T15" fmla="*/ 274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6" h="274">
                    <a:moveTo>
                      <a:pt x="0" y="0"/>
                    </a:moveTo>
                    <a:lnTo>
                      <a:pt x="14" y="27"/>
                    </a:lnTo>
                    <a:lnTo>
                      <a:pt x="30" y="56"/>
                    </a:lnTo>
                    <a:lnTo>
                      <a:pt x="43" y="90"/>
                    </a:lnTo>
                    <a:lnTo>
                      <a:pt x="57" y="127"/>
                    </a:lnTo>
                    <a:lnTo>
                      <a:pt x="87" y="203"/>
                    </a:lnTo>
                    <a:lnTo>
                      <a:pt x="103" y="240"/>
                    </a:lnTo>
                    <a:lnTo>
                      <a:pt x="116" y="274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1" name="Freeform 19"/>
              <p:cNvSpPr>
                <a:spLocks/>
              </p:cNvSpPr>
              <p:nvPr/>
            </p:nvSpPr>
            <p:spPr bwMode="auto">
              <a:xfrm>
                <a:off x="1736" y="2725"/>
                <a:ext cx="119" cy="271"/>
              </a:xfrm>
              <a:custGeom>
                <a:avLst/>
                <a:gdLst>
                  <a:gd name="T0" fmla="*/ 0 w 119"/>
                  <a:gd name="T1" fmla="*/ 0 h 271"/>
                  <a:gd name="T2" fmla="*/ 14 w 119"/>
                  <a:gd name="T3" fmla="*/ 34 h 271"/>
                  <a:gd name="T4" fmla="*/ 30 w 119"/>
                  <a:gd name="T5" fmla="*/ 71 h 271"/>
                  <a:gd name="T6" fmla="*/ 60 w 119"/>
                  <a:gd name="T7" fmla="*/ 146 h 271"/>
                  <a:gd name="T8" fmla="*/ 76 w 119"/>
                  <a:gd name="T9" fmla="*/ 181 h 271"/>
                  <a:gd name="T10" fmla="*/ 89 w 119"/>
                  <a:gd name="T11" fmla="*/ 215 h 271"/>
                  <a:gd name="T12" fmla="*/ 106 w 119"/>
                  <a:gd name="T13" fmla="*/ 244 h 271"/>
                  <a:gd name="T14" fmla="*/ 119 w 119"/>
                  <a:gd name="T15" fmla="*/ 271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71">
                    <a:moveTo>
                      <a:pt x="0" y="0"/>
                    </a:moveTo>
                    <a:lnTo>
                      <a:pt x="14" y="34"/>
                    </a:lnTo>
                    <a:lnTo>
                      <a:pt x="30" y="71"/>
                    </a:lnTo>
                    <a:lnTo>
                      <a:pt x="60" y="146"/>
                    </a:lnTo>
                    <a:lnTo>
                      <a:pt x="76" y="181"/>
                    </a:lnTo>
                    <a:lnTo>
                      <a:pt x="89" y="215"/>
                    </a:lnTo>
                    <a:lnTo>
                      <a:pt x="106" y="244"/>
                    </a:lnTo>
                    <a:lnTo>
                      <a:pt x="119" y="271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2" name="Freeform 20"/>
              <p:cNvSpPr>
                <a:spLocks/>
              </p:cNvSpPr>
              <p:nvPr/>
            </p:nvSpPr>
            <p:spPr bwMode="auto">
              <a:xfrm>
                <a:off x="1855" y="2996"/>
                <a:ext cx="116" cy="115"/>
              </a:xfrm>
              <a:custGeom>
                <a:avLst/>
                <a:gdLst>
                  <a:gd name="T0" fmla="*/ 0 w 116"/>
                  <a:gd name="T1" fmla="*/ 0 h 115"/>
                  <a:gd name="T2" fmla="*/ 14 w 116"/>
                  <a:gd name="T3" fmla="*/ 25 h 115"/>
                  <a:gd name="T4" fmla="*/ 30 w 116"/>
                  <a:gd name="T5" fmla="*/ 44 h 115"/>
                  <a:gd name="T6" fmla="*/ 43 w 116"/>
                  <a:gd name="T7" fmla="*/ 64 h 115"/>
                  <a:gd name="T8" fmla="*/ 57 w 116"/>
                  <a:gd name="T9" fmla="*/ 81 h 115"/>
                  <a:gd name="T10" fmla="*/ 73 w 116"/>
                  <a:gd name="T11" fmla="*/ 96 h 115"/>
                  <a:gd name="T12" fmla="*/ 87 w 116"/>
                  <a:gd name="T13" fmla="*/ 105 h 115"/>
                  <a:gd name="T14" fmla="*/ 103 w 116"/>
                  <a:gd name="T15" fmla="*/ 113 h 115"/>
                  <a:gd name="T16" fmla="*/ 116 w 116"/>
                  <a:gd name="T17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115">
                    <a:moveTo>
                      <a:pt x="0" y="0"/>
                    </a:moveTo>
                    <a:lnTo>
                      <a:pt x="14" y="25"/>
                    </a:lnTo>
                    <a:lnTo>
                      <a:pt x="30" y="44"/>
                    </a:lnTo>
                    <a:lnTo>
                      <a:pt x="43" y="64"/>
                    </a:lnTo>
                    <a:lnTo>
                      <a:pt x="57" y="81"/>
                    </a:lnTo>
                    <a:lnTo>
                      <a:pt x="73" y="96"/>
                    </a:lnTo>
                    <a:lnTo>
                      <a:pt x="87" y="105"/>
                    </a:lnTo>
                    <a:lnTo>
                      <a:pt x="103" y="113"/>
                    </a:lnTo>
                    <a:lnTo>
                      <a:pt x="116" y="115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3" name="Freeform 21"/>
              <p:cNvSpPr>
                <a:spLocks/>
              </p:cNvSpPr>
              <p:nvPr/>
            </p:nvSpPr>
            <p:spPr bwMode="auto">
              <a:xfrm>
                <a:off x="1971" y="2996"/>
                <a:ext cx="119" cy="115"/>
              </a:xfrm>
              <a:custGeom>
                <a:avLst/>
                <a:gdLst>
                  <a:gd name="T0" fmla="*/ 0 w 119"/>
                  <a:gd name="T1" fmla="*/ 115 h 115"/>
                  <a:gd name="T2" fmla="*/ 14 w 119"/>
                  <a:gd name="T3" fmla="*/ 113 h 115"/>
                  <a:gd name="T4" fmla="*/ 30 w 119"/>
                  <a:gd name="T5" fmla="*/ 105 h 115"/>
                  <a:gd name="T6" fmla="*/ 43 w 119"/>
                  <a:gd name="T7" fmla="*/ 96 h 115"/>
                  <a:gd name="T8" fmla="*/ 60 w 119"/>
                  <a:gd name="T9" fmla="*/ 81 h 115"/>
                  <a:gd name="T10" fmla="*/ 76 w 119"/>
                  <a:gd name="T11" fmla="*/ 64 h 115"/>
                  <a:gd name="T12" fmla="*/ 89 w 119"/>
                  <a:gd name="T13" fmla="*/ 44 h 115"/>
                  <a:gd name="T14" fmla="*/ 106 w 119"/>
                  <a:gd name="T15" fmla="*/ 25 h 115"/>
                  <a:gd name="T16" fmla="*/ 119 w 119"/>
                  <a:gd name="T17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115">
                    <a:moveTo>
                      <a:pt x="0" y="115"/>
                    </a:moveTo>
                    <a:lnTo>
                      <a:pt x="14" y="113"/>
                    </a:lnTo>
                    <a:lnTo>
                      <a:pt x="30" y="105"/>
                    </a:lnTo>
                    <a:lnTo>
                      <a:pt x="43" y="96"/>
                    </a:lnTo>
                    <a:lnTo>
                      <a:pt x="60" y="81"/>
                    </a:lnTo>
                    <a:lnTo>
                      <a:pt x="76" y="64"/>
                    </a:lnTo>
                    <a:lnTo>
                      <a:pt x="89" y="44"/>
                    </a:lnTo>
                    <a:lnTo>
                      <a:pt x="106" y="25"/>
                    </a:lnTo>
                    <a:lnTo>
                      <a:pt x="119" y="0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4" name="Freeform 22"/>
              <p:cNvSpPr>
                <a:spLocks/>
              </p:cNvSpPr>
              <p:nvPr/>
            </p:nvSpPr>
            <p:spPr bwMode="auto">
              <a:xfrm>
                <a:off x="2090" y="2725"/>
                <a:ext cx="116" cy="271"/>
              </a:xfrm>
              <a:custGeom>
                <a:avLst/>
                <a:gdLst>
                  <a:gd name="T0" fmla="*/ 0 w 116"/>
                  <a:gd name="T1" fmla="*/ 271 h 271"/>
                  <a:gd name="T2" fmla="*/ 14 w 116"/>
                  <a:gd name="T3" fmla="*/ 244 h 271"/>
                  <a:gd name="T4" fmla="*/ 30 w 116"/>
                  <a:gd name="T5" fmla="*/ 215 h 271"/>
                  <a:gd name="T6" fmla="*/ 43 w 116"/>
                  <a:gd name="T7" fmla="*/ 181 h 271"/>
                  <a:gd name="T8" fmla="*/ 57 w 116"/>
                  <a:gd name="T9" fmla="*/ 146 h 271"/>
                  <a:gd name="T10" fmla="*/ 86 w 116"/>
                  <a:gd name="T11" fmla="*/ 71 h 271"/>
                  <a:gd name="T12" fmla="*/ 103 w 116"/>
                  <a:gd name="T13" fmla="*/ 34 h 271"/>
                  <a:gd name="T14" fmla="*/ 116 w 116"/>
                  <a:gd name="T1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6" h="271">
                    <a:moveTo>
                      <a:pt x="0" y="271"/>
                    </a:moveTo>
                    <a:lnTo>
                      <a:pt x="14" y="244"/>
                    </a:lnTo>
                    <a:lnTo>
                      <a:pt x="30" y="215"/>
                    </a:lnTo>
                    <a:lnTo>
                      <a:pt x="43" y="181"/>
                    </a:lnTo>
                    <a:lnTo>
                      <a:pt x="57" y="146"/>
                    </a:lnTo>
                    <a:lnTo>
                      <a:pt x="86" y="71"/>
                    </a:lnTo>
                    <a:lnTo>
                      <a:pt x="103" y="34"/>
                    </a:lnTo>
                    <a:lnTo>
                      <a:pt x="116" y="0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5" name="Freeform 23"/>
              <p:cNvSpPr>
                <a:spLocks/>
              </p:cNvSpPr>
              <p:nvPr/>
            </p:nvSpPr>
            <p:spPr bwMode="auto">
              <a:xfrm>
                <a:off x="2206" y="2451"/>
                <a:ext cx="119" cy="274"/>
              </a:xfrm>
              <a:custGeom>
                <a:avLst/>
                <a:gdLst>
                  <a:gd name="T0" fmla="*/ 0 w 119"/>
                  <a:gd name="T1" fmla="*/ 274 h 274"/>
                  <a:gd name="T2" fmla="*/ 14 w 119"/>
                  <a:gd name="T3" fmla="*/ 240 h 274"/>
                  <a:gd name="T4" fmla="*/ 30 w 119"/>
                  <a:gd name="T5" fmla="*/ 203 h 274"/>
                  <a:gd name="T6" fmla="*/ 60 w 119"/>
                  <a:gd name="T7" fmla="*/ 127 h 274"/>
                  <a:gd name="T8" fmla="*/ 76 w 119"/>
                  <a:gd name="T9" fmla="*/ 90 h 274"/>
                  <a:gd name="T10" fmla="*/ 89 w 119"/>
                  <a:gd name="T11" fmla="*/ 56 h 274"/>
                  <a:gd name="T12" fmla="*/ 105 w 119"/>
                  <a:gd name="T13" fmla="*/ 27 h 274"/>
                  <a:gd name="T14" fmla="*/ 119 w 119"/>
                  <a:gd name="T15" fmla="*/ 0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74">
                    <a:moveTo>
                      <a:pt x="0" y="274"/>
                    </a:moveTo>
                    <a:lnTo>
                      <a:pt x="14" y="240"/>
                    </a:lnTo>
                    <a:lnTo>
                      <a:pt x="30" y="203"/>
                    </a:lnTo>
                    <a:lnTo>
                      <a:pt x="60" y="127"/>
                    </a:lnTo>
                    <a:lnTo>
                      <a:pt x="76" y="90"/>
                    </a:lnTo>
                    <a:lnTo>
                      <a:pt x="89" y="56"/>
                    </a:lnTo>
                    <a:lnTo>
                      <a:pt x="105" y="27"/>
                    </a:lnTo>
                    <a:lnTo>
                      <a:pt x="119" y="0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6" name="Freeform 24"/>
              <p:cNvSpPr>
                <a:spLocks/>
              </p:cNvSpPr>
              <p:nvPr/>
            </p:nvSpPr>
            <p:spPr bwMode="auto">
              <a:xfrm>
                <a:off x="2325" y="2338"/>
                <a:ext cx="116" cy="113"/>
              </a:xfrm>
              <a:custGeom>
                <a:avLst/>
                <a:gdLst>
                  <a:gd name="T0" fmla="*/ 0 w 116"/>
                  <a:gd name="T1" fmla="*/ 113 h 113"/>
                  <a:gd name="T2" fmla="*/ 13 w 116"/>
                  <a:gd name="T3" fmla="*/ 88 h 113"/>
                  <a:gd name="T4" fmla="*/ 30 w 116"/>
                  <a:gd name="T5" fmla="*/ 69 h 113"/>
                  <a:gd name="T6" fmla="*/ 43 w 116"/>
                  <a:gd name="T7" fmla="*/ 49 h 113"/>
                  <a:gd name="T8" fmla="*/ 57 w 116"/>
                  <a:gd name="T9" fmla="*/ 32 h 113"/>
                  <a:gd name="T10" fmla="*/ 73 w 116"/>
                  <a:gd name="T11" fmla="*/ 20 h 113"/>
                  <a:gd name="T12" fmla="*/ 86 w 116"/>
                  <a:gd name="T13" fmla="*/ 8 h 113"/>
                  <a:gd name="T14" fmla="*/ 103 w 116"/>
                  <a:gd name="T15" fmla="*/ 3 h 113"/>
                  <a:gd name="T16" fmla="*/ 116 w 116"/>
                  <a:gd name="T17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113">
                    <a:moveTo>
                      <a:pt x="0" y="113"/>
                    </a:moveTo>
                    <a:lnTo>
                      <a:pt x="13" y="88"/>
                    </a:lnTo>
                    <a:lnTo>
                      <a:pt x="30" y="69"/>
                    </a:lnTo>
                    <a:lnTo>
                      <a:pt x="43" y="49"/>
                    </a:lnTo>
                    <a:lnTo>
                      <a:pt x="57" y="32"/>
                    </a:lnTo>
                    <a:lnTo>
                      <a:pt x="73" y="20"/>
                    </a:lnTo>
                    <a:lnTo>
                      <a:pt x="86" y="8"/>
                    </a:lnTo>
                    <a:lnTo>
                      <a:pt x="103" y="3"/>
                    </a:lnTo>
                    <a:lnTo>
                      <a:pt x="116" y="0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7" name="Freeform 25"/>
              <p:cNvSpPr>
                <a:spLocks/>
              </p:cNvSpPr>
              <p:nvPr/>
            </p:nvSpPr>
            <p:spPr bwMode="auto">
              <a:xfrm>
                <a:off x="2441" y="2338"/>
                <a:ext cx="119" cy="113"/>
              </a:xfrm>
              <a:custGeom>
                <a:avLst/>
                <a:gdLst>
                  <a:gd name="T0" fmla="*/ 0 w 119"/>
                  <a:gd name="T1" fmla="*/ 0 h 113"/>
                  <a:gd name="T2" fmla="*/ 14 w 119"/>
                  <a:gd name="T3" fmla="*/ 3 h 113"/>
                  <a:gd name="T4" fmla="*/ 30 w 119"/>
                  <a:gd name="T5" fmla="*/ 8 h 113"/>
                  <a:gd name="T6" fmla="*/ 43 w 119"/>
                  <a:gd name="T7" fmla="*/ 20 h 113"/>
                  <a:gd name="T8" fmla="*/ 59 w 119"/>
                  <a:gd name="T9" fmla="*/ 32 h 113"/>
                  <a:gd name="T10" fmla="*/ 76 w 119"/>
                  <a:gd name="T11" fmla="*/ 49 h 113"/>
                  <a:gd name="T12" fmla="*/ 89 w 119"/>
                  <a:gd name="T13" fmla="*/ 69 h 113"/>
                  <a:gd name="T14" fmla="*/ 105 w 119"/>
                  <a:gd name="T15" fmla="*/ 88 h 113"/>
                  <a:gd name="T16" fmla="*/ 119 w 119"/>
                  <a:gd name="T17" fmla="*/ 113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113">
                    <a:moveTo>
                      <a:pt x="0" y="0"/>
                    </a:moveTo>
                    <a:lnTo>
                      <a:pt x="14" y="3"/>
                    </a:lnTo>
                    <a:lnTo>
                      <a:pt x="30" y="8"/>
                    </a:lnTo>
                    <a:lnTo>
                      <a:pt x="43" y="20"/>
                    </a:lnTo>
                    <a:lnTo>
                      <a:pt x="59" y="32"/>
                    </a:lnTo>
                    <a:lnTo>
                      <a:pt x="76" y="49"/>
                    </a:lnTo>
                    <a:lnTo>
                      <a:pt x="89" y="69"/>
                    </a:lnTo>
                    <a:lnTo>
                      <a:pt x="105" y="88"/>
                    </a:lnTo>
                    <a:lnTo>
                      <a:pt x="119" y="113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8" name="Freeform 26"/>
              <p:cNvSpPr>
                <a:spLocks/>
              </p:cNvSpPr>
              <p:nvPr/>
            </p:nvSpPr>
            <p:spPr bwMode="auto">
              <a:xfrm>
                <a:off x="2560" y="2451"/>
                <a:ext cx="116" cy="274"/>
              </a:xfrm>
              <a:custGeom>
                <a:avLst/>
                <a:gdLst>
                  <a:gd name="T0" fmla="*/ 0 w 116"/>
                  <a:gd name="T1" fmla="*/ 0 h 274"/>
                  <a:gd name="T2" fmla="*/ 13 w 116"/>
                  <a:gd name="T3" fmla="*/ 27 h 274"/>
                  <a:gd name="T4" fmla="*/ 30 w 116"/>
                  <a:gd name="T5" fmla="*/ 56 h 274"/>
                  <a:gd name="T6" fmla="*/ 43 w 116"/>
                  <a:gd name="T7" fmla="*/ 90 h 274"/>
                  <a:gd name="T8" fmla="*/ 57 w 116"/>
                  <a:gd name="T9" fmla="*/ 127 h 274"/>
                  <a:gd name="T10" fmla="*/ 86 w 116"/>
                  <a:gd name="T11" fmla="*/ 203 h 274"/>
                  <a:gd name="T12" fmla="*/ 102 w 116"/>
                  <a:gd name="T13" fmla="*/ 240 h 274"/>
                  <a:gd name="T14" fmla="*/ 116 w 116"/>
                  <a:gd name="T15" fmla="*/ 274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6" h="274">
                    <a:moveTo>
                      <a:pt x="0" y="0"/>
                    </a:moveTo>
                    <a:lnTo>
                      <a:pt x="13" y="27"/>
                    </a:lnTo>
                    <a:lnTo>
                      <a:pt x="30" y="56"/>
                    </a:lnTo>
                    <a:lnTo>
                      <a:pt x="43" y="90"/>
                    </a:lnTo>
                    <a:lnTo>
                      <a:pt x="57" y="127"/>
                    </a:lnTo>
                    <a:lnTo>
                      <a:pt x="86" y="203"/>
                    </a:lnTo>
                    <a:lnTo>
                      <a:pt x="102" y="240"/>
                    </a:lnTo>
                    <a:lnTo>
                      <a:pt x="116" y="274"/>
                    </a:lnTo>
                  </a:path>
                </a:pathLst>
              </a:custGeom>
              <a:noFill/>
              <a:ln w="317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99" name="Line 27"/>
              <p:cNvSpPr>
                <a:spLocks noChangeShapeType="1"/>
              </p:cNvSpPr>
              <p:nvPr/>
            </p:nvSpPr>
            <p:spPr bwMode="auto">
              <a:xfrm>
                <a:off x="2676" y="2725"/>
                <a:ext cx="119" cy="271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700" name="Line 28"/>
            <p:cNvSpPr>
              <a:spLocks noChangeShapeType="1"/>
            </p:cNvSpPr>
            <p:nvPr/>
          </p:nvSpPr>
          <p:spPr bwMode="auto">
            <a:xfrm>
              <a:off x="864" y="2494"/>
              <a:ext cx="19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01" name="Line 29"/>
            <p:cNvSpPr>
              <a:spLocks noChangeShapeType="1"/>
            </p:cNvSpPr>
            <p:nvPr/>
          </p:nvSpPr>
          <p:spPr bwMode="auto">
            <a:xfrm flipV="1">
              <a:off x="1200" y="1824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02" name="Text Box 30"/>
            <p:cNvSpPr txBox="1">
              <a:spLocks noChangeArrowheads="1"/>
            </p:cNvSpPr>
            <p:nvPr/>
          </p:nvSpPr>
          <p:spPr bwMode="auto">
            <a:xfrm>
              <a:off x="2639" y="2440"/>
              <a:ext cx="2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 smtClean="0">
                  <a:sym typeface="Symbol" pitchFamily="18" charset="2"/>
                </a:rPr>
                <a:t></a:t>
              </a:r>
              <a:r>
                <a:rPr lang="en-US" altLang="zh-CN" sz="800" i="1" dirty="0" smtClean="0">
                  <a:sym typeface="Symbol" pitchFamily="18" charset="2"/>
                </a:rPr>
                <a:t> </a:t>
              </a:r>
              <a:r>
                <a:rPr lang="en-US" altLang="zh-CN" sz="2000" i="1" dirty="0" smtClean="0"/>
                <a:t>t</a:t>
              </a:r>
              <a:endParaRPr lang="en-US" altLang="zh-CN" sz="2000" dirty="0"/>
            </a:p>
          </p:txBody>
        </p:sp>
        <p:sp>
          <p:nvSpPr>
            <p:cNvPr id="412704" name="Text Box 32"/>
            <p:cNvSpPr txBox="1">
              <a:spLocks noChangeArrowheads="1"/>
            </p:cNvSpPr>
            <p:nvPr/>
          </p:nvSpPr>
          <p:spPr bwMode="auto">
            <a:xfrm>
              <a:off x="1055" y="243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/>
                <a:t>0</a:t>
              </a:r>
            </a:p>
          </p:txBody>
        </p:sp>
      </p:grpSp>
      <p:sp>
        <p:nvSpPr>
          <p:cNvPr id="412719" name="Rectangle 47"/>
          <p:cNvSpPr>
            <a:spLocks noChangeArrowheads="1"/>
          </p:cNvSpPr>
          <p:nvPr/>
        </p:nvSpPr>
        <p:spPr bwMode="auto">
          <a:xfrm>
            <a:off x="1114425" y="1595438"/>
            <a:ext cx="299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 smtClean="0"/>
              <a:t>当 </a:t>
            </a:r>
            <a:r>
              <a:rPr lang="en-US" altLang="zh-CN" sz="2000" i="1" dirty="0" smtClean="0"/>
              <a:t>t </a:t>
            </a:r>
            <a:r>
              <a:rPr lang="en-US" altLang="zh-CN" sz="2000" dirty="0"/>
              <a:t>= </a:t>
            </a:r>
            <a:r>
              <a:rPr lang="en-US" altLang="zh-CN" sz="2000" dirty="0" smtClean="0"/>
              <a:t>0 </a:t>
            </a:r>
            <a:r>
              <a:rPr lang="zh-CN" altLang="en-US" sz="2000" dirty="0" smtClean="0"/>
              <a:t>时</a:t>
            </a:r>
            <a:r>
              <a:rPr lang="zh-CN" altLang="en-US" sz="2000" dirty="0"/>
              <a:t>，</a:t>
            </a:r>
            <a:r>
              <a:rPr lang="en-US" altLang="zh-CN" sz="2000" i="1" dirty="0" err="1"/>
              <a:t>i</a:t>
            </a:r>
            <a:r>
              <a:rPr lang="en-US" altLang="zh-CN" sz="2000" dirty="0"/>
              <a:t>(</a:t>
            </a:r>
            <a:r>
              <a:rPr lang="en-US" altLang="zh-CN" sz="2000" i="1" dirty="0"/>
              <a:t>t</a:t>
            </a:r>
            <a:r>
              <a:rPr lang="en-US" altLang="zh-CN" sz="2000" dirty="0"/>
              <a:t>)  </a:t>
            </a:r>
            <a:r>
              <a:rPr lang="en-US" altLang="zh-CN" sz="2000" dirty="0" smtClean="0"/>
              <a:t>= </a:t>
            </a:r>
            <a:r>
              <a:rPr lang="en-US" altLang="zh-CN" sz="2000" i="1" dirty="0" err="1" smtClean="0"/>
              <a:t>I</a:t>
            </a:r>
            <a:r>
              <a:rPr lang="en-US" altLang="zh-CN" sz="2000" i="1" baseline="-25000" dirty="0" err="1" smtClean="0"/>
              <a:t>m</a:t>
            </a:r>
            <a:r>
              <a:rPr lang="en-US" altLang="zh-CN" sz="2000" i="1" baseline="-25000" dirty="0" smtClean="0"/>
              <a:t> </a:t>
            </a:r>
            <a:r>
              <a:rPr lang="en-US" altLang="zh-CN" sz="2000" dirty="0" err="1"/>
              <a:t>cos</a:t>
            </a:r>
            <a:r>
              <a:rPr lang="en-US" altLang="zh-CN" sz="2000" i="1" dirty="0" err="1">
                <a:latin typeface="Symbol" pitchFamily="18" charset="2"/>
              </a:rPr>
              <a:t>q</a:t>
            </a:r>
            <a:endParaRPr lang="en-US" altLang="zh-CN" sz="2000" i="1" dirty="0">
              <a:latin typeface="Symbol" pitchFamily="18" charset="2"/>
            </a:endParaRPr>
          </a:p>
        </p:txBody>
      </p:sp>
      <p:graphicFrame>
        <p:nvGraphicFramePr>
          <p:cNvPr id="412721" name="Object 49"/>
          <p:cNvGraphicFramePr>
            <a:graphicFrameLocks noChangeAspect="1"/>
          </p:cNvGraphicFramePr>
          <p:nvPr/>
        </p:nvGraphicFramePr>
        <p:xfrm>
          <a:off x="4737100" y="2971800"/>
          <a:ext cx="914400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741" name="Equation" r:id="rId9" imgW="914400" imgH="185760" progId="Equation.DSMT4">
                  <p:embed/>
                </p:oleObj>
              </mc:Choice>
              <mc:Fallback>
                <p:oleObj name="Equation" r:id="rId9" imgW="914400" imgH="18576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2971800"/>
                        <a:ext cx="914400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22" name="Object 50"/>
          <p:cNvGraphicFramePr>
            <a:graphicFrameLocks noChangeAspect="1"/>
          </p:cNvGraphicFramePr>
          <p:nvPr/>
        </p:nvGraphicFramePr>
        <p:xfrm>
          <a:off x="4737100" y="2971800"/>
          <a:ext cx="914400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742" name="Equation" r:id="rId11" imgW="914400" imgH="185760" progId="Equation.DSMT4">
                  <p:embed/>
                </p:oleObj>
              </mc:Choice>
              <mc:Fallback>
                <p:oleObj name="Equation" r:id="rId11" imgW="914400" imgH="18576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2971800"/>
                        <a:ext cx="914400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76" name="Object 104"/>
          <p:cNvGraphicFramePr>
            <a:graphicFrameLocks noChangeAspect="1"/>
          </p:cNvGraphicFramePr>
          <p:nvPr/>
        </p:nvGraphicFramePr>
        <p:xfrm>
          <a:off x="5056188" y="4397375"/>
          <a:ext cx="3700462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743" name="Equation" r:id="rId12" imgW="1714320" imgH="355320" progId="Equation.DSMT4">
                  <p:embed/>
                </p:oleObj>
              </mc:Choice>
              <mc:Fallback>
                <p:oleObj name="Equation" r:id="rId12" imgW="1714320" imgH="355320" progId="Equation.DSMT4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8" y="4397375"/>
                        <a:ext cx="3700462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41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500"/>
                                        <p:tgtEl>
                                          <p:spTgt spid="41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1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1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1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utoUpdateAnimBg="0"/>
      <p:bldP spid="412675" grpId="0" autoUpdateAnimBg="0"/>
      <p:bldP spid="412676" grpId="0" autoUpdateAnimBg="0"/>
      <p:bldP spid="412680" grpId="0" autoUpdateAnimBg="0"/>
      <p:bldP spid="41271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1" name="Text Box 3"/>
          <p:cNvSpPr txBox="1">
            <a:spLocks noChangeArrowheads="1"/>
          </p:cNvSpPr>
          <p:nvPr/>
        </p:nvSpPr>
        <p:spPr bwMode="auto">
          <a:xfrm>
            <a:off x="514350" y="1916113"/>
            <a:ext cx="21595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dirty="0" smtClean="0"/>
              <a:t>(1)  </a:t>
            </a:r>
            <a:r>
              <a:rPr lang="zh-CN" altLang="en-US" sz="2000" dirty="0" smtClean="0"/>
              <a:t>有效值的定义</a:t>
            </a:r>
            <a:endParaRPr lang="zh-CN" altLang="en-US" sz="2000" dirty="0"/>
          </a:p>
        </p:txBody>
      </p:sp>
      <p:grpSp>
        <p:nvGrpSpPr>
          <p:cNvPr id="416772" name="Group 4"/>
          <p:cNvGrpSpPr>
            <a:grpSpLocks/>
          </p:cNvGrpSpPr>
          <p:nvPr/>
        </p:nvGrpSpPr>
        <p:grpSpPr bwMode="auto">
          <a:xfrm>
            <a:off x="4657725" y="4392613"/>
            <a:ext cx="1127125" cy="1703387"/>
            <a:chOff x="720" y="367"/>
            <a:chExt cx="710" cy="1073"/>
          </a:xfrm>
        </p:grpSpPr>
        <p:sp>
          <p:nvSpPr>
            <p:cNvPr id="416773" name="Line 5"/>
            <p:cNvSpPr>
              <a:spLocks noChangeShapeType="1"/>
            </p:cNvSpPr>
            <p:nvPr/>
          </p:nvSpPr>
          <p:spPr bwMode="auto">
            <a:xfrm>
              <a:off x="775" y="69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774" name="Freeform 6"/>
            <p:cNvSpPr>
              <a:spLocks/>
            </p:cNvSpPr>
            <p:nvPr/>
          </p:nvSpPr>
          <p:spPr bwMode="auto">
            <a:xfrm>
              <a:off x="1152" y="696"/>
              <a:ext cx="8" cy="726"/>
            </a:xfrm>
            <a:custGeom>
              <a:avLst/>
              <a:gdLst>
                <a:gd name="T0" fmla="*/ 8 w 8"/>
                <a:gd name="T1" fmla="*/ 0 h 726"/>
                <a:gd name="T2" fmla="*/ 0 w 8"/>
                <a:gd name="T3" fmla="*/ 72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726">
                  <a:moveTo>
                    <a:pt x="8" y="0"/>
                  </a:moveTo>
                  <a:lnTo>
                    <a:pt x="0" y="7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775" name="Line 7"/>
            <p:cNvSpPr>
              <a:spLocks noChangeShapeType="1"/>
            </p:cNvSpPr>
            <p:nvPr/>
          </p:nvSpPr>
          <p:spPr bwMode="auto">
            <a:xfrm>
              <a:off x="775" y="141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776" name="Rectangle 8"/>
            <p:cNvSpPr>
              <a:spLocks noChangeArrowheads="1"/>
            </p:cNvSpPr>
            <p:nvPr/>
          </p:nvSpPr>
          <p:spPr bwMode="auto">
            <a:xfrm rot="-10800000">
              <a:off x="1099" y="876"/>
              <a:ext cx="120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6777" name="Text Box 9"/>
            <p:cNvSpPr txBox="1">
              <a:spLocks noChangeArrowheads="1"/>
            </p:cNvSpPr>
            <p:nvPr/>
          </p:nvSpPr>
          <p:spPr bwMode="auto">
            <a:xfrm>
              <a:off x="1207" y="91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/>
                <a:t>R</a:t>
              </a:r>
              <a:endParaRPr lang="en-US" altLang="zh-CN" sz="2000"/>
            </a:p>
          </p:txBody>
        </p:sp>
        <p:sp>
          <p:nvSpPr>
            <p:cNvPr id="416778" name="Text Box 10"/>
            <p:cNvSpPr txBox="1">
              <a:spLocks noChangeArrowheads="1"/>
            </p:cNvSpPr>
            <p:nvPr/>
          </p:nvSpPr>
          <p:spPr bwMode="auto">
            <a:xfrm>
              <a:off x="727" y="367"/>
              <a:ext cx="3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/>
                <a:t>i</a:t>
              </a:r>
              <a:r>
                <a:rPr lang="en-US" altLang="zh-CN" sz="2000"/>
                <a:t>(</a:t>
              </a:r>
              <a:r>
                <a:rPr lang="en-US" altLang="zh-CN" sz="2000" i="1"/>
                <a:t>t</a:t>
              </a:r>
              <a:r>
                <a:rPr lang="en-US" altLang="zh-CN" sz="2000"/>
                <a:t>)</a:t>
              </a:r>
            </a:p>
          </p:txBody>
        </p:sp>
        <p:sp>
          <p:nvSpPr>
            <p:cNvPr id="416779" name="Line 11"/>
            <p:cNvSpPr>
              <a:spLocks noChangeShapeType="1"/>
            </p:cNvSpPr>
            <p:nvPr/>
          </p:nvSpPr>
          <p:spPr bwMode="auto">
            <a:xfrm>
              <a:off x="775" y="624"/>
              <a:ext cx="28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780" name="Oval 12"/>
            <p:cNvSpPr>
              <a:spLocks noChangeArrowheads="1"/>
            </p:cNvSpPr>
            <p:nvPr/>
          </p:nvSpPr>
          <p:spPr bwMode="auto">
            <a:xfrm>
              <a:off x="720" y="67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6781" name="Oval 13"/>
            <p:cNvSpPr>
              <a:spLocks noChangeArrowheads="1"/>
            </p:cNvSpPr>
            <p:nvPr/>
          </p:nvSpPr>
          <p:spPr bwMode="auto">
            <a:xfrm>
              <a:off x="720" y="139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16782" name="Group 14"/>
          <p:cNvGrpSpPr>
            <a:grpSpLocks/>
          </p:cNvGrpSpPr>
          <p:nvPr/>
        </p:nvGrpSpPr>
        <p:grpSpPr bwMode="auto">
          <a:xfrm>
            <a:off x="1381125" y="4316413"/>
            <a:ext cx="1127125" cy="1703387"/>
            <a:chOff x="768" y="1855"/>
            <a:chExt cx="710" cy="1073"/>
          </a:xfrm>
        </p:grpSpPr>
        <p:sp>
          <p:nvSpPr>
            <p:cNvPr id="416783" name="Line 15"/>
            <p:cNvSpPr>
              <a:spLocks noChangeShapeType="1"/>
            </p:cNvSpPr>
            <p:nvPr/>
          </p:nvSpPr>
          <p:spPr bwMode="auto">
            <a:xfrm>
              <a:off x="823" y="218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784" name="Freeform 16"/>
            <p:cNvSpPr>
              <a:spLocks/>
            </p:cNvSpPr>
            <p:nvPr/>
          </p:nvSpPr>
          <p:spPr bwMode="auto">
            <a:xfrm>
              <a:off x="1200" y="2184"/>
              <a:ext cx="8" cy="726"/>
            </a:xfrm>
            <a:custGeom>
              <a:avLst/>
              <a:gdLst>
                <a:gd name="T0" fmla="*/ 8 w 8"/>
                <a:gd name="T1" fmla="*/ 0 h 726"/>
                <a:gd name="T2" fmla="*/ 0 w 8"/>
                <a:gd name="T3" fmla="*/ 72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726">
                  <a:moveTo>
                    <a:pt x="8" y="0"/>
                  </a:moveTo>
                  <a:lnTo>
                    <a:pt x="0" y="7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785" name="Line 17"/>
            <p:cNvSpPr>
              <a:spLocks noChangeShapeType="1"/>
            </p:cNvSpPr>
            <p:nvPr/>
          </p:nvSpPr>
          <p:spPr bwMode="auto">
            <a:xfrm>
              <a:off x="823" y="290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786" name="Rectangle 18"/>
            <p:cNvSpPr>
              <a:spLocks noChangeArrowheads="1"/>
            </p:cNvSpPr>
            <p:nvPr/>
          </p:nvSpPr>
          <p:spPr bwMode="auto">
            <a:xfrm rot="-10800000">
              <a:off x="1147" y="2364"/>
              <a:ext cx="120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6787" name="Text Box 19"/>
            <p:cNvSpPr txBox="1">
              <a:spLocks noChangeArrowheads="1"/>
            </p:cNvSpPr>
            <p:nvPr/>
          </p:nvSpPr>
          <p:spPr bwMode="auto">
            <a:xfrm>
              <a:off x="1255" y="2407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/>
                <a:t>R</a:t>
              </a:r>
              <a:endParaRPr lang="en-US" altLang="zh-CN" sz="2000"/>
            </a:p>
          </p:txBody>
        </p:sp>
        <p:sp>
          <p:nvSpPr>
            <p:cNvPr id="416788" name="Text Box 20"/>
            <p:cNvSpPr txBox="1">
              <a:spLocks noChangeArrowheads="1"/>
            </p:cNvSpPr>
            <p:nvPr/>
          </p:nvSpPr>
          <p:spPr bwMode="auto">
            <a:xfrm>
              <a:off x="912" y="1855"/>
              <a:ext cx="1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/>
                <a:t>I</a:t>
              </a:r>
              <a:endParaRPr lang="en-US" altLang="zh-CN" sz="2000"/>
            </a:p>
          </p:txBody>
        </p:sp>
        <p:sp>
          <p:nvSpPr>
            <p:cNvPr id="416789" name="Line 21"/>
            <p:cNvSpPr>
              <a:spLocks noChangeShapeType="1"/>
            </p:cNvSpPr>
            <p:nvPr/>
          </p:nvSpPr>
          <p:spPr bwMode="auto">
            <a:xfrm>
              <a:off x="823" y="2112"/>
              <a:ext cx="28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790" name="Oval 22"/>
            <p:cNvSpPr>
              <a:spLocks noChangeArrowheads="1"/>
            </p:cNvSpPr>
            <p:nvPr/>
          </p:nvSpPr>
          <p:spPr bwMode="auto">
            <a:xfrm>
              <a:off x="768" y="216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6791" name="Oval 23"/>
            <p:cNvSpPr>
              <a:spLocks noChangeArrowheads="1"/>
            </p:cNvSpPr>
            <p:nvPr/>
          </p:nvSpPr>
          <p:spPr bwMode="auto">
            <a:xfrm>
              <a:off x="768" y="288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41679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167051"/>
              </p:ext>
            </p:extLst>
          </p:nvPr>
        </p:nvGraphicFramePr>
        <p:xfrm>
          <a:off x="5954712" y="5268913"/>
          <a:ext cx="19351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72" name="Equation" r:id="rId3" imgW="901440" imgH="291960" progId="Equation.DSMT4">
                  <p:embed/>
                </p:oleObj>
              </mc:Choice>
              <mc:Fallback>
                <p:oleObj name="Equation" r:id="rId3" imgW="901440" imgH="29196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4712" y="5268913"/>
                        <a:ext cx="193516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96" name="Text Box 28"/>
          <p:cNvSpPr txBox="1">
            <a:spLocks noChangeArrowheads="1"/>
          </p:cNvSpPr>
          <p:nvPr/>
        </p:nvSpPr>
        <p:spPr bwMode="auto">
          <a:xfrm>
            <a:off x="304800" y="2628900"/>
            <a:ext cx="84883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00" indent="-952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714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905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095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定义     </a:t>
            </a:r>
            <a:r>
              <a:rPr lang="zh-CN" altLang="en-US" sz="2000" dirty="0" smtClean="0"/>
              <a:t>周期性电流 </a:t>
            </a:r>
            <a:r>
              <a:rPr lang="en-US" altLang="zh-CN" sz="2000" i="1" dirty="0" err="1" smtClean="0"/>
              <a:t>i</a:t>
            </a:r>
            <a:r>
              <a:rPr lang="en-US" altLang="zh-CN" sz="2000" i="1" dirty="0" smtClean="0"/>
              <a:t> </a:t>
            </a:r>
            <a:r>
              <a:rPr lang="zh-CN" altLang="en-US" sz="2000" dirty="0"/>
              <a:t>流过</a:t>
            </a:r>
            <a:r>
              <a:rPr lang="zh-CN" altLang="en-US" sz="2000" dirty="0" smtClean="0"/>
              <a:t>电阻 </a:t>
            </a:r>
            <a:r>
              <a:rPr lang="en-US" altLang="zh-CN" sz="2000" i="1" dirty="0" smtClean="0"/>
              <a:t>R </a:t>
            </a:r>
            <a:r>
              <a:rPr lang="zh-CN" altLang="en-US" sz="2000" dirty="0" smtClean="0"/>
              <a:t>在</a:t>
            </a:r>
            <a:r>
              <a:rPr lang="zh-CN" altLang="en-US" sz="2000" dirty="0"/>
              <a:t>一</a:t>
            </a:r>
            <a:r>
              <a:rPr lang="zh-CN" altLang="en-US" sz="2000" dirty="0" smtClean="0"/>
              <a:t>周期 </a:t>
            </a:r>
            <a:r>
              <a:rPr lang="en-US" altLang="zh-CN" sz="2000" i="1" dirty="0" smtClean="0"/>
              <a:t>T </a:t>
            </a:r>
            <a:r>
              <a:rPr lang="zh-CN" altLang="en-US" sz="2000" dirty="0"/>
              <a:t>内消耗的电能，等于一直流</a:t>
            </a:r>
            <a:r>
              <a:rPr lang="zh-CN" altLang="en-US" sz="2000" dirty="0" smtClean="0"/>
              <a:t>电流 </a:t>
            </a:r>
            <a:r>
              <a:rPr lang="en-US" altLang="zh-CN" sz="2000" i="1" dirty="0" smtClean="0"/>
              <a:t>I </a:t>
            </a:r>
            <a:r>
              <a:rPr lang="zh-CN" altLang="en-US" sz="2000" dirty="0" smtClean="0"/>
              <a:t>流过 </a:t>
            </a:r>
            <a:r>
              <a:rPr lang="en-US" altLang="zh-CN" sz="2000" i="1" dirty="0" smtClean="0"/>
              <a:t>R </a:t>
            </a:r>
            <a:r>
              <a:rPr lang="zh-CN" altLang="en-US" sz="2000" dirty="0" smtClean="0"/>
              <a:t>在时间 </a:t>
            </a:r>
            <a:r>
              <a:rPr lang="en-US" altLang="zh-CN" sz="2000" i="1" dirty="0" smtClean="0"/>
              <a:t>T </a:t>
            </a:r>
            <a:r>
              <a:rPr lang="zh-CN" altLang="en-US" sz="2000" dirty="0"/>
              <a:t>内消耗的电能，则称电流 </a:t>
            </a:r>
            <a:r>
              <a:rPr lang="en-US" altLang="zh-CN" sz="2000" i="1" dirty="0"/>
              <a:t>I </a:t>
            </a:r>
            <a:r>
              <a:rPr lang="zh-CN" altLang="en-US" sz="2000" dirty="0"/>
              <a:t>为周期性电流 </a:t>
            </a:r>
            <a:r>
              <a:rPr lang="en-US" altLang="zh-CN" sz="2000" i="1" dirty="0" err="1"/>
              <a:t>i</a:t>
            </a:r>
            <a:r>
              <a:rPr lang="en-US" altLang="zh-CN" sz="2000" i="1" dirty="0"/>
              <a:t> </a:t>
            </a:r>
            <a:r>
              <a:rPr lang="zh-CN" altLang="en-US" sz="2000" dirty="0"/>
              <a:t>的有效值。</a:t>
            </a:r>
          </a:p>
        </p:txBody>
      </p:sp>
      <p:sp>
        <p:nvSpPr>
          <p:cNvPr id="416797" name="Text Box 29"/>
          <p:cNvSpPr txBox="1">
            <a:spLocks noChangeArrowheads="1"/>
          </p:cNvSpPr>
          <p:nvPr/>
        </p:nvSpPr>
        <p:spPr bwMode="auto">
          <a:xfrm>
            <a:off x="371475" y="590550"/>
            <a:ext cx="58708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>
                <a:solidFill>
                  <a:srgbClr val="990033"/>
                </a:solidFill>
              </a:rPr>
              <a:t>二、</a:t>
            </a:r>
            <a:r>
              <a:rPr lang="en-US" altLang="zh-CN" dirty="0" smtClean="0">
                <a:solidFill>
                  <a:srgbClr val="990033"/>
                </a:solidFill>
              </a:rPr>
              <a:t> </a:t>
            </a:r>
            <a:r>
              <a:rPr lang="zh-CN" altLang="en-US" dirty="0" smtClean="0">
                <a:solidFill>
                  <a:srgbClr val="990033"/>
                </a:solidFill>
              </a:rPr>
              <a:t>正弦量的其他重要特性参数</a:t>
            </a:r>
            <a:endParaRPr lang="zh-CN" altLang="en-US" dirty="0">
              <a:solidFill>
                <a:srgbClr val="990033"/>
              </a:solidFill>
            </a:endParaRPr>
          </a:p>
        </p:txBody>
      </p:sp>
      <p:graphicFrame>
        <p:nvGraphicFramePr>
          <p:cNvPr id="41679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207018"/>
              </p:ext>
            </p:extLst>
          </p:nvPr>
        </p:nvGraphicFramePr>
        <p:xfrm>
          <a:off x="2560638" y="5383213"/>
          <a:ext cx="14716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73" name="Equation" r:id="rId5" imgW="685800" imgH="215640" progId="Equation.DSMT4">
                  <p:embed/>
                </p:oleObj>
              </mc:Choice>
              <mc:Fallback>
                <p:oleObj name="Equation" r:id="rId5" imgW="685800" imgH="21564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5383213"/>
                        <a:ext cx="14716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506529" y="1113780"/>
            <a:ext cx="37273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 smtClean="0">
                <a:solidFill>
                  <a:srgbClr val="0000CC"/>
                </a:solidFill>
              </a:rPr>
              <a:t>1</a:t>
            </a:r>
            <a:r>
              <a:rPr lang="zh-CN" altLang="en-US" dirty="0" smtClean="0">
                <a:solidFill>
                  <a:srgbClr val="0000CC"/>
                </a:solidFill>
              </a:rPr>
              <a:t>、有效值</a:t>
            </a:r>
            <a:r>
              <a:rPr lang="zh-CN" altLang="en-US" dirty="0" smtClean="0">
                <a:solidFill>
                  <a:srgbClr val="990033"/>
                </a:solidFill>
              </a:rPr>
              <a:t>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(effective value)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6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1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1" grpId="0" autoUpdateAnimBg="0"/>
      <p:bldP spid="416796" grpId="0" autoUpdateAnimBg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6" name="Text Box 4"/>
          <p:cNvSpPr txBox="1">
            <a:spLocks noChangeArrowheads="1"/>
          </p:cNvSpPr>
          <p:nvPr/>
        </p:nvSpPr>
        <p:spPr bwMode="auto">
          <a:xfrm>
            <a:off x="955675" y="727075"/>
            <a:ext cx="50133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 smtClean="0"/>
              <a:t>若 </a:t>
            </a:r>
            <a:r>
              <a:rPr lang="en-US" altLang="zh-CN" sz="2000" i="1" dirty="0" smtClean="0"/>
              <a:t>E</a:t>
            </a:r>
            <a:r>
              <a:rPr lang="en-US" altLang="zh-CN" sz="2000" baseline="-25000" dirty="0" smtClean="0"/>
              <a:t>DC </a:t>
            </a:r>
            <a:r>
              <a:rPr lang="en-US" altLang="zh-CN" sz="2000" dirty="0" smtClean="0"/>
              <a:t>= </a:t>
            </a:r>
            <a:r>
              <a:rPr lang="en-US" altLang="zh-CN" sz="2000" i="1" dirty="0" smtClean="0"/>
              <a:t>E</a:t>
            </a:r>
            <a:r>
              <a:rPr lang="en-US" altLang="zh-CN" sz="2000" i="1" baseline="-25000" dirty="0" smtClean="0"/>
              <a:t>T </a:t>
            </a:r>
            <a:r>
              <a:rPr lang="zh-CN" altLang="en-US" sz="2000" baseline="-25000" dirty="0"/>
              <a:t>，</a:t>
            </a:r>
            <a:r>
              <a:rPr lang="zh-CN" altLang="en-US" sz="2000" dirty="0"/>
              <a:t>则 </a:t>
            </a:r>
            <a:r>
              <a:rPr lang="en-US" altLang="zh-CN" sz="2000" i="1" dirty="0" smtClean="0"/>
              <a:t>I </a:t>
            </a:r>
            <a:r>
              <a:rPr lang="zh-CN" altLang="en-US" sz="2000" dirty="0" smtClean="0"/>
              <a:t>为</a:t>
            </a:r>
            <a:r>
              <a:rPr lang="zh-CN" altLang="en-US" sz="2000" dirty="0"/>
              <a:t>周期</a:t>
            </a:r>
            <a:r>
              <a:rPr lang="zh-CN" altLang="en-US" sz="2000" dirty="0" smtClean="0"/>
              <a:t>电流的有效值</a:t>
            </a:r>
            <a:endParaRPr lang="zh-CN" altLang="en-US" sz="2000" dirty="0"/>
          </a:p>
        </p:txBody>
      </p:sp>
      <p:graphicFrame>
        <p:nvGraphicFramePr>
          <p:cNvPr id="417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41698"/>
              </p:ext>
            </p:extLst>
          </p:nvPr>
        </p:nvGraphicFramePr>
        <p:xfrm>
          <a:off x="1200150" y="1562100"/>
          <a:ext cx="258921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090" name="公式" r:id="rId3" imgW="1295280" imgH="330120" progId="Equation.3">
                  <p:embed/>
                </p:oleObj>
              </mc:Choice>
              <mc:Fallback>
                <p:oleObj name="公式" r:id="rId3" imgW="1295280" imgH="3301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1562100"/>
                        <a:ext cx="258921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00397"/>
              </p:ext>
            </p:extLst>
          </p:nvPr>
        </p:nvGraphicFramePr>
        <p:xfrm>
          <a:off x="4724400" y="1422400"/>
          <a:ext cx="215741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091" name="Equation" r:id="rId5" imgW="1079280" imgH="393480" progId="Equation.DSMT4">
                  <p:embed/>
                </p:oleObj>
              </mc:Choice>
              <mc:Fallback>
                <p:oleObj name="Equation" r:id="rId5" imgW="107928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422400"/>
                        <a:ext cx="2157413" cy="784225"/>
                      </a:xfrm>
                      <a:prstGeom prst="rect">
                        <a:avLst/>
                      </a:prstGeom>
                      <a:solidFill>
                        <a:srgbClr val="99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799" name="Text Box 7"/>
          <p:cNvSpPr txBox="1">
            <a:spLocks noChangeArrowheads="1"/>
          </p:cNvSpPr>
          <p:nvPr/>
        </p:nvSpPr>
        <p:spPr bwMode="auto">
          <a:xfrm>
            <a:off x="609600" y="2971800"/>
            <a:ext cx="39624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/>
              <a:t>同样，可定义</a:t>
            </a:r>
            <a:r>
              <a:rPr lang="zh-CN" altLang="en-US" sz="2000">
                <a:solidFill>
                  <a:srgbClr val="FF0000"/>
                </a:solidFill>
              </a:rPr>
              <a:t>电压有效值</a:t>
            </a:r>
            <a:r>
              <a:rPr lang="zh-CN" altLang="en-US" sz="2000"/>
              <a:t>：</a:t>
            </a:r>
          </a:p>
        </p:txBody>
      </p:sp>
      <p:graphicFrame>
        <p:nvGraphicFramePr>
          <p:cNvPr id="417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761653"/>
              </p:ext>
            </p:extLst>
          </p:nvPr>
        </p:nvGraphicFramePr>
        <p:xfrm>
          <a:off x="4846638" y="3060700"/>
          <a:ext cx="22447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092" name="Equation" r:id="rId7" imgW="1117440" imgH="393480" progId="Equation.DSMT4">
                  <p:embed/>
                </p:oleObj>
              </mc:Choice>
              <mc:Fallback>
                <p:oleObj name="Equation" r:id="rId7" imgW="111744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638" y="3060700"/>
                        <a:ext cx="2244725" cy="787400"/>
                      </a:xfrm>
                      <a:prstGeom prst="rect">
                        <a:avLst/>
                      </a:prstGeom>
                      <a:solidFill>
                        <a:srgbClr val="99FF33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99FF33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1" name="Rectangle 9"/>
          <p:cNvSpPr>
            <a:spLocks noChangeArrowheads="1"/>
          </p:cNvSpPr>
          <p:nvPr/>
        </p:nvSpPr>
        <p:spPr bwMode="auto">
          <a:xfrm>
            <a:off x="838200" y="4419600"/>
            <a:ext cx="65858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/>
              <a:t>有效值也称均方根值（</a:t>
            </a:r>
            <a:r>
              <a:rPr lang="en-US" altLang="zh-CN" sz="2000"/>
              <a:t>root-mean-square</a:t>
            </a:r>
            <a:r>
              <a:rPr lang="zh-CN" altLang="en-US" sz="2000"/>
              <a:t>，简记为 </a:t>
            </a:r>
            <a:r>
              <a:rPr lang="en-US" altLang="zh-CN" sz="2000"/>
              <a:t>rms</a:t>
            </a:r>
            <a:r>
              <a:rPr lang="zh-CN" altLang="en-US" sz="2000"/>
              <a:t>。</a:t>
            </a:r>
            <a:r>
              <a:rPr lang="en-US" altLang="zh-CN" sz="200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9" grpId="0" autoUpdateAnimBg="0"/>
      <p:bldP spid="41780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Text Box 2"/>
          <p:cNvSpPr txBox="1">
            <a:spLocks noChangeArrowheads="1"/>
          </p:cNvSpPr>
          <p:nvPr/>
        </p:nvSpPr>
        <p:spPr bwMode="auto">
          <a:xfrm>
            <a:off x="533400" y="533400"/>
            <a:ext cx="46815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000" dirty="0" smtClean="0"/>
              <a:t>(2)  </a:t>
            </a:r>
            <a:r>
              <a:rPr lang="zh-CN" altLang="en-US" sz="2000" dirty="0"/>
              <a:t>正弦电流、电压的有效值</a:t>
            </a:r>
          </a:p>
        </p:txBody>
      </p:sp>
      <p:sp>
        <p:nvSpPr>
          <p:cNvPr id="419843" name="Text Box 3"/>
          <p:cNvSpPr txBox="1">
            <a:spLocks noChangeArrowheads="1"/>
          </p:cNvSpPr>
          <p:nvPr/>
        </p:nvSpPr>
        <p:spPr bwMode="auto">
          <a:xfrm>
            <a:off x="1074738" y="1219200"/>
            <a:ext cx="2852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/>
              <a:t>设电流  </a:t>
            </a:r>
            <a:r>
              <a:rPr lang="en-US" altLang="zh-CN" sz="2000" i="1" dirty="0" err="1"/>
              <a:t>i</a:t>
            </a:r>
            <a:r>
              <a:rPr lang="en-US" altLang="zh-CN" sz="2000" dirty="0"/>
              <a:t>(</a:t>
            </a:r>
            <a:r>
              <a:rPr lang="en-US" altLang="zh-CN" sz="2000" i="1" dirty="0"/>
              <a:t>t</a:t>
            </a:r>
            <a:r>
              <a:rPr lang="en-US" altLang="zh-CN" sz="2000" dirty="0"/>
              <a:t>)=</a:t>
            </a:r>
            <a:r>
              <a:rPr lang="en-US" altLang="zh-CN" sz="2000" i="1" dirty="0" err="1"/>
              <a:t>I</a:t>
            </a:r>
            <a:r>
              <a:rPr lang="en-US" altLang="zh-CN" sz="2000" i="1" baseline="-25000" dirty="0" err="1"/>
              <a:t>m</a:t>
            </a:r>
            <a:r>
              <a:rPr lang="en-US" altLang="zh-CN" sz="2000" dirty="0" err="1"/>
              <a:t>cos</a:t>
            </a:r>
            <a:r>
              <a:rPr lang="en-US" altLang="zh-CN" sz="2000" dirty="0"/>
              <a:t>(</a:t>
            </a:r>
            <a:r>
              <a:rPr lang="en-US" altLang="zh-CN" sz="2000" i="1" dirty="0">
                <a:sym typeface="Symbol" pitchFamily="18" charset="2"/>
              </a:rPr>
              <a:t> </a:t>
            </a:r>
            <a:r>
              <a:rPr lang="en-US" altLang="zh-CN" sz="2000" i="1" dirty="0" err="1">
                <a:sym typeface="Symbol" pitchFamily="18" charset="2"/>
              </a:rPr>
              <a:t>t</a:t>
            </a:r>
            <a:r>
              <a:rPr lang="en-US" altLang="zh-CN" sz="2000" dirty="0" err="1">
                <a:sym typeface="Symbol" pitchFamily="18" charset="2"/>
              </a:rPr>
              <a:t>+</a:t>
            </a:r>
            <a:r>
              <a:rPr lang="en-US" altLang="zh-CN" sz="2000" i="1" dirty="0" err="1">
                <a:latin typeface="Symbol" pitchFamily="18" charset="2"/>
                <a:sym typeface="Symbol" pitchFamily="18" charset="2"/>
              </a:rPr>
              <a:t>q</a:t>
            </a:r>
            <a:r>
              <a:rPr lang="en-US" altLang="zh-CN" sz="2000" dirty="0"/>
              <a:t>)</a:t>
            </a:r>
          </a:p>
        </p:txBody>
      </p:sp>
      <p:graphicFrame>
        <p:nvGraphicFramePr>
          <p:cNvPr id="419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018048"/>
              </p:ext>
            </p:extLst>
          </p:nvPr>
        </p:nvGraphicFramePr>
        <p:xfrm>
          <a:off x="1524000" y="1878013"/>
          <a:ext cx="355758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78" name="Equation" r:id="rId3" imgW="1777680" imgH="393480" progId="Equation.DSMT4">
                  <p:embed/>
                </p:oleObj>
              </mc:Choice>
              <mc:Fallback>
                <p:oleObj name="Equation" r:id="rId3" imgW="177768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78013"/>
                        <a:ext cx="3557588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5" name="Object 5"/>
          <p:cNvGraphicFramePr>
            <a:graphicFrameLocks noChangeAspect="1"/>
          </p:cNvGraphicFramePr>
          <p:nvPr/>
        </p:nvGraphicFramePr>
        <p:xfrm>
          <a:off x="1598613" y="2973388"/>
          <a:ext cx="5716587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79" name="Equation" r:id="rId5" imgW="2857320" imgH="355320" progId="Equation.DSMT4">
                  <p:embed/>
                </p:oleObj>
              </mc:Choice>
              <mc:Fallback>
                <p:oleObj name="Equation" r:id="rId5" imgW="2857320" imgH="3553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2973388"/>
                        <a:ext cx="5716587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197587"/>
              </p:ext>
            </p:extLst>
          </p:nvPr>
        </p:nvGraphicFramePr>
        <p:xfrm>
          <a:off x="1458913" y="3925888"/>
          <a:ext cx="4014787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80" name="Equation" r:id="rId7" imgW="2006280" imgH="647640" progId="Equation.DSMT4">
                  <p:embed/>
                </p:oleObj>
              </mc:Choice>
              <mc:Fallback>
                <p:oleObj name="Equation" r:id="rId7" imgW="2006280" imgH="647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3925888"/>
                        <a:ext cx="4014787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586708"/>
              </p:ext>
            </p:extLst>
          </p:nvPr>
        </p:nvGraphicFramePr>
        <p:xfrm>
          <a:off x="1625600" y="5510213"/>
          <a:ext cx="49799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81" name="Equation" r:id="rId9" imgW="2489040" imgH="228600" progId="Equation.DSMT4">
                  <p:embed/>
                </p:oleObj>
              </mc:Choice>
              <mc:Fallback>
                <p:oleObj name="Equation" r:id="rId9" imgW="248904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5510213"/>
                        <a:ext cx="49799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1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Text Box 2"/>
          <p:cNvSpPr txBox="1">
            <a:spLocks noChangeArrowheads="1"/>
          </p:cNvSpPr>
          <p:nvPr/>
        </p:nvSpPr>
        <p:spPr bwMode="auto">
          <a:xfrm>
            <a:off x="762000" y="693521"/>
            <a:ext cx="5295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/>
              <a:t>同理，可得正弦电压有效值与最大值的关系：</a:t>
            </a:r>
          </a:p>
        </p:txBody>
      </p:sp>
      <p:graphicFrame>
        <p:nvGraphicFramePr>
          <p:cNvPr id="4208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965637"/>
              </p:ext>
            </p:extLst>
          </p:nvPr>
        </p:nvGraphicFramePr>
        <p:xfrm>
          <a:off x="1919288" y="1161833"/>
          <a:ext cx="411638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67" name="Equation" r:id="rId3" imgW="2031840" imgH="368280" progId="Equation.DSMT4">
                  <p:embed/>
                </p:oleObj>
              </mc:Choice>
              <mc:Fallback>
                <p:oleObj name="Equation" r:id="rId3" imgW="2031840" imgH="3682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161833"/>
                        <a:ext cx="411638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68" name="Text Box 4"/>
          <p:cNvSpPr txBox="1">
            <a:spLocks noChangeArrowheads="1"/>
          </p:cNvSpPr>
          <p:nvPr/>
        </p:nvSpPr>
        <p:spPr bwMode="auto">
          <a:xfrm>
            <a:off x="520700" y="2092108"/>
            <a:ext cx="81089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71500"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57250"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47750"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000" dirty="0"/>
              <a:t>工程上说的正弦电压、电流一般指有效值，如设备铭牌额定值、电网的电压等级等。但绝缘水平、耐压值指的是最大值。</a:t>
            </a:r>
          </a:p>
        </p:txBody>
      </p:sp>
      <p:sp>
        <p:nvSpPr>
          <p:cNvPr id="420869" name="Text Box 5"/>
          <p:cNvSpPr txBox="1">
            <a:spLocks noChangeArrowheads="1"/>
          </p:cNvSpPr>
          <p:nvPr/>
        </p:nvSpPr>
        <p:spPr bwMode="auto">
          <a:xfrm>
            <a:off x="904875" y="3722471"/>
            <a:ext cx="60626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/>
              <a:t>测量中，电磁式交流电压、电流表读数均为有效值。</a:t>
            </a:r>
          </a:p>
        </p:txBody>
      </p:sp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857250" y="4500346"/>
            <a:ext cx="72106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0000"/>
                </a:solidFill>
              </a:rPr>
              <a:t>* </a:t>
            </a:r>
            <a:r>
              <a:rPr lang="zh-CN" altLang="en-US" sz="2000" dirty="0">
                <a:solidFill>
                  <a:srgbClr val="FF0000"/>
                </a:solidFill>
              </a:rPr>
              <a:t>区分电压、电流的瞬时值</a:t>
            </a:r>
            <a:r>
              <a:rPr lang="zh-CN" altLang="en-US" sz="2000" dirty="0" smtClean="0">
                <a:solidFill>
                  <a:srgbClr val="FF0000"/>
                </a:solidFill>
              </a:rPr>
              <a:t>、      有效值、        最大</a:t>
            </a:r>
            <a:r>
              <a:rPr lang="zh-CN" altLang="en-US" sz="2000" dirty="0">
                <a:solidFill>
                  <a:srgbClr val="FF0000"/>
                </a:solidFill>
              </a:rPr>
              <a:t>值的符号。</a:t>
            </a:r>
          </a:p>
        </p:txBody>
      </p:sp>
      <p:graphicFrame>
        <p:nvGraphicFramePr>
          <p:cNvPr id="420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599328"/>
              </p:ext>
            </p:extLst>
          </p:nvPr>
        </p:nvGraphicFramePr>
        <p:xfrm>
          <a:off x="3194659" y="4900456"/>
          <a:ext cx="9413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68" name="Equation" r:id="rId5" imgW="330120" imgH="152280" progId="Equation.DSMT4">
                  <p:embed/>
                </p:oleObj>
              </mc:Choice>
              <mc:Fallback>
                <p:oleObj name="Equation" r:id="rId5" imgW="330120" imgH="1522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659" y="4900456"/>
                        <a:ext cx="9413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417674"/>
              </p:ext>
            </p:extLst>
          </p:nvPr>
        </p:nvGraphicFramePr>
        <p:xfrm>
          <a:off x="4186046" y="4813907"/>
          <a:ext cx="1519237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69" name="Equation" r:id="rId7" imgW="533160" imgH="203040" progId="Equation.DSMT4">
                  <p:embed/>
                </p:oleObj>
              </mc:Choice>
              <mc:Fallback>
                <p:oleObj name="Equation" r:id="rId7" imgW="53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046" y="4813907"/>
                        <a:ext cx="1519237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145336"/>
              </p:ext>
            </p:extLst>
          </p:nvPr>
        </p:nvGraphicFramePr>
        <p:xfrm>
          <a:off x="6057900" y="4813907"/>
          <a:ext cx="1049337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70" name="Equation" r:id="rId9" imgW="368280" imgH="203040" progId="Equation.DSMT4">
                  <p:embed/>
                </p:oleObj>
              </mc:Choice>
              <mc:Fallback>
                <p:oleObj name="Equation" r:id="rId9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4813907"/>
                        <a:ext cx="1049337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8" grpId="0" autoUpdateAnimBg="0"/>
      <p:bldP spid="420869" grpId="0" autoUpdateAnimBg="0"/>
      <p:bldP spid="42087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12370" y="1351640"/>
            <a:ext cx="7617279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571500"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57250"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47750"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76250" algn="l"/>
                <a:tab pos="5715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indent="0" algn="just"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0000CC"/>
                </a:solidFill>
              </a:rPr>
              <a:t>峰峰值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peak-to-peak value</a:t>
            </a:r>
            <a:r>
              <a:rPr lang="zh-CN" altLang="en-US" sz="2000" dirty="0" smtClean="0"/>
              <a:t>）是指一个周期内信号最大值和最小值之差，它描述了信号值的变化范围。</a:t>
            </a:r>
            <a:endParaRPr lang="en-US" altLang="zh-CN" sz="2000" dirty="0" smtClean="0"/>
          </a:p>
          <a:p>
            <a:pPr indent="0" algn="just" eaLnBrk="1" hangingPunct="1">
              <a:lnSpc>
                <a:spcPct val="200000"/>
              </a:lnSpc>
            </a:pPr>
            <a:endParaRPr lang="en-US" altLang="zh-CN" sz="2000" dirty="0" smtClean="0"/>
          </a:p>
          <a:p>
            <a:pPr indent="0" algn="just" eaLnBrk="1" hangingPunct="1">
              <a:lnSpc>
                <a:spcPct val="200000"/>
              </a:lnSpc>
            </a:pPr>
            <a:r>
              <a:rPr lang="zh-CN" altLang="en-US" sz="2000" dirty="0" smtClean="0">
                <a:solidFill>
                  <a:srgbClr val="0000CC"/>
                </a:solidFill>
              </a:rPr>
              <a:t>平均值</a:t>
            </a:r>
            <a:r>
              <a:rPr lang="zh-CN" altLang="en-US" sz="2000" dirty="0" smtClean="0"/>
              <a:t>（</a:t>
            </a:r>
            <a:r>
              <a:rPr lang="en-US" altLang="zh-CN" sz="2000" dirty="0"/>
              <a:t>average value; mean value</a:t>
            </a:r>
            <a:r>
              <a:rPr lang="zh-CN" altLang="en-US" sz="2000" dirty="0" smtClean="0"/>
              <a:t>）</a:t>
            </a:r>
            <a:r>
              <a:rPr lang="zh-CN" altLang="en-US" sz="2000" dirty="0"/>
              <a:t>是信号在一个周期内的</a:t>
            </a:r>
            <a:r>
              <a:rPr lang="zh-CN" altLang="en-US" sz="2000" dirty="0" smtClean="0"/>
              <a:t>积分与周期长度的商。</a:t>
            </a:r>
            <a:endParaRPr lang="zh-CN" altLang="en-US" sz="2000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06529" y="656578"/>
            <a:ext cx="63759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 smtClean="0">
                <a:solidFill>
                  <a:srgbClr val="0000CC"/>
                </a:solidFill>
              </a:rPr>
              <a:t>2</a:t>
            </a:r>
            <a:r>
              <a:rPr lang="zh-CN" altLang="en-US" dirty="0" smtClean="0">
                <a:solidFill>
                  <a:srgbClr val="0000CC"/>
                </a:solidFill>
              </a:rPr>
              <a:t>、</a:t>
            </a:r>
            <a:r>
              <a:rPr lang="zh-CN" altLang="en-US" dirty="0">
                <a:solidFill>
                  <a:srgbClr val="0000CC"/>
                </a:solidFill>
              </a:rPr>
              <a:t>峰峰值和</a:t>
            </a:r>
            <a:r>
              <a:rPr lang="zh-CN" altLang="en-US" dirty="0" smtClean="0">
                <a:solidFill>
                  <a:srgbClr val="0000CC"/>
                </a:solidFill>
              </a:rPr>
              <a:t>平均值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7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011" name="Text Box 27"/>
          <p:cNvSpPr txBox="1">
            <a:spLocks noChangeArrowheads="1"/>
          </p:cNvSpPr>
          <p:nvPr/>
        </p:nvSpPr>
        <p:spPr bwMode="auto">
          <a:xfrm>
            <a:off x="1076324" y="2112285"/>
            <a:ext cx="26631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 smtClean="0"/>
              <a:t>1</a:t>
            </a:r>
            <a:r>
              <a:rPr lang="zh-CN" altLang="en-US" sz="2000" dirty="0" smtClean="0"/>
              <a:t>、复数 </a:t>
            </a:r>
            <a:r>
              <a:rPr lang="en-US" altLang="zh-CN" sz="2000" i="1" dirty="0"/>
              <a:t>A </a:t>
            </a:r>
            <a:r>
              <a:rPr lang="zh-CN" altLang="en-US" sz="2000" dirty="0"/>
              <a:t>表示形式：</a:t>
            </a:r>
          </a:p>
        </p:txBody>
      </p:sp>
      <p:graphicFrame>
        <p:nvGraphicFramePr>
          <p:cNvPr id="42601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906505"/>
              </p:ext>
            </p:extLst>
          </p:nvPr>
        </p:nvGraphicFramePr>
        <p:xfrm>
          <a:off x="4902200" y="2909270"/>
          <a:ext cx="2698750" cy="467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66" name="Equation" r:id="rId3" imgW="1307880" imgH="228600" progId="Equation.DSMT4">
                  <p:embed/>
                </p:oleObj>
              </mc:Choice>
              <mc:Fallback>
                <p:oleObj name="Equation" r:id="rId3" imgW="1307880" imgH="2286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2909270"/>
                        <a:ext cx="2698750" cy="467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13" name="Text Box 29"/>
          <p:cNvSpPr txBox="1">
            <a:spLocks noChangeArrowheads="1"/>
          </p:cNvSpPr>
          <p:nvPr/>
        </p:nvSpPr>
        <p:spPr bwMode="auto">
          <a:xfrm>
            <a:off x="5143500" y="2474295"/>
            <a:ext cx="1220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i="1" dirty="0"/>
              <a:t>A </a:t>
            </a:r>
            <a:r>
              <a:rPr lang="en-US" altLang="zh-CN" sz="2000" dirty="0"/>
              <a:t>= </a:t>
            </a:r>
            <a:r>
              <a:rPr lang="en-US" altLang="zh-CN" sz="2000" i="1" dirty="0"/>
              <a:t>a </a:t>
            </a:r>
            <a:r>
              <a:rPr lang="en-US" altLang="zh-CN" sz="2000" dirty="0"/>
              <a:t>+ </a:t>
            </a:r>
            <a:r>
              <a:rPr lang="en-US" altLang="zh-CN" sz="2000" i="1" dirty="0" err="1"/>
              <a:t>jb</a:t>
            </a:r>
            <a:endParaRPr lang="en-US" altLang="zh-CN" sz="2000" i="1" dirty="0"/>
          </a:p>
        </p:txBody>
      </p:sp>
      <p:sp>
        <p:nvSpPr>
          <p:cNvPr id="426014" name="Text Box 30"/>
          <p:cNvSpPr txBox="1">
            <a:spLocks noChangeArrowheads="1"/>
          </p:cNvSpPr>
          <p:nvPr/>
        </p:nvSpPr>
        <p:spPr bwMode="auto">
          <a:xfrm>
            <a:off x="1609725" y="2512395"/>
            <a:ext cx="323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/>
              <a:t>直角坐标形式（代数式）：</a:t>
            </a:r>
          </a:p>
        </p:txBody>
      </p:sp>
      <p:sp>
        <p:nvSpPr>
          <p:cNvPr id="426016" name="Text Box 32"/>
          <p:cNvSpPr txBox="1">
            <a:spLocks noChangeArrowheads="1"/>
          </p:cNvSpPr>
          <p:nvPr/>
        </p:nvSpPr>
        <p:spPr bwMode="auto">
          <a:xfrm>
            <a:off x="714375" y="1566184"/>
            <a:ext cx="42322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2"/>
                </a:solidFill>
              </a:rPr>
              <a:t>复数的表示与运算</a:t>
            </a:r>
          </a:p>
        </p:txBody>
      </p:sp>
      <p:graphicFrame>
        <p:nvGraphicFramePr>
          <p:cNvPr id="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845583"/>
              </p:ext>
            </p:extLst>
          </p:nvPr>
        </p:nvGraphicFramePr>
        <p:xfrm>
          <a:off x="1949053" y="5415872"/>
          <a:ext cx="169227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67" name="Equation" r:id="rId5" imgW="914400" imgH="533160" progId="Equation.DSMT4">
                  <p:embed/>
                </p:oleObj>
              </mc:Choice>
              <mc:Fallback>
                <p:oleObj name="Equation" r:id="rId5" imgW="9144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053" y="5415872"/>
                        <a:ext cx="1692275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20"/>
          <p:cNvGrpSpPr>
            <a:grpSpLocks/>
          </p:cNvGrpSpPr>
          <p:nvPr/>
        </p:nvGrpSpPr>
        <p:grpSpPr bwMode="auto">
          <a:xfrm>
            <a:off x="1538288" y="3091773"/>
            <a:ext cx="2713038" cy="1941513"/>
            <a:chOff x="1020" y="2179"/>
            <a:chExt cx="1709" cy="1223"/>
          </a:xfrm>
        </p:grpSpPr>
        <p:sp>
          <p:nvSpPr>
            <p:cNvPr id="11" name="Line 21"/>
            <p:cNvSpPr>
              <a:spLocks noChangeShapeType="1"/>
            </p:cNvSpPr>
            <p:nvPr/>
          </p:nvSpPr>
          <p:spPr bwMode="auto">
            <a:xfrm>
              <a:off x="1155" y="3168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22"/>
            <p:cNvSpPr>
              <a:spLocks noChangeShapeType="1"/>
            </p:cNvSpPr>
            <p:nvPr/>
          </p:nvSpPr>
          <p:spPr bwMode="auto">
            <a:xfrm flipV="1">
              <a:off x="1347" y="2304"/>
              <a:ext cx="2" cy="10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3"/>
            <p:cNvSpPr>
              <a:spLocks noChangeShapeType="1"/>
            </p:cNvSpPr>
            <p:nvPr/>
          </p:nvSpPr>
          <p:spPr bwMode="auto">
            <a:xfrm>
              <a:off x="1347" y="2568"/>
              <a:ext cx="768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24"/>
            <p:cNvSpPr>
              <a:spLocks noChangeShapeType="1"/>
            </p:cNvSpPr>
            <p:nvPr/>
          </p:nvSpPr>
          <p:spPr bwMode="auto">
            <a:xfrm flipV="1">
              <a:off x="2139" y="2592"/>
              <a:ext cx="0" cy="576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2134" y="235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A</a:t>
              </a:r>
              <a:endParaRPr lang="en-US" altLang="zh-CN" sz="2000" dirty="0"/>
            </a:p>
          </p:txBody>
        </p:sp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1151" y="244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b</a:t>
              </a:r>
              <a:endParaRPr lang="en-US" altLang="zh-CN" sz="2000" dirty="0"/>
            </a:p>
          </p:txBody>
        </p:sp>
        <p:sp>
          <p:nvSpPr>
            <p:cNvPr id="17" name="Text Box 27"/>
            <p:cNvSpPr txBox="1">
              <a:spLocks noChangeArrowheads="1"/>
            </p:cNvSpPr>
            <p:nvPr/>
          </p:nvSpPr>
          <p:spPr bwMode="auto">
            <a:xfrm>
              <a:off x="2426" y="3152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dirty="0"/>
                <a:t>Re</a:t>
              </a:r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1020" y="2179"/>
              <a:ext cx="31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dirty="0" err="1"/>
                <a:t>Im</a:t>
              </a:r>
              <a:endParaRPr lang="en-US" altLang="zh-CN" sz="2000" dirty="0"/>
            </a:p>
          </p:txBody>
        </p:sp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2032" y="311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a</a:t>
              </a:r>
              <a:endParaRPr lang="en-US" altLang="zh-CN" sz="2000" dirty="0"/>
            </a:p>
          </p:txBody>
        </p:sp>
        <p:sp>
          <p:nvSpPr>
            <p:cNvPr id="20" name="Text Box 30"/>
            <p:cNvSpPr txBox="1">
              <a:spLocks noChangeArrowheads="1"/>
            </p:cNvSpPr>
            <p:nvPr/>
          </p:nvSpPr>
          <p:spPr bwMode="auto">
            <a:xfrm>
              <a:off x="1152" y="312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dirty="0"/>
                <a:t>0</a:t>
              </a:r>
            </a:p>
          </p:txBody>
        </p:sp>
        <p:sp>
          <p:nvSpPr>
            <p:cNvPr id="21" name="Oval 31"/>
            <p:cNvSpPr>
              <a:spLocks noChangeArrowheads="1"/>
            </p:cNvSpPr>
            <p:nvPr/>
          </p:nvSpPr>
          <p:spPr bwMode="auto">
            <a:xfrm>
              <a:off x="2115" y="2544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" name="Rectangle 51"/>
          <p:cNvSpPr>
            <a:spLocks noChangeArrowheads="1"/>
          </p:cNvSpPr>
          <p:nvPr/>
        </p:nvSpPr>
        <p:spPr bwMode="auto">
          <a:xfrm>
            <a:off x="1600200" y="5018997"/>
            <a:ext cx="1717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chemeClr val="accent2"/>
                </a:solidFill>
              </a:rPr>
              <a:t>直角坐标表示</a:t>
            </a:r>
          </a:p>
        </p:txBody>
      </p:sp>
      <p:grpSp>
        <p:nvGrpSpPr>
          <p:cNvPr id="27" name="Group 46"/>
          <p:cNvGrpSpPr>
            <a:grpSpLocks/>
          </p:cNvGrpSpPr>
          <p:nvPr/>
        </p:nvGrpSpPr>
        <p:grpSpPr bwMode="auto">
          <a:xfrm>
            <a:off x="4895057" y="3600564"/>
            <a:ext cx="3779838" cy="871538"/>
            <a:chOff x="1315" y="2350"/>
            <a:chExt cx="2381" cy="549"/>
          </a:xfrm>
        </p:grpSpPr>
        <p:graphicFrame>
          <p:nvGraphicFramePr>
            <p:cNvPr id="28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4413835"/>
                </p:ext>
              </p:extLst>
            </p:nvPr>
          </p:nvGraphicFramePr>
          <p:xfrm>
            <a:off x="2000" y="2600"/>
            <a:ext cx="169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768" name="Equation" r:id="rId7" imgW="1231560" imgH="215640" progId="Equation.DSMT4">
                    <p:embed/>
                  </p:oleObj>
                </mc:Choice>
                <mc:Fallback>
                  <p:oleObj name="Equation" r:id="rId7" imgW="12315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0" y="2600"/>
                          <a:ext cx="1696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48"/>
            <p:cNvSpPr txBox="1">
              <a:spLocks noChangeArrowheads="1"/>
            </p:cNvSpPr>
            <p:nvPr/>
          </p:nvSpPr>
          <p:spPr bwMode="auto">
            <a:xfrm>
              <a:off x="1315" y="2350"/>
              <a:ext cx="11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 dirty="0" smtClean="0">
                  <a:solidFill>
                    <a:schemeClr val="accent2"/>
                  </a:solidFill>
                </a:rPr>
                <a:t>三角形式</a:t>
              </a:r>
              <a:r>
                <a:rPr lang="zh-CN" altLang="en-US" sz="2000" dirty="0">
                  <a:solidFill>
                    <a:schemeClr val="accent2"/>
                  </a:solidFill>
                </a:rPr>
                <a:t>：</a:t>
              </a:r>
            </a:p>
          </p:txBody>
        </p:sp>
      </p:grpSp>
      <p:grpSp>
        <p:nvGrpSpPr>
          <p:cNvPr id="30" name="Group 32"/>
          <p:cNvGrpSpPr>
            <a:grpSpLocks/>
          </p:cNvGrpSpPr>
          <p:nvPr/>
        </p:nvGrpSpPr>
        <p:grpSpPr bwMode="auto">
          <a:xfrm>
            <a:off x="5466557" y="5306334"/>
            <a:ext cx="3352800" cy="560388"/>
            <a:chOff x="2544" y="1920"/>
            <a:chExt cx="2112" cy="353"/>
          </a:xfrm>
        </p:grpSpPr>
        <p:sp>
          <p:nvSpPr>
            <p:cNvPr id="31" name="Rectangle 33"/>
            <p:cNvSpPr>
              <a:spLocks noChangeArrowheads="1"/>
            </p:cNvSpPr>
            <p:nvPr/>
          </p:nvSpPr>
          <p:spPr bwMode="auto">
            <a:xfrm>
              <a:off x="2544" y="2003"/>
              <a:ext cx="11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 smtClean="0"/>
                <a:t>其中</a:t>
              </a:r>
              <a:r>
                <a:rPr lang="en-US" altLang="zh-CN" sz="2000" dirty="0" smtClean="0"/>
                <a:t>|</a:t>
              </a:r>
              <a:r>
                <a:rPr lang="en-US" altLang="zh-CN" sz="2000" i="1" dirty="0"/>
                <a:t>A</a:t>
              </a:r>
              <a:r>
                <a:rPr lang="en-US" altLang="zh-CN" sz="2000" dirty="0" smtClean="0"/>
                <a:t>|</a:t>
              </a:r>
              <a:r>
                <a:rPr lang="zh-CN" altLang="en-US" sz="2000" dirty="0"/>
                <a:t>为</a:t>
              </a:r>
              <a:r>
                <a:rPr lang="zh-CN" altLang="en-US" sz="2000" dirty="0">
                  <a:solidFill>
                    <a:srgbClr val="FF0000"/>
                  </a:solidFill>
                </a:rPr>
                <a:t>模</a:t>
              </a:r>
              <a:r>
                <a:rPr lang="zh-CN" altLang="en-US" sz="2000" dirty="0"/>
                <a:t>，</a:t>
              </a:r>
              <a:endParaRPr lang="zh-CN" altLang="en-US" sz="2000" i="1" dirty="0">
                <a:sym typeface="Symbol" pitchFamily="18" charset="2"/>
              </a:endParaRPr>
            </a:p>
          </p:txBody>
        </p:sp>
        <p:graphicFrame>
          <p:nvGraphicFramePr>
            <p:cNvPr id="32" name="Object 34"/>
            <p:cNvGraphicFramePr>
              <a:graphicFrameLocks noChangeAspect="1"/>
            </p:cNvGraphicFramePr>
            <p:nvPr/>
          </p:nvGraphicFramePr>
          <p:xfrm>
            <a:off x="3552" y="1920"/>
            <a:ext cx="1104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769" name="Equation" r:id="rId9" imgW="914400" imgH="291960" progId="Equation.3">
                    <p:embed/>
                  </p:oleObj>
                </mc:Choice>
                <mc:Fallback>
                  <p:oleObj name="Equation" r:id="rId9" imgW="91440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920"/>
                          <a:ext cx="1104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43"/>
          <p:cNvGrpSpPr>
            <a:grpSpLocks/>
          </p:cNvGrpSpPr>
          <p:nvPr/>
        </p:nvGrpSpPr>
        <p:grpSpPr bwMode="auto">
          <a:xfrm>
            <a:off x="5466557" y="5860372"/>
            <a:ext cx="3041650" cy="823913"/>
            <a:chOff x="2832" y="2473"/>
            <a:chExt cx="1916" cy="519"/>
          </a:xfrm>
        </p:grpSpPr>
        <p:graphicFrame>
          <p:nvGraphicFramePr>
            <p:cNvPr id="34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2283805"/>
                </p:ext>
              </p:extLst>
            </p:nvPr>
          </p:nvGraphicFramePr>
          <p:xfrm>
            <a:off x="3610" y="2473"/>
            <a:ext cx="1138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770" name="Equation" r:id="rId11" imgW="863280" imgH="393480" progId="Equation.3">
                    <p:embed/>
                  </p:oleObj>
                </mc:Choice>
                <mc:Fallback>
                  <p:oleObj name="Equation" r:id="rId11" imgW="86328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0" y="2473"/>
                          <a:ext cx="1138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Rectangle 45"/>
            <p:cNvSpPr>
              <a:spLocks noChangeArrowheads="1"/>
            </p:cNvSpPr>
            <p:nvPr/>
          </p:nvSpPr>
          <p:spPr bwMode="auto">
            <a:xfrm>
              <a:off x="2832" y="2608"/>
              <a:ext cx="78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000" i="1" dirty="0" smtClean="0">
                  <a:sym typeface="Symbol" pitchFamily="18" charset="2"/>
                </a:rPr>
                <a:t> </a:t>
              </a:r>
              <a:r>
                <a:rPr lang="zh-CN" altLang="en-US" sz="2000" dirty="0" smtClean="0"/>
                <a:t>为</a:t>
              </a:r>
              <a:r>
                <a:rPr lang="zh-CN" altLang="en-US" sz="2000" dirty="0" smtClean="0">
                  <a:solidFill>
                    <a:srgbClr val="FF0000"/>
                  </a:solidFill>
                </a:rPr>
                <a:t>幅角</a:t>
              </a:r>
              <a:r>
                <a:rPr lang="zh-CN" altLang="en-US" sz="2000" dirty="0" smtClean="0"/>
                <a:t>，</a:t>
              </a:r>
              <a:endParaRPr lang="zh-CN" altLang="en-US" sz="2000" i="1" dirty="0">
                <a:sym typeface="Symbol" pitchFamily="18" charset="2"/>
              </a:endParaRPr>
            </a:p>
          </p:txBody>
        </p:sp>
      </p:grpSp>
      <p:graphicFrame>
        <p:nvGraphicFramePr>
          <p:cNvPr id="3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065535"/>
              </p:ext>
            </p:extLst>
          </p:nvPr>
        </p:nvGraphicFramePr>
        <p:xfrm>
          <a:off x="3694672" y="5415872"/>
          <a:ext cx="1071635" cy="484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71" name="Equation" r:id="rId13" imgW="558720" imgH="253800" progId="Equation.DSMT4">
                  <p:embed/>
                </p:oleObj>
              </mc:Choice>
              <mc:Fallback>
                <p:oleObj name="Equation" r:id="rId13" imgW="558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4672" y="5415872"/>
                        <a:ext cx="1071635" cy="484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705005"/>
              </p:ext>
            </p:extLst>
          </p:nvPr>
        </p:nvGraphicFramePr>
        <p:xfrm>
          <a:off x="3694672" y="5908790"/>
          <a:ext cx="1071635" cy="484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72" name="Equation" r:id="rId15" imgW="558720" imgH="253800" progId="Equation.DSMT4">
                  <p:embed/>
                </p:oleObj>
              </mc:Choice>
              <mc:Fallback>
                <p:oleObj name="Equation" r:id="rId15" imgW="558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4672" y="5908790"/>
                        <a:ext cx="1071635" cy="484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533400" y="556533"/>
            <a:ext cx="4667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5.1.2  </a:t>
            </a:r>
            <a:r>
              <a:rPr lang="zh-CN" altLang="en-US" dirty="0">
                <a:solidFill>
                  <a:srgbClr val="990033"/>
                </a:solidFill>
              </a:rPr>
              <a:t>正弦量</a:t>
            </a:r>
            <a:r>
              <a:rPr lang="zh-CN" altLang="en-US" dirty="0" smtClean="0">
                <a:solidFill>
                  <a:srgbClr val="990033"/>
                </a:solidFill>
              </a:rPr>
              <a:t>的相量表示</a:t>
            </a:r>
            <a:endParaRPr lang="zh-CN" altLang="en-US" dirty="0">
              <a:solidFill>
                <a:srgbClr val="990033"/>
              </a:solidFill>
            </a:endParaRPr>
          </a:p>
        </p:txBody>
      </p:sp>
      <p:sp>
        <p:nvSpPr>
          <p:cNvPr id="39" name="Text Box 60"/>
          <p:cNvSpPr txBox="1">
            <a:spLocks noChangeArrowheads="1"/>
          </p:cNvSpPr>
          <p:nvPr/>
        </p:nvSpPr>
        <p:spPr bwMode="auto">
          <a:xfrm>
            <a:off x="539750" y="1030328"/>
            <a:ext cx="2160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一、数学基础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011" grpId="0" autoUpdateAnimBg="0"/>
      <p:bldP spid="426013" grpId="0" autoUpdateAnimBg="0"/>
      <p:bldP spid="426014" grpId="0" autoUpdateAnimBg="0"/>
      <p:bldP spid="426016" grpId="0" autoUpdateAnimBg="0"/>
      <p:bldP spid="23" grpId="0" autoUpdateAnimBg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010" name="Group 2"/>
          <p:cNvGrpSpPr>
            <a:grpSpLocks/>
          </p:cNvGrpSpPr>
          <p:nvPr/>
        </p:nvGrpSpPr>
        <p:grpSpPr bwMode="auto">
          <a:xfrm>
            <a:off x="2828133" y="1223964"/>
            <a:ext cx="2676528" cy="1887538"/>
            <a:chOff x="675" y="646"/>
            <a:chExt cx="1686" cy="1189"/>
          </a:xfrm>
        </p:grpSpPr>
        <p:sp>
          <p:nvSpPr>
            <p:cNvPr id="427011" name="Line 3"/>
            <p:cNvSpPr>
              <a:spLocks noChangeShapeType="1"/>
            </p:cNvSpPr>
            <p:nvPr/>
          </p:nvSpPr>
          <p:spPr bwMode="auto">
            <a:xfrm>
              <a:off x="792" y="162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2" name="Line 4"/>
            <p:cNvSpPr>
              <a:spLocks noChangeShapeType="1"/>
            </p:cNvSpPr>
            <p:nvPr/>
          </p:nvSpPr>
          <p:spPr bwMode="auto">
            <a:xfrm flipV="1">
              <a:off x="984" y="756"/>
              <a:ext cx="2" cy="10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3" name="Line 5"/>
            <p:cNvSpPr>
              <a:spLocks noChangeShapeType="1"/>
            </p:cNvSpPr>
            <p:nvPr/>
          </p:nvSpPr>
          <p:spPr bwMode="auto">
            <a:xfrm flipH="1" flipV="1">
              <a:off x="984" y="1044"/>
              <a:ext cx="0" cy="569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4" name="Line 6"/>
            <p:cNvSpPr>
              <a:spLocks noChangeShapeType="1"/>
            </p:cNvSpPr>
            <p:nvPr/>
          </p:nvSpPr>
          <p:spPr bwMode="auto">
            <a:xfrm>
              <a:off x="984" y="1620"/>
              <a:ext cx="768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5" name="Line 7"/>
            <p:cNvSpPr>
              <a:spLocks noChangeShapeType="1"/>
            </p:cNvSpPr>
            <p:nvPr/>
          </p:nvSpPr>
          <p:spPr bwMode="auto">
            <a:xfrm>
              <a:off x="984" y="1044"/>
              <a:ext cx="76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6" name="Line 8"/>
            <p:cNvSpPr>
              <a:spLocks noChangeShapeType="1"/>
            </p:cNvSpPr>
            <p:nvPr/>
          </p:nvSpPr>
          <p:spPr bwMode="auto">
            <a:xfrm flipV="1">
              <a:off x="1752" y="1044"/>
              <a:ext cx="0" cy="57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7" name="Line 9"/>
            <p:cNvSpPr>
              <a:spLocks noChangeShapeType="1"/>
            </p:cNvSpPr>
            <p:nvPr/>
          </p:nvSpPr>
          <p:spPr bwMode="auto">
            <a:xfrm flipV="1">
              <a:off x="982" y="1044"/>
              <a:ext cx="770" cy="56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18" name="Text Box 10"/>
            <p:cNvSpPr txBox="1">
              <a:spLocks noChangeArrowheads="1"/>
            </p:cNvSpPr>
            <p:nvPr/>
          </p:nvSpPr>
          <p:spPr bwMode="auto">
            <a:xfrm>
              <a:off x="1752" y="804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/>
                <a:t>A</a:t>
              </a:r>
              <a:endParaRPr lang="en-US" altLang="zh-CN" sz="2000"/>
            </a:p>
          </p:txBody>
        </p:sp>
        <p:sp>
          <p:nvSpPr>
            <p:cNvPr id="427019" name="Text Box 11"/>
            <p:cNvSpPr txBox="1">
              <a:spLocks noChangeArrowheads="1"/>
            </p:cNvSpPr>
            <p:nvPr/>
          </p:nvSpPr>
          <p:spPr bwMode="auto">
            <a:xfrm>
              <a:off x="797" y="93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b</a:t>
              </a:r>
              <a:endParaRPr lang="en-US" altLang="zh-CN" sz="2000" dirty="0"/>
            </a:p>
          </p:txBody>
        </p:sp>
        <p:sp>
          <p:nvSpPr>
            <p:cNvPr id="427020" name="Text Box 12"/>
            <p:cNvSpPr txBox="1">
              <a:spLocks noChangeArrowheads="1"/>
            </p:cNvSpPr>
            <p:nvPr/>
          </p:nvSpPr>
          <p:spPr bwMode="auto">
            <a:xfrm>
              <a:off x="2058" y="1585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/>
                <a:t>Re</a:t>
              </a:r>
            </a:p>
          </p:txBody>
        </p:sp>
        <p:sp>
          <p:nvSpPr>
            <p:cNvPr id="427021" name="Text Box 13"/>
            <p:cNvSpPr txBox="1">
              <a:spLocks noChangeArrowheads="1"/>
            </p:cNvSpPr>
            <p:nvPr/>
          </p:nvSpPr>
          <p:spPr bwMode="auto">
            <a:xfrm>
              <a:off x="675" y="646"/>
              <a:ext cx="31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dirty="0" err="1"/>
                <a:t>Im</a:t>
              </a:r>
              <a:endParaRPr lang="en-US" altLang="zh-CN" sz="2000" dirty="0"/>
            </a:p>
          </p:txBody>
        </p:sp>
        <p:sp>
          <p:nvSpPr>
            <p:cNvPr id="427022" name="Text Box 14"/>
            <p:cNvSpPr txBox="1">
              <a:spLocks noChangeArrowheads="1"/>
            </p:cNvSpPr>
            <p:nvPr/>
          </p:nvSpPr>
          <p:spPr bwMode="auto">
            <a:xfrm>
              <a:off x="1633" y="156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a</a:t>
              </a:r>
              <a:endParaRPr lang="en-US" altLang="zh-CN" sz="2000" dirty="0"/>
            </a:p>
          </p:txBody>
        </p:sp>
        <p:sp>
          <p:nvSpPr>
            <p:cNvPr id="427023" name="Text Box 15"/>
            <p:cNvSpPr txBox="1">
              <a:spLocks noChangeArrowheads="1"/>
            </p:cNvSpPr>
            <p:nvPr/>
          </p:nvSpPr>
          <p:spPr bwMode="auto">
            <a:xfrm>
              <a:off x="769" y="157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dirty="0"/>
                <a:t>O</a:t>
              </a:r>
            </a:p>
          </p:txBody>
        </p:sp>
        <p:sp>
          <p:nvSpPr>
            <p:cNvPr id="427024" name="Arc 16"/>
            <p:cNvSpPr>
              <a:spLocks/>
            </p:cNvSpPr>
            <p:nvPr/>
          </p:nvSpPr>
          <p:spPr bwMode="auto">
            <a:xfrm>
              <a:off x="1182" y="1464"/>
              <a:ext cx="47" cy="15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7025" name="Rectangle 17"/>
            <p:cNvSpPr>
              <a:spLocks noChangeArrowheads="1"/>
            </p:cNvSpPr>
            <p:nvPr/>
          </p:nvSpPr>
          <p:spPr bwMode="auto">
            <a:xfrm>
              <a:off x="1199" y="1365"/>
              <a:ext cx="4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sym typeface="Symbol" pitchFamily="18" charset="2"/>
                </a:rPr>
                <a:t></a:t>
              </a:r>
            </a:p>
          </p:txBody>
        </p:sp>
      </p:grpSp>
      <p:sp>
        <p:nvSpPr>
          <p:cNvPr id="427026" name="Rectangle 18"/>
          <p:cNvSpPr>
            <a:spLocks noChangeArrowheads="1"/>
          </p:cNvSpPr>
          <p:nvPr/>
        </p:nvSpPr>
        <p:spPr bwMode="auto">
          <a:xfrm>
            <a:off x="714375" y="544513"/>
            <a:ext cx="57109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 smtClean="0"/>
              <a:t>( </a:t>
            </a:r>
            <a:r>
              <a:rPr lang="en-US" altLang="zh-CN" sz="2000" i="1" dirty="0" smtClean="0"/>
              <a:t>a </a:t>
            </a:r>
            <a:r>
              <a:rPr lang="en-US" altLang="zh-CN" sz="2000" dirty="0" smtClean="0"/>
              <a:t>+ </a:t>
            </a:r>
            <a:r>
              <a:rPr lang="en-US" altLang="zh-CN" sz="2000" i="1" dirty="0" smtClean="0"/>
              <a:t>j b </a:t>
            </a:r>
            <a:r>
              <a:rPr lang="en-US" altLang="zh-CN" sz="2000" dirty="0" smtClean="0"/>
              <a:t>)</a:t>
            </a:r>
            <a:r>
              <a:rPr lang="en-US" altLang="zh-CN" sz="2000" i="1" dirty="0" smtClean="0"/>
              <a:t> </a:t>
            </a:r>
            <a:r>
              <a:rPr lang="zh-CN" altLang="en-US" sz="2000" dirty="0" smtClean="0"/>
              <a:t>还可</a:t>
            </a:r>
            <a:r>
              <a:rPr lang="zh-CN" altLang="en-US" sz="2000" dirty="0"/>
              <a:t>表示为原点</a:t>
            </a:r>
            <a:r>
              <a:rPr lang="zh-CN" altLang="en-US" sz="2000" dirty="0" smtClean="0"/>
              <a:t>到 </a:t>
            </a:r>
            <a:r>
              <a:rPr lang="en-US" altLang="zh-CN" sz="2000" i="1" dirty="0" smtClean="0"/>
              <a:t>A </a:t>
            </a:r>
            <a:r>
              <a:rPr lang="zh-CN" altLang="en-US" sz="2000" dirty="0" smtClean="0"/>
              <a:t>的相量（</a:t>
            </a:r>
            <a:r>
              <a:rPr lang="en-US" altLang="zh-CN" sz="2000" dirty="0" smtClean="0"/>
              <a:t>Phasor</a:t>
            </a:r>
            <a:r>
              <a:rPr lang="zh-CN" altLang="en-US" sz="2000" dirty="0" smtClean="0"/>
              <a:t>）</a:t>
            </a:r>
            <a:endParaRPr lang="zh-CN" altLang="en-US" sz="2000" dirty="0"/>
          </a:p>
        </p:txBody>
      </p:sp>
      <p:sp>
        <p:nvSpPr>
          <p:cNvPr id="427043" name="Text Box 35"/>
          <p:cNvSpPr txBox="1">
            <a:spLocks noChangeArrowheads="1"/>
          </p:cNvSpPr>
          <p:nvPr/>
        </p:nvSpPr>
        <p:spPr bwMode="auto">
          <a:xfrm>
            <a:off x="1260475" y="5805488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endParaRPr lang="zh-CN" altLang="zh-CN" sz="2000"/>
          </a:p>
        </p:txBody>
      </p:sp>
      <p:sp>
        <p:nvSpPr>
          <p:cNvPr id="427047" name="Text Box 39"/>
          <p:cNvSpPr txBox="1">
            <a:spLocks noChangeArrowheads="1"/>
          </p:cNvSpPr>
          <p:nvPr/>
        </p:nvSpPr>
        <p:spPr bwMode="auto">
          <a:xfrm>
            <a:off x="1362870" y="5068888"/>
            <a:ext cx="30235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/>
              <a:t>极坐标</a:t>
            </a:r>
            <a:r>
              <a:rPr lang="zh-CN" altLang="en-US" sz="2000" dirty="0" smtClean="0"/>
              <a:t>形式（指数形式）</a:t>
            </a:r>
            <a:endParaRPr lang="zh-CN" altLang="en-US" sz="2000" dirty="0"/>
          </a:p>
        </p:txBody>
      </p:sp>
      <p:grpSp>
        <p:nvGrpSpPr>
          <p:cNvPr id="427048" name="Group 40"/>
          <p:cNvGrpSpPr>
            <a:grpSpLocks/>
          </p:cNvGrpSpPr>
          <p:nvPr/>
        </p:nvGrpSpPr>
        <p:grpSpPr bwMode="auto">
          <a:xfrm>
            <a:off x="1393032" y="3784598"/>
            <a:ext cx="4019550" cy="801688"/>
            <a:chOff x="442" y="3014"/>
            <a:chExt cx="2532" cy="505"/>
          </a:xfrm>
        </p:grpSpPr>
        <p:sp>
          <p:nvSpPr>
            <p:cNvPr id="427049" name="Text Box 41"/>
            <p:cNvSpPr txBox="1">
              <a:spLocks noChangeArrowheads="1"/>
            </p:cNvSpPr>
            <p:nvPr/>
          </p:nvSpPr>
          <p:spPr bwMode="auto">
            <a:xfrm>
              <a:off x="442" y="3014"/>
              <a:ext cx="9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 dirty="0"/>
                <a:t>欧拉公式</a:t>
              </a:r>
            </a:p>
          </p:txBody>
        </p:sp>
        <p:graphicFrame>
          <p:nvGraphicFramePr>
            <p:cNvPr id="427050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6104543"/>
                </p:ext>
              </p:extLst>
            </p:nvPr>
          </p:nvGraphicFramePr>
          <p:xfrm>
            <a:off x="1392" y="3216"/>
            <a:ext cx="1582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7576" name="Equation" r:id="rId3" imgW="1257120" imgH="241200" progId="Equation.3">
                    <p:embed/>
                  </p:oleObj>
                </mc:Choice>
                <mc:Fallback>
                  <p:oleObj name="Equation" r:id="rId3" imgW="1257120" imgH="2412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216"/>
                          <a:ext cx="1582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7057" name="Text Box 49"/>
          <p:cNvSpPr txBox="1">
            <a:spLocks noChangeArrowheads="1"/>
          </p:cNvSpPr>
          <p:nvPr/>
        </p:nvSpPr>
        <p:spPr bwMode="auto">
          <a:xfrm>
            <a:off x="1394349" y="1863892"/>
            <a:ext cx="12454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accent2"/>
                </a:solidFill>
              </a:rPr>
              <a:t>相量表示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graphicFrame>
        <p:nvGraphicFramePr>
          <p:cNvPr id="427068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182479"/>
              </p:ext>
            </p:extLst>
          </p:nvPr>
        </p:nvGraphicFramePr>
        <p:xfrm>
          <a:off x="3315495" y="5722937"/>
          <a:ext cx="259238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577" name="Equation" r:id="rId5" imgW="1054080" imgH="228600" progId="Equation.DSMT4">
                  <p:embed/>
                </p:oleObj>
              </mc:Choice>
              <mc:Fallback>
                <p:oleObj name="Equation" r:id="rId5" imgW="1054080" imgH="2286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495" y="5722937"/>
                        <a:ext cx="259238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2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43" grpId="0" autoUpdateAnimBg="0"/>
      <p:bldP spid="427047" grpId="0" autoUpdateAnimBg="0"/>
      <p:bldP spid="42705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Text Box 2"/>
          <p:cNvSpPr txBox="1">
            <a:spLocks noChangeArrowheads="1"/>
          </p:cNvSpPr>
          <p:nvPr/>
        </p:nvSpPr>
        <p:spPr bwMode="auto">
          <a:xfrm>
            <a:off x="457200" y="628650"/>
            <a:ext cx="1603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 smtClean="0"/>
              <a:t>2</a:t>
            </a:r>
            <a:r>
              <a:rPr lang="zh-CN" altLang="en-US" sz="2000" dirty="0" smtClean="0"/>
              <a:t>、复数</a:t>
            </a:r>
            <a:r>
              <a:rPr lang="zh-CN" altLang="en-US" sz="2000" dirty="0"/>
              <a:t>运算</a:t>
            </a:r>
          </a:p>
        </p:txBody>
      </p:sp>
      <p:sp>
        <p:nvSpPr>
          <p:cNvPr id="428035" name="Text Box 3"/>
          <p:cNvSpPr txBox="1">
            <a:spLocks noChangeArrowheads="1"/>
          </p:cNvSpPr>
          <p:nvPr/>
        </p:nvSpPr>
        <p:spPr bwMode="auto">
          <a:xfrm>
            <a:off x="1037164" y="2247900"/>
            <a:ext cx="38205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3333FF"/>
                </a:solidFill>
              </a:rPr>
              <a:t>则     </a:t>
            </a:r>
            <a:r>
              <a:rPr lang="en-US" altLang="zh-CN" sz="2000" i="1" dirty="0" smtClean="0">
                <a:solidFill>
                  <a:srgbClr val="3333FF"/>
                </a:solidFill>
              </a:rPr>
              <a:t>A</a:t>
            </a:r>
            <a:r>
              <a:rPr lang="en-US" altLang="zh-CN" sz="2000" baseline="-25000" dirty="0" smtClean="0">
                <a:solidFill>
                  <a:srgbClr val="3333FF"/>
                </a:solidFill>
              </a:rPr>
              <a:t>1</a:t>
            </a:r>
            <a:r>
              <a:rPr lang="en-US" altLang="zh-CN" sz="2000" dirty="0" smtClean="0">
                <a:solidFill>
                  <a:srgbClr val="3333FF"/>
                </a:solidFill>
              </a:rPr>
              <a:t>±</a:t>
            </a:r>
            <a:r>
              <a:rPr lang="en-US" altLang="zh-CN" sz="2000" i="1" dirty="0" smtClean="0">
                <a:solidFill>
                  <a:srgbClr val="3333FF"/>
                </a:solidFill>
              </a:rPr>
              <a:t>A</a:t>
            </a:r>
            <a:r>
              <a:rPr lang="en-US" altLang="zh-CN" sz="2000" baseline="-25000" dirty="0" smtClean="0">
                <a:solidFill>
                  <a:srgbClr val="3333FF"/>
                </a:solidFill>
              </a:rPr>
              <a:t>2 </a:t>
            </a:r>
            <a:r>
              <a:rPr lang="en-US" altLang="zh-CN" sz="2000" dirty="0" smtClean="0">
                <a:solidFill>
                  <a:srgbClr val="3333FF"/>
                </a:solidFill>
              </a:rPr>
              <a:t>= (</a:t>
            </a:r>
            <a:r>
              <a:rPr lang="en-US" altLang="zh-CN" sz="2000" i="1" dirty="0">
                <a:solidFill>
                  <a:srgbClr val="3333FF"/>
                </a:solidFill>
              </a:rPr>
              <a:t>a</a:t>
            </a:r>
            <a:r>
              <a:rPr lang="en-US" altLang="zh-CN" sz="2000" baseline="-25000" dirty="0">
                <a:solidFill>
                  <a:srgbClr val="3333FF"/>
                </a:solidFill>
              </a:rPr>
              <a:t>1</a:t>
            </a:r>
            <a:r>
              <a:rPr lang="en-US" altLang="zh-CN" sz="2000" dirty="0">
                <a:solidFill>
                  <a:srgbClr val="3333FF"/>
                </a:solidFill>
              </a:rPr>
              <a:t>±</a:t>
            </a:r>
            <a:r>
              <a:rPr lang="en-US" altLang="zh-CN" sz="2000" i="1" dirty="0">
                <a:solidFill>
                  <a:srgbClr val="3333FF"/>
                </a:solidFill>
              </a:rPr>
              <a:t>a</a:t>
            </a:r>
            <a:r>
              <a:rPr lang="en-US" altLang="zh-CN" sz="2000" baseline="-25000" dirty="0">
                <a:solidFill>
                  <a:srgbClr val="3333FF"/>
                </a:solidFill>
              </a:rPr>
              <a:t>2</a:t>
            </a:r>
            <a:r>
              <a:rPr lang="en-US" altLang="zh-CN" sz="2000" dirty="0" smtClean="0">
                <a:solidFill>
                  <a:srgbClr val="3333FF"/>
                </a:solidFill>
              </a:rPr>
              <a:t>) + </a:t>
            </a:r>
            <a:r>
              <a:rPr lang="en-US" altLang="zh-CN" sz="2000" i="1" dirty="0" smtClean="0">
                <a:solidFill>
                  <a:srgbClr val="3333FF"/>
                </a:solidFill>
              </a:rPr>
              <a:t>j </a:t>
            </a:r>
            <a:r>
              <a:rPr lang="en-US" altLang="zh-CN" sz="2000" dirty="0" smtClean="0">
                <a:solidFill>
                  <a:srgbClr val="3333FF"/>
                </a:solidFill>
              </a:rPr>
              <a:t>(</a:t>
            </a:r>
            <a:r>
              <a:rPr lang="en-US" altLang="zh-CN" sz="2000" i="1" dirty="0" smtClean="0">
                <a:solidFill>
                  <a:srgbClr val="3333FF"/>
                </a:solidFill>
              </a:rPr>
              <a:t>b</a:t>
            </a:r>
            <a:r>
              <a:rPr lang="en-US" altLang="zh-CN" sz="2000" baseline="-25000" dirty="0" smtClean="0">
                <a:solidFill>
                  <a:srgbClr val="3333FF"/>
                </a:solidFill>
              </a:rPr>
              <a:t>1</a:t>
            </a:r>
            <a:r>
              <a:rPr lang="en-US" altLang="zh-CN" sz="2000" dirty="0" smtClean="0">
                <a:solidFill>
                  <a:srgbClr val="3333FF"/>
                </a:solidFill>
              </a:rPr>
              <a:t>±</a:t>
            </a:r>
            <a:r>
              <a:rPr lang="en-US" altLang="zh-CN" sz="2000" i="1" dirty="0" smtClean="0">
                <a:solidFill>
                  <a:srgbClr val="3333FF"/>
                </a:solidFill>
              </a:rPr>
              <a:t>b</a:t>
            </a:r>
            <a:r>
              <a:rPr lang="en-US" altLang="zh-CN" sz="2000" baseline="-25000" dirty="0" smtClean="0">
                <a:solidFill>
                  <a:srgbClr val="3333FF"/>
                </a:solidFill>
              </a:rPr>
              <a:t>2</a:t>
            </a:r>
            <a:r>
              <a:rPr lang="en-US" altLang="zh-CN" sz="2000" dirty="0">
                <a:solidFill>
                  <a:srgbClr val="3333FF"/>
                </a:solidFill>
              </a:rPr>
              <a:t>)</a:t>
            </a:r>
            <a:endParaRPr lang="en-US" altLang="zh-CN" sz="2000" dirty="0"/>
          </a:p>
        </p:txBody>
      </p:sp>
      <p:sp>
        <p:nvSpPr>
          <p:cNvPr id="428036" name="Text Box 4"/>
          <p:cNvSpPr txBox="1">
            <a:spLocks noChangeArrowheads="1"/>
          </p:cNvSpPr>
          <p:nvPr/>
        </p:nvSpPr>
        <p:spPr bwMode="auto">
          <a:xfrm>
            <a:off x="692150" y="1277938"/>
            <a:ext cx="31245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/>
              <a:t>(1</a:t>
            </a:r>
            <a:r>
              <a:rPr lang="en-US" altLang="zh-CN" sz="2000" dirty="0" smtClean="0"/>
              <a:t>) </a:t>
            </a:r>
            <a:r>
              <a:rPr lang="zh-CN" altLang="en-US" sz="2000" dirty="0" smtClean="0"/>
              <a:t>加</a:t>
            </a:r>
            <a:r>
              <a:rPr lang="zh-CN" altLang="en-US" sz="2000" dirty="0"/>
              <a:t>减运算</a:t>
            </a:r>
            <a:r>
              <a:rPr lang="en-US" altLang="zh-CN" sz="2000" dirty="0"/>
              <a:t>——</a:t>
            </a:r>
            <a:r>
              <a:rPr lang="zh-CN" altLang="en-US" sz="2000" dirty="0"/>
              <a:t>直角坐标</a:t>
            </a:r>
          </a:p>
        </p:txBody>
      </p:sp>
      <p:sp>
        <p:nvSpPr>
          <p:cNvPr id="428037" name="Text Box 5"/>
          <p:cNvSpPr txBox="1">
            <a:spLocks noChangeArrowheads="1"/>
          </p:cNvSpPr>
          <p:nvPr/>
        </p:nvSpPr>
        <p:spPr bwMode="auto">
          <a:xfrm>
            <a:off x="1025522" y="1735138"/>
            <a:ext cx="36199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/>
              <a:t>若      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1</a:t>
            </a:r>
            <a:r>
              <a:rPr lang="en-US" altLang="zh-CN" sz="2000" dirty="0" smtClean="0"/>
              <a:t>+ </a:t>
            </a:r>
            <a:r>
              <a:rPr lang="en-US" altLang="zh-CN" sz="2000" i="1" dirty="0" smtClean="0"/>
              <a:t>jb</a:t>
            </a:r>
            <a:r>
              <a:rPr lang="en-US" altLang="zh-CN" sz="2000" baseline="-25000" dirty="0" smtClean="0"/>
              <a:t>1</a:t>
            </a:r>
            <a:r>
              <a:rPr lang="zh-CN" altLang="en-US" sz="2000" dirty="0"/>
              <a:t>， 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=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2</a:t>
            </a:r>
            <a:r>
              <a:rPr lang="en-US" altLang="zh-CN" sz="2000" dirty="0" smtClean="0"/>
              <a:t>+ </a:t>
            </a:r>
            <a:r>
              <a:rPr lang="en-US" altLang="zh-CN" sz="2000" i="1" dirty="0" smtClean="0"/>
              <a:t>jb</a:t>
            </a:r>
            <a:r>
              <a:rPr lang="en-US" altLang="zh-CN" sz="2000" baseline="-25000" dirty="0" smtClean="0"/>
              <a:t>2</a:t>
            </a:r>
            <a:endParaRPr lang="en-US" altLang="zh-CN" sz="2000" baseline="-25000" dirty="0"/>
          </a:p>
        </p:txBody>
      </p:sp>
      <p:grpSp>
        <p:nvGrpSpPr>
          <p:cNvPr id="428038" name="Group 6"/>
          <p:cNvGrpSpPr>
            <a:grpSpLocks/>
          </p:cNvGrpSpPr>
          <p:nvPr/>
        </p:nvGrpSpPr>
        <p:grpSpPr bwMode="auto">
          <a:xfrm>
            <a:off x="5505450" y="1619250"/>
            <a:ext cx="3012626" cy="1965325"/>
            <a:chOff x="3696" y="2496"/>
            <a:chExt cx="1716" cy="1238"/>
          </a:xfrm>
        </p:grpSpPr>
        <p:sp>
          <p:nvSpPr>
            <p:cNvPr id="428039" name="Line 7"/>
            <p:cNvSpPr>
              <a:spLocks noChangeShapeType="1"/>
            </p:cNvSpPr>
            <p:nvPr/>
          </p:nvSpPr>
          <p:spPr bwMode="auto">
            <a:xfrm>
              <a:off x="3850" y="3504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8040" name="Line 8"/>
            <p:cNvSpPr>
              <a:spLocks noChangeShapeType="1"/>
            </p:cNvSpPr>
            <p:nvPr/>
          </p:nvSpPr>
          <p:spPr bwMode="auto">
            <a:xfrm flipV="1">
              <a:off x="4042" y="2592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8041" name="Line 9"/>
            <p:cNvSpPr>
              <a:spLocks noChangeShapeType="1"/>
            </p:cNvSpPr>
            <p:nvPr/>
          </p:nvSpPr>
          <p:spPr bwMode="auto">
            <a:xfrm flipV="1">
              <a:off x="4042" y="3120"/>
              <a:ext cx="192" cy="384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8042" name="Line 10"/>
            <p:cNvSpPr>
              <a:spLocks noChangeShapeType="1"/>
            </p:cNvSpPr>
            <p:nvPr/>
          </p:nvSpPr>
          <p:spPr bwMode="auto">
            <a:xfrm flipV="1">
              <a:off x="4042" y="3312"/>
              <a:ext cx="768" cy="192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8043" name="Line 11"/>
            <p:cNvSpPr>
              <a:spLocks noChangeShapeType="1"/>
            </p:cNvSpPr>
            <p:nvPr/>
          </p:nvSpPr>
          <p:spPr bwMode="auto">
            <a:xfrm flipV="1">
              <a:off x="4234" y="2880"/>
              <a:ext cx="816" cy="24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8044" name="Line 12"/>
            <p:cNvSpPr>
              <a:spLocks noChangeShapeType="1"/>
            </p:cNvSpPr>
            <p:nvPr/>
          </p:nvSpPr>
          <p:spPr bwMode="auto">
            <a:xfrm flipV="1">
              <a:off x="4810" y="2880"/>
              <a:ext cx="240" cy="43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8045" name="Line 13"/>
            <p:cNvSpPr>
              <a:spLocks noChangeShapeType="1"/>
            </p:cNvSpPr>
            <p:nvPr/>
          </p:nvSpPr>
          <p:spPr bwMode="auto">
            <a:xfrm flipV="1">
              <a:off x="4042" y="2880"/>
              <a:ext cx="1008" cy="6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8046" name="Text Box 14"/>
            <p:cNvSpPr txBox="1">
              <a:spLocks noChangeArrowheads="1"/>
            </p:cNvSpPr>
            <p:nvPr/>
          </p:nvSpPr>
          <p:spPr bwMode="auto">
            <a:xfrm>
              <a:off x="4848" y="3194"/>
              <a:ext cx="2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A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428047" name="Text Box 15"/>
            <p:cNvSpPr txBox="1">
              <a:spLocks noChangeArrowheads="1"/>
            </p:cNvSpPr>
            <p:nvPr/>
          </p:nvSpPr>
          <p:spPr bwMode="auto">
            <a:xfrm>
              <a:off x="4071" y="2832"/>
              <a:ext cx="2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/>
                <a:t>A</a:t>
              </a:r>
              <a:r>
                <a:rPr lang="en-US" altLang="zh-CN" sz="2000" baseline="-25000" dirty="0"/>
                <a:t>2</a:t>
              </a:r>
              <a:endParaRPr lang="en-US" altLang="zh-CN" sz="2000" dirty="0"/>
            </a:p>
          </p:txBody>
        </p:sp>
        <p:sp>
          <p:nvSpPr>
            <p:cNvPr id="428048" name="Text Box 16"/>
            <p:cNvSpPr txBox="1">
              <a:spLocks noChangeArrowheads="1"/>
            </p:cNvSpPr>
            <p:nvPr/>
          </p:nvSpPr>
          <p:spPr bwMode="auto">
            <a:xfrm>
              <a:off x="5136" y="3482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/>
                <a:t>Re</a:t>
              </a:r>
            </a:p>
          </p:txBody>
        </p:sp>
        <p:sp>
          <p:nvSpPr>
            <p:cNvPr id="428049" name="Text Box 17"/>
            <p:cNvSpPr txBox="1">
              <a:spLocks noChangeArrowheads="1"/>
            </p:cNvSpPr>
            <p:nvPr/>
          </p:nvSpPr>
          <p:spPr bwMode="auto">
            <a:xfrm>
              <a:off x="3696" y="2496"/>
              <a:ext cx="28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/>
                <a:t>Im</a:t>
              </a:r>
            </a:p>
          </p:txBody>
        </p:sp>
        <p:sp>
          <p:nvSpPr>
            <p:cNvPr id="428050" name="Text Box 18"/>
            <p:cNvSpPr txBox="1">
              <a:spLocks noChangeArrowheads="1"/>
            </p:cNvSpPr>
            <p:nvPr/>
          </p:nvSpPr>
          <p:spPr bwMode="auto">
            <a:xfrm>
              <a:off x="3777" y="3456"/>
              <a:ext cx="21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/>
                <a:t>O</a:t>
              </a:r>
              <a:endParaRPr lang="en-US" altLang="zh-CN" sz="2000"/>
            </a:p>
          </p:txBody>
        </p:sp>
        <p:sp>
          <p:nvSpPr>
            <p:cNvPr id="32" name="Text Box 14"/>
            <p:cNvSpPr txBox="1">
              <a:spLocks noChangeArrowheads="1"/>
            </p:cNvSpPr>
            <p:nvPr/>
          </p:nvSpPr>
          <p:spPr bwMode="auto">
            <a:xfrm>
              <a:off x="4930" y="2616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 dirty="0" smtClean="0"/>
                <a:t>A</a:t>
              </a:r>
              <a:r>
                <a:rPr lang="en-US" altLang="zh-CN" sz="2000" baseline="-25000" dirty="0" smtClean="0"/>
                <a:t>1</a:t>
              </a:r>
              <a:r>
                <a:rPr lang="en-US" altLang="zh-CN" sz="2000" i="1" dirty="0"/>
                <a:t>+</a:t>
              </a:r>
              <a:r>
                <a:rPr lang="en-US" altLang="zh-CN" sz="2000" i="1" dirty="0" smtClean="0"/>
                <a:t>A</a:t>
              </a:r>
              <a:r>
                <a:rPr lang="en-US" altLang="zh-CN" sz="2000" baseline="-25000" dirty="0" smtClean="0"/>
                <a:t>2</a:t>
              </a:r>
              <a:endParaRPr lang="en-US" altLang="zh-CN" sz="2000" dirty="0"/>
            </a:p>
          </p:txBody>
        </p:sp>
      </p:grpSp>
      <p:sp>
        <p:nvSpPr>
          <p:cNvPr id="428051" name="Text Box 19"/>
          <p:cNvSpPr txBox="1">
            <a:spLocks noChangeArrowheads="1"/>
          </p:cNvSpPr>
          <p:nvPr/>
        </p:nvSpPr>
        <p:spPr bwMode="auto">
          <a:xfrm>
            <a:off x="5549900" y="1200150"/>
            <a:ext cx="25074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/>
              <a:t>加减法可用图解法。</a:t>
            </a:r>
          </a:p>
        </p:txBody>
      </p:sp>
      <p:sp>
        <p:nvSpPr>
          <p:cNvPr id="428052" name="Rectangle 20"/>
          <p:cNvSpPr>
            <a:spLocks noChangeArrowheads="1"/>
          </p:cNvSpPr>
          <p:nvPr/>
        </p:nvSpPr>
        <p:spPr bwMode="auto">
          <a:xfrm>
            <a:off x="704850" y="2933700"/>
            <a:ext cx="29306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/>
              <a:t>(2)  </a:t>
            </a:r>
            <a:r>
              <a:rPr lang="zh-CN" altLang="en-US" sz="2000"/>
              <a:t>乘除运算</a:t>
            </a:r>
            <a:r>
              <a:rPr lang="en-US" altLang="zh-CN" sz="2000"/>
              <a:t>——</a:t>
            </a:r>
            <a:r>
              <a:rPr lang="zh-CN" altLang="en-US" sz="2000"/>
              <a:t>极坐标</a:t>
            </a:r>
          </a:p>
        </p:txBody>
      </p:sp>
      <p:grpSp>
        <p:nvGrpSpPr>
          <p:cNvPr id="428053" name="Group 21"/>
          <p:cNvGrpSpPr>
            <a:grpSpLocks/>
          </p:cNvGrpSpPr>
          <p:nvPr/>
        </p:nvGrpSpPr>
        <p:grpSpPr bwMode="auto">
          <a:xfrm>
            <a:off x="981075" y="3481389"/>
            <a:ext cx="5029200" cy="414338"/>
            <a:chOff x="384" y="681"/>
            <a:chExt cx="3168" cy="261"/>
          </a:xfrm>
        </p:grpSpPr>
        <p:sp>
          <p:nvSpPr>
            <p:cNvPr id="428054" name="Text Box 22"/>
            <p:cNvSpPr txBox="1">
              <a:spLocks noChangeArrowheads="1"/>
            </p:cNvSpPr>
            <p:nvPr/>
          </p:nvSpPr>
          <p:spPr bwMode="auto">
            <a:xfrm>
              <a:off x="384" y="681"/>
              <a:ext cx="316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000" dirty="0" smtClean="0"/>
                <a:t>若  </a:t>
              </a:r>
              <a:r>
                <a:rPr lang="en-US" altLang="zh-CN" sz="2000" i="1" dirty="0" smtClean="0"/>
                <a:t>A</a:t>
              </a:r>
              <a:r>
                <a:rPr lang="en-US" altLang="zh-CN" sz="2000" baseline="-25000" dirty="0" smtClean="0"/>
                <a:t>1 </a:t>
              </a:r>
              <a:r>
                <a:rPr lang="en-US" altLang="zh-CN" sz="2000" dirty="0" smtClean="0"/>
                <a:t>= |</a:t>
              </a:r>
              <a:r>
                <a:rPr lang="en-US" altLang="zh-CN" sz="2000" i="1" dirty="0"/>
                <a:t>A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|  </a:t>
              </a:r>
              <a:r>
                <a:rPr lang="en-US" altLang="zh-CN" sz="2000" i="1" dirty="0">
                  <a:sym typeface="Symbol" pitchFamily="18" charset="2"/>
                </a:rPr>
                <a:t> </a:t>
              </a:r>
              <a:r>
                <a:rPr lang="en-US" altLang="zh-CN" sz="2000" baseline="-25000" dirty="0">
                  <a:sym typeface="Symbol" pitchFamily="18" charset="2"/>
                </a:rPr>
                <a:t>1     </a:t>
              </a:r>
              <a:r>
                <a:rPr lang="zh-CN" altLang="en-US" sz="2000" dirty="0">
                  <a:sym typeface="Symbol" pitchFamily="18" charset="2"/>
                </a:rPr>
                <a:t>，</a:t>
              </a:r>
              <a:r>
                <a:rPr lang="zh-CN" altLang="en-US" sz="2000" dirty="0"/>
                <a:t>若</a:t>
              </a:r>
              <a:r>
                <a:rPr lang="en-US" altLang="zh-CN" sz="2000" i="1" dirty="0" smtClean="0"/>
                <a:t>A</a:t>
              </a:r>
              <a:r>
                <a:rPr lang="en-US" altLang="zh-CN" sz="2000" baseline="-25000" dirty="0" smtClean="0"/>
                <a:t>2 </a:t>
              </a:r>
              <a:r>
                <a:rPr lang="en-US" altLang="zh-CN" sz="2000" dirty="0" smtClean="0"/>
                <a:t>= |</a:t>
              </a:r>
              <a:r>
                <a:rPr lang="en-US" altLang="zh-CN" sz="2000" i="1" dirty="0"/>
                <a:t>A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|  </a:t>
              </a:r>
              <a:r>
                <a:rPr lang="en-US" altLang="zh-CN" sz="2000" i="1" dirty="0">
                  <a:sym typeface="Symbol" pitchFamily="18" charset="2"/>
                </a:rPr>
                <a:t> </a:t>
              </a:r>
              <a:r>
                <a:rPr lang="en-US" altLang="zh-CN" sz="2000" baseline="-25000" dirty="0">
                  <a:sym typeface="Symbol" pitchFamily="18" charset="2"/>
                </a:rPr>
                <a:t>2</a:t>
              </a:r>
              <a:endParaRPr lang="en-US" altLang="zh-CN" sz="2000" dirty="0"/>
            </a:p>
          </p:txBody>
        </p:sp>
        <p:sp>
          <p:nvSpPr>
            <p:cNvPr id="428055" name="Freeform 23"/>
            <p:cNvSpPr>
              <a:spLocks/>
            </p:cNvSpPr>
            <p:nvPr/>
          </p:nvSpPr>
          <p:spPr bwMode="auto">
            <a:xfrm>
              <a:off x="1257" y="684"/>
              <a:ext cx="263" cy="252"/>
            </a:xfrm>
            <a:custGeom>
              <a:avLst/>
              <a:gdLst>
                <a:gd name="T0" fmla="*/ 96 w 336"/>
                <a:gd name="T1" fmla="*/ 0 h 240"/>
                <a:gd name="T2" fmla="*/ 0 w 336"/>
                <a:gd name="T3" fmla="*/ 240 h 240"/>
                <a:gd name="T4" fmla="*/ 336 w 336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" h="240">
                  <a:moveTo>
                    <a:pt x="96" y="0"/>
                  </a:moveTo>
                  <a:lnTo>
                    <a:pt x="0" y="240"/>
                  </a:lnTo>
                  <a:lnTo>
                    <a:pt x="336" y="2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000"/>
            </a:p>
          </p:txBody>
        </p:sp>
        <p:sp>
          <p:nvSpPr>
            <p:cNvPr id="428056" name="Freeform 24"/>
            <p:cNvSpPr>
              <a:spLocks/>
            </p:cNvSpPr>
            <p:nvPr/>
          </p:nvSpPr>
          <p:spPr bwMode="auto">
            <a:xfrm>
              <a:off x="2529" y="690"/>
              <a:ext cx="223" cy="252"/>
            </a:xfrm>
            <a:custGeom>
              <a:avLst/>
              <a:gdLst>
                <a:gd name="T0" fmla="*/ 96 w 336"/>
                <a:gd name="T1" fmla="*/ 0 h 240"/>
                <a:gd name="T2" fmla="*/ 0 w 336"/>
                <a:gd name="T3" fmla="*/ 240 h 240"/>
                <a:gd name="T4" fmla="*/ 336 w 336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" h="240">
                  <a:moveTo>
                    <a:pt x="96" y="0"/>
                  </a:moveTo>
                  <a:lnTo>
                    <a:pt x="0" y="240"/>
                  </a:lnTo>
                  <a:lnTo>
                    <a:pt x="336" y="2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000"/>
            </a:p>
          </p:txBody>
        </p:sp>
      </p:grpSp>
      <p:grpSp>
        <p:nvGrpSpPr>
          <p:cNvPr id="428057" name="Group 25"/>
          <p:cNvGrpSpPr>
            <a:grpSpLocks/>
          </p:cNvGrpSpPr>
          <p:nvPr/>
        </p:nvGrpSpPr>
        <p:grpSpPr bwMode="auto">
          <a:xfrm>
            <a:off x="896938" y="4057650"/>
            <a:ext cx="3662363" cy="419100"/>
            <a:chOff x="739" y="1056"/>
            <a:chExt cx="2307" cy="264"/>
          </a:xfrm>
        </p:grpSpPr>
        <p:sp>
          <p:nvSpPr>
            <p:cNvPr id="428058" name="Text Box 26"/>
            <p:cNvSpPr txBox="1">
              <a:spLocks noChangeArrowheads="1"/>
            </p:cNvSpPr>
            <p:nvPr/>
          </p:nvSpPr>
          <p:spPr bwMode="auto">
            <a:xfrm>
              <a:off x="739" y="1056"/>
              <a:ext cx="228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dirty="0">
                  <a:solidFill>
                    <a:srgbClr val="3333FF"/>
                  </a:solidFill>
                </a:rPr>
                <a:t> </a:t>
              </a:r>
              <a:r>
                <a:rPr lang="zh-CN" altLang="en-US" sz="2000" dirty="0">
                  <a:solidFill>
                    <a:srgbClr val="3333FF"/>
                  </a:solidFill>
                </a:rPr>
                <a:t>则 </a:t>
              </a:r>
              <a:r>
                <a:rPr lang="zh-CN" altLang="en-US" sz="2000" dirty="0" smtClean="0">
                  <a:solidFill>
                    <a:srgbClr val="3333FF"/>
                  </a:solidFill>
                </a:rPr>
                <a:t> </a:t>
              </a:r>
              <a:r>
                <a:rPr lang="en-US" altLang="zh-CN" sz="2000" i="1" dirty="0">
                  <a:solidFill>
                    <a:srgbClr val="3333FF"/>
                  </a:solidFill>
                </a:rPr>
                <a:t>A</a:t>
              </a:r>
              <a:r>
                <a:rPr lang="en-US" altLang="zh-CN" sz="2000" baseline="-25000" dirty="0">
                  <a:solidFill>
                    <a:srgbClr val="3333FF"/>
                  </a:solidFill>
                </a:rPr>
                <a:t>1</a:t>
              </a:r>
              <a:r>
                <a:rPr lang="en-US" altLang="zh-CN" sz="2000" dirty="0">
                  <a:solidFill>
                    <a:srgbClr val="3333FF"/>
                  </a:solidFill>
                </a:rPr>
                <a:t> </a:t>
              </a:r>
              <a:r>
                <a:rPr lang="en-US" altLang="zh-CN" sz="2000" i="1" dirty="0">
                  <a:solidFill>
                    <a:srgbClr val="3333FF"/>
                  </a:solidFill>
                </a:rPr>
                <a:t>A</a:t>
              </a:r>
              <a:r>
                <a:rPr lang="en-US" altLang="zh-CN" sz="2000" baseline="-25000" dirty="0">
                  <a:solidFill>
                    <a:srgbClr val="3333FF"/>
                  </a:solidFill>
                </a:rPr>
                <a:t>2</a:t>
              </a:r>
              <a:r>
                <a:rPr lang="en-US" altLang="zh-CN" sz="2000" dirty="0">
                  <a:solidFill>
                    <a:srgbClr val="3333FF"/>
                  </a:solidFill>
                </a:rPr>
                <a:t> </a:t>
              </a:r>
              <a:r>
                <a:rPr lang="en-US" altLang="zh-CN" sz="2000" dirty="0" smtClean="0">
                  <a:solidFill>
                    <a:srgbClr val="3333FF"/>
                  </a:solidFill>
                </a:rPr>
                <a:t> = | </a:t>
              </a:r>
              <a:r>
                <a:rPr lang="en-US" altLang="zh-CN" sz="2000" i="1" dirty="0">
                  <a:solidFill>
                    <a:srgbClr val="3333FF"/>
                  </a:solidFill>
                </a:rPr>
                <a:t>A</a:t>
              </a:r>
              <a:r>
                <a:rPr lang="en-US" altLang="zh-CN" sz="2000" baseline="-25000" dirty="0">
                  <a:solidFill>
                    <a:srgbClr val="3333FF"/>
                  </a:solidFill>
                </a:rPr>
                <a:t>1</a:t>
              </a:r>
              <a:r>
                <a:rPr lang="en-US" altLang="zh-CN" sz="2000" dirty="0">
                  <a:solidFill>
                    <a:srgbClr val="3333FF"/>
                  </a:solidFill>
                </a:rPr>
                <a:t> | </a:t>
              </a:r>
              <a:r>
                <a:rPr lang="en-US" altLang="zh-CN" sz="2000" dirty="0" smtClean="0">
                  <a:solidFill>
                    <a:srgbClr val="3333FF"/>
                  </a:solidFill>
                </a:rPr>
                <a:t>* | </a:t>
              </a:r>
              <a:r>
                <a:rPr lang="en-US" altLang="zh-CN" sz="2000" i="1" dirty="0">
                  <a:solidFill>
                    <a:srgbClr val="3333FF"/>
                  </a:solidFill>
                </a:rPr>
                <a:t>A</a:t>
              </a:r>
              <a:r>
                <a:rPr lang="en-US" altLang="zh-CN" sz="2000" baseline="-25000" dirty="0">
                  <a:solidFill>
                    <a:srgbClr val="3333FF"/>
                  </a:solidFill>
                </a:rPr>
                <a:t>2</a:t>
              </a:r>
              <a:r>
                <a:rPr lang="en-US" altLang="zh-CN" sz="2000" dirty="0">
                  <a:solidFill>
                    <a:srgbClr val="3333FF"/>
                  </a:solidFill>
                </a:rPr>
                <a:t>|   </a:t>
              </a:r>
              <a:r>
                <a:rPr lang="en-US" altLang="zh-CN" sz="2000" i="1" dirty="0">
                  <a:solidFill>
                    <a:srgbClr val="3333FF"/>
                  </a:solidFill>
                  <a:latin typeface="Symbol" pitchFamily="18" charset="2"/>
                </a:rPr>
                <a:t>q </a:t>
              </a:r>
              <a:r>
                <a:rPr lang="en-US" altLang="zh-CN" sz="2000" baseline="-25000" dirty="0">
                  <a:solidFill>
                    <a:srgbClr val="3333FF"/>
                  </a:solidFill>
                </a:rPr>
                <a:t>1</a:t>
              </a:r>
              <a:r>
                <a:rPr lang="en-US" altLang="zh-CN" sz="2000" dirty="0">
                  <a:solidFill>
                    <a:srgbClr val="3333FF"/>
                  </a:solidFill>
                  <a:latin typeface="Symbol" pitchFamily="18" charset="2"/>
                </a:rPr>
                <a:t>+</a:t>
              </a:r>
              <a:r>
                <a:rPr lang="en-US" altLang="zh-CN" sz="2000" i="1" dirty="0">
                  <a:solidFill>
                    <a:srgbClr val="3333FF"/>
                  </a:solidFill>
                  <a:latin typeface="Symbol" pitchFamily="18" charset="2"/>
                </a:rPr>
                <a:t>q </a:t>
              </a:r>
              <a:r>
                <a:rPr lang="en-US" altLang="zh-CN" sz="2000" baseline="-25000" dirty="0">
                  <a:solidFill>
                    <a:srgbClr val="3333FF"/>
                  </a:solidFill>
                </a:rPr>
                <a:t>2</a:t>
              </a:r>
              <a:endParaRPr lang="en-US" altLang="zh-CN" sz="2000" dirty="0">
                <a:solidFill>
                  <a:srgbClr val="3333FF"/>
                </a:solidFill>
              </a:endParaRPr>
            </a:p>
          </p:txBody>
        </p:sp>
        <p:sp>
          <p:nvSpPr>
            <p:cNvPr id="428059" name="Freeform 27"/>
            <p:cNvSpPr>
              <a:spLocks/>
            </p:cNvSpPr>
            <p:nvPr/>
          </p:nvSpPr>
          <p:spPr bwMode="auto">
            <a:xfrm>
              <a:off x="2464" y="1068"/>
              <a:ext cx="582" cy="252"/>
            </a:xfrm>
            <a:custGeom>
              <a:avLst/>
              <a:gdLst>
                <a:gd name="T0" fmla="*/ 84 w 816"/>
                <a:gd name="T1" fmla="*/ 0 h 252"/>
                <a:gd name="T2" fmla="*/ 0 w 816"/>
                <a:gd name="T3" fmla="*/ 252 h 252"/>
                <a:gd name="T4" fmla="*/ 816 w 816"/>
                <a:gd name="T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6" h="252">
                  <a:moveTo>
                    <a:pt x="84" y="0"/>
                  </a:moveTo>
                  <a:lnTo>
                    <a:pt x="0" y="252"/>
                  </a:lnTo>
                  <a:lnTo>
                    <a:pt x="816" y="25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428060" name="Rectangle 28"/>
          <p:cNvSpPr>
            <a:spLocks noChangeArrowheads="1"/>
          </p:cNvSpPr>
          <p:nvPr/>
        </p:nvSpPr>
        <p:spPr bwMode="auto">
          <a:xfrm>
            <a:off x="1472215" y="5810252"/>
            <a:ext cx="30235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000" dirty="0">
                <a:solidFill>
                  <a:srgbClr val="3333FF"/>
                </a:solidFill>
              </a:rPr>
              <a:t>乘法：模相乘，角相加；</a:t>
            </a:r>
          </a:p>
        </p:txBody>
      </p:sp>
      <p:graphicFrame>
        <p:nvGraphicFramePr>
          <p:cNvPr id="42806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1221"/>
              </p:ext>
            </p:extLst>
          </p:nvPr>
        </p:nvGraphicFramePr>
        <p:xfrm>
          <a:off x="1025523" y="4745289"/>
          <a:ext cx="6350004" cy="910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301" name="Equation" r:id="rId4" imgW="3009600" imgH="431640" progId="Equation.DSMT4">
                  <p:embed/>
                </p:oleObj>
              </mc:Choice>
              <mc:Fallback>
                <p:oleObj name="Equation" r:id="rId4" imgW="3009600" imgH="43164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3" y="4745289"/>
                        <a:ext cx="6350004" cy="910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8063" name="Freeform 31"/>
          <p:cNvSpPr>
            <a:spLocks/>
          </p:cNvSpPr>
          <p:nvPr/>
        </p:nvSpPr>
        <p:spPr bwMode="auto">
          <a:xfrm>
            <a:off x="6515049" y="5000596"/>
            <a:ext cx="946150" cy="400110"/>
          </a:xfrm>
          <a:custGeom>
            <a:avLst/>
            <a:gdLst>
              <a:gd name="T0" fmla="*/ 48 w 480"/>
              <a:gd name="T1" fmla="*/ 0 h 240"/>
              <a:gd name="T2" fmla="*/ 0 w 480"/>
              <a:gd name="T3" fmla="*/ 240 h 240"/>
              <a:gd name="T4" fmla="*/ 480 w 480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0" h="240">
                <a:moveTo>
                  <a:pt x="48" y="0"/>
                </a:moveTo>
                <a:lnTo>
                  <a:pt x="0" y="240"/>
                </a:lnTo>
                <a:lnTo>
                  <a:pt x="480" y="24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2000"/>
          </a:p>
        </p:txBody>
      </p:sp>
      <p:sp>
        <p:nvSpPr>
          <p:cNvPr id="428064" name="Text Box 32"/>
          <p:cNvSpPr txBox="1">
            <a:spLocks noChangeArrowheads="1"/>
          </p:cNvSpPr>
          <p:nvPr/>
        </p:nvSpPr>
        <p:spPr bwMode="auto">
          <a:xfrm>
            <a:off x="4437614" y="5810252"/>
            <a:ext cx="30235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000" dirty="0">
                <a:solidFill>
                  <a:srgbClr val="3333FF"/>
                </a:solidFill>
              </a:rPr>
              <a:t>除法：模相除，角相减。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2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42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42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28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2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5" grpId="0" autoUpdateAnimBg="0"/>
      <p:bldP spid="428036" grpId="0" autoUpdateAnimBg="0"/>
      <p:bldP spid="428037" grpId="0" autoUpdateAnimBg="0"/>
      <p:bldP spid="428051" grpId="0" autoUpdateAnimBg="0"/>
      <p:bldP spid="428052" grpId="0" autoUpdateAnimBg="0"/>
      <p:bldP spid="428060" grpId="0" autoUpdateAnimBg="0"/>
      <p:bldP spid="428063" grpId="0" animBg="1"/>
      <p:bldP spid="42806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Text Box 2"/>
          <p:cNvSpPr txBox="1">
            <a:spLocks noChangeArrowheads="1"/>
          </p:cNvSpPr>
          <p:nvPr/>
        </p:nvSpPr>
        <p:spPr bwMode="auto">
          <a:xfrm>
            <a:off x="304800" y="392113"/>
            <a:ext cx="1603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 smtClean="0"/>
              <a:t>3</a:t>
            </a:r>
            <a:r>
              <a:rPr lang="zh-CN" altLang="en-US" sz="2000" dirty="0" smtClean="0"/>
              <a:t>、</a:t>
            </a:r>
            <a:r>
              <a:rPr lang="zh-CN" altLang="en-US" sz="2000" smtClean="0"/>
              <a:t>旋转因子</a:t>
            </a:r>
            <a:endParaRPr lang="zh-CN" altLang="en-US" sz="2000" dirty="0"/>
          </a:p>
        </p:txBody>
      </p:sp>
      <p:sp>
        <p:nvSpPr>
          <p:cNvPr id="431107" name="Text Box 3"/>
          <p:cNvSpPr txBox="1">
            <a:spLocks noChangeArrowheads="1"/>
          </p:cNvSpPr>
          <p:nvPr/>
        </p:nvSpPr>
        <p:spPr bwMode="auto">
          <a:xfrm>
            <a:off x="2193925" y="873125"/>
            <a:ext cx="2609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复数   </a:t>
            </a:r>
            <a:r>
              <a:rPr lang="en-US" altLang="zh-CN" sz="2000" i="1" dirty="0" smtClean="0"/>
              <a:t>e </a:t>
            </a:r>
            <a:r>
              <a:rPr lang="en-US" altLang="zh-CN" sz="2000" i="1" baseline="30000" dirty="0" err="1" smtClean="0"/>
              <a:t>j</a:t>
            </a:r>
            <a:r>
              <a:rPr lang="en-US" altLang="zh-CN" sz="2000" i="1" baseline="30000" dirty="0" err="1" smtClean="0">
                <a:latin typeface="Symbol" pitchFamily="18" charset="2"/>
              </a:rPr>
              <a:t>q</a:t>
            </a:r>
            <a:r>
              <a:rPr lang="en-US" altLang="zh-CN" sz="2000" baseline="30000" dirty="0" smtClean="0">
                <a:latin typeface="Symbol" pitchFamily="18" charset="2"/>
              </a:rPr>
              <a:t> </a:t>
            </a:r>
            <a:r>
              <a:rPr lang="en-US" altLang="zh-CN" sz="2000" dirty="0" smtClean="0"/>
              <a:t> = 1</a:t>
            </a:r>
            <a:r>
              <a:rPr lang="en-US" altLang="zh-CN" sz="2000" dirty="0"/>
              <a:t>∠</a:t>
            </a:r>
            <a:r>
              <a:rPr lang="en-US" altLang="zh-CN" sz="2000" i="1" dirty="0">
                <a:latin typeface="Symbol" pitchFamily="18" charset="2"/>
              </a:rPr>
              <a:t>q</a:t>
            </a:r>
            <a:endParaRPr lang="en-US" altLang="zh-CN" sz="2000" dirty="0">
              <a:latin typeface="Symbol" pitchFamily="18" charset="2"/>
            </a:endParaRPr>
          </a:p>
        </p:txBody>
      </p:sp>
      <p:sp>
        <p:nvSpPr>
          <p:cNvPr id="431108" name="Text Box 4"/>
          <p:cNvSpPr txBox="1">
            <a:spLocks noChangeArrowheads="1"/>
          </p:cNvSpPr>
          <p:nvPr/>
        </p:nvSpPr>
        <p:spPr bwMode="auto">
          <a:xfrm>
            <a:off x="723900" y="1447800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00" indent="-952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143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33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524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000" i="1" dirty="0"/>
              <a:t>A</a:t>
            </a:r>
            <a:r>
              <a:rPr lang="en-US" altLang="zh-CN" sz="2000" dirty="0"/>
              <a:t>• </a:t>
            </a:r>
            <a:r>
              <a:rPr lang="en-US" altLang="zh-CN" sz="2000" i="1" dirty="0" smtClean="0"/>
              <a:t>e </a:t>
            </a:r>
            <a:r>
              <a:rPr lang="en-US" altLang="zh-CN" sz="2000" i="1" baseline="30000" dirty="0" err="1" smtClean="0"/>
              <a:t>j</a:t>
            </a:r>
            <a:r>
              <a:rPr lang="en-US" altLang="zh-CN" sz="2000" i="1" baseline="30000" dirty="0" err="1" smtClean="0">
                <a:latin typeface="Symbol" pitchFamily="18" charset="2"/>
              </a:rPr>
              <a:t>q</a:t>
            </a:r>
            <a:r>
              <a:rPr lang="en-US" altLang="zh-CN" sz="2000" baseline="30000" dirty="0" smtClean="0">
                <a:latin typeface="Symbol" pitchFamily="18" charset="2"/>
              </a:rPr>
              <a:t> </a:t>
            </a:r>
            <a:r>
              <a:rPr lang="en-US" altLang="zh-CN" sz="2000" dirty="0" smtClean="0">
                <a:latin typeface="宋体" charset="-122"/>
              </a:rPr>
              <a:t> </a:t>
            </a:r>
            <a:r>
              <a:rPr lang="zh-CN" altLang="en-US" sz="2000" dirty="0"/>
              <a:t>相当于</a:t>
            </a:r>
            <a:r>
              <a:rPr lang="en-US" altLang="zh-CN" sz="2000" i="1" dirty="0"/>
              <a:t>A</a:t>
            </a:r>
            <a:r>
              <a:rPr lang="zh-CN" altLang="en-US" sz="2000" dirty="0"/>
              <a:t>逆时针旋转一个角度</a:t>
            </a:r>
            <a:r>
              <a:rPr lang="en-US" altLang="zh-CN" sz="2000" i="1" dirty="0">
                <a:latin typeface="Symbol" pitchFamily="18" charset="2"/>
              </a:rPr>
              <a:t>q </a:t>
            </a:r>
            <a:r>
              <a:rPr lang="zh-CN" altLang="en-US" sz="2000" dirty="0"/>
              <a:t>，而模不变。 </a:t>
            </a:r>
          </a:p>
        </p:txBody>
      </p:sp>
      <p:sp>
        <p:nvSpPr>
          <p:cNvPr id="431109" name="Text Box 5"/>
          <p:cNvSpPr txBox="1">
            <a:spLocks noChangeArrowheads="1"/>
          </p:cNvSpPr>
          <p:nvPr/>
        </p:nvSpPr>
        <p:spPr bwMode="auto">
          <a:xfrm>
            <a:off x="2495550" y="4926013"/>
            <a:ext cx="4405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zh-CN" sz="2000" dirty="0"/>
              <a:t>故 +</a:t>
            </a:r>
            <a:r>
              <a:rPr lang="en-US" altLang="zh-CN" sz="2000" i="1" dirty="0"/>
              <a:t>j</a:t>
            </a:r>
            <a:r>
              <a:rPr lang="zh-CN" altLang="en-US" sz="2000" dirty="0"/>
              <a:t>， </a:t>
            </a:r>
            <a:r>
              <a:rPr lang="en-US" altLang="zh-CN" sz="2000" dirty="0"/>
              <a:t>–</a:t>
            </a:r>
            <a:r>
              <a:rPr lang="en-US" altLang="zh-CN" sz="2000" i="1" dirty="0"/>
              <a:t>j</a:t>
            </a:r>
            <a:r>
              <a:rPr lang="zh-CN" altLang="en-US" sz="2000" dirty="0"/>
              <a:t>， </a:t>
            </a:r>
            <a:r>
              <a:rPr lang="en-US" altLang="zh-CN" sz="2000" dirty="0">
                <a:latin typeface="宋体" charset="-122"/>
              </a:rPr>
              <a:t>-</a:t>
            </a:r>
            <a:r>
              <a:rPr lang="en-US" altLang="zh-CN" sz="2000" dirty="0"/>
              <a:t>1 </a:t>
            </a:r>
            <a:r>
              <a:rPr lang="zh-CN" altLang="zh-CN" sz="2000" dirty="0"/>
              <a:t>都可以看成旋转因子。</a:t>
            </a:r>
            <a:endParaRPr lang="zh-CN" altLang="en-US" sz="2000" dirty="0"/>
          </a:p>
        </p:txBody>
      </p:sp>
      <p:grpSp>
        <p:nvGrpSpPr>
          <p:cNvPr id="431110" name="Group 6"/>
          <p:cNvGrpSpPr>
            <a:grpSpLocks/>
          </p:cNvGrpSpPr>
          <p:nvPr/>
        </p:nvGrpSpPr>
        <p:grpSpPr bwMode="auto">
          <a:xfrm>
            <a:off x="1574800" y="2670176"/>
            <a:ext cx="2832101" cy="2035175"/>
            <a:chOff x="998" y="1490"/>
            <a:chExt cx="1784" cy="1282"/>
          </a:xfrm>
        </p:grpSpPr>
        <p:sp>
          <p:nvSpPr>
            <p:cNvPr id="431111" name="Line 7"/>
            <p:cNvSpPr>
              <a:spLocks noChangeShapeType="1"/>
            </p:cNvSpPr>
            <p:nvPr/>
          </p:nvSpPr>
          <p:spPr bwMode="auto">
            <a:xfrm>
              <a:off x="998" y="2532"/>
              <a:ext cx="16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12" name="Line 8"/>
            <p:cNvSpPr>
              <a:spLocks noChangeShapeType="1"/>
            </p:cNvSpPr>
            <p:nvPr/>
          </p:nvSpPr>
          <p:spPr bwMode="auto">
            <a:xfrm flipV="1">
              <a:off x="1211" y="1620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13" name="Text Box 9"/>
            <p:cNvSpPr txBox="1">
              <a:spLocks noChangeArrowheads="1"/>
            </p:cNvSpPr>
            <p:nvPr/>
          </p:nvSpPr>
          <p:spPr bwMode="auto">
            <a:xfrm>
              <a:off x="2479" y="2522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dirty="0"/>
                <a:t>Re</a:t>
              </a:r>
            </a:p>
          </p:txBody>
        </p:sp>
        <p:sp>
          <p:nvSpPr>
            <p:cNvPr id="431114" name="Text Box 10"/>
            <p:cNvSpPr txBox="1">
              <a:spLocks noChangeArrowheads="1"/>
            </p:cNvSpPr>
            <p:nvPr/>
          </p:nvSpPr>
          <p:spPr bwMode="auto">
            <a:xfrm>
              <a:off x="1218" y="1490"/>
              <a:ext cx="31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dirty="0" err="1"/>
                <a:t>Im</a:t>
              </a:r>
              <a:endParaRPr lang="en-US" altLang="zh-CN" sz="2000" dirty="0"/>
            </a:p>
          </p:txBody>
        </p:sp>
        <p:sp>
          <p:nvSpPr>
            <p:cNvPr id="431115" name="Text Box 11"/>
            <p:cNvSpPr txBox="1">
              <a:spLocks noChangeArrowheads="1"/>
            </p:cNvSpPr>
            <p:nvPr/>
          </p:nvSpPr>
          <p:spPr bwMode="auto">
            <a:xfrm>
              <a:off x="1176" y="2503"/>
              <a:ext cx="24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/>
                <a:t>O</a:t>
              </a:r>
            </a:p>
          </p:txBody>
        </p:sp>
        <p:sp>
          <p:nvSpPr>
            <p:cNvPr id="431116" name="Line 12"/>
            <p:cNvSpPr>
              <a:spLocks noChangeShapeType="1"/>
            </p:cNvSpPr>
            <p:nvPr/>
          </p:nvSpPr>
          <p:spPr bwMode="auto">
            <a:xfrm flipV="1">
              <a:off x="1200" y="2255"/>
              <a:ext cx="912" cy="2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17" name="Text Box 13"/>
            <p:cNvSpPr txBox="1">
              <a:spLocks noChangeArrowheads="1"/>
            </p:cNvSpPr>
            <p:nvPr/>
          </p:nvSpPr>
          <p:spPr bwMode="auto">
            <a:xfrm>
              <a:off x="2080" y="2117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 dirty="0"/>
                <a:t>A</a:t>
              </a:r>
            </a:p>
          </p:txBody>
        </p:sp>
      </p:grpSp>
      <p:grpSp>
        <p:nvGrpSpPr>
          <p:cNvPr id="431118" name="Group 14"/>
          <p:cNvGrpSpPr>
            <a:grpSpLocks/>
          </p:cNvGrpSpPr>
          <p:nvPr/>
        </p:nvGrpSpPr>
        <p:grpSpPr bwMode="auto">
          <a:xfrm>
            <a:off x="1920875" y="3290888"/>
            <a:ext cx="1795463" cy="1019175"/>
            <a:chOff x="1221" y="1870"/>
            <a:chExt cx="1131" cy="642"/>
          </a:xfrm>
        </p:grpSpPr>
        <p:sp>
          <p:nvSpPr>
            <p:cNvPr id="431119" name="Line 15"/>
            <p:cNvSpPr>
              <a:spLocks noChangeShapeType="1"/>
            </p:cNvSpPr>
            <p:nvPr/>
          </p:nvSpPr>
          <p:spPr bwMode="auto">
            <a:xfrm flipV="1">
              <a:off x="1221" y="2084"/>
              <a:ext cx="828" cy="4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20" name="Rectangle 16"/>
            <p:cNvSpPr>
              <a:spLocks noChangeArrowheads="1"/>
            </p:cNvSpPr>
            <p:nvPr/>
          </p:nvSpPr>
          <p:spPr bwMode="auto">
            <a:xfrm>
              <a:off x="1872" y="1870"/>
              <a:ext cx="48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 dirty="0" err="1" smtClean="0">
                  <a:solidFill>
                    <a:srgbClr val="FF3300"/>
                  </a:solidFill>
                </a:rPr>
                <a:t>A</a:t>
              </a:r>
              <a:r>
                <a:rPr lang="en-US" altLang="zh-CN" sz="2000" dirty="0" err="1" smtClean="0">
                  <a:solidFill>
                    <a:srgbClr val="FF3300"/>
                  </a:solidFill>
                </a:rPr>
                <a:t>•</a:t>
              </a:r>
              <a:r>
                <a:rPr lang="en-US" altLang="zh-CN" sz="2000" i="1" dirty="0" err="1" smtClean="0">
                  <a:solidFill>
                    <a:srgbClr val="FF3300"/>
                  </a:solidFill>
                </a:rPr>
                <a:t>e</a:t>
              </a:r>
              <a:r>
                <a:rPr lang="en-US" altLang="zh-CN" sz="2000" i="1" dirty="0" smtClean="0">
                  <a:solidFill>
                    <a:srgbClr val="FF3300"/>
                  </a:solidFill>
                </a:rPr>
                <a:t> </a:t>
              </a:r>
              <a:r>
                <a:rPr lang="en-US" altLang="zh-CN" sz="2000" i="1" baseline="30000" dirty="0" err="1" smtClean="0">
                  <a:solidFill>
                    <a:srgbClr val="FF3300"/>
                  </a:solidFill>
                </a:rPr>
                <a:t>j</a:t>
              </a:r>
              <a:r>
                <a:rPr lang="en-US" altLang="zh-CN" sz="2000" i="1" baseline="30000" dirty="0" err="1" smtClean="0">
                  <a:solidFill>
                    <a:srgbClr val="FF3300"/>
                  </a:solidFill>
                  <a:latin typeface="Symbol" pitchFamily="18" charset="2"/>
                </a:rPr>
                <a:t>q</a:t>
              </a:r>
              <a:endParaRPr lang="en-US" altLang="zh-CN" sz="2000" i="1" baseline="30000" dirty="0">
                <a:solidFill>
                  <a:srgbClr val="FF3300"/>
                </a:solidFill>
                <a:latin typeface="Symbol" pitchFamily="18" charset="2"/>
              </a:endParaRPr>
            </a:p>
          </p:txBody>
        </p:sp>
        <p:sp>
          <p:nvSpPr>
            <p:cNvPr id="431121" name="Rectangle 17"/>
            <p:cNvSpPr>
              <a:spLocks noChangeArrowheads="1"/>
            </p:cNvSpPr>
            <p:nvPr/>
          </p:nvSpPr>
          <p:spPr bwMode="auto">
            <a:xfrm>
              <a:off x="1721" y="2147"/>
              <a:ext cx="19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1600" i="1" dirty="0">
                  <a:latin typeface="Symbol" pitchFamily="18" charset="2"/>
                </a:rPr>
                <a:t>q</a:t>
              </a:r>
            </a:p>
          </p:txBody>
        </p:sp>
        <p:sp>
          <p:nvSpPr>
            <p:cNvPr id="431122" name="Freeform 18"/>
            <p:cNvSpPr>
              <a:spLocks/>
            </p:cNvSpPr>
            <p:nvPr/>
          </p:nvSpPr>
          <p:spPr bwMode="auto">
            <a:xfrm>
              <a:off x="1720" y="2257"/>
              <a:ext cx="43" cy="99"/>
            </a:xfrm>
            <a:custGeom>
              <a:avLst/>
              <a:gdLst>
                <a:gd name="T0" fmla="*/ 0 w 24"/>
                <a:gd name="T1" fmla="*/ 0 h 144"/>
                <a:gd name="T2" fmla="*/ 24 w 24"/>
                <a:gd name="T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" h="144">
                  <a:moveTo>
                    <a:pt x="0" y="0"/>
                  </a:moveTo>
                  <a:cubicBezTo>
                    <a:pt x="10" y="60"/>
                    <a:pt x="20" y="120"/>
                    <a:pt x="24" y="14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1123" name="Group 19"/>
          <p:cNvGrpSpPr>
            <a:grpSpLocks/>
          </p:cNvGrpSpPr>
          <p:nvPr/>
        </p:nvGrpSpPr>
        <p:grpSpPr bwMode="auto">
          <a:xfrm>
            <a:off x="677863" y="2557463"/>
            <a:ext cx="1227138" cy="1766888"/>
            <a:chOff x="427" y="1407"/>
            <a:chExt cx="773" cy="1113"/>
          </a:xfrm>
        </p:grpSpPr>
        <p:sp>
          <p:nvSpPr>
            <p:cNvPr id="431124" name="Line 20"/>
            <p:cNvSpPr>
              <a:spLocks noChangeShapeType="1"/>
            </p:cNvSpPr>
            <p:nvPr/>
          </p:nvSpPr>
          <p:spPr bwMode="auto">
            <a:xfrm flipH="1" flipV="1">
              <a:off x="912" y="1728"/>
              <a:ext cx="288" cy="792"/>
            </a:xfrm>
            <a:prstGeom prst="line">
              <a:avLst/>
            </a:prstGeom>
            <a:noFill/>
            <a:ln w="1270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1125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2526666"/>
                </p:ext>
              </p:extLst>
            </p:nvPr>
          </p:nvGraphicFramePr>
          <p:xfrm>
            <a:off x="427" y="1407"/>
            <a:ext cx="472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699" name="公式" r:id="rId3" imgW="749160" imgH="698400" progId="Equation.3">
                    <p:embed/>
                  </p:oleObj>
                </mc:Choice>
                <mc:Fallback>
                  <p:oleObj name="公式" r:id="rId3" imgW="749160" imgH="6984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" y="1407"/>
                          <a:ext cx="472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11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547182"/>
              </p:ext>
            </p:extLst>
          </p:nvPr>
        </p:nvGraphicFramePr>
        <p:xfrm>
          <a:off x="4953000" y="2428875"/>
          <a:ext cx="282257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700" name="Equation" r:id="rId5" imgW="3098520" imgH="914400" progId="Equation.DSMT4">
                  <p:embed/>
                </p:oleObj>
              </mc:Choice>
              <mc:Fallback>
                <p:oleObj name="Equation" r:id="rId5" imgW="3098520" imgH="914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428875"/>
                        <a:ext cx="2822575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30" name="Object 26"/>
          <p:cNvGraphicFramePr>
            <a:graphicFrameLocks noChangeAspect="1"/>
          </p:cNvGraphicFramePr>
          <p:nvPr/>
        </p:nvGraphicFramePr>
        <p:xfrm>
          <a:off x="4956175" y="3209925"/>
          <a:ext cx="32416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701" name="公式" r:id="rId7" imgW="3441600" imgH="914400" progId="Equation.3">
                  <p:embed/>
                </p:oleObj>
              </mc:Choice>
              <mc:Fallback>
                <p:oleObj name="公式" r:id="rId7" imgW="3441600" imgH="9144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209925"/>
                        <a:ext cx="32416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31" name="Object 27"/>
          <p:cNvGraphicFramePr>
            <a:graphicFrameLocks noChangeAspect="1"/>
          </p:cNvGraphicFramePr>
          <p:nvPr/>
        </p:nvGraphicFramePr>
        <p:xfrm>
          <a:off x="4972050" y="4219575"/>
          <a:ext cx="30257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702" name="公式" r:id="rId9" imgW="3187440" imgH="469800" progId="Equation.3">
                  <p:embed/>
                </p:oleObj>
              </mc:Choice>
              <mc:Fallback>
                <p:oleObj name="公式" r:id="rId9" imgW="3187440" imgH="4698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4219575"/>
                        <a:ext cx="30257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1132" name="Group 28"/>
          <p:cNvGrpSpPr>
            <a:grpSpLocks/>
          </p:cNvGrpSpPr>
          <p:nvPr/>
        </p:nvGrpSpPr>
        <p:grpSpPr bwMode="auto">
          <a:xfrm>
            <a:off x="1832429" y="5594649"/>
            <a:ext cx="4392616" cy="415925"/>
            <a:chOff x="956" y="3573"/>
            <a:chExt cx="2767" cy="262"/>
          </a:xfrm>
        </p:grpSpPr>
        <p:graphicFrame>
          <p:nvGraphicFramePr>
            <p:cNvPr id="431133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8894558"/>
                </p:ext>
              </p:extLst>
            </p:nvPr>
          </p:nvGraphicFramePr>
          <p:xfrm>
            <a:off x="956" y="3573"/>
            <a:ext cx="36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703" name="Equation" r:id="rId11" imgW="583920" imgH="406080" progId="Equation.DSMT4">
                    <p:embed/>
                  </p:oleObj>
                </mc:Choice>
                <mc:Fallback>
                  <p:oleObj name="Equation" r:id="rId11" imgW="583920" imgH="40608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3573"/>
                          <a:ext cx="36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1134" name="Text Box 30"/>
            <p:cNvSpPr txBox="1">
              <a:spLocks noChangeArrowheads="1"/>
            </p:cNvSpPr>
            <p:nvPr/>
          </p:nvSpPr>
          <p:spPr bwMode="auto">
            <a:xfrm>
              <a:off x="1258" y="3583"/>
              <a:ext cx="246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 smtClean="0"/>
                <a:t>：模为 </a:t>
              </a:r>
              <a:r>
                <a:rPr lang="en-US" altLang="zh-CN" sz="2000" dirty="0" smtClean="0"/>
                <a:t>1</a:t>
              </a:r>
              <a:r>
                <a:rPr lang="zh-CN" altLang="en-US" sz="2000" dirty="0"/>
                <a:t>、幅角</a:t>
              </a:r>
              <a:r>
                <a:rPr lang="zh-CN" altLang="en-US" sz="2000" dirty="0" smtClean="0"/>
                <a:t>为 </a:t>
              </a:r>
              <a:r>
                <a:rPr lang="zh-CN" altLang="en-US" sz="2000" i="1" dirty="0" smtClean="0">
                  <a:sym typeface="Symbol" pitchFamily="18" charset="2"/>
                </a:rPr>
                <a:t></a:t>
              </a:r>
              <a:r>
                <a:rPr lang="zh-CN" altLang="en-US" sz="800" i="1" dirty="0" smtClean="0">
                  <a:sym typeface="Symbol" pitchFamily="18" charset="2"/>
                </a:rPr>
                <a:t> </a:t>
              </a:r>
              <a:r>
                <a:rPr lang="en-US" altLang="zh-CN" sz="2000" i="1" dirty="0" smtClean="0">
                  <a:sym typeface="Symbol" pitchFamily="18" charset="2"/>
                </a:rPr>
                <a:t>t </a:t>
              </a:r>
              <a:r>
                <a:rPr lang="zh-CN" altLang="en-US" sz="2000" dirty="0" smtClean="0">
                  <a:sym typeface="Symbol" pitchFamily="18" charset="2"/>
                </a:rPr>
                <a:t>的</a:t>
              </a:r>
              <a:r>
                <a:rPr lang="zh-CN" altLang="en-US" sz="2000" dirty="0" smtClean="0"/>
                <a:t>旋转相量</a:t>
              </a:r>
              <a:endParaRPr lang="zh-CN" altLang="en-US" sz="2000" dirty="0"/>
            </a:p>
          </p:txBody>
        </p:sp>
      </p:grpSp>
      <p:sp>
        <p:nvSpPr>
          <p:cNvPr id="431135" name="Rectangle 31"/>
          <p:cNvSpPr>
            <a:spLocks noChangeArrowheads="1"/>
          </p:cNvSpPr>
          <p:nvPr/>
        </p:nvSpPr>
        <p:spPr bwMode="auto">
          <a:xfrm>
            <a:off x="666752" y="2478090"/>
            <a:ext cx="740567" cy="990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000" i="1" dirty="0" smtClean="0"/>
              <a:t> </a:t>
            </a:r>
            <a:r>
              <a:rPr lang="en-US" altLang="zh-CN" sz="2000" i="1" dirty="0" err="1" smtClean="0"/>
              <a:t>jA</a:t>
            </a:r>
            <a:endParaRPr lang="en-US" altLang="zh-CN" sz="2000" i="1" dirty="0"/>
          </a:p>
        </p:txBody>
      </p:sp>
      <p:sp>
        <p:nvSpPr>
          <p:cNvPr id="431136" name="AutoShape 32"/>
          <p:cNvSpPr>
            <a:spLocks noChangeArrowheads="1"/>
          </p:cNvSpPr>
          <p:nvPr/>
        </p:nvSpPr>
        <p:spPr bwMode="auto">
          <a:xfrm>
            <a:off x="5698672" y="1895475"/>
            <a:ext cx="1447800" cy="533400"/>
          </a:xfrm>
          <a:prstGeom prst="wedgeRoundRectCallout">
            <a:avLst>
              <a:gd name="adj1" fmla="val -52741"/>
              <a:gd name="adj2" fmla="val 89115"/>
              <a:gd name="adj3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zh-CN" altLang="en-US" sz="2000" b="0"/>
              <a:t>欧拉公式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5826" y="4317623"/>
            <a:ext cx="1807628" cy="477459"/>
            <a:chOff x="105826" y="4317623"/>
            <a:chExt cx="1807628" cy="477459"/>
          </a:xfrm>
        </p:grpSpPr>
        <p:sp>
          <p:nvSpPr>
            <p:cNvPr id="431128" name="Text Box 24"/>
            <p:cNvSpPr txBox="1">
              <a:spLocks noChangeArrowheads="1"/>
            </p:cNvSpPr>
            <p:nvPr/>
          </p:nvSpPr>
          <p:spPr bwMode="auto">
            <a:xfrm>
              <a:off x="105826" y="4395032"/>
              <a:ext cx="49688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 smtClean="0">
                  <a:solidFill>
                    <a:srgbClr val="CC3300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i="1" dirty="0" smtClean="0">
                  <a:solidFill>
                    <a:srgbClr val="CC3300"/>
                  </a:solidFill>
                </a:rPr>
                <a:t>A</a:t>
              </a:r>
              <a:endParaRPr lang="en-US" altLang="zh-CN" sz="2000" i="1" dirty="0"/>
            </a:p>
          </p:txBody>
        </p:sp>
        <p:sp>
          <p:nvSpPr>
            <p:cNvPr id="33" name="Line 12"/>
            <p:cNvSpPr>
              <a:spLocks noChangeShapeType="1"/>
            </p:cNvSpPr>
            <p:nvPr/>
          </p:nvSpPr>
          <p:spPr bwMode="auto">
            <a:xfrm flipH="1">
              <a:off x="465653" y="4317623"/>
              <a:ext cx="1447801" cy="43815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3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3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3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3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7" grpId="0" autoUpdateAnimBg="0"/>
      <p:bldP spid="431108" grpId="0" autoUpdateAnimBg="0"/>
      <p:bldP spid="431109" grpId="0" autoUpdateAnimBg="0"/>
      <p:bldP spid="431135" grpId="0" animBg="1" autoUpdateAnimBg="0"/>
      <p:bldP spid="431136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800100" y="952500"/>
            <a:ext cx="28085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 smtClean="0"/>
              <a:t>构造一</a:t>
            </a:r>
            <a:r>
              <a:rPr lang="zh-CN" altLang="en-US" sz="2000" dirty="0"/>
              <a:t>个复指数函数</a:t>
            </a:r>
          </a:p>
        </p:txBody>
      </p:sp>
      <p:graphicFrame>
        <p:nvGraphicFramePr>
          <p:cNvPr id="432133" name="Object 5"/>
          <p:cNvGraphicFramePr>
            <a:graphicFrameLocks noChangeAspect="1"/>
          </p:cNvGraphicFramePr>
          <p:nvPr/>
        </p:nvGraphicFramePr>
        <p:xfrm>
          <a:off x="3894138" y="954088"/>
          <a:ext cx="43529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722" name="Equation" r:id="rId3" imgW="1879560" imgH="419040" progId="Equation.DSMT4">
                  <p:embed/>
                </p:oleObj>
              </mc:Choice>
              <mc:Fallback>
                <p:oleObj name="Equation" r:id="rId3" imgW="1879560" imgH="419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138" y="954088"/>
                        <a:ext cx="43529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34" name="Text Box 6"/>
          <p:cNvSpPr txBox="1">
            <a:spLocks noChangeArrowheads="1"/>
          </p:cNvSpPr>
          <p:nvPr/>
        </p:nvSpPr>
        <p:spPr bwMode="auto">
          <a:xfrm>
            <a:off x="800100" y="3244850"/>
            <a:ext cx="230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/>
              <a:t> </a:t>
            </a:r>
            <a:r>
              <a:rPr lang="zh-CN" altLang="en-US" sz="2000" dirty="0"/>
              <a:t>若对 </a:t>
            </a:r>
            <a:r>
              <a:rPr lang="en-US" altLang="zh-CN" sz="2000" i="1" dirty="0"/>
              <a:t>A</a:t>
            </a:r>
            <a:r>
              <a:rPr lang="en-US" altLang="zh-CN" sz="2000" dirty="0"/>
              <a:t>(</a:t>
            </a:r>
            <a:r>
              <a:rPr lang="en-US" altLang="zh-CN" sz="2000" i="1" dirty="0"/>
              <a:t>t</a:t>
            </a:r>
            <a:r>
              <a:rPr lang="en-US" altLang="zh-CN" sz="2000" dirty="0"/>
              <a:t>) </a:t>
            </a:r>
            <a:r>
              <a:rPr lang="zh-CN" altLang="en-US" sz="2000" dirty="0"/>
              <a:t>取虚部：</a:t>
            </a:r>
          </a:p>
        </p:txBody>
      </p:sp>
      <p:grpSp>
        <p:nvGrpSpPr>
          <p:cNvPr id="432135" name="Group 7"/>
          <p:cNvGrpSpPr>
            <a:grpSpLocks/>
          </p:cNvGrpSpPr>
          <p:nvPr/>
        </p:nvGrpSpPr>
        <p:grpSpPr bwMode="auto">
          <a:xfrm>
            <a:off x="1492250" y="3652841"/>
            <a:ext cx="5287963" cy="428625"/>
            <a:chOff x="916" y="1705"/>
            <a:chExt cx="3331" cy="270"/>
          </a:xfrm>
        </p:grpSpPr>
        <p:sp>
          <p:nvSpPr>
            <p:cNvPr id="432136" name="Rectangle 8"/>
            <p:cNvSpPr>
              <a:spLocks noChangeArrowheads="1"/>
            </p:cNvSpPr>
            <p:nvPr/>
          </p:nvSpPr>
          <p:spPr bwMode="auto">
            <a:xfrm>
              <a:off x="2964" y="1714"/>
              <a:ext cx="12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dirty="0"/>
                <a:t> </a:t>
              </a:r>
              <a:r>
                <a:rPr lang="zh-CN" altLang="en-US" sz="2000" dirty="0"/>
                <a:t>也是一个正弦量</a:t>
              </a:r>
            </a:p>
          </p:txBody>
        </p:sp>
        <p:graphicFrame>
          <p:nvGraphicFramePr>
            <p:cNvPr id="432137" name="Object 9"/>
            <p:cNvGraphicFramePr>
              <a:graphicFrameLocks noChangeAspect="1"/>
            </p:cNvGraphicFramePr>
            <p:nvPr/>
          </p:nvGraphicFramePr>
          <p:xfrm>
            <a:off x="916" y="1705"/>
            <a:ext cx="188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723" name="Equation" r:id="rId5" imgW="1409400" imgH="203040" progId="Equation.DSMT4">
                    <p:embed/>
                  </p:oleObj>
                </mc:Choice>
                <mc:Fallback>
                  <p:oleObj name="Equation" r:id="rId5" imgW="1409400" imgH="2030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6" y="1705"/>
                          <a:ext cx="1888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2138" name="Text Box 10"/>
          <p:cNvSpPr txBox="1">
            <a:spLocks noChangeArrowheads="1"/>
          </p:cNvSpPr>
          <p:nvPr/>
        </p:nvSpPr>
        <p:spPr bwMode="auto">
          <a:xfrm>
            <a:off x="800100" y="4287834"/>
            <a:ext cx="784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spcBef>
                <a:spcPct val="0"/>
              </a:spcBef>
            </a:pPr>
            <a:r>
              <a:rPr lang="zh-CN" altLang="en-US" sz="2000" dirty="0"/>
              <a:t>任意一个正弦时间函数都可以找到唯一的与其对应的复指数函数：</a:t>
            </a:r>
          </a:p>
        </p:txBody>
      </p:sp>
      <p:sp>
        <p:nvSpPr>
          <p:cNvPr id="432139" name="Text Box 11"/>
          <p:cNvSpPr txBox="1">
            <a:spLocks noChangeArrowheads="1"/>
          </p:cNvSpPr>
          <p:nvPr/>
        </p:nvSpPr>
        <p:spPr bwMode="auto">
          <a:xfrm>
            <a:off x="1323975" y="5553075"/>
            <a:ext cx="2203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i="1"/>
              <a:t>A</a:t>
            </a:r>
            <a:r>
              <a:rPr lang="en-US" altLang="zh-CN" sz="2000"/>
              <a:t>(</a:t>
            </a:r>
            <a:r>
              <a:rPr lang="en-US" altLang="zh-CN" sz="2000" i="1"/>
              <a:t>t</a:t>
            </a:r>
            <a:r>
              <a:rPr lang="en-US" altLang="zh-CN" sz="2000"/>
              <a:t>)</a:t>
            </a:r>
            <a:r>
              <a:rPr lang="zh-CN" altLang="en-US" sz="2000"/>
              <a:t>还可以写成</a:t>
            </a:r>
          </a:p>
        </p:txBody>
      </p:sp>
      <p:sp>
        <p:nvSpPr>
          <p:cNvPr id="432140" name="Rectangle 12"/>
          <p:cNvSpPr>
            <a:spLocks noChangeArrowheads="1"/>
          </p:cNvSpPr>
          <p:nvPr/>
        </p:nvSpPr>
        <p:spPr bwMode="auto">
          <a:xfrm>
            <a:off x="6229350" y="6102350"/>
            <a:ext cx="1501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 smtClean="0">
                <a:solidFill>
                  <a:srgbClr val="FF3300"/>
                </a:solidFill>
              </a:rPr>
              <a:t>旋转相量</a:t>
            </a:r>
            <a:endParaRPr lang="zh-CN" altLang="en-US" sz="2000" dirty="0"/>
          </a:p>
        </p:txBody>
      </p:sp>
      <p:graphicFrame>
        <p:nvGraphicFramePr>
          <p:cNvPr id="432141" name="Object 13"/>
          <p:cNvGraphicFramePr>
            <a:graphicFrameLocks noChangeAspect="1"/>
          </p:cNvGraphicFramePr>
          <p:nvPr/>
        </p:nvGraphicFramePr>
        <p:xfrm>
          <a:off x="1679575" y="4727575"/>
          <a:ext cx="52879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724" name="Equation" r:id="rId7" imgW="2336760" imgH="228600" progId="Equation.DSMT4">
                  <p:embed/>
                </p:oleObj>
              </mc:Choice>
              <mc:Fallback>
                <p:oleObj name="Equation" r:id="rId7" imgW="233676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4727575"/>
                        <a:ext cx="52879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2142" name="Group 14"/>
          <p:cNvGrpSpPr>
            <a:grpSpLocks/>
          </p:cNvGrpSpPr>
          <p:nvPr/>
        </p:nvGrpSpPr>
        <p:grpSpPr bwMode="auto">
          <a:xfrm>
            <a:off x="4629150" y="5427663"/>
            <a:ext cx="1168400" cy="1135062"/>
            <a:chOff x="3072" y="3264"/>
            <a:chExt cx="688" cy="715"/>
          </a:xfrm>
        </p:grpSpPr>
        <p:graphicFrame>
          <p:nvGraphicFramePr>
            <p:cNvPr id="432143" name="Object 15"/>
            <p:cNvGraphicFramePr>
              <a:graphicFrameLocks noChangeAspect="1"/>
            </p:cNvGraphicFramePr>
            <p:nvPr/>
          </p:nvGraphicFramePr>
          <p:xfrm>
            <a:off x="3535" y="3264"/>
            <a:ext cx="225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725" name="公式" r:id="rId9" imgW="177480" imgH="368280" progId="Equation.3">
                    <p:embed/>
                  </p:oleObj>
                </mc:Choice>
                <mc:Fallback>
                  <p:oleObj name="公式" r:id="rId9" imgW="177480" imgH="3682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5" y="3264"/>
                          <a:ext cx="225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2144" name="AutoShape 16"/>
            <p:cNvSpPr>
              <a:spLocks/>
            </p:cNvSpPr>
            <p:nvPr/>
          </p:nvSpPr>
          <p:spPr bwMode="auto">
            <a:xfrm rot="-5400000">
              <a:off x="3360" y="3569"/>
              <a:ext cx="96" cy="240"/>
            </a:xfrm>
            <a:prstGeom prst="leftBrace">
              <a:avLst>
                <a:gd name="adj1" fmla="val 20833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2145" name="Rectangle 17"/>
            <p:cNvSpPr>
              <a:spLocks noChangeArrowheads="1"/>
            </p:cNvSpPr>
            <p:nvPr/>
          </p:nvSpPr>
          <p:spPr bwMode="auto">
            <a:xfrm>
              <a:off x="3072" y="3729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zh-CN" altLang="zh-CN" sz="2000">
                  <a:solidFill>
                    <a:srgbClr val="3333FF"/>
                  </a:solidFill>
                  <a:latin typeface="Symbol" pitchFamily="18" charset="2"/>
                </a:rPr>
                <a:t>复常数</a:t>
              </a:r>
              <a:endParaRPr lang="zh-CN" altLang="en-US" sz="2000">
                <a:solidFill>
                  <a:srgbClr val="3333FF"/>
                </a:solidFill>
                <a:latin typeface="Symbol" pitchFamily="18" charset="2"/>
              </a:endParaRPr>
            </a:p>
          </p:txBody>
        </p:sp>
      </p:grpSp>
      <p:graphicFrame>
        <p:nvGraphicFramePr>
          <p:cNvPr id="4321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887097"/>
              </p:ext>
            </p:extLst>
          </p:nvPr>
        </p:nvGraphicFramePr>
        <p:xfrm>
          <a:off x="3883025" y="5472113"/>
          <a:ext cx="2308225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726" name="Equation" r:id="rId11" imgW="863280" imgH="215640" progId="Equation.DSMT4">
                  <p:embed/>
                </p:oleObj>
              </mc:Choice>
              <mc:Fallback>
                <p:oleObj name="Equation" r:id="rId11" imgW="863280" imgH="2156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3025" y="5472113"/>
                        <a:ext cx="2308225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51" name="Text Box 23"/>
          <p:cNvSpPr txBox="1">
            <a:spLocks noChangeArrowheads="1"/>
          </p:cNvSpPr>
          <p:nvPr/>
        </p:nvSpPr>
        <p:spPr bwMode="auto">
          <a:xfrm>
            <a:off x="361950" y="266700"/>
            <a:ext cx="423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>
                <a:solidFill>
                  <a:srgbClr val="990033"/>
                </a:solidFill>
              </a:rPr>
              <a:t>二、</a:t>
            </a:r>
            <a:r>
              <a:rPr lang="en-US" altLang="zh-CN" dirty="0" smtClean="0">
                <a:solidFill>
                  <a:srgbClr val="990033"/>
                </a:solidFill>
              </a:rPr>
              <a:t> </a:t>
            </a:r>
            <a:r>
              <a:rPr lang="zh-CN" altLang="en-US" dirty="0" smtClean="0">
                <a:solidFill>
                  <a:srgbClr val="990033"/>
                </a:solidFill>
              </a:rPr>
              <a:t>正弦量的相量表示</a:t>
            </a:r>
            <a:endParaRPr lang="zh-CN" altLang="en-US" dirty="0">
              <a:solidFill>
                <a:srgbClr val="990033"/>
              </a:solidFill>
            </a:endParaRPr>
          </a:p>
        </p:txBody>
      </p:sp>
      <p:graphicFrame>
        <p:nvGraphicFramePr>
          <p:cNvPr id="432165" name="Object 37"/>
          <p:cNvGraphicFramePr>
            <a:graphicFrameLocks noChangeAspect="1"/>
          </p:cNvGraphicFramePr>
          <p:nvPr/>
        </p:nvGraphicFramePr>
        <p:xfrm>
          <a:off x="1417638" y="2430463"/>
          <a:ext cx="30972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727" name="Equation" r:id="rId13" imgW="1498320" imgH="241200" progId="Equation.DSMT4">
                  <p:embed/>
                </p:oleObj>
              </mc:Choice>
              <mc:Fallback>
                <p:oleObj name="Equation" r:id="rId13" imgW="1498320" imgH="2412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2430463"/>
                        <a:ext cx="309721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67" name="Text Box 39"/>
          <p:cNvSpPr txBox="1">
            <a:spLocks noChangeArrowheads="1"/>
          </p:cNvSpPr>
          <p:nvPr/>
        </p:nvSpPr>
        <p:spPr bwMode="auto">
          <a:xfrm>
            <a:off x="800100" y="1997075"/>
            <a:ext cx="23374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/>
              <a:t> </a:t>
            </a:r>
            <a:r>
              <a:rPr lang="zh-CN" altLang="en-US" sz="2000" dirty="0"/>
              <a:t>若</a:t>
            </a:r>
            <a:r>
              <a:rPr lang="zh-CN" altLang="en-US" sz="2000" dirty="0" smtClean="0"/>
              <a:t>对 </a:t>
            </a:r>
            <a:r>
              <a:rPr lang="en-US" altLang="zh-CN" sz="2000" i="1" dirty="0" smtClean="0"/>
              <a:t>A</a:t>
            </a:r>
            <a:r>
              <a:rPr lang="en-US" altLang="zh-CN" sz="2000" dirty="0" smtClean="0"/>
              <a:t>(</a:t>
            </a:r>
            <a:r>
              <a:rPr lang="en-US" altLang="zh-CN" sz="2000" i="1" dirty="0" smtClean="0"/>
              <a:t>t</a:t>
            </a:r>
            <a:r>
              <a:rPr lang="en-US" altLang="zh-CN" sz="2000" dirty="0" smtClean="0"/>
              <a:t>) </a:t>
            </a:r>
            <a:r>
              <a:rPr lang="zh-CN" altLang="en-US" sz="2000" dirty="0" smtClean="0"/>
              <a:t>取</a:t>
            </a:r>
            <a:r>
              <a:rPr lang="zh-CN" altLang="en-US" sz="2000" dirty="0"/>
              <a:t>实部：</a:t>
            </a:r>
          </a:p>
        </p:txBody>
      </p:sp>
      <p:sp>
        <p:nvSpPr>
          <p:cNvPr id="432168" name="Text Box 40"/>
          <p:cNvSpPr txBox="1">
            <a:spLocks noChangeArrowheads="1"/>
          </p:cNvSpPr>
          <p:nvPr/>
        </p:nvSpPr>
        <p:spPr bwMode="auto">
          <a:xfrm>
            <a:off x="4781550" y="2457450"/>
            <a:ext cx="2352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/>
              <a:t>是一个正弦量</a:t>
            </a: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5957887" y="5908675"/>
            <a:ext cx="357188" cy="23495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3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3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2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2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3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32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2" grpId="0" autoUpdateAnimBg="0"/>
      <p:bldP spid="432134" grpId="0" autoUpdateAnimBg="0"/>
      <p:bldP spid="432138" grpId="0" autoUpdateAnimBg="0"/>
      <p:bldP spid="432139" grpId="0" autoUpdateAnimBg="0"/>
      <p:bldP spid="432140" grpId="0"/>
      <p:bldP spid="432167" grpId="0"/>
      <p:bldP spid="4321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31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610960"/>
              </p:ext>
            </p:extLst>
          </p:nvPr>
        </p:nvGraphicFramePr>
        <p:xfrm>
          <a:off x="982663" y="625475"/>
          <a:ext cx="2408237" cy="507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731" name="Equation" r:id="rId3" imgW="1015920" imgH="215640" progId="Equation.DSMT4">
                  <p:embed/>
                </p:oleObj>
              </mc:Choice>
              <mc:Fallback>
                <p:oleObj name="Equation" r:id="rId3" imgW="1015920" imgH="215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625475"/>
                        <a:ext cx="2408237" cy="507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773823"/>
              </p:ext>
            </p:extLst>
          </p:nvPr>
        </p:nvGraphicFramePr>
        <p:xfrm>
          <a:off x="3784600" y="619125"/>
          <a:ext cx="37607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732" name="Equation" r:id="rId5" imgW="1562040" imgH="215640" progId="Equation.DSMT4">
                  <p:embed/>
                </p:oleObj>
              </mc:Choice>
              <mc:Fallback>
                <p:oleObj name="Equation" r:id="rId5" imgW="1562040" imgH="215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619125"/>
                        <a:ext cx="37607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56" name="Text Box 4"/>
          <p:cNvSpPr txBox="1">
            <a:spLocks noChangeArrowheads="1"/>
          </p:cNvSpPr>
          <p:nvPr/>
        </p:nvSpPr>
        <p:spPr bwMode="auto">
          <a:xfrm>
            <a:off x="590550" y="1352550"/>
            <a:ext cx="1044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accent2"/>
                </a:solidFill>
              </a:rPr>
              <a:t>相量</a:t>
            </a:r>
            <a:endParaRPr lang="zh-CN" altLang="en-US" dirty="0"/>
          </a:p>
        </p:txBody>
      </p:sp>
      <p:grpSp>
        <p:nvGrpSpPr>
          <p:cNvPr id="433157" name="Group 5"/>
          <p:cNvGrpSpPr>
            <a:grpSpLocks/>
          </p:cNvGrpSpPr>
          <p:nvPr/>
        </p:nvGrpSpPr>
        <p:grpSpPr bwMode="auto">
          <a:xfrm>
            <a:off x="1276350" y="1974850"/>
            <a:ext cx="4724400" cy="558800"/>
            <a:chOff x="528" y="104"/>
            <a:chExt cx="2976" cy="352"/>
          </a:xfrm>
        </p:grpSpPr>
        <p:sp>
          <p:nvSpPr>
            <p:cNvPr id="433158" name="Text Box 6"/>
            <p:cNvSpPr txBox="1">
              <a:spLocks noChangeArrowheads="1"/>
            </p:cNvSpPr>
            <p:nvPr/>
          </p:nvSpPr>
          <p:spPr bwMode="auto">
            <a:xfrm>
              <a:off x="528" y="192"/>
              <a:ext cx="29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zh-CN" altLang="zh-CN" sz="2000" dirty="0"/>
                <a:t>称                   </a:t>
              </a:r>
              <a:r>
                <a:rPr lang="zh-CN" altLang="en-US" sz="2000" dirty="0"/>
                <a:t>为正弦量 </a:t>
              </a:r>
              <a:r>
                <a:rPr lang="en-US" altLang="zh-CN" sz="2000" i="1" dirty="0"/>
                <a:t>v</a:t>
              </a:r>
              <a:r>
                <a:rPr lang="en-US" altLang="zh-CN" sz="2000" dirty="0"/>
                <a:t>(</a:t>
              </a:r>
              <a:r>
                <a:rPr lang="en-US" altLang="zh-CN" sz="2000" i="1" dirty="0"/>
                <a:t>t</a:t>
              </a:r>
              <a:r>
                <a:rPr lang="en-US" altLang="zh-CN" sz="2000" dirty="0"/>
                <a:t>) </a:t>
              </a:r>
              <a:r>
                <a:rPr lang="zh-CN" altLang="en-US" sz="2000" dirty="0"/>
                <a:t>对应的相量。</a:t>
              </a:r>
            </a:p>
          </p:txBody>
        </p:sp>
        <p:graphicFrame>
          <p:nvGraphicFramePr>
            <p:cNvPr id="43315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8249116"/>
                </p:ext>
              </p:extLst>
            </p:nvPr>
          </p:nvGraphicFramePr>
          <p:xfrm>
            <a:off x="754" y="104"/>
            <a:ext cx="887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3733" name="Equation" r:id="rId7" imgW="698400" imgH="279360" progId="Equation.DSMT4">
                    <p:embed/>
                  </p:oleObj>
                </mc:Choice>
                <mc:Fallback>
                  <p:oleObj name="Equation" r:id="rId7" imgW="698400" imgH="27936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" y="104"/>
                          <a:ext cx="887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3160" name="Rectangle 8"/>
          <p:cNvSpPr>
            <a:spLocks noChangeArrowheads="1"/>
          </p:cNvSpPr>
          <p:nvPr/>
        </p:nvSpPr>
        <p:spPr bwMode="auto">
          <a:xfrm>
            <a:off x="1276350" y="2914650"/>
            <a:ext cx="640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Symbol" pitchFamily="18" charset="2"/>
              </a:rPr>
              <a:t>相量包含了正弦量的</a:t>
            </a:r>
            <a:r>
              <a:rPr lang="zh-CN" altLang="en-US" sz="2000" dirty="0">
                <a:latin typeface="Symbol" pitchFamily="18" charset="2"/>
              </a:rPr>
              <a:t>两个</a:t>
            </a:r>
            <a:r>
              <a:rPr lang="zh-CN" altLang="zh-CN" sz="2000" dirty="0">
                <a:latin typeface="Symbol" pitchFamily="18" charset="2"/>
              </a:rPr>
              <a:t>要素 </a:t>
            </a:r>
            <a:r>
              <a:rPr lang="en-US" altLang="zh-CN" sz="2000" i="1" dirty="0" err="1"/>
              <a:t>V</a:t>
            </a:r>
            <a:r>
              <a:rPr lang="en-US" altLang="zh-CN" sz="2000" i="1" baseline="-25000" dirty="0" err="1"/>
              <a:t>m</a:t>
            </a:r>
            <a:r>
              <a:rPr lang="en-US" altLang="zh-CN" sz="2000" i="1" baseline="-25000" dirty="0"/>
              <a:t> </a:t>
            </a:r>
            <a:r>
              <a:rPr lang="en-US" altLang="zh-CN" sz="2000" dirty="0"/>
              <a:t>, </a:t>
            </a:r>
            <a:r>
              <a:rPr lang="en-US" altLang="zh-CN" sz="2000" i="1" dirty="0">
                <a:latin typeface="Symbol" pitchFamily="18" charset="2"/>
                <a:sym typeface="Symbol" pitchFamily="18" charset="2"/>
              </a:rPr>
              <a:t>q</a:t>
            </a:r>
          </a:p>
        </p:txBody>
      </p:sp>
      <p:sp>
        <p:nvSpPr>
          <p:cNvPr id="433161" name="Rectangle 9"/>
          <p:cNvSpPr>
            <a:spLocks noChangeArrowheads="1"/>
          </p:cNvSpPr>
          <p:nvPr/>
        </p:nvSpPr>
        <p:spPr bwMode="auto">
          <a:xfrm>
            <a:off x="4816929" y="5441950"/>
            <a:ext cx="324984" cy="493486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33162" name="Text Box 10"/>
          <p:cNvSpPr txBox="1">
            <a:spLocks noChangeArrowheads="1"/>
          </p:cNvSpPr>
          <p:nvPr/>
        </p:nvSpPr>
        <p:spPr bwMode="auto">
          <a:xfrm>
            <a:off x="726620" y="3676650"/>
            <a:ext cx="78649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52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000" dirty="0">
                <a:latin typeface="Symbol" pitchFamily="18" charset="2"/>
              </a:rPr>
              <a:t>同样可以建立正弦电压与相量的对应关系：</a:t>
            </a:r>
          </a:p>
        </p:txBody>
      </p:sp>
      <p:graphicFrame>
        <p:nvGraphicFramePr>
          <p:cNvPr id="4331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634822"/>
              </p:ext>
            </p:extLst>
          </p:nvPr>
        </p:nvGraphicFramePr>
        <p:xfrm>
          <a:off x="1971675" y="4311650"/>
          <a:ext cx="5080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734" name="Equation" r:id="rId9" imgW="2222280" imgH="279360" progId="Equation.DSMT4">
                  <p:embed/>
                </p:oleObj>
              </mc:Choice>
              <mc:Fallback>
                <p:oleObj name="Equation" r:id="rId9" imgW="2222280" imgH="2793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4311650"/>
                        <a:ext cx="5080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374442"/>
              </p:ext>
            </p:extLst>
          </p:nvPr>
        </p:nvGraphicFramePr>
        <p:xfrm>
          <a:off x="3276600" y="5405438"/>
          <a:ext cx="27225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735" name="Equation" r:id="rId11" imgW="927000" imgH="215640" progId="Equation.DSMT4">
                  <p:embed/>
                </p:oleObj>
              </mc:Choice>
              <mc:Fallback>
                <p:oleObj name="Equation" r:id="rId11" imgW="927000" imgH="2156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405438"/>
                        <a:ext cx="27225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69" name="Text Box 17"/>
          <p:cNvSpPr txBox="1">
            <a:spLocks noChangeArrowheads="1"/>
          </p:cNvSpPr>
          <p:nvPr/>
        </p:nvSpPr>
        <p:spPr bwMode="auto">
          <a:xfrm>
            <a:off x="1380264" y="5257740"/>
            <a:ext cx="811143" cy="400110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注意：</a:t>
            </a:r>
            <a:endParaRPr lang="zh-CN" alt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6" grpId="0" autoUpdateAnimBg="0"/>
      <p:bldP spid="433160" grpId="0" autoUpdateAnimBg="0"/>
      <p:bldP spid="433161" grpId="0" animBg="1"/>
      <p:bldP spid="433162" grpId="0" autoUpdateAnimBg="0"/>
      <p:bldP spid="433169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Text Box 2"/>
          <p:cNvSpPr txBox="1">
            <a:spLocks noChangeArrowheads="1"/>
          </p:cNvSpPr>
          <p:nvPr/>
        </p:nvSpPr>
        <p:spPr bwMode="auto">
          <a:xfrm>
            <a:off x="609600" y="457200"/>
            <a:ext cx="7219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 smtClean="0">
                <a:solidFill>
                  <a:schemeClr val="accent6"/>
                </a:solidFill>
              </a:rPr>
              <a:t>1</a:t>
            </a:r>
            <a:r>
              <a:rPr lang="zh-CN" altLang="en-US" sz="2000" dirty="0" smtClean="0">
                <a:solidFill>
                  <a:schemeClr val="accent6"/>
                </a:solidFill>
              </a:rPr>
              <a:t>、旋转相量</a:t>
            </a:r>
            <a:r>
              <a:rPr lang="zh-CN" altLang="en-US" sz="2000" dirty="0">
                <a:solidFill>
                  <a:schemeClr val="accent6"/>
                </a:solidFill>
              </a:rPr>
              <a:t>与正弦时间函数对应关系的几何意义</a:t>
            </a:r>
          </a:p>
        </p:txBody>
      </p:sp>
      <p:graphicFrame>
        <p:nvGraphicFramePr>
          <p:cNvPr id="4341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40992"/>
              </p:ext>
            </p:extLst>
          </p:nvPr>
        </p:nvGraphicFramePr>
        <p:xfrm>
          <a:off x="1116012" y="1175395"/>
          <a:ext cx="73675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94" name="Equation" r:id="rId3" imgW="3632040" imgH="215640" progId="Equation.DSMT4">
                  <p:embed/>
                </p:oleObj>
              </mc:Choice>
              <mc:Fallback>
                <p:oleObj name="Equation" r:id="rId3" imgW="3632040" imgH="215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2" y="1175395"/>
                        <a:ext cx="7367587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1" name="Text Box 5"/>
          <p:cNvSpPr txBox="1">
            <a:spLocks noChangeArrowheads="1"/>
          </p:cNvSpPr>
          <p:nvPr/>
        </p:nvSpPr>
        <p:spPr bwMode="auto">
          <a:xfrm>
            <a:off x="1116012" y="3036888"/>
            <a:ext cx="4275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dirty="0"/>
              <a:t>正弦时间</a:t>
            </a:r>
            <a:r>
              <a:rPr lang="zh-CN" altLang="en-US" sz="2000" dirty="0" smtClean="0"/>
              <a:t>函数                                   是</a:t>
            </a:r>
            <a:endParaRPr lang="zh-CN" altLang="en-US" sz="2000" dirty="0"/>
          </a:p>
        </p:txBody>
      </p:sp>
      <p:graphicFrame>
        <p:nvGraphicFramePr>
          <p:cNvPr id="434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762851"/>
              </p:ext>
            </p:extLst>
          </p:nvPr>
        </p:nvGraphicFramePr>
        <p:xfrm>
          <a:off x="2808669" y="3008313"/>
          <a:ext cx="21145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95" name="Equation" r:id="rId5" imgW="939600" imgH="203040" progId="Equation.DSMT4">
                  <p:embed/>
                </p:oleObj>
              </mc:Choice>
              <mc:Fallback>
                <p:oleObj name="Equation" r:id="rId5" imgW="93960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669" y="3008313"/>
                        <a:ext cx="21145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3" name="Text Box 7"/>
          <p:cNvSpPr txBox="1">
            <a:spLocks noChangeArrowheads="1"/>
          </p:cNvSpPr>
          <p:nvPr/>
        </p:nvSpPr>
        <p:spPr bwMode="auto">
          <a:xfrm>
            <a:off x="590550" y="3643313"/>
            <a:ext cx="2093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dirty="0" smtClean="0"/>
              <a:t>旋转相量</a:t>
            </a:r>
            <a:endParaRPr lang="zh-CN" altLang="en-US" sz="2000" dirty="0"/>
          </a:p>
        </p:txBody>
      </p:sp>
      <p:graphicFrame>
        <p:nvGraphicFramePr>
          <p:cNvPr id="434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984411"/>
              </p:ext>
            </p:extLst>
          </p:nvPr>
        </p:nvGraphicFramePr>
        <p:xfrm>
          <a:off x="1801813" y="3595688"/>
          <a:ext cx="11684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96" name="Equation" r:id="rId7" imgW="507960" imgH="215640" progId="Equation.DSMT4">
                  <p:embed/>
                </p:oleObj>
              </mc:Choice>
              <mc:Fallback>
                <p:oleObj name="Equation" r:id="rId7" imgW="507960" imgH="215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3595688"/>
                        <a:ext cx="11684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5" name="Text Box 9"/>
          <p:cNvSpPr txBox="1">
            <a:spLocks noChangeArrowheads="1"/>
          </p:cNvSpPr>
          <p:nvPr/>
        </p:nvSpPr>
        <p:spPr bwMode="auto">
          <a:xfrm>
            <a:off x="2886540" y="3654426"/>
            <a:ext cx="2390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dirty="0"/>
              <a:t>在虚轴上的投影。</a:t>
            </a:r>
          </a:p>
        </p:txBody>
      </p:sp>
      <p:graphicFrame>
        <p:nvGraphicFramePr>
          <p:cNvPr id="434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56819"/>
              </p:ext>
            </p:extLst>
          </p:nvPr>
        </p:nvGraphicFramePr>
        <p:xfrm>
          <a:off x="828675" y="4238625"/>
          <a:ext cx="4533900" cy="233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97" name="BMP 图像" r:id="rId9" imgW="3333333" imgH="1714739" progId="Paint.Picture">
                  <p:embed/>
                </p:oleObj>
              </mc:Choice>
              <mc:Fallback>
                <p:oleObj name="BMP 图像" r:id="rId9" imgW="3333333" imgH="1714739" progId="Paint.Picture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4238625"/>
                        <a:ext cx="4533900" cy="233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7" name="Text Box 11"/>
          <p:cNvSpPr txBox="1">
            <a:spLocks noChangeArrowheads="1"/>
          </p:cNvSpPr>
          <p:nvPr/>
        </p:nvSpPr>
        <p:spPr bwMode="auto">
          <a:xfrm>
            <a:off x="1046163" y="1871663"/>
            <a:ext cx="42311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dirty="0"/>
              <a:t>正弦时间</a:t>
            </a:r>
            <a:r>
              <a:rPr lang="zh-CN" altLang="en-US" sz="2000" dirty="0" smtClean="0"/>
              <a:t>函数                                   是 </a:t>
            </a:r>
            <a:endParaRPr lang="zh-CN" altLang="en-US" sz="2000" dirty="0"/>
          </a:p>
        </p:txBody>
      </p:sp>
      <p:graphicFrame>
        <p:nvGraphicFramePr>
          <p:cNvPr id="434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23496"/>
              </p:ext>
            </p:extLst>
          </p:nvPr>
        </p:nvGraphicFramePr>
        <p:xfrm>
          <a:off x="2735263" y="1884363"/>
          <a:ext cx="21717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98" name="Equation" r:id="rId11" imgW="965160" imgH="203040" progId="Equation.DSMT4">
                  <p:embed/>
                </p:oleObj>
              </mc:Choice>
              <mc:Fallback>
                <p:oleObj name="Equation" r:id="rId11" imgW="96516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1884363"/>
                        <a:ext cx="21717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9" name="Text Box 13"/>
          <p:cNvSpPr txBox="1">
            <a:spLocks noChangeArrowheads="1"/>
          </p:cNvSpPr>
          <p:nvPr/>
        </p:nvSpPr>
        <p:spPr bwMode="auto">
          <a:xfrm>
            <a:off x="609600" y="2425700"/>
            <a:ext cx="155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旋转</a:t>
            </a:r>
            <a:r>
              <a:rPr lang="zh-CN" altLang="en-US" sz="2000" dirty="0"/>
              <a:t>相</a:t>
            </a:r>
            <a:r>
              <a:rPr lang="zh-CN" altLang="en-US" sz="2000" dirty="0" smtClean="0"/>
              <a:t>量</a:t>
            </a:r>
            <a:endParaRPr lang="zh-CN" altLang="en-US" sz="2000" dirty="0"/>
          </a:p>
        </p:txBody>
      </p:sp>
      <p:graphicFrame>
        <p:nvGraphicFramePr>
          <p:cNvPr id="4341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661547"/>
              </p:ext>
            </p:extLst>
          </p:nvPr>
        </p:nvGraphicFramePr>
        <p:xfrm>
          <a:off x="1798638" y="2381250"/>
          <a:ext cx="11684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99" name="Equation" r:id="rId13" imgW="507960" imgH="215640" progId="Equation.DSMT4">
                  <p:embed/>
                </p:oleObj>
              </mc:Choice>
              <mc:Fallback>
                <p:oleObj name="Equation" r:id="rId13" imgW="507960" imgH="215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2381250"/>
                        <a:ext cx="11684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91" name="Text Box 15"/>
          <p:cNvSpPr txBox="1">
            <a:spLocks noChangeArrowheads="1"/>
          </p:cNvSpPr>
          <p:nvPr/>
        </p:nvSpPr>
        <p:spPr bwMode="auto">
          <a:xfrm>
            <a:off x="2886540" y="2425700"/>
            <a:ext cx="23955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dirty="0"/>
              <a:t>在实轴上的投影。</a:t>
            </a:r>
          </a:p>
        </p:txBody>
      </p:sp>
      <p:graphicFrame>
        <p:nvGraphicFramePr>
          <p:cNvPr id="4341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938762"/>
              </p:ext>
            </p:extLst>
          </p:nvPr>
        </p:nvGraphicFramePr>
        <p:xfrm>
          <a:off x="5927834" y="1628533"/>
          <a:ext cx="2854216" cy="5077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700" name="Visio" r:id="rId15" imgW="3152685" imgH="5581740" progId="Visio.Drawing.11">
                  <p:embed/>
                </p:oleObj>
              </mc:Choice>
              <mc:Fallback>
                <p:oleObj name="Visio" r:id="rId15" imgW="3152685" imgH="5581740" progId="Visio.Drawing.11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834" y="1628533"/>
                        <a:ext cx="2854216" cy="507706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3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3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3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3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3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43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43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500"/>
                                        <p:tgtEl>
                                          <p:spTgt spid="43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500"/>
                                        <p:tgtEl>
                                          <p:spTgt spid="43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500"/>
                                        <p:tgtEl>
                                          <p:spTgt spid="43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500"/>
                                        <p:tgtEl>
                                          <p:spTgt spid="43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1" grpId="0"/>
      <p:bldP spid="434183" grpId="0"/>
      <p:bldP spid="434185" grpId="0"/>
      <p:bldP spid="434187" grpId="0"/>
      <p:bldP spid="434189" grpId="0"/>
      <p:bldP spid="43419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Text Box 2"/>
          <p:cNvSpPr txBox="1">
            <a:spLocks noChangeArrowheads="1"/>
          </p:cNvSpPr>
          <p:nvPr/>
        </p:nvSpPr>
        <p:spPr bwMode="auto">
          <a:xfrm>
            <a:off x="590550" y="885825"/>
            <a:ext cx="447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u="sng" dirty="0">
                <a:solidFill>
                  <a:srgbClr val="FF0000"/>
                </a:solidFill>
              </a:rPr>
              <a:t>相量图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( </a:t>
            </a:r>
            <a:r>
              <a:rPr lang="en-US" altLang="zh-CN" dirty="0" smtClean="0">
                <a:solidFill>
                  <a:srgbClr val="FF3300"/>
                </a:solidFill>
              </a:rPr>
              <a:t>Phasor </a:t>
            </a:r>
            <a:r>
              <a:rPr lang="en-US" altLang="zh-CN" dirty="0">
                <a:solidFill>
                  <a:srgbClr val="FF3300"/>
                </a:solidFill>
              </a:rPr>
              <a:t>Diagram</a:t>
            </a:r>
            <a:r>
              <a:rPr lang="en-US" altLang="zh-CN" dirty="0">
                <a:solidFill>
                  <a:srgbClr val="FF0000"/>
                </a:solidFill>
              </a:rPr>
              <a:t> )</a:t>
            </a:r>
            <a:endParaRPr lang="en-US" altLang="zh-CN" dirty="0"/>
          </a:p>
        </p:txBody>
      </p:sp>
      <p:graphicFrame>
        <p:nvGraphicFramePr>
          <p:cNvPr id="436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328047"/>
              </p:ext>
            </p:extLst>
          </p:nvPr>
        </p:nvGraphicFramePr>
        <p:xfrm>
          <a:off x="3836988" y="1862138"/>
          <a:ext cx="35734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196" name="Equation" r:id="rId3" imgW="1828800" imgH="215640" progId="Equation.DSMT4">
                  <p:embed/>
                </p:oleObj>
              </mc:Choice>
              <mc:Fallback>
                <p:oleObj name="Equation" r:id="rId3" imgW="1828800" imgH="215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1862138"/>
                        <a:ext cx="357346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660559"/>
              </p:ext>
            </p:extLst>
          </p:nvPr>
        </p:nvGraphicFramePr>
        <p:xfrm>
          <a:off x="3876675" y="2987675"/>
          <a:ext cx="36925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197" name="Equation" r:id="rId5" imgW="1828800" imgH="215640" progId="Equation.DSMT4">
                  <p:embed/>
                </p:oleObj>
              </mc:Choice>
              <mc:Fallback>
                <p:oleObj name="Equation" r:id="rId5" imgW="1828800" imgH="215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6675" y="2987675"/>
                        <a:ext cx="36925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29" name="Text Box 5"/>
          <p:cNvSpPr txBox="1">
            <a:spLocks noChangeArrowheads="1"/>
          </p:cNvSpPr>
          <p:nvPr/>
        </p:nvSpPr>
        <p:spPr bwMode="auto">
          <a:xfrm>
            <a:off x="1981200" y="5133975"/>
            <a:ext cx="5781675" cy="457200"/>
          </a:xfrm>
          <a:prstGeom prst="rect">
            <a:avLst/>
          </a:prstGeom>
          <a:ln/>
          <a:extLst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571500" indent="-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52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/>
            <a:r>
              <a:rPr lang="zh-CN" altLang="en-US" dirty="0" smtClean="0"/>
              <a:t>不同</a:t>
            </a:r>
            <a:r>
              <a:rPr lang="zh-CN" altLang="en-US" dirty="0"/>
              <a:t>频率的相量不能画在一张相量图上。</a:t>
            </a: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1273141" y="4486215"/>
            <a:ext cx="803425" cy="46166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>
                <a:solidFill>
                  <a:srgbClr val="FF0000"/>
                </a:solidFill>
              </a:rPr>
              <a:t>注意</a:t>
            </a:r>
            <a:endParaRPr lang="zh-CN" altLang="en-US" b="0" dirty="0">
              <a:solidFill>
                <a:srgbClr val="FF0000"/>
              </a:solidFill>
            </a:endParaRPr>
          </a:p>
        </p:txBody>
      </p:sp>
      <p:sp>
        <p:nvSpPr>
          <p:cNvPr id="2" name="弧形 1"/>
          <p:cNvSpPr/>
          <p:nvPr/>
        </p:nvSpPr>
        <p:spPr bwMode="auto">
          <a:xfrm>
            <a:off x="4279106" y="3340894"/>
            <a:ext cx="109538" cy="218281"/>
          </a:xfrm>
          <a:prstGeom prst="arc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" name="弧形 2"/>
          <p:cNvSpPr/>
          <p:nvPr/>
        </p:nvSpPr>
        <p:spPr bwMode="auto">
          <a:xfrm>
            <a:off x="4298156" y="3326606"/>
            <a:ext cx="78582" cy="232569"/>
          </a:xfrm>
          <a:prstGeom prst="arc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38200" y="1943100"/>
            <a:ext cx="1828800" cy="1816100"/>
            <a:chOff x="838200" y="1943100"/>
            <a:chExt cx="1828800" cy="1816100"/>
          </a:xfrm>
        </p:grpSpPr>
        <p:grpSp>
          <p:nvGrpSpPr>
            <p:cNvPr id="436230" name="Group 6"/>
            <p:cNvGrpSpPr>
              <a:grpSpLocks/>
            </p:cNvGrpSpPr>
            <p:nvPr/>
          </p:nvGrpSpPr>
          <p:grpSpPr bwMode="auto">
            <a:xfrm>
              <a:off x="838200" y="1943100"/>
              <a:ext cx="1828800" cy="1816100"/>
              <a:chOff x="384" y="2778"/>
              <a:chExt cx="1152" cy="1144"/>
            </a:xfrm>
          </p:grpSpPr>
          <p:sp>
            <p:nvSpPr>
              <p:cNvPr id="436231" name="Line 7"/>
              <p:cNvSpPr>
                <a:spLocks noChangeShapeType="1"/>
              </p:cNvSpPr>
              <p:nvPr/>
            </p:nvSpPr>
            <p:spPr bwMode="auto">
              <a:xfrm>
                <a:off x="384" y="3892"/>
                <a:ext cx="1152" cy="0"/>
              </a:xfrm>
              <a:prstGeom prst="line">
                <a:avLst/>
              </a:prstGeom>
              <a:noFill/>
              <a:ln w="19050" cap="rnd">
                <a:solidFill>
                  <a:schemeClr val="tx1"/>
                </a:solidFill>
                <a:prstDash val="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6232" name="Line 8"/>
              <p:cNvSpPr>
                <a:spLocks noChangeShapeType="1"/>
              </p:cNvSpPr>
              <p:nvPr/>
            </p:nvSpPr>
            <p:spPr bwMode="auto">
              <a:xfrm flipV="1">
                <a:off x="384" y="3508"/>
                <a:ext cx="960" cy="38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6234" name="Text Box 10"/>
              <p:cNvSpPr txBox="1">
                <a:spLocks noChangeArrowheads="1"/>
              </p:cNvSpPr>
              <p:nvPr/>
            </p:nvSpPr>
            <p:spPr bwMode="auto">
              <a:xfrm>
                <a:off x="764" y="3670"/>
                <a:ext cx="39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000" i="1" dirty="0">
                    <a:latin typeface="Symbol" pitchFamily="18" charset="2"/>
                    <a:sym typeface="Symbol" pitchFamily="18" charset="2"/>
                  </a:rPr>
                  <a:t></a:t>
                </a:r>
                <a:endParaRPr lang="en-US" altLang="zh-CN" sz="2000" dirty="0"/>
              </a:p>
            </p:txBody>
          </p:sp>
          <p:sp>
            <p:nvSpPr>
              <p:cNvPr id="436235" name="Line 11"/>
              <p:cNvSpPr>
                <a:spLocks noChangeShapeType="1"/>
              </p:cNvSpPr>
              <p:nvPr/>
            </p:nvSpPr>
            <p:spPr bwMode="auto">
              <a:xfrm flipV="1">
                <a:off x="384" y="3028"/>
                <a:ext cx="672" cy="86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6237" name="Text Box 13"/>
              <p:cNvSpPr txBox="1">
                <a:spLocks noChangeArrowheads="1"/>
              </p:cNvSpPr>
              <p:nvPr/>
            </p:nvSpPr>
            <p:spPr bwMode="auto">
              <a:xfrm>
                <a:off x="563" y="3549"/>
                <a:ext cx="2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i="1" dirty="0">
                    <a:latin typeface="Symbol" pitchFamily="18" charset="2"/>
                  </a:rPr>
                  <a:t>q</a:t>
                </a:r>
                <a:endParaRPr lang="en-US" altLang="zh-CN" i="1" dirty="0"/>
              </a:p>
            </p:txBody>
          </p:sp>
          <p:graphicFrame>
            <p:nvGraphicFramePr>
              <p:cNvPr id="436238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03289657"/>
                  </p:ext>
                </p:extLst>
              </p:nvPr>
            </p:nvGraphicFramePr>
            <p:xfrm>
              <a:off x="1063" y="2778"/>
              <a:ext cx="172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7198" name="Equation" r:id="rId7" imgW="139680" imgH="253800" progId="Equation.DSMT4">
                      <p:embed/>
                    </p:oleObj>
                  </mc:Choice>
                  <mc:Fallback>
                    <p:oleObj name="Equation" r:id="rId7" imgW="139680" imgH="253800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3" y="2778"/>
                            <a:ext cx="172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6239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9752125"/>
                  </p:ext>
                </p:extLst>
              </p:nvPr>
            </p:nvGraphicFramePr>
            <p:xfrm>
              <a:off x="1368" y="3312"/>
              <a:ext cx="139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7199" name="公式" r:id="rId9" imgW="126720" imgH="266400" progId="Equation.3">
                      <p:embed/>
                    </p:oleObj>
                  </mc:Choice>
                  <mc:Fallback>
                    <p:oleObj name="公式" r:id="rId9" imgW="126720" imgH="2664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68" y="3312"/>
                            <a:ext cx="139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" name="弧形 3"/>
            <p:cNvSpPr/>
            <p:nvPr/>
          </p:nvSpPr>
          <p:spPr bwMode="auto">
            <a:xfrm rot="20614094">
              <a:off x="1425766" y="3471994"/>
              <a:ext cx="128745" cy="243878"/>
            </a:xfrm>
            <a:prstGeom prst="arc">
              <a:avLst>
                <a:gd name="adj1" fmla="val 16112891"/>
                <a:gd name="adj2" fmla="val 5448012"/>
              </a:avLst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" name="弧形 19"/>
            <p:cNvSpPr/>
            <p:nvPr/>
          </p:nvSpPr>
          <p:spPr bwMode="auto">
            <a:xfrm rot="20614094">
              <a:off x="1053565" y="3389303"/>
              <a:ext cx="159275" cy="323883"/>
            </a:xfrm>
            <a:prstGeom prst="arc">
              <a:avLst>
                <a:gd name="adj1" fmla="val 16112891"/>
                <a:gd name="adj2" fmla="val 5300025"/>
              </a:avLst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9" grpId="0" animBg="1" autoUpdateAnimBg="0"/>
      <p:bldP spid="16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1" name="Text Box 3"/>
          <p:cNvSpPr txBox="1">
            <a:spLocks noChangeArrowheads="1"/>
          </p:cNvSpPr>
          <p:nvPr/>
        </p:nvSpPr>
        <p:spPr bwMode="auto">
          <a:xfrm>
            <a:off x="1541463" y="1946275"/>
            <a:ext cx="57134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设</a:t>
            </a:r>
            <a:r>
              <a:rPr lang="zh-CN" altLang="en-US" b="0" dirty="0"/>
              <a:t>  </a:t>
            </a:r>
            <a:r>
              <a:rPr lang="en-US" altLang="zh-CN" b="0" i="1" dirty="0"/>
              <a:t>v</a:t>
            </a:r>
            <a:r>
              <a:rPr lang="en-US" altLang="zh-CN" b="0" dirty="0"/>
              <a:t>(</a:t>
            </a:r>
            <a:r>
              <a:rPr lang="en-US" altLang="zh-CN" b="0" i="1" dirty="0"/>
              <a:t>t</a:t>
            </a:r>
            <a:r>
              <a:rPr lang="en-US" altLang="zh-CN" b="0" dirty="0" smtClean="0"/>
              <a:t>) = </a:t>
            </a:r>
            <a:r>
              <a:rPr lang="en-US" altLang="zh-CN" b="0" i="1" dirty="0" err="1" smtClean="0"/>
              <a:t>V</a:t>
            </a:r>
            <a:r>
              <a:rPr lang="en-US" altLang="zh-CN" b="0" i="1" baseline="-25000" dirty="0" err="1" smtClean="0"/>
              <a:t>m</a:t>
            </a:r>
            <a:r>
              <a:rPr lang="en-US" altLang="zh-CN" b="0" i="1" baseline="-25000" dirty="0" smtClean="0"/>
              <a:t> </a:t>
            </a:r>
            <a:r>
              <a:rPr lang="en-US" altLang="zh-CN" b="0" dirty="0" smtClean="0"/>
              <a:t>cos(</a:t>
            </a:r>
            <a:r>
              <a:rPr lang="en-US" altLang="zh-CN" b="0" i="1" dirty="0" smtClean="0">
                <a:latin typeface="Symbol" pitchFamily="18" charset="2"/>
              </a:rPr>
              <a:t>w </a:t>
            </a:r>
            <a:r>
              <a:rPr lang="en-US" altLang="zh-CN" b="0" i="1" dirty="0" err="1"/>
              <a:t>t</a:t>
            </a:r>
            <a:r>
              <a:rPr lang="en-US" altLang="zh-CN" b="0" dirty="0" err="1"/>
              <a:t>+</a:t>
            </a:r>
            <a:r>
              <a:rPr lang="en-US" altLang="zh-CN" b="0" i="1" dirty="0" err="1">
                <a:latin typeface="Symbol" pitchFamily="18" charset="2"/>
              </a:rPr>
              <a:t>q</a:t>
            </a:r>
            <a:r>
              <a:rPr lang="en-US" altLang="zh-CN" b="0" i="1" baseline="-25000" dirty="0" err="1"/>
              <a:t>v</a:t>
            </a:r>
            <a:r>
              <a:rPr lang="en-US" altLang="zh-CN" b="0" dirty="0"/>
              <a:t>),  </a:t>
            </a:r>
            <a:r>
              <a:rPr lang="en-US" altLang="zh-CN" b="0" i="1" dirty="0" err="1"/>
              <a:t>i</a:t>
            </a:r>
            <a:r>
              <a:rPr lang="en-US" altLang="zh-CN" b="0" dirty="0"/>
              <a:t>(</a:t>
            </a:r>
            <a:r>
              <a:rPr lang="en-US" altLang="zh-CN" b="0" i="1" dirty="0"/>
              <a:t>t</a:t>
            </a:r>
            <a:r>
              <a:rPr lang="en-US" altLang="zh-CN" b="0" dirty="0" smtClean="0"/>
              <a:t>) = </a:t>
            </a:r>
            <a:r>
              <a:rPr lang="en-US" altLang="zh-CN" b="0" i="1" dirty="0" err="1" smtClean="0"/>
              <a:t>I</a:t>
            </a:r>
            <a:r>
              <a:rPr lang="en-US" altLang="zh-CN" b="0" i="1" baseline="-25000" dirty="0" err="1" smtClean="0"/>
              <a:t>m</a:t>
            </a:r>
            <a:r>
              <a:rPr lang="en-US" altLang="zh-CN" b="0" i="1" baseline="-25000" dirty="0" smtClean="0"/>
              <a:t> </a:t>
            </a:r>
            <a:r>
              <a:rPr lang="en-US" altLang="zh-CN" b="0" dirty="0" smtClean="0"/>
              <a:t>cos(</a:t>
            </a:r>
            <a:r>
              <a:rPr lang="en-US" altLang="zh-CN" b="0" i="1" dirty="0" smtClean="0">
                <a:latin typeface="Symbol" pitchFamily="18" charset="2"/>
              </a:rPr>
              <a:t>w </a:t>
            </a:r>
            <a:r>
              <a:rPr lang="en-US" altLang="zh-CN" b="0" i="1" dirty="0" err="1"/>
              <a:t>t</a:t>
            </a:r>
            <a:r>
              <a:rPr lang="en-US" altLang="zh-CN" b="0" dirty="0" err="1"/>
              <a:t>+</a:t>
            </a:r>
            <a:r>
              <a:rPr lang="en-US" altLang="zh-CN" b="0" i="1" dirty="0" err="1">
                <a:latin typeface="Symbol" pitchFamily="18" charset="2"/>
              </a:rPr>
              <a:t>q</a:t>
            </a:r>
            <a:r>
              <a:rPr lang="en-US" altLang="zh-CN" b="0" i="1" baseline="-25000" dirty="0" err="1"/>
              <a:t>i</a:t>
            </a:r>
            <a:r>
              <a:rPr lang="en-US" altLang="zh-CN" b="0" dirty="0"/>
              <a:t>)</a:t>
            </a:r>
          </a:p>
        </p:txBody>
      </p:sp>
      <p:sp>
        <p:nvSpPr>
          <p:cNvPr id="447492" name="Text Box 4"/>
          <p:cNvSpPr txBox="1">
            <a:spLocks noChangeArrowheads="1"/>
          </p:cNvSpPr>
          <p:nvPr/>
        </p:nvSpPr>
        <p:spPr bwMode="auto">
          <a:xfrm>
            <a:off x="1535113" y="2898775"/>
            <a:ext cx="5865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相位差</a:t>
            </a:r>
            <a:r>
              <a:rPr lang="zh-CN" altLang="en-US" sz="2000" dirty="0"/>
              <a:t> ：</a:t>
            </a:r>
            <a:r>
              <a:rPr lang="en-US" altLang="zh-CN" b="0" i="1" dirty="0">
                <a:latin typeface="Symbol" pitchFamily="18" charset="2"/>
              </a:rPr>
              <a:t>j  </a:t>
            </a:r>
            <a:r>
              <a:rPr lang="en-US" altLang="zh-CN" b="0" dirty="0"/>
              <a:t>= (</a:t>
            </a:r>
            <a:r>
              <a:rPr lang="en-US" altLang="zh-CN" b="0" i="1" dirty="0">
                <a:latin typeface="Symbol" pitchFamily="18" charset="2"/>
              </a:rPr>
              <a:t>w </a:t>
            </a:r>
            <a:r>
              <a:rPr lang="en-US" altLang="zh-CN" b="0" i="1" dirty="0" err="1"/>
              <a:t>t</a:t>
            </a:r>
            <a:r>
              <a:rPr lang="en-US" altLang="zh-CN" b="0" dirty="0" err="1"/>
              <a:t>+</a:t>
            </a:r>
            <a:r>
              <a:rPr lang="en-US" altLang="zh-CN" b="0" i="1" dirty="0" err="1">
                <a:latin typeface="Symbol" pitchFamily="18" charset="2"/>
              </a:rPr>
              <a:t>q</a:t>
            </a:r>
            <a:r>
              <a:rPr lang="en-US" altLang="zh-CN" b="0" i="1" baseline="-25000" dirty="0" err="1"/>
              <a:t>v</a:t>
            </a:r>
            <a:r>
              <a:rPr lang="en-US" altLang="zh-CN" b="0" dirty="0" smtClean="0"/>
              <a:t>) </a:t>
            </a:r>
            <a:r>
              <a:rPr lang="en-US" altLang="zh-CN" b="0" dirty="0" smtClean="0">
                <a:latin typeface="宋体" charset="-122"/>
              </a:rPr>
              <a:t>-</a:t>
            </a:r>
            <a:r>
              <a:rPr lang="en-US" altLang="zh-CN" b="0" dirty="0" smtClean="0"/>
              <a:t> </a:t>
            </a:r>
            <a:r>
              <a:rPr lang="en-US" altLang="zh-CN" b="0" dirty="0"/>
              <a:t>(</a:t>
            </a:r>
            <a:r>
              <a:rPr lang="en-US" altLang="zh-CN" b="0" i="1" dirty="0">
                <a:latin typeface="Symbol" pitchFamily="18" charset="2"/>
              </a:rPr>
              <a:t>w </a:t>
            </a:r>
            <a:r>
              <a:rPr lang="en-US" altLang="zh-CN" b="0" i="1" dirty="0" err="1"/>
              <a:t>t</a:t>
            </a:r>
            <a:r>
              <a:rPr lang="en-US" altLang="zh-CN" b="0" dirty="0" err="1"/>
              <a:t>+</a:t>
            </a:r>
            <a:r>
              <a:rPr lang="en-US" altLang="zh-CN" b="0" i="1" dirty="0" err="1">
                <a:latin typeface="Symbol" pitchFamily="18" charset="2"/>
              </a:rPr>
              <a:t>q</a:t>
            </a:r>
            <a:r>
              <a:rPr lang="en-US" altLang="zh-CN" b="0" i="1" baseline="-25000" dirty="0" err="1"/>
              <a:t>i</a:t>
            </a:r>
            <a:r>
              <a:rPr lang="en-US" altLang="zh-CN" b="0" dirty="0" smtClean="0"/>
              <a:t>) = </a:t>
            </a:r>
            <a:r>
              <a:rPr lang="en-US" altLang="zh-CN" b="0" i="1" dirty="0">
                <a:latin typeface="Symbol" pitchFamily="18" charset="2"/>
              </a:rPr>
              <a:t>q</a:t>
            </a:r>
            <a:r>
              <a:rPr lang="en-US" altLang="zh-CN" b="0" i="1" baseline="-25000" dirty="0"/>
              <a:t>v</a:t>
            </a:r>
            <a:r>
              <a:rPr lang="en-US" altLang="zh-CN" b="0" dirty="0">
                <a:latin typeface="宋体" charset="-122"/>
              </a:rPr>
              <a:t>-</a:t>
            </a:r>
            <a:r>
              <a:rPr lang="en-US" altLang="zh-CN" b="0" i="1" dirty="0">
                <a:latin typeface="Symbol" pitchFamily="18" charset="2"/>
              </a:rPr>
              <a:t>q</a:t>
            </a:r>
            <a:r>
              <a:rPr lang="en-US" altLang="zh-CN" b="0" i="1" baseline="-25000" dirty="0"/>
              <a:t>i</a:t>
            </a:r>
            <a:endParaRPr lang="en-US" altLang="zh-CN" b="0" baseline="-25000" dirty="0"/>
          </a:p>
        </p:txBody>
      </p:sp>
      <p:sp>
        <p:nvSpPr>
          <p:cNvPr id="447493" name="Rectangle 5"/>
          <p:cNvSpPr>
            <a:spLocks noChangeArrowheads="1"/>
          </p:cNvSpPr>
          <p:nvPr/>
        </p:nvSpPr>
        <p:spPr bwMode="auto">
          <a:xfrm>
            <a:off x="3268663" y="4862512"/>
            <a:ext cx="3193503" cy="461665"/>
          </a:xfrm>
          <a:prstGeom prst="rect">
            <a:avLst/>
          </a:prstGeom>
          <a:gradFill rotWithShape="1">
            <a:gsLst>
              <a:gs pos="0">
                <a:srgbClr val="66FFFF"/>
              </a:gs>
              <a:gs pos="50000">
                <a:srgbClr val="FFFFFF"/>
              </a:gs>
              <a:gs pos="100000">
                <a:srgbClr val="66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ea typeface="楷体_GB2312" pitchFamily="49" charset="-122"/>
              </a:rPr>
              <a:t>规定</a:t>
            </a:r>
            <a:r>
              <a:rPr lang="zh-CN" altLang="en-US" dirty="0"/>
              <a:t>： </a:t>
            </a:r>
            <a:r>
              <a:rPr lang="en-US" altLang="zh-CN" b="0" dirty="0"/>
              <a:t>|</a:t>
            </a:r>
            <a:r>
              <a:rPr lang="en-US" altLang="zh-CN" b="0" i="1" dirty="0">
                <a:latin typeface="Symbol" pitchFamily="18" charset="2"/>
                <a:sym typeface="Symbol" pitchFamily="18" charset="2"/>
              </a:rPr>
              <a:t></a:t>
            </a:r>
            <a:r>
              <a:rPr lang="en-US" altLang="zh-CN" b="0" i="1" dirty="0">
                <a:latin typeface="Symbol" pitchFamily="18" charset="2"/>
              </a:rPr>
              <a:t> </a:t>
            </a:r>
            <a:r>
              <a:rPr lang="en-US" altLang="zh-CN" b="0" dirty="0"/>
              <a:t>| </a:t>
            </a:r>
            <a:r>
              <a:rPr lang="en-US" altLang="zh-CN" b="0" dirty="0" smtClean="0">
                <a:sym typeface="Symbol" pitchFamily="18" charset="2"/>
              </a:rPr>
              <a:t> </a:t>
            </a:r>
            <a:r>
              <a:rPr lang="en-US" altLang="zh-CN" b="0" i="1" dirty="0" smtClean="0">
                <a:sym typeface="Symbol" pitchFamily="18" charset="2"/>
              </a:rPr>
              <a:t> </a:t>
            </a:r>
            <a:r>
              <a:rPr lang="en-US" altLang="zh-CN" b="0" dirty="0" smtClean="0">
                <a:sym typeface="Symbol" pitchFamily="18" charset="2"/>
              </a:rPr>
              <a:t> </a:t>
            </a:r>
            <a:r>
              <a:rPr lang="en-US" altLang="zh-CN" b="0" dirty="0">
                <a:sym typeface="Symbol" pitchFamily="18" charset="2"/>
              </a:rPr>
              <a:t>(180°)</a:t>
            </a:r>
          </a:p>
        </p:txBody>
      </p:sp>
      <p:sp>
        <p:nvSpPr>
          <p:cNvPr id="447500" name="AutoShape 12" descr="羊皮纸"/>
          <p:cNvSpPr>
            <a:spLocks noChangeArrowheads="1"/>
          </p:cNvSpPr>
          <p:nvPr/>
        </p:nvSpPr>
        <p:spPr bwMode="auto">
          <a:xfrm>
            <a:off x="5646738" y="3821113"/>
            <a:ext cx="2743200" cy="615950"/>
          </a:xfrm>
          <a:prstGeom prst="wedgeRoundRectCallout">
            <a:avLst>
              <a:gd name="adj1" fmla="val -31134"/>
              <a:gd name="adj2" fmla="val -127319"/>
              <a:gd name="adj3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楷体_GB2312" pitchFamily="49" charset="-122"/>
              </a:rPr>
              <a:t>等于初相位之差</a:t>
            </a:r>
          </a:p>
        </p:txBody>
      </p:sp>
      <p:sp>
        <p:nvSpPr>
          <p:cNvPr id="447504" name="Text Box 16"/>
          <p:cNvSpPr txBox="1">
            <a:spLocks noChangeArrowheads="1"/>
          </p:cNvSpPr>
          <p:nvPr/>
        </p:nvSpPr>
        <p:spPr bwMode="auto">
          <a:xfrm>
            <a:off x="676275" y="781050"/>
            <a:ext cx="42322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 smtClean="0">
                <a:solidFill>
                  <a:schemeClr val="accent6"/>
                </a:solidFill>
              </a:rPr>
              <a:t>2</a:t>
            </a:r>
            <a:r>
              <a:rPr lang="zh-CN" altLang="en-US" sz="2000" dirty="0" smtClean="0">
                <a:solidFill>
                  <a:schemeClr val="accent6"/>
                </a:solidFill>
              </a:rPr>
              <a:t>、</a:t>
            </a:r>
            <a:r>
              <a:rPr lang="zh-CN" altLang="en-US" sz="2000" dirty="0">
                <a:solidFill>
                  <a:schemeClr val="accent6"/>
                </a:solidFill>
              </a:rPr>
              <a:t>相位关系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4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4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44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1" grpId="0" autoUpdateAnimBg="0"/>
      <p:bldP spid="447492" grpId="0"/>
      <p:bldP spid="447493" grpId="0" animBg="1"/>
      <p:bldP spid="44750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ChangeArrowheads="1"/>
          </p:cNvSpPr>
          <p:nvPr/>
        </p:nvSpPr>
        <p:spPr bwMode="auto">
          <a:xfrm>
            <a:off x="684213" y="851545"/>
            <a:ext cx="7742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SzPct val="80000"/>
              <a:buFont typeface="Wingdings" pitchFamily="2" charset="2"/>
              <a:buChar char="l"/>
            </a:pPr>
            <a:r>
              <a:rPr lang="en-US" altLang="zh-CN" sz="2000" b="0" i="1" dirty="0">
                <a:latin typeface="Symbol" pitchFamily="18" charset="2"/>
              </a:rPr>
              <a:t>j </a:t>
            </a:r>
            <a:r>
              <a:rPr lang="en-US" altLang="zh-CN" sz="2000" b="0" i="1" dirty="0"/>
              <a:t>&gt;</a:t>
            </a:r>
            <a:r>
              <a:rPr lang="en-US" altLang="zh-CN" sz="2000" b="0" dirty="0"/>
              <a:t>0</a:t>
            </a:r>
            <a:r>
              <a:rPr lang="zh-CN" altLang="en-US" sz="2000" dirty="0"/>
              <a:t>， </a:t>
            </a:r>
            <a:r>
              <a:rPr lang="en-US" altLang="zh-CN" sz="2000" b="0" i="1" dirty="0"/>
              <a:t>v </a:t>
            </a:r>
            <a:r>
              <a:rPr lang="zh-CN" altLang="zh-CN" sz="2000" dirty="0">
                <a:solidFill>
                  <a:srgbClr val="FF0000"/>
                </a:solidFill>
                <a:ea typeface="楷体_GB2312" pitchFamily="49" charset="-122"/>
              </a:rPr>
              <a:t>超前</a:t>
            </a:r>
            <a:r>
              <a:rPr lang="en-US" altLang="zh-CN" sz="2000" b="0" i="1" dirty="0" err="1"/>
              <a:t>i</a:t>
            </a:r>
            <a:r>
              <a:rPr lang="en-US" altLang="zh-CN" sz="2000" b="0" i="1" dirty="0"/>
              <a:t> </a:t>
            </a:r>
            <a:r>
              <a:rPr lang="en-US" altLang="zh-CN" sz="2000" b="0" i="1" dirty="0">
                <a:latin typeface="Symbol" pitchFamily="18" charset="2"/>
              </a:rPr>
              <a:t>j </a:t>
            </a:r>
            <a:r>
              <a:rPr lang="zh-CN" altLang="zh-CN" sz="2000" dirty="0">
                <a:ea typeface="楷体_GB2312" pitchFamily="49" charset="-122"/>
              </a:rPr>
              <a:t>角</a:t>
            </a:r>
            <a:r>
              <a:rPr lang="zh-CN" altLang="zh-CN" sz="2000" dirty="0">
                <a:ea typeface="仿宋_GB2312" pitchFamily="49" charset="-122"/>
              </a:rPr>
              <a:t>，</a:t>
            </a:r>
            <a:r>
              <a:rPr lang="zh-CN" altLang="zh-CN" sz="2000" dirty="0" smtClean="0">
                <a:latin typeface="Arial" charset="0"/>
                <a:ea typeface="楷体_GB2312" pitchFamily="49" charset="-122"/>
              </a:rPr>
              <a:t>或</a:t>
            </a:r>
            <a:r>
              <a:rPr lang="en-US" altLang="zh-CN" sz="2000" dirty="0" smtClean="0">
                <a:latin typeface="Arial" charset="0"/>
                <a:ea typeface="楷体_GB2312" pitchFamily="49" charset="-122"/>
              </a:rPr>
              <a:t> </a:t>
            </a:r>
            <a:r>
              <a:rPr lang="en-US" altLang="zh-CN" sz="2000" b="0" i="1" dirty="0" err="1" smtClean="0">
                <a:ea typeface="仿宋_GB2312" pitchFamily="49" charset="-122"/>
              </a:rPr>
              <a:t>i</a:t>
            </a:r>
            <a:r>
              <a:rPr lang="zh-CN" altLang="zh-CN" sz="2000" b="0" dirty="0" smtClean="0">
                <a:latin typeface="Arial" charset="0"/>
                <a:ea typeface="楷体_GB2312" pitchFamily="49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ea typeface="楷体_GB2312" pitchFamily="49" charset="-122"/>
              </a:rPr>
              <a:t>滞后</a:t>
            </a:r>
            <a:r>
              <a:rPr lang="zh-CN" altLang="zh-CN" sz="2000" b="0" dirty="0">
                <a:latin typeface="Arial" charset="0"/>
                <a:ea typeface="仿宋_GB2312" pitchFamily="49" charset="-122"/>
              </a:rPr>
              <a:t> </a:t>
            </a:r>
            <a:r>
              <a:rPr lang="en-US" altLang="zh-CN" sz="2000" b="0" i="1" dirty="0" smtClean="0">
                <a:ea typeface="仿宋_GB2312" pitchFamily="49" charset="-122"/>
              </a:rPr>
              <a:t>v </a:t>
            </a:r>
            <a:r>
              <a:rPr lang="zh-CN" altLang="zh-CN" sz="2000" b="0" dirty="0" smtClean="0">
                <a:latin typeface="Arial" charset="0"/>
                <a:ea typeface="仿宋_GB2312" pitchFamily="49" charset="-122"/>
              </a:rPr>
              <a:t> </a:t>
            </a:r>
            <a:r>
              <a:rPr lang="en-US" altLang="zh-CN" sz="2000" b="0" i="1" dirty="0">
                <a:latin typeface="Arial" charset="0"/>
                <a:ea typeface="仿宋_GB2312" pitchFamily="49" charset="-122"/>
                <a:sym typeface="Symbol" pitchFamily="18" charset="2"/>
              </a:rPr>
              <a:t></a:t>
            </a:r>
            <a:r>
              <a:rPr lang="en-US" altLang="zh-CN" sz="2000" i="1" dirty="0">
                <a:latin typeface="Arial" charset="0"/>
                <a:ea typeface="仿宋_GB2312" pitchFamily="49" charset="-122"/>
              </a:rPr>
              <a:t> </a:t>
            </a:r>
            <a:r>
              <a:rPr lang="zh-CN" altLang="zh-CN" sz="2000" dirty="0">
                <a:latin typeface="Arial" charset="0"/>
                <a:ea typeface="仿宋_GB2312" pitchFamily="49" charset="-122"/>
              </a:rPr>
              <a:t>角</a:t>
            </a:r>
            <a:r>
              <a:rPr lang="en-US" altLang="zh-CN" sz="2000" dirty="0">
                <a:latin typeface="Arial" charset="0"/>
                <a:ea typeface="仿宋_GB2312" pitchFamily="49" charset="-122"/>
              </a:rPr>
              <a:t>,</a:t>
            </a:r>
            <a:r>
              <a:rPr lang="zh-CN" altLang="zh-CN" sz="2000" dirty="0">
                <a:ea typeface="楷体_GB2312" pitchFamily="49" charset="-122"/>
              </a:rPr>
              <a:t> </a:t>
            </a:r>
            <a:r>
              <a:rPr lang="en-US" altLang="zh-CN" sz="2000" dirty="0"/>
              <a:t>( </a:t>
            </a:r>
            <a:r>
              <a:rPr lang="en-US" altLang="zh-CN" sz="2000" b="0" i="1" dirty="0"/>
              <a:t>v</a:t>
            </a:r>
            <a:r>
              <a:rPr lang="en-US" altLang="zh-CN" sz="2000" i="1" dirty="0"/>
              <a:t> </a:t>
            </a:r>
            <a:r>
              <a:rPr lang="zh-CN" altLang="en-US" sz="2000" dirty="0">
                <a:ea typeface="楷体_GB2312" pitchFamily="49" charset="-122"/>
              </a:rPr>
              <a:t>比 </a:t>
            </a:r>
            <a:r>
              <a:rPr lang="en-US" altLang="zh-CN" sz="2000" b="0" i="1" dirty="0" err="1"/>
              <a:t>i</a:t>
            </a:r>
            <a:r>
              <a:rPr lang="en-US" altLang="zh-CN" sz="2000" b="0" i="1" dirty="0"/>
              <a:t> 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先到达最大值 </a:t>
            </a:r>
            <a:r>
              <a:rPr lang="en-US" altLang="zh-CN" sz="2000" dirty="0">
                <a:latin typeface="仿宋_GB2312" pitchFamily="49" charset="-122"/>
                <a:ea typeface="仿宋_GB2312" pitchFamily="49" charset="-122"/>
              </a:rPr>
              <a:t>)</a:t>
            </a:r>
            <a:r>
              <a:rPr lang="zh-CN" altLang="en-US" sz="2000" dirty="0">
                <a:latin typeface="仿宋_GB2312" pitchFamily="49" charset="-122"/>
                <a:ea typeface="仿宋_GB2312" pitchFamily="49" charset="-122"/>
              </a:rPr>
              <a:t>；</a:t>
            </a:r>
          </a:p>
        </p:txBody>
      </p:sp>
      <p:sp>
        <p:nvSpPr>
          <p:cNvPr id="448515" name="Rectangle 3"/>
          <p:cNvSpPr>
            <a:spLocks noChangeArrowheads="1"/>
          </p:cNvSpPr>
          <p:nvPr/>
        </p:nvSpPr>
        <p:spPr bwMode="auto">
          <a:xfrm>
            <a:off x="684213" y="1563043"/>
            <a:ext cx="77041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SzPct val="80000"/>
              <a:buFont typeface="Wingdings" pitchFamily="2" charset="2"/>
              <a:buChar char="l"/>
            </a:pPr>
            <a:r>
              <a:rPr lang="en-US" altLang="zh-CN" sz="2000" i="1" dirty="0">
                <a:latin typeface="Symbol" pitchFamily="18" charset="2"/>
              </a:rPr>
              <a:t>  </a:t>
            </a:r>
            <a:r>
              <a:rPr lang="en-US" altLang="zh-CN" sz="2000" i="1" dirty="0" smtClean="0">
                <a:latin typeface="Symbol" pitchFamily="18" charset="2"/>
              </a:rPr>
              <a:t> </a:t>
            </a:r>
            <a:r>
              <a:rPr lang="en-US" altLang="zh-CN" sz="2000" b="0" i="1" dirty="0" smtClean="0">
                <a:latin typeface="Symbol" pitchFamily="18" charset="2"/>
              </a:rPr>
              <a:t>j </a:t>
            </a:r>
            <a:r>
              <a:rPr lang="en-US" altLang="zh-CN" sz="2000" b="0" i="1" dirty="0"/>
              <a:t>&lt;</a:t>
            </a:r>
            <a:r>
              <a:rPr lang="en-US" altLang="zh-CN" sz="2000" b="0" dirty="0"/>
              <a:t>0</a:t>
            </a:r>
            <a:r>
              <a:rPr lang="zh-CN" altLang="en-US" sz="2000" dirty="0"/>
              <a:t>，</a:t>
            </a:r>
            <a:r>
              <a:rPr lang="zh-CN" altLang="en-US" sz="2000" b="0" dirty="0"/>
              <a:t> </a:t>
            </a:r>
            <a:r>
              <a:rPr lang="en-US" altLang="zh-CN" sz="2000" b="0" i="1" dirty="0" err="1"/>
              <a:t>i</a:t>
            </a:r>
            <a:r>
              <a:rPr lang="en-US" altLang="zh-CN" sz="2000" b="0" i="1" dirty="0"/>
              <a:t> </a:t>
            </a:r>
            <a:r>
              <a:rPr lang="zh-CN" altLang="zh-CN" sz="2000" dirty="0">
                <a:solidFill>
                  <a:srgbClr val="FF0000"/>
                </a:solidFill>
                <a:ea typeface="楷体_GB2312" pitchFamily="49" charset="-122"/>
              </a:rPr>
              <a:t>超前</a:t>
            </a:r>
            <a:r>
              <a:rPr lang="zh-CN" altLang="zh-CN" sz="2000" dirty="0"/>
              <a:t> </a:t>
            </a:r>
            <a:r>
              <a:rPr lang="en-US" altLang="zh-CN" sz="2000" b="0" i="1" dirty="0"/>
              <a:t>v </a:t>
            </a:r>
            <a:r>
              <a:rPr lang="en-US" altLang="zh-CN" sz="2000" b="0" i="1" dirty="0">
                <a:latin typeface="Symbol" pitchFamily="18" charset="2"/>
              </a:rPr>
              <a:t>j</a:t>
            </a:r>
            <a:r>
              <a:rPr lang="en-US" altLang="zh-CN" sz="2000" i="1" dirty="0">
                <a:latin typeface="Symbol" pitchFamily="18" charset="2"/>
              </a:rPr>
              <a:t> </a:t>
            </a:r>
            <a:r>
              <a:rPr lang="zh-CN" altLang="zh-CN" sz="2000" dirty="0">
                <a:ea typeface="楷体_GB2312" pitchFamily="49" charset="-122"/>
              </a:rPr>
              <a:t>角，</a:t>
            </a:r>
            <a:r>
              <a:rPr lang="zh-CN" altLang="zh-CN" sz="2000" dirty="0" smtClean="0">
                <a:ea typeface="楷体_GB2312" pitchFamily="49" charset="-122"/>
              </a:rPr>
              <a:t>或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en-US" altLang="zh-CN" sz="2000" b="0" i="1" dirty="0" smtClean="0"/>
              <a:t>v </a:t>
            </a:r>
            <a:r>
              <a:rPr lang="zh-CN" altLang="en-US" sz="2000" dirty="0">
                <a:solidFill>
                  <a:srgbClr val="FF0000"/>
                </a:solidFill>
                <a:ea typeface="楷体_GB2312" pitchFamily="49" charset="-122"/>
              </a:rPr>
              <a:t>滞后</a:t>
            </a:r>
            <a:r>
              <a:rPr lang="zh-CN" altLang="zh-CN" sz="2000" dirty="0"/>
              <a:t> </a:t>
            </a:r>
            <a:r>
              <a:rPr lang="en-US" altLang="zh-CN" sz="2000" b="0" i="1" dirty="0" err="1"/>
              <a:t>i</a:t>
            </a:r>
            <a:r>
              <a:rPr lang="en-US" altLang="zh-CN" sz="2000" b="0" i="1" dirty="0"/>
              <a:t> </a:t>
            </a:r>
            <a:r>
              <a:rPr lang="en-US" altLang="zh-CN" sz="2000" b="0" i="1" dirty="0">
                <a:latin typeface="Symbol" pitchFamily="18" charset="2"/>
              </a:rPr>
              <a:t>j</a:t>
            </a:r>
            <a:r>
              <a:rPr lang="en-US" altLang="zh-CN" sz="2000" i="1" dirty="0">
                <a:latin typeface="Symbol" pitchFamily="18" charset="2"/>
              </a:rPr>
              <a:t> </a:t>
            </a:r>
            <a:r>
              <a:rPr lang="zh-CN" altLang="zh-CN" sz="2000" dirty="0">
                <a:ea typeface="楷体_GB2312" pitchFamily="49" charset="-122"/>
              </a:rPr>
              <a:t>角</a:t>
            </a:r>
            <a:r>
              <a:rPr lang="en-US" altLang="zh-CN" sz="2000" dirty="0" smtClean="0"/>
              <a:t>,  </a:t>
            </a:r>
            <a:r>
              <a:rPr lang="en-US" altLang="zh-CN" sz="2000" b="0" i="1" dirty="0" err="1" smtClean="0"/>
              <a:t>i</a:t>
            </a:r>
            <a:r>
              <a:rPr lang="en-US" altLang="zh-CN" sz="2000" b="0" i="1" dirty="0" smtClean="0"/>
              <a:t> </a:t>
            </a:r>
            <a:r>
              <a:rPr lang="zh-CN" altLang="en-US" sz="2000" dirty="0">
                <a:ea typeface="楷体_GB2312" pitchFamily="49" charset="-122"/>
              </a:rPr>
              <a:t>比</a:t>
            </a:r>
            <a:r>
              <a:rPr lang="zh-CN" altLang="en-US" sz="2000" dirty="0"/>
              <a:t> </a:t>
            </a:r>
            <a:r>
              <a:rPr lang="en-US" altLang="zh-CN" sz="2000" b="0" i="1" dirty="0"/>
              <a:t>v</a:t>
            </a:r>
            <a:r>
              <a:rPr lang="en-US" altLang="zh-CN" sz="2000" i="1" dirty="0"/>
              <a:t> 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先到达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最大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值）。</a:t>
            </a:r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 flipH="1" flipV="1">
            <a:off x="4391577" y="2969419"/>
            <a:ext cx="12700" cy="2922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 flipV="1">
            <a:off x="1789113" y="4275138"/>
            <a:ext cx="5724525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7229640" y="4248269"/>
            <a:ext cx="554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b="0" i="1" dirty="0">
                <a:sym typeface="Symbol" pitchFamily="18" charset="2"/>
              </a:rPr>
              <a:t> </a:t>
            </a:r>
            <a:r>
              <a:rPr lang="en-US" altLang="zh-CN" b="0" i="1" dirty="0"/>
              <a:t>t</a:t>
            </a:r>
          </a:p>
        </p:txBody>
      </p:sp>
      <p:sp>
        <p:nvSpPr>
          <p:cNvPr id="28" name="Freeform 17"/>
          <p:cNvSpPr>
            <a:spLocks/>
          </p:cNvSpPr>
          <p:nvPr/>
        </p:nvSpPr>
        <p:spPr bwMode="auto">
          <a:xfrm>
            <a:off x="2292678" y="3503613"/>
            <a:ext cx="4572000" cy="1581150"/>
          </a:xfrm>
          <a:custGeom>
            <a:avLst/>
            <a:gdLst>
              <a:gd name="T0" fmla="*/ 0 w 2262"/>
              <a:gd name="T1" fmla="*/ 549 h 1091"/>
              <a:gd name="T2" fmla="*/ 96 w 2262"/>
              <a:gd name="T3" fmla="*/ 360 h 1091"/>
              <a:gd name="T4" fmla="*/ 183 w 2262"/>
              <a:gd name="T5" fmla="*/ 204 h 1091"/>
              <a:gd name="T6" fmla="*/ 294 w 2262"/>
              <a:gd name="T7" fmla="*/ 66 h 1091"/>
              <a:gd name="T8" fmla="*/ 420 w 2262"/>
              <a:gd name="T9" fmla="*/ 3 h 1091"/>
              <a:gd name="T10" fmla="*/ 576 w 2262"/>
              <a:gd name="T11" fmla="*/ 81 h 1091"/>
              <a:gd name="T12" fmla="*/ 732 w 2262"/>
              <a:gd name="T13" fmla="*/ 309 h 1091"/>
              <a:gd name="T14" fmla="*/ 849 w 2262"/>
              <a:gd name="T15" fmla="*/ 540 h 1091"/>
              <a:gd name="T16" fmla="*/ 981 w 2262"/>
              <a:gd name="T17" fmla="*/ 789 h 1091"/>
              <a:gd name="T18" fmla="*/ 1110 w 2262"/>
              <a:gd name="T19" fmla="*/ 990 h 1091"/>
              <a:gd name="T20" fmla="*/ 1290 w 2262"/>
              <a:gd name="T21" fmla="*/ 1083 h 1091"/>
              <a:gd name="T22" fmla="*/ 1482 w 2262"/>
              <a:gd name="T23" fmla="*/ 939 h 1091"/>
              <a:gd name="T24" fmla="*/ 1701 w 2262"/>
              <a:gd name="T25" fmla="*/ 555 h 1091"/>
              <a:gd name="T26" fmla="*/ 1803 w 2262"/>
              <a:gd name="T27" fmla="*/ 348 h 1091"/>
              <a:gd name="T28" fmla="*/ 1980 w 2262"/>
              <a:gd name="T29" fmla="*/ 84 h 1091"/>
              <a:gd name="T30" fmla="*/ 2127 w 2262"/>
              <a:gd name="T31" fmla="*/ 6 h 1091"/>
              <a:gd name="T32" fmla="*/ 2262 w 2262"/>
              <a:gd name="T33" fmla="*/ 66 h 10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62" h="1091">
                <a:moveTo>
                  <a:pt x="0" y="549"/>
                </a:moveTo>
                <a:cubicBezTo>
                  <a:pt x="16" y="518"/>
                  <a:pt x="65" y="418"/>
                  <a:pt x="96" y="360"/>
                </a:cubicBezTo>
                <a:cubicBezTo>
                  <a:pt x="127" y="302"/>
                  <a:pt x="150" y="253"/>
                  <a:pt x="183" y="204"/>
                </a:cubicBezTo>
                <a:cubicBezTo>
                  <a:pt x="216" y="155"/>
                  <a:pt x="255" y="99"/>
                  <a:pt x="294" y="66"/>
                </a:cubicBezTo>
                <a:cubicBezTo>
                  <a:pt x="333" y="33"/>
                  <a:pt x="373" y="0"/>
                  <a:pt x="420" y="3"/>
                </a:cubicBezTo>
                <a:cubicBezTo>
                  <a:pt x="467" y="6"/>
                  <a:pt x="524" y="30"/>
                  <a:pt x="576" y="81"/>
                </a:cubicBezTo>
                <a:cubicBezTo>
                  <a:pt x="628" y="132"/>
                  <a:pt x="687" y="233"/>
                  <a:pt x="732" y="309"/>
                </a:cubicBezTo>
                <a:cubicBezTo>
                  <a:pt x="777" y="385"/>
                  <a:pt x="807" y="460"/>
                  <a:pt x="849" y="540"/>
                </a:cubicBezTo>
                <a:cubicBezTo>
                  <a:pt x="891" y="620"/>
                  <a:pt x="937" y="714"/>
                  <a:pt x="981" y="789"/>
                </a:cubicBezTo>
                <a:cubicBezTo>
                  <a:pt x="1025" y="864"/>
                  <a:pt x="1059" y="941"/>
                  <a:pt x="1110" y="990"/>
                </a:cubicBezTo>
                <a:cubicBezTo>
                  <a:pt x="1161" y="1039"/>
                  <a:pt x="1228" y="1091"/>
                  <a:pt x="1290" y="1083"/>
                </a:cubicBezTo>
                <a:cubicBezTo>
                  <a:pt x="1352" y="1075"/>
                  <a:pt x="1413" y="1027"/>
                  <a:pt x="1482" y="939"/>
                </a:cubicBezTo>
                <a:cubicBezTo>
                  <a:pt x="1551" y="851"/>
                  <a:pt x="1648" y="653"/>
                  <a:pt x="1701" y="555"/>
                </a:cubicBezTo>
                <a:cubicBezTo>
                  <a:pt x="1754" y="457"/>
                  <a:pt x="1757" y="426"/>
                  <a:pt x="1803" y="348"/>
                </a:cubicBezTo>
                <a:cubicBezTo>
                  <a:pt x="1849" y="270"/>
                  <a:pt x="1926" y="141"/>
                  <a:pt x="1980" y="84"/>
                </a:cubicBezTo>
                <a:cubicBezTo>
                  <a:pt x="2034" y="27"/>
                  <a:pt x="2080" y="9"/>
                  <a:pt x="2127" y="6"/>
                </a:cubicBezTo>
                <a:cubicBezTo>
                  <a:pt x="2174" y="3"/>
                  <a:pt x="2234" y="54"/>
                  <a:pt x="2262" y="6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" name="Freeform 18"/>
          <p:cNvSpPr>
            <a:spLocks/>
          </p:cNvSpPr>
          <p:nvPr/>
        </p:nvSpPr>
        <p:spPr bwMode="auto">
          <a:xfrm>
            <a:off x="2371726" y="3887788"/>
            <a:ext cx="4572000" cy="784225"/>
          </a:xfrm>
          <a:custGeom>
            <a:avLst/>
            <a:gdLst>
              <a:gd name="T0" fmla="*/ 0 w 2262"/>
              <a:gd name="T1" fmla="*/ 540 h 541"/>
              <a:gd name="T2" fmla="*/ 186 w 2262"/>
              <a:gd name="T3" fmla="*/ 483 h 541"/>
              <a:gd name="T4" fmla="*/ 423 w 2262"/>
              <a:gd name="T5" fmla="*/ 270 h 541"/>
              <a:gd name="T6" fmla="*/ 654 w 2262"/>
              <a:gd name="T7" fmla="*/ 66 h 541"/>
              <a:gd name="T8" fmla="*/ 864 w 2262"/>
              <a:gd name="T9" fmla="*/ 3 h 541"/>
              <a:gd name="T10" fmla="*/ 1068 w 2262"/>
              <a:gd name="T11" fmla="*/ 84 h 541"/>
              <a:gd name="T12" fmla="*/ 1275 w 2262"/>
              <a:gd name="T13" fmla="*/ 273 h 541"/>
              <a:gd name="T14" fmla="*/ 1533 w 2262"/>
              <a:gd name="T15" fmla="*/ 495 h 541"/>
              <a:gd name="T16" fmla="*/ 1698 w 2262"/>
              <a:gd name="T17" fmla="*/ 540 h 541"/>
              <a:gd name="T18" fmla="*/ 1851 w 2262"/>
              <a:gd name="T19" fmla="*/ 498 h 541"/>
              <a:gd name="T20" fmla="*/ 2025 w 2262"/>
              <a:gd name="T21" fmla="*/ 366 h 541"/>
              <a:gd name="T22" fmla="*/ 2133 w 2262"/>
              <a:gd name="T23" fmla="*/ 261 h 541"/>
              <a:gd name="T24" fmla="*/ 2262 w 2262"/>
              <a:gd name="T25" fmla="*/ 141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2" h="541">
                <a:moveTo>
                  <a:pt x="0" y="540"/>
                </a:moveTo>
                <a:cubicBezTo>
                  <a:pt x="31" y="531"/>
                  <a:pt x="115" y="528"/>
                  <a:pt x="186" y="483"/>
                </a:cubicBezTo>
                <a:cubicBezTo>
                  <a:pt x="257" y="438"/>
                  <a:pt x="345" y="339"/>
                  <a:pt x="423" y="270"/>
                </a:cubicBezTo>
                <a:cubicBezTo>
                  <a:pt x="501" y="201"/>
                  <a:pt x="581" y="110"/>
                  <a:pt x="654" y="66"/>
                </a:cubicBezTo>
                <a:cubicBezTo>
                  <a:pt x="727" y="22"/>
                  <a:pt x="795" y="0"/>
                  <a:pt x="864" y="3"/>
                </a:cubicBezTo>
                <a:cubicBezTo>
                  <a:pt x="933" y="6"/>
                  <a:pt x="1000" y="39"/>
                  <a:pt x="1068" y="84"/>
                </a:cubicBezTo>
                <a:cubicBezTo>
                  <a:pt x="1136" y="129"/>
                  <a:pt x="1198" y="205"/>
                  <a:pt x="1275" y="273"/>
                </a:cubicBezTo>
                <a:cubicBezTo>
                  <a:pt x="1352" y="341"/>
                  <a:pt x="1462" y="451"/>
                  <a:pt x="1533" y="495"/>
                </a:cubicBezTo>
                <a:cubicBezTo>
                  <a:pt x="1604" y="539"/>
                  <a:pt x="1645" y="539"/>
                  <a:pt x="1698" y="540"/>
                </a:cubicBezTo>
                <a:cubicBezTo>
                  <a:pt x="1751" y="541"/>
                  <a:pt x="1797" y="527"/>
                  <a:pt x="1851" y="498"/>
                </a:cubicBezTo>
                <a:cubicBezTo>
                  <a:pt x="1905" y="469"/>
                  <a:pt x="1978" y="405"/>
                  <a:pt x="2025" y="366"/>
                </a:cubicBezTo>
                <a:cubicBezTo>
                  <a:pt x="2072" y="327"/>
                  <a:pt x="2093" y="299"/>
                  <a:pt x="2133" y="261"/>
                </a:cubicBezTo>
                <a:cubicBezTo>
                  <a:pt x="2173" y="223"/>
                  <a:pt x="2235" y="166"/>
                  <a:pt x="2262" y="141"/>
                </a:cubicBezTo>
              </a:path>
            </a:pathLst>
          </a:custGeom>
          <a:noFill/>
          <a:ln w="28575" cap="flat" cmpd="sng">
            <a:solidFill>
              <a:srgbClr val="66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4095750" y="2550716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0" i="1" dirty="0"/>
              <a:t>v</a:t>
            </a:r>
            <a:r>
              <a:rPr lang="en-US" altLang="zh-CN" b="0" dirty="0"/>
              <a:t>, </a:t>
            </a:r>
            <a:r>
              <a:rPr lang="en-US" altLang="zh-CN" b="0" i="1" dirty="0" err="1"/>
              <a:t>i</a:t>
            </a:r>
            <a:endParaRPr lang="en-US" altLang="zh-CN" b="0" dirty="0"/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6751542" y="318078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0" i="1" dirty="0"/>
              <a:t>v</a:t>
            </a:r>
            <a:endParaRPr lang="en-US" altLang="zh-CN" b="0" dirty="0"/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6878092" y="3791069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0" dirty="0"/>
              <a:t> </a:t>
            </a:r>
            <a:r>
              <a:rPr lang="en-US" altLang="zh-CN" b="0" i="1" dirty="0" err="1"/>
              <a:t>i</a:t>
            </a:r>
            <a:endParaRPr lang="en-US" altLang="zh-CN" b="0" dirty="0"/>
          </a:p>
        </p:txBody>
      </p:sp>
      <p:sp>
        <p:nvSpPr>
          <p:cNvPr id="34" name="Line 23"/>
          <p:cNvSpPr>
            <a:spLocks noChangeShapeType="1"/>
          </p:cNvSpPr>
          <p:nvPr/>
        </p:nvSpPr>
        <p:spPr bwMode="auto">
          <a:xfrm>
            <a:off x="3132630" y="3294807"/>
            <a:ext cx="0" cy="2592388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" name="Line 24"/>
          <p:cNvSpPr>
            <a:spLocks noChangeShapeType="1"/>
          </p:cNvSpPr>
          <p:nvPr/>
        </p:nvSpPr>
        <p:spPr bwMode="auto">
          <a:xfrm>
            <a:off x="4028904" y="5564405"/>
            <a:ext cx="369023" cy="361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 flipH="1">
            <a:off x="3132630" y="5557937"/>
            <a:ext cx="365618" cy="82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>
            <a:off x="3112190" y="4705470"/>
            <a:ext cx="978852" cy="1275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3495568" y="5321454"/>
            <a:ext cx="433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0" i="1" dirty="0">
                <a:latin typeface="Symbol" pitchFamily="18" charset="2"/>
              </a:rPr>
              <a:t>q</a:t>
            </a:r>
            <a:r>
              <a:rPr lang="en-US" altLang="zh-CN" b="0" i="1" baseline="-25000" dirty="0"/>
              <a:t>v</a:t>
            </a: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4028904" y="4912713"/>
            <a:ext cx="400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0" i="1" dirty="0">
                <a:latin typeface="Symbol" pitchFamily="18" charset="2"/>
              </a:rPr>
              <a:t>q</a:t>
            </a:r>
            <a:r>
              <a:rPr lang="en-US" altLang="zh-CN" b="0" i="1" baseline="-25000" dirty="0"/>
              <a:t>i</a:t>
            </a: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3420599" y="4240283"/>
            <a:ext cx="49669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0" i="1" dirty="0">
                <a:latin typeface="Symbol" pitchFamily="18" charset="2"/>
              </a:rPr>
              <a:t>j</a:t>
            </a:r>
          </a:p>
        </p:txBody>
      </p:sp>
      <p:sp>
        <p:nvSpPr>
          <p:cNvPr id="41" name="Text Box 30"/>
          <p:cNvSpPr txBox="1">
            <a:spLocks noChangeArrowheads="1"/>
          </p:cNvSpPr>
          <p:nvPr/>
        </p:nvSpPr>
        <p:spPr bwMode="auto">
          <a:xfrm>
            <a:off x="4397927" y="4202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0" dirty="0"/>
              <a:t>0</a:t>
            </a:r>
          </a:p>
        </p:txBody>
      </p:sp>
      <p:sp>
        <p:nvSpPr>
          <p:cNvPr id="42" name="Line 31"/>
          <p:cNvSpPr>
            <a:spLocks noChangeShapeType="1"/>
          </p:cNvSpPr>
          <p:nvPr/>
        </p:nvSpPr>
        <p:spPr bwMode="auto">
          <a:xfrm flipH="1">
            <a:off x="4409281" y="5154065"/>
            <a:ext cx="48418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3" name="Line 32"/>
          <p:cNvSpPr>
            <a:spLocks noChangeShapeType="1"/>
          </p:cNvSpPr>
          <p:nvPr/>
        </p:nvSpPr>
        <p:spPr bwMode="auto">
          <a:xfrm>
            <a:off x="3605267" y="5154065"/>
            <a:ext cx="4857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" name="Line 23"/>
          <p:cNvSpPr>
            <a:spLocks noChangeShapeType="1"/>
          </p:cNvSpPr>
          <p:nvPr/>
        </p:nvSpPr>
        <p:spPr bwMode="auto">
          <a:xfrm>
            <a:off x="4091042" y="3278504"/>
            <a:ext cx="4708" cy="204295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4" grpId="0" autoUpdateAnimBg="0"/>
      <p:bldP spid="44851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Text Box 2"/>
          <p:cNvSpPr txBox="1">
            <a:spLocks noChangeArrowheads="1"/>
          </p:cNvSpPr>
          <p:nvPr/>
        </p:nvSpPr>
        <p:spPr bwMode="auto">
          <a:xfrm>
            <a:off x="258766" y="1646295"/>
            <a:ext cx="316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198000" rIns="198000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b="0" i="1" dirty="0">
                <a:latin typeface="Symbol" pitchFamily="18" charset="2"/>
              </a:rPr>
              <a:t>j </a:t>
            </a:r>
            <a:r>
              <a:rPr lang="zh-CN" altLang="en-US" b="0" dirty="0">
                <a:latin typeface="Symbol" pitchFamily="18" charset="2"/>
              </a:rPr>
              <a:t>＝ </a:t>
            </a:r>
            <a:r>
              <a:rPr lang="en-US" altLang="zh-CN" b="0" dirty="0"/>
              <a:t>0</a:t>
            </a:r>
            <a:r>
              <a:rPr lang="zh-CN" altLang="en-US" dirty="0"/>
              <a:t>， </a:t>
            </a:r>
            <a:r>
              <a:rPr lang="zh-CN" altLang="zh-CN" dirty="0">
                <a:ea typeface="楷体_GB2312" pitchFamily="49" charset="-122"/>
              </a:rPr>
              <a:t>同相</a:t>
            </a:r>
            <a:endParaRPr lang="zh-CN" altLang="en-US" dirty="0">
              <a:latin typeface="Symbol" pitchFamily="18" charset="2"/>
              <a:ea typeface="楷体_GB2312" pitchFamily="49" charset="-122"/>
            </a:endParaRPr>
          </a:p>
        </p:txBody>
      </p:sp>
      <p:sp>
        <p:nvSpPr>
          <p:cNvPr id="449539" name="Rectangle 3"/>
          <p:cNvSpPr>
            <a:spLocks noChangeArrowheads="1"/>
          </p:cNvSpPr>
          <p:nvPr/>
        </p:nvSpPr>
        <p:spPr bwMode="auto">
          <a:xfrm>
            <a:off x="4502174" y="545165"/>
            <a:ext cx="412944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98000" rIns="198000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b="0" i="1" dirty="0">
                <a:latin typeface="Symbol" pitchFamily="18" charset="2"/>
              </a:rPr>
              <a:t>j  </a:t>
            </a:r>
            <a:r>
              <a:rPr lang="en-US" altLang="zh-CN" b="0" dirty="0" smtClean="0"/>
              <a:t>= </a:t>
            </a:r>
            <a:r>
              <a:rPr lang="en-US" altLang="zh-CN" b="0" dirty="0" smtClean="0">
                <a:sym typeface="Symbol" pitchFamily="18" charset="2"/>
              </a:rPr>
              <a:t></a:t>
            </a:r>
            <a:r>
              <a:rPr lang="en-US" altLang="zh-CN" b="0" i="1" dirty="0" smtClean="0">
                <a:sym typeface="Symbol" pitchFamily="18" charset="2"/>
              </a:rPr>
              <a:t></a:t>
            </a:r>
            <a:r>
              <a:rPr lang="en-US" altLang="zh-CN" b="0" dirty="0" smtClean="0">
                <a:sym typeface="Symbol" pitchFamily="18" charset="2"/>
              </a:rPr>
              <a:t>  ( </a:t>
            </a:r>
            <a:r>
              <a:rPr lang="en-US" altLang="zh-CN" b="0" dirty="0" smtClean="0"/>
              <a:t>180</a:t>
            </a:r>
            <a:r>
              <a:rPr lang="en-US" altLang="zh-CN" b="0" baseline="50000" dirty="0" smtClean="0"/>
              <a:t>o  </a:t>
            </a:r>
            <a:r>
              <a:rPr lang="en-US" altLang="zh-CN" b="0" dirty="0"/>
              <a:t>)</a:t>
            </a:r>
            <a:r>
              <a:rPr lang="en-US" altLang="zh-CN" b="0" baseline="50000" dirty="0"/>
              <a:t> </a:t>
            </a:r>
            <a:r>
              <a:rPr lang="zh-CN" altLang="en-US" b="0" dirty="0"/>
              <a:t>，</a:t>
            </a:r>
            <a:r>
              <a:rPr lang="zh-CN" altLang="zh-CN" dirty="0">
                <a:ea typeface="楷体_GB2312" pitchFamily="49" charset="-122"/>
              </a:rPr>
              <a:t>反相</a:t>
            </a:r>
            <a:endParaRPr lang="zh-CN" altLang="en-US" b="0" dirty="0">
              <a:ea typeface="楷体_GB2312" pitchFamily="49" charset="-122"/>
            </a:endParaRPr>
          </a:p>
        </p:txBody>
      </p:sp>
      <p:sp>
        <p:nvSpPr>
          <p:cNvPr id="449540" name="Text Box 4"/>
          <p:cNvSpPr txBox="1">
            <a:spLocks noChangeArrowheads="1"/>
          </p:cNvSpPr>
          <p:nvPr/>
        </p:nvSpPr>
        <p:spPr bwMode="auto">
          <a:xfrm>
            <a:off x="539751" y="833549"/>
            <a:ext cx="2290160" cy="465083"/>
          </a:xfrm>
          <a:prstGeom prst="rect">
            <a:avLst/>
          </a:prstGeom>
          <a:noFill/>
          <a:ln w="28575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/>
          <a:lstStyle/>
          <a:p>
            <a:pPr algn="ctr" eaLnBrk="1" hangingPunct="1"/>
            <a:r>
              <a:rPr lang="zh-CN" altLang="en-US" dirty="0">
                <a:ea typeface="楷体_GB2312" pitchFamily="49" charset="-122"/>
              </a:rPr>
              <a:t>特殊相位关系</a:t>
            </a:r>
          </a:p>
        </p:txBody>
      </p:sp>
      <p:grpSp>
        <p:nvGrpSpPr>
          <p:cNvPr id="449541" name="Group 5"/>
          <p:cNvGrpSpPr>
            <a:grpSpLocks/>
          </p:cNvGrpSpPr>
          <p:nvPr/>
        </p:nvGrpSpPr>
        <p:grpSpPr bwMode="auto">
          <a:xfrm>
            <a:off x="222060" y="2136832"/>
            <a:ext cx="4060825" cy="2290762"/>
            <a:chOff x="158" y="1248"/>
            <a:chExt cx="2558" cy="1443"/>
          </a:xfrm>
        </p:grpSpPr>
        <p:sp>
          <p:nvSpPr>
            <p:cNvPr id="449542" name="Line 6"/>
            <p:cNvSpPr>
              <a:spLocks noChangeShapeType="1"/>
            </p:cNvSpPr>
            <p:nvPr/>
          </p:nvSpPr>
          <p:spPr bwMode="auto">
            <a:xfrm flipV="1">
              <a:off x="733" y="1248"/>
              <a:ext cx="0" cy="1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543" name="Line 7"/>
            <p:cNvSpPr>
              <a:spLocks noChangeShapeType="1"/>
            </p:cNvSpPr>
            <p:nvPr/>
          </p:nvSpPr>
          <p:spPr bwMode="auto">
            <a:xfrm flipV="1">
              <a:off x="328" y="2088"/>
              <a:ext cx="2238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544" name="Text Box 8"/>
            <p:cNvSpPr txBox="1">
              <a:spLocks noChangeArrowheads="1"/>
            </p:cNvSpPr>
            <p:nvPr/>
          </p:nvSpPr>
          <p:spPr bwMode="auto">
            <a:xfrm>
              <a:off x="2367" y="2046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b="0" i="1" dirty="0">
                  <a:sym typeface="Symbol" pitchFamily="18" charset="2"/>
                </a:rPr>
                <a:t> </a:t>
              </a:r>
              <a:r>
                <a:rPr lang="en-US" altLang="zh-CN" b="0" i="1" dirty="0"/>
                <a:t>t</a:t>
              </a:r>
            </a:p>
          </p:txBody>
        </p:sp>
        <p:sp>
          <p:nvSpPr>
            <p:cNvPr id="449545" name="Freeform 9"/>
            <p:cNvSpPr>
              <a:spLocks/>
            </p:cNvSpPr>
            <p:nvPr/>
          </p:nvSpPr>
          <p:spPr bwMode="auto">
            <a:xfrm>
              <a:off x="318" y="1626"/>
              <a:ext cx="1951" cy="932"/>
            </a:xfrm>
            <a:custGeom>
              <a:avLst/>
              <a:gdLst>
                <a:gd name="T0" fmla="*/ 0 w 2118"/>
                <a:gd name="T1" fmla="*/ 734 h 868"/>
                <a:gd name="T2" fmla="*/ 260 w 2118"/>
                <a:gd name="T3" fmla="*/ 286 h 868"/>
                <a:gd name="T4" fmla="*/ 335 w 2118"/>
                <a:gd name="T5" fmla="*/ 162 h 868"/>
                <a:gd name="T6" fmla="*/ 430 w 2118"/>
                <a:gd name="T7" fmla="*/ 53 h 868"/>
                <a:gd name="T8" fmla="*/ 538 w 2118"/>
                <a:gd name="T9" fmla="*/ 2 h 868"/>
                <a:gd name="T10" fmla="*/ 672 w 2118"/>
                <a:gd name="T11" fmla="*/ 64 h 868"/>
                <a:gd name="T12" fmla="*/ 806 w 2118"/>
                <a:gd name="T13" fmla="*/ 246 h 868"/>
                <a:gd name="T14" fmla="*/ 906 w 2118"/>
                <a:gd name="T15" fmla="*/ 430 h 868"/>
                <a:gd name="T16" fmla="*/ 1019 w 2118"/>
                <a:gd name="T17" fmla="*/ 628 h 868"/>
                <a:gd name="T18" fmla="*/ 1130 w 2118"/>
                <a:gd name="T19" fmla="*/ 788 h 868"/>
                <a:gd name="T20" fmla="*/ 1284 w 2118"/>
                <a:gd name="T21" fmla="*/ 862 h 868"/>
                <a:gd name="T22" fmla="*/ 1449 w 2118"/>
                <a:gd name="T23" fmla="*/ 747 h 868"/>
                <a:gd name="T24" fmla="*/ 1637 w 2118"/>
                <a:gd name="T25" fmla="*/ 442 h 868"/>
                <a:gd name="T26" fmla="*/ 1724 w 2118"/>
                <a:gd name="T27" fmla="*/ 277 h 868"/>
                <a:gd name="T28" fmla="*/ 1876 w 2118"/>
                <a:gd name="T29" fmla="*/ 67 h 868"/>
                <a:gd name="T30" fmla="*/ 2002 w 2118"/>
                <a:gd name="T31" fmla="*/ 5 h 868"/>
                <a:gd name="T32" fmla="*/ 2118 w 2118"/>
                <a:gd name="T33" fmla="*/ 53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18" h="868">
                  <a:moveTo>
                    <a:pt x="0" y="734"/>
                  </a:moveTo>
                  <a:cubicBezTo>
                    <a:pt x="43" y="660"/>
                    <a:pt x="204" y="381"/>
                    <a:pt x="260" y="286"/>
                  </a:cubicBezTo>
                  <a:cubicBezTo>
                    <a:pt x="316" y="191"/>
                    <a:pt x="307" y="201"/>
                    <a:pt x="335" y="162"/>
                  </a:cubicBezTo>
                  <a:cubicBezTo>
                    <a:pt x="363" y="123"/>
                    <a:pt x="397" y="79"/>
                    <a:pt x="430" y="53"/>
                  </a:cubicBezTo>
                  <a:cubicBezTo>
                    <a:pt x="464" y="26"/>
                    <a:pt x="498" y="0"/>
                    <a:pt x="538" y="2"/>
                  </a:cubicBezTo>
                  <a:cubicBezTo>
                    <a:pt x="579" y="5"/>
                    <a:pt x="627" y="24"/>
                    <a:pt x="672" y="64"/>
                  </a:cubicBezTo>
                  <a:cubicBezTo>
                    <a:pt x="717" y="105"/>
                    <a:pt x="767" y="185"/>
                    <a:pt x="806" y="246"/>
                  </a:cubicBezTo>
                  <a:cubicBezTo>
                    <a:pt x="844" y="306"/>
                    <a:pt x="870" y="366"/>
                    <a:pt x="906" y="430"/>
                  </a:cubicBezTo>
                  <a:cubicBezTo>
                    <a:pt x="942" y="493"/>
                    <a:pt x="982" y="568"/>
                    <a:pt x="1019" y="628"/>
                  </a:cubicBezTo>
                  <a:cubicBezTo>
                    <a:pt x="1057" y="687"/>
                    <a:pt x="1086" y="749"/>
                    <a:pt x="1130" y="788"/>
                  </a:cubicBezTo>
                  <a:cubicBezTo>
                    <a:pt x="1174" y="827"/>
                    <a:pt x="1231" y="868"/>
                    <a:pt x="1284" y="862"/>
                  </a:cubicBezTo>
                  <a:cubicBezTo>
                    <a:pt x="1338" y="855"/>
                    <a:pt x="1390" y="817"/>
                    <a:pt x="1449" y="747"/>
                  </a:cubicBezTo>
                  <a:cubicBezTo>
                    <a:pt x="1508" y="677"/>
                    <a:pt x="1591" y="520"/>
                    <a:pt x="1637" y="442"/>
                  </a:cubicBezTo>
                  <a:cubicBezTo>
                    <a:pt x="1682" y="364"/>
                    <a:pt x="1685" y="339"/>
                    <a:pt x="1724" y="277"/>
                  </a:cubicBezTo>
                  <a:cubicBezTo>
                    <a:pt x="1764" y="215"/>
                    <a:pt x="1830" y="112"/>
                    <a:pt x="1876" y="67"/>
                  </a:cubicBezTo>
                  <a:cubicBezTo>
                    <a:pt x="1922" y="21"/>
                    <a:pt x="1962" y="7"/>
                    <a:pt x="2002" y="5"/>
                  </a:cubicBezTo>
                  <a:cubicBezTo>
                    <a:pt x="2043" y="2"/>
                    <a:pt x="2094" y="43"/>
                    <a:pt x="2118" y="53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9546" name="Freeform 10"/>
            <p:cNvSpPr>
              <a:spLocks/>
            </p:cNvSpPr>
            <p:nvPr/>
          </p:nvSpPr>
          <p:spPr bwMode="auto">
            <a:xfrm>
              <a:off x="158" y="1859"/>
              <a:ext cx="2125" cy="464"/>
            </a:xfrm>
            <a:custGeom>
              <a:avLst/>
              <a:gdLst>
                <a:gd name="T0" fmla="*/ 0 w 2307"/>
                <a:gd name="T1" fmla="*/ 430 h 432"/>
                <a:gd name="T2" fmla="*/ 160 w 2307"/>
                <a:gd name="T3" fmla="*/ 385 h 432"/>
                <a:gd name="T4" fmla="*/ 363 w 2307"/>
                <a:gd name="T5" fmla="*/ 215 h 432"/>
                <a:gd name="T6" fmla="*/ 561 w 2307"/>
                <a:gd name="T7" fmla="*/ 53 h 432"/>
                <a:gd name="T8" fmla="*/ 741 w 2307"/>
                <a:gd name="T9" fmla="*/ 2 h 432"/>
                <a:gd name="T10" fmla="*/ 916 w 2307"/>
                <a:gd name="T11" fmla="*/ 67 h 432"/>
                <a:gd name="T12" fmla="*/ 1094 w 2307"/>
                <a:gd name="T13" fmla="*/ 217 h 432"/>
                <a:gd name="T14" fmla="*/ 1311 w 2307"/>
                <a:gd name="T15" fmla="*/ 385 h 432"/>
                <a:gd name="T16" fmla="*/ 1446 w 2307"/>
                <a:gd name="T17" fmla="*/ 430 h 432"/>
                <a:gd name="T18" fmla="*/ 1588 w 2307"/>
                <a:gd name="T19" fmla="*/ 397 h 432"/>
                <a:gd name="T20" fmla="*/ 1731 w 2307"/>
                <a:gd name="T21" fmla="*/ 286 h 432"/>
                <a:gd name="T22" fmla="*/ 1830 w 2307"/>
                <a:gd name="T23" fmla="*/ 205 h 432"/>
                <a:gd name="T24" fmla="*/ 1968 w 2307"/>
                <a:gd name="T25" fmla="*/ 82 h 432"/>
                <a:gd name="T26" fmla="*/ 2139 w 2307"/>
                <a:gd name="T27" fmla="*/ 13 h 432"/>
                <a:gd name="T28" fmla="*/ 2256 w 2307"/>
                <a:gd name="T29" fmla="*/ 28 h 432"/>
                <a:gd name="T30" fmla="*/ 2307 w 2307"/>
                <a:gd name="T31" fmla="*/ 5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07" h="432">
                  <a:moveTo>
                    <a:pt x="0" y="430"/>
                  </a:moveTo>
                  <a:cubicBezTo>
                    <a:pt x="27" y="423"/>
                    <a:pt x="99" y="421"/>
                    <a:pt x="160" y="385"/>
                  </a:cubicBezTo>
                  <a:cubicBezTo>
                    <a:pt x="220" y="349"/>
                    <a:pt x="296" y="270"/>
                    <a:pt x="363" y="215"/>
                  </a:cubicBezTo>
                  <a:cubicBezTo>
                    <a:pt x="430" y="160"/>
                    <a:pt x="498" y="88"/>
                    <a:pt x="561" y="53"/>
                  </a:cubicBezTo>
                  <a:cubicBezTo>
                    <a:pt x="624" y="18"/>
                    <a:pt x="682" y="0"/>
                    <a:pt x="741" y="2"/>
                  </a:cubicBezTo>
                  <a:cubicBezTo>
                    <a:pt x="800" y="5"/>
                    <a:pt x="858" y="31"/>
                    <a:pt x="916" y="67"/>
                  </a:cubicBezTo>
                  <a:cubicBezTo>
                    <a:pt x="974" y="103"/>
                    <a:pt x="1028" y="164"/>
                    <a:pt x="1094" y="217"/>
                  </a:cubicBezTo>
                  <a:cubicBezTo>
                    <a:pt x="1160" y="270"/>
                    <a:pt x="1252" y="349"/>
                    <a:pt x="1311" y="385"/>
                  </a:cubicBezTo>
                  <a:cubicBezTo>
                    <a:pt x="1370" y="421"/>
                    <a:pt x="1400" y="428"/>
                    <a:pt x="1446" y="430"/>
                  </a:cubicBezTo>
                  <a:cubicBezTo>
                    <a:pt x="1492" y="432"/>
                    <a:pt x="1540" y="421"/>
                    <a:pt x="1588" y="397"/>
                  </a:cubicBezTo>
                  <a:cubicBezTo>
                    <a:pt x="1636" y="373"/>
                    <a:pt x="1691" y="318"/>
                    <a:pt x="1731" y="286"/>
                  </a:cubicBezTo>
                  <a:cubicBezTo>
                    <a:pt x="1771" y="254"/>
                    <a:pt x="1791" y="239"/>
                    <a:pt x="1830" y="205"/>
                  </a:cubicBezTo>
                  <a:cubicBezTo>
                    <a:pt x="1869" y="171"/>
                    <a:pt x="1917" y="114"/>
                    <a:pt x="1968" y="82"/>
                  </a:cubicBezTo>
                  <a:cubicBezTo>
                    <a:pt x="2019" y="50"/>
                    <a:pt x="2091" y="22"/>
                    <a:pt x="2139" y="13"/>
                  </a:cubicBezTo>
                  <a:cubicBezTo>
                    <a:pt x="2187" y="4"/>
                    <a:pt x="2228" y="21"/>
                    <a:pt x="2256" y="28"/>
                  </a:cubicBezTo>
                  <a:cubicBezTo>
                    <a:pt x="2284" y="35"/>
                    <a:pt x="2297" y="47"/>
                    <a:pt x="2307" y="52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9547" name="Text Box 11"/>
            <p:cNvSpPr txBox="1">
              <a:spLocks noChangeArrowheads="1"/>
            </p:cNvSpPr>
            <p:nvPr/>
          </p:nvSpPr>
          <p:spPr bwMode="auto">
            <a:xfrm>
              <a:off x="2247" y="150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i="1" dirty="0"/>
                <a:t>v</a:t>
              </a:r>
              <a:endParaRPr lang="en-US" altLang="zh-CN" b="0" dirty="0"/>
            </a:p>
          </p:txBody>
        </p:sp>
        <p:sp>
          <p:nvSpPr>
            <p:cNvPr id="449548" name="Text Box 12"/>
            <p:cNvSpPr txBox="1">
              <a:spLocks noChangeArrowheads="1"/>
            </p:cNvSpPr>
            <p:nvPr/>
          </p:nvSpPr>
          <p:spPr bwMode="auto">
            <a:xfrm>
              <a:off x="2214" y="1761"/>
              <a:ext cx="2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/>
                <a:t> </a:t>
              </a:r>
              <a:r>
                <a:rPr lang="en-US" altLang="zh-CN" b="0" i="1"/>
                <a:t>i</a:t>
              </a:r>
              <a:endParaRPr lang="en-US" altLang="zh-CN" b="0"/>
            </a:p>
          </p:txBody>
        </p:sp>
        <p:sp>
          <p:nvSpPr>
            <p:cNvPr id="449549" name="Text Box 13"/>
            <p:cNvSpPr txBox="1">
              <a:spLocks noChangeArrowheads="1"/>
            </p:cNvSpPr>
            <p:nvPr/>
          </p:nvSpPr>
          <p:spPr bwMode="auto">
            <a:xfrm>
              <a:off x="712" y="2049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b="0" dirty="0" smtClean="0"/>
                <a:t>0</a:t>
              </a:r>
              <a:endParaRPr lang="en-US" altLang="zh-CN" b="0" dirty="0"/>
            </a:p>
          </p:txBody>
        </p:sp>
      </p:grpSp>
      <p:grpSp>
        <p:nvGrpSpPr>
          <p:cNvPr id="449550" name="Group 14"/>
          <p:cNvGrpSpPr>
            <a:grpSpLocks/>
          </p:cNvGrpSpPr>
          <p:nvPr/>
        </p:nvGrpSpPr>
        <p:grpSpPr bwMode="auto">
          <a:xfrm>
            <a:off x="4620418" y="1120832"/>
            <a:ext cx="4054475" cy="2133600"/>
            <a:chOff x="2835" y="663"/>
            <a:chExt cx="2554" cy="1344"/>
          </a:xfrm>
        </p:grpSpPr>
        <p:sp>
          <p:nvSpPr>
            <p:cNvPr id="449551" name="Line 15"/>
            <p:cNvSpPr>
              <a:spLocks noChangeShapeType="1"/>
            </p:cNvSpPr>
            <p:nvPr/>
          </p:nvSpPr>
          <p:spPr bwMode="auto">
            <a:xfrm flipV="1">
              <a:off x="3379" y="663"/>
              <a:ext cx="0" cy="1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552" name="Line 16"/>
            <p:cNvSpPr>
              <a:spLocks noChangeShapeType="1"/>
            </p:cNvSpPr>
            <p:nvPr/>
          </p:nvSpPr>
          <p:spPr bwMode="auto">
            <a:xfrm>
              <a:off x="2993" y="1487"/>
              <a:ext cx="2212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553" name="Text Box 17"/>
            <p:cNvSpPr txBox="1">
              <a:spLocks noChangeArrowheads="1"/>
            </p:cNvSpPr>
            <p:nvPr/>
          </p:nvSpPr>
          <p:spPr bwMode="auto">
            <a:xfrm>
              <a:off x="5040" y="1451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b="0" i="1" dirty="0">
                  <a:sym typeface="Symbol" pitchFamily="18" charset="2"/>
                </a:rPr>
                <a:t> </a:t>
              </a:r>
              <a:r>
                <a:rPr lang="en-US" altLang="zh-CN" b="0" i="1" dirty="0"/>
                <a:t>t</a:t>
              </a:r>
            </a:p>
          </p:txBody>
        </p:sp>
        <p:sp>
          <p:nvSpPr>
            <p:cNvPr id="449554" name="Freeform 18"/>
            <p:cNvSpPr>
              <a:spLocks/>
            </p:cNvSpPr>
            <p:nvPr/>
          </p:nvSpPr>
          <p:spPr bwMode="auto">
            <a:xfrm>
              <a:off x="2984" y="1050"/>
              <a:ext cx="1809" cy="868"/>
            </a:xfrm>
            <a:custGeom>
              <a:avLst/>
              <a:gdLst>
                <a:gd name="T0" fmla="*/ 0 w 2118"/>
                <a:gd name="T1" fmla="*/ 734 h 868"/>
                <a:gd name="T2" fmla="*/ 260 w 2118"/>
                <a:gd name="T3" fmla="*/ 286 h 868"/>
                <a:gd name="T4" fmla="*/ 335 w 2118"/>
                <a:gd name="T5" fmla="*/ 162 h 868"/>
                <a:gd name="T6" fmla="*/ 430 w 2118"/>
                <a:gd name="T7" fmla="*/ 53 h 868"/>
                <a:gd name="T8" fmla="*/ 538 w 2118"/>
                <a:gd name="T9" fmla="*/ 2 h 868"/>
                <a:gd name="T10" fmla="*/ 672 w 2118"/>
                <a:gd name="T11" fmla="*/ 64 h 868"/>
                <a:gd name="T12" fmla="*/ 806 w 2118"/>
                <a:gd name="T13" fmla="*/ 246 h 868"/>
                <a:gd name="T14" fmla="*/ 906 w 2118"/>
                <a:gd name="T15" fmla="*/ 430 h 868"/>
                <a:gd name="T16" fmla="*/ 1019 w 2118"/>
                <a:gd name="T17" fmla="*/ 628 h 868"/>
                <a:gd name="T18" fmla="*/ 1130 w 2118"/>
                <a:gd name="T19" fmla="*/ 788 h 868"/>
                <a:gd name="T20" fmla="*/ 1284 w 2118"/>
                <a:gd name="T21" fmla="*/ 862 h 868"/>
                <a:gd name="T22" fmla="*/ 1449 w 2118"/>
                <a:gd name="T23" fmla="*/ 747 h 868"/>
                <a:gd name="T24" fmla="*/ 1637 w 2118"/>
                <a:gd name="T25" fmla="*/ 442 h 868"/>
                <a:gd name="T26" fmla="*/ 1724 w 2118"/>
                <a:gd name="T27" fmla="*/ 277 h 868"/>
                <a:gd name="T28" fmla="*/ 1876 w 2118"/>
                <a:gd name="T29" fmla="*/ 67 h 868"/>
                <a:gd name="T30" fmla="*/ 2002 w 2118"/>
                <a:gd name="T31" fmla="*/ 5 h 868"/>
                <a:gd name="T32" fmla="*/ 2118 w 2118"/>
                <a:gd name="T33" fmla="*/ 53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18" h="868">
                  <a:moveTo>
                    <a:pt x="0" y="734"/>
                  </a:moveTo>
                  <a:cubicBezTo>
                    <a:pt x="43" y="660"/>
                    <a:pt x="204" y="381"/>
                    <a:pt x="260" y="286"/>
                  </a:cubicBezTo>
                  <a:cubicBezTo>
                    <a:pt x="316" y="191"/>
                    <a:pt x="307" y="201"/>
                    <a:pt x="335" y="162"/>
                  </a:cubicBezTo>
                  <a:cubicBezTo>
                    <a:pt x="363" y="123"/>
                    <a:pt x="397" y="79"/>
                    <a:pt x="430" y="53"/>
                  </a:cubicBezTo>
                  <a:cubicBezTo>
                    <a:pt x="464" y="26"/>
                    <a:pt x="498" y="0"/>
                    <a:pt x="538" y="2"/>
                  </a:cubicBezTo>
                  <a:cubicBezTo>
                    <a:pt x="579" y="5"/>
                    <a:pt x="627" y="24"/>
                    <a:pt x="672" y="64"/>
                  </a:cubicBezTo>
                  <a:cubicBezTo>
                    <a:pt x="717" y="105"/>
                    <a:pt x="767" y="185"/>
                    <a:pt x="806" y="246"/>
                  </a:cubicBezTo>
                  <a:cubicBezTo>
                    <a:pt x="844" y="306"/>
                    <a:pt x="870" y="366"/>
                    <a:pt x="906" y="430"/>
                  </a:cubicBezTo>
                  <a:cubicBezTo>
                    <a:pt x="942" y="493"/>
                    <a:pt x="982" y="568"/>
                    <a:pt x="1019" y="628"/>
                  </a:cubicBezTo>
                  <a:cubicBezTo>
                    <a:pt x="1057" y="687"/>
                    <a:pt x="1086" y="749"/>
                    <a:pt x="1130" y="788"/>
                  </a:cubicBezTo>
                  <a:cubicBezTo>
                    <a:pt x="1174" y="827"/>
                    <a:pt x="1231" y="868"/>
                    <a:pt x="1284" y="862"/>
                  </a:cubicBezTo>
                  <a:cubicBezTo>
                    <a:pt x="1338" y="855"/>
                    <a:pt x="1390" y="817"/>
                    <a:pt x="1449" y="747"/>
                  </a:cubicBezTo>
                  <a:cubicBezTo>
                    <a:pt x="1508" y="677"/>
                    <a:pt x="1591" y="520"/>
                    <a:pt x="1637" y="442"/>
                  </a:cubicBezTo>
                  <a:cubicBezTo>
                    <a:pt x="1682" y="364"/>
                    <a:pt x="1685" y="339"/>
                    <a:pt x="1724" y="277"/>
                  </a:cubicBezTo>
                  <a:cubicBezTo>
                    <a:pt x="1764" y="215"/>
                    <a:pt x="1830" y="112"/>
                    <a:pt x="1876" y="67"/>
                  </a:cubicBezTo>
                  <a:cubicBezTo>
                    <a:pt x="1922" y="21"/>
                    <a:pt x="1962" y="7"/>
                    <a:pt x="2002" y="5"/>
                  </a:cubicBezTo>
                  <a:cubicBezTo>
                    <a:pt x="2043" y="2"/>
                    <a:pt x="2094" y="43"/>
                    <a:pt x="2118" y="53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9555" name="Freeform 19"/>
            <p:cNvSpPr>
              <a:spLocks/>
            </p:cNvSpPr>
            <p:nvPr/>
          </p:nvSpPr>
          <p:spPr bwMode="auto">
            <a:xfrm flipV="1">
              <a:off x="2835" y="1207"/>
              <a:ext cx="1970" cy="575"/>
            </a:xfrm>
            <a:custGeom>
              <a:avLst/>
              <a:gdLst>
                <a:gd name="T0" fmla="*/ 0 w 2307"/>
                <a:gd name="T1" fmla="*/ 430 h 432"/>
                <a:gd name="T2" fmla="*/ 160 w 2307"/>
                <a:gd name="T3" fmla="*/ 385 h 432"/>
                <a:gd name="T4" fmla="*/ 363 w 2307"/>
                <a:gd name="T5" fmla="*/ 215 h 432"/>
                <a:gd name="T6" fmla="*/ 561 w 2307"/>
                <a:gd name="T7" fmla="*/ 53 h 432"/>
                <a:gd name="T8" fmla="*/ 741 w 2307"/>
                <a:gd name="T9" fmla="*/ 2 h 432"/>
                <a:gd name="T10" fmla="*/ 916 w 2307"/>
                <a:gd name="T11" fmla="*/ 67 h 432"/>
                <a:gd name="T12" fmla="*/ 1094 w 2307"/>
                <a:gd name="T13" fmla="*/ 217 h 432"/>
                <a:gd name="T14" fmla="*/ 1311 w 2307"/>
                <a:gd name="T15" fmla="*/ 385 h 432"/>
                <a:gd name="T16" fmla="*/ 1446 w 2307"/>
                <a:gd name="T17" fmla="*/ 430 h 432"/>
                <a:gd name="T18" fmla="*/ 1588 w 2307"/>
                <a:gd name="T19" fmla="*/ 397 h 432"/>
                <a:gd name="T20" fmla="*/ 1731 w 2307"/>
                <a:gd name="T21" fmla="*/ 286 h 432"/>
                <a:gd name="T22" fmla="*/ 1830 w 2307"/>
                <a:gd name="T23" fmla="*/ 205 h 432"/>
                <a:gd name="T24" fmla="*/ 1968 w 2307"/>
                <a:gd name="T25" fmla="*/ 82 h 432"/>
                <a:gd name="T26" fmla="*/ 2139 w 2307"/>
                <a:gd name="T27" fmla="*/ 13 h 432"/>
                <a:gd name="T28" fmla="*/ 2256 w 2307"/>
                <a:gd name="T29" fmla="*/ 28 h 432"/>
                <a:gd name="T30" fmla="*/ 2307 w 2307"/>
                <a:gd name="T31" fmla="*/ 5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07" h="432">
                  <a:moveTo>
                    <a:pt x="0" y="430"/>
                  </a:moveTo>
                  <a:cubicBezTo>
                    <a:pt x="27" y="423"/>
                    <a:pt x="99" y="421"/>
                    <a:pt x="160" y="385"/>
                  </a:cubicBezTo>
                  <a:cubicBezTo>
                    <a:pt x="220" y="349"/>
                    <a:pt x="296" y="270"/>
                    <a:pt x="363" y="215"/>
                  </a:cubicBezTo>
                  <a:cubicBezTo>
                    <a:pt x="430" y="160"/>
                    <a:pt x="498" y="88"/>
                    <a:pt x="561" y="53"/>
                  </a:cubicBezTo>
                  <a:cubicBezTo>
                    <a:pt x="624" y="18"/>
                    <a:pt x="682" y="0"/>
                    <a:pt x="741" y="2"/>
                  </a:cubicBezTo>
                  <a:cubicBezTo>
                    <a:pt x="800" y="5"/>
                    <a:pt x="858" y="31"/>
                    <a:pt x="916" y="67"/>
                  </a:cubicBezTo>
                  <a:cubicBezTo>
                    <a:pt x="974" y="103"/>
                    <a:pt x="1028" y="164"/>
                    <a:pt x="1094" y="217"/>
                  </a:cubicBezTo>
                  <a:cubicBezTo>
                    <a:pt x="1160" y="270"/>
                    <a:pt x="1252" y="349"/>
                    <a:pt x="1311" y="385"/>
                  </a:cubicBezTo>
                  <a:cubicBezTo>
                    <a:pt x="1370" y="421"/>
                    <a:pt x="1400" y="428"/>
                    <a:pt x="1446" y="430"/>
                  </a:cubicBezTo>
                  <a:cubicBezTo>
                    <a:pt x="1492" y="432"/>
                    <a:pt x="1540" y="421"/>
                    <a:pt x="1588" y="397"/>
                  </a:cubicBezTo>
                  <a:cubicBezTo>
                    <a:pt x="1636" y="373"/>
                    <a:pt x="1691" y="318"/>
                    <a:pt x="1731" y="286"/>
                  </a:cubicBezTo>
                  <a:cubicBezTo>
                    <a:pt x="1771" y="254"/>
                    <a:pt x="1791" y="239"/>
                    <a:pt x="1830" y="205"/>
                  </a:cubicBezTo>
                  <a:cubicBezTo>
                    <a:pt x="1869" y="171"/>
                    <a:pt x="1917" y="114"/>
                    <a:pt x="1968" y="82"/>
                  </a:cubicBezTo>
                  <a:cubicBezTo>
                    <a:pt x="2019" y="50"/>
                    <a:pt x="2091" y="22"/>
                    <a:pt x="2139" y="13"/>
                  </a:cubicBezTo>
                  <a:cubicBezTo>
                    <a:pt x="2187" y="4"/>
                    <a:pt x="2228" y="21"/>
                    <a:pt x="2256" y="28"/>
                  </a:cubicBezTo>
                  <a:cubicBezTo>
                    <a:pt x="2284" y="35"/>
                    <a:pt x="2297" y="47"/>
                    <a:pt x="2307" y="52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9556" name="Text Box 20"/>
            <p:cNvSpPr txBox="1">
              <a:spLocks noChangeArrowheads="1"/>
            </p:cNvSpPr>
            <p:nvPr/>
          </p:nvSpPr>
          <p:spPr bwMode="auto">
            <a:xfrm>
              <a:off x="4776" y="949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i="1" dirty="0"/>
                <a:t>v</a:t>
              </a:r>
              <a:endParaRPr lang="en-US" altLang="zh-CN" b="0" dirty="0"/>
            </a:p>
          </p:txBody>
        </p:sp>
        <p:sp>
          <p:nvSpPr>
            <p:cNvPr id="449557" name="Text Box 21"/>
            <p:cNvSpPr txBox="1">
              <a:spLocks noChangeArrowheads="1"/>
            </p:cNvSpPr>
            <p:nvPr/>
          </p:nvSpPr>
          <p:spPr bwMode="auto">
            <a:xfrm>
              <a:off x="4755" y="1562"/>
              <a:ext cx="2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dirty="0"/>
                <a:t> </a:t>
              </a:r>
              <a:r>
                <a:rPr lang="en-US" altLang="zh-CN" b="0" i="1" dirty="0" err="1"/>
                <a:t>i</a:t>
              </a:r>
              <a:endParaRPr lang="en-US" altLang="zh-CN" b="0" dirty="0"/>
            </a:p>
          </p:txBody>
        </p:sp>
        <p:sp>
          <p:nvSpPr>
            <p:cNvPr id="449558" name="Text Box 22"/>
            <p:cNvSpPr txBox="1">
              <a:spLocks noChangeArrowheads="1"/>
            </p:cNvSpPr>
            <p:nvPr/>
          </p:nvSpPr>
          <p:spPr bwMode="auto">
            <a:xfrm>
              <a:off x="3376" y="145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dirty="0"/>
                <a:t>0</a:t>
              </a:r>
            </a:p>
          </p:txBody>
        </p:sp>
      </p:grpSp>
      <p:sp>
        <p:nvSpPr>
          <p:cNvPr id="449559" name="Text Box 23"/>
          <p:cNvSpPr txBox="1">
            <a:spLocks noChangeArrowheads="1"/>
          </p:cNvSpPr>
          <p:nvPr/>
        </p:nvSpPr>
        <p:spPr bwMode="auto">
          <a:xfrm>
            <a:off x="4502174" y="3699329"/>
            <a:ext cx="4626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0"/>
              </a:spcBef>
              <a:buFont typeface="Symbol" pitchFamily="18" charset="2"/>
              <a:buNone/>
            </a:pPr>
            <a:r>
              <a:rPr lang="en-US" altLang="zh-CN" b="0" i="1" dirty="0">
                <a:latin typeface="Symbol" pitchFamily="18" charset="2"/>
              </a:rPr>
              <a:t>j</a:t>
            </a:r>
            <a:r>
              <a:rPr lang="en-US" altLang="zh-CN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CN" b="0" dirty="0">
                <a:sym typeface="Symbol" pitchFamily="18" charset="2"/>
              </a:rPr>
              <a:t>= </a:t>
            </a:r>
            <a:r>
              <a:rPr lang="en-US" altLang="zh-CN" b="0" i="1" dirty="0">
                <a:latin typeface="Symbol" pitchFamily="18" charset="2"/>
              </a:rPr>
              <a:t>p</a:t>
            </a:r>
            <a:r>
              <a:rPr lang="en-US" altLang="zh-CN" b="0" dirty="0">
                <a:latin typeface="Symbol" pitchFamily="18" charset="2"/>
              </a:rPr>
              <a:t>/2</a:t>
            </a:r>
            <a:r>
              <a:rPr lang="zh-CN" altLang="en-US" b="0" dirty="0">
                <a:latin typeface="Symbol" pitchFamily="18" charset="2"/>
              </a:rPr>
              <a:t>：</a:t>
            </a:r>
            <a:r>
              <a:rPr lang="en-US" altLang="zh-CN" b="0" i="1" dirty="0"/>
              <a:t>v </a:t>
            </a:r>
            <a:r>
              <a:rPr lang="zh-CN" altLang="en-US" dirty="0">
                <a:ea typeface="楷体_GB2312" pitchFamily="49" charset="-122"/>
              </a:rPr>
              <a:t>领先</a:t>
            </a:r>
            <a:r>
              <a:rPr lang="zh-CN" altLang="en-US" b="0" dirty="0"/>
              <a:t> </a:t>
            </a:r>
            <a:r>
              <a:rPr lang="en-US" altLang="zh-CN" b="0" i="1" dirty="0" err="1"/>
              <a:t>i</a:t>
            </a:r>
            <a:r>
              <a:rPr lang="en-US" altLang="zh-CN" b="0" i="1" dirty="0"/>
              <a:t> </a:t>
            </a:r>
            <a:r>
              <a:rPr lang="en-US" altLang="zh-CN" b="0" i="1" dirty="0">
                <a:latin typeface="Symbol" pitchFamily="18" charset="2"/>
              </a:rPr>
              <a:t>p </a:t>
            </a:r>
            <a:r>
              <a:rPr lang="en-US" altLang="zh-CN" b="0" dirty="0">
                <a:latin typeface="Symbol" pitchFamily="18" charset="2"/>
              </a:rPr>
              <a:t>/2</a:t>
            </a:r>
            <a:r>
              <a:rPr lang="en-US" altLang="zh-CN" b="0" i="1" dirty="0"/>
              <a:t> </a:t>
            </a:r>
            <a:r>
              <a:rPr lang="zh-CN" altLang="en-US" b="0" dirty="0"/>
              <a:t>，</a:t>
            </a:r>
            <a:r>
              <a:rPr lang="zh-CN" altLang="en-US" dirty="0"/>
              <a:t>相位正交</a:t>
            </a:r>
          </a:p>
        </p:txBody>
      </p:sp>
      <p:grpSp>
        <p:nvGrpSpPr>
          <p:cNvPr id="449560" name="Group 24"/>
          <p:cNvGrpSpPr>
            <a:grpSpLocks/>
          </p:cNvGrpSpPr>
          <p:nvPr/>
        </p:nvGrpSpPr>
        <p:grpSpPr bwMode="auto">
          <a:xfrm>
            <a:off x="4801393" y="4155586"/>
            <a:ext cx="3651249" cy="2220913"/>
            <a:chOff x="3061" y="2188"/>
            <a:chExt cx="2300" cy="1399"/>
          </a:xfrm>
        </p:grpSpPr>
        <p:sp>
          <p:nvSpPr>
            <p:cNvPr id="449561" name="Line 25"/>
            <p:cNvSpPr>
              <a:spLocks noChangeShapeType="1"/>
            </p:cNvSpPr>
            <p:nvPr/>
          </p:nvSpPr>
          <p:spPr bwMode="auto">
            <a:xfrm flipV="1">
              <a:off x="3509" y="2188"/>
              <a:ext cx="0" cy="13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562" name="Line 26"/>
            <p:cNvSpPr>
              <a:spLocks noChangeShapeType="1"/>
            </p:cNvSpPr>
            <p:nvPr/>
          </p:nvSpPr>
          <p:spPr bwMode="auto">
            <a:xfrm flipV="1">
              <a:off x="3061" y="3036"/>
              <a:ext cx="2144" cy="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563" name="Text Box 27"/>
            <p:cNvSpPr txBox="1">
              <a:spLocks noChangeArrowheads="1"/>
            </p:cNvSpPr>
            <p:nvPr/>
          </p:nvSpPr>
          <p:spPr bwMode="auto">
            <a:xfrm>
              <a:off x="5012" y="2990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b="0" i="1" dirty="0">
                  <a:sym typeface="Symbol" pitchFamily="18" charset="2"/>
                </a:rPr>
                <a:t> </a:t>
              </a:r>
              <a:r>
                <a:rPr lang="en-US" altLang="zh-CN" b="0" i="1" dirty="0"/>
                <a:t>t</a:t>
              </a:r>
            </a:p>
          </p:txBody>
        </p:sp>
        <p:sp>
          <p:nvSpPr>
            <p:cNvPr id="449564" name="Freeform 28"/>
            <p:cNvSpPr>
              <a:spLocks/>
            </p:cNvSpPr>
            <p:nvPr/>
          </p:nvSpPr>
          <p:spPr bwMode="auto">
            <a:xfrm>
              <a:off x="3189" y="2559"/>
              <a:ext cx="1712" cy="963"/>
            </a:xfrm>
            <a:custGeom>
              <a:avLst/>
              <a:gdLst>
                <a:gd name="T0" fmla="*/ 0 w 2262"/>
                <a:gd name="T1" fmla="*/ 549 h 1091"/>
                <a:gd name="T2" fmla="*/ 96 w 2262"/>
                <a:gd name="T3" fmla="*/ 360 h 1091"/>
                <a:gd name="T4" fmla="*/ 183 w 2262"/>
                <a:gd name="T5" fmla="*/ 204 h 1091"/>
                <a:gd name="T6" fmla="*/ 294 w 2262"/>
                <a:gd name="T7" fmla="*/ 66 h 1091"/>
                <a:gd name="T8" fmla="*/ 420 w 2262"/>
                <a:gd name="T9" fmla="*/ 3 h 1091"/>
                <a:gd name="T10" fmla="*/ 576 w 2262"/>
                <a:gd name="T11" fmla="*/ 81 h 1091"/>
                <a:gd name="T12" fmla="*/ 732 w 2262"/>
                <a:gd name="T13" fmla="*/ 309 h 1091"/>
                <a:gd name="T14" fmla="*/ 849 w 2262"/>
                <a:gd name="T15" fmla="*/ 540 h 1091"/>
                <a:gd name="T16" fmla="*/ 981 w 2262"/>
                <a:gd name="T17" fmla="*/ 789 h 1091"/>
                <a:gd name="T18" fmla="*/ 1110 w 2262"/>
                <a:gd name="T19" fmla="*/ 990 h 1091"/>
                <a:gd name="T20" fmla="*/ 1290 w 2262"/>
                <a:gd name="T21" fmla="*/ 1083 h 1091"/>
                <a:gd name="T22" fmla="*/ 1482 w 2262"/>
                <a:gd name="T23" fmla="*/ 939 h 1091"/>
                <a:gd name="T24" fmla="*/ 1701 w 2262"/>
                <a:gd name="T25" fmla="*/ 555 h 1091"/>
                <a:gd name="T26" fmla="*/ 1803 w 2262"/>
                <a:gd name="T27" fmla="*/ 348 h 1091"/>
                <a:gd name="T28" fmla="*/ 1980 w 2262"/>
                <a:gd name="T29" fmla="*/ 84 h 1091"/>
                <a:gd name="T30" fmla="*/ 2127 w 2262"/>
                <a:gd name="T31" fmla="*/ 6 h 1091"/>
                <a:gd name="T32" fmla="*/ 2262 w 2262"/>
                <a:gd name="T33" fmla="*/ 66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62" h="1091">
                  <a:moveTo>
                    <a:pt x="0" y="549"/>
                  </a:moveTo>
                  <a:cubicBezTo>
                    <a:pt x="16" y="518"/>
                    <a:pt x="65" y="418"/>
                    <a:pt x="96" y="360"/>
                  </a:cubicBezTo>
                  <a:cubicBezTo>
                    <a:pt x="127" y="302"/>
                    <a:pt x="150" y="253"/>
                    <a:pt x="183" y="204"/>
                  </a:cubicBezTo>
                  <a:cubicBezTo>
                    <a:pt x="216" y="155"/>
                    <a:pt x="255" y="99"/>
                    <a:pt x="294" y="66"/>
                  </a:cubicBezTo>
                  <a:cubicBezTo>
                    <a:pt x="333" y="33"/>
                    <a:pt x="373" y="0"/>
                    <a:pt x="420" y="3"/>
                  </a:cubicBezTo>
                  <a:cubicBezTo>
                    <a:pt x="467" y="6"/>
                    <a:pt x="524" y="30"/>
                    <a:pt x="576" y="81"/>
                  </a:cubicBezTo>
                  <a:cubicBezTo>
                    <a:pt x="628" y="132"/>
                    <a:pt x="687" y="233"/>
                    <a:pt x="732" y="309"/>
                  </a:cubicBezTo>
                  <a:cubicBezTo>
                    <a:pt x="777" y="385"/>
                    <a:pt x="807" y="460"/>
                    <a:pt x="849" y="540"/>
                  </a:cubicBezTo>
                  <a:cubicBezTo>
                    <a:pt x="891" y="620"/>
                    <a:pt x="937" y="714"/>
                    <a:pt x="981" y="789"/>
                  </a:cubicBezTo>
                  <a:cubicBezTo>
                    <a:pt x="1025" y="864"/>
                    <a:pt x="1059" y="941"/>
                    <a:pt x="1110" y="990"/>
                  </a:cubicBezTo>
                  <a:cubicBezTo>
                    <a:pt x="1161" y="1039"/>
                    <a:pt x="1228" y="1091"/>
                    <a:pt x="1290" y="1083"/>
                  </a:cubicBezTo>
                  <a:cubicBezTo>
                    <a:pt x="1352" y="1075"/>
                    <a:pt x="1413" y="1027"/>
                    <a:pt x="1482" y="939"/>
                  </a:cubicBezTo>
                  <a:cubicBezTo>
                    <a:pt x="1551" y="851"/>
                    <a:pt x="1648" y="653"/>
                    <a:pt x="1701" y="555"/>
                  </a:cubicBezTo>
                  <a:cubicBezTo>
                    <a:pt x="1754" y="457"/>
                    <a:pt x="1757" y="426"/>
                    <a:pt x="1803" y="348"/>
                  </a:cubicBezTo>
                  <a:cubicBezTo>
                    <a:pt x="1849" y="270"/>
                    <a:pt x="1926" y="141"/>
                    <a:pt x="1980" y="84"/>
                  </a:cubicBezTo>
                  <a:cubicBezTo>
                    <a:pt x="2034" y="27"/>
                    <a:pt x="2080" y="9"/>
                    <a:pt x="2127" y="6"/>
                  </a:cubicBezTo>
                  <a:cubicBezTo>
                    <a:pt x="2174" y="3"/>
                    <a:pt x="2234" y="54"/>
                    <a:pt x="2262" y="6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9565" name="Freeform 29"/>
            <p:cNvSpPr>
              <a:spLocks/>
            </p:cNvSpPr>
            <p:nvPr/>
          </p:nvSpPr>
          <p:spPr bwMode="auto">
            <a:xfrm>
              <a:off x="3186" y="2800"/>
              <a:ext cx="1712" cy="478"/>
            </a:xfrm>
            <a:custGeom>
              <a:avLst/>
              <a:gdLst>
                <a:gd name="T0" fmla="*/ 0 w 2262"/>
                <a:gd name="T1" fmla="*/ 540 h 541"/>
                <a:gd name="T2" fmla="*/ 186 w 2262"/>
                <a:gd name="T3" fmla="*/ 483 h 541"/>
                <a:gd name="T4" fmla="*/ 423 w 2262"/>
                <a:gd name="T5" fmla="*/ 270 h 541"/>
                <a:gd name="T6" fmla="*/ 654 w 2262"/>
                <a:gd name="T7" fmla="*/ 66 h 541"/>
                <a:gd name="T8" fmla="*/ 864 w 2262"/>
                <a:gd name="T9" fmla="*/ 3 h 541"/>
                <a:gd name="T10" fmla="*/ 1068 w 2262"/>
                <a:gd name="T11" fmla="*/ 84 h 541"/>
                <a:gd name="T12" fmla="*/ 1275 w 2262"/>
                <a:gd name="T13" fmla="*/ 273 h 541"/>
                <a:gd name="T14" fmla="*/ 1533 w 2262"/>
                <a:gd name="T15" fmla="*/ 495 h 541"/>
                <a:gd name="T16" fmla="*/ 1698 w 2262"/>
                <a:gd name="T17" fmla="*/ 540 h 541"/>
                <a:gd name="T18" fmla="*/ 1851 w 2262"/>
                <a:gd name="T19" fmla="*/ 498 h 541"/>
                <a:gd name="T20" fmla="*/ 2025 w 2262"/>
                <a:gd name="T21" fmla="*/ 366 h 541"/>
                <a:gd name="T22" fmla="*/ 2133 w 2262"/>
                <a:gd name="T23" fmla="*/ 261 h 541"/>
                <a:gd name="T24" fmla="*/ 2262 w 2262"/>
                <a:gd name="T25" fmla="*/ 14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2" h="541">
                  <a:moveTo>
                    <a:pt x="0" y="540"/>
                  </a:moveTo>
                  <a:cubicBezTo>
                    <a:pt x="31" y="531"/>
                    <a:pt x="115" y="528"/>
                    <a:pt x="186" y="483"/>
                  </a:cubicBezTo>
                  <a:cubicBezTo>
                    <a:pt x="257" y="438"/>
                    <a:pt x="345" y="339"/>
                    <a:pt x="423" y="270"/>
                  </a:cubicBezTo>
                  <a:cubicBezTo>
                    <a:pt x="501" y="201"/>
                    <a:pt x="581" y="110"/>
                    <a:pt x="654" y="66"/>
                  </a:cubicBezTo>
                  <a:cubicBezTo>
                    <a:pt x="727" y="22"/>
                    <a:pt x="795" y="0"/>
                    <a:pt x="864" y="3"/>
                  </a:cubicBezTo>
                  <a:cubicBezTo>
                    <a:pt x="933" y="6"/>
                    <a:pt x="1000" y="39"/>
                    <a:pt x="1068" y="84"/>
                  </a:cubicBezTo>
                  <a:cubicBezTo>
                    <a:pt x="1136" y="129"/>
                    <a:pt x="1198" y="205"/>
                    <a:pt x="1275" y="273"/>
                  </a:cubicBezTo>
                  <a:cubicBezTo>
                    <a:pt x="1352" y="341"/>
                    <a:pt x="1462" y="451"/>
                    <a:pt x="1533" y="495"/>
                  </a:cubicBezTo>
                  <a:cubicBezTo>
                    <a:pt x="1604" y="539"/>
                    <a:pt x="1645" y="539"/>
                    <a:pt x="1698" y="540"/>
                  </a:cubicBezTo>
                  <a:cubicBezTo>
                    <a:pt x="1751" y="541"/>
                    <a:pt x="1797" y="527"/>
                    <a:pt x="1851" y="498"/>
                  </a:cubicBezTo>
                  <a:cubicBezTo>
                    <a:pt x="1905" y="469"/>
                    <a:pt x="1978" y="405"/>
                    <a:pt x="2025" y="366"/>
                  </a:cubicBezTo>
                  <a:cubicBezTo>
                    <a:pt x="2072" y="327"/>
                    <a:pt x="2093" y="299"/>
                    <a:pt x="2133" y="261"/>
                  </a:cubicBezTo>
                  <a:cubicBezTo>
                    <a:pt x="2173" y="223"/>
                    <a:pt x="2235" y="166"/>
                    <a:pt x="2262" y="141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9566" name="Text Box 30"/>
            <p:cNvSpPr txBox="1">
              <a:spLocks noChangeArrowheads="1"/>
            </p:cNvSpPr>
            <p:nvPr/>
          </p:nvSpPr>
          <p:spPr bwMode="auto">
            <a:xfrm>
              <a:off x="4870" y="244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i="1" dirty="0"/>
                <a:t>v</a:t>
              </a:r>
              <a:endParaRPr lang="en-US" altLang="zh-CN" b="0" dirty="0"/>
            </a:p>
          </p:txBody>
        </p:sp>
        <p:sp>
          <p:nvSpPr>
            <p:cNvPr id="449567" name="Text Box 31"/>
            <p:cNvSpPr txBox="1">
              <a:spLocks noChangeArrowheads="1"/>
            </p:cNvSpPr>
            <p:nvPr/>
          </p:nvSpPr>
          <p:spPr bwMode="auto">
            <a:xfrm>
              <a:off x="4832" y="2752"/>
              <a:ext cx="2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dirty="0"/>
                <a:t> </a:t>
              </a:r>
              <a:r>
                <a:rPr lang="en-US" altLang="zh-CN" b="0" i="1" dirty="0" err="1"/>
                <a:t>i</a:t>
              </a:r>
              <a:endParaRPr lang="en-US" altLang="zh-CN" b="0" dirty="0"/>
            </a:p>
          </p:txBody>
        </p:sp>
        <p:sp>
          <p:nvSpPr>
            <p:cNvPr id="449568" name="Text Box 32"/>
            <p:cNvSpPr txBox="1">
              <a:spLocks noChangeArrowheads="1"/>
            </p:cNvSpPr>
            <p:nvPr/>
          </p:nvSpPr>
          <p:spPr bwMode="auto">
            <a:xfrm>
              <a:off x="3498" y="300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dirty="0"/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44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44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49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44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4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8" grpId="0" autoUpdateAnimBg="0"/>
      <p:bldP spid="449539" grpId="0" autoUpdateAnimBg="0"/>
      <p:bldP spid="449540" grpId="0" animBg="1" autoUpdateAnimBg="0"/>
      <p:bldP spid="44955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1" name="Text Box 3"/>
          <p:cNvSpPr txBox="1">
            <a:spLocks noChangeArrowheads="1"/>
          </p:cNvSpPr>
          <p:nvPr/>
        </p:nvSpPr>
        <p:spPr bwMode="auto">
          <a:xfrm>
            <a:off x="812800" y="1042341"/>
            <a:ext cx="28536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000CC"/>
                </a:solidFill>
              </a:rPr>
              <a:t>同</a:t>
            </a:r>
            <a:r>
              <a:rPr lang="zh-CN" altLang="en-US" sz="2000" dirty="0">
                <a:solidFill>
                  <a:srgbClr val="0000CC"/>
                </a:solidFill>
              </a:rPr>
              <a:t>频率正弦量相加减</a:t>
            </a:r>
          </a:p>
        </p:txBody>
      </p:sp>
      <p:graphicFrame>
        <p:nvGraphicFramePr>
          <p:cNvPr id="452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582258"/>
              </p:ext>
            </p:extLst>
          </p:nvPr>
        </p:nvGraphicFramePr>
        <p:xfrm>
          <a:off x="3063875" y="1735138"/>
          <a:ext cx="2055813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914" name="Equation" r:id="rId3" imgW="1028520" imgH="558720" progId="Equation.DSMT4">
                  <p:embed/>
                </p:oleObj>
              </mc:Choice>
              <mc:Fallback>
                <p:oleObj name="Equation" r:id="rId3" imgW="1028520" imgH="558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5" y="1735138"/>
                        <a:ext cx="2055813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269234"/>
              </p:ext>
            </p:extLst>
          </p:nvPr>
        </p:nvGraphicFramePr>
        <p:xfrm>
          <a:off x="487363" y="3089275"/>
          <a:ext cx="508158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915" name="Equation" r:id="rId5" imgW="2476440" imgH="545760" progId="Equation.DSMT4">
                  <p:embed/>
                </p:oleObj>
              </mc:Choice>
              <mc:Fallback>
                <p:oleObj name="Equation" r:id="rId5" imgW="2476440" imgH="545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3089275"/>
                        <a:ext cx="5081587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14" name="Object 6"/>
          <p:cNvGraphicFramePr>
            <a:graphicFrameLocks noChangeAspect="1"/>
          </p:cNvGraphicFramePr>
          <p:nvPr/>
        </p:nvGraphicFramePr>
        <p:xfrm>
          <a:off x="2330450" y="5584825"/>
          <a:ext cx="21463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916" name="Equation" r:id="rId7" imgW="939600" imgH="253800" progId="Equation.DSMT4">
                  <p:embed/>
                </p:oleObj>
              </mc:Choice>
              <mc:Fallback>
                <p:oleObj name="Equation" r:id="rId7" imgW="93960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5584825"/>
                        <a:ext cx="21463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799455"/>
              </p:ext>
            </p:extLst>
          </p:nvPr>
        </p:nvGraphicFramePr>
        <p:xfrm>
          <a:off x="2403475" y="3847610"/>
          <a:ext cx="48244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917" name="Equation" r:id="rId9" imgW="2425680" imgH="393480" progId="Equation.DSMT4">
                  <p:embed/>
                </p:oleObj>
              </mc:Choice>
              <mc:Fallback>
                <p:oleObj name="Equation" r:id="rId9" imgW="242568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3847610"/>
                        <a:ext cx="48244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2616" name="Group 8"/>
          <p:cNvGrpSpPr>
            <a:grpSpLocks/>
          </p:cNvGrpSpPr>
          <p:nvPr/>
        </p:nvGrpSpPr>
        <p:grpSpPr bwMode="auto">
          <a:xfrm>
            <a:off x="4743450" y="1241424"/>
            <a:ext cx="1209675" cy="511175"/>
            <a:chOff x="2988" y="588"/>
            <a:chExt cx="780" cy="372"/>
          </a:xfrm>
        </p:grpSpPr>
        <p:sp>
          <p:nvSpPr>
            <p:cNvPr id="452617" name="AutoShape 9"/>
            <p:cNvSpPr>
              <a:spLocks noChangeArrowheads="1"/>
            </p:cNvSpPr>
            <p:nvPr/>
          </p:nvSpPr>
          <p:spPr bwMode="auto">
            <a:xfrm>
              <a:off x="3228" y="588"/>
              <a:ext cx="47" cy="132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zh-CN"/>
            </a:p>
          </p:txBody>
        </p:sp>
        <p:sp>
          <p:nvSpPr>
            <p:cNvPr id="452618" name="AutoShape 10"/>
            <p:cNvSpPr>
              <a:spLocks noChangeArrowheads="1"/>
            </p:cNvSpPr>
            <p:nvPr/>
          </p:nvSpPr>
          <p:spPr bwMode="auto">
            <a:xfrm>
              <a:off x="2988" y="636"/>
              <a:ext cx="780" cy="324"/>
            </a:xfrm>
            <a:prstGeom prst="wedgeRoundRectCallout">
              <a:avLst>
                <a:gd name="adj1" fmla="val -29870"/>
                <a:gd name="adj2" fmla="val 88579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zh-CN"/>
            </a:p>
          </p:txBody>
        </p:sp>
        <p:sp>
          <p:nvSpPr>
            <p:cNvPr id="452619" name="Text Box 11"/>
            <p:cNvSpPr txBox="1">
              <a:spLocks noChangeArrowheads="1"/>
            </p:cNvSpPr>
            <p:nvPr/>
          </p:nvSpPr>
          <p:spPr bwMode="auto">
            <a:xfrm>
              <a:off x="3050" y="613"/>
              <a:ext cx="69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000" dirty="0"/>
                <a:t>取实部</a:t>
              </a:r>
            </a:p>
          </p:txBody>
        </p:sp>
      </p:grpSp>
      <p:graphicFrame>
        <p:nvGraphicFramePr>
          <p:cNvPr id="4526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430024"/>
              </p:ext>
            </p:extLst>
          </p:nvPr>
        </p:nvGraphicFramePr>
        <p:xfrm>
          <a:off x="2403475" y="4713288"/>
          <a:ext cx="1447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918" name="Equation" r:id="rId11" imgW="685800" imgH="253800" progId="Equation.DSMT4">
                  <p:embed/>
                </p:oleObj>
              </mc:Choice>
              <mc:Fallback>
                <p:oleObj name="Equation" r:id="rId11" imgW="685800" imgH="253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4713288"/>
                        <a:ext cx="1447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621" name="Text Box 13"/>
          <p:cNvSpPr txBox="1">
            <a:spLocks noChangeArrowheads="1"/>
          </p:cNvSpPr>
          <p:nvPr/>
        </p:nvSpPr>
        <p:spPr bwMode="auto">
          <a:xfrm>
            <a:off x="466725" y="485775"/>
            <a:ext cx="42322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 smtClean="0">
                <a:solidFill>
                  <a:schemeClr val="accent6"/>
                </a:solidFill>
              </a:rPr>
              <a:t>3</a:t>
            </a:r>
            <a:r>
              <a:rPr lang="zh-CN" altLang="en-US" sz="2000" dirty="0" smtClean="0">
                <a:solidFill>
                  <a:schemeClr val="accent6"/>
                </a:solidFill>
              </a:rPr>
              <a:t>、</a:t>
            </a:r>
            <a:r>
              <a:rPr lang="zh-CN" altLang="en-US" sz="2000" dirty="0">
                <a:solidFill>
                  <a:schemeClr val="accent6"/>
                </a:solidFill>
              </a:rPr>
              <a:t>正弦量与相量的运算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5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1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Text Box 2"/>
          <p:cNvSpPr txBox="1">
            <a:spLocks noChangeArrowheads="1"/>
          </p:cNvSpPr>
          <p:nvPr/>
        </p:nvSpPr>
        <p:spPr bwMode="auto">
          <a:xfrm>
            <a:off x="387350" y="1319213"/>
            <a:ext cx="815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3333FF"/>
                </a:solidFill>
              </a:rPr>
              <a:t>故同频的正弦量相加减运算就变成对应的相量相加减运算。</a:t>
            </a:r>
          </a:p>
        </p:txBody>
      </p:sp>
      <p:grpSp>
        <p:nvGrpSpPr>
          <p:cNvPr id="453635" name="Group 3"/>
          <p:cNvGrpSpPr>
            <a:grpSpLocks/>
          </p:cNvGrpSpPr>
          <p:nvPr/>
        </p:nvGrpSpPr>
        <p:grpSpPr bwMode="auto">
          <a:xfrm>
            <a:off x="3514725" y="2667000"/>
            <a:ext cx="1539875" cy="1519238"/>
            <a:chOff x="1325" y="856"/>
            <a:chExt cx="970" cy="957"/>
          </a:xfrm>
        </p:grpSpPr>
        <p:sp>
          <p:nvSpPr>
            <p:cNvPr id="453636" name="Text Box 4"/>
            <p:cNvSpPr txBox="1">
              <a:spLocks noChangeArrowheads="1"/>
            </p:cNvSpPr>
            <p:nvPr/>
          </p:nvSpPr>
          <p:spPr bwMode="auto">
            <a:xfrm>
              <a:off x="1325" y="856"/>
              <a:ext cx="9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/>
                <a:t>i</a:t>
              </a:r>
              <a:r>
                <a:rPr lang="en-US" altLang="zh-CN" baseline="-25000"/>
                <a:t>1  </a:t>
              </a:r>
              <a:r>
                <a:rPr lang="en-US" altLang="zh-CN">
                  <a:sym typeface="Symbol" pitchFamily="18" charset="2"/>
                </a:rPr>
                <a:t>  </a:t>
              </a:r>
              <a:r>
                <a:rPr lang="en-US" altLang="zh-CN" i="1"/>
                <a:t>i</a:t>
              </a:r>
              <a:r>
                <a:rPr lang="en-US" altLang="zh-CN" baseline="-25000"/>
                <a:t>2 </a:t>
              </a:r>
              <a:r>
                <a:rPr lang="en-US" altLang="zh-CN" i="1"/>
                <a:t>=  i</a:t>
              </a:r>
              <a:r>
                <a:rPr lang="en-US" altLang="zh-CN" baseline="-25000"/>
                <a:t>3</a:t>
              </a:r>
              <a:endParaRPr lang="en-US" altLang="zh-CN" i="1"/>
            </a:p>
          </p:txBody>
        </p:sp>
        <p:graphicFrame>
          <p:nvGraphicFramePr>
            <p:cNvPr id="453637" name="Object 5"/>
            <p:cNvGraphicFramePr>
              <a:graphicFrameLocks noChangeAspect="1"/>
            </p:cNvGraphicFramePr>
            <p:nvPr/>
          </p:nvGraphicFramePr>
          <p:xfrm>
            <a:off x="1370" y="1538"/>
            <a:ext cx="87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873" name="公式" r:id="rId3" imgW="1422360" imgH="393480" progId="Equation.3">
                    <p:embed/>
                  </p:oleObj>
                </mc:Choice>
                <mc:Fallback>
                  <p:oleObj name="公式" r:id="rId3" imgW="1422360" imgH="3934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0" y="1538"/>
                          <a:ext cx="871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3638" name="Line 6"/>
            <p:cNvSpPr>
              <a:spLocks noChangeShapeType="1"/>
            </p:cNvSpPr>
            <p:nvPr/>
          </p:nvSpPr>
          <p:spPr bwMode="auto">
            <a:xfrm>
              <a:off x="1428" y="1205"/>
              <a:ext cx="0" cy="32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639" name="Line 7"/>
            <p:cNvSpPr>
              <a:spLocks noChangeShapeType="1"/>
            </p:cNvSpPr>
            <p:nvPr/>
          </p:nvSpPr>
          <p:spPr bwMode="auto">
            <a:xfrm>
              <a:off x="1801" y="1205"/>
              <a:ext cx="0" cy="32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640" name="Line 8"/>
            <p:cNvSpPr>
              <a:spLocks noChangeShapeType="1"/>
            </p:cNvSpPr>
            <p:nvPr/>
          </p:nvSpPr>
          <p:spPr bwMode="auto">
            <a:xfrm flipH="1" flipV="1">
              <a:off x="2174" y="1205"/>
              <a:ext cx="0" cy="32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Text Box 2"/>
          <p:cNvSpPr txBox="1">
            <a:spLocks noChangeArrowheads="1"/>
          </p:cNvSpPr>
          <p:nvPr/>
        </p:nvSpPr>
        <p:spPr bwMode="auto">
          <a:xfrm>
            <a:off x="304800" y="628650"/>
            <a:ext cx="33698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000CC"/>
                </a:solidFill>
              </a:rPr>
              <a:t>正弦量</a:t>
            </a:r>
            <a:r>
              <a:rPr lang="zh-CN" altLang="en-US" sz="2000" dirty="0">
                <a:solidFill>
                  <a:srgbClr val="0000CC"/>
                </a:solidFill>
              </a:rPr>
              <a:t>的微分，积分运算</a:t>
            </a:r>
          </a:p>
        </p:txBody>
      </p:sp>
      <p:graphicFrame>
        <p:nvGraphicFramePr>
          <p:cNvPr id="456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491516"/>
              </p:ext>
            </p:extLst>
          </p:nvPr>
        </p:nvGraphicFramePr>
        <p:xfrm>
          <a:off x="2074863" y="1358900"/>
          <a:ext cx="4818062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425" name="Equation" r:id="rId3" imgW="2349360" imgH="545760" progId="Equation.DSMT4">
                  <p:embed/>
                </p:oleObj>
              </mc:Choice>
              <mc:Fallback>
                <p:oleObj name="Equation" r:id="rId3" imgW="2349360" imgH="5457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1358900"/>
                        <a:ext cx="4818062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17913"/>
              </p:ext>
            </p:extLst>
          </p:nvPr>
        </p:nvGraphicFramePr>
        <p:xfrm>
          <a:off x="1204913" y="3457575"/>
          <a:ext cx="2614612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426" name="Equation" r:id="rId5" imgW="1206360" imgH="850680" progId="Equation.DSMT4">
                  <p:embed/>
                </p:oleObj>
              </mc:Choice>
              <mc:Fallback>
                <p:oleObj name="Equation" r:id="rId5" imgW="1206360" imgH="850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3457575"/>
                        <a:ext cx="2614612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596693"/>
              </p:ext>
            </p:extLst>
          </p:nvPr>
        </p:nvGraphicFramePr>
        <p:xfrm>
          <a:off x="5473700" y="3498850"/>
          <a:ext cx="2652713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427" name="Equation" r:id="rId7" imgW="1358640" imgH="1002960" progId="Equation.DSMT4">
                  <p:embed/>
                </p:oleObj>
              </mc:Choice>
              <mc:Fallback>
                <p:oleObj name="Equation" r:id="rId7" imgW="1358640" imgH="1002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3498850"/>
                        <a:ext cx="2652713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10" name="Text Box 6"/>
          <p:cNvSpPr txBox="1">
            <a:spLocks noChangeArrowheads="1"/>
          </p:cNvSpPr>
          <p:nvPr/>
        </p:nvSpPr>
        <p:spPr bwMode="auto">
          <a:xfrm>
            <a:off x="501650" y="2716213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证明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Text Box 2" descr="花束"/>
          <p:cNvSpPr txBox="1">
            <a:spLocks noChangeArrowheads="1"/>
          </p:cNvSpPr>
          <p:nvPr/>
        </p:nvSpPr>
        <p:spPr bwMode="auto">
          <a:xfrm>
            <a:off x="762000" y="533400"/>
            <a:ext cx="1158875" cy="5191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800"/>
              <a:t>小结</a:t>
            </a:r>
          </a:p>
        </p:txBody>
      </p:sp>
      <p:grpSp>
        <p:nvGrpSpPr>
          <p:cNvPr id="446467" name="Group 3"/>
          <p:cNvGrpSpPr>
            <a:grpSpLocks/>
          </p:cNvGrpSpPr>
          <p:nvPr/>
        </p:nvGrpSpPr>
        <p:grpSpPr bwMode="auto">
          <a:xfrm>
            <a:off x="1200150" y="1219200"/>
            <a:ext cx="4725988" cy="1011238"/>
            <a:chOff x="988" y="576"/>
            <a:chExt cx="2654" cy="637"/>
          </a:xfrm>
        </p:grpSpPr>
        <p:sp>
          <p:nvSpPr>
            <p:cNvPr id="446468" name="Text Box 4"/>
            <p:cNvSpPr txBox="1">
              <a:spLocks noChangeArrowheads="1"/>
            </p:cNvSpPr>
            <p:nvPr/>
          </p:nvSpPr>
          <p:spPr bwMode="auto">
            <a:xfrm>
              <a:off x="988" y="576"/>
              <a:ext cx="10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/>
                <a:t>①     </a:t>
              </a:r>
              <a:r>
                <a:rPr lang="zh-CN" altLang="en-US"/>
                <a:t>正弦量</a:t>
              </a:r>
            </a:p>
          </p:txBody>
        </p:sp>
        <p:sp>
          <p:nvSpPr>
            <p:cNvPr id="446469" name="Rectangle 5"/>
            <p:cNvSpPr>
              <a:spLocks noChangeArrowheads="1"/>
            </p:cNvSpPr>
            <p:nvPr/>
          </p:nvSpPr>
          <p:spPr bwMode="auto">
            <a:xfrm>
              <a:off x="3168" y="576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zh-CN" altLang="en-US"/>
                <a:t>相量</a:t>
              </a:r>
            </a:p>
          </p:txBody>
        </p:sp>
        <p:grpSp>
          <p:nvGrpSpPr>
            <p:cNvPr id="446470" name="Group 6"/>
            <p:cNvGrpSpPr>
              <a:grpSpLocks/>
            </p:cNvGrpSpPr>
            <p:nvPr/>
          </p:nvGrpSpPr>
          <p:grpSpPr bwMode="auto">
            <a:xfrm>
              <a:off x="2352" y="672"/>
              <a:ext cx="492" cy="72"/>
              <a:chOff x="2580" y="768"/>
              <a:chExt cx="492" cy="72"/>
            </a:xfrm>
          </p:grpSpPr>
          <p:sp>
            <p:nvSpPr>
              <p:cNvPr id="446471" name="Line 7"/>
              <p:cNvSpPr>
                <a:spLocks noChangeShapeType="1"/>
              </p:cNvSpPr>
              <p:nvPr/>
            </p:nvSpPr>
            <p:spPr bwMode="auto">
              <a:xfrm>
                <a:off x="2592" y="768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6472" name="Line 8"/>
              <p:cNvSpPr>
                <a:spLocks noChangeShapeType="1"/>
              </p:cNvSpPr>
              <p:nvPr/>
            </p:nvSpPr>
            <p:spPr bwMode="auto">
              <a:xfrm flipH="1">
                <a:off x="2580" y="8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6473" name="Text Box 9"/>
            <p:cNvSpPr txBox="1">
              <a:spLocks noChangeArrowheads="1"/>
            </p:cNvSpPr>
            <p:nvPr/>
          </p:nvSpPr>
          <p:spPr bwMode="auto">
            <a:xfrm>
              <a:off x="1584" y="91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zh-CN" altLang="en-US"/>
                <a:t>时域 </a:t>
              </a:r>
            </a:p>
          </p:txBody>
        </p:sp>
        <p:sp>
          <p:nvSpPr>
            <p:cNvPr id="446474" name="Rectangle 10"/>
            <p:cNvSpPr>
              <a:spLocks noChangeArrowheads="1"/>
            </p:cNvSpPr>
            <p:nvPr/>
          </p:nvSpPr>
          <p:spPr bwMode="auto">
            <a:xfrm>
              <a:off x="3194" y="925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zh-CN" altLang="en-US"/>
                <a:t>频域</a:t>
              </a:r>
            </a:p>
          </p:txBody>
        </p:sp>
      </p:grpSp>
      <p:sp>
        <p:nvSpPr>
          <p:cNvPr id="446475" name="Rectangle 11"/>
          <p:cNvSpPr>
            <a:spLocks noChangeArrowheads="1"/>
          </p:cNvSpPr>
          <p:nvPr/>
        </p:nvSpPr>
        <p:spPr bwMode="auto">
          <a:xfrm>
            <a:off x="1219200" y="4210050"/>
            <a:ext cx="711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②   </a:t>
            </a:r>
            <a:r>
              <a:rPr lang="zh-CN" altLang="en-US" dirty="0"/>
              <a:t>相量法只适用于激励为同频正弦量的线性电路。</a:t>
            </a:r>
          </a:p>
        </p:txBody>
      </p:sp>
      <p:sp>
        <p:nvSpPr>
          <p:cNvPr id="446476" name="Text Box 12"/>
          <p:cNvSpPr txBox="1">
            <a:spLocks noChangeArrowheads="1"/>
          </p:cNvSpPr>
          <p:nvPr/>
        </p:nvSpPr>
        <p:spPr bwMode="auto">
          <a:xfrm>
            <a:off x="1962150" y="2289175"/>
            <a:ext cx="66103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52500" indent="-952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2382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428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192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000" dirty="0"/>
              <a:t>时域：在变量是时间函数条件下研究网络，以时间为自变量分析电路。</a:t>
            </a:r>
          </a:p>
        </p:txBody>
      </p:sp>
      <p:sp>
        <p:nvSpPr>
          <p:cNvPr id="446477" name="Text Box 13"/>
          <p:cNvSpPr txBox="1">
            <a:spLocks noChangeArrowheads="1"/>
          </p:cNvSpPr>
          <p:nvPr/>
        </p:nvSpPr>
        <p:spPr bwMode="auto">
          <a:xfrm>
            <a:off x="1981200" y="3095625"/>
            <a:ext cx="65913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57250" indent="-8572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47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382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28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/>
              <a:t>频域：在变量经过适当变换的条件下研究网络，以频率为自变量分析电路。</a:t>
            </a:r>
          </a:p>
        </p:txBody>
      </p:sp>
      <p:grpSp>
        <p:nvGrpSpPr>
          <p:cNvPr id="446478" name="Group 14"/>
          <p:cNvGrpSpPr>
            <a:grpSpLocks/>
          </p:cNvGrpSpPr>
          <p:nvPr/>
        </p:nvGrpSpPr>
        <p:grpSpPr bwMode="auto">
          <a:xfrm>
            <a:off x="2541588" y="4676775"/>
            <a:ext cx="5181600" cy="1897063"/>
            <a:chOff x="1248" y="2064"/>
            <a:chExt cx="3264" cy="1195"/>
          </a:xfrm>
        </p:grpSpPr>
        <p:grpSp>
          <p:nvGrpSpPr>
            <p:cNvPr id="446479" name="Group 15"/>
            <p:cNvGrpSpPr>
              <a:grpSpLocks/>
            </p:cNvGrpSpPr>
            <p:nvPr/>
          </p:nvGrpSpPr>
          <p:grpSpPr bwMode="auto">
            <a:xfrm>
              <a:off x="1248" y="2160"/>
              <a:ext cx="864" cy="624"/>
              <a:chOff x="1248" y="2400"/>
              <a:chExt cx="864" cy="624"/>
            </a:xfrm>
          </p:grpSpPr>
          <p:sp>
            <p:nvSpPr>
              <p:cNvPr id="446480" name="Rectangle 16"/>
              <p:cNvSpPr>
                <a:spLocks noChangeArrowheads="1"/>
              </p:cNvSpPr>
              <p:nvPr/>
            </p:nvSpPr>
            <p:spPr bwMode="auto">
              <a:xfrm>
                <a:off x="1728" y="2400"/>
                <a:ext cx="384" cy="62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/>
                  <a:t>N</a:t>
                </a:r>
              </a:p>
              <a:p>
                <a:pPr algn="ctr" eaLnBrk="1" hangingPunct="1">
                  <a:spcBef>
                    <a:spcPct val="0"/>
                  </a:spcBef>
                </a:pPr>
                <a:r>
                  <a:rPr lang="zh-CN" altLang="en-US" sz="1800"/>
                  <a:t>线性</a:t>
                </a:r>
                <a:endParaRPr lang="zh-CN" altLang="en-US"/>
              </a:p>
            </p:txBody>
          </p:sp>
          <p:sp>
            <p:nvSpPr>
              <p:cNvPr id="446481" name="Line 17"/>
              <p:cNvSpPr>
                <a:spLocks noChangeShapeType="1"/>
              </p:cNvSpPr>
              <p:nvPr/>
            </p:nvSpPr>
            <p:spPr bwMode="auto">
              <a:xfrm>
                <a:off x="1344" y="2736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46482" name="Group 18"/>
              <p:cNvGrpSpPr>
                <a:grpSpLocks/>
              </p:cNvGrpSpPr>
              <p:nvPr/>
            </p:nvGrpSpPr>
            <p:grpSpPr bwMode="auto">
              <a:xfrm>
                <a:off x="1248" y="2544"/>
                <a:ext cx="384" cy="108"/>
                <a:chOff x="2352" y="2400"/>
                <a:chExt cx="1152" cy="480"/>
              </a:xfrm>
            </p:grpSpPr>
            <p:sp>
              <p:nvSpPr>
                <p:cNvPr id="446483" name="Line 19"/>
                <p:cNvSpPr>
                  <a:spLocks noChangeShapeType="1"/>
                </p:cNvSpPr>
                <p:nvPr/>
              </p:nvSpPr>
              <p:spPr bwMode="auto">
                <a:xfrm>
                  <a:off x="2352" y="2400"/>
                  <a:ext cx="288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6484" name="Line 20"/>
                <p:cNvSpPr>
                  <a:spLocks noChangeShapeType="1"/>
                </p:cNvSpPr>
                <p:nvPr/>
              </p:nvSpPr>
              <p:spPr bwMode="auto">
                <a:xfrm>
                  <a:off x="2640" y="2400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6485" name="Line 21"/>
                <p:cNvSpPr>
                  <a:spLocks noChangeShapeType="1"/>
                </p:cNvSpPr>
                <p:nvPr/>
              </p:nvSpPr>
              <p:spPr bwMode="auto">
                <a:xfrm>
                  <a:off x="2640" y="2880"/>
                  <a:ext cx="288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6486" name="Line 22"/>
                <p:cNvSpPr>
                  <a:spLocks noChangeShapeType="1"/>
                </p:cNvSpPr>
                <p:nvPr/>
              </p:nvSpPr>
              <p:spPr bwMode="auto">
                <a:xfrm>
                  <a:off x="2928" y="2400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6487" name="Line 23"/>
                <p:cNvSpPr>
                  <a:spLocks noChangeShapeType="1"/>
                </p:cNvSpPr>
                <p:nvPr/>
              </p:nvSpPr>
              <p:spPr bwMode="auto">
                <a:xfrm>
                  <a:off x="2928" y="2400"/>
                  <a:ext cx="288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6488" name="Line 24"/>
                <p:cNvSpPr>
                  <a:spLocks noChangeShapeType="1"/>
                </p:cNvSpPr>
                <p:nvPr/>
              </p:nvSpPr>
              <p:spPr bwMode="auto">
                <a:xfrm>
                  <a:off x="3216" y="2400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6489" name="Line 25"/>
                <p:cNvSpPr>
                  <a:spLocks noChangeShapeType="1"/>
                </p:cNvSpPr>
                <p:nvPr/>
              </p:nvSpPr>
              <p:spPr bwMode="auto">
                <a:xfrm>
                  <a:off x="3216" y="2880"/>
                  <a:ext cx="288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6490" name="Line 26"/>
                <p:cNvSpPr>
                  <a:spLocks noChangeShapeType="1"/>
                </p:cNvSpPr>
                <p:nvPr/>
              </p:nvSpPr>
              <p:spPr bwMode="auto">
                <a:xfrm>
                  <a:off x="3504" y="2400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46491" name="Group 27"/>
            <p:cNvGrpSpPr>
              <a:grpSpLocks/>
            </p:cNvGrpSpPr>
            <p:nvPr/>
          </p:nvGrpSpPr>
          <p:grpSpPr bwMode="auto">
            <a:xfrm>
              <a:off x="2496" y="2064"/>
              <a:ext cx="816" cy="720"/>
              <a:chOff x="2496" y="2304"/>
              <a:chExt cx="816" cy="720"/>
            </a:xfrm>
          </p:grpSpPr>
          <p:sp>
            <p:nvSpPr>
              <p:cNvPr id="446492" name="Rectangle 28"/>
              <p:cNvSpPr>
                <a:spLocks noChangeArrowheads="1"/>
              </p:cNvSpPr>
              <p:nvPr/>
            </p:nvSpPr>
            <p:spPr bwMode="auto">
              <a:xfrm>
                <a:off x="2928" y="2400"/>
                <a:ext cx="384" cy="62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/>
                  <a:t>N</a:t>
                </a:r>
              </a:p>
              <a:p>
                <a:pPr algn="ctr" eaLnBrk="1" hangingPunct="1">
                  <a:spcBef>
                    <a:spcPct val="0"/>
                  </a:spcBef>
                </a:pPr>
                <a:r>
                  <a:rPr lang="zh-CN" altLang="en-US" sz="1800"/>
                  <a:t>线性</a:t>
                </a:r>
                <a:endParaRPr lang="zh-CN" altLang="en-US"/>
              </a:p>
            </p:txBody>
          </p:sp>
          <p:sp>
            <p:nvSpPr>
              <p:cNvPr id="446493" name="Line 29"/>
              <p:cNvSpPr>
                <a:spLocks noChangeShapeType="1"/>
              </p:cNvSpPr>
              <p:nvPr/>
            </p:nvSpPr>
            <p:spPr bwMode="auto">
              <a:xfrm>
                <a:off x="2496" y="259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6494" name="Line 30"/>
              <p:cNvSpPr>
                <a:spLocks noChangeShapeType="1"/>
              </p:cNvSpPr>
              <p:nvPr/>
            </p:nvSpPr>
            <p:spPr bwMode="auto">
              <a:xfrm>
                <a:off x="2496" y="2880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6495" name="Text Box 31"/>
              <p:cNvSpPr txBox="1">
                <a:spLocks noChangeArrowheads="1"/>
              </p:cNvSpPr>
              <p:nvPr/>
            </p:nvSpPr>
            <p:spPr bwMode="auto">
              <a:xfrm>
                <a:off x="2504" y="2304"/>
                <a:ext cx="3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i="1" dirty="0">
                    <a:latin typeface="Symbol" pitchFamily="18" charset="2"/>
                  </a:rPr>
                  <a:t>w</a:t>
                </a:r>
                <a:r>
                  <a:rPr lang="en-US" altLang="zh-CN" baseline="-25000" dirty="0"/>
                  <a:t>1</a:t>
                </a:r>
                <a:endParaRPr lang="en-US" altLang="zh-CN" dirty="0"/>
              </a:p>
            </p:txBody>
          </p:sp>
          <p:sp>
            <p:nvSpPr>
              <p:cNvPr id="446496" name="Text Box 32"/>
              <p:cNvSpPr txBox="1">
                <a:spLocks noChangeArrowheads="1"/>
              </p:cNvSpPr>
              <p:nvPr/>
            </p:nvSpPr>
            <p:spPr bwMode="auto">
              <a:xfrm>
                <a:off x="2496" y="2592"/>
                <a:ext cx="3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i="1">
                    <a:latin typeface="Symbol" pitchFamily="18" charset="2"/>
                  </a:rPr>
                  <a:t>w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</p:grpSp>
        <p:grpSp>
          <p:nvGrpSpPr>
            <p:cNvPr id="446497" name="Group 33"/>
            <p:cNvGrpSpPr>
              <a:grpSpLocks/>
            </p:cNvGrpSpPr>
            <p:nvPr/>
          </p:nvGrpSpPr>
          <p:grpSpPr bwMode="auto">
            <a:xfrm>
              <a:off x="3696" y="2160"/>
              <a:ext cx="816" cy="624"/>
              <a:chOff x="3888" y="2400"/>
              <a:chExt cx="816" cy="624"/>
            </a:xfrm>
          </p:grpSpPr>
          <p:sp>
            <p:nvSpPr>
              <p:cNvPr id="446498" name="Rectangle 34"/>
              <p:cNvSpPr>
                <a:spLocks noChangeArrowheads="1"/>
              </p:cNvSpPr>
              <p:nvPr/>
            </p:nvSpPr>
            <p:spPr bwMode="auto">
              <a:xfrm>
                <a:off x="4320" y="2400"/>
                <a:ext cx="384" cy="62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>
                  <a:spcBef>
                    <a:spcPct val="0"/>
                  </a:spcBef>
                </a:pPr>
                <a:r>
                  <a:rPr lang="zh-CN" altLang="en-US" sz="1800"/>
                  <a:t>非</a:t>
                </a:r>
                <a:endParaRPr lang="en-US" altLang="en-US" sz="1800"/>
              </a:p>
              <a:p>
                <a:pPr algn="ctr" eaLnBrk="1" hangingPunct="1">
                  <a:spcBef>
                    <a:spcPct val="0"/>
                  </a:spcBef>
                </a:pPr>
                <a:r>
                  <a:rPr lang="zh-CN" altLang="en-US" sz="1800"/>
                  <a:t>线性</a:t>
                </a:r>
                <a:endParaRPr lang="zh-CN" altLang="en-US"/>
              </a:p>
            </p:txBody>
          </p:sp>
          <p:sp>
            <p:nvSpPr>
              <p:cNvPr id="446499" name="Line 35"/>
              <p:cNvSpPr>
                <a:spLocks noChangeShapeType="1"/>
              </p:cNvSpPr>
              <p:nvPr/>
            </p:nvSpPr>
            <p:spPr bwMode="auto">
              <a:xfrm>
                <a:off x="3888" y="2736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6500" name="Text Box 36"/>
              <p:cNvSpPr txBox="1">
                <a:spLocks noChangeArrowheads="1"/>
              </p:cNvSpPr>
              <p:nvPr/>
            </p:nvSpPr>
            <p:spPr bwMode="auto">
              <a:xfrm>
                <a:off x="3936" y="2448"/>
                <a:ext cx="2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i="1" dirty="0">
                    <a:latin typeface="Symbol" pitchFamily="18" charset="2"/>
                  </a:rPr>
                  <a:t>w</a:t>
                </a:r>
                <a:endParaRPr lang="en-US" altLang="zh-CN" dirty="0"/>
              </a:p>
            </p:txBody>
          </p:sp>
        </p:grpSp>
        <p:sp>
          <p:nvSpPr>
            <p:cNvPr id="446501" name="AutoShape 37"/>
            <p:cNvSpPr>
              <a:spLocks/>
            </p:cNvSpPr>
            <p:nvPr/>
          </p:nvSpPr>
          <p:spPr bwMode="auto">
            <a:xfrm rot="-5400000">
              <a:off x="3168" y="1872"/>
              <a:ext cx="96" cy="2112"/>
            </a:xfrm>
            <a:prstGeom prst="leftBrace">
              <a:avLst>
                <a:gd name="adj1" fmla="val 183333"/>
                <a:gd name="adj2" fmla="val 49949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6502" name="Text Box 38"/>
            <p:cNvSpPr txBox="1">
              <a:spLocks noChangeArrowheads="1"/>
            </p:cNvSpPr>
            <p:nvPr/>
          </p:nvSpPr>
          <p:spPr bwMode="auto">
            <a:xfrm>
              <a:off x="2880" y="3009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zh-CN" altLang="en-US" sz="2000"/>
                <a:t>不适用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46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44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44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46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75" grpId="0" autoUpdateAnimBg="0"/>
      <p:bldP spid="446476" grpId="0" autoUpdateAnimBg="0"/>
      <p:bldP spid="44647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Text Box 2"/>
          <p:cNvSpPr txBox="1">
            <a:spLocks noChangeArrowheads="1"/>
          </p:cNvSpPr>
          <p:nvPr/>
        </p:nvSpPr>
        <p:spPr bwMode="auto">
          <a:xfrm>
            <a:off x="2962275" y="2877683"/>
            <a:ext cx="163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阻抗</a:t>
            </a:r>
          </a:p>
        </p:txBody>
      </p:sp>
      <p:graphicFrame>
        <p:nvGraphicFramePr>
          <p:cNvPr id="5683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677870"/>
              </p:ext>
            </p:extLst>
          </p:nvPr>
        </p:nvGraphicFramePr>
        <p:xfrm>
          <a:off x="3821113" y="2703058"/>
          <a:ext cx="8350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842" name="Equation" r:id="rId3" imgW="380880" imgH="368280" progId="Equation.DSMT4">
                  <p:embed/>
                </p:oleObj>
              </mc:Choice>
              <mc:Fallback>
                <p:oleObj name="Equation" r:id="rId3" imgW="3808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113" y="2703058"/>
                        <a:ext cx="83502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8325" name="Rectangle 5"/>
          <p:cNvSpPr>
            <a:spLocks noChangeArrowheads="1"/>
          </p:cNvSpPr>
          <p:nvPr/>
        </p:nvSpPr>
        <p:spPr bwMode="auto">
          <a:xfrm>
            <a:off x="1789113" y="3880983"/>
            <a:ext cx="10842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SzPct val="80000"/>
              <a:buFont typeface="Wingdings" pitchFamily="2" charset="2"/>
              <a:buNone/>
            </a:pPr>
            <a:r>
              <a:rPr lang="zh-CN" altLang="en-US" b="0" dirty="0">
                <a:latin typeface="Symbol" pitchFamily="18" charset="2"/>
              </a:rPr>
              <a:t>电阻</a:t>
            </a:r>
            <a:endParaRPr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5683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990721"/>
              </p:ext>
            </p:extLst>
          </p:nvPr>
        </p:nvGraphicFramePr>
        <p:xfrm>
          <a:off x="2898775" y="3947658"/>
          <a:ext cx="1047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843" name="Equation" r:id="rId5" imgW="419040" imgH="203040" progId="Equation.DSMT4">
                  <p:embed/>
                </p:oleObj>
              </mc:Choice>
              <mc:Fallback>
                <p:oleObj name="Equation" r:id="rId5" imgW="419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3947658"/>
                        <a:ext cx="1047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8327" name="Rectangle 7"/>
          <p:cNvSpPr>
            <a:spLocks noChangeArrowheads="1"/>
          </p:cNvSpPr>
          <p:nvPr/>
        </p:nvSpPr>
        <p:spPr bwMode="auto">
          <a:xfrm>
            <a:off x="1789113" y="4785858"/>
            <a:ext cx="10842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SzPct val="80000"/>
              <a:buFont typeface="Wingdings" pitchFamily="2" charset="2"/>
              <a:buNone/>
            </a:pPr>
            <a:r>
              <a:rPr lang="zh-CN" altLang="en-US" b="0">
                <a:latin typeface="Symbol" pitchFamily="18" charset="2"/>
              </a:rPr>
              <a:t>电感</a:t>
            </a:r>
            <a:endParaRPr lang="zh-CN" altLang="en-US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68328" name="Rectangle 8"/>
          <p:cNvSpPr>
            <a:spLocks noChangeArrowheads="1"/>
          </p:cNvSpPr>
          <p:nvPr/>
        </p:nvSpPr>
        <p:spPr bwMode="auto">
          <a:xfrm>
            <a:off x="1789113" y="5814558"/>
            <a:ext cx="10842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SzPct val="80000"/>
              <a:buFont typeface="Wingdings" pitchFamily="2" charset="2"/>
              <a:buNone/>
            </a:pPr>
            <a:r>
              <a:rPr lang="zh-CN" altLang="en-US" b="0">
                <a:latin typeface="Symbol" pitchFamily="18" charset="2"/>
              </a:rPr>
              <a:t>电容</a:t>
            </a:r>
            <a:endParaRPr lang="zh-CN" altLang="en-US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5683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017741"/>
              </p:ext>
            </p:extLst>
          </p:nvPr>
        </p:nvGraphicFramePr>
        <p:xfrm>
          <a:off x="2870200" y="4795383"/>
          <a:ext cx="1428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844" name="Equation" r:id="rId7" imgW="571320" imgH="203040" progId="Equation.DSMT4">
                  <p:embed/>
                </p:oleObj>
              </mc:Choice>
              <mc:Fallback>
                <p:oleObj name="Equation" r:id="rId7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4795383"/>
                        <a:ext cx="1428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83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462874"/>
              </p:ext>
            </p:extLst>
          </p:nvPr>
        </p:nvGraphicFramePr>
        <p:xfrm>
          <a:off x="2860675" y="5639933"/>
          <a:ext cx="1524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845" name="Equation" r:id="rId9" imgW="609480" imgH="380880" progId="Equation.DSMT4">
                  <p:embed/>
                </p:oleObj>
              </mc:Choice>
              <mc:Fallback>
                <p:oleObj name="Equation" r:id="rId9" imgW="609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5639933"/>
                        <a:ext cx="1524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8331" name="Text Box 11"/>
          <p:cNvSpPr txBox="1">
            <a:spLocks noChangeArrowheads="1"/>
          </p:cNvSpPr>
          <p:nvPr/>
        </p:nvSpPr>
        <p:spPr bwMode="auto">
          <a:xfrm>
            <a:off x="5391150" y="2887208"/>
            <a:ext cx="220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单位：欧姆</a:t>
            </a:r>
          </a:p>
        </p:txBody>
      </p:sp>
      <p:sp>
        <p:nvSpPr>
          <p:cNvPr id="568332" name="AutoShape 12" descr="羊皮纸"/>
          <p:cNvSpPr>
            <a:spLocks noChangeArrowheads="1"/>
          </p:cNvSpPr>
          <p:nvPr/>
        </p:nvSpPr>
        <p:spPr bwMode="auto">
          <a:xfrm>
            <a:off x="5646738" y="4033383"/>
            <a:ext cx="1838325" cy="930275"/>
          </a:xfrm>
          <a:prstGeom prst="wedgeRoundRectCallout">
            <a:avLst>
              <a:gd name="adj1" fmla="val -105269"/>
              <a:gd name="adj2" fmla="val -111435"/>
              <a:gd name="adj3" fmla="val 16667"/>
            </a:avLst>
          </a:prstGeom>
          <a:blipFill dpi="0" rotWithShape="1">
            <a:blip r:embed="rId11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楷体_GB2312" pitchFamily="49" charset="-122"/>
              </a:rPr>
              <a:t>注意：阻抗不是相量</a:t>
            </a:r>
          </a:p>
        </p:txBody>
      </p:sp>
      <p:sp>
        <p:nvSpPr>
          <p:cNvPr id="13" name="Text Box 52"/>
          <p:cNvSpPr txBox="1">
            <a:spLocks noChangeArrowheads="1"/>
          </p:cNvSpPr>
          <p:nvPr/>
        </p:nvSpPr>
        <p:spPr bwMode="auto">
          <a:xfrm>
            <a:off x="457200" y="1393370"/>
            <a:ext cx="598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5.2.1 </a:t>
            </a:r>
            <a:r>
              <a:rPr lang="zh-CN" altLang="en-US" dirty="0" smtClean="0">
                <a:solidFill>
                  <a:srgbClr val="990033"/>
                </a:solidFill>
              </a:rPr>
              <a:t>电路</a:t>
            </a:r>
            <a:r>
              <a:rPr lang="zh-CN" altLang="en-US" dirty="0">
                <a:solidFill>
                  <a:srgbClr val="990033"/>
                </a:solidFill>
              </a:rPr>
              <a:t>基本物理量的相量描述</a:t>
            </a:r>
          </a:p>
        </p:txBody>
      </p:sp>
      <p:sp>
        <p:nvSpPr>
          <p:cNvPr id="14" name="Text Box 52"/>
          <p:cNvSpPr txBox="1">
            <a:spLocks noChangeArrowheads="1"/>
          </p:cNvSpPr>
          <p:nvPr/>
        </p:nvSpPr>
        <p:spPr bwMode="auto">
          <a:xfrm>
            <a:off x="760413" y="1945820"/>
            <a:ext cx="77141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>
                <a:solidFill>
                  <a:srgbClr val="990033"/>
                </a:solidFill>
              </a:rPr>
              <a:t>一</a:t>
            </a:r>
            <a:r>
              <a:rPr lang="zh-CN" altLang="en-US" dirty="0">
                <a:solidFill>
                  <a:srgbClr val="990033"/>
                </a:solidFill>
              </a:rPr>
              <a:t>、阻抗</a:t>
            </a:r>
            <a:r>
              <a:rPr lang="zh-CN" altLang="en-US" dirty="0">
                <a:solidFill>
                  <a:srgbClr val="0000CC"/>
                </a:solidFill>
              </a:rPr>
              <a:t>（</a:t>
            </a:r>
            <a:r>
              <a:rPr lang="en-US" altLang="zh-CN" dirty="0">
                <a:solidFill>
                  <a:srgbClr val="0000CC"/>
                </a:solidFill>
              </a:rPr>
              <a:t> Impedance </a:t>
            </a:r>
            <a:r>
              <a:rPr lang="zh-CN" altLang="en-US" dirty="0">
                <a:solidFill>
                  <a:srgbClr val="0000CC"/>
                </a:solidFill>
              </a:rPr>
              <a:t>）</a:t>
            </a:r>
            <a:r>
              <a:rPr lang="zh-CN" altLang="en-US" dirty="0">
                <a:solidFill>
                  <a:srgbClr val="990033"/>
                </a:solidFill>
              </a:rPr>
              <a:t>和</a:t>
            </a:r>
            <a:r>
              <a:rPr lang="zh-CN" altLang="en-US" dirty="0" smtClean="0">
                <a:solidFill>
                  <a:srgbClr val="990033"/>
                </a:solidFill>
              </a:rPr>
              <a:t>导纳</a:t>
            </a:r>
            <a:r>
              <a:rPr lang="zh-CN" altLang="en-US" dirty="0">
                <a:solidFill>
                  <a:srgbClr val="0000CC"/>
                </a:solidFill>
              </a:rPr>
              <a:t>（</a:t>
            </a:r>
            <a:r>
              <a:rPr lang="en-US" altLang="zh-CN" dirty="0">
                <a:solidFill>
                  <a:srgbClr val="0000CC"/>
                </a:solidFill>
              </a:rPr>
              <a:t>Admittance</a:t>
            </a:r>
            <a:r>
              <a:rPr lang="zh-CN" altLang="en-US" dirty="0">
                <a:solidFill>
                  <a:srgbClr val="0000CC"/>
                </a:solidFill>
              </a:rPr>
              <a:t>）</a:t>
            </a:r>
          </a:p>
        </p:txBody>
      </p:sp>
      <p:sp>
        <p:nvSpPr>
          <p:cNvPr id="15" name="Rectangle 35"/>
          <p:cNvSpPr>
            <a:spLocks noChangeArrowheads="1"/>
          </p:cNvSpPr>
          <p:nvPr/>
        </p:nvSpPr>
        <p:spPr bwMode="auto">
          <a:xfrm>
            <a:off x="762000" y="571500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800" dirty="0" smtClean="0">
                <a:solidFill>
                  <a:schemeClr val="tx2"/>
                </a:solidFill>
              </a:rPr>
              <a:t>5.2 </a:t>
            </a:r>
            <a:r>
              <a:rPr lang="zh-CN" altLang="en-US" sz="2800" dirty="0" smtClean="0">
                <a:solidFill>
                  <a:schemeClr val="tx2"/>
                </a:solidFill>
              </a:rPr>
              <a:t>正弦</a:t>
            </a:r>
            <a:r>
              <a:rPr lang="zh-CN" altLang="en-US" sz="2800" dirty="0">
                <a:solidFill>
                  <a:schemeClr val="tx2"/>
                </a:solidFill>
              </a:rPr>
              <a:t>稳态电路的相量分析方法</a:t>
            </a:r>
          </a:p>
        </p:txBody>
      </p:sp>
    </p:spTree>
    <p:extLst>
      <p:ext uri="{BB962C8B-B14F-4D97-AF65-F5344CB8AC3E}">
        <p14:creationId xmlns:p14="http://schemas.microsoft.com/office/powerpoint/2010/main" val="352033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6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6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6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6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6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6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6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6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6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6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2" grpId="0"/>
      <p:bldP spid="568325" grpId="0"/>
      <p:bldP spid="568327" grpId="0"/>
      <p:bldP spid="568328" grpId="0"/>
      <p:bldP spid="568331" grpId="0"/>
      <p:bldP spid="568332" grpId="0" animBg="1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Text Box 2"/>
          <p:cNvSpPr txBox="1">
            <a:spLocks noChangeArrowheads="1"/>
          </p:cNvSpPr>
          <p:nvPr/>
        </p:nvSpPr>
        <p:spPr bwMode="auto">
          <a:xfrm>
            <a:off x="895350" y="665163"/>
            <a:ext cx="284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阻抗也可表示为</a:t>
            </a:r>
          </a:p>
        </p:txBody>
      </p:sp>
      <p:sp>
        <p:nvSpPr>
          <p:cNvPr id="569347" name="Rectangle 3"/>
          <p:cNvSpPr>
            <a:spLocks noChangeArrowheads="1"/>
          </p:cNvSpPr>
          <p:nvPr/>
        </p:nvSpPr>
        <p:spPr bwMode="auto">
          <a:xfrm>
            <a:off x="1198563" y="2078038"/>
            <a:ext cx="67992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SzPct val="80000"/>
              <a:buFont typeface="Wingdings" pitchFamily="2" charset="2"/>
              <a:buNone/>
            </a:pPr>
            <a:r>
              <a:rPr lang="zh-CN" altLang="en-US" sz="2000" b="0" dirty="0" smtClean="0">
                <a:latin typeface="Symbol" pitchFamily="18" charset="2"/>
              </a:rPr>
              <a:t>其中 </a:t>
            </a:r>
            <a:r>
              <a:rPr lang="en-US" altLang="zh-CN" sz="2000" b="0" i="1" dirty="0" smtClean="0"/>
              <a:t>R </a:t>
            </a:r>
            <a:r>
              <a:rPr lang="zh-CN" altLang="en-US" sz="2000" b="0" dirty="0" smtClean="0"/>
              <a:t>为</a:t>
            </a:r>
            <a:r>
              <a:rPr lang="zh-CN" altLang="en-US" sz="2000" dirty="0">
                <a:solidFill>
                  <a:srgbClr val="FF0000"/>
                </a:solidFill>
                <a:latin typeface="Symbol" pitchFamily="18" charset="2"/>
              </a:rPr>
              <a:t>电阻</a:t>
            </a:r>
            <a:r>
              <a:rPr lang="en-US" altLang="zh-CN" sz="2000" b="0" dirty="0"/>
              <a:t>( resistance )</a:t>
            </a:r>
            <a:r>
              <a:rPr lang="zh-CN" altLang="en-US" sz="2000" b="0" dirty="0"/>
              <a:t>，</a:t>
            </a:r>
            <a:r>
              <a:rPr lang="en-US" altLang="zh-CN" sz="2000" b="0" i="1" dirty="0" smtClean="0"/>
              <a:t>X </a:t>
            </a:r>
            <a:r>
              <a:rPr lang="zh-CN" altLang="en-US" sz="2000" b="0" dirty="0" smtClean="0"/>
              <a:t>为</a:t>
            </a:r>
            <a:r>
              <a:rPr lang="zh-CN" altLang="en-US" sz="2000" dirty="0">
                <a:solidFill>
                  <a:srgbClr val="FF0000"/>
                </a:solidFill>
              </a:rPr>
              <a:t>电抗</a:t>
            </a:r>
            <a:r>
              <a:rPr lang="en-US" altLang="zh-CN" sz="2000" b="0" dirty="0"/>
              <a:t>( reactance )</a:t>
            </a:r>
            <a:r>
              <a:rPr lang="zh-CN" altLang="en-US" sz="2000" b="0" dirty="0"/>
              <a:t>。</a:t>
            </a:r>
          </a:p>
          <a:p>
            <a:pPr algn="just" eaLnBrk="1" hangingPunct="1">
              <a:lnSpc>
                <a:spcPct val="150000"/>
              </a:lnSpc>
              <a:buSzPct val="80000"/>
              <a:buFont typeface="Wingdings" pitchFamily="2" charset="2"/>
              <a:buNone/>
            </a:pPr>
            <a:r>
              <a:rPr lang="zh-CN" altLang="en-US" sz="2000" b="0" dirty="0" smtClean="0"/>
              <a:t>当 </a:t>
            </a:r>
            <a:r>
              <a:rPr lang="en-US" altLang="zh-CN" sz="2000" b="0" i="1" dirty="0" smtClean="0"/>
              <a:t>X </a:t>
            </a:r>
            <a:r>
              <a:rPr lang="en-US" altLang="zh-CN" sz="2000" b="0" dirty="0"/>
              <a:t>&gt; </a:t>
            </a:r>
            <a:r>
              <a:rPr lang="en-US" altLang="zh-CN" sz="2000" b="0" dirty="0" smtClean="0"/>
              <a:t>0 </a:t>
            </a:r>
            <a:r>
              <a:rPr lang="zh-CN" altLang="en-US" sz="2000" b="0" dirty="0" smtClean="0"/>
              <a:t>时</a:t>
            </a:r>
            <a:r>
              <a:rPr lang="zh-CN" altLang="en-US" sz="2000" b="0" dirty="0"/>
              <a:t>，称为</a:t>
            </a:r>
            <a:r>
              <a:rPr lang="zh-CN" altLang="en-US" sz="2000" dirty="0">
                <a:solidFill>
                  <a:srgbClr val="FF0000"/>
                </a:solidFill>
              </a:rPr>
              <a:t>感性阻抗</a:t>
            </a:r>
            <a:r>
              <a:rPr lang="zh-CN" altLang="en-US" sz="2000" b="0" dirty="0"/>
              <a:t>或滞后阻抗。</a:t>
            </a:r>
          </a:p>
          <a:p>
            <a:pPr algn="just" eaLnBrk="1" hangingPunct="1">
              <a:lnSpc>
                <a:spcPct val="150000"/>
              </a:lnSpc>
              <a:buSzPct val="80000"/>
              <a:buFont typeface="Wingdings" pitchFamily="2" charset="2"/>
              <a:buNone/>
            </a:pPr>
            <a:r>
              <a:rPr lang="zh-CN" altLang="en-US" sz="2000" b="0" dirty="0" smtClean="0"/>
              <a:t>当 </a:t>
            </a:r>
            <a:r>
              <a:rPr lang="en-US" altLang="zh-CN" sz="2000" b="0" i="1" dirty="0" smtClean="0"/>
              <a:t>X </a:t>
            </a:r>
            <a:r>
              <a:rPr lang="en-US" altLang="zh-CN" sz="2000" b="0" dirty="0"/>
              <a:t>&lt; </a:t>
            </a:r>
            <a:r>
              <a:rPr lang="en-US" altLang="zh-CN" sz="2000" b="0" dirty="0" smtClean="0"/>
              <a:t>0 </a:t>
            </a:r>
            <a:r>
              <a:rPr lang="zh-CN" altLang="en-US" sz="2000" b="0" dirty="0" smtClean="0"/>
              <a:t>时</a:t>
            </a:r>
            <a:r>
              <a:rPr lang="zh-CN" altLang="en-US" sz="2000" b="0" dirty="0"/>
              <a:t>，称为</a:t>
            </a:r>
            <a:r>
              <a:rPr lang="zh-CN" altLang="en-US" sz="2000" dirty="0">
                <a:solidFill>
                  <a:srgbClr val="FF0000"/>
                </a:solidFill>
              </a:rPr>
              <a:t>容性阻抗</a:t>
            </a:r>
            <a:r>
              <a:rPr lang="zh-CN" altLang="en-US" sz="2000" b="0" dirty="0"/>
              <a:t>或超前阻抗。</a:t>
            </a:r>
          </a:p>
        </p:txBody>
      </p:sp>
      <p:graphicFrame>
        <p:nvGraphicFramePr>
          <p:cNvPr id="5693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364362"/>
              </p:ext>
            </p:extLst>
          </p:nvPr>
        </p:nvGraphicFramePr>
        <p:xfrm>
          <a:off x="3273425" y="1341438"/>
          <a:ext cx="1660477" cy="479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660" name="Equation" r:id="rId3" imgW="660240" imgH="190440" progId="Equation.DSMT4">
                  <p:embed/>
                </p:oleObj>
              </mc:Choice>
              <mc:Fallback>
                <p:oleObj name="Equation" r:id="rId3" imgW="6602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5" y="1341438"/>
                        <a:ext cx="1660477" cy="479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9349" name="Text Box 5"/>
          <p:cNvSpPr txBox="1">
            <a:spLocks noChangeArrowheads="1"/>
          </p:cNvSpPr>
          <p:nvPr/>
        </p:nvSpPr>
        <p:spPr bwMode="auto">
          <a:xfrm>
            <a:off x="1057275" y="3865563"/>
            <a:ext cx="514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阻抗也可表示为极坐标形式</a:t>
            </a:r>
          </a:p>
        </p:txBody>
      </p:sp>
      <p:graphicFrame>
        <p:nvGraphicFramePr>
          <p:cNvPr id="569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803682"/>
              </p:ext>
            </p:extLst>
          </p:nvPr>
        </p:nvGraphicFramePr>
        <p:xfrm>
          <a:off x="3494580" y="4502944"/>
          <a:ext cx="1591770" cy="5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661" name="Equation" r:id="rId5" imgW="609480" imgH="215640" progId="Equation.DSMT4">
                  <p:embed/>
                </p:oleObj>
              </mc:Choice>
              <mc:Fallback>
                <p:oleObj name="Equation" r:id="rId5" imgW="609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580" y="4502944"/>
                        <a:ext cx="1591770" cy="5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9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322081"/>
              </p:ext>
            </p:extLst>
          </p:nvPr>
        </p:nvGraphicFramePr>
        <p:xfrm>
          <a:off x="2437244" y="5246725"/>
          <a:ext cx="3988049" cy="858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662" name="Equation" r:id="rId7" imgW="1650960" imgH="355320" progId="Equation.DSMT4">
                  <p:embed/>
                </p:oleObj>
              </mc:Choice>
              <mc:Fallback>
                <p:oleObj name="Equation" r:id="rId7" imgW="16509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7244" y="5246725"/>
                        <a:ext cx="3988049" cy="858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337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6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6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69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4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Text Box 2"/>
          <p:cNvSpPr txBox="1">
            <a:spLocks noChangeArrowheads="1"/>
          </p:cNvSpPr>
          <p:nvPr/>
        </p:nvSpPr>
        <p:spPr bwMode="auto">
          <a:xfrm>
            <a:off x="1562100" y="598488"/>
            <a:ext cx="163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导纳</a:t>
            </a:r>
          </a:p>
        </p:txBody>
      </p:sp>
      <p:graphicFrame>
        <p:nvGraphicFramePr>
          <p:cNvPr id="5703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156422"/>
              </p:ext>
            </p:extLst>
          </p:nvPr>
        </p:nvGraphicFramePr>
        <p:xfrm>
          <a:off x="2755900" y="442913"/>
          <a:ext cx="13652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79" name="Equation" r:id="rId3" imgW="622080" imgH="368280" progId="Equation.DSMT4">
                  <p:embed/>
                </p:oleObj>
              </mc:Choice>
              <mc:Fallback>
                <p:oleObj name="Equation" r:id="rId3" imgW="6220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442913"/>
                        <a:ext cx="136525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72" name="Rectangle 4"/>
          <p:cNvSpPr>
            <a:spLocks noChangeArrowheads="1"/>
          </p:cNvSpPr>
          <p:nvPr/>
        </p:nvSpPr>
        <p:spPr bwMode="auto">
          <a:xfrm>
            <a:off x="2217738" y="1682750"/>
            <a:ext cx="1084262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SzPct val="80000"/>
              <a:buFont typeface="Wingdings" pitchFamily="2" charset="2"/>
              <a:buNone/>
            </a:pPr>
            <a:r>
              <a:rPr lang="zh-CN" altLang="en-US" b="0" dirty="0" smtClean="0">
                <a:latin typeface="仿宋_GB2312" pitchFamily="49" charset="-122"/>
                <a:ea typeface="仿宋_GB2312" pitchFamily="49" charset="-122"/>
              </a:rPr>
              <a:t>电阻</a:t>
            </a:r>
            <a:endParaRPr lang="zh-CN" altLang="en-US" b="0" dirty="0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570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427701"/>
              </p:ext>
            </p:extLst>
          </p:nvPr>
        </p:nvGraphicFramePr>
        <p:xfrm>
          <a:off x="3327400" y="1558925"/>
          <a:ext cx="10477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80" name="Equation" r:id="rId5" imgW="419040" imgH="355320" progId="Equation.DSMT4">
                  <p:embed/>
                </p:oleObj>
              </mc:Choice>
              <mc:Fallback>
                <p:oleObj name="Equation" r:id="rId5" imgW="4190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1558925"/>
                        <a:ext cx="10477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74" name="Rectangle 6"/>
          <p:cNvSpPr>
            <a:spLocks noChangeArrowheads="1"/>
          </p:cNvSpPr>
          <p:nvPr/>
        </p:nvSpPr>
        <p:spPr bwMode="auto">
          <a:xfrm>
            <a:off x="2217738" y="2625725"/>
            <a:ext cx="10842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SzPct val="80000"/>
              <a:buFont typeface="Wingdings" pitchFamily="2" charset="2"/>
              <a:buNone/>
            </a:pPr>
            <a:r>
              <a:rPr lang="zh-CN" altLang="en-US" b="0" dirty="0">
                <a:latin typeface="Symbol" pitchFamily="18" charset="2"/>
              </a:rPr>
              <a:t>电感</a:t>
            </a:r>
            <a:endParaRPr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70375" name="Rectangle 7"/>
          <p:cNvSpPr>
            <a:spLocks noChangeArrowheads="1"/>
          </p:cNvSpPr>
          <p:nvPr/>
        </p:nvSpPr>
        <p:spPr bwMode="auto">
          <a:xfrm>
            <a:off x="2217738" y="3702050"/>
            <a:ext cx="10842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SzPct val="80000"/>
              <a:buFont typeface="Wingdings" pitchFamily="2" charset="2"/>
              <a:buNone/>
            </a:pPr>
            <a:r>
              <a:rPr lang="zh-CN" altLang="en-US" b="0">
                <a:latin typeface="Symbol" pitchFamily="18" charset="2"/>
              </a:rPr>
              <a:t>电容</a:t>
            </a:r>
            <a:endParaRPr lang="zh-CN" altLang="en-US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570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915272"/>
              </p:ext>
            </p:extLst>
          </p:nvPr>
        </p:nvGraphicFramePr>
        <p:xfrm>
          <a:off x="3314700" y="2441575"/>
          <a:ext cx="1397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81" name="Equation" r:id="rId7" imgW="558720" imgH="380880" progId="Equation.DSMT4">
                  <p:embed/>
                </p:oleObj>
              </mc:Choice>
              <mc:Fallback>
                <p:oleObj name="Equation" r:id="rId7" imgW="558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2441575"/>
                        <a:ext cx="1397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3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807012"/>
              </p:ext>
            </p:extLst>
          </p:nvPr>
        </p:nvGraphicFramePr>
        <p:xfrm>
          <a:off x="3352800" y="3730625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82" name="Equation" r:id="rId9" imgW="558720" imgH="203040" progId="Equation.DSMT4">
                  <p:embed/>
                </p:oleObj>
              </mc:Choice>
              <mc:Fallback>
                <p:oleObj name="Equation" r:id="rId9" imgW="558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730625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78" name="Text Box 10"/>
          <p:cNvSpPr txBox="1">
            <a:spLocks noChangeArrowheads="1"/>
          </p:cNvSpPr>
          <p:nvPr/>
        </p:nvSpPr>
        <p:spPr bwMode="auto">
          <a:xfrm>
            <a:off x="4591050" y="627063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单位：西门子（</a:t>
            </a:r>
            <a:r>
              <a:rPr lang="en-US" altLang="zh-CN" dirty="0"/>
              <a:t>S</a:t>
            </a:r>
            <a:r>
              <a:rPr lang="zh-CN" altLang="en-US" dirty="0"/>
              <a:t>）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364456" y="4622066"/>
            <a:ext cx="284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导纳也可表示为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364457" y="5796816"/>
            <a:ext cx="67753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SzPct val="80000"/>
              <a:buFont typeface="Wingdings" pitchFamily="2" charset="2"/>
              <a:buNone/>
            </a:pPr>
            <a:r>
              <a:rPr lang="zh-CN" altLang="en-US" sz="2000" b="0" dirty="0">
                <a:latin typeface="Symbol" pitchFamily="18" charset="2"/>
              </a:rPr>
              <a:t>其中</a:t>
            </a:r>
            <a:r>
              <a:rPr lang="en-US" altLang="zh-CN" sz="2000" b="0" i="1" dirty="0"/>
              <a:t>G</a:t>
            </a:r>
            <a:r>
              <a:rPr lang="zh-CN" altLang="en-US" sz="2000" b="0" dirty="0"/>
              <a:t>为</a:t>
            </a:r>
            <a:r>
              <a:rPr lang="zh-CN" altLang="en-US" sz="2000" b="0" dirty="0" smtClean="0">
                <a:latin typeface="Symbol" pitchFamily="18" charset="2"/>
              </a:rPr>
              <a:t>电导（</a:t>
            </a:r>
            <a:r>
              <a:rPr lang="en-US" altLang="zh-CN" sz="2000" b="0" dirty="0" smtClean="0"/>
              <a:t>conductance</a:t>
            </a:r>
            <a:r>
              <a:rPr lang="zh-CN" altLang="en-US" sz="2000" b="0" dirty="0" smtClean="0">
                <a:latin typeface="Symbol" pitchFamily="18" charset="2"/>
              </a:rPr>
              <a:t>）</a:t>
            </a:r>
            <a:r>
              <a:rPr lang="zh-CN" altLang="en-US" sz="2000" b="0" dirty="0" smtClean="0"/>
              <a:t>，</a:t>
            </a:r>
            <a:r>
              <a:rPr lang="en-US" altLang="zh-CN" sz="2000" b="0" i="1" dirty="0"/>
              <a:t>B</a:t>
            </a:r>
            <a:r>
              <a:rPr lang="zh-CN" altLang="en-US" sz="2000" b="0" dirty="0"/>
              <a:t>为</a:t>
            </a:r>
            <a:r>
              <a:rPr lang="zh-CN" altLang="en-US" sz="2000" b="0" dirty="0" smtClean="0"/>
              <a:t>电纳（</a:t>
            </a:r>
            <a:r>
              <a:rPr lang="en-US" altLang="zh-CN" sz="2000" b="0" dirty="0" err="1" smtClean="0"/>
              <a:t>Susceptance</a:t>
            </a:r>
            <a:r>
              <a:rPr lang="zh-CN" altLang="en-US" sz="2000" b="0" dirty="0" smtClean="0"/>
              <a:t>）。</a:t>
            </a:r>
            <a:endParaRPr lang="en-US" altLang="zh-CN" sz="2000" b="0" dirty="0" smtClean="0"/>
          </a:p>
          <a:p>
            <a:pPr algn="just" eaLnBrk="1" hangingPunct="1">
              <a:lnSpc>
                <a:spcPct val="120000"/>
              </a:lnSpc>
              <a:buSzPct val="80000"/>
              <a:buFont typeface="Wingdings" pitchFamily="2" charset="2"/>
              <a:buNone/>
            </a:pPr>
            <a:r>
              <a:rPr lang="zh-CN" altLang="en-US" sz="2000" b="0" dirty="0" smtClean="0"/>
              <a:t>电导</a:t>
            </a:r>
            <a:r>
              <a:rPr lang="zh-CN" altLang="en-US" sz="2000" b="0" dirty="0"/>
              <a:t>和电纳的单位均为西门子。</a:t>
            </a: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29655"/>
              </p:ext>
            </p:extLst>
          </p:nvPr>
        </p:nvGraphicFramePr>
        <p:xfrm>
          <a:off x="3774282" y="5184041"/>
          <a:ext cx="1573326" cy="47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83" name="Equation" r:id="rId11" imgW="634680" imgH="190440" progId="Equation.DSMT4">
                  <p:embed/>
                </p:oleObj>
              </mc:Choice>
              <mc:Fallback>
                <p:oleObj name="Equation" r:id="rId11" imgW="6346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4282" y="5184041"/>
                        <a:ext cx="1573326" cy="472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708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7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7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7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7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7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7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7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57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2" grpId="0"/>
      <p:bldP spid="570374" grpId="0"/>
      <p:bldP spid="570375" grpId="0"/>
      <p:bldP spid="570378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Text Box 2"/>
          <p:cNvSpPr txBox="1">
            <a:spLocks noChangeArrowheads="1"/>
          </p:cNvSpPr>
          <p:nvPr/>
        </p:nvSpPr>
        <p:spPr bwMode="auto">
          <a:xfrm>
            <a:off x="685800" y="4133850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</a:rPr>
              <a:t>同直流电路相似：</a:t>
            </a:r>
            <a:endParaRPr lang="zh-CN" altLang="en-US"/>
          </a:p>
        </p:txBody>
      </p:sp>
      <p:grpSp>
        <p:nvGrpSpPr>
          <p:cNvPr id="480259" name="Group 3"/>
          <p:cNvGrpSpPr>
            <a:grpSpLocks/>
          </p:cNvGrpSpPr>
          <p:nvPr/>
        </p:nvGrpSpPr>
        <p:grpSpPr bwMode="auto">
          <a:xfrm>
            <a:off x="544513" y="741363"/>
            <a:ext cx="3279775" cy="1944687"/>
            <a:chOff x="343" y="695"/>
            <a:chExt cx="2066" cy="1225"/>
          </a:xfrm>
        </p:grpSpPr>
        <p:sp>
          <p:nvSpPr>
            <p:cNvPr id="480260" name="Line 4"/>
            <p:cNvSpPr>
              <a:spLocks noChangeShapeType="1"/>
            </p:cNvSpPr>
            <p:nvPr/>
          </p:nvSpPr>
          <p:spPr bwMode="auto">
            <a:xfrm>
              <a:off x="1056" y="1104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0261" name="Line 5"/>
            <p:cNvSpPr>
              <a:spLocks noChangeShapeType="1"/>
            </p:cNvSpPr>
            <p:nvPr/>
          </p:nvSpPr>
          <p:spPr bwMode="auto">
            <a:xfrm>
              <a:off x="2061" y="1104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0262" name="Line 6"/>
            <p:cNvSpPr>
              <a:spLocks noChangeShapeType="1"/>
            </p:cNvSpPr>
            <p:nvPr/>
          </p:nvSpPr>
          <p:spPr bwMode="auto">
            <a:xfrm>
              <a:off x="1056" y="1872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0263" name="Rectangle 7"/>
            <p:cNvSpPr>
              <a:spLocks noChangeArrowheads="1"/>
            </p:cNvSpPr>
            <p:nvPr/>
          </p:nvSpPr>
          <p:spPr bwMode="auto">
            <a:xfrm>
              <a:off x="1360" y="1056"/>
              <a:ext cx="272" cy="10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0264" name="AutoShape 8"/>
            <p:cNvSpPr>
              <a:spLocks noChangeArrowheads="1"/>
            </p:cNvSpPr>
            <p:nvPr/>
          </p:nvSpPr>
          <p:spPr bwMode="auto">
            <a:xfrm>
              <a:off x="576" y="1392"/>
              <a:ext cx="274" cy="204"/>
            </a:xfrm>
            <a:prstGeom prst="rightArrow">
              <a:avLst>
                <a:gd name="adj1" fmla="val 50000"/>
                <a:gd name="adj2" fmla="val 3357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0265" name="Text Box 9"/>
            <p:cNvSpPr txBox="1">
              <a:spLocks noChangeArrowheads="1"/>
            </p:cNvSpPr>
            <p:nvPr/>
          </p:nvSpPr>
          <p:spPr bwMode="auto">
            <a:xfrm>
              <a:off x="343" y="1344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/>
                <a:t>Z</a:t>
              </a:r>
            </a:p>
          </p:txBody>
        </p:sp>
        <p:sp>
          <p:nvSpPr>
            <p:cNvPr id="480266" name="Text Box 10"/>
            <p:cNvSpPr txBox="1">
              <a:spLocks noChangeArrowheads="1"/>
            </p:cNvSpPr>
            <p:nvPr/>
          </p:nvSpPr>
          <p:spPr bwMode="auto">
            <a:xfrm>
              <a:off x="1383" y="768"/>
              <a:ext cx="2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/>
                <a:t>Z</a:t>
              </a:r>
              <a:r>
                <a:rPr lang="en-US" altLang="zh-CN" sz="2000" baseline="-25000"/>
                <a:t>1</a:t>
              </a:r>
              <a:endParaRPr lang="en-US" altLang="zh-CN" sz="2000" i="1"/>
            </a:p>
          </p:txBody>
        </p:sp>
        <p:sp>
          <p:nvSpPr>
            <p:cNvPr id="480267" name="Rectangle 11"/>
            <p:cNvSpPr>
              <a:spLocks noChangeArrowheads="1"/>
            </p:cNvSpPr>
            <p:nvPr/>
          </p:nvSpPr>
          <p:spPr bwMode="auto">
            <a:xfrm rot="5400000">
              <a:off x="1925" y="1445"/>
              <a:ext cx="272" cy="10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0268" name="Text Box 12"/>
            <p:cNvSpPr txBox="1">
              <a:spLocks noChangeArrowheads="1"/>
            </p:cNvSpPr>
            <p:nvPr/>
          </p:nvSpPr>
          <p:spPr bwMode="auto">
            <a:xfrm>
              <a:off x="2112" y="1344"/>
              <a:ext cx="2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/>
                <a:t>Z</a:t>
              </a:r>
              <a:r>
                <a:rPr lang="en-US" altLang="zh-CN" sz="2000" baseline="-25000"/>
                <a:t>2</a:t>
              </a:r>
              <a:endParaRPr lang="en-US" altLang="zh-CN" sz="2000" i="1"/>
            </a:p>
          </p:txBody>
        </p:sp>
        <p:sp>
          <p:nvSpPr>
            <p:cNvPr id="480269" name="Oval 13"/>
            <p:cNvSpPr>
              <a:spLocks noChangeArrowheads="1"/>
            </p:cNvSpPr>
            <p:nvPr/>
          </p:nvSpPr>
          <p:spPr bwMode="auto">
            <a:xfrm>
              <a:off x="988" y="1824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0270" name="Oval 14"/>
            <p:cNvSpPr>
              <a:spLocks noChangeArrowheads="1"/>
            </p:cNvSpPr>
            <p:nvPr/>
          </p:nvSpPr>
          <p:spPr bwMode="auto">
            <a:xfrm>
              <a:off x="988" y="1084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0271" name="Text Box 15"/>
            <p:cNvSpPr txBox="1">
              <a:spLocks noChangeArrowheads="1"/>
            </p:cNvSpPr>
            <p:nvPr/>
          </p:nvSpPr>
          <p:spPr bwMode="auto">
            <a:xfrm>
              <a:off x="912" y="1104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/>
                <a:t>+</a:t>
              </a:r>
            </a:p>
          </p:txBody>
        </p:sp>
        <p:sp>
          <p:nvSpPr>
            <p:cNvPr id="480272" name="Text Box 16"/>
            <p:cNvSpPr txBox="1">
              <a:spLocks noChangeArrowheads="1"/>
            </p:cNvSpPr>
            <p:nvPr/>
          </p:nvSpPr>
          <p:spPr bwMode="auto">
            <a:xfrm>
              <a:off x="1152" y="1104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/>
                <a:t>+</a:t>
              </a:r>
            </a:p>
          </p:txBody>
        </p:sp>
        <p:sp>
          <p:nvSpPr>
            <p:cNvPr id="480273" name="Text Box 17"/>
            <p:cNvSpPr txBox="1">
              <a:spLocks noChangeArrowheads="1"/>
            </p:cNvSpPr>
            <p:nvPr/>
          </p:nvSpPr>
          <p:spPr bwMode="auto">
            <a:xfrm>
              <a:off x="1824" y="115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/>
                <a:t>+</a:t>
              </a:r>
            </a:p>
          </p:txBody>
        </p:sp>
        <p:sp>
          <p:nvSpPr>
            <p:cNvPr id="480274" name="Text Box 18"/>
            <p:cNvSpPr txBox="1">
              <a:spLocks noChangeArrowheads="1"/>
            </p:cNvSpPr>
            <p:nvPr/>
          </p:nvSpPr>
          <p:spPr bwMode="auto">
            <a:xfrm>
              <a:off x="912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charset="-122"/>
                </a:rPr>
                <a:t>-</a:t>
              </a:r>
              <a:endParaRPr lang="en-US" altLang="zh-CN"/>
            </a:p>
          </p:txBody>
        </p:sp>
        <p:sp>
          <p:nvSpPr>
            <p:cNvPr id="480275" name="Text Box 19"/>
            <p:cNvSpPr txBox="1">
              <a:spLocks noChangeArrowheads="1"/>
            </p:cNvSpPr>
            <p:nvPr/>
          </p:nvSpPr>
          <p:spPr bwMode="auto">
            <a:xfrm>
              <a:off x="1612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charset="-122"/>
                </a:rPr>
                <a:t>-</a:t>
              </a:r>
              <a:endParaRPr lang="en-US" altLang="zh-CN"/>
            </a:p>
          </p:txBody>
        </p:sp>
        <p:sp>
          <p:nvSpPr>
            <p:cNvPr id="480276" name="Text Box 20"/>
            <p:cNvSpPr txBox="1">
              <a:spLocks noChangeArrowheads="1"/>
            </p:cNvSpPr>
            <p:nvPr/>
          </p:nvSpPr>
          <p:spPr bwMode="auto">
            <a:xfrm>
              <a:off x="1824" y="16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charset="-122"/>
                </a:rPr>
                <a:t>-</a:t>
              </a:r>
              <a:endParaRPr lang="en-US" altLang="zh-CN"/>
            </a:p>
          </p:txBody>
        </p:sp>
        <p:graphicFrame>
          <p:nvGraphicFramePr>
            <p:cNvPr id="480277" name="Object 21"/>
            <p:cNvGraphicFramePr>
              <a:graphicFrameLocks noChangeAspect="1"/>
            </p:cNvGraphicFramePr>
            <p:nvPr/>
          </p:nvGraphicFramePr>
          <p:xfrm>
            <a:off x="927" y="1319"/>
            <a:ext cx="16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966" name="Equation" r:id="rId3" imgW="139680" imgH="253800" progId="Equation.DSMT4">
                    <p:embed/>
                  </p:oleObj>
                </mc:Choice>
                <mc:Fallback>
                  <p:oleObj name="Equation" r:id="rId3" imgW="1396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7" y="1319"/>
                          <a:ext cx="162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0278" name="Object 22"/>
            <p:cNvGraphicFramePr>
              <a:graphicFrameLocks noChangeAspect="1"/>
            </p:cNvGraphicFramePr>
            <p:nvPr/>
          </p:nvGraphicFramePr>
          <p:xfrm>
            <a:off x="1392" y="1167"/>
            <a:ext cx="19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967" name="Equation" r:id="rId5" imgW="164880" imgH="253800" progId="Equation.DSMT4">
                    <p:embed/>
                  </p:oleObj>
                </mc:Choice>
                <mc:Fallback>
                  <p:oleObj name="Equation" r:id="rId5" imgW="1648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167"/>
                          <a:ext cx="192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0279" name="Object 23"/>
            <p:cNvGraphicFramePr>
              <a:graphicFrameLocks noChangeAspect="1"/>
            </p:cNvGraphicFramePr>
            <p:nvPr/>
          </p:nvGraphicFramePr>
          <p:xfrm>
            <a:off x="1768" y="1367"/>
            <a:ext cx="208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968" name="Equation" r:id="rId7" imgW="177480" imgH="253800" progId="Equation.DSMT4">
                    <p:embed/>
                  </p:oleObj>
                </mc:Choice>
                <mc:Fallback>
                  <p:oleObj name="Equation" r:id="rId7" imgW="1774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8" y="1367"/>
                          <a:ext cx="208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0280" name="Line 24"/>
            <p:cNvSpPr>
              <a:spLocks noChangeShapeType="1"/>
            </p:cNvSpPr>
            <p:nvPr/>
          </p:nvSpPr>
          <p:spPr bwMode="auto">
            <a:xfrm>
              <a:off x="1008" y="1008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0281" name="Object 25"/>
            <p:cNvGraphicFramePr>
              <a:graphicFrameLocks noChangeAspect="1"/>
            </p:cNvGraphicFramePr>
            <p:nvPr/>
          </p:nvGraphicFramePr>
          <p:xfrm>
            <a:off x="1029" y="695"/>
            <a:ext cx="14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969" name="Equation" r:id="rId9" imgW="126720" imgH="241200" progId="Equation.DSMT4">
                    <p:embed/>
                  </p:oleObj>
                </mc:Choice>
                <mc:Fallback>
                  <p:oleObj name="Equation" r:id="rId9" imgW="1267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9" y="695"/>
                          <a:ext cx="14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0282" name="Group 26"/>
          <p:cNvGrpSpPr>
            <a:grpSpLocks/>
          </p:cNvGrpSpPr>
          <p:nvPr/>
        </p:nvGrpSpPr>
        <p:grpSpPr bwMode="auto">
          <a:xfrm>
            <a:off x="4114800" y="823913"/>
            <a:ext cx="3568700" cy="1804987"/>
            <a:chOff x="2592" y="735"/>
            <a:chExt cx="2248" cy="1137"/>
          </a:xfrm>
        </p:grpSpPr>
        <p:graphicFrame>
          <p:nvGraphicFramePr>
            <p:cNvPr id="480283" name="Object 27"/>
            <p:cNvGraphicFramePr>
              <a:graphicFrameLocks noChangeAspect="1"/>
            </p:cNvGraphicFramePr>
            <p:nvPr/>
          </p:nvGraphicFramePr>
          <p:xfrm>
            <a:off x="3415" y="735"/>
            <a:ext cx="14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970" name="Equation" r:id="rId11" imgW="126720" imgH="241200" progId="Equation.DSMT4">
                    <p:embed/>
                  </p:oleObj>
                </mc:Choice>
                <mc:Fallback>
                  <p:oleObj name="Equation" r:id="rId11" imgW="1267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5" y="735"/>
                          <a:ext cx="14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80284" name="Group 28"/>
            <p:cNvGrpSpPr>
              <a:grpSpLocks/>
            </p:cNvGrpSpPr>
            <p:nvPr/>
          </p:nvGrpSpPr>
          <p:grpSpPr bwMode="auto">
            <a:xfrm>
              <a:off x="2592" y="1048"/>
              <a:ext cx="2248" cy="824"/>
              <a:chOff x="2592" y="1048"/>
              <a:chExt cx="2248" cy="824"/>
            </a:xfrm>
          </p:grpSpPr>
          <p:sp>
            <p:nvSpPr>
              <p:cNvPr id="480285" name="Freeform 29"/>
              <p:cNvSpPr>
                <a:spLocks/>
              </p:cNvSpPr>
              <p:nvPr/>
            </p:nvSpPr>
            <p:spPr bwMode="auto">
              <a:xfrm>
                <a:off x="3252" y="1116"/>
                <a:ext cx="1218" cy="1"/>
              </a:xfrm>
              <a:custGeom>
                <a:avLst/>
                <a:gdLst>
                  <a:gd name="T0" fmla="*/ 0 w 1218"/>
                  <a:gd name="T1" fmla="*/ 0 h 1"/>
                  <a:gd name="T2" fmla="*/ 1218 w 121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18" h="1">
                    <a:moveTo>
                      <a:pt x="0" y="0"/>
                    </a:moveTo>
                    <a:lnTo>
                      <a:pt x="121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286" name="Freeform 30"/>
              <p:cNvSpPr>
                <a:spLocks/>
              </p:cNvSpPr>
              <p:nvPr/>
            </p:nvSpPr>
            <p:spPr bwMode="auto">
              <a:xfrm>
                <a:off x="3240" y="1836"/>
                <a:ext cx="1230" cy="1"/>
              </a:xfrm>
              <a:custGeom>
                <a:avLst/>
                <a:gdLst>
                  <a:gd name="T0" fmla="*/ 0 w 1230"/>
                  <a:gd name="T1" fmla="*/ 0 h 1"/>
                  <a:gd name="T2" fmla="*/ 1230 w 123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30" h="1">
                    <a:moveTo>
                      <a:pt x="0" y="0"/>
                    </a:moveTo>
                    <a:lnTo>
                      <a:pt x="12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287" name="Line 31"/>
              <p:cNvSpPr>
                <a:spLocks noChangeShapeType="1"/>
              </p:cNvSpPr>
              <p:nvPr/>
            </p:nvSpPr>
            <p:spPr bwMode="auto">
              <a:xfrm flipV="1">
                <a:off x="4464" y="1116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288" name="Line 32"/>
              <p:cNvSpPr>
                <a:spLocks noChangeShapeType="1"/>
              </p:cNvSpPr>
              <p:nvPr/>
            </p:nvSpPr>
            <p:spPr bwMode="auto">
              <a:xfrm>
                <a:off x="3840" y="1116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289" name="AutoShape 33"/>
              <p:cNvSpPr>
                <a:spLocks noChangeArrowheads="1"/>
              </p:cNvSpPr>
              <p:nvPr/>
            </p:nvSpPr>
            <p:spPr bwMode="auto">
              <a:xfrm>
                <a:off x="2832" y="1392"/>
                <a:ext cx="288" cy="192"/>
              </a:xfrm>
              <a:prstGeom prst="rightArrow">
                <a:avLst>
                  <a:gd name="adj1" fmla="val 50000"/>
                  <a:gd name="adj2" fmla="val 375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290" name="Text Box 34"/>
              <p:cNvSpPr txBox="1">
                <a:spLocks noChangeArrowheads="1"/>
              </p:cNvSpPr>
              <p:nvPr/>
            </p:nvSpPr>
            <p:spPr bwMode="auto">
              <a:xfrm>
                <a:off x="2592" y="1375"/>
                <a:ext cx="21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000" i="1"/>
                  <a:t>Y</a:t>
                </a:r>
              </a:p>
            </p:txBody>
          </p:sp>
          <p:sp>
            <p:nvSpPr>
              <p:cNvPr id="480291" name="Oval 35"/>
              <p:cNvSpPr>
                <a:spLocks noChangeArrowheads="1"/>
              </p:cNvSpPr>
              <p:nvPr/>
            </p:nvSpPr>
            <p:spPr bwMode="auto">
              <a:xfrm>
                <a:off x="3196" y="1084"/>
                <a:ext cx="68" cy="6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292" name="Oval 36"/>
              <p:cNvSpPr>
                <a:spLocks noChangeArrowheads="1"/>
              </p:cNvSpPr>
              <p:nvPr/>
            </p:nvSpPr>
            <p:spPr bwMode="auto">
              <a:xfrm>
                <a:off x="3196" y="1804"/>
                <a:ext cx="68" cy="6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293" name="Oval 37"/>
              <p:cNvSpPr>
                <a:spLocks noChangeArrowheads="1"/>
              </p:cNvSpPr>
              <p:nvPr/>
            </p:nvSpPr>
            <p:spPr bwMode="auto">
              <a:xfrm>
                <a:off x="3196" y="1084"/>
                <a:ext cx="68" cy="6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294" name="Text Box 38"/>
              <p:cNvSpPr txBox="1">
                <a:spLocks noChangeArrowheads="1"/>
              </p:cNvSpPr>
              <p:nvPr/>
            </p:nvSpPr>
            <p:spPr bwMode="auto">
              <a:xfrm>
                <a:off x="3120" y="1104"/>
                <a:ext cx="20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/>
                  <a:t>+</a:t>
                </a:r>
              </a:p>
            </p:txBody>
          </p:sp>
          <p:sp>
            <p:nvSpPr>
              <p:cNvPr id="480295" name="Text Box 39"/>
              <p:cNvSpPr txBox="1">
                <a:spLocks noChangeArrowheads="1"/>
              </p:cNvSpPr>
              <p:nvPr/>
            </p:nvSpPr>
            <p:spPr bwMode="auto">
              <a:xfrm>
                <a:off x="3120" y="1584"/>
                <a:ext cx="19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>
                    <a:latin typeface="宋体" charset="-122"/>
                  </a:rPr>
                  <a:t>-</a:t>
                </a:r>
                <a:endParaRPr lang="en-US" altLang="zh-CN" sz="2000"/>
              </a:p>
            </p:txBody>
          </p:sp>
          <p:graphicFrame>
            <p:nvGraphicFramePr>
              <p:cNvPr id="480296" name="Object 40"/>
              <p:cNvGraphicFramePr>
                <a:graphicFrameLocks noChangeAspect="1"/>
              </p:cNvGraphicFramePr>
              <p:nvPr/>
            </p:nvGraphicFramePr>
            <p:xfrm>
              <a:off x="3135" y="1319"/>
              <a:ext cx="162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9971" name="Equation" r:id="rId13" imgW="139680" imgH="253800" progId="Equation.DSMT4">
                      <p:embed/>
                    </p:oleObj>
                  </mc:Choice>
                  <mc:Fallback>
                    <p:oleObj name="Equation" r:id="rId13" imgW="13968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35" y="1319"/>
                            <a:ext cx="162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0297" name="Line 41"/>
              <p:cNvSpPr>
                <a:spLocks noChangeShapeType="1"/>
              </p:cNvSpPr>
              <p:nvPr/>
            </p:nvSpPr>
            <p:spPr bwMode="auto">
              <a:xfrm>
                <a:off x="3394" y="1048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298" name="Rectangle 42"/>
              <p:cNvSpPr>
                <a:spLocks noChangeArrowheads="1"/>
              </p:cNvSpPr>
              <p:nvPr/>
            </p:nvSpPr>
            <p:spPr bwMode="auto">
              <a:xfrm rot="5400000">
                <a:off x="3701" y="1432"/>
                <a:ext cx="272" cy="10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0299" name="Rectangle 43"/>
              <p:cNvSpPr>
                <a:spLocks noChangeArrowheads="1"/>
              </p:cNvSpPr>
              <p:nvPr/>
            </p:nvSpPr>
            <p:spPr bwMode="auto">
              <a:xfrm rot="5400000">
                <a:off x="4331" y="1429"/>
                <a:ext cx="272" cy="10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0300" name="Text Box 44"/>
              <p:cNvSpPr txBox="1">
                <a:spLocks noChangeArrowheads="1"/>
              </p:cNvSpPr>
              <p:nvPr/>
            </p:nvSpPr>
            <p:spPr bwMode="auto">
              <a:xfrm>
                <a:off x="3495" y="1331"/>
                <a:ext cx="29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000" i="1"/>
                  <a:t>Y</a:t>
                </a:r>
                <a:r>
                  <a:rPr lang="en-US" altLang="zh-CN" sz="2000" baseline="-25000"/>
                  <a:t>1</a:t>
                </a:r>
                <a:endParaRPr lang="en-US" altLang="zh-CN" sz="2000" i="1"/>
              </a:p>
            </p:txBody>
          </p:sp>
          <p:sp>
            <p:nvSpPr>
              <p:cNvPr id="480301" name="Text Box 45"/>
              <p:cNvSpPr txBox="1">
                <a:spLocks noChangeArrowheads="1"/>
              </p:cNvSpPr>
              <p:nvPr/>
            </p:nvSpPr>
            <p:spPr bwMode="auto">
              <a:xfrm>
                <a:off x="4128" y="1344"/>
                <a:ext cx="29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000" i="1"/>
                  <a:t>Y</a:t>
                </a:r>
                <a:r>
                  <a:rPr lang="en-US" altLang="zh-CN" sz="2000" baseline="-25000"/>
                  <a:t>2</a:t>
                </a:r>
                <a:endParaRPr lang="en-US" altLang="zh-CN" sz="2000" i="1"/>
              </a:p>
            </p:txBody>
          </p:sp>
          <p:sp>
            <p:nvSpPr>
              <p:cNvPr id="480302" name="Line 46"/>
              <p:cNvSpPr>
                <a:spLocks noChangeShapeType="1"/>
              </p:cNvSpPr>
              <p:nvPr/>
            </p:nvSpPr>
            <p:spPr bwMode="auto">
              <a:xfrm rot="5400000">
                <a:off x="3864" y="1272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80303" name="Object 47"/>
              <p:cNvGraphicFramePr>
                <a:graphicFrameLocks noChangeAspect="1"/>
              </p:cNvGraphicFramePr>
              <p:nvPr/>
            </p:nvGraphicFramePr>
            <p:xfrm>
              <a:off x="4013" y="1071"/>
              <a:ext cx="194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9972" name="Equation" r:id="rId15" imgW="164880" imgH="253800" progId="Equation.DSMT4">
                      <p:embed/>
                    </p:oleObj>
                  </mc:Choice>
                  <mc:Fallback>
                    <p:oleObj name="Equation" r:id="rId15" imgW="16488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13" y="1071"/>
                            <a:ext cx="194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0304" name="Line 48"/>
              <p:cNvSpPr>
                <a:spLocks noChangeShapeType="1"/>
              </p:cNvSpPr>
              <p:nvPr/>
            </p:nvSpPr>
            <p:spPr bwMode="auto">
              <a:xfrm rot="5400000">
                <a:off x="4490" y="1272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80305" name="Object 49"/>
              <p:cNvGraphicFramePr>
                <a:graphicFrameLocks noChangeAspect="1"/>
              </p:cNvGraphicFramePr>
              <p:nvPr/>
            </p:nvGraphicFramePr>
            <p:xfrm>
              <a:off x="4631" y="1071"/>
              <a:ext cx="209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9973" name="Equation" r:id="rId17" imgW="177480" imgH="253800" progId="Equation.DSMT4">
                      <p:embed/>
                    </p:oleObj>
                  </mc:Choice>
                  <mc:Fallback>
                    <p:oleObj name="Equation" r:id="rId17" imgW="17748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1" y="1071"/>
                            <a:ext cx="209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80306" name="Object 50"/>
          <p:cNvGraphicFramePr>
            <a:graphicFrameLocks noChangeAspect="1"/>
          </p:cNvGraphicFramePr>
          <p:nvPr/>
        </p:nvGraphicFramePr>
        <p:xfrm>
          <a:off x="2165350" y="4475163"/>
          <a:ext cx="4595813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974" name="Equation" r:id="rId19" imgW="2184120" imgH="825480" progId="Equation.DSMT4">
                  <p:embed/>
                </p:oleObj>
              </mc:Choice>
              <mc:Fallback>
                <p:oleObj name="Equation" r:id="rId19" imgW="218412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0" y="4475163"/>
                        <a:ext cx="4595813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308" name="Object 52"/>
          <p:cNvGraphicFramePr>
            <a:graphicFrameLocks noChangeAspect="1"/>
          </p:cNvGraphicFramePr>
          <p:nvPr/>
        </p:nvGraphicFramePr>
        <p:xfrm>
          <a:off x="1703388" y="2900363"/>
          <a:ext cx="1379537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975" name="Equation" r:id="rId21" imgW="647640" imgH="558720" progId="Equation.DSMT4">
                  <p:embed/>
                </p:oleObj>
              </mc:Choice>
              <mc:Fallback>
                <p:oleObj name="Equation" r:id="rId21" imgW="64764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2900363"/>
                        <a:ext cx="1379537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309" name="AutoShape 53"/>
          <p:cNvSpPr>
            <a:spLocks/>
          </p:cNvSpPr>
          <p:nvPr/>
        </p:nvSpPr>
        <p:spPr bwMode="auto">
          <a:xfrm>
            <a:off x="1521281" y="2985859"/>
            <a:ext cx="96837" cy="931863"/>
          </a:xfrm>
          <a:prstGeom prst="leftBrace">
            <a:avLst>
              <a:gd name="adj1" fmla="val 80192"/>
              <a:gd name="adj2" fmla="val 50000"/>
            </a:avLst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0310" name="AutoShape 54"/>
          <p:cNvSpPr>
            <a:spLocks/>
          </p:cNvSpPr>
          <p:nvPr/>
        </p:nvSpPr>
        <p:spPr bwMode="auto">
          <a:xfrm>
            <a:off x="4559527" y="3013075"/>
            <a:ext cx="120650" cy="931863"/>
          </a:xfrm>
          <a:prstGeom prst="leftBrace">
            <a:avLst>
              <a:gd name="adj1" fmla="val 64364"/>
              <a:gd name="adj2" fmla="val 50000"/>
            </a:avLst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80311" name="Object 55"/>
          <p:cNvGraphicFramePr>
            <a:graphicFrameLocks noChangeAspect="1"/>
          </p:cNvGraphicFramePr>
          <p:nvPr/>
        </p:nvGraphicFramePr>
        <p:xfrm>
          <a:off x="4714875" y="2957513"/>
          <a:ext cx="1274763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976" name="Equation" r:id="rId23" imgW="596880" imgH="558720" progId="Equation.DSMT4">
                  <p:embed/>
                </p:oleObj>
              </mc:Choice>
              <mc:Fallback>
                <p:oleObj name="Equation" r:id="rId23" imgW="5968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2957513"/>
                        <a:ext cx="1274763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312" name="AutoShape 56"/>
          <p:cNvSpPr>
            <a:spLocks/>
          </p:cNvSpPr>
          <p:nvPr/>
        </p:nvSpPr>
        <p:spPr bwMode="auto">
          <a:xfrm>
            <a:off x="6835094" y="2985860"/>
            <a:ext cx="168275" cy="931863"/>
          </a:xfrm>
          <a:prstGeom prst="leftBrace">
            <a:avLst>
              <a:gd name="adj1" fmla="val 46148"/>
              <a:gd name="adj2" fmla="val 50000"/>
            </a:avLst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0313" name="AutoShape 57"/>
          <p:cNvSpPr>
            <a:spLocks noChangeArrowheads="1"/>
          </p:cNvSpPr>
          <p:nvPr/>
        </p:nvSpPr>
        <p:spPr bwMode="auto">
          <a:xfrm>
            <a:off x="6111875" y="3352800"/>
            <a:ext cx="307975" cy="304800"/>
          </a:xfrm>
          <a:prstGeom prst="rightArrow">
            <a:avLst>
              <a:gd name="adj1" fmla="val 50000"/>
              <a:gd name="adj2" fmla="val 25260"/>
            </a:avLst>
          </a:prstGeom>
          <a:solidFill>
            <a:srgbClr val="00FF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80314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268431"/>
              </p:ext>
            </p:extLst>
          </p:nvPr>
        </p:nvGraphicFramePr>
        <p:xfrm>
          <a:off x="7034213" y="2741613"/>
          <a:ext cx="1438275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977" name="Equation" r:id="rId25" imgW="774360" imgH="787320" progId="Equation.DSMT4">
                  <p:embed/>
                </p:oleObj>
              </mc:Choice>
              <mc:Fallback>
                <p:oleObj name="Equation" r:id="rId25" imgW="7743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213" y="2741613"/>
                        <a:ext cx="1438275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315" name="Text Box 59"/>
          <p:cNvSpPr txBox="1">
            <a:spLocks noChangeArrowheads="1"/>
          </p:cNvSpPr>
          <p:nvPr/>
        </p:nvSpPr>
        <p:spPr bwMode="auto">
          <a:xfrm>
            <a:off x="381000" y="304800"/>
            <a:ext cx="598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>
                <a:solidFill>
                  <a:srgbClr val="990033"/>
                </a:solidFill>
              </a:rPr>
              <a:t>二、串联</a:t>
            </a:r>
            <a:r>
              <a:rPr lang="zh-CN" altLang="en-US" dirty="0">
                <a:solidFill>
                  <a:srgbClr val="990033"/>
                </a:solidFill>
              </a:rPr>
              <a:t>、并联</a:t>
            </a:r>
            <a:r>
              <a:rPr lang="zh-CN" altLang="en-US" dirty="0" smtClean="0">
                <a:solidFill>
                  <a:srgbClr val="990033"/>
                </a:solidFill>
              </a:rPr>
              <a:t>和</a:t>
            </a:r>
            <a:r>
              <a:rPr lang="en-US" altLang="zh-CN" dirty="0">
                <a:solidFill>
                  <a:srgbClr val="A50021"/>
                </a:solidFill>
              </a:rPr>
              <a:t>Y-</a:t>
            </a:r>
            <a:r>
              <a:rPr lang="en-US" altLang="zh-CN" dirty="0">
                <a:solidFill>
                  <a:srgbClr val="A50021"/>
                </a:solidFill>
                <a:latin typeface="Symbol" pitchFamily="18" charset="2"/>
              </a:rPr>
              <a:t></a:t>
            </a:r>
            <a:r>
              <a:rPr lang="zh-CN" altLang="en-US" dirty="0" smtClean="0">
                <a:solidFill>
                  <a:srgbClr val="990033"/>
                </a:solidFill>
              </a:rPr>
              <a:t>电阻</a:t>
            </a:r>
            <a:r>
              <a:rPr lang="zh-CN" altLang="en-US" dirty="0">
                <a:solidFill>
                  <a:srgbClr val="990033"/>
                </a:solidFill>
              </a:rPr>
              <a:t>变换</a:t>
            </a:r>
          </a:p>
        </p:txBody>
      </p:sp>
      <p:sp>
        <p:nvSpPr>
          <p:cNvPr id="480316" name="Rectangle 60"/>
          <p:cNvSpPr>
            <a:spLocks noChangeArrowheads="1"/>
          </p:cNvSpPr>
          <p:nvPr/>
        </p:nvSpPr>
        <p:spPr bwMode="auto">
          <a:xfrm>
            <a:off x="1047237" y="6248400"/>
            <a:ext cx="57685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Y-</a:t>
            </a:r>
            <a:r>
              <a:rPr lang="en-US" altLang="zh-CN" dirty="0">
                <a:latin typeface="Symbol" pitchFamily="18" charset="2"/>
              </a:rPr>
              <a:t></a:t>
            </a:r>
            <a:r>
              <a:rPr lang="zh-CN" altLang="en-US" dirty="0" smtClean="0"/>
              <a:t>电阻</a:t>
            </a:r>
            <a:r>
              <a:rPr lang="zh-CN" altLang="en-US" dirty="0"/>
              <a:t>变换的公式也类似</a:t>
            </a:r>
            <a:r>
              <a:rPr lang="zh-CN" altLang="en-US" dirty="0" smtClean="0"/>
              <a:t>，自行列写。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749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0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0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8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8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0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0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48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8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8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8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48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48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1000"/>
                                        <p:tgtEl>
                                          <p:spTgt spid="480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58" grpId="0" autoUpdateAnimBg="0"/>
      <p:bldP spid="480309" grpId="0" animBg="1"/>
      <p:bldP spid="480310" grpId="0" animBg="1"/>
      <p:bldP spid="480312" grpId="0" animBg="1"/>
      <p:bldP spid="4803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7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588063"/>
              </p:ext>
            </p:extLst>
          </p:nvPr>
        </p:nvGraphicFramePr>
        <p:xfrm>
          <a:off x="3140075" y="2138590"/>
          <a:ext cx="36957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366" name="Equation" r:id="rId3" imgW="1650960" imgH="215640" progId="Equation.DSMT4">
                  <p:embed/>
                </p:oleObj>
              </mc:Choice>
              <mc:Fallback>
                <p:oleObj name="Equation" r:id="rId3" imgW="1650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075" y="2138590"/>
                        <a:ext cx="36957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91233"/>
              </p:ext>
            </p:extLst>
          </p:nvPr>
        </p:nvGraphicFramePr>
        <p:xfrm>
          <a:off x="3157538" y="2732315"/>
          <a:ext cx="49752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367" name="Equation" r:id="rId5" imgW="2184120" imgH="215640" progId="Equation.DSMT4">
                  <p:embed/>
                </p:oleObj>
              </mc:Choice>
              <mc:Fallback>
                <p:oleObj name="Equation" r:id="rId5" imgW="2184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7538" y="2732315"/>
                        <a:ext cx="49752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7974" name="Group 6"/>
          <p:cNvGrpSpPr>
            <a:grpSpLocks/>
          </p:cNvGrpSpPr>
          <p:nvPr/>
        </p:nvGrpSpPr>
        <p:grpSpPr bwMode="auto">
          <a:xfrm>
            <a:off x="612775" y="2102077"/>
            <a:ext cx="1974850" cy="1819276"/>
            <a:chOff x="341" y="864"/>
            <a:chExt cx="1244" cy="1146"/>
          </a:xfrm>
        </p:grpSpPr>
        <p:sp>
          <p:nvSpPr>
            <p:cNvPr id="467975" name="Line 7"/>
            <p:cNvSpPr>
              <a:spLocks noChangeShapeType="1"/>
            </p:cNvSpPr>
            <p:nvPr/>
          </p:nvSpPr>
          <p:spPr bwMode="auto">
            <a:xfrm>
              <a:off x="1284" y="1212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7976" name="Rectangle 8"/>
            <p:cNvSpPr>
              <a:spLocks noChangeArrowheads="1"/>
            </p:cNvSpPr>
            <p:nvPr/>
          </p:nvSpPr>
          <p:spPr bwMode="auto">
            <a:xfrm>
              <a:off x="1224" y="1404"/>
              <a:ext cx="120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7977" name="Line 9"/>
            <p:cNvSpPr>
              <a:spLocks noChangeShapeType="1"/>
            </p:cNvSpPr>
            <p:nvPr/>
          </p:nvSpPr>
          <p:spPr bwMode="auto">
            <a:xfrm>
              <a:off x="708" y="1212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7978" name="Line 10"/>
            <p:cNvSpPr>
              <a:spLocks noChangeShapeType="1"/>
            </p:cNvSpPr>
            <p:nvPr/>
          </p:nvSpPr>
          <p:spPr bwMode="auto">
            <a:xfrm>
              <a:off x="708" y="1932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7979" name="Text Box 11"/>
            <p:cNvSpPr txBox="1">
              <a:spLocks noChangeArrowheads="1"/>
            </p:cNvSpPr>
            <p:nvPr/>
          </p:nvSpPr>
          <p:spPr bwMode="auto">
            <a:xfrm>
              <a:off x="341" y="1417"/>
              <a:ext cx="4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b="0" i="1" dirty="0" err="1"/>
                <a:t>v</a:t>
              </a:r>
              <a:r>
                <a:rPr lang="en-US" altLang="zh-CN" b="0" i="1" baseline="-25000" dirty="0" err="1"/>
                <a:t>R</a:t>
              </a:r>
              <a:r>
                <a:rPr lang="en-US" altLang="zh-CN" b="0" dirty="0"/>
                <a:t>(</a:t>
              </a:r>
              <a:r>
                <a:rPr lang="en-US" altLang="zh-CN" b="0" i="1" dirty="0"/>
                <a:t>t</a:t>
              </a:r>
              <a:r>
                <a:rPr lang="en-US" altLang="zh-CN" b="0" dirty="0"/>
                <a:t>)</a:t>
              </a:r>
            </a:p>
          </p:txBody>
        </p:sp>
        <p:sp>
          <p:nvSpPr>
            <p:cNvPr id="467980" name="Line 12"/>
            <p:cNvSpPr>
              <a:spLocks noChangeShapeType="1"/>
            </p:cNvSpPr>
            <p:nvPr/>
          </p:nvSpPr>
          <p:spPr bwMode="auto">
            <a:xfrm>
              <a:off x="732" y="115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7981" name="Text Box 13"/>
            <p:cNvSpPr txBox="1">
              <a:spLocks noChangeArrowheads="1"/>
            </p:cNvSpPr>
            <p:nvPr/>
          </p:nvSpPr>
          <p:spPr bwMode="auto">
            <a:xfrm>
              <a:off x="696" y="864"/>
              <a:ext cx="3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b="0" i="1" dirty="0" err="1"/>
                <a:t>i</a:t>
              </a:r>
              <a:r>
                <a:rPr lang="en-US" altLang="zh-CN" b="0" dirty="0"/>
                <a:t>(</a:t>
              </a:r>
              <a:r>
                <a:rPr lang="en-US" altLang="zh-CN" b="0" i="1" dirty="0"/>
                <a:t>t</a:t>
              </a:r>
              <a:r>
                <a:rPr lang="en-US" altLang="zh-CN" b="0" dirty="0"/>
                <a:t>)</a:t>
              </a:r>
            </a:p>
          </p:txBody>
        </p:sp>
        <p:sp>
          <p:nvSpPr>
            <p:cNvPr id="467982" name="Text Box 14"/>
            <p:cNvSpPr txBox="1">
              <a:spLocks noChangeArrowheads="1"/>
            </p:cNvSpPr>
            <p:nvPr/>
          </p:nvSpPr>
          <p:spPr bwMode="auto">
            <a:xfrm>
              <a:off x="1351" y="1404"/>
              <a:ext cx="2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b="0" i="1" dirty="0"/>
                <a:t>R</a:t>
              </a:r>
            </a:p>
          </p:txBody>
        </p:sp>
        <p:sp>
          <p:nvSpPr>
            <p:cNvPr id="467983" name="Oval 15"/>
            <p:cNvSpPr>
              <a:spLocks noChangeArrowheads="1"/>
            </p:cNvSpPr>
            <p:nvPr/>
          </p:nvSpPr>
          <p:spPr bwMode="auto">
            <a:xfrm>
              <a:off x="667" y="191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7984" name="Oval 16"/>
            <p:cNvSpPr>
              <a:spLocks noChangeArrowheads="1"/>
            </p:cNvSpPr>
            <p:nvPr/>
          </p:nvSpPr>
          <p:spPr bwMode="auto">
            <a:xfrm>
              <a:off x="667" y="119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7985" name="Text Box 17"/>
            <p:cNvSpPr txBox="1">
              <a:spLocks noChangeArrowheads="1"/>
            </p:cNvSpPr>
            <p:nvPr/>
          </p:nvSpPr>
          <p:spPr bwMode="auto">
            <a:xfrm>
              <a:off x="500" y="1145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/>
                <a:t>+</a:t>
              </a:r>
            </a:p>
          </p:txBody>
        </p:sp>
        <p:sp>
          <p:nvSpPr>
            <p:cNvPr id="467986" name="Text Box 18"/>
            <p:cNvSpPr txBox="1">
              <a:spLocks noChangeArrowheads="1"/>
            </p:cNvSpPr>
            <p:nvPr/>
          </p:nvSpPr>
          <p:spPr bwMode="auto">
            <a:xfrm>
              <a:off x="496" y="1722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>
                  <a:latin typeface="宋体" charset="-122"/>
                </a:rPr>
                <a:t>-</a:t>
              </a:r>
              <a:endParaRPr lang="en-US" altLang="zh-CN" dirty="0"/>
            </a:p>
          </p:txBody>
        </p:sp>
      </p:grpSp>
      <p:sp>
        <p:nvSpPr>
          <p:cNvPr id="467987" name="Text Box 19"/>
          <p:cNvSpPr txBox="1">
            <a:spLocks noChangeArrowheads="1"/>
          </p:cNvSpPr>
          <p:nvPr/>
        </p:nvSpPr>
        <p:spPr bwMode="auto">
          <a:xfrm>
            <a:off x="4253408" y="5357655"/>
            <a:ext cx="381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000" dirty="0"/>
              <a:t>(3) </a:t>
            </a:r>
            <a:r>
              <a:rPr lang="zh-CN" altLang="en-US" sz="2000" dirty="0"/>
              <a:t>有效值关系：</a:t>
            </a:r>
            <a:r>
              <a:rPr lang="en-US" altLang="zh-CN" sz="2000" i="1" dirty="0"/>
              <a:t>V</a:t>
            </a:r>
            <a:r>
              <a:rPr lang="en-US" altLang="zh-CN" sz="2000" i="1" baseline="-25000" dirty="0"/>
              <a:t>R</a:t>
            </a:r>
            <a:r>
              <a:rPr lang="en-US" altLang="zh-CN" sz="2000" dirty="0"/>
              <a:t>=</a:t>
            </a:r>
            <a:r>
              <a:rPr lang="en-US" altLang="zh-CN" sz="2000" i="1" dirty="0"/>
              <a:t>RI</a:t>
            </a:r>
            <a:r>
              <a:rPr lang="en-US" altLang="zh-CN" sz="2000" i="1" baseline="-25000" dirty="0"/>
              <a:t>R</a:t>
            </a:r>
          </a:p>
        </p:txBody>
      </p:sp>
      <p:sp>
        <p:nvSpPr>
          <p:cNvPr id="467988" name="Text Box 20"/>
          <p:cNvSpPr txBox="1">
            <a:spLocks noChangeArrowheads="1"/>
          </p:cNvSpPr>
          <p:nvPr/>
        </p:nvSpPr>
        <p:spPr bwMode="auto">
          <a:xfrm>
            <a:off x="4234358" y="4830605"/>
            <a:ext cx="34623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000" dirty="0">
                <a:sym typeface="Symbol" pitchFamily="18" charset="2"/>
              </a:rPr>
              <a:t>(2) </a:t>
            </a:r>
            <a:r>
              <a:rPr lang="zh-CN" altLang="en-US" sz="2000" dirty="0"/>
              <a:t>相位关系：</a:t>
            </a:r>
            <a:r>
              <a:rPr lang="en-US" altLang="zh-CN" sz="2000" i="1" dirty="0">
                <a:sym typeface="Symbol" pitchFamily="18" charset="2"/>
              </a:rPr>
              <a:t>v,</a:t>
            </a:r>
            <a:r>
              <a:rPr lang="en-US" altLang="zh-CN" sz="2000" dirty="0">
                <a:sym typeface="Symbol" pitchFamily="18" charset="2"/>
              </a:rPr>
              <a:t> </a:t>
            </a:r>
            <a:r>
              <a:rPr lang="en-US" altLang="zh-CN" sz="2000" i="1" dirty="0" err="1">
                <a:sym typeface="Symbol" pitchFamily="18" charset="2"/>
              </a:rPr>
              <a:t>i</a:t>
            </a:r>
            <a:r>
              <a:rPr lang="en-US" altLang="zh-CN" sz="2000" i="1" dirty="0">
                <a:sym typeface="Symbol" pitchFamily="18" charset="2"/>
              </a:rPr>
              <a:t> </a:t>
            </a:r>
            <a:r>
              <a:rPr lang="zh-CN" altLang="zh-CN" sz="2000" dirty="0">
                <a:sym typeface="Symbol" pitchFamily="18" charset="2"/>
              </a:rPr>
              <a:t>同相</a:t>
            </a:r>
            <a:endParaRPr lang="zh-CN" altLang="en-US" sz="2000" dirty="0">
              <a:sym typeface="Symbol" pitchFamily="18" charset="2"/>
            </a:endParaRPr>
          </a:p>
        </p:txBody>
      </p:sp>
      <p:sp>
        <p:nvSpPr>
          <p:cNvPr id="468004" name="Text Box 36"/>
          <p:cNvSpPr txBox="1">
            <a:spLocks noChangeArrowheads="1"/>
          </p:cNvSpPr>
          <p:nvPr/>
        </p:nvSpPr>
        <p:spPr bwMode="auto">
          <a:xfrm>
            <a:off x="3461082" y="4338044"/>
            <a:ext cx="33178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/>
              <a:t>特点：</a:t>
            </a:r>
            <a:r>
              <a:rPr lang="en-US" altLang="zh-CN" sz="2000" dirty="0"/>
              <a:t>(1) </a:t>
            </a:r>
            <a:r>
              <a:rPr lang="en-US" altLang="zh-CN" sz="2000" dirty="0" smtClean="0"/>
              <a:t> </a:t>
            </a:r>
            <a:r>
              <a:rPr lang="en-US" altLang="zh-CN" sz="2000" i="1" dirty="0" smtClean="0"/>
              <a:t>v</a:t>
            </a:r>
            <a:r>
              <a:rPr lang="zh-CN" altLang="en-US" sz="2000" i="1" dirty="0"/>
              <a:t>， </a:t>
            </a:r>
            <a:r>
              <a:rPr lang="en-US" altLang="zh-CN" sz="2000" i="1" dirty="0" err="1"/>
              <a:t>i</a:t>
            </a:r>
            <a:r>
              <a:rPr lang="en-US" altLang="zh-CN" sz="2000" dirty="0"/>
              <a:t> </a:t>
            </a:r>
            <a:r>
              <a:rPr lang="zh-CN" altLang="en-US" sz="2000" dirty="0"/>
              <a:t>同频</a:t>
            </a:r>
          </a:p>
        </p:txBody>
      </p:sp>
      <p:sp>
        <p:nvSpPr>
          <p:cNvPr id="51" name="Text Box 52"/>
          <p:cNvSpPr txBox="1">
            <a:spLocks noChangeArrowheads="1"/>
          </p:cNvSpPr>
          <p:nvPr/>
        </p:nvSpPr>
        <p:spPr bwMode="auto">
          <a:xfrm>
            <a:off x="971549" y="1086838"/>
            <a:ext cx="598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00CC"/>
                </a:solidFill>
              </a:rPr>
              <a:t>1</a:t>
            </a:r>
            <a:r>
              <a:rPr lang="zh-CN" altLang="en-US" dirty="0">
                <a:solidFill>
                  <a:srgbClr val="0000CC"/>
                </a:solidFill>
              </a:rPr>
              <a:t>、电阻</a:t>
            </a:r>
          </a:p>
        </p:txBody>
      </p:sp>
      <p:sp>
        <p:nvSpPr>
          <p:cNvPr id="52" name="Text Box 52"/>
          <p:cNvSpPr txBox="1">
            <a:spLocks noChangeArrowheads="1"/>
          </p:cNvSpPr>
          <p:nvPr/>
        </p:nvSpPr>
        <p:spPr bwMode="auto">
          <a:xfrm>
            <a:off x="540237" y="542925"/>
            <a:ext cx="598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>
                <a:solidFill>
                  <a:srgbClr val="990033"/>
                </a:solidFill>
              </a:rPr>
              <a:t>三、电路元件</a:t>
            </a:r>
            <a:r>
              <a:rPr lang="zh-CN" altLang="en-US" dirty="0">
                <a:solidFill>
                  <a:srgbClr val="990033"/>
                </a:solidFill>
              </a:rPr>
              <a:t>电压电流关系的相量形式</a:t>
            </a:r>
          </a:p>
        </p:txBody>
      </p:sp>
    </p:spTree>
    <p:extLst>
      <p:ext uri="{BB962C8B-B14F-4D97-AF65-F5344CB8AC3E}">
        <p14:creationId xmlns:p14="http://schemas.microsoft.com/office/powerpoint/2010/main" val="250779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6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6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6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87" grpId="0" autoUpdateAnimBg="0"/>
      <p:bldP spid="467988" grpId="0" autoUpdateAnimBg="0"/>
      <p:bldP spid="468004" grpId="0" autoUpdateAnimBg="0"/>
      <p:bldP spid="5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1" name="Text Box 3"/>
          <p:cNvSpPr txBox="1">
            <a:spLocks noChangeArrowheads="1"/>
          </p:cNvSpPr>
          <p:nvPr/>
        </p:nvSpPr>
        <p:spPr bwMode="auto">
          <a:xfrm>
            <a:off x="4275794" y="1955479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相量表示：</a:t>
            </a:r>
          </a:p>
        </p:txBody>
      </p:sp>
      <p:grpSp>
        <p:nvGrpSpPr>
          <p:cNvPr id="467989" name="Group 21"/>
          <p:cNvGrpSpPr>
            <a:grpSpLocks/>
          </p:cNvGrpSpPr>
          <p:nvPr/>
        </p:nvGrpSpPr>
        <p:grpSpPr bwMode="auto">
          <a:xfrm>
            <a:off x="1171630" y="1062695"/>
            <a:ext cx="1865313" cy="2152651"/>
            <a:chOff x="479" y="2181"/>
            <a:chExt cx="1175" cy="1356"/>
          </a:xfrm>
        </p:grpSpPr>
        <p:sp>
          <p:nvSpPr>
            <p:cNvPr id="467990" name="Text Box 22"/>
            <p:cNvSpPr txBox="1">
              <a:spLocks noChangeArrowheads="1"/>
            </p:cNvSpPr>
            <p:nvPr/>
          </p:nvSpPr>
          <p:spPr bwMode="auto">
            <a:xfrm>
              <a:off x="576" y="3285"/>
              <a:ext cx="76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zh-CN" altLang="en-US" sz="2000" dirty="0"/>
                <a:t>相量模型</a:t>
              </a:r>
            </a:p>
          </p:txBody>
        </p:sp>
        <p:grpSp>
          <p:nvGrpSpPr>
            <p:cNvPr id="467991" name="Group 23"/>
            <p:cNvGrpSpPr>
              <a:grpSpLocks/>
            </p:cNvGrpSpPr>
            <p:nvPr/>
          </p:nvGrpSpPr>
          <p:grpSpPr bwMode="auto">
            <a:xfrm>
              <a:off x="479" y="2181"/>
              <a:ext cx="1175" cy="1119"/>
              <a:chOff x="371" y="2640"/>
              <a:chExt cx="1175" cy="1119"/>
            </a:xfrm>
          </p:grpSpPr>
          <p:sp>
            <p:nvSpPr>
              <p:cNvPr id="467992" name="Line 24"/>
              <p:cNvSpPr>
                <a:spLocks noChangeShapeType="1"/>
              </p:cNvSpPr>
              <p:nvPr/>
            </p:nvSpPr>
            <p:spPr bwMode="auto">
              <a:xfrm>
                <a:off x="1245" y="2940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7993" name="Rectangle 25"/>
              <p:cNvSpPr>
                <a:spLocks noChangeArrowheads="1"/>
              </p:cNvSpPr>
              <p:nvPr/>
            </p:nvSpPr>
            <p:spPr bwMode="auto">
              <a:xfrm>
                <a:off x="1185" y="3132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67994" name="Line 26"/>
              <p:cNvSpPr>
                <a:spLocks noChangeShapeType="1"/>
              </p:cNvSpPr>
              <p:nvPr/>
            </p:nvSpPr>
            <p:spPr bwMode="auto">
              <a:xfrm>
                <a:off x="669" y="2940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7995" name="Line 27"/>
              <p:cNvSpPr>
                <a:spLocks noChangeShapeType="1"/>
              </p:cNvSpPr>
              <p:nvPr/>
            </p:nvSpPr>
            <p:spPr bwMode="auto">
              <a:xfrm>
                <a:off x="669" y="3660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7996" name="Line 28"/>
              <p:cNvSpPr>
                <a:spLocks noChangeShapeType="1"/>
              </p:cNvSpPr>
              <p:nvPr/>
            </p:nvSpPr>
            <p:spPr bwMode="auto">
              <a:xfrm>
                <a:off x="693" y="2880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7997" name="Text Box 29"/>
              <p:cNvSpPr txBox="1">
                <a:spLocks noChangeArrowheads="1"/>
              </p:cNvSpPr>
              <p:nvPr/>
            </p:nvSpPr>
            <p:spPr bwMode="auto">
              <a:xfrm>
                <a:off x="1312" y="3132"/>
                <a:ext cx="23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b="0" i="1" dirty="0"/>
                  <a:t>R</a:t>
                </a:r>
              </a:p>
            </p:txBody>
          </p:sp>
          <p:sp>
            <p:nvSpPr>
              <p:cNvPr id="467998" name="Oval 30"/>
              <p:cNvSpPr>
                <a:spLocks noChangeArrowheads="1"/>
              </p:cNvSpPr>
              <p:nvPr/>
            </p:nvSpPr>
            <p:spPr bwMode="auto">
              <a:xfrm>
                <a:off x="633" y="363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67999" name="Oval 31"/>
              <p:cNvSpPr>
                <a:spLocks noChangeArrowheads="1"/>
              </p:cNvSpPr>
              <p:nvPr/>
            </p:nvSpPr>
            <p:spPr bwMode="auto">
              <a:xfrm>
                <a:off x="633" y="2923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68000" name="Text Box 32"/>
              <p:cNvSpPr txBox="1">
                <a:spLocks noChangeArrowheads="1"/>
              </p:cNvSpPr>
              <p:nvPr/>
            </p:nvSpPr>
            <p:spPr bwMode="auto">
              <a:xfrm>
                <a:off x="437" y="2855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dirty="0"/>
                  <a:t>+</a:t>
                </a:r>
              </a:p>
            </p:txBody>
          </p:sp>
          <p:sp>
            <p:nvSpPr>
              <p:cNvPr id="468001" name="Text Box 33"/>
              <p:cNvSpPr txBox="1">
                <a:spLocks noChangeArrowheads="1"/>
              </p:cNvSpPr>
              <p:nvPr/>
            </p:nvSpPr>
            <p:spPr bwMode="auto">
              <a:xfrm>
                <a:off x="442" y="3471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dirty="0">
                    <a:latin typeface="宋体" charset="-122"/>
                  </a:rPr>
                  <a:t>-</a:t>
                </a:r>
                <a:endParaRPr lang="en-US" altLang="zh-CN" dirty="0"/>
              </a:p>
            </p:txBody>
          </p:sp>
          <p:graphicFrame>
            <p:nvGraphicFramePr>
              <p:cNvPr id="468002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075829"/>
                  </p:ext>
                </p:extLst>
              </p:nvPr>
            </p:nvGraphicFramePr>
            <p:xfrm>
              <a:off x="371" y="3140"/>
              <a:ext cx="220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9734" name="Equation" r:id="rId3" imgW="190440" imgH="253800" progId="Equation.DSMT4">
                      <p:embed/>
                    </p:oleObj>
                  </mc:Choice>
                  <mc:Fallback>
                    <p:oleObj name="Equation" r:id="rId3" imgW="19044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" y="3140"/>
                            <a:ext cx="220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8003" name="Object 3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749" y="2640"/>
              <a:ext cx="128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9735" name="Equation" r:id="rId5" imgW="126720" imgH="190440" progId="Equation.DSMT4">
                      <p:embed/>
                    </p:oleObj>
                  </mc:Choice>
                  <mc:Fallback>
                    <p:oleObj name="Equation" r:id="rId5" imgW="126720" imgH="1904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9" y="2640"/>
                            <a:ext cx="128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6800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040844"/>
              </p:ext>
            </p:extLst>
          </p:nvPr>
        </p:nvGraphicFramePr>
        <p:xfrm>
          <a:off x="5489410" y="2815296"/>
          <a:ext cx="10906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736" name="Equation" r:id="rId7" imgW="507960" imgH="215640" progId="Equation.DSMT4">
                  <p:embed/>
                </p:oleObj>
              </mc:Choice>
              <mc:Fallback>
                <p:oleObj name="Equation" r:id="rId7" imgW="50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410" y="2815296"/>
                        <a:ext cx="10906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800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928312"/>
              </p:ext>
            </p:extLst>
          </p:nvPr>
        </p:nvGraphicFramePr>
        <p:xfrm>
          <a:off x="5489410" y="3751860"/>
          <a:ext cx="101441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737" name="Equation" r:id="rId9" imgW="533160" imgH="215640" progId="Equation.DSMT4">
                  <p:embed/>
                </p:oleObj>
              </mc:Choice>
              <mc:Fallback>
                <p:oleObj name="Equation" r:id="rId9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410" y="3751860"/>
                        <a:ext cx="1014413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430392" y="4112223"/>
            <a:ext cx="1690688" cy="1397001"/>
            <a:chOff x="1976224" y="3732872"/>
            <a:chExt cx="1690688" cy="1397001"/>
          </a:xfrm>
        </p:grpSpPr>
        <p:sp>
          <p:nvSpPr>
            <p:cNvPr id="468011" name="Freeform 43"/>
            <p:cNvSpPr>
              <a:spLocks/>
            </p:cNvSpPr>
            <p:nvPr/>
          </p:nvSpPr>
          <p:spPr bwMode="auto">
            <a:xfrm>
              <a:off x="2052424" y="4139272"/>
              <a:ext cx="990600" cy="990600"/>
            </a:xfrm>
            <a:custGeom>
              <a:avLst/>
              <a:gdLst>
                <a:gd name="T0" fmla="*/ 0 w 624"/>
                <a:gd name="T1" fmla="*/ 624 h 624"/>
                <a:gd name="T2" fmla="*/ 624 w 624"/>
                <a:gd name="T3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4" h="624">
                  <a:moveTo>
                    <a:pt x="0" y="624"/>
                  </a:moveTo>
                  <a:lnTo>
                    <a:pt x="624" y="0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68012" name="Line 44"/>
            <p:cNvSpPr>
              <a:spLocks noChangeShapeType="1"/>
            </p:cNvSpPr>
            <p:nvPr/>
          </p:nvSpPr>
          <p:spPr bwMode="auto">
            <a:xfrm flipV="1">
              <a:off x="1976224" y="3834472"/>
              <a:ext cx="1295400" cy="1295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graphicFrame>
          <p:nvGraphicFramePr>
            <p:cNvPr id="468013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8931675"/>
                </p:ext>
              </p:extLst>
            </p:nvPr>
          </p:nvGraphicFramePr>
          <p:xfrm>
            <a:off x="3344649" y="3732872"/>
            <a:ext cx="322263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9738" name="Equation" r:id="rId11" imgW="164880" imgH="215640" progId="Equation.DSMT4">
                    <p:embed/>
                  </p:oleObj>
                </mc:Choice>
                <mc:Fallback>
                  <p:oleObj name="Equation" r:id="rId11" imgW="164880" imgH="21564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4649" y="3732872"/>
                          <a:ext cx="322263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8014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5179179"/>
                </p:ext>
              </p:extLst>
            </p:nvPr>
          </p:nvGraphicFramePr>
          <p:xfrm>
            <a:off x="3004924" y="4037672"/>
            <a:ext cx="338138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9739" name="Equation" r:id="rId13" imgW="164880" imgH="215640" progId="Equation.DSMT4">
                    <p:embed/>
                  </p:oleObj>
                </mc:Choice>
                <mc:Fallback>
                  <p:oleObj name="Equation" r:id="rId13" imgW="164880" imgH="21564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4924" y="4037672"/>
                          <a:ext cx="338138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8015" name="Line 47"/>
            <p:cNvSpPr>
              <a:spLocks noChangeShapeType="1"/>
            </p:cNvSpPr>
            <p:nvPr/>
          </p:nvSpPr>
          <p:spPr bwMode="auto">
            <a:xfrm>
              <a:off x="1976224" y="5129872"/>
              <a:ext cx="1447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sz="2000"/>
            </a:p>
          </p:txBody>
        </p:sp>
        <p:sp>
          <p:nvSpPr>
            <p:cNvPr id="468016" name="Freeform 48"/>
            <p:cNvSpPr>
              <a:spLocks/>
            </p:cNvSpPr>
            <p:nvPr/>
          </p:nvSpPr>
          <p:spPr bwMode="auto">
            <a:xfrm>
              <a:off x="2279437" y="4826660"/>
              <a:ext cx="161925" cy="303213"/>
            </a:xfrm>
            <a:custGeom>
              <a:avLst/>
              <a:gdLst>
                <a:gd name="T0" fmla="*/ 0 w 82"/>
                <a:gd name="T1" fmla="*/ 0 h 129"/>
                <a:gd name="T2" fmla="*/ 39 w 82"/>
                <a:gd name="T3" fmla="*/ 24 h 129"/>
                <a:gd name="T4" fmla="*/ 75 w 82"/>
                <a:gd name="T5" fmla="*/ 72 h 129"/>
                <a:gd name="T6" fmla="*/ 81 w 82"/>
                <a:gd name="T7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29">
                  <a:moveTo>
                    <a:pt x="0" y="0"/>
                  </a:moveTo>
                  <a:cubicBezTo>
                    <a:pt x="6" y="4"/>
                    <a:pt x="26" y="12"/>
                    <a:pt x="39" y="24"/>
                  </a:cubicBezTo>
                  <a:cubicBezTo>
                    <a:pt x="52" y="36"/>
                    <a:pt x="68" y="54"/>
                    <a:pt x="75" y="72"/>
                  </a:cubicBezTo>
                  <a:cubicBezTo>
                    <a:pt x="82" y="90"/>
                    <a:pt x="80" y="117"/>
                    <a:pt x="81" y="129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stealth" w="sm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000"/>
            </a:p>
          </p:txBody>
        </p:sp>
        <p:sp>
          <p:nvSpPr>
            <p:cNvPr id="468017" name="Text Box 49"/>
            <p:cNvSpPr txBox="1">
              <a:spLocks noChangeArrowheads="1"/>
            </p:cNvSpPr>
            <p:nvPr/>
          </p:nvSpPr>
          <p:spPr bwMode="auto">
            <a:xfrm>
              <a:off x="2357224" y="4596472"/>
              <a:ext cx="129698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b="0" i="1" dirty="0" err="1" smtClean="0">
                  <a:latin typeface="Symbol" pitchFamily="18" charset="2"/>
                  <a:sym typeface="Symbol" pitchFamily="18" charset="2"/>
                </a:rPr>
                <a:t>f</a:t>
              </a:r>
              <a:r>
                <a:rPr lang="en-US" altLang="zh-CN" sz="2000" b="0" i="1" baseline="-25000" dirty="0" err="1" smtClean="0">
                  <a:sym typeface="Symbol" pitchFamily="18" charset="2"/>
                </a:rPr>
                <a:t>v</a:t>
              </a:r>
              <a:r>
                <a:rPr lang="en-US" altLang="zh-CN" sz="2000" b="0" dirty="0" smtClean="0">
                  <a:sym typeface="Symbol" pitchFamily="18" charset="2"/>
                </a:rPr>
                <a:t>=</a:t>
              </a:r>
              <a:r>
                <a:rPr lang="en-US" altLang="zh-CN" sz="2000" b="0" i="1" dirty="0" smtClean="0">
                  <a:latin typeface="Symbol" pitchFamily="18" charset="2"/>
                  <a:sym typeface="Symbol" pitchFamily="18" charset="2"/>
                </a:rPr>
                <a:t>f</a:t>
              </a:r>
              <a:r>
                <a:rPr lang="en-US" altLang="zh-CN" sz="2000" b="0" i="1" baseline="-25000" dirty="0" smtClean="0">
                  <a:sym typeface="Symbol" pitchFamily="18" charset="2"/>
                </a:rPr>
                <a:t>i</a:t>
              </a:r>
              <a:endParaRPr lang="en-US" altLang="zh-CN" sz="2000" b="0" i="1" baseline="-25000" dirty="0">
                <a:sym typeface="Symbol" pitchFamily="18" charset="2"/>
              </a:endParaRPr>
            </a:p>
          </p:txBody>
        </p:sp>
      </p:grpSp>
      <p:sp>
        <p:nvSpPr>
          <p:cNvPr id="468018" name="Text Box 50"/>
          <p:cNvSpPr txBox="1">
            <a:spLocks noChangeArrowheads="1"/>
          </p:cNvSpPr>
          <p:nvPr/>
        </p:nvSpPr>
        <p:spPr bwMode="auto">
          <a:xfrm>
            <a:off x="1769844" y="5720362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/>
              <a:t>相量</a:t>
            </a:r>
            <a:r>
              <a:rPr lang="zh-CN" altLang="en-US" sz="2000" dirty="0" smtClean="0"/>
              <a:t>图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6130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6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1" grpId="0" autoUpdateAnimBg="0"/>
      <p:bldP spid="46801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Text Box 2"/>
          <p:cNvSpPr txBox="1">
            <a:spLocks noChangeArrowheads="1"/>
          </p:cNvSpPr>
          <p:nvPr/>
        </p:nvSpPr>
        <p:spPr bwMode="auto">
          <a:xfrm>
            <a:off x="666750" y="458788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 smtClean="0">
                <a:solidFill>
                  <a:srgbClr val="0000CC"/>
                </a:solidFill>
              </a:rPr>
              <a:t>2</a:t>
            </a:r>
            <a:r>
              <a:rPr lang="zh-CN" altLang="en-US" dirty="0" smtClean="0">
                <a:solidFill>
                  <a:srgbClr val="0000CC"/>
                </a:solidFill>
              </a:rPr>
              <a:t>、</a:t>
            </a:r>
            <a:r>
              <a:rPr lang="zh-CN" altLang="en-US" dirty="0">
                <a:solidFill>
                  <a:srgbClr val="0000CC"/>
                </a:solidFill>
              </a:rPr>
              <a:t>电感</a:t>
            </a:r>
          </a:p>
        </p:txBody>
      </p:sp>
      <p:grpSp>
        <p:nvGrpSpPr>
          <p:cNvPr id="459779" name="Group 3"/>
          <p:cNvGrpSpPr>
            <a:grpSpLocks/>
          </p:cNvGrpSpPr>
          <p:nvPr/>
        </p:nvGrpSpPr>
        <p:grpSpPr bwMode="auto">
          <a:xfrm>
            <a:off x="748628" y="1015940"/>
            <a:ext cx="2054226" cy="1998348"/>
            <a:chOff x="501" y="576"/>
            <a:chExt cx="1294" cy="1197"/>
          </a:xfrm>
        </p:grpSpPr>
        <p:sp>
          <p:nvSpPr>
            <p:cNvPr id="459780" name="Freeform 4"/>
            <p:cNvSpPr>
              <a:spLocks/>
            </p:cNvSpPr>
            <p:nvPr/>
          </p:nvSpPr>
          <p:spPr bwMode="auto">
            <a:xfrm>
              <a:off x="1494" y="936"/>
              <a:ext cx="1" cy="168"/>
            </a:xfrm>
            <a:custGeom>
              <a:avLst/>
              <a:gdLst>
                <a:gd name="T0" fmla="*/ 0 w 1"/>
                <a:gd name="T1" fmla="*/ 168 h 168"/>
                <a:gd name="T2" fmla="*/ 0 w 1"/>
                <a:gd name="T3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8">
                  <a:moveTo>
                    <a:pt x="0" y="168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9781" name="Freeform 5"/>
            <p:cNvSpPr>
              <a:spLocks/>
            </p:cNvSpPr>
            <p:nvPr/>
          </p:nvSpPr>
          <p:spPr bwMode="auto">
            <a:xfrm>
              <a:off x="1488" y="1488"/>
              <a:ext cx="1" cy="174"/>
            </a:xfrm>
            <a:custGeom>
              <a:avLst/>
              <a:gdLst>
                <a:gd name="T0" fmla="*/ 0 w 1"/>
                <a:gd name="T1" fmla="*/ 0 h 174"/>
                <a:gd name="T2" fmla="*/ 0 w 1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9782" name="Freeform 6"/>
            <p:cNvSpPr>
              <a:spLocks/>
            </p:cNvSpPr>
            <p:nvPr/>
          </p:nvSpPr>
          <p:spPr bwMode="auto">
            <a:xfrm>
              <a:off x="918" y="936"/>
              <a:ext cx="576" cy="6"/>
            </a:xfrm>
            <a:custGeom>
              <a:avLst/>
              <a:gdLst>
                <a:gd name="T0" fmla="*/ 0 w 576"/>
                <a:gd name="T1" fmla="*/ 6 h 6"/>
                <a:gd name="T2" fmla="*/ 576 w 576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9783" name="Freeform 7"/>
            <p:cNvSpPr>
              <a:spLocks/>
            </p:cNvSpPr>
            <p:nvPr/>
          </p:nvSpPr>
          <p:spPr bwMode="auto">
            <a:xfrm>
              <a:off x="915" y="1656"/>
              <a:ext cx="570" cy="3"/>
            </a:xfrm>
            <a:custGeom>
              <a:avLst/>
              <a:gdLst>
                <a:gd name="T0" fmla="*/ 0 w 570"/>
                <a:gd name="T1" fmla="*/ 3 h 3"/>
                <a:gd name="T2" fmla="*/ 570 w 57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9784" name="Line 8"/>
            <p:cNvSpPr>
              <a:spLocks noChangeShapeType="1"/>
            </p:cNvSpPr>
            <p:nvPr/>
          </p:nvSpPr>
          <p:spPr bwMode="auto">
            <a:xfrm>
              <a:off x="898" y="864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9785" name="Text Box 9"/>
            <p:cNvSpPr txBox="1">
              <a:spLocks noChangeArrowheads="1"/>
            </p:cNvSpPr>
            <p:nvPr/>
          </p:nvSpPr>
          <p:spPr bwMode="auto">
            <a:xfrm>
              <a:off x="850" y="576"/>
              <a:ext cx="459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 dirty="0" err="1" smtClean="0"/>
                <a:t>i</a:t>
              </a:r>
              <a:r>
                <a:rPr lang="en-US" altLang="zh-CN" i="1" baseline="-25000" dirty="0" err="1"/>
                <a:t>L</a:t>
              </a:r>
              <a:r>
                <a:rPr lang="en-US" altLang="zh-CN" i="1" baseline="-25000" dirty="0"/>
                <a:t> </a:t>
              </a:r>
              <a:r>
                <a:rPr lang="en-US" altLang="zh-CN" dirty="0" smtClean="0"/>
                <a:t>(</a:t>
              </a:r>
              <a:r>
                <a:rPr lang="en-US" altLang="zh-CN" i="1" dirty="0"/>
                <a:t>t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459786" name="Text Box 10"/>
            <p:cNvSpPr txBox="1">
              <a:spLocks noChangeArrowheads="1"/>
            </p:cNvSpPr>
            <p:nvPr/>
          </p:nvSpPr>
          <p:spPr bwMode="auto">
            <a:xfrm>
              <a:off x="501" y="1157"/>
              <a:ext cx="482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 dirty="0" err="1"/>
                <a:t>v</a:t>
              </a:r>
              <a:r>
                <a:rPr lang="en-US" altLang="zh-CN" i="1" baseline="-25000" dirty="0" err="1"/>
                <a:t>L</a:t>
              </a:r>
              <a:r>
                <a:rPr lang="en-US" altLang="zh-CN" dirty="0"/>
                <a:t>(</a:t>
              </a:r>
              <a:r>
                <a:rPr lang="en-US" altLang="zh-CN" i="1" dirty="0"/>
                <a:t>t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459787" name="Text Box 11"/>
            <p:cNvSpPr txBox="1">
              <a:spLocks noChangeArrowheads="1"/>
            </p:cNvSpPr>
            <p:nvPr/>
          </p:nvSpPr>
          <p:spPr bwMode="auto">
            <a:xfrm>
              <a:off x="1562" y="1152"/>
              <a:ext cx="233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/>
                <a:t>L</a:t>
              </a:r>
            </a:p>
          </p:txBody>
        </p:sp>
        <p:grpSp>
          <p:nvGrpSpPr>
            <p:cNvPr id="459788" name="Group 12"/>
            <p:cNvGrpSpPr>
              <a:grpSpLocks/>
            </p:cNvGrpSpPr>
            <p:nvPr/>
          </p:nvGrpSpPr>
          <p:grpSpPr bwMode="auto">
            <a:xfrm rot="5400000">
              <a:off x="1325" y="1267"/>
              <a:ext cx="384" cy="57"/>
              <a:chOff x="666" y="1872"/>
              <a:chExt cx="489" cy="60"/>
            </a:xfrm>
          </p:grpSpPr>
          <p:sp>
            <p:nvSpPr>
              <p:cNvPr id="459789" name="Freeform 13"/>
              <p:cNvSpPr>
                <a:spLocks/>
              </p:cNvSpPr>
              <p:nvPr/>
            </p:nvSpPr>
            <p:spPr bwMode="auto">
              <a:xfrm>
                <a:off x="666" y="1872"/>
                <a:ext cx="125" cy="60"/>
              </a:xfrm>
              <a:custGeom>
                <a:avLst/>
                <a:gdLst>
                  <a:gd name="T0" fmla="*/ 0 w 125"/>
                  <a:gd name="T1" fmla="*/ 60 h 60"/>
                  <a:gd name="T2" fmla="*/ 23 w 125"/>
                  <a:gd name="T3" fmla="*/ 15 h 60"/>
                  <a:gd name="T4" fmla="*/ 65 w 125"/>
                  <a:gd name="T5" fmla="*/ 0 h 60"/>
                  <a:gd name="T6" fmla="*/ 102 w 125"/>
                  <a:gd name="T7" fmla="*/ 15 h 60"/>
                  <a:gd name="T8" fmla="*/ 125 w 125"/>
                  <a:gd name="T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60">
                    <a:moveTo>
                      <a:pt x="0" y="60"/>
                    </a:moveTo>
                    <a:cubicBezTo>
                      <a:pt x="4" y="53"/>
                      <a:pt x="12" y="25"/>
                      <a:pt x="23" y="15"/>
                    </a:cubicBezTo>
                    <a:cubicBezTo>
                      <a:pt x="34" y="5"/>
                      <a:pt x="52" y="0"/>
                      <a:pt x="65" y="0"/>
                    </a:cubicBezTo>
                    <a:cubicBezTo>
                      <a:pt x="78" y="0"/>
                      <a:pt x="92" y="7"/>
                      <a:pt x="102" y="15"/>
                    </a:cubicBezTo>
                    <a:cubicBezTo>
                      <a:pt x="112" y="23"/>
                      <a:pt x="120" y="44"/>
                      <a:pt x="125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9790" name="Freeform 14"/>
              <p:cNvSpPr>
                <a:spLocks/>
              </p:cNvSpPr>
              <p:nvPr/>
            </p:nvSpPr>
            <p:spPr bwMode="auto">
              <a:xfrm>
                <a:off x="791" y="1872"/>
                <a:ext cx="121" cy="54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9791" name="Freeform 15"/>
              <p:cNvSpPr>
                <a:spLocks/>
              </p:cNvSpPr>
              <p:nvPr/>
            </p:nvSpPr>
            <p:spPr bwMode="auto">
              <a:xfrm>
                <a:off x="912" y="1872"/>
                <a:ext cx="119" cy="51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9792" name="Freeform 16"/>
              <p:cNvSpPr>
                <a:spLocks/>
              </p:cNvSpPr>
              <p:nvPr/>
            </p:nvSpPr>
            <p:spPr bwMode="auto">
              <a:xfrm>
                <a:off x="1032" y="1872"/>
                <a:ext cx="123" cy="57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59793" name="Oval 17"/>
            <p:cNvSpPr>
              <a:spLocks noChangeArrowheads="1"/>
            </p:cNvSpPr>
            <p:nvPr/>
          </p:nvSpPr>
          <p:spPr bwMode="auto">
            <a:xfrm>
              <a:off x="864" y="1637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9794" name="Oval 18"/>
            <p:cNvSpPr>
              <a:spLocks noChangeArrowheads="1"/>
            </p:cNvSpPr>
            <p:nvPr/>
          </p:nvSpPr>
          <p:spPr bwMode="auto">
            <a:xfrm>
              <a:off x="864" y="922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9795" name="Text Box 19"/>
            <p:cNvSpPr txBox="1">
              <a:spLocks noChangeArrowheads="1"/>
            </p:cNvSpPr>
            <p:nvPr/>
          </p:nvSpPr>
          <p:spPr bwMode="auto">
            <a:xfrm>
              <a:off x="629" y="856"/>
              <a:ext cx="225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/>
                <a:t>+</a:t>
              </a:r>
            </a:p>
          </p:txBody>
        </p:sp>
        <p:sp>
          <p:nvSpPr>
            <p:cNvPr id="459796" name="Text Box 20"/>
            <p:cNvSpPr txBox="1">
              <a:spLocks noChangeArrowheads="1"/>
            </p:cNvSpPr>
            <p:nvPr/>
          </p:nvSpPr>
          <p:spPr bwMode="auto">
            <a:xfrm>
              <a:off x="626" y="1499"/>
              <a:ext cx="212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>
                  <a:latin typeface="宋体" charset="-122"/>
                </a:rPr>
                <a:t>-</a:t>
              </a:r>
              <a:endParaRPr lang="en-US" altLang="zh-CN" dirty="0"/>
            </a:p>
          </p:txBody>
        </p:sp>
      </p:grpSp>
      <p:graphicFrame>
        <p:nvGraphicFramePr>
          <p:cNvPr id="4597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72298"/>
              </p:ext>
            </p:extLst>
          </p:nvPr>
        </p:nvGraphicFramePr>
        <p:xfrm>
          <a:off x="3706140" y="1291619"/>
          <a:ext cx="32305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22" name="Equation" r:id="rId3" imgW="1549080" imgH="215640" progId="Equation.DSMT4">
                  <p:embed/>
                </p:oleObj>
              </mc:Choice>
              <mc:Fallback>
                <p:oleObj name="Equation" r:id="rId3" imgW="1549080" imgH="215640" progId="Equation.DSMT4">
                  <p:embed/>
                  <p:pic>
                    <p:nvPicPr>
                      <p:cNvPr id="0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140" y="1291619"/>
                        <a:ext cx="323056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798" name="Text Box 22"/>
          <p:cNvSpPr txBox="1">
            <a:spLocks noChangeArrowheads="1"/>
          </p:cNvSpPr>
          <p:nvPr/>
        </p:nvSpPr>
        <p:spPr bwMode="auto">
          <a:xfrm>
            <a:off x="3838575" y="4871873"/>
            <a:ext cx="41719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/>
              <a:t>(3) </a:t>
            </a:r>
            <a:r>
              <a:rPr lang="zh-CN" altLang="en-US" sz="2000" dirty="0"/>
              <a:t>幅值</a:t>
            </a:r>
            <a:r>
              <a:rPr lang="zh-CN" altLang="en-US" sz="2000" dirty="0" smtClean="0"/>
              <a:t>关系</a:t>
            </a:r>
            <a:r>
              <a:rPr lang="zh-CN" altLang="en-US" sz="2000" dirty="0"/>
              <a:t>：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m,L</a:t>
            </a:r>
            <a:r>
              <a:rPr lang="en-US" altLang="zh-CN" sz="2000" i="1" baseline="-25000" dirty="0" smtClean="0"/>
              <a:t> </a:t>
            </a:r>
            <a:r>
              <a:rPr lang="en-US" altLang="zh-CN" sz="2000" dirty="0" smtClean="0"/>
              <a:t>= </a:t>
            </a:r>
            <a:r>
              <a:rPr lang="en-US" altLang="zh-CN" sz="2000" i="1" dirty="0" smtClean="0">
                <a:latin typeface="Symbol" pitchFamily="18" charset="2"/>
              </a:rPr>
              <a:t>w </a:t>
            </a:r>
            <a:r>
              <a:rPr lang="en-US" altLang="zh-CN" sz="2000" i="1" dirty="0" smtClean="0"/>
              <a:t>L </a:t>
            </a:r>
            <a:r>
              <a:rPr lang="en-US" altLang="zh-CN" sz="2000" i="1" dirty="0" err="1" smtClean="0"/>
              <a:t>I</a:t>
            </a:r>
            <a:r>
              <a:rPr lang="en-US" altLang="zh-CN" sz="2000" i="1" baseline="-25000" dirty="0" err="1" smtClean="0"/>
              <a:t>m,L</a:t>
            </a:r>
            <a:endParaRPr lang="en-US" altLang="zh-CN" sz="2000" i="1" baseline="-25000" dirty="0"/>
          </a:p>
        </p:txBody>
      </p:sp>
      <p:sp>
        <p:nvSpPr>
          <p:cNvPr id="459799" name="Text Box 23"/>
          <p:cNvSpPr txBox="1">
            <a:spLocks noChangeArrowheads="1"/>
          </p:cNvSpPr>
          <p:nvPr/>
        </p:nvSpPr>
        <p:spPr bwMode="auto">
          <a:xfrm>
            <a:off x="3810000" y="4345213"/>
            <a:ext cx="50564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/>
              <a:t>(2) </a:t>
            </a:r>
            <a:r>
              <a:rPr lang="zh-CN" altLang="en-US" sz="2000" dirty="0"/>
              <a:t>相位关系：</a:t>
            </a:r>
            <a:r>
              <a:rPr lang="en-US" altLang="zh-CN" sz="2000" b="0" i="1" dirty="0" err="1" smtClean="0">
                <a:latin typeface="Symbol" pitchFamily="18" charset="2"/>
                <a:sym typeface="Symbol" pitchFamily="18" charset="2"/>
              </a:rPr>
              <a:t>f</a:t>
            </a:r>
            <a:r>
              <a:rPr lang="en-US" altLang="zh-CN" sz="2000" b="0" i="1" baseline="-25000" dirty="0" err="1" smtClean="0">
                <a:sym typeface="Symbol" pitchFamily="18" charset="2"/>
              </a:rPr>
              <a:t>v</a:t>
            </a:r>
            <a:r>
              <a:rPr lang="en-US" altLang="zh-CN" sz="2000" b="0" i="1" baseline="-25000" dirty="0" smtClean="0">
                <a:sym typeface="Symbol" pitchFamily="18" charset="2"/>
              </a:rPr>
              <a:t> </a:t>
            </a:r>
            <a:r>
              <a:rPr lang="en-US" altLang="zh-CN" sz="2000" b="0" dirty="0" smtClean="0">
                <a:sym typeface="Symbol" pitchFamily="18" charset="2"/>
              </a:rPr>
              <a:t>= </a:t>
            </a:r>
            <a:r>
              <a:rPr lang="en-US" altLang="zh-CN" sz="2000" b="0" i="1" dirty="0" smtClean="0">
                <a:latin typeface="Symbol" pitchFamily="18" charset="2"/>
                <a:sym typeface="Symbol" pitchFamily="18" charset="2"/>
              </a:rPr>
              <a:t>f</a:t>
            </a:r>
            <a:r>
              <a:rPr lang="en-US" altLang="zh-CN" sz="2000" b="0" i="1" baseline="-25000" dirty="0" smtClean="0">
                <a:sym typeface="Symbol" pitchFamily="18" charset="2"/>
              </a:rPr>
              <a:t>i </a:t>
            </a:r>
            <a:r>
              <a:rPr lang="en-US" altLang="zh-CN" sz="2000" b="0" dirty="0">
                <a:sym typeface="Symbol" pitchFamily="18" charset="2"/>
              </a:rPr>
              <a:t>+90</a:t>
            </a:r>
            <a:r>
              <a:rPr lang="en-US" altLang="zh-CN" sz="2000" b="0" dirty="0" smtClean="0">
                <a:sym typeface="Symbol" pitchFamily="18" charset="2"/>
              </a:rPr>
              <a:t>°</a:t>
            </a:r>
            <a:r>
              <a:rPr lang="en-US" altLang="zh-CN" sz="2000" i="1" baseline="-25000" dirty="0" smtClean="0">
                <a:sym typeface="Symbol" pitchFamily="18" charset="2"/>
              </a:rPr>
              <a:t>  </a:t>
            </a:r>
            <a:r>
              <a:rPr lang="en-US" altLang="zh-CN" sz="2000" dirty="0">
                <a:sym typeface="Symbol" pitchFamily="18" charset="2"/>
              </a:rPr>
              <a:t>(</a:t>
            </a:r>
            <a:r>
              <a:rPr lang="en-US" altLang="zh-CN" sz="2000" i="1" dirty="0">
                <a:sym typeface="Symbol" pitchFamily="18" charset="2"/>
              </a:rPr>
              <a:t>v </a:t>
            </a:r>
            <a:r>
              <a:rPr lang="zh-CN" altLang="en-US" sz="2000" dirty="0">
                <a:sym typeface="Symbol" pitchFamily="18" charset="2"/>
              </a:rPr>
              <a:t>超前</a:t>
            </a:r>
            <a:r>
              <a:rPr lang="zh-CN" altLang="en-US" sz="2000" i="1" dirty="0">
                <a:sym typeface="Symbol" pitchFamily="18" charset="2"/>
              </a:rPr>
              <a:t> </a:t>
            </a:r>
            <a:r>
              <a:rPr lang="en-US" altLang="zh-CN" sz="2000" i="1" dirty="0" err="1">
                <a:sym typeface="Symbol" pitchFamily="18" charset="2"/>
              </a:rPr>
              <a:t>i</a:t>
            </a:r>
            <a:r>
              <a:rPr lang="en-US" altLang="zh-CN" sz="2000" dirty="0">
                <a:sym typeface="Symbol" pitchFamily="18" charset="2"/>
              </a:rPr>
              <a:t> 90°)</a:t>
            </a:r>
            <a:endParaRPr lang="en-US" altLang="zh-CN" sz="2000" dirty="0"/>
          </a:p>
        </p:txBody>
      </p:sp>
      <p:graphicFrame>
        <p:nvGraphicFramePr>
          <p:cNvPr id="45980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473982"/>
              </p:ext>
            </p:extLst>
          </p:nvPr>
        </p:nvGraphicFramePr>
        <p:xfrm>
          <a:off x="3565306" y="1922530"/>
          <a:ext cx="49276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23" name="Equation" r:id="rId5" imgW="2438280" imgH="520560" progId="Equation.DSMT4">
                  <p:embed/>
                </p:oleObj>
              </mc:Choice>
              <mc:Fallback>
                <p:oleObj name="Equation" r:id="rId5" imgW="2438280" imgH="52056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306" y="1922530"/>
                        <a:ext cx="49276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9802" name="Group 26"/>
          <p:cNvGrpSpPr>
            <a:grpSpLocks/>
          </p:cNvGrpSpPr>
          <p:nvPr/>
        </p:nvGrpSpPr>
        <p:grpSpPr bwMode="auto">
          <a:xfrm>
            <a:off x="6392568" y="2357129"/>
            <a:ext cx="1216242" cy="461963"/>
            <a:chOff x="3696" y="1082"/>
            <a:chExt cx="460" cy="291"/>
          </a:xfrm>
        </p:grpSpPr>
        <p:sp>
          <p:nvSpPr>
            <p:cNvPr id="459803" name="Line 27"/>
            <p:cNvSpPr>
              <a:spLocks noChangeShapeType="1"/>
            </p:cNvSpPr>
            <p:nvPr/>
          </p:nvSpPr>
          <p:spPr bwMode="auto">
            <a:xfrm>
              <a:off x="3696" y="1128"/>
              <a:ext cx="300" cy="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9804" name="Text Box 28"/>
            <p:cNvSpPr txBox="1">
              <a:spLocks noChangeArrowheads="1"/>
            </p:cNvSpPr>
            <p:nvPr/>
          </p:nvSpPr>
          <p:spPr bwMode="auto">
            <a:xfrm>
              <a:off x="3698" y="1082"/>
              <a:ext cx="4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 err="1" smtClean="0">
                  <a:solidFill>
                    <a:srgbClr val="CC3300"/>
                  </a:solidFill>
                </a:rPr>
                <a:t>V</a:t>
              </a:r>
              <a:r>
                <a:rPr lang="en-US" altLang="zh-CN" i="1" baseline="-25000" dirty="0" err="1" smtClean="0">
                  <a:solidFill>
                    <a:srgbClr val="CC3300"/>
                  </a:solidFill>
                </a:rPr>
                <a:t>m,L</a:t>
              </a:r>
              <a:endParaRPr lang="en-US" altLang="zh-CN" i="1" baseline="-25000" dirty="0">
                <a:solidFill>
                  <a:srgbClr val="CC3300"/>
                </a:solidFill>
              </a:endParaRPr>
            </a:p>
          </p:txBody>
        </p:sp>
      </p:grpSp>
      <p:sp>
        <p:nvSpPr>
          <p:cNvPr id="459805" name="Text Box 29"/>
          <p:cNvSpPr txBox="1">
            <a:spLocks noChangeArrowheads="1"/>
          </p:cNvSpPr>
          <p:nvPr/>
        </p:nvSpPr>
        <p:spPr bwMode="auto">
          <a:xfrm>
            <a:off x="2994025" y="3810225"/>
            <a:ext cx="27971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/>
              <a:t>特点</a:t>
            </a:r>
            <a:r>
              <a:rPr lang="zh-CN" altLang="en-US" sz="2000" dirty="0" smtClean="0"/>
              <a:t>： </a:t>
            </a:r>
            <a:r>
              <a:rPr lang="en-US" altLang="zh-CN" sz="2000" dirty="0" smtClean="0"/>
              <a:t>(</a:t>
            </a:r>
            <a:r>
              <a:rPr lang="en-US" altLang="zh-CN" sz="2000" dirty="0"/>
              <a:t>1) </a:t>
            </a:r>
            <a:r>
              <a:rPr lang="en-US" altLang="zh-CN" sz="2000" i="1" dirty="0"/>
              <a:t>v, </a:t>
            </a:r>
            <a:r>
              <a:rPr lang="en-US" altLang="zh-CN" sz="2000" i="1" dirty="0" err="1" smtClean="0"/>
              <a:t>i</a:t>
            </a:r>
            <a:r>
              <a:rPr lang="en-US" altLang="zh-CN" sz="2000" i="1" dirty="0" smtClean="0"/>
              <a:t> </a:t>
            </a:r>
            <a:r>
              <a:rPr lang="zh-CN" altLang="en-US" sz="2000" dirty="0" smtClean="0"/>
              <a:t>同</a:t>
            </a:r>
            <a:r>
              <a:rPr lang="zh-CN" altLang="en-US" sz="2000" dirty="0"/>
              <a:t>频</a:t>
            </a:r>
          </a:p>
        </p:txBody>
      </p:sp>
      <p:grpSp>
        <p:nvGrpSpPr>
          <p:cNvPr id="459817" name="Group 41"/>
          <p:cNvGrpSpPr>
            <a:grpSpLocks/>
          </p:cNvGrpSpPr>
          <p:nvPr/>
        </p:nvGrpSpPr>
        <p:grpSpPr bwMode="auto">
          <a:xfrm>
            <a:off x="5192753" y="5415949"/>
            <a:ext cx="1644650" cy="1031876"/>
            <a:chOff x="3452" y="3208"/>
            <a:chExt cx="1036" cy="650"/>
          </a:xfrm>
        </p:grpSpPr>
        <p:sp>
          <p:nvSpPr>
            <p:cNvPr id="459807" name="Text Box 31"/>
            <p:cNvSpPr txBox="1">
              <a:spLocks noChangeArrowheads="1"/>
            </p:cNvSpPr>
            <p:nvPr/>
          </p:nvSpPr>
          <p:spPr bwMode="auto">
            <a:xfrm>
              <a:off x="3452" y="3208"/>
              <a:ext cx="63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000" dirty="0"/>
                <a:t>或</a:t>
              </a:r>
            </a:p>
          </p:txBody>
        </p:sp>
        <p:graphicFrame>
          <p:nvGraphicFramePr>
            <p:cNvPr id="459808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4674648"/>
                </p:ext>
              </p:extLst>
            </p:nvPr>
          </p:nvGraphicFramePr>
          <p:xfrm>
            <a:off x="3683" y="3305"/>
            <a:ext cx="805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624" name="Equation" r:id="rId7" imgW="622080" imgH="368280" progId="Equation.DSMT4">
                    <p:embed/>
                  </p:oleObj>
                </mc:Choice>
                <mc:Fallback>
                  <p:oleObj name="Equation" r:id="rId7" imgW="622080" imgH="36828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3" y="3305"/>
                          <a:ext cx="805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980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50498"/>
              </p:ext>
            </p:extLst>
          </p:nvPr>
        </p:nvGraphicFramePr>
        <p:xfrm>
          <a:off x="5630643" y="2734094"/>
          <a:ext cx="2862263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25" name="Equation" r:id="rId9" imgW="1409400" imgH="355320" progId="Equation.DSMT4">
                  <p:embed/>
                </p:oleObj>
              </mc:Choice>
              <mc:Fallback>
                <p:oleObj name="Equation" r:id="rId9" imgW="1409400" imgH="35532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643" y="2734094"/>
                        <a:ext cx="2862263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9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9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5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9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5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5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5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500"/>
                                        <p:tgtEl>
                                          <p:spTgt spid="45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98" grpId="0" autoUpdateAnimBg="0"/>
      <p:bldP spid="459799" grpId="0" autoUpdateAnimBg="0"/>
      <p:bldP spid="45980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Text Box 2"/>
          <p:cNvSpPr txBox="1">
            <a:spLocks noChangeArrowheads="1"/>
          </p:cNvSpPr>
          <p:nvPr/>
        </p:nvSpPr>
        <p:spPr bwMode="auto">
          <a:xfrm>
            <a:off x="3905250" y="1762125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 smtClean="0"/>
              <a:t>相量表示：</a:t>
            </a:r>
            <a:endParaRPr lang="zh-CN" altLang="en-US" sz="2000" dirty="0"/>
          </a:p>
        </p:txBody>
      </p:sp>
      <p:graphicFrame>
        <p:nvGraphicFramePr>
          <p:cNvPr id="464923" name="Object 27"/>
          <p:cNvGraphicFramePr>
            <a:graphicFrameLocks noChangeAspect="1"/>
          </p:cNvGraphicFramePr>
          <p:nvPr/>
        </p:nvGraphicFramePr>
        <p:xfrm>
          <a:off x="5967413" y="2887663"/>
          <a:ext cx="2000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942" name="公式" r:id="rId3" imgW="177480" imgH="368280" progId="Equation.3">
                  <p:embed/>
                </p:oleObj>
              </mc:Choice>
              <mc:Fallback>
                <p:oleObj name="公式" r:id="rId3" imgW="17748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2887663"/>
                        <a:ext cx="2000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2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574882"/>
              </p:ext>
            </p:extLst>
          </p:nvPr>
        </p:nvGraphicFramePr>
        <p:xfrm>
          <a:off x="5484813" y="4537075"/>
          <a:ext cx="151288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943" name="Equation" r:id="rId5" imgW="660240" imgH="215640" progId="Equation.DSMT4">
                  <p:embed/>
                </p:oleObj>
              </mc:Choice>
              <mc:Fallback>
                <p:oleObj name="Equation" r:id="rId5" imgW="660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3" y="4537075"/>
                        <a:ext cx="1512887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2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824705"/>
              </p:ext>
            </p:extLst>
          </p:nvPr>
        </p:nvGraphicFramePr>
        <p:xfrm>
          <a:off x="5529263" y="3260725"/>
          <a:ext cx="12827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944" name="Equation" r:id="rId7" imgW="558720" imgH="406080" progId="Equation.DSMT4">
                  <p:embed/>
                </p:oleObj>
              </mc:Choice>
              <mc:Fallback>
                <p:oleObj name="Equation" r:id="rId7" imgW="558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3" y="3260725"/>
                        <a:ext cx="128270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2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610488"/>
              </p:ext>
            </p:extLst>
          </p:nvPr>
        </p:nvGraphicFramePr>
        <p:xfrm>
          <a:off x="5529263" y="2491496"/>
          <a:ext cx="142398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945" name="Equation" r:id="rId9" imgW="634680" imgH="215640" progId="Equation.DSMT4">
                  <p:embed/>
                </p:oleObj>
              </mc:Choice>
              <mc:Fallback>
                <p:oleObj name="Equation" r:id="rId9" imgW="634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3" y="2491496"/>
                        <a:ext cx="1423987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808478" y="1138418"/>
            <a:ext cx="2209414" cy="1898331"/>
            <a:chOff x="808478" y="1138418"/>
            <a:chExt cx="2209414" cy="1898331"/>
          </a:xfrm>
        </p:grpSpPr>
        <p:graphicFrame>
          <p:nvGraphicFramePr>
            <p:cNvPr id="46491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1413351"/>
                </p:ext>
              </p:extLst>
            </p:nvPr>
          </p:nvGraphicFramePr>
          <p:xfrm>
            <a:off x="2332092" y="2076951"/>
            <a:ext cx="6858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946" name="Equation" r:id="rId11" imgW="317160" imgH="203040" progId="Equation.DSMT4">
                    <p:embed/>
                  </p:oleObj>
                </mc:Choice>
                <mc:Fallback>
                  <p:oleObj name="Equation" r:id="rId11" imgW="317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2092" y="2076951"/>
                          <a:ext cx="685800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Freeform 4"/>
            <p:cNvSpPr>
              <a:spLocks/>
            </p:cNvSpPr>
            <p:nvPr/>
          </p:nvSpPr>
          <p:spPr bwMode="auto">
            <a:xfrm>
              <a:off x="2173343" y="1715378"/>
              <a:ext cx="1588" cy="280470"/>
            </a:xfrm>
            <a:custGeom>
              <a:avLst/>
              <a:gdLst>
                <a:gd name="T0" fmla="*/ 0 w 1"/>
                <a:gd name="T1" fmla="*/ 168 h 168"/>
                <a:gd name="T2" fmla="*/ 0 w 1"/>
                <a:gd name="T3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8">
                  <a:moveTo>
                    <a:pt x="0" y="168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2163818" y="2636923"/>
              <a:ext cx="1588" cy="290487"/>
            </a:xfrm>
            <a:custGeom>
              <a:avLst/>
              <a:gdLst>
                <a:gd name="T0" fmla="*/ 0 w 1"/>
                <a:gd name="T1" fmla="*/ 0 h 174"/>
                <a:gd name="T2" fmla="*/ 0 w 1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258943" y="1715378"/>
              <a:ext cx="914400" cy="10017"/>
            </a:xfrm>
            <a:custGeom>
              <a:avLst/>
              <a:gdLst>
                <a:gd name="T0" fmla="*/ 0 w 576"/>
                <a:gd name="T1" fmla="*/ 6 h 6"/>
                <a:gd name="T2" fmla="*/ 576 w 576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1254180" y="2917393"/>
              <a:ext cx="904875" cy="5008"/>
            </a:xfrm>
            <a:custGeom>
              <a:avLst/>
              <a:gdLst>
                <a:gd name="T0" fmla="*/ 0 w 570"/>
                <a:gd name="T1" fmla="*/ 3 h 3"/>
                <a:gd name="T2" fmla="*/ 570 w 57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8"/>
            <p:cNvSpPr>
              <a:spLocks noChangeShapeType="1"/>
            </p:cNvSpPr>
            <p:nvPr/>
          </p:nvSpPr>
          <p:spPr bwMode="auto">
            <a:xfrm>
              <a:off x="1227193" y="1595177"/>
              <a:ext cx="457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" name="Group 12"/>
            <p:cNvGrpSpPr>
              <a:grpSpLocks/>
            </p:cNvGrpSpPr>
            <p:nvPr/>
          </p:nvGrpSpPr>
          <p:grpSpPr bwMode="auto">
            <a:xfrm rot="5400000">
              <a:off x="1889318" y="2270307"/>
              <a:ext cx="641074" cy="90488"/>
              <a:chOff x="666" y="1872"/>
              <a:chExt cx="489" cy="60"/>
            </a:xfrm>
          </p:grpSpPr>
          <p:sp>
            <p:nvSpPr>
              <p:cNvPr id="36" name="Freeform 13"/>
              <p:cNvSpPr>
                <a:spLocks/>
              </p:cNvSpPr>
              <p:nvPr/>
            </p:nvSpPr>
            <p:spPr bwMode="auto">
              <a:xfrm>
                <a:off x="666" y="1872"/>
                <a:ext cx="125" cy="60"/>
              </a:xfrm>
              <a:custGeom>
                <a:avLst/>
                <a:gdLst>
                  <a:gd name="T0" fmla="*/ 0 w 125"/>
                  <a:gd name="T1" fmla="*/ 60 h 60"/>
                  <a:gd name="T2" fmla="*/ 23 w 125"/>
                  <a:gd name="T3" fmla="*/ 15 h 60"/>
                  <a:gd name="T4" fmla="*/ 65 w 125"/>
                  <a:gd name="T5" fmla="*/ 0 h 60"/>
                  <a:gd name="T6" fmla="*/ 102 w 125"/>
                  <a:gd name="T7" fmla="*/ 15 h 60"/>
                  <a:gd name="T8" fmla="*/ 125 w 125"/>
                  <a:gd name="T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60">
                    <a:moveTo>
                      <a:pt x="0" y="60"/>
                    </a:moveTo>
                    <a:cubicBezTo>
                      <a:pt x="4" y="53"/>
                      <a:pt x="12" y="25"/>
                      <a:pt x="23" y="15"/>
                    </a:cubicBezTo>
                    <a:cubicBezTo>
                      <a:pt x="34" y="5"/>
                      <a:pt x="52" y="0"/>
                      <a:pt x="65" y="0"/>
                    </a:cubicBezTo>
                    <a:cubicBezTo>
                      <a:pt x="78" y="0"/>
                      <a:pt x="92" y="7"/>
                      <a:pt x="102" y="15"/>
                    </a:cubicBezTo>
                    <a:cubicBezTo>
                      <a:pt x="112" y="23"/>
                      <a:pt x="120" y="44"/>
                      <a:pt x="125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14"/>
              <p:cNvSpPr>
                <a:spLocks/>
              </p:cNvSpPr>
              <p:nvPr/>
            </p:nvSpPr>
            <p:spPr bwMode="auto">
              <a:xfrm>
                <a:off x="791" y="1872"/>
                <a:ext cx="121" cy="54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5"/>
              <p:cNvSpPr>
                <a:spLocks/>
              </p:cNvSpPr>
              <p:nvPr/>
            </p:nvSpPr>
            <p:spPr bwMode="auto">
              <a:xfrm>
                <a:off x="912" y="1872"/>
                <a:ext cx="119" cy="51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6"/>
              <p:cNvSpPr>
                <a:spLocks/>
              </p:cNvSpPr>
              <p:nvPr/>
            </p:nvSpPr>
            <p:spPr bwMode="auto">
              <a:xfrm>
                <a:off x="1032" y="1872"/>
                <a:ext cx="123" cy="57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2" name="Oval 17"/>
            <p:cNvSpPr>
              <a:spLocks noChangeArrowheads="1"/>
            </p:cNvSpPr>
            <p:nvPr/>
          </p:nvSpPr>
          <p:spPr bwMode="auto">
            <a:xfrm>
              <a:off x="1173218" y="2885673"/>
              <a:ext cx="76200" cy="8013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Oval 18"/>
            <p:cNvSpPr>
              <a:spLocks noChangeArrowheads="1"/>
            </p:cNvSpPr>
            <p:nvPr/>
          </p:nvSpPr>
          <p:spPr bwMode="auto">
            <a:xfrm>
              <a:off x="1173218" y="1692006"/>
              <a:ext cx="76200" cy="8013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Text Box 19"/>
            <p:cNvSpPr txBox="1">
              <a:spLocks noChangeArrowheads="1"/>
            </p:cNvSpPr>
            <p:nvPr/>
          </p:nvSpPr>
          <p:spPr bwMode="auto">
            <a:xfrm>
              <a:off x="841190" y="1609867"/>
              <a:ext cx="357188" cy="457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/>
                <a:t>+</a:t>
              </a:r>
            </a:p>
          </p:txBody>
        </p:sp>
        <p:sp>
          <p:nvSpPr>
            <p:cNvPr id="35" name="Text Box 20"/>
            <p:cNvSpPr txBox="1">
              <a:spLocks noChangeArrowheads="1"/>
            </p:cNvSpPr>
            <p:nvPr/>
          </p:nvSpPr>
          <p:spPr bwMode="auto">
            <a:xfrm>
              <a:off x="847043" y="2579316"/>
              <a:ext cx="336550" cy="457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>
                  <a:latin typeface="宋体" charset="-122"/>
                </a:rPr>
                <a:t>-</a:t>
              </a:r>
              <a:endParaRPr lang="en-US" altLang="zh-CN" dirty="0"/>
            </a:p>
          </p:txBody>
        </p:sp>
        <p:grpSp>
          <p:nvGrpSpPr>
            <p:cNvPr id="42" name="Group 36"/>
            <p:cNvGrpSpPr>
              <a:grpSpLocks/>
            </p:cNvGrpSpPr>
            <p:nvPr/>
          </p:nvGrpSpPr>
          <p:grpSpPr bwMode="auto">
            <a:xfrm>
              <a:off x="808478" y="1138418"/>
              <a:ext cx="771525" cy="1401763"/>
              <a:chOff x="-913" y="1558"/>
              <a:chExt cx="486" cy="883"/>
            </a:xfrm>
          </p:grpSpPr>
          <p:graphicFrame>
            <p:nvGraphicFramePr>
              <p:cNvPr id="43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6240245"/>
                  </p:ext>
                </p:extLst>
              </p:nvPr>
            </p:nvGraphicFramePr>
            <p:xfrm>
              <a:off x="-913" y="2172"/>
              <a:ext cx="206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7947" name="Equation" r:id="rId13" imgW="164880" imgH="215640" progId="Equation.DSMT4">
                      <p:embed/>
                    </p:oleObj>
                  </mc:Choice>
                  <mc:Fallback>
                    <p:oleObj name="Equation" r:id="rId13" imgW="164880" imgH="215640" progId="Equation.DSMT4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913" y="2172"/>
                            <a:ext cx="206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175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4635629"/>
                  </p:ext>
                </p:extLst>
              </p:nvPr>
            </p:nvGraphicFramePr>
            <p:xfrm>
              <a:off x="-629" y="1558"/>
              <a:ext cx="202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7948" name="Equation" r:id="rId15" imgW="152280" imgH="215640" progId="Equation.DSMT4">
                      <p:embed/>
                    </p:oleObj>
                  </mc:Choice>
                  <mc:Fallback>
                    <p:oleObj name="Equation" r:id="rId15" imgW="152280" imgH="215640" progId="Equation.DSMT4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629" y="1558"/>
                            <a:ext cx="202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175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8" name="Group 34"/>
          <p:cNvGrpSpPr>
            <a:grpSpLocks/>
          </p:cNvGrpSpPr>
          <p:nvPr/>
        </p:nvGrpSpPr>
        <p:grpSpPr bwMode="auto">
          <a:xfrm>
            <a:off x="638230" y="3638602"/>
            <a:ext cx="2136774" cy="1992312"/>
            <a:chOff x="567" y="2407"/>
            <a:chExt cx="1346" cy="1255"/>
          </a:xfrm>
        </p:grpSpPr>
        <p:sp>
          <p:nvSpPr>
            <p:cNvPr id="49" name="Text Box 35"/>
            <p:cNvSpPr txBox="1">
              <a:spLocks noChangeArrowheads="1"/>
            </p:cNvSpPr>
            <p:nvPr/>
          </p:nvSpPr>
          <p:spPr bwMode="auto">
            <a:xfrm>
              <a:off x="816" y="3408"/>
              <a:ext cx="6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/>
                <a:t>相量图</a:t>
              </a:r>
            </a:p>
          </p:txBody>
        </p:sp>
        <p:grpSp>
          <p:nvGrpSpPr>
            <p:cNvPr id="50" name="Group 36"/>
            <p:cNvGrpSpPr>
              <a:grpSpLocks/>
            </p:cNvGrpSpPr>
            <p:nvPr/>
          </p:nvGrpSpPr>
          <p:grpSpPr bwMode="auto">
            <a:xfrm>
              <a:off x="567" y="2407"/>
              <a:ext cx="1346" cy="1255"/>
              <a:chOff x="807" y="1831"/>
              <a:chExt cx="1346" cy="1255"/>
            </a:xfrm>
          </p:grpSpPr>
          <p:graphicFrame>
            <p:nvGraphicFramePr>
              <p:cNvPr id="51" name="Object 37"/>
              <p:cNvGraphicFramePr>
                <a:graphicFrameLocks noChangeAspect="1"/>
              </p:cNvGraphicFramePr>
              <p:nvPr/>
            </p:nvGraphicFramePr>
            <p:xfrm>
              <a:off x="807" y="1831"/>
              <a:ext cx="206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7949" name="Equation" r:id="rId17" imgW="164880" imgH="215640" progId="Equation.DSMT4">
                      <p:embed/>
                    </p:oleObj>
                  </mc:Choice>
                  <mc:Fallback>
                    <p:oleObj name="Equation" r:id="rId17" imgW="164880" imgH="215640" progId="Equation.DSMT4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7" y="1831"/>
                            <a:ext cx="206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175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" name="Freeform 38"/>
              <p:cNvSpPr>
                <a:spLocks/>
              </p:cNvSpPr>
              <p:nvPr/>
            </p:nvSpPr>
            <p:spPr bwMode="auto">
              <a:xfrm rot="2687842">
                <a:off x="1188" y="2448"/>
                <a:ext cx="634" cy="638"/>
              </a:xfrm>
              <a:custGeom>
                <a:avLst/>
                <a:gdLst>
                  <a:gd name="T0" fmla="*/ 0 w 624"/>
                  <a:gd name="T1" fmla="*/ 624 h 624"/>
                  <a:gd name="T2" fmla="*/ 624 w 624"/>
                  <a:gd name="T3" fmla="*/ 0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4" h="624">
                    <a:moveTo>
                      <a:pt x="0" y="624"/>
                    </a:moveTo>
                    <a:lnTo>
                      <a:pt x="624" y="0"/>
                    </a:lnTo>
                  </a:path>
                </a:pathLst>
              </a:custGeom>
              <a:noFill/>
              <a:ln w="31750">
                <a:solidFill>
                  <a:srgbClr val="3333FF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3" name="Object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72151758"/>
                  </p:ext>
                </p:extLst>
              </p:nvPr>
            </p:nvGraphicFramePr>
            <p:xfrm>
              <a:off x="1951" y="2575"/>
              <a:ext cx="202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7950" name="Equation" r:id="rId18" imgW="152280" imgH="215640" progId="Equation.DSMT4">
                      <p:embed/>
                    </p:oleObj>
                  </mc:Choice>
                  <mc:Fallback>
                    <p:oleObj name="Equation" r:id="rId18" imgW="152280" imgH="215640" progId="Equation.DSMT4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51" y="2575"/>
                            <a:ext cx="202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175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4" name="Line 40"/>
              <p:cNvSpPr>
                <a:spLocks noChangeShapeType="1"/>
              </p:cNvSpPr>
              <p:nvPr/>
            </p:nvSpPr>
            <p:spPr bwMode="auto">
              <a:xfrm flipV="1">
                <a:off x="1056" y="1872"/>
                <a:ext cx="0" cy="91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649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Text Box 2"/>
          <p:cNvSpPr txBox="1">
            <a:spLocks noChangeArrowheads="1"/>
          </p:cNvSpPr>
          <p:nvPr/>
        </p:nvSpPr>
        <p:spPr bwMode="auto">
          <a:xfrm>
            <a:off x="647700" y="400050"/>
            <a:ext cx="1949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00CC"/>
                </a:solidFill>
              </a:rPr>
              <a:t>3</a:t>
            </a:r>
            <a:r>
              <a:rPr lang="zh-CN" altLang="en-US" dirty="0" smtClean="0">
                <a:solidFill>
                  <a:srgbClr val="0000CC"/>
                </a:solidFill>
              </a:rPr>
              <a:t>、</a:t>
            </a:r>
            <a:r>
              <a:rPr lang="zh-CN" altLang="en-US" dirty="0">
                <a:solidFill>
                  <a:srgbClr val="0000CC"/>
                </a:solidFill>
              </a:rPr>
              <a:t>电容</a:t>
            </a:r>
          </a:p>
        </p:txBody>
      </p:sp>
      <p:sp>
        <p:nvSpPr>
          <p:cNvPr id="463875" name="Text Box 3"/>
          <p:cNvSpPr txBox="1">
            <a:spLocks noChangeArrowheads="1"/>
          </p:cNvSpPr>
          <p:nvPr/>
        </p:nvSpPr>
        <p:spPr bwMode="auto">
          <a:xfrm>
            <a:off x="4840859" y="5197232"/>
            <a:ext cx="34388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 smtClean="0"/>
              <a:t>(3) </a:t>
            </a:r>
            <a:r>
              <a:rPr lang="zh-CN" altLang="en-US" sz="2000" dirty="0" smtClean="0"/>
              <a:t>幅值关系</a:t>
            </a:r>
            <a:r>
              <a:rPr lang="zh-CN" altLang="en-US" sz="2000" dirty="0"/>
              <a:t>： </a:t>
            </a:r>
            <a:r>
              <a:rPr lang="en-US" altLang="zh-CN" sz="2000" i="1" dirty="0" err="1" smtClean="0"/>
              <a:t>I</a:t>
            </a:r>
            <a:r>
              <a:rPr lang="en-US" altLang="zh-CN" sz="2000" i="1" baseline="-25000" dirty="0" err="1" smtClean="0"/>
              <a:t>m,C</a:t>
            </a:r>
            <a:r>
              <a:rPr lang="en-US" altLang="zh-CN" sz="2000" i="1" baseline="-25000" dirty="0" smtClean="0"/>
              <a:t> </a:t>
            </a:r>
            <a:r>
              <a:rPr lang="en-US" altLang="zh-CN" sz="2000" dirty="0" smtClean="0"/>
              <a:t>= </a:t>
            </a:r>
            <a:r>
              <a:rPr lang="en-US" altLang="zh-CN" sz="2000" i="1" dirty="0" smtClean="0">
                <a:latin typeface="Symbol" pitchFamily="18" charset="2"/>
              </a:rPr>
              <a:t>w </a:t>
            </a:r>
            <a:r>
              <a:rPr lang="en-US" altLang="zh-CN" sz="2000" i="1" dirty="0" smtClean="0"/>
              <a:t>C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m,C</a:t>
            </a:r>
            <a:endParaRPr lang="en-US" altLang="zh-CN" sz="2000" i="1" baseline="-25000" dirty="0"/>
          </a:p>
        </p:txBody>
      </p:sp>
      <p:sp>
        <p:nvSpPr>
          <p:cNvPr id="463876" name="Text Box 4"/>
          <p:cNvSpPr txBox="1">
            <a:spLocks noChangeArrowheads="1"/>
          </p:cNvSpPr>
          <p:nvPr/>
        </p:nvSpPr>
        <p:spPr bwMode="auto">
          <a:xfrm>
            <a:off x="4859789" y="4657477"/>
            <a:ext cx="34009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 smtClean="0"/>
              <a:t>(2) </a:t>
            </a:r>
            <a:r>
              <a:rPr lang="zh-CN" altLang="en-US" sz="2000" dirty="0" smtClean="0"/>
              <a:t>相位</a:t>
            </a:r>
            <a:r>
              <a:rPr lang="zh-CN" altLang="en-US" sz="2000" dirty="0"/>
              <a:t>关系：</a:t>
            </a:r>
            <a:r>
              <a:rPr lang="zh-CN" altLang="en-US" sz="2000" i="1" baseline="-25000" dirty="0">
                <a:sym typeface="Symbol" pitchFamily="18" charset="2"/>
              </a:rPr>
              <a:t>  </a:t>
            </a:r>
            <a:r>
              <a:rPr lang="en-US" altLang="zh-CN" sz="2000" i="1" dirty="0" err="1">
                <a:sym typeface="Symbol" pitchFamily="18" charset="2"/>
              </a:rPr>
              <a:t>i</a:t>
            </a:r>
            <a:r>
              <a:rPr lang="en-US" altLang="zh-CN" sz="2000" i="1" dirty="0">
                <a:sym typeface="Symbol" pitchFamily="18" charset="2"/>
              </a:rPr>
              <a:t> </a:t>
            </a:r>
            <a:r>
              <a:rPr lang="zh-CN" altLang="en-US" sz="2000" dirty="0">
                <a:sym typeface="Symbol" pitchFamily="18" charset="2"/>
              </a:rPr>
              <a:t>超前</a:t>
            </a:r>
            <a:r>
              <a:rPr lang="zh-CN" altLang="en-US" sz="2000" i="1" dirty="0">
                <a:sym typeface="Symbol" pitchFamily="18" charset="2"/>
              </a:rPr>
              <a:t> </a:t>
            </a:r>
            <a:r>
              <a:rPr lang="en-US" altLang="zh-CN" sz="2000" i="1" dirty="0">
                <a:sym typeface="Symbol" pitchFamily="18" charset="2"/>
              </a:rPr>
              <a:t>v</a:t>
            </a:r>
            <a:r>
              <a:rPr lang="en-US" altLang="zh-CN" sz="2000" dirty="0">
                <a:sym typeface="Symbol" pitchFamily="18" charset="2"/>
              </a:rPr>
              <a:t> 90°</a:t>
            </a:r>
            <a:endParaRPr lang="en-US" altLang="zh-CN" sz="2000" dirty="0"/>
          </a:p>
        </p:txBody>
      </p:sp>
      <p:grpSp>
        <p:nvGrpSpPr>
          <p:cNvPr id="463877" name="Group 5"/>
          <p:cNvGrpSpPr>
            <a:grpSpLocks/>
          </p:cNvGrpSpPr>
          <p:nvPr/>
        </p:nvGrpSpPr>
        <p:grpSpPr bwMode="auto">
          <a:xfrm>
            <a:off x="369296" y="1104900"/>
            <a:ext cx="2070692" cy="2372139"/>
            <a:chOff x="-74" y="576"/>
            <a:chExt cx="1273" cy="1152"/>
          </a:xfrm>
        </p:grpSpPr>
        <p:sp>
          <p:nvSpPr>
            <p:cNvPr id="463878" name="Freeform 6"/>
            <p:cNvSpPr>
              <a:spLocks/>
            </p:cNvSpPr>
            <p:nvPr/>
          </p:nvSpPr>
          <p:spPr bwMode="auto">
            <a:xfrm>
              <a:off x="893" y="936"/>
              <a:ext cx="1" cy="306"/>
            </a:xfrm>
            <a:custGeom>
              <a:avLst/>
              <a:gdLst>
                <a:gd name="T0" fmla="*/ 1 w 1"/>
                <a:gd name="T1" fmla="*/ 306 h 306"/>
                <a:gd name="T2" fmla="*/ 0 w 1"/>
                <a:gd name="T3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6">
                  <a:moveTo>
                    <a:pt x="1" y="306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879" name="Freeform 7"/>
            <p:cNvSpPr>
              <a:spLocks/>
            </p:cNvSpPr>
            <p:nvPr/>
          </p:nvSpPr>
          <p:spPr bwMode="auto">
            <a:xfrm>
              <a:off x="887" y="1350"/>
              <a:ext cx="1" cy="312"/>
            </a:xfrm>
            <a:custGeom>
              <a:avLst/>
              <a:gdLst>
                <a:gd name="T0" fmla="*/ 1 w 1"/>
                <a:gd name="T1" fmla="*/ 0 h 312"/>
                <a:gd name="T2" fmla="*/ 0 w 1"/>
                <a:gd name="T3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2">
                  <a:moveTo>
                    <a:pt x="1" y="0"/>
                  </a:moveTo>
                  <a:lnTo>
                    <a:pt x="0" y="31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880" name="Freeform 8"/>
            <p:cNvSpPr>
              <a:spLocks/>
            </p:cNvSpPr>
            <p:nvPr/>
          </p:nvSpPr>
          <p:spPr bwMode="auto">
            <a:xfrm>
              <a:off x="317" y="936"/>
              <a:ext cx="576" cy="6"/>
            </a:xfrm>
            <a:custGeom>
              <a:avLst/>
              <a:gdLst>
                <a:gd name="T0" fmla="*/ 0 w 576"/>
                <a:gd name="T1" fmla="*/ 6 h 6"/>
                <a:gd name="T2" fmla="*/ 576 w 576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881" name="Freeform 9"/>
            <p:cNvSpPr>
              <a:spLocks/>
            </p:cNvSpPr>
            <p:nvPr/>
          </p:nvSpPr>
          <p:spPr bwMode="auto">
            <a:xfrm>
              <a:off x="314" y="1656"/>
              <a:ext cx="570" cy="3"/>
            </a:xfrm>
            <a:custGeom>
              <a:avLst/>
              <a:gdLst>
                <a:gd name="T0" fmla="*/ 0 w 570"/>
                <a:gd name="T1" fmla="*/ 3 h 3"/>
                <a:gd name="T2" fmla="*/ 570 w 57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882" name="Line 10"/>
            <p:cNvSpPr>
              <a:spLocks noChangeShapeType="1"/>
            </p:cNvSpPr>
            <p:nvPr/>
          </p:nvSpPr>
          <p:spPr bwMode="auto">
            <a:xfrm>
              <a:off x="297" y="864"/>
              <a:ext cx="2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883" name="Text Box 11"/>
            <p:cNvSpPr txBox="1">
              <a:spLocks noChangeArrowheads="1"/>
            </p:cNvSpPr>
            <p:nvPr/>
          </p:nvSpPr>
          <p:spPr bwMode="auto">
            <a:xfrm>
              <a:off x="249" y="576"/>
              <a:ext cx="425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/>
                <a:t>i</a:t>
              </a:r>
              <a:r>
                <a:rPr lang="en-US" altLang="zh-CN" i="1" baseline="-25000"/>
                <a:t>C</a:t>
              </a:r>
              <a:r>
                <a:rPr lang="en-US" altLang="zh-CN"/>
                <a:t>(</a:t>
              </a:r>
              <a:r>
                <a:rPr lang="en-US" altLang="zh-CN" i="1"/>
                <a:t>t</a:t>
              </a:r>
              <a:r>
                <a:rPr lang="en-US" altLang="zh-CN"/>
                <a:t>)</a:t>
              </a:r>
            </a:p>
          </p:txBody>
        </p:sp>
        <p:sp>
          <p:nvSpPr>
            <p:cNvPr id="463884" name="Text Box 12"/>
            <p:cNvSpPr txBox="1">
              <a:spLocks noChangeArrowheads="1"/>
            </p:cNvSpPr>
            <p:nvPr/>
          </p:nvSpPr>
          <p:spPr bwMode="auto">
            <a:xfrm>
              <a:off x="-74" y="1167"/>
              <a:ext cx="485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 dirty="0"/>
                <a:t>v</a:t>
              </a:r>
              <a:r>
                <a:rPr lang="en-US" altLang="zh-CN" dirty="0"/>
                <a:t>(</a:t>
              </a:r>
              <a:r>
                <a:rPr lang="en-US" altLang="zh-CN" i="1" dirty="0"/>
                <a:t>t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463885" name="Text Box 13"/>
            <p:cNvSpPr txBox="1">
              <a:spLocks noChangeArrowheads="1"/>
            </p:cNvSpPr>
            <p:nvPr/>
          </p:nvSpPr>
          <p:spPr bwMode="auto">
            <a:xfrm>
              <a:off x="961" y="1152"/>
              <a:ext cx="23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/>
                <a:t>C</a:t>
              </a:r>
            </a:p>
          </p:txBody>
        </p:sp>
        <p:sp>
          <p:nvSpPr>
            <p:cNvPr id="463886" name="Oval 14"/>
            <p:cNvSpPr>
              <a:spLocks noChangeArrowheads="1"/>
            </p:cNvSpPr>
            <p:nvPr/>
          </p:nvSpPr>
          <p:spPr bwMode="auto">
            <a:xfrm>
              <a:off x="263" y="163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3887" name="Oval 15"/>
            <p:cNvSpPr>
              <a:spLocks noChangeArrowheads="1"/>
            </p:cNvSpPr>
            <p:nvPr/>
          </p:nvSpPr>
          <p:spPr bwMode="auto">
            <a:xfrm>
              <a:off x="263" y="91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3888" name="Text Box 16"/>
            <p:cNvSpPr txBox="1">
              <a:spLocks noChangeArrowheads="1"/>
            </p:cNvSpPr>
            <p:nvPr/>
          </p:nvSpPr>
          <p:spPr bwMode="auto">
            <a:xfrm>
              <a:off x="67" y="888"/>
              <a:ext cx="220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/>
                <a:t>+</a:t>
              </a:r>
            </a:p>
          </p:txBody>
        </p:sp>
        <p:sp>
          <p:nvSpPr>
            <p:cNvPr id="463889" name="Text Box 17"/>
            <p:cNvSpPr txBox="1">
              <a:spLocks noChangeArrowheads="1"/>
            </p:cNvSpPr>
            <p:nvPr/>
          </p:nvSpPr>
          <p:spPr bwMode="auto">
            <a:xfrm>
              <a:off x="51" y="1506"/>
              <a:ext cx="209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>
                  <a:latin typeface="宋体" charset="-122"/>
                </a:rPr>
                <a:t>-</a:t>
              </a:r>
              <a:endParaRPr lang="en-US" altLang="zh-CN" dirty="0"/>
            </a:p>
          </p:txBody>
        </p:sp>
        <p:sp>
          <p:nvSpPr>
            <p:cNvPr id="463890" name="Line 18"/>
            <p:cNvSpPr>
              <a:spLocks noChangeShapeType="1"/>
            </p:cNvSpPr>
            <p:nvPr/>
          </p:nvSpPr>
          <p:spPr bwMode="auto">
            <a:xfrm>
              <a:off x="768" y="124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3891" name="Line 19"/>
            <p:cNvSpPr>
              <a:spLocks noChangeShapeType="1"/>
            </p:cNvSpPr>
            <p:nvPr/>
          </p:nvSpPr>
          <p:spPr bwMode="auto">
            <a:xfrm>
              <a:off x="768" y="134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46390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607180"/>
              </p:ext>
            </p:extLst>
          </p:nvPr>
        </p:nvGraphicFramePr>
        <p:xfrm>
          <a:off x="3459163" y="1266825"/>
          <a:ext cx="35782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686" name="Equation" r:id="rId3" imgW="1726920" imgH="215640" progId="Equation.DSMT4">
                  <p:embed/>
                </p:oleObj>
              </mc:Choice>
              <mc:Fallback>
                <p:oleObj name="Equation" r:id="rId3" imgW="1726920" imgH="2156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63" y="1266825"/>
                        <a:ext cx="35782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90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312940"/>
              </p:ext>
            </p:extLst>
          </p:nvPr>
        </p:nvGraphicFramePr>
        <p:xfrm>
          <a:off x="3441700" y="2105025"/>
          <a:ext cx="522605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687" name="Equation" r:id="rId5" imgW="2666880" imgH="723600" progId="Equation.DSMT4">
                  <p:embed/>
                </p:oleObj>
              </mc:Choice>
              <mc:Fallback>
                <p:oleObj name="Equation" r:id="rId5" imgW="2666880" imgH="723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2105025"/>
                        <a:ext cx="5226050" cy="141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4084793" y="4108100"/>
            <a:ext cx="27971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/>
              <a:t>特点：</a:t>
            </a:r>
            <a:r>
              <a:rPr lang="en-US" altLang="zh-CN" sz="2000" dirty="0"/>
              <a:t>(1) </a:t>
            </a:r>
            <a:r>
              <a:rPr lang="en-US" altLang="zh-CN" sz="2000" i="1" dirty="0"/>
              <a:t>v, </a:t>
            </a:r>
            <a:r>
              <a:rPr lang="en-US" altLang="zh-CN" sz="2000" i="1" dirty="0" err="1" smtClean="0"/>
              <a:t>i</a:t>
            </a:r>
            <a:r>
              <a:rPr lang="en-US" altLang="zh-CN" sz="2000" i="1" dirty="0" smtClean="0"/>
              <a:t> </a:t>
            </a:r>
            <a:r>
              <a:rPr lang="zh-CN" altLang="en-US" sz="2000" dirty="0" smtClean="0"/>
              <a:t>同</a:t>
            </a:r>
            <a:r>
              <a:rPr lang="zh-CN" altLang="en-US" sz="2000" dirty="0"/>
              <a:t>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6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5" grpId="0" autoUpdateAnimBg="0"/>
      <p:bldP spid="463876" grpId="0" autoUpdateAnimBg="0"/>
      <p:bldP spid="3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Text Box 2"/>
          <p:cNvSpPr txBox="1">
            <a:spLocks noChangeArrowheads="1"/>
          </p:cNvSpPr>
          <p:nvPr/>
        </p:nvSpPr>
        <p:spPr bwMode="auto">
          <a:xfrm>
            <a:off x="4440680" y="2036763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相量形式：</a:t>
            </a:r>
          </a:p>
        </p:txBody>
      </p:sp>
      <p:grpSp>
        <p:nvGrpSpPr>
          <p:cNvPr id="464930" name="Group 34"/>
          <p:cNvGrpSpPr>
            <a:grpSpLocks/>
          </p:cNvGrpSpPr>
          <p:nvPr/>
        </p:nvGrpSpPr>
        <p:grpSpPr bwMode="auto">
          <a:xfrm>
            <a:off x="884239" y="1444625"/>
            <a:ext cx="2560640" cy="1871663"/>
            <a:chOff x="557" y="910"/>
            <a:chExt cx="1613" cy="1179"/>
          </a:xfrm>
        </p:grpSpPr>
        <p:graphicFrame>
          <p:nvGraphicFramePr>
            <p:cNvPr id="46490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7210570"/>
                </p:ext>
              </p:extLst>
            </p:nvPr>
          </p:nvGraphicFramePr>
          <p:xfrm>
            <a:off x="557" y="1482"/>
            <a:ext cx="22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829" name="Equation" r:id="rId3" imgW="164880" imgH="215640" progId="Equation.DSMT4">
                    <p:embed/>
                  </p:oleObj>
                </mc:Choice>
                <mc:Fallback>
                  <p:oleObj name="Equation" r:id="rId3" imgW="164880" imgH="2156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" y="1482"/>
                          <a:ext cx="221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4902" name="Object 6"/>
            <p:cNvGraphicFramePr>
              <a:graphicFrameLocks noChangeAspect="1"/>
            </p:cNvGraphicFramePr>
            <p:nvPr/>
          </p:nvGraphicFramePr>
          <p:xfrm>
            <a:off x="923" y="910"/>
            <a:ext cx="222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830" name="Equation" r:id="rId5" imgW="164880" imgH="215640" progId="Equation.DSMT4">
                    <p:embed/>
                  </p:oleObj>
                </mc:Choice>
                <mc:Fallback>
                  <p:oleObj name="Equation" r:id="rId5" imgW="164880" imgH="2156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3" y="910"/>
                          <a:ext cx="222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4903" name="Freeform 7"/>
            <p:cNvSpPr>
              <a:spLocks/>
            </p:cNvSpPr>
            <p:nvPr/>
          </p:nvSpPr>
          <p:spPr bwMode="auto">
            <a:xfrm>
              <a:off x="1529" y="1278"/>
              <a:ext cx="1" cy="300"/>
            </a:xfrm>
            <a:custGeom>
              <a:avLst/>
              <a:gdLst>
                <a:gd name="T0" fmla="*/ 1 w 1"/>
                <a:gd name="T1" fmla="*/ 306 h 306"/>
                <a:gd name="T2" fmla="*/ 0 w 1"/>
                <a:gd name="T3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6">
                  <a:moveTo>
                    <a:pt x="1" y="306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4904" name="Freeform 8"/>
            <p:cNvSpPr>
              <a:spLocks/>
            </p:cNvSpPr>
            <p:nvPr/>
          </p:nvSpPr>
          <p:spPr bwMode="auto">
            <a:xfrm>
              <a:off x="1522" y="1684"/>
              <a:ext cx="1" cy="305"/>
            </a:xfrm>
            <a:custGeom>
              <a:avLst/>
              <a:gdLst>
                <a:gd name="T0" fmla="*/ 1 w 1"/>
                <a:gd name="T1" fmla="*/ 0 h 312"/>
                <a:gd name="T2" fmla="*/ 0 w 1"/>
                <a:gd name="T3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2">
                  <a:moveTo>
                    <a:pt x="1" y="0"/>
                  </a:moveTo>
                  <a:lnTo>
                    <a:pt x="0" y="31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4905" name="Freeform 9"/>
            <p:cNvSpPr>
              <a:spLocks/>
            </p:cNvSpPr>
            <p:nvPr/>
          </p:nvSpPr>
          <p:spPr bwMode="auto">
            <a:xfrm>
              <a:off x="909" y="1278"/>
              <a:ext cx="620" cy="5"/>
            </a:xfrm>
            <a:custGeom>
              <a:avLst/>
              <a:gdLst>
                <a:gd name="T0" fmla="*/ 0 w 576"/>
                <a:gd name="T1" fmla="*/ 6 h 6"/>
                <a:gd name="T2" fmla="*/ 576 w 576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6" h="6">
                  <a:moveTo>
                    <a:pt x="0" y="6"/>
                  </a:moveTo>
                  <a:lnTo>
                    <a:pt x="57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4906" name="Freeform 10"/>
            <p:cNvSpPr>
              <a:spLocks/>
            </p:cNvSpPr>
            <p:nvPr/>
          </p:nvSpPr>
          <p:spPr bwMode="auto">
            <a:xfrm>
              <a:off x="906" y="1984"/>
              <a:ext cx="613" cy="3"/>
            </a:xfrm>
            <a:custGeom>
              <a:avLst/>
              <a:gdLst>
                <a:gd name="T0" fmla="*/ 0 w 570"/>
                <a:gd name="T1" fmla="*/ 3 h 3"/>
                <a:gd name="T2" fmla="*/ 570 w 57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0" h="3">
                  <a:moveTo>
                    <a:pt x="0" y="3"/>
                  </a:moveTo>
                  <a:lnTo>
                    <a:pt x="5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4907" name="Line 11"/>
            <p:cNvSpPr>
              <a:spLocks noChangeShapeType="1"/>
            </p:cNvSpPr>
            <p:nvPr/>
          </p:nvSpPr>
          <p:spPr bwMode="auto">
            <a:xfrm>
              <a:off x="888" y="1207"/>
              <a:ext cx="30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4908" name="Oval 12"/>
            <p:cNvSpPr>
              <a:spLocks noChangeArrowheads="1"/>
            </p:cNvSpPr>
            <p:nvPr/>
          </p:nvSpPr>
          <p:spPr bwMode="auto">
            <a:xfrm>
              <a:off x="851" y="1960"/>
              <a:ext cx="52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4909" name="Oval 13"/>
            <p:cNvSpPr>
              <a:spLocks noChangeArrowheads="1"/>
            </p:cNvSpPr>
            <p:nvPr/>
          </p:nvSpPr>
          <p:spPr bwMode="auto">
            <a:xfrm>
              <a:off x="851" y="1254"/>
              <a:ext cx="52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4910" name="Text Box 14"/>
            <p:cNvSpPr txBox="1">
              <a:spLocks noChangeArrowheads="1"/>
            </p:cNvSpPr>
            <p:nvPr/>
          </p:nvSpPr>
          <p:spPr bwMode="auto">
            <a:xfrm>
              <a:off x="602" y="1157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/>
                <a:t>+</a:t>
              </a:r>
            </a:p>
          </p:txBody>
        </p:sp>
        <p:sp>
          <p:nvSpPr>
            <p:cNvPr id="464911" name="Text Box 15"/>
            <p:cNvSpPr txBox="1">
              <a:spLocks noChangeArrowheads="1"/>
            </p:cNvSpPr>
            <p:nvPr/>
          </p:nvSpPr>
          <p:spPr bwMode="auto">
            <a:xfrm>
              <a:off x="595" y="1802"/>
              <a:ext cx="21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>
                  <a:latin typeface="宋体" charset="-122"/>
                </a:rPr>
                <a:t>-</a:t>
              </a:r>
              <a:endParaRPr lang="en-US" altLang="zh-CN" dirty="0"/>
            </a:p>
          </p:txBody>
        </p:sp>
        <p:sp>
          <p:nvSpPr>
            <p:cNvPr id="464912" name="Line 16"/>
            <p:cNvSpPr>
              <a:spLocks noChangeShapeType="1"/>
            </p:cNvSpPr>
            <p:nvPr/>
          </p:nvSpPr>
          <p:spPr bwMode="auto">
            <a:xfrm>
              <a:off x="1394" y="1584"/>
              <a:ext cx="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4913" name="Line 17"/>
            <p:cNvSpPr>
              <a:spLocks noChangeShapeType="1"/>
            </p:cNvSpPr>
            <p:nvPr/>
          </p:nvSpPr>
          <p:spPr bwMode="auto">
            <a:xfrm>
              <a:off x="1394" y="1678"/>
              <a:ext cx="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6491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6593775"/>
                </p:ext>
              </p:extLst>
            </p:nvPr>
          </p:nvGraphicFramePr>
          <p:xfrm>
            <a:off x="1687" y="1355"/>
            <a:ext cx="483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831" name="Equation" r:id="rId7" imgW="355320" imgH="419040" progId="Equation.DSMT4">
                    <p:embed/>
                  </p:oleObj>
                </mc:Choice>
                <mc:Fallback>
                  <p:oleObj name="Equation" r:id="rId7" imgW="355320" imgH="41904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7" y="1355"/>
                          <a:ext cx="483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492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725289"/>
              </p:ext>
            </p:extLst>
          </p:nvPr>
        </p:nvGraphicFramePr>
        <p:xfrm>
          <a:off x="5915764" y="2953431"/>
          <a:ext cx="2000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832" name="公式" r:id="rId9" imgW="177480" imgH="368280" progId="Equation.3">
                  <p:embed/>
                </p:oleObj>
              </mc:Choice>
              <mc:Fallback>
                <p:oleObj name="公式" r:id="rId9" imgW="177480" imgH="3682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764" y="2953431"/>
                        <a:ext cx="2000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2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881556"/>
              </p:ext>
            </p:extLst>
          </p:nvPr>
        </p:nvGraphicFramePr>
        <p:xfrm>
          <a:off x="5915764" y="4257678"/>
          <a:ext cx="16589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833" name="Equation" r:id="rId11" imgW="723600" imgH="380880" progId="Equation.DSMT4">
                  <p:embed/>
                </p:oleObj>
              </mc:Choice>
              <mc:Fallback>
                <p:oleObj name="Equation" r:id="rId11" imgW="723600" imgH="3808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764" y="4257678"/>
                        <a:ext cx="1658938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2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931942"/>
              </p:ext>
            </p:extLst>
          </p:nvPr>
        </p:nvGraphicFramePr>
        <p:xfrm>
          <a:off x="5915764" y="3578906"/>
          <a:ext cx="1574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834" name="Equation" r:id="rId13" imgW="685800" imgH="215640" progId="Equation.DSMT4">
                  <p:embed/>
                </p:oleObj>
              </mc:Choice>
              <mc:Fallback>
                <p:oleObj name="Equation" r:id="rId13" imgW="685800" imgH="21564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764" y="3578906"/>
                        <a:ext cx="1574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2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75122"/>
              </p:ext>
            </p:extLst>
          </p:nvPr>
        </p:nvGraphicFramePr>
        <p:xfrm>
          <a:off x="5915764" y="2888343"/>
          <a:ext cx="145256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835" name="Equation" r:id="rId15" imgW="647640" imgH="215640" progId="Equation.DSMT4">
                  <p:embed/>
                </p:oleObj>
              </mc:Choice>
              <mc:Fallback>
                <p:oleObj name="Equation" r:id="rId15" imgW="647640" imgH="21564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764" y="2888343"/>
                        <a:ext cx="145256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911773" y="4008438"/>
            <a:ext cx="2744680" cy="1788601"/>
            <a:chOff x="911773" y="4008438"/>
            <a:chExt cx="2744680" cy="1788601"/>
          </a:xfrm>
        </p:grpSpPr>
        <p:graphicFrame>
          <p:nvGraphicFramePr>
            <p:cNvPr id="25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1667658"/>
                </p:ext>
              </p:extLst>
            </p:nvPr>
          </p:nvGraphicFramePr>
          <p:xfrm>
            <a:off x="3350288" y="4008438"/>
            <a:ext cx="306165" cy="327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836" name="Equation" r:id="rId17" imgW="139680" imgH="190440" progId="Equation.DSMT4">
                    <p:embed/>
                  </p:oleObj>
                </mc:Choice>
                <mc:Fallback>
                  <p:oleObj name="Equation" r:id="rId17" imgW="139680" imgH="19044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0288" y="4008438"/>
                          <a:ext cx="306165" cy="327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1979749" y="4210149"/>
              <a:ext cx="1383146" cy="1081906"/>
            </a:xfrm>
            <a:custGeom>
              <a:avLst/>
              <a:gdLst>
                <a:gd name="T0" fmla="*/ 0 w 624"/>
                <a:gd name="T1" fmla="*/ 624 h 624"/>
                <a:gd name="T2" fmla="*/ 624 w 624"/>
                <a:gd name="T3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4" h="624">
                  <a:moveTo>
                    <a:pt x="0" y="624"/>
                  </a:moveTo>
                  <a:lnTo>
                    <a:pt x="624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rot="16200000" flipV="1">
              <a:off x="1305226" y="4604853"/>
              <a:ext cx="770170" cy="596121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2102570"/>
                </p:ext>
              </p:extLst>
            </p:nvPr>
          </p:nvGraphicFramePr>
          <p:xfrm>
            <a:off x="911773" y="4244003"/>
            <a:ext cx="480859" cy="447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837" name="公式" r:id="rId19" imgW="203040" imgH="241200" progId="Equation.3">
                    <p:embed/>
                  </p:oleObj>
                </mc:Choice>
                <mc:Fallback>
                  <p:oleObj name="公式" r:id="rId19" imgW="203040" imgH="2412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1773" y="4244003"/>
                          <a:ext cx="480859" cy="447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1979749" y="5292055"/>
              <a:ext cx="1642486" cy="14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2212074" y="5107271"/>
              <a:ext cx="147680" cy="184784"/>
            </a:xfrm>
            <a:custGeom>
              <a:avLst/>
              <a:gdLst>
                <a:gd name="T0" fmla="*/ 0 w 82"/>
                <a:gd name="T1" fmla="*/ 0 h 129"/>
                <a:gd name="T2" fmla="*/ 39 w 82"/>
                <a:gd name="T3" fmla="*/ 24 h 129"/>
                <a:gd name="T4" fmla="*/ 75 w 82"/>
                <a:gd name="T5" fmla="*/ 72 h 129"/>
                <a:gd name="T6" fmla="*/ 81 w 82"/>
                <a:gd name="T7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29">
                  <a:moveTo>
                    <a:pt x="0" y="0"/>
                  </a:moveTo>
                  <a:cubicBezTo>
                    <a:pt x="6" y="4"/>
                    <a:pt x="26" y="12"/>
                    <a:pt x="39" y="24"/>
                  </a:cubicBezTo>
                  <a:cubicBezTo>
                    <a:pt x="52" y="36"/>
                    <a:pt x="68" y="54"/>
                    <a:pt x="75" y="72"/>
                  </a:cubicBezTo>
                  <a:cubicBezTo>
                    <a:pt x="82" y="90"/>
                    <a:pt x="80" y="117"/>
                    <a:pt x="81" y="129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stealth" w="sm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2325535" y="4816694"/>
              <a:ext cx="691573" cy="457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>
                  <a:latin typeface="Symbol" pitchFamily="18" charset="2"/>
                  <a:sym typeface="Symbol" pitchFamily="18" charset="2"/>
                </a:rPr>
                <a:t>f</a:t>
              </a:r>
              <a:r>
                <a:rPr lang="en-US" altLang="zh-CN" i="1" baseline="-25000">
                  <a:sym typeface="Symbol" pitchFamily="18" charset="2"/>
                </a:rPr>
                <a:t>v</a:t>
              </a: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 rot="441271">
              <a:off x="1839442" y="4976291"/>
              <a:ext cx="317971" cy="159544"/>
            </a:xfrm>
            <a:custGeom>
              <a:avLst/>
              <a:gdLst>
                <a:gd name="T0" fmla="*/ 0 w 192"/>
                <a:gd name="T1" fmla="*/ 96 h 96"/>
                <a:gd name="T2" fmla="*/ 96 w 192"/>
                <a:gd name="T3" fmla="*/ 0 h 96"/>
                <a:gd name="T4" fmla="*/ 192 w 192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96">
                  <a:moveTo>
                    <a:pt x="0" y="96"/>
                  </a:moveTo>
                  <a:lnTo>
                    <a:pt x="96" y="0"/>
                  </a:lnTo>
                  <a:lnTo>
                    <a:pt x="192" y="9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Text Box 31"/>
            <p:cNvSpPr txBox="1">
              <a:spLocks noChangeArrowheads="1"/>
            </p:cNvSpPr>
            <p:nvPr/>
          </p:nvSpPr>
          <p:spPr bwMode="auto">
            <a:xfrm>
              <a:off x="1506093" y="5396438"/>
              <a:ext cx="958117" cy="400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/>
                <a:t>相量图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092" name="Object 4" descr="水滴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647259"/>
              </p:ext>
            </p:extLst>
          </p:nvPr>
        </p:nvGraphicFramePr>
        <p:xfrm>
          <a:off x="2343150" y="2670175"/>
          <a:ext cx="4538663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34" name="Equation" r:id="rId3" imgW="1930320" imgH="469800" progId="Equation.DSMT4">
                  <p:embed/>
                </p:oleObj>
              </mc:Choice>
              <mc:Fallback>
                <p:oleObj name="Equation" r:id="rId3" imgW="1930320" imgH="469800" progId="Equation.DSMT4">
                  <p:embed/>
                  <p:pic>
                    <p:nvPicPr>
                      <p:cNvPr id="0" name="Object 4" descr="水滴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0" y="2670175"/>
                        <a:ext cx="4538663" cy="1103313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3" name="Text Box 5"/>
          <p:cNvSpPr txBox="1">
            <a:spLocks noChangeArrowheads="1"/>
          </p:cNvSpPr>
          <p:nvPr/>
        </p:nvSpPr>
        <p:spPr bwMode="auto">
          <a:xfrm>
            <a:off x="914400" y="1371600"/>
            <a:ext cx="7696200" cy="9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52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/>
              <a:t>同频率的正弦量加减可以用对应的相量形式来进行计算。因此，在正弦电流电路中，</a:t>
            </a:r>
            <a:r>
              <a:rPr lang="en-US" altLang="zh-CN" sz="2000" dirty="0"/>
              <a:t>KCL</a:t>
            </a:r>
            <a:r>
              <a:rPr lang="zh-CN" altLang="en-US" sz="2000" dirty="0"/>
              <a:t>和</a:t>
            </a:r>
            <a:r>
              <a:rPr lang="en-US" altLang="zh-CN" sz="2000" dirty="0"/>
              <a:t>KVL</a:t>
            </a:r>
            <a:r>
              <a:rPr lang="zh-CN" altLang="en-US" sz="2000" dirty="0"/>
              <a:t>可用相应的相量形式表示：</a:t>
            </a:r>
          </a:p>
        </p:txBody>
      </p:sp>
      <p:sp>
        <p:nvSpPr>
          <p:cNvPr id="473094" name="Text Box 6"/>
          <p:cNvSpPr txBox="1">
            <a:spLocks noChangeArrowheads="1"/>
          </p:cNvSpPr>
          <p:nvPr/>
        </p:nvSpPr>
        <p:spPr bwMode="auto">
          <a:xfrm>
            <a:off x="838200" y="4308475"/>
            <a:ext cx="769620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572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47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indent="0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 smtClean="0"/>
              <a:t>     上</a:t>
            </a:r>
            <a:r>
              <a:rPr lang="zh-CN" altLang="en-US" sz="2000" dirty="0"/>
              <a:t>式表明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流入</a:t>
            </a:r>
            <a:r>
              <a:rPr lang="zh-CN" altLang="en-US" sz="2000" dirty="0"/>
              <a:t>某一节点的所有正弦电流用相量表示时仍满足</a:t>
            </a:r>
            <a:r>
              <a:rPr lang="en-US" altLang="zh-CN" sz="2000" dirty="0"/>
              <a:t>KCL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而</a:t>
            </a:r>
            <a:r>
              <a:rPr lang="zh-CN" altLang="en-US" sz="2000" dirty="0"/>
              <a:t>任一回路所有支路正弦电压用相量表示时仍满足</a:t>
            </a:r>
            <a:r>
              <a:rPr lang="en-US" altLang="zh-CN" sz="2000" dirty="0"/>
              <a:t>KVL</a:t>
            </a:r>
            <a:r>
              <a:rPr lang="zh-CN" altLang="en-US" sz="2000" dirty="0"/>
              <a:t>。</a:t>
            </a:r>
          </a:p>
        </p:txBody>
      </p:sp>
      <p:sp>
        <p:nvSpPr>
          <p:cNvPr id="473096" name="Text Box 8"/>
          <p:cNvSpPr txBox="1">
            <a:spLocks noChangeArrowheads="1"/>
          </p:cNvSpPr>
          <p:nvPr/>
        </p:nvSpPr>
        <p:spPr bwMode="auto">
          <a:xfrm>
            <a:off x="304800" y="695325"/>
            <a:ext cx="598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5.2.2  </a:t>
            </a:r>
            <a:r>
              <a:rPr lang="zh-CN" altLang="en-US" dirty="0">
                <a:solidFill>
                  <a:srgbClr val="990033"/>
                </a:solidFill>
              </a:rPr>
              <a:t>基尔霍夫定律的相量形式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3" grpId="0"/>
      <p:bldP spid="47309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296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990033"/>
                </a:solidFill>
              </a:rPr>
              <a:t>一、电路的相量</a:t>
            </a:r>
            <a:r>
              <a:rPr lang="zh-CN" altLang="en-US" dirty="0" smtClean="0">
                <a:solidFill>
                  <a:srgbClr val="990033"/>
                </a:solidFill>
              </a:rPr>
              <a:t>模型</a:t>
            </a:r>
            <a:endParaRPr lang="en-US" altLang="zh-CN" dirty="0">
              <a:solidFill>
                <a:srgbClr val="990033"/>
              </a:solidFill>
            </a:endParaRPr>
          </a:p>
        </p:txBody>
      </p:sp>
      <p:sp>
        <p:nvSpPr>
          <p:cNvPr id="475139" name="Text Box 3"/>
          <p:cNvSpPr txBox="1">
            <a:spLocks noChangeArrowheads="1"/>
          </p:cNvSpPr>
          <p:nvPr/>
        </p:nvSpPr>
        <p:spPr bwMode="auto">
          <a:xfrm>
            <a:off x="1149350" y="5568950"/>
            <a:ext cx="173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 smtClean="0"/>
              <a:t>时域微分方程</a:t>
            </a:r>
            <a:endParaRPr lang="zh-CN" altLang="en-US" sz="2000" dirty="0"/>
          </a:p>
        </p:txBody>
      </p:sp>
      <p:sp>
        <p:nvSpPr>
          <p:cNvPr id="475140" name="Text Box 4"/>
          <p:cNvSpPr txBox="1">
            <a:spLocks noChangeArrowheads="1"/>
          </p:cNvSpPr>
          <p:nvPr/>
        </p:nvSpPr>
        <p:spPr bwMode="auto">
          <a:xfrm>
            <a:off x="5038725" y="5553075"/>
            <a:ext cx="2249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相量形式代数方程</a:t>
            </a:r>
          </a:p>
        </p:txBody>
      </p:sp>
      <p:sp>
        <p:nvSpPr>
          <p:cNvPr id="475200" name="Text Box 64"/>
          <p:cNvSpPr txBox="1">
            <a:spLocks noChangeArrowheads="1"/>
          </p:cNvSpPr>
          <p:nvPr/>
        </p:nvSpPr>
        <p:spPr bwMode="auto">
          <a:xfrm>
            <a:off x="5410200" y="2962275"/>
            <a:ext cx="1217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/>
              <a:t>相量模型</a:t>
            </a:r>
          </a:p>
        </p:txBody>
      </p:sp>
      <p:graphicFrame>
        <p:nvGraphicFramePr>
          <p:cNvPr id="475201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933736"/>
              </p:ext>
            </p:extLst>
          </p:nvPr>
        </p:nvGraphicFramePr>
        <p:xfrm>
          <a:off x="1328738" y="3531996"/>
          <a:ext cx="1304312" cy="452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926" name="Equation" r:id="rId3" imgW="583920" imgH="203040" progId="Equation.DSMT4">
                  <p:embed/>
                </p:oleObj>
              </mc:Choice>
              <mc:Fallback>
                <p:oleObj name="Equation" r:id="rId3" imgW="583920" imgH="203040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3531996"/>
                        <a:ext cx="1304312" cy="452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202" name="AutoShape 66"/>
          <p:cNvSpPr>
            <a:spLocks/>
          </p:cNvSpPr>
          <p:nvPr/>
        </p:nvSpPr>
        <p:spPr bwMode="auto">
          <a:xfrm>
            <a:off x="1096053" y="3683577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475203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834450"/>
              </p:ext>
            </p:extLst>
          </p:nvPr>
        </p:nvGraphicFramePr>
        <p:xfrm>
          <a:off x="5170487" y="3415588"/>
          <a:ext cx="1389783" cy="48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927" name="Equation" r:id="rId5" imgW="736560" imgH="253800" progId="Equation.DSMT4">
                  <p:embed/>
                </p:oleObj>
              </mc:Choice>
              <mc:Fallback>
                <p:oleObj name="Equation" r:id="rId5" imgW="736560" imgH="2538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0487" y="3415588"/>
                        <a:ext cx="1389783" cy="48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204" name="AutoShape 68"/>
          <p:cNvSpPr>
            <a:spLocks/>
          </p:cNvSpPr>
          <p:nvPr/>
        </p:nvSpPr>
        <p:spPr bwMode="auto">
          <a:xfrm>
            <a:off x="4860925" y="3617912"/>
            <a:ext cx="228600" cy="1676400"/>
          </a:xfrm>
          <a:prstGeom prst="leftBrace">
            <a:avLst>
              <a:gd name="adj1" fmla="val 61111"/>
              <a:gd name="adj2" fmla="val 50000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75205" name="AutoShape 69"/>
          <p:cNvSpPr>
            <a:spLocks noChangeArrowheads="1"/>
          </p:cNvSpPr>
          <p:nvPr/>
        </p:nvSpPr>
        <p:spPr bwMode="auto">
          <a:xfrm>
            <a:off x="3962400" y="4333875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75206" name="AutoShape 70"/>
          <p:cNvSpPr>
            <a:spLocks noChangeArrowheads="1"/>
          </p:cNvSpPr>
          <p:nvPr/>
        </p:nvSpPr>
        <p:spPr bwMode="auto">
          <a:xfrm>
            <a:off x="3962400" y="1895475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5207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12508"/>
              </p:ext>
            </p:extLst>
          </p:nvPr>
        </p:nvGraphicFramePr>
        <p:xfrm>
          <a:off x="1249363" y="4075113"/>
          <a:ext cx="21177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928" name="Equation" r:id="rId7" imgW="1104840" imgH="355320" progId="Equation.DSMT4">
                  <p:embed/>
                </p:oleObj>
              </mc:Choice>
              <mc:Fallback>
                <p:oleObj name="Equation" r:id="rId7" imgW="1104840" imgH="35532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4075113"/>
                        <a:ext cx="211772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208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09597"/>
              </p:ext>
            </p:extLst>
          </p:nvPr>
        </p:nvGraphicFramePr>
        <p:xfrm>
          <a:off x="1289050" y="4827588"/>
          <a:ext cx="15335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929" name="Equation" r:id="rId9" imgW="799920" imgH="355320" progId="Equation.DSMT4">
                  <p:embed/>
                </p:oleObj>
              </mc:Choice>
              <mc:Fallback>
                <p:oleObj name="Equation" r:id="rId9" imgW="799920" imgH="355320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4827588"/>
                        <a:ext cx="153352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209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679181"/>
              </p:ext>
            </p:extLst>
          </p:nvPr>
        </p:nvGraphicFramePr>
        <p:xfrm>
          <a:off x="5144182" y="4010841"/>
          <a:ext cx="2441632" cy="734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930" name="Equation" r:id="rId11" imgW="1269720" imgH="380880" progId="Equation.DSMT4">
                  <p:embed/>
                </p:oleObj>
              </mc:Choice>
              <mc:Fallback>
                <p:oleObj name="Equation" r:id="rId11" imgW="1269720" imgH="38088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4182" y="4010841"/>
                        <a:ext cx="2441632" cy="734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210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458865"/>
              </p:ext>
            </p:extLst>
          </p:nvPr>
        </p:nvGraphicFramePr>
        <p:xfrm>
          <a:off x="5154613" y="4800601"/>
          <a:ext cx="1624106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931" name="Equation" r:id="rId13" imgW="863280" imgH="380880" progId="Equation.DSMT4">
                  <p:embed/>
                </p:oleObj>
              </mc:Choice>
              <mc:Fallback>
                <p:oleObj name="Equation" r:id="rId13" imgW="863280" imgH="38088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613" y="4800601"/>
                        <a:ext cx="1624106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211" name="Text Box 75"/>
          <p:cNvSpPr txBox="1">
            <a:spLocks noChangeArrowheads="1"/>
          </p:cNvSpPr>
          <p:nvPr/>
        </p:nvSpPr>
        <p:spPr bwMode="auto">
          <a:xfrm>
            <a:off x="958850" y="6082588"/>
            <a:ext cx="66367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6600FF"/>
                </a:solidFill>
              </a:rPr>
              <a:t>相量模型：</a:t>
            </a:r>
            <a:r>
              <a:rPr lang="zh-CN" altLang="en-US" sz="2000" dirty="0">
                <a:solidFill>
                  <a:srgbClr val="FF0000"/>
                </a:solidFill>
              </a:rPr>
              <a:t>电压、电流用相量；元件用复数阻抗或导纳。</a:t>
            </a:r>
            <a:endParaRPr lang="zh-CN" altLang="en-US" sz="2000" dirty="0"/>
          </a:p>
        </p:txBody>
      </p:sp>
      <p:grpSp>
        <p:nvGrpSpPr>
          <p:cNvPr id="4" name="组合 3"/>
          <p:cNvGrpSpPr/>
          <p:nvPr/>
        </p:nvGrpSpPr>
        <p:grpSpPr>
          <a:xfrm>
            <a:off x="462640" y="862748"/>
            <a:ext cx="3354729" cy="2575837"/>
            <a:chOff x="462640" y="862748"/>
            <a:chExt cx="3354729" cy="2575837"/>
          </a:xfrm>
        </p:grpSpPr>
        <p:sp>
          <p:nvSpPr>
            <p:cNvPr id="475142" name="Line 6"/>
            <p:cNvSpPr>
              <a:spLocks noChangeShapeType="1"/>
            </p:cNvSpPr>
            <p:nvPr/>
          </p:nvSpPr>
          <p:spPr bwMode="auto">
            <a:xfrm>
              <a:off x="2022475" y="2047876"/>
              <a:ext cx="350838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143" name="Line 7"/>
            <p:cNvSpPr>
              <a:spLocks noChangeShapeType="1"/>
            </p:cNvSpPr>
            <p:nvPr/>
          </p:nvSpPr>
          <p:spPr bwMode="auto">
            <a:xfrm flipV="1">
              <a:off x="2022475" y="2195513"/>
              <a:ext cx="350838" cy="47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144" name="Line 8"/>
            <p:cNvSpPr>
              <a:spLocks noChangeShapeType="1"/>
            </p:cNvSpPr>
            <p:nvPr/>
          </p:nvSpPr>
          <p:spPr bwMode="auto">
            <a:xfrm>
              <a:off x="2192338" y="1362076"/>
              <a:ext cx="0" cy="685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145" name="Line 9"/>
            <p:cNvSpPr>
              <a:spLocks noChangeShapeType="1"/>
            </p:cNvSpPr>
            <p:nvPr/>
          </p:nvSpPr>
          <p:spPr bwMode="auto">
            <a:xfrm>
              <a:off x="2192338" y="2193926"/>
              <a:ext cx="0" cy="615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146" name="Line 10"/>
            <p:cNvSpPr>
              <a:spLocks noChangeShapeType="1"/>
            </p:cNvSpPr>
            <p:nvPr/>
          </p:nvSpPr>
          <p:spPr bwMode="auto">
            <a:xfrm>
              <a:off x="1916113" y="1362076"/>
              <a:ext cx="152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47" name="Line 11"/>
            <p:cNvSpPr>
              <a:spLocks noChangeShapeType="1"/>
            </p:cNvSpPr>
            <p:nvPr/>
          </p:nvSpPr>
          <p:spPr bwMode="auto">
            <a:xfrm>
              <a:off x="3440113" y="1362076"/>
              <a:ext cx="0" cy="1447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48" name="Rectangle 12"/>
            <p:cNvSpPr>
              <a:spLocks noChangeArrowheads="1"/>
            </p:cNvSpPr>
            <p:nvPr/>
          </p:nvSpPr>
          <p:spPr bwMode="auto">
            <a:xfrm>
              <a:off x="3354388" y="1895476"/>
              <a:ext cx="161925" cy="431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5149" name="Line 13"/>
            <p:cNvSpPr>
              <a:spLocks noChangeShapeType="1"/>
            </p:cNvSpPr>
            <p:nvPr/>
          </p:nvSpPr>
          <p:spPr bwMode="auto">
            <a:xfrm flipH="1">
              <a:off x="1077913" y="2809876"/>
              <a:ext cx="2362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50" name="Line 14"/>
            <p:cNvSpPr>
              <a:spLocks noChangeShapeType="1"/>
            </p:cNvSpPr>
            <p:nvPr/>
          </p:nvSpPr>
          <p:spPr bwMode="auto">
            <a:xfrm>
              <a:off x="1077913" y="1362076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51" name="Text Box 15"/>
            <p:cNvSpPr txBox="1">
              <a:spLocks noChangeArrowheads="1"/>
            </p:cNvSpPr>
            <p:nvPr/>
          </p:nvSpPr>
          <p:spPr bwMode="auto">
            <a:xfrm>
              <a:off x="1458758" y="900817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i="1" dirty="0"/>
                <a:t>L</a:t>
              </a:r>
            </a:p>
          </p:txBody>
        </p:sp>
        <p:sp>
          <p:nvSpPr>
            <p:cNvPr id="475152" name="Text Box 16"/>
            <p:cNvSpPr txBox="1">
              <a:spLocks noChangeArrowheads="1"/>
            </p:cNvSpPr>
            <p:nvPr/>
          </p:nvSpPr>
          <p:spPr bwMode="auto">
            <a:xfrm>
              <a:off x="2366963" y="1895476"/>
              <a:ext cx="3561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i="1" dirty="0"/>
                <a:t>C</a:t>
              </a:r>
            </a:p>
          </p:txBody>
        </p:sp>
        <p:sp>
          <p:nvSpPr>
            <p:cNvPr id="475153" name="Text Box 17"/>
            <p:cNvSpPr txBox="1">
              <a:spLocks noChangeArrowheads="1"/>
            </p:cNvSpPr>
            <p:nvPr/>
          </p:nvSpPr>
          <p:spPr bwMode="auto">
            <a:xfrm>
              <a:off x="3475609" y="1901825"/>
              <a:ext cx="3417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i="1" dirty="0"/>
                <a:t>R</a:t>
              </a:r>
            </a:p>
          </p:txBody>
        </p:sp>
        <p:sp>
          <p:nvSpPr>
            <p:cNvPr id="475154" name="Text Box 18"/>
            <p:cNvSpPr txBox="1">
              <a:spLocks noChangeArrowheads="1"/>
            </p:cNvSpPr>
            <p:nvPr/>
          </p:nvSpPr>
          <p:spPr bwMode="auto">
            <a:xfrm>
              <a:off x="462640" y="1819276"/>
              <a:ext cx="5365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i="1" dirty="0" err="1"/>
                <a:t>v</a:t>
              </a:r>
              <a:r>
                <a:rPr lang="en-US" altLang="zh-CN" sz="2000" b="0" i="1" baseline="-25000" dirty="0" err="1"/>
                <a:t>S</a:t>
              </a:r>
              <a:endParaRPr lang="en-US" altLang="zh-CN" sz="2000" b="0" i="1" dirty="0"/>
            </a:p>
          </p:txBody>
        </p:sp>
        <p:sp>
          <p:nvSpPr>
            <p:cNvPr id="475155" name="Line 19"/>
            <p:cNvSpPr>
              <a:spLocks noChangeShapeType="1"/>
            </p:cNvSpPr>
            <p:nvPr/>
          </p:nvSpPr>
          <p:spPr bwMode="auto">
            <a:xfrm>
              <a:off x="1393825" y="1474788"/>
              <a:ext cx="4572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56" name="Text Box 20"/>
            <p:cNvSpPr txBox="1">
              <a:spLocks noChangeArrowheads="1"/>
            </p:cNvSpPr>
            <p:nvPr/>
          </p:nvSpPr>
          <p:spPr bwMode="auto">
            <a:xfrm>
              <a:off x="1443038" y="1403351"/>
              <a:ext cx="34977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i="1" dirty="0" err="1"/>
                <a:t>i</a:t>
              </a:r>
              <a:r>
                <a:rPr lang="en-US" altLang="zh-CN" sz="2000" b="0" i="1" baseline="-25000" dirty="0" err="1"/>
                <a:t>L</a:t>
              </a:r>
              <a:endParaRPr lang="en-US" altLang="zh-CN" sz="2000" b="0" i="1" dirty="0"/>
            </a:p>
          </p:txBody>
        </p:sp>
        <p:sp>
          <p:nvSpPr>
            <p:cNvPr id="475157" name="Line 21"/>
            <p:cNvSpPr>
              <a:spLocks noChangeShapeType="1"/>
            </p:cNvSpPr>
            <p:nvPr/>
          </p:nvSpPr>
          <p:spPr bwMode="auto">
            <a:xfrm>
              <a:off x="2297113" y="1514476"/>
              <a:ext cx="0" cy="3810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58" name="Text Box 22"/>
            <p:cNvSpPr txBox="1">
              <a:spLocks noChangeArrowheads="1"/>
            </p:cNvSpPr>
            <p:nvPr/>
          </p:nvSpPr>
          <p:spPr bwMode="auto">
            <a:xfrm>
              <a:off x="2297113" y="1443038"/>
              <a:ext cx="5984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i="1" dirty="0" err="1"/>
                <a:t>i</a:t>
              </a:r>
              <a:r>
                <a:rPr lang="en-US" altLang="zh-CN" sz="2000" b="0" i="1" baseline="-25000" dirty="0" err="1"/>
                <a:t>C</a:t>
              </a:r>
              <a:endParaRPr lang="en-US" altLang="zh-CN" sz="2000" b="0" i="1" dirty="0"/>
            </a:p>
          </p:txBody>
        </p:sp>
        <p:sp>
          <p:nvSpPr>
            <p:cNvPr id="475159" name="Line 23"/>
            <p:cNvSpPr>
              <a:spLocks noChangeShapeType="1"/>
            </p:cNvSpPr>
            <p:nvPr/>
          </p:nvSpPr>
          <p:spPr bwMode="auto">
            <a:xfrm>
              <a:off x="2982913" y="1273176"/>
              <a:ext cx="4572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60" name="Text Box 24"/>
            <p:cNvSpPr txBox="1">
              <a:spLocks noChangeArrowheads="1"/>
            </p:cNvSpPr>
            <p:nvPr/>
          </p:nvSpPr>
          <p:spPr bwMode="auto">
            <a:xfrm>
              <a:off x="3000781" y="862748"/>
              <a:ext cx="35939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i="1" dirty="0" err="1"/>
                <a:t>i</a:t>
              </a:r>
              <a:r>
                <a:rPr lang="en-US" altLang="zh-CN" sz="2000" b="0" i="1" baseline="-25000" dirty="0" err="1"/>
                <a:t>R</a:t>
              </a:r>
              <a:endParaRPr lang="en-US" altLang="zh-CN" sz="2000" b="0" i="1" dirty="0"/>
            </a:p>
          </p:txBody>
        </p:sp>
        <p:grpSp>
          <p:nvGrpSpPr>
            <p:cNvPr id="475161" name="Group 25"/>
            <p:cNvGrpSpPr>
              <a:grpSpLocks/>
            </p:cNvGrpSpPr>
            <p:nvPr/>
          </p:nvGrpSpPr>
          <p:grpSpPr bwMode="auto">
            <a:xfrm>
              <a:off x="1306513" y="1271588"/>
              <a:ext cx="609600" cy="90488"/>
              <a:chOff x="576" y="711"/>
              <a:chExt cx="384" cy="57"/>
            </a:xfrm>
          </p:grpSpPr>
          <p:sp>
            <p:nvSpPr>
              <p:cNvPr id="475162" name="Freeform 26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75163" name="Freeform 27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75164" name="Freeform 28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75165" name="Freeform 29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75166" name="Oval 30"/>
            <p:cNvSpPr>
              <a:spLocks noChangeArrowheads="1"/>
            </p:cNvSpPr>
            <p:nvPr/>
          </p:nvSpPr>
          <p:spPr bwMode="auto">
            <a:xfrm>
              <a:off x="849313" y="1895476"/>
              <a:ext cx="431800" cy="4318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67" name="Line 31"/>
            <p:cNvSpPr>
              <a:spLocks noChangeShapeType="1"/>
            </p:cNvSpPr>
            <p:nvPr/>
          </p:nvSpPr>
          <p:spPr bwMode="auto">
            <a:xfrm>
              <a:off x="1077913" y="1362076"/>
              <a:ext cx="0" cy="1447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68" name="Text Box 32"/>
            <p:cNvSpPr txBox="1">
              <a:spLocks noChangeArrowheads="1"/>
            </p:cNvSpPr>
            <p:nvPr/>
          </p:nvSpPr>
          <p:spPr bwMode="auto">
            <a:xfrm>
              <a:off x="773113" y="1514476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/>
                <a:t>+</a:t>
              </a:r>
            </a:p>
          </p:txBody>
        </p:sp>
        <p:sp>
          <p:nvSpPr>
            <p:cNvPr id="475169" name="Text Box 33"/>
            <p:cNvSpPr txBox="1">
              <a:spLocks noChangeArrowheads="1"/>
            </p:cNvSpPr>
            <p:nvPr/>
          </p:nvSpPr>
          <p:spPr bwMode="auto">
            <a:xfrm>
              <a:off x="773113" y="2276476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charset="-122"/>
                </a:rPr>
                <a:t>-</a:t>
              </a:r>
              <a:endParaRPr lang="en-US" altLang="zh-CN"/>
            </a:p>
          </p:txBody>
        </p:sp>
        <p:sp>
          <p:nvSpPr>
            <p:cNvPr id="475199" name="Text Box 63"/>
            <p:cNvSpPr txBox="1">
              <a:spLocks noChangeArrowheads="1"/>
            </p:cNvSpPr>
            <p:nvPr/>
          </p:nvSpPr>
          <p:spPr bwMode="auto">
            <a:xfrm>
              <a:off x="1416050" y="3038475"/>
              <a:ext cx="121700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/>
                <a:t>时域电路</a:t>
              </a:r>
            </a:p>
          </p:txBody>
        </p:sp>
        <p:sp>
          <p:nvSpPr>
            <p:cNvPr id="2" name="椭圆 1"/>
            <p:cNvSpPr/>
            <p:nvPr/>
          </p:nvSpPr>
          <p:spPr bwMode="auto">
            <a:xfrm>
              <a:off x="2146301" y="1319707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8" name="椭圆 77"/>
            <p:cNvSpPr/>
            <p:nvPr/>
          </p:nvSpPr>
          <p:spPr bwMode="auto">
            <a:xfrm>
              <a:off x="2147889" y="2776538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419600" y="866975"/>
            <a:ext cx="3292924" cy="1987350"/>
            <a:chOff x="4419600" y="866975"/>
            <a:chExt cx="3292924" cy="1987350"/>
          </a:xfrm>
        </p:grpSpPr>
        <p:sp>
          <p:nvSpPr>
            <p:cNvPr id="475171" name="Text Box 35"/>
            <p:cNvSpPr txBox="1">
              <a:spLocks noChangeArrowheads="1"/>
            </p:cNvSpPr>
            <p:nvPr/>
          </p:nvSpPr>
          <p:spPr bwMode="auto">
            <a:xfrm>
              <a:off x="5194230" y="866975"/>
              <a:ext cx="63831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i="1" dirty="0" err="1"/>
                <a:t>j</a:t>
              </a:r>
              <a:r>
                <a:rPr lang="en-US" altLang="zh-CN" sz="2000" b="0" i="1" dirty="0" err="1">
                  <a:latin typeface="Symbol" pitchFamily="18" charset="2"/>
                </a:rPr>
                <a:t>w</a:t>
              </a:r>
              <a:r>
                <a:rPr lang="en-US" altLang="zh-CN" sz="2000" b="0" i="1" dirty="0">
                  <a:latin typeface="Symbol" pitchFamily="18" charset="2"/>
                </a:rPr>
                <a:t> </a:t>
              </a:r>
              <a:r>
                <a:rPr lang="en-US" altLang="zh-CN" sz="2000" b="0" i="1" dirty="0"/>
                <a:t>L</a:t>
              </a:r>
            </a:p>
          </p:txBody>
        </p:sp>
        <p:sp>
          <p:nvSpPr>
            <p:cNvPr id="475172" name="Text Box 36"/>
            <p:cNvSpPr txBox="1">
              <a:spLocks noChangeArrowheads="1"/>
            </p:cNvSpPr>
            <p:nvPr/>
          </p:nvSpPr>
          <p:spPr bwMode="auto">
            <a:xfrm>
              <a:off x="6172200" y="1895475"/>
              <a:ext cx="801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dirty="0" smtClean="0"/>
                <a:t>1/</a:t>
              </a:r>
              <a:r>
                <a:rPr lang="en-US" altLang="zh-CN" sz="2000" b="0" i="1" dirty="0" err="1" smtClean="0"/>
                <a:t>j</a:t>
              </a:r>
              <a:r>
                <a:rPr lang="en-US" altLang="zh-CN" sz="2000" b="0" i="1" dirty="0" err="1" smtClean="0">
                  <a:latin typeface="Symbol" pitchFamily="18" charset="2"/>
                </a:rPr>
                <a:t>w</a:t>
              </a:r>
              <a:r>
                <a:rPr lang="en-US" altLang="zh-CN" sz="2000" b="0" i="1" dirty="0" err="1" smtClean="0"/>
                <a:t>C</a:t>
              </a:r>
              <a:endParaRPr lang="en-US" altLang="zh-CN" sz="2000" b="0" i="1" dirty="0"/>
            </a:p>
          </p:txBody>
        </p:sp>
        <p:graphicFrame>
          <p:nvGraphicFramePr>
            <p:cNvPr id="475173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1559228"/>
                </p:ext>
              </p:extLst>
            </p:nvPr>
          </p:nvGraphicFramePr>
          <p:xfrm>
            <a:off x="4419600" y="1917700"/>
            <a:ext cx="257175" cy="379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932" name="Equation" r:id="rId15" imgW="164880" imgH="215640" progId="Equation.DSMT4">
                    <p:embed/>
                  </p:oleObj>
                </mc:Choice>
                <mc:Fallback>
                  <p:oleObj name="Equation" r:id="rId15" imgW="164880" imgH="21564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600" y="1917700"/>
                          <a:ext cx="257175" cy="379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5174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6538906"/>
                </p:ext>
              </p:extLst>
            </p:nvPr>
          </p:nvGraphicFramePr>
          <p:xfrm>
            <a:off x="5357813" y="1431925"/>
            <a:ext cx="32226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933" name="Equation" r:id="rId17" imgW="164880" imgH="241200" progId="Equation.DSMT4">
                    <p:embed/>
                  </p:oleObj>
                </mc:Choice>
                <mc:Fallback>
                  <p:oleObj name="Equation" r:id="rId17" imgW="164880" imgH="2412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7813" y="1431925"/>
                          <a:ext cx="32226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5175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3627588"/>
                </p:ext>
              </p:extLst>
            </p:nvPr>
          </p:nvGraphicFramePr>
          <p:xfrm>
            <a:off x="6200775" y="1495425"/>
            <a:ext cx="3206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934" name="公式" r:id="rId19" imgW="203040" imgH="241200" progId="Equation.3">
                    <p:embed/>
                  </p:oleObj>
                </mc:Choice>
                <mc:Fallback>
                  <p:oleObj name="公式" r:id="rId19" imgW="203040" imgH="2412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0775" y="1495425"/>
                          <a:ext cx="3206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5176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7026319"/>
                </p:ext>
              </p:extLst>
            </p:nvPr>
          </p:nvGraphicFramePr>
          <p:xfrm>
            <a:off x="6886575" y="879475"/>
            <a:ext cx="344663" cy="390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935" name="公式" r:id="rId21" imgW="203040" imgH="228600" progId="Equation.3">
                    <p:embed/>
                  </p:oleObj>
                </mc:Choice>
                <mc:Fallback>
                  <p:oleObj name="公式" r:id="rId21" imgW="203040" imgH="2286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6575" y="879475"/>
                          <a:ext cx="344663" cy="390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5177" name="Line 41"/>
            <p:cNvSpPr>
              <a:spLocks noChangeShapeType="1"/>
            </p:cNvSpPr>
            <p:nvPr/>
          </p:nvSpPr>
          <p:spPr bwMode="auto">
            <a:xfrm>
              <a:off x="5897563" y="2047875"/>
              <a:ext cx="350838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178" name="Line 42"/>
            <p:cNvSpPr>
              <a:spLocks noChangeShapeType="1"/>
            </p:cNvSpPr>
            <p:nvPr/>
          </p:nvSpPr>
          <p:spPr bwMode="auto">
            <a:xfrm flipV="1">
              <a:off x="5897563" y="2195513"/>
              <a:ext cx="350838" cy="47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179" name="Line 43"/>
            <p:cNvSpPr>
              <a:spLocks noChangeShapeType="1"/>
            </p:cNvSpPr>
            <p:nvPr/>
          </p:nvSpPr>
          <p:spPr bwMode="auto">
            <a:xfrm>
              <a:off x="6067425" y="1362075"/>
              <a:ext cx="0" cy="685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180" name="Line 44"/>
            <p:cNvSpPr>
              <a:spLocks noChangeShapeType="1"/>
            </p:cNvSpPr>
            <p:nvPr/>
          </p:nvSpPr>
          <p:spPr bwMode="auto">
            <a:xfrm>
              <a:off x="6067425" y="2193925"/>
              <a:ext cx="0" cy="615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181" name="Line 45"/>
            <p:cNvSpPr>
              <a:spLocks noChangeShapeType="1"/>
            </p:cNvSpPr>
            <p:nvPr/>
          </p:nvSpPr>
          <p:spPr bwMode="auto">
            <a:xfrm>
              <a:off x="5791200" y="1362075"/>
              <a:ext cx="152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82" name="Line 46"/>
            <p:cNvSpPr>
              <a:spLocks noChangeShapeType="1"/>
            </p:cNvSpPr>
            <p:nvPr/>
          </p:nvSpPr>
          <p:spPr bwMode="auto">
            <a:xfrm>
              <a:off x="7315200" y="1362075"/>
              <a:ext cx="0" cy="1447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83" name="Rectangle 47"/>
            <p:cNvSpPr>
              <a:spLocks noChangeArrowheads="1"/>
            </p:cNvSpPr>
            <p:nvPr/>
          </p:nvSpPr>
          <p:spPr bwMode="auto">
            <a:xfrm>
              <a:off x="7229475" y="1895475"/>
              <a:ext cx="161925" cy="431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5184" name="Line 48"/>
            <p:cNvSpPr>
              <a:spLocks noChangeShapeType="1"/>
            </p:cNvSpPr>
            <p:nvPr/>
          </p:nvSpPr>
          <p:spPr bwMode="auto">
            <a:xfrm flipH="1">
              <a:off x="4953000" y="2809875"/>
              <a:ext cx="2362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85" name="Line 49"/>
            <p:cNvSpPr>
              <a:spLocks noChangeShapeType="1"/>
            </p:cNvSpPr>
            <p:nvPr/>
          </p:nvSpPr>
          <p:spPr bwMode="auto">
            <a:xfrm>
              <a:off x="4953000" y="1362075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86" name="Text Box 50"/>
            <p:cNvSpPr txBox="1">
              <a:spLocks noChangeArrowheads="1"/>
            </p:cNvSpPr>
            <p:nvPr/>
          </p:nvSpPr>
          <p:spPr bwMode="auto">
            <a:xfrm>
              <a:off x="7370764" y="1860106"/>
              <a:ext cx="3417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b="0" i="1" dirty="0"/>
                <a:t>R</a:t>
              </a:r>
            </a:p>
          </p:txBody>
        </p:sp>
        <p:sp>
          <p:nvSpPr>
            <p:cNvPr id="475187" name="Line 51"/>
            <p:cNvSpPr>
              <a:spLocks noChangeShapeType="1"/>
            </p:cNvSpPr>
            <p:nvPr/>
          </p:nvSpPr>
          <p:spPr bwMode="auto">
            <a:xfrm>
              <a:off x="5284788" y="1450975"/>
              <a:ext cx="4572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88" name="Line 52"/>
            <p:cNvSpPr>
              <a:spLocks noChangeShapeType="1"/>
            </p:cNvSpPr>
            <p:nvPr/>
          </p:nvSpPr>
          <p:spPr bwMode="auto">
            <a:xfrm>
              <a:off x="6172200" y="1514475"/>
              <a:ext cx="0" cy="3810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89" name="Line 53"/>
            <p:cNvSpPr>
              <a:spLocks noChangeShapeType="1"/>
            </p:cNvSpPr>
            <p:nvPr/>
          </p:nvSpPr>
          <p:spPr bwMode="auto">
            <a:xfrm>
              <a:off x="6858000" y="1281113"/>
              <a:ext cx="4572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75190" name="Group 54"/>
            <p:cNvGrpSpPr>
              <a:grpSpLocks/>
            </p:cNvGrpSpPr>
            <p:nvPr/>
          </p:nvGrpSpPr>
          <p:grpSpPr bwMode="auto">
            <a:xfrm>
              <a:off x="5181600" y="1271588"/>
              <a:ext cx="609600" cy="90488"/>
              <a:chOff x="576" y="711"/>
              <a:chExt cx="384" cy="57"/>
            </a:xfrm>
          </p:grpSpPr>
          <p:sp>
            <p:nvSpPr>
              <p:cNvPr id="475191" name="Freeform 55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75192" name="Freeform 56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75193" name="Freeform 57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75194" name="Freeform 58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75195" name="Oval 59"/>
            <p:cNvSpPr>
              <a:spLocks noChangeArrowheads="1"/>
            </p:cNvSpPr>
            <p:nvPr/>
          </p:nvSpPr>
          <p:spPr bwMode="auto">
            <a:xfrm>
              <a:off x="4724400" y="1895475"/>
              <a:ext cx="431800" cy="4318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96" name="Line 60"/>
            <p:cNvSpPr>
              <a:spLocks noChangeShapeType="1"/>
            </p:cNvSpPr>
            <p:nvPr/>
          </p:nvSpPr>
          <p:spPr bwMode="auto">
            <a:xfrm>
              <a:off x="4953000" y="1362075"/>
              <a:ext cx="0" cy="1447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197" name="Text Box 61"/>
            <p:cNvSpPr txBox="1">
              <a:spLocks noChangeArrowheads="1"/>
            </p:cNvSpPr>
            <p:nvPr/>
          </p:nvSpPr>
          <p:spPr bwMode="auto">
            <a:xfrm>
              <a:off x="4648200" y="1514475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/>
                <a:t>+</a:t>
              </a:r>
            </a:p>
          </p:txBody>
        </p:sp>
        <p:sp>
          <p:nvSpPr>
            <p:cNvPr id="475198" name="Text Box 62"/>
            <p:cNvSpPr txBox="1">
              <a:spLocks noChangeArrowheads="1"/>
            </p:cNvSpPr>
            <p:nvPr/>
          </p:nvSpPr>
          <p:spPr bwMode="auto">
            <a:xfrm>
              <a:off x="4648200" y="2276475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charset="-122"/>
                </a:rPr>
                <a:t>-</a:t>
              </a:r>
              <a:endParaRPr lang="en-US" altLang="zh-CN"/>
            </a:p>
          </p:txBody>
        </p:sp>
        <p:sp>
          <p:nvSpPr>
            <p:cNvPr id="79" name="椭圆 78"/>
            <p:cNvSpPr/>
            <p:nvPr/>
          </p:nvSpPr>
          <p:spPr bwMode="auto">
            <a:xfrm>
              <a:off x="6030912" y="1325563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0" name="椭圆 79"/>
            <p:cNvSpPr/>
            <p:nvPr/>
          </p:nvSpPr>
          <p:spPr bwMode="auto">
            <a:xfrm>
              <a:off x="6030912" y="2768600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5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5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5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5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5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5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5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5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5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5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47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5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5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5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5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75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75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5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75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7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75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75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39" grpId="0" autoUpdateAnimBg="0"/>
      <p:bldP spid="475140" grpId="0" autoUpdateAnimBg="0"/>
      <p:bldP spid="475200" grpId="0" autoUpdateAnimBg="0"/>
      <p:bldP spid="475202" grpId="0" animBg="1"/>
      <p:bldP spid="475204" grpId="0" animBg="1"/>
      <p:bldP spid="475205" grpId="0" animBg="1"/>
      <p:bldP spid="475206" grpId="0" animBg="1"/>
      <p:bldP spid="47521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Text Box 2"/>
          <p:cNvSpPr txBox="1">
            <a:spLocks noChangeArrowheads="1"/>
          </p:cNvSpPr>
          <p:nvPr/>
        </p:nvSpPr>
        <p:spPr bwMode="auto">
          <a:xfrm>
            <a:off x="381000" y="374650"/>
            <a:ext cx="17315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>
                <a:solidFill>
                  <a:srgbClr val="990033"/>
                </a:solidFill>
              </a:rPr>
              <a:t>二、相量</a:t>
            </a:r>
            <a:r>
              <a:rPr lang="zh-CN" altLang="en-US" dirty="0">
                <a:solidFill>
                  <a:srgbClr val="990033"/>
                </a:solidFill>
              </a:rPr>
              <a:t>图</a:t>
            </a:r>
          </a:p>
        </p:txBody>
      </p:sp>
      <p:sp>
        <p:nvSpPr>
          <p:cNvPr id="476163" name="Text Box 3"/>
          <p:cNvSpPr txBox="1">
            <a:spLocks noChangeArrowheads="1"/>
          </p:cNvSpPr>
          <p:nvPr/>
        </p:nvSpPr>
        <p:spPr bwMode="auto">
          <a:xfrm>
            <a:off x="1371600" y="942975"/>
            <a:ext cx="54088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/>
              <a:t>1.  </a:t>
            </a:r>
            <a:r>
              <a:rPr lang="zh-CN" altLang="en-US" sz="2000" dirty="0"/>
              <a:t>同频率的正弦量才能表示在同一</a:t>
            </a:r>
            <a:r>
              <a:rPr lang="zh-CN" altLang="en-US" sz="2000" dirty="0" smtClean="0"/>
              <a:t>个相量图</a:t>
            </a:r>
            <a:r>
              <a:rPr lang="zh-CN" altLang="en-US" sz="2000" dirty="0"/>
              <a:t>中</a:t>
            </a:r>
          </a:p>
        </p:txBody>
      </p:sp>
      <p:sp>
        <p:nvSpPr>
          <p:cNvPr id="476164" name="Text Box 4"/>
          <p:cNvSpPr txBox="1">
            <a:spLocks noChangeArrowheads="1"/>
          </p:cNvSpPr>
          <p:nvPr/>
        </p:nvSpPr>
        <p:spPr bwMode="auto">
          <a:xfrm>
            <a:off x="1371600" y="1476375"/>
            <a:ext cx="30861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/>
              <a:t>2.  </a:t>
            </a:r>
            <a:r>
              <a:rPr lang="zh-CN" altLang="en-US" sz="2000" dirty="0"/>
              <a:t>反时针</a:t>
            </a:r>
            <a:r>
              <a:rPr lang="zh-CN" altLang="en-US" sz="2000" dirty="0" smtClean="0"/>
              <a:t>旋转初始相位角</a:t>
            </a:r>
            <a:endParaRPr lang="zh-CN" altLang="en-US" sz="2000" dirty="0"/>
          </a:p>
        </p:txBody>
      </p:sp>
      <p:sp>
        <p:nvSpPr>
          <p:cNvPr id="476165" name="Text Box 5"/>
          <p:cNvSpPr txBox="1">
            <a:spLocks noChangeArrowheads="1"/>
          </p:cNvSpPr>
          <p:nvPr/>
        </p:nvSpPr>
        <p:spPr bwMode="auto">
          <a:xfrm>
            <a:off x="1371600" y="2009775"/>
            <a:ext cx="46346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 dirty="0"/>
              <a:t>3.  </a:t>
            </a:r>
            <a:r>
              <a:rPr lang="zh-CN" altLang="en-US" sz="2000" dirty="0"/>
              <a:t>选定一个参考</a:t>
            </a:r>
            <a:r>
              <a:rPr lang="zh-CN" altLang="en-US" sz="2000" dirty="0" smtClean="0"/>
              <a:t>相量（设</a:t>
            </a:r>
            <a:r>
              <a:rPr lang="zh-CN" altLang="en-US" sz="2000" dirty="0"/>
              <a:t>初相位为</a:t>
            </a:r>
            <a:r>
              <a:rPr lang="zh-CN" altLang="en-US" sz="2000" dirty="0" smtClean="0"/>
              <a:t>零）</a:t>
            </a:r>
            <a:endParaRPr lang="en-US" altLang="zh-CN" sz="2000" dirty="0"/>
          </a:p>
        </p:txBody>
      </p:sp>
      <p:sp>
        <p:nvSpPr>
          <p:cNvPr id="476166" name="Text Box 6"/>
          <p:cNvSpPr txBox="1">
            <a:spLocks noChangeArrowheads="1"/>
          </p:cNvSpPr>
          <p:nvPr/>
        </p:nvSpPr>
        <p:spPr bwMode="auto">
          <a:xfrm>
            <a:off x="609600" y="2563813"/>
            <a:ext cx="34724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例：上例中选 </a:t>
            </a:r>
            <a:r>
              <a:rPr lang="en-US" altLang="zh-CN" sz="2000" i="1" dirty="0" smtClean="0"/>
              <a:t>      </a:t>
            </a:r>
            <a:r>
              <a:rPr lang="zh-CN" altLang="en-US" sz="2000" dirty="0" smtClean="0"/>
              <a:t>为</a:t>
            </a:r>
            <a:r>
              <a:rPr lang="zh-CN" altLang="en-US" sz="2000" dirty="0"/>
              <a:t>参考相量</a:t>
            </a:r>
          </a:p>
        </p:txBody>
      </p:sp>
      <p:grpSp>
        <p:nvGrpSpPr>
          <p:cNvPr id="476190" name="Group 30"/>
          <p:cNvGrpSpPr>
            <a:grpSpLocks/>
          </p:cNvGrpSpPr>
          <p:nvPr/>
        </p:nvGrpSpPr>
        <p:grpSpPr bwMode="auto">
          <a:xfrm>
            <a:off x="1246187" y="3228978"/>
            <a:ext cx="5087936" cy="1949452"/>
            <a:chOff x="785" y="1968"/>
            <a:chExt cx="3205" cy="1228"/>
          </a:xfrm>
        </p:grpSpPr>
        <p:sp>
          <p:nvSpPr>
            <p:cNvPr id="476168" name="Line 8"/>
            <p:cNvSpPr>
              <a:spLocks noChangeShapeType="1"/>
            </p:cNvSpPr>
            <p:nvPr/>
          </p:nvSpPr>
          <p:spPr bwMode="auto">
            <a:xfrm>
              <a:off x="1584" y="2832"/>
              <a:ext cx="17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6169" name="Line 9"/>
            <p:cNvSpPr>
              <a:spLocks noChangeShapeType="1"/>
            </p:cNvSpPr>
            <p:nvPr/>
          </p:nvSpPr>
          <p:spPr bwMode="auto">
            <a:xfrm>
              <a:off x="1584" y="283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6170" name="Line 10"/>
            <p:cNvSpPr>
              <a:spLocks noChangeShapeType="1"/>
            </p:cNvSpPr>
            <p:nvPr/>
          </p:nvSpPr>
          <p:spPr bwMode="auto">
            <a:xfrm flipV="1">
              <a:off x="1584" y="2352"/>
              <a:ext cx="1296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6171" name="Line 11"/>
            <p:cNvSpPr>
              <a:spLocks noChangeShapeType="1"/>
            </p:cNvSpPr>
            <p:nvPr/>
          </p:nvSpPr>
          <p:spPr bwMode="auto">
            <a:xfrm flipV="1">
              <a:off x="1584" y="2064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6172" name="Line 12"/>
            <p:cNvSpPr>
              <a:spLocks noChangeShapeType="1"/>
            </p:cNvSpPr>
            <p:nvPr/>
          </p:nvSpPr>
          <p:spPr bwMode="auto">
            <a:xfrm flipV="1">
              <a:off x="1584" y="2064"/>
              <a:ext cx="72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6173" name="Line 13"/>
            <p:cNvSpPr>
              <a:spLocks noChangeShapeType="1"/>
            </p:cNvSpPr>
            <p:nvPr/>
          </p:nvSpPr>
          <p:spPr bwMode="auto">
            <a:xfrm flipV="1">
              <a:off x="2328" y="2064"/>
              <a:ext cx="0" cy="76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6174" name="Line 14"/>
            <p:cNvSpPr>
              <a:spLocks noChangeShapeType="1"/>
            </p:cNvSpPr>
            <p:nvPr/>
          </p:nvSpPr>
          <p:spPr bwMode="auto">
            <a:xfrm>
              <a:off x="1584" y="2064"/>
              <a:ext cx="720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6175" name="Line 15"/>
            <p:cNvSpPr>
              <a:spLocks noChangeShapeType="1"/>
            </p:cNvSpPr>
            <p:nvPr/>
          </p:nvSpPr>
          <p:spPr bwMode="auto">
            <a:xfrm flipH="1" flipV="1">
              <a:off x="1056" y="2352"/>
              <a:ext cx="528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6176" name="Line 16"/>
            <p:cNvSpPr>
              <a:spLocks noChangeShapeType="1"/>
            </p:cNvSpPr>
            <p:nvPr/>
          </p:nvSpPr>
          <p:spPr bwMode="auto">
            <a:xfrm>
              <a:off x="1056" y="2352"/>
              <a:ext cx="1824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6177" name="Line 17"/>
            <p:cNvSpPr>
              <a:spLocks noChangeShapeType="1"/>
            </p:cNvSpPr>
            <p:nvPr/>
          </p:nvSpPr>
          <p:spPr bwMode="auto">
            <a:xfrm>
              <a:off x="2880" y="2352"/>
              <a:ext cx="432" cy="48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graphicFrame>
          <p:nvGraphicFramePr>
            <p:cNvPr id="47617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2452853"/>
                </p:ext>
              </p:extLst>
            </p:nvPr>
          </p:nvGraphicFramePr>
          <p:xfrm>
            <a:off x="2928" y="2072"/>
            <a:ext cx="26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94" name="Equation" r:id="rId3" imgW="164880" imgH="215640" progId="Equation.DSMT4">
                    <p:embed/>
                  </p:oleObj>
                </mc:Choice>
                <mc:Fallback>
                  <p:oleObj name="Equation" r:id="rId3" imgW="164880" imgH="21564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2072"/>
                          <a:ext cx="26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6179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1136866"/>
                </p:ext>
              </p:extLst>
            </p:nvPr>
          </p:nvGraphicFramePr>
          <p:xfrm>
            <a:off x="785" y="2111"/>
            <a:ext cx="278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95" name="Equation" r:id="rId5" imgW="164880" imgH="215640" progId="Equation.DSMT4">
                    <p:embed/>
                  </p:oleObj>
                </mc:Choice>
                <mc:Fallback>
                  <p:oleObj name="Equation" r:id="rId5" imgW="164880" imgH="21564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" y="2111"/>
                          <a:ext cx="278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6180" name="Object 20"/>
            <p:cNvGraphicFramePr>
              <a:graphicFrameLocks noChangeAspect="1"/>
            </p:cNvGraphicFramePr>
            <p:nvPr/>
          </p:nvGraphicFramePr>
          <p:xfrm>
            <a:off x="2352" y="2016"/>
            <a:ext cx="19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96" name="公式" r:id="rId7" imgW="304560" imgH="406080" progId="Equation.3">
                    <p:embed/>
                  </p:oleObj>
                </mc:Choice>
                <mc:Fallback>
                  <p:oleObj name="公式" r:id="rId7" imgW="304560" imgH="4060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016"/>
                          <a:ext cx="191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6181" name="Object 21"/>
            <p:cNvGraphicFramePr>
              <a:graphicFrameLocks noChangeAspect="1"/>
            </p:cNvGraphicFramePr>
            <p:nvPr/>
          </p:nvGraphicFramePr>
          <p:xfrm>
            <a:off x="1392" y="1968"/>
            <a:ext cx="19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97" name="公式" r:id="rId9" imgW="304560" imgH="406080" progId="Equation.3">
                    <p:embed/>
                  </p:oleObj>
                </mc:Choice>
                <mc:Fallback>
                  <p:oleObj name="公式" r:id="rId9" imgW="304560" imgH="40608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968"/>
                          <a:ext cx="191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6182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4810393"/>
                </p:ext>
              </p:extLst>
            </p:nvPr>
          </p:nvGraphicFramePr>
          <p:xfrm>
            <a:off x="2206" y="2876"/>
            <a:ext cx="23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98" name="Equation" r:id="rId11" imgW="177480" imgH="241200" progId="Equation.DSMT4">
                    <p:embed/>
                  </p:oleObj>
                </mc:Choice>
                <mc:Fallback>
                  <p:oleObj name="Equation" r:id="rId11" imgW="177480" imgH="2412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6" y="2876"/>
                          <a:ext cx="236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6185" name="Object 25"/>
            <p:cNvGraphicFramePr>
              <a:graphicFrameLocks noChangeAspect="1"/>
            </p:cNvGraphicFramePr>
            <p:nvPr/>
          </p:nvGraphicFramePr>
          <p:xfrm>
            <a:off x="3363" y="2656"/>
            <a:ext cx="627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99" name="Equation" r:id="rId13" imgW="431640" imgH="215640" progId="Equation.DSMT4">
                    <p:embed/>
                  </p:oleObj>
                </mc:Choice>
                <mc:Fallback>
                  <p:oleObj name="Equation" r:id="rId13" imgW="431640" imgH="21564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3" y="2656"/>
                          <a:ext cx="627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6187" name="Text Box 27"/>
          <p:cNvSpPr txBox="1">
            <a:spLocks noChangeArrowheads="1"/>
          </p:cNvSpPr>
          <p:nvPr/>
        </p:nvSpPr>
        <p:spPr bwMode="auto">
          <a:xfrm>
            <a:off x="822325" y="5057775"/>
            <a:ext cx="958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/>
              <a:t>用途：</a:t>
            </a:r>
          </a:p>
        </p:txBody>
      </p:sp>
      <p:sp>
        <p:nvSpPr>
          <p:cNvPr id="476188" name="Rectangle 28"/>
          <p:cNvSpPr>
            <a:spLocks noChangeArrowheads="1"/>
          </p:cNvSpPr>
          <p:nvPr/>
        </p:nvSpPr>
        <p:spPr bwMode="auto">
          <a:xfrm>
            <a:off x="2098675" y="5781675"/>
            <a:ext cx="27655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/>
              <a:t>②</a:t>
            </a:r>
            <a:r>
              <a:rPr lang="zh-CN" altLang="en-US" sz="2000"/>
              <a:t>利用比例尺定量计算</a:t>
            </a:r>
          </a:p>
        </p:txBody>
      </p:sp>
      <p:sp>
        <p:nvSpPr>
          <p:cNvPr id="476189" name="Rectangle 29"/>
          <p:cNvSpPr>
            <a:spLocks noChangeArrowheads="1"/>
          </p:cNvSpPr>
          <p:nvPr/>
        </p:nvSpPr>
        <p:spPr bwMode="auto">
          <a:xfrm>
            <a:off x="2114550" y="5265738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2000"/>
              <a:t>①</a:t>
            </a:r>
            <a:r>
              <a:rPr lang="zh-CN" altLang="en-US" sz="2000"/>
              <a:t>定性分析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145479"/>
              </p:ext>
            </p:extLst>
          </p:nvPr>
        </p:nvGraphicFramePr>
        <p:xfrm>
          <a:off x="2302137" y="2523362"/>
          <a:ext cx="35443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900" name="Equation" r:id="rId15" imgW="177480" imgH="241200" progId="Equation.DSMT4">
                  <p:embed/>
                </p:oleObj>
              </mc:Choice>
              <mc:Fallback>
                <p:oleObj name="Equation" r:id="rId15" imgW="177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02137" y="2523362"/>
                        <a:ext cx="354430" cy="48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618164" y="1958975"/>
            <a:ext cx="3343275" cy="2124403"/>
            <a:chOff x="5618164" y="1958975"/>
            <a:chExt cx="3343275" cy="2124403"/>
          </a:xfrm>
        </p:grpSpPr>
        <p:sp>
          <p:nvSpPr>
            <p:cNvPr id="58" name="Text Box 35"/>
            <p:cNvSpPr txBox="1">
              <a:spLocks noChangeArrowheads="1"/>
            </p:cNvSpPr>
            <p:nvPr/>
          </p:nvSpPr>
          <p:spPr bwMode="auto">
            <a:xfrm>
              <a:off x="6380164" y="1971675"/>
              <a:ext cx="757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b="0" i="1" dirty="0" err="1"/>
                <a:t>j</a:t>
              </a:r>
              <a:r>
                <a:rPr lang="en-US" altLang="zh-CN" b="0" i="1" dirty="0" err="1">
                  <a:latin typeface="Symbol" pitchFamily="18" charset="2"/>
                </a:rPr>
                <a:t>w</a:t>
              </a:r>
              <a:r>
                <a:rPr lang="en-US" altLang="zh-CN" b="0" i="1" dirty="0">
                  <a:latin typeface="Symbol" pitchFamily="18" charset="2"/>
                </a:rPr>
                <a:t> </a:t>
              </a:r>
              <a:r>
                <a:rPr lang="en-US" altLang="zh-CN" b="0" i="1" dirty="0"/>
                <a:t>L</a:t>
              </a:r>
            </a:p>
          </p:txBody>
        </p:sp>
        <p:sp>
          <p:nvSpPr>
            <p:cNvPr id="59" name="Text Box 36"/>
            <p:cNvSpPr txBox="1">
              <a:spLocks noChangeArrowheads="1"/>
            </p:cNvSpPr>
            <p:nvPr/>
          </p:nvSpPr>
          <p:spPr bwMode="auto">
            <a:xfrm>
              <a:off x="7370764" y="3114675"/>
              <a:ext cx="1011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b="0" dirty="0"/>
                <a:t>1/</a:t>
              </a:r>
              <a:r>
                <a:rPr lang="en-US" altLang="zh-CN" b="0" i="1" dirty="0" err="1"/>
                <a:t>j</a:t>
              </a:r>
              <a:r>
                <a:rPr lang="en-US" altLang="zh-CN" b="0" i="1" dirty="0" err="1">
                  <a:latin typeface="Symbol" pitchFamily="18" charset="2"/>
                </a:rPr>
                <a:t>w</a:t>
              </a:r>
              <a:r>
                <a:rPr lang="en-US" altLang="zh-CN" b="0" i="1" dirty="0">
                  <a:latin typeface="Symbol" pitchFamily="18" charset="2"/>
                </a:rPr>
                <a:t> </a:t>
              </a:r>
              <a:r>
                <a:rPr lang="en-US" altLang="zh-CN" b="0" i="1" dirty="0"/>
                <a:t>C</a:t>
              </a:r>
            </a:p>
          </p:txBody>
        </p:sp>
        <p:graphicFrame>
          <p:nvGraphicFramePr>
            <p:cNvPr id="60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110154"/>
                </p:ext>
              </p:extLst>
            </p:nvPr>
          </p:nvGraphicFramePr>
          <p:xfrm>
            <a:off x="5618164" y="3136900"/>
            <a:ext cx="257175" cy="379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901" name="Equation" r:id="rId17" imgW="164880" imgH="215640" progId="Equation.DSMT4">
                    <p:embed/>
                  </p:oleObj>
                </mc:Choice>
                <mc:Fallback>
                  <p:oleObj name="Equation" r:id="rId17" imgW="164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8164" y="3136900"/>
                          <a:ext cx="257175" cy="379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5401166"/>
                </p:ext>
              </p:extLst>
            </p:nvPr>
          </p:nvGraphicFramePr>
          <p:xfrm>
            <a:off x="6556377" y="2690813"/>
            <a:ext cx="32226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902" name="Equation" r:id="rId19" imgW="164880" imgH="241200" progId="Equation.DSMT4">
                    <p:embed/>
                  </p:oleObj>
                </mc:Choice>
                <mc:Fallback>
                  <p:oleObj name="Equation" r:id="rId19" imgW="164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6377" y="2690813"/>
                          <a:ext cx="32226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0246846"/>
                </p:ext>
              </p:extLst>
            </p:nvPr>
          </p:nvGraphicFramePr>
          <p:xfrm>
            <a:off x="7415214" y="2730500"/>
            <a:ext cx="3206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903" name="公式" r:id="rId21" imgW="203040" imgH="241200" progId="Equation.3">
                    <p:embed/>
                  </p:oleObj>
                </mc:Choice>
                <mc:Fallback>
                  <p:oleObj name="公式" r:id="rId21" imgW="2030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5214" y="2730500"/>
                          <a:ext cx="3206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1404234"/>
                </p:ext>
              </p:extLst>
            </p:nvPr>
          </p:nvGraphicFramePr>
          <p:xfrm>
            <a:off x="8156577" y="1958975"/>
            <a:ext cx="344488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904" name="Equation" r:id="rId23" imgW="177480" imgH="241200" progId="Equation.DSMT4">
                    <p:embed/>
                  </p:oleObj>
                </mc:Choice>
                <mc:Fallback>
                  <p:oleObj name="Equation" r:id="rId23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6577" y="1958975"/>
                          <a:ext cx="344488" cy="471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Line 41"/>
            <p:cNvSpPr>
              <a:spLocks noChangeShapeType="1"/>
            </p:cNvSpPr>
            <p:nvPr/>
          </p:nvSpPr>
          <p:spPr bwMode="auto">
            <a:xfrm>
              <a:off x="7096127" y="3267075"/>
              <a:ext cx="350838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42"/>
            <p:cNvSpPr>
              <a:spLocks noChangeShapeType="1"/>
            </p:cNvSpPr>
            <p:nvPr/>
          </p:nvSpPr>
          <p:spPr bwMode="auto">
            <a:xfrm flipV="1">
              <a:off x="7096127" y="3414713"/>
              <a:ext cx="350838" cy="47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43"/>
            <p:cNvSpPr>
              <a:spLocks noChangeShapeType="1"/>
            </p:cNvSpPr>
            <p:nvPr/>
          </p:nvSpPr>
          <p:spPr bwMode="auto">
            <a:xfrm>
              <a:off x="7265989" y="2581275"/>
              <a:ext cx="0" cy="685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44"/>
            <p:cNvSpPr>
              <a:spLocks noChangeShapeType="1"/>
            </p:cNvSpPr>
            <p:nvPr/>
          </p:nvSpPr>
          <p:spPr bwMode="auto">
            <a:xfrm>
              <a:off x="7265989" y="3413125"/>
              <a:ext cx="0" cy="615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45"/>
            <p:cNvSpPr>
              <a:spLocks noChangeShapeType="1"/>
            </p:cNvSpPr>
            <p:nvPr/>
          </p:nvSpPr>
          <p:spPr bwMode="auto">
            <a:xfrm>
              <a:off x="6989764" y="2581275"/>
              <a:ext cx="152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46"/>
            <p:cNvSpPr>
              <a:spLocks noChangeShapeType="1"/>
            </p:cNvSpPr>
            <p:nvPr/>
          </p:nvSpPr>
          <p:spPr bwMode="auto">
            <a:xfrm>
              <a:off x="8513764" y="2581275"/>
              <a:ext cx="0" cy="1447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Rectangle 47"/>
            <p:cNvSpPr>
              <a:spLocks noChangeArrowheads="1"/>
            </p:cNvSpPr>
            <p:nvPr/>
          </p:nvSpPr>
          <p:spPr bwMode="auto">
            <a:xfrm>
              <a:off x="8428039" y="3114675"/>
              <a:ext cx="161925" cy="431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Line 48"/>
            <p:cNvSpPr>
              <a:spLocks noChangeShapeType="1"/>
            </p:cNvSpPr>
            <p:nvPr/>
          </p:nvSpPr>
          <p:spPr bwMode="auto">
            <a:xfrm flipH="1">
              <a:off x="6151564" y="4029075"/>
              <a:ext cx="2362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49"/>
            <p:cNvSpPr>
              <a:spLocks noChangeShapeType="1"/>
            </p:cNvSpPr>
            <p:nvPr/>
          </p:nvSpPr>
          <p:spPr bwMode="auto">
            <a:xfrm>
              <a:off x="6151564" y="2581275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Text Box 50"/>
            <p:cNvSpPr txBox="1">
              <a:spLocks noChangeArrowheads="1"/>
            </p:cNvSpPr>
            <p:nvPr/>
          </p:nvSpPr>
          <p:spPr bwMode="auto">
            <a:xfrm>
              <a:off x="8589964" y="3038475"/>
              <a:ext cx="3714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b="0" i="1" dirty="0"/>
                <a:t>R</a:t>
              </a:r>
            </a:p>
          </p:txBody>
        </p:sp>
        <p:sp>
          <p:nvSpPr>
            <p:cNvPr id="74" name="Line 51"/>
            <p:cNvSpPr>
              <a:spLocks noChangeShapeType="1"/>
            </p:cNvSpPr>
            <p:nvPr/>
          </p:nvSpPr>
          <p:spPr bwMode="auto">
            <a:xfrm>
              <a:off x="6469064" y="2686050"/>
              <a:ext cx="4572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52"/>
            <p:cNvSpPr>
              <a:spLocks noChangeShapeType="1"/>
            </p:cNvSpPr>
            <p:nvPr/>
          </p:nvSpPr>
          <p:spPr bwMode="auto">
            <a:xfrm>
              <a:off x="7370764" y="2733675"/>
              <a:ext cx="0" cy="3810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53"/>
            <p:cNvSpPr>
              <a:spLocks noChangeShapeType="1"/>
            </p:cNvSpPr>
            <p:nvPr/>
          </p:nvSpPr>
          <p:spPr bwMode="auto">
            <a:xfrm>
              <a:off x="8056564" y="2460625"/>
              <a:ext cx="4572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7" name="Group 54"/>
            <p:cNvGrpSpPr>
              <a:grpSpLocks/>
            </p:cNvGrpSpPr>
            <p:nvPr/>
          </p:nvGrpSpPr>
          <p:grpSpPr bwMode="auto">
            <a:xfrm>
              <a:off x="6380164" y="2490788"/>
              <a:ext cx="609600" cy="90488"/>
              <a:chOff x="576" y="711"/>
              <a:chExt cx="384" cy="57"/>
            </a:xfrm>
          </p:grpSpPr>
          <p:sp>
            <p:nvSpPr>
              <p:cNvPr id="82" name="Freeform 55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56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57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58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8" name="Oval 59"/>
            <p:cNvSpPr>
              <a:spLocks noChangeArrowheads="1"/>
            </p:cNvSpPr>
            <p:nvPr/>
          </p:nvSpPr>
          <p:spPr bwMode="auto">
            <a:xfrm>
              <a:off x="5922964" y="3114675"/>
              <a:ext cx="431800" cy="4318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60"/>
            <p:cNvSpPr>
              <a:spLocks noChangeShapeType="1"/>
            </p:cNvSpPr>
            <p:nvPr/>
          </p:nvSpPr>
          <p:spPr bwMode="auto">
            <a:xfrm>
              <a:off x="6151564" y="2581275"/>
              <a:ext cx="0" cy="1447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Text Box 61"/>
            <p:cNvSpPr txBox="1">
              <a:spLocks noChangeArrowheads="1"/>
            </p:cNvSpPr>
            <p:nvPr/>
          </p:nvSpPr>
          <p:spPr bwMode="auto">
            <a:xfrm>
              <a:off x="5846764" y="2733675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/>
                <a:t>+</a:t>
              </a:r>
            </a:p>
          </p:txBody>
        </p:sp>
        <p:sp>
          <p:nvSpPr>
            <p:cNvPr id="81" name="Text Box 62"/>
            <p:cNvSpPr txBox="1">
              <a:spLocks noChangeArrowheads="1"/>
            </p:cNvSpPr>
            <p:nvPr/>
          </p:nvSpPr>
          <p:spPr bwMode="auto">
            <a:xfrm>
              <a:off x="5846764" y="3495675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charset="-122"/>
                </a:rPr>
                <a:t>-</a:t>
              </a:r>
              <a:endParaRPr lang="en-US" altLang="zh-CN"/>
            </a:p>
          </p:txBody>
        </p:sp>
        <p:sp>
          <p:nvSpPr>
            <p:cNvPr id="4" name="椭圆 3"/>
            <p:cNvSpPr/>
            <p:nvPr/>
          </p:nvSpPr>
          <p:spPr bwMode="auto">
            <a:xfrm>
              <a:off x="7218036" y="2531570"/>
              <a:ext cx="100341" cy="1003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" name="椭圆 85"/>
            <p:cNvSpPr/>
            <p:nvPr/>
          </p:nvSpPr>
          <p:spPr bwMode="auto">
            <a:xfrm>
              <a:off x="7220581" y="3983037"/>
              <a:ext cx="100341" cy="1003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47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47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47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7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7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2" grpId="0" autoUpdateAnimBg="0"/>
      <p:bldP spid="476163" grpId="0" autoUpdateAnimBg="0"/>
      <p:bldP spid="476164" grpId="0" autoUpdateAnimBg="0"/>
      <p:bldP spid="476165" grpId="0" autoUpdateAnimBg="0"/>
      <p:bldP spid="476166" grpId="0"/>
      <p:bldP spid="476187" grpId="0" autoUpdateAnimBg="0"/>
      <p:bldP spid="476188" grpId="0" autoUpdateAnimBg="0"/>
      <p:bldP spid="476189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1" name="Text Box 3"/>
          <p:cNvSpPr txBox="1">
            <a:spLocks noChangeArrowheads="1"/>
          </p:cNvSpPr>
          <p:nvPr/>
        </p:nvSpPr>
        <p:spPr bwMode="auto">
          <a:xfrm>
            <a:off x="457199" y="914400"/>
            <a:ext cx="5953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/>
              <a:t>电阻电路与正弦电流电路相量法分析比较：</a:t>
            </a:r>
          </a:p>
        </p:txBody>
      </p:sp>
      <p:graphicFrame>
        <p:nvGraphicFramePr>
          <p:cNvPr id="478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544907"/>
              </p:ext>
            </p:extLst>
          </p:nvPr>
        </p:nvGraphicFramePr>
        <p:xfrm>
          <a:off x="915988" y="1644650"/>
          <a:ext cx="2778125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688" name="Equation" r:id="rId3" imgW="1625400" imgH="1104840" progId="Equation.DSMT4">
                  <p:embed/>
                </p:oleObj>
              </mc:Choice>
              <mc:Fallback>
                <p:oleObj name="Equation" r:id="rId3" imgW="1625400" imgH="11048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1644650"/>
                        <a:ext cx="2778125" cy="188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196917"/>
              </p:ext>
            </p:extLst>
          </p:nvPr>
        </p:nvGraphicFramePr>
        <p:xfrm>
          <a:off x="4438650" y="1700213"/>
          <a:ext cx="3060700" cy="239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689" name="Equation" r:id="rId5" imgW="1752480" imgH="1371600" progId="Equation.DSMT4">
                  <p:embed/>
                </p:oleObj>
              </mc:Choice>
              <mc:Fallback>
                <p:oleObj name="Equation" r:id="rId5" imgW="1752480" imgH="1371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1700213"/>
                        <a:ext cx="3060700" cy="239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4" name="Text Box 6"/>
          <p:cNvSpPr txBox="1">
            <a:spLocks noChangeArrowheads="1"/>
          </p:cNvSpPr>
          <p:nvPr/>
        </p:nvSpPr>
        <p:spPr bwMode="auto">
          <a:xfrm>
            <a:off x="685800" y="4537075"/>
            <a:ext cx="7648575" cy="1418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572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47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/>
              <a:t>可见，二者依据的电路定律是相似的。只要作出正弦电流电路的相量模型，便可将电阻电路的分析方法推广应用于正弦稳态的</a:t>
            </a:r>
            <a:r>
              <a:rPr lang="zh-CN" altLang="en-US" sz="2000" dirty="0">
                <a:solidFill>
                  <a:srgbClr val="FF0000"/>
                </a:solidFill>
              </a:rPr>
              <a:t>相量分析</a:t>
            </a:r>
            <a:r>
              <a:rPr lang="zh-CN" altLang="en-US" sz="2000" dirty="0"/>
              <a:t>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 autoUpdateAnimBg="0"/>
      <p:bldP spid="4782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74" name="Text Box 58"/>
          <p:cNvSpPr txBox="1">
            <a:spLocks noChangeArrowheads="1"/>
          </p:cNvSpPr>
          <p:nvPr/>
        </p:nvSpPr>
        <p:spPr bwMode="auto">
          <a:xfrm>
            <a:off x="747713" y="1122363"/>
            <a:ext cx="598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990033"/>
                </a:solidFill>
              </a:rPr>
              <a:t>一</a:t>
            </a:r>
            <a:r>
              <a:rPr lang="zh-CN" altLang="en-US" dirty="0" smtClean="0">
                <a:solidFill>
                  <a:srgbClr val="990033"/>
                </a:solidFill>
              </a:rPr>
              <a:t>、</a:t>
            </a:r>
            <a:r>
              <a:rPr lang="zh-CN" altLang="en-US" dirty="0">
                <a:solidFill>
                  <a:srgbClr val="990033"/>
                </a:solidFill>
              </a:rPr>
              <a:t>相量</a:t>
            </a:r>
            <a:r>
              <a:rPr lang="zh-CN" altLang="en-US" dirty="0" smtClean="0">
                <a:solidFill>
                  <a:srgbClr val="990033"/>
                </a:solidFill>
              </a:rPr>
              <a:t>域</a:t>
            </a:r>
            <a:r>
              <a:rPr lang="zh-CN" altLang="en-US" dirty="0">
                <a:solidFill>
                  <a:srgbClr val="990033"/>
                </a:solidFill>
              </a:rPr>
              <a:t>的</a:t>
            </a:r>
            <a:r>
              <a:rPr lang="zh-CN" altLang="en-US" dirty="0" smtClean="0">
                <a:solidFill>
                  <a:srgbClr val="990033"/>
                </a:solidFill>
              </a:rPr>
              <a:t>叠加定理</a:t>
            </a:r>
            <a:endParaRPr lang="zh-CN" altLang="en-US" dirty="0">
              <a:solidFill>
                <a:srgbClr val="990033"/>
              </a:solidFill>
            </a:endParaRPr>
          </a:p>
        </p:txBody>
      </p:sp>
      <p:sp>
        <p:nvSpPr>
          <p:cNvPr id="572479" name="Rectangle 63"/>
          <p:cNvSpPr>
            <a:spLocks noChangeArrowheads="1"/>
          </p:cNvSpPr>
          <p:nvPr/>
        </p:nvSpPr>
        <p:spPr bwMode="auto">
          <a:xfrm>
            <a:off x="2960688" y="5689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347663" y="560388"/>
            <a:ext cx="76819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5.2.3 </a:t>
            </a:r>
            <a:r>
              <a:rPr lang="zh-CN" altLang="en-US" dirty="0" smtClean="0">
                <a:solidFill>
                  <a:srgbClr val="990033"/>
                </a:solidFill>
              </a:rPr>
              <a:t>电路</a:t>
            </a:r>
            <a:r>
              <a:rPr lang="zh-CN" altLang="en-US" dirty="0">
                <a:solidFill>
                  <a:srgbClr val="990033"/>
                </a:solidFill>
              </a:rPr>
              <a:t>定理在相量域的推广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54869" y="1538407"/>
            <a:ext cx="7543800" cy="1016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 indent="571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62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52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000" dirty="0" smtClean="0">
                <a:solidFill>
                  <a:srgbClr val="0000FF"/>
                </a:solidFill>
              </a:rPr>
              <a:t>类似于直流电路的证明方法，可验证叠加定理可以推广到相量域。</a:t>
            </a:r>
            <a:endParaRPr kumimoji="0"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9" name="Text Box 58"/>
          <p:cNvSpPr txBox="1">
            <a:spLocks noChangeArrowheads="1"/>
          </p:cNvSpPr>
          <p:nvPr/>
        </p:nvSpPr>
        <p:spPr bwMode="auto">
          <a:xfrm>
            <a:off x="804863" y="2646363"/>
            <a:ext cx="598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990033"/>
                </a:solidFill>
              </a:rPr>
              <a:t>二</a:t>
            </a:r>
            <a:r>
              <a:rPr lang="zh-CN" altLang="en-US" dirty="0" smtClean="0">
                <a:solidFill>
                  <a:srgbClr val="990033"/>
                </a:solidFill>
              </a:rPr>
              <a:t>、</a:t>
            </a:r>
            <a:r>
              <a:rPr lang="zh-CN" altLang="en-US" dirty="0">
                <a:solidFill>
                  <a:srgbClr val="990033"/>
                </a:solidFill>
              </a:rPr>
              <a:t>相量域的</a:t>
            </a:r>
            <a:r>
              <a:rPr lang="zh-CN" altLang="en-US" dirty="0" smtClean="0">
                <a:solidFill>
                  <a:srgbClr val="990033"/>
                </a:solidFill>
              </a:rPr>
              <a:t>戴维南定理</a:t>
            </a:r>
            <a:r>
              <a:rPr lang="zh-CN" altLang="en-US" dirty="0">
                <a:solidFill>
                  <a:srgbClr val="990033"/>
                </a:solidFill>
              </a:rPr>
              <a:t>和诺顿定理</a:t>
            </a:r>
          </a:p>
        </p:txBody>
      </p:sp>
      <p:graphicFrame>
        <p:nvGraphicFramePr>
          <p:cNvPr id="10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965228"/>
              </p:ext>
            </p:extLst>
          </p:nvPr>
        </p:nvGraphicFramePr>
        <p:xfrm>
          <a:off x="392113" y="3275013"/>
          <a:ext cx="7977187" cy="229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950" name="Visio" r:id="rId3" imgW="4657714" imgH="1324104" progId="Visio.Drawing.11">
                  <p:embed/>
                </p:oleObj>
              </mc:Choice>
              <mc:Fallback>
                <p:oleObj name="Visio" r:id="rId3" imgW="4657714" imgH="132410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3275013"/>
                        <a:ext cx="7977187" cy="2297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108870"/>
              </p:ext>
            </p:extLst>
          </p:nvPr>
        </p:nvGraphicFramePr>
        <p:xfrm>
          <a:off x="3122613" y="5689600"/>
          <a:ext cx="30099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951" name="Equation" r:id="rId5" imgW="1206360" imgH="419040" progId="Equation.DSMT4">
                  <p:embed/>
                </p:oleObj>
              </mc:Choice>
              <mc:Fallback>
                <p:oleObj name="Equation" r:id="rId5" imgW="12063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613" y="5689600"/>
                        <a:ext cx="3009900" cy="10429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7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74" grpId="0"/>
      <p:bldP spid="8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Text Box 2"/>
          <p:cNvSpPr txBox="1">
            <a:spLocks noChangeArrowheads="1"/>
          </p:cNvSpPr>
          <p:nvPr/>
        </p:nvSpPr>
        <p:spPr bwMode="auto">
          <a:xfrm>
            <a:off x="420688" y="623888"/>
            <a:ext cx="7513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5.2.4 </a:t>
            </a:r>
            <a:r>
              <a:rPr lang="zh-CN" altLang="en-US" dirty="0" smtClean="0">
                <a:solidFill>
                  <a:srgbClr val="990033"/>
                </a:solidFill>
              </a:rPr>
              <a:t>电路</a:t>
            </a:r>
            <a:r>
              <a:rPr lang="zh-CN" altLang="en-US" dirty="0">
                <a:solidFill>
                  <a:srgbClr val="990033"/>
                </a:solidFill>
              </a:rPr>
              <a:t>分析方法在相量域的推广</a:t>
            </a:r>
          </a:p>
        </p:txBody>
      </p:sp>
      <p:sp>
        <p:nvSpPr>
          <p:cNvPr id="574467" name="Rectangle 3"/>
          <p:cNvSpPr>
            <a:spLocks noChangeArrowheads="1"/>
          </p:cNvSpPr>
          <p:nvPr/>
        </p:nvSpPr>
        <p:spPr bwMode="auto">
          <a:xfrm>
            <a:off x="1000125" y="1063625"/>
            <a:ext cx="73437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000" dirty="0" smtClean="0">
                <a:solidFill>
                  <a:srgbClr val="0000FF"/>
                </a:solidFill>
              </a:rPr>
              <a:t>        网孔电流法</a:t>
            </a:r>
            <a:r>
              <a:rPr kumimoji="0" lang="zh-CN" altLang="en-US" sz="2000" dirty="0">
                <a:solidFill>
                  <a:srgbClr val="0000FF"/>
                </a:solidFill>
              </a:rPr>
              <a:t>的基础</a:t>
            </a:r>
            <a:r>
              <a:rPr kumimoji="0" lang="zh-CN" altLang="en-US" sz="2000" dirty="0" smtClean="0">
                <a:solidFill>
                  <a:srgbClr val="0000FF"/>
                </a:solidFill>
              </a:rPr>
              <a:t>是</a:t>
            </a:r>
            <a:r>
              <a:rPr kumimoji="0" lang="en-US" altLang="zh-CN" sz="2000" dirty="0" smtClean="0">
                <a:solidFill>
                  <a:srgbClr val="0000FF"/>
                </a:solidFill>
              </a:rPr>
              <a:t>KVL</a:t>
            </a:r>
            <a:r>
              <a:rPr kumimoji="0" lang="zh-CN" altLang="en-US" sz="2000" dirty="0" smtClean="0">
                <a:solidFill>
                  <a:srgbClr val="0000FF"/>
                </a:solidFill>
              </a:rPr>
              <a:t>，节点电压法</a:t>
            </a:r>
            <a:r>
              <a:rPr kumimoji="0" lang="zh-CN" altLang="en-US" sz="2000" dirty="0">
                <a:solidFill>
                  <a:srgbClr val="0000FF"/>
                </a:solidFill>
              </a:rPr>
              <a:t>的基础</a:t>
            </a:r>
            <a:r>
              <a:rPr kumimoji="0" lang="zh-CN" altLang="en-US" sz="2000" dirty="0" smtClean="0">
                <a:solidFill>
                  <a:srgbClr val="0000FF"/>
                </a:solidFill>
              </a:rPr>
              <a:t>是</a:t>
            </a:r>
            <a:r>
              <a:rPr kumimoji="0" lang="en-US" altLang="zh-CN" sz="2000" dirty="0" smtClean="0">
                <a:solidFill>
                  <a:srgbClr val="0000FF"/>
                </a:solidFill>
              </a:rPr>
              <a:t>KCL</a:t>
            </a:r>
            <a:r>
              <a:rPr kumimoji="0" lang="zh-CN" altLang="en-US" sz="2000" dirty="0" smtClean="0">
                <a:solidFill>
                  <a:srgbClr val="0000FF"/>
                </a:solidFill>
              </a:rPr>
              <a:t>。既然基尔霍夫定律可推广到相量域，那么</a:t>
            </a:r>
            <a:r>
              <a:rPr kumimoji="0" lang="zh-CN" altLang="en-US" sz="2000" dirty="0">
                <a:solidFill>
                  <a:srgbClr val="0000FF"/>
                </a:solidFill>
              </a:rPr>
              <a:t>网孔电流</a:t>
            </a:r>
            <a:r>
              <a:rPr kumimoji="0" lang="zh-CN" altLang="en-US" sz="2000" dirty="0" smtClean="0">
                <a:solidFill>
                  <a:srgbClr val="0000FF"/>
                </a:solidFill>
              </a:rPr>
              <a:t>法和</a:t>
            </a:r>
            <a:r>
              <a:rPr kumimoji="0" lang="zh-CN" altLang="en-US" sz="2000" dirty="0">
                <a:solidFill>
                  <a:srgbClr val="0000FF"/>
                </a:solidFill>
              </a:rPr>
              <a:t>节点电压</a:t>
            </a:r>
            <a:r>
              <a:rPr kumimoji="0" lang="zh-CN" altLang="en-US" sz="2000" dirty="0" smtClean="0">
                <a:solidFill>
                  <a:srgbClr val="0000FF"/>
                </a:solidFill>
              </a:rPr>
              <a:t>法同样适用于</a:t>
            </a:r>
            <a:r>
              <a:rPr kumimoji="0" lang="zh-CN" altLang="en-US" sz="2000" dirty="0">
                <a:solidFill>
                  <a:srgbClr val="0000FF"/>
                </a:solidFill>
              </a:rPr>
              <a:t>相量</a:t>
            </a:r>
            <a:r>
              <a:rPr kumimoji="0" lang="zh-CN" altLang="en-US" sz="2000" dirty="0" smtClean="0">
                <a:solidFill>
                  <a:srgbClr val="0000FF"/>
                </a:solidFill>
              </a:rPr>
              <a:t>域。</a:t>
            </a:r>
            <a:endParaRPr kumimoji="0" lang="zh-CN" altLang="en-US" sz="2000" dirty="0">
              <a:solidFill>
                <a:srgbClr val="0000FF"/>
              </a:solidFill>
            </a:endParaRPr>
          </a:p>
        </p:txBody>
      </p:sp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1000125" y="2803697"/>
            <a:ext cx="6519450" cy="897523"/>
            <a:chOff x="530" y="115"/>
            <a:chExt cx="3990" cy="471"/>
          </a:xfrm>
        </p:grpSpPr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530" y="122"/>
              <a:ext cx="79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2520F2"/>
                  </a:solidFill>
                </a:rPr>
                <a:t>例 </a:t>
              </a:r>
              <a:r>
                <a:rPr lang="en-US" altLang="zh-CN" sz="2000" dirty="0" smtClean="0">
                  <a:solidFill>
                    <a:srgbClr val="2520F2"/>
                  </a:solidFill>
                </a:rPr>
                <a:t>1</a:t>
              </a:r>
              <a:r>
                <a:rPr lang="en-US" altLang="zh-CN" sz="2000" dirty="0" smtClean="0"/>
                <a:t> </a:t>
              </a:r>
              <a:r>
                <a:rPr lang="zh-CN" altLang="en-US" sz="2000" dirty="0"/>
                <a:t>已知</a:t>
              </a:r>
              <a:r>
                <a:rPr lang="en-US" altLang="zh-CN" sz="2000" dirty="0"/>
                <a:t>:</a:t>
              </a:r>
            </a:p>
          </p:txBody>
        </p:sp>
        <p:graphicFrame>
          <p:nvGraphicFramePr>
            <p:cNvPr id="1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5620398"/>
                </p:ext>
              </p:extLst>
            </p:nvPr>
          </p:nvGraphicFramePr>
          <p:xfrm>
            <a:off x="1299" y="115"/>
            <a:ext cx="3221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3349" name="Equation" r:id="rId3" imgW="2768400" imgH="406080" progId="Equation.DSMT4">
                    <p:embed/>
                  </p:oleObj>
                </mc:Choice>
                <mc:Fallback>
                  <p:oleObj name="Equation" r:id="rId3" imgW="276840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9" y="115"/>
                          <a:ext cx="3221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3087" y="336"/>
              <a:ext cx="1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/>
                <a:t>求</a:t>
              </a:r>
              <a:r>
                <a:rPr lang="en-US" altLang="zh-CN" sz="2000" dirty="0"/>
                <a:t>:</a:t>
              </a:r>
              <a:r>
                <a:rPr lang="zh-CN" altLang="en-US" sz="2000" dirty="0"/>
                <a:t>各支路电流。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022201" y="3661081"/>
            <a:ext cx="3299621" cy="2840039"/>
            <a:chOff x="2654300" y="3667918"/>
            <a:chExt cx="3299621" cy="2840039"/>
          </a:xfrm>
        </p:grpSpPr>
        <p:sp>
          <p:nvSpPr>
            <p:cNvPr id="19" name="Text Box 13"/>
            <p:cNvSpPr txBox="1">
              <a:spLocks noChangeArrowheads="1"/>
            </p:cNvSpPr>
            <p:nvPr/>
          </p:nvSpPr>
          <p:spPr bwMode="auto">
            <a:xfrm>
              <a:off x="5286376" y="4910931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 i="1"/>
                <a:t>R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>
              <a:off x="2900363" y="4985544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2905125" y="5520531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/>
                <a:t>_</a:t>
              </a:r>
            </a:p>
          </p:txBody>
        </p:sp>
        <p:grpSp>
          <p:nvGrpSpPr>
            <p:cNvPr id="22" name="Group 16"/>
            <p:cNvGrpSpPr>
              <a:grpSpLocks/>
            </p:cNvGrpSpPr>
            <p:nvPr/>
          </p:nvGrpSpPr>
          <p:grpSpPr bwMode="auto">
            <a:xfrm rot="16200000">
              <a:off x="4076701" y="5063331"/>
              <a:ext cx="352425" cy="152400"/>
              <a:chOff x="3816" y="3155"/>
              <a:chExt cx="222" cy="96"/>
            </a:xfrm>
          </p:grpSpPr>
          <p:sp>
            <p:nvSpPr>
              <p:cNvPr id="54" name="Line 17"/>
              <p:cNvSpPr>
                <a:spLocks noChangeShapeType="1"/>
              </p:cNvSpPr>
              <p:nvPr/>
            </p:nvSpPr>
            <p:spPr bwMode="auto">
              <a:xfrm>
                <a:off x="3816" y="3155"/>
                <a:ext cx="22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18"/>
              <p:cNvSpPr>
                <a:spLocks noChangeShapeType="1"/>
              </p:cNvSpPr>
              <p:nvPr/>
            </p:nvSpPr>
            <p:spPr bwMode="auto">
              <a:xfrm>
                <a:off x="3816" y="3251"/>
                <a:ext cx="22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5775326" y="4907756"/>
              <a:ext cx="161925" cy="431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5443539" y="5652294"/>
              <a:ext cx="3698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/>
                <a:t>L</a:t>
              </a:r>
            </a:p>
          </p:txBody>
        </p:sp>
        <p:grpSp>
          <p:nvGrpSpPr>
            <p:cNvPr id="25" name="Group 21"/>
            <p:cNvGrpSpPr>
              <a:grpSpLocks/>
            </p:cNvGrpSpPr>
            <p:nvPr/>
          </p:nvGrpSpPr>
          <p:grpSpPr bwMode="auto">
            <a:xfrm rot="5400000">
              <a:off x="5599114" y="5836444"/>
              <a:ext cx="614363" cy="95250"/>
              <a:chOff x="573" y="711"/>
              <a:chExt cx="387" cy="60"/>
            </a:xfrm>
          </p:grpSpPr>
          <p:sp>
            <p:nvSpPr>
              <p:cNvPr id="50" name="Freeform 22"/>
              <p:cNvSpPr>
                <a:spLocks/>
              </p:cNvSpPr>
              <p:nvPr/>
            </p:nvSpPr>
            <p:spPr bwMode="auto">
              <a:xfrm>
                <a:off x="573" y="714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23"/>
              <p:cNvSpPr>
                <a:spLocks/>
              </p:cNvSpPr>
              <p:nvPr/>
            </p:nvSpPr>
            <p:spPr bwMode="auto">
              <a:xfrm>
                <a:off x="671" y="714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24"/>
              <p:cNvSpPr>
                <a:spLocks/>
              </p:cNvSpPr>
              <p:nvPr/>
            </p:nvSpPr>
            <p:spPr bwMode="auto">
              <a:xfrm>
                <a:off x="768" y="713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25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2654300" y="5339556"/>
              <a:ext cx="431800" cy="4318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3522663" y="4237831"/>
              <a:ext cx="14859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3524250" y="4237831"/>
              <a:ext cx="0" cy="901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4991101" y="4239418"/>
              <a:ext cx="0" cy="901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3524250" y="5123656"/>
              <a:ext cx="6397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4325938" y="5128419"/>
              <a:ext cx="6746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3522663" y="4237831"/>
              <a:ext cx="14859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 rot="16200000">
              <a:off x="4197351" y="4010818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2876550" y="4606131"/>
              <a:ext cx="6477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>
              <a:off x="4991101" y="4644231"/>
              <a:ext cx="860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5851526" y="4644231"/>
              <a:ext cx="0" cy="266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5851526" y="5328444"/>
              <a:ext cx="0" cy="255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5873751" y="6190457"/>
              <a:ext cx="1588" cy="307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 flipH="1">
              <a:off x="2876550" y="6492082"/>
              <a:ext cx="29987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 flipH="1">
              <a:off x="2870200" y="4602956"/>
              <a:ext cx="6350" cy="19050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>
              <a:off x="2997200" y="4529931"/>
              <a:ext cx="2857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42"/>
            <p:cNvSpPr txBox="1">
              <a:spLocks noChangeArrowheads="1"/>
            </p:cNvSpPr>
            <p:nvPr/>
          </p:nvSpPr>
          <p:spPr bwMode="auto">
            <a:xfrm>
              <a:off x="2924175" y="4053681"/>
              <a:ext cx="369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i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43" name="Text Box 43"/>
            <p:cNvSpPr txBox="1">
              <a:spLocks noChangeArrowheads="1"/>
            </p:cNvSpPr>
            <p:nvPr/>
          </p:nvSpPr>
          <p:spPr bwMode="auto">
            <a:xfrm>
              <a:off x="3640138" y="3667918"/>
              <a:ext cx="369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i</a:t>
              </a:r>
              <a:r>
                <a:rPr lang="en-US" altLang="zh-CN" baseline="-25000"/>
                <a:t>2</a:t>
              </a:r>
              <a:endParaRPr lang="en-US" altLang="zh-CN" i="1"/>
            </a:p>
          </p:txBody>
        </p:sp>
        <p:sp>
          <p:nvSpPr>
            <p:cNvPr id="44" name="Line 44"/>
            <p:cNvSpPr>
              <a:spLocks noChangeShapeType="1"/>
            </p:cNvSpPr>
            <p:nvPr/>
          </p:nvSpPr>
          <p:spPr bwMode="auto">
            <a:xfrm>
              <a:off x="3644900" y="4144168"/>
              <a:ext cx="306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45"/>
            <p:cNvSpPr>
              <a:spLocks noChangeShapeType="1"/>
            </p:cNvSpPr>
            <p:nvPr/>
          </p:nvSpPr>
          <p:spPr bwMode="auto">
            <a:xfrm>
              <a:off x="3703638" y="4985544"/>
              <a:ext cx="306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 Box 46"/>
            <p:cNvSpPr txBox="1">
              <a:spLocks noChangeArrowheads="1"/>
            </p:cNvSpPr>
            <p:nvPr/>
          </p:nvSpPr>
          <p:spPr bwMode="auto">
            <a:xfrm>
              <a:off x="3659188" y="4507706"/>
              <a:ext cx="369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i</a:t>
              </a:r>
              <a:r>
                <a:rPr lang="en-US" altLang="zh-CN" baseline="-25000"/>
                <a:t>3</a:t>
              </a:r>
              <a:endParaRPr lang="en-US" altLang="zh-CN" i="1"/>
            </a:p>
          </p:txBody>
        </p:sp>
        <p:sp>
          <p:nvSpPr>
            <p:cNvPr id="47" name="Text Box 47"/>
            <p:cNvSpPr txBox="1">
              <a:spLocks noChangeArrowheads="1"/>
            </p:cNvSpPr>
            <p:nvPr/>
          </p:nvSpPr>
          <p:spPr bwMode="auto">
            <a:xfrm>
              <a:off x="4171951" y="3686968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48" name="Text Box 48"/>
            <p:cNvSpPr txBox="1">
              <a:spLocks noChangeArrowheads="1"/>
            </p:cNvSpPr>
            <p:nvPr/>
          </p:nvSpPr>
          <p:spPr bwMode="auto">
            <a:xfrm>
              <a:off x="4305301" y="4644231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</a:p>
          </p:txBody>
        </p:sp>
        <p:sp>
          <p:nvSpPr>
            <p:cNvPr id="49" name="Text Box 49"/>
            <p:cNvSpPr txBox="1">
              <a:spLocks noChangeArrowheads="1"/>
            </p:cNvSpPr>
            <p:nvPr/>
          </p:nvSpPr>
          <p:spPr bwMode="auto">
            <a:xfrm>
              <a:off x="3105150" y="5339556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v</a:t>
              </a:r>
            </a:p>
          </p:txBody>
        </p:sp>
        <p:sp>
          <p:nvSpPr>
            <p:cNvPr id="2" name="椭圆 1"/>
            <p:cNvSpPr/>
            <p:nvPr/>
          </p:nvSpPr>
          <p:spPr bwMode="auto">
            <a:xfrm>
              <a:off x="3477475" y="4550832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6" name="椭圆 55"/>
            <p:cNvSpPr/>
            <p:nvPr/>
          </p:nvSpPr>
          <p:spPr bwMode="auto">
            <a:xfrm>
              <a:off x="4938933" y="4592846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7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286" name="Group 6"/>
          <p:cNvGrpSpPr>
            <a:grpSpLocks/>
          </p:cNvGrpSpPr>
          <p:nvPr/>
        </p:nvGrpSpPr>
        <p:grpSpPr bwMode="auto">
          <a:xfrm>
            <a:off x="5889625" y="2244725"/>
            <a:ext cx="1147763" cy="622300"/>
            <a:chOff x="3710" y="1720"/>
            <a:chExt cx="723" cy="392"/>
          </a:xfrm>
        </p:grpSpPr>
        <p:sp>
          <p:nvSpPr>
            <p:cNvPr id="481287" name="AutoShape 7"/>
            <p:cNvSpPr>
              <a:spLocks/>
            </p:cNvSpPr>
            <p:nvPr/>
          </p:nvSpPr>
          <p:spPr bwMode="auto">
            <a:xfrm rot="-5400000">
              <a:off x="3994" y="1436"/>
              <a:ext cx="156" cy="723"/>
            </a:xfrm>
            <a:prstGeom prst="leftBrace">
              <a:avLst>
                <a:gd name="adj1" fmla="val 38622"/>
                <a:gd name="adj2" fmla="val 50000"/>
              </a:avLst>
            </a:prstGeom>
            <a:noFill/>
            <a:ln w="25400">
              <a:solidFill>
                <a:srgbClr val="FF00FF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288" name="Text Box 8"/>
            <p:cNvSpPr txBox="1">
              <a:spLocks noChangeArrowheads="1"/>
            </p:cNvSpPr>
            <p:nvPr/>
          </p:nvSpPr>
          <p:spPr bwMode="auto">
            <a:xfrm>
              <a:off x="3927" y="1824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0000"/>
                  </a:solidFill>
                </a:rPr>
                <a:t>Z</a:t>
              </a:r>
              <a:r>
                <a:rPr lang="en-US" altLang="zh-CN" baseline="-25000">
                  <a:solidFill>
                    <a:srgbClr val="FF0000"/>
                  </a:solidFill>
                </a:rPr>
                <a:t>1</a:t>
              </a:r>
              <a:endParaRPr lang="en-US" altLang="zh-CN" i="1"/>
            </a:p>
          </p:txBody>
        </p:sp>
      </p:grpSp>
      <p:grpSp>
        <p:nvGrpSpPr>
          <p:cNvPr id="481289" name="Group 9"/>
          <p:cNvGrpSpPr>
            <a:grpSpLocks/>
          </p:cNvGrpSpPr>
          <p:nvPr/>
        </p:nvGrpSpPr>
        <p:grpSpPr bwMode="auto">
          <a:xfrm>
            <a:off x="8196263" y="1933575"/>
            <a:ext cx="642937" cy="1276350"/>
            <a:chOff x="5163" y="1524"/>
            <a:chExt cx="405" cy="804"/>
          </a:xfrm>
        </p:grpSpPr>
        <p:sp>
          <p:nvSpPr>
            <p:cNvPr id="481290" name="AutoShape 10"/>
            <p:cNvSpPr>
              <a:spLocks/>
            </p:cNvSpPr>
            <p:nvPr/>
          </p:nvSpPr>
          <p:spPr bwMode="auto">
            <a:xfrm>
              <a:off x="5163" y="1524"/>
              <a:ext cx="129" cy="804"/>
            </a:xfrm>
            <a:prstGeom prst="rightBrace">
              <a:avLst>
                <a:gd name="adj1" fmla="val 51938"/>
                <a:gd name="adj2" fmla="val 50000"/>
              </a:avLst>
            </a:prstGeom>
            <a:noFill/>
            <a:ln w="25400">
              <a:solidFill>
                <a:srgbClr val="FF00FF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291" name="Text Box 11"/>
            <p:cNvSpPr txBox="1">
              <a:spLocks noChangeArrowheads="1"/>
            </p:cNvSpPr>
            <p:nvPr/>
          </p:nvSpPr>
          <p:spPr bwMode="auto">
            <a:xfrm>
              <a:off x="5271" y="1741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0000"/>
                  </a:solidFill>
                </a:rPr>
                <a:t>Z</a:t>
              </a:r>
              <a:r>
                <a:rPr lang="en-US" altLang="zh-CN" baseline="-25000">
                  <a:solidFill>
                    <a:srgbClr val="FF0000"/>
                  </a:solidFill>
                </a:rPr>
                <a:t>2</a:t>
              </a:r>
              <a:endParaRPr lang="en-US" altLang="zh-CN" i="1"/>
            </a:p>
          </p:txBody>
        </p:sp>
      </p:grpSp>
      <p:sp>
        <p:nvSpPr>
          <p:cNvPr id="481368" name="Text Box 88"/>
          <p:cNvSpPr txBox="1">
            <a:spLocks noChangeArrowheads="1"/>
          </p:cNvSpPr>
          <p:nvPr/>
        </p:nvSpPr>
        <p:spPr bwMode="auto">
          <a:xfrm>
            <a:off x="533400" y="3752850"/>
            <a:ext cx="30235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FF0000"/>
                </a:solidFill>
              </a:rPr>
              <a:t>解：</a:t>
            </a:r>
            <a:r>
              <a:rPr lang="zh-CN" altLang="en-US" sz="2000"/>
              <a:t>画出电路的相量模型</a:t>
            </a:r>
          </a:p>
        </p:txBody>
      </p:sp>
      <p:sp>
        <p:nvSpPr>
          <p:cNvPr id="481369" name="AutoShape 89"/>
          <p:cNvSpPr>
            <a:spLocks noChangeArrowheads="1"/>
          </p:cNvSpPr>
          <p:nvPr/>
        </p:nvSpPr>
        <p:spPr bwMode="auto">
          <a:xfrm>
            <a:off x="4191000" y="2278063"/>
            <a:ext cx="381000" cy="496887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00FF00"/>
          </a:solidFill>
          <a:ln w="254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81370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679199"/>
              </p:ext>
            </p:extLst>
          </p:nvPr>
        </p:nvGraphicFramePr>
        <p:xfrm>
          <a:off x="639763" y="4276725"/>
          <a:ext cx="7081837" cy="150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45" name="公式" r:id="rId3" imgW="3873240" imgH="825480" progId="Equation.3">
                  <p:embed/>
                </p:oleObj>
              </mc:Choice>
              <mc:Fallback>
                <p:oleObj name="公式" r:id="rId3" imgW="3873240" imgH="82548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3" y="4276725"/>
                        <a:ext cx="7081837" cy="150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1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957637"/>
              </p:ext>
            </p:extLst>
          </p:nvPr>
        </p:nvGraphicFramePr>
        <p:xfrm>
          <a:off x="687388" y="5924550"/>
          <a:ext cx="3779837" cy="436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46" name="公式" r:id="rId5" imgW="1854000" imgH="215640" progId="Equation.3">
                  <p:embed/>
                </p:oleObj>
              </mc:Choice>
              <mc:Fallback>
                <p:oleObj name="公式" r:id="rId5" imgW="1854000" imgH="21564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5924550"/>
                        <a:ext cx="3779837" cy="436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463550" y="504825"/>
            <a:ext cx="3294857" cy="2824163"/>
            <a:chOff x="463550" y="504825"/>
            <a:chExt cx="3294857" cy="2824163"/>
          </a:xfrm>
        </p:grpSpPr>
        <p:sp>
          <p:nvSpPr>
            <p:cNvPr id="481293" name="Text Box 13"/>
            <p:cNvSpPr txBox="1">
              <a:spLocks noChangeArrowheads="1"/>
            </p:cNvSpPr>
            <p:nvPr/>
          </p:nvSpPr>
          <p:spPr bwMode="auto">
            <a:xfrm>
              <a:off x="3095625" y="1747838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 i="1"/>
                <a:t>R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481294" name="Text Box 14"/>
            <p:cNvSpPr txBox="1">
              <a:spLocks noChangeArrowheads="1"/>
            </p:cNvSpPr>
            <p:nvPr/>
          </p:nvSpPr>
          <p:spPr bwMode="auto">
            <a:xfrm>
              <a:off x="709613" y="1822450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481295" name="Text Box 15"/>
            <p:cNvSpPr txBox="1">
              <a:spLocks noChangeArrowheads="1"/>
            </p:cNvSpPr>
            <p:nvPr/>
          </p:nvSpPr>
          <p:spPr bwMode="auto">
            <a:xfrm>
              <a:off x="714375" y="2357438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/>
                <a:t>_</a:t>
              </a:r>
            </a:p>
          </p:txBody>
        </p:sp>
        <p:grpSp>
          <p:nvGrpSpPr>
            <p:cNvPr id="481296" name="Group 16"/>
            <p:cNvGrpSpPr>
              <a:grpSpLocks/>
            </p:cNvGrpSpPr>
            <p:nvPr/>
          </p:nvGrpSpPr>
          <p:grpSpPr bwMode="auto">
            <a:xfrm rot="16200000">
              <a:off x="1881188" y="1847850"/>
              <a:ext cx="350838" cy="152400"/>
              <a:chOff x="3845" y="3156"/>
              <a:chExt cx="221" cy="96"/>
            </a:xfrm>
          </p:grpSpPr>
          <p:sp>
            <p:nvSpPr>
              <p:cNvPr id="481297" name="Line 17"/>
              <p:cNvSpPr>
                <a:spLocks noChangeShapeType="1"/>
              </p:cNvSpPr>
              <p:nvPr/>
            </p:nvSpPr>
            <p:spPr bwMode="auto">
              <a:xfrm>
                <a:off x="3845" y="3156"/>
                <a:ext cx="22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298" name="Line 18"/>
              <p:cNvSpPr>
                <a:spLocks noChangeShapeType="1"/>
              </p:cNvSpPr>
              <p:nvPr/>
            </p:nvSpPr>
            <p:spPr bwMode="auto">
              <a:xfrm flipV="1">
                <a:off x="3845" y="3249"/>
                <a:ext cx="221" cy="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299" name="Rectangle 19"/>
            <p:cNvSpPr>
              <a:spLocks noChangeArrowheads="1"/>
            </p:cNvSpPr>
            <p:nvPr/>
          </p:nvSpPr>
          <p:spPr bwMode="auto">
            <a:xfrm>
              <a:off x="3584575" y="1744663"/>
              <a:ext cx="161925" cy="431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300" name="Text Box 20"/>
            <p:cNvSpPr txBox="1">
              <a:spLocks noChangeArrowheads="1"/>
            </p:cNvSpPr>
            <p:nvPr/>
          </p:nvSpPr>
          <p:spPr bwMode="auto">
            <a:xfrm>
              <a:off x="3252788" y="2489200"/>
              <a:ext cx="3698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i="1"/>
                <a:t>L</a:t>
              </a:r>
            </a:p>
          </p:txBody>
        </p:sp>
        <p:grpSp>
          <p:nvGrpSpPr>
            <p:cNvPr id="481301" name="Group 21"/>
            <p:cNvGrpSpPr>
              <a:grpSpLocks/>
            </p:cNvGrpSpPr>
            <p:nvPr/>
          </p:nvGrpSpPr>
          <p:grpSpPr bwMode="auto">
            <a:xfrm rot="5400000">
              <a:off x="3408363" y="2673350"/>
              <a:ext cx="609600" cy="90488"/>
              <a:chOff x="576" y="711"/>
              <a:chExt cx="384" cy="57"/>
            </a:xfrm>
          </p:grpSpPr>
          <p:sp>
            <p:nvSpPr>
              <p:cNvPr id="481302" name="Freeform 22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303" name="Freeform 23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304" name="Freeform 24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305" name="Freeform 25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81306" name="Oval 26"/>
            <p:cNvSpPr>
              <a:spLocks noChangeArrowheads="1"/>
            </p:cNvSpPr>
            <p:nvPr/>
          </p:nvSpPr>
          <p:spPr bwMode="auto">
            <a:xfrm>
              <a:off x="463550" y="2176463"/>
              <a:ext cx="431800" cy="4318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07" name="Line 27"/>
            <p:cNvSpPr>
              <a:spLocks noChangeShapeType="1"/>
            </p:cNvSpPr>
            <p:nvPr/>
          </p:nvSpPr>
          <p:spPr bwMode="auto">
            <a:xfrm>
              <a:off x="1331913" y="1074738"/>
              <a:ext cx="1485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08" name="Line 28"/>
            <p:cNvSpPr>
              <a:spLocks noChangeShapeType="1"/>
            </p:cNvSpPr>
            <p:nvPr/>
          </p:nvSpPr>
          <p:spPr bwMode="auto">
            <a:xfrm>
              <a:off x="1333500" y="1074738"/>
              <a:ext cx="0" cy="901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09" name="Line 29"/>
            <p:cNvSpPr>
              <a:spLocks noChangeShapeType="1"/>
            </p:cNvSpPr>
            <p:nvPr/>
          </p:nvSpPr>
          <p:spPr bwMode="auto">
            <a:xfrm>
              <a:off x="2800350" y="1076325"/>
              <a:ext cx="0" cy="901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10" name="Line 30"/>
            <p:cNvSpPr>
              <a:spLocks noChangeShapeType="1"/>
            </p:cNvSpPr>
            <p:nvPr/>
          </p:nvSpPr>
          <p:spPr bwMode="auto">
            <a:xfrm>
              <a:off x="1333500" y="1960563"/>
              <a:ext cx="6397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11" name="Line 31"/>
            <p:cNvSpPr>
              <a:spLocks noChangeShapeType="1"/>
            </p:cNvSpPr>
            <p:nvPr/>
          </p:nvSpPr>
          <p:spPr bwMode="auto">
            <a:xfrm>
              <a:off x="2179638" y="1960563"/>
              <a:ext cx="6397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12" name="Line 32"/>
            <p:cNvSpPr>
              <a:spLocks noChangeShapeType="1"/>
            </p:cNvSpPr>
            <p:nvPr/>
          </p:nvSpPr>
          <p:spPr bwMode="auto">
            <a:xfrm>
              <a:off x="1331913" y="1074738"/>
              <a:ext cx="1485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13" name="Rectangle 33"/>
            <p:cNvSpPr>
              <a:spLocks noChangeArrowheads="1"/>
            </p:cNvSpPr>
            <p:nvPr/>
          </p:nvSpPr>
          <p:spPr bwMode="auto">
            <a:xfrm rot="16200000">
              <a:off x="2006600" y="847725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314" name="Line 34"/>
            <p:cNvSpPr>
              <a:spLocks noChangeShapeType="1"/>
            </p:cNvSpPr>
            <p:nvPr/>
          </p:nvSpPr>
          <p:spPr bwMode="auto">
            <a:xfrm>
              <a:off x="685800" y="1443038"/>
              <a:ext cx="6477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15" name="Line 35"/>
            <p:cNvSpPr>
              <a:spLocks noChangeShapeType="1"/>
            </p:cNvSpPr>
            <p:nvPr/>
          </p:nvSpPr>
          <p:spPr bwMode="auto">
            <a:xfrm>
              <a:off x="2800350" y="1481138"/>
              <a:ext cx="860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16" name="Line 36"/>
            <p:cNvSpPr>
              <a:spLocks noChangeShapeType="1"/>
            </p:cNvSpPr>
            <p:nvPr/>
          </p:nvSpPr>
          <p:spPr bwMode="auto">
            <a:xfrm>
              <a:off x="3660775" y="1481138"/>
              <a:ext cx="0" cy="266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17" name="Line 37"/>
            <p:cNvSpPr>
              <a:spLocks noChangeShapeType="1"/>
            </p:cNvSpPr>
            <p:nvPr/>
          </p:nvSpPr>
          <p:spPr bwMode="auto">
            <a:xfrm>
              <a:off x="3660775" y="2176463"/>
              <a:ext cx="0" cy="255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18" name="Line 38"/>
            <p:cNvSpPr>
              <a:spLocks noChangeShapeType="1"/>
            </p:cNvSpPr>
            <p:nvPr/>
          </p:nvSpPr>
          <p:spPr bwMode="auto">
            <a:xfrm>
              <a:off x="3684588" y="3043238"/>
              <a:ext cx="0" cy="2857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19" name="Line 39"/>
            <p:cNvSpPr>
              <a:spLocks noChangeShapeType="1"/>
            </p:cNvSpPr>
            <p:nvPr/>
          </p:nvSpPr>
          <p:spPr bwMode="auto">
            <a:xfrm flipH="1">
              <a:off x="685800" y="3328988"/>
              <a:ext cx="2998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20" name="Line 40"/>
            <p:cNvSpPr>
              <a:spLocks noChangeShapeType="1"/>
            </p:cNvSpPr>
            <p:nvPr/>
          </p:nvSpPr>
          <p:spPr bwMode="auto">
            <a:xfrm>
              <a:off x="685800" y="1423988"/>
              <a:ext cx="1588" cy="1905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21" name="Line 41"/>
            <p:cNvSpPr>
              <a:spLocks noChangeShapeType="1"/>
            </p:cNvSpPr>
            <p:nvPr/>
          </p:nvSpPr>
          <p:spPr bwMode="auto">
            <a:xfrm>
              <a:off x="806450" y="1366838"/>
              <a:ext cx="2857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22" name="Text Box 42"/>
            <p:cNvSpPr txBox="1">
              <a:spLocks noChangeArrowheads="1"/>
            </p:cNvSpPr>
            <p:nvPr/>
          </p:nvSpPr>
          <p:spPr bwMode="auto">
            <a:xfrm>
              <a:off x="733425" y="890588"/>
              <a:ext cx="369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i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481323" name="Text Box 43"/>
            <p:cNvSpPr txBox="1">
              <a:spLocks noChangeArrowheads="1"/>
            </p:cNvSpPr>
            <p:nvPr/>
          </p:nvSpPr>
          <p:spPr bwMode="auto">
            <a:xfrm>
              <a:off x="1449388" y="504825"/>
              <a:ext cx="369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i</a:t>
              </a:r>
              <a:r>
                <a:rPr lang="en-US" altLang="zh-CN" baseline="-25000"/>
                <a:t>2</a:t>
              </a:r>
              <a:endParaRPr lang="en-US" altLang="zh-CN" i="1"/>
            </a:p>
          </p:txBody>
        </p:sp>
        <p:sp>
          <p:nvSpPr>
            <p:cNvPr id="481324" name="Line 44"/>
            <p:cNvSpPr>
              <a:spLocks noChangeShapeType="1"/>
            </p:cNvSpPr>
            <p:nvPr/>
          </p:nvSpPr>
          <p:spPr bwMode="auto">
            <a:xfrm>
              <a:off x="1454150" y="981075"/>
              <a:ext cx="306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25" name="Line 45"/>
            <p:cNvSpPr>
              <a:spLocks noChangeShapeType="1"/>
            </p:cNvSpPr>
            <p:nvPr/>
          </p:nvSpPr>
          <p:spPr bwMode="auto">
            <a:xfrm>
              <a:off x="1512888" y="1822450"/>
              <a:ext cx="306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26" name="Text Box 46"/>
            <p:cNvSpPr txBox="1">
              <a:spLocks noChangeArrowheads="1"/>
            </p:cNvSpPr>
            <p:nvPr/>
          </p:nvSpPr>
          <p:spPr bwMode="auto">
            <a:xfrm>
              <a:off x="1468438" y="1344613"/>
              <a:ext cx="3698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/>
                <a:t>i</a:t>
              </a:r>
              <a:r>
                <a:rPr lang="en-US" altLang="zh-CN" baseline="-25000" dirty="0"/>
                <a:t>3</a:t>
              </a:r>
              <a:endParaRPr lang="en-US" altLang="zh-CN" i="1" dirty="0"/>
            </a:p>
          </p:txBody>
        </p:sp>
        <p:sp>
          <p:nvSpPr>
            <p:cNvPr id="481327" name="Text Box 47"/>
            <p:cNvSpPr txBox="1">
              <a:spLocks noChangeArrowheads="1"/>
            </p:cNvSpPr>
            <p:nvPr/>
          </p:nvSpPr>
          <p:spPr bwMode="auto">
            <a:xfrm>
              <a:off x="1981200" y="523875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481328" name="Text Box 48"/>
            <p:cNvSpPr txBox="1">
              <a:spLocks noChangeArrowheads="1"/>
            </p:cNvSpPr>
            <p:nvPr/>
          </p:nvSpPr>
          <p:spPr bwMode="auto">
            <a:xfrm>
              <a:off x="2114550" y="1481138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</a:p>
          </p:txBody>
        </p:sp>
        <p:sp>
          <p:nvSpPr>
            <p:cNvPr id="481329" name="Text Box 49"/>
            <p:cNvSpPr txBox="1">
              <a:spLocks noChangeArrowheads="1"/>
            </p:cNvSpPr>
            <p:nvPr/>
          </p:nvSpPr>
          <p:spPr bwMode="auto">
            <a:xfrm>
              <a:off x="914400" y="2176463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v</a:t>
              </a:r>
            </a:p>
          </p:txBody>
        </p:sp>
        <p:sp>
          <p:nvSpPr>
            <p:cNvPr id="88" name="椭圆 87"/>
            <p:cNvSpPr/>
            <p:nvPr/>
          </p:nvSpPr>
          <p:spPr bwMode="auto">
            <a:xfrm>
              <a:off x="1271874" y="1390185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9" name="椭圆 88"/>
            <p:cNvSpPr/>
            <p:nvPr/>
          </p:nvSpPr>
          <p:spPr bwMode="auto">
            <a:xfrm>
              <a:off x="2748852" y="1417227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845050" y="652463"/>
            <a:ext cx="3294857" cy="2843212"/>
            <a:chOff x="4845050" y="652463"/>
            <a:chExt cx="3294857" cy="2843212"/>
          </a:xfrm>
        </p:grpSpPr>
        <p:graphicFrame>
          <p:nvGraphicFramePr>
            <p:cNvPr id="481331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874320"/>
                </p:ext>
              </p:extLst>
            </p:nvPr>
          </p:nvGraphicFramePr>
          <p:xfrm>
            <a:off x="5343525" y="2354263"/>
            <a:ext cx="27146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647" name="Equation" r:id="rId7" imgW="139680" imgH="190440" progId="Equation.DSMT4">
                    <p:embed/>
                  </p:oleObj>
                </mc:Choice>
                <mc:Fallback>
                  <p:oleObj name="Equation" r:id="rId7" imgW="139680" imgH="19044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3525" y="2354263"/>
                          <a:ext cx="271463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332" name="Text Box 52"/>
            <p:cNvSpPr txBox="1">
              <a:spLocks noChangeArrowheads="1"/>
            </p:cNvSpPr>
            <p:nvPr/>
          </p:nvSpPr>
          <p:spPr bwMode="auto">
            <a:xfrm>
              <a:off x="7477125" y="1914525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 i="1"/>
                <a:t>R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481333" name="Text Box 53"/>
            <p:cNvSpPr txBox="1">
              <a:spLocks noChangeArrowheads="1"/>
            </p:cNvSpPr>
            <p:nvPr/>
          </p:nvSpPr>
          <p:spPr bwMode="auto">
            <a:xfrm>
              <a:off x="5091113" y="1989138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481334" name="Text Box 54"/>
            <p:cNvSpPr txBox="1">
              <a:spLocks noChangeArrowheads="1"/>
            </p:cNvSpPr>
            <p:nvPr/>
          </p:nvSpPr>
          <p:spPr bwMode="auto">
            <a:xfrm>
              <a:off x="5095875" y="2524125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/>
                <a:t>_</a:t>
              </a:r>
            </a:p>
          </p:txBody>
        </p:sp>
        <p:grpSp>
          <p:nvGrpSpPr>
            <p:cNvPr id="481335" name="Group 55"/>
            <p:cNvGrpSpPr>
              <a:grpSpLocks/>
            </p:cNvGrpSpPr>
            <p:nvPr/>
          </p:nvGrpSpPr>
          <p:grpSpPr bwMode="auto">
            <a:xfrm rot="16200000">
              <a:off x="6262688" y="2014538"/>
              <a:ext cx="350837" cy="152400"/>
              <a:chOff x="3845" y="3156"/>
              <a:chExt cx="221" cy="96"/>
            </a:xfrm>
          </p:grpSpPr>
          <p:sp>
            <p:nvSpPr>
              <p:cNvPr id="481336" name="Line 56"/>
              <p:cNvSpPr>
                <a:spLocks noChangeShapeType="1"/>
              </p:cNvSpPr>
              <p:nvPr/>
            </p:nvSpPr>
            <p:spPr bwMode="auto">
              <a:xfrm>
                <a:off x="3845" y="3156"/>
                <a:ext cx="22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337" name="Line 57"/>
              <p:cNvSpPr>
                <a:spLocks noChangeShapeType="1"/>
              </p:cNvSpPr>
              <p:nvPr/>
            </p:nvSpPr>
            <p:spPr bwMode="auto">
              <a:xfrm flipV="1">
                <a:off x="3845" y="3249"/>
                <a:ext cx="221" cy="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338" name="Rectangle 58"/>
            <p:cNvSpPr>
              <a:spLocks noChangeArrowheads="1"/>
            </p:cNvSpPr>
            <p:nvPr/>
          </p:nvSpPr>
          <p:spPr bwMode="auto">
            <a:xfrm>
              <a:off x="7966075" y="1911350"/>
              <a:ext cx="161925" cy="431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81339" name="Group 59"/>
            <p:cNvGrpSpPr>
              <a:grpSpLocks/>
            </p:cNvGrpSpPr>
            <p:nvPr/>
          </p:nvGrpSpPr>
          <p:grpSpPr bwMode="auto">
            <a:xfrm rot="5400000">
              <a:off x="7789863" y="2840038"/>
              <a:ext cx="609600" cy="90488"/>
              <a:chOff x="576" y="711"/>
              <a:chExt cx="384" cy="57"/>
            </a:xfrm>
          </p:grpSpPr>
          <p:sp>
            <p:nvSpPr>
              <p:cNvPr id="481340" name="Freeform 60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341" name="Freeform 61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342" name="Freeform 62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343" name="Freeform 63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81344" name="Oval 64"/>
            <p:cNvSpPr>
              <a:spLocks noChangeArrowheads="1"/>
            </p:cNvSpPr>
            <p:nvPr/>
          </p:nvSpPr>
          <p:spPr bwMode="auto">
            <a:xfrm>
              <a:off x="4845050" y="2343150"/>
              <a:ext cx="431800" cy="4318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45" name="Line 65"/>
            <p:cNvSpPr>
              <a:spLocks noChangeShapeType="1"/>
            </p:cNvSpPr>
            <p:nvPr/>
          </p:nvSpPr>
          <p:spPr bwMode="auto">
            <a:xfrm>
              <a:off x="5713413" y="1241425"/>
              <a:ext cx="1485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46" name="Line 66"/>
            <p:cNvSpPr>
              <a:spLocks noChangeShapeType="1"/>
            </p:cNvSpPr>
            <p:nvPr/>
          </p:nvSpPr>
          <p:spPr bwMode="auto">
            <a:xfrm>
              <a:off x="5715000" y="1241425"/>
              <a:ext cx="0" cy="901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47" name="Line 67"/>
            <p:cNvSpPr>
              <a:spLocks noChangeShapeType="1"/>
            </p:cNvSpPr>
            <p:nvPr/>
          </p:nvSpPr>
          <p:spPr bwMode="auto">
            <a:xfrm>
              <a:off x="7181850" y="1243013"/>
              <a:ext cx="0" cy="901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48" name="Line 68"/>
            <p:cNvSpPr>
              <a:spLocks noChangeShapeType="1"/>
            </p:cNvSpPr>
            <p:nvPr/>
          </p:nvSpPr>
          <p:spPr bwMode="auto">
            <a:xfrm>
              <a:off x="5715000" y="2127250"/>
              <a:ext cx="6397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49" name="Line 69"/>
            <p:cNvSpPr>
              <a:spLocks noChangeShapeType="1"/>
            </p:cNvSpPr>
            <p:nvPr/>
          </p:nvSpPr>
          <p:spPr bwMode="auto">
            <a:xfrm>
              <a:off x="6561138" y="2127250"/>
              <a:ext cx="6397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0" name="Line 70"/>
            <p:cNvSpPr>
              <a:spLocks noChangeShapeType="1"/>
            </p:cNvSpPr>
            <p:nvPr/>
          </p:nvSpPr>
          <p:spPr bwMode="auto">
            <a:xfrm>
              <a:off x="5713413" y="1241425"/>
              <a:ext cx="1485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1" name="Rectangle 71"/>
            <p:cNvSpPr>
              <a:spLocks noChangeArrowheads="1"/>
            </p:cNvSpPr>
            <p:nvPr/>
          </p:nvSpPr>
          <p:spPr bwMode="auto">
            <a:xfrm rot="16200000">
              <a:off x="6388100" y="1014413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352" name="Line 72"/>
            <p:cNvSpPr>
              <a:spLocks noChangeShapeType="1"/>
            </p:cNvSpPr>
            <p:nvPr/>
          </p:nvSpPr>
          <p:spPr bwMode="auto">
            <a:xfrm>
              <a:off x="5067300" y="1609725"/>
              <a:ext cx="6477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3" name="Line 73"/>
            <p:cNvSpPr>
              <a:spLocks noChangeShapeType="1"/>
            </p:cNvSpPr>
            <p:nvPr/>
          </p:nvSpPr>
          <p:spPr bwMode="auto">
            <a:xfrm>
              <a:off x="7181850" y="1647825"/>
              <a:ext cx="860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4" name="Line 74"/>
            <p:cNvSpPr>
              <a:spLocks noChangeShapeType="1"/>
            </p:cNvSpPr>
            <p:nvPr/>
          </p:nvSpPr>
          <p:spPr bwMode="auto">
            <a:xfrm>
              <a:off x="8042275" y="1647825"/>
              <a:ext cx="0" cy="266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5" name="Line 75"/>
            <p:cNvSpPr>
              <a:spLocks noChangeShapeType="1"/>
            </p:cNvSpPr>
            <p:nvPr/>
          </p:nvSpPr>
          <p:spPr bwMode="auto">
            <a:xfrm>
              <a:off x="8042275" y="2343150"/>
              <a:ext cx="0" cy="255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6" name="Line 76"/>
            <p:cNvSpPr>
              <a:spLocks noChangeShapeType="1"/>
            </p:cNvSpPr>
            <p:nvPr/>
          </p:nvSpPr>
          <p:spPr bwMode="auto">
            <a:xfrm>
              <a:off x="8066088" y="3209925"/>
              <a:ext cx="0" cy="2857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7" name="Line 77"/>
            <p:cNvSpPr>
              <a:spLocks noChangeShapeType="1"/>
            </p:cNvSpPr>
            <p:nvPr/>
          </p:nvSpPr>
          <p:spPr bwMode="auto">
            <a:xfrm flipH="1">
              <a:off x="5067300" y="3495675"/>
              <a:ext cx="2998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8" name="Line 78"/>
            <p:cNvSpPr>
              <a:spLocks noChangeShapeType="1"/>
            </p:cNvSpPr>
            <p:nvPr/>
          </p:nvSpPr>
          <p:spPr bwMode="auto">
            <a:xfrm>
              <a:off x="5067300" y="1590675"/>
              <a:ext cx="0" cy="1905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59" name="Line 79"/>
            <p:cNvSpPr>
              <a:spLocks noChangeShapeType="1"/>
            </p:cNvSpPr>
            <p:nvPr/>
          </p:nvSpPr>
          <p:spPr bwMode="auto">
            <a:xfrm>
              <a:off x="5187950" y="1533525"/>
              <a:ext cx="2857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60" name="Line 80"/>
            <p:cNvSpPr>
              <a:spLocks noChangeShapeType="1"/>
            </p:cNvSpPr>
            <p:nvPr/>
          </p:nvSpPr>
          <p:spPr bwMode="auto">
            <a:xfrm>
              <a:off x="5835650" y="1147763"/>
              <a:ext cx="306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61" name="Line 81"/>
            <p:cNvSpPr>
              <a:spLocks noChangeShapeType="1"/>
            </p:cNvSpPr>
            <p:nvPr/>
          </p:nvSpPr>
          <p:spPr bwMode="auto">
            <a:xfrm>
              <a:off x="5894388" y="1989138"/>
              <a:ext cx="306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62" name="Text Box 82"/>
            <p:cNvSpPr txBox="1">
              <a:spLocks noChangeArrowheads="1"/>
            </p:cNvSpPr>
            <p:nvPr/>
          </p:nvSpPr>
          <p:spPr bwMode="auto">
            <a:xfrm>
              <a:off x="6362700" y="690563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/>
                <a:t>R</a:t>
              </a:r>
              <a:r>
                <a:rPr lang="en-US" altLang="zh-CN" baseline="-25000" dirty="0"/>
                <a:t>1</a:t>
              </a:r>
              <a:endParaRPr lang="en-US" altLang="zh-CN" i="1" dirty="0"/>
            </a:p>
          </p:txBody>
        </p:sp>
        <p:graphicFrame>
          <p:nvGraphicFramePr>
            <p:cNvPr id="481363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9472384"/>
                </p:ext>
              </p:extLst>
            </p:nvPr>
          </p:nvGraphicFramePr>
          <p:xfrm>
            <a:off x="5119688" y="1038225"/>
            <a:ext cx="354013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648" name="公式" r:id="rId9" imgW="164880" imgH="228600" progId="Equation.3">
                    <p:embed/>
                  </p:oleObj>
                </mc:Choice>
                <mc:Fallback>
                  <p:oleObj name="公式" r:id="rId9" imgW="164880" imgH="228600" progId="Equation.3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9688" y="1038225"/>
                          <a:ext cx="354013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64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2298017"/>
                </p:ext>
              </p:extLst>
            </p:nvPr>
          </p:nvGraphicFramePr>
          <p:xfrm>
            <a:off x="5748338" y="652463"/>
            <a:ext cx="393700" cy="511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649" name="公式" r:id="rId11" imgW="177480" imgH="228600" progId="Equation.3">
                    <p:embed/>
                  </p:oleObj>
                </mc:Choice>
                <mc:Fallback>
                  <p:oleObj name="公式" r:id="rId11" imgW="177480" imgH="228600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8338" y="652463"/>
                          <a:ext cx="393700" cy="511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65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6060465"/>
                </p:ext>
              </p:extLst>
            </p:nvPr>
          </p:nvGraphicFramePr>
          <p:xfrm>
            <a:off x="5835650" y="1470025"/>
            <a:ext cx="407988" cy="557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650" name="公式" r:id="rId13" imgW="177480" imgH="241200" progId="Equation.3">
                    <p:embed/>
                  </p:oleObj>
                </mc:Choice>
                <mc:Fallback>
                  <p:oleObj name="公式" r:id="rId13" imgW="177480" imgH="241200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5650" y="1470025"/>
                          <a:ext cx="407988" cy="557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66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0222251"/>
                </p:ext>
              </p:extLst>
            </p:nvPr>
          </p:nvGraphicFramePr>
          <p:xfrm>
            <a:off x="6362700" y="1398588"/>
            <a:ext cx="838200" cy="668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651" name="Equation" r:id="rId15" imgW="507960" imgH="406080" progId="Equation.DSMT4">
                    <p:embed/>
                  </p:oleObj>
                </mc:Choice>
                <mc:Fallback>
                  <p:oleObj name="Equation" r:id="rId15" imgW="507960" imgH="406080" progId="Equation.DSMT4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2700" y="1398588"/>
                          <a:ext cx="838200" cy="668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67" name="Object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6434049"/>
                </p:ext>
              </p:extLst>
            </p:nvPr>
          </p:nvGraphicFramePr>
          <p:xfrm>
            <a:off x="7513638" y="2741613"/>
            <a:ext cx="5524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652" name="公式" r:id="rId17" imgW="317160" imgH="203040" progId="Equation.3">
                    <p:embed/>
                  </p:oleObj>
                </mc:Choice>
                <mc:Fallback>
                  <p:oleObj name="公式" r:id="rId17" imgW="317160" imgH="203040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3638" y="2741613"/>
                          <a:ext cx="552450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椭圆 89"/>
            <p:cNvSpPr/>
            <p:nvPr/>
          </p:nvSpPr>
          <p:spPr bwMode="auto">
            <a:xfrm>
              <a:off x="5665582" y="1558310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1" name="椭圆 90"/>
            <p:cNvSpPr/>
            <p:nvPr/>
          </p:nvSpPr>
          <p:spPr bwMode="auto">
            <a:xfrm>
              <a:off x="7124850" y="1592441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8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8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1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1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1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1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68" grpId="0" autoUpdateAnimBg="0"/>
      <p:bldP spid="48136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306" name="Group 2"/>
          <p:cNvGrpSpPr>
            <a:grpSpLocks/>
          </p:cNvGrpSpPr>
          <p:nvPr/>
        </p:nvGrpSpPr>
        <p:grpSpPr bwMode="auto">
          <a:xfrm>
            <a:off x="1425575" y="1816100"/>
            <a:ext cx="1147763" cy="622300"/>
            <a:chOff x="3710" y="1720"/>
            <a:chExt cx="723" cy="392"/>
          </a:xfrm>
        </p:grpSpPr>
        <p:sp>
          <p:nvSpPr>
            <p:cNvPr id="482307" name="AutoShape 3"/>
            <p:cNvSpPr>
              <a:spLocks/>
            </p:cNvSpPr>
            <p:nvPr/>
          </p:nvSpPr>
          <p:spPr bwMode="auto">
            <a:xfrm rot="-5400000">
              <a:off x="3994" y="1436"/>
              <a:ext cx="156" cy="723"/>
            </a:xfrm>
            <a:prstGeom prst="leftBrace">
              <a:avLst>
                <a:gd name="adj1" fmla="val 38622"/>
                <a:gd name="adj2" fmla="val 50000"/>
              </a:avLst>
            </a:prstGeom>
            <a:noFill/>
            <a:ln w="25400">
              <a:solidFill>
                <a:srgbClr val="FF00FF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08" name="Text Box 4"/>
            <p:cNvSpPr txBox="1">
              <a:spLocks noChangeArrowheads="1"/>
            </p:cNvSpPr>
            <p:nvPr/>
          </p:nvSpPr>
          <p:spPr bwMode="auto">
            <a:xfrm>
              <a:off x="3927" y="1824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0000"/>
                  </a:solidFill>
                </a:rPr>
                <a:t>Z</a:t>
              </a:r>
              <a:r>
                <a:rPr lang="en-US" altLang="zh-CN" baseline="-25000">
                  <a:solidFill>
                    <a:srgbClr val="FF0000"/>
                  </a:solidFill>
                </a:rPr>
                <a:t>1</a:t>
              </a:r>
              <a:endParaRPr lang="en-US" altLang="zh-CN" i="1"/>
            </a:p>
          </p:txBody>
        </p:sp>
      </p:grpSp>
      <p:grpSp>
        <p:nvGrpSpPr>
          <p:cNvPr id="482309" name="Group 5"/>
          <p:cNvGrpSpPr>
            <a:grpSpLocks/>
          </p:cNvGrpSpPr>
          <p:nvPr/>
        </p:nvGrpSpPr>
        <p:grpSpPr bwMode="auto">
          <a:xfrm>
            <a:off x="3732213" y="1504950"/>
            <a:ext cx="642937" cy="1276350"/>
            <a:chOff x="5163" y="1524"/>
            <a:chExt cx="405" cy="804"/>
          </a:xfrm>
        </p:grpSpPr>
        <p:sp>
          <p:nvSpPr>
            <p:cNvPr id="482310" name="AutoShape 6"/>
            <p:cNvSpPr>
              <a:spLocks/>
            </p:cNvSpPr>
            <p:nvPr/>
          </p:nvSpPr>
          <p:spPr bwMode="auto">
            <a:xfrm>
              <a:off x="5163" y="1524"/>
              <a:ext cx="129" cy="804"/>
            </a:xfrm>
            <a:prstGeom prst="rightBrace">
              <a:avLst>
                <a:gd name="adj1" fmla="val 51938"/>
                <a:gd name="adj2" fmla="val 50000"/>
              </a:avLst>
            </a:prstGeom>
            <a:noFill/>
            <a:ln w="25400">
              <a:solidFill>
                <a:srgbClr val="FF00FF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11" name="Text Box 7"/>
            <p:cNvSpPr txBox="1">
              <a:spLocks noChangeArrowheads="1"/>
            </p:cNvSpPr>
            <p:nvPr/>
          </p:nvSpPr>
          <p:spPr bwMode="auto">
            <a:xfrm>
              <a:off x="5271" y="1741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0000"/>
                  </a:solidFill>
                </a:rPr>
                <a:t>Z</a:t>
              </a:r>
              <a:r>
                <a:rPr lang="en-US" altLang="zh-CN" baseline="-25000">
                  <a:solidFill>
                    <a:srgbClr val="FF0000"/>
                  </a:solidFill>
                </a:rPr>
                <a:t>2</a:t>
              </a:r>
              <a:endParaRPr lang="en-US" altLang="zh-CN" i="1"/>
            </a:p>
          </p:txBody>
        </p:sp>
      </p:grpSp>
      <p:graphicFrame>
        <p:nvGraphicFramePr>
          <p:cNvPr id="482350" name="Object 46"/>
          <p:cNvGraphicFramePr>
            <a:graphicFrameLocks noChangeAspect="1"/>
          </p:cNvGraphicFramePr>
          <p:nvPr/>
        </p:nvGraphicFramePr>
        <p:xfrm>
          <a:off x="4610100" y="977900"/>
          <a:ext cx="394652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010" name="Equation" r:id="rId3" imgW="1803240" imgH="825480" progId="Equation.DSMT4">
                  <p:embed/>
                </p:oleObj>
              </mc:Choice>
              <mc:Fallback>
                <p:oleObj name="Equation" r:id="rId3" imgW="1803240" imgH="82548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977900"/>
                        <a:ext cx="394652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5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092725"/>
              </p:ext>
            </p:extLst>
          </p:nvPr>
        </p:nvGraphicFramePr>
        <p:xfrm>
          <a:off x="1182949" y="3380583"/>
          <a:ext cx="46037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011" name="Equation" r:id="rId5" imgW="2311200" imgH="368280" progId="Equation.DSMT4">
                  <p:embed/>
                </p:oleObj>
              </mc:Choice>
              <mc:Fallback>
                <p:oleObj name="Equation" r:id="rId5" imgW="2311200" imgH="36828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949" y="3380583"/>
                        <a:ext cx="460375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5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806436"/>
              </p:ext>
            </p:extLst>
          </p:nvPr>
        </p:nvGraphicFramePr>
        <p:xfrm>
          <a:off x="1150938" y="4264025"/>
          <a:ext cx="73025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012" name="Equation" r:id="rId7" imgW="3809880" imgH="596880" progId="Equation.DSMT4">
                  <p:embed/>
                </p:oleObj>
              </mc:Choice>
              <mc:Fallback>
                <p:oleObj name="Equation" r:id="rId7" imgW="3809880" imgH="59688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4264025"/>
                        <a:ext cx="73025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5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752184"/>
              </p:ext>
            </p:extLst>
          </p:nvPr>
        </p:nvGraphicFramePr>
        <p:xfrm>
          <a:off x="1090613" y="5402263"/>
          <a:ext cx="6961187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013" name="Equation" r:id="rId9" imgW="3619440" imgH="520560" progId="Equation.DSMT4">
                  <p:embed/>
                </p:oleObj>
              </mc:Choice>
              <mc:Fallback>
                <p:oleObj name="Equation" r:id="rId9" imgW="3619440" imgH="52056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5402263"/>
                        <a:ext cx="6961187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81000" y="223838"/>
            <a:ext cx="3294857" cy="2900362"/>
            <a:chOff x="381000" y="223838"/>
            <a:chExt cx="3294857" cy="2900362"/>
          </a:xfrm>
        </p:grpSpPr>
        <p:graphicFrame>
          <p:nvGraphicFramePr>
            <p:cNvPr id="48231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5896892"/>
                </p:ext>
              </p:extLst>
            </p:nvPr>
          </p:nvGraphicFramePr>
          <p:xfrm>
            <a:off x="879475" y="1925638"/>
            <a:ext cx="269875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014" name="Equation" r:id="rId11" imgW="139680" imgH="190440" progId="Equation.DSMT4">
                    <p:embed/>
                  </p:oleObj>
                </mc:Choice>
                <mc:Fallback>
                  <p:oleObj name="Equation" r:id="rId11" imgW="139680" imgH="1904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9475" y="1925638"/>
                          <a:ext cx="269875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2314" name="Text Box 10"/>
            <p:cNvSpPr txBox="1">
              <a:spLocks noChangeArrowheads="1"/>
            </p:cNvSpPr>
            <p:nvPr/>
          </p:nvSpPr>
          <p:spPr bwMode="auto">
            <a:xfrm>
              <a:off x="3013075" y="148590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 i="1"/>
                <a:t>R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482315" name="Text Box 11"/>
            <p:cNvSpPr txBox="1">
              <a:spLocks noChangeArrowheads="1"/>
            </p:cNvSpPr>
            <p:nvPr/>
          </p:nvSpPr>
          <p:spPr bwMode="auto">
            <a:xfrm>
              <a:off x="627063" y="1560513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482316" name="Text Box 12"/>
            <p:cNvSpPr txBox="1">
              <a:spLocks noChangeArrowheads="1"/>
            </p:cNvSpPr>
            <p:nvPr/>
          </p:nvSpPr>
          <p:spPr bwMode="auto">
            <a:xfrm>
              <a:off x="631825" y="20955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/>
                <a:t>_</a:t>
              </a:r>
            </a:p>
          </p:txBody>
        </p:sp>
        <p:grpSp>
          <p:nvGrpSpPr>
            <p:cNvPr id="482317" name="Group 13"/>
            <p:cNvGrpSpPr>
              <a:grpSpLocks/>
            </p:cNvGrpSpPr>
            <p:nvPr/>
          </p:nvGrpSpPr>
          <p:grpSpPr bwMode="auto">
            <a:xfrm rot="16200000">
              <a:off x="1798638" y="1585913"/>
              <a:ext cx="350837" cy="152400"/>
              <a:chOff x="3845" y="3156"/>
              <a:chExt cx="221" cy="96"/>
            </a:xfrm>
          </p:grpSpPr>
          <p:sp>
            <p:nvSpPr>
              <p:cNvPr id="482318" name="Line 14"/>
              <p:cNvSpPr>
                <a:spLocks noChangeShapeType="1"/>
              </p:cNvSpPr>
              <p:nvPr/>
            </p:nvSpPr>
            <p:spPr bwMode="auto">
              <a:xfrm>
                <a:off x="3845" y="3156"/>
                <a:ext cx="22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2319" name="Line 15"/>
              <p:cNvSpPr>
                <a:spLocks noChangeShapeType="1"/>
              </p:cNvSpPr>
              <p:nvPr/>
            </p:nvSpPr>
            <p:spPr bwMode="auto">
              <a:xfrm flipV="1">
                <a:off x="3845" y="3249"/>
                <a:ext cx="221" cy="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2320" name="Rectangle 16"/>
            <p:cNvSpPr>
              <a:spLocks noChangeArrowheads="1"/>
            </p:cNvSpPr>
            <p:nvPr/>
          </p:nvSpPr>
          <p:spPr bwMode="auto">
            <a:xfrm>
              <a:off x="3502025" y="1482725"/>
              <a:ext cx="161925" cy="431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82321" name="Group 17"/>
            <p:cNvGrpSpPr>
              <a:grpSpLocks/>
            </p:cNvGrpSpPr>
            <p:nvPr/>
          </p:nvGrpSpPr>
          <p:grpSpPr bwMode="auto">
            <a:xfrm rot="5400000">
              <a:off x="3325813" y="2411413"/>
              <a:ext cx="609600" cy="90488"/>
              <a:chOff x="576" y="711"/>
              <a:chExt cx="384" cy="57"/>
            </a:xfrm>
          </p:grpSpPr>
          <p:sp>
            <p:nvSpPr>
              <p:cNvPr id="482322" name="Freeform 18"/>
              <p:cNvSpPr>
                <a:spLocks/>
              </p:cNvSpPr>
              <p:nvPr/>
            </p:nvSpPr>
            <p:spPr bwMode="auto">
              <a:xfrm>
                <a:off x="576" y="711"/>
                <a:ext cx="98" cy="57"/>
              </a:xfrm>
              <a:custGeom>
                <a:avLst/>
                <a:gdLst>
                  <a:gd name="T0" fmla="*/ 0 w 98"/>
                  <a:gd name="T1" fmla="*/ 57 h 57"/>
                  <a:gd name="T2" fmla="*/ 18 w 98"/>
                  <a:gd name="T3" fmla="*/ 14 h 57"/>
                  <a:gd name="T4" fmla="*/ 47 w 98"/>
                  <a:gd name="T5" fmla="*/ 0 h 57"/>
                  <a:gd name="T6" fmla="*/ 80 w 98"/>
                  <a:gd name="T7" fmla="*/ 14 h 57"/>
                  <a:gd name="T8" fmla="*/ 98 w 98"/>
                  <a:gd name="T9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57">
                    <a:moveTo>
                      <a:pt x="0" y="57"/>
                    </a:moveTo>
                    <a:cubicBezTo>
                      <a:pt x="3" y="50"/>
                      <a:pt x="10" y="23"/>
                      <a:pt x="18" y="14"/>
                    </a:cubicBezTo>
                    <a:cubicBezTo>
                      <a:pt x="26" y="5"/>
                      <a:pt x="37" y="0"/>
                      <a:pt x="47" y="0"/>
                    </a:cubicBezTo>
                    <a:cubicBezTo>
                      <a:pt x="57" y="0"/>
                      <a:pt x="71" y="6"/>
                      <a:pt x="80" y="14"/>
                    </a:cubicBezTo>
                    <a:cubicBezTo>
                      <a:pt x="89" y="22"/>
                      <a:pt x="94" y="42"/>
                      <a:pt x="98" y="4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323" name="Freeform 19"/>
              <p:cNvSpPr>
                <a:spLocks/>
              </p:cNvSpPr>
              <p:nvPr/>
            </p:nvSpPr>
            <p:spPr bwMode="auto">
              <a:xfrm>
                <a:off x="674" y="711"/>
                <a:ext cx="95" cy="51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324" name="Freeform 20"/>
              <p:cNvSpPr>
                <a:spLocks/>
              </p:cNvSpPr>
              <p:nvPr/>
            </p:nvSpPr>
            <p:spPr bwMode="auto">
              <a:xfrm>
                <a:off x="769" y="711"/>
                <a:ext cx="94" cy="48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325" name="Freeform 21"/>
              <p:cNvSpPr>
                <a:spLocks/>
              </p:cNvSpPr>
              <p:nvPr/>
            </p:nvSpPr>
            <p:spPr bwMode="auto">
              <a:xfrm>
                <a:off x="863" y="711"/>
                <a:ext cx="97" cy="54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82326" name="Oval 22"/>
            <p:cNvSpPr>
              <a:spLocks noChangeArrowheads="1"/>
            </p:cNvSpPr>
            <p:nvPr/>
          </p:nvSpPr>
          <p:spPr bwMode="auto">
            <a:xfrm>
              <a:off x="381000" y="1914525"/>
              <a:ext cx="431800" cy="4318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27" name="Line 23"/>
            <p:cNvSpPr>
              <a:spLocks noChangeShapeType="1"/>
            </p:cNvSpPr>
            <p:nvPr/>
          </p:nvSpPr>
          <p:spPr bwMode="auto">
            <a:xfrm>
              <a:off x="1249363" y="812800"/>
              <a:ext cx="1485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28" name="Line 24"/>
            <p:cNvSpPr>
              <a:spLocks noChangeShapeType="1"/>
            </p:cNvSpPr>
            <p:nvPr/>
          </p:nvSpPr>
          <p:spPr bwMode="auto">
            <a:xfrm>
              <a:off x="1250950" y="812800"/>
              <a:ext cx="0" cy="901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29" name="Line 25"/>
            <p:cNvSpPr>
              <a:spLocks noChangeShapeType="1"/>
            </p:cNvSpPr>
            <p:nvPr/>
          </p:nvSpPr>
          <p:spPr bwMode="auto">
            <a:xfrm>
              <a:off x="2717800" y="814388"/>
              <a:ext cx="0" cy="901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30" name="Line 26"/>
            <p:cNvSpPr>
              <a:spLocks noChangeShapeType="1"/>
            </p:cNvSpPr>
            <p:nvPr/>
          </p:nvSpPr>
          <p:spPr bwMode="auto">
            <a:xfrm>
              <a:off x="1250950" y="1698625"/>
              <a:ext cx="6397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31" name="Line 27"/>
            <p:cNvSpPr>
              <a:spLocks noChangeShapeType="1"/>
            </p:cNvSpPr>
            <p:nvPr/>
          </p:nvSpPr>
          <p:spPr bwMode="auto">
            <a:xfrm>
              <a:off x="2097088" y="1698625"/>
              <a:ext cx="6397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32" name="Line 28"/>
            <p:cNvSpPr>
              <a:spLocks noChangeShapeType="1"/>
            </p:cNvSpPr>
            <p:nvPr/>
          </p:nvSpPr>
          <p:spPr bwMode="auto">
            <a:xfrm>
              <a:off x="1249363" y="812800"/>
              <a:ext cx="1485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33" name="Rectangle 29"/>
            <p:cNvSpPr>
              <a:spLocks noChangeArrowheads="1"/>
            </p:cNvSpPr>
            <p:nvPr/>
          </p:nvSpPr>
          <p:spPr bwMode="auto">
            <a:xfrm rot="16200000">
              <a:off x="1924050" y="585788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2334" name="Line 30"/>
            <p:cNvSpPr>
              <a:spLocks noChangeShapeType="1"/>
            </p:cNvSpPr>
            <p:nvPr/>
          </p:nvSpPr>
          <p:spPr bwMode="auto">
            <a:xfrm>
              <a:off x="603250" y="1181100"/>
              <a:ext cx="6477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35" name="Line 31"/>
            <p:cNvSpPr>
              <a:spLocks noChangeShapeType="1"/>
            </p:cNvSpPr>
            <p:nvPr/>
          </p:nvSpPr>
          <p:spPr bwMode="auto">
            <a:xfrm>
              <a:off x="2717800" y="1219200"/>
              <a:ext cx="860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36" name="Line 32"/>
            <p:cNvSpPr>
              <a:spLocks noChangeShapeType="1"/>
            </p:cNvSpPr>
            <p:nvPr/>
          </p:nvSpPr>
          <p:spPr bwMode="auto">
            <a:xfrm>
              <a:off x="3578225" y="1219200"/>
              <a:ext cx="0" cy="266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37" name="Line 33"/>
            <p:cNvSpPr>
              <a:spLocks noChangeShapeType="1"/>
            </p:cNvSpPr>
            <p:nvPr/>
          </p:nvSpPr>
          <p:spPr bwMode="auto">
            <a:xfrm>
              <a:off x="3578225" y="1914525"/>
              <a:ext cx="0" cy="255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38" name="Line 34"/>
            <p:cNvSpPr>
              <a:spLocks noChangeShapeType="1"/>
            </p:cNvSpPr>
            <p:nvPr/>
          </p:nvSpPr>
          <p:spPr bwMode="auto">
            <a:xfrm>
              <a:off x="3602038" y="2781300"/>
              <a:ext cx="0" cy="2857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39" name="Line 35"/>
            <p:cNvSpPr>
              <a:spLocks noChangeShapeType="1"/>
            </p:cNvSpPr>
            <p:nvPr/>
          </p:nvSpPr>
          <p:spPr bwMode="auto">
            <a:xfrm flipH="1">
              <a:off x="603250" y="3067050"/>
              <a:ext cx="2998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40" name="Line 36"/>
            <p:cNvSpPr>
              <a:spLocks noChangeShapeType="1"/>
            </p:cNvSpPr>
            <p:nvPr/>
          </p:nvSpPr>
          <p:spPr bwMode="auto">
            <a:xfrm>
              <a:off x="603250" y="1162050"/>
              <a:ext cx="0" cy="1962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41" name="Line 37"/>
            <p:cNvSpPr>
              <a:spLocks noChangeShapeType="1"/>
            </p:cNvSpPr>
            <p:nvPr/>
          </p:nvSpPr>
          <p:spPr bwMode="auto">
            <a:xfrm>
              <a:off x="723900" y="1104900"/>
              <a:ext cx="2857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42" name="Line 38"/>
            <p:cNvSpPr>
              <a:spLocks noChangeShapeType="1"/>
            </p:cNvSpPr>
            <p:nvPr/>
          </p:nvSpPr>
          <p:spPr bwMode="auto">
            <a:xfrm>
              <a:off x="1371600" y="719138"/>
              <a:ext cx="306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43" name="Line 39"/>
            <p:cNvSpPr>
              <a:spLocks noChangeShapeType="1"/>
            </p:cNvSpPr>
            <p:nvPr/>
          </p:nvSpPr>
          <p:spPr bwMode="auto">
            <a:xfrm>
              <a:off x="1430338" y="1560513"/>
              <a:ext cx="306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344" name="Text Box 40"/>
            <p:cNvSpPr txBox="1">
              <a:spLocks noChangeArrowheads="1"/>
            </p:cNvSpPr>
            <p:nvPr/>
          </p:nvSpPr>
          <p:spPr bwMode="auto">
            <a:xfrm>
              <a:off x="1898650" y="261938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graphicFrame>
          <p:nvGraphicFramePr>
            <p:cNvPr id="482345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1577581"/>
                </p:ext>
              </p:extLst>
            </p:nvPr>
          </p:nvGraphicFramePr>
          <p:xfrm>
            <a:off x="655638" y="609600"/>
            <a:ext cx="354013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015" name="公式" r:id="rId13" imgW="164880" imgH="228600" progId="Equation.3">
                    <p:embed/>
                  </p:oleObj>
                </mc:Choice>
                <mc:Fallback>
                  <p:oleObj name="公式" r:id="rId13" imgW="164880" imgH="2286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638" y="609600"/>
                          <a:ext cx="354013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346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3232406"/>
                </p:ext>
              </p:extLst>
            </p:nvPr>
          </p:nvGraphicFramePr>
          <p:xfrm>
            <a:off x="1284288" y="223838"/>
            <a:ext cx="393700" cy="511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016" name="公式" r:id="rId15" imgW="177480" imgH="228600" progId="Equation.3">
                    <p:embed/>
                  </p:oleObj>
                </mc:Choice>
                <mc:Fallback>
                  <p:oleObj name="公式" r:id="rId15" imgW="177480" imgH="2286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4288" y="223838"/>
                          <a:ext cx="393700" cy="511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347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0054445"/>
                </p:ext>
              </p:extLst>
            </p:nvPr>
          </p:nvGraphicFramePr>
          <p:xfrm>
            <a:off x="1371600" y="1041400"/>
            <a:ext cx="407988" cy="557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017" name="公式" r:id="rId17" imgW="177480" imgH="241200" progId="Equation.3">
                    <p:embed/>
                  </p:oleObj>
                </mc:Choice>
                <mc:Fallback>
                  <p:oleObj name="公式" r:id="rId17" imgW="177480" imgH="2412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1600" y="1041400"/>
                          <a:ext cx="407988" cy="557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348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2443129"/>
                </p:ext>
              </p:extLst>
            </p:nvPr>
          </p:nvGraphicFramePr>
          <p:xfrm>
            <a:off x="1898650" y="969963"/>
            <a:ext cx="838200" cy="668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018" name="公式" r:id="rId19" imgW="507960" imgH="406080" progId="Equation.3">
                    <p:embed/>
                  </p:oleObj>
                </mc:Choice>
                <mc:Fallback>
                  <p:oleObj name="公式" r:id="rId19" imgW="507960" imgH="40608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8650" y="969963"/>
                          <a:ext cx="838200" cy="668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349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6867530"/>
                </p:ext>
              </p:extLst>
            </p:nvPr>
          </p:nvGraphicFramePr>
          <p:xfrm>
            <a:off x="3049588" y="2312988"/>
            <a:ext cx="5524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019" name="公式" r:id="rId21" imgW="317160" imgH="203040" progId="Equation.3">
                    <p:embed/>
                  </p:oleObj>
                </mc:Choice>
                <mc:Fallback>
                  <p:oleObj name="公式" r:id="rId21" imgW="317160" imgH="20304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9588" y="2312988"/>
                          <a:ext cx="552450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椭圆 49"/>
            <p:cNvSpPr/>
            <p:nvPr/>
          </p:nvSpPr>
          <p:spPr bwMode="auto">
            <a:xfrm>
              <a:off x="1191214" y="1139415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" name="椭圆 50"/>
            <p:cNvSpPr/>
            <p:nvPr/>
          </p:nvSpPr>
          <p:spPr bwMode="auto">
            <a:xfrm>
              <a:off x="2659650" y="1179512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8230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48230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8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4823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48235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4823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Text Box 2"/>
          <p:cNvSpPr txBox="1">
            <a:spLocks noChangeArrowheads="1"/>
          </p:cNvSpPr>
          <p:nvPr/>
        </p:nvSpPr>
        <p:spPr bwMode="auto">
          <a:xfrm>
            <a:off x="1127125" y="228600"/>
            <a:ext cx="61706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列写电路的网孔电流方程和节点电压方程</a:t>
            </a:r>
          </a:p>
        </p:txBody>
      </p:sp>
      <p:sp>
        <p:nvSpPr>
          <p:cNvPr id="484355" name="Text Box 3"/>
          <p:cNvSpPr txBox="1">
            <a:spLocks noChangeArrowheads="1"/>
          </p:cNvSpPr>
          <p:nvPr/>
        </p:nvSpPr>
        <p:spPr bwMode="auto">
          <a:xfrm>
            <a:off x="304800" y="228600"/>
            <a:ext cx="570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 smtClean="0">
                <a:solidFill>
                  <a:srgbClr val="3333FF"/>
                </a:solidFill>
              </a:rPr>
              <a:t>例</a:t>
            </a:r>
            <a:r>
              <a:rPr lang="en-US" altLang="zh-CN" sz="2000" dirty="0" smtClean="0">
                <a:solidFill>
                  <a:srgbClr val="3333FF"/>
                </a:solidFill>
              </a:rPr>
              <a:t>2</a:t>
            </a:r>
            <a:endParaRPr lang="zh-CN" altLang="en-US" sz="2000" dirty="0"/>
          </a:p>
        </p:txBody>
      </p:sp>
      <p:sp>
        <p:nvSpPr>
          <p:cNvPr id="484356" name="Text Box 4"/>
          <p:cNvSpPr txBox="1">
            <a:spLocks noChangeArrowheads="1"/>
          </p:cNvSpPr>
          <p:nvPr/>
        </p:nvSpPr>
        <p:spPr bwMode="auto">
          <a:xfrm>
            <a:off x="304800" y="3733800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FF0000"/>
                </a:solidFill>
              </a:rPr>
              <a:t>解</a:t>
            </a:r>
            <a:r>
              <a:rPr lang="zh-CN" altLang="en-US" sz="2000"/>
              <a:t>：</a:t>
            </a:r>
          </a:p>
        </p:txBody>
      </p:sp>
      <p:sp>
        <p:nvSpPr>
          <p:cNvPr id="484447" name="Text Box 95"/>
          <p:cNvSpPr txBox="1">
            <a:spLocks noChangeArrowheads="1"/>
          </p:cNvSpPr>
          <p:nvPr/>
        </p:nvSpPr>
        <p:spPr bwMode="auto">
          <a:xfrm>
            <a:off x="1127125" y="3810000"/>
            <a:ext cx="12350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000"/>
              <a:t>网孔法</a:t>
            </a:r>
            <a:r>
              <a:rPr lang="en-US" altLang="zh-CN" sz="2000"/>
              <a:t>:</a:t>
            </a:r>
          </a:p>
        </p:txBody>
      </p:sp>
      <p:graphicFrame>
        <p:nvGraphicFramePr>
          <p:cNvPr id="484448" name="Object 96"/>
          <p:cNvGraphicFramePr>
            <a:graphicFrameLocks noChangeAspect="1"/>
          </p:cNvGraphicFramePr>
          <p:nvPr/>
        </p:nvGraphicFramePr>
        <p:xfrm>
          <a:off x="1441450" y="4221163"/>
          <a:ext cx="5727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121" name="Equation" r:id="rId3" imgW="2412720" imgH="215640" progId="Equation.DSMT4">
                  <p:embed/>
                </p:oleObj>
              </mc:Choice>
              <mc:Fallback>
                <p:oleObj name="Equation" r:id="rId3" imgW="2412720" imgH="215640" progId="Equation.DSMT4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450" y="4221163"/>
                        <a:ext cx="5727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449" name="Object 97"/>
          <p:cNvGraphicFramePr>
            <a:graphicFrameLocks noChangeAspect="1"/>
          </p:cNvGraphicFramePr>
          <p:nvPr/>
        </p:nvGraphicFramePr>
        <p:xfrm>
          <a:off x="1425575" y="4829175"/>
          <a:ext cx="59340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122" name="Equation" r:id="rId5" imgW="2616120" imgH="215640" progId="Equation.DSMT4">
                  <p:embed/>
                </p:oleObj>
              </mc:Choice>
              <mc:Fallback>
                <p:oleObj name="Equation" r:id="rId5" imgW="2616120" imgH="215640" progId="Equation.DSMT4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4829175"/>
                        <a:ext cx="59340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450" name="Object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444841"/>
              </p:ext>
            </p:extLst>
          </p:nvPr>
        </p:nvGraphicFramePr>
        <p:xfrm>
          <a:off x="1504950" y="5272088"/>
          <a:ext cx="5653088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123" name="Equation" r:id="rId7" imgW="2476440" imgH="380880" progId="Equation.DSMT4">
                  <p:embed/>
                </p:oleObj>
              </mc:Choice>
              <mc:Fallback>
                <p:oleObj name="Equation" r:id="rId7" imgW="2476440" imgH="380880" progId="Equation.DSMT4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5272088"/>
                        <a:ext cx="5653088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451" name="Object 99"/>
          <p:cNvGraphicFramePr>
            <a:graphicFrameLocks noChangeAspect="1"/>
          </p:cNvGraphicFramePr>
          <p:nvPr/>
        </p:nvGraphicFramePr>
        <p:xfrm>
          <a:off x="1520825" y="5967413"/>
          <a:ext cx="9953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124" name="Equation" r:id="rId9" imgW="393480" imgH="215640" progId="Equation.DSMT4">
                  <p:embed/>
                </p:oleObj>
              </mc:Choice>
              <mc:Fallback>
                <p:oleObj name="Equation" r:id="rId9" imgW="393480" imgH="215640" progId="Equation.DSMT4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825" y="5967413"/>
                        <a:ext cx="99536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452" name="AutoShape 100"/>
          <p:cNvSpPr>
            <a:spLocks/>
          </p:cNvSpPr>
          <p:nvPr/>
        </p:nvSpPr>
        <p:spPr bwMode="auto">
          <a:xfrm>
            <a:off x="1152525" y="4400550"/>
            <a:ext cx="152400" cy="1905000"/>
          </a:xfrm>
          <a:prstGeom prst="leftBrace">
            <a:avLst>
              <a:gd name="adj1" fmla="val 104167"/>
              <a:gd name="adj2" fmla="val 50000"/>
            </a:avLst>
          </a:prstGeom>
          <a:noFill/>
          <a:ln w="38100">
            <a:solidFill>
              <a:srgbClr val="FF00FF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51299" y="638175"/>
            <a:ext cx="3944501" cy="2847975"/>
            <a:chOff x="551299" y="638175"/>
            <a:chExt cx="3944501" cy="2847975"/>
          </a:xfrm>
        </p:grpSpPr>
        <p:sp>
          <p:nvSpPr>
            <p:cNvPr id="484358" name="Line 6"/>
            <p:cNvSpPr>
              <a:spLocks noChangeShapeType="1"/>
            </p:cNvSpPr>
            <p:nvPr/>
          </p:nvSpPr>
          <p:spPr bwMode="auto">
            <a:xfrm>
              <a:off x="3962400" y="1257300"/>
              <a:ext cx="0" cy="2133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59" name="Oval 7"/>
            <p:cNvSpPr>
              <a:spLocks noChangeArrowheads="1"/>
            </p:cNvSpPr>
            <p:nvPr/>
          </p:nvSpPr>
          <p:spPr bwMode="auto">
            <a:xfrm>
              <a:off x="1295400" y="1066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360" name="Text Box 8"/>
            <p:cNvSpPr txBox="1">
              <a:spLocks noChangeArrowheads="1"/>
            </p:cNvSpPr>
            <p:nvPr/>
          </p:nvSpPr>
          <p:spPr bwMode="auto">
            <a:xfrm>
              <a:off x="1676400" y="838200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sym typeface="Symbol" pitchFamily="18" charset="2"/>
                </a:rPr>
                <a:t>+</a:t>
              </a:r>
            </a:p>
          </p:txBody>
        </p:sp>
        <p:sp>
          <p:nvSpPr>
            <p:cNvPr id="484361" name="Text Box 9"/>
            <p:cNvSpPr txBox="1">
              <a:spLocks noChangeArrowheads="1"/>
            </p:cNvSpPr>
            <p:nvPr/>
          </p:nvSpPr>
          <p:spPr bwMode="auto">
            <a:xfrm>
              <a:off x="939800" y="66675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sym typeface="Symbol" pitchFamily="18" charset="2"/>
                </a:rPr>
                <a:t>_</a:t>
              </a:r>
            </a:p>
          </p:txBody>
        </p:sp>
        <p:sp>
          <p:nvSpPr>
            <p:cNvPr id="484362" name="Oval 10"/>
            <p:cNvSpPr>
              <a:spLocks noChangeArrowheads="1"/>
            </p:cNvSpPr>
            <p:nvPr/>
          </p:nvSpPr>
          <p:spPr bwMode="auto">
            <a:xfrm>
              <a:off x="3771900" y="20955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363" name="Line 11"/>
            <p:cNvSpPr>
              <a:spLocks noChangeShapeType="1"/>
            </p:cNvSpPr>
            <p:nvPr/>
          </p:nvSpPr>
          <p:spPr bwMode="auto">
            <a:xfrm flipV="1">
              <a:off x="4114800" y="1638300"/>
              <a:ext cx="0" cy="4572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4" name="Line 12"/>
            <p:cNvSpPr>
              <a:spLocks noChangeShapeType="1"/>
            </p:cNvSpPr>
            <p:nvPr/>
          </p:nvSpPr>
          <p:spPr bwMode="auto">
            <a:xfrm>
              <a:off x="3771900" y="2286000"/>
              <a:ext cx="381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5" name="Line 13"/>
            <p:cNvSpPr>
              <a:spLocks noChangeShapeType="1"/>
            </p:cNvSpPr>
            <p:nvPr/>
          </p:nvSpPr>
          <p:spPr bwMode="auto">
            <a:xfrm>
              <a:off x="609600" y="1257300"/>
              <a:ext cx="3352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6" name="Line 14"/>
            <p:cNvSpPr>
              <a:spLocks noChangeShapeType="1"/>
            </p:cNvSpPr>
            <p:nvPr/>
          </p:nvSpPr>
          <p:spPr bwMode="auto">
            <a:xfrm>
              <a:off x="609600" y="1257300"/>
              <a:ext cx="0" cy="2133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7" name="Line 15"/>
            <p:cNvSpPr>
              <a:spLocks noChangeShapeType="1"/>
            </p:cNvSpPr>
            <p:nvPr/>
          </p:nvSpPr>
          <p:spPr bwMode="auto">
            <a:xfrm>
              <a:off x="609600" y="3390900"/>
              <a:ext cx="3352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8" name="Line 16"/>
            <p:cNvSpPr>
              <a:spLocks noChangeShapeType="1"/>
            </p:cNvSpPr>
            <p:nvPr/>
          </p:nvSpPr>
          <p:spPr bwMode="auto">
            <a:xfrm>
              <a:off x="2286000" y="1257300"/>
              <a:ext cx="0" cy="2133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4369" name="Group 17"/>
            <p:cNvGrpSpPr>
              <a:grpSpLocks/>
            </p:cNvGrpSpPr>
            <p:nvPr/>
          </p:nvGrpSpPr>
          <p:grpSpPr bwMode="auto">
            <a:xfrm>
              <a:off x="762000" y="2247900"/>
              <a:ext cx="762000" cy="76200"/>
              <a:chOff x="2352" y="2688"/>
              <a:chExt cx="576" cy="96"/>
            </a:xfrm>
          </p:grpSpPr>
          <p:sp>
            <p:nvSpPr>
              <p:cNvPr id="484370" name="Arc 18"/>
              <p:cNvSpPr>
                <a:spLocks/>
              </p:cNvSpPr>
              <p:nvPr/>
            </p:nvSpPr>
            <p:spPr bwMode="auto">
              <a:xfrm flipH="1">
                <a:off x="2448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371" name="Arc 19"/>
              <p:cNvSpPr>
                <a:spLocks/>
              </p:cNvSpPr>
              <p:nvPr/>
            </p:nvSpPr>
            <p:spPr bwMode="auto">
              <a:xfrm flipH="1">
                <a:off x="2544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372" name="Arc 20"/>
              <p:cNvSpPr>
                <a:spLocks/>
              </p:cNvSpPr>
              <p:nvPr/>
            </p:nvSpPr>
            <p:spPr bwMode="auto">
              <a:xfrm flipH="1">
                <a:off x="2640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373" name="Arc 21"/>
              <p:cNvSpPr>
                <a:spLocks/>
              </p:cNvSpPr>
              <p:nvPr/>
            </p:nvSpPr>
            <p:spPr bwMode="auto">
              <a:xfrm flipH="1">
                <a:off x="2736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374" name="Line 22"/>
              <p:cNvSpPr>
                <a:spLocks noChangeShapeType="1"/>
              </p:cNvSpPr>
              <p:nvPr/>
            </p:nvSpPr>
            <p:spPr bwMode="auto">
              <a:xfrm>
                <a:off x="2352" y="2784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375" name="Line 23"/>
              <p:cNvSpPr>
                <a:spLocks noChangeShapeType="1"/>
              </p:cNvSpPr>
              <p:nvPr/>
            </p:nvSpPr>
            <p:spPr bwMode="auto">
              <a:xfrm>
                <a:off x="2832" y="2784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4376" name="Line 24"/>
            <p:cNvSpPr>
              <a:spLocks noChangeShapeType="1"/>
            </p:cNvSpPr>
            <p:nvPr/>
          </p:nvSpPr>
          <p:spPr bwMode="auto">
            <a:xfrm>
              <a:off x="609600" y="2324100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77" name="Line 25"/>
            <p:cNvSpPr>
              <a:spLocks noChangeShapeType="1"/>
            </p:cNvSpPr>
            <p:nvPr/>
          </p:nvSpPr>
          <p:spPr bwMode="auto">
            <a:xfrm>
              <a:off x="1447800" y="2324100"/>
              <a:ext cx="838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78" name="Rectangle 26"/>
            <p:cNvSpPr>
              <a:spLocks noChangeArrowheads="1"/>
            </p:cNvSpPr>
            <p:nvPr/>
          </p:nvSpPr>
          <p:spPr bwMode="auto">
            <a:xfrm rot="16200000">
              <a:off x="1752600" y="2171700"/>
              <a:ext cx="1524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379" name="Rectangle 27"/>
            <p:cNvSpPr>
              <a:spLocks noChangeArrowheads="1"/>
            </p:cNvSpPr>
            <p:nvPr/>
          </p:nvSpPr>
          <p:spPr bwMode="auto">
            <a:xfrm>
              <a:off x="2190750" y="1562100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380" name="Rectangle 28"/>
            <p:cNvSpPr>
              <a:spLocks noChangeArrowheads="1"/>
            </p:cNvSpPr>
            <p:nvPr/>
          </p:nvSpPr>
          <p:spPr bwMode="auto">
            <a:xfrm>
              <a:off x="2190750" y="2628900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381" name="Rectangle 29"/>
            <p:cNvSpPr>
              <a:spLocks noChangeArrowheads="1"/>
            </p:cNvSpPr>
            <p:nvPr/>
          </p:nvSpPr>
          <p:spPr bwMode="auto">
            <a:xfrm rot="16200000">
              <a:off x="1352550" y="3162300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382" name="Line 30"/>
            <p:cNvSpPr>
              <a:spLocks noChangeShapeType="1"/>
            </p:cNvSpPr>
            <p:nvPr/>
          </p:nvSpPr>
          <p:spPr bwMode="auto">
            <a:xfrm>
              <a:off x="3200400" y="1257300"/>
              <a:ext cx="0" cy="990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83" name="Line 31"/>
            <p:cNvSpPr>
              <a:spLocks noChangeShapeType="1"/>
            </p:cNvSpPr>
            <p:nvPr/>
          </p:nvSpPr>
          <p:spPr bwMode="auto">
            <a:xfrm>
              <a:off x="3200400" y="2400300"/>
              <a:ext cx="0" cy="990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84" name="Line 32"/>
            <p:cNvSpPr>
              <a:spLocks noChangeShapeType="1"/>
            </p:cNvSpPr>
            <p:nvPr/>
          </p:nvSpPr>
          <p:spPr bwMode="auto">
            <a:xfrm>
              <a:off x="3048000" y="22479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85" name="Line 33"/>
            <p:cNvSpPr>
              <a:spLocks noChangeShapeType="1"/>
            </p:cNvSpPr>
            <p:nvPr/>
          </p:nvSpPr>
          <p:spPr bwMode="auto">
            <a:xfrm>
              <a:off x="3048000" y="24003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4386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5717820"/>
                </p:ext>
              </p:extLst>
            </p:nvPr>
          </p:nvGraphicFramePr>
          <p:xfrm>
            <a:off x="1338263" y="638175"/>
            <a:ext cx="323850" cy="474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125" name="Equation" r:id="rId11" imgW="139680" imgH="203040" progId="Equation.DSMT4">
                    <p:embed/>
                  </p:oleObj>
                </mc:Choice>
                <mc:Fallback>
                  <p:oleObj name="Equation" r:id="rId11" imgW="139680" imgH="20304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263" y="638175"/>
                          <a:ext cx="323850" cy="474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4387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9822166"/>
                </p:ext>
              </p:extLst>
            </p:nvPr>
          </p:nvGraphicFramePr>
          <p:xfrm>
            <a:off x="4146550" y="1638300"/>
            <a:ext cx="34925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126" name="公式" r:id="rId13" imgW="139680" imgH="228600" progId="Equation.3">
                    <p:embed/>
                  </p:oleObj>
                </mc:Choice>
                <mc:Fallback>
                  <p:oleObj name="公式" r:id="rId13" imgW="139680" imgH="2286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6550" y="1638300"/>
                          <a:ext cx="349250" cy="571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4388" name="Text Box 36"/>
            <p:cNvSpPr txBox="1">
              <a:spLocks noChangeArrowheads="1"/>
            </p:cNvSpPr>
            <p:nvPr/>
          </p:nvSpPr>
          <p:spPr bwMode="auto">
            <a:xfrm>
              <a:off x="990600" y="1866900"/>
              <a:ext cx="3968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L</a:t>
              </a:r>
            </a:p>
          </p:txBody>
        </p:sp>
        <p:sp>
          <p:nvSpPr>
            <p:cNvPr id="484389" name="Text Box 37"/>
            <p:cNvSpPr txBox="1">
              <a:spLocks noChangeArrowheads="1"/>
            </p:cNvSpPr>
            <p:nvPr/>
          </p:nvSpPr>
          <p:spPr bwMode="auto">
            <a:xfrm>
              <a:off x="1524000" y="179070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484390" name="Text Box 38"/>
            <p:cNvSpPr txBox="1">
              <a:spLocks noChangeArrowheads="1"/>
            </p:cNvSpPr>
            <p:nvPr/>
          </p:nvSpPr>
          <p:spPr bwMode="auto">
            <a:xfrm>
              <a:off x="2330450" y="156210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2</a:t>
              </a:r>
              <a:endParaRPr lang="en-US" altLang="zh-CN" i="1"/>
            </a:p>
          </p:txBody>
        </p:sp>
        <p:sp>
          <p:nvSpPr>
            <p:cNvPr id="484391" name="Text Box 39"/>
            <p:cNvSpPr txBox="1">
              <a:spLocks noChangeArrowheads="1"/>
            </p:cNvSpPr>
            <p:nvPr/>
          </p:nvSpPr>
          <p:spPr bwMode="auto">
            <a:xfrm>
              <a:off x="2330450" y="262890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3</a:t>
              </a:r>
              <a:endParaRPr lang="en-US" altLang="zh-CN" i="1"/>
            </a:p>
          </p:txBody>
        </p:sp>
        <p:sp>
          <p:nvSpPr>
            <p:cNvPr id="484392" name="Text Box 40"/>
            <p:cNvSpPr txBox="1">
              <a:spLocks noChangeArrowheads="1"/>
            </p:cNvSpPr>
            <p:nvPr/>
          </p:nvSpPr>
          <p:spPr bwMode="auto">
            <a:xfrm>
              <a:off x="1295400" y="285750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4</a:t>
              </a:r>
              <a:endParaRPr lang="en-US" altLang="zh-CN" i="1"/>
            </a:p>
          </p:txBody>
        </p:sp>
        <p:sp>
          <p:nvSpPr>
            <p:cNvPr id="484393" name="Text Box 41"/>
            <p:cNvSpPr txBox="1">
              <a:spLocks noChangeArrowheads="1"/>
            </p:cNvSpPr>
            <p:nvPr/>
          </p:nvSpPr>
          <p:spPr bwMode="auto">
            <a:xfrm>
              <a:off x="2819400" y="179070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</a:p>
          </p:txBody>
        </p:sp>
        <p:sp>
          <p:nvSpPr>
            <p:cNvPr id="101" name="椭圆 100"/>
            <p:cNvSpPr/>
            <p:nvPr/>
          </p:nvSpPr>
          <p:spPr bwMode="auto">
            <a:xfrm>
              <a:off x="2227851" y="1219201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" name="椭圆 101"/>
            <p:cNvSpPr/>
            <p:nvPr/>
          </p:nvSpPr>
          <p:spPr bwMode="auto">
            <a:xfrm>
              <a:off x="3148601" y="1206739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3" name="椭圆 102"/>
            <p:cNvSpPr/>
            <p:nvPr/>
          </p:nvSpPr>
          <p:spPr bwMode="auto">
            <a:xfrm>
              <a:off x="2232668" y="2263195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4" name="椭圆 103"/>
            <p:cNvSpPr/>
            <p:nvPr/>
          </p:nvSpPr>
          <p:spPr bwMode="auto">
            <a:xfrm>
              <a:off x="551299" y="2263195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5" name="椭圆 104"/>
            <p:cNvSpPr/>
            <p:nvPr/>
          </p:nvSpPr>
          <p:spPr bwMode="auto">
            <a:xfrm>
              <a:off x="2232668" y="3333904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6" name="椭圆 105"/>
            <p:cNvSpPr/>
            <p:nvPr/>
          </p:nvSpPr>
          <p:spPr bwMode="auto">
            <a:xfrm>
              <a:off x="3151228" y="3343804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747802" y="588964"/>
            <a:ext cx="4113623" cy="2840039"/>
            <a:chOff x="4747802" y="588964"/>
            <a:chExt cx="4113623" cy="2840039"/>
          </a:xfrm>
        </p:grpSpPr>
        <p:grpSp>
          <p:nvGrpSpPr>
            <p:cNvPr id="484431" name="Group 79"/>
            <p:cNvGrpSpPr>
              <a:grpSpLocks/>
            </p:cNvGrpSpPr>
            <p:nvPr/>
          </p:nvGrpSpPr>
          <p:grpSpPr bwMode="auto">
            <a:xfrm>
              <a:off x="5119688" y="1550988"/>
              <a:ext cx="1066800" cy="304800"/>
              <a:chOff x="3513" y="2345"/>
              <a:chExt cx="672" cy="192"/>
            </a:xfrm>
          </p:grpSpPr>
          <p:sp>
            <p:nvSpPr>
              <p:cNvPr id="484432" name="Arc 80"/>
              <p:cNvSpPr>
                <a:spLocks/>
              </p:cNvSpPr>
              <p:nvPr/>
            </p:nvSpPr>
            <p:spPr bwMode="auto">
              <a:xfrm>
                <a:off x="3513" y="2345"/>
                <a:ext cx="672" cy="19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1600 w 43200"/>
                  <a:gd name="T1" fmla="*/ 0 h 43200"/>
                  <a:gd name="T2" fmla="*/ 14335 w 43200"/>
                  <a:gd name="T3" fmla="*/ 1258 h 43200"/>
                  <a:gd name="T4" fmla="*/ 21600 w 4320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471"/>
                      <a:pt x="5738" y="4328"/>
                      <a:pt x="14335" y="125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471"/>
                      <a:pt x="5738" y="4328"/>
                      <a:pt x="14335" y="125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433" name="Line 81"/>
              <p:cNvSpPr>
                <a:spLocks noChangeShapeType="1"/>
              </p:cNvSpPr>
              <p:nvPr/>
            </p:nvSpPr>
            <p:spPr bwMode="auto">
              <a:xfrm flipV="1">
                <a:off x="3728" y="2345"/>
                <a:ext cx="144" cy="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84434" name="Object 8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4964177"/>
                  </p:ext>
                </p:extLst>
              </p:nvPr>
            </p:nvGraphicFramePr>
            <p:xfrm>
              <a:off x="3743" y="2352"/>
              <a:ext cx="129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5127" name="公式" r:id="rId15" imgW="164880" imgH="228600" progId="Equation.3">
                      <p:embed/>
                    </p:oleObj>
                  </mc:Choice>
                  <mc:Fallback>
                    <p:oleObj name="公式" r:id="rId15" imgW="164880" imgH="228600" progId="Equation.3">
                      <p:embed/>
                      <p:pic>
                        <p:nvPicPr>
                          <p:cNvPr id="0" name="Object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3" y="2352"/>
                            <a:ext cx="129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84435" name="Group 83"/>
            <p:cNvGrpSpPr>
              <a:grpSpLocks/>
            </p:cNvGrpSpPr>
            <p:nvPr/>
          </p:nvGrpSpPr>
          <p:grpSpPr bwMode="auto">
            <a:xfrm>
              <a:off x="5105400" y="2509845"/>
              <a:ext cx="1066800" cy="309563"/>
              <a:chOff x="3024" y="2877"/>
              <a:chExt cx="672" cy="195"/>
            </a:xfrm>
          </p:grpSpPr>
          <p:sp>
            <p:nvSpPr>
              <p:cNvPr id="484436" name="Arc 84"/>
              <p:cNvSpPr>
                <a:spLocks/>
              </p:cNvSpPr>
              <p:nvPr/>
            </p:nvSpPr>
            <p:spPr bwMode="auto">
              <a:xfrm>
                <a:off x="3024" y="2880"/>
                <a:ext cx="672" cy="19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1600 w 43200"/>
                  <a:gd name="T1" fmla="*/ 0 h 43200"/>
                  <a:gd name="T2" fmla="*/ 14335 w 43200"/>
                  <a:gd name="T3" fmla="*/ 1258 h 43200"/>
                  <a:gd name="T4" fmla="*/ 21600 w 4320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471"/>
                      <a:pt x="5738" y="4328"/>
                      <a:pt x="14335" y="125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471"/>
                      <a:pt x="5738" y="4328"/>
                      <a:pt x="14335" y="125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437" name="Line 85"/>
              <p:cNvSpPr>
                <a:spLocks noChangeShapeType="1"/>
              </p:cNvSpPr>
              <p:nvPr/>
            </p:nvSpPr>
            <p:spPr bwMode="auto">
              <a:xfrm flipV="1">
                <a:off x="3234" y="2877"/>
                <a:ext cx="140" cy="1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84438" name="Object 8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4127450"/>
                  </p:ext>
                </p:extLst>
              </p:nvPr>
            </p:nvGraphicFramePr>
            <p:xfrm>
              <a:off x="3258" y="2891"/>
              <a:ext cx="132" cy="1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5128" name="公式" r:id="rId17" imgW="177480" imgH="228600" progId="Equation.3">
                      <p:embed/>
                    </p:oleObj>
                  </mc:Choice>
                  <mc:Fallback>
                    <p:oleObj name="公式" r:id="rId17" imgW="177480" imgH="228600" progId="Equation.3">
                      <p:embed/>
                      <p:pic>
                        <p:nvPicPr>
                          <p:cNvPr id="0" name="Object 8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58" y="2891"/>
                            <a:ext cx="132" cy="1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84439" name="Group 87"/>
            <p:cNvGrpSpPr>
              <a:grpSpLocks/>
            </p:cNvGrpSpPr>
            <p:nvPr/>
          </p:nvGrpSpPr>
          <p:grpSpPr bwMode="auto">
            <a:xfrm>
              <a:off x="7773974" y="1524000"/>
              <a:ext cx="304800" cy="1066800"/>
              <a:chOff x="4992" y="2592"/>
              <a:chExt cx="192" cy="672"/>
            </a:xfrm>
          </p:grpSpPr>
          <p:sp>
            <p:nvSpPr>
              <p:cNvPr id="484440" name="Arc 88"/>
              <p:cNvSpPr>
                <a:spLocks/>
              </p:cNvSpPr>
              <p:nvPr/>
            </p:nvSpPr>
            <p:spPr bwMode="auto">
              <a:xfrm rot="16200000" flipH="1">
                <a:off x="4752" y="2832"/>
                <a:ext cx="672" cy="19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1600 w 43200"/>
                  <a:gd name="T1" fmla="*/ 0 h 43200"/>
                  <a:gd name="T2" fmla="*/ 14335 w 43200"/>
                  <a:gd name="T3" fmla="*/ 1258 h 43200"/>
                  <a:gd name="T4" fmla="*/ 21600 w 4320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471"/>
                      <a:pt x="5738" y="4328"/>
                      <a:pt x="14335" y="125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471"/>
                      <a:pt x="5738" y="4328"/>
                      <a:pt x="14335" y="125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441" name="Line 89"/>
              <p:cNvSpPr>
                <a:spLocks noChangeShapeType="1"/>
              </p:cNvSpPr>
              <p:nvPr/>
            </p:nvSpPr>
            <p:spPr bwMode="auto">
              <a:xfrm rot="16200000" flipH="1" flipV="1">
                <a:off x="4924" y="2876"/>
                <a:ext cx="144" cy="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84442" name="Object 9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7705404"/>
                  </p:ext>
                </p:extLst>
              </p:nvPr>
            </p:nvGraphicFramePr>
            <p:xfrm>
              <a:off x="5032" y="2796"/>
              <a:ext cx="133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5129" name="公式" r:id="rId19" imgW="164880" imgH="228600" progId="Equation.3">
                      <p:embed/>
                    </p:oleObj>
                  </mc:Choice>
                  <mc:Fallback>
                    <p:oleObj name="公式" r:id="rId19" imgW="164880" imgH="228600" progId="Equation.3">
                      <p:embed/>
                      <p:pic>
                        <p:nvPicPr>
                          <p:cNvPr id="0" name="Object 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2" y="2796"/>
                            <a:ext cx="133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84443" name="Group 91"/>
            <p:cNvGrpSpPr>
              <a:grpSpLocks/>
            </p:cNvGrpSpPr>
            <p:nvPr/>
          </p:nvGrpSpPr>
          <p:grpSpPr bwMode="auto">
            <a:xfrm>
              <a:off x="6858000" y="1676400"/>
              <a:ext cx="311150" cy="1066800"/>
              <a:chOff x="4656" y="3264"/>
              <a:chExt cx="196" cy="672"/>
            </a:xfrm>
          </p:grpSpPr>
          <p:sp>
            <p:nvSpPr>
              <p:cNvPr id="484444" name="Arc 92"/>
              <p:cNvSpPr>
                <a:spLocks/>
              </p:cNvSpPr>
              <p:nvPr/>
            </p:nvSpPr>
            <p:spPr bwMode="auto">
              <a:xfrm rot="5400000">
                <a:off x="4416" y="3504"/>
                <a:ext cx="672" cy="19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1600 w 43200"/>
                  <a:gd name="T1" fmla="*/ 0 h 43200"/>
                  <a:gd name="T2" fmla="*/ 14335 w 43200"/>
                  <a:gd name="T3" fmla="*/ 1258 h 43200"/>
                  <a:gd name="T4" fmla="*/ 21600 w 4320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471"/>
                      <a:pt x="5738" y="4328"/>
                      <a:pt x="14335" y="125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471"/>
                      <a:pt x="5738" y="4328"/>
                      <a:pt x="14335" y="125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445" name="Line 93"/>
              <p:cNvSpPr>
                <a:spLocks noChangeShapeType="1"/>
              </p:cNvSpPr>
              <p:nvPr/>
            </p:nvSpPr>
            <p:spPr bwMode="auto">
              <a:xfrm rot="5400000" flipV="1">
                <a:off x="4780" y="3549"/>
                <a:ext cx="134" cy="1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84446" name="Object 9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27757732"/>
                  </p:ext>
                </p:extLst>
              </p:nvPr>
            </p:nvGraphicFramePr>
            <p:xfrm>
              <a:off x="4686" y="3502"/>
              <a:ext cx="131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5130" name="公式" r:id="rId21" imgW="177480" imgH="241200" progId="Equation.3">
                      <p:embed/>
                    </p:oleObj>
                  </mc:Choice>
                  <mc:Fallback>
                    <p:oleObj name="公式" r:id="rId21" imgW="177480" imgH="241200" progId="Equation.3">
                      <p:embed/>
                      <p:pic>
                        <p:nvPicPr>
                          <p:cNvPr id="0" name="Object 9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6" y="3502"/>
                            <a:ext cx="131" cy="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84395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8588173"/>
                </p:ext>
              </p:extLst>
            </p:nvPr>
          </p:nvGraphicFramePr>
          <p:xfrm>
            <a:off x="8553450" y="1676402"/>
            <a:ext cx="307975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131" name="公式" r:id="rId23" imgW="164880" imgH="241200" progId="Equation.3">
                    <p:embed/>
                  </p:oleObj>
                </mc:Choice>
                <mc:Fallback>
                  <p:oleObj name="公式" r:id="rId23" imgW="164880" imgH="2412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53450" y="1676402"/>
                          <a:ext cx="307975" cy="450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4396" name="Line 44"/>
            <p:cNvSpPr>
              <a:spLocks noChangeShapeType="1"/>
            </p:cNvSpPr>
            <p:nvPr/>
          </p:nvSpPr>
          <p:spPr bwMode="auto">
            <a:xfrm>
              <a:off x="8362950" y="1200152"/>
              <a:ext cx="0" cy="21336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97" name="Oval 45"/>
            <p:cNvSpPr>
              <a:spLocks noChangeArrowheads="1"/>
            </p:cNvSpPr>
            <p:nvPr/>
          </p:nvSpPr>
          <p:spPr bwMode="auto">
            <a:xfrm>
              <a:off x="5486400" y="1009652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398" name="Text Box 46"/>
            <p:cNvSpPr txBox="1">
              <a:spLocks noChangeArrowheads="1"/>
            </p:cNvSpPr>
            <p:nvPr/>
          </p:nvSpPr>
          <p:spPr bwMode="auto">
            <a:xfrm>
              <a:off x="5867400" y="781052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sym typeface="Symbol" pitchFamily="18" charset="2"/>
                </a:rPr>
                <a:t>+</a:t>
              </a:r>
            </a:p>
          </p:txBody>
        </p:sp>
        <p:sp>
          <p:nvSpPr>
            <p:cNvPr id="484399" name="Text Box 47"/>
            <p:cNvSpPr txBox="1">
              <a:spLocks noChangeArrowheads="1"/>
            </p:cNvSpPr>
            <p:nvPr/>
          </p:nvSpPr>
          <p:spPr bwMode="auto">
            <a:xfrm>
              <a:off x="5130800" y="609602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sym typeface="Symbol" pitchFamily="18" charset="2"/>
                </a:rPr>
                <a:t>_</a:t>
              </a:r>
            </a:p>
          </p:txBody>
        </p:sp>
        <p:sp>
          <p:nvSpPr>
            <p:cNvPr id="484400" name="Oval 48"/>
            <p:cNvSpPr>
              <a:spLocks noChangeArrowheads="1"/>
            </p:cNvSpPr>
            <p:nvPr/>
          </p:nvSpPr>
          <p:spPr bwMode="auto">
            <a:xfrm>
              <a:off x="8172450" y="2038352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401" name="Line 49"/>
            <p:cNvSpPr>
              <a:spLocks noChangeShapeType="1"/>
            </p:cNvSpPr>
            <p:nvPr/>
          </p:nvSpPr>
          <p:spPr bwMode="auto">
            <a:xfrm flipV="1">
              <a:off x="8515350" y="1581152"/>
              <a:ext cx="0" cy="4572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02" name="Line 50"/>
            <p:cNvSpPr>
              <a:spLocks noChangeShapeType="1"/>
            </p:cNvSpPr>
            <p:nvPr/>
          </p:nvSpPr>
          <p:spPr bwMode="auto">
            <a:xfrm>
              <a:off x="8172450" y="2228852"/>
              <a:ext cx="381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03" name="Line 51"/>
            <p:cNvSpPr>
              <a:spLocks noChangeShapeType="1"/>
            </p:cNvSpPr>
            <p:nvPr/>
          </p:nvSpPr>
          <p:spPr bwMode="auto">
            <a:xfrm>
              <a:off x="4800600" y="1200152"/>
              <a:ext cx="0" cy="21336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04" name="Line 52"/>
            <p:cNvSpPr>
              <a:spLocks noChangeShapeType="1"/>
            </p:cNvSpPr>
            <p:nvPr/>
          </p:nvSpPr>
          <p:spPr bwMode="auto">
            <a:xfrm>
              <a:off x="6477000" y="1200152"/>
              <a:ext cx="0" cy="21336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4405" name="Group 53"/>
            <p:cNvGrpSpPr>
              <a:grpSpLocks/>
            </p:cNvGrpSpPr>
            <p:nvPr/>
          </p:nvGrpSpPr>
          <p:grpSpPr bwMode="auto">
            <a:xfrm>
              <a:off x="4953000" y="2190752"/>
              <a:ext cx="762000" cy="76200"/>
              <a:chOff x="2352" y="2688"/>
              <a:chExt cx="576" cy="96"/>
            </a:xfrm>
          </p:grpSpPr>
          <p:sp>
            <p:nvSpPr>
              <p:cNvPr id="484406" name="Arc 54"/>
              <p:cNvSpPr>
                <a:spLocks/>
              </p:cNvSpPr>
              <p:nvPr/>
            </p:nvSpPr>
            <p:spPr bwMode="auto">
              <a:xfrm flipH="1">
                <a:off x="2448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407" name="Arc 55"/>
              <p:cNvSpPr>
                <a:spLocks/>
              </p:cNvSpPr>
              <p:nvPr/>
            </p:nvSpPr>
            <p:spPr bwMode="auto">
              <a:xfrm flipH="1">
                <a:off x="2544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408" name="Arc 56"/>
              <p:cNvSpPr>
                <a:spLocks/>
              </p:cNvSpPr>
              <p:nvPr/>
            </p:nvSpPr>
            <p:spPr bwMode="auto">
              <a:xfrm flipH="1">
                <a:off x="2640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409" name="Arc 57"/>
              <p:cNvSpPr>
                <a:spLocks/>
              </p:cNvSpPr>
              <p:nvPr/>
            </p:nvSpPr>
            <p:spPr bwMode="auto">
              <a:xfrm flipH="1">
                <a:off x="2736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410" name="Line 58"/>
              <p:cNvSpPr>
                <a:spLocks noChangeShapeType="1"/>
              </p:cNvSpPr>
              <p:nvPr/>
            </p:nvSpPr>
            <p:spPr bwMode="auto">
              <a:xfrm>
                <a:off x="2352" y="2784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4411" name="Line 59"/>
              <p:cNvSpPr>
                <a:spLocks noChangeShapeType="1"/>
              </p:cNvSpPr>
              <p:nvPr/>
            </p:nvSpPr>
            <p:spPr bwMode="auto">
              <a:xfrm>
                <a:off x="2832" y="2784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4412" name="Line 60"/>
            <p:cNvSpPr>
              <a:spLocks noChangeShapeType="1"/>
            </p:cNvSpPr>
            <p:nvPr/>
          </p:nvSpPr>
          <p:spPr bwMode="auto">
            <a:xfrm>
              <a:off x="4800600" y="2266952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13" name="Line 61"/>
            <p:cNvSpPr>
              <a:spLocks noChangeShapeType="1"/>
            </p:cNvSpPr>
            <p:nvPr/>
          </p:nvSpPr>
          <p:spPr bwMode="auto">
            <a:xfrm>
              <a:off x="5638800" y="2266952"/>
              <a:ext cx="838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14" name="Rectangle 62"/>
            <p:cNvSpPr>
              <a:spLocks noChangeArrowheads="1"/>
            </p:cNvSpPr>
            <p:nvPr/>
          </p:nvSpPr>
          <p:spPr bwMode="auto">
            <a:xfrm rot="16200000">
              <a:off x="5943600" y="2114552"/>
              <a:ext cx="1524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415" name="Rectangle 63"/>
            <p:cNvSpPr>
              <a:spLocks noChangeArrowheads="1"/>
            </p:cNvSpPr>
            <p:nvPr/>
          </p:nvSpPr>
          <p:spPr bwMode="auto">
            <a:xfrm>
              <a:off x="6381750" y="1504952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416" name="Rectangle 64"/>
            <p:cNvSpPr>
              <a:spLocks noChangeArrowheads="1"/>
            </p:cNvSpPr>
            <p:nvPr/>
          </p:nvSpPr>
          <p:spPr bwMode="auto">
            <a:xfrm>
              <a:off x="6381750" y="2571753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4417" name="Line 65"/>
            <p:cNvSpPr>
              <a:spLocks noChangeShapeType="1"/>
            </p:cNvSpPr>
            <p:nvPr/>
          </p:nvSpPr>
          <p:spPr bwMode="auto">
            <a:xfrm>
              <a:off x="7391400" y="1200152"/>
              <a:ext cx="0" cy="9906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18" name="Line 66"/>
            <p:cNvSpPr>
              <a:spLocks noChangeShapeType="1"/>
            </p:cNvSpPr>
            <p:nvPr/>
          </p:nvSpPr>
          <p:spPr bwMode="auto">
            <a:xfrm>
              <a:off x="7391400" y="2343152"/>
              <a:ext cx="0" cy="9906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19" name="Line 67"/>
            <p:cNvSpPr>
              <a:spLocks noChangeShapeType="1"/>
            </p:cNvSpPr>
            <p:nvPr/>
          </p:nvSpPr>
          <p:spPr bwMode="auto">
            <a:xfrm>
              <a:off x="7239000" y="2190752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20" name="Line 68"/>
            <p:cNvSpPr>
              <a:spLocks noChangeShapeType="1"/>
            </p:cNvSpPr>
            <p:nvPr/>
          </p:nvSpPr>
          <p:spPr bwMode="auto">
            <a:xfrm>
              <a:off x="7239000" y="2343152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21" name="Text Box 69"/>
            <p:cNvSpPr txBox="1">
              <a:spLocks noChangeArrowheads="1"/>
            </p:cNvSpPr>
            <p:nvPr/>
          </p:nvSpPr>
          <p:spPr bwMode="auto">
            <a:xfrm>
              <a:off x="5753100" y="1752602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484422" name="Text Box 70"/>
            <p:cNvSpPr txBox="1">
              <a:spLocks noChangeArrowheads="1"/>
            </p:cNvSpPr>
            <p:nvPr/>
          </p:nvSpPr>
          <p:spPr bwMode="auto">
            <a:xfrm>
              <a:off x="6540500" y="1524002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2</a:t>
              </a:r>
              <a:endParaRPr lang="en-US" altLang="zh-CN" i="1"/>
            </a:p>
          </p:txBody>
        </p:sp>
        <p:sp>
          <p:nvSpPr>
            <p:cNvPr id="484423" name="Text Box 71"/>
            <p:cNvSpPr txBox="1">
              <a:spLocks noChangeArrowheads="1"/>
            </p:cNvSpPr>
            <p:nvPr/>
          </p:nvSpPr>
          <p:spPr bwMode="auto">
            <a:xfrm>
              <a:off x="6534150" y="2590803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3</a:t>
              </a:r>
              <a:endParaRPr lang="en-US" altLang="zh-CN" i="1"/>
            </a:p>
          </p:txBody>
        </p:sp>
        <p:sp>
          <p:nvSpPr>
            <p:cNvPr id="484424" name="Text Box 72"/>
            <p:cNvSpPr txBox="1">
              <a:spLocks noChangeArrowheads="1"/>
            </p:cNvSpPr>
            <p:nvPr/>
          </p:nvSpPr>
          <p:spPr bwMode="auto">
            <a:xfrm>
              <a:off x="5372100" y="2781303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/>
                <a:t>R</a:t>
              </a:r>
              <a:r>
                <a:rPr lang="en-US" altLang="zh-CN" baseline="-25000"/>
                <a:t>4</a:t>
              </a:r>
              <a:endParaRPr lang="en-US" altLang="zh-CN" i="1"/>
            </a:p>
          </p:txBody>
        </p:sp>
        <p:graphicFrame>
          <p:nvGraphicFramePr>
            <p:cNvPr id="484425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2659416"/>
                </p:ext>
              </p:extLst>
            </p:nvPr>
          </p:nvGraphicFramePr>
          <p:xfrm>
            <a:off x="4991100" y="1828802"/>
            <a:ext cx="61595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132" name="公式" r:id="rId25" imgW="317160" imgH="203040" progId="Equation.3">
                    <p:embed/>
                  </p:oleObj>
                </mc:Choice>
                <mc:Fallback>
                  <p:oleObj name="公式" r:id="rId25" imgW="317160" imgH="203040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1100" y="1828802"/>
                          <a:ext cx="61595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4427" name="Line 75"/>
            <p:cNvSpPr>
              <a:spLocks noChangeShapeType="1"/>
            </p:cNvSpPr>
            <p:nvPr/>
          </p:nvSpPr>
          <p:spPr bwMode="auto">
            <a:xfrm>
              <a:off x="4800600" y="3333753"/>
              <a:ext cx="3581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28" name="Line 76"/>
            <p:cNvSpPr>
              <a:spLocks noChangeShapeType="1"/>
            </p:cNvSpPr>
            <p:nvPr/>
          </p:nvSpPr>
          <p:spPr bwMode="auto">
            <a:xfrm>
              <a:off x="4800600" y="1200152"/>
              <a:ext cx="3581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429" name="Rectangle 77"/>
            <p:cNvSpPr>
              <a:spLocks noChangeArrowheads="1"/>
            </p:cNvSpPr>
            <p:nvPr/>
          </p:nvSpPr>
          <p:spPr bwMode="auto">
            <a:xfrm rot="16200000">
              <a:off x="5543550" y="3105153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84430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8342465"/>
                </p:ext>
              </p:extLst>
            </p:nvPr>
          </p:nvGraphicFramePr>
          <p:xfrm>
            <a:off x="5537200" y="588964"/>
            <a:ext cx="344488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133" name="Equation" r:id="rId27" imgW="164880" imgH="215640" progId="Equation.DSMT4">
                    <p:embed/>
                  </p:oleObj>
                </mc:Choice>
                <mc:Fallback>
                  <p:oleObj name="Equation" r:id="rId27" imgW="164880" imgH="21564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7200" y="588964"/>
                          <a:ext cx="344488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" name="椭圆 106"/>
            <p:cNvSpPr/>
            <p:nvPr/>
          </p:nvSpPr>
          <p:spPr bwMode="auto">
            <a:xfrm>
              <a:off x="6424202" y="1143060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8" name="椭圆 107"/>
            <p:cNvSpPr/>
            <p:nvPr/>
          </p:nvSpPr>
          <p:spPr bwMode="auto">
            <a:xfrm>
              <a:off x="7333251" y="1138993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9" name="椭圆 108"/>
            <p:cNvSpPr/>
            <p:nvPr/>
          </p:nvSpPr>
          <p:spPr bwMode="auto">
            <a:xfrm>
              <a:off x="4747802" y="2210116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0" name="椭圆 109"/>
            <p:cNvSpPr/>
            <p:nvPr/>
          </p:nvSpPr>
          <p:spPr bwMode="auto">
            <a:xfrm>
              <a:off x="6426735" y="2218326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1" name="椭圆 110"/>
            <p:cNvSpPr/>
            <p:nvPr/>
          </p:nvSpPr>
          <p:spPr bwMode="auto">
            <a:xfrm>
              <a:off x="6425735" y="3283127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2" name="椭圆 111"/>
            <p:cNvSpPr/>
            <p:nvPr/>
          </p:nvSpPr>
          <p:spPr bwMode="auto">
            <a:xfrm>
              <a:off x="7343884" y="3282636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113" name="对象 1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658395"/>
                </p:ext>
              </p:extLst>
            </p:nvPr>
          </p:nvGraphicFramePr>
          <p:xfrm>
            <a:off x="7391161" y="2114554"/>
            <a:ext cx="611414" cy="720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134" name="Equation" r:id="rId29" imgW="355320" imgH="419040" progId="Equation.DSMT4">
                    <p:embed/>
                  </p:oleObj>
                </mc:Choice>
                <mc:Fallback>
                  <p:oleObj name="Equation" r:id="rId29" imgW="35532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7391161" y="2114554"/>
                          <a:ext cx="611414" cy="7205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84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4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8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4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4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4" grpId="0" autoUpdateAnimBg="0"/>
      <p:bldP spid="484355" grpId="0" autoUpdateAnimBg="0"/>
      <p:bldP spid="484356" grpId="0" autoUpdateAnimBg="0"/>
      <p:bldP spid="484447" grpId="0" autoUpdateAnimBg="0"/>
      <p:bldP spid="48445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378" name="Group 2"/>
          <p:cNvGrpSpPr>
            <a:grpSpLocks/>
          </p:cNvGrpSpPr>
          <p:nvPr/>
        </p:nvGrpSpPr>
        <p:grpSpPr bwMode="auto">
          <a:xfrm>
            <a:off x="1752600" y="1752600"/>
            <a:ext cx="571500" cy="419100"/>
            <a:chOff x="816" y="3168"/>
            <a:chExt cx="360" cy="264"/>
          </a:xfrm>
        </p:grpSpPr>
        <p:grpSp>
          <p:nvGrpSpPr>
            <p:cNvPr id="485379" name="Group 3"/>
            <p:cNvGrpSpPr>
              <a:grpSpLocks/>
            </p:cNvGrpSpPr>
            <p:nvPr/>
          </p:nvGrpSpPr>
          <p:grpSpPr bwMode="auto">
            <a:xfrm>
              <a:off x="816" y="3312"/>
              <a:ext cx="261" cy="120"/>
              <a:chOff x="720" y="1824"/>
              <a:chExt cx="261" cy="120"/>
            </a:xfrm>
          </p:grpSpPr>
          <p:sp>
            <p:nvSpPr>
              <p:cNvPr id="485380" name="Line 4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5381" name="Line 5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5382" name="Line 6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85383" name="Line 7"/>
            <p:cNvSpPr>
              <a:spLocks noChangeShapeType="1"/>
            </p:cNvSpPr>
            <p:nvPr/>
          </p:nvSpPr>
          <p:spPr bwMode="auto">
            <a:xfrm>
              <a:off x="933" y="316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84" name="Line 8"/>
            <p:cNvSpPr>
              <a:spLocks noChangeShapeType="1"/>
            </p:cNvSpPr>
            <p:nvPr/>
          </p:nvSpPr>
          <p:spPr bwMode="auto">
            <a:xfrm>
              <a:off x="936" y="316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85425" name="Text Box 49"/>
          <p:cNvSpPr txBox="1">
            <a:spLocks noChangeArrowheads="1"/>
          </p:cNvSpPr>
          <p:nvPr/>
        </p:nvSpPr>
        <p:spPr bwMode="auto">
          <a:xfrm>
            <a:off x="381000" y="2971800"/>
            <a:ext cx="10438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/>
              <a:t>节点法</a:t>
            </a:r>
            <a:r>
              <a:rPr lang="en-US" altLang="zh-CN" sz="2000" dirty="0"/>
              <a:t>:</a:t>
            </a:r>
          </a:p>
        </p:txBody>
      </p:sp>
      <p:graphicFrame>
        <p:nvGraphicFramePr>
          <p:cNvPr id="485426" name="Object 50"/>
          <p:cNvGraphicFramePr>
            <a:graphicFrameLocks noChangeAspect="1"/>
          </p:cNvGraphicFramePr>
          <p:nvPr/>
        </p:nvGraphicFramePr>
        <p:xfrm>
          <a:off x="1855788" y="3533775"/>
          <a:ext cx="10175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66" name="Equation" r:id="rId3" imgW="444240" imgH="215640" progId="Equation.DSMT4">
                  <p:embed/>
                </p:oleObj>
              </mc:Choice>
              <mc:Fallback>
                <p:oleObj name="Equation" r:id="rId3" imgW="444240" imgH="21564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3533775"/>
                        <a:ext cx="1017587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42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673488"/>
              </p:ext>
            </p:extLst>
          </p:nvPr>
        </p:nvGraphicFramePr>
        <p:xfrm>
          <a:off x="1574800" y="4086225"/>
          <a:ext cx="5964238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67" name="Equation" r:id="rId5" imgW="2616120" imgH="431640" progId="Equation.DSMT4">
                  <p:embed/>
                </p:oleObj>
              </mc:Choice>
              <mc:Fallback>
                <p:oleObj name="Equation" r:id="rId5" imgW="2616120" imgH="43164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4086225"/>
                        <a:ext cx="5964238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42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280023"/>
              </p:ext>
            </p:extLst>
          </p:nvPr>
        </p:nvGraphicFramePr>
        <p:xfrm>
          <a:off x="1606550" y="5210175"/>
          <a:ext cx="581818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68" name="Equation" r:id="rId7" imgW="2552400" imgH="431640" progId="Equation.DSMT4">
                  <p:embed/>
                </p:oleObj>
              </mc:Choice>
              <mc:Fallback>
                <p:oleObj name="Equation" r:id="rId7" imgW="2552400" imgH="43164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5210175"/>
                        <a:ext cx="5818188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429" name="AutoShape 53"/>
          <p:cNvSpPr>
            <a:spLocks/>
          </p:cNvSpPr>
          <p:nvPr/>
        </p:nvSpPr>
        <p:spPr bwMode="auto">
          <a:xfrm>
            <a:off x="1240971" y="3733800"/>
            <a:ext cx="206829" cy="2209800"/>
          </a:xfrm>
          <a:prstGeom prst="leftBrace">
            <a:avLst>
              <a:gd name="adj1" fmla="val 241667"/>
              <a:gd name="adj2" fmla="val 50000"/>
            </a:avLst>
          </a:prstGeom>
          <a:noFill/>
          <a:ln w="19050">
            <a:solidFill>
              <a:srgbClr val="FF00FF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272629" y="53975"/>
            <a:ext cx="4136335" cy="3244523"/>
            <a:chOff x="2272629" y="53975"/>
            <a:chExt cx="4136335" cy="3244523"/>
          </a:xfrm>
        </p:grpSpPr>
        <p:graphicFrame>
          <p:nvGraphicFramePr>
            <p:cNvPr id="485422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0625149"/>
                </p:ext>
              </p:extLst>
            </p:nvPr>
          </p:nvGraphicFramePr>
          <p:xfrm>
            <a:off x="3819525" y="193839"/>
            <a:ext cx="400050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69" name="Equation" r:id="rId9" imgW="190440" imgH="215640" progId="Equation.DSMT4">
                    <p:embed/>
                  </p:oleObj>
                </mc:Choice>
                <mc:Fallback>
                  <p:oleObj name="Equation" r:id="rId9" imgW="190440" imgH="21564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9525" y="193839"/>
                          <a:ext cx="400050" cy="452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5423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7108054"/>
                </p:ext>
              </p:extLst>
            </p:nvPr>
          </p:nvGraphicFramePr>
          <p:xfrm>
            <a:off x="4029075" y="1531938"/>
            <a:ext cx="427038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70" name="Equation" r:id="rId11" imgW="203040" imgH="215640" progId="Equation.DSMT4">
                    <p:embed/>
                  </p:oleObj>
                </mc:Choice>
                <mc:Fallback>
                  <p:oleObj name="Equation" r:id="rId11" imgW="203040" imgH="21564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9075" y="1531938"/>
                          <a:ext cx="427038" cy="452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5424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0684830"/>
                </p:ext>
              </p:extLst>
            </p:nvPr>
          </p:nvGraphicFramePr>
          <p:xfrm>
            <a:off x="3865672" y="2846061"/>
            <a:ext cx="401637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71" name="Equation" r:id="rId13" imgW="190440" imgH="215640" progId="Equation.DSMT4">
                    <p:embed/>
                  </p:oleObj>
                </mc:Choice>
                <mc:Fallback>
                  <p:oleObj name="Equation" r:id="rId13" imgW="190440" imgH="215640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5672" y="2846061"/>
                          <a:ext cx="401637" cy="452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5419" name="Line 43"/>
            <p:cNvSpPr>
              <a:spLocks noChangeShapeType="1"/>
            </p:cNvSpPr>
            <p:nvPr/>
          </p:nvSpPr>
          <p:spPr bwMode="auto">
            <a:xfrm>
              <a:off x="2324100" y="685800"/>
              <a:ext cx="3581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87" name="Line 11"/>
            <p:cNvSpPr>
              <a:spLocks noChangeShapeType="1"/>
            </p:cNvSpPr>
            <p:nvPr/>
          </p:nvSpPr>
          <p:spPr bwMode="auto">
            <a:xfrm>
              <a:off x="5886450" y="685800"/>
              <a:ext cx="0" cy="2133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88" name="Oval 12"/>
            <p:cNvSpPr>
              <a:spLocks noChangeArrowheads="1"/>
            </p:cNvSpPr>
            <p:nvPr/>
          </p:nvSpPr>
          <p:spPr bwMode="auto">
            <a:xfrm>
              <a:off x="3009900" y="4953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5389" name="Text Box 13"/>
            <p:cNvSpPr txBox="1">
              <a:spLocks noChangeArrowheads="1"/>
            </p:cNvSpPr>
            <p:nvPr/>
          </p:nvSpPr>
          <p:spPr bwMode="auto">
            <a:xfrm>
              <a:off x="3390900" y="266700"/>
              <a:ext cx="35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sym typeface="Symbol" pitchFamily="18" charset="2"/>
                </a:rPr>
                <a:t>+</a:t>
              </a:r>
            </a:p>
          </p:txBody>
        </p:sp>
        <p:sp>
          <p:nvSpPr>
            <p:cNvPr id="485390" name="Text Box 14"/>
            <p:cNvSpPr txBox="1">
              <a:spLocks noChangeArrowheads="1"/>
            </p:cNvSpPr>
            <p:nvPr/>
          </p:nvSpPr>
          <p:spPr bwMode="auto">
            <a:xfrm>
              <a:off x="2654300" y="9525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tx2"/>
                  </a:solidFill>
                  <a:sym typeface="Symbol" pitchFamily="18" charset="2"/>
                </a:rPr>
                <a:t>_</a:t>
              </a:r>
            </a:p>
          </p:txBody>
        </p:sp>
        <p:sp>
          <p:nvSpPr>
            <p:cNvPr id="485391" name="Oval 15"/>
            <p:cNvSpPr>
              <a:spLocks noChangeArrowheads="1"/>
            </p:cNvSpPr>
            <p:nvPr/>
          </p:nvSpPr>
          <p:spPr bwMode="auto">
            <a:xfrm>
              <a:off x="5695950" y="152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5392" name="Line 16"/>
            <p:cNvSpPr>
              <a:spLocks noChangeShapeType="1"/>
            </p:cNvSpPr>
            <p:nvPr/>
          </p:nvSpPr>
          <p:spPr bwMode="auto">
            <a:xfrm flipV="1">
              <a:off x="6038850" y="1066800"/>
              <a:ext cx="0" cy="4572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93" name="Line 17"/>
            <p:cNvSpPr>
              <a:spLocks noChangeShapeType="1"/>
            </p:cNvSpPr>
            <p:nvPr/>
          </p:nvSpPr>
          <p:spPr bwMode="auto">
            <a:xfrm>
              <a:off x="5695950" y="1714500"/>
              <a:ext cx="381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94" name="Line 18"/>
            <p:cNvSpPr>
              <a:spLocks noChangeShapeType="1"/>
            </p:cNvSpPr>
            <p:nvPr/>
          </p:nvSpPr>
          <p:spPr bwMode="auto">
            <a:xfrm>
              <a:off x="2324100" y="685800"/>
              <a:ext cx="0" cy="2133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95" name="Line 19"/>
            <p:cNvSpPr>
              <a:spLocks noChangeShapeType="1"/>
            </p:cNvSpPr>
            <p:nvPr/>
          </p:nvSpPr>
          <p:spPr bwMode="auto">
            <a:xfrm>
              <a:off x="4000500" y="685800"/>
              <a:ext cx="0" cy="2133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5396" name="Group 20"/>
            <p:cNvGrpSpPr>
              <a:grpSpLocks/>
            </p:cNvGrpSpPr>
            <p:nvPr/>
          </p:nvGrpSpPr>
          <p:grpSpPr bwMode="auto">
            <a:xfrm>
              <a:off x="2476500" y="1676400"/>
              <a:ext cx="762000" cy="76200"/>
              <a:chOff x="2352" y="2688"/>
              <a:chExt cx="576" cy="96"/>
            </a:xfrm>
          </p:grpSpPr>
          <p:sp>
            <p:nvSpPr>
              <p:cNvPr id="485397" name="Arc 21"/>
              <p:cNvSpPr>
                <a:spLocks/>
              </p:cNvSpPr>
              <p:nvPr/>
            </p:nvSpPr>
            <p:spPr bwMode="auto">
              <a:xfrm flipH="1">
                <a:off x="2448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398" name="Arc 22"/>
              <p:cNvSpPr>
                <a:spLocks/>
              </p:cNvSpPr>
              <p:nvPr/>
            </p:nvSpPr>
            <p:spPr bwMode="auto">
              <a:xfrm flipH="1">
                <a:off x="2544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399" name="Arc 23"/>
              <p:cNvSpPr>
                <a:spLocks/>
              </p:cNvSpPr>
              <p:nvPr/>
            </p:nvSpPr>
            <p:spPr bwMode="auto">
              <a:xfrm flipH="1">
                <a:off x="2640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00" name="Arc 24"/>
              <p:cNvSpPr>
                <a:spLocks/>
              </p:cNvSpPr>
              <p:nvPr/>
            </p:nvSpPr>
            <p:spPr bwMode="auto">
              <a:xfrm flipH="1">
                <a:off x="2736" y="2688"/>
                <a:ext cx="96" cy="9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599"/>
                    </a:moveTo>
                    <a:cubicBezTo>
                      <a:pt x="0" y="9670"/>
                      <a:pt x="9671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01" name="Line 25"/>
              <p:cNvSpPr>
                <a:spLocks noChangeShapeType="1"/>
              </p:cNvSpPr>
              <p:nvPr/>
            </p:nvSpPr>
            <p:spPr bwMode="auto">
              <a:xfrm>
                <a:off x="2352" y="2784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02" name="Line 26"/>
              <p:cNvSpPr>
                <a:spLocks noChangeShapeType="1"/>
              </p:cNvSpPr>
              <p:nvPr/>
            </p:nvSpPr>
            <p:spPr bwMode="auto">
              <a:xfrm>
                <a:off x="2832" y="2784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5403" name="Line 27"/>
            <p:cNvSpPr>
              <a:spLocks noChangeShapeType="1"/>
            </p:cNvSpPr>
            <p:nvPr/>
          </p:nvSpPr>
          <p:spPr bwMode="auto">
            <a:xfrm>
              <a:off x="2324100" y="1752600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404" name="Line 28"/>
            <p:cNvSpPr>
              <a:spLocks noChangeShapeType="1"/>
            </p:cNvSpPr>
            <p:nvPr/>
          </p:nvSpPr>
          <p:spPr bwMode="auto">
            <a:xfrm>
              <a:off x="3162300" y="1752600"/>
              <a:ext cx="838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405" name="Rectangle 29"/>
            <p:cNvSpPr>
              <a:spLocks noChangeArrowheads="1"/>
            </p:cNvSpPr>
            <p:nvPr/>
          </p:nvSpPr>
          <p:spPr bwMode="auto">
            <a:xfrm rot="16200000">
              <a:off x="3467100" y="1600200"/>
              <a:ext cx="1524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5406" name="Rectangle 30"/>
            <p:cNvSpPr>
              <a:spLocks noChangeArrowheads="1"/>
            </p:cNvSpPr>
            <p:nvPr/>
          </p:nvSpPr>
          <p:spPr bwMode="auto">
            <a:xfrm>
              <a:off x="3905250" y="990600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5407" name="Rectangle 31"/>
            <p:cNvSpPr>
              <a:spLocks noChangeArrowheads="1"/>
            </p:cNvSpPr>
            <p:nvPr/>
          </p:nvSpPr>
          <p:spPr bwMode="auto">
            <a:xfrm>
              <a:off x="3905250" y="2057400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5408" name="Line 32"/>
            <p:cNvSpPr>
              <a:spLocks noChangeShapeType="1"/>
            </p:cNvSpPr>
            <p:nvPr/>
          </p:nvSpPr>
          <p:spPr bwMode="auto">
            <a:xfrm>
              <a:off x="4914900" y="685800"/>
              <a:ext cx="0" cy="990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409" name="Line 33"/>
            <p:cNvSpPr>
              <a:spLocks noChangeShapeType="1"/>
            </p:cNvSpPr>
            <p:nvPr/>
          </p:nvSpPr>
          <p:spPr bwMode="auto">
            <a:xfrm>
              <a:off x="4914900" y="1828800"/>
              <a:ext cx="0" cy="990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410" name="Line 34"/>
            <p:cNvSpPr>
              <a:spLocks noChangeShapeType="1"/>
            </p:cNvSpPr>
            <p:nvPr/>
          </p:nvSpPr>
          <p:spPr bwMode="auto">
            <a:xfrm>
              <a:off x="4762500" y="16764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411" name="Line 35"/>
            <p:cNvSpPr>
              <a:spLocks noChangeShapeType="1"/>
            </p:cNvSpPr>
            <p:nvPr/>
          </p:nvSpPr>
          <p:spPr bwMode="auto">
            <a:xfrm>
              <a:off x="4762500" y="18288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412" name="Text Box 36"/>
            <p:cNvSpPr txBox="1">
              <a:spLocks noChangeArrowheads="1"/>
            </p:cNvSpPr>
            <p:nvPr/>
          </p:nvSpPr>
          <p:spPr bwMode="auto">
            <a:xfrm>
              <a:off x="3314700" y="121920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i="1" dirty="0"/>
                <a:t>R</a:t>
              </a:r>
              <a:r>
                <a:rPr lang="en-US" altLang="zh-CN" b="0" baseline="-25000" dirty="0"/>
                <a:t>1</a:t>
              </a:r>
              <a:endParaRPr lang="en-US" altLang="zh-CN" b="0" i="1" dirty="0"/>
            </a:p>
          </p:txBody>
        </p:sp>
        <p:sp>
          <p:nvSpPr>
            <p:cNvPr id="485413" name="Text Box 37"/>
            <p:cNvSpPr txBox="1">
              <a:spLocks noChangeArrowheads="1"/>
            </p:cNvSpPr>
            <p:nvPr/>
          </p:nvSpPr>
          <p:spPr bwMode="auto">
            <a:xfrm>
              <a:off x="4064000" y="100965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i="1" dirty="0"/>
                <a:t>R</a:t>
              </a:r>
              <a:r>
                <a:rPr lang="en-US" altLang="zh-CN" b="0" baseline="-25000" dirty="0"/>
                <a:t>2</a:t>
              </a:r>
              <a:endParaRPr lang="en-US" altLang="zh-CN" b="0" i="1" dirty="0"/>
            </a:p>
          </p:txBody>
        </p:sp>
        <p:sp>
          <p:nvSpPr>
            <p:cNvPr id="485414" name="Text Box 38"/>
            <p:cNvSpPr txBox="1">
              <a:spLocks noChangeArrowheads="1"/>
            </p:cNvSpPr>
            <p:nvPr/>
          </p:nvSpPr>
          <p:spPr bwMode="auto">
            <a:xfrm>
              <a:off x="4057650" y="207645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i="1" dirty="0"/>
                <a:t>R</a:t>
              </a:r>
              <a:r>
                <a:rPr lang="en-US" altLang="zh-CN" b="0" baseline="-25000" dirty="0"/>
                <a:t>3</a:t>
              </a:r>
              <a:endParaRPr lang="en-US" altLang="zh-CN" b="0" i="1" dirty="0"/>
            </a:p>
          </p:txBody>
        </p:sp>
        <p:sp>
          <p:nvSpPr>
            <p:cNvPr id="485415" name="Text Box 39"/>
            <p:cNvSpPr txBox="1">
              <a:spLocks noChangeArrowheads="1"/>
            </p:cNvSpPr>
            <p:nvPr/>
          </p:nvSpPr>
          <p:spPr bwMode="auto">
            <a:xfrm>
              <a:off x="2895600" y="2266950"/>
              <a:ext cx="488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 i="1" dirty="0"/>
                <a:t>R</a:t>
              </a:r>
              <a:r>
                <a:rPr lang="en-US" altLang="zh-CN" b="0" baseline="-25000" dirty="0"/>
                <a:t>4</a:t>
              </a:r>
              <a:endParaRPr lang="en-US" altLang="zh-CN" b="0" i="1" dirty="0"/>
            </a:p>
          </p:txBody>
        </p:sp>
        <p:sp>
          <p:nvSpPr>
            <p:cNvPr id="485418" name="Line 42"/>
            <p:cNvSpPr>
              <a:spLocks noChangeShapeType="1"/>
            </p:cNvSpPr>
            <p:nvPr/>
          </p:nvSpPr>
          <p:spPr bwMode="auto">
            <a:xfrm>
              <a:off x="2324100" y="2819400"/>
              <a:ext cx="3581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420" name="Rectangle 44"/>
            <p:cNvSpPr>
              <a:spLocks noChangeArrowheads="1"/>
            </p:cNvSpPr>
            <p:nvPr/>
          </p:nvSpPr>
          <p:spPr bwMode="auto">
            <a:xfrm rot="16200000">
              <a:off x="3067050" y="2590800"/>
              <a:ext cx="190500" cy="457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85421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5952533"/>
                </p:ext>
              </p:extLst>
            </p:nvPr>
          </p:nvGraphicFramePr>
          <p:xfrm>
            <a:off x="3048000" y="53975"/>
            <a:ext cx="344488" cy="449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72" name="Equation" r:id="rId15" imgW="164880" imgH="215640" progId="Equation.DSMT4">
                    <p:embed/>
                  </p:oleObj>
                </mc:Choice>
                <mc:Fallback>
                  <p:oleObj name="Equation" r:id="rId15" imgW="164880" imgH="21564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53975"/>
                          <a:ext cx="344488" cy="449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椭圆 53"/>
            <p:cNvSpPr/>
            <p:nvPr/>
          </p:nvSpPr>
          <p:spPr bwMode="auto">
            <a:xfrm>
              <a:off x="4863635" y="630676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5" name="椭圆 54"/>
            <p:cNvSpPr/>
            <p:nvPr/>
          </p:nvSpPr>
          <p:spPr bwMode="auto">
            <a:xfrm>
              <a:off x="3945951" y="632510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6" name="椭圆 55"/>
            <p:cNvSpPr/>
            <p:nvPr/>
          </p:nvSpPr>
          <p:spPr bwMode="auto">
            <a:xfrm>
              <a:off x="2272629" y="1696736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7" name="椭圆 56"/>
            <p:cNvSpPr/>
            <p:nvPr/>
          </p:nvSpPr>
          <p:spPr bwMode="auto">
            <a:xfrm>
              <a:off x="3951204" y="1697722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8" name="椭圆 57"/>
            <p:cNvSpPr/>
            <p:nvPr/>
          </p:nvSpPr>
          <p:spPr bwMode="auto">
            <a:xfrm>
              <a:off x="4863635" y="2777811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9" name="椭圆 58"/>
            <p:cNvSpPr/>
            <p:nvPr/>
          </p:nvSpPr>
          <p:spPr bwMode="auto">
            <a:xfrm>
              <a:off x="3945635" y="2777811"/>
              <a:ext cx="116298" cy="116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8214896"/>
                </p:ext>
              </p:extLst>
            </p:nvPr>
          </p:nvGraphicFramePr>
          <p:xfrm>
            <a:off x="4965699" y="1571733"/>
            <a:ext cx="611414" cy="720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73" name="Equation" r:id="rId17" imgW="355320" imgH="419040" progId="Equation.DSMT4">
                    <p:embed/>
                  </p:oleObj>
                </mc:Choice>
                <mc:Fallback>
                  <p:oleObj name="Equation" r:id="rId17" imgW="35532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965699" y="1571733"/>
                          <a:ext cx="611414" cy="7205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6497574"/>
                </p:ext>
              </p:extLst>
            </p:nvPr>
          </p:nvGraphicFramePr>
          <p:xfrm>
            <a:off x="2575677" y="1273616"/>
            <a:ext cx="624723" cy="3998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74" name="Equation" r:id="rId19" imgW="317160" imgH="203040" progId="Equation.DSMT4">
                    <p:embed/>
                  </p:oleObj>
                </mc:Choice>
                <mc:Fallback>
                  <p:oleObj name="Equation" r:id="rId19" imgW="3171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575677" y="1273616"/>
                          <a:ext cx="624723" cy="3998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0264714"/>
                </p:ext>
              </p:extLst>
            </p:nvPr>
          </p:nvGraphicFramePr>
          <p:xfrm>
            <a:off x="6090558" y="1099719"/>
            <a:ext cx="318406" cy="465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75" name="Equation" r:id="rId21" imgW="164880" imgH="241200" progId="Equation.DSMT4">
                    <p:embed/>
                  </p:oleObj>
                </mc:Choice>
                <mc:Fallback>
                  <p:oleObj name="Equation" r:id="rId21" imgW="1648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090558" y="1099719"/>
                          <a:ext cx="318406" cy="4653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5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5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5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425" grpId="0" autoUpdateAnimBg="0"/>
      <p:bldP spid="4854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Text Box 2"/>
          <p:cNvSpPr txBox="1">
            <a:spLocks noChangeArrowheads="1"/>
          </p:cNvSpPr>
          <p:nvPr/>
        </p:nvSpPr>
        <p:spPr bwMode="auto">
          <a:xfrm>
            <a:off x="1254125" y="228600"/>
            <a:ext cx="50513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已知：</a:t>
            </a:r>
            <a:r>
              <a:rPr lang="en-US" altLang="zh-CN" sz="2000" b="0" i="1" dirty="0" smtClean="0"/>
              <a:t>Z </a:t>
            </a:r>
            <a:r>
              <a:rPr lang="en-US" altLang="zh-CN" sz="2000" b="0" dirty="0" smtClean="0"/>
              <a:t>= 10 + j50 </a:t>
            </a:r>
            <a:r>
              <a:rPr lang="en-US" altLang="zh-CN" sz="2000" b="0" dirty="0" smtClean="0">
                <a:latin typeface="Symbol" pitchFamily="18" charset="2"/>
              </a:rPr>
              <a:t>W </a:t>
            </a:r>
            <a:r>
              <a:rPr lang="en-US" altLang="zh-CN" sz="2000" b="0" dirty="0"/>
              <a:t>, </a:t>
            </a:r>
            <a:r>
              <a:rPr lang="en-US" altLang="zh-CN" sz="2000" b="0" dirty="0" smtClean="0"/>
              <a:t> </a:t>
            </a:r>
            <a:r>
              <a:rPr lang="en-US" altLang="zh-CN" sz="2000" b="0" i="1" dirty="0" smtClean="0"/>
              <a:t>Z</a:t>
            </a:r>
            <a:r>
              <a:rPr lang="en-US" altLang="zh-CN" sz="2000" b="0" baseline="-25000" dirty="0" smtClean="0"/>
              <a:t>1 </a:t>
            </a:r>
            <a:r>
              <a:rPr lang="en-US" altLang="zh-CN" sz="2000" b="0" dirty="0" smtClean="0"/>
              <a:t>= 400 + j1000 </a:t>
            </a:r>
            <a:r>
              <a:rPr lang="en-US" altLang="zh-CN" sz="2000" b="0" dirty="0" smtClean="0">
                <a:latin typeface="Symbol" pitchFamily="18" charset="2"/>
              </a:rPr>
              <a:t>W</a:t>
            </a:r>
            <a:r>
              <a:rPr lang="zh-CN" altLang="en-US" sz="2000" dirty="0">
                <a:latin typeface="Symbol" pitchFamily="18" charset="2"/>
              </a:rPr>
              <a:t>。</a:t>
            </a:r>
            <a:endParaRPr lang="zh-CN" altLang="en-US" sz="2000" dirty="0"/>
          </a:p>
        </p:txBody>
      </p:sp>
      <p:graphicFrame>
        <p:nvGraphicFramePr>
          <p:cNvPr id="4904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323184"/>
              </p:ext>
            </p:extLst>
          </p:nvPr>
        </p:nvGraphicFramePr>
        <p:xfrm>
          <a:off x="4144963" y="893763"/>
          <a:ext cx="4044600" cy="37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40" name="Equation" r:id="rId3" imgW="2311200" imgH="215640" progId="Equation.DSMT4">
                  <p:embed/>
                </p:oleObj>
              </mc:Choice>
              <mc:Fallback>
                <p:oleObj name="Equation" r:id="rId3" imgW="2311200" imgH="215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963" y="893763"/>
                        <a:ext cx="4044600" cy="377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0" name="Object 4"/>
          <p:cNvGraphicFramePr>
            <a:graphicFrameLocks noChangeAspect="1"/>
          </p:cNvGraphicFramePr>
          <p:nvPr/>
        </p:nvGraphicFramePr>
        <p:xfrm>
          <a:off x="1628775" y="3148013"/>
          <a:ext cx="34702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41" name="Equation" r:id="rId5" imgW="1777680" imgH="215640" progId="Equation.DSMT4">
                  <p:embed/>
                </p:oleObj>
              </mc:Choice>
              <mc:Fallback>
                <p:oleObj name="Equation" r:id="rId5" imgW="1777680" imgH="215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3148013"/>
                        <a:ext cx="34702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501" name="Text Box 5"/>
          <p:cNvSpPr txBox="1">
            <a:spLocks noChangeArrowheads="1"/>
          </p:cNvSpPr>
          <p:nvPr/>
        </p:nvSpPr>
        <p:spPr bwMode="auto">
          <a:xfrm>
            <a:off x="304800" y="228600"/>
            <a:ext cx="570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 smtClean="0">
                <a:solidFill>
                  <a:srgbClr val="3333FF"/>
                </a:solidFill>
              </a:rPr>
              <a:t>例</a:t>
            </a:r>
            <a:r>
              <a:rPr lang="en-US" altLang="zh-CN" sz="2000" dirty="0" smtClean="0">
                <a:solidFill>
                  <a:srgbClr val="3333FF"/>
                </a:solidFill>
              </a:rPr>
              <a:t>3</a:t>
            </a:r>
            <a:endParaRPr lang="zh-CN" altLang="en-US" sz="2000" dirty="0"/>
          </a:p>
        </p:txBody>
      </p:sp>
      <p:sp>
        <p:nvSpPr>
          <p:cNvPr id="490502" name="Text Box 6"/>
          <p:cNvSpPr txBox="1">
            <a:spLocks noChangeArrowheads="1"/>
          </p:cNvSpPr>
          <p:nvPr/>
        </p:nvSpPr>
        <p:spPr bwMode="auto">
          <a:xfrm>
            <a:off x="425450" y="2971800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</a:rPr>
              <a:t>解</a:t>
            </a:r>
            <a:r>
              <a:rPr lang="zh-CN" altLang="en-US" sz="2000" dirty="0"/>
              <a:t>：</a:t>
            </a:r>
          </a:p>
        </p:txBody>
      </p:sp>
      <p:grpSp>
        <p:nvGrpSpPr>
          <p:cNvPr id="490503" name="Group 7"/>
          <p:cNvGrpSpPr>
            <a:grpSpLocks/>
          </p:cNvGrpSpPr>
          <p:nvPr/>
        </p:nvGrpSpPr>
        <p:grpSpPr bwMode="auto">
          <a:xfrm>
            <a:off x="438150" y="823913"/>
            <a:ext cx="3295650" cy="1843087"/>
            <a:chOff x="276" y="519"/>
            <a:chExt cx="2076" cy="1161"/>
          </a:xfrm>
        </p:grpSpPr>
        <p:sp>
          <p:nvSpPr>
            <p:cNvPr id="490504" name="Line 8"/>
            <p:cNvSpPr>
              <a:spLocks noChangeShapeType="1"/>
            </p:cNvSpPr>
            <p:nvPr/>
          </p:nvSpPr>
          <p:spPr bwMode="auto">
            <a:xfrm>
              <a:off x="416" y="882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05" name="Line 9"/>
            <p:cNvSpPr>
              <a:spLocks noChangeShapeType="1"/>
            </p:cNvSpPr>
            <p:nvPr/>
          </p:nvSpPr>
          <p:spPr bwMode="auto">
            <a:xfrm>
              <a:off x="1856" y="882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06" name="Line 10"/>
            <p:cNvSpPr>
              <a:spLocks noChangeShapeType="1"/>
            </p:cNvSpPr>
            <p:nvPr/>
          </p:nvSpPr>
          <p:spPr bwMode="auto">
            <a:xfrm>
              <a:off x="1280" y="882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07" name="Line 11"/>
            <p:cNvSpPr>
              <a:spLocks noChangeShapeType="1"/>
            </p:cNvSpPr>
            <p:nvPr/>
          </p:nvSpPr>
          <p:spPr bwMode="auto">
            <a:xfrm>
              <a:off x="416" y="1650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08" name="AutoShape 12"/>
            <p:cNvSpPr>
              <a:spLocks noChangeArrowheads="1"/>
            </p:cNvSpPr>
            <p:nvPr/>
          </p:nvSpPr>
          <p:spPr bwMode="auto">
            <a:xfrm>
              <a:off x="1760" y="1122"/>
              <a:ext cx="192" cy="288"/>
            </a:xfrm>
            <a:prstGeom prst="flowChartSor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0509" name="Rectangle 13"/>
            <p:cNvSpPr>
              <a:spLocks noChangeArrowheads="1"/>
            </p:cNvSpPr>
            <p:nvPr/>
          </p:nvSpPr>
          <p:spPr bwMode="auto">
            <a:xfrm>
              <a:off x="1224" y="1152"/>
              <a:ext cx="120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0510" name="Rectangle 14"/>
            <p:cNvSpPr>
              <a:spLocks noChangeArrowheads="1"/>
            </p:cNvSpPr>
            <p:nvPr/>
          </p:nvSpPr>
          <p:spPr bwMode="auto">
            <a:xfrm rot="-5400000">
              <a:off x="836" y="740"/>
              <a:ext cx="120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0511" name="Line 15"/>
            <p:cNvSpPr>
              <a:spLocks noChangeShapeType="1"/>
            </p:cNvSpPr>
            <p:nvPr/>
          </p:nvSpPr>
          <p:spPr bwMode="auto">
            <a:xfrm>
              <a:off x="1990" y="1122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90512" name="Object 16"/>
            <p:cNvGraphicFramePr>
              <a:graphicFrameLocks noChangeAspect="1"/>
            </p:cNvGraphicFramePr>
            <p:nvPr/>
          </p:nvGraphicFramePr>
          <p:xfrm>
            <a:off x="493" y="519"/>
            <a:ext cx="13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0042" name="公式" r:id="rId7" imgW="139680" imgH="266400" progId="Equation.3">
                    <p:embed/>
                  </p:oleObj>
                </mc:Choice>
                <mc:Fallback>
                  <p:oleObj name="公式" r:id="rId7" imgW="139680" imgH="2664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" y="519"/>
                          <a:ext cx="13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0513" name="Object 17"/>
            <p:cNvGraphicFramePr>
              <a:graphicFrameLocks noChangeAspect="1"/>
            </p:cNvGraphicFramePr>
            <p:nvPr/>
          </p:nvGraphicFramePr>
          <p:xfrm>
            <a:off x="1344" y="873"/>
            <a:ext cx="19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0043" name="公式" r:id="rId9" imgW="190440" imgH="279360" progId="Equation.3">
                    <p:embed/>
                  </p:oleObj>
                </mc:Choice>
                <mc:Fallback>
                  <p:oleObj name="公式" r:id="rId9" imgW="190440" imgH="27936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873"/>
                          <a:ext cx="19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0514" name="Line 18"/>
            <p:cNvSpPr>
              <a:spLocks noChangeShapeType="1"/>
            </p:cNvSpPr>
            <p:nvPr/>
          </p:nvSpPr>
          <p:spPr bwMode="auto">
            <a:xfrm>
              <a:off x="1344" y="930"/>
              <a:ext cx="0" cy="19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15" name="Line 19"/>
            <p:cNvSpPr>
              <a:spLocks noChangeShapeType="1"/>
            </p:cNvSpPr>
            <p:nvPr/>
          </p:nvSpPr>
          <p:spPr bwMode="auto">
            <a:xfrm>
              <a:off x="432" y="788"/>
              <a:ext cx="24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90516" name="Object 20"/>
            <p:cNvGraphicFramePr>
              <a:graphicFrameLocks noChangeAspect="1"/>
            </p:cNvGraphicFramePr>
            <p:nvPr/>
          </p:nvGraphicFramePr>
          <p:xfrm>
            <a:off x="2032" y="1036"/>
            <a:ext cx="32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0044" name="公式" r:id="rId11" imgW="291960" imgH="279360" progId="Equation.3">
                    <p:embed/>
                  </p:oleObj>
                </mc:Choice>
                <mc:Fallback>
                  <p:oleObj name="公式" r:id="rId11" imgW="291960" imgH="27936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2" y="1036"/>
                          <a:ext cx="320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0517" name="Text Box 21"/>
            <p:cNvSpPr txBox="1">
              <a:spLocks noChangeArrowheads="1"/>
            </p:cNvSpPr>
            <p:nvPr/>
          </p:nvSpPr>
          <p:spPr bwMode="auto">
            <a:xfrm>
              <a:off x="800" y="57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b="0" i="1" dirty="0"/>
                <a:t>Z</a:t>
              </a:r>
            </a:p>
          </p:txBody>
        </p:sp>
        <p:sp>
          <p:nvSpPr>
            <p:cNvPr id="490518" name="Text Box 22"/>
            <p:cNvSpPr txBox="1">
              <a:spLocks noChangeArrowheads="1"/>
            </p:cNvSpPr>
            <p:nvPr/>
          </p:nvSpPr>
          <p:spPr bwMode="auto">
            <a:xfrm>
              <a:off x="1328" y="1170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b="0" i="1" dirty="0"/>
                <a:t>Z</a:t>
              </a:r>
              <a:r>
                <a:rPr lang="en-US" altLang="zh-CN" b="0" baseline="-25000" dirty="0"/>
                <a:t>1</a:t>
              </a:r>
              <a:endParaRPr lang="en-US" altLang="zh-CN" b="0" i="1" dirty="0"/>
            </a:p>
          </p:txBody>
        </p:sp>
        <p:sp>
          <p:nvSpPr>
            <p:cNvPr id="490519" name="Text Box 23"/>
            <p:cNvSpPr txBox="1">
              <a:spLocks noChangeArrowheads="1"/>
            </p:cNvSpPr>
            <p:nvPr/>
          </p:nvSpPr>
          <p:spPr bwMode="auto">
            <a:xfrm>
              <a:off x="288" y="882"/>
              <a:ext cx="2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490520" name="Text Box 24"/>
            <p:cNvSpPr txBox="1">
              <a:spLocks noChangeArrowheads="1"/>
            </p:cNvSpPr>
            <p:nvPr/>
          </p:nvSpPr>
          <p:spPr bwMode="auto">
            <a:xfrm>
              <a:off x="302" y="123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/>
                <a:t>_</a:t>
              </a:r>
            </a:p>
          </p:txBody>
        </p:sp>
        <p:graphicFrame>
          <p:nvGraphicFramePr>
            <p:cNvPr id="490521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9289877"/>
                </p:ext>
              </p:extLst>
            </p:nvPr>
          </p:nvGraphicFramePr>
          <p:xfrm>
            <a:off x="276" y="1061"/>
            <a:ext cx="233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0045" name="Equation" r:id="rId13" imgW="177480" imgH="253800" progId="Equation.DSMT4">
                    <p:embed/>
                  </p:oleObj>
                </mc:Choice>
                <mc:Fallback>
                  <p:oleObj name="Equation" r:id="rId13" imgW="177480" imgH="2538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" y="1061"/>
                          <a:ext cx="233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0522" name="Oval 26"/>
            <p:cNvSpPr>
              <a:spLocks noChangeArrowheads="1"/>
            </p:cNvSpPr>
            <p:nvPr/>
          </p:nvSpPr>
          <p:spPr bwMode="auto">
            <a:xfrm>
              <a:off x="384" y="1612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23" name="Oval 27"/>
            <p:cNvSpPr>
              <a:spLocks noChangeArrowheads="1"/>
            </p:cNvSpPr>
            <p:nvPr/>
          </p:nvSpPr>
          <p:spPr bwMode="auto">
            <a:xfrm>
              <a:off x="384" y="844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9052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451598"/>
              </p:ext>
            </p:extLst>
          </p:nvPr>
        </p:nvGraphicFramePr>
        <p:xfrm>
          <a:off x="4156075" y="1727200"/>
          <a:ext cx="38846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46" name="Equation" r:id="rId15" imgW="2197080" imgH="469800" progId="Equation.DSMT4">
                  <p:embed/>
                </p:oleObj>
              </mc:Choice>
              <mc:Fallback>
                <p:oleObj name="Equation" r:id="rId15" imgW="2197080" imgH="4698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1727200"/>
                        <a:ext cx="388461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2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621794"/>
              </p:ext>
            </p:extLst>
          </p:nvPr>
        </p:nvGraphicFramePr>
        <p:xfrm>
          <a:off x="990601" y="3679825"/>
          <a:ext cx="6148388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47" name="Equation" r:id="rId17" imgW="3149280" imgH="406080" progId="Equation.DSMT4">
                  <p:embed/>
                </p:oleObj>
              </mc:Choice>
              <mc:Fallback>
                <p:oleObj name="Equation" r:id="rId17" imgW="3149280" imgH="40608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1" y="3679825"/>
                        <a:ext cx="6148388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2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383297"/>
              </p:ext>
            </p:extLst>
          </p:nvPr>
        </p:nvGraphicFramePr>
        <p:xfrm>
          <a:off x="1565275" y="4648200"/>
          <a:ext cx="322421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48" name="Equation" r:id="rId19" imgW="1650960" imgH="203040" progId="Equation.DSMT4">
                  <p:embed/>
                </p:oleObj>
              </mc:Choice>
              <mc:Fallback>
                <p:oleObj name="Equation" r:id="rId19" imgW="1650960" imgH="20304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4648200"/>
                        <a:ext cx="3224213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2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874215"/>
              </p:ext>
            </p:extLst>
          </p:nvPr>
        </p:nvGraphicFramePr>
        <p:xfrm>
          <a:off x="1457325" y="5226050"/>
          <a:ext cx="4313238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49" name="Equation" r:id="rId21" imgW="2209680" imgH="406080" progId="Equation.DSMT4">
                  <p:embed/>
                </p:oleObj>
              </mc:Choice>
              <mc:Fallback>
                <p:oleObj name="Equation" r:id="rId21" imgW="2209680" imgH="40608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5226050"/>
                        <a:ext cx="4313238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49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49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49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49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9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8" grpId="0" autoUpdateAnimBg="0"/>
      <p:bldP spid="490501" grpId="0" autoUpdateAnimBg="0"/>
      <p:bldP spid="490502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9668</TotalTime>
  <Words>1983</Words>
  <Application>Microsoft Office PowerPoint</Application>
  <PresentationFormat>全屏显示(4:3)</PresentationFormat>
  <Paragraphs>404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Monotype Sorts</vt:lpstr>
      <vt:lpstr>仿宋_GB2312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默认设计模板</vt:lpstr>
      <vt:lpstr>Equation</vt:lpstr>
      <vt:lpstr>公式</vt:lpstr>
      <vt:lpstr>BMP 图像</vt:lpstr>
      <vt:lpstr>Visio</vt:lpstr>
      <vt:lpstr>第5章 正弦交流电路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thcic</dc:creator>
  <cp:lastModifiedBy>JT</cp:lastModifiedBy>
  <cp:revision>828</cp:revision>
  <dcterms:created xsi:type="dcterms:W3CDTF">1998-03-26T06:58:13Z</dcterms:created>
  <dcterms:modified xsi:type="dcterms:W3CDTF">2024-06-26T08:36:37Z</dcterms:modified>
</cp:coreProperties>
</file>
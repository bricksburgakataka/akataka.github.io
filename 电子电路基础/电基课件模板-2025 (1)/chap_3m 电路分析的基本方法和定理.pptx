
<file path=[Content_Types].xml><?xml version="1.0" encoding="utf-8"?>
<Types xmlns="http://schemas.openxmlformats.org/package/2006/content-types">
  <Default Extension="bin" ContentType="application/vnd.openxmlformats-officedocument.oleObject"/>
  <Default Extension="vsd" ContentType="application/vnd.visio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484" r:id="rId2"/>
    <p:sldId id="485" r:id="rId3"/>
    <p:sldId id="486" r:id="rId4"/>
    <p:sldId id="331" r:id="rId5"/>
    <p:sldId id="332" r:id="rId6"/>
    <p:sldId id="335" r:id="rId7"/>
    <p:sldId id="336" r:id="rId8"/>
    <p:sldId id="333" r:id="rId9"/>
    <p:sldId id="473" r:id="rId10"/>
    <p:sldId id="363" r:id="rId11"/>
    <p:sldId id="364" r:id="rId12"/>
    <p:sldId id="366" r:id="rId13"/>
    <p:sldId id="367" r:id="rId14"/>
    <p:sldId id="368" r:id="rId15"/>
    <p:sldId id="369" r:id="rId16"/>
    <p:sldId id="373" r:id="rId17"/>
    <p:sldId id="468" r:id="rId18"/>
    <p:sldId id="374" r:id="rId19"/>
    <p:sldId id="375" r:id="rId20"/>
    <p:sldId id="451" r:id="rId21"/>
    <p:sldId id="376" r:id="rId22"/>
    <p:sldId id="464" r:id="rId23"/>
    <p:sldId id="465" r:id="rId24"/>
    <p:sldId id="466" r:id="rId25"/>
    <p:sldId id="467" r:id="rId26"/>
    <p:sldId id="474" r:id="rId27"/>
    <p:sldId id="475" r:id="rId28"/>
    <p:sldId id="362" r:id="rId29"/>
    <p:sldId id="378" r:id="rId30"/>
    <p:sldId id="379" r:id="rId31"/>
    <p:sldId id="380" r:id="rId32"/>
    <p:sldId id="381" r:id="rId33"/>
    <p:sldId id="382" r:id="rId34"/>
    <p:sldId id="384" r:id="rId35"/>
    <p:sldId id="386" r:id="rId36"/>
    <p:sldId id="389" r:id="rId37"/>
    <p:sldId id="391" r:id="rId38"/>
    <p:sldId id="459" r:id="rId39"/>
    <p:sldId id="393" r:id="rId40"/>
    <p:sldId id="422" r:id="rId41"/>
    <p:sldId id="402" r:id="rId42"/>
    <p:sldId id="460" r:id="rId43"/>
    <p:sldId id="403" r:id="rId44"/>
    <p:sldId id="405" r:id="rId45"/>
    <p:sldId id="461" r:id="rId46"/>
    <p:sldId id="472" r:id="rId47"/>
    <p:sldId id="440" r:id="rId48"/>
    <p:sldId id="452" r:id="rId49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DF3EA"/>
    <a:srgbClr val="FF9900"/>
    <a:srgbClr val="FF0066"/>
    <a:srgbClr val="00FFFF"/>
    <a:srgbClr val="FF00FF"/>
    <a:srgbClr val="66FF33"/>
    <a:srgbClr val="FF33CC"/>
    <a:srgbClr val="FF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14" autoAdjust="0"/>
    <p:restoredTop sz="94660" autoAdjust="0"/>
  </p:normalViewPr>
  <p:slideViewPr>
    <p:cSldViewPr snapToGrid="0">
      <p:cViewPr varScale="1">
        <p:scale>
          <a:sx n="81" d="100"/>
          <a:sy n="81" d="100"/>
        </p:scale>
        <p:origin x="108" y="8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486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4.e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emf"/><Relationship Id="rId4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zh-CN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CFE2AFE6-8630-48CA-9CD8-475E712EB5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096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B04533-9708-4CD9-8674-6B1B801C3D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040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1B9004-CC78-46B2-92CB-793CAB2B45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92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C744DC-0F0A-4DB9-ABDE-39EFC80B47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64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8962A-C8C4-47A1-B61B-B9921ED9A9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140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DB537-2438-4A38-83D6-63A93DC986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352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8EDED-1604-429D-A677-104B17AA5E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3472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AA375F-4405-4FEF-9564-B3A717F0D7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34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B66162-CF0B-42C7-8683-C7226B75A7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64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732C1-5282-4580-9AE9-6DECFD0885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112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B3CDF9-1535-474E-BD74-490F1C56C2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78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BF6A2F-B321-4E15-8BD1-39FA8E5DD5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603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191908BA-5157-4B50-8CF5-920313CEFDE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Visio_2003-2010___1.vsd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5.w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Microsoft_Visio_2003-2010___2.vsd"/><Relationship Id="rId9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2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6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7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9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90650" y="904875"/>
            <a:ext cx="6418263" cy="1514475"/>
          </a:xfr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3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章 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电路分析的基本方法和定理</a:t>
            </a:r>
            <a:endParaRPr lang="zh-CN" altLang="en-US" sz="4800" b="1" i="1" dirty="0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10" descr="蓝色砂纸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00225" y="2994025"/>
            <a:ext cx="5232400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3200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电路分析基础</a:t>
            </a:r>
            <a:endParaRPr lang="zh-CN" altLang="en-US" sz="32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11" descr="蓝色砂纸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800225" y="4733925"/>
            <a:ext cx="5270500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节点电压法</a:t>
            </a:r>
          </a:p>
        </p:txBody>
      </p:sp>
      <p:sp>
        <p:nvSpPr>
          <p:cNvPr id="9" name="Text Box 13" descr="蓝色砂纸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800225" y="3848100"/>
            <a:ext cx="5248275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3200" dirty="0">
                <a:solidFill>
                  <a:schemeClr val="tx2"/>
                </a:solidFill>
                <a:ea typeface="楷体_GB2312" pitchFamily="49" charset="-122"/>
              </a:rPr>
              <a:t>网孔电流法</a:t>
            </a:r>
          </a:p>
        </p:txBody>
      </p:sp>
      <p:sp>
        <p:nvSpPr>
          <p:cNvPr id="10" name="Rectangle 14" descr="蓝色砂纸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800225" y="5610731"/>
            <a:ext cx="5270500" cy="58477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电路定理</a:t>
            </a:r>
          </a:p>
        </p:txBody>
      </p:sp>
    </p:spTree>
    <p:extLst>
      <p:ext uri="{BB962C8B-B14F-4D97-AF65-F5344CB8AC3E}">
        <p14:creationId xmlns:p14="http://schemas.microsoft.com/office/powerpoint/2010/main" val="334405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58" name="Rectangle 66"/>
          <p:cNvSpPr>
            <a:spLocks noChangeArrowheads="1"/>
          </p:cNvSpPr>
          <p:nvPr/>
        </p:nvSpPr>
        <p:spPr bwMode="auto">
          <a:xfrm>
            <a:off x="685800" y="31432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800" dirty="0" smtClean="0">
                <a:solidFill>
                  <a:schemeClr val="tx2"/>
                </a:solidFill>
              </a:rPr>
              <a:t>3.1 </a:t>
            </a:r>
            <a:r>
              <a:rPr lang="zh-CN" altLang="en-US" sz="2800" dirty="0" smtClean="0">
                <a:solidFill>
                  <a:schemeClr val="tx2"/>
                </a:solidFill>
              </a:rPr>
              <a:t>电路分析基础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65" name="Rectangle 3"/>
          <p:cNvSpPr txBox="1">
            <a:spLocks noChangeArrowheads="1"/>
          </p:cNvSpPr>
          <p:nvPr/>
        </p:nvSpPr>
        <p:spPr>
          <a:xfrm>
            <a:off x="693870" y="4295774"/>
            <a:ext cx="7772400" cy="1914526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b="1" kern="1200" dirty="0" smtClean="0">
                <a:solidFill>
                  <a:srgbClr val="0000D0"/>
                </a:solidFill>
              </a:rPr>
              <a:t>支路（</a:t>
            </a:r>
            <a:r>
              <a:rPr lang="en-US" altLang="zh-CN" sz="2400" b="1" kern="1200" dirty="0" smtClean="0">
                <a:solidFill>
                  <a:srgbClr val="0000D0"/>
                </a:solidFill>
              </a:rPr>
              <a:t>Branch</a:t>
            </a:r>
            <a:r>
              <a:rPr lang="zh-CN" altLang="en-US" sz="2400" b="1" kern="1200" dirty="0" smtClean="0">
                <a:solidFill>
                  <a:srgbClr val="0000D0"/>
                </a:solidFill>
              </a:rPr>
              <a:t>）</a:t>
            </a:r>
            <a:r>
              <a:rPr lang="en-US" altLang="zh-CN" sz="2800" b="0" kern="0" dirty="0" smtClean="0"/>
              <a:t>----- </a:t>
            </a:r>
            <a:r>
              <a:rPr lang="zh-CN" altLang="en-US" sz="1800" b="1" kern="0" dirty="0" smtClean="0"/>
              <a:t>为电路中能通过同一电流的每个分支。</a:t>
            </a:r>
            <a:r>
              <a:rPr lang="en-US" altLang="zh-CN" sz="2000" b="0" kern="0" dirty="0" smtClean="0">
                <a:solidFill>
                  <a:schemeClr val="tx2"/>
                </a:solidFill>
                <a:sym typeface="Symbol" pitchFamily="18" charset="2"/>
              </a:rPr>
              <a:t>(</a:t>
            </a:r>
            <a:r>
              <a:rPr lang="en-US" altLang="zh-CN" sz="2000" b="0" i="1" kern="0" dirty="0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altLang="zh-CN" sz="2000" b="0" kern="0" dirty="0" smtClean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b="1" kern="1200" dirty="0" smtClean="0">
                <a:solidFill>
                  <a:srgbClr val="0000D0"/>
                </a:solidFill>
              </a:rPr>
              <a:t>节点（</a:t>
            </a:r>
            <a:r>
              <a:rPr lang="en-US" altLang="zh-CN" sz="2400" b="1" kern="1200" dirty="0" smtClean="0">
                <a:solidFill>
                  <a:srgbClr val="0000D0"/>
                </a:solidFill>
              </a:rPr>
              <a:t>Node</a:t>
            </a:r>
            <a:r>
              <a:rPr lang="zh-CN" altLang="en-US" sz="2400" b="1" kern="1200" dirty="0" smtClean="0">
                <a:solidFill>
                  <a:srgbClr val="0000D0"/>
                </a:solidFill>
              </a:rPr>
              <a:t>）</a:t>
            </a:r>
            <a:r>
              <a:rPr lang="en-US" altLang="zh-CN" sz="2800" b="0" kern="0" dirty="0" smtClean="0"/>
              <a:t>------- </a:t>
            </a:r>
            <a:r>
              <a:rPr lang="zh-CN" altLang="en-US" sz="1800" b="1" kern="0" dirty="0" smtClean="0"/>
              <a:t>两条或两条以上支路的连接点，一般指三条或三条以上支路的连接点</a:t>
            </a:r>
            <a:r>
              <a:rPr lang="zh-CN" altLang="en-US" sz="1800" b="0" kern="0" dirty="0" smtClean="0"/>
              <a:t>。</a:t>
            </a:r>
            <a:r>
              <a:rPr lang="en-US" altLang="zh-CN" sz="1800" b="0" kern="0" dirty="0" smtClean="0"/>
              <a:t> </a:t>
            </a:r>
            <a:r>
              <a:rPr lang="en-US" altLang="zh-CN" sz="1800" b="0" kern="0" dirty="0" smtClean="0">
                <a:solidFill>
                  <a:schemeClr val="tx2"/>
                </a:solidFill>
                <a:sym typeface="Symbol" pitchFamily="18" charset="2"/>
              </a:rPr>
              <a:t>( </a:t>
            </a:r>
            <a:r>
              <a:rPr lang="en-US" altLang="zh-CN" sz="1800" b="0" i="1" kern="0" dirty="0" smtClean="0">
                <a:solidFill>
                  <a:schemeClr val="tx2"/>
                </a:solidFill>
                <a:sym typeface="Symbol" pitchFamily="18" charset="2"/>
              </a:rPr>
              <a:t>n</a:t>
            </a:r>
            <a:r>
              <a:rPr lang="en-US" altLang="zh-CN" sz="1800" b="0" kern="0" dirty="0" smtClean="0">
                <a:solidFill>
                  <a:schemeClr val="tx2"/>
                </a:solidFill>
                <a:sym typeface="Symbol" pitchFamily="18" charset="2"/>
              </a:rPr>
              <a:t> )</a:t>
            </a:r>
            <a:r>
              <a:rPr lang="en-US" altLang="zh-CN" sz="1800" b="0" kern="0" dirty="0" smtClean="0"/>
              <a:t>    </a:t>
            </a:r>
            <a:endParaRPr lang="en-US" altLang="zh-CN" sz="1800" b="1" kern="0" dirty="0" smtClean="0">
              <a:solidFill>
                <a:srgbClr val="FF0000"/>
              </a:solidFill>
            </a:endParaRPr>
          </a:p>
        </p:txBody>
      </p:sp>
      <p:grpSp>
        <p:nvGrpSpPr>
          <p:cNvPr id="67" name="Group 4"/>
          <p:cNvGrpSpPr>
            <a:grpSpLocks/>
          </p:cNvGrpSpPr>
          <p:nvPr/>
        </p:nvGrpSpPr>
        <p:grpSpPr bwMode="auto">
          <a:xfrm>
            <a:off x="2286000" y="1335930"/>
            <a:ext cx="3979863" cy="2600253"/>
            <a:chOff x="1281" y="1164"/>
            <a:chExt cx="3206" cy="1971"/>
          </a:xfrm>
        </p:grpSpPr>
        <p:sp>
          <p:nvSpPr>
            <p:cNvPr id="68" name="Freeform 5"/>
            <p:cNvSpPr>
              <a:spLocks/>
            </p:cNvSpPr>
            <p:nvPr/>
          </p:nvSpPr>
          <p:spPr bwMode="auto">
            <a:xfrm>
              <a:off x="3985" y="1498"/>
              <a:ext cx="1" cy="1362"/>
            </a:xfrm>
            <a:custGeom>
              <a:avLst/>
              <a:gdLst>
                <a:gd name="T0" fmla="*/ 0 w 1"/>
                <a:gd name="T1" fmla="*/ 1362 h 1362"/>
                <a:gd name="T2" fmla="*/ 0 w 1"/>
                <a:gd name="T3" fmla="*/ 0 h 1362"/>
                <a:gd name="T4" fmla="*/ 0 w 1"/>
                <a:gd name="T5" fmla="*/ 1362 h 1362"/>
                <a:gd name="T6" fmla="*/ 0 w 1"/>
                <a:gd name="T7" fmla="*/ 1362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362">
                  <a:moveTo>
                    <a:pt x="0" y="1362"/>
                  </a:moveTo>
                  <a:lnTo>
                    <a:pt x="0" y="0"/>
                  </a:lnTo>
                  <a:lnTo>
                    <a:pt x="0" y="13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"/>
            <p:cNvSpPr>
              <a:spLocks noEditPoints="1"/>
            </p:cNvSpPr>
            <p:nvPr/>
          </p:nvSpPr>
          <p:spPr bwMode="auto">
            <a:xfrm flipV="1">
              <a:off x="2527" y="1475"/>
              <a:ext cx="1452" cy="47"/>
            </a:xfrm>
            <a:custGeom>
              <a:avLst/>
              <a:gdLst>
                <a:gd name="T0" fmla="*/ 1452 w 2166"/>
                <a:gd name="T1" fmla="*/ 0 h 47"/>
                <a:gd name="T2" fmla="*/ 0 w 2166"/>
                <a:gd name="T3" fmla="*/ 0 h 47"/>
                <a:gd name="T4" fmla="*/ 1452 w 2166"/>
                <a:gd name="T5" fmla="*/ 0 h 47"/>
                <a:gd name="T6" fmla="*/ 1452 w 2166"/>
                <a:gd name="T7" fmla="*/ 0 h 47"/>
                <a:gd name="T8" fmla="*/ 1452 w 2166"/>
                <a:gd name="T9" fmla="*/ 0 h 47"/>
                <a:gd name="T10" fmla="*/ 1452 w 2166"/>
                <a:gd name="T11" fmla="*/ 0 h 47"/>
                <a:gd name="T12" fmla="*/ 1452 w 2166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6" h="47">
                  <a:moveTo>
                    <a:pt x="2166" y="0"/>
                  </a:moveTo>
                  <a:lnTo>
                    <a:pt x="0" y="0"/>
                  </a:lnTo>
                  <a:lnTo>
                    <a:pt x="2166" y="0"/>
                  </a:lnTo>
                  <a:close/>
                  <a:moveTo>
                    <a:pt x="2166" y="0"/>
                  </a:moveTo>
                  <a:lnTo>
                    <a:pt x="21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7"/>
            <p:cNvSpPr>
              <a:spLocks noEditPoints="1"/>
            </p:cNvSpPr>
            <p:nvPr/>
          </p:nvSpPr>
          <p:spPr bwMode="auto">
            <a:xfrm>
              <a:off x="1819" y="1498"/>
              <a:ext cx="1" cy="1362"/>
            </a:xfrm>
            <a:custGeom>
              <a:avLst/>
              <a:gdLst>
                <a:gd name="T0" fmla="*/ 0 w 1"/>
                <a:gd name="T1" fmla="*/ 0 h 1362"/>
                <a:gd name="T2" fmla="*/ 0 w 1"/>
                <a:gd name="T3" fmla="*/ 1362 h 1362"/>
                <a:gd name="T4" fmla="*/ 0 w 1"/>
                <a:gd name="T5" fmla="*/ 0 h 1362"/>
                <a:gd name="T6" fmla="*/ 0 w 1"/>
                <a:gd name="T7" fmla="*/ 0 h 1362"/>
                <a:gd name="T8" fmla="*/ 0 w 1"/>
                <a:gd name="T9" fmla="*/ 0 h 1362"/>
                <a:gd name="T10" fmla="*/ 0 w 1"/>
                <a:gd name="T11" fmla="*/ 0 h 1362"/>
                <a:gd name="T12" fmla="*/ 0 w 1"/>
                <a:gd name="T13" fmla="*/ 0 h 1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8"/>
            <p:cNvSpPr>
              <a:spLocks noEditPoints="1"/>
            </p:cNvSpPr>
            <p:nvPr/>
          </p:nvSpPr>
          <p:spPr bwMode="auto">
            <a:xfrm>
              <a:off x="1819" y="2860"/>
              <a:ext cx="2166" cy="1"/>
            </a:xfrm>
            <a:custGeom>
              <a:avLst/>
              <a:gdLst>
                <a:gd name="T0" fmla="*/ 0 w 2166"/>
                <a:gd name="T1" fmla="*/ 0 h 1"/>
                <a:gd name="T2" fmla="*/ 2166 w 2166"/>
                <a:gd name="T3" fmla="*/ 0 h 1"/>
                <a:gd name="T4" fmla="*/ 0 w 2166"/>
                <a:gd name="T5" fmla="*/ 0 h 1"/>
                <a:gd name="T6" fmla="*/ 0 w 2166"/>
                <a:gd name="T7" fmla="*/ 0 h 1"/>
                <a:gd name="T8" fmla="*/ 0 w 2166"/>
                <a:gd name="T9" fmla="*/ 0 h 1"/>
                <a:gd name="T10" fmla="*/ 0 w 2166"/>
                <a:gd name="T11" fmla="*/ 0 h 1"/>
                <a:gd name="T12" fmla="*/ 0 w 2166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6" h="1">
                  <a:moveTo>
                    <a:pt x="0" y="0"/>
                  </a:moveTo>
                  <a:lnTo>
                    <a:pt x="2166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9"/>
            <p:cNvSpPr>
              <a:spLocks/>
            </p:cNvSpPr>
            <p:nvPr/>
          </p:nvSpPr>
          <p:spPr bwMode="auto">
            <a:xfrm>
              <a:off x="3985" y="286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10"/>
            <p:cNvSpPr>
              <a:spLocks/>
            </p:cNvSpPr>
            <p:nvPr/>
          </p:nvSpPr>
          <p:spPr bwMode="auto">
            <a:xfrm flipH="1">
              <a:off x="2809" y="1504"/>
              <a:ext cx="47" cy="432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32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11"/>
            <p:cNvSpPr>
              <a:spLocks/>
            </p:cNvSpPr>
            <p:nvPr/>
          </p:nvSpPr>
          <p:spPr bwMode="auto">
            <a:xfrm flipH="1">
              <a:off x="3379" y="1504"/>
              <a:ext cx="47" cy="432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32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12"/>
            <p:cNvSpPr>
              <a:spLocks/>
            </p:cNvSpPr>
            <p:nvPr/>
          </p:nvSpPr>
          <p:spPr bwMode="auto">
            <a:xfrm>
              <a:off x="1281" y="2089"/>
              <a:ext cx="48" cy="138"/>
            </a:xfrm>
            <a:custGeom>
              <a:avLst/>
              <a:gdLst>
                <a:gd name="T0" fmla="*/ 0 w 48"/>
                <a:gd name="T1" fmla="*/ 138 h 138"/>
                <a:gd name="T2" fmla="*/ 48 w 48"/>
                <a:gd name="T3" fmla="*/ 138 h 138"/>
                <a:gd name="T4" fmla="*/ 48 w 48"/>
                <a:gd name="T5" fmla="*/ 138 h 138"/>
                <a:gd name="T6" fmla="*/ 36 w 48"/>
                <a:gd name="T7" fmla="*/ 132 h 138"/>
                <a:gd name="T8" fmla="*/ 30 w 48"/>
                <a:gd name="T9" fmla="*/ 126 h 138"/>
                <a:gd name="T10" fmla="*/ 30 w 48"/>
                <a:gd name="T11" fmla="*/ 0 h 138"/>
                <a:gd name="T12" fmla="*/ 30 w 48"/>
                <a:gd name="T13" fmla="*/ 0 h 138"/>
                <a:gd name="T14" fmla="*/ 0 w 48"/>
                <a:gd name="T15" fmla="*/ 18 h 138"/>
                <a:gd name="T16" fmla="*/ 0 w 48"/>
                <a:gd name="T17" fmla="*/ 18 h 138"/>
                <a:gd name="T18" fmla="*/ 6 w 48"/>
                <a:gd name="T19" fmla="*/ 18 h 138"/>
                <a:gd name="T20" fmla="*/ 12 w 48"/>
                <a:gd name="T21" fmla="*/ 18 h 138"/>
                <a:gd name="T22" fmla="*/ 18 w 48"/>
                <a:gd name="T23" fmla="*/ 24 h 138"/>
                <a:gd name="T24" fmla="*/ 18 w 48"/>
                <a:gd name="T25" fmla="*/ 24 h 138"/>
                <a:gd name="T26" fmla="*/ 18 w 48"/>
                <a:gd name="T27" fmla="*/ 120 h 138"/>
                <a:gd name="T28" fmla="*/ 18 w 48"/>
                <a:gd name="T29" fmla="*/ 132 h 138"/>
                <a:gd name="T30" fmla="*/ 12 w 48"/>
                <a:gd name="T31" fmla="*/ 138 h 138"/>
                <a:gd name="T32" fmla="*/ 0 w 48"/>
                <a:gd name="T33" fmla="*/ 138 h 138"/>
                <a:gd name="T34" fmla="*/ 0 w 48"/>
                <a:gd name="T35" fmla="*/ 138 h 1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8" h="138">
                  <a:moveTo>
                    <a:pt x="0" y="138"/>
                  </a:moveTo>
                  <a:lnTo>
                    <a:pt x="48" y="138"/>
                  </a:lnTo>
                  <a:lnTo>
                    <a:pt x="36" y="132"/>
                  </a:lnTo>
                  <a:lnTo>
                    <a:pt x="30" y="126"/>
                  </a:lnTo>
                  <a:lnTo>
                    <a:pt x="30" y="0"/>
                  </a:lnTo>
                  <a:lnTo>
                    <a:pt x="0" y="18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18" y="120"/>
                  </a:lnTo>
                  <a:lnTo>
                    <a:pt x="18" y="132"/>
                  </a:lnTo>
                  <a:lnTo>
                    <a:pt x="12" y="13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13"/>
            <p:cNvSpPr>
              <a:spLocks noEditPoints="1"/>
            </p:cNvSpPr>
            <p:nvPr/>
          </p:nvSpPr>
          <p:spPr bwMode="auto">
            <a:xfrm>
              <a:off x="1353" y="2089"/>
              <a:ext cx="77" cy="144"/>
            </a:xfrm>
            <a:custGeom>
              <a:avLst/>
              <a:gdLst>
                <a:gd name="T0" fmla="*/ 36 w 77"/>
                <a:gd name="T1" fmla="*/ 6 h 144"/>
                <a:gd name="T2" fmla="*/ 48 w 77"/>
                <a:gd name="T3" fmla="*/ 12 h 144"/>
                <a:gd name="T4" fmla="*/ 60 w 77"/>
                <a:gd name="T5" fmla="*/ 30 h 144"/>
                <a:gd name="T6" fmla="*/ 60 w 77"/>
                <a:gd name="T7" fmla="*/ 54 h 144"/>
                <a:gd name="T8" fmla="*/ 60 w 77"/>
                <a:gd name="T9" fmla="*/ 72 h 144"/>
                <a:gd name="T10" fmla="*/ 60 w 77"/>
                <a:gd name="T11" fmla="*/ 90 h 144"/>
                <a:gd name="T12" fmla="*/ 60 w 77"/>
                <a:gd name="T13" fmla="*/ 108 h 144"/>
                <a:gd name="T14" fmla="*/ 48 w 77"/>
                <a:gd name="T15" fmla="*/ 132 h 144"/>
                <a:gd name="T16" fmla="*/ 36 w 77"/>
                <a:gd name="T17" fmla="*/ 138 h 144"/>
                <a:gd name="T18" fmla="*/ 24 w 77"/>
                <a:gd name="T19" fmla="*/ 132 h 144"/>
                <a:gd name="T20" fmla="*/ 18 w 77"/>
                <a:gd name="T21" fmla="*/ 114 h 144"/>
                <a:gd name="T22" fmla="*/ 12 w 77"/>
                <a:gd name="T23" fmla="*/ 90 h 144"/>
                <a:gd name="T24" fmla="*/ 12 w 77"/>
                <a:gd name="T25" fmla="*/ 72 h 144"/>
                <a:gd name="T26" fmla="*/ 12 w 77"/>
                <a:gd name="T27" fmla="*/ 54 h 144"/>
                <a:gd name="T28" fmla="*/ 18 w 77"/>
                <a:gd name="T29" fmla="*/ 30 h 144"/>
                <a:gd name="T30" fmla="*/ 24 w 77"/>
                <a:gd name="T31" fmla="*/ 12 h 144"/>
                <a:gd name="T32" fmla="*/ 36 w 77"/>
                <a:gd name="T33" fmla="*/ 6 h 144"/>
                <a:gd name="T34" fmla="*/ 36 w 77"/>
                <a:gd name="T35" fmla="*/ 6 h 144"/>
                <a:gd name="T36" fmla="*/ 36 w 77"/>
                <a:gd name="T37" fmla="*/ 0 h 144"/>
                <a:gd name="T38" fmla="*/ 18 w 77"/>
                <a:gd name="T39" fmla="*/ 6 h 144"/>
                <a:gd name="T40" fmla="*/ 6 w 77"/>
                <a:gd name="T41" fmla="*/ 30 h 144"/>
                <a:gd name="T42" fmla="*/ 0 w 77"/>
                <a:gd name="T43" fmla="*/ 48 h 144"/>
                <a:gd name="T44" fmla="*/ 0 w 77"/>
                <a:gd name="T45" fmla="*/ 72 h 144"/>
                <a:gd name="T46" fmla="*/ 0 w 77"/>
                <a:gd name="T47" fmla="*/ 96 h 144"/>
                <a:gd name="T48" fmla="*/ 6 w 77"/>
                <a:gd name="T49" fmla="*/ 120 h 144"/>
                <a:gd name="T50" fmla="*/ 18 w 77"/>
                <a:gd name="T51" fmla="*/ 138 h 144"/>
                <a:gd name="T52" fmla="*/ 36 w 77"/>
                <a:gd name="T53" fmla="*/ 144 h 144"/>
                <a:gd name="T54" fmla="*/ 60 w 77"/>
                <a:gd name="T55" fmla="*/ 138 h 144"/>
                <a:gd name="T56" fmla="*/ 72 w 77"/>
                <a:gd name="T57" fmla="*/ 120 h 144"/>
                <a:gd name="T58" fmla="*/ 77 w 77"/>
                <a:gd name="T59" fmla="*/ 96 h 144"/>
                <a:gd name="T60" fmla="*/ 77 w 77"/>
                <a:gd name="T61" fmla="*/ 72 h 144"/>
                <a:gd name="T62" fmla="*/ 77 w 77"/>
                <a:gd name="T63" fmla="*/ 48 h 144"/>
                <a:gd name="T64" fmla="*/ 72 w 77"/>
                <a:gd name="T65" fmla="*/ 30 h 144"/>
                <a:gd name="T66" fmla="*/ 60 w 77"/>
                <a:gd name="T67" fmla="*/ 6 h 144"/>
                <a:gd name="T68" fmla="*/ 36 w 77"/>
                <a:gd name="T69" fmla="*/ 0 h 144"/>
                <a:gd name="T70" fmla="*/ 36 w 77"/>
                <a:gd name="T71" fmla="*/ 0 h 14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7" h="144">
                  <a:moveTo>
                    <a:pt x="36" y="6"/>
                  </a:moveTo>
                  <a:lnTo>
                    <a:pt x="48" y="12"/>
                  </a:lnTo>
                  <a:lnTo>
                    <a:pt x="60" y="30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60" y="90"/>
                  </a:lnTo>
                  <a:lnTo>
                    <a:pt x="60" y="108"/>
                  </a:lnTo>
                  <a:lnTo>
                    <a:pt x="48" y="132"/>
                  </a:lnTo>
                  <a:lnTo>
                    <a:pt x="36" y="138"/>
                  </a:lnTo>
                  <a:lnTo>
                    <a:pt x="24" y="132"/>
                  </a:lnTo>
                  <a:lnTo>
                    <a:pt x="18" y="114"/>
                  </a:lnTo>
                  <a:lnTo>
                    <a:pt x="12" y="90"/>
                  </a:lnTo>
                  <a:lnTo>
                    <a:pt x="12" y="72"/>
                  </a:lnTo>
                  <a:lnTo>
                    <a:pt x="12" y="54"/>
                  </a:lnTo>
                  <a:lnTo>
                    <a:pt x="18" y="30"/>
                  </a:lnTo>
                  <a:lnTo>
                    <a:pt x="24" y="12"/>
                  </a:lnTo>
                  <a:lnTo>
                    <a:pt x="36" y="6"/>
                  </a:lnTo>
                  <a:close/>
                  <a:moveTo>
                    <a:pt x="36" y="0"/>
                  </a:moveTo>
                  <a:lnTo>
                    <a:pt x="18" y="6"/>
                  </a:lnTo>
                  <a:lnTo>
                    <a:pt x="6" y="30"/>
                  </a:lnTo>
                  <a:lnTo>
                    <a:pt x="0" y="4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6" y="120"/>
                  </a:lnTo>
                  <a:lnTo>
                    <a:pt x="18" y="138"/>
                  </a:lnTo>
                  <a:lnTo>
                    <a:pt x="36" y="144"/>
                  </a:lnTo>
                  <a:lnTo>
                    <a:pt x="60" y="138"/>
                  </a:lnTo>
                  <a:lnTo>
                    <a:pt x="72" y="120"/>
                  </a:lnTo>
                  <a:lnTo>
                    <a:pt x="77" y="96"/>
                  </a:lnTo>
                  <a:lnTo>
                    <a:pt x="77" y="72"/>
                  </a:lnTo>
                  <a:lnTo>
                    <a:pt x="77" y="48"/>
                  </a:lnTo>
                  <a:lnTo>
                    <a:pt x="72" y="30"/>
                  </a:lnTo>
                  <a:lnTo>
                    <a:pt x="60" y="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14"/>
            <p:cNvSpPr>
              <a:spLocks/>
            </p:cNvSpPr>
            <p:nvPr/>
          </p:nvSpPr>
          <p:spPr bwMode="auto">
            <a:xfrm>
              <a:off x="1478" y="2089"/>
              <a:ext cx="120" cy="144"/>
            </a:xfrm>
            <a:custGeom>
              <a:avLst/>
              <a:gdLst>
                <a:gd name="T0" fmla="*/ 120 w 120"/>
                <a:gd name="T1" fmla="*/ 0 h 144"/>
                <a:gd name="T2" fmla="*/ 84 w 120"/>
                <a:gd name="T3" fmla="*/ 0 h 144"/>
                <a:gd name="T4" fmla="*/ 84 w 120"/>
                <a:gd name="T5" fmla="*/ 6 h 144"/>
                <a:gd name="T6" fmla="*/ 90 w 120"/>
                <a:gd name="T7" fmla="*/ 6 h 144"/>
                <a:gd name="T8" fmla="*/ 96 w 120"/>
                <a:gd name="T9" fmla="*/ 18 h 144"/>
                <a:gd name="T10" fmla="*/ 96 w 120"/>
                <a:gd name="T11" fmla="*/ 24 h 144"/>
                <a:gd name="T12" fmla="*/ 96 w 120"/>
                <a:gd name="T13" fmla="*/ 30 h 144"/>
                <a:gd name="T14" fmla="*/ 66 w 120"/>
                <a:gd name="T15" fmla="*/ 108 h 144"/>
                <a:gd name="T16" fmla="*/ 42 w 120"/>
                <a:gd name="T17" fmla="*/ 36 h 144"/>
                <a:gd name="T18" fmla="*/ 36 w 120"/>
                <a:gd name="T19" fmla="*/ 24 h 144"/>
                <a:gd name="T20" fmla="*/ 36 w 120"/>
                <a:gd name="T21" fmla="*/ 12 h 144"/>
                <a:gd name="T22" fmla="*/ 36 w 120"/>
                <a:gd name="T23" fmla="*/ 6 h 144"/>
                <a:gd name="T24" fmla="*/ 48 w 120"/>
                <a:gd name="T25" fmla="*/ 6 h 144"/>
                <a:gd name="T26" fmla="*/ 48 w 120"/>
                <a:gd name="T27" fmla="*/ 0 h 144"/>
                <a:gd name="T28" fmla="*/ 0 w 120"/>
                <a:gd name="T29" fmla="*/ 0 h 144"/>
                <a:gd name="T30" fmla="*/ 0 w 120"/>
                <a:gd name="T31" fmla="*/ 6 h 144"/>
                <a:gd name="T32" fmla="*/ 12 w 120"/>
                <a:gd name="T33" fmla="*/ 12 h 144"/>
                <a:gd name="T34" fmla="*/ 12 w 120"/>
                <a:gd name="T35" fmla="*/ 18 h 144"/>
                <a:gd name="T36" fmla="*/ 18 w 120"/>
                <a:gd name="T37" fmla="*/ 30 h 144"/>
                <a:gd name="T38" fmla="*/ 60 w 120"/>
                <a:gd name="T39" fmla="*/ 144 h 144"/>
                <a:gd name="T40" fmla="*/ 66 w 120"/>
                <a:gd name="T41" fmla="*/ 144 h 144"/>
                <a:gd name="T42" fmla="*/ 102 w 120"/>
                <a:gd name="T43" fmla="*/ 24 h 144"/>
                <a:gd name="T44" fmla="*/ 108 w 120"/>
                <a:gd name="T45" fmla="*/ 12 h 144"/>
                <a:gd name="T46" fmla="*/ 114 w 120"/>
                <a:gd name="T47" fmla="*/ 6 h 144"/>
                <a:gd name="T48" fmla="*/ 120 w 120"/>
                <a:gd name="T49" fmla="*/ 6 h 144"/>
                <a:gd name="T50" fmla="*/ 120 w 120"/>
                <a:gd name="T51" fmla="*/ 0 h 1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20" h="144">
                  <a:moveTo>
                    <a:pt x="120" y="0"/>
                  </a:moveTo>
                  <a:lnTo>
                    <a:pt x="84" y="0"/>
                  </a:lnTo>
                  <a:lnTo>
                    <a:pt x="84" y="6"/>
                  </a:lnTo>
                  <a:lnTo>
                    <a:pt x="90" y="6"/>
                  </a:lnTo>
                  <a:lnTo>
                    <a:pt x="96" y="18"/>
                  </a:lnTo>
                  <a:lnTo>
                    <a:pt x="96" y="24"/>
                  </a:lnTo>
                  <a:lnTo>
                    <a:pt x="96" y="30"/>
                  </a:lnTo>
                  <a:lnTo>
                    <a:pt x="66" y="108"/>
                  </a:lnTo>
                  <a:lnTo>
                    <a:pt x="42" y="36"/>
                  </a:lnTo>
                  <a:lnTo>
                    <a:pt x="36" y="24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30"/>
                  </a:lnTo>
                  <a:lnTo>
                    <a:pt x="60" y="144"/>
                  </a:lnTo>
                  <a:lnTo>
                    <a:pt x="66" y="144"/>
                  </a:lnTo>
                  <a:lnTo>
                    <a:pt x="102" y="24"/>
                  </a:lnTo>
                  <a:lnTo>
                    <a:pt x="108" y="12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15"/>
            <p:cNvSpPr>
              <a:spLocks/>
            </p:cNvSpPr>
            <p:nvPr/>
          </p:nvSpPr>
          <p:spPr bwMode="auto">
            <a:xfrm>
              <a:off x="4236" y="2071"/>
              <a:ext cx="78" cy="144"/>
            </a:xfrm>
            <a:custGeom>
              <a:avLst/>
              <a:gdLst>
                <a:gd name="T0" fmla="*/ 78 w 78"/>
                <a:gd name="T1" fmla="*/ 114 h 144"/>
                <a:gd name="T2" fmla="*/ 78 w 78"/>
                <a:gd name="T3" fmla="*/ 114 h 144"/>
                <a:gd name="T4" fmla="*/ 72 w 78"/>
                <a:gd name="T5" fmla="*/ 126 h 144"/>
                <a:gd name="T6" fmla="*/ 60 w 78"/>
                <a:gd name="T7" fmla="*/ 126 h 144"/>
                <a:gd name="T8" fmla="*/ 18 w 78"/>
                <a:gd name="T9" fmla="*/ 126 h 144"/>
                <a:gd name="T10" fmla="*/ 48 w 78"/>
                <a:gd name="T11" fmla="*/ 90 h 144"/>
                <a:gd name="T12" fmla="*/ 60 w 78"/>
                <a:gd name="T13" fmla="*/ 66 h 144"/>
                <a:gd name="T14" fmla="*/ 72 w 78"/>
                <a:gd name="T15" fmla="*/ 54 h 144"/>
                <a:gd name="T16" fmla="*/ 72 w 78"/>
                <a:gd name="T17" fmla="*/ 42 h 144"/>
                <a:gd name="T18" fmla="*/ 72 w 78"/>
                <a:gd name="T19" fmla="*/ 24 h 144"/>
                <a:gd name="T20" fmla="*/ 60 w 78"/>
                <a:gd name="T21" fmla="*/ 12 h 144"/>
                <a:gd name="T22" fmla="*/ 48 w 78"/>
                <a:gd name="T23" fmla="*/ 6 h 144"/>
                <a:gd name="T24" fmla="*/ 36 w 78"/>
                <a:gd name="T25" fmla="*/ 0 h 144"/>
                <a:gd name="T26" fmla="*/ 18 w 78"/>
                <a:gd name="T27" fmla="*/ 12 h 144"/>
                <a:gd name="T28" fmla="*/ 6 w 78"/>
                <a:gd name="T29" fmla="*/ 24 h 144"/>
                <a:gd name="T30" fmla="*/ 0 w 78"/>
                <a:gd name="T31" fmla="*/ 42 h 144"/>
                <a:gd name="T32" fmla="*/ 6 w 78"/>
                <a:gd name="T33" fmla="*/ 42 h 144"/>
                <a:gd name="T34" fmla="*/ 12 w 78"/>
                <a:gd name="T35" fmla="*/ 30 h 144"/>
                <a:gd name="T36" fmla="*/ 18 w 78"/>
                <a:gd name="T37" fmla="*/ 24 h 144"/>
                <a:gd name="T38" fmla="*/ 30 w 78"/>
                <a:gd name="T39" fmla="*/ 18 h 144"/>
                <a:gd name="T40" fmla="*/ 42 w 78"/>
                <a:gd name="T41" fmla="*/ 24 h 144"/>
                <a:gd name="T42" fmla="*/ 54 w 78"/>
                <a:gd name="T43" fmla="*/ 30 h 144"/>
                <a:gd name="T44" fmla="*/ 54 w 78"/>
                <a:gd name="T45" fmla="*/ 48 h 144"/>
                <a:gd name="T46" fmla="*/ 48 w 78"/>
                <a:gd name="T47" fmla="*/ 72 h 144"/>
                <a:gd name="T48" fmla="*/ 30 w 78"/>
                <a:gd name="T49" fmla="*/ 102 h 144"/>
                <a:gd name="T50" fmla="*/ 0 w 78"/>
                <a:gd name="T51" fmla="*/ 138 h 144"/>
                <a:gd name="T52" fmla="*/ 0 w 78"/>
                <a:gd name="T53" fmla="*/ 144 h 144"/>
                <a:gd name="T54" fmla="*/ 72 w 78"/>
                <a:gd name="T55" fmla="*/ 144 h 144"/>
                <a:gd name="T56" fmla="*/ 78 w 78"/>
                <a:gd name="T57" fmla="*/ 114 h 14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8" h="144">
                  <a:moveTo>
                    <a:pt x="78" y="114"/>
                  </a:moveTo>
                  <a:lnTo>
                    <a:pt x="78" y="114"/>
                  </a:lnTo>
                  <a:lnTo>
                    <a:pt x="72" y="126"/>
                  </a:lnTo>
                  <a:lnTo>
                    <a:pt x="60" y="126"/>
                  </a:lnTo>
                  <a:lnTo>
                    <a:pt x="18" y="126"/>
                  </a:lnTo>
                  <a:lnTo>
                    <a:pt x="48" y="90"/>
                  </a:lnTo>
                  <a:lnTo>
                    <a:pt x="60" y="66"/>
                  </a:lnTo>
                  <a:lnTo>
                    <a:pt x="72" y="54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24"/>
                  </a:lnTo>
                  <a:lnTo>
                    <a:pt x="54" y="30"/>
                  </a:lnTo>
                  <a:lnTo>
                    <a:pt x="54" y="48"/>
                  </a:lnTo>
                  <a:lnTo>
                    <a:pt x="48" y="72"/>
                  </a:lnTo>
                  <a:lnTo>
                    <a:pt x="30" y="102"/>
                  </a:lnTo>
                  <a:lnTo>
                    <a:pt x="0" y="138"/>
                  </a:lnTo>
                  <a:lnTo>
                    <a:pt x="0" y="144"/>
                  </a:lnTo>
                  <a:lnTo>
                    <a:pt x="72" y="144"/>
                  </a:lnTo>
                  <a:lnTo>
                    <a:pt x="7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6"/>
            <p:cNvSpPr>
              <a:spLocks noEditPoints="1"/>
            </p:cNvSpPr>
            <p:nvPr/>
          </p:nvSpPr>
          <p:spPr bwMode="auto">
            <a:xfrm>
              <a:off x="4367" y="2071"/>
              <a:ext cx="120" cy="144"/>
            </a:xfrm>
            <a:custGeom>
              <a:avLst/>
              <a:gdLst>
                <a:gd name="T0" fmla="*/ 120 w 120"/>
                <a:gd name="T1" fmla="*/ 138 h 144"/>
                <a:gd name="T2" fmla="*/ 108 w 120"/>
                <a:gd name="T3" fmla="*/ 138 h 144"/>
                <a:gd name="T4" fmla="*/ 108 w 120"/>
                <a:gd name="T5" fmla="*/ 132 h 144"/>
                <a:gd name="T6" fmla="*/ 102 w 120"/>
                <a:gd name="T7" fmla="*/ 120 h 144"/>
                <a:gd name="T8" fmla="*/ 60 w 120"/>
                <a:gd name="T9" fmla="*/ 0 h 144"/>
                <a:gd name="T10" fmla="*/ 54 w 120"/>
                <a:gd name="T11" fmla="*/ 0 h 144"/>
                <a:gd name="T12" fmla="*/ 18 w 120"/>
                <a:gd name="T13" fmla="*/ 102 h 144"/>
                <a:gd name="T14" fmla="*/ 12 w 120"/>
                <a:gd name="T15" fmla="*/ 120 h 144"/>
                <a:gd name="T16" fmla="*/ 12 w 120"/>
                <a:gd name="T17" fmla="*/ 132 h 144"/>
                <a:gd name="T18" fmla="*/ 6 w 120"/>
                <a:gd name="T19" fmla="*/ 132 h 144"/>
                <a:gd name="T20" fmla="*/ 6 w 120"/>
                <a:gd name="T21" fmla="*/ 138 h 144"/>
                <a:gd name="T22" fmla="*/ 0 w 120"/>
                <a:gd name="T23" fmla="*/ 138 h 144"/>
                <a:gd name="T24" fmla="*/ 0 w 120"/>
                <a:gd name="T25" fmla="*/ 144 h 144"/>
                <a:gd name="T26" fmla="*/ 30 w 120"/>
                <a:gd name="T27" fmla="*/ 144 h 144"/>
                <a:gd name="T28" fmla="*/ 30 w 120"/>
                <a:gd name="T29" fmla="*/ 138 h 144"/>
                <a:gd name="T30" fmla="*/ 24 w 120"/>
                <a:gd name="T31" fmla="*/ 138 h 144"/>
                <a:gd name="T32" fmla="*/ 18 w 120"/>
                <a:gd name="T33" fmla="*/ 132 h 144"/>
                <a:gd name="T34" fmla="*/ 18 w 120"/>
                <a:gd name="T35" fmla="*/ 126 h 144"/>
                <a:gd name="T36" fmla="*/ 24 w 120"/>
                <a:gd name="T37" fmla="*/ 120 h 144"/>
                <a:gd name="T38" fmla="*/ 30 w 120"/>
                <a:gd name="T39" fmla="*/ 96 h 144"/>
                <a:gd name="T40" fmla="*/ 78 w 120"/>
                <a:gd name="T41" fmla="*/ 96 h 144"/>
                <a:gd name="T42" fmla="*/ 84 w 120"/>
                <a:gd name="T43" fmla="*/ 120 h 144"/>
                <a:gd name="T44" fmla="*/ 84 w 120"/>
                <a:gd name="T45" fmla="*/ 126 h 144"/>
                <a:gd name="T46" fmla="*/ 84 w 120"/>
                <a:gd name="T47" fmla="*/ 132 h 144"/>
                <a:gd name="T48" fmla="*/ 78 w 120"/>
                <a:gd name="T49" fmla="*/ 138 h 144"/>
                <a:gd name="T50" fmla="*/ 72 w 120"/>
                <a:gd name="T51" fmla="*/ 138 h 144"/>
                <a:gd name="T52" fmla="*/ 72 w 120"/>
                <a:gd name="T53" fmla="*/ 144 h 144"/>
                <a:gd name="T54" fmla="*/ 120 w 120"/>
                <a:gd name="T55" fmla="*/ 144 h 144"/>
                <a:gd name="T56" fmla="*/ 120 w 120"/>
                <a:gd name="T57" fmla="*/ 138 h 144"/>
                <a:gd name="T58" fmla="*/ 30 w 120"/>
                <a:gd name="T59" fmla="*/ 90 h 144"/>
                <a:gd name="T60" fmla="*/ 54 w 120"/>
                <a:gd name="T61" fmla="*/ 30 h 144"/>
                <a:gd name="T62" fmla="*/ 72 w 120"/>
                <a:gd name="T63" fmla="*/ 90 h 144"/>
                <a:gd name="T64" fmla="*/ 30 w 120"/>
                <a:gd name="T65" fmla="*/ 90 h 1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0" h="144">
                  <a:moveTo>
                    <a:pt x="120" y="138"/>
                  </a:moveTo>
                  <a:lnTo>
                    <a:pt x="108" y="138"/>
                  </a:lnTo>
                  <a:lnTo>
                    <a:pt x="108" y="132"/>
                  </a:lnTo>
                  <a:lnTo>
                    <a:pt x="102" y="12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18" y="102"/>
                  </a:lnTo>
                  <a:lnTo>
                    <a:pt x="12" y="120"/>
                  </a:lnTo>
                  <a:lnTo>
                    <a:pt x="12" y="132"/>
                  </a:lnTo>
                  <a:lnTo>
                    <a:pt x="6" y="132"/>
                  </a:lnTo>
                  <a:lnTo>
                    <a:pt x="6" y="138"/>
                  </a:lnTo>
                  <a:lnTo>
                    <a:pt x="0" y="138"/>
                  </a:lnTo>
                  <a:lnTo>
                    <a:pt x="0" y="144"/>
                  </a:lnTo>
                  <a:lnTo>
                    <a:pt x="30" y="144"/>
                  </a:lnTo>
                  <a:lnTo>
                    <a:pt x="30" y="138"/>
                  </a:lnTo>
                  <a:lnTo>
                    <a:pt x="24" y="138"/>
                  </a:lnTo>
                  <a:lnTo>
                    <a:pt x="18" y="132"/>
                  </a:lnTo>
                  <a:lnTo>
                    <a:pt x="18" y="126"/>
                  </a:lnTo>
                  <a:lnTo>
                    <a:pt x="24" y="120"/>
                  </a:lnTo>
                  <a:lnTo>
                    <a:pt x="30" y="96"/>
                  </a:lnTo>
                  <a:lnTo>
                    <a:pt x="78" y="96"/>
                  </a:lnTo>
                  <a:lnTo>
                    <a:pt x="84" y="120"/>
                  </a:lnTo>
                  <a:lnTo>
                    <a:pt x="84" y="126"/>
                  </a:lnTo>
                  <a:lnTo>
                    <a:pt x="84" y="132"/>
                  </a:lnTo>
                  <a:lnTo>
                    <a:pt x="78" y="138"/>
                  </a:lnTo>
                  <a:lnTo>
                    <a:pt x="72" y="138"/>
                  </a:lnTo>
                  <a:lnTo>
                    <a:pt x="72" y="144"/>
                  </a:lnTo>
                  <a:lnTo>
                    <a:pt x="120" y="144"/>
                  </a:lnTo>
                  <a:lnTo>
                    <a:pt x="120" y="138"/>
                  </a:lnTo>
                  <a:close/>
                  <a:moveTo>
                    <a:pt x="30" y="90"/>
                  </a:moveTo>
                  <a:lnTo>
                    <a:pt x="54" y="30"/>
                  </a:lnTo>
                  <a:lnTo>
                    <a:pt x="72" y="90"/>
                  </a:lnTo>
                  <a:lnTo>
                    <a:pt x="30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7"/>
            <p:cNvSpPr>
              <a:spLocks noEditPoints="1"/>
            </p:cNvSpPr>
            <p:nvPr/>
          </p:nvSpPr>
          <p:spPr bwMode="auto">
            <a:xfrm>
              <a:off x="1783" y="1289"/>
              <a:ext cx="78" cy="90"/>
            </a:xfrm>
            <a:custGeom>
              <a:avLst/>
              <a:gdLst>
                <a:gd name="T0" fmla="*/ 78 w 78"/>
                <a:gd name="T1" fmla="*/ 66 h 90"/>
                <a:gd name="T2" fmla="*/ 72 w 78"/>
                <a:gd name="T3" fmla="*/ 78 h 90"/>
                <a:gd name="T4" fmla="*/ 66 w 78"/>
                <a:gd name="T5" fmla="*/ 84 h 90"/>
                <a:gd name="T6" fmla="*/ 60 w 78"/>
                <a:gd name="T7" fmla="*/ 84 h 90"/>
                <a:gd name="T8" fmla="*/ 60 w 78"/>
                <a:gd name="T9" fmla="*/ 78 h 90"/>
                <a:gd name="T10" fmla="*/ 60 w 78"/>
                <a:gd name="T11" fmla="*/ 72 h 90"/>
                <a:gd name="T12" fmla="*/ 66 w 78"/>
                <a:gd name="T13" fmla="*/ 66 h 90"/>
                <a:gd name="T14" fmla="*/ 72 w 78"/>
                <a:gd name="T15" fmla="*/ 36 h 90"/>
                <a:gd name="T16" fmla="*/ 78 w 78"/>
                <a:gd name="T17" fmla="*/ 12 h 90"/>
                <a:gd name="T18" fmla="*/ 78 w 78"/>
                <a:gd name="T19" fmla="*/ 6 h 90"/>
                <a:gd name="T20" fmla="*/ 78 w 78"/>
                <a:gd name="T21" fmla="*/ 0 h 90"/>
                <a:gd name="T22" fmla="*/ 78 w 78"/>
                <a:gd name="T23" fmla="*/ 0 h 90"/>
                <a:gd name="T24" fmla="*/ 66 w 78"/>
                <a:gd name="T25" fmla="*/ 0 h 90"/>
                <a:gd name="T26" fmla="*/ 66 w 78"/>
                <a:gd name="T27" fmla="*/ 0 h 90"/>
                <a:gd name="T28" fmla="*/ 66 w 78"/>
                <a:gd name="T29" fmla="*/ 12 h 90"/>
                <a:gd name="T30" fmla="*/ 66 w 78"/>
                <a:gd name="T31" fmla="*/ 12 h 90"/>
                <a:gd name="T32" fmla="*/ 60 w 78"/>
                <a:gd name="T33" fmla="*/ 6 h 90"/>
                <a:gd name="T34" fmla="*/ 48 w 78"/>
                <a:gd name="T35" fmla="*/ 0 h 90"/>
                <a:gd name="T36" fmla="*/ 30 w 78"/>
                <a:gd name="T37" fmla="*/ 6 h 90"/>
                <a:gd name="T38" fmla="*/ 18 w 78"/>
                <a:gd name="T39" fmla="*/ 24 h 90"/>
                <a:gd name="T40" fmla="*/ 6 w 78"/>
                <a:gd name="T41" fmla="*/ 42 h 90"/>
                <a:gd name="T42" fmla="*/ 0 w 78"/>
                <a:gd name="T43" fmla="*/ 66 h 90"/>
                <a:gd name="T44" fmla="*/ 0 w 78"/>
                <a:gd name="T45" fmla="*/ 78 h 90"/>
                <a:gd name="T46" fmla="*/ 6 w 78"/>
                <a:gd name="T47" fmla="*/ 90 h 90"/>
                <a:gd name="T48" fmla="*/ 18 w 78"/>
                <a:gd name="T49" fmla="*/ 90 h 90"/>
                <a:gd name="T50" fmla="*/ 36 w 78"/>
                <a:gd name="T51" fmla="*/ 84 h 90"/>
                <a:gd name="T52" fmla="*/ 42 w 78"/>
                <a:gd name="T53" fmla="*/ 78 h 90"/>
                <a:gd name="T54" fmla="*/ 54 w 78"/>
                <a:gd name="T55" fmla="*/ 60 h 90"/>
                <a:gd name="T56" fmla="*/ 54 w 78"/>
                <a:gd name="T57" fmla="*/ 60 h 90"/>
                <a:gd name="T58" fmla="*/ 48 w 78"/>
                <a:gd name="T59" fmla="*/ 72 h 90"/>
                <a:gd name="T60" fmla="*/ 48 w 78"/>
                <a:gd name="T61" fmla="*/ 84 h 90"/>
                <a:gd name="T62" fmla="*/ 48 w 78"/>
                <a:gd name="T63" fmla="*/ 90 h 90"/>
                <a:gd name="T64" fmla="*/ 54 w 78"/>
                <a:gd name="T65" fmla="*/ 90 h 90"/>
                <a:gd name="T66" fmla="*/ 66 w 78"/>
                <a:gd name="T67" fmla="*/ 84 h 90"/>
                <a:gd name="T68" fmla="*/ 78 w 78"/>
                <a:gd name="T69" fmla="*/ 72 h 90"/>
                <a:gd name="T70" fmla="*/ 78 w 78"/>
                <a:gd name="T71" fmla="*/ 66 h 90"/>
                <a:gd name="T72" fmla="*/ 12 w 78"/>
                <a:gd name="T73" fmla="*/ 66 h 90"/>
                <a:gd name="T74" fmla="*/ 18 w 78"/>
                <a:gd name="T75" fmla="*/ 48 h 90"/>
                <a:gd name="T76" fmla="*/ 24 w 78"/>
                <a:gd name="T77" fmla="*/ 24 h 90"/>
                <a:gd name="T78" fmla="*/ 36 w 78"/>
                <a:gd name="T79" fmla="*/ 6 h 90"/>
                <a:gd name="T80" fmla="*/ 48 w 78"/>
                <a:gd name="T81" fmla="*/ 0 h 90"/>
                <a:gd name="T82" fmla="*/ 54 w 78"/>
                <a:gd name="T83" fmla="*/ 6 h 90"/>
                <a:gd name="T84" fmla="*/ 60 w 78"/>
                <a:gd name="T85" fmla="*/ 18 h 90"/>
                <a:gd name="T86" fmla="*/ 60 w 78"/>
                <a:gd name="T87" fmla="*/ 36 h 90"/>
                <a:gd name="T88" fmla="*/ 48 w 78"/>
                <a:gd name="T89" fmla="*/ 60 h 90"/>
                <a:gd name="T90" fmla="*/ 36 w 78"/>
                <a:gd name="T91" fmla="*/ 78 h 90"/>
                <a:gd name="T92" fmla="*/ 24 w 78"/>
                <a:gd name="T93" fmla="*/ 84 h 90"/>
                <a:gd name="T94" fmla="*/ 18 w 78"/>
                <a:gd name="T95" fmla="*/ 78 h 90"/>
                <a:gd name="T96" fmla="*/ 12 w 78"/>
                <a:gd name="T97" fmla="*/ 66 h 90"/>
                <a:gd name="T98" fmla="*/ 12 w 78"/>
                <a:gd name="T99" fmla="*/ 66 h 9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8" h="90">
                  <a:moveTo>
                    <a:pt x="78" y="66"/>
                  </a:moveTo>
                  <a:lnTo>
                    <a:pt x="72" y="78"/>
                  </a:lnTo>
                  <a:lnTo>
                    <a:pt x="66" y="84"/>
                  </a:lnTo>
                  <a:lnTo>
                    <a:pt x="60" y="84"/>
                  </a:lnTo>
                  <a:lnTo>
                    <a:pt x="60" y="78"/>
                  </a:lnTo>
                  <a:lnTo>
                    <a:pt x="60" y="72"/>
                  </a:lnTo>
                  <a:lnTo>
                    <a:pt x="66" y="66"/>
                  </a:lnTo>
                  <a:lnTo>
                    <a:pt x="72" y="36"/>
                  </a:lnTo>
                  <a:lnTo>
                    <a:pt x="78" y="12"/>
                  </a:lnTo>
                  <a:lnTo>
                    <a:pt x="78" y="6"/>
                  </a:lnTo>
                  <a:lnTo>
                    <a:pt x="78" y="0"/>
                  </a:lnTo>
                  <a:lnTo>
                    <a:pt x="66" y="0"/>
                  </a:lnTo>
                  <a:lnTo>
                    <a:pt x="66" y="12"/>
                  </a:lnTo>
                  <a:lnTo>
                    <a:pt x="60" y="6"/>
                  </a:lnTo>
                  <a:lnTo>
                    <a:pt x="48" y="0"/>
                  </a:lnTo>
                  <a:lnTo>
                    <a:pt x="30" y="6"/>
                  </a:lnTo>
                  <a:lnTo>
                    <a:pt x="18" y="24"/>
                  </a:lnTo>
                  <a:lnTo>
                    <a:pt x="6" y="42"/>
                  </a:lnTo>
                  <a:lnTo>
                    <a:pt x="0" y="66"/>
                  </a:lnTo>
                  <a:lnTo>
                    <a:pt x="0" y="78"/>
                  </a:lnTo>
                  <a:lnTo>
                    <a:pt x="6" y="90"/>
                  </a:lnTo>
                  <a:lnTo>
                    <a:pt x="18" y="90"/>
                  </a:lnTo>
                  <a:lnTo>
                    <a:pt x="36" y="84"/>
                  </a:lnTo>
                  <a:lnTo>
                    <a:pt x="42" y="78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8" y="84"/>
                  </a:lnTo>
                  <a:lnTo>
                    <a:pt x="48" y="90"/>
                  </a:lnTo>
                  <a:lnTo>
                    <a:pt x="54" y="90"/>
                  </a:lnTo>
                  <a:lnTo>
                    <a:pt x="66" y="84"/>
                  </a:lnTo>
                  <a:lnTo>
                    <a:pt x="78" y="72"/>
                  </a:lnTo>
                  <a:lnTo>
                    <a:pt x="78" y="66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24"/>
                  </a:lnTo>
                  <a:lnTo>
                    <a:pt x="36" y="6"/>
                  </a:lnTo>
                  <a:lnTo>
                    <a:pt x="48" y="0"/>
                  </a:lnTo>
                  <a:lnTo>
                    <a:pt x="54" y="6"/>
                  </a:lnTo>
                  <a:lnTo>
                    <a:pt x="60" y="18"/>
                  </a:lnTo>
                  <a:lnTo>
                    <a:pt x="60" y="36"/>
                  </a:lnTo>
                  <a:lnTo>
                    <a:pt x="48" y="60"/>
                  </a:lnTo>
                  <a:lnTo>
                    <a:pt x="36" y="78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2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18"/>
            <p:cNvSpPr>
              <a:spLocks noEditPoints="1"/>
            </p:cNvSpPr>
            <p:nvPr/>
          </p:nvSpPr>
          <p:spPr bwMode="auto">
            <a:xfrm>
              <a:off x="3368" y="1195"/>
              <a:ext cx="78" cy="143"/>
            </a:xfrm>
            <a:custGeom>
              <a:avLst/>
              <a:gdLst>
                <a:gd name="T0" fmla="*/ 60 w 78"/>
                <a:gd name="T1" fmla="*/ 77 h 143"/>
                <a:gd name="T2" fmla="*/ 60 w 78"/>
                <a:gd name="T3" fmla="*/ 95 h 143"/>
                <a:gd name="T4" fmla="*/ 48 w 78"/>
                <a:gd name="T5" fmla="*/ 113 h 143"/>
                <a:gd name="T6" fmla="*/ 36 w 78"/>
                <a:gd name="T7" fmla="*/ 131 h 143"/>
                <a:gd name="T8" fmla="*/ 18 w 78"/>
                <a:gd name="T9" fmla="*/ 137 h 143"/>
                <a:gd name="T10" fmla="*/ 12 w 78"/>
                <a:gd name="T11" fmla="*/ 137 h 143"/>
                <a:gd name="T12" fmla="*/ 12 w 78"/>
                <a:gd name="T13" fmla="*/ 131 h 143"/>
                <a:gd name="T14" fmla="*/ 18 w 78"/>
                <a:gd name="T15" fmla="*/ 107 h 143"/>
                <a:gd name="T16" fmla="*/ 24 w 78"/>
                <a:gd name="T17" fmla="*/ 89 h 143"/>
                <a:gd name="T18" fmla="*/ 36 w 78"/>
                <a:gd name="T19" fmla="*/ 65 h 143"/>
                <a:gd name="T20" fmla="*/ 48 w 78"/>
                <a:gd name="T21" fmla="*/ 60 h 143"/>
                <a:gd name="T22" fmla="*/ 60 w 78"/>
                <a:gd name="T23" fmla="*/ 65 h 143"/>
                <a:gd name="T24" fmla="*/ 60 w 78"/>
                <a:gd name="T25" fmla="*/ 77 h 143"/>
                <a:gd name="T26" fmla="*/ 60 w 78"/>
                <a:gd name="T27" fmla="*/ 77 h 143"/>
                <a:gd name="T28" fmla="*/ 12 w 78"/>
                <a:gd name="T29" fmla="*/ 6 h 143"/>
                <a:gd name="T30" fmla="*/ 24 w 78"/>
                <a:gd name="T31" fmla="*/ 6 h 143"/>
                <a:gd name="T32" fmla="*/ 24 w 78"/>
                <a:gd name="T33" fmla="*/ 12 h 143"/>
                <a:gd name="T34" fmla="*/ 24 w 78"/>
                <a:gd name="T35" fmla="*/ 24 h 143"/>
                <a:gd name="T36" fmla="*/ 18 w 78"/>
                <a:gd name="T37" fmla="*/ 30 h 143"/>
                <a:gd name="T38" fmla="*/ 0 w 78"/>
                <a:gd name="T39" fmla="*/ 131 h 143"/>
                <a:gd name="T40" fmla="*/ 0 w 78"/>
                <a:gd name="T41" fmla="*/ 131 h 143"/>
                <a:gd name="T42" fmla="*/ 6 w 78"/>
                <a:gd name="T43" fmla="*/ 137 h 143"/>
                <a:gd name="T44" fmla="*/ 18 w 78"/>
                <a:gd name="T45" fmla="*/ 143 h 143"/>
                <a:gd name="T46" fmla="*/ 42 w 78"/>
                <a:gd name="T47" fmla="*/ 137 h 143"/>
                <a:gd name="T48" fmla="*/ 60 w 78"/>
                <a:gd name="T49" fmla="*/ 119 h 143"/>
                <a:gd name="T50" fmla="*/ 72 w 78"/>
                <a:gd name="T51" fmla="*/ 101 h 143"/>
                <a:gd name="T52" fmla="*/ 78 w 78"/>
                <a:gd name="T53" fmla="*/ 77 h 143"/>
                <a:gd name="T54" fmla="*/ 72 w 78"/>
                <a:gd name="T55" fmla="*/ 54 h 143"/>
                <a:gd name="T56" fmla="*/ 54 w 78"/>
                <a:gd name="T57" fmla="*/ 48 h 143"/>
                <a:gd name="T58" fmla="*/ 48 w 78"/>
                <a:gd name="T59" fmla="*/ 54 h 143"/>
                <a:gd name="T60" fmla="*/ 36 w 78"/>
                <a:gd name="T61" fmla="*/ 60 h 143"/>
                <a:gd name="T62" fmla="*/ 30 w 78"/>
                <a:gd name="T63" fmla="*/ 71 h 143"/>
                <a:gd name="T64" fmla="*/ 24 w 78"/>
                <a:gd name="T65" fmla="*/ 77 h 143"/>
                <a:gd name="T66" fmla="*/ 24 w 78"/>
                <a:gd name="T67" fmla="*/ 77 h 143"/>
                <a:gd name="T68" fmla="*/ 36 w 78"/>
                <a:gd name="T69" fmla="*/ 36 h 143"/>
                <a:gd name="T70" fmla="*/ 36 w 78"/>
                <a:gd name="T71" fmla="*/ 18 h 143"/>
                <a:gd name="T72" fmla="*/ 42 w 78"/>
                <a:gd name="T73" fmla="*/ 0 h 143"/>
                <a:gd name="T74" fmla="*/ 36 w 78"/>
                <a:gd name="T75" fmla="*/ 0 h 143"/>
                <a:gd name="T76" fmla="*/ 24 w 78"/>
                <a:gd name="T77" fmla="*/ 0 h 143"/>
                <a:gd name="T78" fmla="*/ 12 w 78"/>
                <a:gd name="T79" fmla="*/ 6 h 143"/>
                <a:gd name="T80" fmla="*/ 12 w 78"/>
                <a:gd name="T81" fmla="*/ 6 h 14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8" h="143">
                  <a:moveTo>
                    <a:pt x="60" y="77"/>
                  </a:moveTo>
                  <a:lnTo>
                    <a:pt x="60" y="95"/>
                  </a:lnTo>
                  <a:lnTo>
                    <a:pt x="48" y="113"/>
                  </a:lnTo>
                  <a:lnTo>
                    <a:pt x="36" y="131"/>
                  </a:lnTo>
                  <a:lnTo>
                    <a:pt x="18" y="137"/>
                  </a:lnTo>
                  <a:lnTo>
                    <a:pt x="12" y="137"/>
                  </a:lnTo>
                  <a:lnTo>
                    <a:pt x="12" y="131"/>
                  </a:lnTo>
                  <a:lnTo>
                    <a:pt x="18" y="107"/>
                  </a:lnTo>
                  <a:lnTo>
                    <a:pt x="24" y="89"/>
                  </a:lnTo>
                  <a:lnTo>
                    <a:pt x="36" y="65"/>
                  </a:lnTo>
                  <a:lnTo>
                    <a:pt x="48" y="60"/>
                  </a:lnTo>
                  <a:lnTo>
                    <a:pt x="60" y="65"/>
                  </a:lnTo>
                  <a:lnTo>
                    <a:pt x="60" y="77"/>
                  </a:lnTo>
                  <a:close/>
                  <a:moveTo>
                    <a:pt x="12" y="6"/>
                  </a:moveTo>
                  <a:lnTo>
                    <a:pt x="24" y="6"/>
                  </a:lnTo>
                  <a:lnTo>
                    <a:pt x="24" y="12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0" y="131"/>
                  </a:lnTo>
                  <a:lnTo>
                    <a:pt x="6" y="137"/>
                  </a:lnTo>
                  <a:lnTo>
                    <a:pt x="18" y="143"/>
                  </a:lnTo>
                  <a:lnTo>
                    <a:pt x="42" y="137"/>
                  </a:lnTo>
                  <a:lnTo>
                    <a:pt x="60" y="119"/>
                  </a:lnTo>
                  <a:lnTo>
                    <a:pt x="72" y="101"/>
                  </a:lnTo>
                  <a:lnTo>
                    <a:pt x="78" y="77"/>
                  </a:lnTo>
                  <a:lnTo>
                    <a:pt x="72" y="54"/>
                  </a:lnTo>
                  <a:lnTo>
                    <a:pt x="54" y="48"/>
                  </a:lnTo>
                  <a:lnTo>
                    <a:pt x="48" y="54"/>
                  </a:lnTo>
                  <a:lnTo>
                    <a:pt x="36" y="60"/>
                  </a:lnTo>
                  <a:lnTo>
                    <a:pt x="30" y="71"/>
                  </a:lnTo>
                  <a:lnTo>
                    <a:pt x="24" y="77"/>
                  </a:lnTo>
                  <a:lnTo>
                    <a:pt x="36" y="36"/>
                  </a:lnTo>
                  <a:lnTo>
                    <a:pt x="36" y="18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2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19"/>
            <p:cNvSpPr>
              <a:spLocks/>
            </p:cNvSpPr>
            <p:nvPr/>
          </p:nvSpPr>
          <p:spPr bwMode="auto">
            <a:xfrm>
              <a:off x="2800" y="3046"/>
              <a:ext cx="66" cy="89"/>
            </a:xfrm>
            <a:custGeom>
              <a:avLst/>
              <a:gdLst>
                <a:gd name="T0" fmla="*/ 54 w 66"/>
                <a:gd name="T1" fmla="*/ 65 h 89"/>
                <a:gd name="T2" fmla="*/ 42 w 66"/>
                <a:gd name="T3" fmla="*/ 77 h 89"/>
                <a:gd name="T4" fmla="*/ 30 w 66"/>
                <a:gd name="T5" fmla="*/ 83 h 89"/>
                <a:gd name="T6" fmla="*/ 18 w 66"/>
                <a:gd name="T7" fmla="*/ 77 h 89"/>
                <a:gd name="T8" fmla="*/ 12 w 66"/>
                <a:gd name="T9" fmla="*/ 59 h 89"/>
                <a:gd name="T10" fmla="*/ 24 w 66"/>
                <a:gd name="T11" fmla="*/ 24 h 89"/>
                <a:gd name="T12" fmla="*/ 30 w 66"/>
                <a:gd name="T13" fmla="*/ 6 h 89"/>
                <a:gd name="T14" fmla="*/ 48 w 66"/>
                <a:gd name="T15" fmla="*/ 0 h 89"/>
                <a:gd name="T16" fmla="*/ 54 w 66"/>
                <a:gd name="T17" fmla="*/ 0 h 89"/>
                <a:gd name="T18" fmla="*/ 54 w 66"/>
                <a:gd name="T19" fmla="*/ 6 h 89"/>
                <a:gd name="T20" fmla="*/ 54 w 66"/>
                <a:gd name="T21" fmla="*/ 12 h 89"/>
                <a:gd name="T22" fmla="*/ 48 w 66"/>
                <a:gd name="T23" fmla="*/ 18 h 89"/>
                <a:gd name="T24" fmla="*/ 54 w 66"/>
                <a:gd name="T25" fmla="*/ 24 h 89"/>
                <a:gd name="T26" fmla="*/ 60 w 66"/>
                <a:gd name="T27" fmla="*/ 24 h 89"/>
                <a:gd name="T28" fmla="*/ 66 w 66"/>
                <a:gd name="T29" fmla="*/ 18 h 89"/>
                <a:gd name="T30" fmla="*/ 66 w 66"/>
                <a:gd name="T31" fmla="*/ 12 h 89"/>
                <a:gd name="T32" fmla="*/ 60 w 66"/>
                <a:gd name="T33" fmla="*/ 6 h 89"/>
                <a:gd name="T34" fmla="*/ 48 w 66"/>
                <a:gd name="T35" fmla="*/ 0 h 89"/>
                <a:gd name="T36" fmla="*/ 30 w 66"/>
                <a:gd name="T37" fmla="*/ 6 h 89"/>
                <a:gd name="T38" fmla="*/ 18 w 66"/>
                <a:gd name="T39" fmla="*/ 18 h 89"/>
                <a:gd name="T40" fmla="*/ 6 w 66"/>
                <a:gd name="T41" fmla="*/ 35 h 89"/>
                <a:gd name="T42" fmla="*/ 0 w 66"/>
                <a:gd name="T43" fmla="*/ 59 h 89"/>
                <a:gd name="T44" fmla="*/ 0 w 66"/>
                <a:gd name="T45" fmla="*/ 77 h 89"/>
                <a:gd name="T46" fmla="*/ 6 w 66"/>
                <a:gd name="T47" fmla="*/ 83 h 89"/>
                <a:gd name="T48" fmla="*/ 24 w 66"/>
                <a:gd name="T49" fmla="*/ 89 h 89"/>
                <a:gd name="T50" fmla="*/ 48 w 66"/>
                <a:gd name="T51" fmla="*/ 83 h 89"/>
                <a:gd name="T52" fmla="*/ 54 w 66"/>
                <a:gd name="T53" fmla="*/ 65 h 89"/>
                <a:gd name="T54" fmla="*/ 54 w 66"/>
                <a:gd name="T55" fmla="*/ 65 h 8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6" h="89">
                  <a:moveTo>
                    <a:pt x="54" y="65"/>
                  </a:moveTo>
                  <a:lnTo>
                    <a:pt x="42" y="77"/>
                  </a:lnTo>
                  <a:lnTo>
                    <a:pt x="30" y="83"/>
                  </a:lnTo>
                  <a:lnTo>
                    <a:pt x="18" y="77"/>
                  </a:lnTo>
                  <a:lnTo>
                    <a:pt x="12" y="59"/>
                  </a:lnTo>
                  <a:lnTo>
                    <a:pt x="24" y="24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4" y="6"/>
                  </a:lnTo>
                  <a:lnTo>
                    <a:pt x="54" y="12"/>
                  </a:lnTo>
                  <a:lnTo>
                    <a:pt x="48" y="18"/>
                  </a:lnTo>
                  <a:lnTo>
                    <a:pt x="54" y="24"/>
                  </a:lnTo>
                  <a:lnTo>
                    <a:pt x="60" y="24"/>
                  </a:lnTo>
                  <a:lnTo>
                    <a:pt x="66" y="18"/>
                  </a:lnTo>
                  <a:lnTo>
                    <a:pt x="66" y="12"/>
                  </a:lnTo>
                  <a:lnTo>
                    <a:pt x="60" y="6"/>
                  </a:lnTo>
                  <a:lnTo>
                    <a:pt x="48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5"/>
                  </a:lnTo>
                  <a:lnTo>
                    <a:pt x="0" y="59"/>
                  </a:lnTo>
                  <a:lnTo>
                    <a:pt x="0" y="77"/>
                  </a:lnTo>
                  <a:lnTo>
                    <a:pt x="6" y="83"/>
                  </a:lnTo>
                  <a:lnTo>
                    <a:pt x="24" y="89"/>
                  </a:lnTo>
                  <a:lnTo>
                    <a:pt x="48" y="83"/>
                  </a:lnTo>
                  <a:lnTo>
                    <a:pt x="54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20"/>
            <p:cNvSpPr>
              <a:spLocks/>
            </p:cNvSpPr>
            <p:nvPr/>
          </p:nvSpPr>
          <p:spPr bwMode="auto">
            <a:xfrm>
              <a:off x="2208" y="1164"/>
              <a:ext cx="72" cy="149"/>
            </a:xfrm>
            <a:custGeom>
              <a:avLst/>
              <a:gdLst>
                <a:gd name="T0" fmla="*/ 24 w 72"/>
                <a:gd name="T1" fmla="*/ 24 h 149"/>
                <a:gd name="T2" fmla="*/ 60 w 72"/>
                <a:gd name="T3" fmla="*/ 24 h 149"/>
                <a:gd name="T4" fmla="*/ 60 w 72"/>
                <a:gd name="T5" fmla="*/ 24 h 149"/>
                <a:gd name="T6" fmla="*/ 72 w 72"/>
                <a:gd name="T7" fmla="*/ 6 h 149"/>
                <a:gd name="T8" fmla="*/ 66 w 72"/>
                <a:gd name="T9" fmla="*/ 0 h 149"/>
                <a:gd name="T10" fmla="*/ 66 w 72"/>
                <a:gd name="T11" fmla="*/ 6 h 149"/>
                <a:gd name="T12" fmla="*/ 60 w 72"/>
                <a:gd name="T13" fmla="*/ 6 h 149"/>
                <a:gd name="T14" fmla="*/ 24 w 72"/>
                <a:gd name="T15" fmla="*/ 6 h 149"/>
                <a:gd name="T16" fmla="*/ 6 w 72"/>
                <a:gd name="T17" fmla="*/ 53 h 149"/>
                <a:gd name="T18" fmla="*/ 6 w 72"/>
                <a:gd name="T19" fmla="*/ 59 h 149"/>
                <a:gd name="T20" fmla="*/ 6 w 72"/>
                <a:gd name="T21" fmla="*/ 59 h 149"/>
                <a:gd name="T22" fmla="*/ 36 w 72"/>
                <a:gd name="T23" fmla="*/ 71 h 149"/>
                <a:gd name="T24" fmla="*/ 48 w 72"/>
                <a:gd name="T25" fmla="*/ 83 h 149"/>
                <a:gd name="T26" fmla="*/ 54 w 72"/>
                <a:gd name="T27" fmla="*/ 101 h 149"/>
                <a:gd name="T28" fmla="*/ 54 w 72"/>
                <a:gd name="T29" fmla="*/ 119 h 149"/>
                <a:gd name="T30" fmla="*/ 48 w 72"/>
                <a:gd name="T31" fmla="*/ 131 h 149"/>
                <a:gd name="T32" fmla="*/ 30 w 72"/>
                <a:gd name="T33" fmla="*/ 137 h 149"/>
                <a:gd name="T34" fmla="*/ 18 w 72"/>
                <a:gd name="T35" fmla="*/ 131 h 149"/>
                <a:gd name="T36" fmla="*/ 6 w 72"/>
                <a:gd name="T37" fmla="*/ 125 h 149"/>
                <a:gd name="T38" fmla="*/ 0 w 72"/>
                <a:gd name="T39" fmla="*/ 131 h 149"/>
                <a:gd name="T40" fmla="*/ 0 w 72"/>
                <a:gd name="T41" fmla="*/ 137 h 149"/>
                <a:gd name="T42" fmla="*/ 6 w 72"/>
                <a:gd name="T43" fmla="*/ 143 h 149"/>
                <a:gd name="T44" fmla="*/ 18 w 72"/>
                <a:gd name="T45" fmla="*/ 149 h 149"/>
                <a:gd name="T46" fmla="*/ 36 w 72"/>
                <a:gd name="T47" fmla="*/ 143 h 149"/>
                <a:gd name="T48" fmla="*/ 54 w 72"/>
                <a:gd name="T49" fmla="*/ 131 h 149"/>
                <a:gd name="T50" fmla="*/ 60 w 72"/>
                <a:gd name="T51" fmla="*/ 119 h 149"/>
                <a:gd name="T52" fmla="*/ 66 w 72"/>
                <a:gd name="T53" fmla="*/ 95 h 149"/>
                <a:gd name="T54" fmla="*/ 66 w 72"/>
                <a:gd name="T55" fmla="*/ 77 h 149"/>
                <a:gd name="T56" fmla="*/ 60 w 72"/>
                <a:gd name="T57" fmla="*/ 65 h 149"/>
                <a:gd name="T58" fmla="*/ 42 w 72"/>
                <a:gd name="T59" fmla="*/ 47 h 149"/>
                <a:gd name="T60" fmla="*/ 18 w 72"/>
                <a:gd name="T61" fmla="*/ 42 h 149"/>
                <a:gd name="T62" fmla="*/ 24 w 72"/>
                <a:gd name="T63" fmla="*/ 24 h 14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72" h="149">
                  <a:moveTo>
                    <a:pt x="24" y="24"/>
                  </a:moveTo>
                  <a:lnTo>
                    <a:pt x="60" y="24"/>
                  </a:lnTo>
                  <a:lnTo>
                    <a:pt x="72" y="6"/>
                  </a:lnTo>
                  <a:lnTo>
                    <a:pt x="66" y="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24" y="6"/>
                  </a:lnTo>
                  <a:lnTo>
                    <a:pt x="6" y="53"/>
                  </a:lnTo>
                  <a:lnTo>
                    <a:pt x="6" y="59"/>
                  </a:lnTo>
                  <a:lnTo>
                    <a:pt x="36" y="71"/>
                  </a:lnTo>
                  <a:lnTo>
                    <a:pt x="48" y="83"/>
                  </a:lnTo>
                  <a:lnTo>
                    <a:pt x="54" y="101"/>
                  </a:lnTo>
                  <a:lnTo>
                    <a:pt x="54" y="119"/>
                  </a:lnTo>
                  <a:lnTo>
                    <a:pt x="48" y="131"/>
                  </a:lnTo>
                  <a:lnTo>
                    <a:pt x="30" y="137"/>
                  </a:lnTo>
                  <a:lnTo>
                    <a:pt x="18" y="131"/>
                  </a:lnTo>
                  <a:lnTo>
                    <a:pt x="6" y="125"/>
                  </a:lnTo>
                  <a:lnTo>
                    <a:pt x="0" y="131"/>
                  </a:lnTo>
                  <a:lnTo>
                    <a:pt x="0" y="137"/>
                  </a:lnTo>
                  <a:lnTo>
                    <a:pt x="6" y="143"/>
                  </a:lnTo>
                  <a:lnTo>
                    <a:pt x="18" y="149"/>
                  </a:lnTo>
                  <a:lnTo>
                    <a:pt x="36" y="143"/>
                  </a:lnTo>
                  <a:lnTo>
                    <a:pt x="54" y="131"/>
                  </a:lnTo>
                  <a:lnTo>
                    <a:pt x="60" y="119"/>
                  </a:lnTo>
                  <a:lnTo>
                    <a:pt x="66" y="95"/>
                  </a:lnTo>
                  <a:lnTo>
                    <a:pt x="66" y="77"/>
                  </a:lnTo>
                  <a:lnTo>
                    <a:pt x="60" y="65"/>
                  </a:lnTo>
                  <a:lnTo>
                    <a:pt x="42" y="47"/>
                  </a:lnTo>
                  <a:lnTo>
                    <a:pt x="18" y="42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21"/>
            <p:cNvSpPr>
              <a:spLocks/>
            </p:cNvSpPr>
            <p:nvPr/>
          </p:nvSpPr>
          <p:spPr bwMode="auto">
            <a:xfrm>
              <a:off x="2340" y="1164"/>
              <a:ext cx="119" cy="143"/>
            </a:xfrm>
            <a:custGeom>
              <a:avLst/>
              <a:gdLst>
                <a:gd name="T0" fmla="*/ 48 w 119"/>
                <a:gd name="T1" fmla="*/ 113 h 143"/>
                <a:gd name="T2" fmla="*/ 36 w 119"/>
                <a:gd name="T3" fmla="*/ 107 h 143"/>
                <a:gd name="T4" fmla="*/ 24 w 119"/>
                <a:gd name="T5" fmla="*/ 89 h 143"/>
                <a:gd name="T6" fmla="*/ 24 w 119"/>
                <a:gd name="T7" fmla="*/ 71 h 143"/>
                <a:gd name="T8" fmla="*/ 24 w 119"/>
                <a:gd name="T9" fmla="*/ 53 h 143"/>
                <a:gd name="T10" fmla="*/ 24 w 119"/>
                <a:gd name="T11" fmla="*/ 36 h 143"/>
                <a:gd name="T12" fmla="*/ 36 w 119"/>
                <a:gd name="T13" fmla="*/ 18 h 143"/>
                <a:gd name="T14" fmla="*/ 48 w 119"/>
                <a:gd name="T15" fmla="*/ 12 h 143"/>
                <a:gd name="T16" fmla="*/ 59 w 119"/>
                <a:gd name="T17" fmla="*/ 6 h 143"/>
                <a:gd name="T18" fmla="*/ 71 w 119"/>
                <a:gd name="T19" fmla="*/ 12 h 143"/>
                <a:gd name="T20" fmla="*/ 83 w 119"/>
                <a:gd name="T21" fmla="*/ 18 h 143"/>
                <a:gd name="T22" fmla="*/ 95 w 119"/>
                <a:gd name="T23" fmla="*/ 36 h 143"/>
                <a:gd name="T24" fmla="*/ 95 w 119"/>
                <a:gd name="T25" fmla="*/ 53 h 143"/>
                <a:gd name="T26" fmla="*/ 95 w 119"/>
                <a:gd name="T27" fmla="*/ 71 h 143"/>
                <a:gd name="T28" fmla="*/ 89 w 119"/>
                <a:gd name="T29" fmla="*/ 89 h 143"/>
                <a:gd name="T30" fmla="*/ 83 w 119"/>
                <a:gd name="T31" fmla="*/ 107 h 143"/>
                <a:gd name="T32" fmla="*/ 71 w 119"/>
                <a:gd name="T33" fmla="*/ 113 h 143"/>
                <a:gd name="T34" fmla="*/ 65 w 119"/>
                <a:gd name="T35" fmla="*/ 143 h 143"/>
                <a:gd name="T36" fmla="*/ 119 w 119"/>
                <a:gd name="T37" fmla="*/ 143 h 143"/>
                <a:gd name="T38" fmla="*/ 119 w 119"/>
                <a:gd name="T39" fmla="*/ 113 h 143"/>
                <a:gd name="T40" fmla="*/ 119 w 119"/>
                <a:gd name="T41" fmla="*/ 113 h 143"/>
                <a:gd name="T42" fmla="*/ 113 w 119"/>
                <a:gd name="T43" fmla="*/ 119 h 143"/>
                <a:gd name="T44" fmla="*/ 107 w 119"/>
                <a:gd name="T45" fmla="*/ 125 h 143"/>
                <a:gd name="T46" fmla="*/ 77 w 119"/>
                <a:gd name="T47" fmla="*/ 125 h 143"/>
                <a:gd name="T48" fmla="*/ 77 w 119"/>
                <a:gd name="T49" fmla="*/ 119 h 143"/>
                <a:gd name="T50" fmla="*/ 95 w 119"/>
                <a:gd name="T51" fmla="*/ 107 h 143"/>
                <a:gd name="T52" fmla="*/ 107 w 119"/>
                <a:gd name="T53" fmla="*/ 95 h 143"/>
                <a:gd name="T54" fmla="*/ 119 w 119"/>
                <a:gd name="T55" fmla="*/ 59 h 143"/>
                <a:gd name="T56" fmla="*/ 107 w 119"/>
                <a:gd name="T57" fmla="*/ 36 h 143"/>
                <a:gd name="T58" fmla="*/ 101 w 119"/>
                <a:gd name="T59" fmla="*/ 18 h 143"/>
                <a:gd name="T60" fmla="*/ 89 w 119"/>
                <a:gd name="T61" fmla="*/ 12 h 143"/>
                <a:gd name="T62" fmla="*/ 77 w 119"/>
                <a:gd name="T63" fmla="*/ 6 h 143"/>
                <a:gd name="T64" fmla="*/ 59 w 119"/>
                <a:gd name="T65" fmla="*/ 0 h 143"/>
                <a:gd name="T66" fmla="*/ 42 w 119"/>
                <a:gd name="T67" fmla="*/ 6 h 143"/>
                <a:gd name="T68" fmla="*/ 24 w 119"/>
                <a:gd name="T69" fmla="*/ 12 h 143"/>
                <a:gd name="T70" fmla="*/ 18 w 119"/>
                <a:gd name="T71" fmla="*/ 18 h 143"/>
                <a:gd name="T72" fmla="*/ 6 w 119"/>
                <a:gd name="T73" fmla="*/ 36 h 143"/>
                <a:gd name="T74" fmla="*/ 0 w 119"/>
                <a:gd name="T75" fmla="*/ 59 h 143"/>
                <a:gd name="T76" fmla="*/ 12 w 119"/>
                <a:gd name="T77" fmla="*/ 95 h 143"/>
                <a:gd name="T78" fmla="*/ 24 w 119"/>
                <a:gd name="T79" fmla="*/ 107 h 143"/>
                <a:gd name="T80" fmla="*/ 36 w 119"/>
                <a:gd name="T81" fmla="*/ 119 h 143"/>
                <a:gd name="T82" fmla="*/ 42 w 119"/>
                <a:gd name="T83" fmla="*/ 125 h 143"/>
                <a:gd name="T84" fmla="*/ 12 w 119"/>
                <a:gd name="T85" fmla="*/ 125 h 143"/>
                <a:gd name="T86" fmla="*/ 6 w 119"/>
                <a:gd name="T87" fmla="*/ 119 h 143"/>
                <a:gd name="T88" fmla="*/ 0 w 119"/>
                <a:gd name="T89" fmla="*/ 113 h 143"/>
                <a:gd name="T90" fmla="*/ 0 w 119"/>
                <a:gd name="T91" fmla="*/ 113 h 143"/>
                <a:gd name="T92" fmla="*/ 0 w 119"/>
                <a:gd name="T93" fmla="*/ 143 h 143"/>
                <a:gd name="T94" fmla="*/ 48 w 119"/>
                <a:gd name="T95" fmla="*/ 143 h 143"/>
                <a:gd name="T96" fmla="*/ 48 w 119"/>
                <a:gd name="T97" fmla="*/ 113 h 14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19" h="143">
                  <a:moveTo>
                    <a:pt x="48" y="113"/>
                  </a:moveTo>
                  <a:lnTo>
                    <a:pt x="36" y="107"/>
                  </a:lnTo>
                  <a:lnTo>
                    <a:pt x="24" y="89"/>
                  </a:lnTo>
                  <a:lnTo>
                    <a:pt x="24" y="71"/>
                  </a:lnTo>
                  <a:lnTo>
                    <a:pt x="24" y="53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48" y="12"/>
                  </a:lnTo>
                  <a:lnTo>
                    <a:pt x="59" y="6"/>
                  </a:lnTo>
                  <a:lnTo>
                    <a:pt x="71" y="12"/>
                  </a:lnTo>
                  <a:lnTo>
                    <a:pt x="83" y="18"/>
                  </a:lnTo>
                  <a:lnTo>
                    <a:pt x="95" y="36"/>
                  </a:lnTo>
                  <a:lnTo>
                    <a:pt x="95" y="53"/>
                  </a:lnTo>
                  <a:lnTo>
                    <a:pt x="95" y="71"/>
                  </a:lnTo>
                  <a:lnTo>
                    <a:pt x="89" y="89"/>
                  </a:lnTo>
                  <a:lnTo>
                    <a:pt x="83" y="107"/>
                  </a:lnTo>
                  <a:lnTo>
                    <a:pt x="71" y="113"/>
                  </a:lnTo>
                  <a:lnTo>
                    <a:pt x="65" y="143"/>
                  </a:lnTo>
                  <a:lnTo>
                    <a:pt x="119" y="143"/>
                  </a:lnTo>
                  <a:lnTo>
                    <a:pt x="119" y="113"/>
                  </a:lnTo>
                  <a:lnTo>
                    <a:pt x="113" y="119"/>
                  </a:lnTo>
                  <a:lnTo>
                    <a:pt x="107" y="125"/>
                  </a:lnTo>
                  <a:lnTo>
                    <a:pt x="77" y="125"/>
                  </a:lnTo>
                  <a:lnTo>
                    <a:pt x="77" y="119"/>
                  </a:lnTo>
                  <a:lnTo>
                    <a:pt x="95" y="107"/>
                  </a:lnTo>
                  <a:lnTo>
                    <a:pt x="107" y="95"/>
                  </a:lnTo>
                  <a:lnTo>
                    <a:pt x="119" y="59"/>
                  </a:lnTo>
                  <a:lnTo>
                    <a:pt x="107" y="36"/>
                  </a:lnTo>
                  <a:lnTo>
                    <a:pt x="101" y="18"/>
                  </a:lnTo>
                  <a:lnTo>
                    <a:pt x="89" y="12"/>
                  </a:lnTo>
                  <a:lnTo>
                    <a:pt x="77" y="6"/>
                  </a:lnTo>
                  <a:lnTo>
                    <a:pt x="59" y="0"/>
                  </a:lnTo>
                  <a:lnTo>
                    <a:pt x="42" y="6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9"/>
                  </a:lnTo>
                  <a:lnTo>
                    <a:pt x="12" y="95"/>
                  </a:lnTo>
                  <a:lnTo>
                    <a:pt x="24" y="107"/>
                  </a:lnTo>
                  <a:lnTo>
                    <a:pt x="36" y="119"/>
                  </a:lnTo>
                  <a:lnTo>
                    <a:pt x="42" y="125"/>
                  </a:lnTo>
                  <a:lnTo>
                    <a:pt x="12" y="125"/>
                  </a:lnTo>
                  <a:lnTo>
                    <a:pt x="6" y="119"/>
                  </a:lnTo>
                  <a:lnTo>
                    <a:pt x="0" y="113"/>
                  </a:lnTo>
                  <a:lnTo>
                    <a:pt x="0" y="143"/>
                  </a:lnTo>
                  <a:lnTo>
                    <a:pt x="48" y="143"/>
                  </a:lnTo>
                  <a:lnTo>
                    <a:pt x="48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22"/>
            <p:cNvSpPr>
              <a:spLocks/>
            </p:cNvSpPr>
            <p:nvPr/>
          </p:nvSpPr>
          <p:spPr bwMode="auto">
            <a:xfrm>
              <a:off x="1676" y="1988"/>
              <a:ext cx="293" cy="352"/>
            </a:xfrm>
            <a:custGeom>
              <a:avLst/>
              <a:gdLst>
                <a:gd name="T0" fmla="*/ 143 w 293"/>
                <a:gd name="T1" fmla="*/ 352 h 352"/>
                <a:gd name="T2" fmla="*/ 173 w 293"/>
                <a:gd name="T3" fmla="*/ 346 h 352"/>
                <a:gd name="T4" fmla="*/ 203 w 293"/>
                <a:gd name="T5" fmla="*/ 340 h 352"/>
                <a:gd name="T6" fmla="*/ 227 w 293"/>
                <a:gd name="T7" fmla="*/ 322 h 352"/>
                <a:gd name="T8" fmla="*/ 251 w 293"/>
                <a:gd name="T9" fmla="*/ 298 h 352"/>
                <a:gd name="T10" fmla="*/ 281 w 293"/>
                <a:gd name="T11" fmla="*/ 239 h 352"/>
                <a:gd name="T12" fmla="*/ 293 w 293"/>
                <a:gd name="T13" fmla="*/ 209 h 352"/>
                <a:gd name="T14" fmla="*/ 293 w 293"/>
                <a:gd name="T15" fmla="*/ 173 h 352"/>
                <a:gd name="T16" fmla="*/ 293 w 293"/>
                <a:gd name="T17" fmla="*/ 137 h 352"/>
                <a:gd name="T18" fmla="*/ 281 w 293"/>
                <a:gd name="T19" fmla="*/ 107 h 352"/>
                <a:gd name="T20" fmla="*/ 251 w 293"/>
                <a:gd name="T21" fmla="*/ 54 h 352"/>
                <a:gd name="T22" fmla="*/ 203 w 293"/>
                <a:gd name="T23" fmla="*/ 12 h 352"/>
                <a:gd name="T24" fmla="*/ 173 w 293"/>
                <a:gd name="T25" fmla="*/ 6 h 352"/>
                <a:gd name="T26" fmla="*/ 143 w 293"/>
                <a:gd name="T27" fmla="*/ 0 h 352"/>
                <a:gd name="T28" fmla="*/ 113 w 293"/>
                <a:gd name="T29" fmla="*/ 6 h 352"/>
                <a:gd name="T30" fmla="*/ 89 w 293"/>
                <a:gd name="T31" fmla="*/ 12 h 352"/>
                <a:gd name="T32" fmla="*/ 42 w 293"/>
                <a:gd name="T33" fmla="*/ 54 h 352"/>
                <a:gd name="T34" fmla="*/ 12 w 293"/>
                <a:gd name="T35" fmla="*/ 107 h 352"/>
                <a:gd name="T36" fmla="*/ 6 w 293"/>
                <a:gd name="T37" fmla="*/ 137 h 352"/>
                <a:gd name="T38" fmla="*/ 0 w 293"/>
                <a:gd name="T39" fmla="*/ 173 h 352"/>
                <a:gd name="T40" fmla="*/ 6 w 293"/>
                <a:gd name="T41" fmla="*/ 209 h 352"/>
                <a:gd name="T42" fmla="*/ 12 w 293"/>
                <a:gd name="T43" fmla="*/ 239 h 352"/>
                <a:gd name="T44" fmla="*/ 42 w 293"/>
                <a:gd name="T45" fmla="*/ 298 h 352"/>
                <a:gd name="T46" fmla="*/ 66 w 293"/>
                <a:gd name="T47" fmla="*/ 322 h 352"/>
                <a:gd name="T48" fmla="*/ 89 w 293"/>
                <a:gd name="T49" fmla="*/ 340 h 352"/>
                <a:gd name="T50" fmla="*/ 113 w 293"/>
                <a:gd name="T51" fmla="*/ 346 h 352"/>
                <a:gd name="T52" fmla="*/ 143 w 293"/>
                <a:gd name="T53" fmla="*/ 352 h 352"/>
                <a:gd name="T54" fmla="*/ 143 w 293"/>
                <a:gd name="T55" fmla="*/ 352 h 35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93" h="352">
                  <a:moveTo>
                    <a:pt x="143" y="352"/>
                  </a:moveTo>
                  <a:lnTo>
                    <a:pt x="173" y="346"/>
                  </a:lnTo>
                  <a:lnTo>
                    <a:pt x="203" y="340"/>
                  </a:lnTo>
                  <a:lnTo>
                    <a:pt x="227" y="322"/>
                  </a:lnTo>
                  <a:lnTo>
                    <a:pt x="251" y="298"/>
                  </a:lnTo>
                  <a:lnTo>
                    <a:pt x="281" y="239"/>
                  </a:lnTo>
                  <a:lnTo>
                    <a:pt x="293" y="209"/>
                  </a:lnTo>
                  <a:lnTo>
                    <a:pt x="293" y="173"/>
                  </a:lnTo>
                  <a:lnTo>
                    <a:pt x="293" y="137"/>
                  </a:lnTo>
                  <a:lnTo>
                    <a:pt x="281" y="107"/>
                  </a:lnTo>
                  <a:lnTo>
                    <a:pt x="251" y="54"/>
                  </a:lnTo>
                  <a:lnTo>
                    <a:pt x="203" y="12"/>
                  </a:lnTo>
                  <a:lnTo>
                    <a:pt x="173" y="6"/>
                  </a:lnTo>
                  <a:lnTo>
                    <a:pt x="143" y="0"/>
                  </a:lnTo>
                  <a:lnTo>
                    <a:pt x="113" y="6"/>
                  </a:lnTo>
                  <a:lnTo>
                    <a:pt x="89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209"/>
                  </a:lnTo>
                  <a:lnTo>
                    <a:pt x="12" y="239"/>
                  </a:lnTo>
                  <a:lnTo>
                    <a:pt x="42" y="298"/>
                  </a:lnTo>
                  <a:lnTo>
                    <a:pt x="66" y="322"/>
                  </a:lnTo>
                  <a:lnTo>
                    <a:pt x="89" y="340"/>
                  </a:lnTo>
                  <a:lnTo>
                    <a:pt x="113" y="346"/>
                  </a:lnTo>
                  <a:lnTo>
                    <a:pt x="143" y="352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23"/>
            <p:cNvSpPr>
              <a:spLocks/>
            </p:cNvSpPr>
            <p:nvPr/>
          </p:nvSpPr>
          <p:spPr bwMode="auto">
            <a:xfrm>
              <a:off x="1819" y="2161"/>
              <a:ext cx="150" cy="179"/>
            </a:xfrm>
            <a:custGeom>
              <a:avLst/>
              <a:gdLst>
                <a:gd name="T0" fmla="*/ 0 w 150"/>
                <a:gd name="T1" fmla="*/ 179 h 179"/>
                <a:gd name="T2" fmla="*/ 30 w 150"/>
                <a:gd name="T3" fmla="*/ 173 h 179"/>
                <a:gd name="T4" fmla="*/ 60 w 150"/>
                <a:gd name="T5" fmla="*/ 167 h 179"/>
                <a:gd name="T6" fmla="*/ 84 w 150"/>
                <a:gd name="T7" fmla="*/ 149 h 179"/>
                <a:gd name="T8" fmla="*/ 108 w 150"/>
                <a:gd name="T9" fmla="*/ 125 h 179"/>
                <a:gd name="T10" fmla="*/ 138 w 150"/>
                <a:gd name="T11" fmla="*/ 66 h 179"/>
                <a:gd name="T12" fmla="*/ 150 w 150"/>
                <a:gd name="T13" fmla="*/ 36 h 179"/>
                <a:gd name="T14" fmla="*/ 150 w 150"/>
                <a:gd name="T15" fmla="*/ 0 h 179"/>
                <a:gd name="T16" fmla="*/ 150 w 150"/>
                <a:gd name="T17" fmla="*/ 0 h 179"/>
                <a:gd name="T18" fmla="*/ 150 w 150"/>
                <a:gd name="T19" fmla="*/ 36 h 179"/>
                <a:gd name="T20" fmla="*/ 138 w 150"/>
                <a:gd name="T21" fmla="*/ 66 h 179"/>
                <a:gd name="T22" fmla="*/ 108 w 150"/>
                <a:gd name="T23" fmla="*/ 125 h 179"/>
                <a:gd name="T24" fmla="*/ 84 w 150"/>
                <a:gd name="T25" fmla="*/ 149 h 179"/>
                <a:gd name="T26" fmla="*/ 60 w 150"/>
                <a:gd name="T27" fmla="*/ 167 h 179"/>
                <a:gd name="T28" fmla="*/ 30 w 150"/>
                <a:gd name="T29" fmla="*/ 173 h 179"/>
                <a:gd name="T30" fmla="*/ 0 w 150"/>
                <a:gd name="T31" fmla="*/ 179 h 179"/>
                <a:gd name="T32" fmla="*/ 0 w 150"/>
                <a:gd name="T33" fmla="*/ 179 h 1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50" h="179">
                  <a:moveTo>
                    <a:pt x="0" y="179"/>
                  </a:moveTo>
                  <a:lnTo>
                    <a:pt x="30" y="173"/>
                  </a:lnTo>
                  <a:lnTo>
                    <a:pt x="60" y="167"/>
                  </a:lnTo>
                  <a:lnTo>
                    <a:pt x="84" y="149"/>
                  </a:lnTo>
                  <a:lnTo>
                    <a:pt x="108" y="125"/>
                  </a:lnTo>
                  <a:lnTo>
                    <a:pt x="138" y="66"/>
                  </a:lnTo>
                  <a:lnTo>
                    <a:pt x="150" y="36"/>
                  </a:lnTo>
                  <a:lnTo>
                    <a:pt x="150" y="0"/>
                  </a:lnTo>
                  <a:lnTo>
                    <a:pt x="150" y="36"/>
                  </a:lnTo>
                  <a:lnTo>
                    <a:pt x="138" y="66"/>
                  </a:lnTo>
                  <a:lnTo>
                    <a:pt x="108" y="125"/>
                  </a:lnTo>
                  <a:lnTo>
                    <a:pt x="84" y="149"/>
                  </a:lnTo>
                  <a:lnTo>
                    <a:pt x="60" y="167"/>
                  </a:lnTo>
                  <a:lnTo>
                    <a:pt x="30" y="173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24"/>
            <p:cNvSpPr>
              <a:spLocks noEditPoints="1"/>
            </p:cNvSpPr>
            <p:nvPr/>
          </p:nvSpPr>
          <p:spPr bwMode="auto">
            <a:xfrm>
              <a:off x="1819" y="1988"/>
              <a:ext cx="150" cy="173"/>
            </a:xfrm>
            <a:custGeom>
              <a:avLst/>
              <a:gdLst>
                <a:gd name="T0" fmla="*/ 150 w 150"/>
                <a:gd name="T1" fmla="*/ 173 h 173"/>
                <a:gd name="T2" fmla="*/ 150 w 150"/>
                <a:gd name="T3" fmla="*/ 137 h 173"/>
                <a:gd name="T4" fmla="*/ 138 w 150"/>
                <a:gd name="T5" fmla="*/ 107 h 173"/>
                <a:gd name="T6" fmla="*/ 108 w 150"/>
                <a:gd name="T7" fmla="*/ 54 h 173"/>
                <a:gd name="T8" fmla="*/ 60 w 150"/>
                <a:gd name="T9" fmla="*/ 12 h 173"/>
                <a:gd name="T10" fmla="*/ 30 w 150"/>
                <a:gd name="T11" fmla="*/ 6 h 173"/>
                <a:gd name="T12" fmla="*/ 0 w 150"/>
                <a:gd name="T13" fmla="*/ 0 h 173"/>
                <a:gd name="T14" fmla="*/ 0 w 150"/>
                <a:gd name="T15" fmla="*/ 0 h 173"/>
                <a:gd name="T16" fmla="*/ 30 w 150"/>
                <a:gd name="T17" fmla="*/ 6 h 173"/>
                <a:gd name="T18" fmla="*/ 60 w 150"/>
                <a:gd name="T19" fmla="*/ 12 h 173"/>
                <a:gd name="T20" fmla="*/ 108 w 150"/>
                <a:gd name="T21" fmla="*/ 54 h 173"/>
                <a:gd name="T22" fmla="*/ 138 w 150"/>
                <a:gd name="T23" fmla="*/ 107 h 173"/>
                <a:gd name="T24" fmla="*/ 150 w 150"/>
                <a:gd name="T25" fmla="*/ 137 h 173"/>
                <a:gd name="T26" fmla="*/ 150 w 150"/>
                <a:gd name="T27" fmla="*/ 173 h 173"/>
                <a:gd name="T28" fmla="*/ 150 w 150"/>
                <a:gd name="T29" fmla="*/ 173 h 173"/>
                <a:gd name="T30" fmla="*/ 150 w 150"/>
                <a:gd name="T31" fmla="*/ 173 h 173"/>
                <a:gd name="T32" fmla="*/ 150 w 150"/>
                <a:gd name="T33" fmla="*/ 173 h 173"/>
                <a:gd name="T34" fmla="*/ 150 w 150"/>
                <a:gd name="T35" fmla="*/ 173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0" h="173">
                  <a:moveTo>
                    <a:pt x="150" y="173"/>
                  </a:moveTo>
                  <a:lnTo>
                    <a:pt x="150" y="137"/>
                  </a:lnTo>
                  <a:lnTo>
                    <a:pt x="138" y="107"/>
                  </a:lnTo>
                  <a:lnTo>
                    <a:pt x="108" y="54"/>
                  </a:lnTo>
                  <a:lnTo>
                    <a:pt x="60" y="12"/>
                  </a:lnTo>
                  <a:lnTo>
                    <a:pt x="30" y="6"/>
                  </a:lnTo>
                  <a:lnTo>
                    <a:pt x="0" y="0"/>
                  </a:lnTo>
                  <a:lnTo>
                    <a:pt x="30" y="6"/>
                  </a:lnTo>
                  <a:lnTo>
                    <a:pt x="60" y="12"/>
                  </a:lnTo>
                  <a:lnTo>
                    <a:pt x="108" y="54"/>
                  </a:lnTo>
                  <a:lnTo>
                    <a:pt x="138" y="107"/>
                  </a:lnTo>
                  <a:lnTo>
                    <a:pt x="150" y="137"/>
                  </a:lnTo>
                  <a:lnTo>
                    <a:pt x="150" y="173"/>
                  </a:lnTo>
                  <a:close/>
                  <a:moveTo>
                    <a:pt x="150" y="173"/>
                  </a:moveTo>
                  <a:lnTo>
                    <a:pt x="150" y="1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25"/>
            <p:cNvSpPr>
              <a:spLocks noEditPoints="1"/>
            </p:cNvSpPr>
            <p:nvPr/>
          </p:nvSpPr>
          <p:spPr bwMode="auto">
            <a:xfrm>
              <a:off x="1676" y="1988"/>
              <a:ext cx="143" cy="173"/>
            </a:xfrm>
            <a:custGeom>
              <a:avLst/>
              <a:gdLst>
                <a:gd name="T0" fmla="*/ 143 w 143"/>
                <a:gd name="T1" fmla="*/ 0 h 173"/>
                <a:gd name="T2" fmla="*/ 113 w 143"/>
                <a:gd name="T3" fmla="*/ 6 h 173"/>
                <a:gd name="T4" fmla="*/ 89 w 143"/>
                <a:gd name="T5" fmla="*/ 12 h 173"/>
                <a:gd name="T6" fmla="*/ 42 w 143"/>
                <a:gd name="T7" fmla="*/ 54 h 173"/>
                <a:gd name="T8" fmla="*/ 12 w 143"/>
                <a:gd name="T9" fmla="*/ 107 h 173"/>
                <a:gd name="T10" fmla="*/ 6 w 143"/>
                <a:gd name="T11" fmla="*/ 137 h 173"/>
                <a:gd name="T12" fmla="*/ 0 w 143"/>
                <a:gd name="T13" fmla="*/ 173 h 173"/>
                <a:gd name="T14" fmla="*/ 0 w 143"/>
                <a:gd name="T15" fmla="*/ 173 h 173"/>
                <a:gd name="T16" fmla="*/ 6 w 143"/>
                <a:gd name="T17" fmla="*/ 137 h 173"/>
                <a:gd name="T18" fmla="*/ 12 w 143"/>
                <a:gd name="T19" fmla="*/ 107 h 173"/>
                <a:gd name="T20" fmla="*/ 42 w 143"/>
                <a:gd name="T21" fmla="*/ 54 h 173"/>
                <a:gd name="T22" fmla="*/ 89 w 143"/>
                <a:gd name="T23" fmla="*/ 12 h 173"/>
                <a:gd name="T24" fmla="*/ 113 w 143"/>
                <a:gd name="T25" fmla="*/ 6 h 173"/>
                <a:gd name="T26" fmla="*/ 143 w 143"/>
                <a:gd name="T27" fmla="*/ 0 h 173"/>
                <a:gd name="T28" fmla="*/ 143 w 143"/>
                <a:gd name="T29" fmla="*/ 0 h 173"/>
                <a:gd name="T30" fmla="*/ 143 w 143"/>
                <a:gd name="T31" fmla="*/ 0 h 173"/>
                <a:gd name="T32" fmla="*/ 143 w 143"/>
                <a:gd name="T33" fmla="*/ 0 h 173"/>
                <a:gd name="T34" fmla="*/ 143 w 143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43" h="173">
                  <a:moveTo>
                    <a:pt x="143" y="0"/>
                  </a:moveTo>
                  <a:lnTo>
                    <a:pt x="113" y="6"/>
                  </a:lnTo>
                  <a:lnTo>
                    <a:pt x="89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137"/>
                  </a:lnTo>
                  <a:lnTo>
                    <a:pt x="12" y="107"/>
                  </a:lnTo>
                  <a:lnTo>
                    <a:pt x="42" y="54"/>
                  </a:lnTo>
                  <a:lnTo>
                    <a:pt x="89" y="12"/>
                  </a:lnTo>
                  <a:lnTo>
                    <a:pt x="113" y="6"/>
                  </a:lnTo>
                  <a:lnTo>
                    <a:pt x="143" y="0"/>
                  </a:lnTo>
                  <a:close/>
                  <a:moveTo>
                    <a:pt x="143" y="0"/>
                  </a:moveTo>
                  <a:lnTo>
                    <a:pt x="14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26"/>
            <p:cNvSpPr>
              <a:spLocks noEditPoints="1"/>
            </p:cNvSpPr>
            <p:nvPr/>
          </p:nvSpPr>
          <p:spPr bwMode="auto">
            <a:xfrm>
              <a:off x="1676" y="2161"/>
              <a:ext cx="143" cy="179"/>
            </a:xfrm>
            <a:custGeom>
              <a:avLst/>
              <a:gdLst>
                <a:gd name="T0" fmla="*/ 0 w 143"/>
                <a:gd name="T1" fmla="*/ 0 h 179"/>
                <a:gd name="T2" fmla="*/ 6 w 143"/>
                <a:gd name="T3" fmla="*/ 36 h 179"/>
                <a:gd name="T4" fmla="*/ 12 w 143"/>
                <a:gd name="T5" fmla="*/ 66 h 179"/>
                <a:gd name="T6" fmla="*/ 42 w 143"/>
                <a:gd name="T7" fmla="*/ 125 h 179"/>
                <a:gd name="T8" fmla="*/ 66 w 143"/>
                <a:gd name="T9" fmla="*/ 149 h 179"/>
                <a:gd name="T10" fmla="*/ 89 w 143"/>
                <a:gd name="T11" fmla="*/ 167 h 179"/>
                <a:gd name="T12" fmla="*/ 113 w 143"/>
                <a:gd name="T13" fmla="*/ 173 h 179"/>
                <a:gd name="T14" fmla="*/ 143 w 143"/>
                <a:gd name="T15" fmla="*/ 179 h 179"/>
                <a:gd name="T16" fmla="*/ 143 w 143"/>
                <a:gd name="T17" fmla="*/ 179 h 179"/>
                <a:gd name="T18" fmla="*/ 113 w 143"/>
                <a:gd name="T19" fmla="*/ 173 h 179"/>
                <a:gd name="T20" fmla="*/ 89 w 143"/>
                <a:gd name="T21" fmla="*/ 167 h 179"/>
                <a:gd name="T22" fmla="*/ 66 w 143"/>
                <a:gd name="T23" fmla="*/ 149 h 179"/>
                <a:gd name="T24" fmla="*/ 42 w 143"/>
                <a:gd name="T25" fmla="*/ 125 h 179"/>
                <a:gd name="T26" fmla="*/ 12 w 143"/>
                <a:gd name="T27" fmla="*/ 66 h 179"/>
                <a:gd name="T28" fmla="*/ 6 w 143"/>
                <a:gd name="T29" fmla="*/ 36 h 179"/>
                <a:gd name="T30" fmla="*/ 0 w 143"/>
                <a:gd name="T31" fmla="*/ 0 h 179"/>
                <a:gd name="T32" fmla="*/ 0 w 143"/>
                <a:gd name="T33" fmla="*/ 0 h 179"/>
                <a:gd name="T34" fmla="*/ 0 w 143"/>
                <a:gd name="T35" fmla="*/ 0 h 179"/>
                <a:gd name="T36" fmla="*/ 0 w 143"/>
                <a:gd name="T37" fmla="*/ 0 h 179"/>
                <a:gd name="T38" fmla="*/ 0 w 143"/>
                <a:gd name="T39" fmla="*/ 0 h 17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43" h="179">
                  <a:moveTo>
                    <a:pt x="0" y="0"/>
                  </a:moveTo>
                  <a:lnTo>
                    <a:pt x="6" y="36"/>
                  </a:lnTo>
                  <a:lnTo>
                    <a:pt x="12" y="66"/>
                  </a:lnTo>
                  <a:lnTo>
                    <a:pt x="42" y="125"/>
                  </a:lnTo>
                  <a:lnTo>
                    <a:pt x="66" y="149"/>
                  </a:lnTo>
                  <a:lnTo>
                    <a:pt x="89" y="167"/>
                  </a:lnTo>
                  <a:lnTo>
                    <a:pt x="113" y="173"/>
                  </a:lnTo>
                  <a:lnTo>
                    <a:pt x="143" y="179"/>
                  </a:lnTo>
                  <a:lnTo>
                    <a:pt x="113" y="173"/>
                  </a:lnTo>
                  <a:lnTo>
                    <a:pt x="89" y="167"/>
                  </a:lnTo>
                  <a:lnTo>
                    <a:pt x="66" y="149"/>
                  </a:lnTo>
                  <a:lnTo>
                    <a:pt x="42" y="125"/>
                  </a:lnTo>
                  <a:lnTo>
                    <a:pt x="12" y="66"/>
                  </a:lnTo>
                  <a:lnTo>
                    <a:pt x="6" y="36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27"/>
            <p:cNvSpPr>
              <a:spLocks/>
            </p:cNvSpPr>
            <p:nvPr/>
          </p:nvSpPr>
          <p:spPr bwMode="auto">
            <a:xfrm>
              <a:off x="1819" y="234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28"/>
            <p:cNvSpPr>
              <a:spLocks/>
            </p:cNvSpPr>
            <p:nvPr/>
          </p:nvSpPr>
          <p:spPr bwMode="auto">
            <a:xfrm>
              <a:off x="1777" y="2048"/>
              <a:ext cx="84" cy="107"/>
            </a:xfrm>
            <a:custGeom>
              <a:avLst/>
              <a:gdLst>
                <a:gd name="T0" fmla="*/ 36 w 84"/>
                <a:gd name="T1" fmla="*/ 47 h 107"/>
                <a:gd name="T2" fmla="*/ 0 w 84"/>
                <a:gd name="T3" fmla="*/ 47 h 107"/>
                <a:gd name="T4" fmla="*/ 0 w 84"/>
                <a:gd name="T5" fmla="*/ 59 h 107"/>
                <a:gd name="T6" fmla="*/ 36 w 84"/>
                <a:gd name="T7" fmla="*/ 59 h 107"/>
                <a:gd name="T8" fmla="*/ 36 w 84"/>
                <a:gd name="T9" fmla="*/ 107 h 107"/>
                <a:gd name="T10" fmla="*/ 48 w 84"/>
                <a:gd name="T11" fmla="*/ 107 h 107"/>
                <a:gd name="T12" fmla="*/ 48 w 84"/>
                <a:gd name="T13" fmla="*/ 59 h 107"/>
                <a:gd name="T14" fmla="*/ 84 w 84"/>
                <a:gd name="T15" fmla="*/ 59 h 107"/>
                <a:gd name="T16" fmla="*/ 84 w 84"/>
                <a:gd name="T17" fmla="*/ 47 h 107"/>
                <a:gd name="T18" fmla="*/ 48 w 84"/>
                <a:gd name="T19" fmla="*/ 47 h 107"/>
                <a:gd name="T20" fmla="*/ 48 w 84"/>
                <a:gd name="T21" fmla="*/ 0 h 107"/>
                <a:gd name="T22" fmla="*/ 36 w 84"/>
                <a:gd name="T23" fmla="*/ 0 h 107"/>
                <a:gd name="T24" fmla="*/ 36 w 84"/>
                <a:gd name="T25" fmla="*/ 47 h 1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4" h="107">
                  <a:moveTo>
                    <a:pt x="36" y="47"/>
                  </a:moveTo>
                  <a:lnTo>
                    <a:pt x="0" y="47"/>
                  </a:lnTo>
                  <a:lnTo>
                    <a:pt x="0" y="59"/>
                  </a:lnTo>
                  <a:lnTo>
                    <a:pt x="36" y="59"/>
                  </a:lnTo>
                  <a:lnTo>
                    <a:pt x="36" y="107"/>
                  </a:lnTo>
                  <a:lnTo>
                    <a:pt x="48" y="107"/>
                  </a:lnTo>
                  <a:lnTo>
                    <a:pt x="48" y="59"/>
                  </a:lnTo>
                  <a:lnTo>
                    <a:pt x="84" y="59"/>
                  </a:lnTo>
                  <a:lnTo>
                    <a:pt x="84" y="47"/>
                  </a:lnTo>
                  <a:lnTo>
                    <a:pt x="48" y="47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6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Rectangle 29"/>
            <p:cNvSpPr>
              <a:spLocks noChangeArrowheads="1"/>
            </p:cNvSpPr>
            <p:nvPr/>
          </p:nvSpPr>
          <p:spPr bwMode="auto">
            <a:xfrm>
              <a:off x="1771" y="2233"/>
              <a:ext cx="96" cy="1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3" name="Freeform 30"/>
            <p:cNvSpPr>
              <a:spLocks/>
            </p:cNvSpPr>
            <p:nvPr/>
          </p:nvSpPr>
          <p:spPr bwMode="auto">
            <a:xfrm>
              <a:off x="3841" y="1988"/>
              <a:ext cx="293" cy="352"/>
            </a:xfrm>
            <a:custGeom>
              <a:avLst/>
              <a:gdLst>
                <a:gd name="T0" fmla="*/ 150 w 293"/>
                <a:gd name="T1" fmla="*/ 352 h 352"/>
                <a:gd name="T2" fmla="*/ 179 w 293"/>
                <a:gd name="T3" fmla="*/ 346 h 352"/>
                <a:gd name="T4" fmla="*/ 203 w 293"/>
                <a:gd name="T5" fmla="*/ 340 h 352"/>
                <a:gd name="T6" fmla="*/ 227 w 293"/>
                <a:gd name="T7" fmla="*/ 322 h 352"/>
                <a:gd name="T8" fmla="*/ 251 w 293"/>
                <a:gd name="T9" fmla="*/ 298 h 352"/>
                <a:gd name="T10" fmla="*/ 281 w 293"/>
                <a:gd name="T11" fmla="*/ 239 h 352"/>
                <a:gd name="T12" fmla="*/ 293 w 293"/>
                <a:gd name="T13" fmla="*/ 209 h 352"/>
                <a:gd name="T14" fmla="*/ 293 w 293"/>
                <a:gd name="T15" fmla="*/ 173 h 352"/>
                <a:gd name="T16" fmla="*/ 293 w 293"/>
                <a:gd name="T17" fmla="*/ 137 h 352"/>
                <a:gd name="T18" fmla="*/ 281 w 293"/>
                <a:gd name="T19" fmla="*/ 107 h 352"/>
                <a:gd name="T20" fmla="*/ 251 w 293"/>
                <a:gd name="T21" fmla="*/ 54 h 352"/>
                <a:gd name="T22" fmla="*/ 203 w 293"/>
                <a:gd name="T23" fmla="*/ 12 h 352"/>
                <a:gd name="T24" fmla="*/ 179 w 293"/>
                <a:gd name="T25" fmla="*/ 6 h 352"/>
                <a:gd name="T26" fmla="*/ 150 w 293"/>
                <a:gd name="T27" fmla="*/ 0 h 352"/>
                <a:gd name="T28" fmla="*/ 120 w 293"/>
                <a:gd name="T29" fmla="*/ 6 h 352"/>
                <a:gd name="T30" fmla="*/ 90 w 293"/>
                <a:gd name="T31" fmla="*/ 12 h 352"/>
                <a:gd name="T32" fmla="*/ 42 w 293"/>
                <a:gd name="T33" fmla="*/ 54 h 352"/>
                <a:gd name="T34" fmla="*/ 12 w 293"/>
                <a:gd name="T35" fmla="*/ 107 h 352"/>
                <a:gd name="T36" fmla="*/ 6 w 293"/>
                <a:gd name="T37" fmla="*/ 137 h 352"/>
                <a:gd name="T38" fmla="*/ 0 w 293"/>
                <a:gd name="T39" fmla="*/ 173 h 352"/>
                <a:gd name="T40" fmla="*/ 6 w 293"/>
                <a:gd name="T41" fmla="*/ 209 h 352"/>
                <a:gd name="T42" fmla="*/ 12 w 293"/>
                <a:gd name="T43" fmla="*/ 239 h 352"/>
                <a:gd name="T44" fmla="*/ 42 w 293"/>
                <a:gd name="T45" fmla="*/ 298 h 352"/>
                <a:gd name="T46" fmla="*/ 66 w 293"/>
                <a:gd name="T47" fmla="*/ 322 h 352"/>
                <a:gd name="T48" fmla="*/ 90 w 293"/>
                <a:gd name="T49" fmla="*/ 340 h 352"/>
                <a:gd name="T50" fmla="*/ 120 w 293"/>
                <a:gd name="T51" fmla="*/ 346 h 352"/>
                <a:gd name="T52" fmla="*/ 150 w 293"/>
                <a:gd name="T53" fmla="*/ 352 h 352"/>
                <a:gd name="T54" fmla="*/ 150 w 293"/>
                <a:gd name="T55" fmla="*/ 352 h 35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93" h="352">
                  <a:moveTo>
                    <a:pt x="150" y="352"/>
                  </a:moveTo>
                  <a:lnTo>
                    <a:pt x="179" y="346"/>
                  </a:lnTo>
                  <a:lnTo>
                    <a:pt x="203" y="340"/>
                  </a:lnTo>
                  <a:lnTo>
                    <a:pt x="227" y="322"/>
                  </a:lnTo>
                  <a:lnTo>
                    <a:pt x="251" y="298"/>
                  </a:lnTo>
                  <a:lnTo>
                    <a:pt x="281" y="239"/>
                  </a:lnTo>
                  <a:lnTo>
                    <a:pt x="293" y="209"/>
                  </a:lnTo>
                  <a:lnTo>
                    <a:pt x="293" y="173"/>
                  </a:lnTo>
                  <a:lnTo>
                    <a:pt x="293" y="137"/>
                  </a:lnTo>
                  <a:lnTo>
                    <a:pt x="281" y="107"/>
                  </a:lnTo>
                  <a:lnTo>
                    <a:pt x="251" y="54"/>
                  </a:lnTo>
                  <a:lnTo>
                    <a:pt x="203" y="12"/>
                  </a:lnTo>
                  <a:lnTo>
                    <a:pt x="179" y="6"/>
                  </a:lnTo>
                  <a:lnTo>
                    <a:pt x="150" y="0"/>
                  </a:lnTo>
                  <a:lnTo>
                    <a:pt x="120" y="6"/>
                  </a:lnTo>
                  <a:lnTo>
                    <a:pt x="90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209"/>
                  </a:lnTo>
                  <a:lnTo>
                    <a:pt x="12" y="239"/>
                  </a:lnTo>
                  <a:lnTo>
                    <a:pt x="42" y="298"/>
                  </a:lnTo>
                  <a:lnTo>
                    <a:pt x="66" y="322"/>
                  </a:lnTo>
                  <a:lnTo>
                    <a:pt x="90" y="340"/>
                  </a:lnTo>
                  <a:lnTo>
                    <a:pt x="120" y="346"/>
                  </a:lnTo>
                  <a:lnTo>
                    <a:pt x="150" y="352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31"/>
            <p:cNvSpPr>
              <a:spLocks/>
            </p:cNvSpPr>
            <p:nvPr/>
          </p:nvSpPr>
          <p:spPr bwMode="auto">
            <a:xfrm>
              <a:off x="3991" y="2161"/>
              <a:ext cx="143" cy="179"/>
            </a:xfrm>
            <a:custGeom>
              <a:avLst/>
              <a:gdLst>
                <a:gd name="T0" fmla="*/ 0 w 143"/>
                <a:gd name="T1" fmla="*/ 179 h 179"/>
                <a:gd name="T2" fmla="*/ 29 w 143"/>
                <a:gd name="T3" fmla="*/ 173 h 179"/>
                <a:gd name="T4" fmla="*/ 53 w 143"/>
                <a:gd name="T5" fmla="*/ 167 h 179"/>
                <a:gd name="T6" fmla="*/ 77 w 143"/>
                <a:gd name="T7" fmla="*/ 149 h 179"/>
                <a:gd name="T8" fmla="*/ 101 w 143"/>
                <a:gd name="T9" fmla="*/ 125 h 179"/>
                <a:gd name="T10" fmla="*/ 131 w 143"/>
                <a:gd name="T11" fmla="*/ 66 h 179"/>
                <a:gd name="T12" fmla="*/ 143 w 143"/>
                <a:gd name="T13" fmla="*/ 36 h 179"/>
                <a:gd name="T14" fmla="*/ 143 w 143"/>
                <a:gd name="T15" fmla="*/ 0 h 179"/>
                <a:gd name="T16" fmla="*/ 143 w 143"/>
                <a:gd name="T17" fmla="*/ 0 h 179"/>
                <a:gd name="T18" fmla="*/ 143 w 143"/>
                <a:gd name="T19" fmla="*/ 36 h 179"/>
                <a:gd name="T20" fmla="*/ 131 w 143"/>
                <a:gd name="T21" fmla="*/ 66 h 179"/>
                <a:gd name="T22" fmla="*/ 101 w 143"/>
                <a:gd name="T23" fmla="*/ 125 h 179"/>
                <a:gd name="T24" fmla="*/ 77 w 143"/>
                <a:gd name="T25" fmla="*/ 149 h 179"/>
                <a:gd name="T26" fmla="*/ 53 w 143"/>
                <a:gd name="T27" fmla="*/ 167 h 179"/>
                <a:gd name="T28" fmla="*/ 29 w 143"/>
                <a:gd name="T29" fmla="*/ 173 h 179"/>
                <a:gd name="T30" fmla="*/ 0 w 143"/>
                <a:gd name="T31" fmla="*/ 179 h 179"/>
                <a:gd name="T32" fmla="*/ 0 w 143"/>
                <a:gd name="T33" fmla="*/ 179 h 1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3" h="179">
                  <a:moveTo>
                    <a:pt x="0" y="179"/>
                  </a:moveTo>
                  <a:lnTo>
                    <a:pt x="29" y="173"/>
                  </a:lnTo>
                  <a:lnTo>
                    <a:pt x="53" y="167"/>
                  </a:lnTo>
                  <a:lnTo>
                    <a:pt x="77" y="149"/>
                  </a:lnTo>
                  <a:lnTo>
                    <a:pt x="101" y="125"/>
                  </a:lnTo>
                  <a:lnTo>
                    <a:pt x="131" y="66"/>
                  </a:lnTo>
                  <a:lnTo>
                    <a:pt x="143" y="36"/>
                  </a:lnTo>
                  <a:lnTo>
                    <a:pt x="143" y="0"/>
                  </a:lnTo>
                  <a:lnTo>
                    <a:pt x="143" y="36"/>
                  </a:lnTo>
                  <a:lnTo>
                    <a:pt x="131" y="66"/>
                  </a:lnTo>
                  <a:lnTo>
                    <a:pt x="101" y="125"/>
                  </a:lnTo>
                  <a:lnTo>
                    <a:pt x="77" y="149"/>
                  </a:lnTo>
                  <a:lnTo>
                    <a:pt x="53" y="167"/>
                  </a:lnTo>
                  <a:lnTo>
                    <a:pt x="29" y="173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32"/>
            <p:cNvSpPr>
              <a:spLocks noEditPoints="1"/>
            </p:cNvSpPr>
            <p:nvPr/>
          </p:nvSpPr>
          <p:spPr bwMode="auto">
            <a:xfrm>
              <a:off x="3991" y="1988"/>
              <a:ext cx="143" cy="173"/>
            </a:xfrm>
            <a:custGeom>
              <a:avLst/>
              <a:gdLst>
                <a:gd name="T0" fmla="*/ 143 w 143"/>
                <a:gd name="T1" fmla="*/ 173 h 173"/>
                <a:gd name="T2" fmla="*/ 143 w 143"/>
                <a:gd name="T3" fmla="*/ 137 h 173"/>
                <a:gd name="T4" fmla="*/ 131 w 143"/>
                <a:gd name="T5" fmla="*/ 107 h 173"/>
                <a:gd name="T6" fmla="*/ 101 w 143"/>
                <a:gd name="T7" fmla="*/ 54 h 173"/>
                <a:gd name="T8" fmla="*/ 53 w 143"/>
                <a:gd name="T9" fmla="*/ 12 h 173"/>
                <a:gd name="T10" fmla="*/ 29 w 143"/>
                <a:gd name="T11" fmla="*/ 6 h 173"/>
                <a:gd name="T12" fmla="*/ 0 w 143"/>
                <a:gd name="T13" fmla="*/ 0 h 173"/>
                <a:gd name="T14" fmla="*/ 0 w 143"/>
                <a:gd name="T15" fmla="*/ 0 h 173"/>
                <a:gd name="T16" fmla="*/ 29 w 143"/>
                <a:gd name="T17" fmla="*/ 6 h 173"/>
                <a:gd name="T18" fmla="*/ 53 w 143"/>
                <a:gd name="T19" fmla="*/ 12 h 173"/>
                <a:gd name="T20" fmla="*/ 101 w 143"/>
                <a:gd name="T21" fmla="*/ 54 h 173"/>
                <a:gd name="T22" fmla="*/ 131 w 143"/>
                <a:gd name="T23" fmla="*/ 107 h 173"/>
                <a:gd name="T24" fmla="*/ 143 w 143"/>
                <a:gd name="T25" fmla="*/ 137 h 173"/>
                <a:gd name="T26" fmla="*/ 143 w 143"/>
                <a:gd name="T27" fmla="*/ 173 h 173"/>
                <a:gd name="T28" fmla="*/ 143 w 143"/>
                <a:gd name="T29" fmla="*/ 173 h 173"/>
                <a:gd name="T30" fmla="*/ 143 w 143"/>
                <a:gd name="T31" fmla="*/ 173 h 173"/>
                <a:gd name="T32" fmla="*/ 143 w 143"/>
                <a:gd name="T33" fmla="*/ 173 h 173"/>
                <a:gd name="T34" fmla="*/ 143 w 143"/>
                <a:gd name="T35" fmla="*/ 173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43" h="173">
                  <a:moveTo>
                    <a:pt x="143" y="173"/>
                  </a:moveTo>
                  <a:lnTo>
                    <a:pt x="143" y="137"/>
                  </a:lnTo>
                  <a:lnTo>
                    <a:pt x="131" y="107"/>
                  </a:lnTo>
                  <a:lnTo>
                    <a:pt x="101" y="54"/>
                  </a:lnTo>
                  <a:lnTo>
                    <a:pt x="53" y="12"/>
                  </a:lnTo>
                  <a:lnTo>
                    <a:pt x="29" y="6"/>
                  </a:lnTo>
                  <a:lnTo>
                    <a:pt x="0" y="0"/>
                  </a:lnTo>
                  <a:lnTo>
                    <a:pt x="29" y="6"/>
                  </a:lnTo>
                  <a:lnTo>
                    <a:pt x="53" y="12"/>
                  </a:lnTo>
                  <a:lnTo>
                    <a:pt x="101" y="54"/>
                  </a:lnTo>
                  <a:lnTo>
                    <a:pt x="131" y="107"/>
                  </a:lnTo>
                  <a:lnTo>
                    <a:pt x="143" y="137"/>
                  </a:lnTo>
                  <a:lnTo>
                    <a:pt x="143" y="173"/>
                  </a:lnTo>
                  <a:close/>
                  <a:moveTo>
                    <a:pt x="143" y="173"/>
                  </a:moveTo>
                  <a:lnTo>
                    <a:pt x="143" y="1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33"/>
            <p:cNvSpPr>
              <a:spLocks noEditPoints="1"/>
            </p:cNvSpPr>
            <p:nvPr/>
          </p:nvSpPr>
          <p:spPr bwMode="auto">
            <a:xfrm>
              <a:off x="3841" y="1988"/>
              <a:ext cx="150" cy="173"/>
            </a:xfrm>
            <a:custGeom>
              <a:avLst/>
              <a:gdLst>
                <a:gd name="T0" fmla="*/ 150 w 150"/>
                <a:gd name="T1" fmla="*/ 0 h 173"/>
                <a:gd name="T2" fmla="*/ 120 w 150"/>
                <a:gd name="T3" fmla="*/ 6 h 173"/>
                <a:gd name="T4" fmla="*/ 90 w 150"/>
                <a:gd name="T5" fmla="*/ 12 h 173"/>
                <a:gd name="T6" fmla="*/ 42 w 150"/>
                <a:gd name="T7" fmla="*/ 54 h 173"/>
                <a:gd name="T8" fmla="*/ 12 w 150"/>
                <a:gd name="T9" fmla="*/ 107 h 173"/>
                <a:gd name="T10" fmla="*/ 6 w 150"/>
                <a:gd name="T11" fmla="*/ 137 h 173"/>
                <a:gd name="T12" fmla="*/ 0 w 150"/>
                <a:gd name="T13" fmla="*/ 173 h 173"/>
                <a:gd name="T14" fmla="*/ 0 w 150"/>
                <a:gd name="T15" fmla="*/ 173 h 173"/>
                <a:gd name="T16" fmla="*/ 6 w 150"/>
                <a:gd name="T17" fmla="*/ 137 h 173"/>
                <a:gd name="T18" fmla="*/ 12 w 150"/>
                <a:gd name="T19" fmla="*/ 107 h 173"/>
                <a:gd name="T20" fmla="*/ 42 w 150"/>
                <a:gd name="T21" fmla="*/ 54 h 173"/>
                <a:gd name="T22" fmla="*/ 90 w 150"/>
                <a:gd name="T23" fmla="*/ 12 h 173"/>
                <a:gd name="T24" fmla="*/ 120 w 150"/>
                <a:gd name="T25" fmla="*/ 6 h 173"/>
                <a:gd name="T26" fmla="*/ 150 w 150"/>
                <a:gd name="T27" fmla="*/ 0 h 173"/>
                <a:gd name="T28" fmla="*/ 150 w 150"/>
                <a:gd name="T29" fmla="*/ 0 h 173"/>
                <a:gd name="T30" fmla="*/ 150 w 150"/>
                <a:gd name="T31" fmla="*/ 0 h 173"/>
                <a:gd name="T32" fmla="*/ 150 w 150"/>
                <a:gd name="T33" fmla="*/ 0 h 173"/>
                <a:gd name="T34" fmla="*/ 150 w 150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0" h="173">
                  <a:moveTo>
                    <a:pt x="150" y="0"/>
                  </a:moveTo>
                  <a:lnTo>
                    <a:pt x="120" y="6"/>
                  </a:lnTo>
                  <a:lnTo>
                    <a:pt x="90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137"/>
                  </a:lnTo>
                  <a:lnTo>
                    <a:pt x="12" y="107"/>
                  </a:lnTo>
                  <a:lnTo>
                    <a:pt x="42" y="54"/>
                  </a:lnTo>
                  <a:lnTo>
                    <a:pt x="90" y="12"/>
                  </a:lnTo>
                  <a:lnTo>
                    <a:pt x="120" y="6"/>
                  </a:lnTo>
                  <a:lnTo>
                    <a:pt x="150" y="0"/>
                  </a:lnTo>
                  <a:close/>
                  <a:moveTo>
                    <a:pt x="150" y="0"/>
                  </a:moveTo>
                  <a:lnTo>
                    <a:pt x="15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34"/>
            <p:cNvSpPr>
              <a:spLocks noEditPoints="1"/>
            </p:cNvSpPr>
            <p:nvPr/>
          </p:nvSpPr>
          <p:spPr bwMode="auto">
            <a:xfrm>
              <a:off x="3841" y="2161"/>
              <a:ext cx="150" cy="179"/>
            </a:xfrm>
            <a:custGeom>
              <a:avLst/>
              <a:gdLst>
                <a:gd name="T0" fmla="*/ 0 w 150"/>
                <a:gd name="T1" fmla="*/ 0 h 179"/>
                <a:gd name="T2" fmla="*/ 6 w 150"/>
                <a:gd name="T3" fmla="*/ 36 h 179"/>
                <a:gd name="T4" fmla="*/ 12 w 150"/>
                <a:gd name="T5" fmla="*/ 66 h 179"/>
                <a:gd name="T6" fmla="*/ 42 w 150"/>
                <a:gd name="T7" fmla="*/ 125 h 179"/>
                <a:gd name="T8" fmla="*/ 66 w 150"/>
                <a:gd name="T9" fmla="*/ 149 h 179"/>
                <a:gd name="T10" fmla="*/ 90 w 150"/>
                <a:gd name="T11" fmla="*/ 167 h 179"/>
                <a:gd name="T12" fmla="*/ 120 w 150"/>
                <a:gd name="T13" fmla="*/ 173 h 179"/>
                <a:gd name="T14" fmla="*/ 150 w 150"/>
                <a:gd name="T15" fmla="*/ 179 h 179"/>
                <a:gd name="T16" fmla="*/ 150 w 150"/>
                <a:gd name="T17" fmla="*/ 179 h 179"/>
                <a:gd name="T18" fmla="*/ 120 w 150"/>
                <a:gd name="T19" fmla="*/ 173 h 179"/>
                <a:gd name="T20" fmla="*/ 90 w 150"/>
                <a:gd name="T21" fmla="*/ 167 h 179"/>
                <a:gd name="T22" fmla="*/ 66 w 150"/>
                <a:gd name="T23" fmla="*/ 149 h 179"/>
                <a:gd name="T24" fmla="*/ 42 w 150"/>
                <a:gd name="T25" fmla="*/ 125 h 179"/>
                <a:gd name="T26" fmla="*/ 12 w 150"/>
                <a:gd name="T27" fmla="*/ 66 h 179"/>
                <a:gd name="T28" fmla="*/ 6 w 150"/>
                <a:gd name="T29" fmla="*/ 36 h 179"/>
                <a:gd name="T30" fmla="*/ 0 w 150"/>
                <a:gd name="T31" fmla="*/ 0 h 179"/>
                <a:gd name="T32" fmla="*/ 0 w 150"/>
                <a:gd name="T33" fmla="*/ 0 h 179"/>
                <a:gd name="T34" fmla="*/ 0 w 150"/>
                <a:gd name="T35" fmla="*/ 0 h 179"/>
                <a:gd name="T36" fmla="*/ 0 w 150"/>
                <a:gd name="T37" fmla="*/ 0 h 179"/>
                <a:gd name="T38" fmla="*/ 0 w 150"/>
                <a:gd name="T39" fmla="*/ 0 h 17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50" h="179">
                  <a:moveTo>
                    <a:pt x="0" y="0"/>
                  </a:moveTo>
                  <a:lnTo>
                    <a:pt x="6" y="36"/>
                  </a:lnTo>
                  <a:lnTo>
                    <a:pt x="12" y="66"/>
                  </a:lnTo>
                  <a:lnTo>
                    <a:pt x="42" y="125"/>
                  </a:lnTo>
                  <a:lnTo>
                    <a:pt x="66" y="149"/>
                  </a:lnTo>
                  <a:lnTo>
                    <a:pt x="90" y="167"/>
                  </a:lnTo>
                  <a:lnTo>
                    <a:pt x="120" y="173"/>
                  </a:lnTo>
                  <a:lnTo>
                    <a:pt x="150" y="179"/>
                  </a:lnTo>
                  <a:lnTo>
                    <a:pt x="120" y="173"/>
                  </a:lnTo>
                  <a:lnTo>
                    <a:pt x="90" y="167"/>
                  </a:lnTo>
                  <a:lnTo>
                    <a:pt x="66" y="149"/>
                  </a:lnTo>
                  <a:lnTo>
                    <a:pt x="42" y="125"/>
                  </a:lnTo>
                  <a:lnTo>
                    <a:pt x="12" y="66"/>
                  </a:lnTo>
                  <a:lnTo>
                    <a:pt x="6" y="36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35"/>
            <p:cNvSpPr>
              <a:spLocks/>
            </p:cNvSpPr>
            <p:nvPr/>
          </p:nvSpPr>
          <p:spPr bwMode="auto">
            <a:xfrm>
              <a:off x="3991" y="234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36"/>
            <p:cNvSpPr>
              <a:spLocks/>
            </p:cNvSpPr>
            <p:nvPr/>
          </p:nvSpPr>
          <p:spPr bwMode="auto">
            <a:xfrm>
              <a:off x="3985" y="2161"/>
              <a:ext cx="1" cy="137"/>
            </a:xfrm>
            <a:custGeom>
              <a:avLst/>
              <a:gdLst>
                <a:gd name="T0" fmla="*/ 0 w 1"/>
                <a:gd name="T1" fmla="*/ 137 h 137"/>
                <a:gd name="T2" fmla="*/ 0 w 1"/>
                <a:gd name="T3" fmla="*/ 0 h 137"/>
                <a:gd name="T4" fmla="*/ 0 w 1"/>
                <a:gd name="T5" fmla="*/ 137 h 137"/>
                <a:gd name="T6" fmla="*/ 0 w 1"/>
                <a:gd name="T7" fmla="*/ 13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37">
                  <a:moveTo>
                    <a:pt x="0" y="137"/>
                  </a:move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37"/>
            <p:cNvSpPr>
              <a:spLocks/>
            </p:cNvSpPr>
            <p:nvPr/>
          </p:nvSpPr>
          <p:spPr bwMode="auto">
            <a:xfrm>
              <a:off x="3949" y="2030"/>
              <a:ext cx="71" cy="161"/>
            </a:xfrm>
            <a:custGeom>
              <a:avLst/>
              <a:gdLst>
                <a:gd name="T0" fmla="*/ 71 w 71"/>
                <a:gd name="T1" fmla="*/ 161 h 161"/>
                <a:gd name="T2" fmla="*/ 36 w 71"/>
                <a:gd name="T3" fmla="*/ 0 h 161"/>
                <a:gd name="T4" fmla="*/ 0 w 71"/>
                <a:gd name="T5" fmla="*/ 161 h 161"/>
                <a:gd name="T6" fmla="*/ 71 w 71"/>
                <a:gd name="T7" fmla="*/ 161 h 161"/>
                <a:gd name="T8" fmla="*/ 71 w 71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161">
                  <a:moveTo>
                    <a:pt x="71" y="161"/>
                  </a:moveTo>
                  <a:lnTo>
                    <a:pt x="36" y="0"/>
                  </a:lnTo>
                  <a:lnTo>
                    <a:pt x="0" y="161"/>
                  </a:lnTo>
                  <a:lnTo>
                    <a:pt x="71" y="1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38"/>
            <p:cNvSpPr>
              <a:spLocks/>
            </p:cNvSpPr>
            <p:nvPr/>
          </p:nvSpPr>
          <p:spPr bwMode="auto">
            <a:xfrm>
              <a:off x="2423" y="2113"/>
              <a:ext cx="78" cy="144"/>
            </a:xfrm>
            <a:custGeom>
              <a:avLst/>
              <a:gdLst>
                <a:gd name="T0" fmla="*/ 78 w 78"/>
                <a:gd name="T1" fmla="*/ 114 h 144"/>
                <a:gd name="T2" fmla="*/ 78 w 78"/>
                <a:gd name="T3" fmla="*/ 114 h 144"/>
                <a:gd name="T4" fmla="*/ 66 w 78"/>
                <a:gd name="T5" fmla="*/ 126 h 144"/>
                <a:gd name="T6" fmla="*/ 60 w 78"/>
                <a:gd name="T7" fmla="*/ 126 h 144"/>
                <a:gd name="T8" fmla="*/ 18 w 78"/>
                <a:gd name="T9" fmla="*/ 126 h 144"/>
                <a:gd name="T10" fmla="*/ 48 w 78"/>
                <a:gd name="T11" fmla="*/ 90 h 144"/>
                <a:gd name="T12" fmla="*/ 54 w 78"/>
                <a:gd name="T13" fmla="*/ 84 h 144"/>
                <a:gd name="T14" fmla="*/ 60 w 78"/>
                <a:gd name="T15" fmla="*/ 72 h 144"/>
                <a:gd name="T16" fmla="*/ 66 w 78"/>
                <a:gd name="T17" fmla="*/ 42 h 144"/>
                <a:gd name="T18" fmla="*/ 60 w 78"/>
                <a:gd name="T19" fmla="*/ 12 h 144"/>
                <a:gd name="T20" fmla="*/ 48 w 78"/>
                <a:gd name="T21" fmla="*/ 6 h 144"/>
                <a:gd name="T22" fmla="*/ 36 w 78"/>
                <a:gd name="T23" fmla="*/ 0 h 144"/>
                <a:gd name="T24" fmla="*/ 18 w 78"/>
                <a:gd name="T25" fmla="*/ 12 h 144"/>
                <a:gd name="T26" fmla="*/ 6 w 78"/>
                <a:gd name="T27" fmla="*/ 24 h 144"/>
                <a:gd name="T28" fmla="*/ 0 w 78"/>
                <a:gd name="T29" fmla="*/ 42 h 144"/>
                <a:gd name="T30" fmla="*/ 6 w 78"/>
                <a:gd name="T31" fmla="*/ 48 h 144"/>
                <a:gd name="T32" fmla="*/ 12 w 78"/>
                <a:gd name="T33" fmla="*/ 30 h 144"/>
                <a:gd name="T34" fmla="*/ 18 w 78"/>
                <a:gd name="T35" fmla="*/ 24 h 144"/>
                <a:gd name="T36" fmla="*/ 30 w 78"/>
                <a:gd name="T37" fmla="*/ 18 h 144"/>
                <a:gd name="T38" fmla="*/ 42 w 78"/>
                <a:gd name="T39" fmla="*/ 24 h 144"/>
                <a:gd name="T40" fmla="*/ 48 w 78"/>
                <a:gd name="T41" fmla="*/ 30 h 144"/>
                <a:gd name="T42" fmla="*/ 54 w 78"/>
                <a:gd name="T43" fmla="*/ 48 h 144"/>
                <a:gd name="T44" fmla="*/ 48 w 78"/>
                <a:gd name="T45" fmla="*/ 78 h 144"/>
                <a:gd name="T46" fmla="*/ 30 w 78"/>
                <a:gd name="T47" fmla="*/ 102 h 144"/>
                <a:gd name="T48" fmla="*/ 0 w 78"/>
                <a:gd name="T49" fmla="*/ 144 h 144"/>
                <a:gd name="T50" fmla="*/ 0 w 78"/>
                <a:gd name="T51" fmla="*/ 144 h 144"/>
                <a:gd name="T52" fmla="*/ 66 w 78"/>
                <a:gd name="T53" fmla="*/ 144 h 144"/>
                <a:gd name="T54" fmla="*/ 78 w 78"/>
                <a:gd name="T55" fmla="*/ 114 h 1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78" h="144">
                  <a:moveTo>
                    <a:pt x="78" y="114"/>
                  </a:moveTo>
                  <a:lnTo>
                    <a:pt x="78" y="114"/>
                  </a:lnTo>
                  <a:lnTo>
                    <a:pt x="66" y="126"/>
                  </a:lnTo>
                  <a:lnTo>
                    <a:pt x="60" y="126"/>
                  </a:lnTo>
                  <a:lnTo>
                    <a:pt x="18" y="126"/>
                  </a:lnTo>
                  <a:lnTo>
                    <a:pt x="48" y="90"/>
                  </a:lnTo>
                  <a:lnTo>
                    <a:pt x="54" y="84"/>
                  </a:lnTo>
                  <a:lnTo>
                    <a:pt x="60" y="72"/>
                  </a:lnTo>
                  <a:lnTo>
                    <a:pt x="66" y="42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48"/>
                  </a:lnTo>
                  <a:lnTo>
                    <a:pt x="12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24"/>
                  </a:lnTo>
                  <a:lnTo>
                    <a:pt x="48" y="30"/>
                  </a:lnTo>
                  <a:lnTo>
                    <a:pt x="54" y="48"/>
                  </a:lnTo>
                  <a:lnTo>
                    <a:pt x="48" y="78"/>
                  </a:lnTo>
                  <a:lnTo>
                    <a:pt x="30" y="102"/>
                  </a:lnTo>
                  <a:lnTo>
                    <a:pt x="0" y="144"/>
                  </a:lnTo>
                  <a:lnTo>
                    <a:pt x="66" y="144"/>
                  </a:lnTo>
                  <a:lnTo>
                    <a:pt x="7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39"/>
            <p:cNvSpPr>
              <a:spLocks/>
            </p:cNvSpPr>
            <p:nvPr/>
          </p:nvSpPr>
          <p:spPr bwMode="auto">
            <a:xfrm>
              <a:off x="2555" y="2113"/>
              <a:ext cx="120" cy="144"/>
            </a:xfrm>
            <a:custGeom>
              <a:avLst/>
              <a:gdLst>
                <a:gd name="T0" fmla="*/ 48 w 120"/>
                <a:gd name="T1" fmla="*/ 114 h 144"/>
                <a:gd name="T2" fmla="*/ 42 w 120"/>
                <a:gd name="T3" fmla="*/ 108 h 144"/>
                <a:gd name="T4" fmla="*/ 36 w 120"/>
                <a:gd name="T5" fmla="*/ 102 h 144"/>
                <a:gd name="T6" fmla="*/ 30 w 120"/>
                <a:gd name="T7" fmla="*/ 90 h 144"/>
                <a:gd name="T8" fmla="*/ 24 w 120"/>
                <a:gd name="T9" fmla="*/ 72 h 144"/>
                <a:gd name="T10" fmla="*/ 24 w 120"/>
                <a:gd name="T11" fmla="*/ 54 h 144"/>
                <a:gd name="T12" fmla="*/ 24 w 120"/>
                <a:gd name="T13" fmla="*/ 36 h 144"/>
                <a:gd name="T14" fmla="*/ 36 w 120"/>
                <a:gd name="T15" fmla="*/ 18 h 144"/>
                <a:gd name="T16" fmla="*/ 48 w 120"/>
                <a:gd name="T17" fmla="*/ 12 h 144"/>
                <a:gd name="T18" fmla="*/ 60 w 120"/>
                <a:gd name="T19" fmla="*/ 6 h 144"/>
                <a:gd name="T20" fmla="*/ 72 w 120"/>
                <a:gd name="T21" fmla="*/ 12 h 144"/>
                <a:gd name="T22" fmla="*/ 84 w 120"/>
                <a:gd name="T23" fmla="*/ 18 h 144"/>
                <a:gd name="T24" fmla="*/ 96 w 120"/>
                <a:gd name="T25" fmla="*/ 36 h 144"/>
                <a:gd name="T26" fmla="*/ 102 w 120"/>
                <a:gd name="T27" fmla="*/ 54 h 144"/>
                <a:gd name="T28" fmla="*/ 102 w 120"/>
                <a:gd name="T29" fmla="*/ 72 h 144"/>
                <a:gd name="T30" fmla="*/ 96 w 120"/>
                <a:gd name="T31" fmla="*/ 90 h 144"/>
                <a:gd name="T32" fmla="*/ 90 w 120"/>
                <a:gd name="T33" fmla="*/ 102 h 144"/>
                <a:gd name="T34" fmla="*/ 84 w 120"/>
                <a:gd name="T35" fmla="*/ 108 h 144"/>
                <a:gd name="T36" fmla="*/ 72 w 120"/>
                <a:gd name="T37" fmla="*/ 114 h 144"/>
                <a:gd name="T38" fmla="*/ 72 w 120"/>
                <a:gd name="T39" fmla="*/ 144 h 144"/>
                <a:gd name="T40" fmla="*/ 120 w 120"/>
                <a:gd name="T41" fmla="*/ 144 h 144"/>
                <a:gd name="T42" fmla="*/ 120 w 120"/>
                <a:gd name="T43" fmla="*/ 108 h 144"/>
                <a:gd name="T44" fmla="*/ 120 w 120"/>
                <a:gd name="T45" fmla="*/ 108 h 144"/>
                <a:gd name="T46" fmla="*/ 114 w 120"/>
                <a:gd name="T47" fmla="*/ 120 h 144"/>
                <a:gd name="T48" fmla="*/ 108 w 120"/>
                <a:gd name="T49" fmla="*/ 120 h 144"/>
                <a:gd name="T50" fmla="*/ 78 w 120"/>
                <a:gd name="T51" fmla="*/ 120 h 144"/>
                <a:gd name="T52" fmla="*/ 78 w 120"/>
                <a:gd name="T53" fmla="*/ 114 h 144"/>
                <a:gd name="T54" fmla="*/ 96 w 120"/>
                <a:gd name="T55" fmla="*/ 108 h 144"/>
                <a:gd name="T56" fmla="*/ 108 w 120"/>
                <a:gd name="T57" fmla="*/ 96 h 144"/>
                <a:gd name="T58" fmla="*/ 120 w 120"/>
                <a:gd name="T59" fmla="*/ 60 h 144"/>
                <a:gd name="T60" fmla="*/ 114 w 120"/>
                <a:gd name="T61" fmla="*/ 30 h 144"/>
                <a:gd name="T62" fmla="*/ 102 w 120"/>
                <a:gd name="T63" fmla="*/ 18 h 144"/>
                <a:gd name="T64" fmla="*/ 90 w 120"/>
                <a:gd name="T65" fmla="*/ 12 h 144"/>
                <a:gd name="T66" fmla="*/ 78 w 120"/>
                <a:gd name="T67" fmla="*/ 6 h 144"/>
                <a:gd name="T68" fmla="*/ 60 w 120"/>
                <a:gd name="T69" fmla="*/ 0 h 144"/>
                <a:gd name="T70" fmla="*/ 42 w 120"/>
                <a:gd name="T71" fmla="*/ 6 h 144"/>
                <a:gd name="T72" fmla="*/ 30 w 120"/>
                <a:gd name="T73" fmla="*/ 12 h 144"/>
                <a:gd name="T74" fmla="*/ 18 w 120"/>
                <a:gd name="T75" fmla="*/ 18 h 144"/>
                <a:gd name="T76" fmla="*/ 6 w 120"/>
                <a:gd name="T77" fmla="*/ 30 h 144"/>
                <a:gd name="T78" fmla="*/ 0 w 120"/>
                <a:gd name="T79" fmla="*/ 60 h 144"/>
                <a:gd name="T80" fmla="*/ 12 w 120"/>
                <a:gd name="T81" fmla="*/ 96 h 144"/>
                <a:gd name="T82" fmla="*/ 24 w 120"/>
                <a:gd name="T83" fmla="*/ 108 h 144"/>
                <a:gd name="T84" fmla="*/ 42 w 120"/>
                <a:gd name="T85" fmla="*/ 114 h 144"/>
                <a:gd name="T86" fmla="*/ 42 w 120"/>
                <a:gd name="T87" fmla="*/ 120 h 144"/>
                <a:gd name="T88" fmla="*/ 12 w 120"/>
                <a:gd name="T89" fmla="*/ 120 h 144"/>
                <a:gd name="T90" fmla="*/ 6 w 120"/>
                <a:gd name="T91" fmla="*/ 120 h 144"/>
                <a:gd name="T92" fmla="*/ 0 w 120"/>
                <a:gd name="T93" fmla="*/ 108 h 144"/>
                <a:gd name="T94" fmla="*/ 0 w 120"/>
                <a:gd name="T95" fmla="*/ 108 h 144"/>
                <a:gd name="T96" fmla="*/ 0 w 120"/>
                <a:gd name="T97" fmla="*/ 144 h 144"/>
                <a:gd name="T98" fmla="*/ 48 w 120"/>
                <a:gd name="T99" fmla="*/ 144 h 144"/>
                <a:gd name="T100" fmla="*/ 48 w 120"/>
                <a:gd name="T101" fmla="*/ 114 h 14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0" h="144">
                  <a:moveTo>
                    <a:pt x="48" y="114"/>
                  </a:moveTo>
                  <a:lnTo>
                    <a:pt x="42" y="108"/>
                  </a:lnTo>
                  <a:lnTo>
                    <a:pt x="36" y="102"/>
                  </a:lnTo>
                  <a:lnTo>
                    <a:pt x="30" y="90"/>
                  </a:lnTo>
                  <a:lnTo>
                    <a:pt x="24" y="72"/>
                  </a:lnTo>
                  <a:lnTo>
                    <a:pt x="24" y="54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48" y="12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84" y="18"/>
                  </a:lnTo>
                  <a:lnTo>
                    <a:pt x="96" y="36"/>
                  </a:lnTo>
                  <a:lnTo>
                    <a:pt x="102" y="54"/>
                  </a:lnTo>
                  <a:lnTo>
                    <a:pt x="102" y="72"/>
                  </a:lnTo>
                  <a:lnTo>
                    <a:pt x="96" y="90"/>
                  </a:lnTo>
                  <a:lnTo>
                    <a:pt x="90" y="102"/>
                  </a:lnTo>
                  <a:lnTo>
                    <a:pt x="84" y="108"/>
                  </a:lnTo>
                  <a:lnTo>
                    <a:pt x="72" y="114"/>
                  </a:lnTo>
                  <a:lnTo>
                    <a:pt x="72" y="144"/>
                  </a:lnTo>
                  <a:lnTo>
                    <a:pt x="120" y="144"/>
                  </a:lnTo>
                  <a:lnTo>
                    <a:pt x="120" y="108"/>
                  </a:lnTo>
                  <a:lnTo>
                    <a:pt x="114" y="120"/>
                  </a:lnTo>
                  <a:lnTo>
                    <a:pt x="108" y="120"/>
                  </a:lnTo>
                  <a:lnTo>
                    <a:pt x="78" y="120"/>
                  </a:lnTo>
                  <a:lnTo>
                    <a:pt x="78" y="114"/>
                  </a:lnTo>
                  <a:lnTo>
                    <a:pt x="96" y="108"/>
                  </a:lnTo>
                  <a:lnTo>
                    <a:pt x="108" y="96"/>
                  </a:lnTo>
                  <a:lnTo>
                    <a:pt x="120" y="60"/>
                  </a:lnTo>
                  <a:lnTo>
                    <a:pt x="114" y="30"/>
                  </a:lnTo>
                  <a:lnTo>
                    <a:pt x="102" y="18"/>
                  </a:lnTo>
                  <a:lnTo>
                    <a:pt x="90" y="12"/>
                  </a:lnTo>
                  <a:lnTo>
                    <a:pt x="78" y="6"/>
                  </a:lnTo>
                  <a:lnTo>
                    <a:pt x="60" y="0"/>
                  </a:lnTo>
                  <a:lnTo>
                    <a:pt x="42" y="6"/>
                  </a:lnTo>
                  <a:lnTo>
                    <a:pt x="30" y="12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60"/>
                  </a:lnTo>
                  <a:lnTo>
                    <a:pt x="12" y="96"/>
                  </a:lnTo>
                  <a:lnTo>
                    <a:pt x="24" y="108"/>
                  </a:lnTo>
                  <a:lnTo>
                    <a:pt x="42" y="114"/>
                  </a:lnTo>
                  <a:lnTo>
                    <a:pt x="42" y="120"/>
                  </a:lnTo>
                  <a:lnTo>
                    <a:pt x="12" y="120"/>
                  </a:lnTo>
                  <a:lnTo>
                    <a:pt x="6" y="120"/>
                  </a:lnTo>
                  <a:lnTo>
                    <a:pt x="0" y="108"/>
                  </a:lnTo>
                  <a:lnTo>
                    <a:pt x="0" y="144"/>
                  </a:lnTo>
                  <a:lnTo>
                    <a:pt x="48" y="144"/>
                  </a:lnTo>
                  <a:lnTo>
                    <a:pt x="4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40"/>
            <p:cNvSpPr>
              <a:spLocks/>
            </p:cNvSpPr>
            <p:nvPr/>
          </p:nvSpPr>
          <p:spPr bwMode="auto">
            <a:xfrm>
              <a:off x="2776" y="2346"/>
              <a:ext cx="54" cy="30"/>
            </a:xfrm>
            <a:custGeom>
              <a:avLst/>
              <a:gdLst>
                <a:gd name="T0" fmla="*/ 54 w 54"/>
                <a:gd name="T1" fmla="*/ 30 h 30"/>
                <a:gd name="T2" fmla="*/ 0 w 54"/>
                <a:gd name="T3" fmla="*/ 0 h 30"/>
                <a:gd name="T4" fmla="*/ 54 w 54"/>
                <a:gd name="T5" fmla="*/ 30 h 30"/>
                <a:gd name="T6" fmla="*/ 54 w 54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30">
                  <a:moveTo>
                    <a:pt x="54" y="30"/>
                  </a:moveTo>
                  <a:lnTo>
                    <a:pt x="0" y="0"/>
                  </a:lnTo>
                  <a:lnTo>
                    <a:pt x="54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41"/>
            <p:cNvSpPr>
              <a:spLocks noEditPoints="1"/>
            </p:cNvSpPr>
            <p:nvPr/>
          </p:nvSpPr>
          <p:spPr bwMode="auto">
            <a:xfrm>
              <a:off x="2776" y="2322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42"/>
            <p:cNvSpPr>
              <a:spLocks noEditPoints="1"/>
            </p:cNvSpPr>
            <p:nvPr/>
          </p:nvSpPr>
          <p:spPr bwMode="auto">
            <a:xfrm>
              <a:off x="2830" y="2292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43"/>
            <p:cNvSpPr>
              <a:spLocks noEditPoints="1"/>
            </p:cNvSpPr>
            <p:nvPr/>
          </p:nvSpPr>
          <p:spPr bwMode="auto">
            <a:xfrm>
              <a:off x="2830" y="2268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44"/>
            <p:cNvSpPr>
              <a:spLocks noEditPoints="1"/>
            </p:cNvSpPr>
            <p:nvPr/>
          </p:nvSpPr>
          <p:spPr bwMode="auto">
            <a:xfrm>
              <a:off x="2830" y="226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45"/>
            <p:cNvSpPr>
              <a:spLocks noEditPoints="1"/>
            </p:cNvSpPr>
            <p:nvPr/>
          </p:nvSpPr>
          <p:spPr bwMode="auto">
            <a:xfrm>
              <a:off x="2776" y="2239"/>
              <a:ext cx="54" cy="29"/>
            </a:xfrm>
            <a:custGeom>
              <a:avLst/>
              <a:gdLst>
                <a:gd name="T0" fmla="*/ 54 w 54"/>
                <a:gd name="T1" fmla="*/ 29 h 29"/>
                <a:gd name="T2" fmla="*/ 0 w 54"/>
                <a:gd name="T3" fmla="*/ 0 h 29"/>
                <a:gd name="T4" fmla="*/ 54 w 54"/>
                <a:gd name="T5" fmla="*/ 29 h 29"/>
                <a:gd name="T6" fmla="*/ 54 w 54"/>
                <a:gd name="T7" fmla="*/ 29 h 29"/>
                <a:gd name="T8" fmla="*/ 54 w 54"/>
                <a:gd name="T9" fmla="*/ 29 h 29"/>
                <a:gd name="T10" fmla="*/ 54 w 54"/>
                <a:gd name="T11" fmla="*/ 29 h 29"/>
                <a:gd name="T12" fmla="*/ 54 w 54"/>
                <a:gd name="T13" fmla="*/ 2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9">
                  <a:moveTo>
                    <a:pt x="54" y="29"/>
                  </a:moveTo>
                  <a:lnTo>
                    <a:pt x="0" y="0"/>
                  </a:lnTo>
                  <a:lnTo>
                    <a:pt x="54" y="29"/>
                  </a:lnTo>
                  <a:close/>
                  <a:moveTo>
                    <a:pt x="54" y="29"/>
                  </a:moveTo>
                  <a:lnTo>
                    <a:pt x="54" y="2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46"/>
            <p:cNvSpPr>
              <a:spLocks noEditPoints="1"/>
            </p:cNvSpPr>
            <p:nvPr/>
          </p:nvSpPr>
          <p:spPr bwMode="auto">
            <a:xfrm>
              <a:off x="2776" y="2215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7"/>
            <p:cNvSpPr>
              <a:spLocks noEditPoints="1"/>
            </p:cNvSpPr>
            <p:nvPr/>
          </p:nvSpPr>
          <p:spPr bwMode="auto">
            <a:xfrm>
              <a:off x="2830" y="2185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8"/>
            <p:cNvSpPr>
              <a:spLocks noEditPoints="1"/>
            </p:cNvSpPr>
            <p:nvPr/>
          </p:nvSpPr>
          <p:spPr bwMode="auto">
            <a:xfrm>
              <a:off x="2830" y="2161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49"/>
            <p:cNvSpPr>
              <a:spLocks noEditPoints="1"/>
            </p:cNvSpPr>
            <p:nvPr/>
          </p:nvSpPr>
          <p:spPr bwMode="auto">
            <a:xfrm>
              <a:off x="2776" y="2131"/>
              <a:ext cx="54" cy="30"/>
            </a:xfrm>
            <a:custGeom>
              <a:avLst/>
              <a:gdLst>
                <a:gd name="T0" fmla="*/ 54 w 54"/>
                <a:gd name="T1" fmla="*/ 30 h 30"/>
                <a:gd name="T2" fmla="*/ 0 w 54"/>
                <a:gd name="T3" fmla="*/ 0 h 30"/>
                <a:gd name="T4" fmla="*/ 54 w 54"/>
                <a:gd name="T5" fmla="*/ 30 h 30"/>
                <a:gd name="T6" fmla="*/ 54 w 54"/>
                <a:gd name="T7" fmla="*/ 30 h 30"/>
                <a:gd name="T8" fmla="*/ 54 w 54"/>
                <a:gd name="T9" fmla="*/ 30 h 30"/>
                <a:gd name="T10" fmla="*/ 54 w 54"/>
                <a:gd name="T11" fmla="*/ 30 h 30"/>
                <a:gd name="T12" fmla="*/ 54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54" y="30"/>
                  </a:moveTo>
                  <a:lnTo>
                    <a:pt x="0" y="0"/>
                  </a:lnTo>
                  <a:lnTo>
                    <a:pt x="54" y="30"/>
                  </a:lnTo>
                  <a:close/>
                  <a:moveTo>
                    <a:pt x="54" y="30"/>
                  </a:moveTo>
                  <a:lnTo>
                    <a:pt x="54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50"/>
            <p:cNvSpPr>
              <a:spLocks noEditPoints="1"/>
            </p:cNvSpPr>
            <p:nvPr/>
          </p:nvSpPr>
          <p:spPr bwMode="auto">
            <a:xfrm>
              <a:off x="2776" y="2107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51"/>
            <p:cNvSpPr>
              <a:spLocks noEditPoints="1"/>
            </p:cNvSpPr>
            <p:nvPr/>
          </p:nvSpPr>
          <p:spPr bwMode="auto">
            <a:xfrm>
              <a:off x="2830" y="2077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52"/>
            <p:cNvSpPr>
              <a:spLocks noEditPoints="1"/>
            </p:cNvSpPr>
            <p:nvPr/>
          </p:nvSpPr>
          <p:spPr bwMode="auto">
            <a:xfrm>
              <a:off x="2830" y="2054"/>
              <a:ext cx="54" cy="23"/>
            </a:xfrm>
            <a:custGeom>
              <a:avLst/>
              <a:gdLst>
                <a:gd name="T0" fmla="*/ 54 w 54"/>
                <a:gd name="T1" fmla="*/ 23 h 23"/>
                <a:gd name="T2" fmla="*/ 0 w 54"/>
                <a:gd name="T3" fmla="*/ 0 h 23"/>
                <a:gd name="T4" fmla="*/ 54 w 54"/>
                <a:gd name="T5" fmla="*/ 23 h 23"/>
                <a:gd name="T6" fmla="*/ 54 w 54"/>
                <a:gd name="T7" fmla="*/ 23 h 23"/>
                <a:gd name="T8" fmla="*/ 54 w 54"/>
                <a:gd name="T9" fmla="*/ 23 h 23"/>
                <a:gd name="T10" fmla="*/ 54 w 54"/>
                <a:gd name="T11" fmla="*/ 23 h 23"/>
                <a:gd name="T12" fmla="*/ 54 w 54"/>
                <a:gd name="T13" fmla="*/ 23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3">
                  <a:moveTo>
                    <a:pt x="54" y="23"/>
                  </a:moveTo>
                  <a:lnTo>
                    <a:pt x="0" y="0"/>
                  </a:lnTo>
                  <a:lnTo>
                    <a:pt x="54" y="23"/>
                  </a:lnTo>
                  <a:close/>
                  <a:moveTo>
                    <a:pt x="54" y="23"/>
                  </a:moveTo>
                  <a:lnTo>
                    <a:pt x="54" y="2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Freeform 53"/>
            <p:cNvSpPr>
              <a:spLocks noEditPoints="1"/>
            </p:cNvSpPr>
            <p:nvPr/>
          </p:nvSpPr>
          <p:spPr bwMode="auto">
            <a:xfrm>
              <a:off x="2776" y="2024"/>
              <a:ext cx="54" cy="30"/>
            </a:xfrm>
            <a:custGeom>
              <a:avLst/>
              <a:gdLst>
                <a:gd name="T0" fmla="*/ 54 w 54"/>
                <a:gd name="T1" fmla="*/ 30 h 30"/>
                <a:gd name="T2" fmla="*/ 0 w 54"/>
                <a:gd name="T3" fmla="*/ 0 h 30"/>
                <a:gd name="T4" fmla="*/ 54 w 54"/>
                <a:gd name="T5" fmla="*/ 30 h 30"/>
                <a:gd name="T6" fmla="*/ 54 w 54"/>
                <a:gd name="T7" fmla="*/ 30 h 30"/>
                <a:gd name="T8" fmla="*/ 54 w 54"/>
                <a:gd name="T9" fmla="*/ 30 h 30"/>
                <a:gd name="T10" fmla="*/ 54 w 54"/>
                <a:gd name="T11" fmla="*/ 30 h 30"/>
                <a:gd name="T12" fmla="*/ 54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54" y="30"/>
                  </a:moveTo>
                  <a:lnTo>
                    <a:pt x="0" y="0"/>
                  </a:lnTo>
                  <a:lnTo>
                    <a:pt x="54" y="30"/>
                  </a:lnTo>
                  <a:close/>
                  <a:moveTo>
                    <a:pt x="54" y="30"/>
                  </a:moveTo>
                  <a:lnTo>
                    <a:pt x="54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54"/>
            <p:cNvSpPr>
              <a:spLocks noEditPoints="1"/>
            </p:cNvSpPr>
            <p:nvPr/>
          </p:nvSpPr>
          <p:spPr bwMode="auto">
            <a:xfrm>
              <a:off x="2776" y="2000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55"/>
            <p:cNvSpPr>
              <a:spLocks noEditPoints="1"/>
            </p:cNvSpPr>
            <p:nvPr/>
          </p:nvSpPr>
          <p:spPr bwMode="auto">
            <a:xfrm>
              <a:off x="2830" y="1970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56"/>
            <p:cNvSpPr>
              <a:spLocks noEditPoints="1"/>
            </p:cNvSpPr>
            <p:nvPr/>
          </p:nvSpPr>
          <p:spPr bwMode="auto">
            <a:xfrm>
              <a:off x="2830" y="1946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Freeform 57"/>
            <p:cNvSpPr>
              <a:spLocks/>
            </p:cNvSpPr>
            <p:nvPr/>
          </p:nvSpPr>
          <p:spPr bwMode="auto">
            <a:xfrm>
              <a:off x="3004" y="2113"/>
              <a:ext cx="65" cy="144"/>
            </a:xfrm>
            <a:custGeom>
              <a:avLst/>
              <a:gdLst>
                <a:gd name="T0" fmla="*/ 18 w 65"/>
                <a:gd name="T1" fmla="*/ 72 h 144"/>
                <a:gd name="T2" fmla="*/ 30 w 65"/>
                <a:gd name="T3" fmla="*/ 78 h 144"/>
                <a:gd name="T4" fmla="*/ 41 w 65"/>
                <a:gd name="T5" fmla="*/ 78 h 144"/>
                <a:gd name="T6" fmla="*/ 53 w 65"/>
                <a:gd name="T7" fmla="*/ 96 h 144"/>
                <a:gd name="T8" fmla="*/ 53 w 65"/>
                <a:gd name="T9" fmla="*/ 108 h 144"/>
                <a:gd name="T10" fmla="*/ 47 w 65"/>
                <a:gd name="T11" fmla="*/ 126 h 144"/>
                <a:gd name="T12" fmla="*/ 41 w 65"/>
                <a:gd name="T13" fmla="*/ 138 h 144"/>
                <a:gd name="T14" fmla="*/ 30 w 65"/>
                <a:gd name="T15" fmla="*/ 138 h 144"/>
                <a:gd name="T16" fmla="*/ 18 w 65"/>
                <a:gd name="T17" fmla="*/ 132 h 144"/>
                <a:gd name="T18" fmla="*/ 6 w 65"/>
                <a:gd name="T19" fmla="*/ 126 h 144"/>
                <a:gd name="T20" fmla="*/ 0 w 65"/>
                <a:gd name="T21" fmla="*/ 126 h 144"/>
                <a:gd name="T22" fmla="*/ 0 w 65"/>
                <a:gd name="T23" fmla="*/ 132 h 144"/>
                <a:gd name="T24" fmla="*/ 6 w 65"/>
                <a:gd name="T25" fmla="*/ 144 h 144"/>
                <a:gd name="T26" fmla="*/ 18 w 65"/>
                <a:gd name="T27" fmla="*/ 144 h 144"/>
                <a:gd name="T28" fmla="*/ 36 w 65"/>
                <a:gd name="T29" fmla="*/ 138 h 144"/>
                <a:gd name="T30" fmla="*/ 53 w 65"/>
                <a:gd name="T31" fmla="*/ 132 h 144"/>
                <a:gd name="T32" fmla="*/ 59 w 65"/>
                <a:gd name="T33" fmla="*/ 114 h 144"/>
                <a:gd name="T34" fmla="*/ 65 w 65"/>
                <a:gd name="T35" fmla="*/ 96 h 144"/>
                <a:gd name="T36" fmla="*/ 65 w 65"/>
                <a:gd name="T37" fmla="*/ 84 h 144"/>
                <a:gd name="T38" fmla="*/ 59 w 65"/>
                <a:gd name="T39" fmla="*/ 72 h 144"/>
                <a:gd name="T40" fmla="*/ 41 w 65"/>
                <a:gd name="T41" fmla="*/ 60 h 144"/>
                <a:gd name="T42" fmla="*/ 53 w 65"/>
                <a:gd name="T43" fmla="*/ 48 h 144"/>
                <a:gd name="T44" fmla="*/ 59 w 65"/>
                <a:gd name="T45" fmla="*/ 30 h 144"/>
                <a:gd name="T46" fmla="*/ 59 w 65"/>
                <a:gd name="T47" fmla="*/ 24 h 144"/>
                <a:gd name="T48" fmla="*/ 53 w 65"/>
                <a:gd name="T49" fmla="*/ 12 h 144"/>
                <a:gd name="T50" fmla="*/ 47 w 65"/>
                <a:gd name="T51" fmla="*/ 6 h 144"/>
                <a:gd name="T52" fmla="*/ 36 w 65"/>
                <a:gd name="T53" fmla="*/ 0 h 144"/>
                <a:gd name="T54" fmla="*/ 18 w 65"/>
                <a:gd name="T55" fmla="*/ 12 h 144"/>
                <a:gd name="T56" fmla="*/ 0 w 65"/>
                <a:gd name="T57" fmla="*/ 36 h 144"/>
                <a:gd name="T58" fmla="*/ 0 w 65"/>
                <a:gd name="T59" fmla="*/ 36 h 144"/>
                <a:gd name="T60" fmla="*/ 12 w 65"/>
                <a:gd name="T61" fmla="*/ 24 h 144"/>
                <a:gd name="T62" fmla="*/ 30 w 65"/>
                <a:gd name="T63" fmla="*/ 18 h 144"/>
                <a:gd name="T64" fmla="*/ 41 w 65"/>
                <a:gd name="T65" fmla="*/ 24 h 144"/>
                <a:gd name="T66" fmla="*/ 47 w 65"/>
                <a:gd name="T67" fmla="*/ 36 h 144"/>
                <a:gd name="T68" fmla="*/ 41 w 65"/>
                <a:gd name="T69" fmla="*/ 60 h 144"/>
                <a:gd name="T70" fmla="*/ 18 w 65"/>
                <a:gd name="T71" fmla="*/ 72 h 144"/>
                <a:gd name="T72" fmla="*/ 18 w 65"/>
                <a:gd name="T73" fmla="*/ 72 h 14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5" h="144">
                  <a:moveTo>
                    <a:pt x="18" y="72"/>
                  </a:moveTo>
                  <a:lnTo>
                    <a:pt x="30" y="78"/>
                  </a:lnTo>
                  <a:lnTo>
                    <a:pt x="41" y="78"/>
                  </a:lnTo>
                  <a:lnTo>
                    <a:pt x="53" y="96"/>
                  </a:lnTo>
                  <a:lnTo>
                    <a:pt x="53" y="108"/>
                  </a:lnTo>
                  <a:lnTo>
                    <a:pt x="47" y="126"/>
                  </a:lnTo>
                  <a:lnTo>
                    <a:pt x="41" y="138"/>
                  </a:lnTo>
                  <a:lnTo>
                    <a:pt x="30" y="138"/>
                  </a:lnTo>
                  <a:lnTo>
                    <a:pt x="18" y="132"/>
                  </a:lnTo>
                  <a:lnTo>
                    <a:pt x="6" y="126"/>
                  </a:lnTo>
                  <a:lnTo>
                    <a:pt x="0" y="126"/>
                  </a:lnTo>
                  <a:lnTo>
                    <a:pt x="0" y="132"/>
                  </a:lnTo>
                  <a:lnTo>
                    <a:pt x="6" y="144"/>
                  </a:lnTo>
                  <a:lnTo>
                    <a:pt x="18" y="144"/>
                  </a:lnTo>
                  <a:lnTo>
                    <a:pt x="36" y="138"/>
                  </a:lnTo>
                  <a:lnTo>
                    <a:pt x="53" y="132"/>
                  </a:lnTo>
                  <a:lnTo>
                    <a:pt x="59" y="114"/>
                  </a:lnTo>
                  <a:lnTo>
                    <a:pt x="65" y="96"/>
                  </a:lnTo>
                  <a:lnTo>
                    <a:pt x="65" y="84"/>
                  </a:lnTo>
                  <a:lnTo>
                    <a:pt x="59" y="72"/>
                  </a:lnTo>
                  <a:lnTo>
                    <a:pt x="41" y="60"/>
                  </a:lnTo>
                  <a:lnTo>
                    <a:pt x="53" y="48"/>
                  </a:lnTo>
                  <a:lnTo>
                    <a:pt x="59" y="30"/>
                  </a:lnTo>
                  <a:lnTo>
                    <a:pt x="59" y="24"/>
                  </a:lnTo>
                  <a:lnTo>
                    <a:pt x="53" y="12"/>
                  </a:lnTo>
                  <a:lnTo>
                    <a:pt x="47" y="6"/>
                  </a:lnTo>
                  <a:lnTo>
                    <a:pt x="36" y="0"/>
                  </a:lnTo>
                  <a:lnTo>
                    <a:pt x="18" y="12"/>
                  </a:lnTo>
                  <a:lnTo>
                    <a:pt x="0" y="36"/>
                  </a:lnTo>
                  <a:lnTo>
                    <a:pt x="12" y="24"/>
                  </a:lnTo>
                  <a:lnTo>
                    <a:pt x="30" y="18"/>
                  </a:lnTo>
                  <a:lnTo>
                    <a:pt x="41" y="24"/>
                  </a:lnTo>
                  <a:lnTo>
                    <a:pt x="47" y="36"/>
                  </a:lnTo>
                  <a:lnTo>
                    <a:pt x="41" y="60"/>
                  </a:lnTo>
                  <a:lnTo>
                    <a:pt x="18" y="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58"/>
            <p:cNvSpPr>
              <a:spLocks/>
            </p:cNvSpPr>
            <p:nvPr/>
          </p:nvSpPr>
          <p:spPr bwMode="auto">
            <a:xfrm>
              <a:off x="3129" y="2113"/>
              <a:ext cx="126" cy="144"/>
            </a:xfrm>
            <a:custGeom>
              <a:avLst/>
              <a:gdLst>
                <a:gd name="T0" fmla="*/ 48 w 126"/>
                <a:gd name="T1" fmla="*/ 114 h 144"/>
                <a:gd name="T2" fmla="*/ 42 w 126"/>
                <a:gd name="T3" fmla="*/ 108 h 144"/>
                <a:gd name="T4" fmla="*/ 36 w 126"/>
                <a:gd name="T5" fmla="*/ 102 h 144"/>
                <a:gd name="T6" fmla="*/ 30 w 126"/>
                <a:gd name="T7" fmla="*/ 90 h 144"/>
                <a:gd name="T8" fmla="*/ 24 w 126"/>
                <a:gd name="T9" fmla="*/ 72 h 144"/>
                <a:gd name="T10" fmla="*/ 24 w 126"/>
                <a:gd name="T11" fmla="*/ 54 h 144"/>
                <a:gd name="T12" fmla="*/ 30 w 126"/>
                <a:gd name="T13" fmla="*/ 36 h 144"/>
                <a:gd name="T14" fmla="*/ 36 w 126"/>
                <a:gd name="T15" fmla="*/ 18 h 144"/>
                <a:gd name="T16" fmla="*/ 48 w 126"/>
                <a:gd name="T17" fmla="*/ 12 h 144"/>
                <a:gd name="T18" fmla="*/ 60 w 126"/>
                <a:gd name="T19" fmla="*/ 6 h 144"/>
                <a:gd name="T20" fmla="*/ 78 w 126"/>
                <a:gd name="T21" fmla="*/ 12 h 144"/>
                <a:gd name="T22" fmla="*/ 90 w 126"/>
                <a:gd name="T23" fmla="*/ 18 h 144"/>
                <a:gd name="T24" fmla="*/ 96 w 126"/>
                <a:gd name="T25" fmla="*/ 36 h 144"/>
                <a:gd name="T26" fmla="*/ 102 w 126"/>
                <a:gd name="T27" fmla="*/ 54 h 144"/>
                <a:gd name="T28" fmla="*/ 102 w 126"/>
                <a:gd name="T29" fmla="*/ 72 h 144"/>
                <a:gd name="T30" fmla="*/ 96 w 126"/>
                <a:gd name="T31" fmla="*/ 90 h 144"/>
                <a:gd name="T32" fmla="*/ 90 w 126"/>
                <a:gd name="T33" fmla="*/ 102 h 144"/>
                <a:gd name="T34" fmla="*/ 90 w 126"/>
                <a:gd name="T35" fmla="*/ 108 h 144"/>
                <a:gd name="T36" fmla="*/ 78 w 126"/>
                <a:gd name="T37" fmla="*/ 114 h 144"/>
                <a:gd name="T38" fmla="*/ 72 w 126"/>
                <a:gd name="T39" fmla="*/ 144 h 144"/>
                <a:gd name="T40" fmla="*/ 126 w 126"/>
                <a:gd name="T41" fmla="*/ 144 h 144"/>
                <a:gd name="T42" fmla="*/ 126 w 126"/>
                <a:gd name="T43" fmla="*/ 108 h 144"/>
                <a:gd name="T44" fmla="*/ 120 w 126"/>
                <a:gd name="T45" fmla="*/ 108 h 144"/>
                <a:gd name="T46" fmla="*/ 120 w 126"/>
                <a:gd name="T47" fmla="*/ 120 h 144"/>
                <a:gd name="T48" fmla="*/ 108 w 126"/>
                <a:gd name="T49" fmla="*/ 120 h 144"/>
                <a:gd name="T50" fmla="*/ 84 w 126"/>
                <a:gd name="T51" fmla="*/ 120 h 144"/>
                <a:gd name="T52" fmla="*/ 84 w 126"/>
                <a:gd name="T53" fmla="*/ 114 h 144"/>
                <a:gd name="T54" fmla="*/ 102 w 126"/>
                <a:gd name="T55" fmla="*/ 108 h 144"/>
                <a:gd name="T56" fmla="*/ 114 w 126"/>
                <a:gd name="T57" fmla="*/ 96 h 144"/>
                <a:gd name="T58" fmla="*/ 120 w 126"/>
                <a:gd name="T59" fmla="*/ 78 h 144"/>
                <a:gd name="T60" fmla="*/ 120 w 126"/>
                <a:gd name="T61" fmla="*/ 60 h 144"/>
                <a:gd name="T62" fmla="*/ 114 w 126"/>
                <a:gd name="T63" fmla="*/ 30 h 144"/>
                <a:gd name="T64" fmla="*/ 108 w 126"/>
                <a:gd name="T65" fmla="*/ 18 h 144"/>
                <a:gd name="T66" fmla="*/ 96 w 126"/>
                <a:gd name="T67" fmla="*/ 12 h 144"/>
                <a:gd name="T68" fmla="*/ 78 w 126"/>
                <a:gd name="T69" fmla="*/ 6 h 144"/>
                <a:gd name="T70" fmla="*/ 60 w 126"/>
                <a:gd name="T71" fmla="*/ 0 h 144"/>
                <a:gd name="T72" fmla="*/ 48 w 126"/>
                <a:gd name="T73" fmla="*/ 6 h 144"/>
                <a:gd name="T74" fmla="*/ 30 w 126"/>
                <a:gd name="T75" fmla="*/ 12 h 144"/>
                <a:gd name="T76" fmla="*/ 24 w 126"/>
                <a:gd name="T77" fmla="*/ 18 h 144"/>
                <a:gd name="T78" fmla="*/ 12 w 126"/>
                <a:gd name="T79" fmla="*/ 30 h 144"/>
                <a:gd name="T80" fmla="*/ 6 w 126"/>
                <a:gd name="T81" fmla="*/ 60 h 144"/>
                <a:gd name="T82" fmla="*/ 6 w 126"/>
                <a:gd name="T83" fmla="*/ 78 h 144"/>
                <a:gd name="T84" fmla="*/ 12 w 126"/>
                <a:gd name="T85" fmla="*/ 96 h 144"/>
                <a:gd name="T86" fmla="*/ 30 w 126"/>
                <a:gd name="T87" fmla="*/ 108 h 144"/>
                <a:gd name="T88" fmla="*/ 42 w 126"/>
                <a:gd name="T89" fmla="*/ 114 h 144"/>
                <a:gd name="T90" fmla="*/ 42 w 126"/>
                <a:gd name="T91" fmla="*/ 120 h 144"/>
                <a:gd name="T92" fmla="*/ 18 w 126"/>
                <a:gd name="T93" fmla="*/ 120 h 144"/>
                <a:gd name="T94" fmla="*/ 6 w 126"/>
                <a:gd name="T95" fmla="*/ 120 h 144"/>
                <a:gd name="T96" fmla="*/ 6 w 126"/>
                <a:gd name="T97" fmla="*/ 108 h 144"/>
                <a:gd name="T98" fmla="*/ 0 w 126"/>
                <a:gd name="T99" fmla="*/ 108 h 144"/>
                <a:gd name="T100" fmla="*/ 0 w 126"/>
                <a:gd name="T101" fmla="*/ 144 h 144"/>
                <a:gd name="T102" fmla="*/ 54 w 126"/>
                <a:gd name="T103" fmla="*/ 144 h 144"/>
                <a:gd name="T104" fmla="*/ 48 w 126"/>
                <a:gd name="T105" fmla="*/ 114 h 14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26" h="144">
                  <a:moveTo>
                    <a:pt x="48" y="114"/>
                  </a:moveTo>
                  <a:lnTo>
                    <a:pt x="42" y="108"/>
                  </a:lnTo>
                  <a:lnTo>
                    <a:pt x="36" y="102"/>
                  </a:lnTo>
                  <a:lnTo>
                    <a:pt x="30" y="90"/>
                  </a:lnTo>
                  <a:lnTo>
                    <a:pt x="24" y="72"/>
                  </a:lnTo>
                  <a:lnTo>
                    <a:pt x="24" y="54"/>
                  </a:lnTo>
                  <a:lnTo>
                    <a:pt x="30" y="36"/>
                  </a:lnTo>
                  <a:lnTo>
                    <a:pt x="36" y="18"/>
                  </a:lnTo>
                  <a:lnTo>
                    <a:pt x="48" y="12"/>
                  </a:lnTo>
                  <a:lnTo>
                    <a:pt x="60" y="6"/>
                  </a:lnTo>
                  <a:lnTo>
                    <a:pt x="78" y="12"/>
                  </a:lnTo>
                  <a:lnTo>
                    <a:pt x="90" y="18"/>
                  </a:lnTo>
                  <a:lnTo>
                    <a:pt x="96" y="36"/>
                  </a:lnTo>
                  <a:lnTo>
                    <a:pt x="102" y="54"/>
                  </a:lnTo>
                  <a:lnTo>
                    <a:pt x="102" y="72"/>
                  </a:lnTo>
                  <a:lnTo>
                    <a:pt x="96" y="90"/>
                  </a:lnTo>
                  <a:lnTo>
                    <a:pt x="90" y="102"/>
                  </a:lnTo>
                  <a:lnTo>
                    <a:pt x="90" y="108"/>
                  </a:lnTo>
                  <a:lnTo>
                    <a:pt x="78" y="114"/>
                  </a:lnTo>
                  <a:lnTo>
                    <a:pt x="72" y="144"/>
                  </a:lnTo>
                  <a:lnTo>
                    <a:pt x="126" y="144"/>
                  </a:lnTo>
                  <a:lnTo>
                    <a:pt x="126" y="108"/>
                  </a:lnTo>
                  <a:lnTo>
                    <a:pt x="120" y="108"/>
                  </a:lnTo>
                  <a:lnTo>
                    <a:pt x="120" y="120"/>
                  </a:lnTo>
                  <a:lnTo>
                    <a:pt x="108" y="120"/>
                  </a:lnTo>
                  <a:lnTo>
                    <a:pt x="84" y="120"/>
                  </a:lnTo>
                  <a:lnTo>
                    <a:pt x="84" y="114"/>
                  </a:lnTo>
                  <a:lnTo>
                    <a:pt x="102" y="108"/>
                  </a:lnTo>
                  <a:lnTo>
                    <a:pt x="114" y="96"/>
                  </a:lnTo>
                  <a:lnTo>
                    <a:pt x="120" y="78"/>
                  </a:lnTo>
                  <a:lnTo>
                    <a:pt x="120" y="60"/>
                  </a:lnTo>
                  <a:lnTo>
                    <a:pt x="114" y="30"/>
                  </a:lnTo>
                  <a:lnTo>
                    <a:pt x="108" y="18"/>
                  </a:lnTo>
                  <a:lnTo>
                    <a:pt x="96" y="12"/>
                  </a:lnTo>
                  <a:lnTo>
                    <a:pt x="78" y="6"/>
                  </a:lnTo>
                  <a:lnTo>
                    <a:pt x="60" y="0"/>
                  </a:lnTo>
                  <a:lnTo>
                    <a:pt x="48" y="6"/>
                  </a:lnTo>
                  <a:lnTo>
                    <a:pt x="30" y="12"/>
                  </a:lnTo>
                  <a:lnTo>
                    <a:pt x="24" y="18"/>
                  </a:lnTo>
                  <a:lnTo>
                    <a:pt x="12" y="30"/>
                  </a:lnTo>
                  <a:lnTo>
                    <a:pt x="6" y="60"/>
                  </a:lnTo>
                  <a:lnTo>
                    <a:pt x="6" y="78"/>
                  </a:lnTo>
                  <a:lnTo>
                    <a:pt x="12" y="96"/>
                  </a:lnTo>
                  <a:lnTo>
                    <a:pt x="30" y="108"/>
                  </a:lnTo>
                  <a:lnTo>
                    <a:pt x="42" y="114"/>
                  </a:lnTo>
                  <a:lnTo>
                    <a:pt x="42" y="120"/>
                  </a:lnTo>
                  <a:lnTo>
                    <a:pt x="18" y="120"/>
                  </a:lnTo>
                  <a:lnTo>
                    <a:pt x="6" y="120"/>
                  </a:lnTo>
                  <a:lnTo>
                    <a:pt x="6" y="108"/>
                  </a:lnTo>
                  <a:lnTo>
                    <a:pt x="0" y="108"/>
                  </a:lnTo>
                  <a:lnTo>
                    <a:pt x="0" y="144"/>
                  </a:lnTo>
                  <a:lnTo>
                    <a:pt x="54" y="144"/>
                  </a:lnTo>
                  <a:lnTo>
                    <a:pt x="4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59"/>
            <p:cNvSpPr>
              <a:spLocks/>
            </p:cNvSpPr>
            <p:nvPr/>
          </p:nvSpPr>
          <p:spPr bwMode="auto">
            <a:xfrm>
              <a:off x="3357" y="2346"/>
              <a:ext cx="47" cy="30"/>
            </a:xfrm>
            <a:custGeom>
              <a:avLst/>
              <a:gdLst>
                <a:gd name="T0" fmla="*/ 47 w 47"/>
                <a:gd name="T1" fmla="*/ 30 h 30"/>
                <a:gd name="T2" fmla="*/ 0 w 47"/>
                <a:gd name="T3" fmla="*/ 0 h 30"/>
                <a:gd name="T4" fmla="*/ 47 w 47"/>
                <a:gd name="T5" fmla="*/ 30 h 30"/>
                <a:gd name="T6" fmla="*/ 47 w 47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30">
                  <a:moveTo>
                    <a:pt x="47" y="30"/>
                  </a:moveTo>
                  <a:lnTo>
                    <a:pt x="0" y="0"/>
                  </a:lnTo>
                  <a:lnTo>
                    <a:pt x="47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60"/>
            <p:cNvSpPr>
              <a:spLocks noEditPoints="1"/>
            </p:cNvSpPr>
            <p:nvPr/>
          </p:nvSpPr>
          <p:spPr bwMode="auto">
            <a:xfrm>
              <a:off x="3357" y="2322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61"/>
            <p:cNvSpPr>
              <a:spLocks noEditPoints="1"/>
            </p:cNvSpPr>
            <p:nvPr/>
          </p:nvSpPr>
          <p:spPr bwMode="auto">
            <a:xfrm>
              <a:off x="3404" y="2292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62"/>
            <p:cNvSpPr>
              <a:spLocks noEditPoints="1"/>
            </p:cNvSpPr>
            <p:nvPr/>
          </p:nvSpPr>
          <p:spPr bwMode="auto">
            <a:xfrm>
              <a:off x="3404" y="2268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63"/>
            <p:cNvSpPr>
              <a:spLocks noEditPoints="1"/>
            </p:cNvSpPr>
            <p:nvPr/>
          </p:nvSpPr>
          <p:spPr bwMode="auto">
            <a:xfrm>
              <a:off x="3404" y="226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64"/>
            <p:cNvSpPr>
              <a:spLocks noEditPoints="1"/>
            </p:cNvSpPr>
            <p:nvPr/>
          </p:nvSpPr>
          <p:spPr bwMode="auto">
            <a:xfrm>
              <a:off x="3357" y="2239"/>
              <a:ext cx="47" cy="29"/>
            </a:xfrm>
            <a:custGeom>
              <a:avLst/>
              <a:gdLst>
                <a:gd name="T0" fmla="*/ 47 w 47"/>
                <a:gd name="T1" fmla="*/ 29 h 29"/>
                <a:gd name="T2" fmla="*/ 0 w 47"/>
                <a:gd name="T3" fmla="*/ 0 h 29"/>
                <a:gd name="T4" fmla="*/ 47 w 47"/>
                <a:gd name="T5" fmla="*/ 29 h 29"/>
                <a:gd name="T6" fmla="*/ 47 w 47"/>
                <a:gd name="T7" fmla="*/ 29 h 29"/>
                <a:gd name="T8" fmla="*/ 47 w 47"/>
                <a:gd name="T9" fmla="*/ 29 h 29"/>
                <a:gd name="T10" fmla="*/ 47 w 47"/>
                <a:gd name="T11" fmla="*/ 29 h 29"/>
                <a:gd name="T12" fmla="*/ 47 w 47"/>
                <a:gd name="T13" fmla="*/ 2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9">
                  <a:moveTo>
                    <a:pt x="47" y="29"/>
                  </a:moveTo>
                  <a:lnTo>
                    <a:pt x="0" y="0"/>
                  </a:lnTo>
                  <a:lnTo>
                    <a:pt x="47" y="29"/>
                  </a:lnTo>
                  <a:close/>
                  <a:moveTo>
                    <a:pt x="47" y="29"/>
                  </a:moveTo>
                  <a:lnTo>
                    <a:pt x="47" y="2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65"/>
            <p:cNvSpPr>
              <a:spLocks noEditPoints="1"/>
            </p:cNvSpPr>
            <p:nvPr/>
          </p:nvSpPr>
          <p:spPr bwMode="auto">
            <a:xfrm>
              <a:off x="3357" y="2215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66"/>
            <p:cNvSpPr>
              <a:spLocks noEditPoints="1"/>
            </p:cNvSpPr>
            <p:nvPr/>
          </p:nvSpPr>
          <p:spPr bwMode="auto">
            <a:xfrm>
              <a:off x="3404" y="2185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67"/>
            <p:cNvSpPr>
              <a:spLocks noEditPoints="1"/>
            </p:cNvSpPr>
            <p:nvPr/>
          </p:nvSpPr>
          <p:spPr bwMode="auto">
            <a:xfrm>
              <a:off x="3404" y="2161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68"/>
            <p:cNvSpPr>
              <a:spLocks noEditPoints="1"/>
            </p:cNvSpPr>
            <p:nvPr/>
          </p:nvSpPr>
          <p:spPr bwMode="auto">
            <a:xfrm>
              <a:off x="3357" y="2131"/>
              <a:ext cx="47" cy="30"/>
            </a:xfrm>
            <a:custGeom>
              <a:avLst/>
              <a:gdLst>
                <a:gd name="T0" fmla="*/ 47 w 47"/>
                <a:gd name="T1" fmla="*/ 30 h 30"/>
                <a:gd name="T2" fmla="*/ 0 w 47"/>
                <a:gd name="T3" fmla="*/ 0 h 30"/>
                <a:gd name="T4" fmla="*/ 47 w 47"/>
                <a:gd name="T5" fmla="*/ 30 h 30"/>
                <a:gd name="T6" fmla="*/ 47 w 47"/>
                <a:gd name="T7" fmla="*/ 30 h 30"/>
                <a:gd name="T8" fmla="*/ 47 w 47"/>
                <a:gd name="T9" fmla="*/ 30 h 30"/>
                <a:gd name="T10" fmla="*/ 47 w 47"/>
                <a:gd name="T11" fmla="*/ 30 h 30"/>
                <a:gd name="T12" fmla="*/ 47 w 47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0">
                  <a:moveTo>
                    <a:pt x="47" y="30"/>
                  </a:moveTo>
                  <a:lnTo>
                    <a:pt x="0" y="0"/>
                  </a:lnTo>
                  <a:lnTo>
                    <a:pt x="47" y="30"/>
                  </a:lnTo>
                  <a:close/>
                  <a:moveTo>
                    <a:pt x="47" y="30"/>
                  </a:moveTo>
                  <a:lnTo>
                    <a:pt x="47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69"/>
            <p:cNvSpPr>
              <a:spLocks noEditPoints="1"/>
            </p:cNvSpPr>
            <p:nvPr/>
          </p:nvSpPr>
          <p:spPr bwMode="auto">
            <a:xfrm>
              <a:off x="3357" y="2107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70"/>
            <p:cNvSpPr>
              <a:spLocks noEditPoints="1"/>
            </p:cNvSpPr>
            <p:nvPr/>
          </p:nvSpPr>
          <p:spPr bwMode="auto">
            <a:xfrm>
              <a:off x="3404" y="2077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71"/>
            <p:cNvSpPr>
              <a:spLocks noEditPoints="1"/>
            </p:cNvSpPr>
            <p:nvPr/>
          </p:nvSpPr>
          <p:spPr bwMode="auto">
            <a:xfrm>
              <a:off x="3404" y="2054"/>
              <a:ext cx="54" cy="23"/>
            </a:xfrm>
            <a:custGeom>
              <a:avLst/>
              <a:gdLst>
                <a:gd name="T0" fmla="*/ 54 w 54"/>
                <a:gd name="T1" fmla="*/ 23 h 23"/>
                <a:gd name="T2" fmla="*/ 0 w 54"/>
                <a:gd name="T3" fmla="*/ 0 h 23"/>
                <a:gd name="T4" fmla="*/ 54 w 54"/>
                <a:gd name="T5" fmla="*/ 23 h 23"/>
                <a:gd name="T6" fmla="*/ 54 w 54"/>
                <a:gd name="T7" fmla="*/ 23 h 23"/>
                <a:gd name="T8" fmla="*/ 54 w 54"/>
                <a:gd name="T9" fmla="*/ 23 h 23"/>
                <a:gd name="T10" fmla="*/ 54 w 54"/>
                <a:gd name="T11" fmla="*/ 23 h 23"/>
                <a:gd name="T12" fmla="*/ 54 w 54"/>
                <a:gd name="T13" fmla="*/ 23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3">
                  <a:moveTo>
                    <a:pt x="54" y="23"/>
                  </a:moveTo>
                  <a:lnTo>
                    <a:pt x="0" y="0"/>
                  </a:lnTo>
                  <a:lnTo>
                    <a:pt x="54" y="23"/>
                  </a:lnTo>
                  <a:close/>
                  <a:moveTo>
                    <a:pt x="54" y="23"/>
                  </a:moveTo>
                  <a:lnTo>
                    <a:pt x="54" y="2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72"/>
            <p:cNvSpPr>
              <a:spLocks noEditPoints="1"/>
            </p:cNvSpPr>
            <p:nvPr/>
          </p:nvSpPr>
          <p:spPr bwMode="auto">
            <a:xfrm>
              <a:off x="3357" y="2024"/>
              <a:ext cx="47" cy="30"/>
            </a:xfrm>
            <a:custGeom>
              <a:avLst/>
              <a:gdLst>
                <a:gd name="T0" fmla="*/ 47 w 47"/>
                <a:gd name="T1" fmla="*/ 30 h 30"/>
                <a:gd name="T2" fmla="*/ 0 w 47"/>
                <a:gd name="T3" fmla="*/ 0 h 30"/>
                <a:gd name="T4" fmla="*/ 47 w 47"/>
                <a:gd name="T5" fmla="*/ 30 h 30"/>
                <a:gd name="T6" fmla="*/ 47 w 47"/>
                <a:gd name="T7" fmla="*/ 30 h 30"/>
                <a:gd name="T8" fmla="*/ 47 w 47"/>
                <a:gd name="T9" fmla="*/ 30 h 30"/>
                <a:gd name="T10" fmla="*/ 47 w 47"/>
                <a:gd name="T11" fmla="*/ 30 h 30"/>
                <a:gd name="T12" fmla="*/ 47 w 47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0">
                  <a:moveTo>
                    <a:pt x="47" y="30"/>
                  </a:moveTo>
                  <a:lnTo>
                    <a:pt x="0" y="0"/>
                  </a:lnTo>
                  <a:lnTo>
                    <a:pt x="47" y="30"/>
                  </a:lnTo>
                  <a:close/>
                  <a:moveTo>
                    <a:pt x="47" y="30"/>
                  </a:moveTo>
                  <a:lnTo>
                    <a:pt x="47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73"/>
            <p:cNvSpPr>
              <a:spLocks noEditPoints="1"/>
            </p:cNvSpPr>
            <p:nvPr/>
          </p:nvSpPr>
          <p:spPr bwMode="auto">
            <a:xfrm>
              <a:off x="3357" y="2000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74"/>
            <p:cNvSpPr>
              <a:spLocks noEditPoints="1"/>
            </p:cNvSpPr>
            <p:nvPr/>
          </p:nvSpPr>
          <p:spPr bwMode="auto">
            <a:xfrm>
              <a:off x="3404" y="1970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75"/>
            <p:cNvSpPr>
              <a:spLocks noEditPoints="1"/>
            </p:cNvSpPr>
            <p:nvPr/>
          </p:nvSpPr>
          <p:spPr bwMode="auto">
            <a:xfrm>
              <a:off x="3404" y="1946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76"/>
            <p:cNvSpPr>
              <a:spLocks/>
            </p:cNvSpPr>
            <p:nvPr/>
          </p:nvSpPr>
          <p:spPr bwMode="auto">
            <a:xfrm>
              <a:off x="2495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77"/>
            <p:cNvSpPr>
              <a:spLocks noEditPoints="1"/>
            </p:cNvSpPr>
            <p:nvPr/>
          </p:nvSpPr>
          <p:spPr bwMode="auto">
            <a:xfrm>
              <a:off x="2471" y="1498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78"/>
            <p:cNvSpPr>
              <a:spLocks noEditPoints="1"/>
            </p:cNvSpPr>
            <p:nvPr/>
          </p:nvSpPr>
          <p:spPr bwMode="auto">
            <a:xfrm>
              <a:off x="2453" y="1432"/>
              <a:ext cx="18" cy="66"/>
            </a:xfrm>
            <a:custGeom>
              <a:avLst/>
              <a:gdLst>
                <a:gd name="T0" fmla="*/ 18 w 18"/>
                <a:gd name="T1" fmla="*/ 66 h 66"/>
                <a:gd name="T2" fmla="*/ 0 w 18"/>
                <a:gd name="T3" fmla="*/ 0 h 66"/>
                <a:gd name="T4" fmla="*/ 18 w 18"/>
                <a:gd name="T5" fmla="*/ 66 h 66"/>
                <a:gd name="T6" fmla="*/ 18 w 18"/>
                <a:gd name="T7" fmla="*/ 66 h 66"/>
                <a:gd name="T8" fmla="*/ 18 w 18"/>
                <a:gd name="T9" fmla="*/ 66 h 66"/>
                <a:gd name="T10" fmla="*/ 18 w 18"/>
                <a:gd name="T11" fmla="*/ 66 h 66"/>
                <a:gd name="T12" fmla="*/ 18 w 18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66"/>
                  </a:moveTo>
                  <a:lnTo>
                    <a:pt x="0" y="0"/>
                  </a:lnTo>
                  <a:lnTo>
                    <a:pt x="18" y="66"/>
                  </a:lnTo>
                  <a:close/>
                  <a:moveTo>
                    <a:pt x="18" y="66"/>
                  </a:moveTo>
                  <a:lnTo>
                    <a:pt x="18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79"/>
            <p:cNvSpPr>
              <a:spLocks noEditPoints="1"/>
            </p:cNvSpPr>
            <p:nvPr/>
          </p:nvSpPr>
          <p:spPr bwMode="auto">
            <a:xfrm>
              <a:off x="2429" y="1432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80"/>
            <p:cNvSpPr>
              <a:spLocks noEditPoints="1"/>
            </p:cNvSpPr>
            <p:nvPr/>
          </p:nvSpPr>
          <p:spPr bwMode="auto">
            <a:xfrm>
              <a:off x="2429" y="149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81"/>
            <p:cNvSpPr>
              <a:spLocks noEditPoints="1"/>
            </p:cNvSpPr>
            <p:nvPr/>
          </p:nvSpPr>
          <p:spPr bwMode="auto">
            <a:xfrm>
              <a:off x="2405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82"/>
            <p:cNvSpPr>
              <a:spLocks noEditPoints="1"/>
            </p:cNvSpPr>
            <p:nvPr/>
          </p:nvSpPr>
          <p:spPr bwMode="auto">
            <a:xfrm>
              <a:off x="2382" y="1498"/>
              <a:ext cx="23" cy="66"/>
            </a:xfrm>
            <a:custGeom>
              <a:avLst/>
              <a:gdLst>
                <a:gd name="T0" fmla="*/ 23 w 23"/>
                <a:gd name="T1" fmla="*/ 66 h 66"/>
                <a:gd name="T2" fmla="*/ 0 w 23"/>
                <a:gd name="T3" fmla="*/ 0 h 66"/>
                <a:gd name="T4" fmla="*/ 23 w 23"/>
                <a:gd name="T5" fmla="*/ 66 h 66"/>
                <a:gd name="T6" fmla="*/ 23 w 23"/>
                <a:gd name="T7" fmla="*/ 66 h 66"/>
                <a:gd name="T8" fmla="*/ 23 w 23"/>
                <a:gd name="T9" fmla="*/ 66 h 66"/>
                <a:gd name="T10" fmla="*/ 23 w 23"/>
                <a:gd name="T11" fmla="*/ 66 h 66"/>
                <a:gd name="T12" fmla="*/ 23 w 23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66">
                  <a:moveTo>
                    <a:pt x="23" y="66"/>
                  </a:moveTo>
                  <a:lnTo>
                    <a:pt x="0" y="0"/>
                  </a:lnTo>
                  <a:lnTo>
                    <a:pt x="23" y="66"/>
                  </a:lnTo>
                  <a:close/>
                  <a:moveTo>
                    <a:pt x="23" y="66"/>
                  </a:moveTo>
                  <a:lnTo>
                    <a:pt x="23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83"/>
            <p:cNvSpPr>
              <a:spLocks noEditPoints="1"/>
            </p:cNvSpPr>
            <p:nvPr/>
          </p:nvSpPr>
          <p:spPr bwMode="auto">
            <a:xfrm>
              <a:off x="2358" y="1432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84"/>
            <p:cNvSpPr>
              <a:spLocks noEditPoints="1"/>
            </p:cNvSpPr>
            <p:nvPr/>
          </p:nvSpPr>
          <p:spPr bwMode="auto">
            <a:xfrm>
              <a:off x="2340" y="1432"/>
              <a:ext cx="18" cy="66"/>
            </a:xfrm>
            <a:custGeom>
              <a:avLst/>
              <a:gdLst>
                <a:gd name="T0" fmla="*/ 18 w 18"/>
                <a:gd name="T1" fmla="*/ 0 h 66"/>
                <a:gd name="T2" fmla="*/ 0 w 18"/>
                <a:gd name="T3" fmla="*/ 66 h 66"/>
                <a:gd name="T4" fmla="*/ 18 w 18"/>
                <a:gd name="T5" fmla="*/ 0 h 66"/>
                <a:gd name="T6" fmla="*/ 18 w 18"/>
                <a:gd name="T7" fmla="*/ 0 h 66"/>
                <a:gd name="T8" fmla="*/ 18 w 18"/>
                <a:gd name="T9" fmla="*/ 0 h 66"/>
                <a:gd name="T10" fmla="*/ 18 w 18"/>
                <a:gd name="T11" fmla="*/ 0 h 66"/>
                <a:gd name="T12" fmla="*/ 18 w 18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0"/>
                  </a:moveTo>
                  <a:lnTo>
                    <a:pt x="0" y="6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85"/>
            <p:cNvSpPr>
              <a:spLocks noEditPoints="1"/>
            </p:cNvSpPr>
            <p:nvPr/>
          </p:nvSpPr>
          <p:spPr bwMode="auto">
            <a:xfrm>
              <a:off x="2316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86"/>
            <p:cNvSpPr>
              <a:spLocks noEditPoints="1"/>
            </p:cNvSpPr>
            <p:nvPr/>
          </p:nvSpPr>
          <p:spPr bwMode="auto">
            <a:xfrm>
              <a:off x="2292" y="1498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87"/>
            <p:cNvSpPr>
              <a:spLocks noEditPoints="1"/>
            </p:cNvSpPr>
            <p:nvPr/>
          </p:nvSpPr>
          <p:spPr bwMode="auto">
            <a:xfrm>
              <a:off x="2268" y="1432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88"/>
            <p:cNvSpPr>
              <a:spLocks noEditPoints="1"/>
            </p:cNvSpPr>
            <p:nvPr/>
          </p:nvSpPr>
          <p:spPr bwMode="auto">
            <a:xfrm>
              <a:off x="2250" y="1432"/>
              <a:ext cx="18" cy="66"/>
            </a:xfrm>
            <a:custGeom>
              <a:avLst/>
              <a:gdLst>
                <a:gd name="T0" fmla="*/ 18 w 18"/>
                <a:gd name="T1" fmla="*/ 0 h 66"/>
                <a:gd name="T2" fmla="*/ 0 w 18"/>
                <a:gd name="T3" fmla="*/ 66 h 66"/>
                <a:gd name="T4" fmla="*/ 18 w 18"/>
                <a:gd name="T5" fmla="*/ 0 h 66"/>
                <a:gd name="T6" fmla="*/ 18 w 18"/>
                <a:gd name="T7" fmla="*/ 0 h 66"/>
                <a:gd name="T8" fmla="*/ 18 w 18"/>
                <a:gd name="T9" fmla="*/ 0 h 66"/>
                <a:gd name="T10" fmla="*/ 18 w 18"/>
                <a:gd name="T11" fmla="*/ 0 h 66"/>
                <a:gd name="T12" fmla="*/ 18 w 18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0"/>
                  </a:moveTo>
                  <a:lnTo>
                    <a:pt x="0" y="6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89"/>
            <p:cNvSpPr>
              <a:spLocks noEditPoints="1"/>
            </p:cNvSpPr>
            <p:nvPr/>
          </p:nvSpPr>
          <p:spPr bwMode="auto">
            <a:xfrm>
              <a:off x="2226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90"/>
            <p:cNvSpPr>
              <a:spLocks noEditPoints="1"/>
            </p:cNvSpPr>
            <p:nvPr/>
          </p:nvSpPr>
          <p:spPr bwMode="auto">
            <a:xfrm>
              <a:off x="2202" y="1498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91"/>
            <p:cNvSpPr>
              <a:spLocks noEditPoints="1"/>
            </p:cNvSpPr>
            <p:nvPr/>
          </p:nvSpPr>
          <p:spPr bwMode="auto">
            <a:xfrm>
              <a:off x="2184" y="1432"/>
              <a:ext cx="18" cy="66"/>
            </a:xfrm>
            <a:custGeom>
              <a:avLst/>
              <a:gdLst>
                <a:gd name="T0" fmla="*/ 18 w 18"/>
                <a:gd name="T1" fmla="*/ 66 h 66"/>
                <a:gd name="T2" fmla="*/ 0 w 18"/>
                <a:gd name="T3" fmla="*/ 0 h 66"/>
                <a:gd name="T4" fmla="*/ 18 w 18"/>
                <a:gd name="T5" fmla="*/ 66 h 66"/>
                <a:gd name="T6" fmla="*/ 18 w 18"/>
                <a:gd name="T7" fmla="*/ 66 h 66"/>
                <a:gd name="T8" fmla="*/ 18 w 18"/>
                <a:gd name="T9" fmla="*/ 66 h 66"/>
                <a:gd name="T10" fmla="*/ 18 w 18"/>
                <a:gd name="T11" fmla="*/ 66 h 66"/>
                <a:gd name="T12" fmla="*/ 18 w 18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66"/>
                  </a:moveTo>
                  <a:lnTo>
                    <a:pt x="0" y="0"/>
                  </a:lnTo>
                  <a:lnTo>
                    <a:pt x="18" y="66"/>
                  </a:lnTo>
                  <a:close/>
                  <a:moveTo>
                    <a:pt x="18" y="66"/>
                  </a:moveTo>
                  <a:lnTo>
                    <a:pt x="18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92"/>
            <p:cNvSpPr>
              <a:spLocks noEditPoints="1"/>
            </p:cNvSpPr>
            <p:nvPr/>
          </p:nvSpPr>
          <p:spPr bwMode="auto">
            <a:xfrm>
              <a:off x="2160" y="1432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93"/>
            <p:cNvSpPr>
              <a:spLocks/>
            </p:cNvSpPr>
            <p:nvPr/>
          </p:nvSpPr>
          <p:spPr bwMode="auto">
            <a:xfrm>
              <a:off x="3941" y="2818"/>
              <a:ext cx="71" cy="89"/>
            </a:xfrm>
            <a:custGeom>
              <a:avLst/>
              <a:gdLst>
                <a:gd name="T0" fmla="*/ 36 w 71"/>
                <a:gd name="T1" fmla="*/ 89 h 89"/>
                <a:gd name="T2" fmla="*/ 48 w 71"/>
                <a:gd name="T3" fmla="*/ 83 h 89"/>
                <a:gd name="T4" fmla="*/ 60 w 71"/>
                <a:gd name="T5" fmla="*/ 78 h 89"/>
                <a:gd name="T6" fmla="*/ 71 w 71"/>
                <a:gd name="T7" fmla="*/ 60 h 89"/>
                <a:gd name="T8" fmla="*/ 71 w 71"/>
                <a:gd name="T9" fmla="*/ 42 h 89"/>
                <a:gd name="T10" fmla="*/ 71 w 71"/>
                <a:gd name="T11" fmla="*/ 24 h 89"/>
                <a:gd name="T12" fmla="*/ 60 w 71"/>
                <a:gd name="T13" fmla="*/ 12 h 89"/>
                <a:gd name="T14" fmla="*/ 48 w 71"/>
                <a:gd name="T15" fmla="*/ 6 h 89"/>
                <a:gd name="T16" fmla="*/ 36 w 71"/>
                <a:gd name="T17" fmla="*/ 0 h 89"/>
                <a:gd name="T18" fmla="*/ 24 w 71"/>
                <a:gd name="T19" fmla="*/ 6 h 89"/>
                <a:gd name="T20" fmla="*/ 12 w 71"/>
                <a:gd name="T21" fmla="*/ 12 h 89"/>
                <a:gd name="T22" fmla="*/ 6 w 71"/>
                <a:gd name="T23" fmla="*/ 24 h 89"/>
                <a:gd name="T24" fmla="*/ 0 w 71"/>
                <a:gd name="T25" fmla="*/ 42 h 89"/>
                <a:gd name="T26" fmla="*/ 6 w 71"/>
                <a:gd name="T27" fmla="*/ 60 h 89"/>
                <a:gd name="T28" fmla="*/ 12 w 71"/>
                <a:gd name="T29" fmla="*/ 78 h 89"/>
                <a:gd name="T30" fmla="*/ 24 w 71"/>
                <a:gd name="T31" fmla="*/ 83 h 89"/>
                <a:gd name="T32" fmla="*/ 36 w 71"/>
                <a:gd name="T33" fmla="*/ 89 h 89"/>
                <a:gd name="T34" fmla="*/ 36 w 71"/>
                <a:gd name="T35" fmla="*/ 89 h 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1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1" y="60"/>
                  </a:lnTo>
                  <a:lnTo>
                    <a:pt x="71" y="42"/>
                  </a:lnTo>
                  <a:lnTo>
                    <a:pt x="71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8"/>
                  </a:lnTo>
                  <a:lnTo>
                    <a:pt x="24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94"/>
            <p:cNvSpPr>
              <a:spLocks/>
            </p:cNvSpPr>
            <p:nvPr/>
          </p:nvSpPr>
          <p:spPr bwMode="auto">
            <a:xfrm>
              <a:off x="3384" y="2818"/>
              <a:ext cx="72" cy="8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8 h 89"/>
                <a:gd name="T6" fmla="*/ 72 w 72"/>
                <a:gd name="T7" fmla="*/ 60 h 89"/>
                <a:gd name="T8" fmla="*/ 72 w 72"/>
                <a:gd name="T9" fmla="*/ 42 h 89"/>
                <a:gd name="T10" fmla="*/ 72 w 72"/>
                <a:gd name="T11" fmla="*/ 24 h 89"/>
                <a:gd name="T12" fmla="*/ 60 w 72"/>
                <a:gd name="T13" fmla="*/ 12 h 89"/>
                <a:gd name="T14" fmla="*/ 48 w 72"/>
                <a:gd name="T15" fmla="*/ 6 h 89"/>
                <a:gd name="T16" fmla="*/ 36 w 72"/>
                <a:gd name="T17" fmla="*/ 0 h 89"/>
                <a:gd name="T18" fmla="*/ 24 w 72"/>
                <a:gd name="T19" fmla="*/ 6 h 89"/>
                <a:gd name="T20" fmla="*/ 12 w 72"/>
                <a:gd name="T21" fmla="*/ 12 h 89"/>
                <a:gd name="T22" fmla="*/ 6 w 72"/>
                <a:gd name="T23" fmla="*/ 24 h 89"/>
                <a:gd name="T24" fmla="*/ 0 w 72"/>
                <a:gd name="T25" fmla="*/ 42 h 89"/>
                <a:gd name="T26" fmla="*/ 6 w 72"/>
                <a:gd name="T27" fmla="*/ 60 h 89"/>
                <a:gd name="T28" fmla="*/ 12 w 72"/>
                <a:gd name="T29" fmla="*/ 78 h 89"/>
                <a:gd name="T30" fmla="*/ 24 w 72"/>
                <a:gd name="T31" fmla="*/ 83 h 89"/>
                <a:gd name="T32" fmla="*/ 36 w 72"/>
                <a:gd name="T33" fmla="*/ 89 h 89"/>
                <a:gd name="T34" fmla="*/ 36 w 72"/>
                <a:gd name="T35" fmla="*/ 89 h 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8"/>
                  </a:lnTo>
                  <a:lnTo>
                    <a:pt x="24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95"/>
            <p:cNvSpPr>
              <a:spLocks/>
            </p:cNvSpPr>
            <p:nvPr/>
          </p:nvSpPr>
          <p:spPr bwMode="auto">
            <a:xfrm>
              <a:off x="2818" y="2818"/>
              <a:ext cx="72" cy="8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8 h 89"/>
                <a:gd name="T6" fmla="*/ 72 w 72"/>
                <a:gd name="T7" fmla="*/ 60 h 89"/>
                <a:gd name="T8" fmla="*/ 72 w 72"/>
                <a:gd name="T9" fmla="*/ 42 h 89"/>
                <a:gd name="T10" fmla="*/ 72 w 72"/>
                <a:gd name="T11" fmla="*/ 24 h 89"/>
                <a:gd name="T12" fmla="*/ 60 w 72"/>
                <a:gd name="T13" fmla="*/ 12 h 89"/>
                <a:gd name="T14" fmla="*/ 48 w 72"/>
                <a:gd name="T15" fmla="*/ 6 h 89"/>
                <a:gd name="T16" fmla="*/ 36 w 72"/>
                <a:gd name="T17" fmla="*/ 0 h 89"/>
                <a:gd name="T18" fmla="*/ 18 w 72"/>
                <a:gd name="T19" fmla="*/ 6 h 89"/>
                <a:gd name="T20" fmla="*/ 12 w 72"/>
                <a:gd name="T21" fmla="*/ 12 h 89"/>
                <a:gd name="T22" fmla="*/ 0 w 72"/>
                <a:gd name="T23" fmla="*/ 42 h 89"/>
                <a:gd name="T24" fmla="*/ 12 w 72"/>
                <a:gd name="T25" fmla="*/ 78 h 89"/>
                <a:gd name="T26" fmla="*/ 18 w 72"/>
                <a:gd name="T27" fmla="*/ 83 h 89"/>
                <a:gd name="T28" fmla="*/ 36 w 72"/>
                <a:gd name="T29" fmla="*/ 89 h 89"/>
                <a:gd name="T30" fmla="*/ 36 w 72"/>
                <a:gd name="T31" fmla="*/ 89 h 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12" y="78"/>
                  </a:lnTo>
                  <a:lnTo>
                    <a:pt x="18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96"/>
            <p:cNvSpPr>
              <a:spLocks/>
            </p:cNvSpPr>
            <p:nvPr/>
          </p:nvSpPr>
          <p:spPr bwMode="auto">
            <a:xfrm>
              <a:off x="1783" y="2818"/>
              <a:ext cx="72" cy="8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8 h 89"/>
                <a:gd name="T6" fmla="*/ 72 w 72"/>
                <a:gd name="T7" fmla="*/ 60 h 89"/>
                <a:gd name="T8" fmla="*/ 72 w 72"/>
                <a:gd name="T9" fmla="*/ 42 h 89"/>
                <a:gd name="T10" fmla="*/ 72 w 72"/>
                <a:gd name="T11" fmla="*/ 24 h 89"/>
                <a:gd name="T12" fmla="*/ 60 w 72"/>
                <a:gd name="T13" fmla="*/ 12 h 89"/>
                <a:gd name="T14" fmla="*/ 48 w 72"/>
                <a:gd name="T15" fmla="*/ 6 h 89"/>
                <a:gd name="T16" fmla="*/ 36 w 72"/>
                <a:gd name="T17" fmla="*/ 0 h 89"/>
                <a:gd name="T18" fmla="*/ 24 w 72"/>
                <a:gd name="T19" fmla="*/ 6 h 89"/>
                <a:gd name="T20" fmla="*/ 12 w 72"/>
                <a:gd name="T21" fmla="*/ 12 h 89"/>
                <a:gd name="T22" fmla="*/ 6 w 72"/>
                <a:gd name="T23" fmla="*/ 24 h 89"/>
                <a:gd name="T24" fmla="*/ 0 w 72"/>
                <a:gd name="T25" fmla="*/ 42 h 89"/>
                <a:gd name="T26" fmla="*/ 6 w 72"/>
                <a:gd name="T27" fmla="*/ 60 h 89"/>
                <a:gd name="T28" fmla="*/ 12 w 72"/>
                <a:gd name="T29" fmla="*/ 78 h 89"/>
                <a:gd name="T30" fmla="*/ 24 w 72"/>
                <a:gd name="T31" fmla="*/ 83 h 89"/>
                <a:gd name="T32" fmla="*/ 36 w 72"/>
                <a:gd name="T33" fmla="*/ 89 h 89"/>
                <a:gd name="T34" fmla="*/ 36 w 72"/>
                <a:gd name="T35" fmla="*/ 89 h 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8"/>
                  </a:lnTo>
                  <a:lnTo>
                    <a:pt x="24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Freeform 97"/>
            <p:cNvSpPr>
              <a:spLocks/>
            </p:cNvSpPr>
            <p:nvPr/>
          </p:nvSpPr>
          <p:spPr bwMode="auto">
            <a:xfrm>
              <a:off x="3933" y="1470"/>
              <a:ext cx="71" cy="84"/>
            </a:xfrm>
            <a:custGeom>
              <a:avLst/>
              <a:gdLst>
                <a:gd name="T0" fmla="*/ 36 w 71"/>
                <a:gd name="T1" fmla="*/ 84 h 84"/>
                <a:gd name="T2" fmla="*/ 54 w 71"/>
                <a:gd name="T3" fmla="*/ 84 h 84"/>
                <a:gd name="T4" fmla="*/ 65 w 71"/>
                <a:gd name="T5" fmla="*/ 72 h 84"/>
                <a:gd name="T6" fmla="*/ 71 w 71"/>
                <a:gd name="T7" fmla="*/ 42 h 84"/>
                <a:gd name="T8" fmla="*/ 65 w 71"/>
                <a:gd name="T9" fmla="*/ 12 h 84"/>
                <a:gd name="T10" fmla="*/ 54 w 71"/>
                <a:gd name="T11" fmla="*/ 6 h 84"/>
                <a:gd name="T12" fmla="*/ 36 w 71"/>
                <a:gd name="T13" fmla="*/ 0 h 84"/>
                <a:gd name="T14" fmla="*/ 24 w 71"/>
                <a:gd name="T15" fmla="*/ 6 h 84"/>
                <a:gd name="T16" fmla="*/ 12 w 71"/>
                <a:gd name="T17" fmla="*/ 12 h 84"/>
                <a:gd name="T18" fmla="*/ 6 w 71"/>
                <a:gd name="T19" fmla="*/ 24 h 84"/>
                <a:gd name="T20" fmla="*/ 0 w 71"/>
                <a:gd name="T21" fmla="*/ 42 h 84"/>
                <a:gd name="T22" fmla="*/ 6 w 71"/>
                <a:gd name="T23" fmla="*/ 60 h 84"/>
                <a:gd name="T24" fmla="*/ 12 w 71"/>
                <a:gd name="T25" fmla="*/ 72 h 84"/>
                <a:gd name="T26" fmla="*/ 24 w 71"/>
                <a:gd name="T27" fmla="*/ 84 h 84"/>
                <a:gd name="T28" fmla="*/ 36 w 71"/>
                <a:gd name="T29" fmla="*/ 84 h 84"/>
                <a:gd name="T30" fmla="*/ 36 w 71"/>
                <a:gd name="T31" fmla="*/ 84 h 8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1" h="84">
                  <a:moveTo>
                    <a:pt x="36" y="84"/>
                  </a:moveTo>
                  <a:lnTo>
                    <a:pt x="54" y="84"/>
                  </a:lnTo>
                  <a:lnTo>
                    <a:pt x="65" y="72"/>
                  </a:lnTo>
                  <a:lnTo>
                    <a:pt x="71" y="42"/>
                  </a:lnTo>
                  <a:lnTo>
                    <a:pt x="65" y="12"/>
                  </a:lnTo>
                  <a:lnTo>
                    <a:pt x="54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98"/>
            <p:cNvSpPr>
              <a:spLocks/>
            </p:cNvSpPr>
            <p:nvPr/>
          </p:nvSpPr>
          <p:spPr bwMode="auto">
            <a:xfrm>
              <a:off x="3392" y="1470"/>
              <a:ext cx="72" cy="84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24 w 72"/>
                <a:gd name="T19" fmla="*/ 6 h 84"/>
                <a:gd name="T20" fmla="*/ 12 w 72"/>
                <a:gd name="T21" fmla="*/ 12 h 84"/>
                <a:gd name="T22" fmla="*/ 6 w 72"/>
                <a:gd name="T23" fmla="*/ 24 h 84"/>
                <a:gd name="T24" fmla="*/ 0 w 72"/>
                <a:gd name="T25" fmla="*/ 42 h 84"/>
                <a:gd name="T26" fmla="*/ 6 w 72"/>
                <a:gd name="T27" fmla="*/ 60 h 84"/>
                <a:gd name="T28" fmla="*/ 12 w 72"/>
                <a:gd name="T29" fmla="*/ 72 h 84"/>
                <a:gd name="T30" fmla="*/ 24 w 72"/>
                <a:gd name="T31" fmla="*/ 84 h 84"/>
                <a:gd name="T32" fmla="*/ 36 w 72"/>
                <a:gd name="T33" fmla="*/ 84 h 84"/>
                <a:gd name="T34" fmla="*/ 36 w 72"/>
                <a:gd name="T35" fmla="*/ 84 h 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99"/>
            <p:cNvSpPr>
              <a:spLocks/>
            </p:cNvSpPr>
            <p:nvPr/>
          </p:nvSpPr>
          <p:spPr bwMode="auto">
            <a:xfrm>
              <a:off x="2810" y="1470"/>
              <a:ext cx="72" cy="84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18 w 72"/>
                <a:gd name="T19" fmla="*/ 6 h 84"/>
                <a:gd name="T20" fmla="*/ 12 w 72"/>
                <a:gd name="T21" fmla="*/ 12 h 84"/>
                <a:gd name="T22" fmla="*/ 0 w 72"/>
                <a:gd name="T23" fmla="*/ 42 h 84"/>
                <a:gd name="T24" fmla="*/ 12 w 72"/>
                <a:gd name="T25" fmla="*/ 72 h 84"/>
                <a:gd name="T26" fmla="*/ 18 w 72"/>
                <a:gd name="T27" fmla="*/ 84 h 84"/>
                <a:gd name="T28" fmla="*/ 36 w 72"/>
                <a:gd name="T29" fmla="*/ 84 h 84"/>
                <a:gd name="T30" fmla="*/ 36 w 72"/>
                <a:gd name="T31" fmla="*/ 84 h 8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12" y="72"/>
                  </a:lnTo>
                  <a:lnTo>
                    <a:pt x="18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reeform 100"/>
            <p:cNvSpPr>
              <a:spLocks/>
            </p:cNvSpPr>
            <p:nvPr/>
          </p:nvSpPr>
          <p:spPr bwMode="auto">
            <a:xfrm>
              <a:off x="1783" y="1456"/>
              <a:ext cx="72" cy="84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24 w 72"/>
                <a:gd name="T19" fmla="*/ 6 h 84"/>
                <a:gd name="T20" fmla="*/ 12 w 72"/>
                <a:gd name="T21" fmla="*/ 12 h 84"/>
                <a:gd name="T22" fmla="*/ 6 w 72"/>
                <a:gd name="T23" fmla="*/ 24 h 84"/>
                <a:gd name="T24" fmla="*/ 0 w 72"/>
                <a:gd name="T25" fmla="*/ 42 h 84"/>
                <a:gd name="T26" fmla="*/ 6 w 72"/>
                <a:gd name="T27" fmla="*/ 60 h 84"/>
                <a:gd name="T28" fmla="*/ 12 w 72"/>
                <a:gd name="T29" fmla="*/ 72 h 84"/>
                <a:gd name="T30" fmla="*/ 24 w 72"/>
                <a:gd name="T31" fmla="*/ 84 h 84"/>
                <a:gd name="T32" fmla="*/ 36 w 72"/>
                <a:gd name="T33" fmla="*/ 84 h 84"/>
                <a:gd name="T34" fmla="*/ 36 w 72"/>
                <a:gd name="T35" fmla="*/ 84 h 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101"/>
            <p:cNvSpPr>
              <a:spLocks noEditPoints="1"/>
            </p:cNvSpPr>
            <p:nvPr/>
          </p:nvSpPr>
          <p:spPr bwMode="auto">
            <a:xfrm>
              <a:off x="2824" y="1498"/>
              <a:ext cx="1220" cy="114"/>
            </a:xfrm>
            <a:custGeom>
              <a:avLst/>
              <a:gdLst>
                <a:gd name="T0" fmla="*/ 0 w 1220"/>
                <a:gd name="T1" fmla="*/ 114 h 114"/>
                <a:gd name="T2" fmla="*/ 1161 w 1220"/>
                <a:gd name="T3" fmla="*/ 114 h 114"/>
                <a:gd name="T4" fmla="*/ 0 w 1220"/>
                <a:gd name="T5" fmla="*/ 114 h 114"/>
                <a:gd name="T6" fmla="*/ 0 w 1220"/>
                <a:gd name="T7" fmla="*/ 114 h 114"/>
                <a:gd name="T8" fmla="*/ 1167 w 1220"/>
                <a:gd name="T9" fmla="*/ 108 h 114"/>
                <a:gd name="T10" fmla="*/ 1190 w 1220"/>
                <a:gd name="T11" fmla="*/ 96 h 114"/>
                <a:gd name="T12" fmla="*/ 1208 w 1220"/>
                <a:gd name="T13" fmla="*/ 72 h 114"/>
                <a:gd name="T14" fmla="*/ 1214 w 1220"/>
                <a:gd name="T15" fmla="*/ 42 h 114"/>
                <a:gd name="T16" fmla="*/ 1220 w 1220"/>
                <a:gd name="T17" fmla="*/ 0 h 114"/>
                <a:gd name="T18" fmla="*/ 1220 w 1220"/>
                <a:gd name="T19" fmla="*/ 0 h 114"/>
                <a:gd name="T20" fmla="*/ 1214 w 1220"/>
                <a:gd name="T21" fmla="*/ 42 h 114"/>
                <a:gd name="T22" fmla="*/ 1208 w 1220"/>
                <a:gd name="T23" fmla="*/ 72 h 114"/>
                <a:gd name="T24" fmla="*/ 1190 w 1220"/>
                <a:gd name="T25" fmla="*/ 96 h 114"/>
                <a:gd name="T26" fmla="*/ 1167 w 1220"/>
                <a:gd name="T27" fmla="*/ 108 h 114"/>
                <a:gd name="T28" fmla="*/ 1167 w 1220"/>
                <a:gd name="T29" fmla="*/ 108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20" h="114">
                  <a:moveTo>
                    <a:pt x="0" y="114"/>
                  </a:moveTo>
                  <a:lnTo>
                    <a:pt x="1161" y="114"/>
                  </a:lnTo>
                  <a:lnTo>
                    <a:pt x="0" y="114"/>
                  </a:lnTo>
                  <a:close/>
                  <a:moveTo>
                    <a:pt x="1167" y="108"/>
                  </a:moveTo>
                  <a:lnTo>
                    <a:pt x="1190" y="96"/>
                  </a:lnTo>
                  <a:lnTo>
                    <a:pt x="1208" y="72"/>
                  </a:lnTo>
                  <a:lnTo>
                    <a:pt x="1214" y="42"/>
                  </a:lnTo>
                  <a:lnTo>
                    <a:pt x="1220" y="0"/>
                  </a:lnTo>
                  <a:lnTo>
                    <a:pt x="1214" y="42"/>
                  </a:lnTo>
                  <a:lnTo>
                    <a:pt x="1208" y="72"/>
                  </a:lnTo>
                  <a:lnTo>
                    <a:pt x="1190" y="96"/>
                  </a:lnTo>
                  <a:lnTo>
                    <a:pt x="1167" y="10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102"/>
            <p:cNvSpPr>
              <a:spLocks noEditPoints="1"/>
            </p:cNvSpPr>
            <p:nvPr/>
          </p:nvSpPr>
          <p:spPr bwMode="auto">
            <a:xfrm>
              <a:off x="3991" y="1391"/>
              <a:ext cx="53" cy="107"/>
            </a:xfrm>
            <a:custGeom>
              <a:avLst/>
              <a:gdLst>
                <a:gd name="T0" fmla="*/ 53 w 53"/>
                <a:gd name="T1" fmla="*/ 107 h 107"/>
                <a:gd name="T2" fmla="*/ 47 w 53"/>
                <a:gd name="T3" fmla="*/ 71 h 107"/>
                <a:gd name="T4" fmla="*/ 41 w 53"/>
                <a:gd name="T5" fmla="*/ 35 h 107"/>
                <a:gd name="T6" fmla="*/ 23 w 53"/>
                <a:gd name="T7" fmla="*/ 12 h 107"/>
                <a:gd name="T8" fmla="*/ 0 w 53"/>
                <a:gd name="T9" fmla="*/ 0 h 107"/>
                <a:gd name="T10" fmla="*/ 0 w 53"/>
                <a:gd name="T11" fmla="*/ 0 h 107"/>
                <a:gd name="T12" fmla="*/ 23 w 53"/>
                <a:gd name="T13" fmla="*/ 12 h 107"/>
                <a:gd name="T14" fmla="*/ 41 w 53"/>
                <a:gd name="T15" fmla="*/ 35 h 107"/>
                <a:gd name="T16" fmla="*/ 47 w 53"/>
                <a:gd name="T17" fmla="*/ 71 h 107"/>
                <a:gd name="T18" fmla="*/ 53 w 53"/>
                <a:gd name="T19" fmla="*/ 107 h 107"/>
                <a:gd name="T20" fmla="*/ 53 w 53"/>
                <a:gd name="T21" fmla="*/ 107 h 107"/>
                <a:gd name="T22" fmla="*/ 53 w 53"/>
                <a:gd name="T23" fmla="*/ 107 h 107"/>
                <a:gd name="T24" fmla="*/ 53 w 53"/>
                <a:gd name="T25" fmla="*/ 107 h 107"/>
                <a:gd name="T26" fmla="*/ 53 w 53"/>
                <a:gd name="T27" fmla="*/ 107 h 1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" h="107">
                  <a:moveTo>
                    <a:pt x="53" y="107"/>
                  </a:moveTo>
                  <a:lnTo>
                    <a:pt x="47" y="71"/>
                  </a:lnTo>
                  <a:lnTo>
                    <a:pt x="41" y="35"/>
                  </a:lnTo>
                  <a:lnTo>
                    <a:pt x="23" y="12"/>
                  </a:lnTo>
                  <a:lnTo>
                    <a:pt x="0" y="0"/>
                  </a:lnTo>
                  <a:lnTo>
                    <a:pt x="23" y="12"/>
                  </a:lnTo>
                  <a:lnTo>
                    <a:pt x="41" y="35"/>
                  </a:lnTo>
                  <a:lnTo>
                    <a:pt x="47" y="71"/>
                  </a:lnTo>
                  <a:lnTo>
                    <a:pt x="53" y="107"/>
                  </a:lnTo>
                  <a:close/>
                  <a:moveTo>
                    <a:pt x="53" y="107"/>
                  </a:moveTo>
                  <a:lnTo>
                    <a:pt x="53" y="107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Freeform 103"/>
            <p:cNvSpPr>
              <a:spLocks noEditPoints="1"/>
            </p:cNvSpPr>
            <p:nvPr/>
          </p:nvSpPr>
          <p:spPr bwMode="auto">
            <a:xfrm>
              <a:off x="2764" y="1391"/>
              <a:ext cx="60" cy="221"/>
            </a:xfrm>
            <a:custGeom>
              <a:avLst/>
              <a:gdLst>
                <a:gd name="T0" fmla="*/ 54 w 60"/>
                <a:gd name="T1" fmla="*/ 0 h 221"/>
                <a:gd name="T2" fmla="*/ 30 w 60"/>
                <a:gd name="T3" fmla="*/ 12 h 221"/>
                <a:gd name="T4" fmla="*/ 12 w 60"/>
                <a:gd name="T5" fmla="*/ 35 h 221"/>
                <a:gd name="T6" fmla="*/ 6 w 60"/>
                <a:gd name="T7" fmla="*/ 71 h 221"/>
                <a:gd name="T8" fmla="*/ 0 w 60"/>
                <a:gd name="T9" fmla="*/ 113 h 221"/>
                <a:gd name="T10" fmla="*/ 0 w 60"/>
                <a:gd name="T11" fmla="*/ 113 h 221"/>
                <a:gd name="T12" fmla="*/ 6 w 60"/>
                <a:gd name="T13" fmla="*/ 71 h 221"/>
                <a:gd name="T14" fmla="*/ 12 w 60"/>
                <a:gd name="T15" fmla="*/ 35 h 221"/>
                <a:gd name="T16" fmla="*/ 36 w 60"/>
                <a:gd name="T17" fmla="*/ 12 h 221"/>
                <a:gd name="T18" fmla="*/ 60 w 60"/>
                <a:gd name="T19" fmla="*/ 0 h 221"/>
                <a:gd name="T20" fmla="*/ 54 w 60"/>
                <a:gd name="T21" fmla="*/ 0 h 221"/>
                <a:gd name="T22" fmla="*/ 0 w 60"/>
                <a:gd name="T23" fmla="*/ 113 h 221"/>
                <a:gd name="T24" fmla="*/ 6 w 60"/>
                <a:gd name="T25" fmla="*/ 149 h 221"/>
                <a:gd name="T26" fmla="*/ 12 w 60"/>
                <a:gd name="T27" fmla="*/ 185 h 221"/>
                <a:gd name="T28" fmla="*/ 30 w 60"/>
                <a:gd name="T29" fmla="*/ 209 h 221"/>
                <a:gd name="T30" fmla="*/ 54 w 60"/>
                <a:gd name="T31" fmla="*/ 221 h 221"/>
                <a:gd name="T32" fmla="*/ 54 w 60"/>
                <a:gd name="T33" fmla="*/ 221 h 221"/>
                <a:gd name="T34" fmla="*/ 30 w 60"/>
                <a:gd name="T35" fmla="*/ 209 h 221"/>
                <a:gd name="T36" fmla="*/ 12 w 60"/>
                <a:gd name="T37" fmla="*/ 185 h 221"/>
                <a:gd name="T38" fmla="*/ 6 w 60"/>
                <a:gd name="T39" fmla="*/ 149 h 221"/>
                <a:gd name="T40" fmla="*/ 0 w 60"/>
                <a:gd name="T41" fmla="*/ 113 h 221"/>
                <a:gd name="T42" fmla="*/ 0 w 60"/>
                <a:gd name="T43" fmla="*/ 113 h 22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0" h="221">
                  <a:moveTo>
                    <a:pt x="54" y="0"/>
                  </a:moveTo>
                  <a:lnTo>
                    <a:pt x="30" y="12"/>
                  </a:lnTo>
                  <a:lnTo>
                    <a:pt x="12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12" y="35"/>
                  </a:lnTo>
                  <a:lnTo>
                    <a:pt x="36" y="12"/>
                  </a:lnTo>
                  <a:lnTo>
                    <a:pt x="60" y="0"/>
                  </a:lnTo>
                  <a:lnTo>
                    <a:pt x="54" y="0"/>
                  </a:lnTo>
                  <a:close/>
                  <a:moveTo>
                    <a:pt x="0" y="113"/>
                  </a:moveTo>
                  <a:lnTo>
                    <a:pt x="6" y="149"/>
                  </a:lnTo>
                  <a:lnTo>
                    <a:pt x="12" y="185"/>
                  </a:lnTo>
                  <a:lnTo>
                    <a:pt x="30" y="209"/>
                  </a:lnTo>
                  <a:lnTo>
                    <a:pt x="54" y="221"/>
                  </a:lnTo>
                  <a:lnTo>
                    <a:pt x="30" y="209"/>
                  </a:lnTo>
                  <a:lnTo>
                    <a:pt x="12" y="185"/>
                  </a:lnTo>
                  <a:lnTo>
                    <a:pt x="6" y="149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104"/>
            <p:cNvSpPr>
              <a:spLocks/>
            </p:cNvSpPr>
            <p:nvPr/>
          </p:nvSpPr>
          <p:spPr bwMode="auto">
            <a:xfrm>
              <a:off x="2764" y="150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105"/>
            <p:cNvSpPr>
              <a:spLocks noEditPoints="1"/>
            </p:cNvSpPr>
            <p:nvPr/>
          </p:nvSpPr>
          <p:spPr bwMode="auto">
            <a:xfrm>
              <a:off x="1819" y="2860"/>
              <a:ext cx="2225" cy="113"/>
            </a:xfrm>
            <a:custGeom>
              <a:avLst/>
              <a:gdLst>
                <a:gd name="T0" fmla="*/ 0 w 2225"/>
                <a:gd name="T1" fmla="*/ 113 h 113"/>
                <a:gd name="T2" fmla="*/ 2166 w 2225"/>
                <a:gd name="T3" fmla="*/ 113 h 113"/>
                <a:gd name="T4" fmla="*/ 0 w 2225"/>
                <a:gd name="T5" fmla="*/ 113 h 113"/>
                <a:gd name="T6" fmla="*/ 0 w 2225"/>
                <a:gd name="T7" fmla="*/ 113 h 113"/>
                <a:gd name="T8" fmla="*/ 2172 w 2225"/>
                <a:gd name="T9" fmla="*/ 113 h 113"/>
                <a:gd name="T10" fmla="*/ 2195 w 2225"/>
                <a:gd name="T11" fmla="*/ 101 h 113"/>
                <a:gd name="T12" fmla="*/ 2213 w 2225"/>
                <a:gd name="T13" fmla="*/ 77 h 113"/>
                <a:gd name="T14" fmla="*/ 2219 w 2225"/>
                <a:gd name="T15" fmla="*/ 41 h 113"/>
                <a:gd name="T16" fmla="*/ 2225 w 2225"/>
                <a:gd name="T17" fmla="*/ 6 h 113"/>
                <a:gd name="T18" fmla="*/ 2225 w 2225"/>
                <a:gd name="T19" fmla="*/ 0 h 113"/>
                <a:gd name="T20" fmla="*/ 2219 w 2225"/>
                <a:gd name="T21" fmla="*/ 41 h 113"/>
                <a:gd name="T22" fmla="*/ 2213 w 2225"/>
                <a:gd name="T23" fmla="*/ 77 h 113"/>
                <a:gd name="T24" fmla="*/ 2195 w 2225"/>
                <a:gd name="T25" fmla="*/ 101 h 113"/>
                <a:gd name="T26" fmla="*/ 2172 w 2225"/>
                <a:gd name="T27" fmla="*/ 113 h 113"/>
                <a:gd name="T28" fmla="*/ 2172 w 2225"/>
                <a:gd name="T29" fmla="*/ 113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25" h="113">
                  <a:moveTo>
                    <a:pt x="0" y="113"/>
                  </a:moveTo>
                  <a:lnTo>
                    <a:pt x="2166" y="113"/>
                  </a:lnTo>
                  <a:lnTo>
                    <a:pt x="0" y="113"/>
                  </a:lnTo>
                  <a:close/>
                  <a:moveTo>
                    <a:pt x="2172" y="113"/>
                  </a:moveTo>
                  <a:lnTo>
                    <a:pt x="2195" y="101"/>
                  </a:lnTo>
                  <a:lnTo>
                    <a:pt x="2213" y="77"/>
                  </a:lnTo>
                  <a:lnTo>
                    <a:pt x="2219" y="41"/>
                  </a:lnTo>
                  <a:lnTo>
                    <a:pt x="2225" y="6"/>
                  </a:lnTo>
                  <a:lnTo>
                    <a:pt x="2225" y="0"/>
                  </a:lnTo>
                  <a:lnTo>
                    <a:pt x="2219" y="41"/>
                  </a:lnTo>
                  <a:lnTo>
                    <a:pt x="2213" y="77"/>
                  </a:lnTo>
                  <a:lnTo>
                    <a:pt x="2195" y="101"/>
                  </a:lnTo>
                  <a:lnTo>
                    <a:pt x="2172" y="11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Freeform 106"/>
            <p:cNvSpPr>
              <a:spLocks noEditPoints="1"/>
            </p:cNvSpPr>
            <p:nvPr/>
          </p:nvSpPr>
          <p:spPr bwMode="auto">
            <a:xfrm>
              <a:off x="3991" y="2752"/>
              <a:ext cx="53" cy="114"/>
            </a:xfrm>
            <a:custGeom>
              <a:avLst/>
              <a:gdLst>
                <a:gd name="T0" fmla="*/ 53 w 53"/>
                <a:gd name="T1" fmla="*/ 108 h 114"/>
                <a:gd name="T2" fmla="*/ 47 w 53"/>
                <a:gd name="T3" fmla="*/ 72 h 114"/>
                <a:gd name="T4" fmla="*/ 41 w 53"/>
                <a:gd name="T5" fmla="*/ 36 h 114"/>
                <a:gd name="T6" fmla="*/ 23 w 53"/>
                <a:gd name="T7" fmla="*/ 12 h 114"/>
                <a:gd name="T8" fmla="*/ 0 w 53"/>
                <a:gd name="T9" fmla="*/ 0 h 114"/>
                <a:gd name="T10" fmla="*/ 0 w 53"/>
                <a:gd name="T11" fmla="*/ 0 h 114"/>
                <a:gd name="T12" fmla="*/ 23 w 53"/>
                <a:gd name="T13" fmla="*/ 12 h 114"/>
                <a:gd name="T14" fmla="*/ 41 w 53"/>
                <a:gd name="T15" fmla="*/ 36 h 114"/>
                <a:gd name="T16" fmla="*/ 47 w 53"/>
                <a:gd name="T17" fmla="*/ 72 h 114"/>
                <a:gd name="T18" fmla="*/ 53 w 53"/>
                <a:gd name="T19" fmla="*/ 114 h 114"/>
                <a:gd name="T20" fmla="*/ 53 w 53"/>
                <a:gd name="T21" fmla="*/ 108 h 114"/>
                <a:gd name="T22" fmla="*/ 53 w 53"/>
                <a:gd name="T23" fmla="*/ 108 h 114"/>
                <a:gd name="T24" fmla="*/ 53 w 53"/>
                <a:gd name="T25" fmla="*/ 108 h 114"/>
                <a:gd name="T26" fmla="*/ 53 w 53"/>
                <a:gd name="T27" fmla="*/ 108 h 1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" h="114">
                  <a:moveTo>
                    <a:pt x="53" y="108"/>
                  </a:moveTo>
                  <a:lnTo>
                    <a:pt x="47" y="72"/>
                  </a:lnTo>
                  <a:lnTo>
                    <a:pt x="41" y="36"/>
                  </a:lnTo>
                  <a:lnTo>
                    <a:pt x="23" y="12"/>
                  </a:lnTo>
                  <a:lnTo>
                    <a:pt x="0" y="0"/>
                  </a:lnTo>
                  <a:lnTo>
                    <a:pt x="23" y="12"/>
                  </a:lnTo>
                  <a:lnTo>
                    <a:pt x="41" y="36"/>
                  </a:lnTo>
                  <a:lnTo>
                    <a:pt x="47" y="72"/>
                  </a:lnTo>
                  <a:lnTo>
                    <a:pt x="53" y="114"/>
                  </a:lnTo>
                  <a:lnTo>
                    <a:pt x="53" y="108"/>
                  </a:lnTo>
                  <a:close/>
                  <a:moveTo>
                    <a:pt x="53" y="108"/>
                  </a:moveTo>
                  <a:lnTo>
                    <a:pt x="53" y="10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Freeform 107"/>
            <p:cNvSpPr>
              <a:spLocks noEditPoints="1"/>
            </p:cNvSpPr>
            <p:nvPr/>
          </p:nvSpPr>
          <p:spPr bwMode="auto">
            <a:xfrm>
              <a:off x="1759" y="2758"/>
              <a:ext cx="60" cy="215"/>
            </a:xfrm>
            <a:custGeom>
              <a:avLst/>
              <a:gdLst>
                <a:gd name="T0" fmla="*/ 60 w 60"/>
                <a:gd name="T1" fmla="*/ 0 h 215"/>
                <a:gd name="T2" fmla="*/ 36 w 60"/>
                <a:gd name="T3" fmla="*/ 12 h 215"/>
                <a:gd name="T4" fmla="*/ 12 w 60"/>
                <a:gd name="T5" fmla="*/ 36 h 215"/>
                <a:gd name="T6" fmla="*/ 6 w 60"/>
                <a:gd name="T7" fmla="*/ 66 h 215"/>
                <a:gd name="T8" fmla="*/ 0 w 60"/>
                <a:gd name="T9" fmla="*/ 108 h 215"/>
                <a:gd name="T10" fmla="*/ 0 w 60"/>
                <a:gd name="T11" fmla="*/ 108 h 215"/>
                <a:gd name="T12" fmla="*/ 6 w 60"/>
                <a:gd name="T13" fmla="*/ 66 h 215"/>
                <a:gd name="T14" fmla="*/ 12 w 60"/>
                <a:gd name="T15" fmla="*/ 36 h 215"/>
                <a:gd name="T16" fmla="*/ 36 w 60"/>
                <a:gd name="T17" fmla="*/ 12 h 215"/>
                <a:gd name="T18" fmla="*/ 60 w 60"/>
                <a:gd name="T19" fmla="*/ 0 h 215"/>
                <a:gd name="T20" fmla="*/ 60 w 60"/>
                <a:gd name="T21" fmla="*/ 0 h 215"/>
                <a:gd name="T22" fmla="*/ 0 w 60"/>
                <a:gd name="T23" fmla="*/ 108 h 215"/>
                <a:gd name="T24" fmla="*/ 6 w 60"/>
                <a:gd name="T25" fmla="*/ 143 h 215"/>
                <a:gd name="T26" fmla="*/ 18 w 60"/>
                <a:gd name="T27" fmla="*/ 179 h 215"/>
                <a:gd name="T28" fmla="*/ 36 w 60"/>
                <a:gd name="T29" fmla="*/ 203 h 215"/>
                <a:gd name="T30" fmla="*/ 60 w 60"/>
                <a:gd name="T31" fmla="*/ 215 h 215"/>
                <a:gd name="T32" fmla="*/ 60 w 60"/>
                <a:gd name="T33" fmla="*/ 215 h 215"/>
                <a:gd name="T34" fmla="*/ 36 w 60"/>
                <a:gd name="T35" fmla="*/ 203 h 215"/>
                <a:gd name="T36" fmla="*/ 18 w 60"/>
                <a:gd name="T37" fmla="*/ 179 h 215"/>
                <a:gd name="T38" fmla="*/ 6 w 60"/>
                <a:gd name="T39" fmla="*/ 143 h 215"/>
                <a:gd name="T40" fmla="*/ 0 w 60"/>
                <a:gd name="T41" fmla="*/ 108 h 215"/>
                <a:gd name="T42" fmla="*/ 0 w 60"/>
                <a:gd name="T43" fmla="*/ 108 h 21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0" h="215">
                  <a:moveTo>
                    <a:pt x="60" y="0"/>
                  </a:moveTo>
                  <a:lnTo>
                    <a:pt x="36" y="12"/>
                  </a:lnTo>
                  <a:lnTo>
                    <a:pt x="12" y="36"/>
                  </a:lnTo>
                  <a:lnTo>
                    <a:pt x="6" y="66"/>
                  </a:lnTo>
                  <a:lnTo>
                    <a:pt x="0" y="108"/>
                  </a:lnTo>
                  <a:lnTo>
                    <a:pt x="6" y="66"/>
                  </a:lnTo>
                  <a:lnTo>
                    <a:pt x="12" y="36"/>
                  </a:lnTo>
                  <a:lnTo>
                    <a:pt x="36" y="12"/>
                  </a:lnTo>
                  <a:lnTo>
                    <a:pt x="60" y="0"/>
                  </a:lnTo>
                  <a:close/>
                  <a:moveTo>
                    <a:pt x="0" y="108"/>
                  </a:moveTo>
                  <a:lnTo>
                    <a:pt x="6" y="143"/>
                  </a:lnTo>
                  <a:lnTo>
                    <a:pt x="18" y="179"/>
                  </a:lnTo>
                  <a:lnTo>
                    <a:pt x="36" y="203"/>
                  </a:lnTo>
                  <a:lnTo>
                    <a:pt x="60" y="215"/>
                  </a:lnTo>
                  <a:lnTo>
                    <a:pt x="36" y="203"/>
                  </a:lnTo>
                  <a:lnTo>
                    <a:pt x="18" y="179"/>
                  </a:lnTo>
                  <a:lnTo>
                    <a:pt x="6" y="143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Freeform 108"/>
            <p:cNvSpPr>
              <a:spLocks/>
            </p:cNvSpPr>
            <p:nvPr/>
          </p:nvSpPr>
          <p:spPr bwMode="auto">
            <a:xfrm>
              <a:off x="1759" y="286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Freeform 109"/>
            <p:cNvSpPr>
              <a:spLocks/>
            </p:cNvSpPr>
            <p:nvPr/>
          </p:nvSpPr>
          <p:spPr bwMode="auto">
            <a:xfrm>
              <a:off x="2824" y="1391"/>
              <a:ext cx="1161" cy="1"/>
            </a:xfrm>
            <a:custGeom>
              <a:avLst/>
              <a:gdLst>
                <a:gd name="T0" fmla="*/ 0 w 1161"/>
                <a:gd name="T1" fmla="*/ 0 h 1"/>
                <a:gd name="T2" fmla="*/ 1161 w 1161"/>
                <a:gd name="T3" fmla="*/ 0 h 1"/>
                <a:gd name="T4" fmla="*/ 0 w 1161"/>
                <a:gd name="T5" fmla="*/ 0 h 1"/>
                <a:gd name="T6" fmla="*/ 0 w 116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1" h="1">
                  <a:moveTo>
                    <a:pt x="0" y="0"/>
                  </a:moveTo>
                  <a:lnTo>
                    <a:pt x="1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Freeform 110"/>
            <p:cNvSpPr>
              <a:spLocks/>
            </p:cNvSpPr>
            <p:nvPr/>
          </p:nvSpPr>
          <p:spPr bwMode="auto">
            <a:xfrm>
              <a:off x="1819" y="2752"/>
              <a:ext cx="2166" cy="1"/>
            </a:xfrm>
            <a:custGeom>
              <a:avLst/>
              <a:gdLst>
                <a:gd name="T0" fmla="*/ 0 w 2166"/>
                <a:gd name="T1" fmla="*/ 0 h 1"/>
                <a:gd name="T2" fmla="*/ 2166 w 2166"/>
                <a:gd name="T3" fmla="*/ 0 h 1"/>
                <a:gd name="T4" fmla="*/ 0 w 2166"/>
                <a:gd name="T5" fmla="*/ 0 h 1"/>
                <a:gd name="T6" fmla="*/ 0 w 2166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6" h="1">
                  <a:moveTo>
                    <a:pt x="0" y="0"/>
                  </a:moveTo>
                  <a:lnTo>
                    <a:pt x="21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Freeform 111"/>
            <p:cNvSpPr>
              <a:spLocks/>
            </p:cNvSpPr>
            <p:nvPr/>
          </p:nvSpPr>
          <p:spPr bwMode="auto">
            <a:xfrm flipH="1">
              <a:off x="2808" y="2376"/>
              <a:ext cx="47" cy="498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98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Freeform 112"/>
            <p:cNvSpPr>
              <a:spLocks/>
            </p:cNvSpPr>
            <p:nvPr/>
          </p:nvSpPr>
          <p:spPr bwMode="auto">
            <a:xfrm flipH="1">
              <a:off x="3378" y="2376"/>
              <a:ext cx="47" cy="486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86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13"/>
            <p:cNvSpPr>
              <a:spLocks noChangeShapeType="1"/>
            </p:cNvSpPr>
            <p:nvPr/>
          </p:nvSpPr>
          <p:spPr bwMode="auto">
            <a:xfrm flipH="1">
              <a:off x="1824" y="150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0574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ChangeArrowheads="1"/>
          </p:cNvSpPr>
          <p:nvPr/>
        </p:nvSpPr>
        <p:spPr bwMode="auto">
          <a:xfrm>
            <a:off x="657225" y="3586163"/>
            <a:ext cx="7962900" cy="1727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24000" indent="-324000" algn="l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0000D0"/>
                </a:solidFill>
              </a:rPr>
              <a:t>回路（</a:t>
            </a:r>
            <a:r>
              <a:rPr lang="en-US" altLang="zh-CN" dirty="0">
                <a:solidFill>
                  <a:srgbClr val="0000D0"/>
                </a:solidFill>
              </a:rPr>
              <a:t>Loop</a:t>
            </a:r>
            <a:r>
              <a:rPr lang="zh-CN" altLang="en-US" dirty="0" smtClean="0">
                <a:solidFill>
                  <a:srgbClr val="0000D0"/>
                </a:solidFill>
              </a:rPr>
              <a:t>）</a:t>
            </a:r>
            <a:r>
              <a:rPr lang="en-US" altLang="zh-CN" sz="3200" dirty="0" smtClean="0"/>
              <a:t>-------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一个电路中任意闭合的路径。</a:t>
            </a:r>
            <a:r>
              <a:rPr lang="en-US" altLang="zh-CN" sz="2000" dirty="0" smtClean="0">
                <a:solidFill>
                  <a:schemeClr val="tx2"/>
                </a:solidFill>
                <a:sym typeface="Symbol" pitchFamily="18" charset="2"/>
              </a:rPr>
              <a:t>( </a:t>
            </a:r>
            <a:r>
              <a:rPr lang="en-US" altLang="zh-CN" sz="2000" i="1" dirty="0">
                <a:solidFill>
                  <a:schemeClr val="tx2"/>
                </a:solidFill>
                <a:sym typeface="Symbol" pitchFamily="18" charset="2"/>
              </a:rPr>
              <a:t>l</a:t>
            </a:r>
            <a:r>
              <a:rPr lang="en-US" altLang="zh-CN" sz="2000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en-US" altLang="zh-CN" sz="2000" dirty="0" smtClean="0">
                <a:solidFill>
                  <a:schemeClr val="tx2"/>
                </a:solidFill>
                <a:sym typeface="Symbol" pitchFamily="18" charset="2"/>
              </a:rPr>
              <a:t>)</a:t>
            </a:r>
            <a:endParaRPr lang="en-US" altLang="zh-CN" sz="2000" dirty="0">
              <a:solidFill>
                <a:schemeClr val="tx2"/>
              </a:solidFill>
              <a:sym typeface="Symbol" pitchFamily="18" charset="2"/>
            </a:endParaRPr>
          </a:p>
          <a:p>
            <a:pPr marL="324000" indent="-324000" algn="l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0000D0"/>
                </a:solidFill>
              </a:rPr>
              <a:t>网孔（</a:t>
            </a:r>
            <a:r>
              <a:rPr lang="en-US" altLang="zh-CN" dirty="0">
                <a:solidFill>
                  <a:srgbClr val="0000D0"/>
                </a:solidFill>
              </a:rPr>
              <a:t>Mesh</a:t>
            </a:r>
            <a:r>
              <a:rPr lang="zh-CN" altLang="en-US" dirty="0" smtClean="0">
                <a:solidFill>
                  <a:srgbClr val="0000D0"/>
                </a:solidFill>
              </a:rPr>
              <a:t>）</a:t>
            </a:r>
            <a:r>
              <a:rPr lang="en-US" altLang="zh-CN" sz="3200" dirty="0"/>
              <a:t> ------- </a:t>
            </a:r>
            <a:r>
              <a:rPr lang="zh-CN" altLang="en-US" sz="2000" dirty="0" smtClean="0"/>
              <a:t>内部不包含任何其它回路的回路。</a:t>
            </a:r>
            <a:endParaRPr lang="en-US" altLang="zh-CN" sz="2000" dirty="0"/>
          </a:p>
        </p:txBody>
      </p:sp>
      <p:grpSp>
        <p:nvGrpSpPr>
          <p:cNvPr id="79875" name="Group 5"/>
          <p:cNvGrpSpPr>
            <a:grpSpLocks/>
          </p:cNvGrpSpPr>
          <p:nvPr/>
        </p:nvGrpSpPr>
        <p:grpSpPr bwMode="auto">
          <a:xfrm>
            <a:off x="2570163" y="757172"/>
            <a:ext cx="3979862" cy="2581783"/>
            <a:chOff x="1281" y="1164"/>
            <a:chExt cx="3206" cy="1957"/>
          </a:xfrm>
        </p:grpSpPr>
        <p:sp>
          <p:nvSpPr>
            <p:cNvPr id="79876" name="Freeform 6"/>
            <p:cNvSpPr>
              <a:spLocks/>
            </p:cNvSpPr>
            <p:nvPr/>
          </p:nvSpPr>
          <p:spPr bwMode="auto">
            <a:xfrm>
              <a:off x="3985" y="1498"/>
              <a:ext cx="1" cy="1362"/>
            </a:xfrm>
            <a:custGeom>
              <a:avLst/>
              <a:gdLst>
                <a:gd name="T0" fmla="*/ 0 w 1"/>
                <a:gd name="T1" fmla="*/ 1362 h 1362"/>
                <a:gd name="T2" fmla="*/ 0 w 1"/>
                <a:gd name="T3" fmla="*/ 0 h 1362"/>
                <a:gd name="T4" fmla="*/ 0 w 1"/>
                <a:gd name="T5" fmla="*/ 1362 h 1362"/>
                <a:gd name="T6" fmla="*/ 0 w 1"/>
                <a:gd name="T7" fmla="*/ 1362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362">
                  <a:moveTo>
                    <a:pt x="0" y="1362"/>
                  </a:moveTo>
                  <a:lnTo>
                    <a:pt x="0" y="0"/>
                  </a:lnTo>
                  <a:lnTo>
                    <a:pt x="0" y="13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77" name="Freeform 7"/>
            <p:cNvSpPr>
              <a:spLocks noEditPoints="1"/>
            </p:cNvSpPr>
            <p:nvPr/>
          </p:nvSpPr>
          <p:spPr bwMode="auto">
            <a:xfrm flipV="1">
              <a:off x="2527" y="1475"/>
              <a:ext cx="1452" cy="47"/>
            </a:xfrm>
            <a:custGeom>
              <a:avLst/>
              <a:gdLst>
                <a:gd name="T0" fmla="*/ 1452 w 2166"/>
                <a:gd name="T1" fmla="*/ 0 h 47"/>
                <a:gd name="T2" fmla="*/ 0 w 2166"/>
                <a:gd name="T3" fmla="*/ 0 h 47"/>
                <a:gd name="T4" fmla="*/ 1452 w 2166"/>
                <a:gd name="T5" fmla="*/ 0 h 47"/>
                <a:gd name="T6" fmla="*/ 1452 w 2166"/>
                <a:gd name="T7" fmla="*/ 0 h 47"/>
                <a:gd name="T8" fmla="*/ 1452 w 2166"/>
                <a:gd name="T9" fmla="*/ 0 h 47"/>
                <a:gd name="T10" fmla="*/ 1452 w 2166"/>
                <a:gd name="T11" fmla="*/ 0 h 47"/>
                <a:gd name="T12" fmla="*/ 1452 w 2166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6" h="47">
                  <a:moveTo>
                    <a:pt x="2166" y="0"/>
                  </a:moveTo>
                  <a:lnTo>
                    <a:pt x="0" y="0"/>
                  </a:lnTo>
                  <a:lnTo>
                    <a:pt x="2166" y="0"/>
                  </a:lnTo>
                  <a:close/>
                  <a:moveTo>
                    <a:pt x="2166" y="0"/>
                  </a:moveTo>
                  <a:lnTo>
                    <a:pt x="21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78" name="Freeform 8"/>
            <p:cNvSpPr>
              <a:spLocks noEditPoints="1"/>
            </p:cNvSpPr>
            <p:nvPr/>
          </p:nvSpPr>
          <p:spPr bwMode="auto">
            <a:xfrm>
              <a:off x="1819" y="1498"/>
              <a:ext cx="1" cy="1362"/>
            </a:xfrm>
            <a:custGeom>
              <a:avLst/>
              <a:gdLst>
                <a:gd name="T0" fmla="*/ 0 w 1"/>
                <a:gd name="T1" fmla="*/ 0 h 1362"/>
                <a:gd name="T2" fmla="*/ 0 w 1"/>
                <a:gd name="T3" fmla="*/ 1362 h 1362"/>
                <a:gd name="T4" fmla="*/ 0 w 1"/>
                <a:gd name="T5" fmla="*/ 0 h 1362"/>
                <a:gd name="T6" fmla="*/ 0 w 1"/>
                <a:gd name="T7" fmla="*/ 0 h 1362"/>
                <a:gd name="T8" fmla="*/ 0 w 1"/>
                <a:gd name="T9" fmla="*/ 0 h 1362"/>
                <a:gd name="T10" fmla="*/ 0 w 1"/>
                <a:gd name="T11" fmla="*/ 0 h 1362"/>
                <a:gd name="T12" fmla="*/ 0 w 1"/>
                <a:gd name="T13" fmla="*/ 0 h 13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79" name="Freeform 9"/>
            <p:cNvSpPr>
              <a:spLocks noEditPoints="1"/>
            </p:cNvSpPr>
            <p:nvPr/>
          </p:nvSpPr>
          <p:spPr bwMode="auto">
            <a:xfrm>
              <a:off x="1819" y="2860"/>
              <a:ext cx="2166" cy="1"/>
            </a:xfrm>
            <a:custGeom>
              <a:avLst/>
              <a:gdLst>
                <a:gd name="T0" fmla="*/ 0 w 2166"/>
                <a:gd name="T1" fmla="*/ 0 h 1"/>
                <a:gd name="T2" fmla="*/ 2166 w 2166"/>
                <a:gd name="T3" fmla="*/ 0 h 1"/>
                <a:gd name="T4" fmla="*/ 0 w 2166"/>
                <a:gd name="T5" fmla="*/ 0 h 1"/>
                <a:gd name="T6" fmla="*/ 0 w 2166"/>
                <a:gd name="T7" fmla="*/ 0 h 1"/>
                <a:gd name="T8" fmla="*/ 0 w 2166"/>
                <a:gd name="T9" fmla="*/ 0 h 1"/>
                <a:gd name="T10" fmla="*/ 0 w 2166"/>
                <a:gd name="T11" fmla="*/ 0 h 1"/>
                <a:gd name="T12" fmla="*/ 0 w 2166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6" h="1">
                  <a:moveTo>
                    <a:pt x="0" y="0"/>
                  </a:moveTo>
                  <a:lnTo>
                    <a:pt x="2166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0" name="Freeform 10"/>
            <p:cNvSpPr>
              <a:spLocks/>
            </p:cNvSpPr>
            <p:nvPr/>
          </p:nvSpPr>
          <p:spPr bwMode="auto">
            <a:xfrm>
              <a:off x="3985" y="286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1" name="Freeform 11"/>
            <p:cNvSpPr>
              <a:spLocks/>
            </p:cNvSpPr>
            <p:nvPr/>
          </p:nvSpPr>
          <p:spPr bwMode="auto">
            <a:xfrm flipH="1">
              <a:off x="2809" y="1504"/>
              <a:ext cx="47" cy="432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32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2" name="Freeform 12"/>
            <p:cNvSpPr>
              <a:spLocks/>
            </p:cNvSpPr>
            <p:nvPr/>
          </p:nvSpPr>
          <p:spPr bwMode="auto">
            <a:xfrm flipH="1">
              <a:off x="3379" y="1504"/>
              <a:ext cx="47" cy="432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32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3" name="Freeform 13"/>
            <p:cNvSpPr>
              <a:spLocks/>
            </p:cNvSpPr>
            <p:nvPr/>
          </p:nvSpPr>
          <p:spPr bwMode="auto">
            <a:xfrm>
              <a:off x="1281" y="2089"/>
              <a:ext cx="48" cy="138"/>
            </a:xfrm>
            <a:custGeom>
              <a:avLst/>
              <a:gdLst>
                <a:gd name="T0" fmla="*/ 0 w 48"/>
                <a:gd name="T1" fmla="*/ 138 h 138"/>
                <a:gd name="T2" fmla="*/ 48 w 48"/>
                <a:gd name="T3" fmla="*/ 138 h 138"/>
                <a:gd name="T4" fmla="*/ 48 w 48"/>
                <a:gd name="T5" fmla="*/ 138 h 138"/>
                <a:gd name="T6" fmla="*/ 36 w 48"/>
                <a:gd name="T7" fmla="*/ 132 h 138"/>
                <a:gd name="T8" fmla="*/ 30 w 48"/>
                <a:gd name="T9" fmla="*/ 126 h 138"/>
                <a:gd name="T10" fmla="*/ 30 w 48"/>
                <a:gd name="T11" fmla="*/ 0 h 138"/>
                <a:gd name="T12" fmla="*/ 30 w 48"/>
                <a:gd name="T13" fmla="*/ 0 h 138"/>
                <a:gd name="T14" fmla="*/ 0 w 48"/>
                <a:gd name="T15" fmla="*/ 18 h 138"/>
                <a:gd name="T16" fmla="*/ 0 w 48"/>
                <a:gd name="T17" fmla="*/ 18 h 138"/>
                <a:gd name="T18" fmla="*/ 6 w 48"/>
                <a:gd name="T19" fmla="*/ 18 h 138"/>
                <a:gd name="T20" fmla="*/ 12 w 48"/>
                <a:gd name="T21" fmla="*/ 18 h 138"/>
                <a:gd name="T22" fmla="*/ 18 w 48"/>
                <a:gd name="T23" fmla="*/ 24 h 138"/>
                <a:gd name="T24" fmla="*/ 18 w 48"/>
                <a:gd name="T25" fmla="*/ 24 h 138"/>
                <a:gd name="T26" fmla="*/ 18 w 48"/>
                <a:gd name="T27" fmla="*/ 120 h 138"/>
                <a:gd name="T28" fmla="*/ 18 w 48"/>
                <a:gd name="T29" fmla="*/ 132 h 138"/>
                <a:gd name="T30" fmla="*/ 12 w 48"/>
                <a:gd name="T31" fmla="*/ 138 h 138"/>
                <a:gd name="T32" fmla="*/ 0 w 48"/>
                <a:gd name="T33" fmla="*/ 138 h 138"/>
                <a:gd name="T34" fmla="*/ 0 w 48"/>
                <a:gd name="T35" fmla="*/ 138 h 1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8" h="138">
                  <a:moveTo>
                    <a:pt x="0" y="138"/>
                  </a:moveTo>
                  <a:lnTo>
                    <a:pt x="48" y="138"/>
                  </a:lnTo>
                  <a:lnTo>
                    <a:pt x="36" y="132"/>
                  </a:lnTo>
                  <a:lnTo>
                    <a:pt x="30" y="126"/>
                  </a:lnTo>
                  <a:lnTo>
                    <a:pt x="30" y="0"/>
                  </a:lnTo>
                  <a:lnTo>
                    <a:pt x="0" y="18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18" y="120"/>
                  </a:lnTo>
                  <a:lnTo>
                    <a:pt x="18" y="132"/>
                  </a:lnTo>
                  <a:lnTo>
                    <a:pt x="12" y="13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4" name="Freeform 14"/>
            <p:cNvSpPr>
              <a:spLocks noEditPoints="1"/>
            </p:cNvSpPr>
            <p:nvPr/>
          </p:nvSpPr>
          <p:spPr bwMode="auto">
            <a:xfrm>
              <a:off x="1353" y="2089"/>
              <a:ext cx="77" cy="144"/>
            </a:xfrm>
            <a:custGeom>
              <a:avLst/>
              <a:gdLst>
                <a:gd name="T0" fmla="*/ 36 w 77"/>
                <a:gd name="T1" fmla="*/ 6 h 144"/>
                <a:gd name="T2" fmla="*/ 48 w 77"/>
                <a:gd name="T3" fmla="*/ 12 h 144"/>
                <a:gd name="T4" fmla="*/ 60 w 77"/>
                <a:gd name="T5" fmla="*/ 30 h 144"/>
                <a:gd name="T6" fmla="*/ 60 w 77"/>
                <a:gd name="T7" fmla="*/ 54 h 144"/>
                <a:gd name="T8" fmla="*/ 60 w 77"/>
                <a:gd name="T9" fmla="*/ 72 h 144"/>
                <a:gd name="T10" fmla="*/ 60 w 77"/>
                <a:gd name="T11" fmla="*/ 90 h 144"/>
                <a:gd name="T12" fmla="*/ 60 w 77"/>
                <a:gd name="T13" fmla="*/ 108 h 144"/>
                <a:gd name="T14" fmla="*/ 48 w 77"/>
                <a:gd name="T15" fmla="*/ 132 h 144"/>
                <a:gd name="T16" fmla="*/ 36 w 77"/>
                <a:gd name="T17" fmla="*/ 138 h 144"/>
                <a:gd name="T18" fmla="*/ 24 w 77"/>
                <a:gd name="T19" fmla="*/ 132 h 144"/>
                <a:gd name="T20" fmla="*/ 18 w 77"/>
                <a:gd name="T21" fmla="*/ 114 h 144"/>
                <a:gd name="T22" fmla="*/ 12 w 77"/>
                <a:gd name="T23" fmla="*/ 90 h 144"/>
                <a:gd name="T24" fmla="*/ 12 w 77"/>
                <a:gd name="T25" fmla="*/ 72 h 144"/>
                <a:gd name="T26" fmla="*/ 12 w 77"/>
                <a:gd name="T27" fmla="*/ 54 h 144"/>
                <a:gd name="T28" fmla="*/ 18 w 77"/>
                <a:gd name="T29" fmla="*/ 30 h 144"/>
                <a:gd name="T30" fmla="*/ 24 w 77"/>
                <a:gd name="T31" fmla="*/ 12 h 144"/>
                <a:gd name="T32" fmla="*/ 36 w 77"/>
                <a:gd name="T33" fmla="*/ 6 h 144"/>
                <a:gd name="T34" fmla="*/ 36 w 77"/>
                <a:gd name="T35" fmla="*/ 6 h 144"/>
                <a:gd name="T36" fmla="*/ 36 w 77"/>
                <a:gd name="T37" fmla="*/ 0 h 144"/>
                <a:gd name="T38" fmla="*/ 18 w 77"/>
                <a:gd name="T39" fmla="*/ 6 h 144"/>
                <a:gd name="T40" fmla="*/ 6 w 77"/>
                <a:gd name="T41" fmla="*/ 30 h 144"/>
                <a:gd name="T42" fmla="*/ 0 w 77"/>
                <a:gd name="T43" fmla="*/ 48 h 144"/>
                <a:gd name="T44" fmla="*/ 0 w 77"/>
                <a:gd name="T45" fmla="*/ 72 h 144"/>
                <a:gd name="T46" fmla="*/ 0 w 77"/>
                <a:gd name="T47" fmla="*/ 96 h 144"/>
                <a:gd name="T48" fmla="*/ 6 w 77"/>
                <a:gd name="T49" fmla="*/ 120 h 144"/>
                <a:gd name="T50" fmla="*/ 18 w 77"/>
                <a:gd name="T51" fmla="*/ 138 h 144"/>
                <a:gd name="T52" fmla="*/ 36 w 77"/>
                <a:gd name="T53" fmla="*/ 144 h 144"/>
                <a:gd name="T54" fmla="*/ 60 w 77"/>
                <a:gd name="T55" fmla="*/ 138 h 144"/>
                <a:gd name="T56" fmla="*/ 72 w 77"/>
                <a:gd name="T57" fmla="*/ 120 h 144"/>
                <a:gd name="T58" fmla="*/ 77 w 77"/>
                <a:gd name="T59" fmla="*/ 96 h 144"/>
                <a:gd name="T60" fmla="*/ 77 w 77"/>
                <a:gd name="T61" fmla="*/ 72 h 144"/>
                <a:gd name="T62" fmla="*/ 77 w 77"/>
                <a:gd name="T63" fmla="*/ 48 h 144"/>
                <a:gd name="T64" fmla="*/ 72 w 77"/>
                <a:gd name="T65" fmla="*/ 30 h 144"/>
                <a:gd name="T66" fmla="*/ 60 w 77"/>
                <a:gd name="T67" fmla="*/ 6 h 144"/>
                <a:gd name="T68" fmla="*/ 36 w 77"/>
                <a:gd name="T69" fmla="*/ 0 h 144"/>
                <a:gd name="T70" fmla="*/ 36 w 77"/>
                <a:gd name="T71" fmla="*/ 0 h 14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7" h="144">
                  <a:moveTo>
                    <a:pt x="36" y="6"/>
                  </a:moveTo>
                  <a:lnTo>
                    <a:pt x="48" y="12"/>
                  </a:lnTo>
                  <a:lnTo>
                    <a:pt x="60" y="30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60" y="90"/>
                  </a:lnTo>
                  <a:lnTo>
                    <a:pt x="60" y="108"/>
                  </a:lnTo>
                  <a:lnTo>
                    <a:pt x="48" y="132"/>
                  </a:lnTo>
                  <a:lnTo>
                    <a:pt x="36" y="138"/>
                  </a:lnTo>
                  <a:lnTo>
                    <a:pt x="24" y="132"/>
                  </a:lnTo>
                  <a:lnTo>
                    <a:pt x="18" y="114"/>
                  </a:lnTo>
                  <a:lnTo>
                    <a:pt x="12" y="90"/>
                  </a:lnTo>
                  <a:lnTo>
                    <a:pt x="12" y="72"/>
                  </a:lnTo>
                  <a:lnTo>
                    <a:pt x="12" y="54"/>
                  </a:lnTo>
                  <a:lnTo>
                    <a:pt x="18" y="30"/>
                  </a:lnTo>
                  <a:lnTo>
                    <a:pt x="24" y="12"/>
                  </a:lnTo>
                  <a:lnTo>
                    <a:pt x="36" y="6"/>
                  </a:lnTo>
                  <a:close/>
                  <a:moveTo>
                    <a:pt x="36" y="0"/>
                  </a:moveTo>
                  <a:lnTo>
                    <a:pt x="18" y="6"/>
                  </a:lnTo>
                  <a:lnTo>
                    <a:pt x="6" y="30"/>
                  </a:lnTo>
                  <a:lnTo>
                    <a:pt x="0" y="48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6" y="120"/>
                  </a:lnTo>
                  <a:lnTo>
                    <a:pt x="18" y="138"/>
                  </a:lnTo>
                  <a:lnTo>
                    <a:pt x="36" y="144"/>
                  </a:lnTo>
                  <a:lnTo>
                    <a:pt x="60" y="138"/>
                  </a:lnTo>
                  <a:lnTo>
                    <a:pt x="72" y="120"/>
                  </a:lnTo>
                  <a:lnTo>
                    <a:pt x="77" y="96"/>
                  </a:lnTo>
                  <a:lnTo>
                    <a:pt x="77" y="72"/>
                  </a:lnTo>
                  <a:lnTo>
                    <a:pt x="77" y="48"/>
                  </a:lnTo>
                  <a:lnTo>
                    <a:pt x="72" y="30"/>
                  </a:lnTo>
                  <a:lnTo>
                    <a:pt x="60" y="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5" name="Freeform 15"/>
            <p:cNvSpPr>
              <a:spLocks/>
            </p:cNvSpPr>
            <p:nvPr/>
          </p:nvSpPr>
          <p:spPr bwMode="auto">
            <a:xfrm>
              <a:off x="1478" y="2089"/>
              <a:ext cx="120" cy="144"/>
            </a:xfrm>
            <a:custGeom>
              <a:avLst/>
              <a:gdLst>
                <a:gd name="T0" fmla="*/ 120 w 120"/>
                <a:gd name="T1" fmla="*/ 0 h 144"/>
                <a:gd name="T2" fmla="*/ 84 w 120"/>
                <a:gd name="T3" fmla="*/ 0 h 144"/>
                <a:gd name="T4" fmla="*/ 84 w 120"/>
                <a:gd name="T5" fmla="*/ 6 h 144"/>
                <a:gd name="T6" fmla="*/ 90 w 120"/>
                <a:gd name="T7" fmla="*/ 6 h 144"/>
                <a:gd name="T8" fmla="*/ 96 w 120"/>
                <a:gd name="T9" fmla="*/ 18 h 144"/>
                <a:gd name="T10" fmla="*/ 96 w 120"/>
                <a:gd name="T11" fmla="*/ 24 h 144"/>
                <a:gd name="T12" fmla="*/ 96 w 120"/>
                <a:gd name="T13" fmla="*/ 30 h 144"/>
                <a:gd name="T14" fmla="*/ 66 w 120"/>
                <a:gd name="T15" fmla="*/ 108 h 144"/>
                <a:gd name="T16" fmla="*/ 42 w 120"/>
                <a:gd name="T17" fmla="*/ 36 h 144"/>
                <a:gd name="T18" fmla="*/ 36 w 120"/>
                <a:gd name="T19" fmla="*/ 24 h 144"/>
                <a:gd name="T20" fmla="*/ 36 w 120"/>
                <a:gd name="T21" fmla="*/ 12 h 144"/>
                <a:gd name="T22" fmla="*/ 36 w 120"/>
                <a:gd name="T23" fmla="*/ 6 h 144"/>
                <a:gd name="T24" fmla="*/ 48 w 120"/>
                <a:gd name="T25" fmla="*/ 6 h 144"/>
                <a:gd name="T26" fmla="*/ 48 w 120"/>
                <a:gd name="T27" fmla="*/ 0 h 144"/>
                <a:gd name="T28" fmla="*/ 0 w 120"/>
                <a:gd name="T29" fmla="*/ 0 h 144"/>
                <a:gd name="T30" fmla="*/ 0 w 120"/>
                <a:gd name="T31" fmla="*/ 6 h 144"/>
                <a:gd name="T32" fmla="*/ 12 w 120"/>
                <a:gd name="T33" fmla="*/ 12 h 144"/>
                <a:gd name="T34" fmla="*/ 12 w 120"/>
                <a:gd name="T35" fmla="*/ 18 h 144"/>
                <a:gd name="T36" fmla="*/ 18 w 120"/>
                <a:gd name="T37" fmla="*/ 30 h 144"/>
                <a:gd name="T38" fmla="*/ 60 w 120"/>
                <a:gd name="T39" fmla="*/ 144 h 144"/>
                <a:gd name="T40" fmla="*/ 66 w 120"/>
                <a:gd name="T41" fmla="*/ 144 h 144"/>
                <a:gd name="T42" fmla="*/ 102 w 120"/>
                <a:gd name="T43" fmla="*/ 24 h 144"/>
                <a:gd name="T44" fmla="*/ 108 w 120"/>
                <a:gd name="T45" fmla="*/ 12 h 144"/>
                <a:gd name="T46" fmla="*/ 114 w 120"/>
                <a:gd name="T47" fmla="*/ 6 h 144"/>
                <a:gd name="T48" fmla="*/ 120 w 120"/>
                <a:gd name="T49" fmla="*/ 6 h 144"/>
                <a:gd name="T50" fmla="*/ 120 w 120"/>
                <a:gd name="T51" fmla="*/ 0 h 1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20" h="144">
                  <a:moveTo>
                    <a:pt x="120" y="0"/>
                  </a:moveTo>
                  <a:lnTo>
                    <a:pt x="84" y="0"/>
                  </a:lnTo>
                  <a:lnTo>
                    <a:pt x="84" y="6"/>
                  </a:lnTo>
                  <a:lnTo>
                    <a:pt x="90" y="6"/>
                  </a:lnTo>
                  <a:lnTo>
                    <a:pt x="96" y="18"/>
                  </a:lnTo>
                  <a:lnTo>
                    <a:pt x="96" y="24"/>
                  </a:lnTo>
                  <a:lnTo>
                    <a:pt x="96" y="30"/>
                  </a:lnTo>
                  <a:lnTo>
                    <a:pt x="66" y="108"/>
                  </a:lnTo>
                  <a:lnTo>
                    <a:pt x="42" y="36"/>
                  </a:lnTo>
                  <a:lnTo>
                    <a:pt x="36" y="24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8" y="30"/>
                  </a:lnTo>
                  <a:lnTo>
                    <a:pt x="60" y="144"/>
                  </a:lnTo>
                  <a:lnTo>
                    <a:pt x="66" y="144"/>
                  </a:lnTo>
                  <a:lnTo>
                    <a:pt x="102" y="24"/>
                  </a:lnTo>
                  <a:lnTo>
                    <a:pt x="108" y="12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6" name="Freeform 16"/>
            <p:cNvSpPr>
              <a:spLocks/>
            </p:cNvSpPr>
            <p:nvPr/>
          </p:nvSpPr>
          <p:spPr bwMode="auto">
            <a:xfrm>
              <a:off x="4236" y="2071"/>
              <a:ext cx="78" cy="144"/>
            </a:xfrm>
            <a:custGeom>
              <a:avLst/>
              <a:gdLst>
                <a:gd name="T0" fmla="*/ 78 w 78"/>
                <a:gd name="T1" fmla="*/ 114 h 144"/>
                <a:gd name="T2" fmla="*/ 78 w 78"/>
                <a:gd name="T3" fmla="*/ 114 h 144"/>
                <a:gd name="T4" fmla="*/ 72 w 78"/>
                <a:gd name="T5" fmla="*/ 126 h 144"/>
                <a:gd name="T6" fmla="*/ 60 w 78"/>
                <a:gd name="T7" fmla="*/ 126 h 144"/>
                <a:gd name="T8" fmla="*/ 18 w 78"/>
                <a:gd name="T9" fmla="*/ 126 h 144"/>
                <a:gd name="T10" fmla="*/ 48 w 78"/>
                <a:gd name="T11" fmla="*/ 90 h 144"/>
                <a:gd name="T12" fmla="*/ 60 w 78"/>
                <a:gd name="T13" fmla="*/ 66 h 144"/>
                <a:gd name="T14" fmla="*/ 72 w 78"/>
                <a:gd name="T15" fmla="*/ 54 h 144"/>
                <a:gd name="T16" fmla="*/ 72 w 78"/>
                <a:gd name="T17" fmla="*/ 42 h 144"/>
                <a:gd name="T18" fmla="*/ 72 w 78"/>
                <a:gd name="T19" fmla="*/ 24 h 144"/>
                <a:gd name="T20" fmla="*/ 60 w 78"/>
                <a:gd name="T21" fmla="*/ 12 h 144"/>
                <a:gd name="T22" fmla="*/ 48 w 78"/>
                <a:gd name="T23" fmla="*/ 6 h 144"/>
                <a:gd name="T24" fmla="*/ 36 w 78"/>
                <a:gd name="T25" fmla="*/ 0 h 144"/>
                <a:gd name="T26" fmla="*/ 18 w 78"/>
                <a:gd name="T27" fmla="*/ 12 h 144"/>
                <a:gd name="T28" fmla="*/ 6 w 78"/>
                <a:gd name="T29" fmla="*/ 24 h 144"/>
                <a:gd name="T30" fmla="*/ 0 w 78"/>
                <a:gd name="T31" fmla="*/ 42 h 144"/>
                <a:gd name="T32" fmla="*/ 6 w 78"/>
                <a:gd name="T33" fmla="*/ 42 h 144"/>
                <a:gd name="T34" fmla="*/ 12 w 78"/>
                <a:gd name="T35" fmla="*/ 30 h 144"/>
                <a:gd name="T36" fmla="*/ 18 w 78"/>
                <a:gd name="T37" fmla="*/ 24 h 144"/>
                <a:gd name="T38" fmla="*/ 30 w 78"/>
                <a:gd name="T39" fmla="*/ 18 h 144"/>
                <a:gd name="T40" fmla="*/ 42 w 78"/>
                <a:gd name="T41" fmla="*/ 24 h 144"/>
                <a:gd name="T42" fmla="*/ 54 w 78"/>
                <a:gd name="T43" fmla="*/ 30 h 144"/>
                <a:gd name="T44" fmla="*/ 54 w 78"/>
                <a:gd name="T45" fmla="*/ 48 h 144"/>
                <a:gd name="T46" fmla="*/ 48 w 78"/>
                <a:gd name="T47" fmla="*/ 72 h 144"/>
                <a:gd name="T48" fmla="*/ 30 w 78"/>
                <a:gd name="T49" fmla="*/ 102 h 144"/>
                <a:gd name="T50" fmla="*/ 0 w 78"/>
                <a:gd name="T51" fmla="*/ 138 h 144"/>
                <a:gd name="T52" fmla="*/ 0 w 78"/>
                <a:gd name="T53" fmla="*/ 144 h 144"/>
                <a:gd name="T54" fmla="*/ 72 w 78"/>
                <a:gd name="T55" fmla="*/ 144 h 144"/>
                <a:gd name="T56" fmla="*/ 78 w 78"/>
                <a:gd name="T57" fmla="*/ 114 h 14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8" h="144">
                  <a:moveTo>
                    <a:pt x="78" y="114"/>
                  </a:moveTo>
                  <a:lnTo>
                    <a:pt x="78" y="114"/>
                  </a:lnTo>
                  <a:lnTo>
                    <a:pt x="72" y="126"/>
                  </a:lnTo>
                  <a:lnTo>
                    <a:pt x="60" y="126"/>
                  </a:lnTo>
                  <a:lnTo>
                    <a:pt x="18" y="126"/>
                  </a:lnTo>
                  <a:lnTo>
                    <a:pt x="48" y="90"/>
                  </a:lnTo>
                  <a:lnTo>
                    <a:pt x="60" y="66"/>
                  </a:lnTo>
                  <a:lnTo>
                    <a:pt x="72" y="54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42"/>
                  </a:lnTo>
                  <a:lnTo>
                    <a:pt x="12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24"/>
                  </a:lnTo>
                  <a:lnTo>
                    <a:pt x="54" y="30"/>
                  </a:lnTo>
                  <a:lnTo>
                    <a:pt x="54" y="48"/>
                  </a:lnTo>
                  <a:lnTo>
                    <a:pt x="48" y="72"/>
                  </a:lnTo>
                  <a:lnTo>
                    <a:pt x="30" y="102"/>
                  </a:lnTo>
                  <a:lnTo>
                    <a:pt x="0" y="138"/>
                  </a:lnTo>
                  <a:lnTo>
                    <a:pt x="0" y="144"/>
                  </a:lnTo>
                  <a:lnTo>
                    <a:pt x="72" y="144"/>
                  </a:lnTo>
                  <a:lnTo>
                    <a:pt x="7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7" name="Freeform 17"/>
            <p:cNvSpPr>
              <a:spLocks noEditPoints="1"/>
            </p:cNvSpPr>
            <p:nvPr/>
          </p:nvSpPr>
          <p:spPr bwMode="auto">
            <a:xfrm>
              <a:off x="4367" y="2071"/>
              <a:ext cx="120" cy="144"/>
            </a:xfrm>
            <a:custGeom>
              <a:avLst/>
              <a:gdLst>
                <a:gd name="T0" fmla="*/ 120 w 120"/>
                <a:gd name="T1" fmla="*/ 138 h 144"/>
                <a:gd name="T2" fmla="*/ 108 w 120"/>
                <a:gd name="T3" fmla="*/ 138 h 144"/>
                <a:gd name="T4" fmla="*/ 108 w 120"/>
                <a:gd name="T5" fmla="*/ 132 h 144"/>
                <a:gd name="T6" fmla="*/ 102 w 120"/>
                <a:gd name="T7" fmla="*/ 120 h 144"/>
                <a:gd name="T8" fmla="*/ 60 w 120"/>
                <a:gd name="T9" fmla="*/ 0 h 144"/>
                <a:gd name="T10" fmla="*/ 54 w 120"/>
                <a:gd name="T11" fmla="*/ 0 h 144"/>
                <a:gd name="T12" fmla="*/ 18 w 120"/>
                <a:gd name="T13" fmla="*/ 102 h 144"/>
                <a:gd name="T14" fmla="*/ 12 w 120"/>
                <a:gd name="T15" fmla="*/ 120 h 144"/>
                <a:gd name="T16" fmla="*/ 12 w 120"/>
                <a:gd name="T17" fmla="*/ 132 h 144"/>
                <a:gd name="T18" fmla="*/ 6 w 120"/>
                <a:gd name="T19" fmla="*/ 132 h 144"/>
                <a:gd name="T20" fmla="*/ 6 w 120"/>
                <a:gd name="T21" fmla="*/ 138 h 144"/>
                <a:gd name="T22" fmla="*/ 0 w 120"/>
                <a:gd name="T23" fmla="*/ 138 h 144"/>
                <a:gd name="T24" fmla="*/ 0 w 120"/>
                <a:gd name="T25" fmla="*/ 144 h 144"/>
                <a:gd name="T26" fmla="*/ 30 w 120"/>
                <a:gd name="T27" fmla="*/ 144 h 144"/>
                <a:gd name="T28" fmla="*/ 30 w 120"/>
                <a:gd name="T29" fmla="*/ 138 h 144"/>
                <a:gd name="T30" fmla="*/ 24 w 120"/>
                <a:gd name="T31" fmla="*/ 138 h 144"/>
                <a:gd name="T32" fmla="*/ 18 w 120"/>
                <a:gd name="T33" fmla="*/ 132 h 144"/>
                <a:gd name="T34" fmla="*/ 18 w 120"/>
                <a:gd name="T35" fmla="*/ 126 h 144"/>
                <a:gd name="T36" fmla="*/ 24 w 120"/>
                <a:gd name="T37" fmla="*/ 120 h 144"/>
                <a:gd name="T38" fmla="*/ 30 w 120"/>
                <a:gd name="T39" fmla="*/ 96 h 144"/>
                <a:gd name="T40" fmla="*/ 78 w 120"/>
                <a:gd name="T41" fmla="*/ 96 h 144"/>
                <a:gd name="T42" fmla="*/ 84 w 120"/>
                <a:gd name="T43" fmla="*/ 120 h 144"/>
                <a:gd name="T44" fmla="*/ 84 w 120"/>
                <a:gd name="T45" fmla="*/ 126 h 144"/>
                <a:gd name="T46" fmla="*/ 84 w 120"/>
                <a:gd name="T47" fmla="*/ 132 h 144"/>
                <a:gd name="T48" fmla="*/ 78 w 120"/>
                <a:gd name="T49" fmla="*/ 138 h 144"/>
                <a:gd name="T50" fmla="*/ 72 w 120"/>
                <a:gd name="T51" fmla="*/ 138 h 144"/>
                <a:gd name="T52" fmla="*/ 72 w 120"/>
                <a:gd name="T53" fmla="*/ 144 h 144"/>
                <a:gd name="T54" fmla="*/ 120 w 120"/>
                <a:gd name="T55" fmla="*/ 144 h 144"/>
                <a:gd name="T56" fmla="*/ 120 w 120"/>
                <a:gd name="T57" fmla="*/ 138 h 144"/>
                <a:gd name="T58" fmla="*/ 30 w 120"/>
                <a:gd name="T59" fmla="*/ 90 h 144"/>
                <a:gd name="T60" fmla="*/ 54 w 120"/>
                <a:gd name="T61" fmla="*/ 30 h 144"/>
                <a:gd name="T62" fmla="*/ 72 w 120"/>
                <a:gd name="T63" fmla="*/ 90 h 144"/>
                <a:gd name="T64" fmla="*/ 30 w 120"/>
                <a:gd name="T65" fmla="*/ 90 h 1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0" h="144">
                  <a:moveTo>
                    <a:pt x="120" y="138"/>
                  </a:moveTo>
                  <a:lnTo>
                    <a:pt x="108" y="138"/>
                  </a:lnTo>
                  <a:lnTo>
                    <a:pt x="108" y="132"/>
                  </a:lnTo>
                  <a:lnTo>
                    <a:pt x="102" y="12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18" y="102"/>
                  </a:lnTo>
                  <a:lnTo>
                    <a:pt x="12" y="120"/>
                  </a:lnTo>
                  <a:lnTo>
                    <a:pt x="12" y="132"/>
                  </a:lnTo>
                  <a:lnTo>
                    <a:pt x="6" y="132"/>
                  </a:lnTo>
                  <a:lnTo>
                    <a:pt x="6" y="138"/>
                  </a:lnTo>
                  <a:lnTo>
                    <a:pt x="0" y="138"/>
                  </a:lnTo>
                  <a:lnTo>
                    <a:pt x="0" y="144"/>
                  </a:lnTo>
                  <a:lnTo>
                    <a:pt x="30" y="144"/>
                  </a:lnTo>
                  <a:lnTo>
                    <a:pt x="30" y="138"/>
                  </a:lnTo>
                  <a:lnTo>
                    <a:pt x="24" y="138"/>
                  </a:lnTo>
                  <a:lnTo>
                    <a:pt x="18" y="132"/>
                  </a:lnTo>
                  <a:lnTo>
                    <a:pt x="18" y="126"/>
                  </a:lnTo>
                  <a:lnTo>
                    <a:pt x="24" y="120"/>
                  </a:lnTo>
                  <a:lnTo>
                    <a:pt x="30" y="96"/>
                  </a:lnTo>
                  <a:lnTo>
                    <a:pt x="78" y="96"/>
                  </a:lnTo>
                  <a:lnTo>
                    <a:pt x="84" y="120"/>
                  </a:lnTo>
                  <a:lnTo>
                    <a:pt x="84" y="126"/>
                  </a:lnTo>
                  <a:lnTo>
                    <a:pt x="84" y="132"/>
                  </a:lnTo>
                  <a:lnTo>
                    <a:pt x="78" y="138"/>
                  </a:lnTo>
                  <a:lnTo>
                    <a:pt x="72" y="138"/>
                  </a:lnTo>
                  <a:lnTo>
                    <a:pt x="72" y="144"/>
                  </a:lnTo>
                  <a:lnTo>
                    <a:pt x="120" y="144"/>
                  </a:lnTo>
                  <a:lnTo>
                    <a:pt x="120" y="138"/>
                  </a:lnTo>
                  <a:close/>
                  <a:moveTo>
                    <a:pt x="30" y="90"/>
                  </a:moveTo>
                  <a:lnTo>
                    <a:pt x="54" y="30"/>
                  </a:lnTo>
                  <a:lnTo>
                    <a:pt x="72" y="90"/>
                  </a:lnTo>
                  <a:lnTo>
                    <a:pt x="30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8" name="Freeform 18"/>
            <p:cNvSpPr>
              <a:spLocks noEditPoints="1"/>
            </p:cNvSpPr>
            <p:nvPr/>
          </p:nvSpPr>
          <p:spPr bwMode="auto">
            <a:xfrm>
              <a:off x="1783" y="1289"/>
              <a:ext cx="78" cy="90"/>
            </a:xfrm>
            <a:custGeom>
              <a:avLst/>
              <a:gdLst>
                <a:gd name="T0" fmla="*/ 78 w 78"/>
                <a:gd name="T1" fmla="*/ 66 h 90"/>
                <a:gd name="T2" fmla="*/ 72 w 78"/>
                <a:gd name="T3" fmla="*/ 78 h 90"/>
                <a:gd name="T4" fmla="*/ 66 w 78"/>
                <a:gd name="T5" fmla="*/ 84 h 90"/>
                <a:gd name="T6" fmla="*/ 60 w 78"/>
                <a:gd name="T7" fmla="*/ 84 h 90"/>
                <a:gd name="T8" fmla="*/ 60 w 78"/>
                <a:gd name="T9" fmla="*/ 78 h 90"/>
                <a:gd name="T10" fmla="*/ 60 w 78"/>
                <a:gd name="T11" fmla="*/ 72 h 90"/>
                <a:gd name="T12" fmla="*/ 66 w 78"/>
                <a:gd name="T13" fmla="*/ 66 h 90"/>
                <a:gd name="T14" fmla="*/ 72 w 78"/>
                <a:gd name="T15" fmla="*/ 36 h 90"/>
                <a:gd name="T16" fmla="*/ 78 w 78"/>
                <a:gd name="T17" fmla="*/ 12 h 90"/>
                <a:gd name="T18" fmla="*/ 78 w 78"/>
                <a:gd name="T19" fmla="*/ 6 h 90"/>
                <a:gd name="T20" fmla="*/ 78 w 78"/>
                <a:gd name="T21" fmla="*/ 0 h 90"/>
                <a:gd name="T22" fmla="*/ 78 w 78"/>
                <a:gd name="T23" fmla="*/ 0 h 90"/>
                <a:gd name="T24" fmla="*/ 66 w 78"/>
                <a:gd name="T25" fmla="*/ 0 h 90"/>
                <a:gd name="T26" fmla="*/ 66 w 78"/>
                <a:gd name="T27" fmla="*/ 0 h 90"/>
                <a:gd name="T28" fmla="*/ 66 w 78"/>
                <a:gd name="T29" fmla="*/ 12 h 90"/>
                <a:gd name="T30" fmla="*/ 66 w 78"/>
                <a:gd name="T31" fmla="*/ 12 h 90"/>
                <a:gd name="T32" fmla="*/ 60 w 78"/>
                <a:gd name="T33" fmla="*/ 6 h 90"/>
                <a:gd name="T34" fmla="*/ 48 w 78"/>
                <a:gd name="T35" fmla="*/ 0 h 90"/>
                <a:gd name="T36" fmla="*/ 30 w 78"/>
                <a:gd name="T37" fmla="*/ 6 h 90"/>
                <a:gd name="T38" fmla="*/ 18 w 78"/>
                <a:gd name="T39" fmla="*/ 24 h 90"/>
                <a:gd name="T40" fmla="*/ 6 w 78"/>
                <a:gd name="T41" fmla="*/ 42 h 90"/>
                <a:gd name="T42" fmla="*/ 0 w 78"/>
                <a:gd name="T43" fmla="*/ 66 h 90"/>
                <a:gd name="T44" fmla="*/ 0 w 78"/>
                <a:gd name="T45" fmla="*/ 78 h 90"/>
                <a:gd name="T46" fmla="*/ 6 w 78"/>
                <a:gd name="T47" fmla="*/ 90 h 90"/>
                <a:gd name="T48" fmla="*/ 18 w 78"/>
                <a:gd name="T49" fmla="*/ 90 h 90"/>
                <a:gd name="T50" fmla="*/ 36 w 78"/>
                <a:gd name="T51" fmla="*/ 84 h 90"/>
                <a:gd name="T52" fmla="*/ 42 w 78"/>
                <a:gd name="T53" fmla="*/ 78 h 90"/>
                <a:gd name="T54" fmla="*/ 54 w 78"/>
                <a:gd name="T55" fmla="*/ 60 h 90"/>
                <a:gd name="T56" fmla="*/ 54 w 78"/>
                <a:gd name="T57" fmla="*/ 60 h 90"/>
                <a:gd name="T58" fmla="*/ 48 w 78"/>
                <a:gd name="T59" fmla="*/ 72 h 90"/>
                <a:gd name="T60" fmla="*/ 48 w 78"/>
                <a:gd name="T61" fmla="*/ 84 h 90"/>
                <a:gd name="T62" fmla="*/ 48 w 78"/>
                <a:gd name="T63" fmla="*/ 90 h 90"/>
                <a:gd name="T64" fmla="*/ 54 w 78"/>
                <a:gd name="T65" fmla="*/ 90 h 90"/>
                <a:gd name="T66" fmla="*/ 66 w 78"/>
                <a:gd name="T67" fmla="*/ 84 h 90"/>
                <a:gd name="T68" fmla="*/ 78 w 78"/>
                <a:gd name="T69" fmla="*/ 72 h 90"/>
                <a:gd name="T70" fmla="*/ 78 w 78"/>
                <a:gd name="T71" fmla="*/ 66 h 90"/>
                <a:gd name="T72" fmla="*/ 12 w 78"/>
                <a:gd name="T73" fmla="*/ 66 h 90"/>
                <a:gd name="T74" fmla="*/ 18 w 78"/>
                <a:gd name="T75" fmla="*/ 48 h 90"/>
                <a:gd name="T76" fmla="*/ 24 w 78"/>
                <a:gd name="T77" fmla="*/ 24 h 90"/>
                <a:gd name="T78" fmla="*/ 36 w 78"/>
                <a:gd name="T79" fmla="*/ 6 h 90"/>
                <a:gd name="T80" fmla="*/ 48 w 78"/>
                <a:gd name="T81" fmla="*/ 0 h 90"/>
                <a:gd name="T82" fmla="*/ 54 w 78"/>
                <a:gd name="T83" fmla="*/ 6 h 90"/>
                <a:gd name="T84" fmla="*/ 60 w 78"/>
                <a:gd name="T85" fmla="*/ 18 h 90"/>
                <a:gd name="T86" fmla="*/ 60 w 78"/>
                <a:gd name="T87" fmla="*/ 36 h 90"/>
                <a:gd name="T88" fmla="*/ 48 w 78"/>
                <a:gd name="T89" fmla="*/ 60 h 90"/>
                <a:gd name="T90" fmla="*/ 36 w 78"/>
                <a:gd name="T91" fmla="*/ 78 h 90"/>
                <a:gd name="T92" fmla="*/ 24 w 78"/>
                <a:gd name="T93" fmla="*/ 84 h 90"/>
                <a:gd name="T94" fmla="*/ 18 w 78"/>
                <a:gd name="T95" fmla="*/ 78 h 90"/>
                <a:gd name="T96" fmla="*/ 12 w 78"/>
                <a:gd name="T97" fmla="*/ 66 h 90"/>
                <a:gd name="T98" fmla="*/ 12 w 78"/>
                <a:gd name="T99" fmla="*/ 66 h 9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8" h="90">
                  <a:moveTo>
                    <a:pt x="78" y="66"/>
                  </a:moveTo>
                  <a:lnTo>
                    <a:pt x="72" y="78"/>
                  </a:lnTo>
                  <a:lnTo>
                    <a:pt x="66" y="84"/>
                  </a:lnTo>
                  <a:lnTo>
                    <a:pt x="60" y="84"/>
                  </a:lnTo>
                  <a:lnTo>
                    <a:pt x="60" y="78"/>
                  </a:lnTo>
                  <a:lnTo>
                    <a:pt x="60" y="72"/>
                  </a:lnTo>
                  <a:lnTo>
                    <a:pt x="66" y="66"/>
                  </a:lnTo>
                  <a:lnTo>
                    <a:pt x="72" y="36"/>
                  </a:lnTo>
                  <a:lnTo>
                    <a:pt x="78" y="12"/>
                  </a:lnTo>
                  <a:lnTo>
                    <a:pt x="78" y="6"/>
                  </a:lnTo>
                  <a:lnTo>
                    <a:pt x="78" y="0"/>
                  </a:lnTo>
                  <a:lnTo>
                    <a:pt x="66" y="0"/>
                  </a:lnTo>
                  <a:lnTo>
                    <a:pt x="66" y="12"/>
                  </a:lnTo>
                  <a:lnTo>
                    <a:pt x="60" y="6"/>
                  </a:lnTo>
                  <a:lnTo>
                    <a:pt x="48" y="0"/>
                  </a:lnTo>
                  <a:lnTo>
                    <a:pt x="30" y="6"/>
                  </a:lnTo>
                  <a:lnTo>
                    <a:pt x="18" y="24"/>
                  </a:lnTo>
                  <a:lnTo>
                    <a:pt x="6" y="42"/>
                  </a:lnTo>
                  <a:lnTo>
                    <a:pt x="0" y="66"/>
                  </a:lnTo>
                  <a:lnTo>
                    <a:pt x="0" y="78"/>
                  </a:lnTo>
                  <a:lnTo>
                    <a:pt x="6" y="90"/>
                  </a:lnTo>
                  <a:lnTo>
                    <a:pt x="18" y="90"/>
                  </a:lnTo>
                  <a:lnTo>
                    <a:pt x="36" y="84"/>
                  </a:lnTo>
                  <a:lnTo>
                    <a:pt x="42" y="78"/>
                  </a:lnTo>
                  <a:lnTo>
                    <a:pt x="54" y="60"/>
                  </a:lnTo>
                  <a:lnTo>
                    <a:pt x="48" y="72"/>
                  </a:lnTo>
                  <a:lnTo>
                    <a:pt x="48" y="84"/>
                  </a:lnTo>
                  <a:lnTo>
                    <a:pt x="48" y="90"/>
                  </a:lnTo>
                  <a:lnTo>
                    <a:pt x="54" y="90"/>
                  </a:lnTo>
                  <a:lnTo>
                    <a:pt x="66" y="84"/>
                  </a:lnTo>
                  <a:lnTo>
                    <a:pt x="78" y="72"/>
                  </a:lnTo>
                  <a:lnTo>
                    <a:pt x="78" y="66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24"/>
                  </a:lnTo>
                  <a:lnTo>
                    <a:pt x="36" y="6"/>
                  </a:lnTo>
                  <a:lnTo>
                    <a:pt x="48" y="0"/>
                  </a:lnTo>
                  <a:lnTo>
                    <a:pt x="54" y="6"/>
                  </a:lnTo>
                  <a:lnTo>
                    <a:pt x="60" y="18"/>
                  </a:lnTo>
                  <a:lnTo>
                    <a:pt x="60" y="36"/>
                  </a:lnTo>
                  <a:lnTo>
                    <a:pt x="48" y="60"/>
                  </a:lnTo>
                  <a:lnTo>
                    <a:pt x="36" y="78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2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9" name="Freeform 19"/>
            <p:cNvSpPr>
              <a:spLocks noEditPoints="1"/>
            </p:cNvSpPr>
            <p:nvPr/>
          </p:nvSpPr>
          <p:spPr bwMode="auto">
            <a:xfrm>
              <a:off x="3368" y="1195"/>
              <a:ext cx="78" cy="143"/>
            </a:xfrm>
            <a:custGeom>
              <a:avLst/>
              <a:gdLst>
                <a:gd name="T0" fmla="*/ 60 w 78"/>
                <a:gd name="T1" fmla="*/ 77 h 143"/>
                <a:gd name="T2" fmla="*/ 60 w 78"/>
                <a:gd name="T3" fmla="*/ 95 h 143"/>
                <a:gd name="T4" fmla="*/ 48 w 78"/>
                <a:gd name="T5" fmla="*/ 113 h 143"/>
                <a:gd name="T6" fmla="*/ 36 w 78"/>
                <a:gd name="T7" fmla="*/ 131 h 143"/>
                <a:gd name="T8" fmla="*/ 18 w 78"/>
                <a:gd name="T9" fmla="*/ 137 h 143"/>
                <a:gd name="T10" fmla="*/ 12 w 78"/>
                <a:gd name="T11" fmla="*/ 137 h 143"/>
                <a:gd name="T12" fmla="*/ 12 w 78"/>
                <a:gd name="T13" fmla="*/ 131 h 143"/>
                <a:gd name="T14" fmla="*/ 18 w 78"/>
                <a:gd name="T15" fmla="*/ 107 h 143"/>
                <a:gd name="T16" fmla="*/ 24 w 78"/>
                <a:gd name="T17" fmla="*/ 89 h 143"/>
                <a:gd name="T18" fmla="*/ 36 w 78"/>
                <a:gd name="T19" fmla="*/ 65 h 143"/>
                <a:gd name="T20" fmla="*/ 48 w 78"/>
                <a:gd name="T21" fmla="*/ 60 h 143"/>
                <a:gd name="T22" fmla="*/ 60 w 78"/>
                <a:gd name="T23" fmla="*/ 65 h 143"/>
                <a:gd name="T24" fmla="*/ 60 w 78"/>
                <a:gd name="T25" fmla="*/ 77 h 143"/>
                <a:gd name="T26" fmla="*/ 60 w 78"/>
                <a:gd name="T27" fmla="*/ 77 h 143"/>
                <a:gd name="T28" fmla="*/ 12 w 78"/>
                <a:gd name="T29" fmla="*/ 6 h 143"/>
                <a:gd name="T30" fmla="*/ 24 w 78"/>
                <a:gd name="T31" fmla="*/ 6 h 143"/>
                <a:gd name="T32" fmla="*/ 24 w 78"/>
                <a:gd name="T33" fmla="*/ 12 h 143"/>
                <a:gd name="T34" fmla="*/ 24 w 78"/>
                <a:gd name="T35" fmla="*/ 24 h 143"/>
                <a:gd name="T36" fmla="*/ 18 w 78"/>
                <a:gd name="T37" fmla="*/ 30 h 143"/>
                <a:gd name="T38" fmla="*/ 0 w 78"/>
                <a:gd name="T39" fmla="*/ 131 h 143"/>
                <a:gd name="T40" fmla="*/ 0 w 78"/>
                <a:gd name="T41" fmla="*/ 131 h 143"/>
                <a:gd name="T42" fmla="*/ 6 w 78"/>
                <a:gd name="T43" fmla="*/ 137 h 143"/>
                <a:gd name="T44" fmla="*/ 18 w 78"/>
                <a:gd name="T45" fmla="*/ 143 h 143"/>
                <a:gd name="T46" fmla="*/ 42 w 78"/>
                <a:gd name="T47" fmla="*/ 137 h 143"/>
                <a:gd name="T48" fmla="*/ 60 w 78"/>
                <a:gd name="T49" fmla="*/ 119 h 143"/>
                <a:gd name="T50" fmla="*/ 72 w 78"/>
                <a:gd name="T51" fmla="*/ 101 h 143"/>
                <a:gd name="T52" fmla="*/ 78 w 78"/>
                <a:gd name="T53" fmla="*/ 77 h 143"/>
                <a:gd name="T54" fmla="*/ 72 w 78"/>
                <a:gd name="T55" fmla="*/ 54 h 143"/>
                <a:gd name="T56" fmla="*/ 54 w 78"/>
                <a:gd name="T57" fmla="*/ 48 h 143"/>
                <a:gd name="T58" fmla="*/ 48 w 78"/>
                <a:gd name="T59" fmla="*/ 54 h 143"/>
                <a:gd name="T60" fmla="*/ 36 w 78"/>
                <a:gd name="T61" fmla="*/ 60 h 143"/>
                <a:gd name="T62" fmla="*/ 30 w 78"/>
                <a:gd name="T63" fmla="*/ 71 h 143"/>
                <a:gd name="T64" fmla="*/ 24 w 78"/>
                <a:gd name="T65" fmla="*/ 77 h 143"/>
                <a:gd name="T66" fmla="*/ 24 w 78"/>
                <a:gd name="T67" fmla="*/ 77 h 143"/>
                <a:gd name="T68" fmla="*/ 36 w 78"/>
                <a:gd name="T69" fmla="*/ 36 h 143"/>
                <a:gd name="T70" fmla="*/ 36 w 78"/>
                <a:gd name="T71" fmla="*/ 18 h 143"/>
                <a:gd name="T72" fmla="*/ 42 w 78"/>
                <a:gd name="T73" fmla="*/ 0 h 143"/>
                <a:gd name="T74" fmla="*/ 36 w 78"/>
                <a:gd name="T75" fmla="*/ 0 h 143"/>
                <a:gd name="T76" fmla="*/ 24 w 78"/>
                <a:gd name="T77" fmla="*/ 0 h 143"/>
                <a:gd name="T78" fmla="*/ 12 w 78"/>
                <a:gd name="T79" fmla="*/ 6 h 143"/>
                <a:gd name="T80" fmla="*/ 12 w 78"/>
                <a:gd name="T81" fmla="*/ 6 h 14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8" h="143">
                  <a:moveTo>
                    <a:pt x="60" y="77"/>
                  </a:moveTo>
                  <a:lnTo>
                    <a:pt x="60" y="95"/>
                  </a:lnTo>
                  <a:lnTo>
                    <a:pt x="48" y="113"/>
                  </a:lnTo>
                  <a:lnTo>
                    <a:pt x="36" y="131"/>
                  </a:lnTo>
                  <a:lnTo>
                    <a:pt x="18" y="137"/>
                  </a:lnTo>
                  <a:lnTo>
                    <a:pt x="12" y="137"/>
                  </a:lnTo>
                  <a:lnTo>
                    <a:pt x="12" y="131"/>
                  </a:lnTo>
                  <a:lnTo>
                    <a:pt x="18" y="107"/>
                  </a:lnTo>
                  <a:lnTo>
                    <a:pt x="24" y="89"/>
                  </a:lnTo>
                  <a:lnTo>
                    <a:pt x="36" y="65"/>
                  </a:lnTo>
                  <a:lnTo>
                    <a:pt x="48" y="60"/>
                  </a:lnTo>
                  <a:lnTo>
                    <a:pt x="60" y="65"/>
                  </a:lnTo>
                  <a:lnTo>
                    <a:pt x="60" y="77"/>
                  </a:lnTo>
                  <a:close/>
                  <a:moveTo>
                    <a:pt x="12" y="6"/>
                  </a:moveTo>
                  <a:lnTo>
                    <a:pt x="24" y="6"/>
                  </a:lnTo>
                  <a:lnTo>
                    <a:pt x="24" y="12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0" y="131"/>
                  </a:lnTo>
                  <a:lnTo>
                    <a:pt x="6" y="137"/>
                  </a:lnTo>
                  <a:lnTo>
                    <a:pt x="18" y="143"/>
                  </a:lnTo>
                  <a:lnTo>
                    <a:pt x="42" y="137"/>
                  </a:lnTo>
                  <a:lnTo>
                    <a:pt x="60" y="119"/>
                  </a:lnTo>
                  <a:lnTo>
                    <a:pt x="72" y="101"/>
                  </a:lnTo>
                  <a:lnTo>
                    <a:pt x="78" y="77"/>
                  </a:lnTo>
                  <a:lnTo>
                    <a:pt x="72" y="54"/>
                  </a:lnTo>
                  <a:lnTo>
                    <a:pt x="54" y="48"/>
                  </a:lnTo>
                  <a:lnTo>
                    <a:pt x="48" y="54"/>
                  </a:lnTo>
                  <a:lnTo>
                    <a:pt x="36" y="60"/>
                  </a:lnTo>
                  <a:lnTo>
                    <a:pt x="30" y="71"/>
                  </a:lnTo>
                  <a:lnTo>
                    <a:pt x="24" y="77"/>
                  </a:lnTo>
                  <a:lnTo>
                    <a:pt x="36" y="36"/>
                  </a:lnTo>
                  <a:lnTo>
                    <a:pt x="36" y="18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24" y="0"/>
                  </a:lnTo>
                  <a:lnTo>
                    <a:pt x="12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0" name="Freeform 20"/>
            <p:cNvSpPr>
              <a:spLocks/>
            </p:cNvSpPr>
            <p:nvPr/>
          </p:nvSpPr>
          <p:spPr bwMode="auto">
            <a:xfrm>
              <a:off x="2824" y="3032"/>
              <a:ext cx="66" cy="89"/>
            </a:xfrm>
            <a:custGeom>
              <a:avLst/>
              <a:gdLst>
                <a:gd name="T0" fmla="*/ 54 w 66"/>
                <a:gd name="T1" fmla="*/ 65 h 89"/>
                <a:gd name="T2" fmla="*/ 42 w 66"/>
                <a:gd name="T3" fmla="*/ 77 h 89"/>
                <a:gd name="T4" fmla="*/ 30 w 66"/>
                <a:gd name="T5" fmla="*/ 83 h 89"/>
                <a:gd name="T6" fmla="*/ 18 w 66"/>
                <a:gd name="T7" fmla="*/ 77 h 89"/>
                <a:gd name="T8" fmla="*/ 12 w 66"/>
                <a:gd name="T9" fmla="*/ 59 h 89"/>
                <a:gd name="T10" fmla="*/ 24 w 66"/>
                <a:gd name="T11" fmla="*/ 24 h 89"/>
                <a:gd name="T12" fmla="*/ 30 w 66"/>
                <a:gd name="T13" fmla="*/ 6 h 89"/>
                <a:gd name="T14" fmla="*/ 48 w 66"/>
                <a:gd name="T15" fmla="*/ 0 h 89"/>
                <a:gd name="T16" fmla="*/ 54 w 66"/>
                <a:gd name="T17" fmla="*/ 0 h 89"/>
                <a:gd name="T18" fmla="*/ 54 w 66"/>
                <a:gd name="T19" fmla="*/ 6 h 89"/>
                <a:gd name="T20" fmla="*/ 54 w 66"/>
                <a:gd name="T21" fmla="*/ 12 h 89"/>
                <a:gd name="T22" fmla="*/ 48 w 66"/>
                <a:gd name="T23" fmla="*/ 18 h 89"/>
                <a:gd name="T24" fmla="*/ 54 w 66"/>
                <a:gd name="T25" fmla="*/ 24 h 89"/>
                <a:gd name="T26" fmla="*/ 60 w 66"/>
                <a:gd name="T27" fmla="*/ 24 h 89"/>
                <a:gd name="T28" fmla="*/ 66 w 66"/>
                <a:gd name="T29" fmla="*/ 18 h 89"/>
                <a:gd name="T30" fmla="*/ 66 w 66"/>
                <a:gd name="T31" fmla="*/ 12 h 89"/>
                <a:gd name="T32" fmla="*/ 60 w 66"/>
                <a:gd name="T33" fmla="*/ 6 h 89"/>
                <a:gd name="T34" fmla="*/ 48 w 66"/>
                <a:gd name="T35" fmla="*/ 0 h 89"/>
                <a:gd name="T36" fmla="*/ 30 w 66"/>
                <a:gd name="T37" fmla="*/ 6 h 89"/>
                <a:gd name="T38" fmla="*/ 18 w 66"/>
                <a:gd name="T39" fmla="*/ 18 h 89"/>
                <a:gd name="T40" fmla="*/ 6 w 66"/>
                <a:gd name="T41" fmla="*/ 35 h 89"/>
                <a:gd name="T42" fmla="*/ 0 w 66"/>
                <a:gd name="T43" fmla="*/ 59 h 89"/>
                <a:gd name="T44" fmla="*/ 0 w 66"/>
                <a:gd name="T45" fmla="*/ 77 h 89"/>
                <a:gd name="T46" fmla="*/ 6 w 66"/>
                <a:gd name="T47" fmla="*/ 83 h 89"/>
                <a:gd name="T48" fmla="*/ 24 w 66"/>
                <a:gd name="T49" fmla="*/ 89 h 89"/>
                <a:gd name="T50" fmla="*/ 48 w 66"/>
                <a:gd name="T51" fmla="*/ 83 h 89"/>
                <a:gd name="T52" fmla="*/ 54 w 66"/>
                <a:gd name="T53" fmla="*/ 65 h 89"/>
                <a:gd name="T54" fmla="*/ 54 w 66"/>
                <a:gd name="T55" fmla="*/ 65 h 8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6" h="89">
                  <a:moveTo>
                    <a:pt x="54" y="65"/>
                  </a:moveTo>
                  <a:lnTo>
                    <a:pt x="42" y="77"/>
                  </a:lnTo>
                  <a:lnTo>
                    <a:pt x="30" y="83"/>
                  </a:lnTo>
                  <a:lnTo>
                    <a:pt x="18" y="77"/>
                  </a:lnTo>
                  <a:lnTo>
                    <a:pt x="12" y="59"/>
                  </a:lnTo>
                  <a:lnTo>
                    <a:pt x="24" y="24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4" y="6"/>
                  </a:lnTo>
                  <a:lnTo>
                    <a:pt x="54" y="12"/>
                  </a:lnTo>
                  <a:lnTo>
                    <a:pt x="48" y="18"/>
                  </a:lnTo>
                  <a:lnTo>
                    <a:pt x="54" y="24"/>
                  </a:lnTo>
                  <a:lnTo>
                    <a:pt x="60" y="24"/>
                  </a:lnTo>
                  <a:lnTo>
                    <a:pt x="66" y="18"/>
                  </a:lnTo>
                  <a:lnTo>
                    <a:pt x="66" y="12"/>
                  </a:lnTo>
                  <a:lnTo>
                    <a:pt x="60" y="6"/>
                  </a:lnTo>
                  <a:lnTo>
                    <a:pt x="48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5"/>
                  </a:lnTo>
                  <a:lnTo>
                    <a:pt x="0" y="59"/>
                  </a:lnTo>
                  <a:lnTo>
                    <a:pt x="0" y="77"/>
                  </a:lnTo>
                  <a:lnTo>
                    <a:pt x="6" y="83"/>
                  </a:lnTo>
                  <a:lnTo>
                    <a:pt x="24" y="89"/>
                  </a:lnTo>
                  <a:lnTo>
                    <a:pt x="48" y="83"/>
                  </a:lnTo>
                  <a:lnTo>
                    <a:pt x="54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1" name="Freeform 21"/>
            <p:cNvSpPr>
              <a:spLocks/>
            </p:cNvSpPr>
            <p:nvPr/>
          </p:nvSpPr>
          <p:spPr bwMode="auto">
            <a:xfrm>
              <a:off x="2208" y="1164"/>
              <a:ext cx="72" cy="149"/>
            </a:xfrm>
            <a:custGeom>
              <a:avLst/>
              <a:gdLst>
                <a:gd name="T0" fmla="*/ 24 w 72"/>
                <a:gd name="T1" fmla="*/ 24 h 149"/>
                <a:gd name="T2" fmla="*/ 60 w 72"/>
                <a:gd name="T3" fmla="*/ 24 h 149"/>
                <a:gd name="T4" fmla="*/ 60 w 72"/>
                <a:gd name="T5" fmla="*/ 24 h 149"/>
                <a:gd name="T6" fmla="*/ 72 w 72"/>
                <a:gd name="T7" fmla="*/ 6 h 149"/>
                <a:gd name="T8" fmla="*/ 66 w 72"/>
                <a:gd name="T9" fmla="*/ 0 h 149"/>
                <a:gd name="T10" fmla="*/ 66 w 72"/>
                <a:gd name="T11" fmla="*/ 6 h 149"/>
                <a:gd name="T12" fmla="*/ 60 w 72"/>
                <a:gd name="T13" fmla="*/ 6 h 149"/>
                <a:gd name="T14" fmla="*/ 24 w 72"/>
                <a:gd name="T15" fmla="*/ 6 h 149"/>
                <a:gd name="T16" fmla="*/ 6 w 72"/>
                <a:gd name="T17" fmla="*/ 53 h 149"/>
                <a:gd name="T18" fmla="*/ 6 w 72"/>
                <a:gd name="T19" fmla="*/ 59 h 149"/>
                <a:gd name="T20" fmla="*/ 6 w 72"/>
                <a:gd name="T21" fmla="*/ 59 h 149"/>
                <a:gd name="T22" fmla="*/ 36 w 72"/>
                <a:gd name="T23" fmla="*/ 71 h 149"/>
                <a:gd name="T24" fmla="*/ 48 w 72"/>
                <a:gd name="T25" fmla="*/ 83 h 149"/>
                <a:gd name="T26" fmla="*/ 54 w 72"/>
                <a:gd name="T27" fmla="*/ 101 h 149"/>
                <a:gd name="T28" fmla="*/ 54 w 72"/>
                <a:gd name="T29" fmla="*/ 119 h 149"/>
                <a:gd name="T30" fmla="*/ 48 w 72"/>
                <a:gd name="T31" fmla="*/ 131 h 149"/>
                <a:gd name="T32" fmla="*/ 30 w 72"/>
                <a:gd name="T33" fmla="*/ 137 h 149"/>
                <a:gd name="T34" fmla="*/ 18 w 72"/>
                <a:gd name="T35" fmla="*/ 131 h 149"/>
                <a:gd name="T36" fmla="*/ 6 w 72"/>
                <a:gd name="T37" fmla="*/ 125 h 149"/>
                <a:gd name="T38" fmla="*/ 0 w 72"/>
                <a:gd name="T39" fmla="*/ 131 h 149"/>
                <a:gd name="T40" fmla="*/ 0 w 72"/>
                <a:gd name="T41" fmla="*/ 137 h 149"/>
                <a:gd name="T42" fmla="*/ 6 w 72"/>
                <a:gd name="T43" fmla="*/ 143 h 149"/>
                <a:gd name="T44" fmla="*/ 18 w 72"/>
                <a:gd name="T45" fmla="*/ 149 h 149"/>
                <a:gd name="T46" fmla="*/ 36 w 72"/>
                <a:gd name="T47" fmla="*/ 143 h 149"/>
                <a:gd name="T48" fmla="*/ 54 w 72"/>
                <a:gd name="T49" fmla="*/ 131 h 149"/>
                <a:gd name="T50" fmla="*/ 60 w 72"/>
                <a:gd name="T51" fmla="*/ 119 h 149"/>
                <a:gd name="T52" fmla="*/ 66 w 72"/>
                <a:gd name="T53" fmla="*/ 95 h 149"/>
                <a:gd name="T54" fmla="*/ 66 w 72"/>
                <a:gd name="T55" fmla="*/ 77 h 149"/>
                <a:gd name="T56" fmla="*/ 60 w 72"/>
                <a:gd name="T57" fmla="*/ 65 h 149"/>
                <a:gd name="T58" fmla="*/ 42 w 72"/>
                <a:gd name="T59" fmla="*/ 47 h 149"/>
                <a:gd name="T60" fmla="*/ 18 w 72"/>
                <a:gd name="T61" fmla="*/ 42 h 149"/>
                <a:gd name="T62" fmla="*/ 24 w 72"/>
                <a:gd name="T63" fmla="*/ 24 h 14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72" h="149">
                  <a:moveTo>
                    <a:pt x="24" y="24"/>
                  </a:moveTo>
                  <a:lnTo>
                    <a:pt x="60" y="24"/>
                  </a:lnTo>
                  <a:lnTo>
                    <a:pt x="72" y="6"/>
                  </a:lnTo>
                  <a:lnTo>
                    <a:pt x="66" y="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24" y="6"/>
                  </a:lnTo>
                  <a:lnTo>
                    <a:pt x="6" y="53"/>
                  </a:lnTo>
                  <a:lnTo>
                    <a:pt x="6" y="59"/>
                  </a:lnTo>
                  <a:lnTo>
                    <a:pt x="36" y="71"/>
                  </a:lnTo>
                  <a:lnTo>
                    <a:pt x="48" y="83"/>
                  </a:lnTo>
                  <a:lnTo>
                    <a:pt x="54" y="101"/>
                  </a:lnTo>
                  <a:lnTo>
                    <a:pt x="54" y="119"/>
                  </a:lnTo>
                  <a:lnTo>
                    <a:pt x="48" y="131"/>
                  </a:lnTo>
                  <a:lnTo>
                    <a:pt x="30" y="137"/>
                  </a:lnTo>
                  <a:lnTo>
                    <a:pt x="18" y="131"/>
                  </a:lnTo>
                  <a:lnTo>
                    <a:pt x="6" y="125"/>
                  </a:lnTo>
                  <a:lnTo>
                    <a:pt x="0" y="131"/>
                  </a:lnTo>
                  <a:lnTo>
                    <a:pt x="0" y="137"/>
                  </a:lnTo>
                  <a:lnTo>
                    <a:pt x="6" y="143"/>
                  </a:lnTo>
                  <a:lnTo>
                    <a:pt x="18" y="149"/>
                  </a:lnTo>
                  <a:lnTo>
                    <a:pt x="36" y="143"/>
                  </a:lnTo>
                  <a:lnTo>
                    <a:pt x="54" y="131"/>
                  </a:lnTo>
                  <a:lnTo>
                    <a:pt x="60" y="119"/>
                  </a:lnTo>
                  <a:lnTo>
                    <a:pt x="66" y="95"/>
                  </a:lnTo>
                  <a:lnTo>
                    <a:pt x="66" y="77"/>
                  </a:lnTo>
                  <a:lnTo>
                    <a:pt x="60" y="65"/>
                  </a:lnTo>
                  <a:lnTo>
                    <a:pt x="42" y="47"/>
                  </a:lnTo>
                  <a:lnTo>
                    <a:pt x="18" y="42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2" name="Freeform 22"/>
            <p:cNvSpPr>
              <a:spLocks/>
            </p:cNvSpPr>
            <p:nvPr/>
          </p:nvSpPr>
          <p:spPr bwMode="auto">
            <a:xfrm>
              <a:off x="2340" y="1164"/>
              <a:ext cx="119" cy="143"/>
            </a:xfrm>
            <a:custGeom>
              <a:avLst/>
              <a:gdLst>
                <a:gd name="T0" fmla="*/ 48 w 119"/>
                <a:gd name="T1" fmla="*/ 113 h 143"/>
                <a:gd name="T2" fmla="*/ 36 w 119"/>
                <a:gd name="T3" fmla="*/ 107 h 143"/>
                <a:gd name="T4" fmla="*/ 24 w 119"/>
                <a:gd name="T5" fmla="*/ 89 h 143"/>
                <a:gd name="T6" fmla="*/ 24 w 119"/>
                <a:gd name="T7" fmla="*/ 71 h 143"/>
                <a:gd name="T8" fmla="*/ 24 w 119"/>
                <a:gd name="T9" fmla="*/ 53 h 143"/>
                <a:gd name="T10" fmla="*/ 24 w 119"/>
                <a:gd name="T11" fmla="*/ 36 h 143"/>
                <a:gd name="T12" fmla="*/ 36 w 119"/>
                <a:gd name="T13" fmla="*/ 18 h 143"/>
                <a:gd name="T14" fmla="*/ 48 w 119"/>
                <a:gd name="T15" fmla="*/ 12 h 143"/>
                <a:gd name="T16" fmla="*/ 59 w 119"/>
                <a:gd name="T17" fmla="*/ 6 h 143"/>
                <a:gd name="T18" fmla="*/ 71 w 119"/>
                <a:gd name="T19" fmla="*/ 12 h 143"/>
                <a:gd name="T20" fmla="*/ 83 w 119"/>
                <a:gd name="T21" fmla="*/ 18 h 143"/>
                <a:gd name="T22" fmla="*/ 95 w 119"/>
                <a:gd name="T23" fmla="*/ 36 h 143"/>
                <a:gd name="T24" fmla="*/ 95 w 119"/>
                <a:gd name="T25" fmla="*/ 53 h 143"/>
                <a:gd name="T26" fmla="*/ 95 w 119"/>
                <a:gd name="T27" fmla="*/ 71 h 143"/>
                <a:gd name="T28" fmla="*/ 89 w 119"/>
                <a:gd name="T29" fmla="*/ 89 h 143"/>
                <a:gd name="T30" fmla="*/ 83 w 119"/>
                <a:gd name="T31" fmla="*/ 107 h 143"/>
                <a:gd name="T32" fmla="*/ 71 w 119"/>
                <a:gd name="T33" fmla="*/ 113 h 143"/>
                <a:gd name="T34" fmla="*/ 65 w 119"/>
                <a:gd name="T35" fmla="*/ 143 h 143"/>
                <a:gd name="T36" fmla="*/ 119 w 119"/>
                <a:gd name="T37" fmla="*/ 143 h 143"/>
                <a:gd name="T38" fmla="*/ 119 w 119"/>
                <a:gd name="T39" fmla="*/ 113 h 143"/>
                <a:gd name="T40" fmla="*/ 119 w 119"/>
                <a:gd name="T41" fmla="*/ 113 h 143"/>
                <a:gd name="T42" fmla="*/ 113 w 119"/>
                <a:gd name="T43" fmla="*/ 119 h 143"/>
                <a:gd name="T44" fmla="*/ 107 w 119"/>
                <a:gd name="T45" fmla="*/ 125 h 143"/>
                <a:gd name="T46" fmla="*/ 77 w 119"/>
                <a:gd name="T47" fmla="*/ 125 h 143"/>
                <a:gd name="T48" fmla="*/ 77 w 119"/>
                <a:gd name="T49" fmla="*/ 119 h 143"/>
                <a:gd name="T50" fmla="*/ 95 w 119"/>
                <a:gd name="T51" fmla="*/ 107 h 143"/>
                <a:gd name="T52" fmla="*/ 107 w 119"/>
                <a:gd name="T53" fmla="*/ 95 h 143"/>
                <a:gd name="T54" fmla="*/ 119 w 119"/>
                <a:gd name="T55" fmla="*/ 59 h 143"/>
                <a:gd name="T56" fmla="*/ 107 w 119"/>
                <a:gd name="T57" fmla="*/ 36 h 143"/>
                <a:gd name="T58" fmla="*/ 101 w 119"/>
                <a:gd name="T59" fmla="*/ 18 h 143"/>
                <a:gd name="T60" fmla="*/ 89 w 119"/>
                <a:gd name="T61" fmla="*/ 12 h 143"/>
                <a:gd name="T62" fmla="*/ 77 w 119"/>
                <a:gd name="T63" fmla="*/ 6 h 143"/>
                <a:gd name="T64" fmla="*/ 59 w 119"/>
                <a:gd name="T65" fmla="*/ 0 h 143"/>
                <a:gd name="T66" fmla="*/ 42 w 119"/>
                <a:gd name="T67" fmla="*/ 6 h 143"/>
                <a:gd name="T68" fmla="*/ 24 w 119"/>
                <a:gd name="T69" fmla="*/ 12 h 143"/>
                <a:gd name="T70" fmla="*/ 18 w 119"/>
                <a:gd name="T71" fmla="*/ 18 h 143"/>
                <a:gd name="T72" fmla="*/ 6 w 119"/>
                <a:gd name="T73" fmla="*/ 36 h 143"/>
                <a:gd name="T74" fmla="*/ 0 w 119"/>
                <a:gd name="T75" fmla="*/ 59 h 143"/>
                <a:gd name="T76" fmla="*/ 12 w 119"/>
                <a:gd name="T77" fmla="*/ 95 h 143"/>
                <a:gd name="T78" fmla="*/ 24 w 119"/>
                <a:gd name="T79" fmla="*/ 107 h 143"/>
                <a:gd name="T80" fmla="*/ 36 w 119"/>
                <a:gd name="T81" fmla="*/ 119 h 143"/>
                <a:gd name="T82" fmla="*/ 42 w 119"/>
                <a:gd name="T83" fmla="*/ 125 h 143"/>
                <a:gd name="T84" fmla="*/ 12 w 119"/>
                <a:gd name="T85" fmla="*/ 125 h 143"/>
                <a:gd name="T86" fmla="*/ 6 w 119"/>
                <a:gd name="T87" fmla="*/ 119 h 143"/>
                <a:gd name="T88" fmla="*/ 0 w 119"/>
                <a:gd name="T89" fmla="*/ 113 h 143"/>
                <a:gd name="T90" fmla="*/ 0 w 119"/>
                <a:gd name="T91" fmla="*/ 113 h 143"/>
                <a:gd name="T92" fmla="*/ 0 w 119"/>
                <a:gd name="T93" fmla="*/ 143 h 143"/>
                <a:gd name="T94" fmla="*/ 48 w 119"/>
                <a:gd name="T95" fmla="*/ 143 h 143"/>
                <a:gd name="T96" fmla="*/ 48 w 119"/>
                <a:gd name="T97" fmla="*/ 113 h 14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19" h="143">
                  <a:moveTo>
                    <a:pt x="48" y="113"/>
                  </a:moveTo>
                  <a:lnTo>
                    <a:pt x="36" y="107"/>
                  </a:lnTo>
                  <a:lnTo>
                    <a:pt x="24" y="89"/>
                  </a:lnTo>
                  <a:lnTo>
                    <a:pt x="24" y="71"/>
                  </a:lnTo>
                  <a:lnTo>
                    <a:pt x="24" y="53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48" y="12"/>
                  </a:lnTo>
                  <a:lnTo>
                    <a:pt x="59" y="6"/>
                  </a:lnTo>
                  <a:lnTo>
                    <a:pt x="71" y="12"/>
                  </a:lnTo>
                  <a:lnTo>
                    <a:pt x="83" y="18"/>
                  </a:lnTo>
                  <a:lnTo>
                    <a:pt x="95" y="36"/>
                  </a:lnTo>
                  <a:lnTo>
                    <a:pt x="95" y="53"/>
                  </a:lnTo>
                  <a:lnTo>
                    <a:pt x="95" y="71"/>
                  </a:lnTo>
                  <a:lnTo>
                    <a:pt x="89" y="89"/>
                  </a:lnTo>
                  <a:lnTo>
                    <a:pt x="83" y="107"/>
                  </a:lnTo>
                  <a:lnTo>
                    <a:pt x="71" y="113"/>
                  </a:lnTo>
                  <a:lnTo>
                    <a:pt x="65" y="143"/>
                  </a:lnTo>
                  <a:lnTo>
                    <a:pt x="119" y="143"/>
                  </a:lnTo>
                  <a:lnTo>
                    <a:pt x="119" y="113"/>
                  </a:lnTo>
                  <a:lnTo>
                    <a:pt x="113" y="119"/>
                  </a:lnTo>
                  <a:lnTo>
                    <a:pt x="107" y="125"/>
                  </a:lnTo>
                  <a:lnTo>
                    <a:pt x="77" y="125"/>
                  </a:lnTo>
                  <a:lnTo>
                    <a:pt x="77" y="119"/>
                  </a:lnTo>
                  <a:lnTo>
                    <a:pt x="95" y="107"/>
                  </a:lnTo>
                  <a:lnTo>
                    <a:pt x="107" y="95"/>
                  </a:lnTo>
                  <a:lnTo>
                    <a:pt x="119" y="59"/>
                  </a:lnTo>
                  <a:lnTo>
                    <a:pt x="107" y="36"/>
                  </a:lnTo>
                  <a:lnTo>
                    <a:pt x="101" y="18"/>
                  </a:lnTo>
                  <a:lnTo>
                    <a:pt x="89" y="12"/>
                  </a:lnTo>
                  <a:lnTo>
                    <a:pt x="77" y="6"/>
                  </a:lnTo>
                  <a:lnTo>
                    <a:pt x="59" y="0"/>
                  </a:lnTo>
                  <a:lnTo>
                    <a:pt x="42" y="6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6" y="36"/>
                  </a:lnTo>
                  <a:lnTo>
                    <a:pt x="0" y="59"/>
                  </a:lnTo>
                  <a:lnTo>
                    <a:pt x="12" y="95"/>
                  </a:lnTo>
                  <a:lnTo>
                    <a:pt x="24" y="107"/>
                  </a:lnTo>
                  <a:lnTo>
                    <a:pt x="36" y="119"/>
                  </a:lnTo>
                  <a:lnTo>
                    <a:pt x="42" y="125"/>
                  </a:lnTo>
                  <a:lnTo>
                    <a:pt x="12" y="125"/>
                  </a:lnTo>
                  <a:lnTo>
                    <a:pt x="6" y="119"/>
                  </a:lnTo>
                  <a:lnTo>
                    <a:pt x="0" y="113"/>
                  </a:lnTo>
                  <a:lnTo>
                    <a:pt x="0" y="143"/>
                  </a:lnTo>
                  <a:lnTo>
                    <a:pt x="48" y="143"/>
                  </a:lnTo>
                  <a:lnTo>
                    <a:pt x="48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3" name="Freeform 23"/>
            <p:cNvSpPr>
              <a:spLocks/>
            </p:cNvSpPr>
            <p:nvPr/>
          </p:nvSpPr>
          <p:spPr bwMode="auto">
            <a:xfrm>
              <a:off x="1676" y="1988"/>
              <a:ext cx="293" cy="352"/>
            </a:xfrm>
            <a:custGeom>
              <a:avLst/>
              <a:gdLst>
                <a:gd name="T0" fmla="*/ 143 w 293"/>
                <a:gd name="T1" fmla="*/ 352 h 352"/>
                <a:gd name="T2" fmla="*/ 173 w 293"/>
                <a:gd name="T3" fmla="*/ 346 h 352"/>
                <a:gd name="T4" fmla="*/ 203 w 293"/>
                <a:gd name="T5" fmla="*/ 340 h 352"/>
                <a:gd name="T6" fmla="*/ 227 w 293"/>
                <a:gd name="T7" fmla="*/ 322 h 352"/>
                <a:gd name="T8" fmla="*/ 251 w 293"/>
                <a:gd name="T9" fmla="*/ 298 h 352"/>
                <a:gd name="T10" fmla="*/ 281 w 293"/>
                <a:gd name="T11" fmla="*/ 239 h 352"/>
                <a:gd name="T12" fmla="*/ 293 w 293"/>
                <a:gd name="T13" fmla="*/ 209 h 352"/>
                <a:gd name="T14" fmla="*/ 293 w 293"/>
                <a:gd name="T15" fmla="*/ 173 h 352"/>
                <a:gd name="T16" fmla="*/ 293 w 293"/>
                <a:gd name="T17" fmla="*/ 137 h 352"/>
                <a:gd name="T18" fmla="*/ 281 w 293"/>
                <a:gd name="T19" fmla="*/ 107 h 352"/>
                <a:gd name="T20" fmla="*/ 251 w 293"/>
                <a:gd name="T21" fmla="*/ 54 h 352"/>
                <a:gd name="T22" fmla="*/ 203 w 293"/>
                <a:gd name="T23" fmla="*/ 12 h 352"/>
                <a:gd name="T24" fmla="*/ 173 w 293"/>
                <a:gd name="T25" fmla="*/ 6 h 352"/>
                <a:gd name="T26" fmla="*/ 143 w 293"/>
                <a:gd name="T27" fmla="*/ 0 h 352"/>
                <a:gd name="T28" fmla="*/ 113 w 293"/>
                <a:gd name="T29" fmla="*/ 6 h 352"/>
                <a:gd name="T30" fmla="*/ 89 w 293"/>
                <a:gd name="T31" fmla="*/ 12 h 352"/>
                <a:gd name="T32" fmla="*/ 42 w 293"/>
                <a:gd name="T33" fmla="*/ 54 h 352"/>
                <a:gd name="T34" fmla="*/ 12 w 293"/>
                <a:gd name="T35" fmla="*/ 107 h 352"/>
                <a:gd name="T36" fmla="*/ 6 w 293"/>
                <a:gd name="T37" fmla="*/ 137 h 352"/>
                <a:gd name="T38" fmla="*/ 0 w 293"/>
                <a:gd name="T39" fmla="*/ 173 h 352"/>
                <a:gd name="T40" fmla="*/ 6 w 293"/>
                <a:gd name="T41" fmla="*/ 209 h 352"/>
                <a:gd name="T42" fmla="*/ 12 w 293"/>
                <a:gd name="T43" fmla="*/ 239 h 352"/>
                <a:gd name="T44" fmla="*/ 42 w 293"/>
                <a:gd name="T45" fmla="*/ 298 h 352"/>
                <a:gd name="T46" fmla="*/ 66 w 293"/>
                <a:gd name="T47" fmla="*/ 322 h 352"/>
                <a:gd name="T48" fmla="*/ 89 w 293"/>
                <a:gd name="T49" fmla="*/ 340 h 352"/>
                <a:gd name="T50" fmla="*/ 113 w 293"/>
                <a:gd name="T51" fmla="*/ 346 h 352"/>
                <a:gd name="T52" fmla="*/ 143 w 293"/>
                <a:gd name="T53" fmla="*/ 352 h 352"/>
                <a:gd name="T54" fmla="*/ 143 w 293"/>
                <a:gd name="T55" fmla="*/ 352 h 35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93" h="352">
                  <a:moveTo>
                    <a:pt x="143" y="352"/>
                  </a:moveTo>
                  <a:lnTo>
                    <a:pt x="173" y="346"/>
                  </a:lnTo>
                  <a:lnTo>
                    <a:pt x="203" y="340"/>
                  </a:lnTo>
                  <a:lnTo>
                    <a:pt x="227" y="322"/>
                  </a:lnTo>
                  <a:lnTo>
                    <a:pt x="251" y="298"/>
                  </a:lnTo>
                  <a:lnTo>
                    <a:pt x="281" y="239"/>
                  </a:lnTo>
                  <a:lnTo>
                    <a:pt x="293" y="209"/>
                  </a:lnTo>
                  <a:lnTo>
                    <a:pt x="293" y="173"/>
                  </a:lnTo>
                  <a:lnTo>
                    <a:pt x="293" y="137"/>
                  </a:lnTo>
                  <a:lnTo>
                    <a:pt x="281" y="107"/>
                  </a:lnTo>
                  <a:lnTo>
                    <a:pt x="251" y="54"/>
                  </a:lnTo>
                  <a:lnTo>
                    <a:pt x="203" y="12"/>
                  </a:lnTo>
                  <a:lnTo>
                    <a:pt x="173" y="6"/>
                  </a:lnTo>
                  <a:lnTo>
                    <a:pt x="143" y="0"/>
                  </a:lnTo>
                  <a:lnTo>
                    <a:pt x="113" y="6"/>
                  </a:lnTo>
                  <a:lnTo>
                    <a:pt x="89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209"/>
                  </a:lnTo>
                  <a:lnTo>
                    <a:pt x="12" y="239"/>
                  </a:lnTo>
                  <a:lnTo>
                    <a:pt x="42" y="298"/>
                  </a:lnTo>
                  <a:lnTo>
                    <a:pt x="66" y="322"/>
                  </a:lnTo>
                  <a:lnTo>
                    <a:pt x="89" y="340"/>
                  </a:lnTo>
                  <a:lnTo>
                    <a:pt x="113" y="346"/>
                  </a:lnTo>
                  <a:lnTo>
                    <a:pt x="143" y="352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4" name="Freeform 24"/>
            <p:cNvSpPr>
              <a:spLocks/>
            </p:cNvSpPr>
            <p:nvPr/>
          </p:nvSpPr>
          <p:spPr bwMode="auto">
            <a:xfrm>
              <a:off x="1819" y="2161"/>
              <a:ext cx="150" cy="179"/>
            </a:xfrm>
            <a:custGeom>
              <a:avLst/>
              <a:gdLst>
                <a:gd name="T0" fmla="*/ 0 w 150"/>
                <a:gd name="T1" fmla="*/ 179 h 179"/>
                <a:gd name="T2" fmla="*/ 30 w 150"/>
                <a:gd name="T3" fmla="*/ 173 h 179"/>
                <a:gd name="T4" fmla="*/ 60 w 150"/>
                <a:gd name="T5" fmla="*/ 167 h 179"/>
                <a:gd name="T6" fmla="*/ 84 w 150"/>
                <a:gd name="T7" fmla="*/ 149 h 179"/>
                <a:gd name="T8" fmla="*/ 108 w 150"/>
                <a:gd name="T9" fmla="*/ 125 h 179"/>
                <a:gd name="T10" fmla="*/ 138 w 150"/>
                <a:gd name="T11" fmla="*/ 66 h 179"/>
                <a:gd name="T12" fmla="*/ 150 w 150"/>
                <a:gd name="T13" fmla="*/ 36 h 179"/>
                <a:gd name="T14" fmla="*/ 150 w 150"/>
                <a:gd name="T15" fmla="*/ 0 h 179"/>
                <a:gd name="T16" fmla="*/ 150 w 150"/>
                <a:gd name="T17" fmla="*/ 0 h 179"/>
                <a:gd name="T18" fmla="*/ 150 w 150"/>
                <a:gd name="T19" fmla="*/ 36 h 179"/>
                <a:gd name="T20" fmla="*/ 138 w 150"/>
                <a:gd name="T21" fmla="*/ 66 h 179"/>
                <a:gd name="T22" fmla="*/ 108 w 150"/>
                <a:gd name="T23" fmla="*/ 125 h 179"/>
                <a:gd name="T24" fmla="*/ 84 w 150"/>
                <a:gd name="T25" fmla="*/ 149 h 179"/>
                <a:gd name="T26" fmla="*/ 60 w 150"/>
                <a:gd name="T27" fmla="*/ 167 h 179"/>
                <a:gd name="T28" fmla="*/ 30 w 150"/>
                <a:gd name="T29" fmla="*/ 173 h 179"/>
                <a:gd name="T30" fmla="*/ 0 w 150"/>
                <a:gd name="T31" fmla="*/ 179 h 179"/>
                <a:gd name="T32" fmla="*/ 0 w 150"/>
                <a:gd name="T33" fmla="*/ 179 h 1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50" h="179">
                  <a:moveTo>
                    <a:pt x="0" y="179"/>
                  </a:moveTo>
                  <a:lnTo>
                    <a:pt x="30" y="173"/>
                  </a:lnTo>
                  <a:lnTo>
                    <a:pt x="60" y="167"/>
                  </a:lnTo>
                  <a:lnTo>
                    <a:pt x="84" y="149"/>
                  </a:lnTo>
                  <a:lnTo>
                    <a:pt x="108" y="125"/>
                  </a:lnTo>
                  <a:lnTo>
                    <a:pt x="138" y="66"/>
                  </a:lnTo>
                  <a:lnTo>
                    <a:pt x="150" y="36"/>
                  </a:lnTo>
                  <a:lnTo>
                    <a:pt x="150" y="0"/>
                  </a:lnTo>
                  <a:lnTo>
                    <a:pt x="150" y="36"/>
                  </a:lnTo>
                  <a:lnTo>
                    <a:pt x="138" y="66"/>
                  </a:lnTo>
                  <a:lnTo>
                    <a:pt x="108" y="125"/>
                  </a:lnTo>
                  <a:lnTo>
                    <a:pt x="84" y="149"/>
                  </a:lnTo>
                  <a:lnTo>
                    <a:pt x="60" y="167"/>
                  </a:lnTo>
                  <a:lnTo>
                    <a:pt x="30" y="173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5" name="Freeform 25"/>
            <p:cNvSpPr>
              <a:spLocks noEditPoints="1"/>
            </p:cNvSpPr>
            <p:nvPr/>
          </p:nvSpPr>
          <p:spPr bwMode="auto">
            <a:xfrm>
              <a:off x="1819" y="1988"/>
              <a:ext cx="150" cy="173"/>
            </a:xfrm>
            <a:custGeom>
              <a:avLst/>
              <a:gdLst>
                <a:gd name="T0" fmla="*/ 150 w 150"/>
                <a:gd name="T1" fmla="*/ 173 h 173"/>
                <a:gd name="T2" fmla="*/ 150 w 150"/>
                <a:gd name="T3" fmla="*/ 137 h 173"/>
                <a:gd name="T4" fmla="*/ 138 w 150"/>
                <a:gd name="T5" fmla="*/ 107 h 173"/>
                <a:gd name="T6" fmla="*/ 108 w 150"/>
                <a:gd name="T7" fmla="*/ 54 h 173"/>
                <a:gd name="T8" fmla="*/ 60 w 150"/>
                <a:gd name="T9" fmla="*/ 12 h 173"/>
                <a:gd name="T10" fmla="*/ 30 w 150"/>
                <a:gd name="T11" fmla="*/ 6 h 173"/>
                <a:gd name="T12" fmla="*/ 0 w 150"/>
                <a:gd name="T13" fmla="*/ 0 h 173"/>
                <a:gd name="T14" fmla="*/ 0 w 150"/>
                <a:gd name="T15" fmla="*/ 0 h 173"/>
                <a:gd name="T16" fmla="*/ 30 w 150"/>
                <a:gd name="T17" fmla="*/ 6 h 173"/>
                <a:gd name="T18" fmla="*/ 60 w 150"/>
                <a:gd name="T19" fmla="*/ 12 h 173"/>
                <a:gd name="T20" fmla="*/ 108 w 150"/>
                <a:gd name="T21" fmla="*/ 54 h 173"/>
                <a:gd name="T22" fmla="*/ 138 w 150"/>
                <a:gd name="T23" fmla="*/ 107 h 173"/>
                <a:gd name="T24" fmla="*/ 150 w 150"/>
                <a:gd name="T25" fmla="*/ 137 h 173"/>
                <a:gd name="T26" fmla="*/ 150 w 150"/>
                <a:gd name="T27" fmla="*/ 173 h 173"/>
                <a:gd name="T28" fmla="*/ 150 w 150"/>
                <a:gd name="T29" fmla="*/ 173 h 173"/>
                <a:gd name="T30" fmla="*/ 150 w 150"/>
                <a:gd name="T31" fmla="*/ 173 h 173"/>
                <a:gd name="T32" fmla="*/ 150 w 150"/>
                <a:gd name="T33" fmla="*/ 173 h 173"/>
                <a:gd name="T34" fmla="*/ 150 w 150"/>
                <a:gd name="T35" fmla="*/ 173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0" h="173">
                  <a:moveTo>
                    <a:pt x="150" y="173"/>
                  </a:moveTo>
                  <a:lnTo>
                    <a:pt x="150" y="137"/>
                  </a:lnTo>
                  <a:lnTo>
                    <a:pt x="138" y="107"/>
                  </a:lnTo>
                  <a:lnTo>
                    <a:pt x="108" y="54"/>
                  </a:lnTo>
                  <a:lnTo>
                    <a:pt x="60" y="12"/>
                  </a:lnTo>
                  <a:lnTo>
                    <a:pt x="30" y="6"/>
                  </a:lnTo>
                  <a:lnTo>
                    <a:pt x="0" y="0"/>
                  </a:lnTo>
                  <a:lnTo>
                    <a:pt x="30" y="6"/>
                  </a:lnTo>
                  <a:lnTo>
                    <a:pt x="60" y="12"/>
                  </a:lnTo>
                  <a:lnTo>
                    <a:pt x="108" y="54"/>
                  </a:lnTo>
                  <a:lnTo>
                    <a:pt x="138" y="107"/>
                  </a:lnTo>
                  <a:lnTo>
                    <a:pt x="150" y="137"/>
                  </a:lnTo>
                  <a:lnTo>
                    <a:pt x="150" y="173"/>
                  </a:lnTo>
                  <a:close/>
                  <a:moveTo>
                    <a:pt x="150" y="173"/>
                  </a:moveTo>
                  <a:lnTo>
                    <a:pt x="150" y="1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Freeform 26"/>
            <p:cNvSpPr>
              <a:spLocks noEditPoints="1"/>
            </p:cNvSpPr>
            <p:nvPr/>
          </p:nvSpPr>
          <p:spPr bwMode="auto">
            <a:xfrm>
              <a:off x="1676" y="1988"/>
              <a:ext cx="143" cy="173"/>
            </a:xfrm>
            <a:custGeom>
              <a:avLst/>
              <a:gdLst>
                <a:gd name="T0" fmla="*/ 143 w 143"/>
                <a:gd name="T1" fmla="*/ 0 h 173"/>
                <a:gd name="T2" fmla="*/ 113 w 143"/>
                <a:gd name="T3" fmla="*/ 6 h 173"/>
                <a:gd name="T4" fmla="*/ 89 w 143"/>
                <a:gd name="T5" fmla="*/ 12 h 173"/>
                <a:gd name="T6" fmla="*/ 42 w 143"/>
                <a:gd name="T7" fmla="*/ 54 h 173"/>
                <a:gd name="T8" fmla="*/ 12 w 143"/>
                <a:gd name="T9" fmla="*/ 107 h 173"/>
                <a:gd name="T10" fmla="*/ 6 w 143"/>
                <a:gd name="T11" fmla="*/ 137 h 173"/>
                <a:gd name="T12" fmla="*/ 0 w 143"/>
                <a:gd name="T13" fmla="*/ 173 h 173"/>
                <a:gd name="T14" fmla="*/ 0 w 143"/>
                <a:gd name="T15" fmla="*/ 173 h 173"/>
                <a:gd name="T16" fmla="*/ 6 w 143"/>
                <a:gd name="T17" fmla="*/ 137 h 173"/>
                <a:gd name="T18" fmla="*/ 12 w 143"/>
                <a:gd name="T19" fmla="*/ 107 h 173"/>
                <a:gd name="T20" fmla="*/ 42 w 143"/>
                <a:gd name="T21" fmla="*/ 54 h 173"/>
                <a:gd name="T22" fmla="*/ 89 w 143"/>
                <a:gd name="T23" fmla="*/ 12 h 173"/>
                <a:gd name="T24" fmla="*/ 113 w 143"/>
                <a:gd name="T25" fmla="*/ 6 h 173"/>
                <a:gd name="T26" fmla="*/ 143 w 143"/>
                <a:gd name="T27" fmla="*/ 0 h 173"/>
                <a:gd name="T28" fmla="*/ 143 w 143"/>
                <a:gd name="T29" fmla="*/ 0 h 173"/>
                <a:gd name="T30" fmla="*/ 143 w 143"/>
                <a:gd name="T31" fmla="*/ 0 h 173"/>
                <a:gd name="T32" fmla="*/ 143 w 143"/>
                <a:gd name="T33" fmla="*/ 0 h 173"/>
                <a:gd name="T34" fmla="*/ 143 w 143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43" h="173">
                  <a:moveTo>
                    <a:pt x="143" y="0"/>
                  </a:moveTo>
                  <a:lnTo>
                    <a:pt x="113" y="6"/>
                  </a:lnTo>
                  <a:lnTo>
                    <a:pt x="89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137"/>
                  </a:lnTo>
                  <a:lnTo>
                    <a:pt x="12" y="107"/>
                  </a:lnTo>
                  <a:lnTo>
                    <a:pt x="42" y="54"/>
                  </a:lnTo>
                  <a:lnTo>
                    <a:pt x="89" y="12"/>
                  </a:lnTo>
                  <a:lnTo>
                    <a:pt x="113" y="6"/>
                  </a:lnTo>
                  <a:lnTo>
                    <a:pt x="143" y="0"/>
                  </a:lnTo>
                  <a:close/>
                  <a:moveTo>
                    <a:pt x="143" y="0"/>
                  </a:moveTo>
                  <a:lnTo>
                    <a:pt x="14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7" name="Freeform 27"/>
            <p:cNvSpPr>
              <a:spLocks noEditPoints="1"/>
            </p:cNvSpPr>
            <p:nvPr/>
          </p:nvSpPr>
          <p:spPr bwMode="auto">
            <a:xfrm>
              <a:off x="1676" y="2161"/>
              <a:ext cx="143" cy="179"/>
            </a:xfrm>
            <a:custGeom>
              <a:avLst/>
              <a:gdLst>
                <a:gd name="T0" fmla="*/ 0 w 143"/>
                <a:gd name="T1" fmla="*/ 0 h 179"/>
                <a:gd name="T2" fmla="*/ 6 w 143"/>
                <a:gd name="T3" fmla="*/ 36 h 179"/>
                <a:gd name="T4" fmla="*/ 12 w 143"/>
                <a:gd name="T5" fmla="*/ 66 h 179"/>
                <a:gd name="T6" fmla="*/ 42 w 143"/>
                <a:gd name="T7" fmla="*/ 125 h 179"/>
                <a:gd name="T8" fmla="*/ 66 w 143"/>
                <a:gd name="T9" fmla="*/ 149 h 179"/>
                <a:gd name="T10" fmla="*/ 89 w 143"/>
                <a:gd name="T11" fmla="*/ 167 h 179"/>
                <a:gd name="T12" fmla="*/ 113 w 143"/>
                <a:gd name="T13" fmla="*/ 173 h 179"/>
                <a:gd name="T14" fmla="*/ 143 w 143"/>
                <a:gd name="T15" fmla="*/ 179 h 179"/>
                <a:gd name="T16" fmla="*/ 143 w 143"/>
                <a:gd name="T17" fmla="*/ 179 h 179"/>
                <a:gd name="T18" fmla="*/ 113 w 143"/>
                <a:gd name="T19" fmla="*/ 173 h 179"/>
                <a:gd name="T20" fmla="*/ 89 w 143"/>
                <a:gd name="T21" fmla="*/ 167 h 179"/>
                <a:gd name="T22" fmla="*/ 66 w 143"/>
                <a:gd name="T23" fmla="*/ 149 h 179"/>
                <a:gd name="T24" fmla="*/ 42 w 143"/>
                <a:gd name="T25" fmla="*/ 125 h 179"/>
                <a:gd name="T26" fmla="*/ 12 w 143"/>
                <a:gd name="T27" fmla="*/ 66 h 179"/>
                <a:gd name="T28" fmla="*/ 6 w 143"/>
                <a:gd name="T29" fmla="*/ 36 h 179"/>
                <a:gd name="T30" fmla="*/ 0 w 143"/>
                <a:gd name="T31" fmla="*/ 0 h 179"/>
                <a:gd name="T32" fmla="*/ 0 w 143"/>
                <a:gd name="T33" fmla="*/ 0 h 179"/>
                <a:gd name="T34" fmla="*/ 0 w 143"/>
                <a:gd name="T35" fmla="*/ 0 h 179"/>
                <a:gd name="T36" fmla="*/ 0 w 143"/>
                <a:gd name="T37" fmla="*/ 0 h 179"/>
                <a:gd name="T38" fmla="*/ 0 w 143"/>
                <a:gd name="T39" fmla="*/ 0 h 17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43" h="179">
                  <a:moveTo>
                    <a:pt x="0" y="0"/>
                  </a:moveTo>
                  <a:lnTo>
                    <a:pt x="6" y="36"/>
                  </a:lnTo>
                  <a:lnTo>
                    <a:pt x="12" y="66"/>
                  </a:lnTo>
                  <a:lnTo>
                    <a:pt x="42" y="125"/>
                  </a:lnTo>
                  <a:lnTo>
                    <a:pt x="66" y="149"/>
                  </a:lnTo>
                  <a:lnTo>
                    <a:pt x="89" y="167"/>
                  </a:lnTo>
                  <a:lnTo>
                    <a:pt x="113" y="173"/>
                  </a:lnTo>
                  <a:lnTo>
                    <a:pt x="143" y="179"/>
                  </a:lnTo>
                  <a:lnTo>
                    <a:pt x="113" y="173"/>
                  </a:lnTo>
                  <a:lnTo>
                    <a:pt x="89" y="167"/>
                  </a:lnTo>
                  <a:lnTo>
                    <a:pt x="66" y="149"/>
                  </a:lnTo>
                  <a:lnTo>
                    <a:pt x="42" y="125"/>
                  </a:lnTo>
                  <a:lnTo>
                    <a:pt x="12" y="66"/>
                  </a:lnTo>
                  <a:lnTo>
                    <a:pt x="6" y="36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8" name="Freeform 28"/>
            <p:cNvSpPr>
              <a:spLocks/>
            </p:cNvSpPr>
            <p:nvPr/>
          </p:nvSpPr>
          <p:spPr bwMode="auto">
            <a:xfrm>
              <a:off x="1819" y="234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9" name="Freeform 29"/>
            <p:cNvSpPr>
              <a:spLocks/>
            </p:cNvSpPr>
            <p:nvPr/>
          </p:nvSpPr>
          <p:spPr bwMode="auto">
            <a:xfrm>
              <a:off x="1777" y="2048"/>
              <a:ext cx="84" cy="107"/>
            </a:xfrm>
            <a:custGeom>
              <a:avLst/>
              <a:gdLst>
                <a:gd name="T0" fmla="*/ 36 w 84"/>
                <a:gd name="T1" fmla="*/ 47 h 107"/>
                <a:gd name="T2" fmla="*/ 0 w 84"/>
                <a:gd name="T3" fmla="*/ 47 h 107"/>
                <a:gd name="T4" fmla="*/ 0 w 84"/>
                <a:gd name="T5" fmla="*/ 59 h 107"/>
                <a:gd name="T6" fmla="*/ 36 w 84"/>
                <a:gd name="T7" fmla="*/ 59 h 107"/>
                <a:gd name="T8" fmla="*/ 36 w 84"/>
                <a:gd name="T9" fmla="*/ 107 h 107"/>
                <a:gd name="T10" fmla="*/ 48 w 84"/>
                <a:gd name="T11" fmla="*/ 107 h 107"/>
                <a:gd name="T12" fmla="*/ 48 w 84"/>
                <a:gd name="T13" fmla="*/ 59 h 107"/>
                <a:gd name="T14" fmla="*/ 84 w 84"/>
                <a:gd name="T15" fmla="*/ 59 h 107"/>
                <a:gd name="T16" fmla="*/ 84 w 84"/>
                <a:gd name="T17" fmla="*/ 47 h 107"/>
                <a:gd name="T18" fmla="*/ 48 w 84"/>
                <a:gd name="T19" fmla="*/ 47 h 107"/>
                <a:gd name="T20" fmla="*/ 48 w 84"/>
                <a:gd name="T21" fmla="*/ 0 h 107"/>
                <a:gd name="T22" fmla="*/ 36 w 84"/>
                <a:gd name="T23" fmla="*/ 0 h 107"/>
                <a:gd name="T24" fmla="*/ 36 w 84"/>
                <a:gd name="T25" fmla="*/ 47 h 10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4" h="107">
                  <a:moveTo>
                    <a:pt x="36" y="47"/>
                  </a:moveTo>
                  <a:lnTo>
                    <a:pt x="0" y="47"/>
                  </a:lnTo>
                  <a:lnTo>
                    <a:pt x="0" y="59"/>
                  </a:lnTo>
                  <a:lnTo>
                    <a:pt x="36" y="59"/>
                  </a:lnTo>
                  <a:lnTo>
                    <a:pt x="36" y="107"/>
                  </a:lnTo>
                  <a:lnTo>
                    <a:pt x="48" y="107"/>
                  </a:lnTo>
                  <a:lnTo>
                    <a:pt x="48" y="59"/>
                  </a:lnTo>
                  <a:lnTo>
                    <a:pt x="84" y="59"/>
                  </a:lnTo>
                  <a:lnTo>
                    <a:pt x="84" y="47"/>
                  </a:lnTo>
                  <a:lnTo>
                    <a:pt x="48" y="47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6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0" name="Rectangle 30"/>
            <p:cNvSpPr>
              <a:spLocks noChangeArrowheads="1"/>
            </p:cNvSpPr>
            <p:nvPr/>
          </p:nvSpPr>
          <p:spPr bwMode="auto">
            <a:xfrm>
              <a:off x="1771" y="2233"/>
              <a:ext cx="96" cy="1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9901" name="Freeform 31"/>
            <p:cNvSpPr>
              <a:spLocks/>
            </p:cNvSpPr>
            <p:nvPr/>
          </p:nvSpPr>
          <p:spPr bwMode="auto">
            <a:xfrm>
              <a:off x="3841" y="1988"/>
              <a:ext cx="293" cy="352"/>
            </a:xfrm>
            <a:custGeom>
              <a:avLst/>
              <a:gdLst>
                <a:gd name="T0" fmla="*/ 150 w 293"/>
                <a:gd name="T1" fmla="*/ 352 h 352"/>
                <a:gd name="T2" fmla="*/ 179 w 293"/>
                <a:gd name="T3" fmla="*/ 346 h 352"/>
                <a:gd name="T4" fmla="*/ 203 w 293"/>
                <a:gd name="T5" fmla="*/ 340 h 352"/>
                <a:gd name="T6" fmla="*/ 227 w 293"/>
                <a:gd name="T7" fmla="*/ 322 h 352"/>
                <a:gd name="T8" fmla="*/ 251 w 293"/>
                <a:gd name="T9" fmla="*/ 298 h 352"/>
                <a:gd name="T10" fmla="*/ 281 w 293"/>
                <a:gd name="T11" fmla="*/ 239 h 352"/>
                <a:gd name="T12" fmla="*/ 293 w 293"/>
                <a:gd name="T13" fmla="*/ 209 h 352"/>
                <a:gd name="T14" fmla="*/ 293 w 293"/>
                <a:gd name="T15" fmla="*/ 173 h 352"/>
                <a:gd name="T16" fmla="*/ 293 w 293"/>
                <a:gd name="T17" fmla="*/ 137 h 352"/>
                <a:gd name="T18" fmla="*/ 281 w 293"/>
                <a:gd name="T19" fmla="*/ 107 h 352"/>
                <a:gd name="T20" fmla="*/ 251 w 293"/>
                <a:gd name="T21" fmla="*/ 54 h 352"/>
                <a:gd name="T22" fmla="*/ 203 w 293"/>
                <a:gd name="T23" fmla="*/ 12 h 352"/>
                <a:gd name="T24" fmla="*/ 179 w 293"/>
                <a:gd name="T25" fmla="*/ 6 h 352"/>
                <a:gd name="T26" fmla="*/ 150 w 293"/>
                <a:gd name="T27" fmla="*/ 0 h 352"/>
                <a:gd name="T28" fmla="*/ 120 w 293"/>
                <a:gd name="T29" fmla="*/ 6 h 352"/>
                <a:gd name="T30" fmla="*/ 90 w 293"/>
                <a:gd name="T31" fmla="*/ 12 h 352"/>
                <a:gd name="T32" fmla="*/ 42 w 293"/>
                <a:gd name="T33" fmla="*/ 54 h 352"/>
                <a:gd name="T34" fmla="*/ 12 w 293"/>
                <a:gd name="T35" fmla="*/ 107 h 352"/>
                <a:gd name="T36" fmla="*/ 6 w 293"/>
                <a:gd name="T37" fmla="*/ 137 h 352"/>
                <a:gd name="T38" fmla="*/ 0 w 293"/>
                <a:gd name="T39" fmla="*/ 173 h 352"/>
                <a:gd name="T40" fmla="*/ 6 w 293"/>
                <a:gd name="T41" fmla="*/ 209 h 352"/>
                <a:gd name="T42" fmla="*/ 12 w 293"/>
                <a:gd name="T43" fmla="*/ 239 h 352"/>
                <a:gd name="T44" fmla="*/ 42 w 293"/>
                <a:gd name="T45" fmla="*/ 298 h 352"/>
                <a:gd name="T46" fmla="*/ 66 w 293"/>
                <a:gd name="T47" fmla="*/ 322 h 352"/>
                <a:gd name="T48" fmla="*/ 90 w 293"/>
                <a:gd name="T49" fmla="*/ 340 h 352"/>
                <a:gd name="T50" fmla="*/ 120 w 293"/>
                <a:gd name="T51" fmla="*/ 346 h 352"/>
                <a:gd name="T52" fmla="*/ 150 w 293"/>
                <a:gd name="T53" fmla="*/ 352 h 352"/>
                <a:gd name="T54" fmla="*/ 150 w 293"/>
                <a:gd name="T55" fmla="*/ 352 h 35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93" h="352">
                  <a:moveTo>
                    <a:pt x="150" y="352"/>
                  </a:moveTo>
                  <a:lnTo>
                    <a:pt x="179" y="346"/>
                  </a:lnTo>
                  <a:lnTo>
                    <a:pt x="203" y="340"/>
                  </a:lnTo>
                  <a:lnTo>
                    <a:pt x="227" y="322"/>
                  </a:lnTo>
                  <a:lnTo>
                    <a:pt x="251" y="298"/>
                  </a:lnTo>
                  <a:lnTo>
                    <a:pt x="281" y="239"/>
                  </a:lnTo>
                  <a:lnTo>
                    <a:pt x="293" y="209"/>
                  </a:lnTo>
                  <a:lnTo>
                    <a:pt x="293" y="173"/>
                  </a:lnTo>
                  <a:lnTo>
                    <a:pt x="293" y="137"/>
                  </a:lnTo>
                  <a:lnTo>
                    <a:pt x="281" y="107"/>
                  </a:lnTo>
                  <a:lnTo>
                    <a:pt x="251" y="54"/>
                  </a:lnTo>
                  <a:lnTo>
                    <a:pt x="203" y="12"/>
                  </a:lnTo>
                  <a:lnTo>
                    <a:pt x="179" y="6"/>
                  </a:lnTo>
                  <a:lnTo>
                    <a:pt x="150" y="0"/>
                  </a:lnTo>
                  <a:lnTo>
                    <a:pt x="120" y="6"/>
                  </a:lnTo>
                  <a:lnTo>
                    <a:pt x="90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209"/>
                  </a:lnTo>
                  <a:lnTo>
                    <a:pt x="12" y="239"/>
                  </a:lnTo>
                  <a:lnTo>
                    <a:pt x="42" y="298"/>
                  </a:lnTo>
                  <a:lnTo>
                    <a:pt x="66" y="322"/>
                  </a:lnTo>
                  <a:lnTo>
                    <a:pt x="90" y="340"/>
                  </a:lnTo>
                  <a:lnTo>
                    <a:pt x="120" y="346"/>
                  </a:lnTo>
                  <a:lnTo>
                    <a:pt x="150" y="352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2" name="Freeform 32"/>
            <p:cNvSpPr>
              <a:spLocks/>
            </p:cNvSpPr>
            <p:nvPr/>
          </p:nvSpPr>
          <p:spPr bwMode="auto">
            <a:xfrm>
              <a:off x="3991" y="2161"/>
              <a:ext cx="143" cy="179"/>
            </a:xfrm>
            <a:custGeom>
              <a:avLst/>
              <a:gdLst>
                <a:gd name="T0" fmla="*/ 0 w 143"/>
                <a:gd name="T1" fmla="*/ 179 h 179"/>
                <a:gd name="T2" fmla="*/ 29 w 143"/>
                <a:gd name="T3" fmla="*/ 173 h 179"/>
                <a:gd name="T4" fmla="*/ 53 w 143"/>
                <a:gd name="T5" fmla="*/ 167 h 179"/>
                <a:gd name="T6" fmla="*/ 77 w 143"/>
                <a:gd name="T7" fmla="*/ 149 h 179"/>
                <a:gd name="T8" fmla="*/ 101 w 143"/>
                <a:gd name="T9" fmla="*/ 125 h 179"/>
                <a:gd name="T10" fmla="*/ 131 w 143"/>
                <a:gd name="T11" fmla="*/ 66 h 179"/>
                <a:gd name="T12" fmla="*/ 143 w 143"/>
                <a:gd name="T13" fmla="*/ 36 h 179"/>
                <a:gd name="T14" fmla="*/ 143 w 143"/>
                <a:gd name="T15" fmla="*/ 0 h 179"/>
                <a:gd name="T16" fmla="*/ 143 w 143"/>
                <a:gd name="T17" fmla="*/ 0 h 179"/>
                <a:gd name="T18" fmla="*/ 143 w 143"/>
                <a:gd name="T19" fmla="*/ 36 h 179"/>
                <a:gd name="T20" fmla="*/ 131 w 143"/>
                <a:gd name="T21" fmla="*/ 66 h 179"/>
                <a:gd name="T22" fmla="*/ 101 w 143"/>
                <a:gd name="T23" fmla="*/ 125 h 179"/>
                <a:gd name="T24" fmla="*/ 77 w 143"/>
                <a:gd name="T25" fmla="*/ 149 h 179"/>
                <a:gd name="T26" fmla="*/ 53 w 143"/>
                <a:gd name="T27" fmla="*/ 167 h 179"/>
                <a:gd name="T28" fmla="*/ 29 w 143"/>
                <a:gd name="T29" fmla="*/ 173 h 179"/>
                <a:gd name="T30" fmla="*/ 0 w 143"/>
                <a:gd name="T31" fmla="*/ 179 h 179"/>
                <a:gd name="T32" fmla="*/ 0 w 143"/>
                <a:gd name="T33" fmla="*/ 179 h 1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3" h="179">
                  <a:moveTo>
                    <a:pt x="0" y="179"/>
                  </a:moveTo>
                  <a:lnTo>
                    <a:pt x="29" y="173"/>
                  </a:lnTo>
                  <a:lnTo>
                    <a:pt x="53" y="167"/>
                  </a:lnTo>
                  <a:lnTo>
                    <a:pt x="77" y="149"/>
                  </a:lnTo>
                  <a:lnTo>
                    <a:pt x="101" y="125"/>
                  </a:lnTo>
                  <a:lnTo>
                    <a:pt x="131" y="66"/>
                  </a:lnTo>
                  <a:lnTo>
                    <a:pt x="143" y="36"/>
                  </a:lnTo>
                  <a:lnTo>
                    <a:pt x="143" y="0"/>
                  </a:lnTo>
                  <a:lnTo>
                    <a:pt x="143" y="36"/>
                  </a:lnTo>
                  <a:lnTo>
                    <a:pt x="131" y="66"/>
                  </a:lnTo>
                  <a:lnTo>
                    <a:pt x="101" y="125"/>
                  </a:lnTo>
                  <a:lnTo>
                    <a:pt x="77" y="149"/>
                  </a:lnTo>
                  <a:lnTo>
                    <a:pt x="53" y="167"/>
                  </a:lnTo>
                  <a:lnTo>
                    <a:pt x="29" y="173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3" name="Freeform 33"/>
            <p:cNvSpPr>
              <a:spLocks noEditPoints="1"/>
            </p:cNvSpPr>
            <p:nvPr/>
          </p:nvSpPr>
          <p:spPr bwMode="auto">
            <a:xfrm>
              <a:off x="3991" y="1988"/>
              <a:ext cx="143" cy="173"/>
            </a:xfrm>
            <a:custGeom>
              <a:avLst/>
              <a:gdLst>
                <a:gd name="T0" fmla="*/ 143 w 143"/>
                <a:gd name="T1" fmla="*/ 173 h 173"/>
                <a:gd name="T2" fmla="*/ 143 w 143"/>
                <a:gd name="T3" fmla="*/ 137 h 173"/>
                <a:gd name="T4" fmla="*/ 131 w 143"/>
                <a:gd name="T5" fmla="*/ 107 h 173"/>
                <a:gd name="T6" fmla="*/ 101 w 143"/>
                <a:gd name="T7" fmla="*/ 54 h 173"/>
                <a:gd name="T8" fmla="*/ 53 w 143"/>
                <a:gd name="T9" fmla="*/ 12 h 173"/>
                <a:gd name="T10" fmla="*/ 29 w 143"/>
                <a:gd name="T11" fmla="*/ 6 h 173"/>
                <a:gd name="T12" fmla="*/ 0 w 143"/>
                <a:gd name="T13" fmla="*/ 0 h 173"/>
                <a:gd name="T14" fmla="*/ 0 w 143"/>
                <a:gd name="T15" fmla="*/ 0 h 173"/>
                <a:gd name="T16" fmla="*/ 29 w 143"/>
                <a:gd name="T17" fmla="*/ 6 h 173"/>
                <a:gd name="T18" fmla="*/ 53 w 143"/>
                <a:gd name="T19" fmla="*/ 12 h 173"/>
                <a:gd name="T20" fmla="*/ 101 w 143"/>
                <a:gd name="T21" fmla="*/ 54 h 173"/>
                <a:gd name="T22" fmla="*/ 131 w 143"/>
                <a:gd name="T23" fmla="*/ 107 h 173"/>
                <a:gd name="T24" fmla="*/ 143 w 143"/>
                <a:gd name="T25" fmla="*/ 137 h 173"/>
                <a:gd name="T26" fmla="*/ 143 w 143"/>
                <a:gd name="T27" fmla="*/ 173 h 173"/>
                <a:gd name="T28" fmla="*/ 143 w 143"/>
                <a:gd name="T29" fmla="*/ 173 h 173"/>
                <a:gd name="T30" fmla="*/ 143 w 143"/>
                <a:gd name="T31" fmla="*/ 173 h 173"/>
                <a:gd name="T32" fmla="*/ 143 w 143"/>
                <a:gd name="T33" fmla="*/ 173 h 173"/>
                <a:gd name="T34" fmla="*/ 143 w 143"/>
                <a:gd name="T35" fmla="*/ 173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43" h="173">
                  <a:moveTo>
                    <a:pt x="143" y="173"/>
                  </a:moveTo>
                  <a:lnTo>
                    <a:pt x="143" y="137"/>
                  </a:lnTo>
                  <a:lnTo>
                    <a:pt x="131" y="107"/>
                  </a:lnTo>
                  <a:lnTo>
                    <a:pt x="101" y="54"/>
                  </a:lnTo>
                  <a:lnTo>
                    <a:pt x="53" y="12"/>
                  </a:lnTo>
                  <a:lnTo>
                    <a:pt x="29" y="6"/>
                  </a:lnTo>
                  <a:lnTo>
                    <a:pt x="0" y="0"/>
                  </a:lnTo>
                  <a:lnTo>
                    <a:pt x="29" y="6"/>
                  </a:lnTo>
                  <a:lnTo>
                    <a:pt x="53" y="12"/>
                  </a:lnTo>
                  <a:lnTo>
                    <a:pt x="101" y="54"/>
                  </a:lnTo>
                  <a:lnTo>
                    <a:pt x="131" y="107"/>
                  </a:lnTo>
                  <a:lnTo>
                    <a:pt x="143" y="137"/>
                  </a:lnTo>
                  <a:lnTo>
                    <a:pt x="143" y="173"/>
                  </a:lnTo>
                  <a:close/>
                  <a:moveTo>
                    <a:pt x="143" y="173"/>
                  </a:moveTo>
                  <a:lnTo>
                    <a:pt x="143" y="1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4" name="Freeform 34"/>
            <p:cNvSpPr>
              <a:spLocks noEditPoints="1"/>
            </p:cNvSpPr>
            <p:nvPr/>
          </p:nvSpPr>
          <p:spPr bwMode="auto">
            <a:xfrm>
              <a:off x="3841" y="1988"/>
              <a:ext cx="150" cy="173"/>
            </a:xfrm>
            <a:custGeom>
              <a:avLst/>
              <a:gdLst>
                <a:gd name="T0" fmla="*/ 150 w 150"/>
                <a:gd name="T1" fmla="*/ 0 h 173"/>
                <a:gd name="T2" fmla="*/ 120 w 150"/>
                <a:gd name="T3" fmla="*/ 6 h 173"/>
                <a:gd name="T4" fmla="*/ 90 w 150"/>
                <a:gd name="T5" fmla="*/ 12 h 173"/>
                <a:gd name="T6" fmla="*/ 42 w 150"/>
                <a:gd name="T7" fmla="*/ 54 h 173"/>
                <a:gd name="T8" fmla="*/ 12 w 150"/>
                <a:gd name="T9" fmla="*/ 107 h 173"/>
                <a:gd name="T10" fmla="*/ 6 w 150"/>
                <a:gd name="T11" fmla="*/ 137 h 173"/>
                <a:gd name="T12" fmla="*/ 0 w 150"/>
                <a:gd name="T13" fmla="*/ 173 h 173"/>
                <a:gd name="T14" fmla="*/ 0 w 150"/>
                <a:gd name="T15" fmla="*/ 173 h 173"/>
                <a:gd name="T16" fmla="*/ 6 w 150"/>
                <a:gd name="T17" fmla="*/ 137 h 173"/>
                <a:gd name="T18" fmla="*/ 12 w 150"/>
                <a:gd name="T19" fmla="*/ 107 h 173"/>
                <a:gd name="T20" fmla="*/ 42 w 150"/>
                <a:gd name="T21" fmla="*/ 54 h 173"/>
                <a:gd name="T22" fmla="*/ 90 w 150"/>
                <a:gd name="T23" fmla="*/ 12 h 173"/>
                <a:gd name="T24" fmla="*/ 120 w 150"/>
                <a:gd name="T25" fmla="*/ 6 h 173"/>
                <a:gd name="T26" fmla="*/ 150 w 150"/>
                <a:gd name="T27" fmla="*/ 0 h 173"/>
                <a:gd name="T28" fmla="*/ 150 w 150"/>
                <a:gd name="T29" fmla="*/ 0 h 173"/>
                <a:gd name="T30" fmla="*/ 150 w 150"/>
                <a:gd name="T31" fmla="*/ 0 h 173"/>
                <a:gd name="T32" fmla="*/ 150 w 150"/>
                <a:gd name="T33" fmla="*/ 0 h 173"/>
                <a:gd name="T34" fmla="*/ 150 w 150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50" h="173">
                  <a:moveTo>
                    <a:pt x="150" y="0"/>
                  </a:moveTo>
                  <a:lnTo>
                    <a:pt x="120" y="6"/>
                  </a:lnTo>
                  <a:lnTo>
                    <a:pt x="90" y="12"/>
                  </a:lnTo>
                  <a:lnTo>
                    <a:pt x="42" y="54"/>
                  </a:lnTo>
                  <a:lnTo>
                    <a:pt x="12" y="107"/>
                  </a:lnTo>
                  <a:lnTo>
                    <a:pt x="6" y="137"/>
                  </a:lnTo>
                  <a:lnTo>
                    <a:pt x="0" y="173"/>
                  </a:lnTo>
                  <a:lnTo>
                    <a:pt x="6" y="137"/>
                  </a:lnTo>
                  <a:lnTo>
                    <a:pt x="12" y="107"/>
                  </a:lnTo>
                  <a:lnTo>
                    <a:pt x="42" y="54"/>
                  </a:lnTo>
                  <a:lnTo>
                    <a:pt x="90" y="12"/>
                  </a:lnTo>
                  <a:lnTo>
                    <a:pt x="120" y="6"/>
                  </a:lnTo>
                  <a:lnTo>
                    <a:pt x="150" y="0"/>
                  </a:lnTo>
                  <a:close/>
                  <a:moveTo>
                    <a:pt x="150" y="0"/>
                  </a:moveTo>
                  <a:lnTo>
                    <a:pt x="15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5" name="Freeform 35"/>
            <p:cNvSpPr>
              <a:spLocks noEditPoints="1"/>
            </p:cNvSpPr>
            <p:nvPr/>
          </p:nvSpPr>
          <p:spPr bwMode="auto">
            <a:xfrm>
              <a:off x="3841" y="2161"/>
              <a:ext cx="150" cy="179"/>
            </a:xfrm>
            <a:custGeom>
              <a:avLst/>
              <a:gdLst>
                <a:gd name="T0" fmla="*/ 0 w 150"/>
                <a:gd name="T1" fmla="*/ 0 h 179"/>
                <a:gd name="T2" fmla="*/ 6 w 150"/>
                <a:gd name="T3" fmla="*/ 36 h 179"/>
                <a:gd name="T4" fmla="*/ 12 w 150"/>
                <a:gd name="T5" fmla="*/ 66 h 179"/>
                <a:gd name="T6" fmla="*/ 42 w 150"/>
                <a:gd name="T7" fmla="*/ 125 h 179"/>
                <a:gd name="T8" fmla="*/ 66 w 150"/>
                <a:gd name="T9" fmla="*/ 149 h 179"/>
                <a:gd name="T10" fmla="*/ 90 w 150"/>
                <a:gd name="T11" fmla="*/ 167 h 179"/>
                <a:gd name="T12" fmla="*/ 120 w 150"/>
                <a:gd name="T13" fmla="*/ 173 h 179"/>
                <a:gd name="T14" fmla="*/ 150 w 150"/>
                <a:gd name="T15" fmla="*/ 179 h 179"/>
                <a:gd name="T16" fmla="*/ 150 w 150"/>
                <a:gd name="T17" fmla="*/ 179 h 179"/>
                <a:gd name="T18" fmla="*/ 120 w 150"/>
                <a:gd name="T19" fmla="*/ 173 h 179"/>
                <a:gd name="T20" fmla="*/ 90 w 150"/>
                <a:gd name="T21" fmla="*/ 167 h 179"/>
                <a:gd name="T22" fmla="*/ 66 w 150"/>
                <a:gd name="T23" fmla="*/ 149 h 179"/>
                <a:gd name="T24" fmla="*/ 42 w 150"/>
                <a:gd name="T25" fmla="*/ 125 h 179"/>
                <a:gd name="T26" fmla="*/ 12 w 150"/>
                <a:gd name="T27" fmla="*/ 66 h 179"/>
                <a:gd name="T28" fmla="*/ 6 w 150"/>
                <a:gd name="T29" fmla="*/ 36 h 179"/>
                <a:gd name="T30" fmla="*/ 0 w 150"/>
                <a:gd name="T31" fmla="*/ 0 h 179"/>
                <a:gd name="T32" fmla="*/ 0 w 150"/>
                <a:gd name="T33" fmla="*/ 0 h 179"/>
                <a:gd name="T34" fmla="*/ 0 w 150"/>
                <a:gd name="T35" fmla="*/ 0 h 179"/>
                <a:gd name="T36" fmla="*/ 0 w 150"/>
                <a:gd name="T37" fmla="*/ 0 h 179"/>
                <a:gd name="T38" fmla="*/ 0 w 150"/>
                <a:gd name="T39" fmla="*/ 0 h 17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50" h="179">
                  <a:moveTo>
                    <a:pt x="0" y="0"/>
                  </a:moveTo>
                  <a:lnTo>
                    <a:pt x="6" y="36"/>
                  </a:lnTo>
                  <a:lnTo>
                    <a:pt x="12" y="66"/>
                  </a:lnTo>
                  <a:lnTo>
                    <a:pt x="42" y="125"/>
                  </a:lnTo>
                  <a:lnTo>
                    <a:pt x="66" y="149"/>
                  </a:lnTo>
                  <a:lnTo>
                    <a:pt x="90" y="167"/>
                  </a:lnTo>
                  <a:lnTo>
                    <a:pt x="120" y="173"/>
                  </a:lnTo>
                  <a:lnTo>
                    <a:pt x="150" y="179"/>
                  </a:lnTo>
                  <a:lnTo>
                    <a:pt x="120" y="173"/>
                  </a:lnTo>
                  <a:lnTo>
                    <a:pt x="90" y="167"/>
                  </a:lnTo>
                  <a:lnTo>
                    <a:pt x="66" y="149"/>
                  </a:lnTo>
                  <a:lnTo>
                    <a:pt x="42" y="125"/>
                  </a:lnTo>
                  <a:lnTo>
                    <a:pt x="12" y="66"/>
                  </a:lnTo>
                  <a:lnTo>
                    <a:pt x="6" y="36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6" name="Freeform 36"/>
            <p:cNvSpPr>
              <a:spLocks/>
            </p:cNvSpPr>
            <p:nvPr/>
          </p:nvSpPr>
          <p:spPr bwMode="auto">
            <a:xfrm>
              <a:off x="3991" y="234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7" name="Freeform 37"/>
            <p:cNvSpPr>
              <a:spLocks/>
            </p:cNvSpPr>
            <p:nvPr/>
          </p:nvSpPr>
          <p:spPr bwMode="auto">
            <a:xfrm>
              <a:off x="3985" y="2161"/>
              <a:ext cx="1" cy="137"/>
            </a:xfrm>
            <a:custGeom>
              <a:avLst/>
              <a:gdLst>
                <a:gd name="T0" fmla="*/ 0 w 1"/>
                <a:gd name="T1" fmla="*/ 137 h 137"/>
                <a:gd name="T2" fmla="*/ 0 w 1"/>
                <a:gd name="T3" fmla="*/ 0 h 137"/>
                <a:gd name="T4" fmla="*/ 0 w 1"/>
                <a:gd name="T5" fmla="*/ 137 h 137"/>
                <a:gd name="T6" fmla="*/ 0 w 1"/>
                <a:gd name="T7" fmla="*/ 13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37">
                  <a:moveTo>
                    <a:pt x="0" y="137"/>
                  </a:move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8" name="Freeform 38"/>
            <p:cNvSpPr>
              <a:spLocks/>
            </p:cNvSpPr>
            <p:nvPr/>
          </p:nvSpPr>
          <p:spPr bwMode="auto">
            <a:xfrm>
              <a:off x="3949" y="2030"/>
              <a:ext cx="71" cy="161"/>
            </a:xfrm>
            <a:custGeom>
              <a:avLst/>
              <a:gdLst>
                <a:gd name="T0" fmla="*/ 71 w 71"/>
                <a:gd name="T1" fmla="*/ 161 h 161"/>
                <a:gd name="T2" fmla="*/ 36 w 71"/>
                <a:gd name="T3" fmla="*/ 0 h 161"/>
                <a:gd name="T4" fmla="*/ 0 w 71"/>
                <a:gd name="T5" fmla="*/ 161 h 161"/>
                <a:gd name="T6" fmla="*/ 71 w 71"/>
                <a:gd name="T7" fmla="*/ 161 h 161"/>
                <a:gd name="T8" fmla="*/ 71 w 71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161">
                  <a:moveTo>
                    <a:pt x="71" y="161"/>
                  </a:moveTo>
                  <a:lnTo>
                    <a:pt x="36" y="0"/>
                  </a:lnTo>
                  <a:lnTo>
                    <a:pt x="0" y="161"/>
                  </a:lnTo>
                  <a:lnTo>
                    <a:pt x="71" y="1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9" name="Freeform 39"/>
            <p:cNvSpPr>
              <a:spLocks/>
            </p:cNvSpPr>
            <p:nvPr/>
          </p:nvSpPr>
          <p:spPr bwMode="auto">
            <a:xfrm>
              <a:off x="2423" y="2113"/>
              <a:ext cx="78" cy="144"/>
            </a:xfrm>
            <a:custGeom>
              <a:avLst/>
              <a:gdLst>
                <a:gd name="T0" fmla="*/ 78 w 78"/>
                <a:gd name="T1" fmla="*/ 114 h 144"/>
                <a:gd name="T2" fmla="*/ 78 w 78"/>
                <a:gd name="T3" fmla="*/ 114 h 144"/>
                <a:gd name="T4" fmla="*/ 66 w 78"/>
                <a:gd name="T5" fmla="*/ 126 h 144"/>
                <a:gd name="T6" fmla="*/ 60 w 78"/>
                <a:gd name="T7" fmla="*/ 126 h 144"/>
                <a:gd name="T8" fmla="*/ 18 w 78"/>
                <a:gd name="T9" fmla="*/ 126 h 144"/>
                <a:gd name="T10" fmla="*/ 48 w 78"/>
                <a:gd name="T11" fmla="*/ 90 h 144"/>
                <a:gd name="T12" fmla="*/ 54 w 78"/>
                <a:gd name="T13" fmla="*/ 84 h 144"/>
                <a:gd name="T14" fmla="*/ 60 w 78"/>
                <a:gd name="T15" fmla="*/ 72 h 144"/>
                <a:gd name="T16" fmla="*/ 66 w 78"/>
                <a:gd name="T17" fmla="*/ 42 h 144"/>
                <a:gd name="T18" fmla="*/ 60 w 78"/>
                <a:gd name="T19" fmla="*/ 12 h 144"/>
                <a:gd name="T20" fmla="*/ 48 w 78"/>
                <a:gd name="T21" fmla="*/ 6 h 144"/>
                <a:gd name="T22" fmla="*/ 36 w 78"/>
                <a:gd name="T23" fmla="*/ 0 h 144"/>
                <a:gd name="T24" fmla="*/ 18 w 78"/>
                <a:gd name="T25" fmla="*/ 12 h 144"/>
                <a:gd name="T26" fmla="*/ 6 w 78"/>
                <a:gd name="T27" fmla="*/ 24 h 144"/>
                <a:gd name="T28" fmla="*/ 0 w 78"/>
                <a:gd name="T29" fmla="*/ 42 h 144"/>
                <a:gd name="T30" fmla="*/ 6 w 78"/>
                <a:gd name="T31" fmla="*/ 48 h 144"/>
                <a:gd name="T32" fmla="*/ 12 w 78"/>
                <a:gd name="T33" fmla="*/ 30 h 144"/>
                <a:gd name="T34" fmla="*/ 18 w 78"/>
                <a:gd name="T35" fmla="*/ 24 h 144"/>
                <a:gd name="T36" fmla="*/ 30 w 78"/>
                <a:gd name="T37" fmla="*/ 18 h 144"/>
                <a:gd name="T38" fmla="*/ 42 w 78"/>
                <a:gd name="T39" fmla="*/ 24 h 144"/>
                <a:gd name="T40" fmla="*/ 48 w 78"/>
                <a:gd name="T41" fmla="*/ 30 h 144"/>
                <a:gd name="T42" fmla="*/ 54 w 78"/>
                <a:gd name="T43" fmla="*/ 48 h 144"/>
                <a:gd name="T44" fmla="*/ 48 w 78"/>
                <a:gd name="T45" fmla="*/ 78 h 144"/>
                <a:gd name="T46" fmla="*/ 30 w 78"/>
                <a:gd name="T47" fmla="*/ 102 h 144"/>
                <a:gd name="T48" fmla="*/ 0 w 78"/>
                <a:gd name="T49" fmla="*/ 144 h 144"/>
                <a:gd name="T50" fmla="*/ 0 w 78"/>
                <a:gd name="T51" fmla="*/ 144 h 144"/>
                <a:gd name="T52" fmla="*/ 66 w 78"/>
                <a:gd name="T53" fmla="*/ 144 h 144"/>
                <a:gd name="T54" fmla="*/ 78 w 78"/>
                <a:gd name="T55" fmla="*/ 114 h 1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78" h="144">
                  <a:moveTo>
                    <a:pt x="78" y="114"/>
                  </a:moveTo>
                  <a:lnTo>
                    <a:pt x="78" y="114"/>
                  </a:lnTo>
                  <a:lnTo>
                    <a:pt x="66" y="126"/>
                  </a:lnTo>
                  <a:lnTo>
                    <a:pt x="60" y="126"/>
                  </a:lnTo>
                  <a:lnTo>
                    <a:pt x="18" y="126"/>
                  </a:lnTo>
                  <a:lnTo>
                    <a:pt x="48" y="90"/>
                  </a:lnTo>
                  <a:lnTo>
                    <a:pt x="54" y="84"/>
                  </a:lnTo>
                  <a:lnTo>
                    <a:pt x="60" y="72"/>
                  </a:lnTo>
                  <a:lnTo>
                    <a:pt x="66" y="42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48"/>
                  </a:lnTo>
                  <a:lnTo>
                    <a:pt x="12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24"/>
                  </a:lnTo>
                  <a:lnTo>
                    <a:pt x="48" y="30"/>
                  </a:lnTo>
                  <a:lnTo>
                    <a:pt x="54" y="48"/>
                  </a:lnTo>
                  <a:lnTo>
                    <a:pt x="48" y="78"/>
                  </a:lnTo>
                  <a:lnTo>
                    <a:pt x="30" y="102"/>
                  </a:lnTo>
                  <a:lnTo>
                    <a:pt x="0" y="144"/>
                  </a:lnTo>
                  <a:lnTo>
                    <a:pt x="66" y="144"/>
                  </a:lnTo>
                  <a:lnTo>
                    <a:pt x="7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0" name="Freeform 40"/>
            <p:cNvSpPr>
              <a:spLocks/>
            </p:cNvSpPr>
            <p:nvPr/>
          </p:nvSpPr>
          <p:spPr bwMode="auto">
            <a:xfrm>
              <a:off x="2555" y="2113"/>
              <a:ext cx="120" cy="144"/>
            </a:xfrm>
            <a:custGeom>
              <a:avLst/>
              <a:gdLst>
                <a:gd name="T0" fmla="*/ 48 w 120"/>
                <a:gd name="T1" fmla="*/ 114 h 144"/>
                <a:gd name="T2" fmla="*/ 42 w 120"/>
                <a:gd name="T3" fmla="*/ 108 h 144"/>
                <a:gd name="T4" fmla="*/ 36 w 120"/>
                <a:gd name="T5" fmla="*/ 102 h 144"/>
                <a:gd name="T6" fmla="*/ 30 w 120"/>
                <a:gd name="T7" fmla="*/ 90 h 144"/>
                <a:gd name="T8" fmla="*/ 24 w 120"/>
                <a:gd name="T9" fmla="*/ 72 h 144"/>
                <a:gd name="T10" fmla="*/ 24 w 120"/>
                <a:gd name="T11" fmla="*/ 54 h 144"/>
                <a:gd name="T12" fmla="*/ 24 w 120"/>
                <a:gd name="T13" fmla="*/ 36 h 144"/>
                <a:gd name="T14" fmla="*/ 36 w 120"/>
                <a:gd name="T15" fmla="*/ 18 h 144"/>
                <a:gd name="T16" fmla="*/ 48 w 120"/>
                <a:gd name="T17" fmla="*/ 12 h 144"/>
                <a:gd name="T18" fmla="*/ 60 w 120"/>
                <a:gd name="T19" fmla="*/ 6 h 144"/>
                <a:gd name="T20" fmla="*/ 72 w 120"/>
                <a:gd name="T21" fmla="*/ 12 h 144"/>
                <a:gd name="T22" fmla="*/ 84 w 120"/>
                <a:gd name="T23" fmla="*/ 18 h 144"/>
                <a:gd name="T24" fmla="*/ 96 w 120"/>
                <a:gd name="T25" fmla="*/ 36 h 144"/>
                <a:gd name="T26" fmla="*/ 102 w 120"/>
                <a:gd name="T27" fmla="*/ 54 h 144"/>
                <a:gd name="T28" fmla="*/ 102 w 120"/>
                <a:gd name="T29" fmla="*/ 72 h 144"/>
                <a:gd name="T30" fmla="*/ 96 w 120"/>
                <a:gd name="T31" fmla="*/ 90 h 144"/>
                <a:gd name="T32" fmla="*/ 90 w 120"/>
                <a:gd name="T33" fmla="*/ 102 h 144"/>
                <a:gd name="T34" fmla="*/ 84 w 120"/>
                <a:gd name="T35" fmla="*/ 108 h 144"/>
                <a:gd name="T36" fmla="*/ 72 w 120"/>
                <a:gd name="T37" fmla="*/ 114 h 144"/>
                <a:gd name="T38" fmla="*/ 72 w 120"/>
                <a:gd name="T39" fmla="*/ 144 h 144"/>
                <a:gd name="T40" fmla="*/ 120 w 120"/>
                <a:gd name="T41" fmla="*/ 144 h 144"/>
                <a:gd name="T42" fmla="*/ 120 w 120"/>
                <a:gd name="T43" fmla="*/ 108 h 144"/>
                <a:gd name="T44" fmla="*/ 120 w 120"/>
                <a:gd name="T45" fmla="*/ 108 h 144"/>
                <a:gd name="T46" fmla="*/ 114 w 120"/>
                <a:gd name="T47" fmla="*/ 120 h 144"/>
                <a:gd name="T48" fmla="*/ 108 w 120"/>
                <a:gd name="T49" fmla="*/ 120 h 144"/>
                <a:gd name="T50" fmla="*/ 78 w 120"/>
                <a:gd name="T51" fmla="*/ 120 h 144"/>
                <a:gd name="T52" fmla="*/ 78 w 120"/>
                <a:gd name="T53" fmla="*/ 114 h 144"/>
                <a:gd name="T54" fmla="*/ 96 w 120"/>
                <a:gd name="T55" fmla="*/ 108 h 144"/>
                <a:gd name="T56" fmla="*/ 108 w 120"/>
                <a:gd name="T57" fmla="*/ 96 h 144"/>
                <a:gd name="T58" fmla="*/ 120 w 120"/>
                <a:gd name="T59" fmla="*/ 60 h 144"/>
                <a:gd name="T60" fmla="*/ 114 w 120"/>
                <a:gd name="T61" fmla="*/ 30 h 144"/>
                <a:gd name="T62" fmla="*/ 102 w 120"/>
                <a:gd name="T63" fmla="*/ 18 h 144"/>
                <a:gd name="T64" fmla="*/ 90 w 120"/>
                <a:gd name="T65" fmla="*/ 12 h 144"/>
                <a:gd name="T66" fmla="*/ 78 w 120"/>
                <a:gd name="T67" fmla="*/ 6 h 144"/>
                <a:gd name="T68" fmla="*/ 60 w 120"/>
                <a:gd name="T69" fmla="*/ 0 h 144"/>
                <a:gd name="T70" fmla="*/ 42 w 120"/>
                <a:gd name="T71" fmla="*/ 6 h 144"/>
                <a:gd name="T72" fmla="*/ 30 w 120"/>
                <a:gd name="T73" fmla="*/ 12 h 144"/>
                <a:gd name="T74" fmla="*/ 18 w 120"/>
                <a:gd name="T75" fmla="*/ 18 h 144"/>
                <a:gd name="T76" fmla="*/ 6 w 120"/>
                <a:gd name="T77" fmla="*/ 30 h 144"/>
                <a:gd name="T78" fmla="*/ 0 w 120"/>
                <a:gd name="T79" fmla="*/ 60 h 144"/>
                <a:gd name="T80" fmla="*/ 12 w 120"/>
                <a:gd name="T81" fmla="*/ 96 h 144"/>
                <a:gd name="T82" fmla="*/ 24 w 120"/>
                <a:gd name="T83" fmla="*/ 108 h 144"/>
                <a:gd name="T84" fmla="*/ 42 w 120"/>
                <a:gd name="T85" fmla="*/ 114 h 144"/>
                <a:gd name="T86" fmla="*/ 42 w 120"/>
                <a:gd name="T87" fmla="*/ 120 h 144"/>
                <a:gd name="T88" fmla="*/ 12 w 120"/>
                <a:gd name="T89" fmla="*/ 120 h 144"/>
                <a:gd name="T90" fmla="*/ 6 w 120"/>
                <a:gd name="T91" fmla="*/ 120 h 144"/>
                <a:gd name="T92" fmla="*/ 0 w 120"/>
                <a:gd name="T93" fmla="*/ 108 h 144"/>
                <a:gd name="T94" fmla="*/ 0 w 120"/>
                <a:gd name="T95" fmla="*/ 108 h 144"/>
                <a:gd name="T96" fmla="*/ 0 w 120"/>
                <a:gd name="T97" fmla="*/ 144 h 144"/>
                <a:gd name="T98" fmla="*/ 48 w 120"/>
                <a:gd name="T99" fmla="*/ 144 h 144"/>
                <a:gd name="T100" fmla="*/ 48 w 120"/>
                <a:gd name="T101" fmla="*/ 114 h 14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0" h="144">
                  <a:moveTo>
                    <a:pt x="48" y="114"/>
                  </a:moveTo>
                  <a:lnTo>
                    <a:pt x="42" y="108"/>
                  </a:lnTo>
                  <a:lnTo>
                    <a:pt x="36" y="102"/>
                  </a:lnTo>
                  <a:lnTo>
                    <a:pt x="30" y="90"/>
                  </a:lnTo>
                  <a:lnTo>
                    <a:pt x="24" y="72"/>
                  </a:lnTo>
                  <a:lnTo>
                    <a:pt x="24" y="54"/>
                  </a:lnTo>
                  <a:lnTo>
                    <a:pt x="24" y="36"/>
                  </a:lnTo>
                  <a:lnTo>
                    <a:pt x="36" y="18"/>
                  </a:lnTo>
                  <a:lnTo>
                    <a:pt x="48" y="12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84" y="18"/>
                  </a:lnTo>
                  <a:lnTo>
                    <a:pt x="96" y="36"/>
                  </a:lnTo>
                  <a:lnTo>
                    <a:pt x="102" y="54"/>
                  </a:lnTo>
                  <a:lnTo>
                    <a:pt x="102" y="72"/>
                  </a:lnTo>
                  <a:lnTo>
                    <a:pt x="96" y="90"/>
                  </a:lnTo>
                  <a:lnTo>
                    <a:pt x="90" y="102"/>
                  </a:lnTo>
                  <a:lnTo>
                    <a:pt x="84" y="108"/>
                  </a:lnTo>
                  <a:lnTo>
                    <a:pt x="72" y="114"/>
                  </a:lnTo>
                  <a:lnTo>
                    <a:pt x="72" y="144"/>
                  </a:lnTo>
                  <a:lnTo>
                    <a:pt x="120" y="144"/>
                  </a:lnTo>
                  <a:lnTo>
                    <a:pt x="120" y="108"/>
                  </a:lnTo>
                  <a:lnTo>
                    <a:pt x="114" y="120"/>
                  </a:lnTo>
                  <a:lnTo>
                    <a:pt x="108" y="120"/>
                  </a:lnTo>
                  <a:lnTo>
                    <a:pt x="78" y="120"/>
                  </a:lnTo>
                  <a:lnTo>
                    <a:pt x="78" y="114"/>
                  </a:lnTo>
                  <a:lnTo>
                    <a:pt x="96" y="108"/>
                  </a:lnTo>
                  <a:lnTo>
                    <a:pt x="108" y="96"/>
                  </a:lnTo>
                  <a:lnTo>
                    <a:pt x="120" y="60"/>
                  </a:lnTo>
                  <a:lnTo>
                    <a:pt x="114" y="30"/>
                  </a:lnTo>
                  <a:lnTo>
                    <a:pt x="102" y="18"/>
                  </a:lnTo>
                  <a:lnTo>
                    <a:pt x="90" y="12"/>
                  </a:lnTo>
                  <a:lnTo>
                    <a:pt x="78" y="6"/>
                  </a:lnTo>
                  <a:lnTo>
                    <a:pt x="60" y="0"/>
                  </a:lnTo>
                  <a:lnTo>
                    <a:pt x="42" y="6"/>
                  </a:lnTo>
                  <a:lnTo>
                    <a:pt x="30" y="12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60"/>
                  </a:lnTo>
                  <a:lnTo>
                    <a:pt x="12" y="96"/>
                  </a:lnTo>
                  <a:lnTo>
                    <a:pt x="24" y="108"/>
                  </a:lnTo>
                  <a:lnTo>
                    <a:pt x="42" y="114"/>
                  </a:lnTo>
                  <a:lnTo>
                    <a:pt x="42" y="120"/>
                  </a:lnTo>
                  <a:lnTo>
                    <a:pt x="12" y="120"/>
                  </a:lnTo>
                  <a:lnTo>
                    <a:pt x="6" y="120"/>
                  </a:lnTo>
                  <a:lnTo>
                    <a:pt x="0" y="108"/>
                  </a:lnTo>
                  <a:lnTo>
                    <a:pt x="0" y="144"/>
                  </a:lnTo>
                  <a:lnTo>
                    <a:pt x="48" y="144"/>
                  </a:lnTo>
                  <a:lnTo>
                    <a:pt x="4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1" name="Freeform 41"/>
            <p:cNvSpPr>
              <a:spLocks/>
            </p:cNvSpPr>
            <p:nvPr/>
          </p:nvSpPr>
          <p:spPr bwMode="auto">
            <a:xfrm>
              <a:off x="2776" y="2346"/>
              <a:ext cx="54" cy="30"/>
            </a:xfrm>
            <a:custGeom>
              <a:avLst/>
              <a:gdLst>
                <a:gd name="T0" fmla="*/ 54 w 54"/>
                <a:gd name="T1" fmla="*/ 30 h 30"/>
                <a:gd name="T2" fmla="*/ 0 w 54"/>
                <a:gd name="T3" fmla="*/ 0 h 30"/>
                <a:gd name="T4" fmla="*/ 54 w 54"/>
                <a:gd name="T5" fmla="*/ 30 h 30"/>
                <a:gd name="T6" fmla="*/ 54 w 54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30">
                  <a:moveTo>
                    <a:pt x="54" y="30"/>
                  </a:moveTo>
                  <a:lnTo>
                    <a:pt x="0" y="0"/>
                  </a:lnTo>
                  <a:lnTo>
                    <a:pt x="54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2" name="Freeform 42"/>
            <p:cNvSpPr>
              <a:spLocks noEditPoints="1"/>
            </p:cNvSpPr>
            <p:nvPr/>
          </p:nvSpPr>
          <p:spPr bwMode="auto">
            <a:xfrm>
              <a:off x="2776" y="2322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3" name="Freeform 43"/>
            <p:cNvSpPr>
              <a:spLocks noEditPoints="1"/>
            </p:cNvSpPr>
            <p:nvPr/>
          </p:nvSpPr>
          <p:spPr bwMode="auto">
            <a:xfrm>
              <a:off x="2830" y="2292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4" name="Freeform 44"/>
            <p:cNvSpPr>
              <a:spLocks noEditPoints="1"/>
            </p:cNvSpPr>
            <p:nvPr/>
          </p:nvSpPr>
          <p:spPr bwMode="auto">
            <a:xfrm>
              <a:off x="2830" y="2268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5" name="Freeform 45"/>
            <p:cNvSpPr>
              <a:spLocks noEditPoints="1"/>
            </p:cNvSpPr>
            <p:nvPr/>
          </p:nvSpPr>
          <p:spPr bwMode="auto">
            <a:xfrm>
              <a:off x="2830" y="226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6" name="Freeform 46"/>
            <p:cNvSpPr>
              <a:spLocks noEditPoints="1"/>
            </p:cNvSpPr>
            <p:nvPr/>
          </p:nvSpPr>
          <p:spPr bwMode="auto">
            <a:xfrm>
              <a:off x="2776" y="2239"/>
              <a:ext cx="54" cy="29"/>
            </a:xfrm>
            <a:custGeom>
              <a:avLst/>
              <a:gdLst>
                <a:gd name="T0" fmla="*/ 54 w 54"/>
                <a:gd name="T1" fmla="*/ 29 h 29"/>
                <a:gd name="T2" fmla="*/ 0 w 54"/>
                <a:gd name="T3" fmla="*/ 0 h 29"/>
                <a:gd name="T4" fmla="*/ 54 w 54"/>
                <a:gd name="T5" fmla="*/ 29 h 29"/>
                <a:gd name="T6" fmla="*/ 54 w 54"/>
                <a:gd name="T7" fmla="*/ 29 h 29"/>
                <a:gd name="T8" fmla="*/ 54 w 54"/>
                <a:gd name="T9" fmla="*/ 29 h 29"/>
                <a:gd name="T10" fmla="*/ 54 w 54"/>
                <a:gd name="T11" fmla="*/ 29 h 29"/>
                <a:gd name="T12" fmla="*/ 54 w 54"/>
                <a:gd name="T13" fmla="*/ 2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9">
                  <a:moveTo>
                    <a:pt x="54" y="29"/>
                  </a:moveTo>
                  <a:lnTo>
                    <a:pt x="0" y="0"/>
                  </a:lnTo>
                  <a:lnTo>
                    <a:pt x="54" y="29"/>
                  </a:lnTo>
                  <a:close/>
                  <a:moveTo>
                    <a:pt x="54" y="29"/>
                  </a:moveTo>
                  <a:lnTo>
                    <a:pt x="54" y="2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7" name="Freeform 47"/>
            <p:cNvSpPr>
              <a:spLocks noEditPoints="1"/>
            </p:cNvSpPr>
            <p:nvPr/>
          </p:nvSpPr>
          <p:spPr bwMode="auto">
            <a:xfrm>
              <a:off x="2776" y="2215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8" name="Freeform 48"/>
            <p:cNvSpPr>
              <a:spLocks noEditPoints="1"/>
            </p:cNvSpPr>
            <p:nvPr/>
          </p:nvSpPr>
          <p:spPr bwMode="auto">
            <a:xfrm>
              <a:off x="2830" y="2185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9" name="Freeform 49"/>
            <p:cNvSpPr>
              <a:spLocks noEditPoints="1"/>
            </p:cNvSpPr>
            <p:nvPr/>
          </p:nvSpPr>
          <p:spPr bwMode="auto">
            <a:xfrm>
              <a:off x="2830" y="2161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0" name="Freeform 50"/>
            <p:cNvSpPr>
              <a:spLocks noEditPoints="1"/>
            </p:cNvSpPr>
            <p:nvPr/>
          </p:nvSpPr>
          <p:spPr bwMode="auto">
            <a:xfrm>
              <a:off x="2776" y="2131"/>
              <a:ext cx="54" cy="30"/>
            </a:xfrm>
            <a:custGeom>
              <a:avLst/>
              <a:gdLst>
                <a:gd name="T0" fmla="*/ 54 w 54"/>
                <a:gd name="T1" fmla="*/ 30 h 30"/>
                <a:gd name="T2" fmla="*/ 0 w 54"/>
                <a:gd name="T3" fmla="*/ 0 h 30"/>
                <a:gd name="T4" fmla="*/ 54 w 54"/>
                <a:gd name="T5" fmla="*/ 30 h 30"/>
                <a:gd name="T6" fmla="*/ 54 w 54"/>
                <a:gd name="T7" fmla="*/ 30 h 30"/>
                <a:gd name="T8" fmla="*/ 54 w 54"/>
                <a:gd name="T9" fmla="*/ 30 h 30"/>
                <a:gd name="T10" fmla="*/ 54 w 54"/>
                <a:gd name="T11" fmla="*/ 30 h 30"/>
                <a:gd name="T12" fmla="*/ 54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54" y="30"/>
                  </a:moveTo>
                  <a:lnTo>
                    <a:pt x="0" y="0"/>
                  </a:lnTo>
                  <a:lnTo>
                    <a:pt x="54" y="30"/>
                  </a:lnTo>
                  <a:close/>
                  <a:moveTo>
                    <a:pt x="54" y="30"/>
                  </a:moveTo>
                  <a:lnTo>
                    <a:pt x="54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1" name="Freeform 51"/>
            <p:cNvSpPr>
              <a:spLocks noEditPoints="1"/>
            </p:cNvSpPr>
            <p:nvPr/>
          </p:nvSpPr>
          <p:spPr bwMode="auto">
            <a:xfrm>
              <a:off x="2776" y="2107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2" name="Freeform 52"/>
            <p:cNvSpPr>
              <a:spLocks noEditPoints="1"/>
            </p:cNvSpPr>
            <p:nvPr/>
          </p:nvSpPr>
          <p:spPr bwMode="auto">
            <a:xfrm>
              <a:off x="2830" y="2077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3" name="Freeform 53"/>
            <p:cNvSpPr>
              <a:spLocks noEditPoints="1"/>
            </p:cNvSpPr>
            <p:nvPr/>
          </p:nvSpPr>
          <p:spPr bwMode="auto">
            <a:xfrm>
              <a:off x="2830" y="2054"/>
              <a:ext cx="54" cy="23"/>
            </a:xfrm>
            <a:custGeom>
              <a:avLst/>
              <a:gdLst>
                <a:gd name="T0" fmla="*/ 54 w 54"/>
                <a:gd name="T1" fmla="*/ 23 h 23"/>
                <a:gd name="T2" fmla="*/ 0 w 54"/>
                <a:gd name="T3" fmla="*/ 0 h 23"/>
                <a:gd name="T4" fmla="*/ 54 w 54"/>
                <a:gd name="T5" fmla="*/ 23 h 23"/>
                <a:gd name="T6" fmla="*/ 54 w 54"/>
                <a:gd name="T7" fmla="*/ 23 h 23"/>
                <a:gd name="T8" fmla="*/ 54 w 54"/>
                <a:gd name="T9" fmla="*/ 23 h 23"/>
                <a:gd name="T10" fmla="*/ 54 w 54"/>
                <a:gd name="T11" fmla="*/ 23 h 23"/>
                <a:gd name="T12" fmla="*/ 54 w 54"/>
                <a:gd name="T13" fmla="*/ 23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3">
                  <a:moveTo>
                    <a:pt x="54" y="23"/>
                  </a:moveTo>
                  <a:lnTo>
                    <a:pt x="0" y="0"/>
                  </a:lnTo>
                  <a:lnTo>
                    <a:pt x="54" y="23"/>
                  </a:lnTo>
                  <a:close/>
                  <a:moveTo>
                    <a:pt x="54" y="23"/>
                  </a:moveTo>
                  <a:lnTo>
                    <a:pt x="54" y="2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4" name="Freeform 54"/>
            <p:cNvSpPr>
              <a:spLocks noEditPoints="1"/>
            </p:cNvSpPr>
            <p:nvPr/>
          </p:nvSpPr>
          <p:spPr bwMode="auto">
            <a:xfrm>
              <a:off x="2776" y="2024"/>
              <a:ext cx="54" cy="30"/>
            </a:xfrm>
            <a:custGeom>
              <a:avLst/>
              <a:gdLst>
                <a:gd name="T0" fmla="*/ 54 w 54"/>
                <a:gd name="T1" fmla="*/ 30 h 30"/>
                <a:gd name="T2" fmla="*/ 0 w 54"/>
                <a:gd name="T3" fmla="*/ 0 h 30"/>
                <a:gd name="T4" fmla="*/ 54 w 54"/>
                <a:gd name="T5" fmla="*/ 30 h 30"/>
                <a:gd name="T6" fmla="*/ 54 w 54"/>
                <a:gd name="T7" fmla="*/ 30 h 30"/>
                <a:gd name="T8" fmla="*/ 54 w 54"/>
                <a:gd name="T9" fmla="*/ 30 h 30"/>
                <a:gd name="T10" fmla="*/ 54 w 54"/>
                <a:gd name="T11" fmla="*/ 30 h 30"/>
                <a:gd name="T12" fmla="*/ 54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54" y="30"/>
                  </a:moveTo>
                  <a:lnTo>
                    <a:pt x="0" y="0"/>
                  </a:lnTo>
                  <a:lnTo>
                    <a:pt x="54" y="30"/>
                  </a:lnTo>
                  <a:close/>
                  <a:moveTo>
                    <a:pt x="54" y="30"/>
                  </a:moveTo>
                  <a:lnTo>
                    <a:pt x="54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5" name="Freeform 55"/>
            <p:cNvSpPr>
              <a:spLocks noEditPoints="1"/>
            </p:cNvSpPr>
            <p:nvPr/>
          </p:nvSpPr>
          <p:spPr bwMode="auto">
            <a:xfrm>
              <a:off x="2776" y="2000"/>
              <a:ext cx="54" cy="24"/>
            </a:xfrm>
            <a:custGeom>
              <a:avLst/>
              <a:gdLst>
                <a:gd name="T0" fmla="*/ 0 w 54"/>
                <a:gd name="T1" fmla="*/ 24 h 24"/>
                <a:gd name="T2" fmla="*/ 54 w 54"/>
                <a:gd name="T3" fmla="*/ 0 h 24"/>
                <a:gd name="T4" fmla="*/ 0 w 54"/>
                <a:gd name="T5" fmla="*/ 24 h 24"/>
                <a:gd name="T6" fmla="*/ 0 w 54"/>
                <a:gd name="T7" fmla="*/ 24 h 24"/>
                <a:gd name="T8" fmla="*/ 0 w 54"/>
                <a:gd name="T9" fmla="*/ 24 h 24"/>
                <a:gd name="T10" fmla="*/ 0 w 54"/>
                <a:gd name="T11" fmla="*/ 24 h 24"/>
                <a:gd name="T12" fmla="*/ 0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54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6" name="Freeform 56"/>
            <p:cNvSpPr>
              <a:spLocks noEditPoints="1"/>
            </p:cNvSpPr>
            <p:nvPr/>
          </p:nvSpPr>
          <p:spPr bwMode="auto">
            <a:xfrm>
              <a:off x="2830" y="1970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7" name="Freeform 57"/>
            <p:cNvSpPr>
              <a:spLocks noEditPoints="1"/>
            </p:cNvSpPr>
            <p:nvPr/>
          </p:nvSpPr>
          <p:spPr bwMode="auto">
            <a:xfrm>
              <a:off x="2830" y="1946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8" name="Freeform 58"/>
            <p:cNvSpPr>
              <a:spLocks/>
            </p:cNvSpPr>
            <p:nvPr/>
          </p:nvSpPr>
          <p:spPr bwMode="auto">
            <a:xfrm>
              <a:off x="3004" y="2113"/>
              <a:ext cx="65" cy="144"/>
            </a:xfrm>
            <a:custGeom>
              <a:avLst/>
              <a:gdLst>
                <a:gd name="T0" fmla="*/ 18 w 65"/>
                <a:gd name="T1" fmla="*/ 72 h 144"/>
                <a:gd name="T2" fmla="*/ 30 w 65"/>
                <a:gd name="T3" fmla="*/ 78 h 144"/>
                <a:gd name="T4" fmla="*/ 41 w 65"/>
                <a:gd name="T5" fmla="*/ 78 h 144"/>
                <a:gd name="T6" fmla="*/ 53 w 65"/>
                <a:gd name="T7" fmla="*/ 96 h 144"/>
                <a:gd name="T8" fmla="*/ 53 w 65"/>
                <a:gd name="T9" fmla="*/ 108 h 144"/>
                <a:gd name="T10" fmla="*/ 47 w 65"/>
                <a:gd name="T11" fmla="*/ 126 h 144"/>
                <a:gd name="T12" fmla="*/ 41 w 65"/>
                <a:gd name="T13" fmla="*/ 138 h 144"/>
                <a:gd name="T14" fmla="*/ 30 w 65"/>
                <a:gd name="T15" fmla="*/ 138 h 144"/>
                <a:gd name="T16" fmla="*/ 18 w 65"/>
                <a:gd name="T17" fmla="*/ 132 h 144"/>
                <a:gd name="T18" fmla="*/ 6 w 65"/>
                <a:gd name="T19" fmla="*/ 126 h 144"/>
                <a:gd name="T20" fmla="*/ 0 w 65"/>
                <a:gd name="T21" fmla="*/ 126 h 144"/>
                <a:gd name="T22" fmla="*/ 0 w 65"/>
                <a:gd name="T23" fmla="*/ 132 h 144"/>
                <a:gd name="T24" fmla="*/ 6 w 65"/>
                <a:gd name="T25" fmla="*/ 144 h 144"/>
                <a:gd name="T26" fmla="*/ 18 w 65"/>
                <a:gd name="T27" fmla="*/ 144 h 144"/>
                <a:gd name="T28" fmla="*/ 36 w 65"/>
                <a:gd name="T29" fmla="*/ 138 h 144"/>
                <a:gd name="T30" fmla="*/ 53 w 65"/>
                <a:gd name="T31" fmla="*/ 132 h 144"/>
                <a:gd name="T32" fmla="*/ 59 w 65"/>
                <a:gd name="T33" fmla="*/ 114 h 144"/>
                <a:gd name="T34" fmla="*/ 65 w 65"/>
                <a:gd name="T35" fmla="*/ 96 h 144"/>
                <a:gd name="T36" fmla="*/ 65 w 65"/>
                <a:gd name="T37" fmla="*/ 84 h 144"/>
                <a:gd name="T38" fmla="*/ 59 w 65"/>
                <a:gd name="T39" fmla="*/ 72 h 144"/>
                <a:gd name="T40" fmla="*/ 41 w 65"/>
                <a:gd name="T41" fmla="*/ 60 h 144"/>
                <a:gd name="T42" fmla="*/ 53 w 65"/>
                <a:gd name="T43" fmla="*/ 48 h 144"/>
                <a:gd name="T44" fmla="*/ 59 w 65"/>
                <a:gd name="T45" fmla="*/ 30 h 144"/>
                <a:gd name="T46" fmla="*/ 59 w 65"/>
                <a:gd name="T47" fmla="*/ 24 h 144"/>
                <a:gd name="T48" fmla="*/ 53 w 65"/>
                <a:gd name="T49" fmla="*/ 12 h 144"/>
                <a:gd name="T50" fmla="*/ 47 w 65"/>
                <a:gd name="T51" fmla="*/ 6 h 144"/>
                <a:gd name="T52" fmla="*/ 36 w 65"/>
                <a:gd name="T53" fmla="*/ 0 h 144"/>
                <a:gd name="T54" fmla="*/ 18 w 65"/>
                <a:gd name="T55" fmla="*/ 12 h 144"/>
                <a:gd name="T56" fmla="*/ 0 w 65"/>
                <a:gd name="T57" fmla="*/ 36 h 144"/>
                <a:gd name="T58" fmla="*/ 0 w 65"/>
                <a:gd name="T59" fmla="*/ 36 h 144"/>
                <a:gd name="T60" fmla="*/ 12 w 65"/>
                <a:gd name="T61" fmla="*/ 24 h 144"/>
                <a:gd name="T62" fmla="*/ 30 w 65"/>
                <a:gd name="T63" fmla="*/ 18 h 144"/>
                <a:gd name="T64" fmla="*/ 41 w 65"/>
                <a:gd name="T65" fmla="*/ 24 h 144"/>
                <a:gd name="T66" fmla="*/ 47 w 65"/>
                <a:gd name="T67" fmla="*/ 36 h 144"/>
                <a:gd name="T68" fmla="*/ 41 w 65"/>
                <a:gd name="T69" fmla="*/ 60 h 144"/>
                <a:gd name="T70" fmla="*/ 18 w 65"/>
                <a:gd name="T71" fmla="*/ 72 h 144"/>
                <a:gd name="T72" fmla="*/ 18 w 65"/>
                <a:gd name="T73" fmla="*/ 72 h 14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5" h="144">
                  <a:moveTo>
                    <a:pt x="18" y="72"/>
                  </a:moveTo>
                  <a:lnTo>
                    <a:pt x="30" y="78"/>
                  </a:lnTo>
                  <a:lnTo>
                    <a:pt x="41" y="78"/>
                  </a:lnTo>
                  <a:lnTo>
                    <a:pt x="53" y="96"/>
                  </a:lnTo>
                  <a:lnTo>
                    <a:pt x="53" y="108"/>
                  </a:lnTo>
                  <a:lnTo>
                    <a:pt x="47" y="126"/>
                  </a:lnTo>
                  <a:lnTo>
                    <a:pt x="41" y="138"/>
                  </a:lnTo>
                  <a:lnTo>
                    <a:pt x="30" y="138"/>
                  </a:lnTo>
                  <a:lnTo>
                    <a:pt x="18" y="132"/>
                  </a:lnTo>
                  <a:lnTo>
                    <a:pt x="6" y="126"/>
                  </a:lnTo>
                  <a:lnTo>
                    <a:pt x="0" y="126"/>
                  </a:lnTo>
                  <a:lnTo>
                    <a:pt x="0" y="132"/>
                  </a:lnTo>
                  <a:lnTo>
                    <a:pt x="6" y="144"/>
                  </a:lnTo>
                  <a:lnTo>
                    <a:pt x="18" y="144"/>
                  </a:lnTo>
                  <a:lnTo>
                    <a:pt x="36" y="138"/>
                  </a:lnTo>
                  <a:lnTo>
                    <a:pt x="53" y="132"/>
                  </a:lnTo>
                  <a:lnTo>
                    <a:pt x="59" y="114"/>
                  </a:lnTo>
                  <a:lnTo>
                    <a:pt x="65" y="96"/>
                  </a:lnTo>
                  <a:lnTo>
                    <a:pt x="65" y="84"/>
                  </a:lnTo>
                  <a:lnTo>
                    <a:pt x="59" y="72"/>
                  </a:lnTo>
                  <a:lnTo>
                    <a:pt x="41" y="60"/>
                  </a:lnTo>
                  <a:lnTo>
                    <a:pt x="53" y="48"/>
                  </a:lnTo>
                  <a:lnTo>
                    <a:pt x="59" y="30"/>
                  </a:lnTo>
                  <a:lnTo>
                    <a:pt x="59" y="24"/>
                  </a:lnTo>
                  <a:lnTo>
                    <a:pt x="53" y="12"/>
                  </a:lnTo>
                  <a:lnTo>
                    <a:pt x="47" y="6"/>
                  </a:lnTo>
                  <a:lnTo>
                    <a:pt x="36" y="0"/>
                  </a:lnTo>
                  <a:lnTo>
                    <a:pt x="18" y="12"/>
                  </a:lnTo>
                  <a:lnTo>
                    <a:pt x="0" y="36"/>
                  </a:lnTo>
                  <a:lnTo>
                    <a:pt x="12" y="24"/>
                  </a:lnTo>
                  <a:lnTo>
                    <a:pt x="30" y="18"/>
                  </a:lnTo>
                  <a:lnTo>
                    <a:pt x="41" y="24"/>
                  </a:lnTo>
                  <a:lnTo>
                    <a:pt x="47" y="36"/>
                  </a:lnTo>
                  <a:lnTo>
                    <a:pt x="41" y="60"/>
                  </a:lnTo>
                  <a:lnTo>
                    <a:pt x="18" y="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9" name="Freeform 59"/>
            <p:cNvSpPr>
              <a:spLocks/>
            </p:cNvSpPr>
            <p:nvPr/>
          </p:nvSpPr>
          <p:spPr bwMode="auto">
            <a:xfrm>
              <a:off x="3129" y="2113"/>
              <a:ext cx="126" cy="144"/>
            </a:xfrm>
            <a:custGeom>
              <a:avLst/>
              <a:gdLst>
                <a:gd name="T0" fmla="*/ 48 w 126"/>
                <a:gd name="T1" fmla="*/ 114 h 144"/>
                <a:gd name="T2" fmla="*/ 42 w 126"/>
                <a:gd name="T3" fmla="*/ 108 h 144"/>
                <a:gd name="T4" fmla="*/ 36 w 126"/>
                <a:gd name="T5" fmla="*/ 102 h 144"/>
                <a:gd name="T6" fmla="*/ 30 w 126"/>
                <a:gd name="T7" fmla="*/ 90 h 144"/>
                <a:gd name="T8" fmla="*/ 24 w 126"/>
                <a:gd name="T9" fmla="*/ 72 h 144"/>
                <a:gd name="T10" fmla="*/ 24 w 126"/>
                <a:gd name="T11" fmla="*/ 54 h 144"/>
                <a:gd name="T12" fmla="*/ 30 w 126"/>
                <a:gd name="T13" fmla="*/ 36 h 144"/>
                <a:gd name="T14" fmla="*/ 36 w 126"/>
                <a:gd name="T15" fmla="*/ 18 h 144"/>
                <a:gd name="T16" fmla="*/ 48 w 126"/>
                <a:gd name="T17" fmla="*/ 12 h 144"/>
                <a:gd name="T18" fmla="*/ 60 w 126"/>
                <a:gd name="T19" fmla="*/ 6 h 144"/>
                <a:gd name="T20" fmla="*/ 78 w 126"/>
                <a:gd name="T21" fmla="*/ 12 h 144"/>
                <a:gd name="T22" fmla="*/ 90 w 126"/>
                <a:gd name="T23" fmla="*/ 18 h 144"/>
                <a:gd name="T24" fmla="*/ 96 w 126"/>
                <a:gd name="T25" fmla="*/ 36 h 144"/>
                <a:gd name="T26" fmla="*/ 102 w 126"/>
                <a:gd name="T27" fmla="*/ 54 h 144"/>
                <a:gd name="T28" fmla="*/ 102 w 126"/>
                <a:gd name="T29" fmla="*/ 72 h 144"/>
                <a:gd name="T30" fmla="*/ 96 w 126"/>
                <a:gd name="T31" fmla="*/ 90 h 144"/>
                <a:gd name="T32" fmla="*/ 90 w 126"/>
                <a:gd name="T33" fmla="*/ 102 h 144"/>
                <a:gd name="T34" fmla="*/ 90 w 126"/>
                <a:gd name="T35" fmla="*/ 108 h 144"/>
                <a:gd name="T36" fmla="*/ 78 w 126"/>
                <a:gd name="T37" fmla="*/ 114 h 144"/>
                <a:gd name="T38" fmla="*/ 72 w 126"/>
                <a:gd name="T39" fmla="*/ 144 h 144"/>
                <a:gd name="T40" fmla="*/ 126 w 126"/>
                <a:gd name="T41" fmla="*/ 144 h 144"/>
                <a:gd name="T42" fmla="*/ 126 w 126"/>
                <a:gd name="T43" fmla="*/ 108 h 144"/>
                <a:gd name="T44" fmla="*/ 120 w 126"/>
                <a:gd name="T45" fmla="*/ 108 h 144"/>
                <a:gd name="T46" fmla="*/ 120 w 126"/>
                <a:gd name="T47" fmla="*/ 120 h 144"/>
                <a:gd name="T48" fmla="*/ 108 w 126"/>
                <a:gd name="T49" fmla="*/ 120 h 144"/>
                <a:gd name="T50" fmla="*/ 84 w 126"/>
                <a:gd name="T51" fmla="*/ 120 h 144"/>
                <a:gd name="T52" fmla="*/ 84 w 126"/>
                <a:gd name="T53" fmla="*/ 114 h 144"/>
                <a:gd name="T54" fmla="*/ 102 w 126"/>
                <a:gd name="T55" fmla="*/ 108 h 144"/>
                <a:gd name="T56" fmla="*/ 114 w 126"/>
                <a:gd name="T57" fmla="*/ 96 h 144"/>
                <a:gd name="T58" fmla="*/ 120 w 126"/>
                <a:gd name="T59" fmla="*/ 78 h 144"/>
                <a:gd name="T60" fmla="*/ 120 w 126"/>
                <a:gd name="T61" fmla="*/ 60 h 144"/>
                <a:gd name="T62" fmla="*/ 114 w 126"/>
                <a:gd name="T63" fmla="*/ 30 h 144"/>
                <a:gd name="T64" fmla="*/ 108 w 126"/>
                <a:gd name="T65" fmla="*/ 18 h 144"/>
                <a:gd name="T66" fmla="*/ 96 w 126"/>
                <a:gd name="T67" fmla="*/ 12 h 144"/>
                <a:gd name="T68" fmla="*/ 78 w 126"/>
                <a:gd name="T69" fmla="*/ 6 h 144"/>
                <a:gd name="T70" fmla="*/ 60 w 126"/>
                <a:gd name="T71" fmla="*/ 0 h 144"/>
                <a:gd name="T72" fmla="*/ 48 w 126"/>
                <a:gd name="T73" fmla="*/ 6 h 144"/>
                <a:gd name="T74" fmla="*/ 30 w 126"/>
                <a:gd name="T75" fmla="*/ 12 h 144"/>
                <a:gd name="T76" fmla="*/ 24 w 126"/>
                <a:gd name="T77" fmla="*/ 18 h 144"/>
                <a:gd name="T78" fmla="*/ 12 w 126"/>
                <a:gd name="T79" fmla="*/ 30 h 144"/>
                <a:gd name="T80" fmla="*/ 6 w 126"/>
                <a:gd name="T81" fmla="*/ 60 h 144"/>
                <a:gd name="T82" fmla="*/ 6 w 126"/>
                <a:gd name="T83" fmla="*/ 78 h 144"/>
                <a:gd name="T84" fmla="*/ 12 w 126"/>
                <a:gd name="T85" fmla="*/ 96 h 144"/>
                <a:gd name="T86" fmla="*/ 30 w 126"/>
                <a:gd name="T87" fmla="*/ 108 h 144"/>
                <a:gd name="T88" fmla="*/ 42 w 126"/>
                <a:gd name="T89" fmla="*/ 114 h 144"/>
                <a:gd name="T90" fmla="*/ 42 w 126"/>
                <a:gd name="T91" fmla="*/ 120 h 144"/>
                <a:gd name="T92" fmla="*/ 18 w 126"/>
                <a:gd name="T93" fmla="*/ 120 h 144"/>
                <a:gd name="T94" fmla="*/ 6 w 126"/>
                <a:gd name="T95" fmla="*/ 120 h 144"/>
                <a:gd name="T96" fmla="*/ 6 w 126"/>
                <a:gd name="T97" fmla="*/ 108 h 144"/>
                <a:gd name="T98" fmla="*/ 0 w 126"/>
                <a:gd name="T99" fmla="*/ 108 h 144"/>
                <a:gd name="T100" fmla="*/ 0 w 126"/>
                <a:gd name="T101" fmla="*/ 144 h 144"/>
                <a:gd name="T102" fmla="*/ 54 w 126"/>
                <a:gd name="T103" fmla="*/ 144 h 144"/>
                <a:gd name="T104" fmla="*/ 48 w 126"/>
                <a:gd name="T105" fmla="*/ 114 h 14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26" h="144">
                  <a:moveTo>
                    <a:pt x="48" y="114"/>
                  </a:moveTo>
                  <a:lnTo>
                    <a:pt x="42" y="108"/>
                  </a:lnTo>
                  <a:lnTo>
                    <a:pt x="36" y="102"/>
                  </a:lnTo>
                  <a:lnTo>
                    <a:pt x="30" y="90"/>
                  </a:lnTo>
                  <a:lnTo>
                    <a:pt x="24" y="72"/>
                  </a:lnTo>
                  <a:lnTo>
                    <a:pt x="24" y="54"/>
                  </a:lnTo>
                  <a:lnTo>
                    <a:pt x="30" y="36"/>
                  </a:lnTo>
                  <a:lnTo>
                    <a:pt x="36" y="18"/>
                  </a:lnTo>
                  <a:lnTo>
                    <a:pt x="48" y="12"/>
                  </a:lnTo>
                  <a:lnTo>
                    <a:pt x="60" y="6"/>
                  </a:lnTo>
                  <a:lnTo>
                    <a:pt x="78" y="12"/>
                  </a:lnTo>
                  <a:lnTo>
                    <a:pt x="90" y="18"/>
                  </a:lnTo>
                  <a:lnTo>
                    <a:pt x="96" y="36"/>
                  </a:lnTo>
                  <a:lnTo>
                    <a:pt x="102" y="54"/>
                  </a:lnTo>
                  <a:lnTo>
                    <a:pt x="102" y="72"/>
                  </a:lnTo>
                  <a:lnTo>
                    <a:pt x="96" y="90"/>
                  </a:lnTo>
                  <a:lnTo>
                    <a:pt x="90" y="102"/>
                  </a:lnTo>
                  <a:lnTo>
                    <a:pt x="90" y="108"/>
                  </a:lnTo>
                  <a:lnTo>
                    <a:pt x="78" y="114"/>
                  </a:lnTo>
                  <a:lnTo>
                    <a:pt x="72" y="144"/>
                  </a:lnTo>
                  <a:lnTo>
                    <a:pt x="126" y="144"/>
                  </a:lnTo>
                  <a:lnTo>
                    <a:pt x="126" y="108"/>
                  </a:lnTo>
                  <a:lnTo>
                    <a:pt x="120" y="108"/>
                  </a:lnTo>
                  <a:lnTo>
                    <a:pt x="120" y="120"/>
                  </a:lnTo>
                  <a:lnTo>
                    <a:pt x="108" y="120"/>
                  </a:lnTo>
                  <a:lnTo>
                    <a:pt x="84" y="120"/>
                  </a:lnTo>
                  <a:lnTo>
                    <a:pt x="84" y="114"/>
                  </a:lnTo>
                  <a:lnTo>
                    <a:pt x="102" y="108"/>
                  </a:lnTo>
                  <a:lnTo>
                    <a:pt x="114" y="96"/>
                  </a:lnTo>
                  <a:lnTo>
                    <a:pt x="120" y="78"/>
                  </a:lnTo>
                  <a:lnTo>
                    <a:pt x="120" y="60"/>
                  </a:lnTo>
                  <a:lnTo>
                    <a:pt x="114" y="30"/>
                  </a:lnTo>
                  <a:lnTo>
                    <a:pt x="108" y="18"/>
                  </a:lnTo>
                  <a:lnTo>
                    <a:pt x="96" y="12"/>
                  </a:lnTo>
                  <a:lnTo>
                    <a:pt x="78" y="6"/>
                  </a:lnTo>
                  <a:lnTo>
                    <a:pt x="60" y="0"/>
                  </a:lnTo>
                  <a:lnTo>
                    <a:pt x="48" y="6"/>
                  </a:lnTo>
                  <a:lnTo>
                    <a:pt x="30" y="12"/>
                  </a:lnTo>
                  <a:lnTo>
                    <a:pt x="24" y="18"/>
                  </a:lnTo>
                  <a:lnTo>
                    <a:pt x="12" y="30"/>
                  </a:lnTo>
                  <a:lnTo>
                    <a:pt x="6" y="60"/>
                  </a:lnTo>
                  <a:lnTo>
                    <a:pt x="6" y="78"/>
                  </a:lnTo>
                  <a:lnTo>
                    <a:pt x="12" y="96"/>
                  </a:lnTo>
                  <a:lnTo>
                    <a:pt x="30" y="108"/>
                  </a:lnTo>
                  <a:lnTo>
                    <a:pt x="42" y="114"/>
                  </a:lnTo>
                  <a:lnTo>
                    <a:pt x="42" y="120"/>
                  </a:lnTo>
                  <a:lnTo>
                    <a:pt x="18" y="120"/>
                  </a:lnTo>
                  <a:lnTo>
                    <a:pt x="6" y="120"/>
                  </a:lnTo>
                  <a:lnTo>
                    <a:pt x="6" y="108"/>
                  </a:lnTo>
                  <a:lnTo>
                    <a:pt x="0" y="108"/>
                  </a:lnTo>
                  <a:lnTo>
                    <a:pt x="0" y="144"/>
                  </a:lnTo>
                  <a:lnTo>
                    <a:pt x="54" y="144"/>
                  </a:lnTo>
                  <a:lnTo>
                    <a:pt x="48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0" name="Freeform 60"/>
            <p:cNvSpPr>
              <a:spLocks/>
            </p:cNvSpPr>
            <p:nvPr/>
          </p:nvSpPr>
          <p:spPr bwMode="auto">
            <a:xfrm>
              <a:off x="3357" y="2346"/>
              <a:ext cx="47" cy="30"/>
            </a:xfrm>
            <a:custGeom>
              <a:avLst/>
              <a:gdLst>
                <a:gd name="T0" fmla="*/ 47 w 47"/>
                <a:gd name="T1" fmla="*/ 30 h 30"/>
                <a:gd name="T2" fmla="*/ 0 w 47"/>
                <a:gd name="T3" fmla="*/ 0 h 30"/>
                <a:gd name="T4" fmla="*/ 47 w 47"/>
                <a:gd name="T5" fmla="*/ 30 h 30"/>
                <a:gd name="T6" fmla="*/ 47 w 47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30">
                  <a:moveTo>
                    <a:pt x="47" y="30"/>
                  </a:moveTo>
                  <a:lnTo>
                    <a:pt x="0" y="0"/>
                  </a:lnTo>
                  <a:lnTo>
                    <a:pt x="47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1" name="Freeform 61"/>
            <p:cNvSpPr>
              <a:spLocks noEditPoints="1"/>
            </p:cNvSpPr>
            <p:nvPr/>
          </p:nvSpPr>
          <p:spPr bwMode="auto">
            <a:xfrm>
              <a:off x="3357" y="2322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2" name="Freeform 62"/>
            <p:cNvSpPr>
              <a:spLocks noEditPoints="1"/>
            </p:cNvSpPr>
            <p:nvPr/>
          </p:nvSpPr>
          <p:spPr bwMode="auto">
            <a:xfrm>
              <a:off x="3404" y="2292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3" name="Freeform 63"/>
            <p:cNvSpPr>
              <a:spLocks noEditPoints="1"/>
            </p:cNvSpPr>
            <p:nvPr/>
          </p:nvSpPr>
          <p:spPr bwMode="auto">
            <a:xfrm>
              <a:off x="3404" y="2268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4" name="Freeform 64"/>
            <p:cNvSpPr>
              <a:spLocks noEditPoints="1"/>
            </p:cNvSpPr>
            <p:nvPr/>
          </p:nvSpPr>
          <p:spPr bwMode="auto">
            <a:xfrm>
              <a:off x="3404" y="226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5" name="Freeform 65"/>
            <p:cNvSpPr>
              <a:spLocks noEditPoints="1"/>
            </p:cNvSpPr>
            <p:nvPr/>
          </p:nvSpPr>
          <p:spPr bwMode="auto">
            <a:xfrm>
              <a:off x="3357" y="2239"/>
              <a:ext cx="47" cy="29"/>
            </a:xfrm>
            <a:custGeom>
              <a:avLst/>
              <a:gdLst>
                <a:gd name="T0" fmla="*/ 47 w 47"/>
                <a:gd name="T1" fmla="*/ 29 h 29"/>
                <a:gd name="T2" fmla="*/ 0 w 47"/>
                <a:gd name="T3" fmla="*/ 0 h 29"/>
                <a:gd name="T4" fmla="*/ 47 w 47"/>
                <a:gd name="T5" fmla="*/ 29 h 29"/>
                <a:gd name="T6" fmla="*/ 47 w 47"/>
                <a:gd name="T7" fmla="*/ 29 h 29"/>
                <a:gd name="T8" fmla="*/ 47 w 47"/>
                <a:gd name="T9" fmla="*/ 29 h 29"/>
                <a:gd name="T10" fmla="*/ 47 w 47"/>
                <a:gd name="T11" fmla="*/ 29 h 29"/>
                <a:gd name="T12" fmla="*/ 47 w 47"/>
                <a:gd name="T13" fmla="*/ 2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9">
                  <a:moveTo>
                    <a:pt x="47" y="29"/>
                  </a:moveTo>
                  <a:lnTo>
                    <a:pt x="0" y="0"/>
                  </a:lnTo>
                  <a:lnTo>
                    <a:pt x="47" y="29"/>
                  </a:lnTo>
                  <a:close/>
                  <a:moveTo>
                    <a:pt x="47" y="29"/>
                  </a:moveTo>
                  <a:lnTo>
                    <a:pt x="47" y="29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6" name="Freeform 66"/>
            <p:cNvSpPr>
              <a:spLocks noEditPoints="1"/>
            </p:cNvSpPr>
            <p:nvPr/>
          </p:nvSpPr>
          <p:spPr bwMode="auto">
            <a:xfrm>
              <a:off x="3357" y="2215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7" name="Freeform 67"/>
            <p:cNvSpPr>
              <a:spLocks noEditPoints="1"/>
            </p:cNvSpPr>
            <p:nvPr/>
          </p:nvSpPr>
          <p:spPr bwMode="auto">
            <a:xfrm>
              <a:off x="3404" y="2185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8" name="Freeform 68"/>
            <p:cNvSpPr>
              <a:spLocks noEditPoints="1"/>
            </p:cNvSpPr>
            <p:nvPr/>
          </p:nvSpPr>
          <p:spPr bwMode="auto">
            <a:xfrm>
              <a:off x="3404" y="2161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39" name="Freeform 69"/>
            <p:cNvSpPr>
              <a:spLocks noEditPoints="1"/>
            </p:cNvSpPr>
            <p:nvPr/>
          </p:nvSpPr>
          <p:spPr bwMode="auto">
            <a:xfrm>
              <a:off x="3357" y="2131"/>
              <a:ext cx="47" cy="30"/>
            </a:xfrm>
            <a:custGeom>
              <a:avLst/>
              <a:gdLst>
                <a:gd name="T0" fmla="*/ 47 w 47"/>
                <a:gd name="T1" fmla="*/ 30 h 30"/>
                <a:gd name="T2" fmla="*/ 0 w 47"/>
                <a:gd name="T3" fmla="*/ 0 h 30"/>
                <a:gd name="T4" fmla="*/ 47 w 47"/>
                <a:gd name="T5" fmla="*/ 30 h 30"/>
                <a:gd name="T6" fmla="*/ 47 w 47"/>
                <a:gd name="T7" fmla="*/ 30 h 30"/>
                <a:gd name="T8" fmla="*/ 47 w 47"/>
                <a:gd name="T9" fmla="*/ 30 h 30"/>
                <a:gd name="T10" fmla="*/ 47 w 47"/>
                <a:gd name="T11" fmla="*/ 30 h 30"/>
                <a:gd name="T12" fmla="*/ 47 w 47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0">
                  <a:moveTo>
                    <a:pt x="47" y="30"/>
                  </a:moveTo>
                  <a:lnTo>
                    <a:pt x="0" y="0"/>
                  </a:lnTo>
                  <a:lnTo>
                    <a:pt x="47" y="30"/>
                  </a:lnTo>
                  <a:close/>
                  <a:moveTo>
                    <a:pt x="47" y="30"/>
                  </a:moveTo>
                  <a:lnTo>
                    <a:pt x="47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0" name="Freeform 70"/>
            <p:cNvSpPr>
              <a:spLocks noEditPoints="1"/>
            </p:cNvSpPr>
            <p:nvPr/>
          </p:nvSpPr>
          <p:spPr bwMode="auto">
            <a:xfrm>
              <a:off x="3357" y="2107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1" name="Freeform 71"/>
            <p:cNvSpPr>
              <a:spLocks noEditPoints="1"/>
            </p:cNvSpPr>
            <p:nvPr/>
          </p:nvSpPr>
          <p:spPr bwMode="auto">
            <a:xfrm>
              <a:off x="3404" y="2077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2" name="Freeform 72"/>
            <p:cNvSpPr>
              <a:spLocks noEditPoints="1"/>
            </p:cNvSpPr>
            <p:nvPr/>
          </p:nvSpPr>
          <p:spPr bwMode="auto">
            <a:xfrm>
              <a:off x="3404" y="2054"/>
              <a:ext cx="54" cy="23"/>
            </a:xfrm>
            <a:custGeom>
              <a:avLst/>
              <a:gdLst>
                <a:gd name="T0" fmla="*/ 54 w 54"/>
                <a:gd name="T1" fmla="*/ 23 h 23"/>
                <a:gd name="T2" fmla="*/ 0 w 54"/>
                <a:gd name="T3" fmla="*/ 0 h 23"/>
                <a:gd name="T4" fmla="*/ 54 w 54"/>
                <a:gd name="T5" fmla="*/ 23 h 23"/>
                <a:gd name="T6" fmla="*/ 54 w 54"/>
                <a:gd name="T7" fmla="*/ 23 h 23"/>
                <a:gd name="T8" fmla="*/ 54 w 54"/>
                <a:gd name="T9" fmla="*/ 23 h 23"/>
                <a:gd name="T10" fmla="*/ 54 w 54"/>
                <a:gd name="T11" fmla="*/ 23 h 23"/>
                <a:gd name="T12" fmla="*/ 54 w 54"/>
                <a:gd name="T13" fmla="*/ 23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3">
                  <a:moveTo>
                    <a:pt x="54" y="23"/>
                  </a:moveTo>
                  <a:lnTo>
                    <a:pt x="0" y="0"/>
                  </a:lnTo>
                  <a:lnTo>
                    <a:pt x="54" y="23"/>
                  </a:lnTo>
                  <a:close/>
                  <a:moveTo>
                    <a:pt x="54" y="23"/>
                  </a:moveTo>
                  <a:lnTo>
                    <a:pt x="54" y="2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3" name="Freeform 73"/>
            <p:cNvSpPr>
              <a:spLocks noEditPoints="1"/>
            </p:cNvSpPr>
            <p:nvPr/>
          </p:nvSpPr>
          <p:spPr bwMode="auto">
            <a:xfrm>
              <a:off x="3357" y="2024"/>
              <a:ext cx="47" cy="30"/>
            </a:xfrm>
            <a:custGeom>
              <a:avLst/>
              <a:gdLst>
                <a:gd name="T0" fmla="*/ 47 w 47"/>
                <a:gd name="T1" fmla="*/ 30 h 30"/>
                <a:gd name="T2" fmla="*/ 0 w 47"/>
                <a:gd name="T3" fmla="*/ 0 h 30"/>
                <a:gd name="T4" fmla="*/ 47 w 47"/>
                <a:gd name="T5" fmla="*/ 30 h 30"/>
                <a:gd name="T6" fmla="*/ 47 w 47"/>
                <a:gd name="T7" fmla="*/ 30 h 30"/>
                <a:gd name="T8" fmla="*/ 47 w 47"/>
                <a:gd name="T9" fmla="*/ 30 h 30"/>
                <a:gd name="T10" fmla="*/ 47 w 47"/>
                <a:gd name="T11" fmla="*/ 30 h 30"/>
                <a:gd name="T12" fmla="*/ 47 w 47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0">
                  <a:moveTo>
                    <a:pt x="47" y="30"/>
                  </a:moveTo>
                  <a:lnTo>
                    <a:pt x="0" y="0"/>
                  </a:lnTo>
                  <a:lnTo>
                    <a:pt x="47" y="30"/>
                  </a:lnTo>
                  <a:close/>
                  <a:moveTo>
                    <a:pt x="47" y="30"/>
                  </a:moveTo>
                  <a:lnTo>
                    <a:pt x="47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4" name="Freeform 74"/>
            <p:cNvSpPr>
              <a:spLocks noEditPoints="1"/>
            </p:cNvSpPr>
            <p:nvPr/>
          </p:nvSpPr>
          <p:spPr bwMode="auto">
            <a:xfrm>
              <a:off x="3357" y="2000"/>
              <a:ext cx="47" cy="24"/>
            </a:xfrm>
            <a:custGeom>
              <a:avLst/>
              <a:gdLst>
                <a:gd name="T0" fmla="*/ 0 w 47"/>
                <a:gd name="T1" fmla="*/ 24 h 24"/>
                <a:gd name="T2" fmla="*/ 47 w 47"/>
                <a:gd name="T3" fmla="*/ 0 h 24"/>
                <a:gd name="T4" fmla="*/ 0 w 47"/>
                <a:gd name="T5" fmla="*/ 24 h 24"/>
                <a:gd name="T6" fmla="*/ 0 w 47"/>
                <a:gd name="T7" fmla="*/ 24 h 24"/>
                <a:gd name="T8" fmla="*/ 0 w 47"/>
                <a:gd name="T9" fmla="*/ 24 h 24"/>
                <a:gd name="T10" fmla="*/ 0 w 47"/>
                <a:gd name="T11" fmla="*/ 24 h 24"/>
                <a:gd name="T12" fmla="*/ 0 w 47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4">
                  <a:moveTo>
                    <a:pt x="0" y="24"/>
                  </a:moveTo>
                  <a:lnTo>
                    <a:pt x="47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5" name="Freeform 75"/>
            <p:cNvSpPr>
              <a:spLocks noEditPoints="1"/>
            </p:cNvSpPr>
            <p:nvPr/>
          </p:nvSpPr>
          <p:spPr bwMode="auto">
            <a:xfrm>
              <a:off x="3404" y="1970"/>
              <a:ext cx="54" cy="30"/>
            </a:xfrm>
            <a:custGeom>
              <a:avLst/>
              <a:gdLst>
                <a:gd name="T0" fmla="*/ 0 w 54"/>
                <a:gd name="T1" fmla="*/ 30 h 30"/>
                <a:gd name="T2" fmla="*/ 54 w 54"/>
                <a:gd name="T3" fmla="*/ 0 h 30"/>
                <a:gd name="T4" fmla="*/ 0 w 54"/>
                <a:gd name="T5" fmla="*/ 30 h 30"/>
                <a:gd name="T6" fmla="*/ 0 w 54"/>
                <a:gd name="T7" fmla="*/ 30 h 30"/>
                <a:gd name="T8" fmla="*/ 0 w 54"/>
                <a:gd name="T9" fmla="*/ 30 h 30"/>
                <a:gd name="T10" fmla="*/ 0 w 54"/>
                <a:gd name="T11" fmla="*/ 30 h 30"/>
                <a:gd name="T12" fmla="*/ 0 w 54"/>
                <a:gd name="T13" fmla="*/ 3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54" y="0"/>
                  </a:lnTo>
                  <a:lnTo>
                    <a:pt x="0" y="30"/>
                  </a:lnTo>
                  <a:close/>
                  <a:moveTo>
                    <a:pt x="0" y="30"/>
                  </a:moveTo>
                  <a:lnTo>
                    <a:pt x="0" y="3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6" name="Freeform 76"/>
            <p:cNvSpPr>
              <a:spLocks noEditPoints="1"/>
            </p:cNvSpPr>
            <p:nvPr/>
          </p:nvSpPr>
          <p:spPr bwMode="auto">
            <a:xfrm>
              <a:off x="3404" y="1946"/>
              <a:ext cx="54" cy="24"/>
            </a:xfrm>
            <a:custGeom>
              <a:avLst/>
              <a:gdLst>
                <a:gd name="T0" fmla="*/ 54 w 54"/>
                <a:gd name="T1" fmla="*/ 24 h 24"/>
                <a:gd name="T2" fmla="*/ 0 w 54"/>
                <a:gd name="T3" fmla="*/ 0 h 24"/>
                <a:gd name="T4" fmla="*/ 54 w 54"/>
                <a:gd name="T5" fmla="*/ 24 h 24"/>
                <a:gd name="T6" fmla="*/ 54 w 54"/>
                <a:gd name="T7" fmla="*/ 24 h 24"/>
                <a:gd name="T8" fmla="*/ 54 w 54"/>
                <a:gd name="T9" fmla="*/ 24 h 24"/>
                <a:gd name="T10" fmla="*/ 54 w 54"/>
                <a:gd name="T11" fmla="*/ 24 h 24"/>
                <a:gd name="T12" fmla="*/ 54 w 54"/>
                <a:gd name="T13" fmla="*/ 2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24"/>
                  </a:moveTo>
                  <a:lnTo>
                    <a:pt x="0" y="0"/>
                  </a:lnTo>
                  <a:lnTo>
                    <a:pt x="54" y="24"/>
                  </a:lnTo>
                  <a:close/>
                  <a:moveTo>
                    <a:pt x="54" y="24"/>
                  </a:moveTo>
                  <a:lnTo>
                    <a:pt x="54" y="24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7" name="Freeform 77"/>
            <p:cNvSpPr>
              <a:spLocks/>
            </p:cNvSpPr>
            <p:nvPr/>
          </p:nvSpPr>
          <p:spPr bwMode="auto">
            <a:xfrm>
              <a:off x="2495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8" name="Freeform 78"/>
            <p:cNvSpPr>
              <a:spLocks noEditPoints="1"/>
            </p:cNvSpPr>
            <p:nvPr/>
          </p:nvSpPr>
          <p:spPr bwMode="auto">
            <a:xfrm>
              <a:off x="2471" y="1498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49" name="Freeform 79"/>
            <p:cNvSpPr>
              <a:spLocks noEditPoints="1"/>
            </p:cNvSpPr>
            <p:nvPr/>
          </p:nvSpPr>
          <p:spPr bwMode="auto">
            <a:xfrm>
              <a:off x="2453" y="1432"/>
              <a:ext cx="18" cy="66"/>
            </a:xfrm>
            <a:custGeom>
              <a:avLst/>
              <a:gdLst>
                <a:gd name="T0" fmla="*/ 18 w 18"/>
                <a:gd name="T1" fmla="*/ 66 h 66"/>
                <a:gd name="T2" fmla="*/ 0 w 18"/>
                <a:gd name="T3" fmla="*/ 0 h 66"/>
                <a:gd name="T4" fmla="*/ 18 w 18"/>
                <a:gd name="T5" fmla="*/ 66 h 66"/>
                <a:gd name="T6" fmla="*/ 18 w 18"/>
                <a:gd name="T7" fmla="*/ 66 h 66"/>
                <a:gd name="T8" fmla="*/ 18 w 18"/>
                <a:gd name="T9" fmla="*/ 66 h 66"/>
                <a:gd name="T10" fmla="*/ 18 w 18"/>
                <a:gd name="T11" fmla="*/ 66 h 66"/>
                <a:gd name="T12" fmla="*/ 18 w 18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66"/>
                  </a:moveTo>
                  <a:lnTo>
                    <a:pt x="0" y="0"/>
                  </a:lnTo>
                  <a:lnTo>
                    <a:pt x="18" y="66"/>
                  </a:lnTo>
                  <a:close/>
                  <a:moveTo>
                    <a:pt x="18" y="66"/>
                  </a:moveTo>
                  <a:lnTo>
                    <a:pt x="18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0" name="Freeform 80"/>
            <p:cNvSpPr>
              <a:spLocks noEditPoints="1"/>
            </p:cNvSpPr>
            <p:nvPr/>
          </p:nvSpPr>
          <p:spPr bwMode="auto">
            <a:xfrm>
              <a:off x="2429" y="1432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1" name="Freeform 81"/>
            <p:cNvSpPr>
              <a:spLocks noEditPoints="1"/>
            </p:cNvSpPr>
            <p:nvPr/>
          </p:nvSpPr>
          <p:spPr bwMode="auto">
            <a:xfrm>
              <a:off x="2429" y="1498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2" name="Freeform 82"/>
            <p:cNvSpPr>
              <a:spLocks noEditPoints="1"/>
            </p:cNvSpPr>
            <p:nvPr/>
          </p:nvSpPr>
          <p:spPr bwMode="auto">
            <a:xfrm>
              <a:off x="2405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3" name="Freeform 83"/>
            <p:cNvSpPr>
              <a:spLocks noEditPoints="1"/>
            </p:cNvSpPr>
            <p:nvPr/>
          </p:nvSpPr>
          <p:spPr bwMode="auto">
            <a:xfrm>
              <a:off x="2382" y="1498"/>
              <a:ext cx="23" cy="66"/>
            </a:xfrm>
            <a:custGeom>
              <a:avLst/>
              <a:gdLst>
                <a:gd name="T0" fmla="*/ 23 w 23"/>
                <a:gd name="T1" fmla="*/ 66 h 66"/>
                <a:gd name="T2" fmla="*/ 0 w 23"/>
                <a:gd name="T3" fmla="*/ 0 h 66"/>
                <a:gd name="T4" fmla="*/ 23 w 23"/>
                <a:gd name="T5" fmla="*/ 66 h 66"/>
                <a:gd name="T6" fmla="*/ 23 w 23"/>
                <a:gd name="T7" fmla="*/ 66 h 66"/>
                <a:gd name="T8" fmla="*/ 23 w 23"/>
                <a:gd name="T9" fmla="*/ 66 h 66"/>
                <a:gd name="T10" fmla="*/ 23 w 23"/>
                <a:gd name="T11" fmla="*/ 66 h 66"/>
                <a:gd name="T12" fmla="*/ 23 w 23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66">
                  <a:moveTo>
                    <a:pt x="23" y="66"/>
                  </a:moveTo>
                  <a:lnTo>
                    <a:pt x="0" y="0"/>
                  </a:lnTo>
                  <a:lnTo>
                    <a:pt x="23" y="66"/>
                  </a:lnTo>
                  <a:close/>
                  <a:moveTo>
                    <a:pt x="23" y="66"/>
                  </a:moveTo>
                  <a:lnTo>
                    <a:pt x="23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4" name="Freeform 84"/>
            <p:cNvSpPr>
              <a:spLocks noEditPoints="1"/>
            </p:cNvSpPr>
            <p:nvPr/>
          </p:nvSpPr>
          <p:spPr bwMode="auto">
            <a:xfrm>
              <a:off x="2358" y="1432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5" name="Freeform 85"/>
            <p:cNvSpPr>
              <a:spLocks noEditPoints="1"/>
            </p:cNvSpPr>
            <p:nvPr/>
          </p:nvSpPr>
          <p:spPr bwMode="auto">
            <a:xfrm>
              <a:off x="2340" y="1432"/>
              <a:ext cx="18" cy="66"/>
            </a:xfrm>
            <a:custGeom>
              <a:avLst/>
              <a:gdLst>
                <a:gd name="T0" fmla="*/ 18 w 18"/>
                <a:gd name="T1" fmla="*/ 0 h 66"/>
                <a:gd name="T2" fmla="*/ 0 w 18"/>
                <a:gd name="T3" fmla="*/ 66 h 66"/>
                <a:gd name="T4" fmla="*/ 18 w 18"/>
                <a:gd name="T5" fmla="*/ 0 h 66"/>
                <a:gd name="T6" fmla="*/ 18 w 18"/>
                <a:gd name="T7" fmla="*/ 0 h 66"/>
                <a:gd name="T8" fmla="*/ 18 w 18"/>
                <a:gd name="T9" fmla="*/ 0 h 66"/>
                <a:gd name="T10" fmla="*/ 18 w 18"/>
                <a:gd name="T11" fmla="*/ 0 h 66"/>
                <a:gd name="T12" fmla="*/ 18 w 18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0"/>
                  </a:moveTo>
                  <a:lnTo>
                    <a:pt x="0" y="6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6" name="Freeform 86"/>
            <p:cNvSpPr>
              <a:spLocks noEditPoints="1"/>
            </p:cNvSpPr>
            <p:nvPr/>
          </p:nvSpPr>
          <p:spPr bwMode="auto">
            <a:xfrm>
              <a:off x="2316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7" name="Freeform 87"/>
            <p:cNvSpPr>
              <a:spLocks noEditPoints="1"/>
            </p:cNvSpPr>
            <p:nvPr/>
          </p:nvSpPr>
          <p:spPr bwMode="auto">
            <a:xfrm>
              <a:off x="2292" y="1498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8" name="Freeform 88"/>
            <p:cNvSpPr>
              <a:spLocks noEditPoints="1"/>
            </p:cNvSpPr>
            <p:nvPr/>
          </p:nvSpPr>
          <p:spPr bwMode="auto">
            <a:xfrm>
              <a:off x="2268" y="1432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59" name="Freeform 89"/>
            <p:cNvSpPr>
              <a:spLocks noEditPoints="1"/>
            </p:cNvSpPr>
            <p:nvPr/>
          </p:nvSpPr>
          <p:spPr bwMode="auto">
            <a:xfrm>
              <a:off x="2250" y="1432"/>
              <a:ext cx="18" cy="66"/>
            </a:xfrm>
            <a:custGeom>
              <a:avLst/>
              <a:gdLst>
                <a:gd name="T0" fmla="*/ 18 w 18"/>
                <a:gd name="T1" fmla="*/ 0 h 66"/>
                <a:gd name="T2" fmla="*/ 0 w 18"/>
                <a:gd name="T3" fmla="*/ 66 h 66"/>
                <a:gd name="T4" fmla="*/ 18 w 18"/>
                <a:gd name="T5" fmla="*/ 0 h 66"/>
                <a:gd name="T6" fmla="*/ 18 w 18"/>
                <a:gd name="T7" fmla="*/ 0 h 66"/>
                <a:gd name="T8" fmla="*/ 18 w 18"/>
                <a:gd name="T9" fmla="*/ 0 h 66"/>
                <a:gd name="T10" fmla="*/ 18 w 18"/>
                <a:gd name="T11" fmla="*/ 0 h 66"/>
                <a:gd name="T12" fmla="*/ 18 w 18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0"/>
                  </a:moveTo>
                  <a:lnTo>
                    <a:pt x="0" y="66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0" name="Freeform 90"/>
            <p:cNvSpPr>
              <a:spLocks noEditPoints="1"/>
            </p:cNvSpPr>
            <p:nvPr/>
          </p:nvSpPr>
          <p:spPr bwMode="auto">
            <a:xfrm>
              <a:off x="2226" y="1498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1" name="Freeform 91"/>
            <p:cNvSpPr>
              <a:spLocks noEditPoints="1"/>
            </p:cNvSpPr>
            <p:nvPr/>
          </p:nvSpPr>
          <p:spPr bwMode="auto">
            <a:xfrm>
              <a:off x="2202" y="1498"/>
              <a:ext cx="24" cy="66"/>
            </a:xfrm>
            <a:custGeom>
              <a:avLst/>
              <a:gdLst>
                <a:gd name="T0" fmla="*/ 24 w 24"/>
                <a:gd name="T1" fmla="*/ 66 h 66"/>
                <a:gd name="T2" fmla="*/ 0 w 24"/>
                <a:gd name="T3" fmla="*/ 0 h 66"/>
                <a:gd name="T4" fmla="*/ 24 w 24"/>
                <a:gd name="T5" fmla="*/ 66 h 66"/>
                <a:gd name="T6" fmla="*/ 24 w 24"/>
                <a:gd name="T7" fmla="*/ 66 h 66"/>
                <a:gd name="T8" fmla="*/ 24 w 24"/>
                <a:gd name="T9" fmla="*/ 66 h 66"/>
                <a:gd name="T10" fmla="*/ 24 w 24"/>
                <a:gd name="T11" fmla="*/ 66 h 66"/>
                <a:gd name="T12" fmla="*/ 24 w 24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66"/>
                  </a:moveTo>
                  <a:lnTo>
                    <a:pt x="0" y="0"/>
                  </a:lnTo>
                  <a:lnTo>
                    <a:pt x="24" y="66"/>
                  </a:lnTo>
                  <a:close/>
                  <a:moveTo>
                    <a:pt x="24" y="66"/>
                  </a:moveTo>
                  <a:lnTo>
                    <a:pt x="24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2" name="Freeform 92"/>
            <p:cNvSpPr>
              <a:spLocks noEditPoints="1"/>
            </p:cNvSpPr>
            <p:nvPr/>
          </p:nvSpPr>
          <p:spPr bwMode="auto">
            <a:xfrm>
              <a:off x="2184" y="1432"/>
              <a:ext cx="18" cy="66"/>
            </a:xfrm>
            <a:custGeom>
              <a:avLst/>
              <a:gdLst>
                <a:gd name="T0" fmla="*/ 18 w 18"/>
                <a:gd name="T1" fmla="*/ 66 h 66"/>
                <a:gd name="T2" fmla="*/ 0 w 18"/>
                <a:gd name="T3" fmla="*/ 0 h 66"/>
                <a:gd name="T4" fmla="*/ 18 w 18"/>
                <a:gd name="T5" fmla="*/ 66 h 66"/>
                <a:gd name="T6" fmla="*/ 18 w 18"/>
                <a:gd name="T7" fmla="*/ 66 h 66"/>
                <a:gd name="T8" fmla="*/ 18 w 18"/>
                <a:gd name="T9" fmla="*/ 66 h 66"/>
                <a:gd name="T10" fmla="*/ 18 w 18"/>
                <a:gd name="T11" fmla="*/ 66 h 66"/>
                <a:gd name="T12" fmla="*/ 18 w 18"/>
                <a:gd name="T13" fmla="*/ 6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66">
                  <a:moveTo>
                    <a:pt x="18" y="66"/>
                  </a:moveTo>
                  <a:lnTo>
                    <a:pt x="0" y="0"/>
                  </a:lnTo>
                  <a:lnTo>
                    <a:pt x="18" y="66"/>
                  </a:lnTo>
                  <a:close/>
                  <a:moveTo>
                    <a:pt x="18" y="66"/>
                  </a:moveTo>
                  <a:lnTo>
                    <a:pt x="18" y="66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3" name="Freeform 93"/>
            <p:cNvSpPr>
              <a:spLocks noEditPoints="1"/>
            </p:cNvSpPr>
            <p:nvPr/>
          </p:nvSpPr>
          <p:spPr bwMode="auto">
            <a:xfrm>
              <a:off x="2160" y="1432"/>
              <a:ext cx="24" cy="66"/>
            </a:xfrm>
            <a:custGeom>
              <a:avLst/>
              <a:gdLst>
                <a:gd name="T0" fmla="*/ 24 w 24"/>
                <a:gd name="T1" fmla="*/ 0 h 66"/>
                <a:gd name="T2" fmla="*/ 0 w 24"/>
                <a:gd name="T3" fmla="*/ 66 h 66"/>
                <a:gd name="T4" fmla="*/ 24 w 24"/>
                <a:gd name="T5" fmla="*/ 0 h 66"/>
                <a:gd name="T6" fmla="*/ 24 w 24"/>
                <a:gd name="T7" fmla="*/ 0 h 66"/>
                <a:gd name="T8" fmla="*/ 24 w 24"/>
                <a:gd name="T9" fmla="*/ 0 h 66"/>
                <a:gd name="T10" fmla="*/ 24 w 24"/>
                <a:gd name="T11" fmla="*/ 0 h 66"/>
                <a:gd name="T12" fmla="*/ 24 w 2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24" y="0"/>
                  </a:moveTo>
                  <a:lnTo>
                    <a:pt x="0" y="66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4" name="Freeform 94"/>
            <p:cNvSpPr>
              <a:spLocks/>
            </p:cNvSpPr>
            <p:nvPr/>
          </p:nvSpPr>
          <p:spPr bwMode="auto">
            <a:xfrm>
              <a:off x="3941" y="2811"/>
              <a:ext cx="71" cy="89"/>
            </a:xfrm>
            <a:custGeom>
              <a:avLst/>
              <a:gdLst>
                <a:gd name="T0" fmla="*/ 36 w 71"/>
                <a:gd name="T1" fmla="*/ 89 h 89"/>
                <a:gd name="T2" fmla="*/ 48 w 71"/>
                <a:gd name="T3" fmla="*/ 83 h 89"/>
                <a:gd name="T4" fmla="*/ 60 w 71"/>
                <a:gd name="T5" fmla="*/ 78 h 89"/>
                <a:gd name="T6" fmla="*/ 71 w 71"/>
                <a:gd name="T7" fmla="*/ 60 h 89"/>
                <a:gd name="T8" fmla="*/ 71 w 71"/>
                <a:gd name="T9" fmla="*/ 42 h 89"/>
                <a:gd name="T10" fmla="*/ 71 w 71"/>
                <a:gd name="T11" fmla="*/ 24 h 89"/>
                <a:gd name="T12" fmla="*/ 60 w 71"/>
                <a:gd name="T13" fmla="*/ 12 h 89"/>
                <a:gd name="T14" fmla="*/ 48 w 71"/>
                <a:gd name="T15" fmla="*/ 6 h 89"/>
                <a:gd name="T16" fmla="*/ 36 w 71"/>
                <a:gd name="T17" fmla="*/ 0 h 89"/>
                <a:gd name="T18" fmla="*/ 24 w 71"/>
                <a:gd name="T19" fmla="*/ 6 h 89"/>
                <a:gd name="T20" fmla="*/ 12 w 71"/>
                <a:gd name="T21" fmla="*/ 12 h 89"/>
                <a:gd name="T22" fmla="*/ 6 w 71"/>
                <a:gd name="T23" fmla="*/ 24 h 89"/>
                <a:gd name="T24" fmla="*/ 0 w 71"/>
                <a:gd name="T25" fmla="*/ 42 h 89"/>
                <a:gd name="T26" fmla="*/ 6 w 71"/>
                <a:gd name="T27" fmla="*/ 60 h 89"/>
                <a:gd name="T28" fmla="*/ 12 w 71"/>
                <a:gd name="T29" fmla="*/ 78 h 89"/>
                <a:gd name="T30" fmla="*/ 24 w 71"/>
                <a:gd name="T31" fmla="*/ 83 h 89"/>
                <a:gd name="T32" fmla="*/ 36 w 71"/>
                <a:gd name="T33" fmla="*/ 89 h 89"/>
                <a:gd name="T34" fmla="*/ 36 w 71"/>
                <a:gd name="T35" fmla="*/ 89 h 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1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1" y="60"/>
                  </a:lnTo>
                  <a:lnTo>
                    <a:pt x="71" y="42"/>
                  </a:lnTo>
                  <a:lnTo>
                    <a:pt x="71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8"/>
                  </a:lnTo>
                  <a:lnTo>
                    <a:pt x="24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5" name="Freeform 95"/>
            <p:cNvSpPr>
              <a:spLocks/>
            </p:cNvSpPr>
            <p:nvPr/>
          </p:nvSpPr>
          <p:spPr bwMode="auto">
            <a:xfrm>
              <a:off x="3392" y="2811"/>
              <a:ext cx="72" cy="8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8 h 89"/>
                <a:gd name="T6" fmla="*/ 72 w 72"/>
                <a:gd name="T7" fmla="*/ 60 h 89"/>
                <a:gd name="T8" fmla="*/ 72 w 72"/>
                <a:gd name="T9" fmla="*/ 42 h 89"/>
                <a:gd name="T10" fmla="*/ 72 w 72"/>
                <a:gd name="T11" fmla="*/ 24 h 89"/>
                <a:gd name="T12" fmla="*/ 60 w 72"/>
                <a:gd name="T13" fmla="*/ 12 h 89"/>
                <a:gd name="T14" fmla="*/ 48 w 72"/>
                <a:gd name="T15" fmla="*/ 6 h 89"/>
                <a:gd name="T16" fmla="*/ 36 w 72"/>
                <a:gd name="T17" fmla="*/ 0 h 89"/>
                <a:gd name="T18" fmla="*/ 24 w 72"/>
                <a:gd name="T19" fmla="*/ 6 h 89"/>
                <a:gd name="T20" fmla="*/ 12 w 72"/>
                <a:gd name="T21" fmla="*/ 12 h 89"/>
                <a:gd name="T22" fmla="*/ 6 w 72"/>
                <a:gd name="T23" fmla="*/ 24 h 89"/>
                <a:gd name="T24" fmla="*/ 0 w 72"/>
                <a:gd name="T25" fmla="*/ 42 h 89"/>
                <a:gd name="T26" fmla="*/ 6 w 72"/>
                <a:gd name="T27" fmla="*/ 60 h 89"/>
                <a:gd name="T28" fmla="*/ 12 w 72"/>
                <a:gd name="T29" fmla="*/ 78 h 89"/>
                <a:gd name="T30" fmla="*/ 24 w 72"/>
                <a:gd name="T31" fmla="*/ 83 h 89"/>
                <a:gd name="T32" fmla="*/ 36 w 72"/>
                <a:gd name="T33" fmla="*/ 89 h 89"/>
                <a:gd name="T34" fmla="*/ 36 w 72"/>
                <a:gd name="T35" fmla="*/ 89 h 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8"/>
                  </a:lnTo>
                  <a:lnTo>
                    <a:pt x="24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6" name="Freeform 96"/>
            <p:cNvSpPr>
              <a:spLocks/>
            </p:cNvSpPr>
            <p:nvPr/>
          </p:nvSpPr>
          <p:spPr bwMode="auto">
            <a:xfrm>
              <a:off x="2818" y="2811"/>
              <a:ext cx="72" cy="8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8 h 89"/>
                <a:gd name="T6" fmla="*/ 72 w 72"/>
                <a:gd name="T7" fmla="*/ 60 h 89"/>
                <a:gd name="T8" fmla="*/ 72 w 72"/>
                <a:gd name="T9" fmla="*/ 42 h 89"/>
                <a:gd name="T10" fmla="*/ 72 w 72"/>
                <a:gd name="T11" fmla="*/ 24 h 89"/>
                <a:gd name="T12" fmla="*/ 60 w 72"/>
                <a:gd name="T13" fmla="*/ 12 h 89"/>
                <a:gd name="T14" fmla="*/ 48 w 72"/>
                <a:gd name="T15" fmla="*/ 6 h 89"/>
                <a:gd name="T16" fmla="*/ 36 w 72"/>
                <a:gd name="T17" fmla="*/ 0 h 89"/>
                <a:gd name="T18" fmla="*/ 18 w 72"/>
                <a:gd name="T19" fmla="*/ 6 h 89"/>
                <a:gd name="T20" fmla="*/ 12 w 72"/>
                <a:gd name="T21" fmla="*/ 12 h 89"/>
                <a:gd name="T22" fmla="*/ 0 w 72"/>
                <a:gd name="T23" fmla="*/ 42 h 89"/>
                <a:gd name="T24" fmla="*/ 12 w 72"/>
                <a:gd name="T25" fmla="*/ 78 h 89"/>
                <a:gd name="T26" fmla="*/ 18 w 72"/>
                <a:gd name="T27" fmla="*/ 83 h 89"/>
                <a:gd name="T28" fmla="*/ 36 w 72"/>
                <a:gd name="T29" fmla="*/ 89 h 89"/>
                <a:gd name="T30" fmla="*/ 36 w 72"/>
                <a:gd name="T31" fmla="*/ 89 h 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12" y="78"/>
                  </a:lnTo>
                  <a:lnTo>
                    <a:pt x="18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7" name="Freeform 97"/>
            <p:cNvSpPr>
              <a:spLocks/>
            </p:cNvSpPr>
            <p:nvPr/>
          </p:nvSpPr>
          <p:spPr bwMode="auto">
            <a:xfrm>
              <a:off x="1783" y="2818"/>
              <a:ext cx="72" cy="89"/>
            </a:xfrm>
            <a:custGeom>
              <a:avLst/>
              <a:gdLst>
                <a:gd name="T0" fmla="*/ 36 w 72"/>
                <a:gd name="T1" fmla="*/ 89 h 89"/>
                <a:gd name="T2" fmla="*/ 48 w 72"/>
                <a:gd name="T3" fmla="*/ 83 h 89"/>
                <a:gd name="T4" fmla="*/ 60 w 72"/>
                <a:gd name="T5" fmla="*/ 78 h 89"/>
                <a:gd name="T6" fmla="*/ 72 w 72"/>
                <a:gd name="T7" fmla="*/ 60 h 89"/>
                <a:gd name="T8" fmla="*/ 72 w 72"/>
                <a:gd name="T9" fmla="*/ 42 h 89"/>
                <a:gd name="T10" fmla="*/ 72 w 72"/>
                <a:gd name="T11" fmla="*/ 24 h 89"/>
                <a:gd name="T12" fmla="*/ 60 w 72"/>
                <a:gd name="T13" fmla="*/ 12 h 89"/>
                <a:gd name="T14" fmla="*/ 48 w 72"/>
                <a:gd name="T15" fmla="*/ 6 h 89"/>
                <a:gd name="T16" fmla="*/ 36 w 72"/>
                <a:gd name="T17" fmla="*/ 0 h 89"/>
                <a:gd name="T18" fmla="*/ 24 w 72"/>
                <a:gd name="T19" fmla="*/ 6 h 89"/>
                <a:gd name="T20" fmla="*/ 12 w 72"/>
                <a:gd name="T21" fmla="*/ 12 h 89"/>
                <a:gd name="T22" fmla="*/ 6 w 72"/>
                <a:gd name="T23" fmla="*/ 24 h 89"/>
                <a:gd name="T24" fmla="*/ 0 w 72"/>
                <a:gd name="T25" fmla="*/ 42 h 89"/>
                <a:gd name="T26" fmla="*/ 6 w 72"/>
                <a:gd name="T27" fmla="*/ 60 h 89"/>
                <a:gd name="T28" fmla="*/ 12 w 72"/>
                <a:gd name="T29" fmla="*/ 78 h 89"/>
                <a:gd name="T30" fmla="*/ 24 w 72"/>
                <a:gd name="T31" fmla="*/ 83 h 89"/>
                <a:gd name="T32" fmla="*/ 36 w 72"/>
                <a:gd name="T33" fmla="*/ 89 h 89"/>
                <a:gd name="T34" fmla="*/ 36 w 72"/>
                <a:gd name="T35" fmla="*/ 89 h 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9">
                  <a:moveTo>
                    <a:pt x="36" y="89"/>
                  </a:moveTo>
                  <a:lnTo>
                    <a:pt x="48" y="83"/>
                  </a:lnTo>
                  <a:lnTo>
                    <a:pt x="60" y="78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8"/>
                  </a:lnTo>
                  <a:lnTo>
                    <a:pt x="24" y="83"/>
                  </a:lnTo>
                  <a:lnTo>
                    <a:pt x="36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8" name="Freeform 98"/>
            <p:cNvSpPr>
              <a:spLocks/>
            </p:cNvSpPr>
            <p:nvPr/>
          </p:nvSpPr>
          <p:spPr bwMode="auto">
            <a:xfrm>
              <a:off x="3941" y="1470"/>
              <a:ext cx="71" cy="84"/>
            </a:xfrm>
            <a:custGeom>
              <a:avLst/>
              <a:gdLst>
                <a:gd name="T0" fmla="*/ 36 w 71"/>
                <a:gd name="T1" fmla="*/ 84 h 84"/>
                <a:gd name="T2" fmla="*/ 54 w 71"/>
                <a:gd name="T3" fmla="*/ 84 h 84"/>
                <a:gd name="T4" fmla="*/ 65 w 71"/>
                <a:gd name="T5" fmla="*/ 72 h 84"/>
                <a:gd name="T6" fmla="*/ 71 w 71"/>
                <a:gd name="T7" fmla="*/ 42 h 84"/>
                <a:gd name="T8" fmla="*/ 65 w 71"/>
                <a:gd name="T9" fmla="*/ 12 h 84"/>
                <a:gd name="T10" fmla="*/ 54 w 71"/>
                <a:gd name="T11" fmla="*/ 6 h 84"/>
                <a:gd name="T12" fmla="*/ 36 w 71"/>
                <a:gd name="T13" fmla="*/ 0 h 84"/>
                <a:gd name="T14" fmla="*/ 24 w 71"/>
                <a:gd name="T15" fmla="*/ 6 h 84"/>
                <a:gd name="T16" fmla="*/ 12 w 71"/>
                <a:gd name="T17" fmla="*/ 12 h 84"/>
                <a:gd name="T18" fmla="*/ 6 w 71"/>
                <a:gd name="T19" fmla="*/ 24 h 84"/>
                <a:gd name="T20" fmla="*/ 0 w 71"/>
                <a:gd name="T21" fmla="*/ 42 h 84"/>
                <a:gd name="T22" fmla="*/ 6 w 71"/>
                <a:gd name="T23" fmla="*/ 60 h 84"/>
                <a:gd name="T24" fmla="*/ 12 w 71"/>
                <a:gd name="T25" fmla="*/ 72 h 84"/>
                <a:gd name="T26" fmla="*/ 24 w 71"/>
                <a:gd name="T27" fmla="*/ 84 h 84"/>
                <a:gd name="T28" fmla="*/ 36 w 71"/>
                <a:gd name="T29" fmla="*/ 84 h 84"/>
                <a:gd name="T30" fmla="*/ 36 w 71"/>
                <a:gd name="T31" fmla="*/ 84 h 8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1" h="84">
                  <a:moveTo>
                    <a:pt x="36" y="84"/>
                  </a:moveTo>
                  <a:lnTo>
                    <a:pt x="54" y="84"/>
                  </a:lnTo>
                  <a:lnTo>
                    <a:pt x="65" y="72"/>
                  </a:lnTo>
                  <a:lnTo>
                    <a:pt x="71" y="42"/>
                  </a:lnTo>
                  <a:lnTo>
                    <a:pt x="65" y="12"/>
                  </a:lnTo>
                  <a:lnTo>
                    <a:pt x="54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69" name="Freeform 99"/>
            <p:cNvSpPr>
              <a:spLocks/>
            </p:cNvSpPr>
            <p:nvPr/>
          </p:nvSpPr>
          <p:spPr bwMode="auto">
            <a:xfrm>
              <a:off x="3392" y="1470"/>
              <a:ext cx="72" cy="84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24 w 72"/>
                <a:gd name="T19" fmla="*/ 6 h 84"/>
                <a:gd name="T20" fmla="*/ 12 w 72"/>
                <a:gd name="T21" fmla="*/ 12 h 84"/>
                <a:gd name="T22" fmla="*/ 6 w 72"/>
                <a:gd name="T23" fmla="*/ 24 h 84"/>
                <a:gd name="T24" fmla="*/ 0 w 72"/>
                <a:gd name="T25" fmla="*/ 42 h 84"/>
                <a:gd name="T26" fmla="*/ 6 w 72"/>
                <a:gd name="T27" fmla="*/ 60 h 84"/>
                <a:gd name="T28" fmla="*/ 12 w 72"/>
                <a:gd name="T29" fmla="*/ 72 h 84"/>
                <a:gd name="T30" fmla="*/ 24 w 72"/>
                <a:gd name="T31" fmla="*/ 84 h 84"/>
                <a:gd name="T32" fmla="*/ 36 w 72"/>
                <a:gd name="T33" fmla="*/ 84 h 84"/>
                <a:gd name="T34" fmla="*/ 36 w 72"/>
                <a:gd name="T35" fmla="*/ 84 h 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0" name="Freeform 100"/>
            <p:cNvSpPr>
              <a:spLocks/>
            </p:cNvSpPr>
            <p:nvPr/>
          </p:nvSpPr>
          <p:spPr bwMode="auto">
            <a:xfrm>
              <a:off x="2818" y="1470"/>
              <a:ext cx="72" cy="84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18 w 72"/>
                <a:gd name="T19" fmla="*/ 6 h 84"/>
                <a:gd name="T20" fmla="*/ 12 w 72"/>
                <a:gd name="T21" fmla="*/ 12 h 84"/>
                <a:gd name="T22" fmla="*/ 0 w 72"/>
                <a:gd name="T23" fmla="*/ 42 h 84"/>
                <a:gd name="T24" fmla="*/ 12 w 72"/>
                <a:gd name="T25" fmla="*/ 72 h 84"/>
                <a:gd name="T26" fmla="*/ 18 w 72"/>
                <a:gd name="T27" fmla="*/ 84 h 84"/>
                <a:gd name="T28" fmla="*/ 36 w 72"/>
                <a:gd name="T29" fmla="*/ 84 h 84"/>
                <a:gd name="T30" fmla="*/ 36 w 72"/>
                <a:gd name="T31" fmla="*/ 84 h 8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42"/>
                  </a:lnTo>
                  <a:lnTo>
                    <a:pt x="12" y="72"/>
                  </a:lnTo>
                  <a:lnTo>
                    <a:pt x="18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1" name="Freeform 101"/>
            <p:cNvSpPr>
              <a:spLocks/>
            </p:cNvSpPr>
            <p:nvPr/>
          </p:nvSpPr>
          <p:spPr bwMode="auto">
            <a:xfrm>
              <a:off x="1783" y="1456"/>
              <a:ext cx="72" cy="84"/>
            </a:xfrm>
            <a:custGeom>
              <a:avLst/>
              <a:gdLst>
                <a:gd name="T0" fmla="*/ 36 w 72"/>
                <a:gd name="T1" fmla="*/ 84 h 84"/>
                <a:gd name="T2" fmla="*/ 48 w 72"/>
                <a:gd name="T3" fmla="*/ 84 h 84"/>
                <a:gd name="T4" fmla="*/ 60 w 72"/>
                <a:gd name="T5" fmla="*/ 72 h 84"/>
                <a:gd name="T6" fmla="*/ 72 w 72"/>
                <a:gd name="T7" fmla="*/ 60 h 84"/>
                <a:gd name="T8" fmla="*/ 72 w 72"/>
                <a:gd name="T9" fmla="*/ 42 h 84"/>
                <a:gd name="T10" fmla="*/ 72 w 72"/>
                <a:gd name="T11" fmla="*/ 24 h 84"/>
                <a:gd name="T12" fmla="*/ 60 w 72"/>
                <a:gd name="T13" fmla="*/ 12 h 84"/>
                <a:gd name="T14" fmla="*/ 48 w 72"/>
                <a:gd name="T15" fmla="*/ 6 h 84"/>
                <a:gd name="T16" fmla="*/ 36 w 72"/>
                <a:gd name="T17" fmla="*/ 0 h 84"/>
                <a:gd name="T18" fmla="*/ 24 w 72"/>
                <a:gd name="T19" fmla="*/ 6 h 84"/>
                <a:gd name="T20" fmla="*/ 12 w 72"/>
                <a:gd name="T21" fmla="*/ 12 h 84"/>
                <a:gd name="T22" fmla="*/ 6 w 72"/>
                <a:gd name="T23" fmla="*/ 24 h 84"/>
                <a:gd name="T24" fmla="*/ 0 w 72"/>
                <a:gd name="T25" fmla="*/ 42 h 84"/>
                <a:gd name="T26" fmla="*/ 6 w 72"/>
                <a:gd name="T27" fmla="*/ 60 h 84"/>
                <a:gd name="T28" fmla="*/ 12 w 72"/>
                <a:gd name="T29" fmla="*/ 72 h 84"/>
                <a:gd name="T30" fmla="*/ 24 w 72"/>
                <a:gd name="T31" fmla="*/ 84 h 84"/>
                <a:gd name="T32" fmla="*/ 36 w 72"/>
                <a:gd name="T33" fmla="*/ 84 h 84"/>
                <a:gd name="T34" fmla="*/ 36 w 72"/>
                <a:gd name="T35" fmla="*/ 84 h 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2" h="84">
                  <a:moveTo>
                    <a:pt x="36" y="84"/>
                  </a:moveTo>
                  <a:lnTo>
                    <a:pt x="48" y="84"/>
                  </a:lnTo>
                  <a:lnTo>
                    <a:pt x="60" y="72"/>
                  </a:lnTo>
                  <a:lnTo>
                    <a:pt x="72" y="60"/>
                  </a:lnTo>
                  <a:lnTo>
                    <a:pt x="72" y="42"/>
                  </a:lnTo>
                  <a:lnTo>
                    <a:pt x="72" y="24"/>
                  </a:lnTo>
                  <a:lnTo>
                    <a:pt x="60" y="12"/>
                  </a:lnTo>
                  <a:lnTo>
                    <a:pt x="48" y="6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12" y="72"/>
                  </a:lnTo>
                  <a:lnTo>
                    <a:pt x="24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2" name="Freeform 102"/>
            <p:cNvSpPr>
              <a:spLocks noEditPoints="1"/>
            </p:cNvSpPr>
            <p:nvPr/>
          </p:nvSpPr>
          <p:spPr bwMode="auto">
            <a:xfrm>
              <a:off x="2824" y="1498"/>
              <a:ext cx="1220" cy="114"/>
            </a:xfrm>
            <a:custGeom>
              <a:avLst/>
              <a:gdLst>
                <a:gd name="T0" fmla="*/ 0 w 1220"/>
                <a:gd name="T1" fmla="*/ 114 h 114"/>
                <a:gd name="T2" fmla="*/ 1161 w 1220"/>
                <a:gd name="T3" fmla="*/ 114 h 114"/>
                <a:gd name="T4" fmla="*/ 0 w 1220"/>
                <a:gd name="T5" fmla="*/ 114 h 114"/>
                <a:gd name="T6" fmla="*/ 0 w 1220"/>
                <a:gd name="T7" fmla="*/ 114 h 114"/>
                <a:gd name="T8" fmla="*/ 1167 w 1220"/>
                <a:gd name="T9" fmla="*/ 108 h 114"/>
                <a:gd name="T10" fmla="*/ 1190 w 1220"/>
                <a:gd name="T11" fmla="*/ 96 h 114"/>
                <a:gd name="T12" fmla="*/ 1208 w 1220"/>
                <a:gd name="T13" fmla="*/ 72 h 114"/>
                <a:gd name="T14" fmla="*/ 1214 w 1220"/>
                <a:gd name="T15" fmla="*/ 42 h 114"/>
                <a:gd name="T16" fmla="*/ 1220 w 1220"/>
                <a:gd name="T17" fmla="*/ 0 h 114"/>
                <a:gd name="T18" fmla="*/ 1220 w 1220"/>
                <a:gd name="T19" fmla="*/ 0 h 114"/>
                <a:gd name="T20" fmla="*/ 1214 w 1220"/>
                <a:gd name="T21" fmla="*/ 42 h 114"/>
                <a:gd name="T22" fmla="*/ 1208 w 1220"/>
                <a:gd name="T23" fmla="*/ 72 h 114"/>
                <a:gd name="T24" fmla="*/ 1190 w 1220"/>
                <a:gd name="T25" fmla="*/ 96 h 114"/>
                <a:gd name="T26" fmla="*/ 1167 w 1220"/>
                <a:gd name="T27" fmla="*/ 108 h 114"/>
                <a:gd name="T28" fmla="*/ 1167 w 1220"/>
                <a:gd name="T29" fmla="*/ 108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20" h="114">
                  <a:moveTo>
                    <a:pt x="0" y="114"/>
                  </a:moveTo>
                  <a:lnTo>
                    <a:pt x="1161" y="114"/>
                  </a:lnTo>
                  <a:lnTo>
                    <a:pt x="0" y="114"/>
                  </a:lnTo>
                  <a:close/>
                  <a:moveTo>
                    <a:pt x="1167" y="108"/>
                  </a:moveTo>
                  <a:lnTo>
                    <a:pt x="1190" y="96"/>
                  </a:lnTo>
                  <a:lnTo>
                    <a:pt x="1208" y="72"/>
                  </a:lnTo>
                  <a:lnTo>
                    <a:pt x="1214" y="42"/>
                  </a:lnTo>
                  <a:lnTo>
                    <a:pt x="1220" y="0"/>
                  </a:lnTo>
                  <a:lnTo>
                    <a:pt x="1214" y="42"/>
                  </a:lnTo>
                  <a:lnTo>
                    <a:pt x="1208" y="72"/>
                  </a:lnTo>
                  <a:lnTo>
                    <a:pt x="1190" y="96"/>
                  </a:lnTo>
                  <a:lnTo>
                    <a:pt x="1167" y="10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3" name="Freeform 103"/>
            <p:cNvSpPr>
              <a:spLocks noEditPoints="1"/>
            </p:cNvSpPr>
            <p:nvPr/>
          </p:nvSpPr>
          <p:spPr bwMode="auto">
            <a:xfrm>
              <a:off x="3991" y="1391"/>
              <a:ext cx="53" cy="107"/>
            </a:xfrm>
            <a:custGeom>
              <a:avLst/>
              <a:gdLst>
                <a:gd name="T0" fmla="*/ 53 w 53"/>
                <a:gd name="T1" fmla="*/ 107 h 107"/>
                <a:gd name="T2" fmla="*/ 47 w 53"/>
                <a:gd name="T3" fmla="*/ 71 h 107"/>
                <a:gd name="T4" fmla="*/ 41 w 53"/>
                <a:gd name="T5" fmla="*/ 35 h 107"/>
                <a:gd name="T6" fmla="*/ 23 w 53"/>
                <a:gd name="T7" fmla="*/ 12 h 107"/>
                <a:gd name="T8" fmla="*/ 0 w 53"/>
                <a:gd name="T9" fmla="*/ 0 h 107"/>
                <a:gd name="T10" fmla="*/ 0 w 53"/>
                <a:gd name="T11" fmla="*/ 0 h 107"/>
                <a:gd name="T12" fmla="*/ 23 w 53"/>
                <a:gd name="T13" fmla="*/ 12 h 107"/>
                <a:gd name="T14" fmla="*/ 41 w 53"/>
                <a:gd name="T15" fmla="*/ 35 h 107"/>
                <a:gd name="T16" fmla="*/ 47 w 53"/>
                <a:gd name="T17" fmla="*/ 71 h 107"/>
                <a:gd name="T18" fmla="*/ 53 w 53"/>
                <a:gd name="T19" fmla="*/ 107 h 107"/>
                <a:gd name="T20" fmla="*/ 53 w 53"/>
                <a:gd name="T21" fmla="*/ 107 h 107"/>
                <a:gd name="T22" fmla="*/ 53 w 53"/>
                <a:gd name="T23" fmla="*/ 107 h 107"/>
                <a:gd name="T24" fmla="*/ 53 w 53"/>
                <a:gd name="T25" fmla="*/ 107 h 107"/>
                <a:gd name="T26" fmla="*/ 53 w 53"/>
                <a:gd name="T27" fmla="*/ 107 h 1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" h="107">
                  <a:moveTo>
                    <a:pt x="53" y="107"/>
                  </a:moveTo>
                  <a:lnTo>
                    <a:pt x="47" y="71"/>
                  </a:lnTo>
                  <a:lnTo>
                    <a:pt x="41" y="35"/>
                  </a:lnTo>
                  <a:lnTo>
                    <a:pt x="23" y="12"/>
                  </a:lnTo>
                  <a:lnTo>
                    <a:pt x="0" y="0"/>
                  </a:lnTo>
                  <a:lnTo>
                    <a:pt x="23" y="12"/>
                  </a:lnTo>
                  <a:lnTo>
                    <a:pt x="41" y="35"/>
                  </a:lnTo>
                  <a:lnTo>
                    <a:pt x="47" y="71"/>
                  </a:lnTo>
                  <a:lnTo>
                    <a:pt x="53" y="107"/>
                  </a:lnTo>
                  <a:close/>
                  <a:moveTo>
                    <a:pt x="53" y="107"/>
                  </a:moveTo>
                  <a:lnTo>
                    <a:pt x="53" y="107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4" name="Freeform 104"/>
            <p:cNvSpPr>
              <a:spLocks noEditPoints="1"/>
            </p:cNvSpPr>
            <p:nvPr/>
          </p:nvSpPr>
          <p:spPr bwMode="auto">
            <a:xfrm>
              <a:off x="2764" y="1391"/>
              <a:ext cx="60" cy="221"/>
            </a:xfrm>
            <a:custGeom>
              <a:avLst/>
              <a:gdLst>
                <a:gd name="T0" fmla="*/ 54 w 60"/>
                <a:gd name="T1" fmla="*/ 0 h 221"/>
                <a:gd name="T2" fmla="*/ 30 w 60"/>
                <a:gd name="T3" fmla="*/ 12 h 221"/>
                <a:gd name="T4" fmla="*/ 12 w 60"/>
                <a:gd name="T5" fmla="*/ 35 h 221"/>
                <a:gd name="T6" fmla="*/ 6 w 60"/>
                <a:gd name="T7" fmla="*/ 71 h 221"/>
                <a:gd name="T8" fmla="*/ 0 w 60"/>
                <a:gd name="T9" fmla="*/ 113 h 221"/>
                <a:gd name="T10" fmla="*/ 0 w 60"/>
                <a:gd name="T11" fmla="*/ 113 h 221"/>
                <a:gd name="T12" fmla="*/ 6 w 60"/>
                <a:gd name="T13" fmla="*/ 71 h 221"/>
                <a:gd name="T14" fmla="*/ 12 w 60"/>
                <a:gd name="T15" fmla="*/ 35 h 221"/>
                <a:gd name="T16" fmla="*/ 36 w 60"/>
                <a:gd name="T17" fmla="*/ 12 h 221"/>
                <a:gd name="T18" fmla="*/ 60 w 60"/>
                <a:gd name="T19" fmla="*/ 0 h 221"/>
                <a:gd name="T20" fmla="*/ 54 w 60"/>
                <a:gd name="T21" fmla="*/ 0 h 221"/>
                <a:gd name="T22" fmla="*/ 0 w 60"/>
                <a:gd name="T23" fmla="*/ 113 h 221"/>
                <a:gd name="T24" fmla="*/ 6 w 60"/>
                <a:gd name="T25" fmla="*/ 149 h 221"/>
                <a:gd name="T26" fmla="*/ 12 w 60"/>
                <a:gd name="T27" fmla="*/ 185 h 221"/>
                <a:gd name="T28" fmla="*/ 30 w 60"/>
                <a:gd name="T29" fmla="*/ 209 h 221"/>
                <a:gd name="T30" fmla="*/ 54 w 60"/>
                <a:gd name="T31" fmla="*/ 221 h 221"/>
                <a:gd name="T32" fmla="*/ 54 w 60"/>
                <a:gd name="T33" fmla="*/ 221 h 221"/>
                <a:gd name="T34" fmla="*/ 30 w 60"/>
                <a:gd name="T35" fmla="*/ 209 h 221"/>
                <a:gd name="T36" fmla="*/ 12 w 60"/>
                <a:gd name="T37" fmla="*/ 185 h 221"/>
                <a:gd name="T38" fmla="*/ 6 w 60"/>
                <a:gd name="T39" fmla="*/ 149 h 221"/>
                <a:gd name="T40" fmla="*/ 0 w 60"/>
                <a:gd name="T41" fmla="*/ 113 h 221"/>
                <a:gd name="T42" fmla="*/ 0 w 60"/>
                <a:gd name="T43" fmla="*/ 113 h 22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0" h="221">
                  <a:moveTo>
                    <a:pt x="54" y="0"/>
                  </a:moveTo>
                  <a:lnTo>
                    <a:pt x="30" y="12"/>
                  </a:lnTo>
                  <a:lnTo>
                    <a:pt x="12" y="35"/>
                  </a:lnTo>
                  <a:lnTo>
                    <a:pt x="6" y="71"/>
                  </a:lnTo>
                  <a:lnTo>
                    <a:pt x="0" y="113"/>
                  </a:lnTo>
                  <a:lnTo>
                    <a:pt x="6" y="71"/>
                  </a:lnTo>
                  <a:lnTo>
                    <a:pt x="12" y="35"/>
                  </a:lnTo>
                  <a:lnTo>
                    <a:pt x="36" y="12"/>
                  </a:lnTo>
                  <a:lnTo>
                    <a:pt x="60" y="0"/>
                  </a:lnTo>
                  <a:lnTo>
                    <a:pt x="54" y="0"/>
                  </a:lnTo>
                  <a:close/>
                  <a:moveTo>
                    <a:pt x="0" y="113"/>
                  </a:moveTo>
                  <a:lnTo>
                    <a:pt x="6" y="149"/>
                  </a:lnTo>
                  <a:lnTo>
                    <a:pt x="12" y="185"/>
                  </a:lnTo>
                  <a:lnTo>
                    <a:pt x="30" y="209"/>
                  </a:lnTo>
                  <a:lnTo>
                    <a:pt x="54" y="221"/>
                  </a:lnTo>
                  <a:lnTo>
                    <a:pt x="30" y="209"/>
                  </a:lnTo>
                  <a:lnTo>
                    <a:pt x="12" y="185"/>
                  </a:lnTo>
                  <a:lnTo>
                    <a:pt x="6" y="149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5" name="Freeform 105"/>
            <p:cNvSpPr>
              <a:spLocks/>
            </p:cNvSpPr>
            <p:nvPr/>
          </p:nvSpPr>
          <p:spPr bwMode="auto">
            <a:xfrm>
              <a:off x="2764" y="150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6" name="Freeform 106"/>
            <p:cNvSpPr>
              <a:spLocks noEditPoints="1"/>
            </p:cNvSpPr>
            <p:nvPr/>
          </p:nvSpPr>
          <p:spPr bwMode="auto">
            <a:xfrm>
              <a:off x="1819" y="2860"/>
              <a:ext cx="2225" cy="113"/>
            </a:xfrm>
            <a:custGeom>
              <a:avLst/>
              <a:gdLst>
                <a:gd name="T0" fmla="*/ 0 w 2225"/>
                <a:gd name="T1" fmla="*/ 113 h 113"/>
                <a:gd name="T2" fmla="*/ 2166 w 2225"/>
                <a:gd name="T3" fmla="*/ 113 h 113"/>
                <a:gd name="T4" fmla="*/ 0 w 2225"/>
                <a:gd name="T5" fmla="*/ 113 h 113"/>
                <a:gd name="T6" fmla="*/ 0 w 2225"/>
                <a:gd name="T7" fmla="*/ 113 h 113"/>
                <a:gd name="T8" fmla="*/ 2172 w 2225"/>
                <a:gd name="T9" fmla="*/ 113 h 113"/>
                <a:gd name="T10" fmla="*/ 2195 w 2225"/>
                <a:gd name="T11" fmla="*/ 101 h 113"/>
                <a:gd name="T12" fmla="*/ 2213 w 2225"/>
                <a:gd name="T13" fmla="*/ 77 h 113"/>
                <a:gd name="T14" fmla="*/ 2219 w 2225"/>
                <a:gd name="T15" fmla="*/ 41 h 113"/>
                <a:gd name="T16" fmla="*/ 2225 w 2225"/>
                <a:gd name="T17" fmla="*/ 6 h 113"/>
                <a:gd name="T18" fmla="*/ 2225 w 2225"/>
                <a:gd name="T19" fmla="*/ 0 h 113"/>
                <a:gd name="T20" fmla="*/ 2219 w 2225"/>
                <a:gd name="T21" fmla="*/ 41 h 113"/>
                <a:gd name="T22" fmla="*/ 2213 w 2225"/>
                <a:gd name="T23" fmla="*/ 77 h 113"/>
                <a:gd name="T24" fmla="*/ 2195 w 2225"/>
                <a:gd name="T25" fmla="*/ 101 h 113"/>
                <a:gd name="T26" fmla="*/ 2172 w 2225"/>
                <a:gd name="T27" fmla="*/ 113 h 113"/>
                <a:gd name="T28" fmla="*/ 2172 w 2225"/>
                <a:gd name="T29" fmla="*/ 113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25" h="113">
                  <a:moveTo>
                    <a:pt x="0" y="113"/>
                  </a:moveTo>
                  <a:lnTo>
                    <a:pt x="2166" y="113"/>
                  </a:lnTo>
                  <a:lnTo>
                    <a:pt x="0" y="113"/>
                  </a:lnTo>
                  <a:close/>
                  <a:moveTo>
                    <a:pt x="2172" y="113"/>
                  </a:moveTo>
                  <a:lnTo>
                    <a:pt x="2195" y="101"/>
                  </a:lnTo>
                  <a:lnTo>
                    <a:pt x="2213" y="77"/>
                  </a:lnTo>
                  <a:lnTo>
                    <a:pt x="2219" y="41"/>
                  </a:lnTo>
                  <a:lnTo>
                    <a:pt x="2225" y="6"/>
                  </a:lnTo>
                  <a:lnTo>
                    <a:pt x="2225" y="0"/>
                  </a:lnTo>
                  <a:lnTo>
                    <a:pt x="2219" y="41"/>
                  </a:lnTo>
                  <a:lnTo>
                    <a:pt x="2213" y="77"/>
                  </a:lnTo>
                  <a:lnTo>
                    <a:pt x="2195" y="101"/>
                  </a:lnTo>
                  <a:lnTo>
                    <a:pt x="2172" y="113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7" name="Freeform 107"/>
            <p:cNvSpPr>
              <a:spLocks noEditPoints="1"/>
            </p:cNvSpPr>
            <p:nvPr/>
          </p:nvSpPr>
          <p:spPr bwMode="auto">
            <a:xfrm>
              <a:off x="3991" y="2752"/>
              <a:ext cx="53" cy="114"/>
            </a:xfrm>
            <a:custGeom>
              <a:avLst/>
              <a:gdLst>
                <a:gd name="T0" fmla="*/ 53 w 53"/>
                <a:gd name="T1" fmla="*/ 108 h 114"/>
                <a:gd name="T2" fmla="*/ 47 w 53"/>
                <a:gd name="T3" fmla="*/ 72 h 114"/>
                <a:gd name="T4" fmla="*/ 41 w 53"/>
                <a:gd name="T5" fmla="*/ 36 h 114"/>
                <a:gd name="T6" fmla="*/ 23 w 53"/>
                <a:gd name="T7" fmla="*/ 12 h 114"/>
                <a:gd name="T8" fmla="*/ 0 w 53"/>
                <a:gd name="T9" fmla="*/ 0 h 114"/>
                <a:gd name="T10" fmla="*/ 0 w 53"/>
                <a:gd name="T11" fmla="*/ 0 h 114"/>
                <a:gd name="T12" fmla="*/ 23 w 53"/>
                <a:gd name="T13" fmla="*/ 12 h 114"/>
                <a:gd name="T14" fmla="*/ 41 w 53"/>
                <a:gd name="T15" fmla="*/ 36 h 114"/>
                <a:gd name="T16" fmla="*/ 47 w 53"/>
                <a:gd name="T17" fmla="*/ 72 h 114"/>
                <a:gd name="T18" fmla="*/ 53 w 53"/>
                <a:gd name="T19" fmla="*/ 114 h 114"/>
                <a:gd name="T20" fmla="*/ 53 w 53"/>
                <a:gd name="T21" fmla="*/ 108 h 114"/>
                <a:gd name="T22" fmla="*/ 53 w 53"/>
                <a:gd name="T23" fmla="*/ 108 h 114"/>
                <a:gd name="T24" fmla="*/ 53 w 53"/>
                <a:gd name="T25" fmla="*/ 108 h 114"/>
                <a:gd name="T26" fmla="*/ 53 w 53"/>
                <a:gd name="T27" fmla="*/ 108 h 1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" h="114">
                  <a:moveTo>
                    <a:pt x="53" y="108"/>
                  </a:moveTo>
                  <a:lnTo>
                    <a:pt x="47" y="72"/>
                  </a:lnTo>
                  <a:lnTo>
                    <a:pt x="41" y="36"/>
                  </a:lnTo>
                  <a:lnTo>
                    <a:pt x="23" y="12"/>
                  </a:lnTo>
                  <a:lnTo>
                    <a:pt x="0" y="0"/>
                  </a:lnTo>
                  <a:lnTo>
                    <a:pt x="23" y="12"/>
                  </a:lnTo>
                  <a:lnTo>
                    <a:pt x="41" y="36"/>
                  </a:lnTo>
                  <a:lnTo>
                    <a:pt x="47" y="72"/>
                  </a:lnTo>
                  <a:lnTo>
                    <a:pt x="53" y="114"/>
                  </a:lnTo>
                  <a:lnTo>
                    <a:pt x="53" y="108"/>
                  </a:lnTo>
                  <a:close/>
                  <a:moveTo>
                    <a:pt x="53" y="108"/>
                  </a:moveTo>
                  <a:lnTo>
                    <a:pt x="53" y="10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8" name="Freeform 108"/>
            <p:cNvSpPr>
              <a:spLocks noEditPoints="1"/>
            </p:cNvSpPr>
            <p:nvPr/>
          </p:nvSpPr>
          <p:spPr bwMode="auto">
            <a:xfrm>
              <a:off x="1759" y="2758"/>
              <a:ext cx="60" cy="215"/>
            </a:xfrm>
            <a:custGeom>
              <a:avLst/>
              <a:gdLst>
                <a:gd name="T0" fmla="*/ 60 w 60"/>
                <a:gd name="T1" fmla="*/ 0 h 215"/>
                <a:gd name="T2" fmla="*/ 36 w 60"/>
                <a:gd name="T3" fmla="*/ 12 h 215"/>
                <a:gd name="T4" fmla="*/ 12 w 60"/>
                <a:gd name="T5" fmla="*/ 36 h 215"/>
                <a:gd name="T6" fmla="*/ 6 w 60"/>
                <a:gd name="T7" fmla="*/ 66 h 215"/>
                <a:gd name="T8" fmla="*/ 0 w 60"/>
                <a:gd name="T9" fmla="*/ 108 h 215"/>
                <a:gd name="T10" fmla="*/ 0 w 60"/>
                <a:gd name="T11" fmla="*/ 108 h 215"/>
                <a:gd name="T12" fmla="*/ 6 w 60"/>
                <a:gd name="T13" fmla="*/ 66 h 215"/>
                <a:gd name="T14" fmla="*/ 12 w 60"/>
                <a:gd name="T15" fmla="*/ 36 h 215"/>
                <a:gd name="T16" fmla="*/ 36 w 60"/>
                <a:gd name="T17" fmla="*/ 12 h 215"/>
                <a:gd name="T18" fmla="*/ 60 w 60"/>
                <a:gd name="T19" fmla="*/ 0 h 215"/>
                <a:gd name="T20" fmla="*/ 60 w 60"/>
                <a:gd name="T21" fmla="*/ 0 h 215"/>
                <a:gd name="T22" fmla="*/ 0 w 60"/>
                <a:gd name="T23" fmla="*/ 108 h 215"/>
                <a:gd name="T24" fmla="*/ 6 w 60"/>
                <a:gd name="T25" fmla="*/ 143 h 215"/>
                <a:gd name="T26" fmla="*/ 18 w 60"/>
                <a:gd name="T27" fmla="*/ 179 h 215"/>
                <a:gd name="T28" fmla="*/ 36 w 60"/>
                <a:gd name="T29" fmla="*/ 203 h 215"/>
                <a:gd name="T30" fmla="*/ 60 w 60"/>
                <a:gd name="T31" fmla="*/ 215 h 215"/>
                <a:gd name="T32" fmla="*/ 60 w 60"/>
                <a:gd name="T33" fmla="*/ 215 h 215"/>
                <a:gd name="T34" fmla="*/ 36 w 60"/>
                <a:gd name="T35" fmla="*/ 203 h 215"/>
                <a:gd name="T36" fmla="*/ 18 w 60"/>
                <a:gd name="T37" fmla="*/ 179 h 215"/>
                <a:gd name="T38" fmla="*/ 6 w 60"/>
                <a:gd name="T39" fmla="*/ 143 h 215"/>
                <a:gd name="T40" fmla="*/ 0 w 60"/>
                <a:gd name="T41" fmla="*/ 108 h 215"/>
                <a:gd name="T42" fmla="*/ 0 w 60"/>
                <a:gd name="T43" fmla="*/ 108 h 21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0" h="215">
                  <a:moveTo>
                    <a:pt x="60" y="0"/>
                  </a:moveTo>
                  <a:lnTo>
                    <a:pt x="36" y="12"/>
                  </a:lnTo>
                  <a:lnTo>
                    <a:pt x="12" y="36"/>
                  </a:lnTo>
                  <a:lnTo>
                    <a:pt x="6" y="66"/>
                  </a:lnTo>
                  <a:lnTo>
                    <a:pt x="0" y="108"/>
                  </a:lnTo>
                  <a:lnTo>
                    <a:pt x="6" y="66"/>
                  </a:lnTo>
                  <a:lnTo>
                    <a:pt x="12" y="36"/>
                  </a:lnTo>
                  <a:lnTo>
                    <a:pt x="36" y="12"/>
                  </a:lnTo>
                  <a:lnTo>
                    <a:pt x="60" y="0"/>
                  </a:lnTo>
                  <a:close/>
                  <a:moveTo>
                    <a:pt x="0" y="108"/>
                  </a:moveTo>
                  <a:lnTo>
                    <a:pt x="6" y="143"/>
                  </a:lnTo>
                  <a:lnTo>
                    <a:pt x="18" y="179"/>
                  </a:lnTo>
                  <a:lnTo>
                    <a:pt x="36" y="203"/>
                  </a:lnTo>
                  <a:lnTo>
                    <a:pt x="60" y="215"/>
                  </a:lnTo>
                  <a:lnTo>
                    <a:pt x="36" y="203"/>
                  </a:lnTo>
                  <a:lnTo>
                    <a:pt x="18" y="179"/>
                  </a:lnTo>
                  <a:lnTo>
                    <a:pt x="6" y="143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79" name="Freeform 109"/>
            <p:cNvSpPr>
              <a:spLocks/>
            </p:cNvSpPr>
            <p:nvPr/>
          </p:nvSpPr>
          <p:spPr bwMode="auto">
            <a:xfrm>
              <a:off x="1759" y="286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0027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80" name="Freeform 110"/>
            <p:cNvSpPr>
              <a:spLocks/>
            </p:cNvSpPr>
            <p:nvPr/>
          </p:nvSpPr>
          <p:spPr bwMode="auto">
            <a:xfrm>
              <a:off x="2824" y="1391"/>
              <a:ext cx="1161" cy="1"/>
            </a:xfrm>
            <a:custGeom>
              <a:avLst/>
              <a:gdLst>
                <a:gd name="T0" fmla="*/ 0 w 1161"/>
                <a:gd name="T1" fmla="*/ 0 h 1"/>
                <a:gd name="T2" fmla="*/ 1161 w 1161"/>
                <a:gd name="T3" fmla="*/ 0 h 1"/>
                <a:gd name="T4" fmla="*/ 0 w 1161"/>
                <a:gd name="T5" fmla="*/ 0 h 1"/>
                <a:gd name="T6" fmla="*/ 0 w 116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1" h="1">
                  <a:moveTo>
                    <a:pt x="0" y="0"/>
                  </a:moveTo>
                  <a:lnTo>
                    <a:pt x="1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81" name="Freeform 111"/>
            <p:cNvSpPr>
              <a:spLocks/>
            </p:cNvSpPr>
            <p:nvPr/>
          </p:nvSpPr>
          <p:spPr bwMode="auto">
            <a:xfrm>
              <a:off x="1819" y="2752"/>
              <a:ext cx="2166" cy="1"/>
            </a:xfrm>
            <a:custGeom>
              <a:avLst/>
              <a:gdLst>
                <a:gd name="T0" fmla="*/ 0 w 2166"/>
                <a:gd name="T1" fmla="*/ 0 h 1"/>
                <a:gd name="T2" fmla="*/ 2166 w 2166"/>
                <a:gd name="T3" fmla="*/ 0 h 1"/>
                <a:gd name="T4" fmla="*/ 0 w 2166"/>
                <a:gd name="T5" fmla="*/ 0 h 1"/>
                <a:gd name="T6" fmla="*/ 0 w 2166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6" h="1">
                  <a:moveTo>
                    <a:pt x="0" y="0"/>
                  </a:moveTo>
                  <a:lnTo>
                    <a:pt x="21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/>
            </a:solidFill>
            <a:ln w="9525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82" name="Freeform 112"/>
            <p:cNvSpPr>
              <a:spLocks/>
            </p:cNvSpPr>
            <p:nvPr/>
          </p:nvSpPr>
          <p:spPr bwMode="auto">
            <a:xfrm flipH="1">
              <a:off x="2808" y="2376"/>
              <a:ext cx="47" cy="498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98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83" name="Freeform 113"/>
            <p:cNvSpPr>
              <a:spLocks/>
            </p:cNvSpPr>
            <p:nvPr/>
          </p:nvSpPr>
          <p:spPr bwMode="auto">
            <a:xfrm flipH="1">
              <a:off x="3378" y="2376"/>
              <a:ext cx="47" cy="486"/>
            </a:xfrm>
            <a:custGeom>
              <a:avLst/>
              <a:gdLst>
                <a:gd name="T0" fmla="*/ 0 w 47"/>
                <a:gd name="T1" fmla="*/ 0 h 1362"/>
                <a:gd name="T2" fmla="*/ 0 w 47"/>
                <a:gd name="T3" fmla="*/ 486 h 1362"/>
                <a:gd name="T4" fmla="*/ 0 w 47"/>
                <a:gd name="T5" fmla="*/ 0 h 1362"/>
                <a:gd name="T6" fmla="*/ 0 w 47"/>
                <a:gd name="T7" fmla="*/ 0 h 1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362">
                  <a:moveTo>
                    <a:pt x="0" y="0"/>
                  </a:moveTo>
                  <a:lnTo>
                    <a:pt x="0" y="1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84" name="Line 114"/>
            <p:cNvSpPr>
              <a:spLocks noChangeShapeType="1"/>
            </p:cNvSpPr>
            <p:nvPr/>
          </p:nvSpPr>
          <p:spPr bwMode="auto">
            <a:xfrm flipH="1">
              <a:off x="1824" y="150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822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794" name="Group 2"/>
          <p:cNvGrpSpPr>
            <a:grpSpLocks/>
          </p:cNvGrpSpPr>
          <p:nvPr/>
        </p:nvGrpSpPr>
        <p:grpSpPr bwMode="auto">
          <a:xfrm>
            <a:off x="389165" y="457200"/>
            <a:ext cx="3952875" cy="5962649"/>
            <a:chOff x="156" y="-453"/>
            <a:chExt cx="2490" cy="3756"/>
          </a:xfrm>
        </p:grpSpPr>
        <p:sp>
          <p:nvSpPr>
            <p:cNvPr id="289795" name="Text Box 3"/>
            <p:cNvSpPr txBox="1">
              <a:spLocks noChangeArrowheads="1"/>
            </p:cNvSpPr>
            <p:nvPr/>
          </p:nvSpPr>
          <p:spPr bwMode="auto">
            <a:xfrm>
              <a:off x="166" y="-453"/>
              <a:ext cx="1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/>
                <a:t>举例说明：</a:t>
              </a:r>
            </a:p>
          </p:txBody>
        </p:sp>
        <p:grpSp>
          <p:nvGrpSpPr>
            <p:cNvPr id="289796" name="Group 4"/>
            <p:cNvGrpSpPr>
              <a:grpSpLocks/>
            </p:cNvGrpSpPr>
            <p:nvPr/>
          </p:nvGrpSpPr>
          <p:grpSpPr bwMode="auto">
            <a:xfrm>
              <a:off x="156" y="744"/>
              <a:ext cx="2490" cy="2559"/>
              <a:chOff x="264" y="1788"/>
              <a:chExt cx="2274" cy="2502"/>
            </a:xfrm>
          </p:grpSpPr>
          <p:sp>
            <p:nvSpPr>
              <p:cNvPr id="289797" name="Line 5"/>
              <p:cNvSpPr>
                <a:spLocks noChangeShapeType="1"/>
              </p:cNvSpPr>
              <p:nvPr/>
            </p:nvSpPr>
            <p:spPr bwMode="auto">
              <a:xfrm>
                <a:off x="1344" y="2088"/>
                <a:ext cx="0" cy="14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798" name="Line 6"/>
              <p:cNvSpPr>
                <a:spLocks noChangeShapeType="1"/>
              </p:cNvSpPr>
              <p:nvPr/>
            </p:nvSpPr>
            <p:spPr bwMode="auto">
              <a:xfrm>
                <a:off x="1344" y="2088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799" name="Line 7"/>
              <p:cNvSpPr>
                <a:spLocks noChangeShapeType="1"/>
              </p:cNvSpPr>
              <p:nvPr/>
            </p:nvSpPr>
            <p:spPr bwMode="auto">
              <a:xfrm>
                <a:off x="552" y="2813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00" name="Line 8"/>
              <p:cNvSpPr>
                <a:spLocks noChangeShapeType="1"/>
              </p:cNvSpPr>
              <p:nvPr/>
            </p:nvSpPr>
            <p:spPr bwMode="auto">
              <a:xfrm flipH="1">
                <a:off x="1344" y="2813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01" name="Line 9"/>
              <p:cNvSpPr>
                <a:spLocks noChangeShapeType="1"/>
              </p:cNvSpPr>
              <p:nvPr/>
            </p:nvSpPr>
            <p:spPr bwMode="auto">
              <a:xfrm flipH="1">
                <a:off x="552" y="2088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02" name="Freeform 10"/>
              <p:cNvSpPr>
                <a:spLocks/>
              </p:cNvSpPr>
              <p:nvPr/>
            </p:nvSpPr>
            <p:spPr bwMode="auto">
              <a:xfrm>
                <a:off x="552" y="2813"/>
                <a:ext cx="1" cy="1135"/>
              </a:xfrm>
              <a:custGeom>
                <a:avLst/>
                <a:gdLst>
                  <a:gd name="T0" fmla="*/ 0 w 1"/>
                  <a:gd name="T1" fmla="*/ 0 h 1135"/>
                  <a:gd name="T2" fmla="*/ 0 w 1"/>
                  <a:gd name="T3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35">
                    <a:moveTo>
                      <a:pt x="0" y="0"/>
                    </a:moveTo>
                    <a:lnTo>
                      <a:pt x="0" y="113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03" name="Freeform 11"/>
              <p:cNvSpPr>
                <a:spLocks/>
              </p:cNvSpPr>
              <p:nvPr/>
            </p:nvSpPr>
            <p:spPr bwMode="auto">
              <a:xfrm>
                <a:off x="2136" y="2813"/>
                <a:ext cx="1" cy="1141"/>
              </a:xfrm>
              <a:custGeom>
                <a:avLst/>
                <a:gdLst>
                  <a:gd name="T0" fmla="*/ 0 w 1"/>
                  <a:gd name="T1" fmla="*/ 0 h 1141"/>
                  <a:gd name="T2" fmla="*/ 0 w 1"/>
                  <a:gd name="T3" fmla="*/ 1141 h 1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41">
                    <a:moveTo>
                      <a:pt x="0" y="0"/>
                    </a:moveTo>
                    <a:lnTo>
                      <a:pt x="0" y="114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04" name="Line 12"/>
              <p:cNvSpPr>
                <a:spLocks noChangeShapeType="1"/>
              </p:cNvSpPr>
              <p:nvPr/>
            </p:nvSpPr>
            <p:spPr bwMode="auto">
              <a:xfrm flipV="1">
                <a:off x="558" y="3942"/>
                <a:ext cx="15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05" name="Rectangle 13"/>
              <p:cNvSpPr>
                <a:spLocks noChangeArrowheads="1"/>
              </p:cNvSpPr>
              <p:nvPr/>
            </p:nvSpPr>
            <p:spPr bwMode="auto">
              <a:xfrm>
                <a:off x="1281" y="2715"/>
                <a:ext cx="108" cy="27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9806" name="Rectangle 14"/>
              <p:cNvSpPr>
                <a:spLocks noChangeArrowheads="1"/>
              </p:cNvSpPr>
              <p:nvPr/>
            </p:nvSpPr>
            <p:spPr bwMode="auto">
              <a:xfrm rot="3007029">
                <a:off x="881" y="2327"/>
                <a:ext cx="98" cy="27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9807" name="Rectangle 15"/>
              <p:cNvSpPr>
                <a:spLocks noChangeArrowheads="1"/>
              </p:cNvSpPr>
              <p:nvPr/>
            </p:nvSpPr>
            <p:spPr bwMode="auto">
              <a:xfrm rot="-2950827">
                <a:off x="1682" y="2309"/>
                <a:ext cx="101" cy="27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9808" name="Rectangle 16"/>
              <p:cNvSpPr>
                <a:spLocks noChangeArrowheads="1"/>
              </p:cNvSpPr>
              <p:nvPr/>
            </p:nvSpPr>
            <p:spPr bwMode="auto">
              <a:xfrm rot="3007029">
                <a:off x="1691" y="3047"/>
                <a:ext cx="98" cy="27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9809" name="Rectangle 17"/>
              <p:cNvSpPr>
                <a:spLocks noChangeArrowheads="1"/>
              </p:cNvSpPr>
              <p:nvPr/>
            </p:nvSpPr>
            <p:spPr bwMode="auto">
              <a:xfrm rot="-2950827">
                <a:off x="890" y="3041"/>
                <a:ext cx="101" cy="27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9810" name="Rectangle 18"/>
              <p:cNvSpPr>
                <a:spLocks noChangeArrowheads="1"/>
              </p:cNvSpPr>
              <p:nvPr/>
            </p:nvSpPr>
            <p:spPr bwMode="auto">
              <a:xfrm rot="5400000">
                <a:off x="909" y="3801"/>
                <a:ext cx="108" cy="27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9811" name="Oval 19"/>
              <p:cNvSpPr>
                <a:spLocks noChangeArrowheads="1"/>
              </p:cNvSpPr>
              <p:nvPr/>
            </p:nvSpPr>
            <p:spPr bwMode="auto">
              <a:xfrm>
                <a:off x="1524" y="3786"/>
                <a:ext cx="288" cy="31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12" name="Text Box 20"/>
              <p:cNvSpPr txBox="1">
                <a:spLocks noChangeArrowheads="1"/>
              </p:cNvSpPr>
              <p:nvPr/>
            </p:nvSpPr>
            <p:spPr bwMode="auto">
              <a:xfrm>
                <a:off x="630" y="3150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289813" name="Text Box 21"/>
              <p:cNvSpPr txBox="1">
                <a:spLocks noChangeArrowheads="1"/>
              </p:cNvSpPr>
              <p:nvPr/>
            </p:nvSpPr>
            <p:spPr bwMode="auto">
              <a:xfrm>
                <a:off x="612" y="2190"/>
                <a:ext cx="306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289814" name="Text Box 22"/>
              <p:cNvSpPr txBox="1">
                <a:spLocks noChangeArrowheads="1"/>
              </p:cNvSpPr>
              <p:nvPr/>
            </p:nvSpPr>
            <p:spPr bwMode="auto">
              <a:xfrm>
                <a:off x="1401" y="2712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3</a:t>
                </a:r>
                <a:endParaRPr lang="en-US" altLang="zh-CN"/>
              </a:p>
            </p:txBody>
          </p:sp>
          <p:sp>
            <p:nvSpPr>
              <p:cNvPr id="289815" name="Text Box 23"/>
              <p:cNvSpPr txBox="1">
                <a:spLocks noChangeArrowheads="1"/>
              </p:cNvSpPr>
              <p:nvPr/>
            </p:nvSpPr>
            <p:spPr bwMode="auto">
              <a:xfrm>
                <a:off x="1758" y="2178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4</a:t>
                </a:r>
                <a:endParaRPr lang="en-US" altLang="zh-CN"/>
              </a:p>
            </p:txBody>
          </p:sp>
          <p:sp>
            <p:nvSpPr>
              <p:cNvPr id="289816" name="Text Box 24"/>
              <p:cNvSpPr txBox="1">
                <a:spLocks noChangeArrowheads="1"/>
              </p:cNvSpPr>
              <p:nvPr/>
            </p:nvSpPr>
            <p:spPr bwMode="auto">
              <a:xfrm>
                <a:off x="1512" y="3282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5</a:t>
                </a:r>
                <a:endParaRPr lang="en-US" altLang="zh-CN"/>
              </a:p>
            </p:txBody>
          </p:sp>
          <p:sp>
            <p:nvSpPr>
              <p:cNvPr id="289817" name="Text Box 25"/>
              <p:cNvSpPr txBox="1">
                <a:spLocks noChangeArrowheads="1"/>
              </p:cNvSpPr>
              <p:nvPr/>
            </p:nvSpPr>
            <p:spPr bwMode="auto">
              <a:xfrm>
                <a:off x="810" y="3996"/>
                <a:ext cx="306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6</a:t>
                </a:r>
                <a:endParaRPr lang="en-US" altLang="zh-CN"/>
              </a:p>
            </p:txBody>
          </p:sp>
          <p:sp>
            <p:nvSpPr>
              <p:cNvPr id="289818" name="Line 26"/>
              <p:cNvSpPr>
                <a:spLocks noChangeShapeType="1"/>
              </p:cNvSpPr>
              <p:nvPr/>
            </p:nvSpPr>
            <p:spPr bwMode="auto">
              <a:xfrm flipV="1">
                <a:off x="476" y="2500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19" name="Line 27"/>
              <p:cNvSpPr>
                <a:spLocks noChangeShapeType="1"/>
              </p:cNvSpPr>
              <p:nvPr/>
            </p:nvSpPr>
            <p:spPr bwMode="auto">
              <a:xfrm flipV="1">
                <a:off x="1772" y="3100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20" name="Line 28"/>
              <p:cNvSpPr>
                <a:spLocks noChangeShapeType="1"/>
              </p:cNvSpPr>
              <p:nvPr/>
            </p:nvSpPr>
            <p:spPr bwMode="auto">
              <a:xfrm rot="5400000" flipV="1">
                <a:off x="1004" y="3340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21" name="Line 29"/>
              <p:cNvSpPr>
                <a:spLocks noChangeShapeType="1"/>
              </p:cNvSpPr>
              <p:nvPr/>
            </p:nvSpPr>
            <p:spPr bwMode="auto">
              <a:xfrm rot="5400000" flipV="1">
                <a:off x="1964" y="2536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22" name="Line 30"/>
              <p:cNvSpPr>
                <a:spLocks noChangeShapeType="1"/>
              </p:cNvSpPr>
              <p:nvPr/>
            </p:nvSpPr>
            <p:spPr bwMode="auto">
              <a:xfrm rot="8093792" flipV="1">
                <a:off x="1148" y="2344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23" name="Line 31"/>
              <p:cNvSpPr>
                <a:spLocks noChangeShapeType="1"/>
              </p:cNvSpPr>
              <p:nvPr/>
            </p:nvSpPr>
            <p:spPr bwMode="auto">
              <a:xfrm rot="8219172" flipV="1">
                <a:off x="2107" y="3659"/>
                <a:ext cx="215" cy="2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824" name="Text Box 32"/>
              <p:cNvSpPr txBox="1">
                <a:spLocks noChangeArrowheads="1"/>
              </p:cNvSpPr>
              <p:nvPr/>
            </p:nvSpPr>
            <p:spPr bwMode="auto">
              <a:xfrm>
                <a:off x="1242" y="3924"/>
                <a:ext cx="282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289825" name="Text Box 33"/>
              <p:cNvSpPr txBox="1">
                <a:spLocks noChangeArrowheads="1"/>
              </p:cNvSpPr>
              <p:nvPr/>
            </p:nvSpPr>
            <p:spPr bwMode="auto">
              <a:xfrm>
                <a:off x="1860" y="3942"/>
                <a:ext cx="282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–</a:t>
                </a:r>
              </a:p>
            </p:txBody>
          </p:sp>
          <p:sp>
            <p:nvSpPr>
              <p:cNvPr id="289826" name="Text Box 34"/>
              <p:cNvSpPr txBox="1">
                <a:spLocks noChangeArrowheads="1"/>
              </p:cNvSpPr>
              <p:nvPr/>
            </p:nvSpPr>
            <p:spPr bwMode="auto">
              <a:xfrm>
                <a:off x="312" y="2346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289827" name="Text Box 35"/>
              <p:cNvSpPr txBox="1">
                <a:spLocks noChangeArrowheads="1"/>
              </p:cNvSpPr>
              <p:nvPr/>
            </p:nvSpPr>
            <p:spPr bwMode="auto">
              <a:xfrm>
                <a:off x="1032" y="2394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3</a:t>
                </a:r>
                <a:endParaRPr lang="en-US" altLang="zh-CN"/>
              </a:p>
            </p:txBody>
          </p:sp>
          <p:sp>
            <p:nvSpPr>
              <p:cNvPr id="289828" name="Text Box 36"/>
              <p:cNvSpPr txBox="1">
                <a:spLocks noChangeArrowheads="1"/>
              </p:cNvSpPr>
              <p:nvPr/>
            </p:nvSpPr>
            <p:spPr bwMode="auto">
              <a:xfrm>
                <a:off x="2028" y="2406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4</a:t>
                </a:r>
                <a:endParaRPr lang="en-US" altLang="zh-CN"/>
              </a:p>
            </p:txBody>
          </p:sp>
          <p:sp>
            <p:nvSpPr>
              <p:cNvPr id="289829" name="Text Box 37"/>
              <p:cNvSpPr txBox="1">
                <a:spLocks noChangeArrowheads="1"/>
              </p:cNvSpPr>
              <p:nvPr/>
            </p:nvSpPr>
            <p:spPr bwMode="auto">
              <a:xfrm>
                <a:off x="882" y="3378"/>
                <a:ext cx="306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289830" name="Text Box 38"/>
              <p:cNvSpPr txBox="1">
                <a:spLocks noChangeArrowheads="1"/>
              </p:cNvSpPr>
              <p:nvPr/>
            </p:nvSpPr>
            <p:spPr bwMode="auto">
              <a:xfrm>
                <a:off x="1866" y="3144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5</a:t>
                </a:r>
                <a:endParaRPr lang="en-US" altLang="zh-CN"/>
              </a:p>
            </p:txBody>
          </p:sp>
          <p:sp>
            <p:nvSpPr>
              <p:cNvPr id="289831" name="Text Box 39"/>
              <p:cNvSpPr txBox="1">
                <a:spLocks noChangeArrowheads="1"/>
              </p:cNvSpPr>
              <p:nvPr/>
            </p:nvSpPr>
            <p:spPr bwMode="auto">
              <a:xfrm>
                <a:off x="2232" y="3618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6</a:t>
                </a:r>
                <a:endParaRPr lang="en-US" altLang="zh-CN"/>
              </a:p>
            </p:txBody>
          </p:sp>
          <p:sp>
            <p:nvSpPr>
              <p:cNvPr id="289832" name="Text Box 40"/>
              <p:cNvSpPr txBox="1">
                <a:spLocks noChangeArrowheads="1"/>
              </p:cNvSpPr>
              <p:nvPr/>
            </p:nvSpPr>
            <p:spPr bwMode="auto">
              <a:xfrm>
                <a:off x="1536" y="4008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v</a:t>
                </a:r>
                <a:r>
                  <a:rPr lang="en-US" altLang="zh-CN" baseline="-25000"/>
                  <a:t>S</a:t>
                </a:r>
                <a:endParaRPr lang="en-US" altLang="zh-CN"/>
              </a:p>
            </p:txBody>
          </p:sp>
          <p:grpSp>
            <p:nvGrpSpPr>
              <p:cNvPr id="289833" name="Group 41"/>
              <p:cNvGrpSpPr>
                <a:grpSpLocks/>
              </p:cNvGrpSpPr>
              <p:nvPr/>
            </p:nvGrpSpPr>
            <p:grpSpPr bwMode="auto">
              <a:xfrm>
                <a:off x="264" y="2688"/>
                <a:ext cx="228" cy="282"/>
                <a:chOff x="2316" y="2388"/>
                <a:chExt cx="228" cy="282"/>
              </a:xfrm>
            </p:grpSpPr>
            <p:sp>
              <p:nvSpPr>
                <p:cNvPr id="28983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316" y="2388"/>
                  <a:ext cx="228" cy="2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/>
                    <a:t>1</a:t>
                  </a:r>
                </a:p>
              </p:txBody>
            </p:sp>
            <p:sp>
              <p:nvSpPr>
                <p:cNvPr id="289835" name="Oval 43"/>
                <p:cNvSpPr>
                  <a:spLocks noChangeArrowheads="1"/>
                </p:cNvSpPr>
                <p:nvPr/>
              </p:nvSpPr>
              <p:spPr bwMode="auto">
                <a:xfrm>
                  <a:off x="2328" y="2436"/>
                  <a:ext cx="180" cy="192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836" name="Group 44"/>
              <p:cNvGrpSpPr>
                <a:grpSpLocks/>
              </p:cNvGrpSpPr>
              <p:nvPr/>
            </p:nvGrpSpPr>
            <p:grpSpPr bwMode="auto">
              <a:xfrm>
                <a:off x="1248" y="1788"/>
                <a:ext cx="228" cy="282"/>
                <a:chOff x="2748" y="2460"/>
                <a:chExt cx="228" cy="282"/>
              </a:xfrm>
            </p:grpSpPr>
            <p:sp>
              <p:nvSpPr>
                <p:cNvPr id="28983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748" y="2460"/>
                  <a:ext cx="228" cy="2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/>
                    <a:t>2</a:t>
                  </a:r>
                </a:p>
              </p:txBody>
            </p:sp>
            <p:sp>
              <p:nvSpPr>
                <p:cNvPr id="289838" name="Oval 46"/>
                <p:cNvSpPr>
                  <a:spLocks noChangeArrowheads="1"/>
                </p:cNvSpPr>
                <p:nvPr/>
              </p:nvSpPr>
              <p:spPr bwMode="auto">
                <a:xfrm>
                  <a:off x="2760" y="2520"/>
                  <a:ext cx="180" cy="192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839" name="Group 47"/>
              <p:cNvGrpSpPr>
                <a:grpSpLocks/>
              </p:cNvGrpSpPr>
              <p:nvPr/>
            </p:nvGrpSpPr>
            <p:grpSpPr bwMode="auto">
              <a:xfrm>
                <a:off x="2196" y="2700"/>
                <a:ext cx="228" cy="282"/>
                <a:chOff x="2748" y="2460"/>
                <a:chExt cx="228" cy="282"/>
              </a:xfrm>
            </p:grpSpPr>
            <p:sp>
              <p:nvSpPr>
                <p:cNvPr id="28984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2748" y="2460"/>
                  <a:ext cx="228" cy="2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/>
                    <a:t>3</a:t>
                  </a:r>
                </a:p>
              </p:txBody>
            </p:sp>
            <p:sp>
              <p:nvSpPr>
                <p:cNvPr id="289841" name="Oval 49"/>
                <p:cNvSpPr>
                  <a:spLocks noChangeArrowheads="1"/>
                </p:cNvSpPr>
                <p:nvPr/>
              </p:nvSpPr>
              <p:spPr bwMode="auto">
                <a:xfrm>
                  <a:off x="2760" y="2520"/>
                  <a:ext cx="180" cy="192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842" name="Group 50"/>
              <p:cNvGrpSpPr>
                <a:grpSpLocks/>
              </p:cNvGrpSpPr>
              <p:nvPr/>
            </p:nvGrpSpPr>
            <p:grpSpPr bwMode="auto">
              <a:xfrm>
                <a:off x="1356" y="3456"/>
                <a:ext cx="228" cy="282"/>
                <a:chOff x="2748" y="2460"/>
                <a:chExt cx="228" cy="282"/>
              </a:xfrm>
            </p:grpSpPr>
            <p:sp>
              <p:nvSpPr>
                <p:cNvPr id="28984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748" y="2460"/>
                  <a:ext cx="228" cy="2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/>
                    <a:t>4</a:t>
                  </a:r>
                </a:p>
              </p:txBody>
            </p:sp>
            <p:sp>
              <p:nvSpPr>
                <p:cNvPr id="289844" name="Oval 52"/>
                <p:cNvSpPr>
                  <a:spLocks noChangeArrowheads="1"/>
                </p:cNvSpPr>
                <p:nvPr/>
              </p:nvSpPr>
              <p:spPr bwMode="auto">
                <a:xfrm>
                  <a:off x="2760" y="2520"/>
                  <a:ext cx="180" cy="192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89845" name="Group 53"/>
          <p:cNvGrpSpPr>
            <a:grpSpLocks/>
          </p:cNvGrpSpPr>
          <p:nvPr/>
        </p:nvGrpSpPr>
        <p:grpSpPr bwMode="auto">
          <a:xfrm>
            <a:off x="4489450" y="1022349"/>
            <a:ext cx="3752850" cy="1306513"/>
            <a:chOff x="2696" y="348"/>
            <a:chExt cx="2364" cy="823"/>
          </a:xfrm>
        </p:grpSpPr>
        <p:sp>
          <p:nvSpPr>
            <p:cNvPr id="289846" name="Text Box 54"/>
            <p:cNvSpPr txBox="1">
              <a:spLocks noChangeArrowheads="1"/>
            </p:cNvSpPr>
            <p:nvPr/>
          </p:nvSpPr>
          <p:spPr bwMode="auto">
            <a:xfrm>
              <a:off x="2696" y="883"/>
              <a:ext cx="23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/>
                <a:t>独立方程数应</a:t>
              </a:r>
              <a:r>
                <a:rPr lang="zh-CN" altLang="en-US" dirty="0" smtClean="0"/>
                <a:t>为 </a:t>
              </a:r>
              <a:r>
                <a:rPr lang="en-US" altLang="zh-CN" i="1" dirty="0" smtClean="0">
                  <a:solidFill>
                    <a:srgbClr val="FF0000"/>
                  </a:solidFill>
                </a:rPr>
                <a:t>b</a:t>
              </a:r>
              <a:r>
                <a:rPr lang="en-US" altLang="zh-CN" i="1" dirty="0" smtClean="0"/>
                <a:t> </a:t>
              </a:r>
              <a:r>
                <a:rPr lang="en-US" altLang="zh-CN" i="1" dirty="0"/>
                <a:t>= </a:t>
              </a:r>
              <a:r>
                <a:rPr lang="en-US" altLang="zh-CN" dirty="0" smtClean="0"/>
                <a:t>6</a:t>
              </a:r>
              <a:r>
                <a:rPr lang="zh-CN" altLang="en-US" dirty="0" smtClean="0"/>
                <a:t>。</a:t>
              </a:r>
              <a:endParaRPr lang="zh-CN" altLang="en-US" dirty="0"/>
            </a:p>
          </p:txBody>
        </p:sp>
        <p:grpSp>
          <p:nvGrpSpPr>
            <p:cNvPr id="289847" name="Group 55"/>
            <p:cNvGrpSpPr>
              <a:grpSpLocks/>
            </p:cNvGrpSpPr>
            <p:nvPr/>
          </p:nvGrpSpPr>
          <p:grpSpPr bwMode="auto">
            <a:xfrm>
              <a:off x="2702" y="348"/>
              <a:ext cx="1460" cy="757"/>
              <a:chOff x="2702" y="912"/>
              <a:chExt cx="1460" cy="757"/>
            </a:xfrm>
          </p:grpSpPr>
          <p:sp>
            <p:nvSpPr>
              <p:cNvPr id="289848" name="Text Box 56"/>
              <p:cNvSpPr txBox="1">
                <a:spLocks noChangeArrowheads="1"/>
              </p:cNvSpPr>
              <p:nvPr/>
            </p:nvSpPr>
            <p:spPr bwMode="auto">
              <a:xfrm>
                <a:off x="3478" y="912"/>
                <a:ext cx="6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 smtClean="0"/>
                  <a:t>b </a:t>
                </a:r>
                <a:r>
                  <a:rPr lang="en-US" altLang="zh-CN" dirty="0" smtClean="0"/>
                  <a:t>= 6</a:t>
                </a:r>
                <a:endParaRPr lang="en-US" altLang="zh-CN" dirty="0"/>
              </a:p>
            </p:txBody>
          </p:sp>
          <p:sp>
            <p:nvSpPr>
              <p:cNvPr id="289849" name="Text Box 57"/>
              <p:cNvSpPr txBox="1">
                <a:spLocks noChangeArrowheads="1"/>
              </p:cNvSpPr>
              <p:nvPr/>
            </p:nvSpPr>
            <p:spPr bwMode="auto">
              <a:xfrm>
                <a:off x="3478" y="1152"/>
                <a:ext cx="66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 smtClean="0"/>
                  <a:t>n </a:t>
                </a:r>
                <a:r>
                  <a:rPr lang="en-US" altLang="zh-CN" dirty="0" smtClean="0"/>
                  <a:t>= 4</a:t>
                </a:r>
                <a:endParaRPr lang="en-US" altLang="zh-CN" dirty="0"/>
              </a:p>
            </p:txBody>
          </p:sp>
          <p:sp>
            <p:nvSpPr>
              <p:cNvPr id="289850" name="Text Box 58"/>
              <p:cNvSpPr txBox="1">
                <a:spLocks noChangeArrowheads="1"/>
              </p:cNvSpPr>
              <p:nvPr/>
            </p:nvSpPr>
            <p:spPr bwMode="auto">
              <a:xfrm>
                <a:off x="2702" y="1381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endParaRPr lang="zh-CN" altLang="zh-CN" b="0"/>
              </a:p>
            </p:txBody>
          </p:sp>
        </p:grpSp>
      </p:grpSp>
      <p:sp>
        <p:nvSpPr>
          <p:cNvPr id="289851" name="Rectangle 59"/>
          <p:cNvSpPr>
            <a:spLocks noChangeArrowheads="1"/>
          </p:cNvSpPr>
          <p:nvPr/>
        </p:nvSpPr>
        <p:spPr bwMode="auto">
          <a:xfrm>
            <a:off x="4498975" y="2781076"/>
            <a:ext cx="236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/>
              <a:t>根据</a:t>
            </a:r>
            <a:r>
              <a:rPr lang="en-US" altLang="zh-CN" dirty="0"/>
              <a:t>KCL</a:t>
            </a:r>
            <a:r>
              <a:rPr lang="zh-CN" altLang="en-US" dirty="0"/>
              <a:t>列方程</a:t>
            </a:r>
          </a:p>
        </p:txBody>
      </p:sp>
      <p:sp>
        <p:nvSpPr>
          <p:cNvPr id="289852" name="Text Box 60"/>
          <p:cNvSpPr txBox="1">
            <a:spLocks noChangeArrowheads="1"/>
          </p:cNvSpPr>
          <p:nvPr/>
        </p:nvSpPr>
        <p:spPr bwMode="auto">
          <a:xfrm>
            <a:off x="4743107" y="3862584"/>
            <a:ext cx="342900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dirty="0"/>
              <a:t>节点 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–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+ </a:t>
            </a:r>
            <a:r>
              <a:rPr lang="en-US" altLang="zh-CN" i="1" dirty="0"/>
              <a:t>i</a:t>
            </a:r>
            <a:r>
              <a:rPr lang="en-US" altLang="zh-CN" baseline="-25000" dirty="0"/>
              <a:t>3</a:t>
            </a:r>
            <a:r>
              <a:rPr lang="en-US" altLang="zh-CN" dirty="0"/>
              <a:t> +</a:t>
            </a:r>
            <a:r>
              <a:rPr lang="en-US" altLang="zh-CN" i="1" dirty="0"/>
              <a:t> i</a:t>
            </a:r>
            <a:r>
              <a:rPr lang="en-US" altLang="zh-CN" baseline="-25000" dirty="0"/>
              <a:t>4</a:t>
            </a:r>
            <a:r>
              <a:rPr lang="en-US" altLang="zh-CN" dirty="0"/>
              <a:t> =0</a:t>
            </a:r>
          </a:p>
          <a:p>
            <a:pPr algn="l">
              <a:spcBef>
                <a:spcPct val="20000"/>
              </a:spcBef>
            </a:pPr>
            <a:r>
              <a:rPr lang="zh-CN" altLang="en-US" dirty="0"/>
              <a:t>节点 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– </a:t>
            </a:r>
            <a:r>
              <a:rPr lang="en-US" altLang="zh-CN" i="1" dirty="0"/>
              <a:t>i</a:t>
            </a:r>
            <a:r>
              <a:rPr lang="en-US" altLang="zh-CN" baseline="-25000" dirty="0"/>
              <a:t>4</a:t>
            </a:r>
            <a:r>
              <a:rPr lang="en-US" altLang="zh-CN" dirty="0"/>
              <a:t> – </a:t>
            </a:r>
            <a:r>
              <a:rPr lang="en-US" altLang="zh-CN" i="1" dirty="0"/>
              <a:t>i</a:t>
            </a:r>
            <a:r>
              <a:rPr lang="en-US" altLang="zh-CN" baseline="-25000" dirty="0"/>
              <a:t>5</a:t>
            </a:r>
            <a:r>
              <a:rPr lang="en-US" altLang="zh-CN" dirty="0"/>
              <a:t> +</a:t>
            </a:r>
            <a:r>
              <a:rPr lang="en-US" altLang="zh-CN" i="1" dirty="0"/>
              <a:t> i</a:t>
            </a:r>
            <a:r>
              <a:rPr lang="en-US" altLang="zh-CN" baseline="-25000" dirty="0"/>
              <a:t>6</a:t>
            </a:r>
            <a:r>
              <a:rPr lang="en-US" altLang="zh-CN" dirty="0"/>
              <a:t> =0</a:t>
            </a:r>
          </a:p>
          <a:p>
            <a:pPr algn="l">
              <a:spcBef>
                <a:spcPct val="20000"/>
              </a:spcBef>
            </a:pPr>
            <a:r>
              <a:rPr lang="zh-CN" altLang="en-US" dirty="0"/>
              <a:t>节点 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– 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– </a:t>
            </a:r>
            <a:r>
              <a:rPr lang="en-US" altLang="zh-CN" i="1" dirty="0"/>
              <a:t>i</a:t>
            </a:r>
            <a:r>
              <a:rPr lang="en-US" altLang="zh-CN" baseline="-25000" dirty="0"/>
              <a:t>3</a:t>
            </a:r>
            <a:r>
              <a:rPr lang="en-US" altLang="zh-CN" dirty="0"/>
              <a:t> +</a:t>
            </a:r>
            <a:r>
              <a:rPr lang="en-US" altLang="zh-CN" i="1" dirty="0"/>
              <a:t> i</a:t>
            </a:r>
            <a:r>
              <a:rPr lang="en-US" altLang="zh-CN" baseline="-25000" dirty="0"/>
              <a:t>5</a:t>
            </a:r>
            <a:r>
              <a:rPr lang="en-US" altLang="zh-CN" dirty="0"/>
              <a:t> =0</a:t>
            </a:r>
          </a:p>
        </p:txBody>
      </p:sp>
      <p:sp>
        <p:nvSpPr>
          <p:cNvPr id="289854" name="Rectangle 62"/>
          <p:cNvSpPr>
            <a:spLocks noChangeArrowheads="1"/>
          </p:cNvSpPr>
          <p:nvPr/>
        </p:nvSpPr>
        <p:spPr bwMode="auto">
          <a:xfrm>
            <a:off x="5339288" y="5474876"/>
            <a:ext cx="307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这</a:t>
            </a:r>
            <a:r>
              <a:rPr lang="en-US" altLang="zh-CN" dirty="0"/>
              <a:t>4</a:t>
            </a:r>
            <a:r>
              <a:rPr lang="zh-CN" altLang="en-US" dirty="0"/>
              <a:t>个方程是不独立的</a:t>
            </a:r>
          </a:p>
        </p:txBody>
      </p:sp>
      <p:sp>
        <p:nvSpPr>
          <p:cNvPr id="289855" name="Rectangle 63"/>
          <p:cNvSpPr>
            <a:spLocks noChangeArrowheads="1"/>
          </p:cNvSpPr>
          <p:nvPr/>
        </p:nvSpPr>
        <p:spPr bwMode="auto">
          <a:xfrm>
            <a:off x="4743107" y="3390565"/>
            <a:ext cx="3506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dirty="0"/>
              <a:t>节点 </a:t>
            </a:r>
            <a:r>
              <a:rPr lang="en-US" altLang="zh-CN" dirty="0"/>
              <a:t>1</a:t>
            </a:r>
            <a:r>
              <a:rPr lang="zh-CN" altLang="en-US" dirty="0"/>
              <a:t>：   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+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–</a:t>
            </a:r>
            <a:r>
              <a:rPr lang="en-US" altLang="zh-CN" i="1" dirty="0"/>
              <a:t> i</a:t>
            </a:r>
            <a:r>
              <a:rPr lang="en-US" altLang="zh-CN" baseline="-25000" dirty="0"/>
              <a:t>6</a:t>
            </a:r>
            <a:r>
              <a:rPr lang="en-US" altLang="zh-CN" dirty="0"/>
              <a:t> =0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51" grpId="0" autoUpdateAnimBg="0"/>
      <p:bldP spid="289852" grpId="0" autoUpdateAnimBg="0"/>
      <p:bldP spid="289854" grpId="0" autoUpdateAnimBg="0"/>
      <p:bldP spid="28985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ChangeArrowheads="1"/>
          </p:cNvSpPr>
          <p:nvPr/>
        </p:nvSpPr>
        <p:spPr bwMode="auto">
          <a:xfrm>
            <a:off x="762000" y="2339975"/>
            <a:ext cx="7889875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>
                <a:solidFill>
                  <a:srgbClr val="3333FF"/>
                </a:solidFill>
              </a:rPr>
              <a:t>独立节点：</a:t>
            </a:r>
            <a:r>
              <a:rPr lang="zh-CN" altLang="en-US"/>
              <a:t>与独立</a:t>
            </a:r>
            <a:r>
              <a:rPr lang="en-US" altLang="zh-CN"/>
              <a:t>KCL</a:t>
            </a:r>
            <a:r>
              <a:rPr lang="zh-CN" altLang="en-US"/>
              <a:t>方程对应的节点。</a:t>
            </a:r>
          </a:p>
          <a:p>
            <a:pPr algn="l">
              <a:spcBef>
                <a:spcPct val="50000"/>
              </a:spcBef>
            </a:pPr>
            <a:r>
              <a:rPr lang="zh-CN" altLang="en-US"/>
              <a:t>                     被划去的节点通常被设为电路的参考节点。                   </a:t>
            </a:r>
          </a:p>
        </p:txBody>
      </p:sp>
      <p:sp>
        <p:nvSpPr>
          <p:cNvPr id="290819" name="Text Box 3"/>
          <p:cNvSpPr txBox="1">
            <a:spLocks noChangeArrowheads="1"/>
          </p:cNvSpPr>
          <p:nvPr/>
        </p:nvSpPr>
        <p:spPr bwMode="auto">
          <a:xfrm>
            <a:off x="969963" y="3656013"/>
            <a:ext cx="57419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由</a:t>
            </a:r>
            <a:r>
              <a:rPr lang="en-US" altLang="zh-CN" dirty="0"/>
              <a:t>KVL</a:t>
            </a:r>
            <a:r>
              <a:rPr lang="zh-CN" altLang="en-US" dirty="0"/>
              <a:t>所能列写的独立方程数为：</a:t>
            </a:r>
          </a:p>
          <a:p>
            <a:pPr algn="l"/>
            <a:r>
              <a:rPr lang="zh-CN" altLang="en-US" dirty="0"/>
              <a:t>                   </a:t>
            </a:r>
          </a:p>
          <a:p>
            <a:pPr algn="l"/>
            <a:r>
              <a:rPr lang="zh-CN" altLang="en-US" i="1" dirty="0"/>
              <a:t>                                                      </a:t>
            </a:r>
            <a:r>
              <a:rPr lang="en-US" altLang="zh-CN" i="1" dirty="0"/>
              <a:t>l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r>
              <a:rPr lang="en-US" altLang="zh-CN" dirty="0"/>
              <a:t> - (</a:t>
            </a:r>
            <a:r>
              <a:rPr lang="en-US" altLang="zh-CN" i="1" dirty="0"/>
              <a:t>n</a:t>
            </a:r>
            <a:r>
              <a:rPr lang="en-US" altLang="zh-CN" dirty="0"/>
              <a:t>-1)</a:t>
            </a:r>
          </a:p>
        </p:txBody>
      </p:sp>
      <p:sp>
        <p:nvSpPr>
          <p:cNvPr id="290820" name="Rectangle 4"/>
          <p:cNvSpPr>
            <a:spLocks noChangeArrowheads="1"/>
          </p:cNvSpPr>
          <p:nvPr/>
        </p:nvSpPr>
        <p:spPr bwMode="auto">
          <a:xfrm>
            <a:off x="1066800" y="5030788"/>
            <a:ext cx="341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/>
              <a:t>上例</a:t>
            </a:r>
            <a:r>
              <a:rPr lang="zh-CN" altLang="en-US" i="1"/>
              <a:t>   </a:t>
            </a:r>
            <a:r>
              <a:rPr lang="en-US" altLang="zh-CN" i="1"/>
              <a:t>l </a:t>
            </a:r>
            <a:r>
              <a:rPr lang="en-US" altLang="zh-CN"/>
              <a:t>= </a:t>
            </a:r>
            <a:r>
              <a:rPr lang="en-US" altLang="zh-CN" i="1"/>
              <a:t>b</a:t>
            </a:r>
            <a:r>
              <a:rPr lang="en-US" altLang="zh-CN"/>
              <a:t> - (</a:t>
            </a:r>
            <a:r>
              <a:rPr lang="en-US" altLang="zh-CN" i="1"/>
              <a:t>n</a:t>
            </a:r>
            <a:r>
              <a:rPr lang="en-US" altLang="zh-CN"/>
              <a:t>-1)=3</a:t>
            </a:r>
          </a:p>
        </p:txBody>
      </p:sp>
      <p:grpSp>
        <p:nvGrpSpPr>
          <p:cNvPr id="290821" name="Group 5"/>
          <p:cNvGrpSpPr>
            <a:grpSpLocks/>
          </p:cNvGrpSpPr>
          <p:nvPr/>
        </p:nvGrpSpPr>
        <p:grpSpPr bwMode="auto">
          <a:xfrm>
            <a:off x="574675" y="520700"/>
            <a:ext cx="8077200" cy="1554163"/>
            <a:chOff x="362" y="328"/>
            <a:chExt cx="5088" cy="979"/>
          </a:xfrm>
        </p:grpSpPr>
        <p:sp>
          <p:nvSpPr>
            <p:cNvPr id="290822" name="Text Box 6"/>
            <p:cNvSpPr txBox="1">
              <a:spLocks noChangeArrowheads="1"/>
            </p:cNvSpPr>
            <p:nvPr/>
          </p:nvSpPr>
          <p:spPr bwMode="auto">
            <a:xfrm>
              <a:off x="444" y="690"/>
              <a:ext cx="5006" cy="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dirty="0"/>
                <a:t>         </a:t>
              </a:r>
              <a:r>
                <a:rPr lang="zh-CN" altLang="en-US" dirty="0"/>
                <a:t>对有</a:t>
              </a:r>
              <a:r>
                <a:rPr lang="en-US" altLang="zh-CN" i="1" dirty="0"/>
                <a:t>n</a:t>
              </a:r>
              <a:r>
                <a:rPr lang="zh-CN" altLang="en-US" dirty="0"/>
                <a:t>个节点的电路，</a:t>
              </a:r>
              <a:r>
                <a:rPr lang="zh-CN" altLang="en-US" dirty="0" smtClean="0"/>
                <a:t>只有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(</a:t>
              </a:r>
              <a:r>
                <a:rPr lang="en-US" altLang="zh-CN" i="1" dirty="0" smtClean="0">
                  <a:solidFill>
                    <a:srgbClr val="FF0000"/>
                  </a:solidFill>
                </a:rPr>
                <a:t>n-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1)</a:t>
              </a:r>
              <a:r>
                <a:rPr lang="zh-CN" altLang="en-US" dirty="0" smtClean="0"/>
                <a:t>个</a:t>
              </a:r>
              <a:r>
                <a:rPr lang="zh-CN" altLang="en-US" dirty="0"/>
                <a:t>独立的</a:t>
              </a:r>
              <a:r>
                <a:rPr lang="en-US" altLang="zh-CN" dirty="0"/>
                <a:t>KCL</a:t>
              </a:r>
              <a:r>
                <a:rPr lang="zh-CN" altLang="en-US" dirty="0"/>
                <a:t>方程。任意划去其中一个方程，剩余的就是独立方程。</a:t>
              </a:r>
            </a:p>
          </p:txBody>
        </p:sp>
        <p:sp>
          <p:nvSpPr>
            <p:cNvPr id="290823" name="Text Box 7"/>
            <p:cNvSpPr txBox="1">
              <a:spLocks noChangeArrowheads="1"/>
            </p:cNvSpPr>
            <p:nvPr/>
          </p:nvSpPr>
          <p:spPr bwMode="auto">
            <a:xfrm>
              <a:off x="362" y="328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/>
                <a:t>一般情况：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90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 autoUpdateAnimBg="0"/>
      <p:bldP spid="290819" grpId="0" autoUpdateAnimBg="0"/>
      <p:bldP spid="29082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Text Box 2"/>
          <p:cNvSpPr txBox="1">
            <a:spLocks noChangeArrowheads="1"/>
          </p:cNvSpPr>
          <p:nvPr/>
        </p:nvSpPr>
        <p:spPr bwMode="auto">
          <a:xfrm>
            <a:off x="533400" y="5535385"/>
            <a:ext cx="817721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50495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9545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8595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/>
              <a:t>(2)  </a:t>
            </a:r>
            <a:r>
              <a:rPr lang="zh-CN" altLang="en-US"/>
              <a:t>增选的回路至少包含一条新支路。</a:t>
            </a:r>
          </a:p>
        </p:txBody>
      </p:sp>
      <p:grpSp>
        <p:nvGrpSpPr>
          <p:cNvPr id="293891" name="Group 3"/>
          <p:cNvGrpSpPr>
            <a:grpSpLocks/>
          </p:cNvGrpSpPr>
          <p:nvPr/>
        </p:nvGrpSpPr>
        <p:grpSpPr bwMode="auto">
          <a:xfrm>
            <a:off x="457200" y="2106385"/>
            <a:ext cx="7943850" cy="2095500"/>
            <a:chOff x="288" y="720"/>
            <a:chExt cx="5004" cy="1320"/>
          </a:xfrm>
        </p:grpSpPr>
        <p:sp>
          <p:nvSpPr>
            <p:cNvPr id="293892" name="Text Box 4"/>
            <p:cNvSpPr txBox="1">
              <a:spLocks noChangeArrowheads="1"/>
            </p:cNvSpPr>
            <p:nvPr/>
          </p:nvSpPr>
          <p:spPr bwMode="auto">
            <a:xfrm>
              <a:off x="288" y="720"/>
              <a:ext cx="50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>
                  <a:solidFill>
                    <a:srgbClr val="3333FF"/>
                  </a:solidFill>
                </a:rPr>
                <a:t>平面电路</a:t>
              </a:r>
              <a:r>
                <a:rPr lang="zh-CN" altLang="en-US"/>
                <a:t>：可以画在平面上，不出现支路交叉的电路。</a:t>
              </a:r>
            </a:p>
          </p:txBody>
        </p:sp>
        <p:grpSp>
          <p:nvGrpSpPr>
            <p:cNvPr id="293893" name="Group 5"/>
            <p:cNvGrpSpPr>
              <a:grpSpLocks/>
            </p:cNvGrpSpPr>
            <p:nvPr/>
          </p:nvGrpSpPr>
          <p:grpSpPr bwMode="auto">
            <a:xfrm>
              <a:off x="1392" y="1200"/>
              <a:ext cx="1848" cy="840"/>
              <a:chOff x="3192" y="2616"/>
              <a:chExt cx="1848" cy="840"/>
            </a:xfrm>
          </p:grpSpPr>
          <p:sp>
            <p:nvSpPr>
              <p:cNvPr id="293894" name="Rectangle 6"/>
              <p:cNvSpPr>
                <a:spLocks noChangeArrowheads="1"/>
              </p:cNvSpPr>
              <p:nvPr/>
            </p:nvSpPr>
            <p:spPr bwMode="auto">
              <a:xfrm>
                <a:off x="3192" y="2616"/>
                <a:ext cx="1848" cy="81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895" name="Line 7"/>
              <p:cNvSpPr>
                <a:spLocks noChangeShapeType="1"/>
              </p:cNvSpPr>
              <p:nvPr/>
            </p:nvSpPr>
            <p:spPr bwMode="auto">
              <a:xfrm>
                <a:off x="3828" y="2628"/>
                <a:ext cx="0" cy="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896" name="Line 8"/>
              <p:cNvSpPr>
                <a:spLocks noChangeShapeType="1"/>
              </p:cNvSpPr>
              <p:nvPr/>
            </p:nvSpPr>
            <p:spPr bwMode="auto">
              <a:xfrm>
                <a:off x="4416" y="2628"/>
                <a:ext cx="0" cy="82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3897" name="Group 9"/>
            <p:cNvGrpSpPr>
              <a:grpSpLocks/>
            </p:cNvGrpSpPr>
            <p:nvPr/>
          </p:nvGrpSpPr>
          <p:grpSpPr bwMode="auto">
            <a:xfrm>
              <a:off x="1507" y="1286"/>
              <a:ext cx="336" cy="516"/>
              <a:chOff x="2952" y="2232"/>
              <a:chExt cx="384" cy="996"/>
            </a:xfrm>
          </p:grpSpPr>
          <p:sp>
            <p:nvSpPr>
              <p:cNvPr id="293898" name="Oval 10"/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899" name="Text Box 11"/>
              <p:cNvSpPr txBox="1">
                <a:spLocks noChangeArrowheads="1"/>
              </p:cNvSpPr>
              <p:nvPr/>
            </p:nvSpPr>
            <p:spPr bwMode="auto">
              <a:xfrm>
                <a:off x="3025" y="2570"/>
                <a:ext cx="264" cy="5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293900" name="Line 12"/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3901" name="Group 13"/>
            <p:cNvGrpSpPr>
              <a:grpSpLocks/>
            </p:cNvGrpSpPr>
            <p:nvPr/>
          </p:nvGrpSpPr>
          <p:grpSpPr bwMode="auto">
            <a:xfrm>
              <a:off x="2139" y="1294"/>
              <a:ext cx="336" cy="516"/>
              <a:chOff x="2952" y="2232"/>
              <a:chExt cx="384" cy="996"/>
            </a:xfrm>
          </p:grpSpPr>
          <p:sp>
            <p:nvSpPr>
              <p:cNvPr id="293902" name="Oval 14"/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903" name="Text Box 15"/>
              <p:cNvSpPr txBox="1">
                <a:spLocks noChangeArrowheads="1"/>
              </p:cNvSpPr>
              <p:nvPr/>
            </p:nvSpPr>
            <p:spPr bwMode="auto">
              <a:xfrm>
                <a:off x="3025" y="2570"/>
                <a:ext cx="264" cy="5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293904" name="Line 16"/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3905" name="Group 17"/>
            <p:cNvGrpSpPr>
              <a:grpSpLocks/>
            </p:cNvGrpSpPr>
            <p:nvPr/>
          </p:nvGrpSpPr>
          <p:grpSpPr bwMode="auto">
            <a:xfrm>
              <a:off x="2750" y="1289"/>
              <a:ext cx="336" cy="516"/>
              <a:chOff x="2952" y="2232"/>
              <a:chExt cx="384" cy="996"/>
            </a:xfrm>
          </p:grpSpPr>
          <p:sp>
            <p:nvSpPr>
              <p:cNvPr id="293906" name="Oval 18"/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3907" name="Text Box 19"/>
              <p:cNvSpPr txBox="1">
                <a:spLocks noChangeArrowheads="1"/>
              </p:cNvSpPr>
              <p:nvPr/>
            </p:nvSpPr>
            <p:spPr bwMode="auto">
              <a:xfrm>
                <a:off x="3025" y="2570"/>
                <a:ext cx="264" cy="5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293908" name="Line 20"/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93909" name="Text Box 21"/>
          <p:cNvSpPr txBox="1">
            <a:spLocks noChangeArrowheads="1"/>
          </p:cNvSpPr>
          <p:nvPr/>
        </p:nvSpPr>
        <p:spPr bwMode="auto">
          <a:xfrm>
            <a:off x="327025" y="1287235"/>
            <a:ext cx="508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FF0000"/>
                </a:solidFill>
              </a:rPr>
              <a:t>问题：</a:t>
            </a:r>
            <a:r>
              <a:rPr lang="zh-CN" altLang="en-US" dirty="0"/>
              <a:t>如何保证所选回路是独立的？</a:t>
            </a:r>
          </a:p>
        </p:txBody>
      </p:sp>
      <p:sp>
        <p:nvSpPr>
          <p:cNvPr id="293910" name="Rectangle 22"/>
          <p:cNvSpPr>
            <a:spLocks noChangeArrowheads="1"/>
          </p:cNvSpPr>
          <p:nvPr/>
        </p:nvSpPr>
        <p:spPr bwMode="auto">
          <a:xfrm>
            <a:off x="523875" y="4678135"/>
            <a:ext cx="7189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dirty="0"/>
              <a:t>(1)  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FF0000"/>
                </a:solidFill>
              </a:rPr>
              <a:t>平面电路</a:t>
            </a:r>
            <a:r>
              <a:rPr lang="zh-CN" altLang="en-US" dirty="0"/>
              <a:t>，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–(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–1)</a:t>
            </a:r>
            <a:r>
              <a:rPr lang="zh-CN" altLang="en-US" dirty="0"/>
              <a:t>个网孔即是一组独立回路。</a:t>
            </a:r>
          </a:p>
        </p:txBody>
      </p:sp>
      <p:sp>
        <p:nvSpPr>
          <p:cNvPr id="23" name="Text Box 63"/>
          <p:cNvSpPr txBox="1">
            <a:spLocks noChangeArrowheads="1"/>
          </p:cNvSpPr>
          <p:nvPr/>
        </p:nvSpPr>
        <p:spPr bwMode="auto">
          <a:xfrm>
            <a:off x="330003" y="429985"/>
            <a:ext cx="706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</a:rPr>
              <a:t>独立回路</a:t>
            </a:r>
            <a:r>
              <a:rPr lang="zh-CN" altLang="en-US" dirty="0"/>
              <a:t>：独立</a:t>
            </a:r>
            <a:r>
              <a:rPr lang="en-US" altLang="zh-CN" dirty="0"/>
              <a:t>KVL</a:t>
            </a:r>
            <a:r>
              <a:rPr lang="zh-CN" altLang="en-US" dirty="0"/>
              <a:t>方程所对应的回路。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3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 autoUpdateAnimBg="0"/>
      <p:bldP spid="293909" grpId="0"/>
      <p:bldP spid="293910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69913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09750" indent="-1809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000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190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81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571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0289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4861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9433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400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3333FF"/>
                </a:solidFill>
              </a:rPr>
              <a:t>非平面电路</a:t>
            </a:r>
            <a:r>
              <a:rPr lang="zh-CN" altLang="en-US"/>
              <a:t>：在平面上无论将电路怎样画，总有支路相互交叉。</a:t>
            </a:r>
          </a:p>
        </p:txBody>
      </p:sp>
      <p:grpSp>
        <p:nvGrpSpPr>
          <p:cNvPr id="294915" name="Group 3"/>
          <p:cNvGrpSpPr>
            <a:grpSpLocks/>
          </p:cNvGrpSpPr>
          <p:nvPr/>
        </p:nvGrpSpPr>
        <p:grpSpPr bwMode="auto">
          <a:xfrm>
            <a:off x="1028700" y="1581150"/>
            <a:ext cx="6762750" cy="2155825"/>
            <a:chOff x="648" y="996"/>
            <a:chExt cx="4260" cy="1358"/>
          </a:xfrm>
        </p:grpSpPr>
        <p:grpSp>
          <p:nvGrpSpPr>
            <p:cNvPr id="294916" name="Group 4"/>
            <p:cNvGrpSpPr>
              <a:grpSpLocks/>
            </p:cNvGrpSpPr>
            <p:nvPr/>
          </p:nvGrpSpPr>
          <p:grpSpPr bwMode="auto">
            <a:xfrm>
              <a:off x="648" y="996"/>
              <a:ext cx="1440" cy="1032"/>
              <a:chOff x="648" y="996"/>
              <a:chExt cx="1440" cy="1032"/>
            </a:xfrm>
          </p:grpSpPr>
          <p:grpSp>
            <p:nvGrpSpPr>
              <p:cNvPr id="294917" name="Group 5"/>
              <p:cNvGrpSpPr>
                <a:grpSpLocks/>
              </p:cNvGrpSpPr>
              <p:nvPr/>
            </p:nvGrpSpPr>
            <p:grpSpPr bwMode="auto">
              <a:xfrm>
                <a:off x="648" y="1440"/>
                <a:ext cx="261" cy="59"/>
                <a:chOff x="4368" y="2736"/>
                <a:chExt cx="261" cy="59"/>
              </a:xfrm>
            </p:grpSpPr>
            <p:sp>
              <p:nvSpPr>
                <p:cNvPr id="294918" name="Line 6"/>
                <p:cNvSpPr>
                  <a:spLocks noChangeShapeType="1"/>
                </p:cNvSpPr>
                <p:nvPr/>
              </p:nvSpPr>
              <p:spPr bwMode="auto">
                <a:xfrm>
                  <a:off x="4368" y="2736"/>
                  <a:ext cx="261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919" name="Line 7"/>
                <p:cNvSpPr>
                  <a:spLocks noChangeShapeType="1"/>
                </p:cNvSpPr>
                <p:nvPr/>
              </p:nvSpPr>
              <p:spPr bwMode="auto">
                <a:xfrm>
                  <a:off x="4426" y="2795"/>
                  <a:ext cx="145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94920" name="Line 8"/>
              <p:cNvSpPr>
                <a:spLocks noChangeShapeType="1"/>
              </p:cNvSpPr>
              <p:nvPr/>
            </p:nvSpPr>
            <p:spPr bwMode="auto">
              <a:xfrm>
                <a:off x="780" y="1500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21" name="Line 9"/>
              <p:cNvSpPr>
                <a:spLocks noChangeShapeType="1"/>
              </p:cNvSpPr>
              <p:nvPr/>
            </p:nvSpPr>
            <p:spPr bwMode="auto">
              <a:xfrm flipV="1">
                <a:off x="780" y="1056"/>
                <a:ext cx="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22" name="Line 10"/>
              <p:cNvSpPr>
                <a:spLocks noChangeShapeType="1"/>
              </p:cNvSpPr>
              <p:nvPr/>
            </p:nvSpPr>
            <p:spPr bwMode="auto">
              <a:xfrm>
                <a:off x="780" y="1056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23" name="Line 11"/>
              <p:cNvSpPr>
                <a:spLocks noChangeShapeType="1"/>
              </p:cNvSpPr>
              <p:nvPr/>
            </p:nvSpPr>
            <p:spPr bwMode="auto">
              <a:xfrm>
                <a:off x="780" y="1968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24" name="Line 12"/>
              <p:cNvSpPr>
                <a:spLocks noChangeShapeType="1"/>
              </p:cNvSpPr>
              <p:nvPr/>
            </p:nvSpPr>
            <p:spPr bwMode="auto">
              <a:xfrm>
                <a:off x="2028" y="1056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25" name="Line 13"/>
              <p:cNvSpPr>
                <a:spLocks noChangeShapeType="1"/>
              </p:cNvSpPr>
              <p:nvPr/>
            </p:nvSpPr>
            <p:spPr bwMode="auto">
              <a:xfrm flipV="1">
                <a:off x="780" y="1056"/>
                <a:ext cx="1248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26" name="Line 14"/>
              <p:cNvSpPr>
                <a:spLocks noChangeShapeType="1"/>
              </p:cNvSpPr>
              <p:nvPr/>
            </p:nvSpPr>
            <p:spPr bwMode="auto">
              <a:xfrm>
                <a:off x="780" y="1056"/>
                <a:ext cx="576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27" name="Line 15"/>
              <p:cNvSpPr>
                <a:spLocks noChangeShapeType="1"/>
              </p:cNvSpPr>
              <p:nvPr/>
            </p:nvSpPr>
            <p:spPr bwMode="auto">
              <a:xfrm flipH="1" flipV="1">
                <a:off x="1452" y="1536"/>
                <a:ext cx="576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294928" name="AutoShape 16"/>
              <p:cNvCxnSpPr>
                <a:cxnSpLocks noChangeShapeType="1"/>
                <a:stCxn id="294926" idx="1"/>
                <a:endCxn id="294927" idx="1"/>
              </p:cNvCxnSpPr>
              <p:nvPr/>
            </p:nvCxnSpPr>
            <p:spPr bwMode="auto">
              <a:xfrm rot="16200000" flipH="1">
                <a:off x="1356" y="1440"/>
                <a:ext cx="96" cy="96"/>
              </a:xfrm>
              <a:prstGeom prst="bentConnector3">
                <a:avLst>
                  <a:gd name="adj1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94929" name="Rectangle 17"/>
              <p:cNvSpPr>
                <a:spLocks noChangeArrowheads="1"/>
              </p:cNvSpPr>
              <p:nvPr/>
            </p:nvSpPr>
            <p:spPr bwMode="auto">
              <a:xfrm rot="-3131856">
                <a:off x="1104" y="1164"/>
                <a:ext cx="120" cy="288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30" name="Rectangle 18"/>
              <p:cNvSpPr>
                <a:spLocks noChangeArrowheads="1"/>
              </p:cNvSpPr>
              <p:nvPr/>
            </p:nvSpPr>
            <p:spPr bwMode="auto">
              <a:xfrm>
                <a:off x="1968" y="1392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31" name="Rectangle 19"/>
              <p:cNvSpPr>
                <a:spLocks noChangeArrowheads="1"/>
              </p:cNvSpPr>
              <p:nvPr/>
            </p:nvSpPr>
            <p:spPr bwMode="auto">
              <a:xfrm rot="5400000">
                <a:off x="1356" y="912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32" name="Rectangle 20"/>
              <p:cNvSpPr>
                <a:spLocks noChangeArrowheads="1"/>
              </p:cNvSpPr>
              <p:nvPr/>
            </p:nvSpPr>
            <p:spPr bwMode="auto">
              <a:xfrm rot="5400000">
                <a:off x="1380" y="1824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33" name="Rectangle 21"/>
              <p:cNvSpPr>
                <a:spLocks noChangeArrowheads="1"/>
              </p:cNvSpPr>
              <p:nvPr/>
            </p:nvSpPr>
            <p:spPr bwMode="auto">
              <a:xfrm rot="3335855">
                <a:off x="1056" y="1572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4934" name="Group 22"/>
            <p:cNvGrpSpPr>
              <a:grpSpLocks/>
            </p:cNvGrpSpPr>
            <p:nvPr/>
          </p:nvGrpSpPr>
          <p:grpSpPr bwMode="auto">
            <a:xfrm>
              <a:off x="3288" y="1020"/>
              <a:ext cx="1620" cy="984"/>
              <a:chOff x="3288" y="1020"/>
              <a:chExt cx="1620" cy="984"/>
            </a:xfrm>
          </p:grpSpPr>
          <p:grpSp>
            <p:nvGrpSpPr>
              <p:cNvPr id="294935" name="Group 23"/>
              <p:cNvGrpSpPr>
                <a:grpSpLocks/>
              </p:cNvGrpSpPr>
              <p:nvPr/>
            </p:nvGrpSpPr>
            <p:grpSpPr bwMode="auto">
              <a:xfrm>
                <a:off x="3288" y="1560"/>
                <a:ext cx="261" cy="59"/>
                <a:chOff x="4368" y="2736"/>
                <a:chExt cx="261" cy="59"/>
              </a:xfrm>
            </p:grpSpPr>
            <p:sp>
              <p:nvSpPr>
                <p:cNvPr id="294936" name="Line 24"/>
                <p:cNvSpPr>
                  <a:spLocks noChangeShapeType="1"/>
                </p:cNvSpPr>
                <p:nvPr/>
              </p:nvSpPr>
              <p:spPr bwMode="auto">
                <a:xfrm>
                  <a:off x="4368" y="2736"/>
                  <a:ext cx="261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937" name="Line 25"/>
                <p:cNvSpPr>
                  <a:spLocks noChangeShapeType="1"/>
                </p:cNvSpPr>
                <p:nvPr/>
              </p:nvSpPr>
              <p:spPr bwMode="auto">
                <a:xfrm>
                  <a:off x="4426" y="2795"/>
                  <a:ext cx="145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94938" name="Line 26"/>
              <p:cNvSpPr>
                <a:spLocks noChangeShapeType="1"/>
              </p:cNvSpPr>
              <p:nvPr/>
            </p:nvSpPr>
            <p:spPr bwMode="auto">
              <a:xfrm>
                <a:off x="3420" y="1620"/>
                <a:ext cx="0" cy="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39" name="Line 27"/>
              <p:cNvSpPr>
                <a:spLocks noChangeShapeType="1"/>
              </p:cNvSpPr>
              <p:nvPr/>
            </p:nvSpPr>
            <p:spPr bwMode="auto">
              <a:xfrm flipV="1">
                <a:off x="3420" y="1368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0" name="Line 28"/>
              <p:cNvSpPr>
                <a:spLocks noChangeShapeType="1"/>
              </p:cNvSpPr>
              <p:nvPr/>
            </p:nvSpPr>
            <p:spPr bwMode="auto">
              <a:xfrm>
                <a:off x="3420" y="1368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1" name="Line 29"/>
              <p:cNvSpPr>
                <a:spLocks noChangeShapeType="1"/>
              </p:cNvSpPr>
              <p:nvPr/>
            </p:nvSpPr>
            <p:spPr bwMode="auto">
              <a:xfrm>
                <a:off x="3420" y="1944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2" name="Line 30"/>
              <p:cNvSpPr>
                <a:spLocks noChangeShapeType="1"/>
              </p:cNvSpPr>
              <p:nvPr/>
            </p:nvSpPr>
            <p:spPr bwMode="auto">
              <a:xfrm>
                <a:off x="4656" y="1368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3" name="Line 31"/>
              <p:cNvSpPr>
                <a:spLocks noChangeShapeType="1"/>
              </p:cNvSpPr>
              <p:nvPr/>
            </p:nvSpPr>
            <p:spPr bwMode="auto">
              <a:xfrm flipV="1">
                <a:off x="3420" y="1368"/>
                <a:ext cx="1248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4" name="Line 32"/>
              <p:cNvSpPr>
                <a:spLocks noChangeShapeType="1"/>
              </p:cNvSpPr>
              <p:nvPr/>
            </p:nvSpPr>
            <p:spPr bwMode="auto">
              <a:xfrm flipV="1">
                <a:off x="3420" y="1080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5" name="Line 33"/>
              <p:cNvSpPr>
                <a:spLocks noChangeShapeType="1"/>
              </p:cNvSpPr>
              <p:nvPr/>
            </p:nvSpPr>
            <p:spPr bwMode="auto">
              <a:xfrm>
                <a:off x="4668" y="1944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6" name="Line 34"/>
              <p:cNvSpPr>
                <a:spLocks noChangeShapeType="1"/>
              </p:cNvSpPr>
              <p:nvPr/>
            </p:nvSpPr>
            <p:spPr bwMode="auto">
              <a:xfrm>
                <a:off x="4896" y="1080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7" name="Line 35"/>
              <p:cNvSpPr>
                <a:spLocks noChangeShapeType="1"/>
              </p:cNvSpPr>
              <p:nvPr/>
            </p:nvSpPr>
            <p:spPr bwMode="auto">
              <a:xfrm>
                <a:off x="3420" y="1080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48" name="Rectangle 36"/>
              <p:cNvSpPr>
                <a:spLocks noChangeArrowheads="1"/>
              </p:cNvSpPr>
              <p:nvPr/>
            </p:nvSpPr>
            <p:spPr bwMode="auto">
              <a:xfrm>
                <a:off x="4596" y="1512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49" name="Rectangle 37"/>
              <p:cNvSpPr>
                <a:spLocks noChangeArrowheads="1"/>
              </p:cNvSpPr>
              <p:nvPr/>
            </p:nvSpPr>
            <p:spPr bwMode="auto">
              <a:xfrm rot="5400000">
                <a:off x="3996" y="1224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50" name="Rectangle 38"/>
              <p:cNvSpPr>
                <a:spLocks noChangeArrowheads="1"/>
              </p:cNvSpPr>
              <p:nvPr/>
            </p:nvSpPr>
            <p:spPr bwMode="auto">
              <a:xfrm rot="5400000">
                <a:off x="4020" y="1800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51" name="Rectangle 39"/>
              <p:cNvSpPr>
                <a:spLocks noChangeArrowheads="1"/>
              </p:cNvSpPr>
              <p:nvPr/>
            </p:nvSpPr>
            <p:spPr bwMode="auto">
              <a:xfrm rot="3684745">
                <a:off x="3912" y="1548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52" name="Rectangle 40"/>
              <p:cNvSpPr>
                <a:spLocks noChangeArrowheads="1"/>
              </p:cNvSpPr>
              <p:nvPr/>
            </p:nvSpPr>
            <p:spPr bwMode="auto">
              <a:xfrm rot="5400000">
                <a:off x="4032" y="936"/>
                <a:ext cx="120" cy="288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94953" name="AutoShape 41"/>
            <p:cNvSpPr>
              <a:spLocks noChangeArrowheads="1"/>
            </p:cNvSpPr>
            <p:nvPr/>
          </p:nvSpPr>
          <p:spPr bwMode="auto">
            <a:xfrm>
              <a:off x="2496" y="1356"/>
              <a:ext cx="528" cy="336"/>
            </a:xfrm>
            <a:prstGeom prst="rightArrow">
              <a:avLst>
                <a:gd name="adj1" fmla="val 50000"/>
                <a:gd name="adj2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954" name="Text Box 42"/>
            <p:cNvSpPr txBox="1">
              <a:spLocks noChangeArrowheads="1"/>
            </p:cNvSpPr>
            <p:nvPr/>
          </p:nvSpPr>
          <p:spPr bwMode="auto">
            <a:xfrm>
              <a:off x="3446" y="2066"/>
              <a:ext cx="13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∴ </a:t>
              </a:r>
              <a:r>
                <a:rPr lang="zh-CN" altLang="en-US"/>
                <a:t>是平面电路</a:t>
              </a:r>
            </a:p>
          </p:txBody>
        </p:sp>
      </p:grpSp>
      <p:grpSp>
        <p:nvGrpSpPr>
          <p:cNvPr id="294955" name="Group 43"/>
          <p:cNvGrpSpPr>
            <a:grpSpLocks/>
          </p:cNvGrpSpPr>
          <p:nvPr/>
        </p:nvGrpSpPr>
        <p:grpSpPr bwMode="auto">
          <a:xfrm>
            <a:off x="1279527" y="3795713"/>
            <a:ext cx="6537326" cy="1714500"/>
            <a:chOff x="806" y="2391"/>
            <a:chExt cx="4118" cy="1080"/>
          </a:xfrm>
        </p:grpSpPr>
        <p:grpSp>
          <p:nvGrpSpPr>
            <p:cNvPr id="294956" name="Group 44"/>
            <p:cNvGrpSpPr>
              <a:grpSpLocks/>
            </p:cNvGrpSpPr>
            <p:nvPr/>
          </p:nvGrpSpPr>
          <p:grpSpPr bwMode="auto">
            <a:xfrm>
              <a:off x="806" y="2391"/>
              <a:ext cx="1951" cy="1080"/>
              <a:chOff x="806" y="2391"/>
              <a:chExt cx="1951" cy="1080"/>
            </a:xfrm>
          </p:grpSpPr>
          <p:sp>
            <p:nvSpPr>
              <p:cNvPr id="294957" name="Line 45"/>
              <p:cNvSpPr>
                <a:spLocks noChangeShapeType="1"/>
              </p:cNvSpPr>
              <p:nvPr/>
            </p:nvSpPr>
            <p:spPr bwMode="auto">
              <a:xfrm>
                <a:off x="2421" y="2691"/>
                <a:ext cx="0" cy="7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94958" name="Group 46"/>
              <p:cNvGrpSpPr>
                <a:grpSpLocks/>
              </p:cNvGrpSpPr>
              <p:nvPr/>
            </p:nvGrpSpPr>
            <p:grpSpPr bwMode="auto">
              <a:xfrm>
                <a:off x="806" y="3039"/>
                <a:ext cx="261" cy="59"/>
                <a:chOff x="4373" y="2736"/>
                <a:chExt cx="261" cy="59"/>
              </a:xfrm>
            </p:grpSpPr>
            <p:sp>
              <p:nvSpPr>
                <p:cNvPr id="294959" name="Line 47"/>
                <p:cNvSpPr>
                  <a:spLocks noChangeShapeType="1"/>
                </p:cNvSpPr>
                <p:nvPr/>
              </p:nvSpPr>
              <p:spPr bwMode="auto">
                <a:xfrm>
                  <a:off x="4373" y="2736"/>
                  <a:ext cx="261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960" name="Line 48"/>
                <p:cNvSpPr>
                  <a:spLocks noChangeShapeType="1"/>
                </p:cNvSpPr>
                <p:nvPr/>
              </p:nvSpPr>
              <p:spPr bwMode="auto">
                <a:xfrm>
                  <a:off x="4431" y="2795"/>
                  <a:ext cx="145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94961" name="Line 49"/>
              <p:cNvSpPr>
                <a:spLocks noChangeShapeType="1"/>
              </p:cNvSpPr>
              <p:nvPr/>
            </p:nvSpPr>
            <p:spPr bwMode="auto">
              <a:xfrm>
                <a:off x="933" y="3099"/>
                <a:ext cx="0" cy="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62" name="Rectangle 50"/>
              <p:cNvSpPr>
                <a:spLocks noChangeArrowheads="1"/>
              </p:cNvSpPr>
              <p:nvPr/>
            </p:nvSpPr>
            <p:spPr bwMode="auto">
              <a:xfrm>
                <a:off x="2361" y="2919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63" name="Line 51"/>
              <p:cNvSpPr>
                <a:spLocks noChangeShapeType="1"/>
              </p:cNvSpPr>
              <p:nvPr/>
            </p:nvSpPr>
            <p:spPr bwMode="auto">
              <a:xfrm>
                <a:off x="933" y="2691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64" name="Line 52"/>
              <p:cNvSpPr>
                <a:spLocks noChangeShapeType="1"/>
              </p:cNvSpPr>
              <p:nvPr/>
            </p:nvSpPr>
            <p:spPr bwMode="auto">
              <a:xfrm>
                <a:off x="1605" y="2691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65" name="Line 53"/>
              <p:cNvSpPr>
                <a:spLocks noChangeShapeType="1"/>
              </p:cNvSpPr>
              <p:nvPr/>
            </p:nvSpPr>
            <p:spPr bwMode="auto">
              <a:xfrm flipV="1">
                <a:off x="933" y="3171"/>
                <a:ext cx="57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66" name="Line 54"/>
              <p:cNvSpPr>
                <a:spLocks noChangeShapeType="1"/>
              </p:cNvSpPr>
              <p:nvPr/>
            </p:nvSpPr>
            <p:spPr bwMode="auto">
              <a:xfrm flipV="1">
                <a:off x="1701" y="2691"/>
                <a:ext cx="72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294967" name="AutoShape 55"/>
              <p:cNvCxnSpPr>
                <a:cxnSpLocks noChangeShapeType="1"/>
                <a:stCxn id="294965" idx="1"/>
                <a:endCxn id="294966" idx="0"/>
              </p:cNvCxnSpPr>
              <p:nvPr/>
            </p:nvCxnSpPr>
            <p:spPr bwMode="auto">
              <a:xfrm rot="16200000">
                <a:off x="1557" y="3026"/>
                <a:ext cx="96" cy="193"/>
              </a:xfrm>
              <a:prstGeom prst="bentConnector3">
                <a:avLst>
                  <a:gd name="adj1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94968" name="Rectangle 56"/>
              <p:cNvSpPr>
                <a:spLocks noChangeArrowheads="1"/>
              </p:cNvSpPr>
              <p:nvPr/>
            </p:nvSpPr>
            <p:spPr bwMode="auto">
              <a:xfrm rot="4041636">
                <a:off x="1929" y="2799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69" name="Line 57"/>
              <p:cNvSpPr>
                <a:spLocks noChangeShapeType="1"/>
              </p:cNvSpPr>
              <p:nvPr/>
            </p:nvSpPr>
            <p:spPr bwMode="auto">
              <a:xfrm flipV="1">
                <a:off x="933" y="2451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70" name="Line 58"/>
              <p:cNvSpPr>
                <a:spLocks noChangeShapeType="1"/>
              </p:cNvSpPr>
              <p:nvPr/>
            </p:nvSpPr>
            <p:spPr bwMode="auto">
              <a:xfrm>
                <a:off x="933" y="2451"/>
                <a:ext cx="18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71" name="Line 59"/>
              <p:cNvSpPr>
                <a:spLocks noChangeShapeType="1"/>
              </p:cNvSpPr>
              <p:nvPr/>
            </p:nvSpPr>
            <p:spPr bwMode="auto">
              <a:xfrm>
                <a:off x="2757" y="2451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72" name="Rectangle 60"/>
              <p:cNvSpPr>
                <a:spLocks noChangeArrowheads="1"/>
              </p:cNvSpPr>
              <p:nvPr/>
            </p:nvSpPr>
            <p:spPr bwMode="auto">
              <a:xfrm rot="5400000">
                <a:off x="1209" y="2547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73" name="Rectangle 61"/>
              <p:cNvSpPr>
                <a:spLocks noChangeArrowheads="1"/>
              </p:cNvSpPr>
              <p:nvPr/>
            </p:nvSpPr>
            <p:spPr bwMode="auto">
              <a:xfrm rot="5400000">
                <a:off x="1533" y="2307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74" name="Rectangle 62"/>
              <p:cNvSpPr>
                <a:spLocks noChangeArrowheads="1"/>
              </p:cNvSpPr>
              <p:nvPr/>
            </p:nvSpPr>
            <p:spPr bwMode="auto">
              <a:xfrm rot="5400000">
                <a:off x="1833" y="2547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75" name="Rectangle 63"/>
              <p:cNvSpPr>
                <a:spLocks noChangeArrowheads="1"/>
              </p:cNvSpPr>
              <p:nvPr/>
            </p:nvSpPr>
            <p:spPr bwMode="auto">
              <a:xfrm>
                <a:off x="1545" y="2739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76" name="Line 64"/>
              <p:cNvSpPr>
                <a:spLocks noChangeShapeType="1"/>
              </p:cNvSpPr>
              <p:nvPr/>
            </p:nvSpPr>
            <p:spPr bwMode="auto">
              <a:xfrm>
                <a:off x="933" y="3411"/>
                <a:ext cx="182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4977" name="Rectangle 65"/>
              <p:cNvSpPr>
                <a:spLocks noChangeArrowheads="1"/>
              </p:cNvSpPr>
              <p:nvPr/>
            </p:nvSpPr>
            <p:spPr bwMode="auto">
              <a:xfrm rot="5400000">
                <a:off x="1257" y="3267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4978" name="Rectangle 66"/>
              <p:cNvSpPr>
                <a:spLocks noChangeArrowheads="1"/>
              </p:cNvSpPr>
              <p:nvPr/>
            </p:nvSpPr>
            <p:spPr bwMode="auto">
              <a:xfrm rot="5400000">
                <a:off x="1881" y="3267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94979" name="Text Box 67"/>
            <p:cNvSpPr txBox="1">
              <a:spLocks noChangeArrowheads="1"/>
            </p:cNvSpPr>
            <p:nvPr/>
          </p:nvSpPr>
          <p:spPr bwMode="auto">
            <a:xfrm>
              <a:off x="3072" y="2784"/>
              <a:ext cx="1852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dirty="0"/>
                <a:t>    </a:t>
              </a:r>
              <a:r>
                <a:rPr lang="zh-CN" altLang="en-US" dirty="0"/>
                <a:t>总有支路相互交叉</a:t>
              </a:r>
            </a:p>
            <a:p>
              <a:pPr algn="l">
                <a:lnSpc>
                  <a:spcPct val="120000"/>
                </a:lnSpc>
              </a:pPr>
              <a:r>
                <a:rPr lang="zh-CN" altLang="en-US" dirty="0"/>
                <a:t>∴是非平面电路</a:t>
              </a:r>
            </a:p>
          </p:txBody>
        </p:sp>
      </p:grpSp>
      <p:sp>
        <p:nvSpPr>
          <p:cNvPr id="69" name="Text Box 21"/>
          <p:cNvSpPr txBox="1">
            <a:spLocks noChangeArrowheads="1"/>
          </p:cNvSpPr>
          <p:nvPr/>
        </p:nvSpPr>
        <p:spPr bwMode="auto">
          <a:xfrm>
            <a:off x="5867269" y="5859761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 smtClean="0">
                <a:solidFill>
                  <a:srgbClr val="FF0000"/>
                </a:solidFill>
              </a:rPr>
              <a:t>不考虑非平面电路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842" name="Group 2"/>
          <p:cNvGrpSpPr>
            <a:grpSpLocks/>
          </p:cNvGrpSpPr>
          <p:nvPr/>
        </p:nvGrpSpPr>
        <p:grpSpPr bwMode="auto">
          <a:xfrm>
            <a:off x="304800" y="742950"/>
            <a:ext cx="3667125" cy="4060825"/>
            <a:chOff x="204" y="180"/>
            <a:chExt cx="2274" cy="2501"/>
          </a:xfrm>
        </p:grpSpPr>
        <p:grpSp>
          <p:nvGrpSpPr>
            <p:cNvPr id="291843" name="Group 3"/>
            <p:cNvGrpSpPr>
              <a:grpSpLocks/>
            </p:cNvGrpSpPr>
            <p:nvPr/>
          </p:nvGrpSpPr>
          <p:grpSpPr bwMode="auto">
            <a:xfrm>
              <a:off x="252" y="480"/>
              <a:ext cx="2226" cy="2201"/>
              <a:chOff x="354" y="2034"/>
              <a:chExt cx="2226" cy="2201"/>
            </a:xfrm>
          </p:grpSpPr>
          <p:sp>
            <p:nvSpPr>
              <p:cNvPr id="291844" name="Line 4"/>
              <p:cNvSpPr>
                <a:spLocks noChangeShapeType="1"/>
              </p:cNvSpPr>
              <p:nvPr/>
            </p:nvSpPr>
            <p:spPr bwMode="auto">
              <a:xfrm>
                <a:off x="1386" y="2034"/>
                <a:ext cx="0" cy="14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45" name="Line 5"/>
              <p:cNvSpPr>
                <a:spLocks noChangeShapeType="1"/>
              </p:cNvSpPr>
              <p:nvPr/>
            </p:nvSpPr>
            <p:spPr bwMode="auto">
              <a:xfrm>
                <a:off x="1386" y="2034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46" name="Line 6"/>
              <p:cNvSpPr>
                <a:spLocks noChangeShapeType="1"/>
              </p:cNvSpPr>
              <p:nvPr/>
            </p:nvSpPr>
            <p:spPr bwMode="auto">
              <a:xfrm>
                <a:off x="594" y="2759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47" name="Line 7"/>
              <p:cNvSpPr>
                <a:spLocks noChangeShapeType="1"/>
              </p:cNvSpPr>
              <p:nvPr/>
            </p:nvSpPr>
            <p:spPr bwMode="auto">
              <a:xfrm flipH="1">
                <a:off x="1386" y="2759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48" name="Line 8"/>
              <p:cNvSpPr>
                <a:spLocks noChangeShapeType="1"/>
              </p:cNvSpPr>
              <p:nvPr/>
            </p:nvSpPr>
            <p:spPr bwMode="auto">
              <a:xfrm flipH="1">
                <a:off x="594" y="2034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49" name="Freeform 9"/>
              <p:cNvSpPr>
                <a:spLocks/>
              </p:cNvSpPr>
              <p:nvPr/>
            </p:nvSpPr>
            <p:spPr bwMode="auto">
              <a:xfrm>
                <a:off x="594" y="2759"/>
                <a:ext cx="1" cy="1135"/>
              </a:xfrm>
              <a:custGeom>
                <a:avLst/>
                <a:gdLst>
                  <a:gd name="T0" fmla="*/ 0 w 1"/>
                  <a:gd name="T1" fmla="*/ 0 h 1135"/>
                  <a:gd name="T2" fmla="*/ 0 w 1"/>
                  <a:gd name="T3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35">
                    <a:moveTo>
                      <a:pt x="0" y="0"/>
                    </a:moveTo>
                    <a:lnTo>
                      <a:pt x="0" y="113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50" name="Freeform 10"/>
              <p:cNvSpPr>
                <a:spLocks/>
              </p:cNvSpPr>
              <p:nvPr/>
            </p:nvSpPr>
            <p:spPr bwMode="auto">
              <a:xfrm>
                <a:off x="2178" y="2759"/>
                <a:ext cx="1" cy="1141"/>
              </a:xfrm>
              <a:custGeom>
                <a:avLst/>
                <a:gdLst>
                  <a:gd name="T0" fmla="*/ 0 w 1"/>
                  <a:gd name="T1" fmla="*/ 0 h 1141"/>
                  <a:gd name="T2" fmla="*/ 0 w 1"/>
                  <a:gd name="T3" fmla="*/ 1141 h 1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41">
                    <a:moveTo>
                      <a:pt x="0" y="0"/>
                    </a:moveTo>
                    <a:lnTo>
                      <a:pt x="0" y="114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51" name="Line 11"/>
              <p:cNvSpPr>
                <a:spLocks noChangeShapeType="1"/>
              </p:cNvSpPr>
              <p:nvPr/>
            </p:nvSpPr>
            <p:spPr bwMode="auto">
              <a:xfrm flipV="1">
                <a:off x="600" y="3888"/>
                <a:ext cx="15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52" name="Rectangle 12"/>
              <p:cNvSpPr>
                <a:spLocks noChangeArrowheads="1"/>
              </p:cNvSpPr>
              <p:nvPr/>
            </p:nvSpPr>
            <p:spPr bwMode="auto">
              <a:xfrm>
                <a:off x="1323" y="2661"/>
                <a:ext cx="108" cy="27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1853" name="Rectangle 13"/>
              <p:cNvSpPr>
                <a:spLocks noChangeArrowheads="1"/>
              </p:cNvSpPr>
              <p:nvPr/>
            </p:nvSpPr>
            <p:spPr bwMode="auto">
              <a:xfrm rot="3007029">
                <a:off x="923" y="2273"/>
                <a:ext cx="98" cy="27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1854" name="Rectangle 14"/>
              <p:cNvSpPr>
                <a:spLocks noChangeArrowheads="1"/>
              </p:cNvSpPr>
              <p:nvPr/>
            </p:nvSpPr>
            <p:spPr bwMode="auto">
              <a:xfrm rot="-2950827">
                <a:off x="1724" y="2255"/>
                <a:ext cx="101" cy="27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1855" name="Rectangle 15"/>
              <p:cNvSpPr>
                <a:spLocks noChangeArrowheads="1"/>
              </p:cNvSpPr>
              <p:nvPr/>
            </p:nvSpPr>
            <p:spPr bwMode="auto">
              <a:xfrm rot="3007029">
                <a:off x="1733" y="2993"/>
                <a:ext cx="98" cy="27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1856" name="Rectangle 16"/>
              <p:cNvSpPr>
                <a:spLocks noChangeArrowheads="1"/>
              </p:cNvSpPr>
              <p:nvPr/>
            </p:nvSpPr>
            <p:spPr bwMode="auto">
              <a:xfrm rot="-2950827">
                <a:off x="932" y="2987"/>
                <a:ext cx="101" cy="27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1857" name="Rectangle 17"/>
              <p:cNvSpPr>
                <a:spLocks noChangeArrowheads="1"/>
              </p:cNvSpPr>
              <p:nvPr/>
            </p:nvSpPr>
            <p:spPr bwMode="auto">
              <a:xfrm rot="5400000">
                <a:off x="951" y="3747"/>
                <a:ext cx="108" cy="27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1858" name="Oval 18"/>
              <p:cNvSpPr>
                <a:spLocks noChangeArrowheads="1"/>
              </p:cNvSpPr>
              <p:nvPr/>
            </p:nvSpPr>
            <p:spPr bwMode="auto">
              <a:xfrm>
                <a:off x="1566" y="3732"/>
                <a:ext cx="288" cy="31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59" name="Text Box 19"/>
              <p:cNvSpPr txBox="1">
                <a:spLocks noChangeArrowheads="1"/>
              </p:cNvSpPr>
              <p:nvPr/>
            </p:nvSpPr>
            <p:spPr bwMode="auto">
              <a:xfrm>
                <a:off x="672" y="3096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291860" name="Text Box 20"/>
              <p:cNvSpPr txBox="1">
                <a:spLocks noChangeArrowheads="1"/>
              </p:cNvSpPr>
              <p:nvPr/>
            </p:nvSpPr>
            <p:spPr bwMode="auto">
              <a:xfrm>
                <a:off x="654" y="2136"/>
                <a:ext cx="307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291861" name="Text Box 21"/>
              <p:cNvSpPr txBox="1">
                <a:spLocks noChangeArrowheads="1"/>
              </p:cNvSpPr>
              <p:nvPr/>
            </p:nvSpPr>
            <p:spPr bwMode="auto">
              <a:xfrm>
                <a:off x="1443" y="2658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3</a:t>
                </a:r>
                <a:endParaRPr lang="en-US" altLang="zh-CN"/>
              </a:p>
            </p:txBody>
          </p:sp>
          <p:sp>
            <p:nvSpPr>
              <p:cNvPr id="291862" name="Text Box 22"/>
              <p:cNvSpPr txBox="1">
                <a:spLocks noChangeArrowheads="1"/>
              </p:cNvSpPr>
              <p:nvPr/>
            </p:nvSpPr>
            <p:spPr bwMode="auto">
              <a:xfrm>
                <a:off x="1800" y="2124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4</a:t>
                </a:r>
                <a:endParaRPr lang="en-US" altLang="zh-CN"/>
              </a:p>
            </p:txBody>
          </p:sp>
          <p:sp>
            <p:nvSpPr>
              <p:cNvPr id="291863" name="Text Box 23"/>
              <p:cNvSpPr txBox="1">
                <a:spLocks noChangeArrowheads="1"/>
              </p:cNvSpPr>
              <p:nvPr/>
            </p:nvSpPr>
            <p:spPr bwMode="auto">
              <a:xfrm>
                <a:off x="1554" y="3228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5</a:t>
                </a:r>
                <a:endParaRPr lang="en-US" altLang="zh-CN"/>
              </a:p>
            </p:txBody>
          </p:sp>
          <p:sp>
            <p:nvSpPr>
              <p:cNvPr id="291864" name="Text Box 24"/>
              <p:cNvSpPr txBox="1">
                <a:spLocks noChangeArrowheads="1"/>
              </p:cNvSpPr>
              <p:nvPr/>
            </p:nvSpPr>
            <p:spPr bwMode="auto">
              <a:xfrm>
                <a:off x="852" y="3942"/>
                <a:ext cx="307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6</a:t>
                </a:r>
                <a:endParaRPr lang="en-US" altLang="zh-CN"/>
              </a:p>
            </p:txBody>
          </p:sp>
          <p:sp>
            <p:nvSpPr>
              <p:cNvPr id="291865" name="Line 25"/>
              <p:cNvSpPr>
                <a:spLocks noChangeShapeType="1"/>
              </p:cNvSpPr>
              <p:nvPr/>
            </p:nvSpPr>
            <p:spPr bwMode="auto">
              <a:xfrm flipV="1">
                <a:off x="518" y="2446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66" name="Line 26"/>
              <p:cNvSpPr>
                <a:spLocks noChangeShapeType="1"/>
              </p:cNvSpPr>
              <p:nvPr/>
            </p:nvSpPr>
            <p:spPr bwMode="auto">
              <a:xfrm flipV="1">
                <a:off x="1814" y="3046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67" name="Line 27"/>
              <p:cNvSpPr>
                <a:spLocks noChangeShapeType="1"/>
              </p:cNvSpPr>
              <p:nvPr/>
            </p:nvSpPr>
            <p:spPr bwMode="auto">
              <a:xfrm rot="5400000" flipV="1">
                <a:off x="1046" y="3286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68" name="Line 28"/>
              <p:cNvSpPr>
                <a:spLocks noChangeShapeType="1"/>
              </p:cNvSpPr>
              <p:nvPr/>
            </p:nvSpPr>
            <p:spPr bwMode="auto">
              <a:xfrm rot="5400000" flipV="1">
                <a:off x="2006" y="2482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69" name="Line 29"/>
              <p:cNvSpPr>
                <a:spLocks noChangeShapeType="1"/>
              </p:cNvSpPr>
              <p:nvPr/>
            </p:nvSpPr>
            <p:spPr bwMode="auto">
              <a:xfrm rot="8093792" flipV="1">
                <a:off x="1190" y="2290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70" name="Line 30"/>
              <p:cNvSpPr>
                <a:spLocks noChangeShapeType="1"/>
              </p:cNvSpPr>
              <p:nvPr/>
            </p:nvSpPr>
            <p:spPr bwMode="auto">
              <a:xfrm rot="8219172" flipV="1">
                <a:off x="2149" y="3605"/>
                <a:ext cx="215" cy="2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71" name="Text Box 31"/>
              <p:cNvSpPr txBox="1">
                <a:spLocks noChangeArrowheads="1"/>
              </p:cNvSpPr>
              <p:nvPr/>
            </p:nvSpPr>
            <p:spPr bwMode="auto">
              <a:xfrm>
                <a:off x="1285" y="3870"/>
                <a:ext cx="281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291872" name="Text Box 32"/>
              <p:cNvSpPr txBox="1">
                <a:spLocks noChangeArrowheads="1"/>
              </p:cNvSpPr>
              <p:nvPr/>
            </p:nvSpPr>
            <p:spPr bwMode="auto">
              <a:xfrm>
                <a:off x="1902" y="3888"/>
                <a:ext cx="282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–</a:t>
                </a:r>
              </a:p>
            </p:txBody>
          </p:sp>
          <p:sp>
            <p:nvSpPr>
              <p:cNvPr id="291873" name="Text Box 33"/>
              <p:cNvSpPr txBox="1">
                <a:spLocks noChangeArrowheads="1"/>
              </p:cNvSpPr>
              <p:nvPr/>
            </p:nvSpPr>
            <p:spPr bwMode="auto">
              <a:xfrm>
                <a:off x="354" y="2292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291874" name="Text Box 34"/>
              <p:cNvSpPr txBox="1">
                <a:spLocks noChangeArrowheads="1"/>
              </p:cNvSpPr>
              <p:nvPr/>
            </p:nvSpPr>
            <p:spPr bwMode="auto">
              <a:xfrm>
                <a:off x="1074" y="2340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3</a:t>
                </a:r>
                <a:endParaRPr lang="en-US" altLang="zh-CN"/>
              </a:p>
            </p:txBody>
          </p:sp>
          <p:sp>
            <p:nvSpPr>
              <p:cNvPr id="291875" name="Text Box 35"/>
              <p:cNvSpPr txBox="1">
                <a:spLocks noChangeArrowheads="1"/>
              </p:cNvSpPr>
              <p:nvPr/>
            </p:nvSpPr>
            <p:spPr bwMode="auto">
              <a:xfrm>
                <a:off x="2070" y="2352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4</a:t>
                </a:r>
                <a:endParaRPr lang="en-US" altLang="zh-CN"/>
              </a:p>
            </p:txBody>
          </p:sp>
          <p:sp>
            <p:nvSpPr>
              <p:cNvPr id="291876" name="Text Box 36"/>
              <p:cNvSpPr txBox="1">
                <a:spLocks noChangeArrowheads="1"/>
              </p:cNvSpPr>
              <p:nvPr/>
            </p:nvSpPr>
            <p:spPr bwMode="auto">
              <a:xfrm>
                <a:off x="924" y="3324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291877" name="Text Box 37"/>
              <p:cNvSpPr txBox="1">
                <a:spLocks noChangeArrowheads="1"/>
              </p:cNvSpPr>
              <p:nvPr/>
            </p:nvSpPr>
            <p:spPr bwMode="auto">
              <a:xfrm>
                <a:off x="1908" y="3090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5</a:t>
                </a:r>
                <a:endParaRPr lang="en-US" altLang="zh-CN"/>
              </a:p>
            </p:txBody>
          </p:sp>
          <p:sp>
            <p:nvSpPr>
              <p:cNvPr id="291878" name="Text Box 38"/>
              <p:cNvSpPr txBox="1">
                <a:spLocks noChangeArrowheads="1"/>
              </p:cNvSpPr>
              <p:nvPr/>
            </p:nvSpPr>
            <p:spPr bwMode="auto">
              <a:xfrm>
                <a:off x="2274" y="3565"/>
                <a:ext cx="306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6</a:t>
                </a:r>
                <a:endParaRPr lang="en-US" altLang="zh-CN"/>
              </a:p>
            </p:txBody>
          </p:sp>
          <p:sp>
            <p:nvSpPr>
              <p:cNvPr id="291879" name="Text Box 39"/>
              <p:cNvSpPr txBox="1">
                <a:spLocks noChangeArrowheads="1"/>
              </p:cNvSpPr>
              <p:nvPr/>
            </p:nvSpPr>
            <p:spPr bwMode="auto">
              <a:xfrm>
                <a:off x="1578" y="3954"/>
                <a:ext cx="306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v</a:t>
                </a:r>
                <a:r>
                  <a:rPr lang="en-US" altLang="zh-CN" baseline="-25000"/>
                  <a:t>S</a:t>
                </a:r>
                <a:endParaRPr lang="en-US" altLang="zh-CN"/>
              </a:p>
            </p:txBody>
          </p:sp>
        </p:grpSp>
        <p:grpSp>
          <p:nvGrpSpPr>
            <p:cNvPr id="291880" name="Group 40"/>
            <p:cNvGrpSpPr>
              <a:grpSpLocks/>
            </p:cNvGrpSpPr>
            <p:nvPr/>
          </p:nvGrpSpPr>
          <p:grpSpPr bwMode="auto">
            <a:xfrm>
              <a:off x="204" y="1080"/>
              <a:ext cx="228" cy="281"/>
              <a:chOff x="2316" y="2388"/>
              <a:chExt cx="228" cy="281"/>
            </a:xfrm>
          </p:grpSpPr>
          <p:sp>
            <p:nvSpPr>
              <p:cNvPr id="291881" name="Text Box 41"/>
              <p:cNvSpPr txBox="1">
                <a:spLocks noChangeArrowheads="1"/>
              </p:cNvSpPr>
              <p:nvPr/>
            </p:nvSpPr>
            <p:spPr bwMode="auto">
              <a:xfrm>
                <a:off x="2316" y="2388"/>
                <a:ext cx="228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291882" name="Oval 42"/>
              <p:cNvSpPr>
                <a:spLocks noChangeArrowheads="1"/>
              </p:cNvSpPr>
              <p:nvPr/>
            </p:nvSpPr>
            <p:spPr bwMode="auto">
              <a:xfrm>
                <a:off x="2328" y="2436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1883" name="Group 43"/>
            <p:cNvGrpSpPr>
              <a:grpSpLocks/>
            </p:cNvGrpSpPr>
            <p:nvPr/>
          </p:nvGrpSpPr>
          <p:grpSpPr bwMode="auto">
            <a:xfrm>
              <a:off x="1188" y="180"/>
              <a:ext cx="228" cy="282"/>
              <a:chOff x="2748" y="2460"/>
              <a:chExt cx="228" cy="282"/>
            </a:xfrm>
          </p:grpSpPr>
          <p:sp>
            <p:nvSpPr>
              <p:cNvPr id="291884" name="Text Box 44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2</a:t>
                </a:r>
              </a:p>
            </p:txBody>
          </p:sp>
          <p:sp>
            <p:nvSpPr>
              <p:cNvPr id="291885" name="Oval 45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1886" name="Group 46"/>
            <p:cNvGrpSpPr>
              <a:grpSpLocks/>
            </p:cNvGrpSpPr>
            <p:nvPr/>
          </p:nvGrpSpPr>
          <p:grpSpPr bwMode="auto">
            <a:xfrm>
              <a:off x="2136" y="1092"/>
              <a:ext cx="228" cy="282"/>
              <a:chOff x="2748" y="2460"/>
              <a:chExt cx="228" cy="282"/>
            </a:xfrm>
          </p:grpSpPr>
          <p:sp>
            <p:nvSpPr>
              <p:cNvPr id="291887" name="Text Box 47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3</a:t>
                </a:r>
              </a:p>
            </p:txBody>
          </p:sp>
          <p:sp>
            <p:nvSpPr>
              <p:cNvPr id="291888" name="Oval 48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1889" name="Group 49"/>
            <p:cNvGrpSpPr>
              <a:grpSpLocks/>
            </p:cNvGrpSpPr>
            <p:nvPr/>
          </p:nvGrpSpPr>
          <p:grpSpPr bwMode="auto">
            <a:xfrm>
              <a:off x="1296" y="1848"/>
              <a:ext cx="228" cy="282"/>
              <a:chOff x="2748" y="2460"/>
              <a:chExt cx="228" cy="282"/>
            </a:xfrm>
          </p:grpSpPr>
          <p:sp>
            <p:nvSpPr>
              <p:cNvPr id="291890" name="Text Box 50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4</a:t>
                </a:r>
              </a:p>
            </p:txBody>
          </p:sp>
          <p:sp>
            <p:nvSpPr>
              <p:cNvPr id="291891" name="Oval 51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91892" name="Group 52"/>
          <p:cNvGrpSpPr>
            <a:grpSpLocks/>
          </p:cNvGrpSpPr>
          <p:nvPr/>
        </p:nvGrpSpPr>
        <p:grpSpPr bwMode="auto">
          <a:xfrm>
            <a:off x="1093788" y="971550"/>
            <a:ext cx="7231062" cy="3133725"/>
            <a:chOff x="689" y="336"/>
            <a:chExt cx="4555" cy="1974"/>
          </a:xfrm>
        </p:grpSpPr>
        <p:grpSp>
          <p:nvGrpSpPr>
            <p:cNvPr id="291893" name="Group 53"/>
            <p:cNvGrpSpPr>
              <a:grpSpLocks/>
            </p:cNvGrpSpPr>
            <p:nvPr/>
          </p:nvGrpSpPr>
          <p:grpSpPr bwMode="auto">
            <a:xfrm>
              <a:off x="689" y="1860"/>
              <a:ext cx="1219" cy="450"/>
              <a:chOff x="2327" y="2868"/>
              <a:chExt cx="1219" cy="450"/>
            </a:xfrm>
          </p:grpSpPr>
          <p:sp>
            <p:nvSpPr>
              <p:cNvPr id="291894" name="Freeform 54"/>
              <p:cNvSpPr>
                <a:spLocks/>
              </p:cNvSpPr>
              <p:nvPr/>
            </p:nvSpPr>
            <p:spPr bwMode="auto">
              <a:xfrm>
                <a:off x="2327" y="2868"/>
                <a:ext cx="1219" cy="417"/>
              </a:xfrm>
              <a:custGeom>
                <a:avLst/>
                <a:gdLst>
                  <a:gd name="T0" fmla="*/ 49 w 1219"/>
                  <a:gd name="T1" fmla="*/ 156 h 417"/>
                  <a:gd name="T2" fmla="*/ 67 w 1219"/>
                  <a:gd name="T3" fmla="*/ 54 h 417"/>
                  <a:gd name="T4" fmla="*/ 451 w 1219"/>
                  <a:gd name="T5" fmla="*/ 216 h 417"/>
                  <a:gd name="T6" fmla="*/ 865 w 1219"/>
                  <a:gd name="T7" fmla="*/ 186 h 417"/>
                  <a:gd name="T8" fmla="*/ 1189 w 1219"/>
                  <a:gd name="T9" fmla="*/ 12 h 417"/>
                  <a:gd name="T10" fmla="*/ 1045 w 1219"/>
                  <a:gd name="T11" fmla="*/ 258 h 417"/>
                  <a:gd name="T12" fmla="*/ 727 w 1219"/>
                  <a:gd name="T13" fmla="*/ 390 h 417"/>
                  <a:gd name="T14" fmla="*/ 403 w 1219"/>
                  <a:gd name="T15" fmla="*/ 390 h 417"/>
                  <a:gd name="T16" fmla="*/ 115 w 1219"/>
                  <a:gd name="T17" fmla="*/ 228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9" h="417">
                    <a:moveTo>
                      <a:pt x="49" y="156"/>
                    </a:moveTo>
                    <a:cubicBezTo>
                      <a:pt x="52" y="140"/>
                      <a:pt x="0" y="44"/>
                      <a:pt x="67" y="54"/>
                    </a:cubicBezTo>
                    <a:cubicBezTo>
                      <a:pt x="134" y="64"/>
                      <a:pt x="318" y="194"/>
                      <a:pt x="451" y="216"/>
                    </a:cubicBezTo>
                    <a:cubicBezTo>
                      <a:pt x="584" y="238"/>
                      <a:pt x="742" y="220"/>
                      <a:pt x="865" y="186"/>
                    </a:cubicBezTo>
                    <a:cubicBezTo>
                      <a:pt x="988" y="152"/>
                      <a:pt x="1159" y="0"/>
                      <a:pt x="1189" y="12"/>
                    </a:cubicBezTo>
                    <a:cubicBezTo>
                      <a:pt x="1219" y="24"/>
                      <a:pt x="1122" y="195"/>
                      <a:pt x="1045" y="258"/>
                    </a:cubicBezTo>
                    <a:cubicBezTo>
                      <a:pt x="968" y="321"/>
                      <a:pt x="834" y="368"/>
                      <a:pt x="727" y="390"/>
                    </a:cubicBezTo>
                    <a:cubicBezTo>
                      <a:pt x="620" y="412"/>
                      <a:pt x="505" y="417"/>
                      <a:pt x="403" y="390"/>
                    </a:cubicBezTo>
                    <a:cubicBezTo>
                      <a:pt x="301" y="363"/>
                      <a:pt x="175" y="262"/>
                      <a:pt x="115" y="228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95" name="Text Box 55"/>
              <p:cNvSpPr txBox="1">
                <a:spLocks noChangeArrowheads="1"/>
              </p:cNvSpPr>
              <p:nvPr/>
            </p:nvSpPr>
            <p:spPr bwMode="auto">
              <a:xfrm>
                <a:off x="2856" y="3030"/>
                <a:ext cx="22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</a:rPr>
                  <a:t>3</a:t>
                </a:r>
                <a:endParaRPr lang="en-US" altLang="zh-CN"/>
              </a:p>
            </p:txBody>
          </p:sp>
        </p:grpSp>
        <p:sp>
          <p:nvSpPr>
            <p:cNvPr id="291896" name="Text Box 56"/>
            <p:cNvSpPr txBox="1">
              <a:spLocks noChangeArrowheads="1"/>
            </p:cNvSpPr>
            <p:nvPr/>
          </p:nvSpPr>
          <p:spPr bwMode="auto">
            <a:xfrm>
              <a:off x="2508" y="336"/>
              <a:ext cx="273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6667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/>
                <a:t>        </a:t>
              </a:r>
              <a:r>
                <a:rPr lang="zh-CN" altLang="en-US"/>
                <a:t>选定图示的</a:t>
              </a:r>
              <a:r>
                <a:rPr lang="en-US" altLang="zh-CN"/>
                <a:t>3</a:t>
              </a:r>
              <a:r>
                <a:rPr lang="zh-CN" altLang="en-US"/>
                <a:t>个回路列写</a:t>
              </a:r>
              <a:r>
                <a:rPr lang="en-US" altLang="zh-CN"/>
                <a:t>KVL</a:t>
              </a:r>
              <a:r>
                <a:rPr lang="zh-CN" altLang="en-US"/>
                <a:t>方程。</a:t>
              </a:r>
            </a:p>
          </p:txBody>
        </p:sp>
        <p:grpSp>
          <p:nvGrpSpPr>
            <p:cNvPr id="291897" name="Group 57"/>
            <p:cNvGrpSpPr>
              <a:grpSpLocks/>
            </p:cNvGrpSpPr>
            <p:nvPr/>
          </p:nvGrpSpPr>
          <p:grpSpPr bwMode="auto">
            <a:xfrm>
              <a:off x="792" y="972"/>
              <a:ext cx="336" cy="516"/>
              <a:chOff x="2952" y="2232"/>
              <a:chExt cx="384" cy="996"/>
            </a:xfrm>
          </p:grpSpPr>
          <p:sp>
            <p:nvSpPr>
              <p:cNvPr id="291898" name="Oval 58"/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899" name="Text Box 59"/>
              <p:cNvSpPr txBox="1">
                <a:spLocks noChangeArrowheads="1"/>
              </p:cNvSpPr>
              <p:nvPr/>
            </p:nvSpPr>
            <p:spPr bwMode="auto">
              <a:xfrm>
                <a:off x="3025" y="2570"/>
                <a:ext cx="264" cy="5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</a:p>
            </p:txBody>
          </p:sp>
          <p:sp>
            <p:nvSpPr>
              <p:cNvPr id="291900" name="Line 60"/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1901" name="Group 61"/>
            <p:cNvGrpSpPr>
              <a:grpSpLocks/>
            </p:cNvGrpSpPr>
            <p:nvPr/>
          </p:nvGrpSpPr>
          <p:grpSpPr bwMode="auto">
            <a:xfrm>
              <a:off x="1500" y="936"/>
              <a:ext cx="324" cy="552"/>
              <a:chOff x="2952" y="2232"/>
              <a:chExt cx="384" cy="996"/>
            </a:xfrm>
          </p:grpSpPr>
          <p:sp>
            <p:nvSpPr>
              <p:cNvPr id="291902" name="Oval 62"/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1903" name="Text Box 63"/>
              <p:cNvSpPr txBox="1">
                <a:spLocks noChangeArrowheads="1"/>
              </p:cNvSpPr>
              <p:nvPr/>
            </p:nvSpPr>
            <p:spPr bwMode="auto">
              <a:xfrm>
                <a:off x="3025" y="2568"/>
                <a:ext cx="264" cy="5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291904" name="Line 64"/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91905" name="Group 65"/>
          <p:cNvGrpSpPr>
            <a:grpSpLocks/>
          </p:cNvGrpSpPr>
          <p:nvPr/>
        </p:nvGrpSpPr>
        <p:grpSpPr bwMode="auto">
          <a:xfrm>
            <a:off x="4495800" y="2343150"/>
            <a:ext cx="4229100" cy="1763713"/>
            <a:chOff x="2832" y="1200"/>
            <a:chExt cx="2664" cy="1111"/>
          </a:xfrm>
        </p:grpSpPr>
        <p:sp>
          <p:nvSpPr>
            <p:cNvPr id="291906" name="Text Box 66"/>
            <p:cNvSpPr txBox="1">
              <a:spLocks noChangeArrowheads="1"/>
            </p:cNvSpPr>
            <p:nvPr/>
          </p:nvSpPr>
          <p:spPr bwMode="auto">
            <a:xfrm>
              <a:off x="2832" y="1984"/>
              <a:ext cx="26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i="1"/>
                <a:t>R</a:t>
              </a:r>
              <a:r>
                <a:rPr lang="en-US" altLang="zh-CN" sz="2800" baseline="-25000"/>
                <a:t>1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1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5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5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6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6 </a:t>
              </a:r>
              <a:r>
                <a:rPr lang="en-US" altLang="zh-CN" sz="2800"/>
                <a:t>–</a:t>
              </a:r>
              <a:r>
                <a:rPr lang="en-US" altLang="zh-CN" sz="2800" i="1"/>
                <a:t>v</a:t>
              </a:r>
              <a:r>
                <a:rPr lang="en-US" altLang="zh-CN" sz="2800" baseline="-25000"/>
                <a:t>S</a:t>
              </a:r>
              <a:r>
                <a:rPr lang="en-US" altLang="zh-CN" sz="2800"/>
                <a:t> = 0</a:t>
              </a:r>
              <a:endParaRPr lang="en-US" altLang="zh-CN"/>
            </a:p>
          </p:txBody>
        </p:sp>
        <p:sp>
          <p:nvSpPr>
            <p:cNvPr id="291907" name="Rectangle 67"/>
            <p:cNvSpPr>
              <a:spLocks noChangeArrowheads="1"/>
            </p:cNvSpPr>
            <p:nvPr/>
          </p:nvSpPr>
          <p:spPr bwMode="auto">
            <a:xfrm>
              <a:off x="2832" y="1200"/>
              <a:ext cx="22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/>
                <a:t>–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1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1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2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2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3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3</a:t>
              </a:r>
              <a:r>
                <a:rPr lang="en-US" altLang="zh-CN" sz="2800"/>
                <a:t> = 0</a:t>
              </a:r>
            </a:p>
          </p:txBody>
        </p:sp>
        <p:sp>
          <p:nvSpPr>
            <p:cNvPr id="291908" name="Rectangle 68"/>
            <p:cNvSpPr>
              <a:spLocks noChangeArrowheads="1"/>
            </p:cNvSpPr>
            <p:nvPr/>
          </p:nvSpPr>
          <p:spPr bwMode="auto">
            <a:xfrm>
              <a:off x="2832" y="1605"/>
              <a:ext cx="2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dirty="0"/>
                <a:t>–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3 </a:t>
              </a:r>
              <a:r>
                <a:rPr lang="en-US" altLang="zh-CN" sz="2800" i="1" dirty="0"/>
                <a:t>i</a:t>
              </a:r>
              <a:r>
                <a:rPr lang="en-US" altLang="zh-CN" sz="2800" baseline="-25000" dirty="0"/>
                <a:t>3</a:t>
              </a:r>
              <a:r>
                <a:rPr lang="en-US" altLang="zh-CN" sz="2800" dirty="0"/>
                <a:t> + 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4 </a:t>
              </a:r>
              <a:r>
                <a:rPr lang="en-US" altLang="zh-CN" sz="2800" i="1" dirty="0"/>
                <a:t>i</a:t>
              </a:r>
              <a:r>
                <a:rPr lang="en-US" altLang="zh-CN" sz="2800" baseline="-25000" dirty="0"/>
                <a:t>4</a:t>
              </a:r>
              <a:r>
                <a:rPr lang="en-US" altLang="zh-CN" sz="2800" dirty="0"/>
                <a:t> – </a:t>
              </a:r>
              <a:r>
                <a:rPr lang="en-US" altLang="zh-CN" sz="2800" i="1" dirty="0"/>
                <a:t>R</a:t>
              </a:r>
              <a:r>
                <a:rPr lang="en-US" altLang="zh-CN" sz="2800" baseline="-25000" dirty="0"/>
                <a:t>5 </a:t>
              </a:r>
              <a:r>
                <a:rPr lang="en-US" altLang="zh-CN" sz="2800" i="1" dirty="0"/>
                <a:t>i</a:t>
              </a:r>
              <a:r>
                <a:rPr lang="en-US" altLang="zh-CN" sz="2800" baseline="-25000" dirty="0"/>
                <a:t>5</a:t>
              </a:r>
              <a:r>
                <a:rPr lang="en-US" altLang="zh-CN" sz="2800" dirty="0"/>
                <a:t> = 0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66" name="Group 2"/>
          <p:cNvGrpSpPr>
            <a:grpSpLocks/>
          </p:cNvGrpSpPr>
          <p:nvPr/>
        </p:nvGrpSpPr>
        <p:grpSpPr bwMode="auto">
          <a:xfrm>
            <a:off x="4152900" y="802820"/>
            <a:ext cx="3714750" cy="1544638"/>
            <a:chOff x="2616" y="480"/>
            <a:chExt cx="2340" cy="973"/>
          </a:xfrm>
        </p:grpSpPr>
        <p:sp>
          <p:nvSpPr>
            <p:cNvPr id="292867" name="Text Box 3"/>
            <p:cNvSpPr txBox="1">
              <a:spLocks noChangeArrowheads="1"/>
            </p:cNvSpPr>
            <p:nvPr/>
          </p:nvSpPr>
          <p:spPr bwMode="auto">
            <a:xfrm>
              <a:off x="2616" y="480"/>
              <a:ext cx="1548" cy="9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</a:pPr>
              <a:r>
                <a:rPr lang="en-US" altLang="en-US" i="1"/>
                <a:t>  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1</a:t>
              </a:r>
              <a:r>
                <a:rPr lang="en-US" altLang="zh-CN" sz="2800"/>
                <a:t> +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2</a:t>
              </a:r>
              <a:r>
                <a:rPr lang="en-US" altLang="zh-CN" sz="2800"/>
                <a:t> –</a:t>
              </a:r>
              <a:r>
                <a:rPr lang="en-US" altLang="zh-CN" sz="2800" i="1"/>
                <a:t> i</a:t>
              </a:r>
              <a:r>
                <a:rPr lang="en-US" altLang="zh-CN" sz="2800" baseline="-25000"/>
                <a:t>6</a:t>
              </a:r>
              <a:r>
                <a:rPr lang="en-US" altLang="zh-CN" sz="2800"/>
                <a:t> =0</a:t>
              </a:r>
            </a:p>
            <a:p>
              <a:pPr algn="l">
                <a:spcBef>
                  <a:spcPct val="20000"/>
                </a:spcBef>
              </a:pPr>
              <a:r>
                <a:rPr lang="en-US" altLang="zh-CN" sz="2800"/>
                <a:t>–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2</a:t>
              </a:r>
              <a:r>
                <a:rPr lang="en-US" altLang="zh-CN" sz="2800"/>
                <a:t> +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3</a:t>
              </a:r>
              <a:r>
                <a:rPr lang="en-US" altLang="zh-CN" sz="2800"/>
                <a:t> +</a:t>
              </a:r>
              <a:r>
                <a:rPr lang="en-US" altLang="zh-CN" sz="2800" i="1"/>
                <a:t> i</a:t>
              </a:r>
              <a:r>
                <a:rPr lang="en-US" altLang="zh-CN" sz="2800" baseline="-25000"/>
                <a:t>4</a:t>
              </a:r>
              <a:r>
                <a:rPr lang="en-US" altLang="zh-CN" sz="2800"/>
                <a:t> =0</a:t>
              </a:r>
            </a:p>
            <a:p>
              <a:pPr algn="l">
                <a:spcBef>
                  <a:spcPct val="20000"/>
                </a:spcBef>
              </a:pPr>
              <a:r>
                <a:rPr lang="en-US" altLang="zh-CN" sz="2800"/>
                <a:t>–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4</a:t>
              </a:r>
              <a:r>
                <a:rPr lang="en-US" altLang="zh-CN" sz="2800"/>
                <a:t> –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5</a:t>
              </a:r>
              <a:r>
                <a:rPr lang="en-US" altLang="zh-CN" sz="2800"/>
                <a:t> +</a:t>
              </a:r>
              <a:r>
                <a:rPr lang="en-US" altLang="zh-CN" sz="2800" i="1"/>
                <a:t> i</a:t>
              </a:r>
              <a:r>
                <a:rPr lang="en-US" altLang="zh-CN" sz="2800" baseline="-25000"/>
                <a:t>6</a:t>
              </a:r>
              <a:r>
                <a:rPr lang="en-US" altLang="zh-CN" sz="2800"/>
                <a:t> =0</a:t>
              </a:r>
            </a:p>
          </p:txBody>
        </p:sp>
        <p:grpSp>
          <p:nvGrpSpPr>
            <p:cNvPr id="292868" name="Group 4"/>
            <p:cNvGrpSpPr>
              <a:grpSpLocks/>
            </p:cNvGrpSpPr>
            <p:nvPr/>
          </p:nvGrpSpPr>
          <p:grpSpPr bwMode="auto">
            <a:xfrm>
              <a:off x="4080" y="636"/>
              <a:ext cx="876" cy="732"/>
              <a:chOff x="1812" y="624"/>
              <a:chExt cx="876" cy="888"/>
            </a:xfrm>
          </p:grpSpPr>
          <p:sp>
            <p:nvSpPr>
              <p:cNvPr id="292869" name="AutoShape 5"/>
              <p:cNvSpPr>
                <a:spLocks/>
              </p:cNvSpPr>
              <p:nvPr/>
            </p:nvSpPr>
            <p:spPr bwMode="auto">
              <a:xfrm>
                <a:off x="1812" y="624"/>
                <a:ext cx="132" cy="888"/>
              </a:xfrm>
              <a:prstGeom prst="rightBrace">
                <a:avLst>
                  <a:gd name="adj1" fmla="val 56061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70" name="Text Box 6"/>
              <p:cNvSpPr txBox="1">
                <a:spLocks noChangeArrowheads="1"/>
              </p:cNvSpPr>
              <p:nvPr/>
            </p:nvSpPr>
            <p:spPr bwMode="auto">
              <a:xfrm>
                <a:off x="2028" y="902"/>
                <a:ext cx="660" cy="3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dirty="0"/>
                  <a:t>KCL</a:t>
                </a:r>
              </a:p>
            </p:txBody>
          </p:sp>
        </p:grpSp>
      </p:grpSp>
      <p:grpSp>
        <p:nvGrpSpPr>
          <p:cNvPr id="292871" name="Group 7"/>
          <p:cNvGrpSpPr>
            <a:grpSpLocks/>
          </p:cNvGrpSpPr>
          <p:nvPr/>
        </p:nvGrpSpPr>
        <p:grpSpPr bwMode="auto">
          <a:xfrm>
            <a:off x="3867150" y="2865660"/>
            <a:ext cx="5295900" cy="1801813"/>
            <a:chOff x="2436" y="1584"/>
            <a:chExt cx="3336" cy="1135"/>
          </a:xfrm>
        </p:grpSpPr>
        <p:sp>
          <p:nvSpPr>
            <p:cNvPr id="292872" name="Text Box 8"/>
            <p:cNvSpPr txBox="1">
              <a:spLocks noChangeArrowheads="1"/>
            </p:cNvSpPr>
            <p:nvPr/>
          </p:nvSpPr>
          <p:spPr bwMode="auto">
            <a:xfrm>
              <a:off x="2436" y="1584"/>
              <a:ext cx="2664" cy="1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/>
                <a:t>–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1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1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2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2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3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3</a:t>
              </a:r>
              <a:r>
                <a:rPr lang="en-US" altLang="zh-CN" sz="2800"/>
                <a:t> = 0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2800"/>
                <a:t>–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3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3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4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4</a:t>
              </a:r>
              <a:r>
                <a:rPr lang="en-US" altLang="zh-CN" sz="2800"/>
                <a:t> –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5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5</a:t>
              </a:r>
              <a:r>
                <a:rPr lang="en-US" altLang="zh-CN" sz="2800"/>
                <a:t> = 0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2800"/>
                <a:t>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1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1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5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5</a:t>
              </a:r>
              <a:r>
                <a:rPr lang="en-US" altLang="zh-CN" sz="2800"/>
                <a:t> + </a:t>
              </a:r>
              <a:r>
                <a:rPr lang="en-US" altLang="zh-CN" sz="2800" i="1"/>
                <a:t>R</a:t>
              </a:r>
              <a:r>
                <a:rPr lang="en-US" altLang="zh-CN" sz="2800" baseline="-25000"/>
                <a:t>6 </a:t>
              </a:r>
              <a:r>
                <a:rPr lang="en-US" altLang="zh-CN" sz="2800" i="1"/>
                <a:t>i</a:t>
              </a:r>
              <a:r>
                <a:rPr lang="en-US" altLang="zh-CN" sz="2800" baseline="-25000"/>
                <a:t>6 </a:t>
              </a:r>
              <a:r>
                <a:rPr lang="en-US" altLang="zh-CN" sz="2800"/>
                <a:t>–</a:t>
              </a:r>
              <a:r>
                <a:rPr lang="en-US" altLang="zh-CN" sz="2800" i="1"/>
                <a:t>v</a:t>
              </a:r>
              <a:r>
                <a:rPr lang="en-US" altLang="zh-CN" sz="2800" i="1" baseline="-25000"/>
                <a:t>S</a:t>
              </a:r>
              <a:r>
                <a:rPr lang="en-US" altLang="zh-CN" sz="2800"/>
                <a:t> = 0</a:t>
              </a:r>
              <a:endParaRPr lang="en-US" altLang="zh-CN"/>
            </a:p>
          </p:txBody>
        </p:sp>
        <p:grpSp>
          <p:nvGrpSpPr>
            <p:cNvPr id="292873" name="Group 9"/>
            <p:cNvGrpSpPr>
              <a:grpSpLocks/>
            </p:cNvGrpSpPr>
            <p:nvPr/>
          </p:nvGrpSpPr>
          <p:grpSpPr bwMode="auto">
            <a:xfrm>
              <a:off x="5040" y="1764"/>
              <a:ext cx="732" cy="864"/>
              <a:chOff x="2676" y="1764"/>
              <a:chExt cx="732" cy="864"/>
            </a:xfrm>
          </p:grpSpPr>
          <p:sp>
            <p:nvSpPr>
              <p:cNvPr id="292874" name="AutoShape 10"/>
              <p:cNvSpPr>
                <a:spLocks/>
              </p:cNvSpPr>
              <p:nvPr/>
            </p:nvSpPr>
            <p:spPr bwMode="auto">
              <a:xfrm>
                <a:off x="2676" y="1764"/>
                <a:ext cx="156" cy="864"/>
              </a:xfrm>
              <a:prstGeom prst="rightBrace">
                <a:avLst>
                  <a:gd name="adj1" fmla="val 46154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75" name="Text Box 11"/>
              <p:cNvSpPr txBox="1">
                <a:spLocks noChangeArrowheads="1"/>
              </p:cNvSpPr>
              <p:nvPr/>
            </p:nvSpPr>
            <p:spPr bwMode="auto">
              <a:xfrm>
                <a:off x="2832" y="2052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dirty="0"/>
                  <a:t>KVL</a:t>
                </a:r>
              </a:p>
            </p:txBody>
          </p:sp>
        </p:grpSp>
      </p:grpSp>
      <p:grpSp>
        <p:nvGrpSpPr>
          <p:cNvPr id="292876" name="Group 12"/>
          <p:cNvGrpSpPr>
            <a:grpSpLocks/>
          </p:cNvGrpSpPr>
          <p:nvPr/>
        </p:nvGrpSpPr>
        <p:grpSpPr bwMode="auto">
          <a:xfrm>
            <a:off x="323850" y="326570"/>
            <a:ext cx="3667125" cy="4060825"/>
            <a:chOff x="204" y="180"/>
            <a:chExt cx="2274" cy="2501"/>
          </a:xfrm>
        </p:grpSpPr>
        <p:grpSp>
          <p:nvGrpSpPr>
            <p:cNvPr id="292877" name="Group 13"/>
            <p:cNvGrpSpPr>
              <a:grpSpLocks/>
            </p:cNvGrpSpPr>
            <p:nvPr/>
          </p:nvGrpSpPr>
          <p:grpSpPr bwMode="auto">
            <a:xfrm>
              <a:off x="252" y="480"/>
              <a:ext cx="2226" cy="2201"/>
              <a:chOff x="354" y="2034"/>
              <a:chExt cx="2226" cy="2201"/>
            </a:xfrm>
          </p:grpSpPr>
          <p:sp>
            <p:nvSpPr>
              <p:cNvPr id="292878" name="Line 14"/>
              <p:cNvSpPr>
                <a:spLocks noChangeShapeType="1"/>
              </p:cNvSpPr>
              <p:nvPr/>
            </p:nvSpPr>
            <p:spPr bwMode="auto">
              <a:xfrm>
                <a:off x="1386" y="2034"/>
                <a:ext cx="0" cy="14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79" name="Line 15"/>
              <p:cNvSpPr>
                <a:spLocks noChangeShapeType="1"/>
              </p:cNvSpPr>
              <p:nvPr/>
            </p:nvSpPr>
            <p:spPr bwMode="auto">
              <a:xfrm>
                <a:off x="1386" y="2034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80" name="Line 16"/>
              <p:cNvSpPr>
                <a:spLocks noChangeShapeType="1"/>
              </p:cNvSpPr>
              <p:nvPr/>
            </p:nvSpPr>
            <p:spPr bwMode="auto">
              <a:xfrm>
                <a:off x="594" y="2759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81" name="Line 17"/>
              <p:cNvSpPr>
                <a:spLocks noChangeShapeType="1"/>
              </p:cNvSpPr>
              <p:nvPr/>
            </p:nvSpPr>
            <p:spPr bwMode="auto">
              <a:xfrm flipH="1">
                <a:off x="1386" y="2759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82" name="Line 18"/>
              <p:cNvSpPr>
                <a:spLocks noChangeShapeType="1"/>
              </p:cNvSpPr>
              <p:nvPr/>
            </p:nvSpPr>
            <p:spPr bwMode="auto">
              <a:xfrm flipH="1">
                <a:off x="594" y="2034"/>
                <a:ext cx="792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83" name="Freeform 19"/>
              <p:cNvSpPr>
                <a:spLocks/>
              </p:cNvSpPr>
              <p:nvPr/>
            </p:nvSpPr>
            <p:spPr bwMode="auto">
              <a:xfrm>
                <a:off x="594" y="2759"/>
                <a:ext cx="1" cy="1135"/>
              </a:xfrm>
              <a:custGeom>
                <a:avLst/>
                <a:gdLst>
                  <a:gd name="T0" fmla="*/ 0 w 1"/>
                  <a:gd name="T1" fmla="*/ 0 h 1135"/>
                  <a:gd name="T2" fmla="*/ 0 w 1"/>
                  <a:gd name="T3" fmla="*/ 1135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35">
                    <a:moveTo>
                      <a:pt x="0" y="0"/>
                    </a:moveTo>
                    <a:lnTo>
                      <a:pt x="0" y="113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84" name="Freeform 20"/>
              <p:cNvSpPr>
                <a:spLocks/>
              </p:cNvSpPr>
              <p:nvPr/>
            </p:nvSpPr>
            <p:spPr bwMode="auto">
              <a:xfrm>
                <a:off x="2178" y="2759"/>
                <a:ext cx="1" cy="1141"/>
              </a:xfrm>
              <a:custGeom>
                <a:avLst/>
                <a:gdLst>
                  <a:gd name="T0" fmla="*/ 0 w 1"/>
                  <a:gd name="T1" fmla="*/ 0 h 1141"/>
                  <a:gd name="T2" fmla="*/ 0 w 1"/>
                  <a:gd name="T3" fmla="*/ 1141 h 1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41">
                    <a:moveTo>
                      <a:pt x="0" y="0"/>
                    </a:moveTo>
                    <a:lnTo>
                      <a:pt x="0" y="114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85" name="Line 21"/>
              <p:cNvSpPr>
                <a:spLocks noChangeShapeType="1"/>
              </p:cNvSpPr>
              <p:nvPr/>
            </p:nvSpPr>
            <p:spPr bwMode="auto">
              <a:xfrm flipV="1">
                <a:off x="600" y="3888"/>
                <a:ext cx="15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86" name="Rectangle 22"/>
              <p:cNvSpPr>
                <a:spLocks noChangeArrowheads="1"/>
              </p:cNvSpPr>
              <p:nvPr/>
            </p:nvSpPr>
            <p:spPr bwMode="auto">
              <a:xfrm>
                <a:off x="1323" y="2661"/>
                <a:ext cx="108" cy="27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2887" name="Rectangle 23"/>
              <p:cNvSpPr>
                <a:spLocks noChangeArrowheads="1"/>
              </p:cNvSpPr>
              <p:nvPr/>
            </p:nvSpPr>
            <p:spPr bwMode="auto">
              <a:xfrm rot="3007029">
                <a:off x="923" y="2273"/>
                <a:ext cx="98" cy="27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2888" name="Rectangle 24"/>
              <p:cNvSpPr>
                <a:spLocks noChangeArrowheads="1"/>
              </p:cNvSpPr>
              <p:nvPr/>
            </p:nvSpPr>
            <p:spPr bwMode="auto">
              <a:xfrm rot="-2950827">
                <a:off x="1724" y="2255"/>
                <a:ext cx="101" cy="27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2889" name="Rectangle 25"/>
              <p:cNvSpPr>
                <a:spLocks noChangeArrowheads="1"/>
              </p:cNvSpPr>
              <p:nvPr/>
            </p:nvSpPr>
            <p:spPr bwMode="auto">
              <a:xfrm rot="3007029">
                <a:off x="1733" y="2993"/>
                <a:ext cx="98" cy="279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2890" name="Rectangle 26"/>
              <p:cNvSpPr>
                <a:spLocks noChangeArrowheads="1"/>
              </p:cNvSpPr>
              <p:nvPr/>
            </p:nvSpPr>
            <p:spPr bwMode="auto">
              <a:xfrm rot="-2950827">
                <a:off x="932" y="2987"/>
                <a:ext cx="101" cy="27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2891" name="Rectangle 27"/>
              <p:cNvSpPr>
                <a:spLocks noChangeArrowheads="1"/>
              </p:cNvSpPr>
              <p:nvPr/>
            </p:nvSpPr>
            <p:spPr bwMode="auto">
              <a:xfrm rot="5400000">
                <a:off x="951" y="3747"/>
                <a:ext cx="108" cy="27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2892" name="Oval 28"/>
              <p:cNvSpPr>
                <a:spLocks noChangeArrowheads="1"/>
              </p:cNvSpPr>
              <p:nvPr/>
            </p:nvSpPr>
            <p:spPr bwMode="auto">
              <a:xfrm>
                <a:off x="1566" y="3732"/>
                <a:ext cx="288" cy="31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893" name="Text Box 29"/>
              <p:cNvSpPr txBox="1">
                <a:spLocks noChangeArrowheads="1"/>
              </p:cNvSpPr>
              <p:nvPr/>
            </p:nvSpPr>
            <p:spPr bwMode="auto">
              <a:xfrm>
                <a:off x="672" y="3096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292894" name="Text Box 30"/>
              <p:cNvSpPr txBox="1">
                <a:spLocks noChangeArrowheads="1"/>
              </p:cNvSpPr>
              <p:nvPr/>
            </p:nvSpPr>
            <p:spPr bwMode="auto">
              <a:xfrm>
                <a:off x="654" y="2136"/>
                <a:ext cx="307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292895" name="Text Box 31"/>
              <p:cNvSpPr txBox="1">
                <a:spLocks noChangeArrowheads="1"/>
              </p:cNvSpPr>
              <p:nvPr/>
            </p:nvSpPr>
            <p:spPr bwMode="auto">
              <a:xfrm>
                <a:off x="1443" y="2658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/>
                  <a:t>R</a:t>
                </a:r>
                <a:r>
                  <a:rPr lang="en-US" altLang="zh-CN" baseline="-25000" dirty="0"/>
                  <a:t>3</a:t>
                </a:r>
                <a:endParaRPr lang="en-US" altLang="zh-CN" dirty="0"/>
              </a:p>
            </p:txBody>
          </p:sp>
          <p:sp>
            <p:nvSpPr>
              <p:cNvPr id="292896" name="Text Box 32"/>
              <p:cNvSpPr txBox="1">
                <a:spLocks noChangeArrowheads="1"/>
              </p:cNvSpPr>
              <p:nvPr/>
            </p:nvSpPr>
            <p:spPr bwMode="auto">
              <a:xfrm>
                <a:off x="1800" y="2124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4</a:t>
                </a:r>
                <a:endParaRPr lang="en-US" altLang="zh-CN"/>
              </a:p>
            </p:txBody>
          </p:sp>
          <p:sp>
            <p:nvSpPr>
              <p:cNvPr id="292897" name="Text Box 33"/>
              <p:cNvSpPr txBox="1">
                <a:spLocks noChangeArrowheads="1"/>
              </p:cNvSpPr>
              <p:nvPr/>
            </p:nvSpPr>
            <p:spPr bwMode="auto">
              <a:xfrm>
                <a:off x="1554" y="3228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5</a:t>
                </a:r>
                <a:endParaRPr lang="en-US" altLang="zh-CN"/>
              </a:p>
            </p:txBody>
          </p:sp>
          <p:sp>
            <p:nvSpPr>
              <p:cNvPr id="292898" name="Text Box 34"/>
              <p:cNvSpPr txBox="1">
                <a:spLocks noChangeArrowheads="1"/>
              </p:cNvSpPr>
              <p:nvPr/>
            </p:nvSpPr>
            <p:spPr bwMode="auto">
              <a:xfrm>
                <a:off x="852" y="3942"/>
                <a:ext cx="307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R</a:t>
                </a:r>
                <a:r>
                  <a:rPr lang="en-US" altLang="zh-CN" baseline="-25000"/>
                  <a:t>6</a:t>
                </a:r>
                <a:endParaRPr lang="en-US" altLang="zh-CN"/>
              </a:p>
            </p:txBody>
          </p:sp>
          <p:sp>
            <p:nvSpPr>
              <p:cNvPr id="292899" name="Line 35"/>
              <p:cNvSpPr>
                <a:spLocks noChangeShapeType="1"/>
              </p:cNvSpPr>
              <p:nvPr/>
            </p:nvSpPr>
            <p:spPr bwMode="auto">
              <a:xfrm flipV="1">
                <a:off x="518" y="2446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900" name="Line 36"/>
              <p:cNvSpPr>
                <a:spLocks noChangeShapeType="1"/>
              </p:cNvSpPr>
              <p:nvPr/>
            </p:nvSpPr>
            <p:spPr bwMode="auto">
              <a:xfrm flipV="1">
                <a:off x="1814" y="3046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901" name="Line 37"/>
              <p:cNvSpPr>
                <a:spLocks noChangeShapeType="1"/>
              </p:cNvSpPr>
              <p:nvPr/>
            </p:nvSpPr>
            <p:spPr bwMode="auto">
              <a:xfrm rot="5400000" flipV="1">
                <a:off x="1046" y="3286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902" name="Line 38"/>
              <p:cNvSpPr>
                <a:spLocks noChangeShapeType="1"/>
              </p:cNvSpPr>
              <p:nvPr/>
            </p:nvSpPr>
            <p:spPr bwMode="auto">
              <a:xfrm rot="5400000" flipV="1">
                <a:off x="2006" y="2482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903" name="Line 39"/>
              <p:cNvSpPr>
                <a:spLocks noChangeShapeType="1"/>
              </p:cNvSpPr>
              <p:nvPr/>
            </p:nvSpPr>
            <p:spPr bwMode="auto">
              <a:xfrm rot="8093792" flipV="1">
                <a:off x="1190" y="2290"/>
                <a:ext cx="227" cy="2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904" name="Line 40"/>
              <p:cNvSpPr>
                <a:spLocks noChangeShapeType="1"/>
              </p:cNvSpPr>
              <p:nvPr/>
            </p:nvSpPr>
            <p:spPr bwMode="auto">
              <a:xfrm rot="8219172" flipV="1">
                <a:off x="2149" y="3605"/>
                <a:ext cx="215" cy="23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2905" name="Text Box 41"/>
              <p:cNvSpPr txBox="1">
                <a:spLocks noChangeArrowheads="1"/>
              </p:cNvSpPr>
              <p:nvPr/>
            </p:nvSpPr>
            <p:spPr bwMode="auto">
              <a:xfrm>
                <a:off x="1285" y="3870"/>
                <a:ext cx="281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292906" name="Text Box 42"/>
              <p:cNvSpPr txBox="1">
                <a:spLocks noChangeArrowheads="1"/>
              </p:cNvSpPr>
              <p:nvPr/>
            </p:nvSpPr>
            <p:spPr bwMode="auto">
              <a:xfrm>
                <a:off x="1902" y="3888"/>
                <a:ext cx="282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–</a:t>
                </a:r>
              </a:p>
            </p:txBody>
          </p:sp>
          <p:sp>
            <p:nvSpPr>
              <p:cNvPr id="292907" name="Text Box 43"/>
              <p:cNvSpPr txBox="1">
                <a:spLocks noChangeArrowheads="1"/>
              </p:cNvSpPr>
              <p:nvPr/>
            </p:nvSpPr>
            <p:spPr bwMode="auto">
              <a:xfrm>
                <a:off x="354" y="2292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292908" name="Text Box 44"/>
              <p:cNvSpPr txBox="1">
                <a:spLocks noChangeArrowheads="1"/>
              </p:cNvSpPr>
              <p:nvPr/>
            </p:nvSpPr>
            <p:spPr bwMode="auto">
              <a:xfrm>
                <a:off x="1074" y="2340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3</a:t>
                </a:r>
                <a:endParaRPr lang="en-US" altLang="zh-CN"/>
              </a:p>
            </p:txBody>
          </p:sp>
          <p:sp>
            <p:nvSpPr>
              <p:cNvPr id="292909" name="Text Box 45"/>
              <p:cNvSpPr txBox="1">
                <a:spLocks noChangeArrowheads="1"/>
              </p:cNvSpPr>
              <p:nvPr/>
            </p:nvSpPr>
            <p:spPr bwMode="auto">
              <a:xfrm>
                <a:off x="2070" y="2352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4</a:t>
                </a:r>
                <a:endParaRPr lang="en-US" altLang="zh-CN"/>
              </a:p>
            </p:txBody>
          </p:sp>
          <p:sp>
            <p:nvSpPr>
              <p:cNvPr id="292910" name="Text Box 46"/>
              <p:cNvSpPr txBox="1">
                <a:spLocks noChangeArrowheads="1"/>
              </p:cNvSpPr>
              <p:nvPr/>
            </p:nvSpPr>
            <p:spPr bwMode="auto">
              <a:xfrm>
                <a:off x="924" y="3324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292911" name="Text Box 47"/>
              <p:cNvSpPr txBox="1">
                <a:spLocks noChangeArrowheads="1"/>
              </p:cNvSpPr>
              <p:nvPr/>
            </p:nvSpPr>
            <p:spPr bwMode="auto">
              <a:xfrm>
                <a:off x="1908" y="3090"/>
                <a:ext cx="306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5</a:t>
                </a:r>
                <a:endParaRPr lang="en-US" altLang="zh-CN"/>
              </a:p>
            </p:txBody>
          </p:sp>
          <p:sp>
            <p:nvSpPr>
              <p:cNvPr id="292912" name="Text Box 48"/>
              <p:cNvSpPr txBox="1">
                <a:spLocks noChangeArrowheads="1"/>
              </p:cNvSpPr>
              <p:nvPr/>
            </p:nvSpPr>
            <p:spPr bwMode="auto">
              <a:xfrm>
                <a:off x="2274" y="3565"/>
                <a:ext cx="306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r>
                  <a:rPr lang="en-US" altLang="zh-CN" baseline="-25000"/>
                  <a:t>6</a:t>
                </a:r>
                <a:endParaRPr lang="en-US" altLang="zh-CN"/>
              </a:p>
            </p:txBody>
          </p:sp>
          <p:sp>
            <p:nvSpPr>
              <p:cNvPr id="292913" name="Text Box 49"/>
              <p:cNvSpPr txBox="1">
                <a:spLocks noChangeArrowheads="1"/>
              </p:cNvSpPr>
              <p:nvPr/>
            </p:nvSpPr>
            <p:spPr bwMode="auto">
              <a:xfrm>
                <a:off x="1578" y="3954"/>
                <a:ext cx="306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v</a:t>
                </a:r>
                <a:r>
                  <a:rPr lang="en-US" altLang="zh-CN" i="1" baseline="-25000"/>
                  <a:t>S</a:t>
                </a:r>
                <a:endParaRPr lang="en-US" altLang="zh-CN" i="1"/>
              </a:p>
            </p:txBody>
          </p:sp>
        </p:grpSp>
        <p:grpSp>
          <p:nvGrpSpPr>
            <p:cNvPr id="292914" name="Group 50"/>
            <p:cNvGrpSpPr>
              <a:grpSpLocks/>
            </p:cNvGrpSpPr>
            <p:nvPr/>
          </p:nvGrpSpPr>
          <p:grpSpPr bwMode="auto">
            <a:xfrm>
              <a:off x="204" y="1080"/>
              <a:ext cx="228" cy="281"/>
              <a:chOff x="2316" y="2388"/>
              <a:chExt cx="228" cy="281"/>
            </a:xfrm>
          </p:grpSpPr>
          <p:sp>
            <p:nvSpPr>
              <p:cNvPr id="292915" name="Text Box 51"/>
              <p:cNvSpPr txBox="1">
                <a:spLocks noChangeArrowheads="1"/>
              </p:cNvSpPr>
              <p:nvPr/>
            </p:nvSpPr>
            <p:spPr bwMode="auto">
              <a:xfrm>
                <a:off x="2316" y="2388"/>
                <a:ext cx="228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292916" name="Oval 52"/>
              <p:cNvSpPr>
                <a:spLocks noChangeArrowheads="1"/>
              </p:cNvSpPr>
              <p:nvPr/>
            </p:nvSpPr>
            <p:spPr bwMode="auto">
              <a:xfrm>
                <a:off x="2328" y="2436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2917" name="Group 53"/>
            <p:cNvGrpSpPr>
              <a:grpSpLocks/>
            </p:cNvGrpSpPr>
            <p:nvPr/>
          </p:nvGrpSpPr>
          <p:grpSpPr bwMode="auto">
            <a:xfrm>
              <a:off x="1188" y="180"/>
              <a:ext cx="228" cy="282"/>
              <a:chOff x="2748" y="2460"/>
              <a:chExt cx="228" cy="282"/>
            </a:xfrm>
          </p:grpSpPr>
          <p:sp>
            <p:nvSpPr>
              <p:cNvPr id="292918" name="Text Box 54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2</a:t>
                </a:r>
              </a:p>
            </p:txBody>
          </p:sp>
          <p:sp>
            <p:nvSpPr>
              <p:cNvPr id="292919" name="Oval 55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2920" name="Group 56"/>
            <p:cNvGrpSpPr>
              <a:grpSpLocks/>
            </p:cNvGrpSpPr>
            <p:nvPr/>
          </p:nvGrpSpPr>
          <p:grpSpPr bwMode="auto">
            <a:xfrm>
              <a:off x="2136" y="1092"/>
              <a:ext cx="228" cy="282"/>
              <a:chOff x="2748" y="2460"/>
              <a:chExt cx="228" cy="282"/>
            </a:xfrm>
          </p:grpSpPr>
          <p:sp>
            <p:nvSpPr>
              <p:cNvPr id="292921" name="Text Box 57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3</a:t>
                </a:r>
              </a:p>
            </p:txBody>
          </p:sp>
          <p:sp>
            <p:nvSpPr>
              <p:cNvPr id="292922" name="Oval 58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2923" name="Group 59"/>
            <p:cNvGrpSpPr>
              <a:grpSpLocks/>
            </p:cNvGrpSpPr>
            <p:nvPr/>
          </p:nvGrpSpPr>
          <p:grpSpPr bwMode="auto">
            <a:xfrm>
              <a:off x="1296" y="1848"/>
              <a:ext cx="228" cy="282"/>
              <a:chOff x="2748" y="2460"/>
              <a:chExt cx="228" cy="282"/>
            </a:xfrm>
          </p:grpSpPr>
          <p:sp>
            <p:nvSpPr>
              <p:cNvPr id="292924" name="Text Box 60"/>
              <p:cNvSpPr txBox="1">
                <a:spLocks noChangeArrowheads="1"/>
              </p:cNvSpPr>
              <p:nvPr/>
            </p:nvSpPr>
            <p:spPr bwMode="auto">
              <a:xfrm>
                <a:off x="2748" y="2460"/>
                <a:ext cx="228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4</a:t>
                </a:r>
              </a:p>
            </p:txBody>
          </p:sp>
          <p:sp>
            <p:nvSpPr>
              <p:cNvPr id="292925" name="Oval 61"/>
              <p:cNvSpPr>
                <a:spLocks noChangeArrowheads="1"/>
              </p:cNvSpPr>
              <p:nvPr/>
            </p:nvSpPr>
            <p:spPr bwMode="auto">
              <a:xfrm>
                <a:off x="2760" y="2520"/>
                <a:ext cx="180" cy="19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92926" name="Text Box 62"/>
          <p:cNvSpPr txBox="1">
            <a:spLocks noChangeArrowheads="1"/>
          </p:cNvSpPr>
          <p:nvPr/>
        </p:nvSpPr>
        <p:spPr bwMode="auto">
          <a:xfrm>
            <a:off x="803275" y="5184775"/>
            <a:ext cx="66800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dirty="0"/>
              <a:t>6</a:t>
            </a:r>
            <a:r>
              <a:rPr lang="zh-CN" altLang="en-US" dirty="0"/>
              <a:t>个未知数，</a:t>
            </a:r>
            <a:r>
              <a:rPr lang="en-US" altLang="zh-CN" dirty="0"/>
              <a:t>6</a:t>
            </a:r>
            <a:r>
              <a:rPr lang="zh-CN" altLang="en-US" dirty="0"/>
              <a:t>个独立方程，可求出各支路</a:t>
            </a:r>
            <a:r>
              <a:rPr lang="zh-CN" altLang="en-US" dirty="0" smtClean="0"/>
              <a:t>电流。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7001868" y="5938133"/>
            <a:ext cx="1731564" cy="46166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支路电流法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直角上箭头 2"/>
          <p:cNvSpPr/>
          <p:nvPr/>
        </p:nvSpPr>
        <p:spPr bwMode="auto">
          <a:xfrm rot="10800000" flipH="1">
            <a:off x="7470348" y="5346596"/>
            <a:ext cx="509021" cy="491706"/>
          </a:xfrm>
          <a:prstGeom prst="bentUpArrow">
            <a:avLst>
              <a:gd name="adj1" fmla="val 26754"/>
              <a:gd name="adj2" fmla="val 25000"/>
              <a:gd name="adj3" fmla="val 25000"/>
            </a:avLst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84307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926" grpId="0" build="p" autoUpdateAnimBg="0"/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Text Box 2"/>
          <p:cNvSpPr txBox="1">
            <a:spLocks noChangeArrowheads="1"/>
          </p:cNvSpPr>
          <p:nvPr/>
        </p:nvSpPr>
        <p:spPr bwMode="auto">
          <a:xfrm>
            <a:off x="740218" y="1163428"/>
            <a:ext cx="3095625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0000CC"/>
                </a:solidFill>
              </a:rPr>
              <a:t>1</a:t>
            </a:r>
            <a:r>
              <a:rPr lang="zh-CN" altLang="en-US" dirty="0">
                <a:solidFill>
                  <a:srgbClr val="0000CC"/>
                </a:solidFill>
              </a:rPr>
              <a:t>、网孔电流</a:t>
            </a:r>
          </a:p>
        </p:txBody>
      </p:sp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6297639" y="2292480"/>
            <a:ext cx="1914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000" i="1" dirty="0">
                <a:ea typeface="楷体_GB2312" pitchFamily="49" charset="-122"/>
              </a:rPr>
              <a:t>n</a:t>
            </a:r>
            <a:r>
              <a:rPr lang="en-US" altLang="zh-CN" sz="2000" dirty="0">
                <a:ea typeface="楷体_GB2312" pitchFamily="49" charset="-122"/>
              </a:rPr>
              <a:t> = 4 ; </a:t>
            </a:r>
            <a:r>
              <a:rPr lang="en-US" altLang="zh-CN" sz="2000" i="1" dirty="0">
                <a:ea typeface="楷体_GB2312" pitchFamily="49" charset="-122"/>
              </a:rPr>
              <a:t>b</a:t>
            </a:r>
            <a:r>
              <a:rPr lang="en-US" altLang="zh-CN" sz="2000" dirty="0">
                <a:ea typeface="楷体_GB2312" pitchFamily="49" charset="-122"/>
              </a:rPr>
              <a:t> = 6</a:t>
            </a:r>
          </a:p>
        </p:txBody>
      </p:sp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402171"/>
              </p:ext>
            </p:extLst>
          </p:nvPr>
        </p:nvGraphicFramePr>
        <p:xfrm>
          <a:off x="6230171" y="4135284"/>
          <a:ext cx="2049462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85" name="Equation" r:id="rId3" imgW="799920" imgH="711000" progId="Equation.DSMT4">
                  <p:embed/>
                </p:oleObj>
              </mc:Choice>
              <mc:Fallback>
                <p:oleObj name="Equation" r:id="rId3" imgW="799920" imgH="71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171" y="4135284"/>
                        <a:ext cx="2049462" cy="147002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8" name="Rectangle 8"/>
          <p:cNvSpPr>
            <a:spLocks noChangeArrowheads="1"/>
          </p:cNvSpPr>
          <p:nvPr/>
        </p:nvSpPr>
        <p:spPr bwMode="auto">
          <a:xfrm>
            <a:off x="606061" y="5963588"/>
            <a:ext cx="807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ea typeface="楷体_GB2312" pitchFamily="49" charset="-122"/>
              </a:rPr>
              <a:t>        </a:t>
            </a:r>
            <a:r>
              <a:rPr lang="zh-CN" altLang="en-US" sz="2000" dirty="0">
                <a:ea typeface="楷体_GB2312" pitchFamily="49" charset="-122"/>
              </a:rPr>
              <a:t>支路电流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30000" dirty="0">
                <a:ea typeface="楷体_GB2312" pitchFamily="49" charset="-122"/>
              </a:rPr>
              <a:t>4</a:t>
            </a:r>
            <a:r>
              <a:rPr lang="zh-CN" altLang="en-US" sz="2000" dirty="0">
                <a:ea typeface="楷体_GB2312" pitchFamily="49" charset="-122"/>
              </a:rPr>
              <a:t>、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30000" dirty="0">
                <a:ea typeface="楷体_GB2312" pitchFamily="49" charset="-122"/>
              </a:rPr>
              <a:t>5</a:t>
            </a:r>
            <a:r>
              <a:rPr lang="zh-CN" altLang="en-US" sz="2000" dirty="0">
                <a:ea typeface="楷体_GB2312" pitchFamily="49" charset="-122"/>
              </a:rPr>
              <a:t>、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30000" dirty="0">
                <a:ea typeface="楷体_GB2312" pitchFamily="49" charset="-122"/>
              </a:rPr>
              <a:t>6 </a:t>
            </a:r>
            <a:r>
              <a:rPr lang="zh-CN" altLang="en-US" sz="2000" dirty="0">
                <a:ea typeface="楷体_GB2312" pitchFamily="49" charset="-122"/>
              </a:rPr>
              <a:t>可以用另外三个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30000" dirty="0">
                <a:ea typeface="楷体_GB2312" pitchFamily="49" charset="-122"/>
              </a:rPr>
              <a:t>1</a:t>
            </a:r>
            <a:r>
              <a:rPr lang="zh-CN" altLang="en-US" sz="2000" dirty="0">
                <a:ea typeface="楷体_GB2312" pitchFamily="49" charset="-122"/>
              </a:rPr>
              <a:t>、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30000" dirty="0">
                <a:ea typeface="楷体_GB2312" pitchFamily="49" charset="-122"/>
              </a:rPr>
              <a:t>2</a:t>
            </a:r>
            <a:r>
              <a:rPr lang="zh-CN" altLang="en-US" sz="2000" dirty="0">
                <a:ea typeface="楷体_GB2312" pitchFamily="49" charset="-122"/>
              </a:rPr>
              <a:t>、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30000" dirty="0">
                <a:ea typeface="楷体_GB2312" pitchFamily="49" charset="-122"/>
              </a:rPr>
              <a:t>3 </a:t>
            </a:r>
            <a:r>
              <a:rPr lang="zh-CN" altLang="en-US" sz="2000" dirty="0">
                <a:ea typeface="楷体_GB2312" pitchFamily="49" charset="-122"/>
              </a:rPr>
              <a:t>的线性组合来表示。</a:t>
            </a:r>
          </a:p>
        </p:txBody>
      </p:sp>
      <p:sp>
        <p:nvSpPr>
          <p:cNvPr id="322580" name="Text Box 20"/>
          <p:cNvSpPr txBox="1">
            <a:spLocks noChangeArrowheads="1"/>
          </p:cNvSpPr>
          <p:nvPr/>
        </p:nvSpPr>
        <p:spPr bwMode="auto">
          <a:xfrm>
            <a:off x="5806856" y="3380130"/>
            <a:ext cx="2757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0" lang="zh-CN" altLang="en-US" sz="2000" dirty="0"/>
              <a:t>若</a:t>
            </a:r>
            <a:r>
              <a:rPr lang="en-US" altLang="zh-CN" sz="2000" i="1" dirty="0"/>
              <a:t>i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、</a:t>
            </a:r>
            <a:r>
              <a:rPr lang="en-US" altLang="zh-CN" sz="2000" i="1" dirty="0"/>
              <a:t>i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、</a:t>
            </a:r>
            <a:r>
              <a:rPr lang="en-US" altLang="zh-CN" sz="2000" i="1" dirty="0"/>
              <a:t>i</a:t>
            </a:r>
            <a:r>
              <a:rPr lang="en-US" altLang="zh-CN" sz="2000" baseline="-25000" dirty="0"/>
              <a:t>3</a:t>
            </a:r>
            <a:r>
              <a:rPr kumimoji="0" lang="zh-CN" altLang="en-US" sz="2000" dirty="0"/>
              <a:t>已知，</a:t>
            </a:r>
            <a:r>
              <a:rPr kumimoji="0" lang="zh-CN" altLang="en-US" sz="2000" dirty="0" smtClean="0"/>
              <a:t>则</a:t>
            </a:r>
            <a:endParaRPr kumimoji="0" lang="zh-CN" altLang="en-US" sz="2000" dirty="0"/>
          </a:p>
        </p:txBody>
      </p:sp>
      <p:graphicFrame>
        <p:nvGraphicFramePr>
          <p:cNvPr id="322635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946709"/>
              </p:ext>
            </p:extLst>
          </p:nvPr>
        </p:nvGraphicFramePr>
        <p:xfrm>
          <a:off x="606425" y="2260600"/>
          <a:ext cx="4732338" cy="339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86" name="Visio" r:id="rId6" imgW="2437809" imgH="1749948" progId="Visio.Drawing.11">
                  <p:embed/>
                </p:oleObj>
              </mc:Choice>
              <mc:Fallback>
                <p:oleObj name="Visio" r:id="rId6" imgW="2437809" imgH="1749948" progId="Visio.Drawing.11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" y="2260600"/>
                        <a:ext cx="4732338" cy="339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978600" y="117144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zh-CN" altLang="en-US" u="sng" dirty="0">
                <a:ea typeface="楷体_GB2312" pitchFamily="49" charset="-122"/>
              </a:rPr>
              <a:t>沿着网孔边界流动的假想电流，其方向可以任意假定</a:t>
            </a:r>
            <a:r>
              <a:rPr lang="zh-CN" altLang="en-US" dirty="0">
                <a:ea typeface="楷体_GB2312" pitchFamily="49" charset="-122"/>
              </a:rPr>
              <a:t>。</a:t>
            </a:r>
          </a:p>
        </p:txBody>
      </p:sp>
      <p:sp>
        <p:nvSpPr>
          <p:cNvPr id="3" name="右箭头 2"/>
          <p:cNvSpPr/>
          <p:nvPr/>
        </p:nvSpPr>
        <p:spPr bwMode="auto">
          <a:xfrm>
            <a:off x="2779883" y="1342255"/>
            <a:ext cx="1012990" cy="187464"/>
          </a:xfrm>
          <a:prstGeom prst="rightArrow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37918" y="2710098"/>
            <a:ext cx="27446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ea typeface="楷体_GB2312" pitchFamily="49" charset="-122"/>
              </a:rPr>
              <a:t>网孔电流有</a:t>
            </a:r>
            <a:r>
              <a:rPr lang="en-US" altLang="zh-CN" sz="2000" i="1" dirty="0" smtClean="0">
                <a:ea typeface="楷体_GB2312" pitchFamily="49" charset="-122"/>
              </a:rPr>
              <a:t>b - </a:t>
            </a:r>
            <a:r>
              <a:rPr lang="en-US" altLang="zh-CN" sz="2000" dirty="0" smtClean="0">
                <a:ea typeface="楷体_GB2312" pitchFamily="49" charset="-122"/>
              </a:rPr>
              <a:t>(</a:t>
            </a:r>
            <a:r>
              <a:rPr lang="en-US" altLang="zh-CN" sz="2000" i="1" dirty="0">
                <a:ea typeface="楷体_GB2312" pitchFamily="49" charset="-122"/>
              </a:rPr>
              <a:t>n</a:t>
            </a:r>
            <a:r>
              <a:rPr lang="en-US" altLang="zh-CN" sz="2000" dirty="0">
                <a:ea typeface="楷体_GB2312" pitchFamily="49" charset="-122"/>
              </a:rPr>
              <a:t>-1</a:t>
            </a:r>
            <a:r>
              <a:rPr lang="en-US" altLang="zh-CN" sz="2000" dirty="0" smtClean="0">
                <a:ea typeface="楷体_GB2312" pitchFamily="49" charset="-122"/>
              </a:rPr>
              <a:t>) = 3</a:t>
            </a:r>
            <a:endParaRPr lang="zh-CN" altLang="en-US" sz="2000" dirty="0"/>
          </a:p>
        </p:txBody>
      </p:sp>
      <p:sp>
        <p:nvSpPr>
          <p:cNvPr id="13" name="Rectangle 66"/>
          <p:cNvSpPr>
            <a:spLocks noChangeArrowheads="1"/>
          </p:cNvSpPr>
          <p:nvPr/>
        </p:nvSpPr>
        <p:spPr bwMode="auto">
          <a:xfrm>
            <a:off x="685800" y="31432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800" dirty="0" smtClean="0">
                <a:solidFill>
                  <a:schemeClr val="tx2"/>
                </a:solidFill>
              </a:rPr>
              <a:t>3.2 </a:t>
            </a:r>
            <a:r>
              <a:rPr lang="zh-CN" altLang="en-US" sz="2800" dirty="0" smtClean="0">
                <a:solidFill>
                  <a:schemeClr val="tx2"/>
                </a:solidFill>
              </a:rPr>
              <a:t>网孔电流</a:t>
            </a:r>
            <a:r>
              <a:rPr lang="zh-CN" altLang="en-US" sz="2800" dirty="0">
                <a:solidFill>
                  <a:schemeClr val="tx2"/>
                </a:solidFill>
              </a:rPr>
              <a:t>法 </a:t>
            </a:r>
            <a:r>
              <a:rPr lang="en-US" altLang="zh-CN" sz="2800" dirty="0">
                <a:solidFill>
                  <a:schemeClr val="tx2"/>
                </a:solidFill>
              </a:rPr>
              <a:t>(mesh current method )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2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4" grpId="0"/>
      <p:bldP spid="322568" grpId="0"/>
      <p:bldP spid="322580" grpId="0"/>
      <p:bldP spid="2" grpId="0"/>
      <p:bldP spid="3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4710113" y="2735810"/>
            <a:ext cx="42100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dirty="0" smtClean="0">
                <a:ea typeface="楷体_GB2312" pitchFamily="49" charset="-122"/>
              </a:rPr>
              <a:t>(1)  </a:t>
            </a:r>
            <a:r>
              <a:rPr lang="zh-CN" altLang="en-US" dirty="0" smtClean="0">
                <a:ea typeface="楷体_GB2312" pitchFamily="49" charset="-122"/>
              </a:rPr>
              <a:t>网孔电流</a:t>
            </a:r>
            <a:r>
              <a:rPr lang="zh-CN" altLang="en-US" dirty="0">
                <a:ea typeface="楷体_GB2312" pitchFamily="49" charset="-122"/>
              </a:rPr>
              <a:t>是完备</a:t>
            </a:r>
            <a:r>
              <a:rPr lang="zh-CN" altLang="en-US" dirty="0" smtClean="0">
                <a:ea typeface="楷体_GB2312" pitchFamily="49" charset="-122"/>
              </a:rPr>
              <a:t>的</a:t>
            </a:r>
            <a:endParaRPr lang="zh-CN" altLang="en-US" dirty="0">
              <a:ea typeface="楷体_GB2312" pitchFamily="49" charset="-122"/>
            </a:endParaRPr>
          </a:p>
          <a:p>
            <a:pPr algn="l"/>
            <a:r>
              <a:rPr lang="zh-CN" altLang="en-US" dirty="0">
                <a:ea typeface="楷体_GB2312" pitchFamily="49" charset="-122"/>
              </a:rPr>
              <a:t> 　 各支路电流均可用网孔电流求出；</a:t>
            </a:r>
          </a:p>
          <a:p>
            <a:pPr algn="l"/>
            <a:endParaRPr lang="zh-CN" altLang="en-US" dirty="0">
              <a:ea typeface="楷体_GB2312" pitchFamily="49" charset="-122"/>
            </a:endParaRPr>
          </a:p>
          <a:p>
            <a:pPr algn="l"/>
            <a:r>
              <a:rPr lang="en-US" altLang="zh-CN" dirty="0" smtClean="0">
                <a:ea typeface="楷体_GB2312" pitchFamily="49" charset="-122"/>
              </a:rPr>
              <a:t>(2)  </a:t>
            </a:r>
            <a:r>
              <a:rPr lang="zh-CN" altLang="en-US" dirty="0" smtClean="0">
                <a:ea typeface="楷体_GB2312" pitchFamily="49" charset="-122"/>
              </a:rPr>
              <a:t>网孔电流</a:t>
            </a:r>
            <a:r>
              <a:rPr lang="zh-CN" altLang="en-US" dirty="0">
                <a:ea typeface="楷体_GB2312" pitchFamily="49" charset="-122"/>
              </a:rPr>
              <a:t>是</a:t>
            </a:r>
            <a:r>
              <a:rPr lang="zh-CN" altLang="en-US" dirty="0" smtClean="0">
                <a:ea typeface="楷体_GB2312" pitchFamily="49" charset="-122"/>
              </a:rPr>
              <a:t>独立的</a:t>
            </a:r>
            <a:endParaRPr lang="zh-CN" altLang="en-US" dirty="0">
              <a:ea typeface="楷体_GB2312" pitchFamily="49" charset="-122"/>
            </a:endParaRPr>
          </a:p>
          <a:p>
            <a:pPr algn="l"/>
            <a:r>
              <a:rPr lang="zh-CN" altLang="en-US" dirty="0">
                <a:ea typeface="楷体_GB2312" pitchFamily="49" charset="-122"/>
              </a:rPr>
              <a:t>      不能用</a:t>
            </a:r>
            <a:r>
              <a:rPr lang="en-US" altLang="zh-CN" dirty="0">
                <a:ea typeface="楷体_GB2312" pitchFamily="49" charset="-122"/>
              </a:rPr>
              <a:t>KCL</a:t>
            </a:r>
            <a:r>
              <a:rPr lang="zh-CN" altLang="en-US" dirty="0">
                <a:ea typeface="楷体_GB2312" pitchFamily="49" charset="-122"/>
              </a:rPr>
              <a:t>来约束网孔电流。</a:t>
            </a:r>
          </a:p>
          <a:p>
            <a:pPr algn="l"/>
            <a:endParaRPr lang="zh-CN" altLang="en-US" dirty="0">
              <a:ea typeface="楷体_GB2312" pitchFamily="49" charset="-122"/>
            </a:endParaRPr>
          </a:p>
          <a:p>
            <a:pPr algn="l"/>
            <a:r>
              <a:rPr lang="en-US" altLang="zh-CN" dirty="0" smtClean="0">
                <a:ea typeface="楷体_GB2312" pitchFamily="49" charset="-122"/>
              </a:rPr>
              <a:t>(3)  </a:t>
            </a:r>
            <a:r>
              <a:rPr lang="zh-CN" altLang="en-US" dirty="0" smtClean="0">
                <a:ea typeface="楷体_GB2312" pitchFamily="49" charset="-122"/>
              </a:rPr>
              <a:t>网孔电流有 </a:t>
            </a:r>
            <a:r>
              <a:rPr lang="en-US" altLang="zh-CN" i="1" dirty="0" smtClean="0">
                <a:ea typeface="楷体_GB2312" pitchFamily="49" charset="-122"/>
              </a:rPr>
              <a:t>b - </a:t>
            </a:r>
            <a:r>
              <a:rPr lang="en-US" altLang="zh-CN" dirty="0" smtClean="0">
                <a:ea typeface="楷体_GB2312" pitchFamily="49" charset="-122"/>
              </a:rPr>
              <a:t>(</a:t>
            </a:r>
            <a:r>
              <a:rPr lang="en-US" altLang="zh-CN" i="1" dirty="0" smtClean="0">
                <a:ea typeface="楷体_GB2312" pitchFamily="49" charset="-122"/>
              </a:rPr>
              <a:t>n</a:t>
            </a:r>
            <a:r>
              <a:rPr lang="en-US" altLang="zh-CN" dirty="0" smtClean="0">
                <a:ea typeface="楷体_GB2312" pitchFamily="49" charset="-122"/>
              </a:rPr>
              <a:t>-1)</a:t>
            </a:r>
            <a:r>
              <a:rPr lang="zh-CN" altLang="en-US" dirty="0" smtClean="0">
                <a:ea typeface="楷体_GB2312" pitchFamily="49" charset="-122"/>
              </a:rPr>
              <a:t>个。</a:t>
            </a:r>
            <a:endParaRPr lang="zh-CN" altLang="en-US" dirty="0">
              <a:ea typeface="楷体_GB2312" pitchFamily="49" charset="-122"/>
            </a:endParaRPr>
          </a:p>
          <a:p>
            <a:pPr algn="l"/>
            <a:endParaRPr kumimoji="0" lang="en-US" altLang="zh-CN" b="0" dirty="0">
              <a:latin typeface="Arial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835565"/>
              </p:ext>
            </p:extLst>
          </p:nvPr>
        </p:nvGraphicFramePr>
        <p:xfrm>
          <a:off x="286299" y="581134"/>
          <a:ext cx="4344987" cy="3119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18" name="Visio" r:id="rId3" imgW="2437809" imgH="1749948" progId="Visio.Drawing.11">
                  <p:embed/>
                </p:oleObj>
              </mc:Choice>
              <mc:Fallback>
                <p:oleObj name="Visio" r:id="rId3" imgW="2437809" imgH="1749948" progId="Visio.Drawing.11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99" y="581134"/>
                        <a:ext cx="4344987" cy="3119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23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23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23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23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476250" y="411163"/>
            <a:ext cx="3838575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 smtClean="0">
                <a:solidFill>
                  <a:srgbClr val="0000CC"/>
                </a:solidFill>
              </a:rPr>
              <a:t>2</a:t>
            </a:r>
            <a:r>
              <a:rPr lang="zh-CN" altLang="en-US" dirty="0" smtClean="0">
                <a:solidFill>
                  <a:srgbClr val="0000CC"/>
                </a:solidFill>
              </a:rPr>
              <a:t>、</a:t>
            </a:r>
            <a:r>
              <a:rPr lang="zh-CN" altLang="en-US" dirty="0">
                <a:solidFill>
                  <a:srgbClr val="0000CC"/>
                </a:solidFill>
              </a:rPr>
              <a:t>网孔电流方程的布列</a:t>
            </a:r>
          </a:p>
        </p:txBody>
      </p:sp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504825" y="1143000"/>
            <a:ext cx="4419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ea typeface="楷体_GB2312" pitchFamily="49" charset="-122"/>
              </a:rPr>
              <a:t>问题：网孔电流是独立的电流变量，如何布列关于网孔电流的方程？？</a:t>
            </a:r>
          </a:p>
          <a:p>
            <a:pPr algn="l"/>
            <a:endParaRPr lang="zh-CN" altLang="en-US" sz="2000" dirty="0">
              <a:ea typeface="楷体_GB2312" pitchFamily="49" charset="-122"/>
            </a:endParaRPr>
          </a:p>
          <a:p>
            <a:pPr algn="l"/>
            <a:r>
              <a:rPr lang="zh-CN" altLang="en-US" sz="2000" dirty="0">
                <a:ea typeface="楷体_GB2312" pitchFamily="49" charset="-122"/>
              </a:rPr>
              <a:t>以右图为例，三个网孔的</a:t>
            </a:r>
            <a:r>
              <a:rPr lang="en-US" altLang="zh-CN" sz="2000" dirty="0">
                <a:ea typeface="楷体_GB2312" pitchFamily="49" charset="-122"/>
              </a:rPr>
              <a:t>KVL</a:t>
            </a:r>
            <a:r>
              <a:rPr lang="zh-CN" altLang="en-US" sz="2000" dirty="0">
                <a:ea typeface="楷体_GB2312" pitchFamily="49" charset="-122"/>
              </a:rPr>
              <a:t>方程为：</a:t>
            </a:r>
          </a:p>
        </p:txBody>
      </p:sp>
      <p:graphicFrame>
        <p:nvGraphicFramePr>
          <p:cNvPr id="325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966177"/>
              </p:ext>
            </p:extLst>
          </p:nvPr>
        </p:nvGraphicFramePr>
        <p:xfrm>
          <a:off x="1084263" y="2809875"/>
          <a:ext cx="3316287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89" name="Equation" r:id="rId3" imgW="1409400" imgH="609480" progId="Equation.DSMT4">
                  <p:embed/>
                </p:oleObj>
              </mc:Choice>
              <mc:Fallback>
                <p:oleObj name="Equation" r:id="rId3" imgW="1409400" imgH="609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2809875"/>
                        <a:ext cx="3316287" cy="121602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41" name="Text Box 9"/>
          <p:cNvSpPr txBox="1">
            <a:spLocks noChangeArrowheads="1"/>
          </p:cNvSpPr>
          <p:nvPr/>
        </p:nvSpPr>
        <p:spPr bwMode="auto">
          <a:xfrm>
            <a:off x="655638" y="4402138"/>
            <a:ext cx="39592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ea typeface="楷体_GB2312" pitchFamily="49" charset="-122"/>
              </a:rPr>
              <a:t>把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4</a:t>
            </a:r>
            <a:r>
              <a:rPr lang="en-US" altLang="zh-CN" sz="2000" dirty="0">
                <a:ea typeface="楷体_GB2312" pitchFamily="49" charset="-122"/>
              </a:rPr>
              <a:t>,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5</a:t>
            </a:r>
            <a:r>
              <a:rPr lang="en-US" altLang="zh-CN" sz="2000" dirty="0">
                <a:ea typeface="楷体_GB2312" pitchFamily="49" charset="-122"/>
              </a:rPr>
              <a:t>,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6</a:t>
            </a:r>
            <a:r>
              <a:rPr lang="zh-CN" altLang="en-US" sz="2000" dirty="0">
                <a:ea typeface="楷体_GB2312" pitchFamily="49" charset="-122"/>
              </a:rPr>
              <a:t>用网孔电流表示：</a:t>
            </a:r>
          </a:p>
        </p:txBody>
      </p:sp>
      <p:graphicFrame>
        <p:nvGraphicFramePr>
          <p:cNvPr id="3256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687888"/>
              </p:ext>
            </p:extLst>
          </p:nvPr>
        </p:nvGraphicFramePr>
        <p:xfrm>
          <a:off x="890588" y="5067300"/>
          <a:ext cx="289718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90" name="Equation" r:id="rId5" imgW="1282680" imgH="406080" progId="Equation.DSMT4">
                  <p:embed/>
                </p:oleObj>
              </mc:Choice>
              <mc:Fallback>
                <p:oleObj name="Equation" r:id="rId5" imgW="1282680" imgH="4060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067300"/>
                        <a:ext cx="2897187" cy="919163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43" name="Text Box 11"/>
          <p:cNvSpPr txBox="1">
            <a:spLocks noChangeArrowheads="1"/>
          </p:cNvSpPr>
          <p:nvPr/>
        </p:nvSpPr>
        <p:spPr bwMode="auto">
          <a:xfrm>
            <a:off x="5105400" y="3505200"/>
            <a:ext cx="3886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ea typeface="楷体_GB2312" pitchFamily="49" charset="-122"/>
              </a:rPr>
              <a:t>把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4</a:t>
            </a:r>
            <a:r>
              <a:rPr lang="en-US" altLang="zh-CN" sz="2000" dirty="0">
                <a:ea typeface="楷体_GB2312" pitchFamily="49" charset="-122"/>
              </a:rPr>
              <a:t>,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5</a:t>
            </a:r>
            <a:r>
              <a:rPr lang="en-US" altLang="zh-CN" sz="2000" dirty="0">
                <a:ea typeface="楷体_GB2312" pitchFamily="49" charset="-122"/>
              </a:rPr>
              <a:t>,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6</a:t>
            </a:r>
            <a:r>
              <a:rPr lang="zh-CN" altLang="en-US" sz="2000" dirty="0">
                <a:ea typeface="楷体_GB2312" pitchFamily="49" charset="-122"/>
              </a:rPr>
              <a:t>代入左边的</a:t>
            </a:r>
            <a:r>
              <a:rPr lang="en-US" altLang="zh-CN" sz="2000" dirty="0">
                <a:ea typeface="楷体_GB2312" pitchFamily="49" charset="-122"/>
              </a:rPr>
              <a:t>KVL</a:t>
            </a:r>
            <a:r>
              <a:rPr lang="zh-CN" altLang="en-US" sz="2000" dirty="0">
                <a:ea typeface="楷体_GB2312" pitchFamily="49" charset="-122"/>
              </a:rPr>
              <a:t>方程，并整理，可以得到关于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1</a:t>
            </a:r>
            <a:r>
              <a:rPr lang="en-US" altLang="zh-CN" sz="2000" dirty="0">
                <a:ea typeface="楷体_GB2312" pitchFamily="49" charset="-122"/>
              </a:rPr>
              <a:t>,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2</a:t>
            </a:r>
            <a:r>
              <a:rPr lang="en-US" altLang="zh-CN" sz="2000" dirty="0">
                <a:ea typeface="楷体_GB2312" pitchFamily="49" charset="-122"/>
              </a:rPr>
              <a:t>, </a:t>
            </a:r>
            <a:r>
              <a:rPr lang="en-US" altLang="zh-CN" sz="2000" i="1" dirty="0">
                <a:ea typeface="楷体_GB2312" pitchFamily="49" charset="-122"/>
              </a:rPr>
              <a:t>i</a:t>
            </a:r>
            <a:r>
              <a:rPr lang="en-US" altLang="zh-CN" sz="2000" baseline="-25000" dirty="0">
                <a:ea typeface="楷体_GB2312" pitchFamily="49" charset="-122"/>
              </a:rPr>
              <a:t>3</a:t>
            </a:r>
            <a:r>
              <a:rPr lang="zh-CN" altLang="en-US" sz="2000" dirty="0">
                <a:ea typeface="楷体_GB2312" pitchFamily="49" charset="-122"/>
              </a:rPr>
              <a:t>的方程，即网孔方程：</a:t>
            </a:r>
          </a:p>
        </p:txBody>
      </p:sp>
      <p:graphicFrame>
        <p:nvGraphicFramePr>
          <p:cNvPr id="325644" name="Object 12"/>
          <p:cNvGraphicFramePr>
            <a:graphicFrameLocks noChangeAspect="1"/>
          </p:cNvGraphicFramePr>
          <p:nvPr/>
        </p:nvGraphicFramePr>
        <p:xfrm>
          <a:off x="5167313" y="5005388"/>
          <a:ext cx="34385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91" name="Equation" r:id="rId7" imgW="1790640" imgH="203040" progId="Equation.DSMT4">
                  <p:embed/>
                </p:oleObj>
              </mc:Choice>
              <mc:Fallback>
                <p:oleObj name="Equation" r:id="rId7" imgW="179064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5005388"/>
                        <a:ext cx="3438525" cy="392112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13"/>
          <p:cNvGraphicFramePr>
            <a:graphicFrameLocks noChangeAspect="1"/>
          </p:cNvGraphicFramePr>
          <p:nvPr/>
        </p:nvGraphicFramePr>
        <p:xfrm>
          <a:off x="5153025" y="5443538"/>
          <a:ext cx="34655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92" name="Equation" r:id="rId9" imgW="1815840" imgH="203040" progId="Equation.DSMT4">
                  <p:embed/>
                </p:oleObj>
              </mc:Choice>
              <mc:Fallback>
                <p:oleObj name="Equation" r:id="rId9" imgW="1815840" imgH="203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3025" y="5443538"/>
                        <a:ext cx="3465513" cy="395287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6" name="Object 14"/>
          <p:cNvGraphicFramePr>
            <a:graphicFrameLocks noChangeAspect="1"/>
          </p:cNvGraphicFramePr>
          <p:nvPr/>
        </p:nvGraphicFramePr>
        <p:xfrm>
          <a:off x="5151438" y="5889625"/>
          <a:ext cx="34686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93" name="Equation" r:id="rId11" imgW="1892160" imgH="203040" progId="Equation.DSMT4">
                  <p:embed/>
                </p:oleObj>
              </mc:Choice>
              <mc:Fallback>
                <p:oleObj name="Equation" r:id="rId11" imgW="1892160" imgH="203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8" y="5889625"/>
                        <a:ext cx="3468687" cy="373063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440386"/>
              </p:ext>
            </p:extLst>
          </p:nvPr>
        </p:nvGraphicFramePr>
        <p:xfrm>
          <a:off x="4799013" y="385762"/>
          <a:ext cx="4344987" cy="311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94" name="Visio" r:id="rId13" imgW="2437809" imgH="1749948" progId="Visio.Drawing.11">
                  <p:embed/>
                </p:oleObj>
              </mc:Choice>
              <mc:Fallback>
                <p:oleObj name="Visio" r:id="rId13" imgW="2437809" imgH="1749948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385762"/>
                        <a:ext cx="4344987" cy="311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 autoUpdateAnimBg="0"/>
      <p:bldP spid="325641" grpId="0" autoUpdateAnimBg="0"/>
      <p:bldP spid="32564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Text Box 2"/>
          <p:cNvSpPr txBox="1">
            <a:spLocks noChangeArrowheads="1"/>
          </p:cNvSpPr>
          <p:nvPr/>
        </p:nvSpPr>
        <p:spPr bwMode="auto">
          <a:xfrm>
            <a:off x="611188" y="6137275"/>
            <a:ext cx="792162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</a:pPr>
            <a:r>
              <a:rPr kumimoji="0" lang="en-US" altLang="zh-CN" i="1" dirty="0" smtClean="0"/>
              <a:t>v</a:t>
            </a:r>
            <a:r>
              <a:rPr lang="en-US" altLang="zh-CN" baseline="-20000" dirty="0" smtClean="0"/>
              <a:t>s1 </a:t>
            </a:r>
            <a:r>
              <a:rPr lang="zh-CN" altLang="en-US" baseline="-20000" dirty="0"/>
              <a:t>、</a:t>
            </a:r>
            <a:r>
              <a:rPr kumimoji="0" lang="en-US" altLang="zh-CN" i="1" dirty="0" smtClean="0"/>
              <a:t>v</a:t>
            </a:r>
            <a:r>
              <a:rPr kumimoji="0" lang="en-US" altLang="zh-CN" baseline="-25000" dirty="0" smtClean="0"/>
              <a:t>s2</a:t>
            </a:r>
            <a:r>
              <a:rPr lang="en-US" altLang="zh-CN" baseline="-20000" dirty="0" smtClean="0"/>
              <a:t> </a:t>
            </a:r>
            <a:r>
              <a:rPr lang="zh-CN" altLang="en-US" baseline="-20000" dirty="0" smtClean="0"/>
              <a:t>、</a:t>
            </a:r>
            <a:r>
              <a:rPr lang="zh-CN" altLang="en-US" baseline="-4000" dirty="0" smtClean="0">
                <a:cs typeface="Times New Roman" panose="02020603050405020304" pitchFamily="18" charset="0"/>
              </a:rPr>
              <a:t>−</a:t>
            </a:r>
            <a:r>
              <a:rPr kumimoji="0" lang="en-US" altLang="zh-CN" i="1" dirty="0" smtClean="0"/>
              <a:t>v</a:t>
            </a:r>
            <a:r>
              <a:rPr kumimoji="0" lang="en-US" altLang="zh-CN" baseline="-25000" dirty="0" smtClean="0"/>
              <a:t>s3</a:t>
            </a:r>
            <a:r>
              <a:rPr kumimoji="0" lang="en-US" altLang="zh-CN" b="0" baseline="-25000" dirty="0" smtClean="0"/>
              <a:t> </a:t>
            </a:r>
            <a:r>
              <a:rPr lang="zh-CN" altLang="en-US" b="0" dirty="0"/>
              <a:t>：</a:t>
            </a:r>
            <a:r>
              <a:rPr lang="zh-CN" altLang="en-US" dirty="0">
                <a:ea typeface="楷体_GB2312" pitchFamily="49" charset="-122"/>
              </a:rPr>
              <a:t>相应网孔电源电压升的代数和。</a:t>
            </a:r>
          </a:p>
        </p:txBody>
      </p:sp>
      <p:graphicFrame>
        <p:nvGraphicFramePr>
          <p:cNvPr id="326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97769"/>
              </p:ext>
            </p:extLst>
          </p:nvPr>
        </p:nvGraphicFramePr>
        <p:xfrm>
          <a:off x="4914900" y="1028700"/>
          <a:ext cx="3651250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15" name="Equation" r:id="rId3" imgW="1447560" imgH="622080" progId="Equation.DSMT4">
                  <p:embed/>
                </p:oleObj>
              </mc:Choice>
              <mc:Fallback>
                <p:oleObj name="Equation" r:id="rId3" imgW="1447560" imgH="6220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1028700"/>
                        <a:ext cx="3651250" cy="13636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0" name="Text Box 4"/>
          <p:cNvSpPr txBox="1">
            <a:spLocks noChangeArrowheads="1"/>
          </p:cNvSpPr>
          <p:nvPr/>
        </p:nvSpPr>
        <p:spPr bwMode="auto">
          <a:xfrm>
            <a:off x="4284663" y="417513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>
                <a:ea typeface="楷体_GB2312" pitchFamily="49" charset="-122"/>
              </a:rPr>
              <a:t>一般形式</a:t>
            </a:r>
            <a:r>
              <a:rPr kumimoji="0" lang="en-US" altLang="zh-CN">
                <a:ea typeface="楷体_GB2312" pitchFamily="49" charset="-122"/>
              </a:rPr>
              <a:t>:</a:t>
            </a:r>
          </a:p>
        </p:txBody>
      </p:sp>
      <p:sp>
        <p:nvSpPr>
          <p:cNvPr id="326661" name="Text Box 5"/>
          <p:cNvSpPr txBox="1">
            <a:spLocks noChangeArrowheads="1"/>
          </p:cNvSpPr>
          <p:nvPr/>
        </p:nvSpPr>
        <p:spPr bwMode="auto">
          <a:xfrm>
            <a:off x="539750" y="2954338"/>
            <a:ext cx="80025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11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1</a:t>
            </a:r>
            <a:r>
              <a:rPr kumimoji="0" lang="en-US" altLang="zh-CN" b="0" dirty="0"/>
              <a:t>+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4</a:t>
            </a:r>
            <a:r>
              <a:rPr kumimoji="0" lang="en-US" altLang="zh-CN" b="0" dirty="0"/>
              <a:t>+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5</a:t>
            </a:r>
            <a:r>
              <a:rPr kumimoji="0" lang="en-US" altLang="zh-CN" b="0" dirty="0"/>
              <a:t> </a:t>
            </a:r>
            <a:r>
              <a:rPr kumimoji="0" lang="zh-CN" altLang="en-US" b="0" dirty="0"/>
              <a:t>，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22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2</a:t>
            </a:r>
            <a:r>
              <a:rPr kumimoji="0" lang="en-US" altLang="zh-CN" b="0" dirty="0"/>
              <a:t>+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5</a:t>
            </a:r>
            <a:r>
              <a:rPr kumimoji="0" lang="en-US" altLang="zh-CN" b="0" dirty="0"/>
              <a:t>+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6</a:t>
            </a:r>
            <a:r>
              <a:rPr kumimoji="0" lang="en-US" altLang="zh-CN" b="0" dirty="0"/>
              <a:t> </a:t>
            </a:r>
            <a:r>
              <a:rPr kumimoji="0" lang="zh-CN" altLang="en-US" b="0" dirty="0"/>
              <a:t>， 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33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3</a:t>
            </a:r>
            <a:r>
              <a:rPr kumimoji="0" lang="en-US" altLang="zh-CN" b="0" dirty="0"/>
              <a:t>+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4</a:t>
            </a:r>
            <a:r>
              <a:rPr kumimoji="0" lang="en-US" altLang="zh-CN" b="0" dirty="0"/>
              <a:t>+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6 </a:t>
            </a:r>
            <a:r>
              <a:rPr kumimoji="0" lang="zh-CN" altLang="en-US" dirty="0">
                <a:ea typeface="楷体_GB2312" pitchFamily="49" charset="-122"/>
              </a:rPr>
              <a:t>称为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自电阻</a:t>
            </a:r>
            <a:r>
              <a:rPr kumimoji="0" lang="zh-CN" altLang="en-US" dirty="0">
                <a:ea typeface="楷体_GB2312" pitchFamily="49" charset="-122"/>
              </a:rPr>
              <a:t> ：</a:t>
            </a:r>
            <a:r>
              <a:rPr lang="zh-CN" altLang="en-US" dirty="0">
                <a:ea typeface="楷体_GB2312" pitchFamily="49" charset="-122"/>
              </a:rPr>
              <a:t>组成该网孔各支路上电阻之和。</a:t>
            </a:r>
          </a:p>
        </p:txBody>
      </p:sp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609600" y="4997450"/>
            <a:ext cx="757713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注意：</a:t>
            </a:r>
            <a:r>
              <a:rPr kumimoji="0" lang="zh-CN" altLang="en-US" dirty="0">
                <a:ea typeface="楷体_GB2312" pitchFamily="49" charset="-122"/>
              </a:rPr>
              <a:t>互电阻有正负之分，</a:t>
            </a:r>
            <a:r>
              <a:rPr lang="zh-CN" altLang="en-US" dirty="0">
                <a:ea typeface="楷体_GB2312" pitchFamily="49" charset="-122"/>
              </a:rPr>
              <a:t>两网孔电流的参考方向一致时取“</a:t>
            </a:r>
            <a:r>
              <a:rPr lang="en-US" altLang="zh-CN" dirty="0">
                <a:ea typeface="楷体_GB2312" pitchFamily="49" charset="-122"/>
              </a:rPr>
              <a:t>+”</a:t>
            </a:r>
            <a:r>
              <a:rPr lang="zh-CN" altLang="en-US" dirty="0">
                <a:ea typeface="楷体_GB2312" pitchFamily="49" charset="-122"/>
              </a:rPr>
              <a:t>，反之取 </a:t>
            </a:r>
            <a:r>
              <a:rPr lang="zh-CN" altLang="en-US" dirty="0" smtClean="0">
                <a:ea typeface="楷体_GB2312" pitchFamily="49" charset="-122"/>
              </a:rPr>
              <a:t>“</a:t>
            </a:r>
            <a:r>
              <a:rPr lang="zh-CN" altLang="en-US" dirty="0" smtClean="0"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dirty="0" smtClean="0">
                <a:ea typeface="楷体_GB2312" pitchFamily="49" charset="-122"/>
              </a:rPr>
              <a:t>”</a:t>
            </a:r>
            <a:r>
              <a:rPr lang="zh-CN" altLang="en-US" dirty="0">
                <a:ea typeface="楷体_GB2312" pitchFamily="49" charset="-122"/>
              </a:rPr>
              <a:t>。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539750" y="3897313"/>
            <a:ext cx="752633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12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21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5  </a:t>
            </a:r>
            <a:r>
              <a:rPr kumimoji="0" lang="zh-CN" altLang="en-US" b="0" baseline="-25000" dirty="0"/>
              <a:t>，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13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31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4  </a:t>
            </a:r>
            <a:r>
              <a:rPr kumimoji="0" lang="zh-CN" altLang="en-US" b="0" baseline="-25000" dirty="0"/>
              <a:t>，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23</a:t>
            </a:r>
            <a:r>
              <a:rPr kumimoji="0" lang="en-US" altLang="zh-CN" b="0" dirty="0"/>
              <a:t>=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32</a:t>
            </a:r>
            <a:r>
              <a:rPr kumimoji="0" lang="en-US" altLang="zh-CN" b="0" dirty="0"/>
              <a:t>= </a:t>
            </a:r>
            <a:r>
              <a:rPr kumimoji="0" lang="en-US" altLang="zh-CN" b="0" dirty="0">
                <a:cs typeface="Times New Roman" pitchFamily="18" charset="0"/>
              </a:rPr>
              <a:t>−</a:t>
            </a:r>
            <a:r>
              <a:rPr kumimoji="0" lang="en-US" altLang="zh-CN" b="0" i="1" dirty="0"/>
              <a:t>R</a:t>
            </a:r>
            <a:r>
              <a:rPr kumimoji="0" lang="en-US" altLang="zh-CN" b="0" baseline="-25000" dirty="0"/>
              <a:t>6 </a:t>
            </a:r>
            <a:r>
              <a:rPr kumimoji="0" lang="zh-CN" altLang="en-US" dirty="0">
                <a:ea typeface="楷体_GB2312" pitchFamily="49" charset="-122"/>
              </a:rPr>
              <a:t>称为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互电阻</a:t>
            </a:r>
            <a:r>
              <a:rPr kumimoji="0" lang="zh-CN" altLang="en-US" dirty="0">
                <a:ea typeface="楷体_GB2312" pitchFamily="49" charset="-122"/>
              </a:rPr>
              <a:t> ：</a:t>
            </a:r>
            <a:r>
              <a:rPr lang="zh-CN" altLang="en-US" dirty="0">
                <a:ea typeface="楷体_GB2312" pitchFamily="49" charset="-122"/>
              </a:rPr>
              <a:t>两网孔之间公共支路电阻之和。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17413"/>
              </p:ext>
            </p:extLst>
          </p:nvPr>
        </p:nvGraphicFramePr>
        <p:xfrm>
          <a:off x="0" y="0"/>
          <a:ext cx="4344987" cy="311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16" name="Visio" r:id="rId5" imgW="2437809" imgH="1749948" progId="Visio.Drawing.11">
                  <p:embed/>
                </p:oleObj>
              </mc:Choice>
              <mc:Fallback>
                <p:oleObj name="Visio" r:id="rId5" imgW="2437809" imgH="1749948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344987" cy="311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8" grpId="0"/>
      <p:bldP spid="326661" grpId="0"/>
      <p:bldP spid="326662" grpId="0"/>
      <p:bldP spid="3266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3" name="Text Box 3"/>
          <p:cNvSpPr txBox="1">
            <a:spLocks noChangeArrowheads="1"/>
          </p:cNvSpPr>
          <p:nvPr/>
        </p:nvSpPr>
        <p:spPr bwMode="auto">
          <a:xfrm>
            <a:off x="990600" y="4583113"/>
            <a:ext cx="7162800" cy="1389062"/>
          </a:xfrm>
          <a:prstGeom prst="rect">
            <a:avLst/>
          </a:prstGeom>
          <a:noFill/>
          <a:ln w="19050">
            <a:solidFill>
              <a:srgbClr val="00FF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31900" indent="-1231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528763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19263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09763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100263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574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0146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718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92906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楷体_GB2312" pitchFamily="49" charset="-122"/>
              </a:rPr>
              <a:t>左边：（未知</a:t>
            </a:r>
            <a:r>
              <a:rPr kumimoji="0" lang="zh-CN" altLang="en-US">
                <a:ea typeface="楷体_GB2312" pitchFamily="49" charset="-122"/>
              </a:rPr>
              <a:t>网孔</a:t>
            </a:r>
            <a:r>
              <a:rPr lang="zh-CN" altLang="en-US">
                <a:ea typeface="楷体_GB2312" pitchFamily="49" charset="-122"/>
              </a:rPr>
              <a:t>电流乘自电阻）加（相邻</a:t>
            </a:r>
            <a:r>
              <a:rPr kumimoji="0" lang="zh-CN" altLang="en-US">
                <a:ea typeface="楷体_GB2312" pitchFamily="49" charset="-122"/>
              </a:rPr>
              <a:t>网孔</a:t>
            </a:r>
            <a:r>
              <a:rPr lang="zh-CN" altLang="en-US">
                <a:ea typeface="楷体_GB2312" pitchFamily="49" charset="-122"/>
              </a:rPr>
              <a:t>电流乘互电阻）</a:t>
            </a:r>
          </a:p>
          <a:p>
            <a:pPr>
              <a:spcBef>
                <a:spcPct val="50000"/>
              </a:spcBef>
            </a:pPr>
            <a:r>
              <a:rPr lang="zh-CN" altLang="en-US">
                <a:ea typeface="楷体_GB2312" pitchFamily="49" charset="-122"/>
              </a:rPr>
              <a:t>右边：回路电源电压升的代数和。</a:t>
            </a:r>
          </a:p>
        </p:txBody>
      </p:sp>
      <p:sp>
        <p:nvSpPr>
          <p:cNvPr id="327684" name="Rectangle 4"/>
          <p:cNvSpPr>
            <a:spLocks noChangeArrowheads="1"/>
          </p:cNvSpPr>
          <p:nvPr/>
        </p:nvSpPr>
        <p:spPr bwMode="auto">
          <a:xfrm>
            <a:off x="469900" y="3838575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ea typeface="楷体_GB2312" pitchFamily="49" charset="-122"/>
              </a:rPr>
              <a:t>网孔</a:t>
            </a:r>
            <a:r>
              <a:rPr lang="zh-CN" altLang="en-US">
                <a:ea typeface="楷体_GB2312" pitchFamily="49" charset="-122"/>
              </a:rPr>
              <a:t>方程的特点：</a:t>
            </a:r>
          </a:p>
        </p:txBody>
      </p:sp>
      <p:sp>
        <p:nvSpPr>
          <p:cNvPr id="327685" name="Text Box 5"/>
          <p:cNvSpPr txBox="1">
            <a:spLocks noChangeArrowheads="1"/>
          </p:cNvSpPr>
          <p:nvPr/>
        </p:nvSpPr>
        <p:spPr bwMode="auto">
          <a:xfrm>
            <a:off x="295275" y="523875"/>
            <a:ext cx="57912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</a:pPr>
            <a:r>
              <a:rPr kumimoji="0" lang="zh-CN" altLang="en-US" dirty="0">
                <a:ea typeface="楷体_GB2312" pitchFamily="49" charset="-122"/>
              </a:rPr>
              <a:t>推广到 </a:t>
            </a:r>
            <a:r>
              <a:rPr kumimoji="0" lang="en-US" altLang="zh-CN" i="1" dirty="0" smtClean="0">
                <a:ea typeface="楷体_GB2312" pitchFamily="49" charset="-122"/>
              </a:rPr>
              <a:t>n </a:t>
            </a:r>
            <a:r>
              <a:rPr kumimoji="0" lang="zh-CN" altLang="en-US" dirty="0" smtClean="0">
                <a:ea typeface="楷体_GB2312" pitchFamily="49" charset="-122"/>
              </a:rPr>
              <a:t>个</a:t>
            </a:r>
            <a:r>
              <a:rPr kumimoji="0" lang="zh-CN" altLang="en-US" dirty="0">
                <a:ea typeface="楷体_GB2312" pitchFamily="49" charset="-122"/>
              </a:rPr>
              <a:t>网孔的网孔方程</a:t>
            </a:r>
            <a:r>
              <a:rPr kumimoji="0" lang="en-US" altLang="zh-CN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02245"/>
              </p:ext>
            </p:extLst>
          </p:nvPr>
        </p:nvGraphicFramePr>
        <p:xfrm>
          <a:off x="2473325" y="1344159"/>
          <a:ext cx="361315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8" name="Equation" r:id="rId3" imgW="1815840" imgH="825480" progId="Equation.DSMT4">
                  <p:embed/>
                </p:oleObj>
              </mc:Choice>
              <mc:Fallback>
                <p:oleObj name="Equation" r:id="rId3" imgW="181584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1344159"/>
                        <a:ext cx="3613150" cy="164147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animBg="1"/>
      <p:bldP spid="3276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8" name="Rectangle 4"/>
          <p:cNvSpPr>
            <a:spLocks noChangeArrowheads="1"/>
          </p:cNvSpPr>
          <p:nvPr/>
        </p:nvSpPr>
        <p:spPr bwMode="auto">
          <a:xfrm>
            <a:off x="885825" y="1457325"/>
            <a:ext cx="4338638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网孔分析法的计算步骤如下：</a:t>
            </a:r>
          </a:p>
        </p:txBody>
      </p:sp>
      <p:sp>
        <p:nvSpPr>
          <p:cNvPr id="328709" name="Rectangle 5"/>
          <p:cNvSpPr>
            <a:spLocks noChangeArrowheads="1"/>
          </p:cNvSpPr>
          <p:nvPr/>
        </p:nvSpPr>
        <p:spPr bwMode="auto">
          <a:xfrm>
            <a:off x="1524000" y="2667000"/>
            <a:ext cx="6215063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ea typeface="楷体_GB2312" pitchFamily="49" charset="-122"/>
              </a:rPr>
              <a:t>1</a:t>
            </a:r>
            <a:r>
              <a:rPr lang="zh-CN" altLang="en-US" dirty="0">
                <a:ea typeface="楷体_GB2312" pitchFamily="49" charset="-122"/>
              </a:rPr>
              <a:t>．在电路图上标明网孔电流及参考方向；</a:t>
            </a:r>
          </a:p>
        </p:txBody>
      </p:sp>
      <p:sp>
        <p:nvSpPr>
          <p:cNvPr id="328710" name="Rectangle 6"/>
          <p:cNvSpPr>
            <a:spLocks noChangeArrowheads="1"/>
          </p:cNvSpPr>
          <p:nvPr/>
        </p:nvSpPr>
        <p:spPr bwMode="auto">
          <a:xfrm>
            <a:off x="1371600" y="3411538"/>
            <a:ext cx="721995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ea typeface="楷体_GB2312" pitchFamily="49" charset="-122"/>
              </a:rPr>
              <a:t>  2</a:t>
            </a:r>
            <a:r>
              <a:rPr lang="zh-CN" altLang="en-US" dirty="0">
                <a:ea typeface="楷体_GB2312" pitchFamily="49" charset="-122"/>
              </a:rPr>
              <a:t>．根据“自电阻”、“互电阻”和“电源电压升” 的</a:t>
            </a:r>
            <a:r>
              <a:rPr lang="zh-CN" altLang="en-US" dirty="0" smtClean="0">
                <a:ea typeface="楷体_GB2312" pitchFamily="49" charset="-122"/>
              </a:rPr>
              <a:t>概念</a:t>
            </a:r>
            <a:r>
              <a:rPr lang="zh-CN" altLang="en-US" dirty="0">
                <a:ea typeface="楷体_GB2312" pitchFamily="49" charset="-122"/>
              </a:rPr>
              <a:t>布列网孔方程，并解之；</a:t>
            </a:r>
          </a:p>
        </p:txBody>
      </p:sp>
      <p:sp>
        <p:nvSpPr>
          <p:cNvPr id="328711" name="Rectangle 7"/>
          <p:cNvSpPr>
            <a:spLocks noChangeArrowheads="1"/>
          </p:cNvSpPr>
          <p:nvPr/>
        </p:nvSpPr>
        <p:spPr bwMode="auto">
          <a:xfrm>
            <a:off x="1447800" y="4513513"/>
            <a:ext cx="38100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ea typeface="楷体_GB2312" pitchFamily="49" charset="-122"/>
              </a:rPr>
              <a:t> 3</a:t>
            </a:r>
            <a:r>
              <a:rPr lang="zh-CN" altLang="en-US" dirty="0">
                <a:ea typeface="楷体_GB2312" pitchFamily="49" charset="-122"/>
              </a:rPr>
              <a:t>．求得各支路电流或电压。</a:t>
            </a:r>
          </a:p>
        </p:txBody>
      </p:sp>
      <p:grpSp>
        <p:nvGrpSpPr>
          <p:cNvPr id="328712" name="Group 8"/>
          <p:cNvGrpSpPr>
            <a:grpSpLocks/>
          </p:cNvGrpSpPr>
          <p:nvPr/>
        </p:nvGrpSpPr>
        <p:grpSpPr bwMode="auto">
          <a:xfrm>
            <a:off x="7143750" y="657225"/>
            <a:ext cx="1371600" cy="1090613"/>
            <a:chOff x="96" y="2721"/>
            <a:chExt cx="864" cy="687"/>
          </a:xfrm>
        </p:grpSpPr>
        <p:sp>
          <p:nvSpPr>
            <p:cNvPr id="328713" name="AutoShape 9"/>
            <p:cNvSpPr>
              <a:spLocks noChangeArrowheads="1"/>
            </p:cNvSpPr>
            <p:nvPr/>
          </p:nvSpPr>
          <p:spPr bwMode="auto">
            <a:xfrm>
              <a:off x="96" y="2721"/>
              <a:ext cx="816" cy="687"/>
            </a:xfrm>
            <a:prstGeom prst="irregularSeal1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714" name="Text Box 10"/>
            <p:cNvSpPr txBox="1">
              <a:spLocks noChangeArrowheads="1"/>
            </p:cNvSpPr>
            <p:nvPr/>
          </p:nvSpPr>
          <p:spPr bwMode="auto">
            <a:xfrm>
              <a:off x="192" y="2865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ea typeface="楷体_GB2312" pitchFamily="49" charset="-122"/>
                </a:rPr>
                <a:t>归纳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/>
      <p:bldP spid="328709" grpId="0"/>
      <p:bldP spid="328710" grpId="0"/>
      <p:bldP spid="3287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Text Box 2"/>
          <p:cNvSpPr txBox="1">
            <a:spLocks noChangeArrowheads="1"/>
          </p:cNvSpPr>
          <p:nvPr/>
        </p:nvSpPr>
        <p:spPr bwMode="auto">
          <a:xfrm>
            <a:off x="395288" y="228600"/>
            <a:ext cx="5976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 smtClean="0">
                <a:solidFill>
                  <a:srgbClr val="0000CC"/>
                </a:solidFill>
              </a:rPr>
              <a:t>3</a:t>
            </a:r>
            <a:r>
              <a:rPr lang="zh-CN" altLang="en-US" dirty="0" smtClean="0">
                <a:solidFill>
                  <a:srgbClr val="0000CC"/>
                </a:solidFill>
              </a:rPr>
              <a:t>、</a:t>
            </a:r>
            <a:r>
              <a:rPr lang="zh-CN" altLang="en-US" dirty="0">
                <a:solidFill>
                  <a:srgbClr val="0000CC"/>
                </a:solidFill>
              </a:rPr>
              <a:t>网孔方程的特殊处理方法</a:t>
            </a:r>
          </a:p>
        </p:txBody>
      </p:sp>
      <p:sp>
        <p:nvSpPr>
          <p:cNvPr id="332803" name="Text Box 3"/>
          <p:cNvSpPr txBox="1">
            <a:spLocks noChangeArrowheads="1"/>
          </p:cNvSpPr>
          <p:nvPr/>
        </p:nvSpPr>
        <p:spPr bwMode="auto">
          <a:xfrm>
            <a:off x="651556" y="808115"/>
            <a:ext cx="59769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 smtClean="0">
                <a:latin typeface="+mn-lt"/>
                <a:ea typeface="楷体_GB2312" pitchFamily="49" charset="-122"/>
              </a:rPr>
              <a:t>(a) </a:t>
            </a:r>
            <a:r>
              <a:rPr lang="zh-CN" altLang="en-US" dirty="0" smtClean="0">
                <a:latin typeface="+mn-lt"/>
                <a:ea typeface="楷体_GB2312" pitchFamily="49" charset="-122"/>
              </a:rPr>
              <a:t>含</a:t>
            </a:r>
            <a:r>
              <a:rPr lang="zh-CN" altLang="en-US" dirty="0">
                <a:latin typeface="+mn-lt"/>
                <a:ea typeface="楷体_GB2312" pitchFamily="49" charset="-122"/>
              </a:rPr>
              <a:t>理想电流源电路的网孔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39402"/>
              </p:ext>
            </p:extLst>
          </p:nvPr>
        </p:nvGraphicFramePr>
        <p:xfrm>
          <a:off x="2451100" y="1913416"/>
          <a:ext cx="5367338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98" name="Visio" r:id="rId4" imgW="2333715" imgH="819137" progId="Visio.Drawing.11">
                  <p:embed/>
                </p:oleObj>
              </mc:Choice>
              <mc:Fallback>
                <p:oleObj name="Visio" r:id="rId4" imgW="2333715" imgH="81913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913416"/>
                        <a:ext cx="5367338" cy="19939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500949"/>
              </p:ext>
            </p:extLst>
          </p:nvPr>
        </p:nvGraphicFramePr>
        <p:xfrm>
          <a:off x="900113" y="4022493"/>
          <a:ext cx="31019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99" name="公式" r:id="rId6" imgW="1422360" imgH="215640" progId="Equation.3">
                  <p:embed/>
                </p:oleObj>
              </mc:Choice>
              <mc:Fallback>
                <p:oleObj name="公式" r:id="rId6" imgW="1422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22493"/>
                        <a:ext cx="3101975" cy="4699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369646"/>
              </p:ext>
            </p:extLst>
          </p:nvPr>
        </p:nvGraphicFramePr>
        <p:xfrm>
          <a:off x="5843588" y="4085993"/>
          <a:ext cx="2289175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00" name="Equation" r:id="rId8" imgW="965160" imgH="609480" progId="Equation.DSMT4">
                  <p:embed/>
                </p:oleObj>
              </mc:Choice>
              <mc:Fallback>
                <p:oleObj name="Equation" r:id="rId8" imgW="96516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4085993"/>
                        <a:ext cx="2289175" cy="14446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4572000" y="4047893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0">
                <a:latin typeface="Arial" charset="0"/>
                <a:ea typeface="楷体_GB2312" pitchFamily="49" charset="-122"/>
              </a:rPr>
              <a:t>解得：</a:t>
            </a: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1204913" y="6020472"/>
            <a:ext cx="762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dirty="0">
                <a:latin typeface="Arial" charset="0"/>
                <a:ea typeface="楷体_GB2312" pitchFamily="49" charset="-122"/>
              </a:rPr>
              <a:t>电流源在网孔</a:t>
            </a:r>
            <a:r>
              <a:rPr kumimoji="0" lang="zh-CN" altLang="en-US" dirty="0" smtClean="0">
                <a:latin typeface="Arial" charset="0"/>
                <a:ea typeface="楷体_GB2312" pitchFamily="49" charset="-122"/>
              </a:rPr>
              <a:t>边缘时</a:t>
            </a:r>
            <a:r>
              <a:rPr kumimoji="0" lang="zh-CN" altLang="en-US" dirty="0">
                <a:latin typeface="Arial" charset="0"/>
                <a:ea typeface="楷体_GB2312" pitchFamily="49" charset="-122"/>
              </a:rPr>
              <a:t>，用网孔电流</a:t>
            </a:r>
            <a:r>
              <a:rPr kumimoji="0" lang="zh-CN" altLang="en-US" dirty="0" smtClean="0">
                <a:latin typeface="Arial" charset="0"/>
                <a:ea typeface="楷体_GB2312" pitchFamily="49" charset="-122"/>
              </a:rPr>
              <a:t>法可简化计算。</a:t>
            </a:r>
            <a:endParaRPr kumimoji="0" lang="zh-CN" altLang="en-US" dirty="0">
              <a:latin typeface="Arial" charset="0"/>
              <a:ea typeface="楷体_GB2312" pitchFamily="49" charset="-122"/>
            </a:endParaRPr>
          </a:p>
        </p:txBody>
      </p:sp>
      <p:graphicFrame>
        <p:nvGraphicFramePr>
          <p:cNvPr id="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573464"/>
              </p:ext>
            </p:extLst>
          </p:nvPr>
        </p:nvGraphicFramePr>
        <p:xfrm>
          <a:off x="954088" y="4611455"/>
          <a:ext cx="99853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01" name="Equation" r:id="rId10" imgW="457200" imgH="203040" progId="Equation.DSMT4">
                  <p:embed/>
                </p:oleObj>
              </mc:Choice>
              <mc:Fallback>
                <p:oleObj name="Equation" r:id="rId10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4611455"/>
                        <a:ext cx="998537" cy="44291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824821" y="5563272"/>
            <a:ext cx="117475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zh-CN" altLang="en-US" dirty="0">
                <a:solidFill>
                  <a:schemeClr val="bg1"/>
                </a:solidFill>
              </a:rPr>
              <a:t>启发</a:t>
            </a:r>
          </a:p>
        </p:txBody>
      </p:sp>
      <p:sp>
        <p:nvSpPr>
          <p:cNvPr id="2" name="矩形 1"/>
          <p:cNvSpPr/>
          <p:nvPr/>
        </p:nvSpPr>
        <p:spPr>
          <a:xfrm>
            <a:off x="954088" y="1336262"/>
            <a:ext cx="3005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7030A0"/>
                </a:solidFill>
                <a:ea typeface="楷体_GB2312" pitchFamily="49" charset="-122"/>
              </a:rPr>
              <a:t>电流源在网孔边缘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30300" y="1769616"/>
            <a:ext cx="494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ea typeface="楷体_GB2312" pitchFamily="49" charset="-122"/>
              </a:rPr>
              <a:t>例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/>
      <p:bldP spid="34" grpId="0"/>
      <p:bldP spid="35" grpId="0"/>
      <p:bldP spid="37" grpId="0" animBg="1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4" name="Text Box 4"/>
          <p:cNvSpPr txBox="1">
            <a:spLocks noChangeArrowheads="1"/>
          </p:cNvSpPr>
          <p:nvPr/>
        </p:nvSpPr>
        <p:spPr bwMode="auto">
          <a:xfrm>
            <a:off x="1012371" y="955522"/>
            <a:ext cx="21948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dirty="0" smtClean="0">
                <a:latin typeface="+mn-lt"/>
                <a:ea typeface="楷体_GB2312" pitchFamily="49" charset="-122"/>
              </a:rPr>
              <a:t>  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列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网孔方程</a:t>
            </a:r>
          </a:p>
        </p:txBody>
      </p:sp>
      <p:pic>
        <p:nvPicPr>
          <p:cNvPr id="33280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178" y="1644257"/>
            <a:ext cx="5867400" cy="451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2807" name="Text Box 7"/>
          <p:cNvSpPr txBox="1">
            <a:spLocks noChangeArrowheads="1"/>
          </p:cNvSpPr>
          <p:nvPr/>
        </p:nvSpPr>
        <p:spPr bwMode="auto">
          <a:xfrm>
            <a:off x="3767491" y="4665884"/>
            <a:ext cx="6270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26V</a:t>
            </a:r>
          </a:p>
        </p:txBody>
      </p:sp>
      <p:sp>
        <p:nvSpPr>
          <p:cNvPr id="332808" name="Text Box 8"/>
          <p:cNvSpPr txBox="1">
            <a:spLocks noChangeArrowheads="1"/>
          </p:cNvSpPr>
          <p:nvPr/>
        </p:nvSpPr>
        <p:spPr bwMode="auto">
          <a:xfrm>
            <a:off x="6179687" y="4434297"/>
            <a:ext cx="4988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332809" name="Text Box 9"/>
          <p:cNvSpPr txBox="1">
            <a:spLocks noChangeArrowheads="1"/>
          </p:cNvSpPr>
          <p:nvPr/>
        </p:nvSpPr>
        <p:spPr bwMode="auto">
          <a:xfrm>
            <a:off x="5797031" y="1920732"/>
            <a:ext cx="5100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2810" name="Text Box 10"/>
          <p:cNvSpPr txBox="1">
            <a:spLocks noChangeArrowheads="1"/>
          </p:cNvSpPr>
          <p:nvPr/>
        </p:nvSpPr>
        <p:spPr bwMode="auto">
          <a:xfrm>
            <a:off x="4465731" y="2695162"/>
            <a:ext cx="5100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2</a:t>
            </a:r>
            <a:r>
              <a:rPr lang="en-US" altLang="zh-CN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2811" name="Text Box 11"/>
          <p:cNvSpPr txBox="1">
            <a:spLocks noChangeArrowheads="1"/>
          </p:cNvSpPr>
          <p:nvPr/>
        </p:nvSpPr>
        <p:spPr bwMode="auto">
          <a:xfrm>
            <a:off x="7002114" y="2703740"/>
            <a:ext cx="5100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5</a:t>
            </a:r>
            <a:r>
              <a:rPr lang="en-US" altLang="zh-CN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2812" name="Text Box 12"/>
          <p:cNvSpPr txBox="1">
            <a:spLocks noChangeArrowheads="1"/>
          </p:cNvSpPr>
          <p:nvPr/>
        </p:nvSpPr>
        <p:spPr bwMode="auto">
          <a:xfrm>
            <a:off x="3226096" y="3663875"/>
            <a:ext cx="5100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4</a:t>
            </a:r>
            <a:r>
              <a:rPr lang="en-US" altLang="zh-CN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2813" name="Text Box 13"/>
          <p:cNvSpPr txBox="1">
            <a:spLocks noChangeArrowheads="1"/>
          </p:cNvSpPr>
          <p:nvPr/>
        </p:nvSpPr>
        <p:spPr bwMode="auto">
          <a:xfrm>
            <a:off x="7556534" y="4420707"/>
            <a:ext cx="5100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8</a:t>
            </a:r>
            <a:r>
              <a:rPr lang="en-US" altLang="zh-CN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grpSp>
        <p:nvGrpSpPr>
          <p:cNvPr id="332814" name="Group 14"/>
          <p:cNvGrpSpPr>
            <a:grpSpLocks/>
          </p:cNvGrpSpPr>
          <p:nvPr/>
        </p:nvGrpSpPr>
        <p:grpSpPr bwMode="auto">
          <a:xfrm>
            <a:off x="4465166" y="2371272"/>
            <a:ext cx="3452064" cy="2564335"/>
            <a:chOff x="1782" y="1296"/>
            <a:chExt cx="2400" cy="1720"/>
          </a:xfrm>
        </p:grpSpPr>
        <p:grpSp>
          <p:nvGrpSpPr>
            <p:cNvPr id="332815" name="Group 15"/>
            <p:cNvGrpSpPr>
              <a:grpSpLocks/>
            </p:cNvGrpSpPr>
            <p:nvPr/>
          </p:nvGrpSpPr>
          <p:grpSpPr bwMode="auto">
            <a:xfrm>
              <a:off x="2400" y="1296"/>
              <a:ext cx="864" cy="480"/>
              <a:chOff x="2544" y="1296"/>
              <a:chExt cx="864" cy="480"/>
            </a:xfrm>
          </p:grpSpPr>
          <p:sp>
            <p:nvSpPr>
              <p:cNvPr id="332816" name="AutoShape 16"/>
              <p:cNvSpPr>
                <a:spLocks noChangeArrowheads="1"/>
              </p:cNvSpPr>
              <p:nvPr/>
            </p:nvSpPr>
            <p:spPr bwMode="auto">
              <a:xfrm>
                <a:off x="2544" y="1296"/>
                <a:ext cx="864" cy="480"/>
              </a:xfrm>
              <a:custGeom>
                <a:avLst/>
                <a:gdLst>
                  <a:gd name="G0" fmla="+- 2950475 0 0"/>
                  <a:gd name="G1" fmla="+- -7844438 0 0"/>
                  <a:gd name="G2" fmla="+- 2950475 0 -7844438"/>
                  <a:gd name="G3" fmla="+- 10800 0 0"/>
                  <a:gd name="G4" fmla="+- 0 0 2950475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9796 0 0"/>
                  <a:gd name="G9" fmla="+- 0 0 -7844438"/>
                  <a:gd name="G10" fmla="+- 9796 0 2700"/>
                  <a:gd name="G11" fmla="cos G10 2950475"/>
                  <a:gd name="G12" fmla="sin G10 2950475"/>
                  <a:gd name="G13" fmla="cos 13500 2950475"/>
                  <a:gd name="G14" fmla="sin 13500 2950475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9796 1 2"/>
                  <a:gd name="G20" fmla="+- G19 5400 0"/>
                  <a:gd name="G21" fmla="cos G20 2950475"/>
                  <a:gd name="G22" fmla="sin G20 2950475"/>
                  <a:gd name="G23" fmla="+- G21 10800 0"/>
                  <a:gd name="G24" fmla="+- G12 G23 G22"/>
                  <a:gd name="G25" fmla="+- G22 G23 G11"/>
                  <a:gd name="G26" fmla="cos 10800 2950475"/>
                  <a:gd name="G27" fmla="sin 10800 2950475"/>
                  <a:gd name="G28" fmla="cos 9796 2950475"/>
                  <a:gd name="G29" fmla="sin 9796 2950475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7844438"/>
                  <a:gd name="G36" fmla="sin G34 -7844438"/>
                  <a:gd name="G37" fmla="+/ -7844438 2950475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9796 G39"/>
                  <a:gd name="G43" fmla="sin 9796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19386 w 21600"/>
                  <a:gd name="T5" fmla="*/ 4249 h 21600"/>
                  <a:gd name="T6" fmla="*/ 5698 w 21600"/>
                  <a:gd name="T7" fmla="*/ 1854 h 21600"/>
                  <a:gd name="T8" fmla="*/ 18588 w 21600"/>
                  <a:gd name="T9" fmla="*/ 4858 h 21600"/>
                  <a:gd name="T10" fmla="*/ 20342 w 21600"/>
                  <a:gd name="T11" fmla="*/ 20349 h 21600"/>
                  <a:gd name="T12" fmla="*/ 15814 w 21600"/>
                  <a:gd name="T13" fmla="*/ 20348 h 21600"/>
                  <a:gd name="T14" fmla="*/ 15815 w 21600"/>
                  <a:gd name="T15" fmla="*/ 15819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7724" y="17729"/>
                    </a:moveTo>
                    <a:cubicBezTo>
                      <a:pt x="19562" y="15892"/>
                      <a:pt x="20596" y="13399"/>
                      <a:pt x="20596" y="10800"/>
                    </a:cubicBezTo>
                    <a:cubicBezTo>
                      <a:pt x="20596" y="5389"/>
                      <a:pt x="16210" y="1004"/>
                      <a:pt x="10800" y="1004"/>
                    </a:cubicBezTo>
                    <a:cubicBezTo>
                      <a:pt x="9098" y="1003"/>
                      <a:pt x="7425" y="1447"/>
                      <a:pt x="5946" y="2290"/>
                    </a:cubicBezTo>
                    <a:lnTo>
                      <a:pt x="5449" y="1418"/>
                    </a:lnTo>
                    <a:cubicBezTo>
                      <a:pt x="7079" y="488"/>
                      <a:pt x="8923" y="-1"/>
                      <a:pt x="10800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ubicBezTo>
                      <a:pt x="21600" y="13665"/>
                      <a:pt x="20461" y="16413"/>
                      <a:pt x="18433" y="18439"/>
                    </a:cubicBezTo>
                    <a:lnTo>
                      <a:pt x="20342" y="20349"/>
                    </a:lnTo>
                    <a:lnTo>
                      <a:pt x="15814" y="20348"/>
                    </a:lnTo>
                    <a:lnTo>
                      <a:pt x="15815" y="15819"/>
                    </a:lnTo>
                    <a:lnTo>
                      <a:pt x="17724" y="17729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32817" name="Text Box 17"/>
              <p:cNvSpPr txBox="1">
                <a:spLocks noChangeArrowheads="1"/>
              </p:cNvSpPr>
              <p:nvPr/>
            </p:nvSpPr>
            <p:spPr bwMode="auto">
              <a:xfrm>
                <a:off x="2906" y="1381"/>
                <a:ext cx="247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b="0" i="1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</a:rPr>
                  <a:t>1</a:t>
                </a:r>
                <a:endParaRPr lang="en-US" altLang="zh-CN" sz="2000" b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32818" name="Group 18"/>
            <p:cNvGrpSpPr>
              <a:grpSpLocks/>
            </p:cNvGrpSpPr>
            <p:nvPr/>
          </p:nvGrpSpPr>
          <p:grpSpPr bwMode="auto">
            <a:xfrm>
              <a:off x="1782" y="2056"/>
              <a:ext cx="560" cy="960"/>
              <a:chOff x="1830" y="2056"/>
              <a:chExt cx="560" cy="960"/>
            </a:xfrm>
          </p:grpSpPr>
          <p:sp>
            <p:nvSpPr>
              <p:cNvPr id="332819" name="AutoShape 19"/>
              <p:cNvSpPr>
                <a:spLocks noChangeArrowheads="1"/>
              </p:cNvSpPr>
              <p:nvPr/>
            </p:nvSpPr>
            <p:spPr bwMode="auto">
              <a:xfrm>
                <a:off x="1830" y="2056"/>
                <a:ext cx="528" cy="960"/>
              </a:xfrm>
              <a:custGeom>
                <a:avLst/>
                <a:gdLst>
                  <a:gd name="G0" fmla="+- -264420 0 0"/>
                  <a:gd name="G1" fmla="+- -10830384 0 0"/>
                  <a:gd name="G2" fmla="+- -264420 0 -10830384"/>
                  <a:gd name="G3" fmla="+- 10800 0 0"/>
                  <a:gd name="G4" fmla="+- 0 0 -264420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10105 0 0"/>
                  <a:gd name="G9" fmla="+- 0 0 -10830384"/>
                  <a:gd name="G10" fmla="+- 10105 0 2700"/>
                  <a:gd name="G11" fmla="cos G10 -264420"/>
                  <a:gd name="G12" fmla="sin G10 -264420"/>
                  <a:gd name="G13" fmla="cos 13500 -264420"/>
                  <a:gd name="G14" fmla="sin 13500 -264420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10105 1 2"/>
                  <a:gd name="G20" fmla="+- G19 5400 0"/>
                  <a:gd name="G21" fmla="cos G20 -264420"/>
                  <a:gd name="G22" fmla="sin G20 -264420"/>
                  <a:gd name="G23" fmla="+- G21 10800 0"/>
                  <a:gd name="G24" fmla="+- G12 G23 G22"/>
                  <a:gd name="G25" fmla="+- G22 G23 G11"/>
                  <a:gd name="G26" fmla="cos 10800 -264420"/>
                  <a:gd name="G27" fmla="sin 10800 -264420"/>
                  <a:gd name="G28" fmla="cos 10105 -264420"/>
                  <a:gd name="G29" fmla="sin 10105 -264420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10830384"/>
                  <a:gd name="G36" fmla="sin G34 -10830384"/>
                  <a:gd name="G37" fmla="+/ -10830384 -264420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10105 G39"/>
                  <a:gd name="G43" fmla="sin 10105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11807 w 21600"/>
                  <a:gd name="T5" fmla="*/ 47 h 21600"/>
                  <a:gd name="T6" fmla="*/ 691 w 21600"/>
                  <a:gd name="T7" fmla="*/ 8140 h 21600"/>
                  <a:gd name="T8" fmla="*/ 11742 w 21600"/>
                  <a:gd name="T9" fmla="*/ 739 h 21600"/>
                  <a:gd name="T10" fmla="*/ 24266 w 21600"/>
                  <a:gd name="T11" fmla="*/ 9850 h 21600"/>
                  <a:gd name="T12" fmla="*/ 21441 w 21600"/>
                  <a:gd name="T13" fmla="*/ 13105 h 21600"/>
                  <a:gd name="T14" fmla="*/ 18186 w 21600"/>
                  <a:gd name="T15" fmla="*/ 10278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20879" y="10089"/>
                    </a:moveTo>
                    <a:cubicBezTo>
                      <a:pt x="20506" y="4797"/>
                      <a:pt x="16104" y="695"/>
                      <a:pt x="10800" y="695"/>
                    </a:cubicBezTo>
                    <a:cubicBezTo>
                      <a:pt x="6209" y="694"/>
                      <a:pt x="2195" y="3789"/>
                      <a:pt x="1027" y="8228"/>
                    </a:cubicBezTo>
                    <a:lnTo>
                      <a:pt x="355" y="8051"/>
                    </a:lnTo>
                    <a:cubicBezTo>
                      <a:pt x="1603" y="3307"/>
                      <a:pt x="5893" y="-1"/>
                      <a:pt x="10800" y="0"/>
                    </a:cubicBezTo>
                    <a:cubicBezTo>
                      <a:pt x="16469" y="0"/>
                      <a:pt x="21174" y="4384"/>
                      <a:pt x="21573" y="10040"/>
                    </a:cubicBezTo>
                    <a:lnTo>
                      <a:pt x="24266" y="9850"/>
                    </a:lnTo>
                    <a:lnTo>
                      <a:pt x="21441" y="13105"/>
                    </a:lnTo>
                    <a:lnTo>
                      <a:pt x="18186" y="10278"/>
                    </a:lnTo>
                    <a:lnTo>
                      <a:pt x="20879" y="10089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32820" name="Text Box 20"/>
              <p:cNvSpPr txBox="1">
                <a:spLocks noChangeArrowheads="1"/>
              </p:cNvSpPr>
              <p:nvPr/>
            </p:nvSpPr>
            <p:spPr bwMode="auto">
              <a:xfrm>
                <a:off x="1974" y="2189"/>
                <a:ext cx="416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000" b="0" i="1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</a:rPr>
                  <a:t>2</a:t>
                </a:r>
                <a:endParaRPr lang="en-US" altLang="zh-CN" sz="2000" b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32821" name="Group 21"/>
            <p:cNvGrpSpPr>
              <a:grpSpLocks/>
            </p:cNvGrpSpPr>
            <p:nvPr/>
          </p:nvGrpSpPr>
          <p:grpSpPr bwMode="auto">
            <a:xfrm>
              <a:off x="3510" y="1999"/>
              <a:ext cx="672" cy="912"/>
              <a:chOff x="3510" y="1999"/>
              <a:chExt cx="672" cy="912"/>
            </a:xfrm>
          </p:grpSpPr>
          <p:sp>
            <p:nvSpPr>
              <p:cNvPr id="332822" name="AutoShape 22"/>
              <p:cNvSpPr>
                <a:spLocks noChangeArrowheads="1"/>
              </p:cNvSpPr>
              <p:nvPr/>
            </p:nvSpPr>
            <p:spPr bwMode="auto">
              <a:xfrm>
                <a:off x="3510" y="1999"/>
                <a:ext cx="672" cy="912"/>
              </a:xfrm>
              <a:custGeom>
                <a:avLst/>
                <a:gdLst>
                  <a:gd name="G0" fmla="+- -2539089 0 0"/>
                  <a:gd name="G1" fmla="+- 10841832 0 0"/>
                  <a:gd name="G2" fmla="+- -2539089 0 10841832"/>
                  <a:gd name="G3" fmla="+- 10800 0 0"/>
                  <a:gd name="G4" fmla="+- 0 0 -2539089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9953 0 0"/>
                  <a:gd name="G9" fmla="+- 0 0 10841832"/>
                  <a:gd name="G10" fmla="+- 9953 0 2700"/>
                  <a:gd name="G11" fmla="cos G10 -2539089"/>
                  <a:gd name="G12" fmla="sin G10 -2539089"/>
                  <a:gd name="G13" fmla="cos 13500 -2539089"/>
                  <a:gd name="G14" fmla="sin 13500 -2539089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9953 1 2"/>
                  <a:gd name="G20" fmla="+- G19 5400 0"/>
                  <a:gd name="G21" fmla="cos G20 -2539089"/>
                  <a:gd name="G22" fmla="sin G20 -2539089"/>
                  <a:gd name="G23" fmla="+- G21 10800 0"/>
                  <a:gd name="G24" fmla="+- G12 G23 G22"/>
                  <a:gd name="G25" fmla="+- G22 G23 G11"/>
                  <a:gd name="G26" fmla="cos 10800 -2539089"/>
                  <a:gd name="G27" fmla="sin 10800 -2539089"/>
                  <a:gd name="G28" fmla="cos 9953 -2539089"/>
                  <a:gd name="G29" fmla="sin 9953 -2539089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10841832"/>
                  <a:gd name="G36" fmla="sin G34 10841832"/>
                  <a:gd name="G37" fmla="+/ 10841832 -2539089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9953 G39"/>
                  <a:gd name="G43" fmla="sin 9953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5954 w 21600"/>
                  <a:gd name="T5" fmla="*/ 1147 h 21600"/>
                  <a:gd name="T6" fmla="*/ 756 w 21600"/>
                  <a:gd name="T7" fmla="*/ 13409 h 21600"/>
                  <a:gd name="T8" fmla="*/ 6334 w 21600"/>
                  <a:gd name="T9" fmla="*/ 1904 h 21600"/>
                  <a:gd name="T10" fmla="*/ 21329 w 21600"/>
                  <a:gd name="T11" fmla="*/ 2351 h 21600"/>
                  <a:gd name="T12" fmla="*/ 20848 w 21600"/>
                  <a:gd name="T13" fmla="*/ 6741 h 21600"/>
                  <a:gd name="T14" fmla="*/ 16457 w 21600"/>
                  <a:gd name="T15" fmla="*/ 6260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8562" y="4571"/>
                    </a:moveTo>
                    <a:cubicBezTo>
                      <a:pt x="16673" y="2216"/>
                      <a:pt x="13818" y="847"/>
                      <a:pt x="10800" y="847"/>
                    </a:cubicBezTo>
                    <a:cubicBezTo>
                      <a:pt x="5303" y="847"/>
                      <a:pt x="847" y="5303"/>
                      <a:pt x="847" y="10800"/>
                    </a:cubicBezTo>
                    <a:cubicBezTo>
                      <a:pt x="846" y="11644"/>
                      <a:pt x="954" y="12485"/>
                      <a:pt x="1166" y="13303"/>
                    </a:cubicBezTo>
                    <a:lnTo>
                      <a:pt x="347" y="13516"/>
                    </a:lnTo>
                    <a:cubicBezTo>
                      <a:pt x="116" y="12629"/>
                      <a:pt x="0" y="11716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4075" y="-1"/>
                      <a:pt x="17173" y="1486"/>
                      <a:pt x="19223" y="4040"/>
                    </a:cubicBezTo>
                    <a:lnTo>
                      <a:pt x="21329" y="2351"/>
                    </a:lnTo>
                    <a:lnTo>
                      <a:pt x="20848" y="6741"/>
                    </a:lnTo>
                    <a:lnTo>
                      <a:pt x="16457" y="6260"/>
                    </a:lnTo>
                    <a:lnTo>
                      <a:pt x="18562" y="4571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32823" name="Text Box 23"/>
              <p:cNvSpPr txBox="1">
                <a:spLocks noChangeArrowheads="1"/>
              </p:cNvSpPr>
              <p:nvPr/>
            </p:nvSpPr>
            <p:spPr bwMode="auto">
              <a:xfrm>
                <a:off x="3688" y="2163"/>
                <a:ext cx="353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2000" b="0" i="1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</a:rPr>
                  <a:t>3</a:t>
                </a:r>
                <a:endParaRPr lang="en-US" altLang="zh-CN" sz="2000" b="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32824" name="Group 24"/>
          <p:cNvGrpSpPr>
            <a:grpSpLocks/>
          </p:cNvGrpSpPr>
          <p:nvPr/>
        </p:nvGrpSpPr>
        <p:grpSpPr bwMode="auto">
          <a:xfrm>
            <a:off x="5285248" y="3306065"/>
            <a:ext cx="407988" cy="1695451"/>
            <a:chOff x="3355" y="2264"/>
            <a:chExt cx="257" cy="1068"/>
          </a:xfrm>
        </p:grpSpPr>
        <p:sp>
          <p:nvSpPr>
            <p:cNvPr id="332825" name="Text Box 25"/>
            <p:cNvSpPr txBox="1">
              <a:spLocks noChangeArrowheads="1"/>
            </p:cNvSpPr>
            <p:nvPr/>
          </p:nvSpPr>
          <p:spPr bwMode="auto">
            <a:xfrm>
              <a:off x="3380" y="2264"/>
              <a:ext cx="2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0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332826" name="Text Box 26"/>
            <p:cNvSpPr txBox="1">
              <a:spLocks noChangeArrowheads="1"/>
            </p:cNvSpPr>
            <p:nvPr/>
          </p:nvSpPr>
          <p:spPr bwMode="auto">
            <a:xfrm>
              <a:off x="3399" y="3041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0">
                  <a:solidFill>
                    <a:schemeClr val="bg1"/>
                  </a:solidFill>
                </a:rPr>
                <a:t>_</a:t>
              </a:r>
            </a:p>
          </p:txBody>
        </p:sp>
        <p:sp>
          <p:nvSpPr>
            <p:cNvPr id="332827" name="Text Box 27"/>
            <p:cNvSpPr txBox="1">
              <a:spLocks noChangeArrowheads="1"/>
            </p:cNvSpPr>
            <p:nvPr/>
          </p:nvSpPr>
          <p:spPr bwMode="auto">
            <a:xfrm>
              <a:off x="3355" y="2687"/>
              <a:ext cx="2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0" i="1">
                  <a:solidFill>
                    <a:schemeClr val="bg1"/>
                  </a:solidFill>
                </a:rPr>
                <a:t>V</a:t>
              </a:r>
            </a:p>
          </p:txBody>
        </p:sp>
      </p:grpSp>
      <p:sp>
        <p:nvSpPr>
          <p:cNvPr id="332828" name="AutoShape 28"/>
          <p:cNvSpPr>
            <a:spLocks noChangeArrowheads="1"/>
          </p:cNvSpPr>
          <p:nvPr/>
        </p:nvSpPr>
        <p:spPr bwMode="auto">
          <a:xfrm>
            <a:off x="263978" y="5393872"/>
            <a:ext cx="3200400" cy="1143000"/>
          </a:xfrm>
          <a:prstGeom prst="cloudCallout">
            <a:avLst>
              <a:gd name="adj1" fmla="val 62301"/>
              <a:gd name="adj2" fmla="val -57361"/>
            </a:avLst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电流源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两端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电压设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i="1" dirty="0">
                <a:ea typeface="楷体_GB2312" pitchFamily="49" charset="-122"/>
              </a:rPr>
              <a:t>V</a:t>
            </a:r>
            <a:endParaRPr lang="en-US" altLang="zh-CN" i="1" dirty="0"/>
          </a:p>
        </p:txBody>
      </p:sp>
      <p:sp>
        <p:nvSpPr>
          <p:cNvPr id="32" name="矩形 31"/>
          <p:cNvSpPr/>
          <p:nvPr/>
        </p:nvSpPr>
        <p:spPr>
          <a:xfrm>
            <a:off x="732044" y="380322"/>
            <a:ext cx="3348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7030A0"/>
                </a:solidFill>
                <a:ea typeface="楷体_GB2312" pitchFamily="49" charset="-122"/>
              </a:rPr>
              <a:t>电流源不在网孔边缘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6832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3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/>
      <p:bldP spid="3328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913" name="Group 89"/>
          <p:cNvGrpSpPr>
            <a:grpSpLocks/>
          </p:cNvGrpSpPr>
          <p:nvPr/>
        </p:nvGrpSpPr>
        <p:grpSpPr bwMode="auto">
          <a:xfrm>
            <a:off x="3057525" y="1935163"/>
            <a:ext cx="5867400" cy="4332287"/>
            <a:chOff x="2064" y="775"/>
            <a:chExt cx="3696" cy="2729"/>
          </a:xfrm>
        </p:grpSpPr>
        <p:pic>
          <p:nvPicPr>
            <p:cNvPr id="3338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775"/>
              <a:ext cx="3696" cy="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3828" name="Text Box 4"/>
            <p:cNvSpPr txBox="1">
              <a:spLocks noChangeArrowheads="1"/>
            </p:cNvSpPr>
            <p:nvPr/>
          </p:nvSpPr>
          <p:spPr bwMode="auto">
            <a:xfrm>
              <a:off x="2546" y="2584"/>
              <a:ext cx="39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 dirty="0">
                  <a:solidFill>
                    <a:schemeClr val="bg1"/>
                  </a:solidFill>
                </a:rPr>
                <a:t>26V</a:t>
              </a:r>
            </a:p>
          </p:txBody>
        </p:sp>
        <p:sp>
          <p:nvSpPr>
            <p:cNvPr id="333829" name="Text Box 5"/>
            <p:cNvSpPr txBox="1">
              <a:spLocks noChangeArrowheads="1"/>
            </p:cNvSpPr>
            <p:nvPr/>
          </p:nvSpPr>
          <p:spPr bwMode="auto">
            <a:xfrm>
              <a:off x="4016" y="2625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>
                  <a:solidFill>
                    <a:schemeClr val="bg1"/>
                  </a:solidFill>
                </a:rPr>
                <a:t>2A</a:t>
              </a:r>
            </a:p>
          </p:txBody>
        </p:sp>
        <p:sp>
          <p:nvSpPr>
            <p:cNvPr id="333830" name="Text Box 6"/>
            <p:cNvSpPr txBox="1">
              <a:spLocks noChangeArrowheads="1"/>
            </p:cNvSpPr>
            <p:nvPr/>
          </p:nvSpPr>
          <p:spPr bwMode="auto">
            <a:xfrm>
              <a:off x="3824" y="950"/>
              <a:ext cx="32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 dirty="0">
                  <a:solidFill>
                    <a:schemeClr val="bg1"/>
                  </a:solidFill>
                </a:rPr>
                <a:t>1</a:t>
              </a:r>
              <a:r>
                <a:rPr lang="en-US" altLang="zh-CN" sz="2000" b="0" dirty="0">
                  <a:solidFill>
                    <a:schemeClr val="bg1"/>
                  </a:solidFill>
                  <a:sym typeface="Symbol" pitchFamily="18" charset="2"/>
                </a:rPr>
                <a:t></a:t>
              </a:r>
              <a:endParaRPr lang="en-US" altLang="zh-CN" sz="2000" b="0" dirty="0">
                <a:solidFill>
                  <a:schemeClr val="bg1"/>
                </a:solidFill>
              </a:endParaRPr>
            </a:p>
          </p:txBody>
        </p:sp>
        <p:sp>
          <p:nvSpPr>
            <p:cNvPr id="333831" name="Text Box 7"/>
            <p:cNvSpPr txBox="1">
              <a:spLocks noChangeArrowheads="1"/>
            </p:cNvSpPr>
            <p:nvPr/>
          </p:nvSpPr>
          <p:spPr bwMode="auto">
            <a:xfrm>
              <a:off x="2970" y="1401"/>
              <a:ext cx="32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 dirty="0">
                  <a:solidFill>
                    <a:schemeClr val="bg1"/>
                  </a:solidFill>
                </a:rPr>
                <a:t>2</a:t>
              </a:r>
              <a:r>
                <a:rPr lang="en-US" altLang="zh-CN" sz="2000" b="0" dirty="0">
                  <a:solidFill>
                    <a:schemeClr val="bg1"/>
                  </a:solidFill>
                  <a:sym typeface="Symbol" pitchFamily="18" charset="2"/>
                </a:rPr>
                <a:t></a:t>
              </a:r>
              <a:endParaRPr lang="en-US" altLang="zh-CN" sz="2000" b="0" dirty="0">
                <a:solidFill>
                  <a:schemeClr val="bg1"/>
                </a:solidFill>
              </a:endParaRPr>
            </a:p>
          </p:txBody>
        </p:sp>
        <p:sp>
          <p:nvSpPr>
            <p:cNvPr id="333832" name="Text Box 8"/>
            <p:cNvSpPr txBox="1">
              <a:spLocks noChangeArrowheads="1"/>
            </p:cNvSpPr>
            <p:nvPr/>
          </p:nvSpPr>
          <p:spPr bwMode="auto">
            <a:xfrm>
              <a:off x="4568" y="1401"/>
              <a:ext cx="32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 dirty="0">
                  <a:solidFill>
                    <a:schemeClr val="bg1"/>
                  </a:solidFill>
                </a:rPr>
                <a:t>5</a:t>
              </a:r>
              <a:r>
                <a:rPr lang="en-US" altLang="zh-CN" sz="2000" b="0" dirty="0">
                  <a:solidFill>
                    <a:schemeClr val="bg1"/>
                  </a:solidFill>
                  <a:sym typeface="Symbol" pitchFamily="18" charset="2"/>
                </a:rPr>
                <a:t></a:t>
              </a:r>
              <a:endParaRPr lang="en-US" altLang="zh-CN" sz="2000" b="0" dirty="0">
                <a:solidFill>
                  <a:schemeClr val="bg1"/>
                </a:solidFill>
              </a:endParaRPr>
            </a:p>
          </p:txBody>
        </p:sp>
        <p:sp>
          <p:nvSpPr>
            <p:cNvPr id="333833" name="Text Box 9"/>
            <p:cNvSpPr txBox="1">
              <a:spLocks noChangeArrowheads="1"/>
            </p:cNvSpPr>
            <p:nvPr/>
          </p:nvSpPr>
          <p:spPr bwMode="auto">
            <a:xfrm>
              <a:off x="2212" y="2003"/>
              <a:ext cx="32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 dirty="0">
                  <a:solidFill>
                    <a:schemeClr val="bg1"/>
                  </a:solidFill>
                </a:rPr>
                <a:t>4</a:t>
              </a:r>
              <a:r>
                <a:rPr lang="en-US" altLang="zh-CN" sz="2000" b="0" dirty="0">
                  <a:solidFill>
                    <a:schemeClr val="bg1"/>
                  </a:solidFill>
                  <a:sym typeface="Symbol" pitchFamily="18" charset="2"/>
                </a:rPr>
                <a:t></a:t>
              </a:r>
              <a:endParaRPr lang="en-US" altLang="zh-CN" sz="2000" b="0" dirty="0">
                <a:solidFill>
                  <a:schemeClr val="bg1"/>
                </a:solidFill>
              </a:endParaRPr>
            </a:p>
          </p:txBody>
        </p:sp>
        <p:sp>
          <p:nvSpPr>
            <p:cNvPr id="333834" name="Text Box 10"/>
            <p:cNvSpPr txBox="1">
              <a:spLocks noChangeArrowheads="1"/>
            </p:cNvSpPr>
            <p:nvPr/>
          </p:nvSpPr>
          <p:spPr bwMode="auto">
            <a:xfrm>
              <a:off x="4913" y="2447"/>
              <a:ext cx="32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 dirty="0">
                  <a:solidFill>
                    <a:schemeClr val="bg1"/>
                  </a:solidFill>
                </a:rPr>
                <a:t>8</a:t>
              </a:r>
              <a:r>
                <a:rPr lang="en-US" altLang="zh-CN" sz="2000" b="0" dirty="0">
                  <a:solidFill>
                    <a:schemeClr val="bg1"/>
                  </a:solidFill>
                  <a:sym typeface="Symbol" pitchFamily="18" charset="2"/>
                </a:rPr>
                <a:t></a:t>
              </a:r>
              <a:endParaRPr lang="en-US" altLang="zh-CN" sz="2000" b="0" dirty="0">
                <a:solidFill>
                  <a:schemeClr val="bg1"/>
                </a:solidFill>
              </a:endParaRPr>
            </a:p>
          </p:txBody>
        </p:sp>
        <p:grpSp>
          <p:nvGrpSpPr>
            <p:cNvPr id="333835" name="Group 11"/>
            <p:cNvGrpSpPr>
              <a:grpSpLocks/>
            </p:cNvGrpSpPr>
            <p:nvPr/>
          </p:nvGrpSpPr>
          <p:grpSpPr bwMode="auto">
            <a:xfrm>
              <a:off x="2958" y="1174"/>
              <a:ext cx="2237" cy="1560"/>
              <a:chOff x="1755" y="1409"/>
              <a:chExt cx="2469" cy="1663"/>
            </a:xfrm>
          </p:grpSpPr>
          <p:grpSp>
            <p:nvGrpSpPr>
              <p:cNvPr id="333836" name="Group 12"/>
              <p:cNvGrpSpPr>
                <a:grpSpLocks/>
              </p:cNvGrpSpPr>
              <p:nvPr/>
            </p:nvGrpSpPr>
            <p:grpSpPr bwMode="auto">
              <a:xfrm>
                <a:off x="1755" y="1409"/>
                <a:ext cx="2469" cy="1663"/>
                <a:chOff x="1755" y="1409"/>
                <a:chExt cx="2469" cy="1663"/>
              </a:xfrm>
            </p:grpSpPr>
            <p:grpSp>
              <p:nvGrpSpPr>
                <p:cNvPr id="333837" name="Group 13"/>
                <p:cNvGrpSpPr>
                  <a:grpSpLocks/>
                </p:cNvGrpSpPr>
                <p:nvPr/>
              </p:nvGrpSpPr>
              <p:grpSpPr bwMode="auto">
                <a:xfrm>
                  <a:off x="2240" y="1409"/>
                  <a:ext cx="864" cy="480"/>
                  <a:chOff x="2384" y="1409"/>
                  <a:chExt cx="864" cy="480"/>
                </a:xfrm>
              </p:grpSpPr>
              <p:sp>
                <p:nvSpPr>
                  <p:cNvPr id="333838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2384" y="1409"/>
                    <a:ext cx="864" cy="480"/>
                  </a:xfrm>
                  <a:custGeom>
                    <a:avLst/>
                    <a:gdLst>
                      <a:gd name="G0" fmla="+- 2950475 0 0"/>
                      <a:gd name="G1" fmla="+- -7844438 0 0"/>
                      <a:gd name="G2" fmla="+- 2950475 0 -7844438"/>
                      <a:gd name="G3" fmla="+- 10800 0 0"/>
                      <a:gd name="G4" fmla="+- 0 0 2950475"/>
                      <a:gd name="T0" fmla="*/ 360 256 1"/>
                      <a:gd name="T1" fmla="*/ 0 256 1"/>
                      <a:gd name="G5" fmla="+- G2 T0 T1"/>
                      <a:gd name="G6" fmla="?: G2 G2 G5"/>
                      <a:gd name="G7" fmla="+- 0 0 G6"/>
                      <a:gd name="G8" fmla="+- 9796 0 0"/>
                      <a:gd name="G9" fmla="+- 0 0 -7844438"/>
                      <a:gd name="G10" fmla="+- 9796 0 2700"/>
                      <a:gd name="G11" fmla="cos G10 2950475"/>
                      <a:gd name="G12" fmla="sin G10 2950475"/>
                      <a:gd name="G13" fmla="cos 13500 2950475"/>
                      <a:gd name="G14" fmla="sin 13500 2950475"/>
                      <a:gd name="G15" fmla="+- G11 10800 0"/>
                      <a:gd name="G16" fmla="+- G12 10800 0"/>
                      <a:gd name="G17" fmla="+- G13 10800 0"/>
                      <a:gd name="G18" fmla="+- G14 10800 0"/>
                      <a:gd name="G19" fmla="*/ 9796 1 2"/>
                      <a:gd name="G20" fmla="+- G19 5400 0"/>
                      <a:gd name="G21" fmla="cos G20 2950475"/>
                      <a:gd name="G22" fmla="sin G20 2950475"/>
                      <a:gd name="G23" fmla="+- G21 10800 0"/>
                      <a:gd name="G24" fmla="+- G12 G23 G22"/>
                      <a:gd name="G25" fmla="+- G22 G23 G11"/>
                      <a:gd name="G26" fmla="cos 10800 2950475"/>
                      <a:gd name="G27" fmla="sin 10800 2950475"/>
                      <a:gd name="G28" fmla="cos 9796 2950475"/>
                      <a:gd name="G29" fmla="sin 9796 2950475"/>
                      <a:gd name="G30" fmla="+- G26 10800 0"/>
                      <a:gd name="G31" fmla="+- G27 10800 0"/>
                      <a:gd name="G32" fmla="+- G28 10800 0"/>
                      <a:gd name="G33" fmla="+- G29 10800 0"/>
                      <a:gd name="G34" fmla="+- G19 5400 0"/>
                      <a:gd name="G35" fmla="cos G34 -7844438"/>
                      <a:gd name="G36" fmla="sin G34 -7844438"/>
                      <a:gd name="G37" fmla="+/ -7844438 2950475 2"/>
                      <a:gd name="T2" fmla="*/ 180 256 1"/>
                      <a:gd name="T3" fmla="*/ 0 256 1"/>
                      <a:gd name="G38" fmla="+- G37 T2 T3"/>
                      <a:gd name="G39" fmla="?: G2 G37 G38"/>
                      <a:gd name="G40" fmla="cos 10800 G39"/>
                      <a:gd name="G41" fmla="sin 10800 G39"/>
                      <a:gd name="G42" fmla="cos 9796 G39"/>
                      <a:gd name="G43" fmla="sin 9796 G39"/>
                      <a:gd name="G44" fmla="+- G40 10800 0"/>
                      <a:gd name="G45" fmla="+- G41 10800 0"/>
                      <a:gd name="G46" fmla="+- G42 10800 0"/>
                      <a:gd name="G47" fmla="+- G43 10800 0"/>
                      <a:gd name="G48" fmla="+- G35 10800 0"/>
                      <a:gd name="G49" fmla="+- G36 10800 0"/>
                      <a:gd name="T4" fmla="*/ 19386 w 21600"/>
                      <a:gd name="T5" fmla="*/ 4249 h 21600"/>
                      <a:gd name="T6" fmla="*/ 5698 w 21600"/>
                      <a:gd name="T7" fmla="*/ 1854 h 21600"/>
                      <a:gd name="T8" fmla="*/ 18588 w 21600"/>
                      <a:gd name="T9" fmla="*/ 4858 h 21600"/>
                      <a:gd name="T10" fmla="*/ 20342 w 21600"/>
                      <a:gd name="T11" fmla="*/ 20349 h 21600"/>
                      <a:gd name="T12" fmla="*/ 15814 w 21600"/>
                      <a:gd name="T13" fmla="*/ 20348 h 21600"/>
                      <a:gd name="T14" fmla="*/ 15815 w 21600"/>
                      <a:gd name="T15" fmla="*/ 15819 h 21600"/>
                      <a:gd name="T16" fmla="*/ 3163 w 21600"/>
                      <a:gd name="T17" fmla="*/ 3163 h 21600"/>
                      <a:gd name="T18" fmla="*/ 18437 w 21600"/>
                      <a:gd name="T19" fmla="*/ 18437 h 21600"/>
                    </a:gdLst>
                    <a:ahLst/>
                    <a:cxnLst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T16" t="T17" r="T18" b="T19"/>
                    <a:pathLst>
                      <a:path w="21600" h="21600">
                        <a:moveTo>
                          <a:pt x="17724" y="17729"/>
                        </a:moveTo>
                        <a:cubicBezTo>
                          <a:pt x="19562" y="15892"/>
                          <a:pt x="20596" y="13399"/>
                          <a:pt x="20596" y="10800"/>
                        </a:cubicBezTo>
                        <a:cubicBezTo>
                          <a:pt x="20596" y="5389"/>
                          <a:pt x="16210" y="1004"/>
                          <a:pt x="10800" y="1004"/>
                        </a:cubicBezTo>
                        <a:cubicBezTo>
                          <a:pt x="9098" y="1003"/>
                          <a:pt x="7425" y="1447"/>
                          <a:pt x="5946" y="2290"/>
                        </a:cubicBezTo>
                        <a:lnTo>
                          <a:pt x="5449" y="1418"/>
                        </a:lnTo>
                        <a:cubicBezTo>
                          <a:pt x="7079" y="488"/>
                          <a:pt x="8923" y="-1"/>
                          <a:pt x="10800" y="0"/>
                        </a:cubicBezTo>
                        <a:cubicBezTo>
                          <a:pt x="16764" y="0"/>
                          <a:pt x="21600" y="4835"/>
                          <a:pt x="21600" y="10800"/>
                        </a:cubicBezTo>
                        <a:cubicBezTo>
                          <a:pt x="21600" y="13665"/>
                          <a:pt x="20461" y="16413"/>
                          <a:pt x="18433" y="18439"/>
                        </a:cubicBezTo>
                        <a:lnTo>
                          <a:pt x="20342" y="20349"/>
                        </a:lnTo>
                        <a:lnTo>
                          <a:pt x="15814" y="20348"/>
                        </a:lnTo>
                        <a:lnTo>
                          <a:pt x="15815" y="15819"/>
                        </a:lnTo>
                        <a:lnTo>
                          <a:pt x="17724" y="17729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9525">
                    <a:solidFill>
                      <a:srgbClr val="FFFF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839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85" y="1443"/>
                    <a:ext cx="247" cy="2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US" altLang="zh-CN" sz="2000" b="0" i="1">
                        <a:solidFill>
                          <a:srgbClr val="FFFF00"/>
                        </a:solidFill>
                      </a:rPr>
                      <a:t>I</a:t>
                    </a:r>
                    <a:r>
                      <a:rPr lang="en-US" altLang="zh-CN" sz="2000" b="0" baseline="-25000">
                        <a:solidFill>
                          <a:srgbClr val="FFFF00"/>
                        </a:solidFill>
                      </a:rPr>
                      <a:t>1</a:t>
                    </a:r>
                    <a:endParaRPr lang="en-US" altLang="zh-CN" sz="2000" b="0">
                      <a:solidFill>
                        <a:srgbClr val="FFFF00"/>
                      </a:solidFill>
                    </a:endParaRPr>
                  </a:p>
                </p:txBody>
              </p:sp>
            </p:grpSp>
            <p:grpSp>
              <p:nvGrpSpPr>
                <p:cNvPr id="333840" name="Group 16"/>
                <p:cNvGrpSpPr>
                  <a:grpSpLocks/>
                </p:cNvGrpSpPr>
                <p:nvPr/>
              </p:nvGrpSpPr>
              <p:grpSpPr bwMode="auto">
                <a:xfrm>
                  <a:off x="1755" y="2112"/>
                  <a:ext cx="545" cy="960"/>
                  <a:chOff x="1803" y="2112"/>
                  <a:chExt cx="545" cy="960"/>
                </a:xfrm>
              </p:grpSpPr>
              <p:sp>
                <p:nvSpPr>
                  <p:cNvPr id="333841" name="AutoShape 17"/>
                  <p:cNvSpPr>
                    <a:spLocks noChangeArrowheads="1"/>
                  </p:cNvSpPr>
                  <p:nvPr/>
                </p:nvSpPr>
                <p:spPr bwMode="auto">
                  <a:xfrm>
                    <a:off x="1803" y="2112"/>
                    <a:ext cx="528" cy="960"/>
                  </a:xfrm>
                  <a:custGeom>
                    <a:avLst/>
                    <a:gdLst>
                      <a:gd name="G0" fmla="+- -264420 0 0"/>
                      <a:gd name="G1" fmla="+- -10830384 0 0"/>
                      <a:gd name="G2" fmla="+- -264420 0 -10830384"/>
                      <a:gd name="G3" fmla="+- 10800 0 0"/>
                      <a:gd name="G4" fmla="+- 0 0 -264420"/>
                      <a:gd name="T0" fmla="*/ 360 256 1"/>
                      <a:gd name="T1" fmla="*/ 0 256 1"/>
                      <a:gd name="G5" fmla="+- G2 T0 T1"/>
                      <a:gd name="G6" fmla="?: G2 G2 G5"/>
                      <a:gd name="G7" fmla="+- 0 0 G6"/>
                      <a:gd name="G8" fmla="+- 10105 0 0"/>
                      <a:gd name="G9" fmla="+- 0 0 -10830384"/>
                      <a:gd name="G10" fmla="+- 10105 0 2700"/>
                      <a:gd name="G11" fmla="cos G10 -264420"/>
                      <a:gd name="G12" fmla="sin G10 -264420"/>
                      <a:gd name="G13" fmla="cos 13500 -264420"/>
                      <a:gd name="G14" fmla="sin 13500 -264420"/>
                      <a:gd name="G15" fmla="+- G11 10800 0"/>
                      <a:gd name="G16" fmla="+- G12 10800 0"/>
                      <a:gd name="G17" fmla="+- G13 10800 0"/>
                      <a:gd name="G18" fmla="+- G14 10800 0"/>
                      <a:gd name="G19" fmla="*/ 10105 1 2"/>
                      <a:gd name="G20" fmla="+- G19 5400 0"/>
                      <a:gd name="G21" fmla="cos G20 -264420"/>
                      <a:gd name="G22" fmla="sin G20 -264420"/>
                      <a:gd name="G23" fmla="+- G21 10800 0"/>
                      <a:gd name="G24" fmla="+- G12 G23 G22"/>
                      <a:gd name="G25" fmla="+- G22 G23 G11"/>
                      <a:gd name="G26" fmla="cos 10800 -264420"/>
                      <a:gd name="G27" fmla="sin 10800 -264420"/>
                      <a:gd name="G28" fmla="cos 10105 -264420"/>
                      <a:gd name="G29" fmla="sin 10105 -264420"/>
                      <a:gd name="G30" fmla="+- G26 10800 0"/>
                      <a:gd name="G31" fmla="+- G27 10800 0"/>
                      <a:gd name="G32" fmla="+- G28 10800 0"/>
                      <a:gd name="G33" fmla="+- G29 10800 0"/>
                      <a:gd name="G34" fmla="+- G19 5400 0"/>
                      <a:gd name="G35" fmla="cos G34 -10830384"/>
                      <a:gd name="G36" fmla="sin G34 -10830384"/>
                      <a:gd name="G37" fmla="+/ -10830384 -264420 2"/>
                      <a:gd name="T2" fmla="*/ 180 256 1"/>
                      <a:gd name="T3" fmla="*/ 0 256 1"/>
                      <a:gd name="G38" fmla="+- G37 T2 T3"/>
                      <a:gd name="G39" fmla="?: G2 G37 G38"/>
                      <a:gd name="G40" fmla="cos 10800 G39"/>
                      <a:gd name="G41" fmla="sin 10800 G39"/>
                      <a:gd name="G42" fmla="cos 10105 G39"/>
                      <a:gd name="G43" fmla="sin 10105 G39"/>
                      <a:gd name="G44" fmla="+- G40 10800 0"/>
                      <a:gd name="G45" fmla="+- G41 10800 0"/>
                      <a:gd name="G46" fmla="+- G42 10800 0"/>
                      <a:gd name="G47" fmla="+- G43 10800 0"/>
                      <a:gd name="G48" fmla="+- G35 10800 0"/>
                      <a:gd name="G49" fmla="+- G36 10800 0"/>
                      <a:gd name="T4" fmla="*/ 11807 w 21600"/>
                      <a:gd name="T5" fmla="*/ 47 h 21600"/>
                      <a:gd name="T6" fmla="*/ 691 w 21600"/>
                      <a:gd name="T7" fmla="*/ 8140 h 21600"/>
                      <a:gd name="T8" fmla="*/ 11742 w 21600"/>
                      <a:gd name="T9" fmla="*/ 739 h 21600"/>
                      <a:gd name="T10" fmla="*/ 24266 w 21600"/>
                      <a:gd name="T11" fmla="*/ 9850 h 21600"/>
                      <a:gd name="T12" fmla="*/ 21441 w 21600"/>
                      <a:gd name="T13" fmla="*/ 13105 h 21600"/>
                      <a:gd name="T14" fmla="*/ 18186 w 21600"/>
                      <a:gd name="T15" fmla="*/ 10278 h 21600"/>
                      <a:gd name="T16" fmla="*/ 3163 w 21600"/>
                      <a:gd name="T17" fmla="*/ 3163 h 21600"/>
                      <a:gd name="T18" fmla="*/ 18437 w 21600"/>
                      <a:gd name="T19" fmla="*/ 18437 h 21600"/>
                    </a:gdLst>
                    <a:ahLst/>
                    <a:cxnLst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T16" t="T17" r="T18" b="T19"/>
                    <a:pathLst>
                      <a:path w="21600" h="21600">
                        <a:moveTo>
                          <a:pt x="20879" y="10089"/>
                        </a:moveTo>
                        <a:cubicBezTo>
                          <a:pt x="20506" y="4797"/>
                          <a:pt x="16104" y="695"/>
                          <a:pt x="10800" y="695"/>
                        </a:cubicBezTo>
                        <a:cubicBezTo>
                          <a:pt x="6209" y="694"/>
                          <a:pt x="2195" y="3789"/>
                          <a:pt x="1027" y="8228"/>
                        </a:cubicBezTo>
                        <a:lnTo>
                          <a:pt x="355" y="8051"/>
                        </a:lnTo>
                        <a:cubicBezTo>
                          <a:pt x="1603" y="3307"/>
                          <a:pt x="5893" y="-1"/>
                          <a:pt x="10800" y="0"/>
                        </a:cubicBezTo>
                        <a:cubicBezTo>
                          <a:pt x="16469" y="0"/>
                          <a:pt x="21174" y="4384"/>
                          <a:pt x="21573" y="10040"/>
                        </a:cubicBezTo>
                        <a:lnTo>
                          <a:pt x="24266" y="9850"/>
                        </a:lnTo>
                        <a:lnTo>
                          <a:pt x="21441" y="13105"/>
                        </a:lnTo>
                        <a:lnTo>
                          <a:pt x="18186" y="10278"/>
                        </a:lnTo>
                        <a:lnTo>
                          <a:pt x="20879" y="10089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9525">
                    <a:solidFill>
                      <a:srgbClr val="FFFF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842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32" y="2230"/>
                    <a:ext cx="416" cy="2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US" altLang="zh-CN" sz="2000" b="0" i="1" dirty="0">
                        <a:solidFill>
                          <a:srgbClr val="FFFF00"/>
                        </a:solidFill>
                      </a:rPr>
                      <a:t>I</a:t>
                    </a:r>
                    <a:r>
                      <a:rPr lang="en-US" altLang="zh-CN" sz="2000" b="0" baseline="-25000" dirty="0">
                        <a:solidFill>
                          <a:srgbClr val="FFFF00"/>
                        </a:solidFill>
                      </a:rPr>
                      <a:t>2</a:t>
                    </a:r>
                    <a:endParaRPr lang="en-US" altLang="zh-CN" sz="2000" b="0" dirty="0">
                      <a:solidFill>
                        <a:srgbClr val="FFFF00"/>
                      </a:solidFill>
                    </a:endParaRPr>
                  </a:p>
                </p:txBody>
              </p:sp>
            </p:grpSp>
            <p:grpSp>
              <p:nvGrpSpPr>
                <p:cNvPr id="333843" name="Group 19"/>
                <p:cNvGrpSpPr>
                  <a:grpSpLocks/>
                </p:cNvGrpSpPr>
                <p:nvPr/>
              </p:nvGrpSpPr>
              <p:grpSpPr bwMode="auto">
                <a:xfrm>
                  <a:off x="3552" y="2160"/>
                  <a:ext cx="672" cy="912"/>
                  <a:chOff x="3552" y="2160"/>
                  <a:chExt cx="672" cy="912"/>
                </a:xfrm>
              </p:grpSpPr>
              <p:sp>
                <p:nvSpPr>
                  <p:cNvPr id="333844" name="AutoShape 20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2160"/>
                    <a:ext cx="672" cy="912"/>
                  </a:xfrm>
                  <a:custGeom>
                    <a:avLst/>
                    <a:gdLst>
                      <a:gd name="G0" fmla="+- -2539089 0 0"/>
                      <a:gd name="G1" fmla="+- 10841832 0 0"/>
                      <a:gd name="G2" fmla="+- -2539089 0 10841832"/>
                      <a:gd name="G3" fmla="+- 10800 0 0"/>
                      <a:gd name="G4" fmla="+- 0 0 -2539089"/>
                      <a:gd name="T0" fmla="*/ 360 256 1"/>
                      <a:gd name="T1" fmla="*/ 0 256 1"/>
                      <a:gd name="G5" fmla="+- G2 T0 T1"/>
                      <a:gd name="G6" fmla="?: G2 G2 G5"/>
                      <a:gd name="G7" fmla="+- 0 0 G6"/>
                      <a:gd name="G8" fmla="+- 9953 0 0"/>
                      <a:gd name="G9" fmla="+- 0 0 10841832"/>
                      <a:gd name="G10" fmla="+- 9953 0 2700"/>
                      <a:gd name="G11" fmla="cos G10 -2539089"/>
                      <a:gd name="G12" fmla="sin G10 -2539089"/>
                      <a:gd name="G13" fmla="cos 13500 -2539089"/>
                      <a:gd name="G14" fmla="sin 13500 -2539089"/>
                      <a:gd name="G15" fmla="+- G11 10800 0"/>
                      <a:gd name="G16" fmla="+- G12 10800 0"/>
                      <a:gd name="G17" fmla="+- G13 10800 0"/>
                      <a:gd name="G18" fmla="+- G14 10800 0"/>
                      <a:gd name="G19" fmla="*/ 9953 1 2"/>
                      <a:gd name="G20" fmla="+- G19 5400 0"/>
                      <a:gd name="G21" fmla="cos G20 -2539089"/>
                      <a:gd name="G22" fmla="sin G20 -2539089"/>
                      <a:gd name="G23" fmla="+- G21 10800 0"/>
                      <a:gd name="G24" fmla="+- G12 G23 G22"/>
                      <a:gd name="G25" fmla="+- G22 G23 G11"/>
                      <a:gd name="G26" fmla="cos 10800 -2539089"/>
                      <a:gd name="G27" fmla="sin 10800 -2539089"/>
                      <a:gd name="G28" fmla="cos 9953 -2539089"/>
                      <a:gd name="G29" fmla="sin 9953 -2539089"/>
                      <a:gd name="G30" fmla="+- G26 10800 0"/>
                      <a:gd name="G31" fmla="+- G27 10800 0"/>
                      <a:gd name="G32" fmla="+- G28 10800 0"/>
                      <a:gd name="G33" fmla="+- G29 10800 0"/>
                      <a:gd name="G34" fmla="+- G19 5400 0"/>
                      <a:gd name="G35" fmla="cos G34 10841832"/>
                      <a:gd name="G36" fmla="sin G34 10841832"/>
                      <a:gd name="G37" fmla="+/ 10841832 -2539089 2"/>
                      <a:gd name="T2" fmla="*/ 180 256 1"/>
                      <a:gd name="T3" fmla="*/ 0 256 1"/>
                      <a:gd name="G38" fmla="+- G37 T2 T3"/>
                      <a:gd name="G39" fmla="?: G2 G37 G38"/>
                      <a:gd name="G40" fmla="cos 10800 G39"/>
                      <a:gd name="G41" fmla="sin 10800 G39"/>
                      <a:gd name="G42" fmla="cos 9953 G39"/>
                      <a:gd name="G43" fmla="sin 9953 G39"/>
                      <a:gd name="G44" fmla="+- G40 10800 0"/>
                      <a:gd name="G45" fmla="+- G41 10800 0"/>
                      <a:gd name="G46" fmla="+- G42 10800 0"/>
                      <a:gd name="G47" fmla="+- G43 10800 0"/>
                      <a:gd name="G48" fmla="+- G35 10800 0"/>
                      <a:gd name="G49" fmla="+- G36 10800 0"/>
                      <a:gd name="T4" fmla="*/ 5954 w 21600"/>
                      <a:gd name="T5" fmla="*/ 1147 h 21600"/>
                      <a:gd name="T6" fmla="*/ 756 w 21600"/>
                      <a:gd name="T7" fmla="*/ 13409 h 21600"/>
                      <a:gd name="T8" fmla="*/ 6334 w 21600"/>
                      <a:gd name="T9" fmla="*/ 1904 h 21600"/>
                      <a:gd name="T10" fmla="*/ 21329 w 21600"/>
                      <a:gd name="T11" fmla="*/ 2351 h 21600"/>
                      <a:gd name="T12" fmla="*/ 20848 w 21600"/>
                      <a:gd name="T13" fmla="*/ 6741 h 21600"/>
                      <a:gd name="T14" fmla="*/ 16457 w 21600"/>
                      <a:gd name="T15" fmla="*/ 6260 h 21600"/>
                      <a:gd name="T16" fmla="*/ 3163 w 21600"/>
                      <a:gd name="T17" fmla="*/ 3163 h 21600"/>
                      <a:gd name="T18" fmla="*/ 18437 w 21600"/>
                      <a:gd name="T19" fmla="*/ 18437 h 21600"/>
                    </a:gdLst>
                    <a:ahLst/>
                    <a:cxnLst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T16" t="T17" r="T18" b="T19"/>
                    <a:pathLst>
                      <a:path w="21600" h="21600">
                        <a:moveTo>
                          <a:pt x="18562" y="4571"/>
                        </a:moveTo>
                        <a:cubicBezTo>
                          <a:pt x="16673" y="2216"/>
                          <a:pt x="13818" y="847"/>
                          <a:pt x="10800" y="847"/>
                        </a:cubicBezTo>
                        <a:cubicBezTo>
                          <a:pt x="5303" y="847"/>
                          <a:pt x="847" y="5303"/>
                          <a:pt x="847" y="10800"/>
                        </a:cubicBezTo>
                        <a:cubicBezTo>
                          <a:pt x="846" y="11644"/>
                          <a:pt x="954" y="12485"/>
                          <a:pt x="1166" y="13303"/>
                        </a:cubicBezTo>
                        <a:lnTo>
                          <a:pt x="347" y="13516"/>
                        </a:lnTo>
                        <a:cubicBezTo>
                          <a:pt x="116" y="12629"/>
                          <a:pt x="0" y="11716"/>
                          <a:pt x="0" y="10800"/>
                        </a:cubicBez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4075" y="-1"/>
                          <a:pt x="17173" y="1486"/>
                          <a:pt x="19223" y="4040"/>
                        </a:cubicBezTo>
                        <a:lnTo>
                          <a:pt x="21329" y="2351"/>
                        </a:lnTo>
                        <a:lnTo>
                          <a:pt x="20848" y="6741"/>
                        </a:lnTo>
                        <a:lnTo>
                          <a:pt x="16457" y="6260"/>
                        </a:lnTo>
                        <a:lnTo>
                          <a:pt x="18562" y="4571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9525">
                    <a:solidFill>
                      <a:srgbClr val="FFFF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845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02" y="2315"/>
                    <a:ext cx="479" cy="2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US" altLang="zh-CN" sz="2000" b="0" i="1" dirty="0">
                        <a:solidFill>
                          <a:srgbClr val="FFFF00"/>
                        </a:solidFill>
                      </a:rPr>
                      <a:t>I</a:t>
                    </a:r>
                    <a:r>
                      <a:rPr lang="en-US" altLang="zh-CN" sz="2000" b="0" baseline="-25000" dirty="0">
                        <a:solidFill>
                          <a:srgbClr val="FFFF00"/>
                        </a:solidFill>
                      </a:rPr>
                      <a:t>3</a:t>
                    </a:r>
                    <a:endParaRPr lang="en-US" altLang="zh-CN" sz="2000" b="0" dirty="0">
                      <a:solidFill>
                        <a:srgbClr val="FFFF00"/>
                      </a:solidFill>
                    </a:endParaRPr>
                  </a:p>
                </p:txBody>
              </p:sp>
            </p:grpSp>
          </p:grpSp>
          <p:sp>
            <p:nvSpPr>
              <p:cNvPr id="333846" name="Text Box 22"/>
              <p:cNvSpPr txBox="1">
                <a:spLocks noChangeArrowheads="1"/>
              </p:cNvSpPr>
              <p:nvPr/>
            </p:nvSpPr>
            <p:spPr bwMode="auto">
              <a:xfrm>
                <a:off x="2404" y="2139"/>
                <a:ext cx="24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0" dirty="0">
                    <a:solidFill>
                      <a:srgbClr val="FFFF00"/>
                    </a:solidFill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3847" name="Text Box 23"/>
              <p:cNvSpPr txBox="1">
                <a:spLocks noChangeArrowheads="1"/>
              </p:cNvSpPr>
              <p:nvPr/>
            </p:nvSpPr>
            <p:spPr bwMode="auto">
              <a:xfrm>
                <a:off x="2404" y="2736"/>
                <a:ext cx="235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0" dirty="0">
                    <a:solidFill>
                      <a:srgbClr val="FFFF00"/>
                    </a:solidFill>
                  </a:rPr>
                  <a:t>_</a:t>
                </a:r>
                <a:endParaRPr lang="en-US" altLang="zh-CN" b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3848" name="Text Box 24"/>
              <p:cNvSpPr txBox="1">
                <a:spLocks noChangeArrowheads="1"/>
              </p:cNvSpPr>
              <p:nvPr/>
            </p:nvSpPr>
            <p:spPr bwMode="auto">
              <a:xfrm>
                <a:off x="2376" y="2561"/>
                <a:ext cx="238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b="0" i="1" dirty="0">
                    <a:solidFill>
                      <a:srgbClr val="FFFF00"/>
                    </a:solidFill>
                  </a:rPr>
                  <a:t>V</a:t>
                </a:r>
              </a:p>
            </p:txBody>
          </p:sp>
        </p:grpSp>
      </p:grpSp>
      <p:graphicFrame>
        <p:nvGraphicFramePr>
          <p:cNvPr id="3338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272871"/>
              </p:ext>
            </p:extLst>
          </p:nvPr>
        </p:nvGraphicFramePr>
        <p:xfrm>
          <a:off x="669925" y="350838"/>
          <a:ext cx="352901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57" name="Equation" r:id="rId4" imgW="1460160" imgH="609480" progId="Equation.DSMT4">
                  <p:embed/>
                </p:oleObj>
              </mc:Choice>
              <mc:Fallback>
                <p:oleObj name="Equation" r:id="rId4" imgW="1460160" imgH="6094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350838"/>
                        <a:ext cx="3529013" cy="12954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604196"/>
              </p:ext>
            </p:extLst>
          </p:nvPr>
        </p:nvGraphicFramePr>
        <p:xfrm>
          <a:off x="542925" y="3305175"/>
          <a:ext cx="15494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58" name="公式" r:id="rId6" imgW="660240" imgH="228600" progId="Equation.3">
                  <p:embed/>
                </p:oleObj>
              </mc:Choice>
              <mc:Fallback>
                <p:oleObj name="公式" r:id="rId6" imgW="66024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3305175"/>
                        <a:ext cx="1549400" cy="47148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914" name="Text Box 90"/>
          <p:cNvSpPr txBox="1">
            <a:spLocks noChangeArrowheads="1"/>
          </p:cNvSpPr>
          <p:nvPr/>
        </p:nvSpPr>
        <p:spPr bwMode="auto">
          <a:xfrm>
            <a:off x="466725" y="2197100"/>
            <a:ext cx="22796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/>
              <a:t>4</a:t>
            </a:r>
            <a:r>
              <a:rPr lang="zh-CN" altLang="en-US"/>
              <a:t>个未知数，少一个方程？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3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3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3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3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3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9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8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1585913"/>
            <a:ext cx="6751637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4852" name="Text Box 4"/>
          <p:cNvSpPr txBox="1">
            <a:spLocks noChangeArrowheads="1"/>
          </p:cNvSpPr>
          <p:nvPr/>
        </p:nvSpPr>
        <p:spPr bwMode="auto">
          <a:xfrm>
            <a:off x="1093788" y="3760788"/>
            <a:ext cx="6270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80V</a:t>
            </a:r>
          </a:p>
        </p:txBody>
      </p:sp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3317388" y="2111654"/>
            <a:ext cx="6383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chemeClr val="bg1"/>
                </a:solidFill>
              </a:rPr>
              <a:t>20</a:t>
            </a:r>
            <a:r>
              <a:rPr lang="en-US" altLang="en-US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4854" name="Text Box 6"/>
          <p:cNvSpPr txBox="1">
            <a:spLocks noChangeArrowheads="1"/>
          </p:cNvSpPr>
          <p:nvPr/>
        </p:nvSpPr>
        <p:spPr bwMode="auto">
          <a:xfrm>
            <a:off x="4160089" y="3658123"/>
            <a:ext cx="7665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chemeClr val="bg1"/>
                </a:solidFill>
              </a:rPr>
              <a:t>100</a:t>
            </a:r>
            <a:r>
              <a:rPr lang="en-US" altLang="en-US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6864659" y="3654425"/>
            <a:ext cx="7665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 b="0" dirty="0">
                <a:solidFill>
                  <a:schemeClr val="bg1"/>
                </a:solidFill>
              </a:rPr>
              <a:t>100</a:t>
            </a:r>
            <a:r>
              <a:rPr lang="en-US" altLang="en-US" sz="2000" b="0" dirty="0">
                <a:solidFill>
                  <a:schemeClr val="bg1"/>
                </a:solidFill>
                <a:sym typeface="Symbol" pitchFamily="18" charset="2"/>
              </a:rPr>
              <a:t>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4856" name="Text Box 8"/>
          <p:cNvSpPr txBox="1">
            <a:spLocks noChangeArrowheads="1"/>
          </p:cNvSpPr>
          <p:nvPr/>
        </p:nvSpPr>
        <p:spPr bwMode="auto">
          <a:xfrm>
            <a:off x="2460625" y="2024063"/>
            <a:ext cx="4026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i="1" dirty="0" err="1">
                <a:solidFill>
                  <a:schemeClr val="bg1"/>
                </a:solidFill>
              </a:rPr>
              <a:t>I</a:t>
            </a:r>
            <a:r>
              <a:rPr lang="en-US" altLang="zh-CN" sz="2000" b="0" i="1" baseline="-25000" dirty="0" err="1">
                <a:solidFill>
                  <a:schemeClr val="bg1"/>
                </a:solidFill>
              </a:rPr>
              <a:t>in</a:t>
            </a:r>
            <a:endParaRPr lang="en-US" altLang="zh-CN" sz="2000" b="0" i="1" dirty="0">
              <a:solidFill>
                <a:schemeClr val="bg1"/>
              </a:solidFill>
            </a:endParaRPr>
          </a:p>
        </p:txBody>
      </p:sp>
      <p:sp>
        <p:nvSpPr>
          <p:cNvPr id="334857" name="Text Box 9"/>
          <p:cNvSpPr txBox="1">
            <a:spLocks noChangeArrowheads="1"/>
          </p:cNvSpPr>
          <p:nvPr/>
        </p:nvSpPr>
        <p:spPr bwMode="auto">
          <a:xfrm>
            <a:off x="5256213" y="3132823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b="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334858" name="Text Box 10"/>
          <p:cNvSpPr txBox="1">
            <a:spLocks noChangeArrowheads="1"/>
          </p:cNvSpPr>
          <p:nvPr/>
        </p:nvSpPr>
        <p:spPr bwMode="auto">
          <a:xfrm>
            <a:off x="5280025" y="41021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b="0" dirty="0">
                <a:solidFill>
                  <a:schemeClr val="bg1"/>
                </a:solidFill>
              </a:rPr>
              <a:t>_</a:t>
            </a:r>
          </a:p>
        </p:txBody>
      </p:sp>
      <p:sp>
        <p:nvSpPr>
          <p:cNvPr id="334859" name="Text Box 11"/>
          <p:cNvSpPr txBox="1">
            <a:spLocks noChangeArrowheads="1"/>
          </p:cNvSpPr>
          <p:nvPr/>
        </p:nvSpPr>
        <p:spPr bwMode="auto">
          <a:xfrm>
            <a:off x="5234940" y="3687733"/>
            <a:ext cx="4267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i="1" dirty="0">
                <a:solidFill>
                  <a:schemeClr val="bg1"/>
                </a:solidFill>
              </a:rPr>
              <a:t>V</a:t>
            </a:r>
            <a:r>
              <a:rPr lang="en-US" altLang="zh-CN" sz="2000" b="0" baseline="-25000" dirty="0">
                <a:solidFill>
                  <a:schemeClr val="bg1"/>
                </a:solidFill>
              </a:rPr>
              <a:t>2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4860" name="Text Box 12"/>
          <p:cNvSpPr txBox="1">
            <a:spLocks noChangeArrowheads="1"/>
          </p:cNvSpPr>
          <p:nvPr/>
        </p:nvSpPr>
        <p:spPr bwMode="auto">
          <a:xfrm>
            <a:off x="6338170" y="1750953"/>
            <a:ext cx="5549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0" dirty="0">
                <a:solidFill>
                  <a:schemeClr val="bg1"/>
                </a:solidFill>
              </a:rPr>
              <a:t>3</a:t>
            </a:r>
            <a:r>
              <a:rPr lang="en-US" altLang="zh-CN" sz="2000" b="0" i="1" dirty="0">
                <a:solidFill>
                  <a:schemeClr val="bg1"/>
                </a:solidFill>
              </a:rPr>
              <a:t>V</a:t>
            </a:r>
            <a:r>
              <a:rPr lang="en-US" altLang="zh-CN" sz="2000" b="0" baseline="-25000" dirty="0">
                <a:solidFill>
                  <a:schemeClr val="bg1"/>
                </a:solidFill>
              </a:rPr>
              <a:t>2</a:t>
            </a:r>
            <a:endParaRPr lang="en-US" altLang="zh-CN" sz="2000" b="0" dirty="0">
              <a:solidFill>
                <a:schemeClr val="bg1"/>
              </a:solidFill>
            </a:endParaRPr>
          </a:p>
        </p:txBody>
      </p:sp>
      <p:sp>
        <p:nvSpPr>
          <p:cNvPr id="334862" name="Text Box 14"/>
          <p:cNvSpPr txBox="1">
            <a:spLocks noChangeArrowheads="1"/>
          </p:cNvSpPr>
          <p:nvPr/>
        </p:nvSpPr>
        <p:spPr bwMode="auto">
          <a:xfrm>
            <a:off x="708025" y="873125"/>
            <a:ext cx="474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例 用网孔分析法求</a:t>
            </a:r>
            <a:r>
              <a:rPr lang="zh-CN" altLang="en-US" b="0" dirty="0"/>
              <a:t> </a:t>
            </a:r>
            <a:r>
              <a:rPr lang="en-US" altLang="zh-CN" b="0" i="1" dirty="0" err="1"/>
              <a:t>I</a:t>
            </a:r>
            <a:r>
              <a:rPr lang="en-US" altLang="zh-CN" b="0" i="1" baseline="-25000" dirty="0" err="1"/>
              <a:t>in</a:t>
            </a:r>
            <a:r>
              <a:rPr lang="en-US" altLang="zh-CN" b="0" i="1" baseline="-25000" dirty="0"/>
              <a:t> </a:t>
            </a:r>
            <a:r>
              <a:rPr lang="zh-CN" altLang="en-US" b="0" baseline="-25000" dirty="0"/>
              <a:t>。</a:t>
            </a:r>
            <a:endParaRPr lang="zh-CN" altLang="en-US" b="0" dirty="0"/>
          </a:p>
        </p:txBody>
      </p:sp>
      <p:grpSp>
        <p:nvGrpSpPr>
          <p:cNvPr id="334863" name="Group 15"/>
          <p:cNvGrpSpPr>
            <a:grpSpLocks/>
          </p:cNvGrpSpPr>
          <p:nvPr/>
        </p:nvGrpSpPr>
        <p:grpSpPr bwMode="auto">
          <a:xfrm>
            <a:off x="3017779" y="3049558"/>
            <a:ext cx="3614737" cy="1276350"/>
            <a:chOff x="1632" y="2112"/>
            <a:chExt cx="2544" cy="1008"/>
          </a:xfrm>
        </p:grpSpPr>
        <p:grpSp>
          <p:nvGrpSpPr>
            <p:cNvPr id="334864" name="Group 16"/>
            <p:cNvGrpSpPr>
              <a:grpSpLocks/>
            </p:cNvGrpSpPr>
            <p:nvPr/>
          </p:nvGrpSpPr>
          <p:grpSpPr bwMode="auto">
            <a:xfrm>
              <a:off x="1632" y="2112"/>
              <a:ext cx="672" cy="1008"/>
              <a:chOff x="1632" y="2112"/>
              <a:chExt cx="672" cy="1008"/>
            </a:xfrm>
          </p:grpSpPr>
          <p:sp>
            <p:nvSpPr>
              <p:cNvPr id="334865" name="AutoShape 17"/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672" cy="1008"/>
              </a:xfrm>
              <a:custGeom>
                <a:avLst/>
                <a:gdLst>
                  <a:gd name="G0" fmla="+- 3075922 0 0"/>
                  <a:gd name="G1" fmla="+- -8921342 0 0"/>
                  <a:gd name="G2" fmla="+- 3075922 0 -8921342"/>
                  <a:gd name="G3" fmla="+- 10800 0 0"/>
                  <a:gd name="G4" fmla="+- 0 0 3075922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10031 0 0"/>
                  <a:gd name="G9" fmla="+- 0 0 -8921342"/>
                  <a:gd name="G10" fmla="+- 10031 0 2700"/>
                  <a:gd name="G11" fmla="cos G10 3075922"/>
                  <a:gd name="G12" fmla="sin G10 3075922"/>
                  <a:gd name="G13" fmla="cos 13500 3075922"/>
                  <a:gd name="G14" fmla="sin 13500 3075922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10031 1 2"/>
                  <a:gd name="G20" fmla="+- G19 5400 0"/>
                  <a:gd name="G21" fmla="cos G20 3075922"/>
                  <a:gd name="G22" fmla="sin G20 3075922"/>
                  <a:gd name="G23" fmla="+- G21 10800 0"/>
                  <a:gd name="G24" fmla="+- G12 G23 G22"/>
                  <a:gd name="G25" fmla="+- G22 G23 G11"/>
                  <a:gd name="G26" fmla="cos 10800 3075922"/>
                  <a:gd name="G27" fmla="sin 10800 3075922"/>
                  <a:gd name="G28" fmla="cos 10031 3075922"/>
                  <a:gd name="G29" fmla="sin 10031 3075922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8921342"/>
                  <a:gd name="G36" fmla="sin G34 -8921342"/>
                  <a:gd name="G37" fmla="+/ -8921342 3075922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10031 G39"/>
                  <a:gd name="G43" fmla="sin 10031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18490 w 21600"/>
                  <a:gd name="T5" fmla="*/ 3217 h 21600"/>
                  <a:gd name="T6" fmla="*/ 3291 w 21600"/>
                  <a:gd name="T7" fmla="*/ 3581 h 21600"/>
                  <a:gd name="T8" fmla="*/ 17942 w 21600"/>
                  <a:gd name="T9" fmla="*/ 3757 h 21600"/>
                  <a:gd name="T10" fmla="*/ 20018 w 21600"/>
                  <a:gd name="T11" fmla="*/ 20662 h 21600"/>
                  <a:gd name="T12" fmla="*/ 15658 w 21600"/>
                  <a:gd name="T13" fmla="*/ 20516 h 21600"/>
                  <a:gd name="T14" fmla="*/ 15805 w 21600"/>
                  <a:gd name="T15" fmla="*/ 16155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7649" y="18128"/>
                    </a:moveTo>
                    <a:cubicBezTo>
                      <a:pt x="19678" y="16231"/>
                      <a:pt x="20831" y="13577"/>
                      <a:pt x="20831" y="10800"/>
                    </a:cubicBezTo>
                    <a:cubicBezTo>
                      <a:pt x="20831" y="5260"/>
                      <a:pt x="16339" y="769"/>
                      <a:pt x="10800" y="769"/>
                    </a:cubicBezTo>
                    <a:cubicBezTo>
                      <a:pt x="8071" y="768"/>
                      <a:pt x="5459" y="1880"/>
                      <a:pt x="3568" y="3848"/>
                    </a:cubicBezTo>
                    <a:lnTo>
                      <a:pt x="3014" y="3315"/>
                    </a:lnTo>
                    <a:cubicBezTo>
                      <a:pt x="5050" y="1197"/>
                      <a:pt x="7861" y="-1"/>
                      <a:pt x="10800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ubicBezTo>
                      <a:pt x="21600" y="13790"/>
                      <a:pt x="20359" y="16647"/>
                      <a:pt x="18174" y="18690"/>
                    </a:cubicBezTo>
                    <a:lnTo>
                      <a:pt x="20018" y="20662"/>
                    </a:lnTo>
                    <a:lnTo>
                      <a:pt x="15658" y="20516"/>
                    </a:lnTo>
                    <a:lnTo>
                      <a:pt x="15805" y="16155"/>
                    </a:lnTo>
                    <a:lnTo>
                      <a:pt x="17649" y="18128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34866" name="Text Box 18"/>
              <p:cNvSpPr txBox="1">
                <a:spLocks noChangeArrowheads="1"/>
              </p:cNvSpPr>
              <p:nvPr/>
            </p:nvSpPr>
            <p:spPr bwMode="auto">
              <a:xfrm>
                <a:off x="1761" y="2404"/>
                <a:ext cx="416" cy="3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000" b="0" i="1" dirty="0" err="1">
                    <a:solidFill>
                      <a:schemeClr val="bg1"/>
                    </a:solidFill>
                  </a:rPr>
                  <a:t>I</a:t>
                </a:r>
                <a:r>
                  <a:rPr lang="en-US" altLang="zh-CN" sz="2000" b="0" i="1" baseline="-25000" dirty="0" err="1">
                    <a:solidFill>
                      <a:schemeClr val="bg1"/>
                    </a:solidFill>
                  </a:rPr>
                  <a:t>in</a:t>
                </a:r>
                <a:endParaRPr lang="en-US" altLang="zh-CN" sz="2000" b="0" i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34867" name="Group 19"/>
            <p:cNvGrpSpPr>
              <a:grpSpLocks/>
            </p:cNvGrpSpPr>
            <p:nvPr/>
          </p:nvGrpSpPr>
          <p:grpSpPr bwMode="auto">
            <a:xfrm>
              <a:off x="3504" y="2112"/>
              <a:ext cx="672" cy="1008"/>
              <a:chOff x="1776" y="2112"/>
              <a:chExt cx="672" cy="1008"/>
            </a:xfrm>
          </p:grpSpPr>
          <p:sp>
            <p:nvSpPr>
              <p:cNvPr id="334868" name="AutoShape 20"/>
              <p:cNvSpPr>
                <a:spLocks noChangeArrowheads="1"/>
              </p:cNvSpPr>
              <p:nvPr/>
            </p:nvSpPr>
            <p:spPr bwMode="auto">
              <a:xfrm>
                <a:off x="1776" y="2112"/>
                <a:ext cx="672" cy="1008"/>
              </a:xfrm>
              <a:custGeom>
                <a:avLst/>
                <a:gdLst>
                  <a:gd name="G0" fmla="+- 3075922 0 0"/>
                  <a:gd name="G1" fmla="+- -8921342 0 0"/>
                  <a:gd name="G2" fmla="+- 3075922 0 -8921342"/>
                  <a:gd name="G3" fmla="+- 10800 0 0"/>
                  <a:gd name="G4" fmla="+- 0 0 3075922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10031 0 0"/>
                  <a:gd name="G9" fmla="+- 0 0 -8921342"/>
                  <a:gd name="G10" fmla="+- 10031 0 2700"/>
                  <a:gd name="G11" fmla="cos G10 3075922"/>
                  <a:gd name="G12" fmla="sin G10 3075922"/>
                  <a:gd name="G13" fmla="cos 13500 3075922"/>
                  <a:gd name="G14" fmla="sin 13500 3075922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10031 1 2"/>
                  <a:gd name="G20" fmla="+- G19 5400 0"/>
                  <a:gd name="G21" fmla="cos G20 3075922"/>
                  <a:gd name="G22" fmla="sin G20 3075922"/>
                  <a:gd name="G23" fmla="+- G21 10800 0"/>
                  <a:gd name="G24" fmla="+- G12 G23 G22"/>
                  <a:gd name="G25" fmla="+- G22 G23 G11"/>
                  <a:gd name="G26" fmla="cos 10800 3075922"/>
                  <a:gd name="G27" fmla="sin 10800 3075922"/>
                  <a:gd name="G28" fmla="cos 10031 3075922"/>
                  <a:gd name="G29" fmla="sin 10031 3075922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8921342"/>
                  <a:gd name="G36" fmla="sin G34 -8921342"/>
                  <a:gd name="G37" fmla="+/ -8921342 3075922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10031 G39"/>
                  <a:gd name="G43" fmla="sin 10031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18490 w 21600"/>
                  <a:gd name="T5" fmla="*/ 3217 h 21600"/>
                  <a:gd name="T6" fmla="*/ 3291 w 21600"/>
                  <a:gd name="T7" fmla="*/ 3581 h 21600"/>
                  <a:gd name="T8" fmla="*/ 17942 w 21600"/>
                  <a:gd name="T9" fmla="*/ 3757 h 21600"/>
                  <a:gd name="T10" fmla="*/ 20018 w 21600"/>
                  <a:gd name="T11" fmla="*/ 20662 h 21600"/>
                  <a:gd name="T12" fmla="*/ 15658 w 21600"/>
                  <a:gd name="T13" fmla="*/ 20516 h 21600"/>
                  <a:gd name="T14" fmla="*/ 15805 w 21600"/>
                  <a:gd name="T15" fmla="*/ 16155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7649" y="18128"/>
                    </a:moveTo>
                    <a:cubicBezTo>
                      <a:pt x="19678" y="16231"/>
                      <a:pt x="20831" y="13577"/>
                      <a:pt x="20831" y="10800"/>
                    </a:cubicBezTo>
                    <a:cubicBezTo>
                      <a:pt x="20831" y="5260"/>
                      <a:pt x="16339" y="769"/>
                      <a:pt x="10800" y="769"/>
                    </a:cubicBezTo>
                    <a:cubicBezTo>
                      <a:pt x="8071" y="768"/>
                      <a:pt x="5459" y="1880"/>
                      <a:pt x="3568" y="3848"/>
                    </a:cubicBezTo>
                    <a:lnTo>
                      <a:pt x="3014" y="3315"/>
                    </a:lnTo>
                    <a:cubicBezTo>
                      <a:pt x="5050" y="1197"/>
                      <a:pt x="7861" y="-1"/>
                      <a:pt x="10800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ubicBezTo>
                      <a:pt x="21600" y="13790"/>
                      <a:pt x="20359" y="16647"/>
                      <a:pt x="18174" y="18690"/>
                    </a:cubicBezTo>
                    <a:lnTo>
                      <a:pt x="20018" y="20662"/>
                    </a:lnTo>
                    <a:lnTo>
                      <a:pt x="15658" y="20516"/>
                    </a:lnTo>
                    <a:lnTo>
                      <a:pt x="15805" y="16155"/>
                    </a:lnTo>
                    <a:lnTo>
                      <a:pt x="17649" y="18128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334869" name="Text Box 21"/>
              <p:cNvSpPr txBox="1">
                <a:spLocks noChangeArrowheads="1"/>
              </p:cNvSpPr>
              <p:nvPr/>
            </p:nvSpPr>
            <p:spPr bwMode="auto">
              <a:xfrm>
                <a:off x="1960" y="2413"/>
                <a:ext cx="416" cy="3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000" b="0" i="1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</a:rPr>
                  <a:t>2</a:t>
                </a:r>
                <a:endParaRPr lang="en-US" altLang="zh-CN" sz="2000" b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34870" name="Rectangle 22"/>
          <p:cNvSpPr>
            <a:spLocks noChangeArrowheads="1"/>
          </p:cNvSpPr>
          <p:nvPr/>
        </p:nvSpPr>
        <p:spPr bwMode="auto">
          <a:xfrm>
            <a:off x="917024" y="5753100"/>
            <a:ext cx="54975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+mn-lt"/>
                <a:ea typeface="楷体_GB2312" pitchFamily="49" charset="-122"/>
              </a:rPr>
              <a:t>受</a:t>
            </a:r>
            <a:r>
              <a:rPr lang="zh-CN" altLang="en-US" dirty="0">
                <a:latin typeface="+mn-lt"/>
                <a:ea typeface="楷体_GB2312" pitchFamily="49" charset="-122"/>
              </a:rPr>
              <a:t>控源也是电源，计</a:t>
            </a:r>
            <a:r>
              <a:rPr lang="zh-CN" altLang="en-US" dirty="0" smtClean="0">
                <a:latin typeface="+mn-lt"/>
                <a:ea typeface="楷体_GB2312" pitchFamily="49" charset="-122"/>
              </a:rPr>
              <a:t>入 </a:t>
            </a:r>
            <a:r>
              <a:rPr lang="en-US" altLang="zh-CN" i="1" dirty="0" err="1" smtClean="0">
                <a:latin typeface="+mn-lt"/>
                <a:ea typeface="楷体_GB2312" pitchFamily="49" charset="-122"/>
              </a:rPr>
              <a:t>v</a:t>
            </a:r>
            <a:r>
              <a:rPr lang="en-US" altLang="zh-CN" i="1" baseline="-25000" dirty="0" err="1" smtClean="0">
                <a:latin typeface="+mn-lt"/>
                <a:ea typeface="楷体_GB2312" pitchFamily="49" charset="-122"/>
              </a:rPr>
              <a:t>sii</a:t>
            </a:r>
            <a:r>
              <a:rPr lang="en-US" altLang="zh-CN" i="1" baseline="-25000" dirty="0" smtClean="0">
                <a:latin typeface="+mn-lt"/>
                <a:ea typeface="楷体_GB2312" pitchFamily="49" charset="-122"/>
              </a:rPr>
              <a:t> </a:t>
            </a:r>
            <a:r>
              <a:rPr lang="zh-CN" altLang="en-US" dirty="0" smtClean="0">
                <a:latin typeface="+mn-lt"/>
                <a:ea typeface="楷体_GB2312" pitchFamily="49" charset="-122"/>
              </a:rPr>
              <a:t>项；</a:t>
            </a:r>
            <a:endParaRPr lang="en-US" altLang="zh-CN" dirty="0">
              <a:latin typeface="+mn-lt"/>
              <a:ea typeface="楷体_GB2312" pitchFamily="49" charset="-122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+mn-lt"/>
                <a:ea typeface="楷体_GB2312" pitchFamily="49" charset="-122"/>
              </a:rPr>
              <a:t>补充</a:t>
            </a:r>
            <a:r>
              <a:rPr lang="zh-CN" altLang="en-US" dirty="0">
                <a:latin typeface="+mn-lt"/>
                <a:ea typeface="楷体_GB2312" pitchFamily="49" charset="-122"/>
              </a:rPr>
              <a:t>控制量</a:t>
            </a:r>
            <a:r>
              <a:rPr lang="zh-CN" altLang="en-US" dirty="0" smtClean="0">
                <a:latin typeface="+mn-lt"/>
                <a:ea typeface="楷体_GB2312" pitchFamily="49" charset="-122"/>
              </a:rPr>
              <a:t>方程，方程</a:t>
            </a:r>
            <a:r>
              <a:rPr lang="zh-CN" altLang="en-US" dirty="0">
                <a:latin typeface="+mn-lt"/>
                <a:ea typeface="楷体_GB2312" pitchFamily="49" charset="-122"/>
              </a:rPr>
              <a:t>总数增加。</a:t>
            </a:r>
          </a:p>
        </p:txBody>
      </p:sp>
      <p:sp>
        <p:nvSpPr>
          <p:cNvPr id="334871" name="Text Box 23"/>
          <p:cNvSpPr txBox="1">
            <a:spLocks noChangeArrowheads="1"/>
          </p:cNvSpPr>
          <p:nvPr/>
        </p:nvSpPr>
        <p:spPr bwMode="auto">
          <a:xfrm>
            <a:off x="550863" y="361950"/>
            <a:ext cx="59769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 smtClean="0">
                <a:latin typeface="+mn-lt"/>
                <a:ea typeface="楷体_GB2312" pitchFamily="49" charset="-122"/>
              </a:rPr>
              <a:t>(b) </a:t>
            </a:r>
            <a:r>
              <a:rPr lang="zh-CN" altLang="en-US" dirty="0" smtClean="0">
                <a:latin typeface="+mn-lt"/>
                <a:ea typeface="楷体_GB2312" pitchFamily="49" charset="-122"/>
              </a:rPr>
              <a:t>含</a:t>
            </a:r>
            <a:r>
              <a:rPr lang="zh-CN" altLang="en-US" dirty="0">
                <a:latin typeface="+mn-lt"/>
                <a:ea typeface="楷体_GB2312" pitchFamily="49" charset="-122"/>
              </a:rPr>
              <a:t>受控源电路的网孔方程</a:t>
            </a:r>
          </a:p>
        </p:txBody>
      </p:sp>
      <p:sp>
        <p:nvSpPr>
          <p:cNvPr id="334873" name="Rectangle 25"/>
          <p:cNvSpPr>
            <a:spLocks noChangeArrowheads="1"/>
          </p:cNvSpPr>
          <p:nvPr/>
        </p:nvSpPr>
        <p:spPr bwMode="auto">
          <a:xfrm>
            <a:off x="410230" y="5238750"/>
            <a:ext cx="866775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0000"/>
                </a:solidFill>
                <a:latin typeface="Arial" charset="0"/>
                <a:ea typeface="楷体_GB2312" pitchFamily="49" charset="-122"/>
              </a:rPr>
              <a:t>注意</a:t>
            </a:r>
          </a:p>
        </p:txBody>
      </p:sp>
      <p:sp>
        <p:nvSpPr>
          <p:cNvPr id="334875" name="Rectangle 27"/>
          <p:cNvSpPr>
            <a:spLocks noChangeArrowheads="1"/>
          </p:cNvSpPr>
          <p:nvPr/>
        </p:nvSpPr>
        <p:spPr bwMode="auto">
          <a:xfrm>
            <a:off x="5800725" y="1714500"/>
            <a:ext cx="47625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4876" name="Rectangle 28"/>
          <p:cNvSpPr>
            <a:spLocks noChangeArrowheads="1"/>
          </p:cNvSpPr>
          <p:nvPr/>
        </p:nvSpPr>
        <p:spPr bwMode="auto">
          <a:xfrm>
            <a:off x="6819900" y="1704975"/>
            <a:ext cx="47625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4877" name="Rectangle 29"/>
          <p:cNvSpPr>
            <a:spLocks noChangeArrowheads="1"/>
          </p:cNvSpPr>
          <p:nvPr/>
        </p:nvSpPr>
        <p:spPr bwMode="auto">
          <a:xfrm>
            <a:off x="1314450" y="3257550"/>
            <a:ext cx="47625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4878" name="Rectangle 30"/>
          <p:cNvSpPr>
            <a:spLocks noChangeArrowheads="1"/>
          </p:cNvSpPr>
          <p:nvPr/>
        </p:nvSpPr>
        <p:spPr bwMode="auto">
          <a:xfrm>
            <a:off x="1323975" y="4314825"/>
            <a:ext cx="476250" cy="4000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4879" name="Text Box 31"/>
          <p:cNvSpPr txBox="1">
            <a:spLocks noChangeArrowheads="1"/>
          </p:cNvSpPr>
          <p:nvPr/>
        </p:nvSpPr>
        <p:spPr bwMode="auto">
          <a:xfrm>
            <a:off x="7013575" y="2151063"/>
            <a:ext cx="35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334880" name="Text Box 32"/>
          <p:cNvSpPr txBox="1">
            <a:spLocks noChangeArrowheads="1"/>
          </p:cNvSpPr>
          <p:nvPr/>
        </p:nvSpPr>
        <p:spPr bwMode="auto">
          <a:xfrm>
            <a:off x="5743575" y="2155825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>
                <a:solidFill>
                  <a:schemeClr val="bg1"/>
                </a:solidFill>
              </a:rPr>
              <a:t>－</a:t>
            </a:r>
          </a:p>
        </p:txBody>
      </p:sp>
      <p:sp>
        <p:nvSpPr>
          <p:cNvPr id="334881" name="Text Box 33"/>
          <p:cNvSpPr txBox="1">
            <a:spLocks noChangeArrowheads="1"/>
          </p:cNvSpPr>
          <p:nvPr/>
        </p:nvSpPr>
        <p:spPr bwMode="auto">
          <a:xfrm>
            <a:off x="1784350" y="3008313"/>
            <a:ext cx="35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334882" name="Text Box 34"/>
          <p:cNvSpPr txBox="1">
            <a:spLocks noChangeArrowheads="1"/>
          </p:cNvSpPr>
          <p:nvPr/>
        </p:nvSpPr>
        <p:spPr bwMode="auto">
          <a:xfrm>
            <a:off x="1784350" y="4314825"/>
            <a:ext cx="3914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/>
                </a:solidFill>
              </a:rPr>
              <a:t>－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460333"/>
              </p:ext>
            </p:extLst>
          </p:nvPr>
        </p:nvGraphicFramePr>
        <p:xfrm>
          <a:off x="6276975" y="6089246"/>
          <a:ext cx="1979488" cy="460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52" name="Equation" r:id="rId4" imgW="1091880" imgH="253800" progId="Equation.DSMT4">
                  <p:embed/>
                </p:oleObj>
              </mc:Choice>
              <mc:Fallback>
                <p:oleObj name="Equation" r:id="rId4" imgW="1091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76975" y="6089246"/>
                        <a:ext cx="1979488" cy="460346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33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500"/>
                                        <p:tgtEl>
                                          <p:spTgt spid="33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70" grpId="0"/>
      <p:bldP spid="33487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Text Box 2"/>
          <p:cNvSpPr txBox="1">
            <a:spLocks noChangeArrowheads="1"/>
          </p:cNvSpPr>
          <p:nvPr/>
        </p:nvSpPr>
        <p:spPr bwMode="auto">
          <a:xfrm>
            <a:off x="1597479" y="4782138"/>
            <a:ext cx="6564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受控源的控制量是网孔电流，直接代入；</a:t>
            </a:r>
          </a:p>
        </p:txBody>
      </p:sp>
      <p:sp>
        <p:nvSpPr>
          <p:cNvPr id="394243" name="Text Box 3"/>
          <p:cNvSpPr txBox="1">
            <a:spLocks noChangeArrowheads="1"/>
          </p:cNvSpPr>
          <p:nvPr/>
        </p:nvSpPr>
        <p:spPr bwMode="auto">
          <a:xfrm>
            <a:off x="1597479" y="5258388"/>
            <a:ext cx="6867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zh-CN" altLang="en-US" dirty="0"/>
              <a:t>受控源的控制量不是网孔电流，必须补充受控源的控制量与网孔电流之间的关系式。</a:t>
            </a:r>
          </a:p>
        </p:txBody>
      </p:sp>
      <p:sp>
        <p:nvSpPr>
          <p:cNvPr id="394245" name="Text Box 5"/>
          <p:cNvSpPr txBox="1">
            <a:spLocks noChangeArrowheads="1"/>
          </p:cNvSpPr>
          <p:nvPr/>
        </p:nvSpPr>
        <p:spPr bwMode="auto">
          <a:xfrm>
            <a:off x="677863" y="915374"/>
            <a:ext cx="324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FF0000"/>
                </a:solidFill>
              </a:rPr>
              <a:t>网孔电流法的特殊情况</a:t>
            </a:r>
          </a:p>
        </p:txBody>
      </p:sp>
      <p:sp>
        <p:nvSpPr>
          <p:cNvPr id="394246" name="Text Box 6"/>
          <p:cNvSpPr txBox="1">
            <a:spLocks noChangeArrowheads="1"/>
          </p:cNvSpPr>
          <p:nvPr/>
        </p:nvSpPr>
        <p:spPr bwMode="auto">
          <a:xfrm>
            <a:off x="1116851" y="4210638"/>
            <a:ext cx="36631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 smtClean="0"/>
              <a:t>2.  </a:t>
            </a:r>
            <a:r>
              <a:rPr lang="zh-CN" altLang="en-US" dirty="0"/>
              <a:t>当电路中包含受控源时</a:t>
            </a:r>
          </a:p>
        </p:txBody>
      </p:sp>
      <p:sp>
        <p:nvSpPr>
          <p:cNvPr id="394247" name="Text Box 7"/>
          <p:cNvSpPr txBox="1">
            <a:spLocks noChangeArrowheads="1"/>
          </p:cNvSpPr>
          <p:nvPr/>
        </p:nvSpPr>
        <p:spPr bwMode="auto">
          <a:xfrm>
            <a:off x="1583192" y="2231231"/>
            <a:ext cx="6564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设法把电流源支路搬到网孔边缘 ；</a:t>
            </a:r>
          </a:p>
        </p:txBody>
      </p:sp>
      <p:sp>
        <p:nvSpPr>
          <p:cNvPr id="394248" name="Text Box 8"/>
          <p:cNvSpPr txBox="1">
            <a:spLocks noChangeArrowheads="1"/>
          </p:cNvSpPr>
          <p:nvPr/>
        </p:nvSpPr>
        <p:spPr bwMode="auto">
          <a:xfrm>
            <a:off x="1583192" y="2707481"/>
            <a:ext cx="68675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dirty="0"/>
              <a:t>(2) </a:t>
            </a:r>
            <a:r>
              <a:rPr lang="zh-CN" altLang="en-US" dirty="0"/>
              <a:t>当不便于改画时，要给电流源支路设电压和参考方向，并补充电流源的电流值与网孔电流的关系式。 </a:t>
            </a:r>
          </a:p>
        </p:txBody>
      </p:sp>
      <p:sp>
        <p:nvSpPr>
          <p:cNvPr id="394250" name="Text Box 10"/>
          <p:cNvSpPr txBox="1">
            <a:spLocks noChangeArrowheads="1"/>
          </p:cNvSpPr>
          <p:nvPr/>
        </p:nvSpPr>
        <p:spPr bwMode="auto">
          <a:xfrm>
            <a:off x="1141867" y="1659731"/>
            <a:ext cx="5934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dirty="0" smtClean="0"/>
              <a:t>1.  </a:t>
            </a:r>
            <a:r>
              <a:rPr lang="zh-CN" altLang="en-US" dirty="0"/>
              <a:t>当电路中包含电流源支路时</a:t>
            </a:r>
          </a:p>
        </p:txBody>
      </p: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7296150" y="340518"/>
            <a:ext cx="1371600" cy="1090613"/>
            <a:chOff x="96" y="2721"/>
            <a:chExt cx="864" cy="687"/>
          </a:xfrm>
        </p:grpSpPr>
        <p:sp>
          <p:nvSpPr>
            <p:cNvPr id="12" name="AutoShape 9"/>
            <p:cNvSpPr>
              <a:spLocks noChangeArrowheads="1"/>
            </p:cNvSpPr>
            <p:nvPr/>
          </p:nvSpPr>
          <p:spPr bwMode="auto">
            <a:xfrm>
              <a:off x="96" y="2721"/>
              <a:ext cx="816" cy="687"/>
            </a:xfrm>
            <a:prstGeom prst="irregularSeal1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92" y="2865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>
                  <a:ea typeface="楷体_GB2312" pitchFamily="49" charset="-122"/>
                </a:rPr>
                <a:t>归纳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91098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9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9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2" grpId="0"/>
      <p:bldP spid="394243" grpId="0"/>
      <p:bldP spid="394245" grpId="0"/>
      <p:bldP spid="394246" grpId="0"/>
      <p:bldP spid="394247" grpId="0"/>
      <p:bldP spid="394248" grpId="0"/>
      <p:bldP spid="39425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ChangeArrowheads="1"/>
          </p:cNvSpPr>
          <p:nvPr/>
        </p:nvSpPr>
        <p:spPr bwMode="auto">
          <a:xfrm>
            <a:off x="914400" y="1460750"/>
            <a:ext cx="7315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 algn="l"/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buClr>
                <a:srgbClr val="FF9900"/>
              </a:buClr>
              <a:buFont typeface="Wingdings" pitchFamily="2" charset="2"/>
              <a:buChar char="q"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网孔电流是一组独立的电流变量，具有完备性和独立性，其个数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为 </a:t>
            </a:r>
            <a:r>
              <a:rPr lang="en-US" altLang="zh-CN" i="1" dirty="0" smtClean="0">
                <a:ea typeface="楷体_GB2312" pitchFamily="49" charset="-122"/>
              </a:rPr>
              <a:t>m </a:t>
            </a:r>
            <a:r>
              <a:rPr lang="en-US" altLang="zh-CN" dirty="0">
                <a:ea typeface="楷体_GB2312" pitchFamily="49" charset="-122"/>
              </a:rPr>
              <a:t>= </a:t>
            </a:r>
            <a:r>
              <a:rPr lang="en-US" altLang="zh-CN" i="1" dirty="0" smtClean="0">
                <a:ea typeface="楷体_GB2312" pitchFamily="49" charset="-122"/>
              </a:rPr>
              <a:t>b </a:t>
            </a:r>
            <a:r>
              <a:rPr lang="en-US" altLang="zh-CN" dirty="0" smtClean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dirty="0" smtClean="0">
                <a:ea typeface="楷体_GB2312" pitchFamily="49" charset="-122"/>
              </a:rPr>
              <a:t>(</a:t>
            </a:r>
            <a:r>
              <a:rPr lang="en-US" altLang="zh-CN" i="1" dirty="0" smtClean="0">
                <a:ea typeface="楷体_GB2312" pitchFamily="49" charset="-122"/>
              </a:rPr>
              <a:t>n</a:t>
            </a:r>
            <a:r>
              <a:rPr lang="en-US" altLang="zh-CN" dirty="0"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dirty="0" smtClean="0">
                <a:ea typeface="楷体_GB2312" pitchFamily="49" charset="-122"/>
              </a:rPr>
              <a:t>1</a:t>
            </a:r>
            <a:r>
              <a:rPr lang="en-US" altLang="zh-CN" dirty="0">
                <a:ea typeface="楷体_GB2312" pitchFamily="49" charset="-122"/>
              </a:rPr>
              <a:t>) &lt; </a:t>
            </a:r>
            <a:r>
              <a:rPr lang="en-US" altLang="zh-CN" i="1" dirty="0">
                <a:ea typeface="楷体_GB2312" pitchFamily="49" charset="-122"/>
              </a:rPr>
              <a:t>b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algn="l">
              <a:buClr>
                <a:srgbClr val="FF9900"/>
              </a:buClr>
              <a:buFont typeface="Wingdings" pitchFamily="2" charset="2"/>
              <a:buChar char="q"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buClr>
                <a:srgbClr val="FF9900"/>
              </a:buClr>
              <a:buFont typeface="Wingdings" pitchFamily="2" charset="2"/>
              <a:buChar char="q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根据电路可以直接写出网孔电流方程；</a:t>
            </a:r>
          </a:p>
          <a:p>
            <a:pPr algn="l">
              <a:buClr>
                <a:srgbClr val="FF9900"/>
              </a:buClr>
              <a:buFont typeface="Wingdings" pitchFamily="2" charset="2"/>
              <a:buChar char="q"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buClr>
                <a:srgbClr val="FF9900"/>
              </a:buClr>
              <a:buFont typeface="Wingdings" pitchFamily="2" charset="2"/>
              <a:buChar char="q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u="sng" dirty="0">
                <a:latin typeface="楷体_GB2312" pitchFamily="49" charset="-122"/>
                <a:ea typeface="楷体_GB2312" pitchFamily="49" charset="-122"/>
              </a:rPr>
              <a:t>含电流源支路多且网孔数少的电路宜用网孔电流分析法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l">
              <a:buClr>
                <a:srgbClr val="FF9900"/>
              </a:buClr>
              <a:buFont typeface="Wingdings" pitchFamily="2" charset="2"/>
              <a:buChar char="q"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buClr>
                <a:srgbClr val="FF9900"/>
              </a:buClr>
              <a:buFont typeface="Wingdings" pitchFamily="2" charset="2"/>
              <a:buChar char="q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网孔分析法只适合于平面电路。</a:t>
            </a:r>
          </a:p>
        </p:txBody>
      </p:sp>
      <p:sp>
        <p:nvSpPr>
          <p:cNvPr id="335876" name="Rectangle 4"/>
          <p:cNvSpPr>
            <a:spLocks noChangeArrowheads="1"/>
          </p:cNvSpPr>
          <p:nvPr/>
        </p:nvSpPr>
        <p:spPr bwMode="auto">
          <a:xfrm>
            <a:off x="638175" y="1003550"/>
            <a:ext cx="809625" cy="5143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zh-CN" altLang="en-US">
                <a:latin typeface="Arial" charset="0"/>
                <a:ea typeface="楷体_GB2312" pitchFamily="49" charset="-122"/>
              </a:rPr>
              <a:t>小结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5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5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5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5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4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299" name="Group 3"/>
          <p:cNvGrpSpPr>
            <a:grpSpLocks/>
          </p:cNvGrpSpPr>
          <p:nvPr/>
        </p:nvGrpSpPr>
        <p:grpSpPr bwMode="auto">
          <a:xfrm>
            <a:off x="833438" y="876300"/>
            <a:ext cx="6874668" cy="1113979"/>
            <a:chOff x="2966" y="552"/>
            <a:chExt cx="2452" cy="850"/>
          </a:xfrm>
        </p:grpSpPr>
        <p:sp>
          <p:nvSpPr>
            <p:cNvPr id="311300" name="Text Box 4"/>
            <p:cNvSpPr txBox="1">
              <a:spLocks noChangeArrowheads="1"/>
            </p:cNvSpPr>
            <p:nvPr/>
          </p:nvSpPr>
          <p:spPr bwMode="auto">
            <a:xfrm>
              <a:off x="2982" y="552"/>
              <a:ext cx="14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dirty="0" smtClean="0">
                  <a:solidFill>
                    <a:srgbClr val="0000CC"/>
                  </a:solidFill>
                </a:rPr>
                <a:t>1</a:t>
              </a:r>
              <a:r>
                <a:rPr lang="zh-CN" altLang="en-US" dirty="0" smtClean="0">
                  <a:solidFill>
                    <a:srgbClr val="0000CC"/>
                  </a:solidFill>
                </a:rPr>
                <a:t>、</a:t>
              </a:r>
              <a:r>
                <a:rPr lang="zh-CN" altLang="en-US" dirty="0">
                  <a:solidFill>
                    <a:srgbClr val="0000CC"/>
                  </a:solidFill>
                </a:rPr>
                <a:t>思路</a:t>
              </a:r>
            </a:p>
          </p:txBody>
        </p:sp>
        <p:sp>
          <p:nvSpPr>
            <p:cNvPr id="311301" name="Rectangle 5"/>
            <p:cNvSpPr>
              <a:spLocks noChangeArrowheads="1"/>
            </p:cNvSpPr>
            <p:nvPr/>
          </p:nvSpPr>
          <p:spPr bwMode="auto">
            <a:xfrm>
              <a:off x="2966" y="862"/>
              <a:ext cx="2452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sz="2000" dirty="0" smtClean="0"/>
                <a:t>        能否</a:t>
              </a:r>
              <a:r>
                <a:rPr lang="zh-CN" altLang="en-US" sz="2000" dirty="0"/>
                <a:t>假定一组变量使之自动满足 </a:t>
              </a:r>
              <a:r>
                <a:rPr lang="en-US" altLang="zh-CN" sz="2000" dirty="0"/>
                <a:t>KVL</a:t>
              </a:r>
              <a:r>
                <a:rPr lang="zh-CN" altLang="en-US" sz="2000" dirty="0"/>
                <a:t>，从而减少联立方程的个数？</a:t>
              </a:r>
            </a:p>
          </p:txBody>
        </p:sp>
      </p:grpSp>
      <p:sp>
        <p:nvSpPr>
          <p:cNvPr id="311302" name="Text Box 6"/>
          <p:cNvSpPr txBox="1">
            <a:spLocks noChangeArrowheads="1"/>
          </p:cNvSpPr>
          <p:nvPr/>
        </p:nvSpPr>
        <p:spPr bwMode="auto">
          <a:xfrm>
            <a:off x="784103" y="2511030"/>
            <a:ext cx="3486669" cy="163121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2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52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indent="0"/>
            <a:r>
              <a:rPr lang="zh-CN" altLang="en-US" sz="2000" dirty="0" smtClean="0"/>
              <a:t>        任意</a:t>
            </a:r>
            <a:r>
              <a:rPr lang="zh-CN" altLang="en-US" sz="2000" dirty="0"/>
              <a:t>选择一个节点设为参考节点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indent="0"/>
            <a:endParaRPr lang="zh-CN" altLang="en-US" sz="2000" dirty="0"/>
          </a:p>
          <a:p>
            <a:pPr indent="0"/>
            <a:r>
              <a:rPr lang="zh-CN" altLang="en-US" sz="2000" dirty="0" smtClean="0"/>
              <a:t>节点</a:t>
            </a:r>
            <a:r>
              <a:rPr lang="zh-CN" altLang="en-US" sz="2000" dirty="0"/>
              <a:t>电压</a:t>
            </a:r>
            <a:r>
              <a:rPr lang="zh-CN" altLang="en-US" sz="2000" dirty="0" smtClean="0"/>
              <a:t>：</a:t>
            </a:r>
            <a:r>
              <a:rPr lang="zh-CN" altLang="en-US" sz="2000" dirty="0"/>
              <a:t>独立节点到参考点的电压。 </a:t>
            </a:r>
          </a:p>
        </p:txBody>
      </p:sp>
      <p:graphicFrame>
        <p:nvGraphicFramePr>
          <p:cNvPr id="3113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043951"/>
              </p:ext>
            </p:extLst>
          </p:nvPr>
        </p:nvGraphicFramePr>
        <p:xfrm>
          <a:off x="1009650" y="4786313"/>
          <a:ext cx="5940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00" name="Equation" r:id="rId3" imgW="2209680" imgH="228600" progId="Equation.DSMT4">
                  <p:embed/>
                </p:oleObj>
              </mc:Choice>
              <mc:Fallback>
                <p:oleObj name="Equation" r:id="rId3" imgW="220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4786313"/>
                        <a:ext cx="59404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7" name="Rectangle 11"/>
          <p:cNvSpPr>
            <a:spLocks noChangeArrowheads="1"/>
          </p:cNvSpPr>
          <p:nvPr/>
        </p:nvSpPr>
        <p:spPr bwMode="auto">
          <a:xfrm>
            <a:off x="833438" y="5516694"/>
            <a:ext cx="18875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000">
                <a:solidFill>
                  <a:srgbClr val="3333FF"/>
                </a:solidFill>
              </a:rPr>
              <a:t>KVL</a:t>
            </a:r>
            <a:r>
              <a:rPr lang="zh-CN" altLang="en-US" sz="2000">
                <a:solidFill>
                  <a:srgbClr val="3333FF"/>
                </a:solidFill>
              </a:rPr>
              <a:t>自动满足</a:t>
            </a:r>
          </a:p>
        </p:txBody>
      </p:sp>
      <p:grpSp>
        <p:nvGrpSpPr>
          <p:cNvPr id="311308" name="Group 12"/>
          <p:cNvGrpSpPr>
            <a:grpSpLocks/>
          </p:cNvGrpSpPr>
          <p:nvPr/>
        </p:nvGrpSpPr>
        <p:grpSpPr bwMode="auto">
          <a:xfrm>
            <a:off x="4726560" y="1762186"/>
            <a:ext cx="4243388" cy="2927349"/>
            <a:chOff x="328" y="445"/>
            <a:chExt cx="2673" cy="1844"/>
          </a:xfrm>
        </p:grpSpPr>
        <p:sp>
          <p:nvSpPr>
            <p:cNvPr id="311309" name="Oval 13"/>
            <p:cNvSpPr>
              <a:spLocks noChangeArrowheads="1"/>
            </p:cNvSpPr>
            <p:nvPr/>
          </p:nvSpPr>
          <p:spPr bwMode="auto">
            <a:xfrm>
              <a:off x="518" y="1526"/>
              <a:ext cx="225" cy="2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310" name="Line 14"/>
            <p:cNvSpPr>
              <a:spLocks noChangeShapeType="1"/>
            </p:cNvSpPr>
            <p:nvPr/>
          </p:nvSpPr>
          <p:spPr bwMode="auto">
            <a:xfrm>
              <a:off x="622" y="1769"/>
              <a:ext cx="0" cy="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11" name="Line 15"/>
            <p:cNvSpPr>
              <a:spLocks noChangeShapeType="1"/>
            </p:cNvSpPr>
            <p:nvPr/>
          </p:nvSpPr>
          <p:spPr bwMode="auto">
            <a:xfrm flipV="1">
              <a:off x="632" y="1112"/>
              <a:ext cx="0" cy="4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12" name="Line 16"/>
            <p:cNvSpPr>
              <a:spLocks noChangeShapeType="1"/>
            </p:cNvSpPr>
            <p:nvPr/>
          </p:nvSpPr>
          <p:spPr bwMode="auto">
            <a:xfrm>
              <a:off x="617" y="2019"/>
              <a:ext cx="1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13" name="Line 17"/>
            <p:cNvSpPr>
              <a:spLocks noChangeShapeType="1"/>
            </p:cNvSpPr>
            <p:nvPr/>
          </p:nvSpPr>
          <p:spPr bwMode="auto">
            <a:xfrm flipV="1">
              <a:off x="1074" y="1111"/>
              <a:ext cx="0" cy="9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14" name="Rectangle 18"/>
            <p:cNvSpPr>
              <a:spLocks noChangeArrowheads="1"/>
            </p:cNvSpPr>
            <p:nvPr/>
          </p:nvSpPr>
          <p:spPr bwMode="auto">
            <a:xfrm>
              <a:off x="1034" y="1549"/>
              <a:ext cx="80" cy="23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315" name="Line 19"/>
            <p:cNvSpPr>
              <a:spLocks noChangeShapeType="1"/>
            </p:cNvSpPr>
            <p:nvPr/>
          </p:nvSpPr>
          <p:spPr bwMode="auto">
            <a:xfrm>
              <a:off x="2128" y="1113"/>
              <a:ext cx="0" cy="8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16" name="Line 20"/>
            <p:cNvSpPr>
              <a:spLocks noChangeShapeType="1"/>
            </p:cNvSpPr>
            <p:nvPr/>
          </p:nvSpPr>
          <p:spPr bwMode="auto">
            <a:xfrm flipV="1">
              <a:off x="562" y="122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17" name="Text Box 21"/>
            <p:cNvSpPr txBox="1">
              <a:spLocks noChangeArrowheads="1"/>
            </p:cNvSpPr>
            <p:nvPr/>
          </p:nvSpPr>
          <p:spPr bwMode="auto">
            <a:xfrm>
              <a:off x="328" y="1356"/>
              <a:ext cx="3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 dirty="0" err="1"/>
                <a:t>i</a:t>
              </a:r>
              <a:r>
                <a:rPr lang="en-US" altLang="zh-CN" sz="2000" i="1" baseline="-25000" dirty="0" err="1"/>
                <a:t>S</a:t>
              </a:r>
              <a:endParaRPr lang="en-US" altLang="zh-CN" sz="2000" i="1" dirty="0"/>
            </a:p>
          </p:txBody>
        </p:sp>
        <p:sp>
          <p:nvSpPr>
            <p:cNvPr id="311318" name="Text Box 22"/>
            <p:cNvSpPr txBox="1">
              <a:spLocks noChangeArrowheads="1"/>
            </p:cNvSpPr>
            <p:nvPr/>
          </p:nvSpPr>
          <p:spPr bwMode="auto">
            <a:xfrm>
              <a:off x="777" y="1513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311319" name="Text Box 23"/>
            <p:cNvSpPr txBox="1">
              <a:spLocks noChangeArrowheads="1"/>
            </p:cNvSpPr>
            <p:nvPr/>
          </p:nvSpPr>
          <p:spPr bwMode="auto">
            <a:xfrm>
              <a:off x="817" y="1189"/>
              <a:ext cx="3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311320" name="Text Box 24"/>
            <p:cNvSpPr txBox="1">
              <a:spLocks noChangeArrowheads="1"/>
            </p:cNvSpPr>
            <p:nvPr/>
          </p:nvSpPr>
          <p:spPr bwMode="auto">
            <a:xfrm>
              <a:off x="1174" y="1171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/>
                <a:t>i</a:t>
              </a:r>
              <a:r>
                <a:rPr lang="en-US" altLang="zh-CN" sz="2000" baseline="-25000"/>
                <a:t>2</a:t>
              </a:r>
              <a:endParaRPr lang="en-US" altLang="zh-CN" sz="2000"/>
            </a:p>
          </p:txBody>
        </p:sp>
        <p:sp>
          <p:nvSpPr>
            <p:cNvPr id="311321" name="Text Box 25"/>
            <p:cNvSpPr txBox="1">
              <a:spLocks noChangeArrowheads="1"/>
            </p:cNvSpPr>
            <p:nvPr/>
          </p:nvSpPr>
          <p:spPr bwMode="auto">
            <a:xfrm>
              <a:off x="1130" y="445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3</a:t>
              </a:r>
              <a:endParaRPr lang="en-US" altLang="zh-CN" sz="2000" dirty="0"/>
            </a:p>
          </p:txBody>
        </p:sp>
        <p:sp>
          <p:nvSpPr>
            <p:cNvPr id="311322" name="Text Box 26"/>
            <p:cNvSpPr txBox="1">
              <a:spLocks noChangeArrowheads="1"/>
            </p:cNvSpPr>
            <p:nvPr/>
          </p:nvSpPr>
          <p:spPr bwMode="auto">
            <a:xfrm>
              <a:off x="1771" y="1460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4</a:t>
              </a:r>
              <a:endParaRPr lang="en-US" altLang="zh-CN" sz="2000" dirty="0"/>
            </a:p>
          </p:txBody>
        </p:sp>
        <p:sp>
          <p:nvSpPr>
            <p:cNvPr id="311323" name="Text Box 27"/>
            <p:cNvSpPr txBox="1">
              <a:spLocks noChangeArrowheads="1"/>
            </p:cNvSpPr>
            <p:nvPr/>
          </p:nvSpPr>
          <p:spPr bwMode="auto">
            <a:xfrm>
              <a:off x="2230" y="1115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5</a:t>
              </a:r>
              <a:endParaRPr lang="en-US" altLang="zh-CN" sz="2000" dirty="0"/>
            </a:p>
          </p:txBody>
        </p:sp>
        <p:sp>
          <p:nvSpPr>
            <p:cNvPr id="311324" name="Text Box 28"/>
            <p:cNvSpPr txBox="1">
              <a:spLocks noChangeArrowheads="1"/>
            </p:cNvSpPr>
            <p:nvPr/>
          </p:nvSpPr>
          <p:spPr bwMode="auto">
            <a:xfrm>
              <a:off x="1250" y="811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311325" name="Text Box 29"/>
            <p:cNvSpPr txBox="1">
              <a:spLocks noChangeArrowheads="1"/>
            </p:cNvSpPr>
            <p:nvPr/>
          </p:nvSpPr>
          <p:spPr bwMode="auto">
            <a:xfrm>
              <a:off x="2621" y="165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/>
                <a:t>G</a:t>
              </a:r>
              <a:r>
                <a:rPr lang="en-US" altLang="zh-CN" sz="2000" baseline="-25000"/>
                <a:t>5</a:t>
              </a:r>
              <a:endParaRPr lang="en-US" altLang="zh-CN" sz="2000"/>
            </a:p>
          </p:txBody>
        </p:sp>
        <p:sp>
          <p:nvSpPr>
            <p:cNvPr id="311326" name="Text Box 30"/>
            <p:cNvSpPr txBox="1">
              <a:spLocks noChangeArrowheads="1"/>
            </p:cNvSpPr>
            <p:nvPr/>
          </p:nvSpPr>
          <p:spPr bwMode="auto">
            <a:xfrm>
              <a:off x="1455" y="45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3</a:t>
              </a:r>
              <a:endParaRPr lang="en-US" altLang="zh-CN" sz="2000" dirty="0"/>
            </a:p>
          </p:txBody>
        </p:sp>
        <p:sp>
          <p:nvSpPr>
            <p:cNvPr id="311327" name="Text Box 31"/>
            <p:cNvSpPr txBox="1">
              <a:spLocks noChangeArrowheads="1"/>
            </p:cNvSpPr>
            <p:nvPr/>
          </p:nvSpPr>
          <p:spPr bwMode="auto">
            <a:xfrm>
              <a:off x="2160" y="147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4</a:t>
              </a:r>
              <a:endParaRPr lang="en-US" altLang="zh-CN" sz="2000" dirty="0"/>
            </a:p>
          </p:txBody>
        </p:sp>
        <p:sp>
          <p:nvSpPr>
            <p:cNvPr id="311328" name="Rectangle 32"/>
            <p:cNvSpPr>
              <a:spLocks noChangeArrowheads="1"/>
            </p:cNvSpPr>
            <p:nvPr/>
          </p:nvSpPr>
          <p:spPr bwMode="auto">
            <a:xfrm>
              <a:off x="2086" y="1482"/>
              <a:ext cx="80" cy="23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329" name="Rectangle 33"/>
            <p:cNvSpPr>
              <a:spLocks noChangeArrowheads="1"/>
            </p:cNvSpPr>
            <p:nvPr/>
          </p:nvSpPr>
          <p:spPr bwMode="auto">
            <a:xfrm>
              <a:off x="2549" y="1664"/>
              <a:ext cx="80" cy="23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330" name="Rectangle 34"/>
            <p:cNvSpPr>
              <a:spLocks noChangeArrowheads="1"/>
            </p:cNvSpPr>
            <p:nvPr/>
          </p:nvSpPr>
          <p:spPr bwMode="auto">
            <a:xfrm rot="5400000">
              <a:off x="1355" y="991"/>
              <a:ext cx="84" cy="22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1331" name="Rectangle 35"/>
            <p:cNvSpPr>
              <a:spLocks noChangeArrowheads="1"/>
            </p:cNvSpPr>
            <p:nvPr/>
          </p:nvSpPr>
          <p:spPr bwMode="auto">
            <a:xfrm rot="5400000">
              <a:off x="1557" y="636"/>
              <a:ext cx="84" cy="22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11332" name="Group 36"/>
            <p:cNvGrpSpPr>
              <a:grpSpLocks/>
            </p:cNvGrpSpPr>
            <p:nvPr/>
          </p:nvGrpSpPr>
          <p:grpSpPr bwMode="auto">
            <a:xfrm>
              <a:off x="1554" y="2076"/>
              <a:ext cx="166" cy="213"/>
              <a:chOff x="3221" y="1826"/>
              <a:chExt cx="200" cy="245"/>
            </a:xfrm>
          </p:grpSpPr>
          <p:sp>
            <p:nvSpPr>
              <p:cNvPr id="311333" name="Text Box 37"/>
              <p:cNvSpPr txBox="1">
                <a:spLocks noChangeArrowheads="1"/>
              </p:cNvSpPr>
              <p:nvPr/>
            </p:nvSpPr>
            <p:spPr bwMode="auto">
              <a:xfrm>
                <a:off x="3221" y="1826"/>
                <a:ext cx="198" cy="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1600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311334" name="Oval 38"/>
              <p:cNvSpPr>
                <a:spLocks noChangeArrowheads="1"/>
              </p:cNvSpPr>
              <p:nvPr/>
            </p:nvSpPr>
            <p:spPr bwMode="auto">
              <a:xfrm>
                <a:off x="3240" y="1872"/>
                <a:ext cx="181" cy="18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1335" name="Group 39"/>
            <p:cNvGrpSpPr>
              <a:grpSpLocks/>
            </p:cNvGrpSpPr>
            <p:nvPr/>
          </p:nvGrpSpPr>
          <p:grpSpPr bwMode="auto">
            <a:xfrm>
              <a:off x="1302" y="1985"/>
              <a:ext cx="240" cy="285"/>
              <a:chOff x="1611" y="1692"/>
              <a:chExt cx="261" cy="300"/>
            </a:xfrm>
          </p:grpSpPr>
          <p:grpSp>
            <p:nvGrpSpPr>
              <p:cNvPr id="311336" name="Group 40"/>
              <p:cNvGrpSpPr>
                <a:grpSpLocks/>
              </p:cNvGrpSpPr>
              <p:nvPr/>
            </p:nvGrpSpPr>
            <p:grpSpPr bwMode="auto">
              <a:xfrm>
                <a:off x="1611" y="1716"/>
                <a:ext cx="261" cy="276"/>
                <a:chOff x="2925" y="1662"/>
                <a:chExt cx="261" cy="276"/>
              </a:xfrm>
            </p:grpSpPr>
            <p:grpSp>
              <p:nvGrpSpPr>
                <p:cNvPr id="311337" name="Group 41"/>
                <p:cNvGrpSpPr>
                  <a:grpSpLocks/>
                </p:cNvGrpSpPr>
                <p:nvPr/>
              </p:nvGrpSpPr>
              <p:grpSpPr bwMode="auto">
                <a:xfrm>
                  <a:off x="2925" y="1818"/>
                  <a:ext cx="261" cy="120"/>
                  <a:chOff x="720" y="1824"/>
                  <a:chExt cx="261" cy="120"/>
                </a:xfrm>
              </p:grpSpPr>
              <p:sp>
                <p:nvSpPr>
                  <p:cNvPr id="31133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824"/>
                    <a:ext cx="261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339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778" y="1883"/>
                    <a:ext cx="14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340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802" y="1944"/>
                    <a:ext cx="86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1341" name="Line 45"/>
                <p:cNvSpPr>
                  <a:spLocks noChangeShapeType="1"/>
                </p:cNvSpPr>
                <p:nvPr/>
              </p:nvSpPr>
              <p:spPr bwMode="auto">
                <a:xfrm>
                  <a:off x="3054" y="1662"/>
                  <a:ext cx="0" cy="1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1342" name="Oval 46"/>
              <p:cNvSpPr>
                <a:spLocks noChangeArrowheads="1"/>
              </p:cNvSpPr>
              <p:nvPr/>
            </p:nvSpPr>
            <p:spPr bwMode="auto">
              <a:xfrm>
                <a:off x="1710" y="1692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1343" name="Group 47"/>
            <p:cNvGrpSpPr>
              <a:grpSpLocks/>
            </p:cNvGrpSpPr>
            <p:nvPr/>
          </p:nvGrpSpPr>
          <p:grpSpPr bwMode="auto">
            <a:xfrm>
              <a:off x="651" y="770"/>
              <a:ext cx="394" cy="326"/>
              <a:chOff x="3688" y="1098"/>
              <a:chExt cx="428" cy="374"/>
            </a:xfrm>
          </p:grpSpPr>
          <p:sp>
            <p:nvSpPr>
              <p:cNvPr id="311344" name="Text Box 48"/>
              <p:cNvSpPr txBox="1">
                <a:spLocks noChangeArrowheads="1"/>
              </p:cNvSpPr>
              <p:nvPr/>
            </p:nvSpPr>
            <p:spPr bwMode="auto">
              <a:xfrm>
                <a:off x="3688" y="1098"/>
                <a:ext cx="262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i="1" dirty="0" smtClean="0">
                    <a:solidFill>
                      <a:srgbClr val="FF0000"/>
                    </a:solidFill>
                  </a:rPr>
                  <a:t>v</a:t>
                </a:r>
                <a:r>
                  <a:rPr lang="en-US" altLang="zh-CN" sz="2000" baseline="-25000" dirty="0" smtClean="0">
                    <a:solidFill>
                      <a:srgbClr val="FF0000"/>
                    </a:solidFill>
                  </a:rPr>
                  <a:t>1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311345" name="Group 49"/>
              <p:cNvGrpSpPr>
                <a:grpSpLocks/>
              </p:cNvGrpSpPr>
              <p:nvPr/>
            </p:nvGrpSpPr>
            <p:grpSpPr bwMode="auto">
              <a:xfrm>
                <a:off x="3918" y="1228"/>
                <a:ext cx="198" cy="244"/>
                <a:chOff x="3204" y="1828"/>
                <a:chExt cx="198" cy="244"/>
              </a:xfrm>
            </p:grpSpPr>
            <p:sp>
              <p:nvSpPr>
                <p:cNvPr id="311346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204" y="1828"/>
                  <a:ext cx="198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1600" dirty="0">
                      <a:solidFill>
                        <a:srgbClr val="FF0000"/>
                      </a:solidFill>
                    </a:rPr>
                    <a:t>1</a:t>
                  </a:r>
                </a:p>
              </p:txBody>
            </p:sp>
            <p:sp>
              <p:nvSpPr>
                <p:cNvPr id="311347" name="Oval 51"/>
                <p:cNvSpPr>
                  <a:spLocks noChangeArrowheads="1"/>
                </p:cNvSpPr>
                <p:nvPr/>
              </p:nvSpPr>
              <p:spPr bwMode="auto">
                <a:xfrm>
                  <a:off x="3216" y="1872"/>
                  <a:ext cx="181" cy="181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11348" name="Group 52"/>
            <p:cNvGrpSpPr>
              <a:grpSpLocks/>
            </p:cNvGrpSpPr>
            <p:nvPr/>
          </p:nvGrpSpPr>
          <p:grpSpPr bwMode="auto">
            <a:xfrm>
              <a:off x="2168" y="655"/>
              <a:ext cx="403" cy="407"/>
              <a:chOff x="5112" y="1025"/>
              <a:chExt cx="430" cy="469"/>
            </a:xfrm>
          </p:grpSpPr>
          <p:sp>
            <p:nvSpPr>
              <p:cNvPr id="311349" name="Text Box 53"/>
              <p:cNvSpPr txBox="1">
                <a:spLocks noChangeArrowheads="1"/>
              </p:cNvSpPr>
              <p:nvPr/>
            </p:nvSpPr>
            <p:spPr bwMode="auto">
              <a:xfrm>
                <a:off x="5131" y="1025"/>
                <a:ext cx="41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000" i="1" dirty="0" smtClean="0">
                    <a:solidFill>
                      <a:srgbClr val="FF0000"/>
                    </a:solidFill>
                  </a:rPr>
                  <a:t>v</a:t>
                </a:r>
                <a:r>
                  <a:rPr lang="en-US" altLang="zh-CN" sz="2000" baseline="-25000" dirty="0" smtClean="0">
                    <a:solidFill>
                      <a:srgbClr val="FF0000"/>
                    </a:solidFill>
                  </a:rPr>
                  <a:t>2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311350" name="Group 54"/>
              <p:cNvGrpSpPr>
                <a:grpSpLocks/>
              </p:cNvGrpSpPr>
              <p:nvPr/>
            </p:nvGrpSpPr>
            <p:grpSpPr bwMode="auto">
              <a:xfrm>
                <a:off x="5112" y="1249"/>
                <a:ext cx="198" cy="245"/>
                <a:chOff x="3234" y="1825"/>
                <a:chExt cx="198" cy="245"/>
              </a:xfrm>
            </p:grpSpPr>
            <p:sp>
              <p:nvSpPr>
                <p:cNvPr id="311351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234" y="1825"/>
                  <a:ext cx="198" cy="2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1600" dirty="0">
                      <a:solidFill>
                        <a:srgbClr val="FF0000"/>
                      </a:solidFill>
                    </a:rPr>
                    <a:t>2</a:t>
                  </a:r>
                </a:p>
              </p:txBody>
            </p:sp>
            <p:sp>
              <p:nvSpPr>
                <p:cNvPr id="311352" name="Oval 56"/>
                <p:cNvSpPr>
                  <a:spLocks noChangeArrowheads="1"/>
                </p:cNvSpPr>
                <p:nvPr/>
              </p:nvSpPr>
              <p:spPr bwMode="auto">
                <a:xfrm>
                  <a:off x="3240" y="1872"/>
                  <a:ext cx="181" cy="181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11353" name="Line 57"/>
            <p:cNvSpPr>
              <a:spLocks noChangeShapeType="1"/>
            </p:cNvSpPr>
            <p:nvPr/>
          </p:nvSpPr>
          <p:spPr bwMode="auto">
            <a:xfrm>
              <a:off x="1017" y="1226"/>
              <a:ext cx="0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54" name="Oval 58"/>
            <p:cNvSpPr>
              <a:spLocks noChangeArrowheads="1"/>
            </p:cNvSpPr>
            <p:nvPr/>
          </p:nvSpPr>
          <p:spPr bwMode="auto">
            <a:xfrm>
              <a:off x="2486" y="1278"/>
              <a:ext cx="218" cy="23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000"/>
            </a:p>
          </p:txBody>
        </p:sp>
        <p:sp>
          <p:nvSpPr>
            <p:cNvPr id="311355" name="Line 59"/>
            <p:cNvSpPr>
              <a:spLocks noChangeShapeType="1"/>
            </p:cNvSpPr>
            <p:nvPr/>
          </p:nvSpPr>
          <p:spPr bwMode="auto">
            <a:xfrm>
              <a:off x="2595" y="1105"/>
              <a:ext cx="0" cy="5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56" name="Line 60"/>
            <p:cNvSpPr>
              <a:spLocks noChangeShapeType="1"/>
            </p:cNvSpPr>
            <p:nvPr/>
          </p:nvSpPr>
          <p:spPr bwMode="auto">
            <a:xfrm>
              <a:off x="2595" y="1905"/>
              <a:ext cx="0" cy="11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57" name="Oval 61"/>
            <p:cNvSpPr>
              <a:spLocks noChangeArrowheads="1"/>
            </p:cNvSpPr>
            <p:nvPr/>
          </p:nvSpPr>
          <p:spPr bwMode="auto">
            <a:xfrm>
              <a:off x="1679" y="992"/>
              <a:ext cx="219" cy="23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000"/>
            </a:p>
          </p:txBody>
        </p:sp>
        <p:sp>
          <p:nvSpPr>
            <p:cNvPr id="311358" name="Line 62"/>
            <p:cNvSpPr>
              <a:spLocks noChangeShapeType="1"/>
            </p:cNvSpPr>
            <p:nvPr/>
          </p:nvSpPr>
          <p:spPr bwMode="auto">
            <a:xfrm>
              <a:off x="642" y="1111"/>
              <a:ext cx="64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59" name="Line 63"/>
            <p:cNvSpPr>
              <a:spLocks noChangeShapeType="1"/>
            </p:cNvSpPr>
            <p:nvPr/>
          </p:nvSpPr>
          <p:spPr bwMode="auto">
            <a:xfrm>
              <a:off x="1516" y="1100"/>
              <a:ext cx="10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0" name="Line 64"/>
            <p:cNvSpPr>
              <a:spLocks noChangeShapeType="1"/>
            </p:cNvSpPr>
            <p:nvPr/>
          </p:nvSpPr>
          <p:spPr bwMode="auto">
            <a:xfrm flipV="1">
              <a:off x="1079" y="745"/>
              <a:ext cx="0" cy="3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1" name="Line 65"/>
            <p:cNvSpPr>
              <a:spLocks noChangeShapeType="1"/>
            </p:cNvSpPr>
            <p:nvPr/>
          </p:nvSpPr>
          <p:spPr bwMode="auto">
            <a:xfrm>
              <a:off x="1083" y="745"/>
              <a:ext cx="39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2" name="Line 66"/>
            <p:cNvSpPr>
              <a:spLocks noChangeShapeType="1"/>
            </p:cNvSpPr>
            <p:nvPr/>
          </p:nvSpPr>
          <p:spPr bwMode="auto">
            <a:xfrm>
              <a:off x="1725" y="745"/>
              <a:ext cx="40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3" name="Line 67"/>
            <p:cNvSpPr>
              <a:spLocks noChangeShapeType="1"/>
            </p:cNvSpPr>
            <p:nvPr/>
          </p:nvSpPr>
          <p:spPr bwMode="auto">
            <a:xfrm>
              <a:off x="2132" y="735"/>
              <a:ext cx="0" cy="3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4" name="Line 68"/>
            <p:cNvSpPr>
              <a:spLocks noChangeShapeType="1"/>
            </p:cNvSpPr>
            <p:nvPr/>
          </p:nvSpPr>
          <p:spPr bwMode="auto">
            <a:xfrm>
              <a:off x="1126" y="1185"/>
              <a:ext cx="266" cy="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5" name="Line 69"/>
            <p:cNvSpPr>
              <a:spLocks noChangeShapeType="1"/>
            </p:cNvSpPr>
            <p:nvPr/>
          </p:nvSpPr>
          <p:spPr bwMode="auto">
            <a:xfrm>
              <a:off x="1128" y="692"/>
              <a:ext cx="2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6" name="Line 70"/>
            <p:cNvSpPr>
              <a:spLocks noChangeShapeType="1"/>
            </p:cNvSpPr>
            <p:nvPr/>
          </p:nvSpPr>
          <p:spPr bwMode="auto">
            <a:xfrm>
              <a:off x="2203" y="1134"/>
              <a:ext cx="287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7" name="Line 71"/>
            <p:cNvSpPr>
              <a:spLocks noChangeShapeType="1"/>
            </p:cNvSpPr>
            <p:nvPr/>
          </p:nvSpPr>
          <p:spPr bwMode="auto">
            <a:xfrm flipH="1">
              <a:off x="2007" y="1489"/>
              <a:ext cx="7" cy="2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68" name="Text Box 72"/>
            <p:cNvSpPr txBox="1">
              <a:spLocks noChangeArrowheads="1"/>
            </p:cNvSpPr>
            <p:nvPr/>
          </p:nvSpPr>
          <p:spPr bwMode="auto">
            <a:xfrm>
              <a:off x="1486" y="1135"/>
              <a:ext cx="5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+      </a:t>
              </a:r>
              <a:r>
                <a:rPr lang="en-US" altLang="zh-CN" sz="2000" b="0">
                  <a:latin typeface="黑体" pitchFamily="49" charset="-122"/>
                  <a:ea typeface="黑体" pitchFamily="49" charset="-122"/>
                </a:rPr>
                <a:t>-</a:t>
              </a:r>
            </a:p>
          </p:txBody>
        </p:sp>
        <p:sp>
          <p:nvSpPr>
            <p:cNvPr id="311369" name="Text Box 73"/>
            <p:cNvSpPr txBox="1">
              <a:spLocks noChangeArrowheads="1"/>
            </p:cNvSpPr>
            <p:nvPr/>
          </p:nvSpPr>
          <p:spPr bwMode="auto">
            <a:xfrm>
              <a:off x="1647" y="1164"/>
              <a:ext cx="30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v</a:t>
              </a:r>
              <a:r>
                <a:rPr lang="en-US" altLang="zh-CN" sz="2000" i="1" baseline="-25000" dirty="0"/>
                <a:t>S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311370" name="Text Box 74"/>
            <p:cNvSpPr txBox="1">
              <a:spLocks noChangeArrowheads="1"/>
            </p:cNvSpPr>
            <p:nvPr/>
          </p:nvSpPr>
          <p:spPr bwMode="auto">
            <a:xfrm>
              <a:off x="2654" y="1036"/>
              <a:ext cx="207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+</a:t>
              </a:r>
            </a:p>
            <a:p>
              <a:pPr algn="l"/>
              <a:endParaRPr lang="en-US" altLang="zh-CN" sz="2000"/>
            </a:p>
            <a:p>
              <a:pPr algn="l"/>
              <a:r>
                <a:rPr lang="en-US" altLang="zh-CN" sz="2000" b="0">
                  <a:latin typeface="黑体" pitchFamily="49" charset="-122"/>
                  <a:ea typeface="黑体" pitchFamily="49" charset="-122"/>
                </a:rPr>
                <a:t>-</a:t>
              </a:r>
            </a:p>
          </p:txBody>
        </p:sp>
        <p:sp>
          <p:nvSpPr>
            <p:cNvPr id="311371" name="Text Box 75"/>
            <p:cNvSpPr txBox="1">
              <a:spLocks noChangeArrowheads="1"/>
            </p:cNvSpPr>
            <p:nvPr/>
          </p:nvSpPr>
          <p:spPr bwMode="auto">
            <a:xfrm>
              <a:off x="2700" y="1236"/>
              <a:ext cx="30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v</a:t>
              </a:r>
              <a:r>
                <a:rPr lang="en-US" altLang="zh-CN" sz="2000" i="1" baseline="-25000" dirty="0"/>
                <a:t>S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311372" name="Line 76"/>
            <p:cNvSpPr>
              <a:spLocks noChangeShapeType="1"/>
            </p:cNvSpPr>
            <p:nvPr/>
          </p:nvSpPr>
          <p:spPr bwMode="auto">
            <a:xfrm>
              <a:off x="516" y="1644"/>
              <a:ext cx="21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1373" name="Text Box 77"/>
          <p:cNvSpPr txBox="1">
            <a:spLocks noChangeArrowheads="1"/>
          </p:cNvSpPr>
          <p:nvPr/>
        </p:nvSpPr>
        <p:spPr bwMode="auto">
          <a:xfrm>
            <a:off x="228600" y="5942144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09750" indent="-1809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095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286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476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667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124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581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03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495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u="sng">
                <a:solidFill>
                  <a:srgbClr val="FF0000"/>
                </a:solidFill>
              </a:rPr>
              <a:t>节点电压法</a:t>
            </a:r>
            <a:r>
              <a:rPr lang="zh-CN" altLang="en-US" sz="2000">
                <a:solidFill>
                  <a:srgbClr val="FF0000"/>
                </a:solidFill>
              </a:rPr>
              <a:t>：</a:t>
            </a:r>
            <a:r>
              <a:rPr lang="zh-CN" altLang="en-US" sz="2000"/>
              <a:t>以节点电压为未知量列写电路方程分析电路的方法。</a:t>
            </a:r>
          </a:p>
        </p:txBody>
      </p:sp>
      <p:sp>
        <p:nvSpPr>
          <p:cNvPr id="76" name="Rectangle 66"/>
          <p:cNvSpPr>
            <a:spLocks noChangeArrowheads="1"/>
          </p:cNvSpPr>
          <p:nvPr/>
        </p:nvSpPr>
        <p:spPr bwMode="auto">
          <a:xfrm>
            <a:off x="685800" y="31432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800" dirty="0" smtClean="0">
                <a:solidFill>
                  <a:schemeClr val="tx2"/>
                </a:solidFill>
              </a:rPr>
              <a:t>3.3 </a:t>
            </a:r>
            <a:r>
              <a:rPr lang="zh-CN" altLang="en-US" sz="2800" dirty="0" smtClean="0">
                <a:solidFill>
                  <a:schemeClr val="tx2"/>
                </a:solidFill>
              </a:rPr>
              <a:t>节点电压法 </a:t>
            </a:r>
            <a:r>
              <a:rPr lang="en-US" altLang="zh-CN" sz="2800" dirty="0">
                <a:solidFill>
                  <a:schemeClr val="tx2"/>
                </a:solidFill>
              </a:rPr>
              <a:t>(node voltage method ) </a:t>
            </a:r>
          </a:p>
        </p:txBody>
      </p:sp>
    </p:spTree>
    <p:extLst>
      <p:ext uri="{BB962C8B-B14F-4D97-AF65-F5344CB8AC3E}">
        <p14:creationId xmlns:p14="http://schemas.microsoft.com/office/powerpoint/2010/main" val="230482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1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2" grpId="0" animBg="1" autoUpdateAnimBg="0"/>
      <p:bldP spid="311307" grpId="0"/>
      <p:bldP spid="31137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Text Box 2"/>
          <p:cNvSpPr txBox="1">
            <a:spLocks noChangeArrowheads="1"/>
          </p:cNvSpPr>
          <p:nvPr/>
        </p:nvSpPr>
        <p:spPr bwMode="auto">
          <a:xfrm>
            <a:off x="390525" y="249238"/>
            <a:ext cx="303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 smtClean="0">
                <a:solidFill>
                  <a:srgbClr val="0000CC"/>
                </a:solidFill>
              </a:rPr>
              <a:t>2</a:t>
            </a:r>
            <a:r>
              <a:rPr lang="zh-CN" altLang="en-US" dirty="0" smtClean="0">
                <a:solidFill>
                  <a:srgbClr val="0000CC"/>
                </a:solidFill>
              </a:rPr>
              <a:t>、</a:t>
            </a:r>
            <a:r>
              <a:rPr lang="zh-CN" altLang="en-US" dirty="0">
                <a:solidFill>
                  <a:srgbClr val="0000CC"/>
                </a:solidFill>
              </a:rPr>
              <a:t>节点电压法推导</a:t>
            </a:r>
          </a:p>
        </p:txBody>
      </p:sp>
      <p:graphicFrame>
        <p:nvGraphicFramePr>
          <p:cNvPr id="312390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267900"/>
              </p:ext>
            </p:extLst>
          </p:nvPr>
        </p:nvGraphicFramePr>
        <p:xfrm>
          <a:off x="5054600" y="2202656"/>
          <a:ext cx="17176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14" name="Equation" r:id="rId3" imgW="825480" imgH="203040" progId="Equation.DSMT4">
                  <p:embed/>
                </p:oleObj>
              </mc:Choice>
              <mc:Fallback>
                <p:oleObj name="Equation" r:id="rId3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2202656"/>
                        <a:ext cx="171767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91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162250"/>
              </p:ext>
            </p:extLst>
          </p:nvPr>
        </p:nvGraphicFramePr>
        <p:xfrm>
          <a:off x="5054600" y="3375025"/>
          <a:ext cx="33496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15" name="Equation" r:id="rId5" imgW="1650960" imgH="203040" progId="Equation.DSMT4">
                  <p:embed/>
                </p:oleObj>
              </mc:Choice>
              <mc:Fallback>
                <p:oleObj name="Equation" r:id="rId5" imgW="1650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3375025"/>
                        <a:ext cx="33496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92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736726"/>
              </p:ext>
            </p:extLst>
          </p:nvPr>
        </p:nvGraphicFramePr>
        <p:xfrm>
          <a:off x="5054600" y="1622028"/>
          <a:ext cx="23415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16" name="Equation" r:id="rId7" imgW="1130040" imgH="203040" progId="Equation.DSMT4">
                  <p:embed/>
                </p:oleObj>
              </mc:Choice>
              <mc:Fallback>
                <p:oleObj name="Equation" r:id="rId7" imgW="1130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1622028"/>
                        <a:ext cx="23415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93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878225"/>
              </p:ext>
            </p:extLst>
          </p:nvPr>
        </p:nvGraphicFramePr>
        <p:xfrm>
          <a:off x="5054600" y="2788046"/>
          <a:ext cx="10429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17" name="Equation" r:id="rId9" imgW="495000" imgH="203040" progId="Equation.DSMT4">
                  <p:embed/>
                </p:oleObj>
              </mc:Choice>
              <mc:Fallback>
                <p:oleObj name="Equation" r:id="rId9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2788046"/>
                        <a:ext cx="10429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94" name="Text Box 74"/>
          <p:cNvSpPr txBox="1">
            <a:spLocks noChangeArrowheads="1"/>
          </p:cNvSpPr>
          <p:nvPr/>
        </p:nvSpPr>
        <p:spPr bwMode="auto">
          <a:xfrm>
            <a:off x="3754438" y="314325"/>
            <a:ext cx="5389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dirty="0" smtClean="0"/>
              <a:t>(a)  </a:t>
            </a:r>
            <a:r>
              <a:rPr lang="zh-CN" altLang="en-US" dirty="0"/>
              <a:t>列出节点电压和支路电流的关系</a:t>
            </a:r>
          </a:p>
        </p:txBody>
      </p:sp>
      <p:sp>
        <p:nvSpPr>
          <p:cNvPr id="312396" name="Rectangle 76"/>
          <p:cNvSpPr>
            <a:spLocks noChangeArrowheads="1"/>
          </p:cNvSpPr>
          <p:nvPr/>
        </p:nvSpPr>
        <p:spPr bwMode="auto">
          <a:xfrm>
            <a:off x="622130" y="4302125"/>
            <a:ext cx="321823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000" dirty="0"/>
              <a:t>节点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en-US" altLang="zh-CN" sz="2000" i="1" dirty="0" err="1"/>
              <a:t>i</a:t>
            </a:r>
            <a:r>
              <a:rPr lang="en-US" altLang="zh-CN" sz="2000" i="1" baseline="-25000" dirty="0" err="1"/>
              <a:t>S</a:t>
            </a:r>
            <a:r>
              <a:rPr lang="en-US" altLang="zh-CN" sz="2000" i="1" dirty="0"/>
              <a:t>= i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+</a:t>
            </a:r>
            <a:r>
              <a:rPr lang="en-US" altLang="zh-CN" sz="2000" i="1" dirty="0"/>
              <a:t>i</a:t>
            </a:r>
            <a:r>
              <a:rPr lang="en-US" altLang="zh-CN" sz="2000" baseline="-25000" dirty="0"/>
              <a:t>2</a:t>
            </a:r>
            <a:r>
              <a:rPr lang="en-US" altLang="zh-CN" sz="2000" i="1" dirty="0"/>
              <a:t>+i</a:t>
            </a:r>
            <a:r>
              <a:rPr lang="en-US" altLang="zh-CN" sz="2000" baseline="-25000" dirty="0"/>
              <a:t>3</a:t>
            </a:r>
          </a:p>
        </p:txBody>
      </p:sp>
      <p:sp>
        <p:nvSpPr>
          <p:cNvPr id="312397" name="Rectangle 77"/>
          <p:cNvSpPr>
            <a:spLocks noChangeArrowheads="1"/>
          </p:cNvSpPr>
          <p:nvPr/>
        </p:nvSpPr>
        <p:spPr bwMode="auto">
          <a:xfrm>
            <a:off x="161925" y="3762375"/>
            <a:ext cx="305365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dirty="0" smtClean="0"/>
              <a:t>(b) </a:t>
            </a:r>
            <a:r>
              <a:rPr lang="zh-CN" altLang="en-US" dirty="0"/>
              <a:t>列</a:t>
            </a:r>
            <a:r>
              <a:rPr lang="en-US" altLang="zh-CN" dirty="0"/>
              <a:t>KCL</a:t>
            </a:r>
            <a:r>
              <a:rPr lang="zh-CN" altLang="en-US" dirty="0"/>
              <a:t>方程</a:t>
            </a:r>
          </a:p>
        </p:txBody>
      </p:sp>
      <p:graphicFrame>
        <p:nvGraphicFramePr>
          <p:cNvPr id="312398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486934"/>
              </p:ext>
            </p:extLst>
          </p:nvPr>
        </p:nvGraphicFramePr>
        <p:xfrm>
          <a:off x="2257425" y="4841875"/>
          <a:ext cx="41068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18" name="Equation" r:id="rId11" imgW="2286000" imgH="203040" progId="Equation.DSMT4">
                  <p:embed/>
                </p:oleObj>
              </mc:Choice>
              <mc:Fallback>
                <p:oleObj name="Equation" r:id="rId11" imgW="228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4841875"/>
                        <a:ext cx="41068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99" name="Rectangle 79"/>
          <p:cNvSpPr>
            <a:spLocks noChangeArrowheads="1"/>
          </p:cNvSpPr>
          <p:nvPr/>
        </p:nvSpPr>
        <p:spPr bwMode="auto">
          <a:xfrm>
            <a:off x="690841" y="5392738"/>
            <a:ext cx="2184376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000" dirty="0"/>
              <a:t>节点</a:t>
            </a:r>
            <a:r>
              <a:rPr lang="en-US" altLang="zh-CN" sz="2000" dirty="0"/>
              <a:t>2</a:t>
            </a:r>
            <a:r>
              <a:rPr lang="zh-CN" altLang="en-US" sz="2000" dirty="0"/>
              <a:t>：</a:t>
            </a:r>
            <a:r>
              <a:rPr lang="zh-CN" altLang="en-US" sz="2000" i="1" dirty="0"/>
              <a:t> </a:t>
            </a:r>
            <a:r>
              <a:rPr lang="en-US" altLang="zh-CN" sz="2000" i="1" dirty="0"/>
              <a:t>i</a:t>
            </a:r>
            <a:r>
              <a:rPr lang="en-US" altLang="zh-CN" sz="2000" baseline="-25000" dirty="0"/>
              <a:t>2</a:t>
            </a:r>
            <a:r>
              <a:rPr lang="en-US" altLang="zh-CN" sz="2000" i="1" dirty="0"/>
              <a:t>+i</a:t>
            </a:r>
            <a:r>
              <a:rPr lang="en-US" altLang="zh-CN" sz="2000" baseline="-25000" dirty="0"/>
              <a:t>3</a:t>
            </a:r>
            <a:r>
              <a:rPr lang="en-US" altLang="zh-CN" sz="2000" i="1" dirty="0"/>
              <a:t>=i</a:t>
            </a:r>
            <a:r>
              <a:rPr lang="en-US" altLang="zh-CN" sz="2000" baseline="-25000" dirty="0"/>
              <a:t>4</a:t>
            </a:r>
            <a:r>
              <a:rPr lang="en-US" altLang="zh-CN" sz="2000" dirty="0"/>
              <a:t>+</a:t>
            </a:r>
            <a:r>
              <a:rPr lang="en-US" altLang="zh-CN" sz="2000" i="1" dirty="0"/>
              <a:t>i</a:t>
            </a:r>
            <a:r>
              <a:rPr lang="en-US" altLang="zh-CN" sz="2000" baseline="-25000" dirty="0"/>
              <a:t>5</a:t>
            </a:r>
          </a:p>
        </p:txBody>
      </p:sp>
      <p:graphicFrame>
        <p:nvGraphicFramePr>
          <p:cNvPr id="312400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348733"/>
              </p:ext>
            </p:extLst>
          </p:nvPr>
        </p:nvGraphicFramePr>
        <p:xfrm>
          <a:off x="2253885" y="5880100"/>
          <a:ext cx="57610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19" name="Equation" r:id="rId13" imgW="2857320" imgH="203040" progId="Equation.DSMT4">
                  <p:embed/>
                </p:oleObj>
              </mc:Choice>
              <mc:Fallback>
                <p:oleObj name="Equation" r:id="rId13" imgW="2857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885" y="5880100"/>
                        <a:ext cx="57610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401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678462"/>
              </p:ext>
            </p:extLst>
          </p:nvPr>
        </p:nvGraphicFramePr>
        <p:xfrm>
          <a:off x="5054600" y="1020763"/>
          <a:ext cx="98901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20" name="Equation" r:id="rId15" imgW="457200" imgH="203040" progId="Equation.DSMT4">
                  <p:embed/>
                </p:oleObj>
              </mc:Choice>
              <mc:Fallback>
                <p:oleObj name="Equation" r:id="rId15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1020763"/>
                        <a:ext cx="989012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" name="Group 12"/>
          <p:cNvGrpSpPr>
            <a:grpSpLocks/>
          </p:cNvGrpSpPr>
          <p:nvPr/>
        </p:nvGrpSpPr>
        <p:grpSpPr bwMode="auto">
          <a:xfrm>
            <a:off x="276225" y="633414"/>
            <a:ext cx="4249738" cy="2927349"/>
            <a:chOff x="324" y="445"/>
            <a:chExt cx="2677" cy="1844"/>
          </a:xfrm>
        </p:grpSpPr>
        <p:sp>
          <p:nvSpPr>
            <p:cNvPr id="81" name="Oval 13"/>
            <p:cNvSpPr>
              <a:spLocks noChangeArrowheads="1"/>
            </p:cNvSpPr>
            <p:nvPr/>
          </p:nvSpPr>
          <p:spPr bwMode="auto">
            <a:xfrm>
              <a:off x="518" y="1526"/>
              <a:ext cx="225" cy="2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Line 14"/>
            <p:cNvSpPr>
              <a:spLocks noChangeShapeType="1"/>
            </p:cNvSpPr>
            <p:nvPr/>
          </p:nvSpPr>
          <p:spPr bwMode="auto">
            <a:xfrm>
              <a:off x="622" y="1769"/>
              <a:ext cx="0" cy="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15"/>
            <p:cNvSpPr>
              <a:spLocks noChangeShapeType="1"/>
            </p:cNvSpPr>
            <p:nvPr/>
          </p:nvSpPr>
          <p:spPr bwMode="auto">
            <a:xfrm flipV="1">
              <a:off x="632" y="1112"/>
              <a:ext cx="0" cy="4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622" y="2019"/>
              <a:ext cx="1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 flipV="1">
              <a:off x="1074" y="1111"/>
              <a:ext cx="0" cy="9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1034" y="1549"/>
              <a:ext cx="80" cy="23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Line 19"/>
            <p:cNvSpPr>
              <a:spLocks noChangeShapeType="1"/>
            </p:cNvSpPr>
            <p:nvPr/>
          </p:nvSpPr>
          <p:spPr bwMode="auto">
            <a:xfrm>
              <a:off x="2128" y="1113"/>
              <a:ext cx="0" cy="8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20"/>
            <p:cNvSpPr>
              <a:spLocks noChangeShapeType="1"/>
            </p:cNvSpPr>
            <p:nvPr/>
          </p:nvSpPr>
          <p:spPr bwMode="auto">
            <a:xfrm flipV="1">
              <a:off x="562" y="122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Text Box 21"/>
            <p:cNvSpPr txBox="1">
              <a:spLocks noChangeArrowheads="1"/>
            </p:cNvSpPr>
            <p:nvPr/>
          </p:nvSpPr>
          <p:spPr bwMode="auto">
            <a:xfrm>
              <a:off x="324" y="1391"/>
              <a:ext cx="3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 dirty="0" err="1"/>
                <a:t>i</a:t>
              </a:r>
              <a:r>
                <a:rPr lang="en-US" altLang="zh-CN" sz="2000" i="1" baseline="-25000" dirty="0" err="1"/>
                <a:t>S</a:t>
              </a:r>
              <a:endParaRPr lang="en-US" altLang="zh-CN" sz="2000" i="1" dirty="0"/>
            </a:p>
          </p:txBody>
        </p:sp>
        <p:sp>
          <p:nvSpPr>
            <p:cNvPr id="90" name="Text Box 22"/>
            <p:cNvSpPr txBox="1">
              <a:spLocks noChangeArrowheads="1"/>
            </p:cNvSpPr>
            <p:nvPr/>
          </p:nvSpPr>
          <p:spPr bwMode="auto">
            <a:xfrm>
              <a:off x="777" y="1513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91" name="Text Box 23"/>
            <p:cNvSpPr txBox="1">
              <a:spLocks noChangeArrowheads="1"/>
            </p:cNvSpPr>
            <p:nvPr/>
          </p:nvSpPr>
          <p:spPr bwMode="auto">
            <a:xfrm>
              <a:off x="817" y="1189"/>
              <a:ext cx="3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92" name="Text Box 24"/>
            <p:cNvSpPr txBox="1">
              <a:spLocks noChangeArrowheads="1"/>
            </p:cNvSpPr>
            <p:nvPr/>
          </p:nvSpPr>
          <p:spPr bwMode="auto">
            <a:xfrm>
              <a:off x="1174" y="1171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/>
                <a:t>i</a:t>
              </a:r>
              <a:r>
                <a:rPr lang="en-US" altLang="zh-CN" sz="2000" baseline="-25000"/>
                <a:t>2</a:t>
              </a:r>
              <a:endParaRPr lang="en-US" altLang="zh-CN" sz="2000"/>
            </a:p>
          </p:txBody>
        </p:sp>
        <p:sp>
          <p:nvSpPr>
            <p:cNvPr id="93" name="Text Box 25"/>
            <p:cNvSpPr txBox="1">
              <a:spLocks noChangeArrowheads="1"/>
            </p:cNvSpPr>
            <p:nvPr/>
          </p:nvSpPr>
          <p:spPr bwMode="auto">
            <a:xfrm>
              <a:off x="1130" y="445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3</a:t>
              </a:r>
              <a:endParaRPr lang="en-US" altLang="zh-CN" sz="2000" dirty="0"/>
            </a:p>
          </p:txBody>
        </p:sp>
        <p:sp>
          <p:nvSpPr>
            <p:cNvPr id="94" name="Text Box 26"/>
            <p:cNvSpPr txBox="1">
              <a:spLocks noChangeArrowheads="1"/>
            </p:cNvSpPr>
            <p:nvPr/>
          </p:nvSpPr>
          <p:spPr bwMode="auto">
            <a:xfrm>
              <a:off x="1771" y="1460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4</a:t>
              </a:r>
              <a:endParaRPr lang="en-US" altLang="zh-CN" sz="2000" dirty="0"/>
            </a:p>
          </p:txBody>
        </p:sp>
        <p:sp>
          <p:nvSpPr>
            <p:cNvPr id="95" name="Text Box 27"/>
            <p:cNvSpPr txBox="1">
              <a:spLocks noChangeArrowheads="1"/>
            </p:cNvSpPr>
            <p:nvPr/>
          </p:nvSpPr>
          <p:spPr bwMode="auto">
            <a:xfrm>
              <a:off x="2230" y="1115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5</a:t>
              </a:r>
              <a:endParaRPr lang="en-US" altLang="zh-CN" sz="2000" dirty="0"/>
            </a:p>
          </p:txBody>
        </p:sp>
        <p:sp>
          <p:nvSpPr>
            <p:cNvPr id="96" name="Text Box 28"/>
            <p:cNvSpPr txBox="1">
              <a:spLocks noChangeArrowheads="1"/>
            </p:cNvSpPr>
            <p:nvPr/>
          </p:nvSpPr>
          <p:spPr bwMode="auto">
            <a:xfrm>
              <a:off x="1250" y="811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97" name="Text Box 29"/>
            <p:cNvSpPr txBox="1">
              <a:spLocks noChangeArrowheads="1"/>
            </p:cNvSpPr>
            <p:nvPr/>
          </p:nvSpPr>
          <p:spPr bwMode="auto">
            <a:xfrm>
              <a:off x="2621" y="1657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/>
                <a:t>G</a:t>
              </a:r>
              <a:r>
                <a:rPr lang="en-US" altLang="zh-CN" sz="2000" baseline="-25000"/>
                <a:t>5</a:t>
              </a:r>
              <a:endParaRPr lang="en-US" altLang="zh-CN" sz="2000"/>
            </a:p>
          </p:txBody>
        </p:sp>
        <p:sp>
          <p:nvSpPr>
            <p:cNvPr id="98" name="Text Box 30"/>
            <p:cNvSpPr txBox="1">
              <a:spLocks noChangeArrowheads="1"/>
            </p:cNvSpPr>
            <p:nvPr/>
          </p:nvSpPr>
          <p:spPr bwMode="auto">
            <a:xfrm>
              <a:off x="1455" y="450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3</a:t>
              </a:r>
              <a:endParaRPr lang="en-US" altLang="zh-CN" sz="2000" dirty="0"/>
            </a:p>
          </p:txBody>
        </p:sp>
        <p:sp>
          <p:nvSpPr>
            <p:cNvPr id="99" name="Text Box 31"/>
            <p:cNvSpPr txBox="1">
              <a:spLocks noChangeArrowheads="1"/>
            </p:cNvSpPr>
            <p:nvPr/>
          </p:nvSpPr>
          <p:spPr bwMode="auto">
            <a:xfrm>
              <a:off x="2160" y="1476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4</a:t>
              </a:r>
              <a:endParaRPr lang="en-US" altLang="zh-CN" sz="2000" dirty="0"/>
            </a:p>
          </p:txBody>
        </p:sp>
        <p:sp>
          <p:nvSpPr>
            <p:cNvPr id="100" name="Rectangle 32"/>
            <p:cNvSpPr>
              <a:spLocks noChangeArrowheads="1"/>
            </p:cNvSpPr>
            <p:nvPr/>
          </p:nvSpPr>
          <p:spPr bwMode="auto">
            <a:xfrm>
              <a:off x="2086" y="1482"/>
              <a:ext cx="80" cy="23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2549" y="1664"/>
              <a:ext cx="80" cy="23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" name="Rectangle 34"/>
            <p:cNvSpPr>
              <a:spLocks noChangeArrowheads="1"/>
            </p:cNvSpPr>
            <p:nvPr/>
          </p:nvSpPr>
          <p:spPr bwMode="auto">
            <a:xfrm rot="5400000">
              <a:off x="1355" y="991"/>
              <a:ext cx="84" cy="22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" name="Rectangle 35"/>
            <p:cNvSpPr>
              <a:spLocks noChangeArrowheads="1"/>
            </p:cNvSpPr>
            <p:nvPr/>
          </p:nvSpPr>
          <p:spPr bwMode="auto">
            <a:xfrm rot="5400000">
              <a:off x="1557" y="636"/>
              <a:ext cx="84" cy="22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04" name="Group 36"/>
            <p:cNvGrpSpPr>
              <a:grpSpLocks/>
            </p:cNvGrpSpPr>
            <p:nvPr/>
          </p:nvGrpSpPr>
          <p:grpSpPr bwMode="auto">
            <a:xfrm>
              <a:off x="1554" y="2076"/>
              <a:ext cx="166" cy="213"/>
              <a:chOff x="3221" y="1826"/>
              <a:chExt cx="200" cy="245"/>
            </a:xfrm>
          </p:grpSpPr>
          <p:sp>
            <p:nvSpPr>
              <p:cNvPr id="143" name="Text Box 37"/>
              <p:cNvSpPr txBox="1">
                <a:spLocks noChangeArrowheads="1"/>
              </p:cNvSpPr>
              <p:nvPr/>
            </p:nvSpPr>
            <p:spPr bwMode="auto">
              <a:xfrm>
                <a:off x="3221" y="1826"/>
                <a:ext cx="198" cy="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1600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144" name="Oval 38"/>
              <p:cNvSpPr>
                <a:spLocks noChangeArrowheads="1"/>
              </p:cNvSpPr>
              <p:nvPr/>
            </p:nvSpPr>
            <p:spPr bwMode="auto">
              <a:xfrm>
                <a:off x="3240" y="1872"/>
                <a:ext cx="181" cy="18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5" name="Group 39"/>
            <p:cNvGrpSpPr>
              <a:grpSpLocks/>
            </p:cNvGrpSpPr>
            <p:nvPr/>
          </p:nvGrpSpPr>
          <p:grpSpPr bwMode="auto">
            <a:xfrm>
              <a:off x="1302" y="1985"/>
              <a:ext cx="240" cy="285"/>
              <a:chOff x="1611" y="1692"/>
              <a:chExt cx="261" cy="300"/>
            </a:xfrm>
          </p:grpSpPr>
          <p:grpSp>
            <p:nvGrpSpPr>
              <p:cNvPr id="136" name="Group 40"/>
              <p:cNvGrpSpPr>
                <a:grpSpLocks/>
              </p:cNvGrpSpPr>
              <p:nvPr/>
            </p:nvGrpSpPr>
            <p:grpSpPr bwMode="auto">
              <a:xfrm>
                <a:off x="1611" y="1716"/>
                <a:ext cx="261" cy="276"/>
                <a:chOff x="2925" y="1662"/>
                <a:chExt cx="261" cy="276"/>
              </a:xfrm>
            </p:grpSpPr>
            <p:grpSp>
              <p:nvGrpSpPr>
                <p:cNvPr id="138" name="Group 41"/>
                <p:cNvGrpSpPr>
                  <a:grpSpLocks/>
                </p:cNvGrpSpPr>
                <p:nvPr/>
              </p:nvGrpSpPr>
              <p:grpSpPr bwMode="auto">
                <a:xfrm>
                  <a:off x="2925" y="1818"/>
                  <a:ext cx="261" cy="120"/>
                  <a:chOff x="720" y="1824"/>
                  <a:chExt cx="261" cy="120"/>
                </a:xfrm>
              </p:grpSpPr>
              <p:sp>
                <p:nvSpPr>
                  <p:cNvPr id="140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824"/>
                    <a:ext cx="261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778" y="1883"/>
                    <a:ext cx="14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802" y="1944"/>
                    <a:ext cx="86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9" name="Line 45"/>
                <p:cNvSpPr>
                  <a:spLocks noChangeShapeType="1"/>
                </p:cNvSpPr>
                <p:nvPr/>
              </p:nvSpPr>
              <p:spPr bwMode="auto">
                <a:xfrm>
                  <a:off x="3054" y="1662"/>
                  <a:ext cx="0" cy="1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7" name="Oval 46"/>
              <p:cNvSpPr>
                <a:spLocks noChangeArrowheads="1"/>
              </p:cNvSpPr>
              <p:nvPr/>
            </p:nvSpPr>
            <p:spPr bwMode="auto">
              <a:xfrm>
                <a:off x="1710" y="1692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6" name="Group 47"/>
            <p:cNvGrpSpPr>
              <a:grpSpLocks/>
            </p:cNvGrpSpPr>
            <p:nvPr/>
          </p:nvGrpSpPr>
          <p:grpSpPr bwMode="auto">
            <a:xfrm>
              <a:off x="656" y="770"/>
              <a:ext cx="373" cy="326"/>
              <a:chOff x="3709" y="1098"/>
              <a:chExt cx="407" cy="374"/>
            </a:xfrm>
          </p:grpSpPr>
          <p:sp>
            <p:nvSpPr>
              <p:cNvPr id="132" name="Text Box 48"/>
              <p:cNvSpPr txBox="1">
                <a:spLocks noChangeArrowheads="1"/>
              </p:cNvSpPr>
              <p:nvPr/>
            </p:nvSpPr>
            <p:spPr bwMode="auto">
              <a:xfrm>
                <a:off x="3709" y="1098"/>
                <a:ext cx="262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i="1" dirty="0" smtClean="0">
                    <a:solidFill>
                      <a:srgbClr val="FF0000"/>
                    </a:solidFill>
                  </a:rPr>
                  <a:t>v</a:t>
                </a:r>
                <a:r>
                  <a:rPr lang="en-US" altLang="zh-CN" sz="2000" baseline="-25000" dirty="0" smtClean="0">
                    <a:solidFill>
                      <a:srgbClr val="FF0000"/>
                    </a:solidFill>
                  </a:rPr>
                  <a:t>1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33" name="Group 49"/>
              <p:cNvGrpSpPr>
                <a:grpSpLocks/>
              </p:cNvGrpSpPr>
              <p:nvPr/>
            </p:nvGrpSpPr>
            <p:grpSpPr bwMode="auto">
              <a:xfrm>
                <a:off x="3918" y="1228"/>
                <a:ext cx="198" cy="244"/>
                <a:chOff x="3204" y="1828"/>
                <a:chExt cx="198" cy="244"/>
              </a:xfrm>
            </p:grpSpPr>
            <p:sp>
              <p:nvSpPr>
                <p:cNvPr id="134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204" y="1828"/>
                  <a:ext cx="198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1600" dirty="0">
                      <a:solidFill>
                        <a:srgbClr val="FF0000"/>
                      </a:solidFill>
                    </a:rPr>
                    <a:t>1</a:t>
                  </a:r>
                </a:p>
              </p:txBody>
            </p:sp>
            <p:sp>
              <p:nvSpPr>
                <p:cNvPr id="135" name="Oval 51"/>
                <p:cNvSpPr>
                  <a:spLocks noChangeArrowheads="1"/>
                </p:cNvSpPr>
                <p:nvPr/>
              </p:nvSpPr>
              <p:spPr bwMode="auto">
                <a:xfrm>
                  <a:off x="3216" y="1872"/>
                  <a:ext cx="181" cy="181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7" name="Group 52"/>
            <p:cNvGrpSpPr>
              <a:grpSpLocks/>
            </p:cNvGrpSpPr>
            <p:nvPr/>
          </p:nvGrpSpPr>
          <p:grpSpPr bwMode="auto">
            <a:xfrm>
              <a:off x="2168" y="655"/>
              <a:ext cx="403" cy="407"/>
              <a:chOff x="5112" y="1025"/>
              <a:chExt cx="430" cy="469"/>
            </a:xfrm>
          </p:grpSpPr>
          <p:sp>
            <p:nvSpPr>
              <p:cNvPr id="128" name="Text Box 53"/>
              <p:cNvSpPr txBox="1">
                <a:spLocks noChangeArrowheads="1"/>
              </p:cNvSpPr>
              <p:nvPr/>
            </p:nvSpPr>
            <p:spPr bwMode="auto">
              <a:xfrm>
                <a:off x="5131" y="1025"/>
                <a:ext cx="41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000" i="1" dirty="0" smtClean="0">
                    <a:solidFill>
                      <a:srgbClr val="FF0000"/>
                    </a:solidFill>
                  </a:rPr>
                  <a:t>v</a:t>
                </a:r>
                <a:r>
                  <a:rPr lang="en-US" altLang="zh-CN" sz="2000" baseline="-25000" dirty="0" smtClean="0">
                    <a:solidFill>
                      <a:srgbClr val="FF0000"/>
                    </a:solidFill>
                  </a:rPr>
                  <a:t>2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29" name="Group 54"/>
              <p:cNvGrpSpPr>
                <a:grpSpLocks/>
              </p:cNvGrpSpPr>
              <p:nvPr/>
            </p:nvGrpSpPr>
            <p:grpSpPr bwMode="auto">
              <a:xfrm>
                <a:off x="5112" y="1249"/>
                <a:ext cx="198" cy="245"/>
                <a:chOff x="3234" y="1825"/>
                <a:chExt cx="198" cy="245"/>
              </a:xfrm>
            </p:grpSpPr>
            <p:sp>
              <p:nvSpPr>
                <p:cNvPr id="130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234" y="1825"/>
                  <a:ext cx="198" cy="2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1600" dirty="0">
                      <a:solidFill>
                        <a:srgbClr val="FF0000"/>
                      </a:solidFill>
                    </a:rPr>
                    <a:t>2</a:t>
                  </a:r>
                </a:p>
              </p:txBody>
            </p:sp>
            <p:sp>
              <p:nvSpPr>
                <p:cNvPr id="131" name="Oval 56"/>
                <p:cNvSpPr>
                  <a:spLocks noChangeArrowheads="1"/>
                </p:cNvSpPr>
                <p:nvPr/>
              </p:nvSpPr>
              <p:spPr bwMode="auto">
                <a:xfrm>
                  <a:off x="3240" y="1872"/>
                  <a:ext cx="181" cy="181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8" name="Line 57"/>
            <p:cNvSpPr>
              <a:spLocks noChangeShapeType="1"/>
            </p:cNvSpPr>
            <p:nvPr/>
          </p:nvSpPr>
          <p:spPr bwMode="auto">
            <a:xfrm>
              <a:off x="1017" y="1226"/>
              <a:ext cx="0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Oval 58"/>
            <p:cNvSpPr>
              <a:spLocks noChangeArrowheads="1"/>
            </p:cNvSpPr>
            <p:nvPr/>
          </p:nvSpPr>
          <p:spPr bwMode="auto">
            <a:xfrm>
              <a:off x="2486" y="1278"/>
              <a:ext cx="218" cy="23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000"/>
            </a:p>
          </p:txBody>
        </p:sp>
        <p:sp>
          <p:nvSpPr>
            <p:cNvPr id="110" name="Line 59"/>
            <p:cNvSpPr>
              <a:spLocks noChangeShapeType="1"/>
            </p:cNvSpPr>
            <p:nvPr/>
          </p:nvSpPr>
          <p:spPr bwMode="auto">
            <a:xfrm>
              <a:off x="2595" y="1105"/>
              <a:ext cx="0" cy="5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60"/>
            <p:cNvSpPr>
              <a:spLocks noChangeShapeType="1"/>
            </p:cNvSpPr>
            <p:nvPr/>
          </p:nvSpPr>
          <p:spPr bwMode="auto">
            <a:xfrm>
              <a:off x="2595" y="1905"/>
              <a:ext cx="0" cy="11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Oval 61"/>
            <p:cNvSpPr>
              <a:spLocks noChangeArrowheads="1"/>
            </p:cNvSpPr>
            <p:nvPr/>
          </p:nvSpPr>
          <p:spPr bwMode="auto">
            <a:xfrm>
              <a:off x="1679" y="992"/>
              <a:ext cx="219" cy="23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000"/>
            </a:p>
          </p:txBody>
        </p:sp>
        <p:sp>
          <p:nvSpPr>
            <p:cNvPr id="113" name="Line 62"/>
            <p:cNvSpPr>
              <a:spLocks noChangeShapeType="1"/>
            </p:cNvSpPr>
            <p:nvPr/>
          </p:nvSpPr>
          <p:spPr bwMode="auto">
            <a:xfrm>
              <a:off x="642" y="1111"/>
              <a:ext cx="64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Line 63"/>
            <p:cNvSpPr>
              <a:spLocks noChangeShapeType="1"/>
            </p:cNvSpPr>
            <p:nvPr/>
          </p:nvSpPr>
          <p:spPr bwMode="auto">
            <a:xfrm>
              <a:off x="1516" y="1100"/>
              <a:ext cx="10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Line 64"/>
            <p:cNvSpPr>
              <a:spLocks noChangeShapeType="1"/>
            </p:cNvSpPr>
            <p:nvPr/>
          </p:nvSpPr>
          <p:spPr bwMode="auto">
            <a:xfrm flipV="1">
              <a:off x="1079" y="745"/>
              <a:ext cx="0" cy="3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Line 65"/>
            <p:cNvSpPr>
              <a:spLocks noChangeShapeType="1"/>
            </p:cNvSpPr>
            <p:nvPr/>
          </p:nvSpPr>
          <p:spPr bwMode="auto">
            <a:xfrm>
              <a:off x="1083" y="745"/>
              <a:ext cx="39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Line 66"/>
            <p:cNvSpPr>
              <a:spLocks noChangeShapeType="1"/>
            </p:cNvSpPr>
            <p:nvPr/>
          </p:nvSpPr>
          <p:spPr bwMode="auto">
            <a:xfrm>
              <a:off x="1725" y="745"/>
              <a:ext cx="40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67"/>
            <p:cNvSpPr>
              <a:spLocks noChangeShapeType="1"/>
            </p:cNvSpPr>
            <p:nvPr/>
          </p:nvSpPr>
          <p:spPr bwMode="auto">
            <a:xfrm>
              <a:off x="2132" y="735"/>
              <a:ext cx="0" cy="3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68"/>
            <p:cNvSpPr>
              <a:spLocks noChangeShapeType="1"/>
            </p:cNvSpPr>
            <p:nvPr/>
          </p:nvSpPr>
          <p:spPr bwMode="auto">
            <a:xfrm>
              <a:off x="1126" y="1185"/>
              <a:ext cx="266" cy="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Line 69"/>
            <p:cNvSpPr>
              <a:spLocks noChangeShapeType="1"/>
            </p:cNvSpPr>
            <p:nvPr/>
          </p:nvSpPr>
          <p:spPr bwMode="auto">
            <a:xfrm>
              <a:off x="1128" y="692"/>
              <a:ext cx="2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Line 70"/>
            <p:cNvSpPr>
              <a:spLocks noChangeShapeType="1"/>
            </p:cNvSpPr>
            <p:nvPr/>
          </p:nvSpPr>
          <p:spPr bwMode="auto">
            <a:xfrm>
              <a:off x="2203" y="1134"/>
              <a:ext cx="287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Line 71"/>
            <p:cNvSpPr>
              <a:spLocks noChangeShapeType="1"/>
            </p:cNvSpPr>
            <p:nvPr/>
          </p:nvSpPr>
          <p:spPr bwMode="auto">
            <a:xfrm flipH="1">
              <a:off x="2007" y="1489"/>
              <a:ext cx="7" cy="2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Text Box 72"/>
            <p:cNvSpPr txBox="1">
              <a:spLocks noChangeArrowheads="1"/>
            </p:cNvSpPr>
            <p:nvPr/>
          </p:nvSpPr>
          <p:spPr bwMode="auto">
            <a:xfrm>
              <a:off x="1486" y="1135"/>
              <a:ext cx="5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+      </a:t>
              </a:r>
              <a:r>
                <a:rPr lang="en-US" altLang="zh-CN" sz="2000" b="0">
                  <a:latin typeface="黑体" pitchFamily="49" charset="-122"/>
                  <a:ea typeface="黑体" pitchFamily="49" charset="-122"/>
                </a:rPr>
                <a:t>-</a:t>
              </a:r>
            </a:p>
          </p:txBody>
        </p:sp>
        <p:sp>
          <p:nvSpPr>
            <p:cNvPr id="124" name="Text Box 73"/>
            <p:cNvSpPr txBox="1">
              <a:spLocks noChangeArrowheads="1"/>
            </p:cNvSpPr>
            <p:nvPr/>
          </p:nvSpPr>
          <p:spPr bwMode="auto">
            <a:xfrm>
              <a:off x="1647" y="1164"/>
              <a:ext cx="30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v</a:t>
              </a:r>
              <a:r>
                <a:rPr lang="en-US" altLang="zh-CN" sz="2000" i="1" baseline="-25000" dirty="0"/>
                <a:t>S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125" name="Text Box 74"/>
            <p:cNvSpPr txBox="1">
              <a:spLocks noChangeArrowheads="1"/>
            </p:cNvSpPr>
            <p:nvPr/>
          </p:nvSpPr>
          <p:spPr bwMode="auto">
            <a:xfrm>
              <a:off x="2654" y="1036"/>
              <a:ext cx="207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+</a:t>
              </a:r>
            </a:p>
            <a:p>
              <a:pPr algn="l"/>
              <a:endParaRPr lang="en-US" altLang="zh-CN" sz="2000"/>
            </a:p>
            <a:p>
              <a:pPr algn="l"/>
              <a:r>
                <a:rPr lang="en-US" altLang="zh-CN" sz="2000" b="0">
                  <a:latin typeface="黑体" pitchFamily="49" charset="-122"/>
                  <a:ea typeface="黑体" pitchFamily="49" charset="-122"/>
                </a:rPr>
                <a:t>-</a:t>
              </a:r>
            </a:p>
          </p:txBody>
        </p:sp>
        <p:sp>
          <p:nvSpPr>
            <p:cNvPr id="126" name="Text Box 75"/>
            <p:cNvSpPr txBox="1">
              <a:spLocks noChangeArrowheads="1"/>
            </p:cNvSpPr>
            <p:nvPr/>
          </p:nvSpPr>
          <p:spPr bwMode="auto">
            <a:xfrm>
              <a:off x="2700" y="1236"/>
              <a:ext cx="30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v</a:t>
              </a:r>
              <a:r>
                <a:rPr lang="en-US" altLang="zh-CN" sz="2000" i="1" baseline="-25000" dirty="0"/>
                <a:t>S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127" name="Line 76"/>
            <p:cNvSpPr>
              <a:spLocks noChangeShapeType="1"/>
            </p:cNvSpPr>
            <p:nvPr/>
          </p:nvSpPr>
          <p:spPr bwMode="auto">
            <a:xfrm>
              <a:off x="516" y="1644"/>
              <a:ext cx="21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1935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1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1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1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1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1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1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94" grpId="0"/>
      <p:bldP spid="312396" grpId="0"/>
      <p:bldP spid="312397" grpId="0"/>
      <p:bldP spid="3123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椭圆 141"/>
          <p:cNvSpPr/>
          <p:nvPr/>
        </p:nvSpPr>
        <p:spPr bwMode="auto">
          <a:xfrm rot="5400000">
            <a:off x="2251583" y="446829"/>
            <a:ext cx="726390" cy="1465592"/>
          </a:xfrm>
          <a:prstGeom prst="ellipse">
            <a:avLst/>
          </a:prstGeom>
          <a:solidFill>
            <a:srgbClr val="99FF99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3950178" y="920090"/>
            <a:ext cx="879790" cy="1958047"/>
          </a:xfrm>
          <a:prstGeom prst="ellipse">
            <a:avLst/>
          </a:prstGeom>
          <a:solidFill>
            <a:srgbClr val="99FF99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grpSp>
        <p:nvGrpSpPr>
          <p:cNvPr id="313360" name="Group 16"/>
          <p:cNvGrpSpPr>
            <a:grpSpLocks/>
          </p:cNvGrpSpPr>
          <p:nvPr/>
        </p:nvGrpSpPr>
        <p:grpSpPr bwMode="auto">
          <a:xfrm>
            <a:off x="5245106" y="3343276"/>
            <a:ext cx="1162052" cy="892175"/>
            <a:chOff x="3688" y="1994"/>
            <a:chExt cx="732" cy="562"/>
          </a:xfrm>
        </p:grpSpPr>
        <p:sp>
          <p:nvSpPr>
            <p:cNvPr id="313361" name="Line 17"/>
            <p:cNvSpPr>
              <a:spLocks noChangeShapeType="1"/>
            </p:cNvSpPr>
            <p:nvPr/>
          </p:nvSpPr>
          <p:spPr bwMode="auto">
            <a:xfrm>
              <a:off x="3688" y="2556"/>
              <a:ext cx="732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62" name="Text Box 18"/>
            <p:cNvSpPr txBox="1">
              <a:spLocks noChangeArrowheads="1"/>
            </p:cNvSpPr>
            <p:nvPr/>
          </p:nvSpPr>
          <p:spPr bwMode="auto">
            <a:xfrm>
              <a:off x="3962" y="1994"/>
              <a:ext cx="3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>
                  <a:solidFill>
                    <a:srgbClr val="3333FF"/>
                  </a:solidFill>
                </a:rPr>
                <a:t>i</a:t>
              </a:r>
              <a:r>
                <a:rPr lang="en-US" altLang="zh-CN" i="1" baseline="-25000" dirty="0" smtClean="0">
                  <a:solidFill>
                    <a:srgbClr val="3333FF"/>
                  </a:solidFill>
                </a:rPr>
                <a:t>S</a:t>
              </a:r>
              <a:r>
                <a:rPr lang="en-US" altLang="zh-CN" baseline="-25000" dirty="0" smtClean="0">
                  <a:solidFill>
                    <a:srgbClr val="3333FF"/>
                  </a:solidFill>
                </a:rPr>
                <a:t>1</a:t>
              </a:r>
              <a:endParaRPr lang="en-US" altLang="zh-CN" dirty="0">
                <a:solidFill>
                  <a:srgbClr val="3333FF"/>
                </a:solidFill>
              </a:endParaRPr>
            </a:p>
          </p:txBody>
        </p:sp>
      </p:grpSp>
      <p:grpSp>
        <p:nvGrpSpPr>
          <p:cNvPr id="313363" name="Group 19"/>
          <p:cNvGrpSpPr>
            <a:grpSpLocks/>
          </p:cNvGrpSpPr>
          <p:nvPr/>
        </p:nvGrpSpPr>
        <p:grpSpPr bwMode="auto">
          <a:xfrm>
            <a:off x="6015045" y="4930776"/>
            <a:ext cx="1722441" cy="515938"/>
            <a:chOff x="4161" y="3016"/>
            <a:chExt cx="1085" cy="325"/>
          </a:xfrm>
        </p:grpSpPr>
        <p:sp>
          <p:nvSpPr>
            <p:cNvPr id="313364" name="Line 20"/>
            <p:cNvSpPr>
              <a:spLocks noChangeShapeType="1"/>
            </p:cNvSpPr>
            <p:nvPr/>
          </p:nvSpPr>
          <p:spPr bwMode="auto">
            <a:xfrm flipV="1">
              <a:off x="4161" y="3016"/>
              <a:ext cx="1085" cy="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365" name="Text Box 21"/>
            <p:cNvSpPr txBox="1">
              <a:spLocks noChangeArrowheads="1"/>
            </p:cNvSpPr>
            <p:nvPr/>
          </p:nvSpPr>
          <p:spPr bwMode="auto">
            <a:xfrm>
              <a:off x="4598" y="3050"/>
              <a:ext cx="3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>
                  <a:solidFill>
                    <a:srgbClr val="3333FF"/>
                  </a:solidFill>
                </a:rPr>
                <a:t>i</a:t>
              </a:r>
              <a:r>
                <a:rPr lang="en-US" altLang="zh-CN" i="1" baseline="-25000" dirty="0" smtClean="0">
                  <a:solidFill>
                    <a:srgbClr val="3333FF"/>
                  </a:solidFill>
                </a:rPr>
                <a:t>S</a:t>
              </a:r>
              <a:r>
                <a:rPr lang="en-US" altLang="zh-CN" baseline="-25000" dirty="0" smtClean="0">
                  <a:solidFill>
                    <a:srgbClr val="3333FF"/>
                  </a:solidFill>
                </a:rPr>
                <a:t>2</a:t>
              </a:r>
              <a:endParaRPr lang="en-US" altLang="zh-CN" dirty="0">
                <a:solidFill>
                  <a:srgbClr val="3333FF"/>
                </a:solidFill>
              </a:endParaRPr>
            </a:p>
          </p:txBody>
        </p:sp>
      </p:grpSp>
      <p:grpSp>
        <p:nvGrpSpPr>
          <p:cNvPr id="313366" name="Group 22"/>
          <p:cNvGrpSpPr>
            <a:grpSpLocks/>
          </p:cNvGrpSpPr>
          <p:nvPr/>
        </p:nvGrpSpPr>
        <p:grpSpPr bwMode="auto">
          <a:xfrm>
            <a:off x="6543683" y="3479801"/>
            <a:ext cx="1952629" cy="1082675"/>
            <a:chOff x="4482" y="2090"/>
            <a:chExt cx="1230" cy="682"/>
          </a:xfrm>
        </p:grpSpPr>
        <p:grpSp>
          <p:nvGrpSpPr>
            <p:cNvPr id="313367" name="Group 23"/>
            <p:cNvGrpSpPr>
              <a:grpSpLocks/>
            </p:cNvGrpSpPr>
            <p:nvPr/>
          </p:nvGrpSpPr>
          <p:grpSpPr bwMode="auto">
            <a:xfrm>
              <a:off x="4482" y="2090"/>
              <a:ext cx="1230" cy="276"/>
              <a:chOff x="3705" y="3534"/>
              <a:chExt cx="1845" cy="232"/>
            </a:xfrm>
          </p:grpSpPr>
          <p:sp>
            <p:nvSpPr>
              <p:cNvPr id="313368" name="Line 24"/>
              <p:cNvSpPr>
                <a:spLocks noChangeShapeType="1"/>
              </p:cNvSpPr>
              <p:nvPr/>
            </p:nvSpPr>
            <p:spPr bwMode="auto">
              <a:xfrm flipV="1">
                <a:off x="3705" y="3639"/>
                <a:ext cx="411" cy="12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stealth" w="sm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369" name="Text Box 25"/>
              <p:cNvSpPr txBox="1">
                <a:spLocks noChangeArrowheads="1"/>
              </p:cNvSpPr>
              <p:nvPr/>
            </p:nvSpPr>
            <p:spPr bwMode="auto">
              <a:xfrm>
                <a:off x="4116" y="3534"/>
                <a:ext cx="1434" cy="21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sz="2000" dirty="0" smtClean="0">
                    <a:solidFill>
                      <a:schemeClr val="tx2"/>
                    </a:solidFill>
                  </a:rPr>
                  <a:t>等效电流源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13370" name="Line 26"/>
            <p:cNvSpPr>
              <a:spLocks noChangeShapeType="1"/>
            </p:cNvSpPr>
            <p:nvPr/>
          </p:nvSpPr>
          <p:spPr bwMode="auto">
            <a:xfrm flipH="1">
              <a:off x="4842" y="2346"/>
              <a:ext cx="384" cy="4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3387" name="Text Box 43"/>
          <p:cNvSpPr txBox="1">
            <a:spLocks noChangeArrowheads="1"/>
          </p:cNvSpPr>
          <p:nvPr/>
        </p:nvSpPr>
        <p:spPr bwMode="auto">
          <a:xfrm>
            <a:off x="898815" y="5451475"/>
            <a:ext cx="23580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i="1" dirty="0"/>
              <a:t>G</a:t>
            </a:r>
            <a:r>
              <a:rPr lang="en-US" altLang="zh-CN" baseline="-25000" dirty="0"/>
              <a:t>11</a:t>
            </a:r>
            <a:r>
              <a:rPr lang="zh-CN" altLang="en-US" dirty="0"/>
              <a:t>、</a:t>
            </a:r>
            <a:r>
              <a:rPr lang="en-US" altLang="zh-CN" i="1" dirty="0"/>
              <a:t>G</a:t>
            </a:r>
            <a:r>
              <a:rPr lang="en-US" altLang="zh-CN" baseline="-25000" dirty="0"/>
              <a:t>22  </a:t>
            </a:r>
            <a:r>
              <a:rPr lang="zh-CN" altLang="en-US" dirty="0">
                <a:solidFill>
                  <a:srgbClr val="FF0000"/>
                </a:solidFill>
              </a:rPr>
              <a:t>自电导</a:t>
            </a:r>
          </a:p>
        </p:txBody>
      </p:sp>
      <p:sp>
        <p:nvSpPr>
          <p:cNvPr id="313388" name="Rectangle 44"/>
          <p:cNvSpPr>
            <a:spLocks noChangeArrowheads="1"/>
          </p:cNvSpPr>
          <p:nvPr/>
        </p:nvSpPr>
        <p:spPr bwMode="auto">
          <a:xfrm>
            <a:off x="895350" y="6078538"/>
            <a:ext cx="41585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i="1" dirty="0"/>
              <a:t>G</a:t>
            </a:r>
            <a:r>
              <a:rPr lang="en-US" altLang="zh-CN" baseline="-25000" dirty="0"/>
              <a:t>12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i="1" dirty="0"/>
              <a:t>G</a:t>
            </a:r>
            <a:r>
              <a:rPr lang="en-US" altLang="zh-CN" baseline="-25000" dirty="0"/>
              <a:t>21  </a:t>
            </a:r>
            <a:r>
              <a:rPr lang="zh-CN" altLang="en-US" dirty="0">
                <a:solidFill>
                  <a:srgbClr val="FF0000"/>
                </a:solidFill>
              </a:rPr>
              <a:t>互电导  </a:t>
            </a:r>
            <a:r>
              <a:rPr lang="zh-CN" altLang="en-US" dirty="0"/>
              <a:t>（</a:t>
            </a:r>
            <a:r>
              <a:rPr lang="zh-CN" altLang="en-US" dirty="0" smtClean="0"/>
              <a:t>恒</a:t>
            </a:r>
            <a:r>
              <a:rPr lang="zh-CN" altLang="en-US" dirty="0"/>
              <a:t>为</a:t>
            </a:r>
            <a:r>
              <a:rPr lang="zh-CN" altLang="en-US" dirty="0" smtClean="0"/>
              <a:t>负）</a:t>
            </a:r>
            <a:endParaRPr lang="zh-CN" altLang="en-US" dirty="0"/>
          </a:p>
        </p:txBody>
      </p:sp>
      <p:graphicFrame>
        <p:nvGraphicFramePr>
          <p:cNvPr id="31338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952113"/>
              </p:ext>
            </p:extLst>
          </p:nvPr>
        </p:nvGraphicFramePr>
        <p:xfrm>
          <a:off x="6373131" y="5692568"/>
          <a:ext cx="18732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97" name="Equation" r:id="rId3" imgW="939600" imgH="253800" progId="Equation.DSMT4">
                  <p:embed/>
                </p:oleObj>
              </mc:Choice>
              <mc:Fallback>
                <p:oleObj name="Equation" r:id="rId3" imgW="939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131" y="5692568"/>
                        <a:ext cx="18732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3495" name="Group 151"/>
          <p:cNvGrpSpPr>
            <a:grpSpLocks/>
          </p:cNvGrpSpPr>
          <p:nvPr/>
        </p:nvGrpSpPr>
        <p:grpSpPr bwMode="auto">
          <a:xfrm>
            <a:off x="1199356" y="4946650"/>
            <a:ext cx="1371600" cy="457200"/>
            <a:chOff x="444" y="2990"/>
            <a:chExt cx="864" cy="288"/>
          </a:xfrm>
        </p:grpSpPr>
        <p:sp>
          <p:nvSpPr>
            <p:cNvPr id="313496" name="Line 152"/>
            <p:cNvSpPr>
              <a:spLocks noChangeShapeType="1"/>
            </p:cNvSpPr>
            <p:nvPr/>
          </p:nvSpPr>
          <p:spPr bwMode="auto">
            <a:xfrm>
              <a:off x="444" y="3000"/>
              <a:ext cx="86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497" name="Text Box 153"/>
            <p:cNvSpPr txBox="1">
              <a:spLocks noChangeArrowheads="1"/>
            </p:cNvSpPr>
            <p:nvPr/>
          </p:nvSpPr>
          <p:spPr bwMode="auto">
            <a:xfrm>
              <a:off x="722" y="2990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>
                  <a:solidFill>
                    <a:srgbClr val="FF0000"/>
                  </a:solidFill>
                </a:rPr>
                <a:t>G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21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3514" name="Group 170"/>
          <p:cNvGrpSpPr>
            <a:grpSpLocks/>
          </p:cNvGrpSpPr>
          <p:nvPr/>
        </p:nvGrpSpPr>
        <p:grpSpPr bwMode="auto">
          <a:xfrm>
            <a:off x="3027363" y="4956175"/>
            <a:ext cx="2495550" cy="457200"/>
            <a:chOff x="1944" y="3014"/>
            <a:chExt cx="1572" cy="288"/>
          </a:xfrm>
        </p:grpSpPr>
        <p:sp>
          <p:nvSpPr>
            <p:cNvPr id="313515" name="Line 171"/>
            <p:cNvSpPr>
              <a:spLocks noChangeShapeType="1"/>
            </p:cNvSpPr>
            <p:nvPr/>
          </p:nvSpPr>
          <p:spPr bwMode="auto">
            <a:xfrm>
              <a:off x="1944" y="3024"/>
              <a:ext cx="15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516" name="Text Box 172"/>
            <p:cNvSpPr txBox="1">
              <a:spLocks noChangeArrowheads="1"/>
            </p:cNvSpPr>
            <p:nvPr/>
          </p:nvSpPr>
          <p:spPr bwMode="auto">
            <a:xfrm>
              <a:off x="2570" y="301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>
                  <a:solidFill>
                    <a:srgbClr val="FF0000"/>
                  </a:solidFill>
                </a:rPr>
                <a:t>G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22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3523" name="Group 179"/>
          <p:cNvGrpSpPr>
            <a:grpSpLocks/>
          </p:cNvGrpSpPr>
          <p:nvPr/>
        </p:nvGrpSpPr>
        <p:grpSpPr bwMode="auto">
          <a:xfrm>
            <a:off x="152400" y="3200400"/>
            <a:ext cx="7616827" cy="1751013"/>
            <a:chOff x="170" y="1633"/>
            <a:chExt cx="4798" cy="1103"/>
          </a:xfrm>
        </p:grpSpPr>
        <p:graphicFrame>
          <p:nvGraphicFramePr>
            <p:cNvPr id="313524" name="Object 1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2042492"/>
                </p:ext>
              </p:extLst>
            </p:nvPr>
          </p:nvGraphicFramePr>
          <p:xfrm>
            <a:off x="858" y="1997"/>
            <a:ext cx="327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398" name="Equation" r:id="rId5" imgW="2286000" imgH="203040" progId="Equation.DSMT4">
                    <p:embed/>
                  </p:oleObj>
                </mc:Choice>
                <mc:Fallback>
                  <p:oleObj name="Equation" r:id="rId5" imgW="2286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8" y="1997"/>
                          <a:ext cx="327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525" name="Object 1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3628892"/>
                </p:ext>
              </p:extLst>
            </p:nvPr>
          </p:nvGraphicFramePr>
          <p:xfrm>
            <a:off x="814" y="2449"/>
            <a:ext cx="415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399" name="Equation" r:id="rId7" imgW="2908080" imgH="203040" progId="Equation.DSMT4">
                    <p:embed/>
                  </p:oleObj>
                </mc:Choice>
                <mc:Fallback>
                  <p:oleObj name="Equation" r:id="rId7" imgW="2908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2449"/>
                          <a:ext cx="415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3526" name="Text Box 182"/>
            <p:cNvSpPr txBox="1">
              <a:spLocks noChangeArrowheads="1"/>
            </p:cNvSpPr>
            <p:nvPr/>
          </p:nvSpPr>
          <p:spPr bwMode="auto">
            <a:xfrm>
              <a:off x="170" y="1633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dirty="0"/>
                <a:t>整理得：</a:t>
              </a:r>
            </a:p>
          </p:txBody>
        </p:sp>
      </p:grpSp>
      <p:grpSp>
        <p:nvGrpSpPr>
          <p:cNvPr id="313530" name="Group 186"/>
          <p:cNvGrpSpPr>
            <a:grpSpLocks/>
          </p:cNvGrpSpPr>
          <p:nvPr/>
        </p:nvGrpSpPr>
        <p:grpSpPr bwMode="auto">
          <a:xfrm>
            <a:off x="1311275" y="3429000"/>
            <a:ext cx="1752600" cy="825500"/>
            <a:chOff x="696" y="2054"/>
            <a:chExt cx="1104" cy="520"/>
          </a:xfrm>
        </p:grpSpPr>
        <p:sp>
          <p:nvSpPr>
            <p:cNvPr id="313531" name="Line 187"/>
            <p:cNvSpPr>
              <a:spLocks noChangeShapeType="1"/>
            </p:cNvSpPr>
            <p:nvPr/>
          </p:nvSpPr>
          <p:spPr bwMode="auto">
            <a:xfrm>
              <a:off x="696" y="2574"/>
              <a:ext cx="110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532" name="Text Box 188"/>
            <p:cNvSpPr txBox="1">
              <a:spLocks noChangeArrowheads="1"/>
            </p:cNvSpPr>
            <p:nvPr/>
          </p:nvSpPr>
          <p:spPr bwMode="auto">
            <a:xfrm>
              <a:off x="986" y="205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>
                  <a:solidFill>
                    <a:srgbClr val="FF0000"/>
                  </a:solidFill>
                </a:rPr>
                <a:t>G</a:t>
              </a:r>
              <a:r>
                <a:rPr lang="en-US" altLang="zh-CN" baseline="-25000" dirty="0" smtClean="0">
                  <a:solidFill>
                    <a:srgbClr val="FF0000"/>
                  </a:solidFill>
                </a:rPr>
                <a:t>11</a:t>
              </a:r>
              <a:endParaRPr lang="en-US" altLang="zh-CN" dirty="0"/>
            </a:p>
          </p:txBody>
        </p:sp>
      </p:grpSp>
      <p:grpSp>
        <p:nvGrpSpPr>
          <p:cNvPr id="313533" name="Group 189"/>
          <p:cNvGrpSpPr>
            <a:grpSpLocks/>
          </p:cNvGrpSpPr>
          <p:nvPr/>
        </p:nvGrpSpPr>
        <p:grpSpPr bwMode="auto">
          <a:xfrm>
            <a:off x="3590926" y="3409950"/>
            <a:ext cx="1333500" cy="825500"/>
            <a:chOff x="2415" y="2018"/>
            <a:chExt cx="660" cy="520"/>
          </a:xfrm>
        </p:grpSpPr>
        <p:sp>
          <p:nvSpPr>
            <p:cNvPr id="313534" name="Line 190"/>
            <p:cNvSpPr>
              <a:spLocks noChangeShapeType="1"/>
            </p:cNvSpPr>
            <p:nvPr/>
          </p:nvSpPr>
          <p:spPr bwMode="auto">
            <a:xfrm>
              <a:off x="2415" y="2538"/>
              <a:ext cx="6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535" name="Text Box 191"/>
            <p:cNvSpPr txBox="1">
              <a:spLocks noChangeArrowheads="1"/>
            </p:cNvSpPr>
            <p:nvPr/>
          </p:nvSpPr>
          <p:spPr bwMode="auto">
            <a:xfrm>
              <a:off x="2587" y="2018"/>
              <a:ext cx="3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>
                  <a:solidFill>
                    <a:srgbClr val="FF0000"/>
                  </a:solidFill>
                </a:rPr>
                <a:t>G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12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04043" y="161926"/>
            <a:ext cx="4270376" cy="2927349"/>
            <a:chOff x="604043" y="161926"/>
            <a:chExt cx="4270376" cy="2927349"/>
          </a:xfrm>
        </p:grpSpPr>
        <p:sp>
          <p:nvSpPr>
            <p:cNvPr id="116" name="Oval 13"/>
            <p:cNvSpPr>
              <a:spLocks noChangeArrowheads="1"/>
            </p:cNvSpPr>
            <p:nvPr/>
          </p:nvSpPr>
          <p:spPr bwMode="auto">
            <a:xfrm>
              <a:off x="932656" y="1878013"/>
              <a:ext cx="357188" cy="3746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7" name="Line 14"/>
            <p:cNvSpPr>
              <a:spLocks noChangeShapeType="1"/>
            </p:cNvSpPr>
            <p:nvPr/>
          </p:nvSpPr>
          <p:spPr bwMode="auto">
            <a:xfrm>
              <a:off x="1097756" y="2263775"/>
              <a:ext cx="0" cy="396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15"/>
            <p:cNvSpPr>
              <a:spLocks noChangeShapeType="1"/>
            </p:cNvSpPr>
            <p:nvPr/>
          </p:nvSpPr>
          <p:spPr bwMode="auto">
            <a:xfrm flipV="1">
              <a:off x="1113631" y="1220788"/>
              <a:ext cx="0" cy="646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16"/>
            <p:cNvSpPr>
              <a:spLocks noChangeShapeType="1"/>
            </p:cNvSpPr>
            <p:nvPr/>
          </p:nvSpPr>
          <p:spPr bwMode="auto">
            <a:xfrm>
              <a:off x="1097756" y="2660650"/>
              <a:ext cx="3154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Line 17"/>
            <p:cNvSpPr>
              <a:spLocks noChangeShapeType="1"/>
            </p:cNvSpPr>
            <p:nvPr/>
          </p:nvSpPr>
          <p:spPr bwMode="auto">
            <a:xfrm flipV="1">
              <a:off x="1815306" y="1219201"/>
              <a:ext cx="0" cy="14414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Rectangle 18"/>
            <p:cNvSpPr>
              <a:spLocks noChangeArrowheads="1"/>
            </p:cNvSpPr>
            <p:nvPr/>
          </p:nvSpPr>
          <p:spPr bwMode="auto">
            <a:xfrm>
              <a:off x="1751806" y="1914525"/>
              <a:ext cx="127000" cy="37306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2" name="Line 19"/>
            <p:cNvSpPr>
              <a:spLocks noChangeShapeType="1"/>
            </p:cNvSpPr>
            <p:nvPr/>
          </p:nvSpPr>
          <p:spPr bwMode="auto">
            <a:xfrm>
              <a:off x="3488531" y="1222376"/>
              <a:ext cx="0" cy="1425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20"/>
            <p:cNvSpPr>
              <a:spLocks noChangeShapeType="1"/>
            </p:cNvSpPr>
            <p:nvPr/>
          </p:nvSpPr>
          <p:spPr bwMode="auto">
            <a:xfrm flipV="1">
              <a:off x="1002506" y="1406526"/>
              <a:ext cx="0" cy="431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Text Box 21"/>
            <p:cNvSpPr txBox="1">
              <a:spLocks noChangeArrowheads="1"/>
            </p:cNvSpPr>
            <p:nvPr/>
          </p:nvSpPr>
          <p:spPr bwMode="auto">
            <a:xfrm>
              <a:off x="604043" y="1609726"/>
              <a:ext cx="5143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 dirty="0" err="1"/>
                <a:t>i</a:t>
              </a:r>
              <a:r>
                <a:rPr lang="en-US" altLang="zh-CN" sz="2000" i="1" baseline="-25000" dirty="0" err="1"/>
                <a:t>S</a:t>
              </a:r>
              <a:endParaRPr lang="en-US" altLang="zh-CN" sz="2000" i="1" dirty="0"/>
            </a:p>
          </p:txBody>
        </p:sp>
        <p:sp>
          <p:nvSpPr>
            <p:cNvPr id="125" name="Text Box 22"/>
            <p:cNvSpPr txBox="1">
              <a:spLocks noChangeArrowheads="1"/>
            </p:cNvSpPr>
            <p:nvPr/>
          </p:nvSpPr>
          <p:spPr bwMode="auto">
            <a:xfrm>
              <a:off x="1343818" y="1857375"/>
              <a:ext cx="450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126" name="Text Box 23"/>
            <p:cNvSpPr txBox="1">
              <a:spLocks noChangeArrowheads="1"/>
            </p:cNvSpPr>
            <p:nvPr/>
          </p:nvSpPr>
          <p:spPr bwMode="auto">
            <a:xfrm>
              <a:off x="1407318" y="1343026"/>
              <a:ext cx="4762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127" name="Text Box 24"/>
            <p:cNvSpPr txBox="1">
              <a:spLocks noChangeArrowheads="1"/>
            </p:cNvSpPr>
            <p:nvPr/>
          </p:nvSpPr>
          <p:spPr bwMode="auto">
            <a:xfrm>
              <a:off x="1974056" y="1314451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/>
                <a:t>i</a:t>
              </a:r>
              <a:r>
                <a:rPr lang="en-US" altLang="zh-CN" sz="2000" baseline="-25000"/>
                <a:t>2</a:t>
              </a:r>
              <a:endParaRPr lang="en-US" altLang="zh-CN" sz="2000"/>
            </a:p>
          </p:txBody>
        </p:sp>
        <p:sp>
          <p:nvSpPr>
            <p:cNvPr id="128" name="Text Box 25"/>
            <p:cNvSpPr txBox="1">
              <a:spLocks noChangeArrowheads="1"/>
            </p:cNvSpPr>
            <p:nvPr/>
          </p:nvSpPr>
          <p:spPr bwMode="auto">
            <a:xfrm>
              <a:off x="1904206" y="161926"/>
              <a:ext cx="3365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3</a:t>
              </a:r>
              <a:endParaRPr lang="en-US" altLang="zh-CN" sz="2000" dirty="0"/>
            </a:p>
          </p:txBody>
        </p:sp>
        <p:sp>
          <p:nvSpPr>
            <p:cNvPr id="129" name="Text Box 26"/>
            <p:cNvSpPr txBox="1">
              <a:spLocks noChangeArrowheads="1"/>
            </p:cNvSpPr>
            <p:nvPr/>
          </p:nvSpPr>
          <p:spPr bwMode="auto">
            <a:xfrm>
              <a:off x="2921793" y="1773238"/>
              <a:ext cx="3365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4</a:t>
              </a:r>
              <a:endParaRPr lang="en-US" altLang="zh-CN" sz="2000" dirty="0"/>
            </a:p>
          </p:txBody>
        </p:sp>
        <p:sp>
          <p:nvSpPr>
            <p:cNvPr id="130" name="Text Box 27"/>
            <p:cNvSpPr txBox="1">
              <a:spLocks noChangeArrowheads="1"/>
            </p:cNvSpPr>
            <p:nvPr/>
          </p:nvSpPr>
          <p:spPr bwMode="auto">
            <a:xfrm>
              <a:off x="3650456" y="1225551"/>
              <a:ext cx="3365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5</a:t>
              </a:r>
              <a:endParaRPr lang="en-US" altLang="zh-CN" sz="2000" dirty="0"/>
            </a:p>
          </p:txBody>
        </p:sp>
        <p:sp>
          <p:nvSpPr>
            <p:cNvPr id="131" name="Text Box 28"/>
            <p:cNvSpPr txBox="1">
              <a:spLocks noChangeArrowheads="1"/>
            </p:cNvSpPr>
            <p:nvPr/>
          </p:nvSpPr>
          <p:spPr bwMode="auto">
            <a:xfrm>
              <a:off x="2094706" y="742951"/>
              <a:ext cx="450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132" name="Text Box 29"/>
            <p:cNvSpPr txBox="1">
              <a:spLocks noChangeArrowheads="1"/>
            </p:cNvSpPr>
            <p:nvPr/>
          </p:nvSpPr>
          <p:spPr bwMode="auto">
            <a:xfrm>
              <a:off x="4271168" y="2085975"/>
              <a:ext cx="450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5</a:t>
              </a:r>
              <a:endParaRPr lang="en-US" altLang="zh-CN" sz="2000" dirty="0"/>
            </a:p>
          </p:txBody>
        </p:sp>
        <p:sp>
          <p:nvSpPr>
            <p:cNvPr id="133" name="Text Box 30"/>
            <p:cNvSpPr txBox="1">
              <a:spLocks noChangeArrowheads="1"/>
            </p:cNvSpPr>
            <p:nvPr/>
          </p:nvSpPr>
          <p:spPr bwMode="auto">
            <a:xfrm>
              <a:off x="2420143" y="169863"/>
              <a:ext cx="450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3</a:t>
              </a:r>
              <a:endParaRPr lang="en-US" altLang="zh-CN" sz="2000" dirty="0"/>
            </a:p>
          </p:txBody>
        </p:sp>
        <p:sp>
          <p:nvSpPr>
            <p:cNvPr id="134" name="Text Box 31"/>
            <p:cNvSpPr txBox="1">
              <a:spLocks noChangeArrowheads="1"/>
            </p:cNvSpPr>
            <p:nvPr/>
          </p:nvSpPr>
          <p:spPr bwMode="auto">
            <a:xfrm>
              <a:off x="3539331" y="1798638"/>
              <a:ext cx="450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G</a:t>
              </a:r>
              <a:r>
                <a:rPr lang="en-US" altLang="zh-CN" sz="2000" baseline="-25000" dirty="0"/>
                <a:t>4</a:t>
              </a:r>
              <a:endParaRPr lang="en-US" altLang="zh-CN" sz="2000" dirty="0"/>
            </a:p>
          </p:txBody>
        </p:sp>
        <p:sp>
          <p:nvSpPr>
            <p:cNvPr id="135" name="Rectangle 32"/>
            <p:cNvSpPr>
              <a:spLocks noChangeArrowheads="1"/>
            </p:cNvSpPr>
            <p:nvPr/>
          </p:nvSpPr>
          <p:spPr bwMode="auto">
            <a:xfrm>
              <a:off x="3421856" y="1808163"/>
              <a:ext cx="127000" cy="37306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" name="Rectangle 33"/>
            <p:cNvSpPr>
              <a:spLocks noChangeArrowheads="1"/>
            </p:cNvSpPr>
            <p:nvPr/>
          </p:nvSpPr>
          <p:spPr bwMode="auto">
            <a:xfrm>
              <a:off x="4172743" y="2097088"/>
              <a:ext cx="127000" cy="37306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" name="Rectangle 34"/>
            <p:cNvSpPr>
              <a:spLocks noChangeArrowheads="1"/>
            </p:cNvSpPr>
            <p:nvPr/>
          </p:nvSpPr>
          <p:spPr bwMode="auto">
            <a:xfrm rot="5400000">
              <a:off x="2261393" y="1028701"/>
              <a:ext cx="133350" cy="3556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" name="Rectangle 35"/>
            <p:cNvSpPr>
              <a:spLocks noChangeArrowheads="1"/>
            </p:cNvSpPr>
            <p:nvPr/>
          </p:nvSpPr>
          <p:spPr bwMode="auto">
            <a:xfrm rot="5400000">
              <a:off x="2582068" y="465138"/>
              <a:ext cx="133350" cy="35401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9" name="Group 36"/>
            <p:cNvGrpSpPr>
              <a:grpSpLocks/>
            </p:cNvGrpSpPr>
            <p:nvPr/>
          </p:nvGrpSpPr>
          <p:grpSpPr bwMode="auto">
            <a:xfrm>
              <a:off x="2577306" y="2751138"/>
              <a:ext cx="263525" cy="338137"/>
              <a:chOff x="3221" y="1826"/>
              <a:chExt cx="200" cy="245"/>
            </a:xfrm>
          </p:grpSpPr>
          <p:sp>
            <p:nvSpPr>
              <p:cNvPr id="178" name="Text Box 37"/>
              <p:cNvSpPr txBox="1">
                <a:spLocks noChangeArrowheads="1"/>
              </p:cNvSpPr>
              <p:nvPr/>
            </p:nvSpPr>
            <p:spPr bwMode="auto">
              <a:xfrm>
                <a:off x="3221" y="1826"/>
                <a:ext cx="198" cy="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1600" dirty="0">
                    <a:solidFill>
                      <a:srgbClr val="FF0000"/>
                    </a:solidFill>
                  </a:rPr>
                  <a:t>0</a:t>
                </a:r>
              </a:p>
            </p:txBody>
          </p:sp>
          <p:sp>
            <p:nvSpPr>
              <p:cNvPr id="179" name="Oval 38"/>
              <p:cNvSpPr>
                <a:spLocks noChangeArrowheads="1"/>
              </p:cNvSpPr>
              <p:nvPr/>
            </p:nvSpPr>
            <p:spPr bwMode="auto">
              <a:xfrm>
                <a:off x="3240" y="1872"/>
                <a:ext cx="181" cy="18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0" name="Group 39"/>
            <p:cNvGrpSpPr>
              <a:grpSpLocks/>
            </p:cNvGrpSpPr>
            <p:nvPr/>
          </p:nvGrpSpPr>
          <p:grpSpPr bwMode="auto">
            <a:xfrm>
              <a:off x="2177256" y="2606675"/>
              <a:ext cx="381000" cy="452437"/>
              <a:chOff x="1611" y="1692"/>
              <a:chExt cx="261" cy="300"/>
            </a:xfrm>
          </p:grpSpPr>
          <p:grpSp>
            <p:nvGrpSpPr>
              <p:cNvPr id="171" name="Group 40"/>
              <p:cNvGrpSpPr>
                <a:grpSpLocks/>
              </p:cNvGrpSpPr>
              <p:nvPr/>
            </p:nvGrpSpPr>
            <p:grpSpPr bwMode="auto">
              <a:xfrm>
                <a:off x="1611" y="1716"/>
                <a:ext cx="261" cy="276"/>
                <a:chOff x="2925" y="1662"/>
                <a:chExt cx="261" cy="276"/>
              </a:xfrm>
            </p:grpSpPr>
            <p:grpSp>
              <p:nvGrpSpPr>
                <p:cNvPr id="173" name="Group 41"/>
                <p:cNvGrpSpPr>
                  <a:grpSpLocks/>
                </p:cNvGrpSpPr>
                <p:nvPr/>
              </p:nvGrpSpPr>
              <p:grpSpPr bwMode="auto">
                <a:xfrm>
                  <a:off x="2925" y="1818"/>
                  <a:ext cx="261" cy="120"/>
                  <a:chOff x="720" y="1824"/>
                  <a:chExt cx="261" cy="120"/>
                </a:xfrm>
              </p:grpSpPr>
              <p:sp>
                <p:nvSpPr>
                  <p:cNvPr id="175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824"/>
                    <a:ext cx="261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778" y="1883"/>
                    <a:ext cx="14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802" y="1944"/>
                    <a:ext cx="86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4" name="Line 45"/>
                <p:cNvSpPr>
                  <a:spLocks noChangeShapeType="1"/>
                </p:cNvSpPr>
                <p:nvPr/>
              </p:nvSpPr>
              <p:spPr bwMode="auto">
                <a:xfrm>
                  <a:off x="3054" y="1662"/>
                  <a:ext cx="0" cy="1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2" name="Oval 46"/>
              <p:cNvSpPr>
                <a:spLocks noChangeArrowheads="1"/>
              </p:cNvSpPr>
              <p:nvPr/>
            </p:nvSpPr>
            <p:spPr bwMode="auto">
              <a:xfrm>
                <a:off x="1710" y="1692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1" name="Group 47"/>
            <p:cNvGrpSpPr>
              <a:grpSpLocks/>
            </p:cNvGrpSpPr>
            <p:nvPr/>
          </p:nvGrpSpPr>
          <p:grpSpPr bwMode="auto">
            <a:xfrm>
              <a:off x="1155204" y="677863"/>
              <a:ext cx="623577" cy="517525"/>
              <a:chOff x="3690" y="1098"/>
              <a:chExt cx="426" cy="374"/>
            </a:xfrm>
          </p:grpSpPr>
          <p:sp>
            <p:nvSpPr>
              <p:cNvPr id="167" name="Text Box 48"/>
              <p:cNvSpPr txBox="1">
                <a:spLocks noChangeArrowheads="1"/>
              </p:cNvSpPr>
              <p:nvPr/>
            </p:nvSpPr>
            <p:spPr bwMode="auto">
              <a:xfrm>
                <a:off x="3690" y="1098"/>
                <a:ext cx="262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 i="1" dirty="0" smtClean="0">
                    <a:solidFill>
                      <a:srgbClr val="FF0000"/>
                    </a:solidFill>
                  </a:rPr>
                  <a:t>v</a:t>
                </a:r>
                <a:r>
                  <a:rPr lang="en-US" altLang="zh-CN" sz="2000" baseline="-25000" dirty="0" smtClean="0">
                    <a:solidFill>
                      <a:srgbClr val="FF0000"/>
                    </a:solidFill>
                  </a:rPr>
                  <a:t>1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68" name="Group 49"/>
              <p:cNvGrpSpPr>
                <a:grpSpLocks/>
              </p:cNvGrpSpPr>
              <p:nvPr/>
            </p:nvGrpSpPr>
            <p:grpSpPr bwMode="auto">
              <a:xfrm>
                <a:off x="3918" y="1228"/>
                <a:ext cx="198" cy="244"/>
                <a:chOff x="3204" y="1828"/>
                <a:chExt cx="198" cy="244"/>
              </a:xfrm>
            </p:grpSpPr>
            <p:sp>
              <p:nvSpPr>
                <p:cNvPr id="169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204" y="1828"/>
                  <a:ext cx="198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1600" dirty="0">
                      <a:solidFill>
                        <a:srgbClr val="FF0000"/>
                      </a:solidFill>
                    </a:rPr>
                    <a:t>1</a:t>
                  </a:r>
                </a:p>
              </p:txBody>
            </p:sp>
            <p:sp>
              <p:nvSpPr>
                <p:cNvPr id="170" name="Oval 51"/>
                <p:cNvSpPr>
                  <a:spLocks noChangeArrowheads="1"/>
                </p:cNvSpPr>
                <p:nvPr/>
              </p:nvSpPr>
              <p:spPr bwMode="auto">
                <a:xfrm>
                  <a:off x="3216" y="1872"/>
                  <a:ext cx="181" cy="181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3" name="Text Box 53"/>
            <p:cNvSpPr txBox="1">
              <a:spLocks noChangeArrowheads="1"/>
            </p:cNvSpPr>
            <p:nvPr/>
          </p:nvSpPr>
          <p:spPr bwMode="auto">
            <a:xfrm>
              <a:off x="3578711" y="493713"/>
              <a:ext cx="61147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i="1" dirty="0" smtClean="0">
                  <a:solidFill>
                    <a:srgbClr val="FF0000"/>
                  </a:solidFill>
                </a:rPr>
                <a:t>v</a:t>
              </a:r>
              <a:r>
                <a:rPr lang="en-US" altLang="zh-CN" sz="2000" baseline="-25000" dirty="0" smtClean="0">
                  <a:solidFill>
                    <a:srgbClr val="FF0000"/>
                  </a:solidFill>
                </a:rPr>
                <a:t>2</a:t>
              </a:r>
              <a:endParaRPr lang="en-US" altLang="zh-CN" sz="2000" dirty="0">
                <a:solidFill>
                  <a:srgbClr val="FF0000"/>
                </a:solidFill>
              </a:endParaRPr>
            </a:p>
          </p:txBody>
        </p:sp>
        <p:sp>
          <p:nvSpPr>
            <p:cNvPr id="165" name="Text Box 55"/>
            <p:cNvSpPr txBox="1">
              <a:spLocks noChangeArrowheads="1"/>
            </p:cNvSpPr>
            <p:nvPr/>
          </p:nvSpPr>
          <p:spPr bwMode="auto">
            <a:xfrm>
              <a:off x="3550443" y="801022"/>
              <a:ext cx="294580" cy="336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6" name="Oval 56"/>
            <p:cNvSpPr>
              <a:spLocks noChangeArrowheads="1"/>
            </p:cNvSpPr>
            <p:nvPr/>
          </p:nvSpPr>
          <p:spPr bwMode="auto">
            <a:xfrm>
              <a:off x="3559370" y="865502"/>
              <a:ext cx="269288" cy="24831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57"/>
            <p:cNvSpPr>
              <a:spLocks noChangeShapeType="1"/>
            </p:cNvSpPr>
            <p:nvPr/>
          </p:nvSpPr>
          <p:spPr bwMode="auto">
            <a:xfrm>
              <a:off x="1724818" y="1401763"/>
              <a:ext cx="0" cy="3730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Oval 58"/>
            <p:cNvSpPr>
              <a:spLocks noChangeArrowheads="1"/>
            </p:cNvSpPr>
            <p:nvPr/>
          </p:nvSpPr>
          <p:spPr bwMode="auto">
            <a:xfrm>
              <a:off x="4056856" y="1484313"/>
              <a:ext cx="346075" cy="36512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000"/>
            </a:p>
          </p:txBody>
        </p:sp>
        <p:sp>
          <p:nvSpPr>
            <p:cNvPr id="145" name="Line 59"/>
            <p:cNvSpPr>
              <a:spLocks noChangeShapeType="1"/>
            </p:cNvSpPr>
            <p:nvPr/>
          </p:nvSpPr>
          <p:spPr bwMode="auto">
            <a:xfrm>
              <a:off x="4229893" y="1209676"/>
              <a:ext cx="0" cy="895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60"/>
            <p:cNvSpPr>
              <a:spLocks noChangeShapeType="1"/>
            </p:cNvSpPr>
            <p:nvPr/>
          </p:nvSpPr>
          <p:spPr bwMode="auto">
            <a:xfrm>
              <a:off x="4229893" y="2479675"/>
              <a:ext cx="0" cy="180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Oval 61"/>
            <p:cNvSpPr>
              <a:spLocks noChangeArrowheads="1"/>
            </p:cNvSpPr>
            <p:nvPr/>
          </p:nvSpPr>
          <p:spPr bwMode="auto">
            <a:xfrm>
              <a:off x="2775743" y="1014413"/>
              <a:ext cx="347663" cy="36512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000"/>
            </a:p>
          </p:txBody>
        </p:sp>
        <p:sp>
          <p:nvSpPr>
            <p:cNvPr id="148" name="Line 62"/>
            <p:cNvSpPr>
              <a:spLocks noChangeShapeType="1"/>
            </p:cNvSpPr>
            <p:nvPr/>
          </p:nvSpPr>
          <p:spPr bwMode="auto">
            <a:xfrm>
              <a:off x="1129506" y="1219201"/>
              <a:ext cx="10255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63"/>
            <p:cNvSpPr>
              <a:spLocks noChangeShapeType="1"/>
            </p:cNvSpPr>
            <p:nvPr/>
          </p:nvSpPr>
          <p:spPr bwMode="auto">
            <a:xfrm>
              <a:off x="2516981" y="1201738"/>
              <a:ext cx="17192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64"/>
            <p:cNvSpPr>
              <a:spLocks noChangeShapeType="1"/>
            </p:cNvSpPr>
            <p:nvPr/>
          </p:nvSpPr>
          <p:spPr bwMode="auto">
            <a:xfrm flipV="1">
              <a:off x="1823243" y="638176"/>
              <a:ext cx="0" cy="5810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65"/>
            <p:cNvSpPr>
              <a:spLocks noChangeShapeType="1"/>
            </p:cNvSpPr>
            <p:nvPr/>
          </p:nvSpPr>
          <p:spPr bwMode="auto">
            <a:xfrm>
              <a:off x="1829593" y="638176"/>
              <a:ext cx="6302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66"/>
            <p:cNvSpPr>
              <a:spLocks noChangeShapeType="1"/>
            </p:cNvSpPr>
            <p:nvPr/>
          </p:nvSpPr>
          <p:spPr bwMode="auto">
            <a:xfrm>
              <a:off x="2848768" y="638176"/>
              <a:ext cx="649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67"/>
            <p:cNvSpPr>
              <a:spLocks noChangeShapeType="1"/>
            </p:cNvSpPr>
            <p:nvPr/>
          </p:nvSpPr>
          <p:spPr bwMode="auto">
            <a:xfrm>
              <a:off x="3494881" y="638176"/>
              <a:ext cx="0" cy="6127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68"/>
            <p:cNvSpPr>
              <a:spLocks noChangeShapeType="1"/>
            </p:cNvSpPr>
            <p:nvPr/>
          </p:nvSpPr>
          <p:spPr bwMode="auto">
            <a:xfrm>
              <a:off x="1897856" y="1336676"/>
              <a:ext cx="422275" cy="63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69"/>
            <p:cNvSpPr>
              <a:spLocks noChangeShapeType="1"/>
            </p:cNvSpPr>
            <p:nvPr/>
          </p:nvSpPr>
          <p:spPr bwMode="auto">
            <a:xfrm>
              <a:off x="1901031" y="554038"/>
              <a:ext cx="4540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Line 70"/>
            <p:cNvSpPr>
              <a:spLocks noChangeShapeType="1"/>
            </p:cNvSpPr>
            <p:nvPr/>
          </p:nvSpPr>
          <p:spPr bwMode="auto">
            <a:xfrm>
              <a:off x="3607593" y="1255713"/>
              <a:ext cx="455613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71"/>
            <p:cNvSpPr>
              <a:spLocks noChangeShapeType="1"/>
            </p:cNvSpPr>
            <p:nvPr/>
          </p:nvSpPr>
          <p:spPr bwMode="auto">
            <a:xfrm flipH="1">
              <a:off x="3296443" y="1819275"/>
              <a:ext cx="11113" cy="4254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Text Box 72"/>
            <p:cNvSpPr txBox="1">
              <a:spLocks noChangeArrowheads="1"/>
            </p:cNvSpPr>
            <p:nvPr/>
          </p:nvSpPr>
          <p:spPr bwMode="auto">
            <a:xfrm>
              <a:off x="2469356" y="1257301"/>
              <a:ext cx="8366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+      </a:t>
              </a:r>
              <a:r>
                <a:rPr lang="en-US" altLang="zh-CN" sz="2000" b="0">
                  <a:latin typeface="黑体" pitchFamily="49" charset="-122"/>
                  <a:ea typeface="黑体" pitchFamily="49" charset="-122"/>
                </a:rPr>
                <a:t>-</a:t>
              </a:r>
            </a:p>
          </p:txBody>
        </p:sp>
        <p:sp>
          <p:nvSpPr>
            <p:cNvPr id="159" name="Text Box 73"/>
            <p:cNvSpPr txBox="1">
              <a:spLocks noChangeArrowheads="1"/>
            </p:cNvSpPr>
            <p:nvPr/>
          </p:nvSpPr>
          <p:spPr bwMode="auto">
            <a:xfrm>
              <a:off x="2724943" y="1303338"/>
              <a:ext cx="47783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v</a:t>
              </a:r>
              <a:r>
                <a:rPr lang="en-US" altLang="zh-CN" sz="2000" i="1" baseline="-25000" dirty="0"/>
                <a:t>S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160" name="Text Box 74"/>
            <p:cNvSpPr txBox="1">
              <a:spLocks noChangeArrowheads="1"/>
            </p:cNvSpPr>
            <p:nvPr/>
          </p:nvSpPr>
          <p:spPr bwMode="auto">
            <a:xfrm>
              <a:off x="4323556" y="1100138"/>
              <a:ext cx="328613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/>
                <a:t>+</a:t>
              </a:r>
            </a:p>
            <a:p>
              <a:pPr algn="l"/>
              <a:endParaRPr lang="en-US" altLang="zh-CN" sz="2000"/>
            </a:p>
            <a:p>
              <a:pPr algn="l"/>
              <a:r>
                <a:rPr lang="en-US" altLang="zh-CN" sz="2000" b="0">
                  <a:latin typeface="黑体" pitchFamily="49" charset="-122"/>
                  <a:ea typeface="黑体" pitchFamily="49" charset="-122"/>
                </a:rPr>
                <a:t>-</a:t>
              </a:r>
            </a:p>
          </p:txBody>
        </p:sp>
        <p:sp>
          <p:nvSpPr>
            <p:cNvPr id="161" name="Text Box 75"/>
            <p:cNvSpPr txBox="1">
              <a:spLocks noChangeArrowheads="1"/>
            </p:cNvSpPr>
            <p:nvPr/>
          </p:nvSpPr>
          <p:spPr bwMode="auto">
            <a:xfrm>
              <a:off x="4396581" y="1417638"/>
              <a:ext cx="47783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v</a:t>
              </a:r>
              <a:r>
                <a:rPr lang="en-US" altLang="zh-CN" sz="2000" i="1" baseline="-25000" dirty="0"/>
                <a:t>S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162" name="Line 76"/>
            <p:cNvSpPr>
              <a:spLocks noChangeShapeType="1"/>
            </p:cNvSpPr>
            <p:nvPr/>
          </p:nvSpPr>
          <p:spPr bwMode="auto">
            <a:xfrm>
              <a:off x="929481" y="2065338"/>
              <a:ext cx="341313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右箭头 2"/>
          <p:cNvSpPr/>
          <p:nvPr/>
        </p:nvSpPr>
        <p:spPr bwMode="auto">
          <a:xfrm>
            <a:off x="5076497" y="1581150"/>
            <a:ext cx="446416" cy="257176"/>
          </a:xfrm>
          <a:prstGeom prst="rightArrow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180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584047"/>
              </p:ext>
            </p:extLst>
          </p:nvPr>
        </p:nvGraphicFramePr>
        <p:xfrm>
          <a:off x="5759450" y="387350"/>
          <a:ext cx="1828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00" name="Equation" r:id="rId9" imgW="901440" imgH="203040" progId="Equation.DSMT4">
                  <p:embed/>
                </p:oleObj>
              </mc:Choice>
              <mc:Fallback>
                <p:oleObj name="Equation" r:id="rId9" imgW="901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387350"/>
                        <a:ext cx="18288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584013" y="873558"/>
            <a:ext cx="1975663" cy="1888673"/>
            <a:chOff x="5584013" y="873558"/>
            <a:chExt cx="1975663" cy="1888673"/>
          </a:xfrm>
        </p:grpSpPr>
        <p:grpSp>
          <p:nvGrpSpPr>
            <p:cNvPr id="6" name="组合 5"/>
            <p:cNvGrpSpPr/>
            <p:nvPr/>
          </p:nvGrpSpPr>
          <p:grpSpPr>
            <a:xfrm>
              <a:off x="5680075" y="876477"/>
              <a:ext cx="1879601" cy="1885754"/>
              <a:chOff x="5680075" y="876477"/>
              <a:chExt cx="1879601" cy="1885754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5680075" y="1276330"/>
                <a:ext cx="1879601" cy="1485901"/>
                <a:chOff x="5680075" y="1276330"/>
                <a:chExt cx="1879601" cy="1485901"/>
              </a:xfrm>
            </p:grpSpPr>
            <p:grpSp>
              <p:nvGrpSpPr>
                <p:cNvPr id="313372" name="Group 28"/>
                <p:cNvGrpSpPr>
                  <a:grpSpLocks/>
                </p:cNvGrpSpPr>
                <p:nvPr/>
              </p:nvGrpSpPr>
              <p:grpSpPr bwMode="auto">
                <a:xfrm>
                  <a:off x="6332538" y="1752580"/>
                  <a:ext cx="392113" cy="381000"/>
                  <a:chOff x="3713" y="888"/>
                  <a:chExt cx="247" cy="240"/>
                </a:xfrm>
              </p:grpSpPr>
              <p:sp>
                <p:nvSpPr>
                  <p:cNvPr id="313373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3713" y="888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3374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3720" y="1008"/>
                    <a:ext cx="240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3375" name="Rectangle 31"/>
                <p:cNvSpPr>
                  <a:spLocks noChangeArrowheads="1"/>
                </p:cNvSpPr>
                <p:nvPr/>
              </p:nvSpPr>
              <p:spPr bwMode="auto">
                <a:xfrm>
                  <a:off x="6999288" y="1762105"/>
                  <a:ext cx="133350" cy="400050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76" name="Line 32"/>
                <p:cNvSpPr>
                  <a:spLocks noChangeShapeType="1"/>
                </p:cNvSpPr>
                <p:nvPr/>
              </p:nvSpPr>
              <p:spPr bwMode="auto">
                <a:xfrm>
                  <a:off x="6115050" y="1287216"/>
                  <a:ext cx="38100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77" name="Line 33"/>
                <p:cNvSpPr>
                  <a:spLocks noChangeShapeType="1"/>
                </p:cNvSpPr>
                <p:nvPr/>
              </p:nvSpPr>
              <p:spPr bwMode="auto">
                <a:xfrm>
                  <a:off x="6515100" y="1295380"/>
                  <a:ext cx="0" cy="47625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oval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78" name="Line 34"/>
                <p:cNvSpPr>
                  <a:spLocks noChangeShapeType="1"/>
                </p:cNvSpPr>
                <p:nvPr/>
              </p:nvSpPr>
              <p:spPr bwMode="auto">
                <a:xfrm>
                  <a:off x="6534150" y="2141518"/>
                  <a:ext cx="0" cy="60960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oval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79" name="Line 35"/>
                <p:cNvSpPr>
                  <a:spLocks noChangeShapeType="1"/>
                </p:cNvSpPr>
                <p:nvPr/>
              </p:nvSpPr>
              <p:spPr bwMode="auto">
                <a:xfrm>
                  <a:off x="6167438" y="2762230"/>
                  <a:ext cx="91440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80" name="Line 36"/>
                <p:cNvSpPr>
                  <a:spLocks noChangeShapeType="1"/>
                </p:cNvSpPr>
                <p:nvPr/>
              </p:nvSpPr>
              <p:spPr bwMode="auto">
                <a:xfrm>
                  <a:off x="6408964" y="1287216"/>
                  <a:ext cx="64770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81" name="Line 37"/>
                <p:cNvSpPr>
                  <a:spLocks noChangeShapeType="1"/>
                </p:cNvSpPr>
                <p:nvPr/>
              </p:nvSpPr>
              <p:spPr bwMode="auto">
                <a:xfrm>
                  <a:off x="7067550" y="1276330"/>
                  <a:ext cx="0" cy="47625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82" name="Line 38"/>
                <p:cNvSpPr>
                  <a:spLocks noChangeShapeType="1"/>
                </p:cNvSpPr>
                <p:nvPr/>
              </p:nvSpPr>
              <p:spPr bwMode="auto">
                <a:xfrm>
                  <a:off x="7067550" y="2173268"/>
                  <a:ext cx="0" cy="588963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83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6515100" y="1466830"/>
                  <a:ext cx="0" cy="20002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84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104063" y="1733530"/>
                  <a:ext cx="455613" cy="400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CN" sz="2000" i="1" dirty="0"/>
                    <a:t>G</a:t>
                  </a:r>
                  <a:r>
                    <a:rPr lang="en-US" altLang="zh-CN" sz="2000" baseline="-25000" dirty="0"/>
                    <a:t>5</a:t>
                  </a:r>
                  <a:endParaRPr lang="en-US" altLang="zh-CN" sz="2000" dirty="0"/>
                </a:p>
              </p:txBody>
            </p:sp>
            <p:sp>
              <p:nvSpPr>
                <p:cNvPr id="313385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5680075" y="1877993"/>
                  <a:ext cx="749300" cy="400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CN" sz="2000" i="1" dirty="0"/>
                    <a:t>G</a:t>
                  </a:r>
                  <a:r>
                    <a:rPr lang="en-US" altLang="zh-CN" sz="2000" baseline="-25000" dirty="0"/>
                    <a:t>5</a:t>
                  </a:r>
                  <a:r>
                    <a:rPr lang="en-US" altLang="zh-CN" sz="2000" i="1" dirty="0"/>
                    <a:t>v</a:t>
                  </a:r>
                  <a:r>
                    <a:rPr lang="en-US" altLang="zh-CN" sz="2000" i="1" baseline="-25000" dirty="0"/>
                    <a:t>S</a:t>
                  </a:r>
                  <a:r>
                    <a:rPr lang="en-US" altLang="zh-CN" sz="2000" baseline="-25000" dirty="0"/>
                    <a:t>1</a:t>
                  </a:r>
                  <a:endParaRPr lang="en-US" altLang="zh-CN" sz="2000" dirty="0"/>
                </a:p>
              </p:txBody>
            </p:sp>
          </p:grpSp>
          <p:sp>
            <p:nvSpPr>
              <p:cNvPr id="182" name="Text Box 55"/>
              <p:cNvSpPr txBox="1">
                <a:spLocks noChangeArrowheads="1"/>
              </p:cNvSpPr>
              <p:nvPr/>
            </p:nvSpPr>
            <p:spPr bwMode="auto">
              <a:xfrm>
                <a:off x="6203154" y="932726"/>
                <a:ext cx="294580" cy="3361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1600" dirty="0">
                    <a:solidFill>
                      <a:srgbClr val="FF0000"/>
                    </a:solidFill>
                  </a:rPr>
                  <a:t>2</a:t>
                </a:r>
              </a:p>
            </p:txBody>
          </p:sp>
          <p:sp>
            <p:nvSpPr>
              <p:cNvPr id="183" name="Oval 56"/>
              <p:cNvSpPr>
                <a:spLocks noChangeArrowheads="1"/>
              </p:cNvSpPr>
              <p:nvPr/>
            </p:nvSpPr>
            <p:spPr bwMode="auto">
              <a:xfrm>
                <a:off x="6212080" y="980743"/>
                <a:ext cx="269288" cy="24831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" name="Text Box 53"/>
              <p:cNvSpPr txBox="1">
                <a:spLocks noChangeArrowheads="1"/>
              </p:cNvSpPr>
              <p:nvPr/>
            </p:nvSpPr>
            <p:spPr bwMode="auto">
              <a:xfrm>
                <a:off x="6467979" y="876477"/>
                <a:ext cx="61147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000" i="1" dirty="0" smtClean="0">
                    <a:solidFill>
                      <a:srgbClr val="FF0000"/>
                    </a:solidFill>
                  </a:rPr>
                  <a:t>v</a:t>
                </a:r>
                <a:r>
                  <a:rPr lang="en-US" altLang="zh-CN" sz="2000" baseline="-25000" dirty="0" smtClean="0">
                    <a:solidFill>
                      <a:srgbClr val="FF0000"/>
                    </a:solidFill>
                  </a:rPr>
                  <a:t>2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84" name="Line 70"/>
            <p:cNvSpPr>
              <a:spLocks noChangeShapeType="1"/>
            </p:cNvSpPr>
            <p:nvPr/>
          </p:nvSpPr>
          <p:spPr bwMode="auto">
            <a:xfrm>
              <a:off x="5584013" y="1280309"/>
              <a:ext cx="455613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Text Box 27"/>
            <p:cNvSpPr txBox="1">
              <a:spLocks noChangeArrowheads="1"/>
            </p:cNvSpPr>
            <p:nvPr/>
          </p:nvSpPr>
          <p:spPr bwMode="auto">
            <a:xfrm>
              <a:off x="5595784" y="873558"/>
              <a:ext cx="3365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i="1" dirty="0"/>
                <a:t>i</a:t>
              </a:r>
              <a:r>
                <a:rPr lang="en-US" altLang="zh-CN" sz="2000" baseline="-25000" dirty="0"/>
                <a:t>5</a:t>
              </a:r>
              <a:endParaRPr lang="en-US" altLang="zh-CN" sz="2000" dirty="0"/>
            </a:p>
          </p:txBody>
        </p:sp>
      </p:grpSp>
      <p:sp>
        <p:nvSpPr>
          <p:cNvPr id="186" name="AutoShape 5"/>
          <p:cNvSpPr>
            <a:spLocks/>
          </p:cNvSpPr>
          <p:nvPr/>
        </p:nvSpPr>
        <p:spPr bwMode="auto">
          <a:xfrm>
            <a:off x="1017815" y="3970566"/>
            <a:ext cx="133350" cy="990600"/>
          </a:xfrm>
          <a:prstGeom prst="leftBrace">
            <a:avLst>
              <a:gd name="adj1" fmla="val 6190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073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1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1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1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1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1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1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1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400"/>
                                        <p:tgtEl>
                                          <p:spTgt spid="31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1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2" grpId="0" animBg="1"/>
      <p:bldP spid="313387" grpId="0"/>
      <p:bldP spid="313388" grpId="0"/>
      <p:bldP spid="3" grpId="0" animBg="1"/>
      <p:bldP spid="18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370" name="Group 2"/>
          <p:cNvGrpSpPr>
            <a:grpSpLocks/>
          </p:cNvGrpSpPr>
          <p:nvPr/>
        </p:nvGrpSpPr>
        <p:grpSpPr bwMode="auto">
          <a:xfrm>
            <a:off x="1123950" y="495300"/>
            <a:ext cx="3143250" cy="1162050"/>
            <a:chOff x="708" y="312"/>
            <a:chExt cx="1980" cy="732"/>
          </a:xfrm>
        </p:grpSpPr>
        <p:sp>
          <p:nvSpPr>
            <p:cNvPr id="314371" name="Text Box 3"/>
            <p:cNvSpPr txBox="1">
              <a:spLocks noChangeArrowheads="1"/>
            </p:cNvSpPr>
            <p:nvPr/>
          </p:nvSpPr>
          <p:spPr bwMode="auto">
            <a:xfrm>
              <a:off x="816" y="312"/>
              <a:ext cx="18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 smtClean="0"/>
                <a:t>G</a:t>
              </a:r>
              <a:r>
                <a:rPr lang="en-US" altLang="zh-CN" baseline="-25000" dirty="0" smtClean="0"/>
                <a:t>11</a:t>
              </a:r>
              <a:r>
                <a:rPr lang="en-US" altLang="zh-CN" i="1" dirty="0" smtClean="0"/>
                <a:t>v</a:t>
              </a:r>
              <a:r>
                <a:rPr lang="en-US" altLang="zh-CN" baseline="-25000" dirty="0" smtClean="0"/>
                <a:t>1</a:t>
              </a:r>
              <a:r>
                <a:rPr lang="en-US" altLang="zh-CN" dirty="0" smtClean="0"/>
                <a:t>+</a:t>
              </a:r>
              <a:r>
                <a:rPr lang="en-US" altLang="zh-CN" i="1" dirty="0" smtClean="0"/>
                <a:t>G</a:t>
              </a:r>
              <a:r>
                <a:rPr lang="en-US" altLang="zh-CN" baseline="-25000" dirty="0" smtClean="0"/>
                <a:t>12</a:t>
              </a:r>
              <a:r>
                <a:rPr lang="en-US" altLang="zh-CN" i="1" dirty="0" smtClean="0"/>
                <a:t>v</a:t>
              </a:r>
              <a:r>
                <a:rPr lang="en-US" altLang="zh-CN" baseline="-25000" dirty="0" smtClean="0"/>
                <a:t>2</a:t>
              </a:r>
              <a:r>
                <a:rPr lang="en-US" altLang="zh-CN" dirty="0" smtClean="0"/>
                <a:t> </a:t>
              </a:r>
              <a:r>
                <a:rPr lang="en-US" altLang="zh-CN" dirty="0"/>
                <a:t>= </a:t>
              </a:r>
              <a:r>
                <a:rPr lang="en-US" altLang="zh-CN" i="1" dirty="0" smtClean="0"/>
                <a:t>i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1</a:t>
              </a:r>
              <a:endParaRPr lang="en-US" altLang="zh-CN" dirty="0"/>
            </a:p>
          </p:txBody>
        </p:sp>
        <p:sp>
          <p:nvSpPr>
            <p:cNvPr id="314372" name="Text Box 4"/>
            <p:cNvSpPr txBox="1">
              <a:spLocks noChangeArrowheads="1"/>
            </p:cNvSpPr>
            <p:nvPr/>
          </p:nvSpPr>
          <p:spPr bwMode="auto">
            <a:xfrm>
              <a:off x="816" y="756"/>
              <a:ext cx="18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 smtClean="0"/>
                <a:t>G</a:t>
              </a:r>
              <a:r>
                <a:rPr lang="en-US" altLang="zh-CN" baseline="-25000" dirty="0" smtClean="0"/>
                <a:t>21</a:t>
              </a:r>
              <a:r>
                <a:rPr lang="en-US" altLang="zh-CN" i="1" dirty="0" smtClean="0"/>
                <a:t>v</a:t>
              </a:r>
              <a:r>
                <a:rPr lang="en-US" altLang="zh-CN" baseline="-25000" dirty="0" smtClean="0"/>
                <a:t>1</a:t>
              </a:r>
              <a:r>
                <a:rPr lang="en-US" altLang="zh-CN" dirty="0" smtClean="0"/>
                <a:t>+</a:t>
              </a:r>
              <a:r>
                <a:rPr lang="en-US" altLang="zh-CN" i="1" dirty="0" smtClean="0"/>
                <a:t>G</a:t>
              </a:r>
              <a:r>
                <a:rPr lang="en-US" altLang="zh-CN" baseline="-25000" dirty="0" smtClean="0"/>
                <a:t>22</a:t>
              </a:r>
              <a:r>
                <a:rPr lang="en-US" altLang="zh-CN" i="1" dirty="0" smtClean="0"/>
                <a:t>v</a:t>
              </a:r>
              <a:r>
                <a:rPr lang="en-US" altLang="zh-CN" baseline="-25000" dirty="0" smtClean="0"/>
                <a:t>2</a:t>
              </a:r>
              <a:r>
                <a:rPr lang="en-US" altLang="zh-CN" dirty="0" smtClean="0"/>
                <a:t> </a:t>
              </a:r>
              <a:r>
                <a:rPr lang="en-US" altLang="zh-CN" dirty="0"/>
                <a:t>= </a:t>
              </a:r>
              <a:r>
                <a:rPr lang="en-US" altLang="zh-CN" i="1" dirty="0" smtClean="0"/>
                <a:t>i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2</a:t>
              </a:r>
              <a:endParaRPr lang="en-US" altLang="zh-CN" dirty="0"/>
            </a:p>
          </p:txBody>
        </p:sp>
        <p:sp>
          <p:nvSpPr>
            <p:cNvPr id="314373" name="AutoShape 5"/>
            <p:cNvSpPr>
              <a:spLocks/>
            </p:cNvSpPr>
            <p:nvPr/>
          </p:nvSpPr>
          <p:spPr bwMode="auto">
            <a:xfrm>
              <a:off x="708" y="408"/>
              <a:ext cx="84" cy="624"/>
            </a:xfrm>
            <a:prstGeom prst="leftBrace">
              <a:avLst>
                <a:gd name="adj1" fmla="val 6190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4374" name="Group 6"/>
          <p:cNvGrpSpPr>
            <a:grpSpLocks/>
          </p:cNvGrpSpPr>
          <p:nvPr/>
        </p:nvGrpSpPr>
        <p:grpSpPr bwMode="auto">
          <a:xfrm>
            <a:off x="381000" y="2095499"/>
            <a:ext cx="8542338" cy="2949575"/>
            <a:chOff x="386" y="1370"/>
            <a:chExt cx="5381" cy="1858"/>
          </a:xfrm>
        </p:grpSpPr>
        <p:sp>
          <p:nvSpPr>
            <p:cNvPr id="314375" name="Text Box 7"/>
            <p:cNvSpPr txBox="1">
              <a:spLocks noChangeArrowheads="1"/>
            </p:cNvSpPr>
            <p:nvPr/>
          </p:nvSpPr>
          <p:spPr bwMode="auto">
            <a:xfrm>
              <a:off x="386" y="1370"/>
              <a:ext cx="31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 smtClean="0"/>
                <a:t>(c) </a:t>
              </a:r>
              <a:r>
                <a:rPr kumimoji="0" lang="zh-CN" altLang="en-US" dirty="0" smtClean="0">
                  <a:ea typeface="楷体_GB2312" pitchFamily="49" charset="-122"/>
                </a:rPr>
                <a:t>推广</a:t>
              </a:r>
              <a:r>
                <a:rPr kumimoji="0" lang="zh-CN" altLang="en-US" dirty="0">
                  <a:ea typeface="楷体_GB2312" pitchFamily="49" charset="-122"/>
                </a:rPr>
                <a:t>到 </a:t>
              </a:r>
              <a:r>
                <a:rPr kumimoji="0" lang="en-US" altLang="zh-CN" i="1" dirty="0" smtClean="0">
                  <a:ea typeface="楷体_GB2312" pitchFamily="49" charset="-122"/>
                </a:rPr>
                <a:t>n</a:t>
              </a:r>
              <a:r>
                <a:rPr kumimoji="0" lang="en-US" altLang="zh-CN" dirty="0" smtClean="0">
                  <a:ea typeface="楷体_GB2312" pitchFamily="49" charset="-122"/>
                </a:rPr>
                <a:t> </a:t>
              </a:r>
              <a:r>
                <a:rPr kumimoji="0" lang="zh-CN" altLang="en-US" dirty="0" smtClean="0">
                  <a:ea typeface="楷体_GB2312" pitchFamily="49" charset="-122"/>
                </a:rPr>
                <a:t>个独立节点的</a:t>
              </a:r>
              <a:r>
                <a:rPr lang="zh-CN" altLang="en-US" dirty="0"/>
                <a:t>节点方程</a:t>
              </a:r>
            </a:p>
          </p:txBody>
        </p:sp>
        <p:graphicFrame>
          <p:nvGraphicFramePr>
            <p:cNvPr id="31437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5190923"/>
                </p:ext>
              </p:extLst>
            </p:nvPr>
          </p:nvGraphicFramePr>
          <p:xfrm>
            <a:off x="722" y="1777"/>
            <a:ext cx="2308" cy="10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070" name="Equation" r:id="rId3" imgW="1841400" imgH="825480" progId="Equation.DSMT4">
                    <p:embed/>
                  </p:oleObj>
                </mc:Choice>
                <mc:Fallback>
                  <p:oleObj name="Equation" r:id="rId3" imgW="1841400" imgH="825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" y="1777"/>
                          <a:ext cx="2308" cy="10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4377" name="Text Box 9"/>
            <p:cNvSpPr txBox="1">
              <a:spLocks noChangeArrowheads="1"/>
            </p:cNvSpPr>
            <p:nvPr/>
          </p:nvSpPr>
          <p:spPr bwMode="auto">
            <a:xfrm>
              <a:off x="3395" y="1799"/>
              <a:ext cx="11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dirty="0" err="1"/>
                <a:t>G</a:t>
              </a:r>
              <a:r>
                <a:rPr lang="en-US" altLang="zh-CN" i="1" baseline="-25000" dirty="0" err="1"/>
                <a:t>jj</a:t>
              </a:r>
              <a:r>
                <a:rPr lang="en-US" altLang="zh-CN" baseline="-25000" dirty="0"/>
                <a:t> </a:t>
              </a:r>
              <a:r>
                <a:rPr lang="zh-CN" altLang="en-US" baseline="-25000" dirty="0"/>
                <a:t>：</a:t>
              </a:r>
              <a:r>
                <a:rPr lang="zh-CN" altLang="en-US" dirty="0"/>
                <a:t>自电导</a:t>
              </a:r>
            </a:p>
          </p:txBody>
        </p:sp>
        <p:sp>
          <p:nvSpPr>
            <p:cNvPr id="314378" name="Rectangle 10"/>
            <p:cNvSpPr>
              <a:spLocks noChangeArrowheads="1"/>
            </p:cNvSpPr>
            <p:nvPr/>
          </p:nvSpPr>
          <p:spPr bwMode="auto">
            <a:xfrm>
              <a:off x="3395" y="2247"/>
              <a:ext cx="237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dirty="0" err="1"/>
                <a:t>G</a:t>
              </a:r>
              <a:r>
                <a:rPr lang="en-US" altLang="zh-CN" i="1" baseline="-25000" dirty="0" err="1"/>
                <a:t>ij</a:t>
              </a:r>
              <a:r>
                <a:rPr lang="en-US" altLang="zh-CN" baseline="-25000" dirty="0"/>
                <a:t> </a:t>
              </a:r>
              <a:r>
                <a:rPr lang="zh-CN" altLang="en-US" baseline="-25000" dirty="0"/>
                <a:t>： </a:t>
              </a:r>
              <a:r>
                <a:rPr lang="en-US" altLang="zh-CN" dirty="0"/>
                <a:t>(</a:t>
              </a:r>
              <a:r>
                <a:rPr lang="en-US" altLang="zh-CN" b="0" i="1" dirty="0" err="1"/>
                <a:t>i</a:t>
              </a:r>
              <a:r>
                <a:rPr lang="en-US" altLang="zh-CN" b="0" i="1" dirty="0"/>
                <a:t> </a:t>
              </a:r>
              <a:r>
                <a:rPr lang="en-US" altLang="zh-CN" dirty="0">
                  <a:sym typeface="Symbol" panose="05050102010706020507" pitchFamily="18" charset="2"/>
                </a:rPr>
                <a:t> </a:t>
              </a:r>
              <a:r>
                <a:rPr lang="en-US" altLang="zh-CN" b="0" i="1" dirty="0">
                  <a:sym typeface="Symbol" panose="05050102010706020507" pitchFamily="18" charset="2"/>
                </a:rPr>
                <a:t>j</a:t>
              </a:r>
              <a:r>
                <a:rPr lang="en-US" altLang="zh-CN" b="0" dirty="0">
                  <a:sym typeface="Symbol" panose="05050102010706020507" pitchFamily="18" charset="2"/>
                </a:rPr>
                <a:t>)</a:t>
              </a:r>
              <a:r>
                <a:rPr lang="zh-CN" altLang="en-US" dirty="0" smtClean="0"/>
                <a:t>互电导</a:t>
              </a:r>
              <a:r>
                <a:rPr lang="zh-CN" altLang="en-US" dirty="0"/>
                <a:t>，恒为负</a:t>
              </a:r>
            </a:p>
          </p:txBody>
        </p:sp>
        <p:sp>
          <p:nvSpPr>
            <p:cNvPr id="314379" name="Text Box 11"/>
            <p:cNvSpPr txBox="1">
              <a:spLocks noChangeArrowheads="1"/>
            </p:cNvSpPr>
            <p:nvPr/>
          </p:nvSpPr>
          <p:spPr bwMode="auto">
            <a:xfrm>
              <a:off x="641" y="2937"/>
              <a:ext cx="50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i="1" dirty="0" err="1" smtClean="0"/>
                <a:t>i</a:t>
              </a:r>
              <a:r>
                <a:rPr lang="en-US" altLang="zh-CN" i="1" baseline="-25000" dirty="0" err="1" smtClean="0"/>
                <a:t>Si</a:t>
              </a:r>
              <a:r>
                <a:rPr lang="en-US" altLang="zh-CN" i="1" baseline="-25000" dirty="0" smtClean="0"/>
                <a:t>  </a:t>
              </a:r>
              <a:r>
                <a:rPr lang="zh-CN" altLang="en-US" i="1" baseline="-25000" dirty="0"/>
                <a:t>：</a:t>
              </a:r>
              <a:r>
                <a:rPr lang="zh-CN" altLang="en-US" dirty="0"/>
                <a:t>流入</a:t>
              </a:r>
              <a:r>
                <a:rPr lang="zh-CN" altLang="en-US" dirty="0" smtClean="0"/>
                <a:t>第 </a:t>
              </a:r>
              <a:r>
                <a:rPr lang="en-US" altLang="zh-CN" i="1" dirty="0" err="1" smtClean="0"/>
                <a:t>i</a:t>
              </a:r>
              <a:r>
                <a:rPr lang="en-US" altLang="zh-CN" i="1" dirty="0" smtClean="0"/>
                <a:t> </a:t>
              </a:r>
              <a:r>
                <a:rPr lang="zh-CN" altLang="en-US" dirty="0" smtClean="0"/>
                <a:t>个</a:t>
              </a:r>
              <a:r>
                <a:rPr lang="zh-CN" altLang="en-US" dirty="0"/>
                <a:t>节点</a:t>
              </a:r>
              <a:r>
                <a:rPr lang="zh-CN" altLang="en-US" dirty="0" smtClean="0"/>
                <a:t>电流源</a:t>
              </a:r>
              <a:r>
                <a:rPr lang="en-US" altLang="zh-CN" dirty="0" smtClean="0"/>
                <a:t>(</a:t>
              </a:r>
              <a:r>
                <a:rPr lang="zh-CN" altLang="en-US" dirty="0" smtClean="0"/>
                <a:t>包括</a:t>
              </a:r>
              <a:r>
                <a:rPr lang="zh-CN" altLang="en-US" dirty="0"/>
                <a:t>等效</a:t>
              </a:r>
              <a:r>
                <a:rPr lang="zh-CN" altLang="en-US" dirty="0" smtClean="0"/>
                <a:t>电流源</a:t>
              </a:r>
              <a:r>
                <a:rPr lang="en-US" altLang="zh-CN" dirty="0" smtClean="0"/>
                <a:t>)</a:t>
              </a:r>
              <a:r>
                <a:rPr lang="zh-CN" altLang="en-US" dirty="0" smtClean="0"/>
                <a:t>电流</a:t>
              </a:r>
              <a:r>
                <a:rPr lang="zh-CN" altLang="en-US" dirty="0"/>
                <a:t>的</a:t>
              </a:r>
              <a:r>
                <a:rPr lang="zh-CN" altLang="en-US" dirty="0" smtClean="0"/>
                <a:t>代数和</a:t>
              </a:r>
              <a:r>
                <a:rPr lang="zh-CN" altLang="en-US" dirty="0"/>
                <a:t>。</a:t>
              </a:r>
            </a:p>
          </p:txBody>
        </p:sp>
      </p:grpSp>
      <p:sp>
        <p:nvSpPr>
          <p:cNvPr id="314380" name="Text Box 12"/>
          <p:cNvSpPr txBox="1">
            <a:spLocks noChangeArrowheads="1"/>
          </p:cNvSpPr>
          <p:nvPr/>
        </p:nvSpPr>
        <p:spPr bwMode="auto">
          <a:xfrm>
            <a:off x="914400" y="5715000"/>
            <a:ext cx="6523038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66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/>
            <a:r>
              <a:rPr lang="en-US" altLang="zh-CN"/>
              <a:t> * </a:t>
            </a:r>
            <a:r>
              <a:rPr lang="zh-CN" altLang="en-US"/>
              <a:t>当电路中无受控源时，系数矩阵对称。</a:t>
            </a:r>
          </a:p>
        </p:txBody>
      </p:sp>
    </p:spTree>
    <p:extLst>
      <p:ext uri="{BB962C8B-B14F-4D97-AF65-F5344CB8AC3E}">
        <p14:creationId xmlns:p14="http://schemas.microsoft.com/office/powerpoint/2010/main" val="4447844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80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Text Box 2"/>
          <p:cNvSpPr txBox="1">
            <a:spLocks noChangeArrowheads="1"/>
          </p:cNvSpPr>
          <p:nvPr/>
        </p:nvSpPr>
        <p:spPr bwMode="auto">
          <a:xfrm>
            <a:off x="501650" y="803275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 smtClean="0">
                <a:solidFill>
                  <a:srgbClr val="FF0000"/>
                </a:solidFill>
                <a:ea typeface="楷体_GB2312" pitchFamily="49" charset="-122"/>
              </a:rPr>
              <a:t>节点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法解题步骤</a:t>
            </a:r>
          </a:p>
        </p:txBody>
      </p:sp>
      <p:sp>
        <p:nvSpPr>
          <p:cNvPr id="315395" name="Text Box 3"/>
          <p:cNvSpPr txBox="1">
            <a:spLocks noChangeArrowheads="1"/>
          </p:cNvSpPr>
          <p:nvPr/>
        </p:nvSpPr>
        <p:spPr bwMode="auto">
          <a:xfrm>
            <a:off x="1062038" y="1757363"/>
            <a:ext cx="689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选定参考节点，</a:t>
            </a:r>
            <a:r>
              <a:rPr lang="zh-CN" altLang="en-US" dirty="0" smtClean="0"/>
              <a:t>标定独立</a:t>
            </a:r>
            <a:r>
              <a:rPr lang="zh-CN" altLang="en-US" dirty="0"/>
              <a:t>节点；</a:t>
            </a:r>
          </a:p>
        </p:txBody>
      </p:sp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1062038" y="2315400"/>
            <a:ext cx="65341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66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zh-CN" altLang="en-US" dirty="0" smtClean="0"/>
              <a:t>以</a:t>
            </a:r>
            <a:r>
              <a:rPr lang="zh-CN" altLang="en-US" dirty="0"/>
              <a:t>独立节点电压为未知量，列写其</a:t>
            </a:r>
            <a:r>
              <a:rPr lang="en-US" altLang="zh-CN" dirty="0"/>
              <a:t>KCL</a:t>
            </a:r>
            <a:r>
              <a:rPr lang="zh-CN" altLang="zh-CN" dirty="0"/>
              <a:t>方程；</a:t>
            </a:r>
            <a:endParaRPr lang="zh-CN" altLang="en-US" dirty="0"/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1062038" y="2948701"/>
            <a:ext cx="584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(3) </a:t>
            </a:r>
            <a:r>
              <a:rPr lang="zh-CN" altLang="en-US" dirty="0"/>
              <a:t>求解上述方程，得到独立</a:t>
            </a:r>
            <a:r>
              <a:rPr lang="zh-CN" altLang="en-US" dirty="0" smtClean="0"/>
              <a:t>节点</a:t>
            </a:r>
            <a:r>
              <a:rPr lang="zh-CN" altLang="en-US" dirty="0"/>
              <a:t>的</a:t>
            </a:r>
            <a:r>
              <a:rPr lang="zh-CN" altLang="en-US" dirty="0" smtClean="0"/>
              <a:t>电压</a:t>
            </a:r>
            <a:r>
              <a:rPr lang="zh-CN" altLang="en-US" dirty="0"/>
              <a:t>；</a:t>
            </a:r>
          </a:p>
        </p:txBody>
      </p:sp>
      <p:sp>
        <p:nvSpPr>
          <p:cNvPr id="315399" name="Text Box 7"/>
          <p:cNvSpPr txBox="1">
            <a:spLocks noChangeArrowheads="1"/>
          </p:cNvSpPr>
          <p:nvPr/>
        </p:nvSpPr>
        <p:spPr bwMode="auto">
          <a:xfrm>
            <a:off x="1062038" y="3510676"/>
            <a:ext cx="5429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(4) </a:t>
            </a:r>
            <a:r>
              <a:rPr lang="zh-CN" altLang="en-US" dirty="0"/>
              <a:t>求各支路</a:t>
            </a:r>
            <a:r>
              <a:rPr lang="zh-CN" altLang="en-US" dirty="0" smtClean="0"/>
              <a:t>电流（</a:t>
            </a:r>
            <a:r>
              <a:rPr lang="zh-CN" altLang="zh-CN" dirty="0" smtClean="0"/>
              <a:t>用</a:t>
            </a:r>
            <a:r>
              <a:rPr lang="zh-CN" altLang="en-US" dirty="0"/>
              <a:t>节点电压</a:t>
            </a:r>
            <a:r>
              <a:rPr lang="zh-CN" altLang="zh-CN" dirty="0" smtClean="0"/>
              <a:t>表示</a:t>
            </a:r>
            <a:r>
              <a:rPr lang="zh-CN" altLang="en-US" dirty="0" smtClean="0"/>
              <a:t>）。</a:t>
            </a:r>
            <a:endParaRPr lang="zh-CN" altLang="en-US" dirty="0"/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7143750" y="657225"/>
            <a:ext cx="1371600" cy="1090613"/>
            <a:chOff x="96" y="2721"/>
            <a:chExt cx="864" cy="687"/>
          </a:xfrm>
        </p:grpSpPr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96" y="2721"/>
              <a:ext cx="816" cy="687"/>
            </a:xfrm>
            <a:prstGeom prst="irregularSeal1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92" y="2865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ea typeface="楷体_GB2312" pitchFamily="49" charset="-122"/>
                </a:rPr>
                <a:t>归纳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38636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/>
      <p:bldP spid="315395" grpId="0"/>
      <p:bldP spid="315396" grpId="0"/>
      <p:bldP spid="315397" grpId="0"/>
      <p:bldP spid="31539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Text Box 2"/>
          <p:cNvSpPr txBox="1">
            <a:spLocks noChangeArrowheads="1"/>
          </p:cNvSpPr>
          <p:nvPr/>
        </p:nvSpPr>
        <p:spPr bwMode="auto">
          <a:xfrm>
            <a:off x="1520825" y="1763713"/>
            <a:ext cx="65643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若电路中含有电压源支路，则设其支路电流</a:t>
            </a:r>
            <a:r>
              <a:rPr lang="en-US" altLang="zh-CN" i="1" dirty="0" err="1"/>
              <a:t>i</a:t>
            </a:r>
            <a:r>
              <a:rPr lang="zh-CN" altLang="en-US" dirty="0"/>
              <a:t>为未知量，同时增列一个电压源支路电压与相关节点电压的方程。 </a:t>
            </a:r>
          </a:p>
        </p:txBody>
      </p:sp>
      <p:sp>
        <p:nvSpPr>
          <p:cNvPr id="395267" name="Text Box 3"/>
          <p:cNvSpPr txBox="1">
            <a:spLocks noChangeArrowheads="1"/>
          </p:cNvSpPr>
          <p:nvPr/>
        </p:nvSpPr>
        <p:spPr bwMode="auto">
          <a:xfrm>
            <a:off x="1520825" y="3036888"/>
            <a:ext cx="6867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zh-CN" altLang="en-US" dirty="0"/>
              <a:t>若支路为电压源与电阻串联，则可转换为电流源与电阻并联 。</a:t>
            </a:r>
          </a:p>
        </p:txBody>
      </p:sp>
      <p:sp>
        <p:nvSpPr>
          <p:cNvPr id="395269" name="Text Box 5"/>
          <p:cNvSpPr txBox="1">
            <a:spLocks noChangeArrowheads="1"/>
          </p:cNvSpPr>
          <p:nvPr/>
        </p:nvSpPr>
        <p:spPr bwMode="auto">
          <a:xfrm>
            <a:off x="677863" y="819150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FF0000"/>
                </a:solidFill>
              </a:rPr>
              <a:t>节点法的特殊情况</a:t>
            </a:r>
          </a:p>
        </p:txBody>
      </p:sp>
      <p:sp>
        <p:nvSpPr>
          <p:cNvPr id="395271" name="Text Box 7"/>
          <p:cNvSpPr txBox="1">
            <a:spLocks noChangeArrowheads="1"/>
          </p:cNvSpPr>
          <p:nvPr/>
        </p:nvSpPr>
        <p:spPr bwMode="auto">
          <a:xfrm>
            <a:off x="1520825" y="4065588"/>
            <a:ext cx="6564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(3) </a:t>
            </a:r>
            <a:r>
              <a:rPr lang="zh-CN" altLang="en-US" dirty="0"/>
              <a:t>若电路中含有电流源与电阻串联的支路，则在列节点方程时不考虑此电阻。</a:t>
            </a:r>
          </a:p>
        </p:txBody>
      </p:sp>
      <p:sp>
        <p:nvSpPr>
          <p:cNvPr id="395272" name="Text Box 8"/>
          <p:cNvSpPr txBox="1">
            <a:spLocks noChangeArrowheads="1"/>
          </p:cNvSpPr>
          <p:nvPr/>
        </p:nvSpPr>
        <p:spPr bwMode="auto">
          <a:xfrm>
            <a:off x="1520825" y="5035550"/>
            <a:ext cx="6867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dirty="0"/>
              <a:t>(4) </a:t>
            </a:r>
            <a:r>
              <a:rPr lang="zh-CN" altLang="en-US" dirty="0"/>
              <a:t>当电路中含有受控源时，把受控源当作独立源对待，并把控制量用节点电压表示 。 </a:t>
            </a:r>
          </a:p>
        </p:txBody>
      </p:sp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7143750" y="387350"/>
            <a:ext cx="1371600" cy="1090613"/>
            <a:chOff x="96" y="2721"/>
            <a:chExt cx="864" cy="687"/>
          </a:xfrm>
        </p:grpSpPr>
        <p:sp>
          <p:nvSpPr>
            <p:cNvPr id="8" name="AutoShape 9"/>
            <p:cNvSpPr>
              <a:spLocks noChangeArrowheads="1"/>
            </p:cNvSpPr>
            <p:nvPr/>
          </p:nvSpPr>
          <p:spPr bwMode="auto">
            <a:xfrm>
              <a:off x="96" y="2721"/>
              <a:ext cx="816" cy="687"/>
            </a:xfrm>
            <a:prstGeom prst="irregularSeal1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192" y="2865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ea typeface="楷体_GB2312" pitchFamily="49" charset="-122"/>
                </a:rPr>
                <a:t>归纳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12712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9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6" grpId="0"/>
      <p:bldP spid="395267" grpId="0"/>
      <p:bldP spid="395269" grpId="0"/>
      <p:bldP spid="395271" grpId="0"/>
      <p:bldP spid="39527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Text Box 2"/>
          <p:cNvSpPr txBox="1">
            <a:spLocks noChangeArrowheads="1"/>
          </p:cNvSpPr>
          <p:nvPr/>
        </p:nvSpPr>
        <p:spPr bwMode="auto">
          <a:xfrm>
            <a:off x="339725" y="414338"/>
            <a:ext cx="5805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dirty="0" smtClean="0">
                <a:solidFill>
                  <a:srgbClr val="FF0000"/>
                </a:solidFill>
              </a:rPr>
              <a:t>网孔</a:t>
            </a:r>
            <a:r>
              <a:rPr lang="zh-CN" altLang="en-US" sz="2800" dirty="0">
                <a:solidFill>
                  <a:srgbClr val="FF0000"/>
                </a:solidFill>
              </a:rPr>
              <a:t>法和节点法的</a:t>
            </a:r>
            <a:r>
              <a:rPr lang="zh-CN" altLang="en-US" sz="2800" dirty="0" smtClean="0">
                <a:solidFill>
                  <a:srgbClr val="FF0000"/>
                </a:solidFill>
              </a:rPr>
              <a:t>比较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21539" name="Text Box 3"/>
          <p:cNvSpPr txBox="1">
            <a:spLocks noChangeArrowheads="1"/>
          </p:cNvSpPr>
          <p:nvPr/>
        </p:nvSpPr>
        <p:spPr bwMode="auto">
          <a:xfrm>
            <a:off x="612775" y="4003675"/>
            <a:ext cx="75184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71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对于非平面电路，选独立回路不容易，而独立节点较容易找。</a:t>
            </a:r>
          </a:p>
        </p:txBody>
      </p:sp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612775" y="5108575"/>
            <a:ext cx="75692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143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33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524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网孔法、节点法易于编程。</a:t>
            </a:r>
          </a:p>
        </p:txBody>
      </p:sp>
      <p:grpSp>
        <p:nvGrpSpPr>
          <p:cNvPr id="321541" name="Group 5"/>
          <p:cNvGrpSpPr>
            <a:grpSpLocks/>
          </p:cNvGrpSpPr>
          <p:nvPr/>
        </p:nvGrpSpPr>
        <p:grpSpPr bwMode="auto">
          <a:xfrm>
            <a:off x="1314450" y="1562100"/>
            <a:ext cx="6438900" cy="2152650"/>
            <a:chOff x="1152" y="840"/>
            <a:chExt cx="4056" cy="1356"/>
          </a:xfrm>
        </p:grpSpPr>
        <p:sp>
          <p:nvSpPr>
            <p:cNvPr id="321542" name="Text Box 6"/>
            <p:cNvSpPr txBox="1">
              <a:spLocks noChangeArrowheads="1"/>
            </p:cNvSpPr>
            <p:nvPr/>
          </p:nvSpPr>
          <p:spPr bwMode="auto">
            <a:xfrm>
              <a:off x="1166" y="1165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dirty="0"/>
                <a:t>支路法</a:t>
              </a:r>
            </a:p>
          </p:txBody>
        </p:sp>
        <p:sp>
          <p:nvSpPr>
            <p:cNvPr id="321543" name="Line 7"/>
            <p:cNvSpPr>
              <a:spLocks noChangeShapeType="1"/>
            </p:cNvSpPr>
            <p:nvPr/>
          </p:nvSpPr>
          <p:spPr bwMode="auto">
            <a:xfrm>
              <a:off x="1152" y="1176"/>
              <a:ext cx="403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44" name="Line 8"/>
            <p:cNvSpPr>
              <a:spLocks noChangeShapeType="1"/>
            </p:cNvSpPr>
            <p:nvPr/>
          </p:nvSpPr>
          <p:spPr bwMode="auto">
            <a:xfrm>
              <a:off x="1152" y="1848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45" name="Line 9"/>
            <p:cNvSpPr>
              <a:spLocks noChangeShapeType="1"/>
            </p:cNvSpPr>
            <p:nvPr/>
          </p:nvSpPr>
          <p:spPr bwMode="auto">
            <a:xfrm>
              <a:off x="1152" y="1524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46" name="Line 10"/>
            <p:cNvSpPr>
              <a:spLocks noChangeShapeType="1"/>
            </p:cNvSpPr>
            <p:nvPr/>
          </p:nvSpPr>
          <p:spPr bwMode="auto">
            <a:xfrm>
              <a:off x="115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47" name="Line 11"/>
            <p:cNvSpPr>
              <a:spLocks noChangeShapeType="1"/>
            </p:cNvSpPr>
            <p:nvPr/>
          </p:nvSpPr>
          <p:spPr bwMode="auto">
            <a:xfrm>
              <a:off x="1860" y="840"/>
              <a:ext cx="0" cy="13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48" name="Line 12"/>
            <p:cNvSpPr>
              <a:spLocks noChangeShapeType="1"/>
            </p:cNvSpPr>
            <p:nvPr/>
          </p:nvSpPr>
          <p:spPr bwMode="auto">
            <a:xfrm>
              <a:off x="289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49" name="Line 13"/>
            <p:cNvSpPr>
              <a:spLocks noChangeShapeType="1"/>
            </p:cNvSpPr>
            <p:nvPr/>
          </p:nvSpPr>
          <p:spPr bwMode="auto">
            <a:xfrm>
              <a:off x="5196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50" name="Line 14"/>
            <p:cNvSpPr>
              <a:spLocks noChangeShapeType="1"/>
            </p:cNvSpPr>
            <p:nvPr/>
          </p:nvSpPr>
          <p:spPr bwMode="auto">
            <a:xfrm flipV="1">
              <a:off x="1152" y="2172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51" name="Line 15"/>
            <p:cNvSpPr>
              <a:spLocks noChangeShapeType="1"/>
            </p:cNvSpPr>
            <p:nvPr/>
          </p:nvSpPr>
          <p:spPr bwMode="auto">
            <a:xfrm>
              <a:off x="1152" y="840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52" name="Text Box 16"/>
            <p:cNvSpPr txBox="1">
              <a:spLocks noChangeArrowheads="1"/>
            </p:cNvSpPr>
            <p:nvPr/>
          </p:nvSpPr>
          <p:spPr bwMode="auto">
            <a:xfrm>
              <a:off x="1166" y="153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/>
                <a:t>网孔法</a:t>
              </a:r>
            </a:p>
          </p:txBody>
        </p:sp>
        <p:sp>
          <p:nvSpPr>
            <p:cNvPr id="321553" name="Text Box 17"/>
            <p:cNvSpPr txBox="1">
              <a:spLocks noChangeArrowheads="1"/>
            </p:cNvSpPr>
            <p:nvPr/>
          </p:nvSpPr>
          <p:spPr bwMode="auto">
            <a:xfrm>
              <a:off x="1166" y="1873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/>
                <a:t>节点法</a:t>
              </a:r>
            </a:p>
          </p:txBody>
        </p:sp>
        <p:sp>
          <p:nvSpPr>
            <p:cNvPr id="321554" name="Text Box 18"/>
            <p:cNvSpPr txBox="1">
              <a:spLocks noChangeArrowheads="1"/>
            </p:cNvSpPr>
            <p:nvPr/>
          </p:nvSpPr>
          <p:spPr bwMode="auto">
            <a:xfrm>
              <a:off x="1946" y="854"/>
              <a:ext cx="9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KCL</a:t>
              </a:r>
              <a:r>
                <a:rPr lang="zh-CN" altLang="en-US"/>
                <a:t>方程</a:t>
              </a:r>
            </a:p>
          </p:txBody>
        </p:sp>
        <p:sp>
          <p:nvSpPr>
            <p:cNvPr id="321555" name="Text Box 19"/>
            <p:cNvSpPr txBox="1">
              <a:spLocks noChangeArrowheads="1"/>
            </p:cNvSpPr>
            <p:nvPr/>
          </p:nvSpPr>
          <p:spPr bwMode="auto">
            <a:xfrm>
              <a:off x="3026" y="866"/>
              <a:ext cx="9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KVL</a:t>
              </a:r>
              <a:r>
                <a:rPr lang="zh-CN" altLang="en-US"/>
                <a:t>方程</a:t>
              </a:r>
            </a:p>
          </p:txBody>
        </p:sp>
        <p:sp>
          <p:nvSpPr>
            <p:cNvPr id="321556" name="Text Box 20"/>
            <p:cNvSpPr txBox="1">
              <a:spLocks noChangeArrowheads="1"/>
            </p:cNvSpPr>
            <p:nvPr/>
          </p:nvSpPr>
          <p:spPr bwMode="auto">
            <a:xfrm>
              <a:off x="2170" y="1190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/>
                <a:t>n</a:t>
              </a:r>
              <a:r>
                <a:rPr lang="en-US" altLang="zh-CN" dirty="0" smtClean="0">
                  <a:cs typeface="Times New Roman" panose="02020603050405020304" pitchFamily="18" charset="0"/>
                </a:rPr>
                <a:t>−</a:t>
              </a:r>
              <a:r>
                <a:rPr lang="en-US" altLang="zh-CN" dirty="0" smtClean="0"/>
                <a:t>1</a:t>
              </a:r>
              <a:endParaRPr lang="en-US" altLang="zh-CN" dirty="0"/>
            </a:p>
          </p:txBody>
        </p:sp>
        <p:sp>
          <p:nvSpPr>
            <p:cNvPr id="321557" name="Text Box 21"/>
            <p:cNvSpPr txBox="1">
              <a:spLocks noChangeArrowheads="1"/>
            </p:cNvSpPr>
            <p:nvPr/>
          </p:nvSpPr>
          <p:spPr bwMode="auto">
            <a:xfrm>
              <a:off x="3035" y="1202"/>
              <a:ext cx="9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/>
                <a:t>b</a:t>
              </a:r>
              <a:r>
                <a:rPr lang="en-US" altLang="zh-CN" dirty="0">
                  <a:cs typeface="Times New Roman" panose="02020603050405020304" pitchFamily="18" charset="0"/>
                </a:rPr>
                <a:t> −</a:t>
              </a:r>
              <a:r>
                <a:rPr lang="en-US" altLang="zh-CN" dirty="0" smtClean="0"/>
                <a:t>(</a:t>
              </a:r>
              <a:r>
                <a:rPr lang="en-US" altLang="zh-CN" i="1" dirty="0" smtClean="0"/>
                <a:t>n</a:t>
              </a:r>
              <a:r>
                <a:rPr lang="en-US" altLang="zh-CN" dirty="0">
                  <a:cs typeface="Times New Roman" panose="02020603050405020304" pitchFamily="18" charset="0"/>
                </a:rPr>
                <a:t> − </a:t>
              </a:r>
              <a:r>
                <a:rPr lang="en-US" altLang="zh-CN" dirty="0" smtClean="0"/>
                <a:t>1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321558" name="Text Box 22"/>
            <p:cNvSpPr txBox="1">
              <a:spLocks noChangeArrowheads="1"/>
            </p:cNvSpPr>
            <p:nvPr/>
          </p:nvSpPr>
          <p:spPr bwMode="auto">
            <a:xfrm>
              <a:off x="2282" y="153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0</a:t>
              </a:r>
            </a:p>
          </p:txBody>
        </p:sp>
        <p:sp>
          <p:nvSpPr>
            <p:cNvPr id="321559" name="Text Box 23"/>
            <p:cNvSpPr txBox="1">
              <a:spLocks noChangeArrowheads="1"/>
            </p:cNvSpPr>
            <p:nvPr/>
          </p:nvSpPr>
          <p:spPr bwMode="auto">
            <a:xfrm>
              <a:off x="3347" y="186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/>
                <a:t>0</a:t>
              </a:r>
            </a:p>
          </p:txBody>
        </p:sp>
        <p:sp>
          <p:nvSpPr>
            <p:cNvPr id="321560" name="Text Box 24"/>
            <p:cNvSpPr txBox="1">
              <a:spLocks noChangeArrowheads="1"/>
            </p:cNvSpPr>
            <p:nvPr/>
          </p:nvSpPr>
          <p:spPr bwMode="auto">
            <a:xfrm>
              <a:off x="2127" y="1862"/>
              <a:ext cx="5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/>
                <a:t>n</a:t>
              </a:r>
              <a:r>
                <a:rPr lang="en-US" altLang="zh-CN" dirty="0">
                  <a:cs typeface="Times New Roman" panose="02020603050405020304" pitchFamily="18" charset="0"/>
                </a:rPr>
                <a:t> − </a:t>
              </a:r>
              <a:r>
                <a:rPr lang="en-US" altLang="zh-CN" dirty="0" smtClean="0"/>
                <a:t>1</a:t>
              </a:r>
              <a:endParaRPr lang="en-US" altLang="zh-CN" dirty="0"/>
            </a:p>
          </p:txBody>
        </p:sp>
        <p:sp>
          <p:nvSpPr>
            <p:cNvPr id="321561" name="Line 25"/>
            <p:cNvSpPr>
              <a:spLocks noChangeShapeType="1"/>
            </p:cNvSpPr>
            <p:nvPr/>
          </p:nvSpPr>
          <p:spPr bwMode="auto">
            <a:xfrm>
              <a:off x="4020" y="852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62" name="Text Box 26"/>
            <p:cNvSpPr txBox="1">
              <a:spLocks noChangeArrowheads="1"/>
            </p:cNvSpPr>
            <p:nvPr/>
          </p:nvSpPr>
          <p:spPr bwMode="auto">
            <a:xfrm>
              <a:off x="4164" y="852"/>
              <a:ext cx="9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/>
                <a:t>方程总数</a:t>
              </a:r>
            </a:p>
          </p:txBody>
        </p:sp>
        <p:sp>
          <p:nvSpPr>
            <p:cNvPr id="321563" name="Text Box 27"/>
            <p:cNvSpPr txBox="1">
              <a:spLocks noChangeArrowheads="1"/>
            </p:cNvSpPr>
            <p:nvPr/>
          </p:nvSpPr>
          <p:spPr bwMode="auto">
            <a:xfrm>
              <a:off x="3035" y="1526"/>
              <a:ext cx="9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/>
                <a:t>b</a:t>
              </a:r>
              <a:r>
                <a:rPr lang="en-US" altLang="zh-CN" dirty="0">
                  <a:cs typeface="Times New Roman" panose="02020603050405020304" pitchFamily="18" charset="0"/>
                </a:rPr>
                <a:t> −</a:t>
              </a:r>
              <a:r>
                <a:rPr lang="en-US" altLang="zh-CN" dirty="0" smtClean="0"/>
                <a:t>(</a:t>
              </a:r>
              <a:r>
                <a:rPr lang="en-US" altLang="zh-CN" i="1" dirty="0" smtClean="0"/>
                <a:t>n</a:t>
              </a:r>
              <a:r>
                <a:rPr lang="en-US" altLang="zh-CN" dirty="0">
                  <a:cs typeface="Times New Roman" panose="02020603050405020304" pitchFamily="18" charset="0"/>
                </a:rPr>
                <a:t> − </a:t>
              </a:r>
              <a:r>
                <a:rPr lang="en-US" altLang="zh-CN" dirty="0" smtClean="0"/>
                <a:t>1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321564" name="Text Box 28"/>
            <p:cNvSpPr txBox="1">
              <a:spLocks noChangeArrowheads="1"/>
            </p:cNvSpPr>
            <p:nvPr/>
          </p:nvSpPr>
          <p:spPr bwMode="auto">
            <a:xfrm>
              <a:off x="4346" y="1862"/>
              <a:ext cx="5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/>
                <a:t>n</a:t>
              </a:r>
              <a:r>
                <a:rPr lang="en-US" altLang="zh-CN" dirty="0">
                  <a:cs typeface="Times New Roman" panose="02020603050405020304" pitchFamily="18" charset="0"/>
                </a:rPr>
                <a:t> − </a:t>
              </a:r>
              <a:r>
                <a:rPr lang="en-US" altLang="zh-CN" dirty="0" smtClean="0"/>
                <a:t>1</a:t>
              </a:r>
              <a:endParaRPr lang="en-US" altLang="zh-CN" dirty="0"/>
            </a:p>
          </p:txBody>
        </p:sp>
        <p:sp>
          <p:nvSpPr>
            <p:cNvPr id="321565" name="Text Box 29"/>
            <p:cNvSpPr txBox="1">
              <a:spLocks noChangeArrowheads="1"/>
            </p:cNvSpPr>
            <p:nvPr/>
          </p:nvSpPr>
          <p:spPr bwMode="auto">
            <a:xfrm>
              <a:off x="4202" y="1538"/>
              <a:ext cx="9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 dirty="0" smtClean="0"/>
                <a:t>b</a:t>
              </a:r>
              <a:r>
                <a:rPr lang="en-US" altLang="zh-CN" dirty="0">
                  <a:cs typeface="Times New Roman" panose="02020603050405020304" pitchFamily="18" charset="0"/>
                </a:rPr>
                <a:t> −</a:t>
              </a:r>
              <a:r>
                <a:rPr lang="en-US" altLang="zh-CN" dirty="0" smtClean="0"/>
                <a:t>(</a:t>
              </a:r>
              <a:r>
                <a:rPr lang="en-US" altLang="zh-CN" i="1" dirty="0" smtClean="0"/>
                <a:t>n</a:t>
              </a:r>
              <a:r>
                <a:rPr lang="en-US" altLang="zh-CN" dirty="0">
                  <a:cs typeface="Times New Roman" panose="02020603050405020304" pitchFamily="18" charset="0"/>
                </a:rPr>
                <a:t> − </a:t>
              </a:r>
              <a:r>
                <a:rPr lang="en-US" altLang="zh-CN" dirty="0" smtClean="0"/>
                <a:t>1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321566" name="Text Box 30"/>
            <p:cNvSpPr txBox="1">
              <a:spLocks noChangeArrowheads="1"/>
            </p:cNvSpPr>
            <p:nvPr/>
          </p:nvSpPr>
          <p:spPr bwMode="auto">
            <a:xfrm>
              <a:off x="4418" y="12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i="1"/>
                <a:t>b</a:t>
              </a:r>
              <a:endParaRPr lang="en-US" altLang="zh-CN"/>
            </a:p>
          </p:txBody>
        </p:sp>
      </p:grpSp>
      <p:sp>
        <p:nvSpPr>
          <p:cNvPr id="321567" name="Text Box 31"/>
          <p:cNvSpPr txBox="1">
            <a:spLocks noChangeArrowheads="1"/>
          </p:cNvSpPr>
          <p:nvPr/>
        </p:nvSpPr>
        <p:spPr bwMode="auto">
          <a:xfrm>
            <a:off x="628650" y="9906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方程数的比较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/>
      <p:bldP spid="321540" grpId="0"/>
      <p:bldP spid="32156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4" name="Text Box 4"/>
          <p:cNvSpPr txBox="1">
            <a:spLocks noChangeArrowheads="1"/>
          </p:cNvSpPr>
          <p:nvPr/>
        </p:nvSpPr>
        <p:spPr bwMode="auto">
          <a:xfrm>
            <a:off x="990600" y="1771155"/>
            <a:ext cx="75438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 indent="571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2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52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dirty="0">
                <a:solidFill>
                  <a:srgbClr val="0000FF"/>
                </a:solidFill>
              </a:rPr>
              <a:t>在线性电路中，任一支路电流（或电压）都是电路中各个独立电源单独作用时，在该支路产生的电流（或电压）的代数和</a:t>
            </a:r>
            <a:r>
              <a:rPr kumimoji="0" lang="zh-CN" altLang="en-US" dirty="0"/>
              <a:t>。</a:t>
            </a:r>
          </a:p>
        </p:txBody>
      </p:sp>
      <p:grpSp>
        <p:nvGrpSpPr>
          <p:cNvPr id="337926" name="Group 6"/>
          <p:cNvGrpSpPr>
            <a:grpSpLocks/>
          </p:cNvGrpSpPr>
          <p:nvPr/>
        </p:nvGrpSpPr>
        <p:grpSpPr bwMode="auto">
          <a:xfrm>
            <a:off x="1143000" y="4242831"/>
            <a:ext cx="6032500" cy="1695450"/>
            <a:chOff x="720" y="2772"/>
            <a:chExt cx="3800" cy="1068"/>
          </a:xfrm>
        </p:grpSpPr>
        <p:sp>
          <p:nvSpPr>
            <p:cNvPr id="337927" name="Text Box 7"/>
            <p:cNvSpPr txBox="1">
              <a:spLocks noChangeArrowheads="1"/>
            </p:cNvSpPr>
            <p:nvPr/>
          </p:nvSpPr>
          <p:spPr bwMode="auto">
            <a:xfrm>
              <a:off x="720" y="2772"/>
              <a:ext cx="38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dirty="0"/>
                <a:t>单独作用：一个电源作用，其余电源不作用</a:t>
              </a:r>
              <a:endParaRPr kumimoji="0" lang="zh-CN" altLang="en-US" sz="1400" dirty="0"/>
            </a:p>
          </p:txBody>
        </p:sp>
        <p:sp>
          <p:nvSpPr>
            <p:cNvPr id="337928" name="Text Box 8"/>
            <p:cNvSpPr txBox="1">
              <a:spLocks noChangeArrowheads="1"/>
            </p:cNvSpPr>
            <p:nvPr/>
          </p:nvSpPr>
          <p:spPr bwMode="auto">
            <a:xfrm>
              <a:off x="872" y="3312"/>
              <a:ext cx="8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>
                  <a:solidFill>
                    <a:srgbClr val="FF3300"/>
                  </a:solidFill>
                </a:rPr>
                <a:t>不作用</a:t>
              </a:r>
              <a:r>
                <a:rPr kumimoji="0" lang="zh-CN" altLang="en-US"/>
                <a:t>的</a:t>
              </a:r>
            </a:p>
          </p:txBody>
        </p:sp>
        <p:grpSp>
          <p:nvGrpSpPr>
            <p:cNvPr id="337929" name="Group 9"/>
            <p:cNvGrpSpPr>
              <a:grpSpLocks/>
            </p:cNvGrpSpPr>
            <p:nvPr/>
          </p:nvGrpSpPr>
          <p:grpSpPr bwMode="auto">
            <a:xfrm>
              <a:off x="1803" y="3072"/>
              <a:ext cx="2536" cy="384"/>
              <a:chOff x="1803" y="3072"/>
              <a:chExt cx="2536" cy="384"/>
            </a:xfrm>
          </p:grpSpPr>
          <p:sp>
            <p:nvSpPr>
              <p:cNvPr id="337930" name="Line 10"/>
              <p:cNvSpPr>
                <a:spLocks noChangeShapeType="1"/>
              </p:cNvSpPr>
              <p:nvPr/>
            </p:nvSpPr>
            <p:spPr bwMode="auto">
              <a:xfrm flipV="1">
                <a:off x="1803" y="3216"/>
                <a:ext cx="405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7931" name="Text Box 11"/>
              <p:cNvSpPr txBox="1">
                <a:spLocks noChangeArrowheads="1"/>
              </p:cNvSpPr>
              <p:nvPr/>
            </p:nvSpPr>
            <p:spPr bwMode="auto">
              <a:xfrm>
                <a:off x="2285" y="3072"/>
                <a:ext cx="20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/>
                  <a:t>  </a:t>
                </a:r>
                <a:r>
                  <a:rPr kumimoji="0" lang="zh-CN" altLang="en-US">
                    <a:solidFill>
                      <a:srgbClr val="FF3300"/>
                    </a:solidFill>
                  </a:rPr>
                  <a:t>电压源</a:t>
                </a:r>
                <a:r>
                  <a:rPr kumimoji="0" lang="zh-CN" altLang="en-US"/>
                  <a:t>（</a:t>
                </a:r>
                <a:r>
                  <a:rPr kumimoji="0" lang="en-US" altLang="zh-CN" i="1"/>
                  <a:t>v</a:t>
                </a:r>
                <a:r>
                  <a:rPr kumimoji="0" lang="en-US" altLang="zh-CN" i="1" baseline="-25000"/>
                  <a:t>s</a:t>
                </a:r>
                <a:r>
                  <a:rPr kumimoji="0" lang="en-US" altLang="zh-CN"/>
                  <a:t>=0)      </a:t>
                </a:r>
                <a:r>
                  <a:rPr kumimoji="0" lang="zh-CN" altLang="en-US">
                    <a:solidFill>
                      <a:srgbClr val="FF3300"/>
                    </a:solidFill>
                  </a:rPr>
                  <a:t>短路</a:t>
                </a:r>
                <a:endParaRPr kumimoji="0" lang="zh-CN" altLang="en-US"/>
              </a:p>
            </p:txBody>
          </p:sp>
        </p:grpSp>
        <p:grpSp>
          <p:nvGrpSpPr>
            <p:cNvPr id="337932" name="Group 12"/>
            <p:cNvGrpSpPr>
              <a:grpSpLocks/>
            </p:cNvGrpSpPr>
            <p:nvPr/>
          </p:nvGrpSpPr>
          <p:grpSpPr bwMode="auto">
            <a:xfrm>
              <a:off x="1803" y="3504"/>
              <a:ext cx="2501" cy="336"/>
              <a:chOff x="1803" y="3504"/>
              <a:chExt cx="2501" cy="336"/>
            </a:xfrm>
          </p:grpSpPr>
          <p:sp>
            <p:nvSpPr>
              <p:cNvPr id="337933" name="Text Box 13"/>
              <p:cNvSpPr txBox="1">
                <a:spLocks noChangeArrowheads="1"/>
              </p:cNvSpPr>
              <p:nvPr/>
            </p:nvSpPr>
            <p:spPr bwMode="auto">
              <a:xfrm>
                <a:off x="2352" y="3552"/>
                <a:ext cx="19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zh-CN" altLang="en-US">
                    <a:solidFill>
                      <a:srgbClr val="FF3300"/>
                    </a:solidFill>
                  </a:rPr>
                  <a:t>电流源</a:t>
                </a:r>
                <a:r>
                  <a:rPr kumimoji="0" lang="zh-CN" altLang="en-US"/>
                  <a:t>   </a:t>
                </a:r>
                <a:r>
                  <a:rPr kumimoji="0" lang="en-US" altLang="zh-CN"/>
                  <a:t>(</a:t>
                </a:r>
                <a:r>
                  <a:rPr kumimoji="0" lang="en-US" altLang="zh-CN" i="1"/>
                  <a:t>i</a:t>
                </a:r>
                <a:r>
                  <a:rPr kumimoji="0" lang="en-US" altLang="zh-CN" i="1" baseline="-25000"/>
                  <a:t>s</a:t>
                </a:r>
                <a:r>
                  <a:rPr kumimoji="0" lang="en-US" altLang="zh-CN"/>
                  <a:t>=0)      </a:t>
                </a:r>
                <a:r>
                  <a:rPr kumimoji="0" lang="zh-CN" altLang="en-US">
                    <a:solidFill>
                      <a:srgbClr val="FF3300"/>
                    </a:solidFill>
                  </a:rPr>
                  <a:t>开路</a:t>
                </a:r>
                <a:endParaRPr kumimoji="0" lang="zh-CN" altLang="en-US"/>
              </a:p>
            </p:txBody>
          </p:sp>
          <p:sp>
            <p:nvSpPr>
              <p:cNvPr id="337934" name="Line 14"/>
              <p:cNvSpPr>
                <a:spLocks noChangeShapeType="1"/>
              </p:cNvSpPr>
              <p:nvPr/>
            </p:nvSpPr>
            <p:spPr bwMode="auto">
              <a:xfrm>
                <a:off x="1803" y="3504"/>
                <a:ext cx="405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69888" y="1134598"/>
            <a:ext cx="7734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3.5.1 </a:t>
            </a:r>
            <a:r>
              <a:rPr lang="zh-CN" altLang="en-US" dirty="0" smtClean="0">
                <a:solidFill>
                  <a:srgbClr val="990033"/>
                </a:solidFill>
              </a:rPr>
              <a:t>叠加定理 </a:t>
            </a:r>
            <a:r>
              <a:rPr lang="en-US" altLang="zh-CN" dirty="0">
                <a:solidFill>
                  <a:schemeClr val="accent2"/>
                </a:solidFill>
              </a:rPr>
              <a:t>(Superposition Theorem)</a:t>
            </a:r>
          </a:p>
        </p:txBody>
      </p:sp>
      <p:sp>
        <p:nvSpPr>
          <p:cNvPr id="16" name="Rectangle 66"/>
          <p:cNvSpPr>
            <a:spLocks noChangeArrowheads="1"/>
          </p:cNvSpPr>
          <p:nvPr/>
        </p:nvSpPr>
        <p:spPr bwMode="auto">
          <a:xfrm>
            <a:off x="685800" y="31432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800" dirty="0" smtClean="0">
                <a:solidFill>
                  <a:schemeClr val="tx2"/>
                </a:solidFill>
              </a:rPr>
              <a:t>3.5 </a:t>
            </a:r>
            <a:r>
              <a:rPr lang="zh-CN" altLang="en-US" sz="2800" dirty="0" smtClean="0">
                <a:solidFill>
                  <a:schemeClr val="tx2"/>
                </a:solidFill>
              </a:rPr>
              <a:t>电路定理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40" name="Text Box 96"/>
          <p:cNvSpPr txBox="1">
            <a:spLocks noChangeArrowheads="1"/>
          </p:cNvSpPr>
          <p:nvPr/>
        </p:nvSpPr>
        <p:spPr bwMode="auto">
          <a:xfrm>
            <a:off x="461963" y="228600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>
                <a:solidFill>
                  <a:srgbClr val="0000FF"/>
                </a:solidFill>
                <a:ea typeface="楷体_GB2312" pitchFamily="49" charset="-122"/>
              </a:rPr>
              <a:t>举例证明定理</a:t>
            </a:r>
          </a:p>
        </p:txBody>
      </p:sp>
      <p:grpSp>
        <p:nvGrpSpPr>
          <p:cNvPr id="339041" name="Group 97"/>
          <p:cNvGrpSpPr>
            <a:grpSpLocks/>
          </p:cNvGrpSpPr>
          <p:nvPr/>
        </p:nvGrpSpPr>
        <p:grpSpPr bwMode="auto">
          <a:xfrm>
            <a:off x="1123951" y="609600"/>
            <a:ext cx="2355850" cy="2038350"/>
            <a:chOff x="1428" y="384"/>
            <a:chExt cx="1484" cy="1284"/>
          </a:xfrm>
        </p:grpSpPr>
        <p:grpSp>
          <p:nvGrpSpPr>
            <p:cNvPr id="339042" name="Group 98"/>
            <p:cNvGrpSpPr>
              <a:grpSpLocks/>
            </p:cNvGrpSpPr>
            <p:nvPr/>
          </p:nvGrpSpPr>
          <p:grpSpPr bwMode="auto">
            <a:xfrm>
              <a:off x="2233" y="831"/>
              <a:ext cx="218" cy="555"/>
              <a:chOff x="575" y="816"/>
              <a:chExt cx="211" cy="528"/>
            </a:xfrm>
          </p:grpSpPr>
          <p:sp>
            <p:nvSpPr>
              <p:cNvPr id="339043" name="Oval 99"/>
              <p:cNvSpPr>
                <a:spLocks noChangeArrowheads="1"/>
              </p:cNvSpPr>
              <p:nvPr/>
            </p:nvSpPr>
            <p:spPr bwMode="auto">
              <a:xfrm>
                <a:off x="576" y="816"/>
                <a:ext cx="192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44" name="Line 100"/>
              <p:cNvSpPr>
                <a:spLocks noChangeShapeType="1"/>
              </p:cNvSpPr>
              <p:nvPr/>
            </p:nvSpPr>
            <p:spPr bwMode="auto">
              <a:xfrm>
                <a:off x="768" y="1056"/>
                <a:ext cx="0" cy="4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45" name="Text Box 101"/>
              <p:cNvSpPr txBox="1">
                <a:spLocks noChangeArrowheads="1"/>
              </p:cNvSpPr>
              <p:nvPr/>
            </p:nvSpPr>
            <p:spPr bwMode="auto">
              <a:xfrm>
                <a:off x="575" y="963"/>
                <a:ext cx="211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 err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 err="1">
                    <a:solidFill>
                      <a:srgbClr val="FF3300"/>
                    </a:solidFill>
                    <a:ea typeface="楷体_GB2312" pitchFamily="49" charset="-122"/>
                  </a:rPr>
                  <a:t>b</a:t>
                </a:r>
                <a:endParaRPr kumimoji="0" lang="en-US" altLang="zh-CN" sz="2000" i="1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39046" name="Group 102"/>
            <p:cNvGrpSpPr>
              <a:grpSpLocks/>
            </p:cNvGrpSpPr>
            <p:nvPr/>
          </p:nvGrpSpPr>
          <p:grpSpPr bwMode="auto">
            <a:xfrm>
              <a:off x="1728" y="816"/>
              <a:ext cx="214" cy="555"/>
              <a:chOff x="576" y="816"/>
              <a:chExt cx="207" cy="528"/>
            </a:xfrm>
          </p:grpSpPr>
          <p:sp>
            <p:nvSpPr>
              <p:cNvPr id="339047" name="Oval 103"/>
              <p:cNvSpPr>
                <a:spLocks noChangeArrowheads="1"/>
              </p:cNvSpPr>
              <p:nvPr/>
            </p:nvSpPr>
            <p:spPr bwMode="auto">
              <a:xfrm>
                <a:off x="576" y="816"/>
                <a:ext cx="192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48" name="Line 104"/>
              <p:cNvSpPr>
                <a:spLocks noChangeShapeType="1"/>
              </p:cNvSpPr>
              <p:nvPr/>
            </p:nvSpPr>
            <p:spPr bwMode="auto">
              <a:xfrm>
                <a:off x="768" y="1056"/>
                <a:ext cx="0" cy="4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49" name="Text Box 105"/>
              <p:cNvSpPr txBox="1">
                <a:spLocks noChangeArrowheads="1"/>
              </p:cNvSpPr>
              <p:nvPr/>
            </p:nvSpPr>
            <p:spPr bwMode="auto">
              <a:xfrm>
                <a:off x="578" y="963"/>
                <a:ext cx="205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 err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 err="1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endParaRPr kumimoji="0" lang="en-US" altLang="zh-CN" sz="2000" i="1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39050" name="Group 106"/>
            <p:cNvGrpSpPr>
              <a:grpSpLocks/>
            </p:cNvGrpSpPr>
            <p:nvPr/>
          </p:nvGrpSpPr>
          <p:grpSpPr bwMode="auto">
            <a:xfrm>
              <a:off x="1929" y="630"/>
              <a:ext cx="434" cy="1038"/>
              <a:chOff x="1091" y="1183"/>
              <a:chExt cx="419" cy="989"/>
            </a:xfrm>
          </p:grpSpPr>
          <p:sp>
            <p:nvSpPr>
              <p:cNvPr id="339051" name="Line 107"/>
              <p:cNvSpPr>
                <a:spLocks noChangeShapeType="1"/>
              </p:cNvSpPr>
              <p:nvPr/>
            </p:nvSpPr>
            <p:spPr bwMode="auto">
              <a:xfrm>
                <a:off x="1189" y="1183"/>
                <a:ext cx="0" cy="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52" name="Oval 108"/>
              <p:cNvSpPr>
                <a:spLocks noChangeArrowheads="1"/>
              </p:cNvSpPr>
              <p:nvPr/>
            </p:nvSpPr>
            <p:spPr bwMode="auto">
              <a:xfrm>
                <a:off x="1091" y="1812"/>
                <a:ext cx="196" cy="20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53" name="Rectangle 109"/>
              <p:cNvSpPr>
                <a:spLocks noChangeArrowheads="1"/>
              </p:cNvSpPr>
              <p:nvPr/>
            </p:nvSpPr>
            <p:spPr bwMode="auto">
              <a:xfrm>
                <a:off x="1143" y="1377"/>
                <a:ext cx="92" cy="242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54" name="Text Box 110"/>
              <p:cNvSpPr txBox="1">
                <a:spLocks noChangeArrowheads="1"/>
              </p:cNvSpPr>
              <p:nvPr/>
            </p:nvSpPr>
            <p:spPr bwMode="auto">
              <a:xfrm>
                <a:off x="1188" y="1354"/>
                <a:ext cx="32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2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39055" name="Text Box 111"/>
              <p:cNvSpPr txBox="1">
                <a:spLocks noChangeArrowheads="1"/>
              </p:cNvSpPr>
              <p:nvPr/>
            </p:nvSpPr>
            <p:spPr bwMode="auto">
              <a:xfrm>
                <a:off x="1163" y="1595"/>
                <a:ext cx="199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39056" name="Text Box 112"/>
              <p:cNvSpPr txBox="1">
                <a:spLocks noChangeArrowheads="1"/>
              </p:cNvSpPr>
              <p:nvPr/>
            </p:nvSpPr>
            <p:spPr bwMode="auto">
              <a:xfrm>
                <a:off x="1176" y="1934"/>
                <a:ext cx="189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grpSp>
          <p:nvGrpSpPr>
            <p:cNvPr id="339057" name="Group 113"/>
            <p:cNvGrpSpPr>
              <a:grpSpLocks/>
            </p:cNvGrpSpPr>
            <p:nvPr/>
          </p:nvGrpSpPr>
          <p:grpSpPr bwMode="auto">
            <a:xfrm>
              <a:off x="2433" y="630"/>
              <a:ext cx="428" cy="1038"/>
              <a:chOff x="1097" y="1183"/>
              <a:chExt cx="414" cy="989"/>
            </a:xfrm>
          </p:grpSpPr>
          <p:sp>
            <p:nvSpPr>
              <p:cNvPr id="339058" name="Line 114"/>
              <p:cNvSpPr>
                <a:spLocks noChangeShapeType="1"/>
              </p:cNvSpPr>
              <p:nvPr/>
            </p:nvSpPr>
            <p:spPr bwMode="auto">
              <a:xfrm>
                <a:off x="1189" y="1183"/>
                <a:ext cx="0" cy="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59" name="Oval 115"/>
              <p:cNvSpPr>
                <a:spLocks noChangeArrowheads="1"/>
              </p:cNvSpPr>
              <p:nvPr/>
            </p:nvSpPr>
            <p:spPr bwMode="auto">
              <a:xfrm>
                <a:off x="1097" y="1812"/>
                <a:ext cx="196" cy="20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60" name="Rectangle 116"/>
              <p:cNvSpPr>
                <a:spLocks noChangeArrowheads="1"/>
              </p:cNvSpPr>
              <p:nvPr/>
            </p:nvSpPr>
            <p:spPr bwMode="auto">
              <a:xfrm>
                <a:off x="1143" y="1377"/>
                <a:ext cx="92" cy="242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61" name="Text Box 117"/>
              <p:cNvSpPr txBox="1">
                <a:spLocks noChangeArrowheads="1"/>
              </p:cNvSpPr>
              <p:nvPr/>
            </p:nvSpPr>
            <p:spPr bwMode="auto">
              <a:xfrm>
                <a:off x="1189" y="1354"/>
                <a:ext cx="32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3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39062" name="Text Box 118"/>
              <p:cNvSpPr txBox="1">
                <a:spLocks noChangeArrowheads="1"/>
              </p:cNvSpPr>
              <p:nvPr/>
            </p:nvSpPr>
            <p:spPr bwMode="auto">
              <a:xfrm>
                <a:off x="1164" y="1595"/>
                <a:ext cx="20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39063" name="Text Box 119"/>
              <p:cNvSpPr txBox="1">
                <a:spLocks noChangeArrowheads="1"/>
              </p:cNvSpPr>
              <p:nvPr/>
            </p:nvSpPr>
            <p:spPr bwMode="auto">
              <a:xfrm>
                <a:off x="1176" y="1934"/>
                <a:ext cx="19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grpSp>
          <p:nvGrpSpPr>
            <p:cNvPr id="339064" name="Group 120"/>
            <p:cNvGrpSpPr>
              <a:grpSpLocks/>
            </p:cNvGrpSpPr>
            <p:nvPr/>
          </p:nvGrpSpPr>
          <p:grpSpPr bwMode="auto">
            <a:xfrm>
              <a:off x="1428" y="628"/>
              <a:ext cx="438" cy="1040"/>
              <a:chOff x="1087" y="1181"/>
              <a:chExt cx="424" cy="991"/>
            </a:xfrm>
          </p:grpSpPr>
          <p:sp>
            <p:nvSpPr>
              <p:cNvPr id="339065" name="Line 121"/>
              <p:cNvSpPr>
                <a:spLocks noChangeShapeType="1"/>
              </p:cNvSpPr>
              <p:nvPr/>
            </p:nvSpPr>
            <p:spPr bwMode="auto">
              <a:xfrm>
                <a:off x="1189" y="1181"/>
                <a:ext cx="0" cy="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66" name="Oval 122"/>
              <p:cNvSpPr>
                <a:spLocks noChangeArrowheads="1"/>
              </p:cNvSpPr>
              <p:nvPr/>
            </p:nvSpPr>
            <p:spPr bwMode="auto">
              <a:xfrm>
                <a:off x="1087" y="1812"/>
                <a:ext cx="196" cy="20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67" name="Rectangle 123"/>
              <p:cNvSpPr>
                <a:spLocks noChangeArrowheads="1"/>
              </p:cNvSpPr>
              <p:nvPr/>
            </p:nvSpPr>
            <p:spPr bwMode="auto">
              <a:xfrm>
                <a:off x="1143" y="1377"/>
                <a:ext cx="92" cy="242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068" name="Text Box 124"/>
              <p:cNvSpPr txBox="1">
                <a:spLocks noChangeArrowheads="1"/>
              </p:cNvSpPr>
              <p:nvPr/>
            </p:nvSpPr>
            <p:spPr bwMode="auto">
              <a:xfrm>
                <a:off x="1189" y="1354"/>
                <a:ext cx="32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1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39069" name="Text Box 125"/>
              <p:cNvSpPr txBox="1">
                <a:spLocks noChangeArrowheads="1"/>
              </p:cNvSpPr>
              <p:nvPr/>
            </p:nvSpPr>
            <p:spPr bwMode="auto">
              <a:xfrm>
                <a:off x="1164" y="1595"/>
                <a:ext cx="20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39070" name="Text Box 126"/>
              <p:cNvSpPr txBox="1">
                <a:spLocks noChangeArrowheads="1"/>
              </p:cNvSpPr>
              <p:nvPr/>
            </p:nvSpPr>
            <p:spPr bwMode="auto">
              <a:xfrm>
                <a:off x="1176" y="1934"/>
                <a:ext cx="19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sp>
          <p:nvSpPr>
            <p:cNvPr id="339071" name="Line 127"/>
            <p:cNvSpPr>
              <a:spLocks noChangeShapeType="1"/>
            </p:cNvSpPr>
            <p:nvPr/>
          </p:nvSpPr>
          <p:spPr bwMode="auto">
            <a:xfrm>
              <a:off x="1539" y="630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9072" name="Line 128"/>
            <p:cNvSpPr>
              <a:spLocks noChangeShapeType="1"/>
            </p:cNvSpPr>
            <p:nvPr/>
          </p:nvSpPr>
          <p:spPr bwMode="auto">
            <a:xfrm>
              <a:off x="1539" y="1638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9073" name="Text Box 129"/>
            <p:cNvSpPr txBox="1">
              <a:spLocks noChangeArrowheads="1"/>
            </p:cNvSpPr>
            <p:nvPr/>
          </p:nvSpPr>
          <p:spPr bwMode="auto">
            <a:xfrm>
              <a:off x="1604" y="1239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339074" name="Text Box 130"/>
            <p:cNvSpPr txBox="1">
              <a:spLocks noChangeArrowheads="1"/>
            </p:cNvSpPr>
            <p:nvPr/>
          </p:nvSpPr>
          <p:spPr bwMode="auto">
            <a:xfrm>
              <a:off x="2101" y="1239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339075" name="Text Box 131"/>
            <p:cNvSpPr txBox="1">
              <a:spLocks noChangeArrowheads="1"/>
            </p:cNvSpPr>
            <p:nvPr/>
          </p:nvSpPr>
          <p:spPr bwMode="auto">
            <a:xfrm>
              <a:off x="2597" y="1239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3</a:t>
              </a:r>
            </a:p>
          </p:txBody>
        </p:sp>
        <p:sp>
          <p:nvSpPr>
            <p:cNvPr id="339076" name="Line 132"/>
            <p:cNvSpPr>
              <a:spLocks noChangeShapeType="1"/>
            </p:cNvSpPr>
            <p:nvPr/>
          </p:nvSpPr>
          <p:spPr bwMode="auto">
            <a:xfrm>
              <a:off x="1639" y="630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9077" name="Text Box 133"/>
            <p:cNvSpPr txBox="1">
              <a:spLocks noChangeArrowheads="1"/>
            </p:cNvSpPr>
            <p:nvPr/>
          </p:nvSpPr>
          <p:spPr bwMode="auto">
            <a:xfrm>
              <a:off x="1642" y="384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sz="2000" baseline="-25000">
                  <a:solidFill>
                    <a:srgbClr val="FF3300"/>
                  </a:solidFill>
                  <a:ea typeface="楷体_GB2312" pitchFamily="49" charset="-122"/>
                </a:rPr>
                <a:t>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</p:grpSp>
      <p:grpSp>
        <p:nvGrpSpPr>
          <p:cNvPr id="339078" name="Group 134"/>
          <p:cNvGrpSpPr>
            <a:grpSpLocks/>
          </p:cNvGrpSpPr>
          <p:nvPr/>
        </p:nvGrpSpPr>
        <p:grpSpPr bwMode="auto">
          <a:xfrm>
            <a:off x="4648201" y="1524000"/>
            <a:ext cx="3322638" cy="457200"/>
            <a:chOff x="2928" y="960"/>
            <a:chExt cx="2093" cy="288"/>
          </a:xfrm>
        </p:grpSpPr>
        <p:sp>
          <p:nvSpPr>
            <p:cNvPr id="339079" name="Text Box 135"/>
            <p:cNvSpPr txBox="1">
              <a:spLocks noChangeArrowheads="1"/>
            </p:cNvSpPr>
            <p:nvPr/>
          </p:nvSpPr>
          <p:spPr bwMode="auto">
            <a:xfrm>
              <a:off x="3696" y="960"/>
              <a:ext cx="13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aseline="-25000">
                  <a:solidFill>
                    <a:srgbClr val="FF3300"/>
                  </a:solidFill>
                  <a:ea typeface="楷体_GB2312" pitchFamily="49" charset="-122"/>
                </a:rPr>
                <a:t>1 </a:t>
              </a:r>
              <a:r>
                <a:rPr kumimoji="0" lang="en-US" altLang="zh-CN">
                  <a:solidFill>
                    <a:srgbClr val="FF3300"/>
                  </a:solidFill>
                  <a:ea typeface="楷体_GB2312" pitchFamily="49" charset="-122"/>
                </a:rPr>
                <a:t>= </a:t>
              </a:r>
              <a:r>
                <a:rPr kumimoji="0" lang="en-US" altLang="zh-CN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aseline="-25000">
                  <a:solidFill>
                    <a:srgbClr val="FF3300"/>
                  </a:solidFill>
                  <a:ea typeface="楷体_GB2312" pitchFamily="49" charset="-122"/>
                </a:rPr>
                <a:t>11 </a:t>
              </a:r>
              <a:r>
                <a:rPr kumimoji="0" lang="en-US" altLang="zh-CN">
                  <a:solidFill>
                    <a:srgbClr val="FF3300"/>
                  </a:solidFill>
                  <a:ea typeface="楷体_GB2312" pitchFamily="49" charset="-122"/>
                </a:rPr>
                <a:t>+ </a:t>
              </a:r>
              <a:r>
                <a:rPr kumimoji="0" lang="en-US" altLang="zh-CN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aseline="-25000">
                  <a:solidFill>
                    <a:srgbClr val="FF3300"/>
                  </a:solidFill>
                  <a:ea typeface="楷体_GB2312" pitchFamily="49" charset="-122"/>
                </a:rPr>
                <a:t>12 </a:t>
              </a:r>
              <a:r>
                <a:rPr kumimoji="0" lang="en-US" altLang="zh-CN">
                  <a:solidFill>
                    <a:srgbClr val="FF3300"/>
                  </a:solidFill>
                  <a:ea typeface="楷体_GB2312" pitchFamily="49" charset="-122"/>
                </a:rPr>
                <a:t>+</a:t>
              </a:r>
              <a:r>
                <a:rPr kumimoji="0" lang="en-US" altLang="zh-CN" baseline="-25000">
                  <a:solidFill>
                    <a:srgbClr val="FF3300"/>
                  </a:solidFill>
                  <a:ea typeface="楷体_GB2312" pitchFamily="49" charset="-122"/>
                </a:rPr>
                <a:t> </a:t>
              </a:r>
              <a:r>
                <a:rPr kumimoji="0" lang="en-US" altLang="zh-CN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baseline="-25000">
                  <a:solidFill>
                    <a:srgbClr val="FF3300"/>
                  </a:solidFill>
                  <a:ea typeface="楷体_GB2312" pitchFamily="49" charset="-122"/>
                </a:rPr>
                <a:t>13</a:t>
              </a:r>
            </a:p>
          </p:txBody>
        </p:sp>
        <p:sp>
          <p:nvSpPr>
            <p:cNvPr id="339080" name="Text Box 136"/>
            <p:cNvSpPr txBox="1">
              <a:spLocks noChangeArrowheads="1"/>
            </p:cNvSpPr>
            <p:nvPr/>
          </p:nvSpPr>
          <p:spPr bwMode="auto">
            <a:xfrm>
              <a:off x="2928" y="960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>
                  <a:solidFill>
                    <a:srgbClr val="0000FF"/>
                  </a:solidFill>
                  <a:ea typeface="楷体_GB2312" pitchFamily="49" charset="-122"/>
                </a:rPr>
                <a:t>证明</a:t>
              </a:r>
            </a:p>
          </p:txBody>
        </p:sp>
      </p:grpSp>
      <p:sp>
        <p:nvSpPr>
          <p:cNvPr id="137" name="Oval 46"/>
          <p:cNvSpPr>
            <a:spLocks noChangeArrowheads="1"/>
          </p:cNvSpPr>
          <p:nvPr/>
        </p:nvSpPr>
        <p:spPr bwMode="auto">
          <a:xfrm>
            <a:off x="2047222" y="961643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" name="Oval 46"/>
          <p:cNvSpPr>
            <a:spLocks noChangeArrowheads="1"/>
          </p:cNvSpPr>
          <p:nvPr/>
        </p:nvSpPr>
        <p:spPr bwMode="auto">
          <a:xfrm>
            <a:off x="2050741" y="2566518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73074" y="2740601"/>
            <a:ext cx="8670926" cy="2039937"/>
            <a:chOff x="457200" y="2743200"/>
            <a:chExt cx="8670926" cy="2039937"/>
          </a:xfrm>
        </p:grpSpPr>
        <p:grpSp>
          <p:nvGrpSpPr>
            <p:cNvPr id="338947" name="Group 3"/>
            <p:cNvGrpSpPr>
              <a:grpSpLocks/>
            </p:cNvGrpSpPr>
            <p:nvPr/>
          </p:nvGrpSpPr>
          <p:grpSpPr bwMode="auto">
            <a:xfrm>
              <a:off x="1066800" y="2743200"/>
              <a:ext cx="2255838" cy="2038350"/>
              <a:chOff x="672" y="1728"/>
              <a:chExt cx="1421" cy="1284"/>
            </a:xfrm>
          </p:grpSpPr>
          <p:grpSp>
            <p:nvGrpSpPr>
              <p:cNvPr id="338948" name="Group 4"/>
              <p:cNvGrpSpPr>
                <a:grpSpLocks/>
              </p:cNvGrpSpPr>
              <p:nvPr/>
            </p:nvGrpSpPr>
            <p:grpSpPr bwMode="auto">
              <a:xfrm>
                <a:off x="1438" y="2175"/>
                <a:ext cx="272" cy="555"/>
                <a:chOff x="549" y="816"/>
                <a:chExt cx="263" cy="528"/>
              </a:xfrm>
            </p:grpSpPr>
            <p:sp>
              <p:nvSpPr>
                <p:cNvPr id="338949" name="Oval 5"/>
                <p:cNvSpPr>
                  <a:spLocks noChangeArrowheads="1"/>
                </p:cNvSpPr>
                <p:nvPr/>
              </p:nvSpPr>
              <p:spPr bwMode="auto">
                <a:xfrm>
                  <a:off x="576" y="816"/>
                  <a:ext cx="192" cy="528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950" name="Line 6"/>
                <p:cNvSpPr>
                  <a:spLocks noChangeShapeType="1"/>
                </p:cNvSpPr>
                <p:nvPr/>
              </p:nvSpPr>
              <p:spPr bwMode="auto">
                <a:xfrm>
                  <a:off x="768" y="1056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95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549" y="963"/>
                  <a:ext cx="263" cy="2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33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 dirty="0">
                      <a:solidFill>
                        <a:srgbClr val="FF3300"/>
                      </a:solidFill>
                      <a:ea typeface="楷体_GB2312" pitchFamily="49" charset="-122"/>
                    </a:rPr>
                    <a:t>i</a:t>
                  </a:r>
                  <a:r>
                    <a:rPr kumimoji="0" lang="en-US" altLang="zh-CN" sz="2000" i="1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b</a:t>
                  </a:r>
                  <a:r>
                    <a:rPr kumimoji="0" lang="en-US" altLang="zh-CN" sz="2000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1</a:t>
                  </a:r>
                  <a:endParaRPr kumimoji="0" lang="en-US" altLang="zh-CN" sz="2000" baseline="-25000" dirty="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38952" name="Group 8"/>
              <p:cNvGrpSpPr>
                <a:grpSpLocks/>
              </p:cNvGrpSpPr>
              <p:nvPr/>
            </p:nvGrpSpPr>
            <p:grpSpPr bwMode="auto">
              <a:xfrm>
                <a:off x="935" y="2160"/>
                <a:ext cx="266" cy="555"/>
                <a:chOff x="552" y="816"/>
                <a:chExt cx="257" cy="528"/>
              </a:xfrm>
            </p:grpSpPr>
            <p:sp>
              <p:nvSpPr>
                <p:cNvPr id="338953" name="Oval 9"/>
                <p:cNvSpPr>
                  <a:spLocks noChangeArrowheads="1"/>
                </p:cNvSpPr>
                <p:nvPr/>
              </p:nvSpPr>
              <p:spPr bwMode="auto">
                <a:xfrm>
                  <a:off x="576" y="816"/>
                  <a:ext cx="192" cy="528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954" name="Line 10"/>
                <p:cNvSpPr>
                  <a:spLocks noChangeShapeType="1"/>
                </p:cNvSpPr>
                <p:nvPr/>
              </p:nvSpPr>
              <p:spPr bwMode="auto">
                <a:xfrm>
                  <a:off x="768" y="1056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95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52" y="963"/>
                  <a:ext cx="257" cy="2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33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 dirty="0">
                      <a:solidFill>
                        <a:srgbClr val="FF3300"/>
                      </a:solidFill>
                      <a:ea typeface="楷体_GB2312" pitchFamily="49" charset="-122"/>
                    </a:rPr>
                    <a:t>i</a:t>
                  </a:r>
                  <a:r>
                    <a:rPr kumimoji="0" lang="en-US" altLang="zh-CN" sz="2000" i="1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a</a:t>
                  </a:r>
                  <a:r>
                    <a:rPr kumimoji="0" lang="en-US" altLang="zh-CN" sz="2000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1</a:t>
                  </a:r>
                  <a:endParaRPr kumimoji="0" lang="en-US" altLang="zh-CN" sz="2000" baseline="-25000" dirty="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38956" name="Group 12"/>
              <p:cNvGrpSpPr>
                <a:grpSpLocks/>
              </p:cNvGrpSpPr>
              <p:nvPr/>
            </p:nvGrpSpPr>
            <p:grpSpPr bwMode="auto">
              <a:xfrm>
                <a:off x="1216" y="1974"/>
                <a:ext cx="380" cy="1016"/>
                <a:chOff x="1264" y="1974"/>
                <a:chExt cx="380" cy="1016"/>
              </a:xfrm>
            </p:grpSpPr>
            <p:sp>
              <p:nvSpPr>
                <p:cNvPr id="338957" name="Line 13"/>
                <p:cNvSpPr>
                  <a:spLocks noChangeShapeType="1"/>
                </p:cNvSpPr>
                <p:nvPr/>
              </p:nvSpPr>
              <p:spPr bwMode="auto">
                <a:xfrm>
                  <a:off x="1311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58" name="Rectangle 14"/>
                <p:cNvSpPr>
                  <a:spLocks noChangeArrowheads="1"/>
                </p:cNvSpPr>
                <p:nvPr/>
              </p:nvSpPr>
              <p:spPr bwMode="auto">
                <a:xfrm>
                  <a:off x="1264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5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310" y="2153"/>
                  <a:ext cx="33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2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38960" name="Group 16"/>
              <p:cNvGrpSpPr>
                <a:grpSpLocks/>
              </p:cNvGrpSpPr>
              <p:nvPr/>
            </p:nvGrpSpPr>
            <p:grpSpPr bwMode="auto">
              <a:xfrm>
                <a:off x="1713" y="1974"/>
                <a:ext cx="380" cy="1016"/>
                <a:chOff x="1713" y="1974"/>
                <a:chExt cx="380" cy="1016"/>
              </a:xfrm>
            </p:grpSpPr>
            <p:sp>
              <p:nvSpPr>
                <p:cNvPr id="338961" name="Line 17"/>
                <p:cNvSpPr>
                  <a:spLocks noChangeShapeType="1"/>
                </p:cNvSpPr>
                <p:nvPr/>
              </p:nvSpPr>
              <p:spPr bwMode="auto">
                <a:xfrm>
                  <a:off x="1760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62" name="Rectangle 18"/>
                <p:cNvSpPr>
                  <a:spLocks noChangeArrowheads="1"/>
                </p:cNvSpPr>
                <p:nvPr/>
              </p:nvSpPr>
              <p:spPr bwMode="auto">
                <a:xfrm>
                  <a:off x="1713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6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760" y="2153"/>
                  <a:ext cx="3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3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38964" name="Group 20"/>
              <p:cNvGrpSpPr>
                <a:grpSpLocks/>
              </p:cNvGrpSpPr>
              <p:nvPr/>
            </p:nvGrpSpPr>
            <p:grpSpPr bwMode="auto">
              <a:xfrm>
                <a:off x="672" y="1974"/>
                <a:ext cx="428" cy="1038"/>
                <a:chOff x="1097" y="1183"/>
                <a:chExt cx="414" cy="989"/>
              </a:xfrm>
            </p:grpSpPr>
            <p:sp>
              <p:nvSpPr>
                <p:cNvPr id="338965" name="Line 21"/>
                <p:cNvSpPr>
                  <a:spLocks noChangeShapeType="1"/>
                </p:cNvSpPr>
                <p:nvPr/>
              </p:nvSpPr>
              <p:spPr bwMode="auto">
                <a:xfrm>
                  <a:off x="1189" y="1183"/>
                  <a:ext cx="0" cy="9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66" name="Oval 22"/>
                <p:cNvSpPr>
                  <a:spLocks noChangeArrowheads="1"/>
                </p:cNvSpPr>
                <p:nvPr/>
              </p:nvSpPr>
              <p:spPr bwMode="auto">
                <a:xfrm>
                  <a:off x="1097" y="1812"/>
                  <a:ext cx="196" cy="20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67" name="Rectangle 23"/>
                <p:cNvSpPr>
                  <a:spLocks noChangeArrowheads="1"/>
                </p:cNvSpPr>
                <p:nvPr/>
              </p:nvSpPr>
              <p:spPr bwMode="auto">
                <a:xfrm>
                  <a:off x="1143" y="1377"/>
                  <a:ext cx="92" cy="242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6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189" y="1354"/>
                  <a:ext cx="322" cy="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1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  <p:sp>
              <p:nvSpPr>
                <p:cNvPr id="33896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64" y="1595"/>
                  <a:ext cx="200" cy="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>
                      <a:ea typeface="楷体_GB2312" pitchFamily="49" charset="-122"/>
                    </a:rPr>
                    <a:t>+</a:t>
                  </a:r>
                </a:p>
              </p:txBody>
            </p:sp>
            <p:sp>
              <p:nvSpPr>
                <p:cNvPr id="33897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176" y="1934"/>
                  <a:ext cx="190" cy="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>
                      <a:ea typeface="楷体_GB2312" pitchFamily="49" charset="-122"/>
                    </a:rPr>
                    <a:t>–</a:t>
                  </a:r>
                </a:p>
              </p:txBody>
            </p:sp>
          </p:grpSp>
          <p:sp>
            <p:nvSpPr>
              <p:cNvPr id="338971" name="Line 27"/>
              <p:cNvSpPr>
                <a:spLocks noChangeShapeType="1"/>
              </p:cNvSpPr>
              <p:nvPr/>
            </p:nvSpPr>
            <p:spPr bwMode="auto">
              <a:xfrm>
                <a:off x="771" y="1974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72" name="Line 28"/>
              <p:cNvSpPr>
                <a:spLocks noChangeShapeType="1"/>
              </p:cNvSpPr>
              <p:nvPr/>
            </p:nvSpPr>
            <p:spPr bwMode="auto">
              <a:xfrm>
                <a:off x="771" y="2982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73" name="Text Box 29"/>
              <p:cNvSpPr txBox="1">
                <a:spLocks noChangeArrowheads="1"/>
              </p:cNvSpPr>
              <p:nvPr/>
            </p:nvSpPr>
            <p:spPr bwMode="auto">
              <a:xfrm>
                <a:off x="836" y="2583"/>
                <a:ext cx="315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 dirty="0">
                    <a:ea typeface="楷体_GB2312" pitchFamily="49" charset="-122"/>
                  </a:rPr>
                  <a:t>v</a:t>
                </a:r>
                <a:r>
                  <a:rPr kumimoji="0" lang="en-US" altLang="zh-CN" i="1" baseline="-25000" dirty="0">
                    <a:ea typeface="楷体_GB2312" pitchFamily="49" charset="-122"/>
                  </a:rPr>
                  <a:t>s</a:t>
                </a:r>
                <a:r>
                  <a:rPr kumimoji="0" lang="en-US" altLang="zh-CN" baseline="-25000" dirty="0"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338974" name="Line 30"/>
              <p:cNvSpPr>
                <a:spLocks noChangeShapeType="1"/>
              </p:cNvSpPr>
              <p:nvPr/>
            </p:nvSpPr>
            <p:spPr bwMode="auto">
              <a:xfrm>
                <a:off x="871" y="1974"/>
                <a:ext cx="1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75" name="Text Box 31"/>
              <p:cNvSpPr txBox="1">
                <a:spLocks noChangeArrowheads="1"/>
              </p:cNvSpPr>
              <p:nvPr/>
            </p:nvSpPr>
            <p:spPr bwMode="auto">
              <a:xfrm>
                <a:off x="848" y="1728"/>
                <a:ext cx="2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baseline="-25000">
                    <a:solidFill>
                      <a:srgbClr val="FF3300"/>
                    </a:solidFill>
                    <a:ea typeface="楷体_GB2312" pitchFamily="49" charset="-122"/>
                  </a:rPr>
                  <a:t>11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grpSp>
          <p:nvGrpSpPr>
            <p:cNvPr id="338976" name="Group 32"/>
            <p:cNvGrpSpPr>
              <a:grpSpLocks/>
            </p:cNvGrpSpPr>
            <p:nvPr/>
          </p:nvGrpSpPr>
          <p:grpSpPr bwMode="auto">
            <a:xfrm>
              <a:off x="4043363" y="2743200"/>
              <a:ext cx="2179638" cy="2038350"/>
              <a:chOff x="2547" y="1728"/>
              <a:chExt cx="1373" cy="1284"/>
            </a:xfrm>
          </p:grpSpPr>
          <p:sp>
            <p:nvSpPr>
              <p:cNvPr id="338977" name="Oval 33"/>
              <p:cNvSpPr>
                <a:spLocks noChangeArrowheads="1"/>
              </p:cNvSpPr>
              <p:nvPr/>
            </p:nvSpPr>
            <p:spPr bwMode="auto">
              <a:xfrm>
                <a:off x="3293" y="2175"/>
                <a:ext cx="199" cy="55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78" name="Line 34"/>
              <p:cNvSpPr>
                <a:spLocks noChangeShapeType="1"/>
              </p:cNvSpPr>
              <p:nvPr/>
            </p:nvSpPr>
            <p:spPr bwMode="auto">
              <a:xfrm>
                <a:off x="3492" y="2427"/>
                <a:ext cx="0" cy="51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79" name="Text Box 35"/>
              <p:cNvSpPr txBox="1">
                <a:spLocks noChangeArrowheads="1"/>
              </p:cNvSpPr>
              <p:nvPr/>
            </p:nvSpPr>
            <p:spPr bwMode="auto">
              <a:xfrm>
                <a:off x="3268" y="2330"/>
                <a:ext cx="266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b</a:t>
                </a:r>
                <a:r>
                  <a:rPr kumimoji="0" lang="en-US" altLang="zh-CN" sz="2000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2</a:t>
                </a:r>
                <a:endParaRPr kumimoji="0" lang="en-US" altLang="zh-CN" sz="2000" baseline="-25000" dirty="0">
                  <a:ea typeface="楷体_GB2312" pitchFamily="49" charset="-122"/>
                </a:endParaRPr>
              </a:p>
            </p:txBody>
          </p:sp>
          <p:sp>
            <p:nvSpPr>
              <p:cNvPr id="338980" name="Oval 36"/>
              <p:cNvSpPr>
                <a:spLocks noChangeArrowheads="1"/>
              </p:cNvSpPr>
              <p:nvPr/>
            </p:nvSpPr>
            <p:spPr bwMode="auto">
              <a:xfrm>
                <a:off x="2787" y="2160"/>
                <a:ext cx="199" cy="55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81" name="Line 37"/>
              <p:cNvSpPr>
                <a:spLocks noChangeShapeType="1"/>
              </p:cNvSpPr>
              <p:nvPr/>
            </p:nvSpPr>
            <p:spPr bwMode="auto">
              <a:xfrm>
                <a:off x="2986" y="2412"/>
                <a:ext cx="0" cy="51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82" name="Text Box 38"/>
              <p:cNvSpPr txBox="1">
                <a:spLocks noChangeArrowheads="1"/>
              </p:cNvSpPr>
              <p:nvPr/>
            </p:nvSpPr>
            <p:spPr bwMode="auto">
              <a:xfrm>
                <a:off x="2762" y="2315"/>
                <a:ext cx="266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r>
                  <a:rPr kumimoji="0" lang="en-US" altLang="zh-CN" sz="2000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2</a:t>
                </a:r>
                <a:endParaRPr kumimoji="0" lang="en-US" altLang="zh-CN" sz="2000" baseline="-25000" dirty="0">
                  <a:ea typeface="楷体_GB2312" pitchFamily="49" charset="-122"/>
                </a:endParaRPr>
              </a:p>
            </p:txBody>
          </p:sp>
          <p:sp>
            <p:nvSpPr>
              <p:cNvPr id="338983" name="Line 39"/>
              <p:cNvSpPr>
                <a:spLocks noChangeShapeType="1"/>
              </p:cNvSpPr>
              <p:nvPr/>
            </p:nvSpPr>
            <p:spPr bwMode="auto">
              <a:xfrm>
                <a:off x="3090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8984" name="Oval 40"/>
              <p:cNvSpPr>
                <a:spLocks noChangeArrowheads="1"/>
              </p:cNvSpPr>
              <p:nvPr/>
            </p:nvSpPr>
            <p:spPr bwMode="auto">
              <a:xfrm>
                <a:off x="2985" y="2634"/>
                <a:ext cx="203" cy="21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8985" name="Rectangle 41"/>
              <p:cNvSpPr>
                <a:spLocks noChangeArrowheads="1"/>
              </p:cNvSpPr>
              <p:nvPr/>
            </p:nvSpPr>
            <p:spPr bwMode="auto">
              <a:xfrm>
                <a:off x="3043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8986" name="Text Box 42"/>
              <p:cNvSpPr txBox="1">
                <a:spLocks noChangeArrowheads="1"/>
              </p:cNvSpPr>
              <p:nvPr/>
            </p:nvSpPr>
            <p:spPr bwMode="auto">
              <a:xfrm>
                <a:off x="3089" y="2153"/>
                <a:ext cx="33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2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38987" name="Text Box 43"/>
              <p:cNvSpPr txBox="1">
                <a:spLocks noChangeArrowheads="1"/>
              </p:cNvSpPr>
              <p:nvPr/>
            </p:nvSpPr>
            <p:spPr bwMode="auto">
              <a:xfrm>
                <a:off x="3063" y="2406"/>
                <a:ext cx="20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38988" name="Text Box 44"/>
              <p:cNvSpPr txBox="1">
                <a:spLocks noChangeArrowheads="1"/>
              </p:cNvSpPr>
              <p:nvPr/>
            </p:nvSpPr>
            <p:spPr bwMode="auto">
              <a:xfrm>
                <a:off x="3077" y="276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  <p:sp>
            <p:nvSpPr>
              <p:cNvPr id="338989" name="Line 45"/>
              <p:cNvSpPr>
                <a:spLocks noChangeShapeType="1"/>
              </p:cNvSpPr>
              <p:nvPr/>
            </p:nvSpPr>
            <p:spPr bwMode="auto">
              <a:xfrm>
                <a:off x="3587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8990" name="Rectangle 46"/>
              <p:cNvSpPr>
                <a:spLocks noChangeArrowheads="1"/>
              </p:cNvSpPr>
              <p:nvPr/>
            </p:nvSpPr>
            <p:spPr bwMode="auto">
              <a:xfrm>
                <a:off x="3540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8991" name="Text Box 47"/>
              <p:cNvSpPr txBox="1">
                <a:spLocks noChangeArrowheads="1"/>
              </p:cNvSpPr>
              <p:nvPr/>
            </p:nvSpPr>
            <p:spPr bwMode="auto">
              <a:xfrm>
                <a:off x="3587" y="2153"/>
                <a:ext cx="3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3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grpSp>
            <p:nvGrpSpPr>
              <p:cNvPr id="338992" name="Group 48"/>
              <p:cNvGrpSpPr>
                <a:grpSpLocks/>
              </p:cNvGrpSpPr>
              <p:nvPr/>
            </p:nvGrpSpPr>
            <p:grpSpPr bwMode="auto">
              <a:xfrm>
                <a:off x="2547" y="1974"/>
                <a:ext cx="380" cy="1016"/>
                <a:chOff x="2547" y="1974"/>
                <a:chExt cx="380" cy="1016"/>
              </a:xfrm>
            </p:grpSpPr>
            <p:sp>
              <p:nvSpPr>
                <p:cNvPr id="338993" name="Line 49"/>
                <p:cNvSpPr>
                  <a:spLocks noChangeShapeType="1"/>
                </p:cNvSpPr>
                <p:nvPr/>
              </p:nvSpPr>
              <p:spPr bwMode="auto">
                <a:xfrm>
                  <a:off x="2594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94" name="Rectangle 50"/>
                <p:cNvSpPr>
                  <a:spLocks noChangeArrowheads="1"/>
                </p:cNvSpPr>
                <p:nvPr/>
              </p:nvSpPr>
              <p:spPr bwMode="auto">
                <a:xfrm>
                  <a:off x="2547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899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594" y="2153"/>
                  <a:ext cx="3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1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338996" name="Line 52"/>
              <p:cNvSpPr>
                <a:spLocks noChangeShapeType="1"/>
              </p:cNvSpPr>
              <p:nvPr/>
            </p:nvSpPr>
            <p:spPr bwMode="auto">
              <a:xfrm>
                <a:off x="2598" y="1974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97" name="Line 53"/>
              <p:cNvSpPr>
                <a:spLocks noChangeShapeType="1"/>
              </p:cNvSpPr>
              <p:nvPr/>
            </p:nvSpPr>
            <p:spPr bwMode="auto">
              <a:xfrm>
                <a:off x="2598" y="2982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8998" name="Text Box 54"/>
              <p:cNvSpPr txBox="1">
                <a:spLocks noChangeArrowheads="1"/>
              </p:cNvSpPr>
              <p:nvPr/>
            </p:nvSpPr>
            <p:spPr bwMode="auto">
              <a:xfrm>
                <a:off x="3160" y="2583"/>
                <a:ext cx="315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 dirty="0">
                    <a:ea typeface="楷体_GB2312" pitchFamily="49" charset="-122"/>
                  </a:rPr>
                  <a:t>v</a:t>
                </a:r>
                <a:r>
                  <a:rPr kumimoji="0" lang="en-US" altLang="zh-CN" i="1" baseline="-25000" dirty="0">
                    <a:ea typeface="楷体_GB2312" pitchFamily="49" charset="-122"/>
                  </a:rPr>
                  <a:t>s</a:t>
                </a:r>
                <a:r>
                  <a:rPr kumimoji="0" lang="en-US" altLang="zh-CN" baseline="-25000" dirty="0"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338999" name="Line 55"/>
              <p:cNvSpPr>
                <a:spLocks noChangeShapeType="1"/>
              </p:cNvSpPr>
              <p:nvPr/>
            </p:nvSpPr>
            <p:spPr bwMode="auto">
              <a:xfrm>
                <a:off x="2698" y="1974"/>
                <a:ext cx="1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00" name="Text Box 56"/>
              <p:cNvSpPr txBox="1">
                <a:spLocks noChangeArrowheads="1"/>
              </p:cNvSpPr>
              <p:nvPr/>
            </p:nvSpPr>
            <p:spPr bwMode="auto">
              <a:xfrm>
                <a:off x="2675" y="1728"/>
                <a:ext cx="2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baseline="-25000">
                    <a:solidFill>
                      <a:srgbClr val="FF3300"/>
                    </a:solidFill>
                    <a:ea typeface="楷体_GB2312" pitchFamily="49" charset="-122"/>
                  </a:rPr>
                  <a:t>12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grpSp>
          <p:nvGrpSpPr>
            <p:cNvPr id="339001" name="Group 57"/>
            <p:cNvGrpSpPr>
              <a:grpSpLocks/>
            </p:cNvGrpSpPr>
            <p:nvPr/>
          </p:nvGrpSpPr>
          <p:grpSpPr bwMode="auto">
            <a:xfrm>
              <a:off x="6867526" y="2743200"/>
              <a:ext cx="2260600" cy="2038350"/>
              <a:chOff x="4326" y="1728"/>
              <a:chExt cx="1424" cy="1284"/>
            </a:xfrm>
          </p:grpSpPr>
          <p:grpSp>
            <p:nvGrpSpPr>
              <p:cNvPr id="339002" name="Group 58"/>
              <p:cNvGrpSpPr>
                <a:grpSpLocks/>
              </p:cNvGrpSpPr>
              <p:nvPr/>
            </p:nvGrpSpPr>
            <p:grpSpPr bwMode="auto">
              <a:xfrm>
                <a:off x="5047" y="2175"/>
                <a:ext cx="266" cy="555"/>
                <a:chOff x="5047" y="2175"/>
                <a:chExt cx="266" cy="555"/>
              </a:xfrm>
            </p:grpSpPr>
            <p:sp>
              <p:nvSpPr>
                <p:cNvPr id="339003" name="Oval 59"/>
                <p:cNvSpPr>
                  <a:spLocks noChangeArrowheads="1"/>
                </p:cNvSpPr>
                <p:nvPr/>
              </p:nvSpPr>
              <p:spPr bwMode="auto">
                <a:xfrm>
                  <a:off x="5072" y="2175"/>
                  <a:ext cx="199" cy="55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9004" name="Line 60"/>
                <p:cNvSpPr>
                  <a:spLocks noChangeShapeType="1"/>
                </p:cNvSpPr>
                <p:nvPr/>
              </p:nvSpPr>
              <p:spPr bwMode="auto">
                <a:xfrm>
                  <a:off x="5271" y="2427"/>
                  <a:ext cx="0" cy="51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900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5047" y="2330"/>
                  <a:ext cx="266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33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 dirty="0">
                      <a:solidFill>
                        <a:srgbClr val="FF3300"/>
                      </a:solidFill>
                      <a:ea typeface="楷体_GB2312" pitchFamily="49" charset="-122"/>
                    </a:rPr>
                    <a:t>i</a:t>
                  </a:r>
                  <a:r>
                    <a:rPr kumimoji="0" lang="en-US" altLang="zh-CN" sz="2000" i="1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b</a:t>
                  </a:r>
                  <a:r>
                    <a:rPr kumimoji="0" lang="en-US" altLang="zh-CN" sz="2000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3</a:t>
                  </a:r>
                  <a:endParaRPr kumimoji="0" lang="en-US" altLang="zh-CN" sz="2000" baseline="-25000" dirty="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39006" name="Group 62"/>
              <p:cNvGrpSpPr>
                <a:grpSpLocks/>
              </p:cNvGrpSpPr>
              <p:nvPr/>
            </p:nvGrpSpPr>
            <p:grpSpPr bwMode="auto">
              <a:xfrm>
                <a:off x="4541" y="2160"/>
                <a:ext cx="266" cy="555"/>
                <a:chOff x="4541" y="2160"/>
                <a:chExt cx="266" cy="555"/>
              </a:xfrm>
            </p:grpSpPr>
            <p:sp>
              <p:nvSpPr>
                <p:cNvPr id="339007" name="Oval 63"/>
                <p:cNvSpPr>
                  <a:spLocks noChangeArrowheads="1"/>
                </p:cNvSpPr>
                <p:nvPr/>
              </p:nvSpPr>
              <p:spPr bwMode="auto">
                <a:xfrm>
                  <a:off x="4566" y="2160"/>
                  <a:ext cx="199" cy="55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9008" name="Line 64"/>
                <p:cNvSpPr>
                  <a:spLocks noChangeShapeType="1"/>
                </p:cNvSpPr>
                <p:nvPr/>
              </p:nvSpPr>
              <p:spPr bwMode="auto">
                <a:xfrm>
                  <a:off x="4765" y="2412"/>
                  <a:ext cx="0" cy="51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900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541" y="2315"/>
                  <a:ext cx="266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33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 dirty="0">
                      <a:solidFill>
                        <a:srgbClr val="FF3300"/>
                      </a:solidFill>
                      <a:ea typeface="楷体_GB2312" pitchFamily="49" charset="-122"/>
                    </a:rPr>
                    <a:t>i</a:t>
                  </a:r>
                  <a:r>
                    <a:rPr kumimoji="0" lang="en-US" altLang="zh-CN" sz="2000" i="1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a</a:t>
                  </a:r>
                  <a:r>
                    <a:rPr kumimoji="0" lang="en-US" altLang="zh-CN" sz="2000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3</a:t>
                  </a:r>
                  <a:endParaRPr kumimoji="0" lang="en-US" altLang="zh-CN" sz="2000" baseline="-25000" dirty="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39010" name="Group 66"/>
              <p:cNvGrpSpPr>
                <a:grpSpLocks/>
              </p:cNvGrpSpPr>
              <p:nvPr/>
            </p:nvGrpSpPr>
            <p:grpSpPr bwMode="auto">
              <a:xfrm>
                <a:off x="4822" y="1974"/>
                <a:ext cx="380" cy="1016"/>
                <a:chOff x="4822" y="1974"/>
                <a:chExt cx="380" cy="1016"/>
              </a:xfrm>
            </p:grpSpPr>
            <p:sp>
              <p:nvSpPr>
                <p:cNvPr id="339011" name="Line 67"/>
                <p:cNvSpPr>
                  <a:spLocks noChangeShapeType="1"/>
                </p:cNvSpPr>
                <p:nvPr/>
              </p:nvSpPr>
              <p:spPr bwMode="auto">
                <a:xfrm>
                  <a:off x="4869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9012" name="Rectangle 68"/>
                <p:cNvSpPr>
                  <a:spLocks noChangeArrowheads="1"/>
                </p:cNvSpPr>
                <p:nvPr/>
              </p:nvSpPr>
              <p:spPr bwMode="auto">
                <a:xfrm>
                  <a:off x="4822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901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868" y="2153"/>
                  <a:ext cx="33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2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39014" name="Group 70"/>
              <p:cNvGrpSpPr>
                <a:grpSpLocks/>
              </p:cNvGrpSpPr>
              <p:nvPr/>
            </p:nvGrpSpPr>
            <p:grpSpPr bwMode="auto">
              <a:xfrm>
                <a:off x="5266" y="1974"/>
                <a:ext cx="433" cy="1038"/>
                <a:chOff x="5266" y="1974"/>
                <a:chExt cx="433" cy="1038"/>
              </a:xfrm>
            </p:grpSpPr>
            <p:sp>
              <p:nvSpPr>
                <p:cNvPr id="339015" name="Line 71"/>
                <p:cNvSpPr>
                  <a:spLocks noChangeShapeType="1"/>
                </p:cNvSpPr>
                <p:nvPr/>
              </p:nvSpPr>
              <p:spPr bwMode="auto">
                <a:xfrm>
                  <a:off x="5366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9016" name="Oval 72"/>
                <p:cNvSpPr>
                  <a:spLocks noChangeArrowheads="1"/>
                </p:cNvSpPr>
                <p:nvPr/>
              </p:nvSpPr>
              <p:spPr bwMode="auto">
                <a:xfrm>
                  <a:off x="5266" y="2634"/>
                  <a:ext cx="203" cy="21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9017" name="Rectangle 73"/>
                <p:cNvSpPr>
                  <a:spLocks noChangeArrowheads="1"/>
                </p:cNvSpPr>
                <p:nvPr/>
              </p:nvSpPr>
              <p:spPr bwMode="auto">
                <a:xfrm>
                  <a:off x="5319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9018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5366" y="2153"/>
                  <a:ext cx="3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3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  <p:sp>
              <p:nvSpPr>
                <p:cNvPr id="339019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5340" y="2406"/>
                  <a:ext cx="20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>
                      <a:ea typeface="楷体_GB2312" pitchFamily="49" charset="-122"/>
                    </a:rPr>
                    <a:t>+</a:t>
                  </a:r>
                </a:p>
              </p:txBody>
            </p:sp>
            <p:sp>
              <p:nvSpPr>
                <p:cNvPr id="33902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5353" y="2762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>
                      <a:ea typeface="楷体_GB2312" pitchFamily="49" charset="-122"/>
                    </a:rPr>
                    <a:t>–</a:t>
                  </a:r>
                </a:p>
              </p:txBody>
            </p:sp>
          </p:grpSp>
          <p:grpSp>
            <p:nvGrpSpPr>
              <p:cNvPr id="339021" name="Group 77"/>
              <p:cNvGrpSpPr>
                <a:grpSpLocks/>
              </p:cNvGrpSpPr>
              <p:nvPr/>
            </p:nvGrpSpPr>
            <p:grpSpPr bwMode="auto">
              <a:xfrm>
                <a:off x="4326" y="1974"/>
                <a:ext cx="380" cy="1016"/>
                <a:chOff x="4326" y="1974"/>
                <a:chExt cx="380" cy="1016"/>
              </a:xfrm>
            </p:grpSpPr>
            <p:sp>
              <p:nvSpPr>
                <p:cNvPr id="339022" name="Line 78"/>
                <p:cNvSpPr>
                  <a:spLocks noChangeShapeType="1"/>
                </p:cNvSpPr>
                <p:nvPr/>
              </p:nvSpPr>
              <p:spPr bwMode="auto">
                <a:xfrm>
                  <a:off x="4373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9023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6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339024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73" y="2153"/>
                  <a:ext cx="3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1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339025" name="Line 81"/>
              <p:cNvSpPr>
                <a:spLocks noChangeShapeType="1"/>
              </p:cNvSpPr>
              <p:nvPr/>
            </p:nvSpPr>
            <p:spPr bwMode="auto">
              <a:xfrm>
                <a:off x="4377" y="1974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26" name="Line 82"/>
              <p:cNvSpPr>
                <a:spLocks noChangeShapeType="1"/>
              </p:cNvSpPr>
              <p:nvPr/>
            </p:nvSpPr>
            <p:spPr bwMode="auto">
              <a:xfrm>
                <a:off x="4377" y="2982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27" name="Text Box 83"/>
              <p:cNvSpPr txBox="1">
                <a:spLocks noChangeArrowheads="1"/>
              </p:cNvSpPr>
              <p:nvPr/>
            </p:nvSpPr>
            <p:spPr bwMode="auto">
              <a:xfrm>
                <a:off x="5435" y="2583"/>
                <a:ext cx="315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 dirty="0">
                    <a:ea typeface="楷体_GB2312" pitchFamily="49" charset="-122"/>
                  </a:rPr>
                  <a:t>v</a:t>
                </a:r>
                <a:r>
                  <a:rPr kumimoji="0" lang="en-US" altLang="zh-CN" i="1" baseline="-25000" dirty="0">
                    <a:ea typeface="楷体_GB2312" pitchFamily="49" charset="-122"/>
                  </a:rPr>
                  <a:t>s</a:t>
                </a:r>
                <a:r>
                  <a:rPr kumimoji="0" lang="en-US" altLang="zh-CN" baseline="-25000" dirty="0"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339028" name="Line 84"/>
              <p:cNvSpPr>
                <a:spLocks noChangeShapeType="1"/>
              </p:cNvSpPr>
              <p:nvPr/>
            </p:nvSpPr>
            <p:spPr bwMode="auto">
              <a:xfrm>
                <a:off x="4477" y="1974"/>
                <a:ext cx="1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29" name="Text Box 85"/>
              <p:cNvSpPr txBox="1">
                <a:spLocks noChangeArrowheads="1"/>
              </p:cNvSpPr>
              <p:nvPr/>
            </p:nvSpPr>
            <p:spPr bwMode="auto">
              <a:xfrm>
                <a:off x="4454" y="1728"/>
                <a:ext cx="2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baseline="-25000">
                    <a:solidFill>
                      <a:srgbClr val="FF3300"/>
                    </a:solidFill>
                    <a:ea typeface="楷体_GB2312" pitchFamily="49" charset="-122"/>
                  </a:rPr>
                  <a:t>13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grpSp>
          <p:nvGrpSpPr>
            <p:cNvPr id="339030" name="Group 86"/>
            <p:cNvGrpSpPr>
              <a:grpSpLocks/>
            </p:cNvGrpSpPr>
            <p:nvPr/>
          </p:nvGrpSpPr>
          <p:grpSpPr bwMode="auto">
            <a:xfrm>
              <a:off x="3429000" y="3810000"/>
              <a:ext cx="304800" cy="304800"/>
              <a:chOff x="2304" y="3216"/>
              <a:chExt cx="192" cy="192"/>
            </a:xfrm>
          </p:grpSpPr>
          <p:sp>
            <p:nvSpPr>
              <p:cNvPr id="339031" name="Line 87"/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32" name="Line 88"/>
              <p:cNvSpPr>
                <a:spLocks noChangeShapeType="1"/>
              </p:cNvSpPr>
              <p:nvPr/>
            </p:nvSpPr>
            <p:spPr bwMode="auto">
              <a:xfrm rot="5400000">
                <a:off x="2304" y="3312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39033" name="Group 89"/>
            <p:cNvGrpSpPr>
              <a:grpSpLocks/>
            </p:cNvGrpSpPr>
            <p:nvPr/>
          </p:nvGrpSpPr>
          <p:grpSpPr bwMode="auto">
            <a:xfrm>
              <a:off x="6248401" y="3810000"/>
              <a:ext cx="304800" cy="304800"/>
              <a:chOff x="2304" y="3216"/>
              <a:chExt cx="192" cy="192"/>
            </a:xfrm>
          </p:grpSpPr>
          <p:sp>
            <p:nvSpPr>
              <p:cNvPr id="339034" name="Line 90"/>
              <p:cNvSpPr>
                <a:spLocks noChangeShapeType="1"/>
              </p:cNvSpPr>
              <p:nvPr/>
            </p:nvSpPr>
            <p:spPr bwMode="auto">
              <a:xfrm>
                <a:off x="2304" y="3312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35" name="Line 91"/>
              <p:cNvSpPr>
                <a:spLocks noChangeShapeType="1"/>
              </p:cNvSpPr>
              <p:nvPr/>
            </p:nvSpPr>
            <p:spPr bwMode="auto">
              <a:xfrm rot="5400000">
                <a:off x="2304" y="3312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39036" name="Group 92"/>
            <p:cNvGrpSpPr>
              <a:grpSpLocks/>
            </p:cNvGrpSpPr>
            <p:nvPr/>
          </p:nvGrpSpPr>
          <p:grpSpPr bwMode="auto">
            <a:xfrm>
              <a:off x="457200" y="3810000"/>
              <a:ext cx="381000" cy="152400"/>
              <a:chOff x="288" y="2400"/>
              <a:chExt cx="240" cy="96"/>
            </a:xfrm>
          </p:grpSpPr>
          <p:sp>
            <p:nvSpPr>
              <p:cNvPr id="339037" name="Line 93"/>
              <p:cNvSpPr>
                <a:spLocks noChangeShapeType="1"/>
              </p:cNvSpPr>
              <p:nvPr/>
            </p:nvSpPr>
            <p:spPr bwMode="auto">
              <a:xfrm>
                <a:off x="288" y="240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038" name="Line 94"/>
              <p:cNvSpPr>
                <a:spLocks noChangeShapeType="1"/>
              </p:cNvSpPr>
              <p:nvPr/>
            </p:nvSpPr>
            <p:spPr bwMode="auto">
              <a:xfrm>
                <a:off x="288" y="2496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9" name="Oval 46"/>
            <p:cNvSpPr>
              <a:spLocks noChangeArrowheads="1"/>
            </p:cNvSpPr>
            <p:nvPr/>
          </p:nvSpPr>
          <p:spPr bwMode="auto">
            <a:xfrm>
              <a:off x="1970882" y="3098575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Oval 46"/>
            <p:cNvSpPr>
              <a:spLocks noChangeArrowheads="1"/>
            </p:cNvSpPr>
            <p:nvPr/>
          </p:nvSpPr>
          <p:spPr bwMode="auto">
            <a:xfrm>
              <a:off x="1969434" y="4695030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Oval 46"/>
            <p:cNvSpPr>
              <a:spLocks noChangeArrowheads="1"/>
            </p:cNvSpPr>
            <p:nvPr/>
          </p:nvSpPr>
          <p:spPr bwMode="auto">
            <a:xfrm>
              <a:off x="4870451" y="3097212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Oval 46"/>
            <p:cNvSpPr>
              <a:spLocks noChangeArrowheads="1"/>
            </p:cNvSpPr>
            <p:nvPr/>
          </p:nvSpPr>
          <p:spPr bwMode="auto">
            <a:xfrm>
              <a:off x="4871246" y="4698999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Oval 46"/>
            <p:cNvSpPr>
              <a:spLocks noChangeArrowheads="1"/>
            </p:cNvSpPr>
            <p:nvPr/>
          </p:nvSpPr>
          <p:spPr bwMode="auto">
            <a:xfrm>
              <a:off x="7693820" y="3097212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4" name="Group 57"/>
            <p:cNvGrpSpPr>
              <a:grpSpLocks/>
            </p:cNvGrpSpPr>
            <p:nvPr/>
          </p:nvGrpSpPr>
          <p:grpSpPr bwMode="auto">
            <a:xfrm>
              <a:off x="6861971" y="2744787"/>
              <a:ext cx="2260600" cy="2038350"/>
              <a:chOff x="4326" y="1728"/>
              <a:chExt cx="1424" cy="1284"/>
            </a:xfrm>
          </p:grpSpPr>
          <p:grpSp>
            <p:nvGrpSpPr>
              <p:cNvPr id="145" name="Group 58"/>
              <p:cNvGrpSpPr>
                <a:grpSpLocks/>
              </p:cNvGrpSpPr>
              <p:nvPr/>
            </p:nvGrpSpPr>
            <p:grpSpPr bwMode="auto">
              <a:xfrm>
                <a:off x="5047" y="2175"/>
                <a:ext cx="266" cy="555"/>
                <a:chOff x="5047" y="2175"/>
                <a:chExt cx="266" cy="555"/>
              </a:xfrm>
            </p:grpSpPr>
            <p:sp>
              <p:nvSpPr>
                <p:cNvPr id="170" name="Oval 59"/>
                <p:cNvSpPr>
                  <a:spLocks noChangeArrowheads="1"/>
                </p:cNvSpPr>
                <p:nvPr/>
              </p:nvSpPr>
              <p:spPr bwMode="auto">
                <a:xfrm>
                  <a:off x="5072" y="2175"/>
                  <a:ext cx="199" cy="55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" name="Line 60"/>
                <p:cNvSpPr>
                  <a:spLocks noChangeShapeType="1"/>
                </p:cNvSpPr>
                <p:nvPr/>
              </p:nvSpPr>
              <p:spPr bwMode="auto">
                <a:xfrm>
                  <a:off x="5271" y="2427"/>
                  <a:ext cx="0" cy="51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5047" y="2330"/>
                  <a:ext cx="266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33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 dirty="0">
                      <a:solidFill>
                        <a:srgbClr val="FF3300"/>
                      </a:solidFill>
                      <a:ea typeface="楷体_GB2312" pitchFamily="49" charset="-122"/>
                    </a:rPr>
                    <a:t>i</a:t>
                  </a:r>
                  <a:r>
                    <a:rPr kumimoji="0" lang="en-US" altLang="zh-CN" sz="2000" i="1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b</a:t>
                  </a:r>
                  <a:r>
                    <a:rPr kumimoji="0" lang="en-US" altLang="zh-CN" sz="2000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3</a:t>
                  </a:r>
                  <a:endParaRPr kumimoji="0" lang="en-US" altLang="zh-CN" sz="2000" baseline="-25000" dirty="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146" name="Group 62"/>
              <p:cNvGrpSpPr>
                <a:grpSpLocks/>
              </p:cNvGrpSpPr>
              <p:nvPr/>
            </p:nvGrpSpPr>
            <p:grpSpPr bwMode="auto">
              <a:xfrm>
                <a:off x="4541" y="2160"/>
                <a:ext cx="266" cy="555"/>
                <a:chOff x="4541" y="2160"/>
                <a:chExt cx="266" cy="555"/>
              </a:xfrm>
            </p:grpSpPr>
            <p:sp>
              <p:nvSpPr>
                <p:cNvPr id="167" name="Oval 63"/>
                <p:cNvSpPr>
                  <a:spLocks noChangeArrowheads="1"/>
                </p:cNvSpPr>
                <p:nvPr/>
              </p:nvSpPr>
              <p:spPr bwMode="auto">
                <a:xfrm>
                  <a:off x="4566" y="2160"/>
                  <a:ext cx="199" cy="55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8" name="Line 64"/>
                <p:cNvSpPr>
                  <a:spLocks noChangeShapeType="1"/>
                </p:cNvSpPr>
                <p:nvPr/>
              </p:nvSpPr>
              <p:spPr bwMode="auto">
                <a:xfrm>
                  <a:off x="4765" y="2412"/>
                  <a:ext cx="0" cy="51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541" y="2315"/>
                  <a:ext cx="266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33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 dirty="0">
                      <a:solidFill>
                        <a:srgbClr val="FF3300"/>
                      </a:solidFill>
                      <a:ea typeface="楷体_GB2312" pitchFamily="49" charset="-122"/>
                    </a:rPr>
                    <a:t>i</a:t>
                  </a:r>
                  <a:r>
                    <a:rPr kumimoji="0" lang="en-US" altLang="zh-CN" sz="2000" i="1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a</a:t>
                  </a:r>
                  <a:r>
                    <a:rPr kumimoji="0" lang="en-US" altLang="zh-CN" sz="2000" baseline="-25000" dirty="0">
                      <a:solidFill>
                        <a:srgbClr val="FF3300"/>
                      </a:solidFill>
                      <a:ea typeface="楷体_GB2312" pitchFamily="49" charset="-122"/>
                    </a:rPr>
                    <a:t>3</a:t>
                  </a:r>
                  <a:endParaRPr kumimoji="0" lang="en-US" altLang="zh-CN" sz="2000" baseline="-25000" dirty="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147" name="Group 66"/>
              <p:cNvGrpSpPr>
                <a:grpSpLocks/>
              </p:cNvGrpSpPr>
              <p:nvPr/>
            </p:nvGrpSpPr>
            <p:grpSpPr bwMode="auto">
              <a:xfrm>
                <a:off x="4822" y="1974"/>
                <a:ext cx="380" cy="1016"/>
                <a:chOff x="4822" y="1974"/>
                <a:chExt cx="380" cy="1016"/>
              </a:xfrm>
            </p:grpSpPr>
            <p:sp>
              <p:nvSpPr>
                <p:cNvPr id="164" name="Line 67"/>
                <p:cNvSpPr>
                  <a:spLocks noChangeShapeType="1"/>
                </p:cNvSpPr>
                <p:nvPr/>
              </p:nvSpPr>
              <p:spPr bwMode="auto">
                <a:xfrm>
                  <a:off x="4869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65" name="Rectangle 68"/>
                <p:cNvSpPr>
                  <a:spLocks noChangeArrowheads="1"/>
                </p:cNvSpPr>
                <p:nvPr/>
              </p:nvSpPr>
              <p:spPr bwMode="auto">
                <a:xfrm>
                  <a:off x="4822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66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868" y="2153"/>
                  <a:ext cx="33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2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148" name="Group 70"/>
              <p:cNvGrpSpPr>
                <a:grpSpLocks/>
              </p:cNvGrpSpPr>
              <p:nvPr/>
            </p:nvGrpSpPr>
            <p:grpSpPr bwMode="auto">
              <a:xfrm>
                <a:off x="5271" y="1974"/>
                <a:ext cx="428" cy="1038"/>
                <a:chOff x="5271" y="1974"/>
                <a:chExt cx="428" cy="1038"/>
              </a:xfrm>
            </p:grpSpPr>
            <p:sp>
              <p:nvSpPr>
                <p:cNvPr id="158" name="Line 71"/>
                <p:cNvSpPr>
                  <a:spLocks noChangeShapeType="1"/>
                </p:cNvSpPr>
                <p:nvPr/>
              </p:nvSpPr>
              <p:spPr bwMode="auto">
                <a:xfrm>
                  <a:off x="5366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59" name="Oval 72"/>
                <p:cNvSpPr>
                  <a:spLocks noChangeArrowheads="1"/>
                </p:cNvSpPr>
                <p:nvPr/>
              </p:nvSpPr>
              <p:spPr bwMode="auto">
                <a:xfrm>
                  <a:off x="5271" y="2634"/>
                  <a:ext cx="203" cy="216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60" name="Rectangle 73"/>
                <p:cNvSpPr>
                  <a:spLocks noChangeArrowheads="1"/>
                </p:cNvSpPr>
                <p:nvPr/>
              </p:nvSpPr>
              <p:spPr bwMode="auto">
                <a:xfrm>
                  <a:off x="5319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61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5366" y="2153"/>
                  <a:ext cx="3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3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  <p:sp>
              <p:nvSpPr>
                <p:cNvPr id="162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5340" y="2406"/>
                  <a:ext cx="20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>
                      <a:ea typeface="楷体_GB2312" pitchFamily="49" charset="-122"/>
                    </a:rPr>
                    <a:t>+</a:t>
                  </a:r>
                </a:p>
              </p:txBody>
            </p:sp>
            <p:sp>
              <p:nvSpPr>
                <p:cNvPr id="163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5353" y="2762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>
                      <a:ea typeface="楷体_GB2312" pitchFamily="49" charset="-122"/>
                    </a:rPr>
                    <a:t>–</a:t>
                  </a:r>
                </a:p>
              </p:txBody>
            </p:sp>
          </p:grpSp>
          <p:grpSp>
            <p:nvGrpSpPr>
              <p:cNvPr id="149" name="Group 77"/>
              <p:cNvGrpSpPr>
                <a:grpSpLocks/>
              </p:cNvGrpSpPr>
              <p:nvPr/>
            </p:nvGrpSpPr>
            <p:grpSpPr bwMode="auto">
              <a:xfrm>
                <a:off x="4326" y="1974"/>
                <a:ext cx="380" cy="1016"/>
                <a:chOff x="4326" y="1974"/>
                <a:chExt cx="380" cy="1016"/>
              </a:xfrm>
            </p:grpSpPr>
            <p:sp>
              <p:nvSpPr>
                <p:cNvPr id="155" name="Line 78"/>
                <p:cNvSpPr>
                  <a:spLocks noChangeShapeType="1"/>
                </p:cNvSpPr>
                <p:nvPr/>
              </p:nvSpPr>
              <p:spPr bwMode="auto">
                <a:xfrm>
                  <a:off x="4373" y="1974"/>
                  <a:ext cx="0" cy="10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56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6" y="2178"/>
                  <a:ext cx="95" cy="254"/>
                </a:xfrm>
                <a:prstGeom prst="rect">
                  <a:avLst/>
                </a:prstGeom>
                <a:solidFill>
                  <a:srgbClr val="00FF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endParaRPr lang="zh-CN" altLang="en-US"/>
                </a:p>
              </p:txBody>
            </p:sp>
            <p:sp>
              <p:nvSpPr>
                <p:cNvPr id="157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73" y="2153"/>
                  <a:ext cx="3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sz="2000" i="1">
                      <a:ea typeface="楷体_GB2312" pitchFamily="49" charset="-122"/>
                    </a:rPr>
                    <a:t>R</a:t>
                  </a:r>
                  <a:r>
                    <a:rPr kumimoji="0" lang="en-US" altLang="zh-CN" sz="2000" baseline="-25000">
                      <a:ea typeface="楷体_GB2312" pitchFamily="49" charset="-122"/>
                    </a:rPr>
                    <a:t>1</a:t>
                  </a:r>
                  <a:endParaRPr kumimoji="0" lang="en-US" altLang="zh-CN" sz="2000">
                    <a:ea typeface="楷体_GB2312" pitchFamily="49" charset="-122"/>
                  </a:endParaRPr>
                </a:p>
              </p:txBody>
            </p:sp>
          </p:grpSp>
          <p:sp>
            <p:nvSpPr>
              <p:cNvPr id="150" name="Line 81"/>
              <p:cNvSpPr>
                <a:spLocks noChangeShapeType="1"/>
              </p:cNvSpPr>
              <p:nvPr/>
            </p:nvSpPr>
            <p:spPr bwMode="auto">
              <a:xfrm>
                <a:off x="4377" y="1974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" name="Line 82"/>
              <p:cNvSpPr>
                <a:spLocks noChangeShapeType="1"/>
              </p:cNvSpPr>
              <p:nvPr/>
            </p:nvSpPr>
            <p:spPr bwMode="auto">
              <a:xfrm>
                <a:off x="4377" y="2982"/>
                <a:ext cx="9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2" name="Text Box 83"/>
              <p:cNvSpPr txBox="1">
                <a:spLocks noChangeArrowheads="1"/>
              </p:cNvSpPr>
              <p:nvPr/>
            </p:nvSpPr>
            <p:spPr bwMode="auto">
              <a:xfrm>
                <a:off x="5435" y="2583"/>
                <a:ext cx="315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 dirty="0">
                    <a:ea typeface="楷体_GB2312" pitchFamily="49" charset="-122"/>
                  </a:rPr>
                  <a:t>v</a:t>
                </a:r>
                <a:r>
                  <a:rPr kumimoji="0" lang="en-US" altLang="zh-CN" i="1" baseline="-25000" dirty="0">
                    <a:ea typeface="楷体_GB2312" pitchFamily="49" charset="-122"/>
                  </a:rPr>
                  <a:t>s</a:t>
                </a:r>
                <a:r>
                  <a:rPr kumimoji="0" lang="en-US" altLang="zh-CN" baseline="-25000" dirty="0"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153" name="Line 84"/>
              <p:cNvSpPr>
                <a:spLocks noChangeShapeType="1"/>
              </p:cNvSpPr>
              <p:nvPr/>
            </p:nvSpPr>
            <p:spPr bwMode="auto">
              <a:xfrm>
                <a:off x="4477" y="1974"/>
                <a:ext cx="1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" name="Text Box 85"/>
              <p:cNvSpPr txBox="1">
                <a:spLocks noChangeArrowheads="1"/>
              </p:cNvSpPr>
              <p:nvPr/>
            </p:nvSpPr>
            <p:spPr bwMode="auto">
              <a:xfrm>
                <a:off x="4454" y="1728"/>
                <a:ext cx="2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baseline="-25000">
                    <a:solidFill>
                      <a:srgbClr val="FF3300"/>
                    </a:solidFill>
                    <a:ea typeface="楷体_GB2312" pitchFamily="49" charset="-122"/>
                  </a:rPr>
                  <a:t>13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sp>
          <p:nvSpPr>
            <p:cNvPr id="173" name="Oval 46"/>
            <p:cNvSpPr>
              <a:spLocks noChangeArrowheads="1"/>
            </p:cNvSpPr>
            <p:nvPr/>
          </p:nvSpPr>
          <p:spPr bwMode="auto">
            <a:xfrm>
              <a:off x="7693026" y="4702174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970" name="Group 2"/>
          <p:cNvGrpSpPr>
            <a:grpSpLocks/>
          </p:cNvGrpSpPr>
          <p:nvPr/>
        </p:nvGrpSpPr>
        <p:grpSpPr bwMode="auto">
          <a:xfrm>
            <a:off x="142875" y="0"/>
            <a:ext cx="2346326" cy="2038350"/>
            <a:chOff x="1434" y="384"/>
            <a:chExt cx="1478" cy="1284"/>
          </a:xfrm>
        </p:grpSpPr>
        <p:grpSp>
          <p:nvGrpSpPr>
            <p:cNvPr id="339971" name="Group 3"/>
            <p:cNvGrpSpPr>
              <a:grpSpLocks/>
            </p:cNvGrpSpPr>
            <p:nvPr/>
          </p:nvGrpSpPr>
          <p:grpSpPr bwMode="auto">
            <a:xfrm>
              <a:off x="2233" y="831"/>
              <a:ext cx="218" cy="555"/>
              <a:chOff x="575" y="816"/>
              <a:chExt cx="211" cy="528"/>
            </a:xfrm>
          </p:grpSpPr>
          <p:sp>
            <p:nvSpPr>
              <p:cNvPr id="339972" name="Oval 4"/>
              <p:cNvSpPr>
                <a:spLocks noChangeArrowheads="1"/>
              </p:cNvSpPr>
              <p:nvPr/>
            </p:nvSpPr>
            <p:spPr bwMode="auto">
              <a:xfrm>
                <a:off x="576" y="816"/>
                <a:ext cx="192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973" name="Line 5"/>
              <p:cNvSpPr>
                <a:spLocks noChangeShapeType="1"/>
              </p:cNvSpPr>
              <p:nvPr/>
            </p:nvSpPr>
            <p:spPr bwMode="auto">
              <a:xfrm>
                <a:off x="768" y="1056"/>
                <a:ext cx="0" cy="4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974" name="Text Box 6"/>
              <p:cNvSpPr txBox="1">
                <a:spLocks noChangeArrowheads="1"/>
              </p:cNvSpPr>
              <p:nvPr/>
            </p:nvSpPr>
            <p:spPr bwMode="auto">
              <a:xfrm>
                <a:off x="575" y="963"/>
                <a:ext cx="211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 err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 err="1">
                    <a:solidFill>
                      <a:srgbClr val="FF3300"/>
                    </a:solidFill>
                    <a:ea typeface="楷体_GB2312" pitchFamily="49" charset="-122"/>
                  </a:rPr>
                  <a:t>b</a:t>
                </a:r>
                <a:endParaRPr kumimoji="0" lang="en-US" altLang="zh-CN" sz="2000" i="1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39975" name="Group 7"/>
            <p:cNvGrpSpPr>
              <a:grpSpLocks/>
            </p:cNvGrpSpPr>
            <p:nvPr/>
          </p:nvGrpSpPr>
          <p:grpSpPr bwMode="auto">
            <a:xfrm>
              <a:off x="1728" y="816"/>
              <a:ext cx="214" cy="555"/>
              <a:chOff x="576" y="816"/>
              <a:chExt cx="207" cy="528"/>
            </a:xfrm>
          </p:grpSpPr>
          <p:sp>
            <p:nvSpPr>
              <p:cNvPr id="339976" name="Oval 8"/>
              <p:cNvSpPr>
                <a:spLocks noChangeArrowheads="1"/>
              </p:cNvSpPr>
              <p:nvPr/>
            </p:nvSpPr>
            <p:spPr bwMode="auto">
              <a:xfrm>
                <a:off x="576" y="816"/>
                <a:ext cx="192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977" name="Line 9"/>
              <p:cNvSpPr>
                <a:spLocks noChangeShapeType="1"/>
              </p:cNvSpPr>
              <p:nvPr/>
            </p:nvSpPr>
            <p:spPr bwMode="auto">
              <a:xfrm>
                <a:off x="768" y="1056"/>
                <a:ext cx="0" cy="4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9978" name="Text Box 10"/>
              <p:cNvSpPr txBox="1">
                <a:spLocks noChangeArrowheads="1"/>
              </p:cNvSpPr>
              <p:nvPr/>
            </p:nvSpPr>
            <p:spPr bwMode="auto">
              <a:xfrm>
                <a:off x="578" y="963"/>
                <a:ext cx="205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 err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 err="1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endParaRPr kumimoji="0" lang="en-US" altLang="zh-CN" sz="2000" i="1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39979" name="Group 11"/>
            <p:cNvGrpSpPr>
              <a:grpSpLocks/>
            </p:cNvGrpSpPr>
            <p:nvPr/>
          </p:nvGrpSpPr>
          <p:grpSpPr bwMode="auto">
            <a:xfrm>
              <a:off x="1930" y="630"/>
              <a:ext cx="433" cy="1038"/>
              <a:chOff x="1092" y="1183"/>
              <a:chExt cx="418" cy="989"/>
            </a:xfrm>
          </p:grpSpPr>
          <p:sp>
            <p:nvSpPr>
              <p:cNvPr id="339980" name="Line 12"/>
              <p:cNvSpPr>
                <a:spLocks noChangeShapeType="1"/>
              </p:cNvSpPr>
              <p:nvPr/>
            </p:nvSpPr>
            <p:spPr bwMode="auto">
              <a:xfrm>
                <a:off x="1189" y="1183"/>
                <a:ext cx="0" cy="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81" name="Oval 13"/>
              <p:cNvSpPr>
                <a:spLocks noChangeArrowheads="1"/>
              </p:cNvSpPr>
              <p:nvPr/>
            </p:nvSpPr>
            <p:spPr bwMode="auto">
              <a:xfrm>
                <a:off x="1092" y="1812"/>
                <a:ext cx="196" cy="20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82" name="Rectangle 14"/>
              <p:cNvSpPr>
                <a:spLocks noChangeArrowheads="1"/>
              </p:cNvSpPr>
              <p:nvPr/>
            </p:nvSpPr>
            <p:spPr bwMode="auto">
              <a:xfrm>
                <a:off x="1143" y="1377"/>
                <a:ext cx="92" cy="242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83" name="Text Box 15"/>
              <p:cNvSpPr txBox="1">
                <a:spLocks noChangeArrowheads="1"/>
              </p:cNvSpPr>
              <p:nvPr/>
            </p:nvSpPr>
            <p:spPr bwMode="auto">
              <a:xfrm>
                <a:off x="1188" y="1354"/>
                <a:ext cx="32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2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39984" name="Text Box 16"/>
              <p:cNvSpPr txBox="1">
                <a:spLocks noChangeArrowheads="1"/>
              </p:cNvSpPr>
              <p:nvPr/>
            </p:nvSpPr>
            <p:spPr bwMode="auto">
              <a:xfrm>
                <a:off x="1163" y="1595"/>
                <a:ext cx="199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39985" name="Text Box 17"/>
              <p:cNvSpPr txBox="1">
                <a:spLocks noChangeArrowheads="1"/>
              </p:cNvSpPr>
              <p:nvPr/>
            </p:nvSpPr>
            <p:spPr bwMode="auto">
              <a:xfrm>
                <a:off x="1176" y="1934"/>
                <a:ext cx="189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grpSp>
          <p:nvGrpSpPr>
            <p:cNvPr id="339986" name="Group 18"/>
            <p:cNvGrpSpPr>
              <a:grpSpLocks/>
            </p:cNvGrpSpPr>
            <p:nvPr/>
          </p:nvGrpSpPr>
          <p:grpSpPr bwMode="auto">
            <a:xfrm>
              <a:off x="2421" y="630"/>
              <a:ext cx="438" cy="1038"/>
              <a:chOff x="1087" y="1183"/>
              <a:chExt cx="424" cy="989"/>
            </a:xfrm>
          </p:grpSpPr>
          <p:sp>
            <p:nvSpPr>
              <p:cNvPr id="339987" name="Line 19"/>
              <p:cNvSpPr>
                <a:spLocks noChangeShapeType="1"/>
              </p:cNvSpPr>
              <p:nvPr/>
            </p:nvSpPr>
            <p:spPr bwMode="auto">
              <a:xfrm>
                <a:off x="1189" y="1183"/>
                <a:ext cx="0" cy="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88" name="Oval 20"/>
              <p:cNvSpPr>
                <a:spLocks noChangeArrowheads="1"/>
              </p:cNvSpPr>
              <p:nvPr/>
            </p:nvSpPr>
            <p:spPr bwMode="auto">
              <a:xfrm>
                <a:off x="1087" y="1812"/>
                <a:ext cx="196" cy="20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89" name="Rectangle 21"/>
              <p:cNvSpPr>
                <a:spLocks noChangeArrowheads="1"/>
              </p:cNvSpPr>
              <p:nvPr/>
            </p:nvSpPr>
            <p:spPr bwMode="auto">
              <a:xfrm>
                <a:off x="1143" y="1377"/>
                <a:ext cx="92" cy="242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90" name="Text Box 22"/>
              <p:cNvSpPr txBox="1">
                <a:spLocks noChangeArrowheads="1"/>
              </p:cNvSpPr>
              <p:nvPr/>
            </p:nvSpPr>
            <p:spPr bwMode="auto">
              <a:xfrm>
                <a:off x="1189" y="1354"/>
                <a:ext cx="32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3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39991" name="Text Box 23"/>
              <p:cNvSpPr txBox="1">
                <a:spLocks noChangeArrowheads="1"/>
              </p:cNvSpPr>
              <p:nvPr/>
            </p:nvSpPr>
            <p:spPr bwMode="auto">
              <a:xfrm>
                <a:off x="1164" y="1595"/>
                <a:ext cx="20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39992" name="Text Box 24"/>
              <p:cNvSpPr txBox="1">
                <a:spLocks noChangeArrowheads="1"/>
              </p:cNvSpPr>
              <p:nvPr/>
            </p:nvSpPr>
            <p:spPr bwMode="auto">
              <a:xfrm>
                <a:off x="1176" y="1934"/>
                <a:ext cx="19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grpSp>
          <p:nvGrpSpPr>
            <p:cNvPr id="339993" name="Group 25"/>
            <p:cNvGrpSpPr>
              <a:grpSpLocks/>
            </p:cNvGrpSpPr>
            <p:nvPr/>
          </p:nvGrpSpPr>
          <p:grpSpPr bwMode="auto">
            <a:xfrm>
              <a:off x="1434" y="630"/>
              <a:ext cx="433" cy="1038"/>
              <a:chOff x="1092" y="1183"/>
              <a:chExt cx="419" cy="989"/>
            </a:xfrm>
          </p:grpSpPr>
          <p:sp>
            <p:nvSpPr>
              <p:cNvPr id="339994" name="Line 26"/>
              <p:cNvSpPr>
                <a:spLocks noChangeShapeType="1"/>
              </p:cNvSpPr>
              <p:nvPr/>
            </p:nvSpPr>
            <p:spPr bwMode="auto">
              <a:xfrm>
                <a:off x="1189" y="1183"/>
                <a:ext cx="0" cy="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95" name="Oval 27"/>
              <p:cNvSpPr>
                <a:spLocks noChangeArrowheads="1"/>
              </p:cNvSpPr>
              <p:nvPr/>
            </p:nvSpPr>
            <p:spPr bwMode="auto">
              <a:xfrm>
                <a:off x="1092" y="1812"/>
                <a:ext cx="196" cy="20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96" name="Rectangle 28"/>
              <p:cNvSpPr>
                <a:spLocks noChangeArrowheads="1"/>
              </p:cNvSpPr>
              <p:nvPr/>
            </p:nvSpPr>
            <p:spPr bwMode="auto">
              <a:xfrm>
                <a:off x="1143" y="1377"/>
                <a:ext cx="92" cy="242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39997" name="Text Box 29"/>
              <p:cNvSpPr txBox="1">
                <a:spLocks noChangeArrowheads="1"/>
              </p:cNvSpPr>
              <p:nvPr/>
            </p:nvSpPr>
            <p:spPr bwMode="auto">
              <a:xfrm>
                <a:off x="1189" y="1354"/>
                <a:ext cx="32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1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39998" name="Text Box 30"/>
              <p:cNvSpPr txBox="1">
                <a:spLocks noChangeArrowheads="1"/>
              </p:cNvSpPr>
              <p:nvPr/>
            </p:nvSpPr>
            <p:spPr bwMode="auto">
              <a:xfrm>
                <a:off x="1164" y="1595"/>
                <a:ext cx="20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39999" name="Text Box 31"/>
              <p:cNvSpPr txBox="1">
                <a:spLocks noChangeArrowheads="1"/>
              </p:cNvSpPr>
              <p:nvPr/>
            </p:nvSpPr>
            <p:spPr bwMode="auto">
              <a:xfrm>
                <a:off x="1176" y="1934"/>
                <a:ext cx="19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sp>
          <p:nvSpPr>
            <p:cNvPr id="340000" name="Line 32"/>
            <p:cNvSpPr>
              <a:spLocks noChangeShapeType="1"/>
            </p:cNvSpPr>
            <p:nvPr/>
          </p:nvSpPr>
          <p:spPr bwMode="auto">
            <a:xfrm>
              <a:off x="1539" y="630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0001" name="Line 33"/>
            <p:cNvSpPr>
              <a:spLocks noChangeShapeType="1"/>
            </p:cNvSpPr>
            <p:nvPr/>
          </p:nvSpPr>
          <p:spPr bwMode="auto">
            <a:xfrm>
              <a:off x="1539" y="1638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0002" name="Text Box 34"/>
            <p:cNvSpPr txBox="1">
              <a:spLocks noChangeArrowheads="1"/>
            </p:cNvSpPr>
            <p:nvPr/>
          </p:nvSpPr>
          <p:spPr bwMode="auto">
            <a:xfrm>
              <a:off x="1604" y="1239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340003" name="Text Box 35"/>
            <p:cNvSpPr txBox="1">
              <a:spLocks noChangeArrowheads="1"/>
            </p:cNvSpPr>
            <p:nvPr/>
          </p:nvSpPr>
          <p:spPr bwMode="auto">
            <a:xfrm>
              <a:off x="2101" y="1239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340004" name="Text Box 36"/>
            <p:cNvSpPr txBox="1">
              <a:spLocks noChangeArrowheads="1"/>
            </p:cNvSpPr>
            <p:nvPr/>
          </p:nvSpPr>
          <p:spPr bwMode="auto">
            <a:xfrm>
              <a:off x="2597" y="1239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3</a:t>
              </a:r>
            </a:p>
          </p:txBody>
        </p:sp>
        <p:sp>
          <p:nvSpPr>
            <p:cNvPr id="340005" name="Line 37"/>
            <p:cNvSpPr>
              <a:spLocks noChangeShapeType="1"/>
            </p:cNvSpPr>
            <p:nvPr/>
          </p:nvSpPr>
          <p:spPr bwMode="auto">
            <a:xfrm>
              <a:off x="1639" y="630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0006" name="Text Box 38"/>
            <p:cNvSpPr txBox="1">
              <a:spLocks noChangeArrowheads="1"/>
            </p:cNvSpPr>
            <p:nvPr/>
          </p:nvSpPr>
          <p:spPr bwMode="auto">
            <a:xfrm>
              <a:off x="1642" y="384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sz="2000" baseline="-25000">
                  <a:solidFill>
                    <a:srgbClr val="FF3300"/>
                  </a:solidFill>
                  <a:ea typeface="楷体_GB2312" pitchFamily="49" charset="-122"/>
                </a:rPr>
                <a:t>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</p:grpSp>
      <p:grpSp>
        <p:nvGrpSpPr>
          <p:cNvPr id="340007" name="Group 39"/>
          <p:cNvGrpSpPr>
            <a:grpSpLocks/>
          </p:cNvGrpSpPr>
          <p:nvPr/>
        </p:nvGrpSpPr>
        <p:grpSpPr bwMode="auto">
          <a:xfrm>
            <a:off x="6583137" y="228600"/>
            <a:ext cx="2209800" cy="2508251"/>
            <a:chOff x="4128" y="144"/>
            <a:chExt cx="1392" cy="1580"/>
          </a:xfrm>
        </p:grpSpPr>
        <p:sp>
          <p:nvSpPr>
            <p:cNvPr id="340008" name="Text Box 40"/>
            <p:cNvSpPr txBox="1">
              <a:spLocks noChangeArrowheads="1"/>
            </p:cNvSpPr>
            <p:nvPr/>
          </p:nvSpPr>
          <p:spPr bwMode="auto">
            <a:xfrm>
              <a:off x="4128" y="144"/>
              <a:ext cx="528" cy="2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>
                  <a:solidFill>
                    <a:srgbClr val="FF3300"/>
                  </a:solidFill>
                </a:rPr>
                <a:t>其中</a:t>
              </a:r>
              <a:endParaRPr lang="zh-CN" altLang="en-US" sz="1800"/>
            </a:p>
          </p:txBody>
        </p:sp>
        <p:sp>
          <p:nvSpPr>
            <p:cNvPr id="340009" name="Text Box 41"/>
            <p:cNvSpPr txBox="1">
              <a:spLocks noChangeArrowheads="1"/>
            </p:cNvSpPr>
            <p:nvPr/>
          </p:nvSpPr>
          <p:spPr bwMode="auto">
            <a:xfrm>
              <a:off x="4176" y="502"/>
              <a:ext cx="1344" cy="122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 algn="l"/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11 </a:t>
              </a:r>
              <a:r>
                <a:rPr lang="en-US" altLang="zh-CN" dirty="0" smtClean="0"/>
                <a:t>= </a:t>
              </a: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1 </a:t>
              </a:r>
              <a:r>
                <a:rPr lang="en-US" altLang="zh-CN" dirty="0" smtClean="0"/>
                <a:t>+ </a:t>
              </a: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2</a:t>
              </a:r>
              <a:endParaRPr lang="en-US" altLang="zh-CN" dirty="0"/>
            </a:p>
            <a:p>
              <a:pPr algn="l"/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12 </a:t>
              </a:r>
              <a:r>
                <a:rPr lang="en-US" altLang="zh-CN" dirty="0" smtClean="0"/>
                <a:t>=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21</a:t>
              </a:r>
              <a:r>
                <a:rPr lang="en-US" altLang="zh-CN" dirty="0"/>
                <a:t>= </a:t>
              </a:r>
              <a:r>
                <a:rPr lang="en-US" altLang="zh-CN" dirty="0">
                  <a:latin typeface="宋体" charset="-122"/>
                </a:rPr>
                <a:t>-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2</a:t>
              </a:r>
              <a:endParaRPr lang="en-US" altLang="zh-CN" dirty="0"/>
            </a:p>
            <a:p>
              <a:pPr algn="l"/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22 </a:t>
              </a:r>
              <a:r>
                <a:rPr lang="en-US" altLang="zh-CN" dirty="0" smtClean="0"/>
                <a:t>= </a:t>
              </a: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2 </a:t>
              </a:r>
              <a:r>
                <a:rPr lang="en-US" altLang="zh-CN" dirty="0" smtClean="0"/>
                <a:t>+ </a:t>
              </a: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3</a:t>
              </a:r>
              <a:r>
                <a:rPr lang="en-US" altLang="zh-CN" dirty="0" smtClean="0"/>
                <a:t> </a:t>
              </a:r>
              <a:endParaRPr lang="en-US" altLang="zh-CN" dirty="0"/>
            </a:p>
            <a:p>
              <a:pPr algn="l"/>
              <a:r>
                <a:rPr lang="en-US" altLang="zh-CN" i="1" dirty="0" smtClean="0"/>
                <a:t>v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11 </a:t>
              </a:r>
              <a:r>
                <a:rPr lang="en-US" altLang="zh-CN" dirty="0" smtClean="0"/>
                <a:t>= </a:t>
              </a:r>
              <a:r>
                <a:rPr lang="en-US" altLang="zh-CN" i="1" dirty="0" smtClean="0"/>
                <a:t>v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1 </a:t>
              </a:r>
              <a:r>
                <a:rPr lang="en-US" altLang="zh-CN" dirty="0" smtClean="0">
                  <a:latin typeface="宋体" charset="-122"/>
                </a:rPr>
                <a:t>- </a:t>
              </a:r>
              <a:r>
                <a:rPr lang="en-US" altLang="zh-CN" i="1" dirty="0" smtClean="0"/>
                <a:t>v</a:t>
              </a:r>
              <a:r>
                <a:rPr lang="en-US" altLang="zh-CN" baseline="-25000" dirty="0" smtClean="0"/>
                <a:t>s2</a:t>
              </a:r>
              <a:endParaRPr lang="en-US" altLang="zh-CN" dirty="0"/>
            </a:p>
            <a:p>
              <a:pPr algn="l"/>
              <a:r>
                <a:rPr lang="en-US" altLang="zh-CN" i="1" dirty="0" smtClean="0"/>
                <a:t>v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22 </a:t>
              </a:r>
              <a:r>
                <a:rPr lang="en-US" altLang="zh-CN" dirty="0" smtClean="0"/>
                <a:t>= </a:t>
              </a:r>
              <a:r>
                <a:rPr lang="en-US" altLang="zh-CN" i="1" dirty="0" smtClean="0"/>
                <a:t>v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2 </a:t>
              </a:r>
              <a:r>
                <a:rPr lang="en-US" altLang="zh-CN" dirty="0" smtClean="0">
                  <a:latin typeface="宋体" charset="-122"/>
                </a:rPr>
                <a:t>- </a:t>
              </a:r>
              <a:r>
                <a:rPr lang="en-US" altLang="zh-CN" i="1" dirty="0" smtClean="0"/>
                <a:t>v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3</a:t>
              </a:r>
              <a:endParaRPr lang="en-US" altLang="zh-CN" baseline="-25000" dirty="0"/>
            </a:p>
          </p:txBody>
        </p:sp>
      </p:grpSp>
      <p:grpSp>
        <p:nvGrpSpPr>
          <p:cNvPr id="340010" name="Group 42"/>
          <p:cNvGrpSpPr>
            <a:grpSpLocks/>
          </p:cNvGrpSpPr>
          <p:nvPr/>
        </p:nvGrpSpPr>
        <p:grpSpPr bwMode="auto">
          <a:xfrm>
            <a:off x="1139825" y="2955925"/>
            <a:ext cx="7432680" cy="1941513"/>
            <a:chOff x="670" y="1862"/>
            <a:chExt cx="4578" cy="1223"/>
          </a:xfrm>
        </p:grpSpPr>
        <p:graphicFrame>
          <p:nvGraphicFramePr>
            <p:cNvPr id="340011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994747"/>
                </p:ext>
              </p:extLst>
            </p:nvPr>
          </p:nvGraphicFramePr>
          <p:xfrm>
            <a:off x="670" y="1862"/>
            <a:ext cx="2396" cy="1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99" name="Equation" r:id="rId3" imgW="1917360" imgH="977760" progId="Equation.DSMT4">
                    <p:embed/>
                  </p:oleObj>
                </mc:Choice>
                <mc:Fallback>
                  <p:oleObj name="Equation" r:id="rId3" imgW="1917360" imgH="97776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" y="1862"/>
                          <a:ext cx="2396" cy="1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0012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7391504"/>
                </p:ext>
              </p:extLst>
            </p:nvPr>
          </p:nvGraphicFramePr>
          <p:xfrm>
            <a:off x="4107" y="1974"/>
            <a:ext cx="1141" cy="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00" name="Equation" r:id="rId5" imgW="1091880" imgH="711000" progId="Equation.DSMT4">
                    <p:embed/>
                  </p:oleObj>
                </mc:Choice>
                <mc:Fallback>
                  <p:oleObj name="Equation" r:id="rId5" imgW="1091880" imgH="7110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7" y="1974"/>
                          <a:ext cx="1141" cy="779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0014" name="Group 46"/>
          <p:cNvGrpSpPr>
            <a:grpSpLocks/>
          </p:cNvGrpSpPr>
          <p:nvPr/>
        </p:nvGrpSpPr>
        <p:grpSpPr bwMode="auto">
          <a:xfrm>
            <a:off x="1295400" y="5029200"/>
            <a:ext cx="4267200" cy="762000"/>
            <a:chOff x="816" y="3168"/>
            <a:chExt cx="2688" cy="480"/>
          </a:xfrm>
        </p:grpSpPr>
        <p:sp>
          <p:nvSpPr>
            <p:cNvPr id="340015" name="Rectangle 47"/>
            <p:cNvSpPr>
              <a:spLocks noChangeArrowheads="1"/>
            </p:cNvSpPr>
            <p:nvPr/>
          </p:nvSpPr>
          <p:spPr bwMode="auto">
            <a:xfrm>
              <a:off x="816" y="3168"/>
              <a:ext cx="2688" cy="48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0016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256451"/>
                </p:ext>
              </p:extLst>
            </p:nvPr>
          </p:nvGraphicFramePr>
          <p:xfrm>
            <a:off x="937" y="3192"/>
            <a:ext cx="2206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701" name="Equation" r:id="rId7" imgW="1739880" imgH="355320" progId="Equation.DSMT4">
                    <p:embed/>
                  </p:oleObj>
                </mc:Choice>
                <mc:Fallback>
                  <p:oleObj name="Equation" r:id="rId7" imgW="1739880" imgH="35532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3192"/>
                          <a:ext cx="2206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0024" name="Group 56"/>
          <p:cNvGrpSpPr>
            <a:grpSpLocks/>
          </p:cNvGrpSpPr>
          <p:nvPr/>
        </p:nvGrpSpPr>
        <p:grpSpPr bwMode="auto">
          <a:xfrm>
            <a:off x="3048000" y="304800"/>
            <a:ext cx="2438400" cy="1546226"/>
            <a:chOff x="1920" y="192"/>
            <a:chExt cx="1536" cy="974"/>
          </a:xfrm>
        </p:grpSpPr>
        <p:sp>
          <p:nvSpPr>
            <p:cNvPr id="340025" name="Text Box 57"/>
            <p:cNvSpPr txBox="1">
              <a:spLocks noChangeArrowheads="1"/>
            </p:cNvSpPr>
            <p:nvPr/>
          </p:nvSpPr>
          <p:spPr bwMode="auto">
            <a:xfrm>
              <a:off x="1920" y="503"/>
              <a:ext cx="1536" cy="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11</a:t>
              </a:r>
              <a:r>
                <a:rPr lang="en-US" altLang="zh-CN" i="1" dirty="0" smtClean="0"/>
                <a:t>i</a:t>
              </a:r>
              <a:r>
                <a:rPr lang="en-US" altLang="zh-CN" i="1" baseline="-25000" dirty="0" smtClean="0"/>
                <a:t>a </a:t>
              </a:r>
              <a:r>
                <a:rPr lang="en-US" altLang="zh-CN" dirty="0" smtClean="0"/>
                <a:t>+ </a:t>
              </a: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12</a:t>
              </a:r>
              <a:r>
                <a:rPr lang="en-US" altLang="zh-CN" i="1" dirty="0" smtClean="0"/>
                <a:t>i</a:t>
              </a:r>
              <a:r>
                <a:rPr lang="en-US" altLang="zh-CN" i="1" baseline="-25000" dirty="0" smtClean="0"/>
                <a:t>b </a:t>
              </a:r>
              <a:r>
                <a:rPr lang="en-US" altLang="zh-CN" dirty="0" smtClean="0"/>
                <a:t>= </a:t>
              </a:r>
              <a:r>
                <a:rPr lang="en-US" altLang="zh-CN" i="1" dirty="0" smtClean="0"/>
                <a:t>v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11</a:t>
              </a:r>
              <a:endParaRPr lang="en-US" altLang="zh-CN" dirty="0"/>
            </a:p>
            <a:p>
              <a:pPr algn="just">
                <a:lnSpc>
                  <a:spcPct val="130000"/>
                </a:lnSpc>
              </a:pP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21</a:t>
              </a:r>
              <a:r>
                <a:rPr lang="en-US" altLang="zh-CN" i="1" dirty="0" smtClean="0"/>
                <a:t>i</a:t>
              </a:r>
              <a:r>
                <a:rPr lang="en-US" altLang="zh-CN" i="1" baseline="-25000" dirty="0" smtClean="0"/>
                <a:t>a </a:t>
              </a:r>
              <a:r>
                <a:rPr lang="en-US" altLang="zh-CN" dirty="0" smtClean="0"/>
                <a:t>+ </a:t>
              </a:r>
              <a:r>
                <a:rPr lang="en-US" altLang="zh-CN" i="1" dirty="0" smtClean="0"/>
                <a:t>R</a:t>
              </a:r>
              <a:r>
                <a:rPr lang="en-US" altLang="zh-CN" baseline="-25000" dirty="0" smtClean="0"/>
                <a:t>22</a:t>
              </a:r>
              <a:r>
                <a:rPr lang="en-US" altLang="zh-CN" i="1" dirty="0" smtClean="0"/>
                <a:t>i</a:t>
              </a:r>
              <a:r>
                <a:rPr lang="en-US" altLang="zh-CN" i="1" baseline="-25000" dirty="0" smtClean="0"/>
                <a:t>b </a:t>
              </a:r>
              <a:r>
                <a:rPr lang="en-US" altLang="zh-CN" dirty="0" smtClean="0"/>
                <a:t>= </a:t>
              </a:r>
              <a:r>
                <a:rPr lang="en-US" altLang="zh-CN" i="1" dirty="0" smtClean="0"/>
                <a:t>v</a:t>
              </a:r>
              <a:r>
                <a:rPr lang="en-US" altLang="zh-CN" i="1" baseline="-25000" dirty="0" smtClean="0"/>
                <a:t>s</a:t>
              </a:r>
              <a:r>
                <a:rPr lang="en-US" altLang="zh-CN" baseline="-25000" dirty="0" smtClean="0"/>
                <a:t>22</a:t>
              </a:r>
              <a:endParaRPr lang="en-US" altLang="zh-CN" dirty="0"/>
            </a:p>
          </p:txBody>
        </p:sp>
        <p:sp>
          <p:nvSpPr>
            <p:cNvPr id="340026" name="Text Box 58"/>
            <p:cNvSpPr txBox="1">
              <a:spLocks noChangeArrowheads="1"/>
            </p:cNvSpPr>
            <p:nvPr/>
          </p:nvSpPr>
          <p:spPr bwMode="auto">
            <a:xfrm>
              <a:off x="1968" y="192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>
                  <a:solidFill>
                    <a:srgbClr val="0000FF"/>
                  </a:solidFill>
                </a:rPr>
                <a:t>由网孔法</a:t>
              </a:r>
              <a:endParaRPr lang="zh-CN" altLang="en-US" sz="1800"/>
            </a:p>
          </p:txBody>
        </p:sp>
      </p:grpSp>
      <p:sp>
        <p:nvSpPr>
          <p:cNvPr id="60" name="Oval 46"/>
          <p:cNvSpPr>
            <a:spLocks noChangeArrowheads="1"/>
          </p:cNvSpPr>
          <p:nvPr/>
        </p:nvSpPr>
        <p:spPr bwMode="auto">
          <a:xfrm>
            <a:off x="1053845" y="361112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Oval 46"/>
          <p:cNvSpPr>
            <a:spLocks noChangeArrowheads="1"/>
          </p:cNvSpPr>
          <p:nvPr/>
        </p:nvSpPr>
        <p:spPr bwMode="auto">
          <a:xfrm>
            <a:off x="1049140" y="1956394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994" name="Group 2"/>
          <p:cNvGrpSpPr>
            <a:grpSpLocks/>
          </p:cNvGrpSpPr>
          <p:nvPr/>
        </p:nvGrpSpPr>
        <p:grpSpPr bwMode="auto">
          <a:xfrm>
            <a:off x="430212" y="0"/>
            <a:ext cx="2278061" cy="2038350"/>
            <a:chOff x="658" y="1728"/>
            <a:chExt cx="1435" cy="1284"/>
          </a:xfrm>
        </p:grpSpPr>
        <p:grpSp>
          <p:nvGrpSpPr>
            <p:cNvPr id="340995" name="Group 3"/>
            <p:cNvGrpSpPr>
              <a:grpSpLocks/>
            </p:cNvGrpSpPr>
            <p:nvPr/>
          </p:nvGrpSpPr>
          <p:grpSpPr bwMode="auto">
            <a:xfrm>
              <a:off x="1441" y="2175"/>
              <a:ext cx="266" cy="555"/>
              <a:chOff x="552" y="816"/>
              <a:chExt cx="257" cy="528"/>
            </a:xfrm>
          </p:grpSpPr>
          <p:sp>
            <p:nvSpPr>
              <p:cNvPr id="340996" name="Oval 4"/>
              <p:cNvSpPr>
                <a:spLocks noChangeArrowheads="1"/>
              </p:cNvSpPr>
              <p:nvPr/>
            </p:nvSpPr>
            <p:spPr bwMode="auto">
              <a:xfrm>
                <a:off x="576" y="816"/>
                <a:ext cx="192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0997" name="Line 5"/>
              <p:cNvSpPr>
                <a:spLocks noChangeShapeType="1"/>
              </p:cNvSpPr>
              <p:nvPr/>
            </p:nvSpPr>
            <p:spPr bwMode="auto">
              <a:xfrm>
                <a:off x="768" y="1056"/>
                <a:ext cx="0" cy="4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0998" name="Text Box 6"/>
              <p:cNvSpPr txBox="1">
                <a:spLocks noChangeArrowheads="1"/>
              </p:cNvSpPr>
              <p:nvPr/>
            </p:nvSpPr>
            <p:spPr bwMode="auto">
              <a:xfrm>
                <a:off x="552" y="963"/>
                <a:ext cx="257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b</a:t>
                </a:r>
                <a:r>
                  <a:rPr kumimoji="0" lang="en-US" altLang="zh-CN" sz="2000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1</a:t>
                </a:r>
                <a:endParaRPr kumimoji="0" lang="en-US" altLang="zh-CN" sz="2000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40999" name="Group 7"/>
            <p:cNvGrpSpPr>
              <a:grpSpLocks/>
            </p:cNvGrpSpPr>
            <p:nvPr/>
          </p:nvGrpSpPr>
          <p:grpSpPr bwMode="auto">
            <a:xfrm>
              <a:off x="935" y="2160"/>
              <a:ext cx="266" cy="555"/>
              <a:chOff x="552" y="816"/>
              <a:chExt cx="257" cy="528"/>
            </a:xfrm>
          </p:grpSpPr>
          <p:sp>
            <p:nvSpPr>
              <p:cNvPr id="341000" name="Oval 8"/>
              <p:cNvSpPr>
                <a:spLocks noChangeArrowheads="1"/>
              </p:cNvSpPr>
              <p:nvPr/>
            </p:nvSpPr>
            <p:spPr bwMode="auto">
              <a:xfrm>
                <a:off x="576" y="816"/>
                <a:ext cx="192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1001" name="Line 9"/>
              <p:cNvSpPr>
                <a:spLocks noChangeShapeType="1"/>
              </p:cNvSpPr>
              <p:nvPr/>
            </p:nvSpPr>
            <p:spPr bwMode="auto">
              <a:xfrm>
                <a:off x="768" y="1056"/>
                <a:ext cx="0" cy="4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1002" name="Text Box 10"/>
              <p:cNvSpPr txBox="1">
                <a:spLocks noChangeArrowheads="1"/>
              </p:cNvSpPr>
              <p:nvPr/>
            </p:nvSpPr>
            <p:spPr bwMode="auto">
              <a:xfrm>
                <a:off x="552" y="963"/>
                <a:ext cx="257" cy="2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r>
                  <a:rPr kumimoji="0" lang="en-US" altLang="zh-CN" sz="2000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1</a:t>
                </a:r>
                <a:endParaRPr kumimoji="0" lang="en-US" altLang="zh-CN" sz="2000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41003" name="Group 11"/>
            <p:cNvGrpSpPr>
              <a:grpSpLocks/>
            </p:cNvGrpSpPr>
            <p:nvPr/>
          </p:nvGrpSpPr>
          <p:grpSpPr bwMode="auto">
            <a:xfrm>
              <a:off x="1216" y="1974"/>
              <a:ext cx="380" cy="1016"/>
              <a:chOff x="1264" y="1974"/>
              <a:chExt cx="380" cy="1016"/>
            </a:xfrm>
          </p:grpSpPr>
          <p:sp>
            <p:nvSpPr>
              <p:cNvPr id="341004" name="Line 12"/>
              <p:cNvSpPr>
                <a:spLocks noChangeShapeType="1"/>
              </p:cNvSpPr>
              <p:nvPr/>
            </p:nvSpPr>
            <p:spPr bwMode="auto">
              <a:xfrm>
                <a:off x="1311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05" name="Rectangle 13"/>
              <p:cNvSpPr>
                <a:spLocks noChangeArrowheads="1"/>
              </p:cNvSpPr>
              <p:nvPr/>
            </p:nvSpPr>
            <p:spPr bwMode="auto">
              <a:xfrm>
                <a:off x="1264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06" name="Text Box 14"/>
              <p:cNvSpPr txBox="1">
                <a:spLocks noChangeArrowheads="1"/>
              </p:cNvSpPr>
              <p:nvPr/>
            </p:nvSpPr>
            <p:spPr bwMode="auto">
              <a:xfrm>
                <a:off x="1310" y="2153"/>
                <a:ext cx="33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2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grpSp>
          <p:nvGrpSpPr>
            <p:cNvPr id="341007" name="Group 15"/>
            <p:cNvGrpSpPr>
              <a:grpSpLocks/>
            </p:cNvGrpSpPr>
            <p:nvPr/>
          </p:nvGrpSpPr>
          <p:grpSpPr bwMode="auto">
            <a:xfrm>
              <a:off x="1713" y="1974"/>
              <a:ext cx="380" cy="1016"/>
              <a:chOff x="1713" y="1974"/>
              <a:chExt cx="380" cy="1016"/>
            </a:xfrm>
          </p:grpSpPr>
          <p:sp>
            <p:nvSpPr>
              <p:cNvPr id="341008" name="Line 16"/>
              <p:cNvSpPr>
                <a:spLocks noChangeShapeType="1"/>
              </p:cNvSpPr>
              <p:nvPr/>
            </p:nvSpPr>
            <p:spPr bwMode="auto">
              <a:xfrm>
                <a:off x="1760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09" name="Rectangle 17"/>
              <p:cNvSpPr>
                <a:spLocks noChangeArrowheads="1"/>
              </p:cNvSpPr>
              <p:nvPr/>
            </p:nvSpPr>
            <p:spPr bwMode="auto">
              <a:xfrm>
                <a:off x="1713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10" name="Text Box 18"/>
              <p:cNvSpPr txBox="1">
                <a:spLocks noChangeArrowheads="1"/>
              </p:cNvSpPr>
              <p:nvPr/>
            </p:nvSpPr>
            <p:spPr bwMode="auto">
              <a:xfrm>
                <a:off x="1760" y="2153"/>
                <a:ext cx="3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3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grpSp>
          <p:nvGrpSpPr>
            <p:cNvPr id="341011" name="Group 19"/>
            <p:cNvGrpSpPr>
              <a:grpSpLocks/>
            </p:cNvGrpSpPr>
            <p:nvPr/>
          </p:nvGrpSpPr>
          <p:grpSpPr bwMode="auto">
            <a:xfrm>
              <a:off x="658" y="1974"/>
              <a:ext cx="440" cy="1038"/>
              <a:chOff x="1085" y="1183"/>
              <a:chExt cx="426" cy="989"/>
            </a:xfrm>
          </p:grpSpPr>
          <p:sp>
            <p:nvSpPr>
              <p:cNvPr id="341012" name="Line 20"/>
              <p:cNvSpPr>
                <a:spLocks noChangeShapeType="1"/>
              </p:cNvSpPr>
              <p:nvPr/>
            </p:nvSpPr>
            <p:spPr bwMode="auto">
              <a:xfrm>
                <a:off x="1189" y="1183"/>
                <a:ext cx="0" cy="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13" name="Oval 21"/>
              <p:cNvSpPr>
                <a:spLocks noChangeArrowheads="1"/>
              </p:cNvSpPr>
              <p:nvPr/>
            </p:nvSpPr>
            <p:spPr bwMode="auto">
              <a:xfrm>
                <a:off x="1085" y="1812"/>
                <a:ext cx="196" cy="20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14" name="Rectangle 22"/>
              <p:cNvSpPr>
                <a:spLocks noChangeArrowheads="1"/>
              </p:cNvSpPr>
              <p:nvPr/>
            </p:nvSpPr>
            <p:spPr bwMode="auto">
              <a:xfrm>
                <a:off x="1143" y="1377"/>
                <a:ext cx="92" cy="242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15" name="Text Box 23"/>
              <p:cNvSpPr txBox="1">
                <a:spLocks noChangeArrowheads="1"/>
              </p:cNvSpPr>
              <p:nvPr/>
            </p:nvSpPr>
            <p:spPr bwMode="auto">
              <a:xfrm>
                <a:off x="1189" y="1354"/>
                <a:ext cx="32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1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41016" name="Text Box 24"/>
              <p:cNvSpPr txBox="1">
                <a:spLocks noChangeArrowheads="1"/>
              </p:cNvSpPr>
              <p:nvPr/>
            </p:nvSpPr>
            <p:spPr bwMode="auto">
              <a:xfrm>
                <a:off x="1164" y="1595"/>
                <a:ext cx="20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41017" name="Text Box 25"/>
              <p:cNvSpPr txBox="1">
                <a:spLocks noChangeArrowheads="1"/>
              </p:cNvSpPr>
              <p:nvPr/>
            </p:nvSpPr>
            <p:spPr bwMode="auto">
              <a:xfrm>
                <a:off x="1176" y="1934"/>
                <a:ext cx="190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sp>
          <p:nvSpPr>
            <p:cNvPr id="341018" name="Line 26"/>
            <p:cNvSpPr>
              <a:spLocks noChangeShapeType="1"/>
            </p:cNvSpPr>
            <p:nvPr/>
          </p:nvSpPr>
          <p:spPr bwMode="auto">
            <a:xfrm>
              <a:off x="771" y="1974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19" name="Line 27"/>
            <p:cNvSpPr>
              <a:spLocks noChangeShapeType="1"/>
            </p:cNvSpPr>
            <p:nvPr/>
          </p:nvSpPr>
          <p:spPr bwMode="auto">
            <a:xfrm>
              <a:off x="771" y="2982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20" name="Text Box 28"/>
            <p:cNvSpPr txBox="1">
              <a:spLocks noChangeArrowheads="1"/>
            </p:cNvSpPr>
            <p:nvPr/>
          </p:nvSpPr>
          <p:spPr bwMode="auto">
            <a:xfrm>
              <a:off x="836" y="2583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341021" name="Line 29"/>
            <p:cNvSpPr>
              <a:spLocks noChangeShapeType="1"/>
            </p:cNvSpPr>
            <p:nvPr/>
          </p:nvSpPr>
          <p:spPr bwMode="auto">
            <a:xfrm>
              <a:off x="871" y="1974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22" name="Text Box 30"/>
            <p:cNvSpPr txBox="1">
              <a:spLocks noChangeArrowheads="1"/>
            </p:cNvSpPr>
            <p:nvPr/>
          </p:nvSpPr>
          <p:spPr bwMode="auto">
            <a:xfrm>
              <a:off x="848" y="1728"/>
              <a:ext cx="2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sz="2000" baseline="-25000">
                  <a:solidFill>
                    <a:srgbClr val="FF3300"/>
                  </a:solidFill>
                  <a:ea typeface="楷体_GB2312" pitchFamily="49" charset="-122"/>
                </a:rPr>
                <a:t>11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</p:grpSp>
      <p:grpSp>
        <p:nvGrpSpPr>
          <p:cNvPr id="341023" name="Group 31"/>
          <p:cNvGrpSpPr>
            <a:grpSpLocks/>
          </p:cNvGrpSpPr>
          <p:nvPr/>
        </p:nvGrpSpPr>
        <p:grpSpPr bwMode="auto">
          <a:xfrm>
            <a:off x="3429000" y="0"/>
            <a:ext cx="2179638" cy="2038350"/>
            <a:chOff x="2547" y="1728"/>
            <a:chExt cx="1373" cy="1284"/>
          </a:xfrm>
        </p:grpSpPr>
        <p:sp>
          <p:nvSpPr>
            <p:cNvPr id="341024" name="Oval 32"/>
            <p:cNvSpPr>
              <a:spLocks noChangeArrowheads="1"/>
            </p:cNvSpPr>
            <p:nvPr/>
          </p:nvSpPr>
          <p:spPr bwMode="auto">
            <a:xfrm>
              <a:off x="3293" y="2175"/>
              <a:ext cx="199" cy="55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25" name="Line 33"/>
            <p:cNvSpPr>
              <a:spLocks noChangeShapeType="1"/>
            </p:cNvSpPr>
            <p:nvPr/>
          </p:nvSpPr>
          <p:spPr bwMode="auto">
            <a:xfrm>
              <a:off x="3492" y="2427"/>
              <a:ext cx="0" cy="5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26" name="Text Box 34"/>
            <p:cNvSpPr txBox="1">
              <a:spLocks noChangeArrowheads="1"/>
            </p:cNvSpPr>
            <p:nvPr/>
          </p:nvSpPr>
          <p:spPr bwMode="auto">
            <a:xfrm>
              <a:off x="3268" y="2330"/>
              <a:ext cx="26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 dirty="0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sz="2000" i="1" baseline="-25000" dirty="0">
                  <a:solidFill>
                    <a:srgbClr val="FF3300"/>
                  </a:solidFill>
                  <a:ea typeface="楷体_GB2312" pitchFamily="49" charset="-122"/>
                </a:rPr>
                <a:t>b</a:t>
              </a:r>
              <a:r>
                <a:rPr kumimoji="0" lang="en-US" altLang="zh-CN" sz="2000" baseline="-25000" dirty="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endParaRPr kumimoji="0" lang="en-US" altLang="zh-CN" sz="2000" baseline="-25000" dirty="0">
                <a:ea typeface="楷体_GB2312" pitchFamily="49" charset="-122"/>
              </a:endParaRPr>
            </a:p>
          </p:txBody>
        </p:sp>
        <p:sp>
          <p:nvSpPr>
            <p:cNvPr id="341027" name="Oval 35"/>
            <p:cNvSpPr>
              <a:spLocks noChangeArrowheads="1"/>
            </p:cNvSpPr>
            <p:nvPr/>
          </p:nvSpPr>
          <p:spPr bwMode="auto">
            <a:xfrm>
              <a:off x="2787" y="2160"/>
              <a:ext cx="199" cy="55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28" name="Line 36"/>
            <p:cNvSpPr>
              <a:spLocks noChangeShapeType="1"/>
            </p:cNvSpPr>
            <p:nvPr/>
          </p:nvSpPr>
          <p:spPr bwMode="auto">
            <a:xfrm>
              <a:off x="2986" y="2412"/>
              <a:ext cx="0" cy="5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29" name="Text Box 37"/>
            <p:cNvSpPr txBox="1">
              <a:spLocks noChangeArrowheads="1"/>
            </p:cNvSpPr>
            <p:nvPr/>
          </p:nvSpPr>
          <p:spPr bwMode="auto">
            <a:xfrm>
              <a:off x="2762" y="2315"/>
              <a:ext cx="26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 dirty="0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sz="2000" i="1" baseline="-25000" dirty="0">
                  <a:solidFill>
                    <a:srgbClr val="FF3300"/>
                  </a:solidFill>
                  <a:ea typeface="楷体_GB2312" pitchFamily="49" charset="-122"/>
                </a:rPr>
                <a:t>a</a:t>
              </a:r>
              <a:r>
                <a:rPr kumimoji="0" lang="en-US" altLang="zh-CN" sz="2000" baseline="-25000" dirty="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endParaRPr kumimoji="0" lang="en-US" altLang="zh-CN" sz="2000" baseline="-25000" dirty="0">
                <a:ea typeface="楷体_GB2312" pitchFamily="49" charset="-122"/>
              </a:endParaRPr>
            </a:p>
          </p:txBody>
        </p:sp>
        <p:sp>
          <p:nvSpPr>
            <p:cNvPr id="341030" name="Line 38"/>
            <p:cNvSpPr>
              <a:spLocks noChangeShapeType="1"/>
            </p:cNvSpPr>
            <p:nvPr/>
          </p:nvSpPr>
          <p:spPr bwMode="auto">
            <a:xfrm>
              <a:off x="3090" y="1974"/>
              <a:ext cx="0" cy="10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1031" name="Oval 39"/>
            <p:cNvSpPr>
              <a:spLocks noChangeArrowheads="1"/>
            </p:cNvSpPr>
            <p:nvPr/>
          </p:nvSpPr>
          <p:spPr bwMode="auto">
            <a:xfrm>
              <a:off x="2989" y="2634"/>
              <a:ext cx="203" cy="21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1032" name="Rectangle 40"/>
            <p:cNvSpPr>
              <a:spLocks noChangeArrowheads="1"/>
            </p:cNvSpPr>
            <p:nvPr/>
          </p:nvSpPr>
          <p:spPr bwMode="auto">
            <a:xfrm>
              <a:off x="3043" y="2178"/>
              <a:ext cx="95" cy="254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1033" name="Text Box 41"/>
            <p:cNvSpPr txBox="1">
              <a:spLocks noChangeArrowheads="1"/>
            </p:cNvSpPr>
            <p:nvPr/>
          </p:nvSpPr>
          <p:spPr bwMode="auto">
            <a:xfrm>
              <a:off x="3089" y="2153"/>
              <a:ext cx="3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2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1034" name="Text Box 42"/>
            <p:cNvSpPr txBox="1">
              <a:spLocks noChangeArrowheads="1"/>
            </p:cNvSpPr>
            <p:nvPr/>
          </p:nvSpPr>
          <p:spPr bwMode="auto">
            <a:xfrm>
              <a:off x="3063" y="2406"/>
              <a:ext cx="20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>
                  <a:ea typeface="楷体_GB2312" pitchFamily="49" charset="-122"/>
                </a:rPr>
                <a:t>+</a:t>
              </a:r>
            </a:p>
          </p:txBody>
        </p:sp>
        <p:sp>
          <p:nvSpPr>
            <p:cNvPr id="341035" name="Text Box 43"/>
            <p:cNvSpPr txBox="1">
              <a:spLocks noChangeArrowheads="1"/>
            </p:cNvSpPr>
            <p:nvPr/>
          </p:nvSpPr>
          <p:spPr bwMode="auto">
            <a:xfrm>
              <a:off x="3077" y="276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341036" name="Line 44"/>
            <p:cNvSpPr>
              <a:spLocks noChangeShapeType="1"/>
            </p:cNvSpPr>
            <p:nvPr/>
          </p:nvSpPr>
          <p:spPr bwMode="auto">
            <a:xfrm>
              <a:off x="3587" y="1974"/>
              <a:ext cx="0" cy="10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1037" name="Rectangle 45"/>
            <p:cNvSpPr>
              <a:spLocks noChangeArrowheads="1"/>
            </p:cNvSpPr>
            <p:nvPr/>
          </p:nvSpPr>
          <p:spPr bwMode="auto">
            <a:xfrm>
              <a:off x="3540" y="2178"/>
              <a:ext cx="95" cy="254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1038" name="Text Box 46"/>
            <p:cNvSpPr txBox="1">
              <a:spLocks noChangeArrowheads="1"/>
            </p:cNvSpPr>
            <p:nvPr/>
          </p:nvSpPr>
          <p:spPr bwMode="auto">
            <a:xfrm>
              <a:off x="3587" y="2153"/>
              <a:ext cx="3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3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grpSp>
          <p:nvGrpSpPr>
            <p:cNvPr id="341039" name="Group 47"/>
            <p:cNvGrpSpPr>
              <a:grpSpLocks/>
            </p:cNvGrpSpPr>
            <p:nvPr/>
          </p:nvGrpSpPr>
          <p:grpSpPr bwMode="auto">
            <a:xfrm>
              <a:off x="2547" y="1974"/>
              <a:ext cx="380" cy="1016"/>
              <a:chOff x="2547" y="1974"/>
              <a:chExt cx="380" cy="1016"/>
            </a:xfrm>
          </p:grpSpPr>
          <p:sp>
            <p:nvSpPr>
              <p:cNvPr id="341040" name="Line 48"/>
              <p:cNvSpPr>
                <a:spLocks noChangeShapeType="1"/>
              </p:cNvSpPr>
              <p:nvPr/>
            </p:nvSpPr>
            <p:spPr bwMode="auto">
              <a:xfrm>
                <a:off x="2594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41" name="Rectangle 49"/>
              <p:cNvSpPr>
                <a:spLocks noChangeArrowheads="1"/>
              </p:cNvSpPr>
              <p:nvPr/>
            </p:nvSpPr>
            <p:spPr bwMode="auto">
              <a:xfrm>
                <a:off x="2547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42" name="Text Box 50"/>
              <p:cNvSpPr txBox="1">
                <a:spLocks noChangeArrowheads="1"/>
              </p:cNvSpPr>
              <p:nvPr/>
            </p:nvSpPr>
            <p:spPr bwMode="auto">
              <a:xfrm>
                <a:off x="2594" y="2153"/>
                <a:ext cx="3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1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sp>
          <p:nvSpPr>
            <p:cNvPr id="341043" name="Line 51"/>
            <p:cNvSpPr>
              <a:spLocks noChangeShapeType="1"/>
            </p:cNvSpPr>
            <p:nvPr/>
          </p:nvSpPr>
          <p:spPr bwMode="auto">
            <a:xfrm>
              <a:off x="2598" y="1974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44" name="Line 52"/>
            <p:cNvSpPr>
              <a:spLocks noChangeShapeType="1"/>
            </p:cNvSpPr>
            <p:nvPr/>
          </p:nvSpPr>
          <p:spPr bwMode="auto">
            <a:xfrm>
              <a:off x="2598" y="2982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45" name="Text Box 53"/>
            <p:cNvSpPr txBox="1">
              <a:spLocks noChangeArrowheads="1"/>
            </p:cNvSpPr>
            <p:nvPr/>
          </p:nvSpPr>
          <p:spPr bwMode="auto">
            <a:xfrm>
              <a:off x="3160" y="2583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341046" name="Line 54"/>
            <p:cNvSpPr>
              <a:spLocks noChangeShapeType="1"/>
            </p:cNvSpPr>
            <p:nvPr/>
          </p:nvSpPr>
          <p:spPr bwMode="auto">
            <a:xfrm>
              <a:off x="2698" y="1974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47" name="Text Box 55"/>
            <p:cNvSpPr txBox="1">
              <a:spLocks noChangeArrowheads="1"/>
            </p:cNvSpPr>
            <p:nvPr/>
          </p:nvSpPr>
          <p:spPr bwMode="auto">
            <a:xfrm>
              <a:off x="2675" y="1728"/>
              <a:ext cx="2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sz="2000" baseline="-25000">
                  <a:solidFill>
                    <a:srgbClr val="FF3300"/>
                  </a:solidFill>
                  <a:ea typeface="楷体_GB2312" pitchFamily="49" charset="-122"/>
                </a:rPr>
                <a:t>12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</p:grpSp>
      <p:grpSp>
        <p:nvGrpSpPr>
          <p:cNvPr id="341048" name="Group 56"/>
          <p:cNvGrpSpPr>
            <a:grpSpLocks/>
          </p:cNvGrpSpPr>
          <p:nvPr/>
        </p:nvGrpSpPr>
        <p:grpSpPr bwMode="auto">
          <a:xfrm>
            <a:off x="6253161" y="0"/>
            <a:ext cx="2260599" cy="2038350"/>
            <a:chOff x="4326" y="1728"/>
            <a:chExt cx="1424" cy="1284"/>
          </a:xfrm>
        </p:grpSpPr>
        <p:grpSp>
          <p:nvGrpSpPr>
            <p:cNvPr id="341049" name="Group 57"/>
            <p:cNvGrpSpPr>
              <a:grpSpLocks/>
            </p:cNvGrpSpPr>
            <p:nvPr/>
          </p:nvGrpSpPr>
          <p:grpSpPr bwMode="auto">
            <a:xfrm>
              <a:off x="5047" y="2175"/>
              <a:ext cx="266" cy="555"/>
              <a:chOff x="5047" y="2175"/>
              <a:chExt cx="266" cy="555"/>
            </a:xfrm>
          </p:grpSpPr>
          <p:sp>
            <p:nvSpPr>
              <p:cNvPr id="341050" name="Oval 58"/>
              <p:cNvSpPr>
                <a:spLocks noChangeArrowheads="1"/>
              </p:cNvSpPr>
              <p:nvPr/>
            </p:nvSpPr>
            <p:spPr bwMode="auto">
              <a:xfrm>
                <a:off x="5072" y="2175"/>
                <a:ext cx="199" cy="55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1051" name="Line 59"/>
              <p:cNvSpPr>
                <a:spLocks noChangeShapeType="1"/>
              </p:cNvSpPr>
              <p:nvPr/>
            </p:nvSpPr>
            <p:spPr bwMode="auto">
              <a:xfrm>
                <a:off x="5271" y="2427"/>
                <a:ext cx="0" cy="51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1052" name="Text Box 60"/>
              <p:cNvSpPr txBox="1">
                <a:spLocks noChangeArrowheads="1"/>
              </p:cNvSpPr>
              <p:nvPr/>
            </p:nvSpPr>
            <p:spPr bwMode="auto">
              <a:xfrm>
                <a:off x="5047" y="2330"/>
                <a:ext cx="266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b</a:t>
                </a:r>
                <a:r>
                  <a:rPr kumimoji="0" lang="en-US" altLang="zh-CN" sz="2000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3</a:t>
                </a:r>
                <a:endParaRPr kumimoji="0" lang="en-US" altLang="zh-CN" sz="2000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41053" name="Group 61"/>
            <p:cNvGrpSpPr>
              <a:grpSpLocks/>
            </p:cNvGrpSpPr>
            <p:nvPr/>
          </p:nvGrpSpPr>
          <p:grpSpPr bwMode="auto">
            <a:xfrm>
              <a:off x="4541" y="2160"/>
              <a:ext cx="266" cy="555"/>
              <a:chOff x="4541" y="2160"/>
              <a:chExt cx="266" cy="555"/>
            </a:xfrm>
          </p:grpSpPr>
          <p:sp>
            <p:nvSpPr>
              <p:cNvPr id="341054" name="Oval 62"/>
              <p:cNvSpPr>
                <a:spLocks noChangeArrowheads="1"/>
              </p:cNvSpPr>
              <p:nvPr/>
            </p:nvSpPr>
            <p:spPr bwMode="auto">
              <a:xfrm>
                <a:off x="4566" y="2160"/>
                <a:ext cx="199" cy="55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1055" name="Line 63"/>
              <p:cNvSpPr>
                <a:spLocks noChangeShapeType="1"/>
              </p:cNvSpPr>
              <p:nvPr/>
            </p:nvSpPr>
            <p:spPr bwMode="auto">
              <a:xfrm>
                <a:off x="4765" y="2412"/>
                <a:ext cx="0" cy="51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1056" name="Text Box 64"/>
              <p:cNvSpPr txBox="1">
                <a:spLocks noChangeArrowheads="1"/>
              </p:cNvSpPr>
              <p:nvPr/>
            </p:nvSpPr>
            <p:spPr bwMode="auto">
              <a:xfrm>
                <a:off x="4541" y="2315"/>
                <a:ext cx="266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sz="2000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r>
                  <a:rPr kumimoji="0" lang="en-US" altLang="zh-CN" sz="2000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3</a:t>
                </a:r>
                <a:endParaRPr kumimoji="0" lang="en-US" altLang="zh-CN" sz="2000" baseline="-25000" dirty="0">
                  <a:ea typeface="楷体_GB2312" pitchFamily="49" charset="-122"/>
                </a:endParaRPr>
              </a:p>
            </p:txBody>
          </p:sp>
        </p:grpSp>
        <p:grpSp>
          <p:nvGrpSpPr>
            <p:cNvPr id="341057" name="Group 65"/>
            <p:cNvGrpSpPr>
              <a:grpSpLocks/>
            </p:cNvGrpSpPr>
            <p:nvPr/>
          </p:nvGrpSpPr>
          <p:grpSpPr bwMode="auto">
            <a:xfrm>
              <a:off x="4822" y="1974"/>
              <a:ext cx="380" cy="1016"/>
              <a:chOff x="4822" y="1974"/>
              <a:chExt cx="380" cy="1016"/>
            </a:xfrm>
          </p:grpSpPr>
          <p:sp>
            <p:nvSpPr>
              <p:cNvPr id="341058" name="Line 66"/>
              <p:cNvSpPr>
                <a:spLocks noChangeShapeType="1"/>
              </p:cNvSpPr>
              <p:nvPr/>
            </p:nvSpPr>
            <p:spPr bwMode="auto">
              <a:xfrm>
                <a:off x="4869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59" name="Rectangle 67"/>
              <p:cNvSpPr>
                <a:spLocks noChangeArrowheads="1"/>
              </p:cNvSpPr>
              <p:nvPr/>
            </p:nvSpPr>
            <p:spPr bwMode="auto">
              <a:xfrm>
                <a:off x="4822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60" name="Text Box 68"/>
              <p:cNvSpPr txBox="1">
                <a:spLocks noChangeArrowheads="1"/>
              </p:cNvSpPr>
              <p:nvPr/>
            </p:nvSpPr>
            <p:spPr bwMode="auto">
              <a:xfrm>
                <a:off x="4868" y="2153"/>
                <a:ext cx="33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2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grpSp>
          <p:nvGrpSpPr>
            <p:cNvPr id="341061" name="Group 69"/>
            <p:cNvGrpSpPr>
              <a:grpSpLocks/>
            </p:cNvGrpSpPr>
            <p:nvPr/>
          </p:nvGrpSpPr>
          <p:grpSpPr bwMode="auto">
            <a:xfrm>
              <a:off x="5265" y="1974"/>
              <a:ext cx="434" cy="1038"/>
              <a:chOff x="5265" y="1974"/>
              <a:chExt cx="434" cy="1038"/>
            </a:xfrm>
          </p:grpSpPr>
          <p:sp>
            <p:nvSpPr>
              <p:cNvPr id="341062" name="Line 70"/>
              <p:cNvSpPr>
                <a:spLocks noChangeShapeType="1"/>
              </p:cNvSpPr>
              <p:nvPr/>
            </p:nvSpPr>
            <p:spPr bwMode="auto">
              <a:xfrm>
                <a:off x="5366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63" name="Oval 71"/>
              <p:cNvSpPr>
                <a:spLocks noChangeArrowheads="1"/>
              </p:cNvSpPr>
              <p:nvPr/>
            </p:nvSpPr>
            <p:spPr bwMode="auto">
              <a:xfrm>
                <a:off x="5265" y="2634"/>
                <a:ext cx="203" cy="21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64" name="Rectangle 72"/>
              <p:cNvSpPr>
                <a:spLocks noChangeArrowheads="1"/>
              </p:cNvSpPr>
              <p:nvPr/>
            </p:nvSpPr>
            <p:spPr bwMode="auto">
              <a:xfrm>
                <a:off x="5319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65" name="Text Box 73"/>
              <p:cNvSpPr txBox="1">
                <a:spLocks noChangeArrowheads="1"/>
              </p:cNvSpPr>
              <p:nvPr/>
            </p:nvSpPr>
            <p:spPr bwMode="auto">
              <a:xfrm>
                <a:off x="5366" y="2153"/>
                <a:ext cx="3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3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341066" name="Text Box 74"/>
              <p:cNvSpPr txBox="1">
                <a:spLocks noChangeArrowheads="1"/>
              </p:cNvSpPr>
              <p:nvPr/>
            </p:nvSpPr>
            <p:spPr bwMode="auto">
              <a:xfrm>
                <a:off x="5340" y="2406"/>
                <a:ext cx="20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341067" name="Text Box 75"/>
              <p:cNvSpPr txBox="1">
                <a:spLocks noChangeArrowheads="1"/>
              </p:cNvSpPr>
              <p:nvPr/>
            </p:nvSpPr>
            <p:spPr bwMode="auto">
              <a:xfrm>
                <a:off x="5353" y="276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>
                    <a:ea typeface="楷体_GB2312" pitchFamily="49" charset="-122"/>
                  </a:rPr>
                  <a:t>–</a:t>
                </a:r>
              </a:p>
            </p:txBody>
          </p:sp>
        </p:grpSp>
        <p:grpSp>
          <p:nvGrpSpPr>
            <p:cNvPr id="341068" name="Group 76"/>
            <p:cNvGrpSpPr>
              <a:grpSpLocks/>
            </p:cNvGrpSpPr>
            <p:nvPr/>
          </p:nvGrpSpPr>
          <p:grpSpPr bwMode="auto">
            <a:xfrm>
              <a:off x="4326" y="1974"/>
              <a:ext cx="380" cy="1016"/>
              <a:chOff x="4326" y="1974"/>
              <a:chExt cx="380" cy="1016"/>
            </a:xfrm>
          </p:grpSpPr>
          <p:sp>
            <p:nvSpPr>
              <p:cNvPr id="341069" name="Line 77"/>
              <p:cNvSpPr>
                <a:spLocks noChangeShapeType="1"/>
              </p:cNvSpPr>
              <p:nvPr/>
            </p:nvSpPr>
            <p:spPr bwMode="auto">
              <a:xfrm>
                <a:off x="4373" y="1974"/>
                <a:ext cx="0" cy="10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70" name="Rectangle 78"/>
              <p:cNvSpPr>
                <a:spLocks noChangeArrowheads="1"/>
              </p:cNvSpPr>
              <p:nvPr/>
            </p:nvSpPr>
            <p:spPr bwMode="auto">
              <a:xfrm>
                <a:off x="4326" y="2178"/>
                <a:ext cx="95" cy="254"/>
              </a:xfrm>
              <a:prstGeom prst="rect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endParaRPr lang="zh-CN" altLang="en-US"/>
              </a:p>
            </p:txBody>
          </p:sp>
          <p:sp>
            <p:nvSpPr>
              <p:cNvPr id="341071" name="Text Box 79"/>
              <p:cNvSpPr txBox="1">
                <a:spLocks noChangeArrowheads="1"/>
              </p:cNvSpPr>
              <p:nvPr/>
            </p:nvSpPr>
            <p:spPr bwMode="auto">
              <a:xfrm>
                <a:off x="4373" y="2153"/>
                <a:ext cx="3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i="1">
                    <a:ea typeface="楷体_GB2312" pitchFamily="49" charset="-122"/>
                  </a:rPr>
                  <a:t>R</a:t>
                </a:r>
                <a:r>
                  <a:rPr kumimoji="0" lang="en-US" altLang="zh-CN" sz="2000" baseline="-25000">
                    <a:ea typeface="楷体_GB2312" pitchFamily="49" charset="-122"/>
                  </a:rPr>
                  <a:t>1</a:t>
                </a:r>
                <a:endParaRPr kumimoji="0" lang="en-US" altLang="zh-CN" sz="2000">
                  <a:ea typeface="楷体_GB2312" pitchFamily="49" charset="-122"/>
                </a:endParaRPr>
              </a:p>
            </p:txBody>
          </p:sp>
        </p:grpSp>
        <p:sp>
          <p:nvSpPr>
            <p:cNvPr id="341072" name="Line 80"/>
            <p:cNvSpPr>
              <a:spLocks noChangeShapeType="1"/>
            </p:cNvSpPr>
            <p:nvPr/>
          </p:nvSpPr>
          <p:spPr bwMode="auto">
            <a:xfrm>
              <a:off x="4377" y="1974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73" name="Line 81"/>
            <p:cNvSpPr>
              <a:spLocks noChangeShapeType="1"/>
            </p:cNvSpPr>
            <p:nvPr/>
          </p:nvSpPr>
          <p:spPr bwMode="auto">
            <a:xfrm>
              <a:off x="4377" y="2982"/>
              <a:ext cx="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74" name="Text Box 82"/>
            <p:cNvSpPr txBox="1">
              <a:spLocks noChangeArrowheads="1"/>
            </p:cNvSpPr>
            <p:nvPr/>
          </p:nvSpPr>
          <p:spPr bwMode="auto">
            <a:xfrm>
              <a:off x="5435" y="2583"/>
              <a:ext cx="31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ea typeface="楷体_GB2312" pitchFamily="49" charset="-122"/>
                </a:rPr>
                <a:t>s</a:t>
              </a:r>
              <a:r>
                <a:rPr kumimoji="0" lang="en-US" altLang="zh-CN" baseline="-25000" dirty="0">
                  <a:ea typeface="楷体_GB2312" pitchFamily="49" charset="-122"/>
                </a:rPr>
                <a:t>3</a:t>
              </a:r>
            </a:p>
          </p:txBody>
        </p:sp>
        <p:sp>
          <p:nvSpPr>
            <p:cNvPr id="341075" name="Line 83"/>
            <p:cNvSpPr>
              <a:spLocks noChangeShapeType="1"/>
            </p:cNvSpPr>
            <p:nvPr/>
          </p:nvSpPr>
          <p:spPr bwMode="auto">
            <a:xfrm>
              <a:off x="4477" y="1974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1076" name="Text Box 84"/>
            <p:cNvSpPr txBox="1">
              <a:spLocks noChangeArrowheads="1"/>
            </p:cNvSpPr>
            <p:nvPr/>
          </p:nvSpPr>
          <p:spPr bwMode="auto">
            <a:xfrm>
              <a:off x="4454" y="1728"/>
              <a:ext cx="2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solidFill>
                    <a:srgbClr val="FF3300"/>
                  </a:solidFill>
                  <a:ea typeface="楷体_GB2312" pitchFamily="49" charset="-122"/>
                </a:rPr>
                <a:t>i</a:t>
              </a:r>
              <a:r>
                <a:rPr kumimoji="0" lang="en-US" altLang="zh-CN" sz="2000" baseline="-25000">
                  <a:solidFill>
                    <a:srgbClr val="FF3300"/>
                  </a:solidFill>
                  <a:ea typeface="楷体_GB2312" pitchFamily="49" charset="-122"/>
                </a:rPr>
                <a:t>13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</p:grpSp>
      <p:sp>
        <p:nvSpPr>
          <p:cNvPr id="341077" name="Text Box 85"/>
          <p:cNvSpPr txBox="1">
            <a:spLocks noChangeArrowheads="1"/>
          </p:cNvSpPr>
          <p:nvPr/>
        </p:nvSpPr>
        <p:spPr bwMode="auto">
          <a:xfrm>
            <a:off x="457200" y="2051481"/>
            <a:ext cx="2438400" cy="105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i="1" dirty="0" smtClean="0"/>
              <a:t>R</a:t>
            </a:r>
            <a:r>
              <a:rPr lang="en-US" altLang="zh-CN" baseline="-25000" dirty="0" smtClean="0"/>
              <a:t>11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a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R</a:t>
            </a:r>
            <a:r>
              <a:rPr lang="en-US" altLang="zh-CN" baseline="-25000" dirty="0" smtClean="0"/>
              <a:t>12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b</a:t>
            </a:r>
            <a:r>
              <a:rPr lang="en-US" altLang="zh-CN" baseline="-25000" dirty="0" smtClean="0"/>
              <a:t>1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v</a:t>
            </a:r>
            <a:r>
              <a:rPr lang="en-US" altLang="zh-CN" baseline="-25000" dirty="0" smtClean="0"/>
              <a:t>s1</a:t>
            </a:r>
            <a:endParaRPr lang="en-US" altLang="zh-CN" dirty="0"/>
          </a:p>
          <a:p>
            <a:pPr algn="just">
              <a:lnSpc>
                <a:spcPct val="130000"/>
              </a:lnSpc>
            </a:pPr>
            <a:r>
              <a:rPr lang="en-US" altLang="zh-CN" i="1" dirty="0" smtClean="0"/>
              <a:t>R</a:t>
            </a:r>
            <a:r>
              <a:rPr lang="en-US" altLang="zh-CN" baseline="-25000" dirty="0" smtClean="0"/>
              <a:t>21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a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R</a:t>
            </a:r>
            <a:r>
              <a:rPr lang="en-US" altLang="zh-CN" baseline="-25000" dirty="0" smtClean="0"/>
              <a:t>22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b</a:t>
            </a:r>
            <a:r>
              <a:rPr lang="en-US" altLang="zh-CN" baseline="-25000" dirty="0" smtClean="0"/>
              <a:t>1 </a:t>
            </a:r>
            <a:r>
              <a:rPr lang="en-US" altLang="zh-CN" dirty="0" smtClean="0"/>
              <a:t>= 0</a:t>
            </a:r>
            <a:endParaRPr lang="en-US" altLang="zh-CN" dirty="0"/>
          </a:p>
        </p:txBody>
      </p:sp>
      <p:sp>
        <p:nvSpPr>
          <p:cNvPr id="341078" name="Text Box 86"/>
          <p:cNvSpPr txBox="1">
            <a:spLocks noChangeArrowheads="1"/>
          </p:cNvSpPr>
          <p:nvPr/>
        </p:nvSpPr>
        <p:spPr bwMode="auto">
          <a:xfrm>
            <a:off x="3200400" y="2051481"/>
            <a:ext cx="2563812" cy="105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i="1" dirty="0" smtClean="0"/>
              <a:t>R</a:t>
            </a:r>
            <a:r>
              <a:rPr lang="en-US" altLang="zh-CN" baseline="-25000" dirty="0" smtClean="0"/>
              <a:t>11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a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R</a:t>
            </a:r>
            <a:r>
              <a:rPr lang="en-US" altLang="zh-CN" baseline="-25000" dirty="0" smtClean="0"/>
              <a:t>12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b</a:t>
            </a:r>
            <a:r>
              <a:rPr lang="en-US" altLang="zh-CN" baseline="-25000" dirty="0" smtClean="0"/>
              <a:t>2 </a:t>
            </a:r>
            <a:r>
              <a:rPr lang="en-US" altLang="zh-CN" dirty="0" smtClean="0"/>
              <a:t>= </a:t>
            </a:r>
            <a:r>
              <a:rPr lang="en-US" altLang="zh-CN" dirty="0" smtClean="0">
                <a:cs typeface="Times New Roman" panose="02020603050405020304" pitchFamily="18" charset="0"/>
              </a:rPr>
              <a:t>−</a:t>
            </a:r>
            <a:r>
              <a:rPr lang="en-US" altLang="zh-CN" i="1" dirty="0" smtClean="0"/>
              <a:t>v</a:t>
            </a:r>
            <a:r>
              <a:rPr lang="en-US" altLang="zh-CN" baseline="-25000" dirty="0" smtClean="0"/>
              <a:t>s2</a:t>
            </a:r>
            <a:endParaRPr lang="en-US" altLang="zh-CN" dirty="0"/>
          </a:p>
          <a:p>
            <a:pPr algn="just">
              <a:lnSpc>
                <a:spcPct val="130000"/>
              </a:lnSpc>
            </a:pPr>
            <a:r>
              <a:rPr lang="en-US" altLang="zh-CN" i="1" dirty="0" smtClean="0"/>
              <a:t>R</a:t>
            </a:r>
            <a:r>
              <a:rPr lang="en-US" altLang="zh-CN" baseline="-25000" dirty="0" smtClean="0"/>
              <a:t>21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a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R</a:t>
            </a:r>
            <a:r>
              <a:rPr lang="en-US" altLang="zh-CN" baseline="-25000" dirty="0" smtClean="0"/>
              <a:t>22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b</a:t>
            </a:r>
            <a:r>
              <a:rPr lang="en-US" altLang="zh-CN" baseline="-25000" dirty="0" smtClean="0"/>
              <a:t>2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v</a:t>
            </a:r>
            <a:r>
              <a:rPr lang="en-US" altLang="zh-CN" i="1" baseline="-25000" dirty="0" smtClean="0"/>
              <a:t>s</a:t>
            </a:r>
            <a:r>
              <a:rPr lang="en-US" altLang="zh-CN" baseline="-25000" dirty="0" smtClean="0"/>
              <a:t>2</a:t>
            </a:r>
            <a:endParaRPr lang="en-US" altLang="zh-CN" dirty="0"/>
          </a:p>
        </p:txBody>
      </p:sp>
      <p:sp>
        <p:nvSpPr>
          <p:cNvPr id="341079" name="Text Box 87"/>
          <p:cNvSpPr txBox="1">
            <a:spLocks noChangeArrowheads="1"/>
          </p:cNvSpPr>
          <p:nvPr/>
        </p:nvSpPr>
        <p:spPr bwMode="auto">
          <a:xfrm>
            <a:off x="6324599" y="2051481"/>
            <a:ext cx="2645979" cy="105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i="1" dirty="0" smtClean="0"/>
              <a:t>R</a:t>
            </a:r>
            <a:r>
              <a:rPr lang="en-US" altLang="zh-CN" baseline="-25000" dirty="0" smtClean="0"/>
              <a:t>11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a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R</a:t>
            </a:r>
            <a:r>
              <a:rPr lang="en-US" altLang="zh-CN" baseline="-25000" dirty="0" smtClean="0"/>
              <a:t>12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b</a:t>
            </a:r>
            <a:r>
              <a:rPr lang="en-US" altLang="zh-CN" baseline="-25000" dirty="0" smtClean="0"/>
              <a:t>3 </a:t>
            </a:r>
            <a:r>
              <a:rPr lang="en-US" altLang="zh-CN" dirty="0" smtClean="0"/>
              <a:t>= 0</a:t>
            </a:r>
            <a:endParaRPr lang="en-US" altLang="zh-CN" dirty="0"/>
          </a:p>
          <a:p>
            <a:pPr algn="just">
              <a:lnSpc>
                <a:spcPct val="130000"/>
              </a:lnSpc>
            </a:pPr>
            <a:r>
              <a:rPr lang="en-US" altLang="zh-CN" i="1" dirty="0" smtClean="0"/>
              <a:t>R</a:t>
            </a:r>
            <a:r>
              <a:rPr lang="en-US" altLang="zh-CN" baseline="-25000" dirty="0" smtClean="0"/>
              <a:t>21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a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R</a:t>
            </a:r>
            <a:r>
              <a:rPr lang="en-US" altLang="zh-CN" baseline="-25000" dirty="0" smtClean="0"/>
              <a:t>22</a:t>
            </a:r>
            <a:r>
              <a:rPr lang="en-US" altLang="zh-CN" i="1" dirty="0" smtClean="0"/>
              <a:t>i</a:t>
            </a:r>
            <a:r>
              <a:rPr lang="en-US" altLang="zh-CN" i="1" baseline="-25000" dirty="0" smtClean="0"/>
              <a:t>b</a:t>
            </a:r>
            <a:r>
              <a:rPr lang="en-US" altLang="zh-CN" baseline="-25000" dirty="0" smtClean="0"/>
              <a:t>3 </a:t>
            </a:r>
            <a:r>
              <a:rPr lang="en-US" altLang="zh-CN" dirty="0" smtClean="0"/>
              <a:t>= </a:t>
            </a:r>
            <a:r>
              <a:rPr lang="en-US" altLang="zh-CN" dirty="0">
                <a:cs typeface="Times New Roman" panose="02020603050405020304" pitchFamily="18" charset="0"/>
              </a:rPr>
              <a:t>− </a:t>
            </a:r>
            <a:r>
              <a:rPr lang="en-US" altLang="zh-CN" i="1" dirty="0" smtClean="0"/>
              <a:t>v</a:t>
            </a:r>
            <a:r>
              <a:rPr lang="en-US" altLang="zh-CN" i="1" baseline="-25000" dirty="0" smtClean="0"/>
              <a:t>s</a:t>
            </a:r>
            <a:r>
              <a:rPr lang="en-US" altLang="zh-CN" baseline="-25000" dirty="0" smtClean="0"/>
              <a:t>3</a:t>
            </a:r>
            <a:endParaRPr lang="en-US" altLang="zh-CN" dirty="0"/>
          </a:p>
        </p:txBody>
      </p:sp>
      <p:grpSp>
        <p:nvGrpSpPr>
          <p:cNvPr id="341080" name="Group 88"/>
          <p:cNvGrpSpPr>
            <a:grpSpLocks/>
          </p:cNvGrpSpPr>
          <p:nvPr/>
        </p:nvGrpSpPr>
        <p:grpSpPr bwMode="auto">
          <a:xfrm>
            <a:off x="823913" y="3300413"/>
            <a:ext cx="1663700" cy="2671762"/>
            <a:chOff x="519" y="2079"/>
            <a:chExt cx="1048" cy="1683"/>
          </a:xfrm>
        </p:grpSpPr>
        <p:sp>
          <p:nvSpPr>
            <p:cNvPr id="341081" name="Rectangle 89"/>
            <p:cNvSpPr>
              <a:spLocks noChangeArrowheads="1"/>
            </p:cNvSpPr>
            <p:nvPr/>
          </p:nvSpPr>
          <p:spPr bwMode="auto">
            <a:xfrm>
              <a:off x="528" y="3168"/>
              <a:ext cx="672" cy="43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1082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406258"/>
                </p:ext>
              </p:extLst>
            </p:nvPr>
          </p:nvGraphicFramePr>
          <p:xfrm>
            <a:off x="519" y="2079"/>
            <a:ext cx="1048" cy="1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763" name="Equation" r:id="rId3" imgW="838080" imgH="1346040" progId="Equation.DSMT4">
                    <p:embed/>
                  </p:oleObj>
                </mc:Choice>
                <mc:Fallback>
                  <p:oleObj name="Equation" r:id="rId3" imgW="838080" imgH="1346040" progId="Equation.DSMT4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" y="2079"/>
                          <a:ext cx="1048" cy="1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1083" name="Group 91"/>
          <p:cNvGrpSpPr>
            <a:grpSpLocks/>
          </p:cNvGrpSpPr>
          <p:nvPr/>
        </p:nvGrpSpPr>
        <p:grpSpPr bwMode="auto">
          <a:xfrm>
            <a:off x="3352800" y="3375025"/>
            <a:ext cx="2466975" cy="3402013"/>
            <a:chOff x="2112" y="2174"/>
            <a:chExt cx="1554" cy="2143"/>
          </a:xfrm>
        </p:grpSpPr>
        <p:sp>
          <p:nvSpPr>
            <p:cNvPr id="341084" name="Rectangle 92"/>
            <p:cNvSpPr>
              <a:spLocks noChangeArrowheads="1"/>
            </p:cNvSpPr>
            <p:nvPr/>
          </p:nvSpPr>
          <p:spPr bwMode="auto">
            <a:xfrm>
              <a:off x="2112" y="3648"/>
              <a:ext cx="1200" cy="48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1085" name="Object 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8846892"/>
                </p:ext>
              </p:extLst>
            </p:nvPr>
          </p:nvGraphicFramePr>
          <p:xfrm>
            <a:off x="2127" y="2174"/>
            <a:ext cx="1539" cy="2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764" name="Equation" r:id="rId5" imgW="1231560" imgH="1714320" progId="Equation.DSMT4">
                    <p:embed/>
                  </p:oleObj>
                </mc:Choice>
                <mc:Fallback>
                  <p:oleObj name="Equation" r:id="rId5" imgW="1231560" imgH="1714320" progId="Equation.DSMT4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7" y="2174"/>
                          <a:ext cx="1539" cy="2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1086" name="Group 94"/>
          <p:cNvGrpSpPr>
            <a:grpSpLocks/>
          </p:cNvGrpSpPr>
          <p:nvPr/>
        </p:nvGrpSpPr>
        <p:grpSpPr bwMode="auto">
          <a:xfrm>
            <a:off x="6629400" y="3394075"/>
            <a:ext cx="1812925" cy="3402013"/>
            <a:chOff x="4176" y="2168"/>
            <a:chExt cx="1142" cy="2143"/>
          </a:xfrm>
        </p:grpSpPr>
        <p:sp>
          <p:nvSpPr>
            <p:cNvPr id="341087" name="Rectangle 95"/>
            <p:cNvSpPr>
              <a:spLocks noChangeArrowheads="1"/>
            </p:cNvSpPr>
            <p:nvPr/>
          </p:nvSpPr>
          <p:spPr bwMode="auto">
            <a:xfrm>
              <a:off x="4176" y="3648"/>
              <a:ext cx="720" cy="48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1088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4579490"/>
                </p:ext>
              </p:extLst>
            </p:nvPr>
          </p:nvGraphicFramePr>
          <p:xfrm>
            <a:off x="4191" y="2168"/>
            <a:ext cx="1127" cy="2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765" name="Equation" r:id="rId7" imgW="901440" imgH="1714320" progId="Equation.DSMT4">
                    <p:embed/>
                  </p:oleObj>
                </mc:Choice>
                <mc:Fallback>
                  <p:oleObj name="Equation" r:id="rId7" imgW="901440" imgH="1714320" progId="Equation.DSMT4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" y="2168"/>
                          <a:ext cx="1127" cy="2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1089" name="Line 97"/>
          <p:cNvSpPr>
            <a:spLocks noChangeShapeType="1"/>
          </p:cNvSpPr>
          <p:nvPr/>
        </p:nvSpPr>
        <p:spPr bwMode="auto">
          <a:xfrm>
            <a:off x="2895600" y="0"/>
            <a:ext cx="0" cy="6858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341090" name="Line 98"/>
          <p:cNvSpPr>
            <a:spLocks noChangeShapeType="1"/>
          </p:cNvSpPr>
          <p:nvPr/>
        </p:nvSpPr>
        <p:spPr bwMode="auto">
          <a:xfrm>
            <a:off x="6172200" y="0"/>
            <a:ext cx="0" cy="68580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9" name="Oval 46"/>
          <p:cNvSpPr>
            <a:spLocks noChangeArrowheads="1"/>
          </p:cNvSpPr>
          <p:nvPr/>
        </p:nvSpPr>
        <p:spPr bwMode="auto">
          <a:xfrm>
            <a:off x="1352239" y="356349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Oval 46"/>
          <p:cNvSpPr>
            <a:spLocks noChangeArrowheads="1"/>
          </p:cNvSpPr>
          <p:nvPr/>
        </p:nvSpPr>
        <p:spPr bwMode="auto">
          <a:xfrm>
            <a:off x="1355725" y="1959190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Oval 46"/>
          <p:cNvSpPr>
            <a:spLocks noChangeArrowheads="1"/>
          </p:cNvSpPr>
          <p:nvPr/>
        </p:nvSpPr>
        <p:spPr bwMode="auto">
          <a:xfrm>
            <a:off x="4257678" y="356349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Oval 46"/>
          <p:cNvSpPr>
            <a:spLocks noChangeArrowheads="1"/>
          </p:cNvSpPr>
          <p:nvPr/>
        </p:nvSpPr>
        <p:spPr bwMode="auto">
          <a:xfrm>
            <a:off x="4257675" y="1956968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Oval 46"/>
          <p:cNvSpPr>
            <a:spLocks noChangeArrowheads="1"/>
          </p:cNvSpPr>
          <p:nvPr/>
        </p:nvSpPr>
        <p:spPr bwMode="auto">
          <a:xfrm>
            <a:off x="7079455" y="356349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Oval 46"/>
          <p:cNvSpPr>
            <a:spLocks noChangeArrowheads="1"/>
          </p:cNvSpPr>
          <p:nvPr/>
        </p:nvSpPr>
        <p:spPr bwMode="auto">
          <a:xfrm>
            <a:off x="7078660" y="1948078"/>
            <a:ext cx="68262" cy="682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077" grpId="0" autoUpdateAnimBg="0"/>
      <p:bldP spid="341078" grpId="0" autoUpdateAnimBg="0"/>
      <p:bldP spid="34107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018" name="Group 2"/>
          <p:cNvGrpSpPr>
            <a:grpSpLocks/>
          </p:cNvGrpSpPr>
          <p:nvPr/>
        </p:nvGrpSpPr>
        <p:grpSpPr bwMode="auto">
          <a:xfrm>
            <a:off x="793750" y="2692400"/>
            <a:ext cx="1693863" cy="2671763"/>
            <a:chOff x="528" y="2115"/>
            <a:chExt cx="1012" cy="1683"/>
          </a:xfrm>
        </p:grpSpPr>
        <p:sp>
          <p:nvSpPr>
            <p:cNvPr id="342019" name="Rectangle 3"/>
            <p:cNvSpPr>
              <a:spLocks noChangeArrowheads="1"/>
            </p:cNvSpPr>
            <p:nvPr/>
          </p:nvSpPr>
          <p:spPr bwMode="auto">
            <a:xfrm>
              <a:off x="528" y="3168"/>
              <a:ext cx="672" cy="43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202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651071"/>
                </p:ext>
              </p:extLst>
            </p:nvPr>
          </p:nvGraphicFramePr>
          <p:xfrm>
            <a:off x="546" y="2115"/>
            <a:ext cx="994" cy="1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82" name="Equation" r:id="rId3" imgW="838080" imgH="1346040" progId="Equation.DSMT4">
                    <p:embed/>
                  </p:oleObj>
                </mc:Choice>
                <mc:Fallback>
                  <p:oleObj name="Equation" r:id="rId3" imgW="838080" imgH="134604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" y="2115"/>
                          <a:ext cx="994" cy="1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2021" name="Group 5"/>
          <p:cNvGrpSpPr>
            <a:grpSpLocks/>
          </p:cNvGrpSpPr>
          <p:nvPr/>
        </p:nvGrpSpPr>
        <p:grpSpPr bwMode="auto">
          <a:xfrm>
            <a:off x="3352800" y="2795588"/>
            <a:ext cx="2466975" cy="3402012"/>
            <a:chOff x="2112" y="2180"/>
            <a:chExt cx="1554" cy="2143"/>
          </a:xfrm>
        </p:grpSpPr>
        <p:sp>
          <p:nvSpPr>
            <p:cNvPr id="342022" name="Rectangle 6"/>
            <p:cNvSpPr>
              <a:spLocks noChangeArrowheads="1"/>
            </p:cNvSpPr>
            <p:nvPr/>
          </p:nvSpPr>
          <p:spPr bwMode="auto">
            <a:xfrm>
              <a:off x="2112" y="3648"/>
              <a:ext cx="1200" cy="48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202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0907223"/>
                </p:ext>
              </p:extLst>
            </p:nvPr>
          </p:nvGraphicFramePr>
          <p:xfrm>
            <a:off x="2127" y="2180"/>
            <a:ext cx="1539" cy="2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83" name="Equation" r:id="rId5" imgW="1231560" imgH="1714320" progId="Equation.DSMT4">
                    <p:embed/>
                  </p:oleObj>
                </mc:Choice>
                <mc:Fallback>
                  <p:oleObj name="Equation" r:id="rId5" imgW="1231560" imgH="171432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7" y="2180"/>
                          <a:ext cx="1539" cy="2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2024" name="Group 8"/>
          <p:cNvGrpSpPr>
            <a:grpSpLocks/>
          </p:cNvGrpSpPr>
          <p:nvPr/>
        </p:nvGrpSpPr>
        <p:grpSpPr bwMode="auto">
          <a:xfrm>
            <a:off x="6629400" y="2786063"/>
            <a:ext cx="1812925" cy="3402012"/>
            <a:chOff x="4176" y="2174"/>
            <a:chExt cx="1142" cy="2143"/>
          </a:xfrm>
        </p:grpSpPr>
        <p:sp>
          <p:nvSpPr>
            <p:cNvPr id="342025" name="Rectangle 9"/>
            <p:cNvSpPr>
              <a:spLocks noChangeArrowheads="1"/>
            </p:cNvSpPr>
            <p:nvPr/>
          </p:nvSpPr>
          <p:spPr bwMode="auto">
            <a:xfrm>
              <a:off x="4176" y="3648"/>
              <a:ext cx="720" cy="48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202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0230225"/>
                </p:ext>
              </p:extLst>
            </p:nvPr>
          </p:nvGraphicFramePr>
          <p:xfrm>
            <a:off x="4191" y="2174"/>
            <a:ext cx="1127" cy="2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84" name="Equation" r:id="rId7" imgW="901440" imgH="1714320" progId="Equation.DSMT4">
                    <p:embed/>
                  </p:oleObj>
                </mc:Choice>
                <mc:Fallback>
                  <p:oleObj name="Equation" r:id="rId7" imgW="901440" imgH="171432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" y="2174"/>
                          <a:ext cx="1127" cy="2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2027" name="Group 11"/>
          <p:cNvGrpSpPr>
            <a:grpSpLocks/>
          </p:cNvGrpSpPr>
          <p:nvPr/>
        </p:nvGrpSpPr>
        <p:grpSpPr bwMode="auto">
          <a:xfrm>
            <a:off x="377825" y="434975"/>
            <a:ext cx="8537575" cy="1939925"/>
            <a:chOff x="286" y="274"/>
            <a:chExt cx="5378" cy="1222"/>
          </a:xfrm>
        </p:grpSpPr>
        <p:grpSp>
          <p:nvGrpSpPr>
            <p:cNvPr id="342028" name="Group 12"/>
            <p:cNvGrpSpPr>
              <a:grpSpLocks/>
            </p:cNvGrpSpPr>
            <p:nvPr/>
          </p:nvGrpSpPr>
          <p:grpSpPr bwMode="auto">
            <a:xfrm>
              <a:off x="2976" y="510"/>
              <a:ext cx="2688" cy="480"/>
              <a:chOff x="816" y="3168"/>
              <a:chExt cx="2688" cy="480"/>
            </a:xfrm>
          </p:grpSpPr>
          <p:sp>
            <p:nvSpPr>
              <p:cNvPr id="342029" name="Rectangle 13"/>
              <p:cNvSpPr>
                <a:spLocks noChangeArrowheads="1"/>
              </p:cNvSpPr>
              <p:nvPr/>
            </p:nvSpPr>
            <p:spPr bwMode="auto">
              <a:xfrm>
                <a:off x="816" y="3168"/>
                <a:ext cx="2688" cy="480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42030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8379268"/>
                  </p:ext>
                </p:extLst>
              </p:nvPr>
            </p:nvGraphicFramePr>
            <p:xfrm>
              <a:off x="937" y="3192"/>
              <a:ext cx="2205" cy="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185" name="Equation" r:id="rId9" imgW="1739880" imgH="355320" progId="Equation.DSMT4">
                      <p:embed/>
                    </p:oleObj>
                  </mc:Choice>
                  <mc:Fallback>
                    <p:oleObj name="Equation" r:id="rId9" imgW="1739880" imgH="355320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7" y="3192"/>
                            <a:ext cx="2205" cy="4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203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6126908"/>
                </p:ext>
              </p:extLst>
            </p:nvPr>
          </p:nvGraphicFramePr>
          <p:xfrm>
            <a:off x="286" y="274"/>
            <a:ext cx="2396" cy="1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86" name="Equation" r:id="rId11" imgW="1917360" imgH="977760" progId="Equation.DSMT4">
                    <p:embed/>
                  </p:oleObj>
                </mc:Choice>
                <mc:Fallback>
                  <p:oleObj name="Equation" r:id="rId11" imgW="1917360" imgH="97776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" y="274"/>
                          <a:ext cx="2396" cy="1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2032" name="Group 16"/>
          <p:cNvGrpSpPr>
            <a:grpSpLocks/>
          </p:cNvGrpSpPr>
          <p:nvPr/>
        </p:nvGrpSpPr>
        <p:grpSpPr bwMode="auto">
          <a:xfrm>
            <a:off x="838200" y="6057894"/>
            <a:ext cx="7208838" cy="495299"/>
            <a:chOff x="528" y="3816"/>
            <a:chExt cx="4541" cy="312"/>
          </a:xfrm>
        </p:grpSpPr>
        <p:grpSp>
          <p:nvGrpSpPr>
            <p:cNvPr id="342033" name="Group 17"/>
            <p:cNvGrpSpPr>
              <a:grpSpLocks/>
            </p:cNvGrpSpPr>
            <p:nvPr/>
          </p:nvGrpSpPr>
          <p:grpSpPr bwMode="auto">
            <a:xfrm>
              <a:off x="528" y="3816"/>
              <a:ext cx="2099" cy="293"/>
              <a:chOff x="2928" y="979"/>
              <a:chExt cx="2099" cy="251"/>
            </a:xfrm>
          </p:grpSpPr>
          <p:sp>
            <p:nvSpPr>
              <p:cNvPr id="342034" name="Text Box 18"/>
              <p:cNvSpPr txBox="1">
                <a:spLocks noChangeArrowheads="1"/>
              </p:cNvSpPr>
              <p:nvPr/>
            </p:nvSpPr>
            <p:spPr bwMode="auto">
              <a:xfrm>
                <a:off x="3690" y="979"/>
                <a:ext cx="1337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 dirty="0" err="1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i="1" baseline="-25000" dirty="0" err="1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r>
                  <a:rPr kumimoji="0" lang="en-US" altLang="zh-CN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 </a:t>
                </a:r>
                <a:r>
                  <a:rPr kumimoji="0" lang="en-US" altLang="zh-CN" dirty="0">
                    <a:solidFill>
                      <a:srgbClr val="FF3300"/>
                    </a:solidFill>
                    <a:ea typeface="楷体_GB2312" pitchFamily="49" charset="-122"/>
                  </a:rPr>
                  <a:t>= </a:t>
                </a:r>
                <a:r>
                  <a:rPr kumimoji="0" lang="en-US" altLang="zh-CN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r>
                  <a:rPr kumimoji="0" lang="en-US" altLang="zh-CN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1 </a:t>
                </a:r>
                <a:r>
                  <a:rPr kumimoji="0" lang="en-US" altLang="zh-CN" dirty="0">
                    <a:solidFill>
                      <a:srgbClr val="FF3300"/>
                    </a:solidFill>
                    <a:ea typeface="楷体_GB2312" pitchFamily="49" charset="-122"/>
                  </a:rPr>
                  <a:t>+ </a:t>
                </a:r>
                <a:r>
                  <a:rPr kumimoji="0" lang="en-US" altLang="zh-CN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r>
                  <a:rPr kumimoji="0" lang="en-US" altLang="zh-CN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2 </a:t>
                </a:r>
                <a:r>
                  <a:rPr kumimoji="0" lang="en-US" altLang="zh-CN" dirty="0">
                    <a:solidFill>
                      <a:srgbClr val="FF3300"/>
                    </a:solidFill>
                    <a:ea typeface="楷体_GB2312" pitchFamily="49" charset="-122"/>
                  </a:rPr>
                  <a:t>+</a:t>
                </a:r>
                <a:r>
                  <a:rPr kumimoji="0" lang="en-US" altLang="zh-CN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 </a:t>
                </a:r>
                <a:r>
                  <a:rPr kumimoji="0" lang="en-US" altLang="zh-CN" i="1" dirty="0">
                    <a:solidFill>
                      <a:srgbClr val="FF3300"/>
                    </a:solidFill>
                    <a:ea typeface="楷体_GB2312" pitchFamily="49" charset="-122"/>
                  </a:rPr>
                  <a:t>i</a:t>
                </a:r>
                <a:r>
                  <a:rPr kumimoji="0" lang="en-US" altLang="zh-CN" i="1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a</a:t>
                </a:r>
                <a:r>
                  <a:rPr kumimoji="0" lang="en-US" altLang="zh-CN" baseline="-25000" dirty="0">
                    <a:solidFill>
                      <a:srgbClr val="FF3300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342035" name="Text Box 19"/>
              <p:cNvSpPr txBox="1">
                <a:spLocks noChangeArrowheads="1"/>
              </p:cNvSpPr>
              <p:nvPr/>
            </p:nvSpPr>
            <p:spPr bwMode="auto">
              <a:xfrm>
                <a:off x="2928" y="981"/>
                <a:ext cx="502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zh-CN" altLang="en-US">
                    <a:solidFill>
                      <a:srgbClr val="0000FF"/>
                    </a:solidFill>
                    <a:ea typeface="楷体_GB2312" pitchFamily="49" charset="-122"/>
                  </a:rPr>
                  <a:t>证得</a:t>
                </a:r>
              </a:p>
            </p:txBody>
          </p:sp>
        </p:grpSp>
        <p:sp>
          <p:nvSpPr>
            <p:cNvPr id="342036" name="Text Box 20"/>
            <p:cNvSpPr txBox="1">
              <a:spLocks noChangeArrowheads="1"/>
            </p:cNvSpPr>
            <p:nvPr/>
          </p:nvSpPr>
          <p:spPr bwMode="auto">
            <a:xfrm>
              <a:off x="2843" y="3840"/>
              <a:ext cx="22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>
                  <a:solidFill>
                    <a:srgbClr val="0000FF"/>
                  </a:solidFill>
                  <a:ea typeface="楷体_GB2312" pitchFamily="49" charset="-122"/>
                </a:rPr>
                <a:t>即网孔电流满足叠加定理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2"/>
          <p:cNvSpPr txBox="1">
            <a:spLocks noChangeArrowheads="1"/>
          </p:cNvSpPr>
          <p:nvPr/>
        </p:nvSpPr>
        <p:spPr bwMode="auto">
          <a:xfrm>
            <a:off x="666750" y="2730500"/>
            <a:ext cx="74676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 indent="666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57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47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/>
              <a:t>同样</a:t>
            </a:r>
            <a:r>
              <a:rPr kumimoji="0" lang="zh-CN" altLang="en-US" u="sng">
                <a:solidFill>
                  <a:schemeClr val="accent1"/>
                </a:solidFill>
              </a:rPr>
              <a:t>可以证明</a:t>
            </a:r>
            <a:r>
              <a:rPr kumimoji="0" lang="zh-CN" altLang="en-US"/>
              <a:t>：线性电阻电路中任意支路的电压等于各电源（电压源、电流源）在此支路产生的电压的代数和。</a:t>
            </a:r>
          </a:p>
        </p:txBody>
      </p:sp>
      <p:sp>
        <p:nvSpPr>
          <p:cNvPr id="344080" name="Text Box 16"/>
          <p:cNvSpPr txBox="1">
            <a:spLocks noChangeArrowheads="1"/>
          </p:cNvSpPr>
          <p:nvPr/>
        </p:nvSpPr>
        <p:spPr bwMode="auto">
          <a:xfrm>
            <a:off x="714375" y="1357313"/>
            <a:ext cx="75374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l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>
                <a:solidFill>
                  <a:srgbClr val="0000FF"/>
                </a:solidFill>
              </a:rPr>
              <a:t>        </a:t>
            </a:r>
            <a:r>
              <a:rPr kumimoji="0" lang="zh-CN" altLang="en-US">
                <a:solidFill>
                  <a:srgbClr val="0000FF"/>
                </a:solidFill>
              </a:rPr>
              <a:t>支路电流是网孔电流的线性组合，支路电流也满足叠加定理。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Text Box 2"/>
          <p:cNvSpPr txBox="1">
            <a:spLocks noChangeArrowheads="1"/>
          </p:cNvSpPr>
          <p:nvPr/>
        </p:nvSpPr>
        <p:spPr bwMode="auto">
          <a:xfrm>
            <a:off x="762000" y="5253985"/>
            <a:ext cx="7656786" cy="683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 marL="476250" indent="-476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66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dirty="0">
                <a:solidFill>
                  <a:srgbClr val="FF66FF"/>
                </a:solidFill>
              </a:rPr>
              <a:t>4.</a:t>
            </a:r>
            <a:r>
              <a:rPr kumimoji="0" lang="en-US" altLang="zh-CN" sz="3200" dirty="0">
                <a:solidFill>
                  <a:srgbClr val="FF66FF"/>
                </a:solidFill>
              </a:rPr>
              <a:t> </a:t>
            </a:r>
            <a:r>
              <a:rPr kumimoji="0" lang="zh-CN" altLang="en-US" dirty="0"/>
              <a:t>含受控源电路亦可用</a:t>
            </a:r>
            <a:r>
              <a:rPr kumimoji="0" lang="zh-CN" altLang="en-US" dirty="0" smtClean="0"/>
              <a:t>叠加</a:t>
            </a:r>
            <a:r>
              <a:rPr kumimoji="0" lang="zh-CN" altLang="en-US" dirty="0"/>
              <a:t>定理</a:t>
            </a:r>
            <a:r>
              <a:rPr kumimoji="0" lang="zh-CN" altLang="en-US" dirty="0" smtClean="0"/>
              <a:t>，</a:t>
            </a:r>
            <a:r>
              <a:rPr kumimoji="0" lang="zh-CN" altLang="en-US" dirty="0"/>
              <a:t>但受控源应始终保留</a:t>
            </a:r>
            <a:r>
              <a:rPr kumimoji="0" lang="zh-CN" altLang="en-US" dirty="0" smtClean="0"/>
              <a:t>。  </a:t>
            </a:r>
            <a:endParaRPr kumimoji="0" lang="zh-CN" altLang="en-US" dirty="0"/>
          </a:p>
        </p:txBody>
      </p:sp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733550" y="1853592"/>
            <a:ext cx="6397585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l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dirty="0">
                <a:solidFill>
                  <a:srgbClr val="FF66FF"/>
                </a:solidFill>
              </a:rPr>
              <a:t>2.</a:t>
            </a:r>
            <a:r>
              <a:rPr kumimoji="0" lang="en-US" altLang="zh-CN" sz="3200" dirty="0">
                <a:solidFill>
                  <a:srgbClr val="FF66FF"/>
                </a:solidFill>
              </a:rPr>
              <a:t> </a:t>
            </a:r>
            <a:r>
              <a:rPr kumimoji="0" lang="zh-CN" altLang="en-US" dirty="0"/>
              <a:t>功率不能</a:t>
            </a:r>
            <a:r>
              <a:rPr kumimoji="0" lang="zh-CN" altLang="en-US" dirty="0" smtClean="0"/>
              <a:t>叠加（功率</a:t>
            </a:r>
            <a:r>
              <a:rPr kumimoji="0" lang="zh-CN" altLang="en-US" dirty="0"/>
              <a:t>为电源的</a:t>
            </a:r>
            <a:r>
              <a:rPr kumimoji="0" lang="zh-CN" altLang="en-US" dirty="0" smtClean="0"/>
              <a:t>二次函数）。</a:t>
            </a:r>
            <a:endParaRPr kumimoji="0" lang="zh-CN" altLang="en-US" dirty="0"/>
          </a:p>
        </p:txBody>
      </p:sp>
      <p:graphicFrame>
        <p:nvGraphicFramePr>
          <p:cNvPr id="346117" name="Object 5"/>
          <p:cNvGraphicFramePr>
            <a:graphicFrameLocks noChangeAspect="1"/>
          </p:cNvGraphicFramePr>
          <p:nvPr/>
        </p:nvGraphicFramePr>
        <p:xfrm>
          <a:off x="3251200" y="2411413"/>
          <a:ext cx="44767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410" name="Equation" r:id="rId3" imgW="1904760" imgH="190440" progId="Equation.DSMT4">
                  <p:embed/>
                </p:oleObj>
              </mc:Choice>
              <mc:Fallback>
                <p:oleObj name="Equation" r:id="rId3" imgW="1904760" imgH="1904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2411413"/>
                        <a:ext cx="44767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9" name="Text Box 7"/>
          <p:cNvSpPr txBox="1">
            <a:spLocks noChangeArrowheads="1"/>
          </p:cNvSpPr>
          <p:nvPr/>
        </p:nvSpPr>
        <p:spPr bwMode="auto">
          <a:xfrm>
            <a:off x="361950" y="381000"/>
            <a:ext cx="1192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2800">
                <a:solidFill>
                  <a:srgbClr val="CC3300"/>
                </a:solidFill>
              </a:rPr>
              <a:t>小结  </a:t>
            </a:r>
            <a:r>
              <a:rPr kumimoji="0" lang="en-US" altLang="zh-CN" sz="2800">
                <a:solidFill>
                  <a:srgbClr val="CC3300"/>
                </a:solidFill>
              </a:rPr>
              <a:t>:</a:t>
            </a:r>
          </a:p>
        </p:txBody>
      </p:sp>
      <p:sp>
        <p:nvSpPr>
          <p:cNvPr id="346120" name="Text Box 8"/>
          <p:cNvSpPr txBox="1">
            <a:spLocks noChangeArrowheads="1"/>
          </p:cNvSpPr>
          <p:nvPr/>
        </p:nvSpPr>
        <p:spPr bwMode="auto">
          <a:xfrm>
            <a:off x="1733550" y="304800"/>
            <a:ext cx="6948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dirty="0">
                <a:solidFill>
                  <a:srgbClr val="FF66FF"/>
                </a:solidFill>
              </a:rPr>
              <a:t>1.</a:t>
            </a:r>
            <a:r>
              <a:rPr kumimoji="0" lang="en-US" altLang="zh-CN" sz="3200" dirty="0">
                <a:solidFill>
                  <a:srgbClr val="FF66FF"/>
                </a:solidFill>
              </a:rPr>
              <a:t> </a:t>
            </a:r>
            <a:r>
              <a:rPr kumimoji="0" lang="zh-CN" altLang="en-US" dirty="0"/>
              <a:t>叠加定理只适用于线性电路的电流、电压计算。</a:t>
            </a: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2209800" y="914400"/>
            <a:ext cx="277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 dirty="0">
                <a:solidFill>
                  <a:srgbClr val="0000FF"/>
                </a:solidFill>
              </a:rPr>
              <a:t>电压源为零</a:t>
            </a:r>
            <a:r>
              <a:rPr kumimoji="0" lang="en-US" altLang="zh-CN" dirty="0">
                <a:solidFill>
                  <a:srgbClr val="0000FF"/>
                </a:solidFill>
              </a:rPr>
              <a:t>—</a:t>
            </a:r>
            <a:r>
              <a:rPr kumimoji="0" lang="zh-CN" altLang="en-US" dirty="0">
                <a:solidFill>
                  <a:srgbClr val="0000FF"/>
                </a:solidFill>
              </a:rPr>
              <a:t>短路。</a:t>
            </a:r>
          </a:p>
        </p:txBody>
      </p:sp>
      <p:sp>
        <p:nvSpPr>
          <p:cNvPr id="346122" name="Text Box 10"/>
          <p:cNvSpPr txBox="1">
            <a:spLocks noChangeArrowheads="1"/>
          </p:cNvSpPr>
          <p:nvPr/>
        </p:nvSpPr>
        <p:spPr bwMode="auto">
          <a:xfrm>
            <a:off x="5562600" y="914400"/>
            <a:ext cx="277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>
                <a:solidFill>
                  <a:srgbClr val="0000FF"/>
                </a:solidFill>
              </a:rPr>
              <a:t>电流源为零</a:t>
            </a:r>
            <a:r>
              <a:rPr kumimoji="0" lang="en-US" altLang="zh-CN">
                <a:solidFill>
                  <a:srgbClr val="0000FF"/>
                </a:solidFill>
              </a:rPr>
              <a:t>—</a:t>
            </a:r>
            <a:r>
              <a:rPr kumimoji="0" lang="zh-CN" altLang="en-US">
                <a:solidFill>
                  <a:srgbClr val="0000FF"/>
                </a:solidFill>
              </a:rPr>
              <a:t>开路。</a:t>
            </a:r>
          </a:p>
        </p:txBody>
      </p:sp>
      <p:sp>
        <p:nvSpPr>
          <p:cNvPr id="346123" name="Rectangle 11"/>
          <p:cNvSpPr>
            <a:spLocks noChangeArrowheads="1"/>
          </p:cNvSpPr>
          <p:nvPr/>
        </p:nvSpPr>
        <p:spPr bwMode="auto">
          <a:xfrm>
            <a:off x="2266950" y="1371600"/>
            <a:ext cx="4765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i="1"/>
              <a:t>v</a:t>
            </a:r>
            <a:r>
              <a:rPr kumimoji="0" lang="zh-CN" altLang="en-US"/>
              <a:t>，</a:t>
            </a:r>
            <a:r>
              <a:rPr kumimoji="0" lang="en-US" altLang="zh-CN" i="1"/>
              <a:t>i </a:t>
            </a:r>
            <a:r>
              <a:rPr kumimoji="0" lang="zh-CN" altLang="en-US"/>
              <a:t>叠加时要注意各分量的方向。</a:t>
            </a:r>
          </a:p>
        </p:txBody>
      </p:sp>
      <p:sp>
        <p:nvSpPr>
          <p:cNvPr id="346125" name="Text Box 13"/>
          <p:cNvSpPr txBox="1">
            <a:spLocks noChangeArrowheads="1"/>
          </p:cNvSpPr>
          <p:nvPr/>
        </p:nvSpPr>
        <p:spPr bwMode="auto">
          <a:xfrm>
            <a:off x="1733550" y="2908922"/>
            <a:ext cx="7467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l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dirty="0">
                <a:solidFill>
                  <a:srgbClr val="FF66FF"/>
                </a:solidFill>
              </a:rPr>
              <a:t>3.</a:t>
            </a:r>
            <a:r>
              <a:rPr kumimoji="0" lang="en-US" altLang="zh-CN" dirty="0">
                <a:solidFill>
                  <a:srgbClr val="FF66FF"/>
                </a:solidFill>
                <a:latin typeface="宋体" charset="-122"/>
              </a:rPr>
              <a:t> </a:t>
            </a:r>
            <a:r>
              <a:rPr kumimoji="0" lang="zh-CN" altLang="en-US" dirty="0">
                <a:latin typeface="宋体" charset="-122"/>
              </a:rPr>
              <a:t>也可以把电源分组叠加</a:t>
            </a:r>
            <a:r>
              <a:rPr kumimoji="0" lang="en-US" altLang="zh-CN" dirty="0">
                <a:latin typeface="宋体" charset="-122"/>
              </a:rPr>
              <a:t>(</a:t>
            </a:r>
            <a:r>
              <a:rPr kumimoji="0" lang="zh-CN" altLang="en-US" dirty="0">
                <a:latin typeface="宋体" charset="-122"/>
              </a:rPr>
              <a:t>每个电源只能作用一次</a:t>
            </a:r>
            <a:r>
              <a:rPr kumimoji="0" lang="en-US" altLang="zh-CN" dirty="0">
                <a:latin typeface="宋体" charset="-122"/>
              </a:rPr>
              <a:t>)</a:t>
            </a:r>
            <a:r>
              <a:rPr kumimoji="0" lang="en-US" altLang="zh-CN" dirty="0">
                <a:solidFill>
                  <a:srgbClr val="FF66FF"/>
                </a:solidFill>
                <a:latin typeface="宋体" charset="-122"/>
              </a:rPr>
              <a:t> </a:t>
            </a:r>
            <a:endParaRPr kumimoji="0" lang="en-US" altLang="zh-CN" dirty="0">
              <a:latin typeface="宋体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4800" y="3346450"/>
            <a:ext cx="8001001" cy="1727200"/>
            <a:chOff x="304800" y="3346450"/>
            <a:chExt cx="8001001" cy="1727200"/>
          </a:xfrm>
        </p:grpSpPr>
        <p:sp>
          <p:nvSpPr>
            <p:cNvPr id="346126" name="Line 14"/>
            <p:cNvSpPr>
              <a:spLocks noChangeShapeType="1"/>
            </p:cNvSpPr>
            <p:nvPr/>
          </p:nvSpPr>
          <p:spPr bwMode="auto">
            <a:xfrm>
              <a:off x="1935163" y="3735388"/>
              <a:ext cx="0" cy="1268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en-US" altLang="zh-CN" dirty="0"/>
            </a:p>
            <a:p>
              <a:endParaRPr lang="en-US" altLang="zh-CN" dirty="0" smtClean="0"/>
            </a:p>
            <a:p>
              <a:endParaRPr lang="zh-CN" altLang="en-US" dirty="0"/>
            </a:p>
          </p:txBody>
        </p:sp>
        <p:sp>
          <p:nvSpPr>
            <p:cNvPr id="346127" name="Oval 15"/>
            <p:cNvSpPr>
              <a:spLocks noChangeArrowheads="1"/>
            </p:cNvSpPr>
            <p:nvPr/>
          </p:nvSpPr>
          <p:spPr bwMode="auto">
            <a:xfrm>
              <a:off x="1801813" y="4559300"/>
              <a:ext cx="265113" cy="26987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28" name="Rectangle 16"/>
            <p:cNvSpPr>
              <a:spLocks noChangeArrowheads="1"/>
            </p:cNvSpPr>
            <p:nvPr/>
          </p:nvSpPr>
          <p:spPr bwMode="auto">
            <a:xfrm>
              <a:off x="1873250" y="3989388"/>
              <a:ext cx="123825" cy="31750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29" name="Rectangle 17"/>
            <p:cNvSpPr>
              <a:spLocks noChangeArrowheads="1"/>
            </p:cNvSpPr>
            <p:nvPr/>
          </p:nvSpPr>
          <p:spPr bwMode="auto">
            <a:xfrm>
              <a:off x="762000" y="3956050"/>
              <a:ext cx="125413" cy="31750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30" name="Text Box 18"/>
            <p:cNvSpPr txBox="1">
              <a:spLocks noChangeArrowheads="1"/>
            </p:cNvSpPr>
            <p:nvPr/>
          </p:nvSpPr>
          <p:spPr bwMode="auto">
            <a:xfrm>
              <a:off x="304800" y="3879850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31" name="Text Box 19"/>
            <p:cNvSpPr txBox="1">
              <a:spLocks noChangeArrowheads="1"/>
            </p:cNvSpPr>
            <p:nvPr/>
          </p:nvSpPr>
          <p:spPr bwMode="auto">
            <a:xfrm>
              <a:off x="1935163" y="3916363"/>
              <a:ext cx="579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2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32" name="Text Box 20"/>
            <p:cNvSpPr txBox="1">
              <a:spLocks noChangeArrowheads="1"/>
            </p:cNvSpPr>
            <p:nvPr/>
          </p:nvSpPr>
          <p:spPr bwMode="auto">
            <a:xfrm>
              <a:off x="2063750" y="4424363"/>
              <a:ext cx="4429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v</a:t>
              </a:r>
              <a:r>
                <a:rPr kumimoji="0" lang="en-US" altLang="zh-CN" sz="2000" baseline="-25000">
                  <a:ea typeface="楷体_GB2312" pitchFamily="49" charset="-122"/>
                </a:rPr>
                <a:t>s2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33" name="Line 21"/>
            <p:cNvSpPr>
              <a:spLocks noChangeShapeType="1"/>
            </p:cNvSpPr>
            <p:nvPr/>
          </p:nvSpPr>
          <p:spPr bwMode="auto">
            <a:xfrm>
              <a:off x="817563" y="3608388"/>
              <a:ext cx="309563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34" name="Text Box 22"/>
            <p:cNvSpPr txBox="1">
              <a:spLocks noChangeArrowheads="1"/>
            </p:cNvSpPr>
            <p:nvPr/>
          </p:nvSpPr>
          <p:spPr bwMode="auto">
            <a:xfrm>
              <a:off x="1095375" y="3346450"/>
              <a:ext cx="3365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 dirty="0">
                  <a:ea typeface="楷体_GB2312" pitchFamily="49" charset="-122"/>
                </a:rPr>
                <a:t>i</a:t>
              </a:r>
              <a:r>
                <a:rPr kumimoji="0" lang="en-US" altLang="zh-CN" sz="2000" baseline="-25000" dirty="0">
                  <a:ea typeface="楷体_GB2312" pitchFamily="49" charset="-122"/>
                </a:rPr>
                <a:t>1</a:t>
              </a:r>
              <a:endParaRPr kumimoji="0" lang="en-US" altLang="zh-CN" sz="2000" dirty="0">
                <a:ea typeface="楷体_GB2312" pitchFamily="49" charset="-122"/>
              </a:endParaRPr>
            </a:p>
          </p:txBody>
        </p:sp>
        <p:sp>
          <p:nvSpPr>
            <p:cNvPr id="346135" name="Text Box 23"/>
            <p:cNvSpPr txBox="1">
              <a:spLocks noChangeArrowheads="1"/>
            </p:cNvSpPr>
            <p:nvPr/>
          </p:nvSpPr>
          <p:spPr bwMode="auto">
            <a:xfrm>
              <a:off x="1874838" y="4233863"/>
              <a:ext cx="3286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>
                  <a:ea typeface="楷体_GB2312" pitchFamily="49" charset="-122"/>
                </a:rPr>
                <a:t>+</a:t>
              </a:r>
            </a:p>
          </p:txBody>
        </p:sp>
        <p:sp>
          <p:nvSpPr>
            <p:cNvPr id="346136" name="Text Box 24"/>
            <p:cNvSpPr txBox="1">
              <a:spLocks noChangeArrowheads="1"/>
            </p:cNvSpPr>
            <p:nvPr/>
          </p:nvSpPr>
          <p:spPr bwMode="auto">
            <a:xfrm>
              <a:off x="1893888" y="4676775"/>
              <a:ext cx="3079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346137" name="Line 25"/>
            <p:cNvSpPr>
              <a:spLocks noChangeShapeType="1"/>
            </p:cNvSpPr>
            <p:nvPr/>
          </p:nvSpPr>
          <p:spPr bwMode="auto">
            <a:xfrm flipV="1">
              <a:off x="838200" y="372745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38" name="Line 26"/>
            <p:cNvSpPr>
              <a:spLocks noChangeShapeType="1"/>
            </p:cNvSpPr>
            <p:nvPr/>
          </p:nvSpPr>
          <p:spPr bwMode="auto">
            <a:xfrm>
              <a:off x="838200" y="4273550"/>
              <a:ext cx="0" cy="730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39" name="Line 27"/>
            <p:cNvSpPr>
              <a:spLocks noChangeShapeType="1"/>
            </p:cNvSpPr>
            <p:nvPr/>
          </p:nvSpPr>
          <p:spPr bwMode="auto">
            <a:xfrm>
              <a:off x="838200" y="5003800"/>
              <a:ext cx="1828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40" name="Oval 28"/>
            <p:cNvSpPr>
              <a:spLocks noChangeArrowheads="1"/>
            </p:cNvSpPr>
            <p:nvPr/>
          </p:nvSpPr>
          <p:spPr bwMode="auto">
            <a:xfrm>
              <a:off x="2514600" y="4251325"/>
              <a:ext cx="298450" cy="2984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41" name="Line 29"/>
            <p:cNvSpPr>
              <a:spLocks noChangeShapeType="1"/>
            </p:cNvSpPr>
            <p:nvPr/>
          </p:nvSpPr>
          <p:spPr bwMode="auto">
            <a:xfrm>
              <a:off x="2520950" y="4402138"/>
              <a:ext cx="2984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42" name="Line 30"/>
            <p:cNvSpPr>
              <a:spLocks noChangeShapeType="1"/>
            </p:cNvSpPr>
            <p:nvPr/>
          </p:nvSpPr>
          <p:spPr bwMode="auto">
            <a:xfrm flipV="1">
              <a:off x="2667000" y="3721100"/>
              <a:ext cx="0" cy="517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43" name="Line 31"/>
            <p:cNvSpPr>
              <a:spLocks noChangeShapeType="1"/>
            </p:cNvSpPr>
            <p:nvPr/>
          </p:nvSpPr>
          <p:spPr bwMode="auto">
            <a:xfrm>
              <a:off x="2667000" y="4556125"/>
              <a:ext cx="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44" name="Line 32"/>
            <p:cNvSpPr>
              <a:spLocks noChangeShapeType="1"/>
            </p:cNvSpPr>
            <p:nvPr/>
          </p:nvSpPr>
          <p:spPr bwMode="auto">
            <a:xfrm>
              <a:off x="838200" y="3727450"/>
              <a:ext cx="1828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45" name="Oval 33"/>
            <p:cNvSpPr>
              <a:spLocks noChangeArrowheads="1"/>
            </p:cNvSpPr>
            <p:nvPr/>
          </p:nvSpPr>
          <p:spPr bwMode="auto">
            <a:xfrm>
              <a:off x="708025" y="4513263"/>
              <a:ext cx="265113" cy="26987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46" name="Text Box 34"/>
            <p:cNvSpPr txBox="1">
              <a:spLocks noChangeArrowheads="1"/>
            </p:cNvSpPr>
            <p:nvPr/>
          </p:nvSpPr>
          <p:spPr bwMode="auto">
            <a:xfrm>
              <a:off x="931863" y="4378325"/>
              <a:ext cx="4429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v</a:t>
              </a:r>
              <a:r>
                <a:rPr kumimoji="0" lang="en-US" altLang="zh-CN" sz="2000" baseline="-25000">
                  <a:ea typeface="楷体_GB2312" pitchFamily="49" charset="-122"/>
                </a:rPr>
                <a:t>s1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47" name="Text Box 35"/>
            <p:cNvSpPr txBox="1">
              <a:spLocks noChangeArrowheads="1"/>
            </p:cNvSpPr>
            <p:nvPr/>
          </p:nvSpPr>
          <p:spPr bwMode="auto">
            <a:xfrm>
              <a:off x="765175" y="4202113"/>
              <a:ext cx="3286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ea typeface="楷体_GB2312" pitchFamily="49" charset="-122"/>
                </a:rPr>
                <a:t>+</a:t>
              </a:r>
            </a:p>
          </p:txBody>
        </p:sp>
        <p:sp>
          <p:nvSpPr>
            <p:cNvPr id="346148" name="Text Box 36"/>
            <p:cNvSpPr txBox="1">
              <a:spLocks noChangeArrowheads="1"/>
            </p:cNvSpPr>
            <p:nvPr/>
          </p:nvSpPr>
          <p:spPr bwMode="auto">
            <a:xfrm>
              <a:off x="792163" y="4630738"/>
              <a:ext cx="3079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346149" name="Line 37"/>
            <p:cNvSpPr>
              <a:spLocks noChangeShapeType="1"/>
            </p:cNvSpPr>
            <p:nvPr/>
          </p:nvSpPr>
          <p:spPr bwMode="auto">
            <a:xfrm flipV="1">
              <a:off x="2667000" y="3879850"/>
              <a:ext cx="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50" name="Text Box 38"/>
            <p:cNvSpPr txBox="1">
              <a:spLocks noChangeArrowheads="1"/>
            </p:cNvSpPr>
            <p:nvPr/>
          </p:nvSpPr>
          <p:spPr bwMode="auto">
            <a:xfrm>
              <a:off x="2667000" y="3803650"/>
              <a:ext cx="3444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0" i="1">
                  <a:ea typeface="楷体_GB2312" pitchFamily="49" charset="-122"/>
                </a:rPr>
                <a:t>i</a:t>
              </a:r>
              <a:r>
                <a:rPr kumimoji="0" lang="en-US" altLang="zh-CN" b="0" i="1" baseline="-25000">
                  <a:ea typeface="楷体_GB2312" pitchFamily="49" charset="-122"/>
                </a:rPr>
                <a:t>s</a:t>
              </a:r>
              <a:endParaRPr kumimoji="0" lang="en-US" altLang="zh-CN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346151" name="Line 39"/>
            <p:cNvSpPr>
              <a:spLocks noChangeShapeType="1"/>
            </p:cNvSpPr>
            <p:nvPr/>
          </p:nvSpPr>
          <p:spPr bwMode="auto">
            <a:xfrm>
              <a:off x="7726363" y="3735388"/>
              <a:ext cx="0" cy="1268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52" name="Oval 40"/>
            <p:cNvSpPr>
              <a:spLocks noChangeArrowheads="1"/>
            </p:cNvSpPr>
            <p:nvPr/>
          </p:nvSpPr>
          <p:spPr bwMode="auto">
            <a:xfrm>
              <a:off x="7593013" y="4559300"/>
              <a:ext cx="265113" cy="26987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53" name="Rectangle 41"/>
            <p:cNvSpPr>
              <a:spLocks noChangeArrowheads="1"/>
            </p:cNvSpPr>
            <p:nvPr/>
          </p:nvSpPr>
          <p:spPr bwMode="auto">
            <a:xfrm>
              <a:off x="7664450" y="3989388"/>
              <a:ext cx="123825" cy="31750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54" name="Rectangle 42"/>
            <p:cNvSpPr>
              <a:spLocks noChangeArrowheads="1"/>
            </p:cNvSpPr>
            <p:nvPr/>
          </p:nvSpPr>
          <p:spPr bwMode="auto">
            <a:xfrm>
              <a:off x="6561138" y="3956050"/>
              <a:ext cx="125413" cy="31750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55" name="Text Box 43"/>
            <p:cNvSpPr txBox="1">
              <a:spLocks noChangeArrowheads="1"/>
            </p:cNvSpPr>
            <p:nvPr/>
          </p:nvSpPr>
          <p:spPr bwMode="auto">
            <a:xfrm>
              <a:off x="6096000" y="3879850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56" name="Text Box 44"/>
            <p:cNvSpPr txBox="1">
              <a:spLocks noChangeArrowheads="1"/>
            </p:cNvSpPr>
            <p:nvPr/>
          </p:nvSpPr>
          <p:spPr bwMode="auto">
            <a:xfrm>
              <a:off x="7726363" y="3916363"/>
              <a:ext cx="579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2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57" name="Text Box 45"/>
            <p:cNvSpPr txBox="1">
              <a:spLocks noChangeArrowheads="1"/>
            </p:cNvSpPr>
            <p:nvPr/>
          </p:nvSpPr>
          <p:spPr bwMode="auto">
            <a:xfrm>
              <a:off x="7854950" y="4424363"/>
              <a:ext cx="4429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v</a:t>
              </a:r>
              <a:r>
                <a:rPr kumimoji="0" lang="en-US" altLang="zh-CN" sz="2000" baseline="-25000">
                  <a:ea typeface="楷体_GB2312" pitchFamily="49" charset="-122"/>
                </a:rPr>
                <a:t>s2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58" name="Line 46"/>
            <p:cNvSpPr>
              <a:spLocks noChangeShapeType="1"/>
            </p:cNvSpPr>
            <p:nvPr/>
          </p:nvSpPr>
          <p:spPr bwMode="auto">
            <a:xfrm>
              <a:off x="6608763" y="3608388"/>
              <a:ext cx="309563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59" name="Text Box 47"/>
            <p:cNvSpPr txBox="1">
              <a:spLocks noChangeArrowheads="1"/>
            </p:cNvSpPr>
            <p:nvPr/>
          </p:nvSpPr>
          <p:spPr bwMode="auto">
            <a:xfrm>
              <a:off x="6870700" y="3362325"/>
              <a:ext cx="4762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 dirty="0">
                  <a:ea typeface="楷体_GB2312" pitchFamily="49" charset="-122"/>
                </a:rPr>
                <a:t>i</a:t>
              </a:r>
              <a:r>
                <a:rPr kumimoji="0" lang="en-US" altLang="zh-CN" sz="2000" baseline="-25000" dirty="0">
                  <a:ea typeface="楷体_GB2312" pitchFamily="49" charset="-122"/>
                </a:rPr>
                <a:t>1</a:t>
              </a:r>
              <a:r>
                <a:rPr kumimoji="0" lang="en-US" altLang="zh-CN" sz="2000" dirty="0">
                  <a:ea typeface="楷体_GB2312" pitchFamily="49" charset="-122"/>
                </a:rPr>
                <a:t>''</a:t>
              </a:r>
            </a:p>
          </p:txBody>
        </p:sp>
        <p:sp>
          <p:nvSpPr>
            <p:cNvPr id="346160" name="Text Box 48"/>
            <p:cNvSpPr txBox="1">
              <a:spLocks noChangeArrowheads="1"/>
            </p:cNvSpPr>
            <p:nvPr/>
          </p:nvSpPr>
          <p:spPr bwMode="auto">
            <a:xfrm>
              <a:off x="7666038" y="4233863"/>
              <a:ext cx="3286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ea typeface="楷体_GB2312" pitchFamily="49" charset="-122"/>
                </a:rPr>
                <a:t>+</a:t>
              </a:r>
            </a:p>
          </p:txBody>
        </p:sp>
        <p:sp>
          <p:nvSpPr>
            <p:cNvPr id="346161" name="Text Box 49"/>
            <p:cNvSpPr txBox="1">
              <a:spLocks noChangeArrowheads="1"/>
            </p:cNvSpPr>
            <p:nvPr/>
          </p:nvSpPr>
          <p:spPr bwMode="auto">
            <a:xfrm>
              <a:off x="7685088" y="4676775"/>
              <a:ext cx="3079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346162" name="Line 50"/>
            <p:cNvSpPr>
              <a:spLocks noChangeShapeType="1"/>
            </p:cNvSpPr>
            <p:nvPr/>
          </p:nvSpPr>
          <p:spPr bwMode="auto">
            <a:xfrm flipV="1">
              <a:off x="6629400" y="372745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63" name="Line 51"/>
            <p:cNvSpPr>
              <a:spLocks noChangeShapeType="1"/>
            </p:cNvSpPr>
            <p:nvPr/>
          </p:nvSpPr>
          <p:spPr bwMode="auto">
            <a:xfrm>
              <a:off x="6629400" y="4273550"/>
              <a:ext cx="0" cy="730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64" name="Line 52"/>
            <p:cNvSpPr>
              <a:spLocks noChangeShapeType="1"/>
            </p:cNvSpPr>
            <p:nvPr/>
          </p:nvSpPr>
          <p:spPr bwMode="auto">
            <a:xfrm>
              <a:off x="6629400" y="5003800"/>
              <a:ext cx="1676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65" name="Line 53"/>
            <p:cNvSpPr>
              <a:spLocks noChangeShapeType="1"/>
            </p:cNvSpPr>
            <p:nvPr/>
          </p:nvSpPr>
          <p:spPr bwMode="auto">
            <a:xfrm>
              <a:off x="6629400" y="3743325"/>
              <a:ext cx="1676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66" name="Line 54"/>
            <p:cNvSpPr>
              <a:spLocks noChangeShapeType="1"/>
            </p:cNvSpPr>
            <p:nvPr/>
          </p:nvSpPr>
          <p:spPr bwMode="auto">
            <a:xfrm>
              <a:off x="4754563" y="3735388"/>
              <a:ext cx="0" cy="1268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67" name="Rectangle 55"/>
            <p:cNvSpPr>
              <a:spLocks noChangeArrowheads="1"/>
            </p:cNvSpPr>
            <p:nvPr/>
          </p:nvSpPr>
          <p:spPr bwMode="auto">
            <a:xfrm>
              <a:off x="4692650" y="3989388"/>
              <a:ext cx="123825" cy="31750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68" name="Rectangle 56"/>
            <p:cNvSpPr>
              <a:spLocks noChangeArrowheads="1"/>
            </p:cNvSpPr>
            <p:nvPr/>
          </p:nvSpPr>
          <p:spPr bwMode="auto">
            <a:xfrm>
              <a:off x="3597275" y="3956050"/>
              <a:ext cx="125413" cy="31750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69" name="Text Box 57"/>
            <p:cNvSpPr txBox="1">
              <a:spLocks noChangeArrowheads="1"/>
            </p:cNvSpPr>
            <p:nvPr/>
          </p:nvSpPr>
          <p:spPr bwMode="auto">
            <a:xfrm>
              <a:off x="3124200" y="3879850"/>
              <a:ext cx="5365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70" name="Text Box 58"/>
            <p:cNvSpPr txBox="1">
              <a:spLocks noChangeArrowheads="1"/>
            </p:cNvSpPr>
            <p:nvPr/>
          </p:nvSpPr>
          <p:spPr bwMode="auto">
            <a:xfrm>
              <a:off x="4754563" y="3916363"/>
              <a:ext cx="579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R</a:t>
              </a:r>
              <a:r>
                <a:rPr kumimoji="0" lang="en-US" altLang="zh-CN" sz="2000" baseline="-25000">
                  <a:ea typeface="楷体_GB2312" pitchFamily="49" charset="-122"/>
                </a:rPr>
                <a:t>2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71" name="Line 59"/>
            <p:cNvSpPr>
              <a:spLocks noChangeShapeType="1"/>
            </p:cNvSpPr>
            <p:nvPr/>
          </p:nvSpPr>
          <p:spPr bwMode="auto">
            <a:xfrm>
              <a:off x="3636963" y="3608388"/>
              <a:ext cx="309563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72" name="Text Box 60"/>
            <p:cNvSpPr txBox="1">
              <a:spLocks noChangeArrowheads="1"/>
            </p:cNvSpPr>
            <p:nvPr/>
          </p:nvSpPr>
          <p:spPr bwMode="auto">
            <a:xfrm>
              <a:off x="3890963" y="3352800"/>
              <a:ext cx="42068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 dirty="0">
                  <a:ea typeface="楷体_GB2312" pitchFamily="49" charset="-122"/>
                </a:rPr>
                <a:t>i</a:t>
              </a:r>
              <a:r>
                <a:rPr kumimoji="0" lang="en-US" altLang="zh-CN" sz="2000" baseline="-25000" dirty="0">
                  <a:ea typeface="楷体_GB2312" pitchFamily="49" charset="-122"/>
                </a:rPr>
                <a:t>1</a:t>
              </a:r>
              <a:r>
                <a:rPr kumimoji="0" lang="en-US" altLang="zh-CN" sz="2000" dirty="0">
                  <a:ea typeface="楷体_GB2312" pitchFamily="49" charset="-122"/>
                </a:rPr>
                <a:t>’</a:t>
              </a:r>
            </a:p>
          </p:txBody>
        </p:sp>
        <p:sp>
          <p:nvSpPr>
            <p:cNvPr id="346173" name="Line 61"/>
            <p:cNvSpPr>
              <a:spLocks noChangeShapeType="1"/>
            </p:cNvSpPr>
            <p:nvPr/>
          </p:nvSpPr>
          <p:spPr bwMode="auto">
            <a:xfrm flipV="1">
              <a:off x="3657600" y="3727450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74" name="Line 62"/>
            <p:cNvSpPr>
              <a:spLocks noChangeShapeType="1"/>
            </p:cNvSpPr>
            <p:nvPr/>
          </p:nvSpPr>
          <p:spPr bwMode="auto">
            <a:xfrm>
              <a:off x="3657600" y="4273550"/>
              <a:ext cx="0" cy="730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75" name="Line 63"/>
            <p:cNvSpPr>
              <a:spLocks noChangeShapeType="1"/>
            </p:cNvSpPr>
            <p:nvPr/>
          </p:nvSpPr>
          <p:spPr bwMode="auto">
            <a:xfrm>
              <a:off x="3657600" y="5003800"/>
              <a:ext cx="1828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76" name="Oval 64"/>
            <p:cNvSpPr>
              <a:spLocks noChangeArrowheads="1"/>
            </p:cNvSpPr>
            <p:nvPr/>
          </p:nvSpPr>
          <p:spPr bwMode="auto">
            <a:xfrm>
              <a:off x="5340350" y="4251325"/>
              <a:ext cx="298450" cy="2984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77" name="Line 65"/>
            <p:cNvSpPr>
              <a:spLocks noChangeShapeType="1"/>
            </p:cNvSpPr>
            <p:nvPr/>
          </p:nvSpPr>
          <p:spPr bwMode="auto">
            <a:xfrm>
              <a:off x="5340350" y="4395788"/>
              <a:ext cx="2984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78" name="Line 66"/>
            <p:cNvSpPr>
              <a:spLocks noChangeShapeType="1"/>
            </p:cNvSpPr>
            <p:nvPr/>
          </p:nvSpPr>
          <p:spPr bwMode="auto">
            <a:xfrm flipV="1">
              <a:off x="5486400" y="3721100"/>
              <a:ext cx="0" cy="517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79" name="Line 67"/>
            <p:cNvSpPr>
              <a:spLocks noChangeShapeType="1"/>
            </p:cNvSpPr>
            <p:nvPr/>
          </p:nvSpPr>
          <p:spPr bwMode="auto">
            <a:xfrm>
              <a:off x="5486400" y="4556125"/>
              <a:ext cx="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80" name="Line 68"/>
            <p:cNvSpPr>
              <a:spLocks noChangeShapeType="1"/>
            </p:cNvSpPr>
            <p:nvPr/>
          </p:nvSpPr>
          <p:spPr bwMode="auto">
            <a:xfrm>
              <a:off x="3657600" y="3727450"/>
              <a:ext cx="1828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81" name="Oval 69"/>
            <p:cNvSpPr>
              <a:spLocks noChangeArrowheads="1"/>
            </p:cNvSpPr>
            <p:nvPr/>
          </p:nvSpPr>
          <p:spPr bwMode="auto">
            <a:xfrm>
              <a:off x="3527425" y="4513263"/>
              <a:ext cx="265113" cy="26987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6182" name="Text Box 70"/>
            <p:cNvSpPr txBox="1">
              <a:spLocks noChangeArrowheads="1"/>
            </p:cNvSpPr>
            <p:nvPr/>
          </p:nvSpPr>
          <p:spPr bwMode="auto">
            <a:xfrm>
              <a:off x="3751263" y="4378325"/>
              <a:ext cx="4429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i="1">
                  <a:ea typeface="楷体_GB2312" pitchFamily="49" charset="-122"/>
                </a:rPr>
                <a:t>v</a:t>
              </a:r>
              <a:r>
                <a:rPr kumimoji="0" lang="en-US" altLang="zh-CN" sz="2000" baseline="-25000">
                  <a:ea typeface="楷体_GB2312" pitchFamily="49" charset="-122"/>
                </a:rPr>
                <a:t>s1</a:t>
              </a:r>
              <a:endParaRPr kumimoji="0" lang="en-US" altLang="zh-CN" sz="2000">
                <a:ea typeface="楷体_GB2312" pitchFamily="49" charset="-122"/>
              </a:endParaRPr>
            </a:p>
          </p:txBody>
        </p:sp>
        <p:sp>
          <p:nvSpPr>
            <p:cNvPr id="346183" name="Text Box 71"/>
            <p:cNvSpPr txBox="1">
              <a:spLocks noChangeArrowheads="1"/>
            </p:cNvSpPr>
            <p:nvPr/>
          </p:nvSpPr>
          <p:spPr bwMode="auto">
            <a:xfrm>
              <a:off x="3616325" y="4202113"/>
              <a:ext cx="3286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ea typeface="楷体_GB2312" pitchFamily="49" charset="-122"/>
                </a:rPr>
                <a:t>+</a:t>
              </a:r>
            </a:p>
          </p:txBody>
        </p:sp>
        <p:sp>
          <p:nvSpPr>
            <p:cNvPr id="346184" name="Text Box 72"/>
            <p:cNvSpPr txBox="1">
              <a:spLocks noChangeArrowheads="1"/>
            </p:cNvSpPr>
            <p:nvPr/>
          </p:nvSpPr>
          <p:spPr bwMode="auto">
            <a:xfrm>
              <a:off x="3629025" y="4662488"/>
              <a:ext cx="3079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346185" name="Line 73"/>
            <p:cNvSpPr>
              <a:spLocks noChangeShapeType="1"/>
            </p:cNvSpPr>
            <p:nvPr/>
          </p:nvSpPr>
          <p:spPr bwMode="auto">
            <a:xfrm flipV="1">
              <a:off x="5486400" y="3930650"/>
              <a:ext cx="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6186" name="Text Box 74"/>
            <p:cNvSpPr txBox="1">
              <a:spLocks noChangeArrowheads="1"/>
            </p:cNvSpPr>
            <p:nvPr/>
          </p:nvSpPr>
          <p:spPr bwMode="auto">
            <a:xfrm>
              <a:off x="5502275" y="3803650"/>
              <a:ext cx="3444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b="0" i="1" dirty="0">
                  <a:ea typeface="楷体_GB2312" pitchFamily="49" charset="-122"/>
                </a:rPr>
                <a:t>i</a:t>
              </a:r>
              <a:r>
                <a:rPr kumimoji="0" lang="en-US" altLang="zh-CN" b="0" i="1" baseline="-25000" dirty="0">
                  <a:ea typeface="楷体_GB2312" pitchFamily="49" charset="-122"/>
                </a:rPr>
                <a:t>s</a:t>
              </a:r>
              <a:endParaRPr kumimoji="0" lang="en-US" altLang="zh-CN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346187" name="Text Box 75"/>
            <p:cNvSpPr txBox="1">
              <a:spLocks noChangeArrowheads="1"/>
            </p:cNvSpPr>
            <p:nvPr/>
          </p:nvSpPr>
          <p:spPr bwMode="auto">
            <a:xfrm>
              <a:off x="2971800" y="4337050"/>
              <a:ext cx="3540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>
                  <a:ea typeface="楷体_GB2312" pitchFamily="49" charset="-122"/>
                </a:rPr>
                <a:t>=</a:t>
              </a:r>
            </a:p>
          </p:txBody>
        </p:sp>
        <p:sp>
          <p:nvSpPr>
            <p:cNvPr id="346188" name="Text Box 76"/>
            <p:cNvSpPr txBox="1">
              <a:spLocks noChangeArrowheads="1"/>
            </p:cNvSpPr>
            <p:nvPr/>
          </p:nvSpPr>
          <p:spPr bwMode="auto">
            <a:xfrm>
              <a:off x="5867400" y="4260850"/>
              <a:ext cx="3540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>
                  <a:ea typeface="楷体_GB2312" pitchFamily="49" charset="-122"/>
                </a:rPr>
                <a:t>+</a:t>
              </a:r>
            </a:p>
          </p:txBody>
        </p:sp>
        <p:sp>
          <p:nvSpPr>
            <p:cNvPr id="76" name="Oval 46"/>
            <p:cNvSpPr>
              <a:spLocks noChangeArrowheads="1"/>
            </p:cNvSpPr>
            <p:nvPr/>
          </p:nvSpPr>
          <p:spPr bwMode="auto">
            <a:xfrm>
              <a:off x="7691438" y="3716658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Oval 46"/>
            <p:cNvSpPr>
              <a:spLocks noChangeArrowheads="1"/>
            </p:cNvSpPr>
            <p:nvPr/>
          </p:nvSpPr>
          <p:spPr bwMode="auto">
            <a:xfrm>
              <a:off x="7691438" y="4970462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Oval 46"/>
            <p:cNvSpPr>
              <a:spLocks noChangeArrowheads="1"/>
            </p:cNvSpPr>
            <p:nvPr/>
          </p:nvSpPr>
          <p:spPr bwMode="auto">
            <a:xfrm>
              <a:off x="4719638" y="3688876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Oval 46"/>
            <p:cNvSpPr>
              <a:spLocks noChangeArrowheads="1"/>
            </p:cNvSpPr>
            <p:nvPr/>
          </p:nvSpPr>
          <p:spPr bwMode="auto">
            <a:xfrm>
              <a:off x="4719638" y="4970462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Oval 46"/>
            <p:cNvSpPr>
              <a:spLocks noChangeArrowheads="1"/>
            </p:cNvSpPr>
            <p:nvPr/>
          </p:nvSpPr>
          <p:spPr bwMode="auto">
            <a:xfrm>
              <a:off x="1900238" y="3687763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Oval 46"/>
            <p:cNvSpPr>
              <a:spLocks noChangeArrowheads="1"/>
            </p:cNvSpPr>
            <p:nvPr/>
          </p:nvSpPr>
          <p:spPr bwMode="auto">
            <a:xfrm>
              <a:off x="1903413" y="4967288"/>
              <a:ext cx="68262" cy="682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4" grpId="0" build="p" autoUpdateAnimBg="0"/>
      <p:bldP spid="346116" grpId="0"/>
      <p:bldP spid="346120" grpId="0"/>
      <p:bldP spid="346121" grpId="0"/>
      <p:bldP spid="346122" grpId="0"/>
      <p:bldP spid="346123" grpId="0"/>
      <p:bldP spid="3461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7" name="Text Box 3"/>
          <p:cNvSpPr txBox="1">
            <a:spLocks noChangeArrowheads="1"/>
          </p:cNvSpPr>
          <p:nvPr/>
        </p:nvSpPr>
        <p:spPr bwMode="auto">
          <a:xfrm>
            <a:off x="497584" y="1391484"/>
            <a:ext cx="617239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marL="342900" indent="-342900"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dirty="0">
                <a:solidFill>
                  <a:srgbClr val="FF66FF"/>
                </a:solidFill>
              </a:rPr>
              <a:t>线性电路齐次性</a:t>
            </a:r>
            <a:r>
              <a:rPr kumimoji="0" lang="zh-CN" altLang="en-US" dirty="0">
                <a:solidFill>
                  <a:schemeClr val="accent2"/>
                </a:solidFill>
              </a:rPr>
              <a:t>（</a:t>
            </a:r>
            <a:r>
              <a:rPr kumimoji="0" lang="en-US" altLang="zh-CN" dirty="0">
                <a:solidFill>
                  <a:schemeClr val="accent2"/>
                </a:solidFill>
                <a:ea typeface="楷体_GB2312" pitchFamily="49" charset="-122"/>
              </a:rPr>
              <a:t>homogeneity   property</a:t>
            </a:r>
            <a:r>
              <a:rPr kumimoji="0" lang="en-US" altLang="zh-CN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49188" name="Text Box 4"/>
          <p:cNvSpPr txBox="1">
            <a:spLocks noChangeArrowheads="1"/>
          </p:cNvSpPr>
          <p:nvPr/>
        </p:nvSpPr>
        <p:spPr bwMode="auto">
          <a:xfrm>
            <a:off x="601717" y="2031871"/>
            <a:ext cx="7856483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en-US" altLang="zh-CN" dirty="0"/>
              <a:t>        </a:t>
            </a:r>
            <a:r>
              <a:rPr kumimoji="0" lang="zh-CN" altLang="en-US" dirty="0"/>
              <a:t>当电路中只有一个</a:t>
            </a:r>
            <a:r>
              <a:rPr kumimoji="0" lang="zh-CN" altLang="en-US" dirty="0" smtClean="0"/>
              <a:t>激励（独立源）时</a:t>
            </a:r>
            <a:r>
              <a:rPr kumimoji="0" lang="zh-CN" altLang="en-US" dirty="0"/>
              <a:t>，则</a:t>
            </a:r>
            <a:r>
              <a:rPr kumimoji="0" lang="zh-CN" altLang="en-US" dirty="0" smtClean="0"/>
              <a:t>响应（电压</a:t>
            </a:r>
            <a:r>
              <a:rPr kumimoji="0" lang="zh-CN" altLang="en-US" dirty="0"/>
              <a:t>或</a:t>
            </a:r>
            <a:r>
              <a:rPr kumimoji="0" lang="zh-CN" altLang="en-US" dirty="0" smtClean="0"/>
              <a:t>电流）与</a:t>
            </a:r>
            <a:r>
              <a:rPr kumimoji="0" lang="zh-CN" altLang="en-US" dirty="0"/>
              <a:t>激励成正比。</a:t>
            </a:r>
          </a:p>
        </p:txBody>
      </p:sp>
      <p:grpSp>
        <p:nvGrpSpPr>
          <p:cNvPr id="349189" name="Group 5"/>
          <p:cNvGrpSpPr>
            <a:grpSpLocks/>
          </p:cNvGrpSpPr>
          <p:nvPr/>
        </p:nvGrpSpPr>
        <p:grpSpPr bwMode="auto">
          <a:xfrm>
            <a:off x="1600200" y="3534293"/>
            <a:ext cx="2362200" cy="739778"/>
            <a:chOff x="1344" y="1607"/>
            <a:chExt cx="1488" cy="466"/>
          </a:xfrm>
        </p:grpSpPr>
        <p:sp>
          <p:nvSpPr>
            <p:cNvPr id="349190" name="Rectangle 6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349191" name="Line 7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9192" name="Line 8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9193" name="Text Box 9"/>
            <p:cNvSpPr txBox="1">
              <a:spLocks noChangeArrowheads="1"/>
            </p:cNvSpPr>
            <p:nvPr/>
          </p:nvSpPr>
          <p:spPr bwMode="auto">
            <a:xfrm>
              <a:off x="1355" y="1607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solidFill>
                    <a:srgbClr val="0000FF"/>
                  </a:solidFill>
                  <a:ea typeface="楷体_GB2312" pitchFamily="49" charset="-122"/>
                </a:rPr>
                <a:t>v</a:t>
              </a:r>
              <a:r>
                <a:rPr kumimoji="0" lang="en-US" altLang="zh-CN" i="1" baseline="-25000" dirty="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endParaRPr kumimoji="0" lang="en-US" altLang="zh-CN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349194" name="Text Box 10"/>
            <p:cNvSpPr txBox="1">
              <a:spLocks noChangeArrowheads="1"/>
            </p:cNvSpPr>
            <p:nvPr/>
          </p:nvSpPr>
          <p:spPr bwMode="auto">
            <a:xfrm>
              <a:off x="2448" y="1642"/>
              <a:ext cx="1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349195" name="Group 11"/>
          <p:cNvGrpSpPr>
            <a:grpSpLocks/>
          </p:cNvGrpSpPr>
          <p:nvPr/>
        </p:nvGrpSpPr>
        <p:grpSpPr bwMode="auto">
          <a:xfrm>
            <a:off x="4894263" y="3573973"/>
            <a:ext cx="2420937" cy="700088"/>
            <a:chOff x="1307" y="1632"/>
            <a:chExt cx="1525" cy="441"/>
          </a:xfrm>
        </p:grpSpPr>
        <p:sp>
          <p:nvSpPr>
            <p:cNvPr id="349196" name="Rectangle 12"/>
            <p:cNvSpPr>
              <a:spLocks noChangeArrowheads="1"/>
            </p:cNvSpPr>
            <p:nvPr/>
          </p:nvSpPr>
          <p:spPr bwMode="auto">
            <a:xfrm>
              <a:off x="1776" y="1767"/>
              <a:ext cx="528" cy="30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 dirty="0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349197" name="Line 13"/>
            <p:cNvSpPr>
              <a:spLocks noChangeShapeType="1"/>
            </p:cNvSpPr>
            <p:nvPr/>
          </p:nvSpPr>
          <p:spPr bwMode="auto">
            <a:xfrm>
              <a:off x="1344" y="192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9198" name="Line 14"/>
            <p:cNvSpPr>
              <a:spLocks noChangeShapeType="1"/>
            </p:cNvSpPr>
            <p:nvPr/>
          </p:nvSpPr>
          <p:spPr bwMode="auto">
            <a:xfrm>
              <a:off x="2304" y="19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9199" name="Text Box 15"/>
            <p:cNvSpPr txBox="1">
              <a:spLocks noChangeArrowheads="1"/>
            </p:cNvSpPr>
            <p:nvPr/>
          </p:nvSpPr>
          <p:spPr bwMode="auto">
            <a:xfrm>
              <a:off x="1307" y="1632"/>
              <a:ext cx="3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>
                  <a:solidFill>
                    <a:srgbClr val="FF33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i="1">
                  <a:solidFill>
                    <a:srgbClr val="0000FF"/>
                  </a:solidFill>
                  <a:ea typeface="楷体_GB2312" pitchFamily="49" charset="-122"/>
                </a:rPr>
                <a:t>v</a:t>
              </a:r>
              <a:r>
                <a:rPr kumimoji="0" lang="en-US" altLang="zh-CN" i="1" baseline="-25000">
                  <a:solidFill>
                    <a:srgbClr val="0000FF"/>
                  </a:solidFill>
                  <a:ea typeface="楷体_GB2312" pitchFamily="49" charset="-122"/>
                </a:rPr>
                <a:t>s</a:t>
              </a:r>
              <a:endParaRPr kumimoji="0" lang="en-US" altLang="zh-CN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349200" name="Text Box 16"/>
            <p:cNvSpPr txBox="1">
              <a:spLocks noChangeArrowheads="1"/>
            </p:cNvSpPr>
            <p:nvPr/>
          </p:nvSpPr>
          <p:spPr bwMode="auto">
            <a:xfrm>
              <a:off x="2400" y="1632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i="1">
                  <a:solidFill>
                    <a:srgbClr val="FF3300"/>
                  </a:solidFill>
                  <a:ea typeface="楷体_GB2312" pitchFamily="49" charset="-122"/>
                </a:rPr>
                <a:t>k</a:t>
              </a:r>
              <a:r>
                <a:rPr kumimoji="0" lang="en-US" altLang="zh-CN" i="1">
                  <a:solidFill>
                    <a:srgbClr val="0000FF"/>
                  </a:solidFill>
                  <a:ea typeface="楷体_GB2312" pitchFamily="49" charset="-122"/>
                </a:rPr>
                <a:t>r</a:t>
              </a:r>
              <a:endParaRPr kumimoji="0" lang="en-US" altLang="zh-CN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205538" y="614668"/>
            <a:ext cx="9073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</a:pPr>
            <a:r>
              <a:rPr kumimoji="0" lang="zh-CN" altLang="en-US" sz="2800" dirty="0" smtClean="0">
                <a:solidFill>
                  <a:srgbClr val="FF0000"/>
                </a:solidFill>
              </a:rPr>
              <a:t>推广</a:t>
            </a:r>
            <a:endParaRPr kumimoji="0" lang="en-US" altLang="zh-C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4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235" name="Group 3"/>
          <p:cNvGrpSpPr>
            <a:grpSpLocks/>
          </p:cNvGrpSpPr>
          <p:nvPr/>
        </p:nvGrpSpPr>
        <p:grpSpPr bwMode="auto">
          <a:xfrm>
            <a:off x="1490663" y="519113"/>
            <a:ext cx="6143625" cy="1476375"/>
            <a:chOff x="939" y="327"/>
            <a:chExt cx="3870" cy="930"/>
          </a:xfrm>
        </p:grpSpPr>
        <p:grpSp>
          <p:nvGrpSpPr>
            <p:cNvPr id="351236" name="Group 4"/>
            <p:cNvGrpSpPr>
              <a:grpSpLocks/>
            </p:cNvGrpSpPr>
            <p:nvPr/>
          </p:nvGrpSpPr>
          <p:grpSpPr bwMode="auto">
            <a:xfrm>
              <a:off x="939" y="327"/>
              <a:ext cx="1541" cy="930"/>
              <a:chOff x="939" y="327"/>
              <a:chExt cx="1541" cy="930"/>
            </a:xfrm>
          </p:grpSpPr>
          <p:grpSp>
            <p:nvGrpSpPr>
              <p:cNvPr id="351237" name="Group 5"/>
              <p:cNvGrpSpPr>
                <a:grpSpLocks/>
              </p:cNvGrpSpPr>
              <p:nvPr/>
            </p:nvGrpSpPr>
            <p:grpSpPr bwMode="auto">
              <a:xfrm>
                <a:off x="939" y="327"/>
                <a:ext cx="1509" cy="441"/>
                <a:chOff x="1323" y="1632"/>
                <a:chExt cx="1509" cy="441"/>
              </a:xfrm>
            </p:grpSpPr>
            <p:sp>
              <p:nvSpPr>
                <p:cNvPr id="351238" name="Rectangle 6"/>
                <p:cNvSpPr>
                  <a:spLocks noChangeArrowheads="1"/>
                </p:cNvSpPr>
                <p:nvPr/>
              </p:nvSpPr>
              <p:spPr bwMode="auto">
                <a:xfrm>
                  <a:off x="1776" y="1767"/>
                  <a:ext cx="528" cy="30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i="1">
                      <a:solidFill>
                        <a:srgbClr val="0000FF"/>
                      </a:solidFill>
                      <a:ea typeface="楷体_GB2312" pitchFamily="49" charset="-122"/>
                    </a:rPr>
                    <a:t>R</a:t>
                  </a:r>
                  <a:endParaRPr kumimoji="0" lang="en-US" altLang="zh-CN">
                    <a:solidFill>
                      <a:srgbClr val="0000FF"/>
                    </a:solidFill>
                    <a:ea typeface="楷体_GB2312" pitchFamily="49" charset="-122"/>
                  </a:endParaRPr>
                </a:p>
              </p:txBody>
            </p:sp>
            <p:sp>
              <p:nvSpPr>
                <p:cNvPr id="351239" name="Line 7"/>
                <p:cNvSpPr>
                  <a:spLocks noChangeShapeType="1"/>
                </p:cNvSpPr>
                <p:nvPr/>
              </p:nvSpPr>
              <p:spPr bwMode="auto">
                <a:xfrm>
                  <a:off x="1344" y="1920"/>
                  <a:ext cx="4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1240" name="Line 8"/>
                <p:cNvSpPr>
                  <a:spLocks noChangeShapeType="1"/>
                </p:cNvSpPr>
                <p:nvPr/>
              </p:nvSpPr>
              <p:spPr bwMode="auto">
                <a:xfrm>
                  <a:off x="2304" y="1920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124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323" y="1632"/>
                  <a:ext cx="3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i="1">
                      <a:solidFill>
                        <a:srgbClr val="0000FF"/>
                      </a:solidFill>
                      <a:ea typeface="楷体_GB2312" pitchFamily="49" charset="-122"/>
                    </a:rPr>
                    <a:t>v</a:t>
                  </a:r>
                  <a:r>
                    <a:rPr kumimoji="0" lang="en-US" altLang="zh-CN" i="1" baseline="-25000">
                      <a:solidFill>
                        <a:srgbClr val="0000FF"/>
                      </a:solidFill>
                      <a:ea typeface="楷体_GB2312" pitchFamily="49" charset="-122"/>
                    </a:rPr>
                    <a:t>s</a:t>
                  </a:r>
                  <a:r>
                    <a:rPr kumimoji="0" lang="en-US" altLang="zh-CN" baseline="-25000">
                      <a:solidFill>
                        <a:srgbClr val="0000FF"/>
                      </a:solidFill>
                      <a:ea typeface="楷体_GB2312" pitchFamily="49" charset="-122"/>
                    </a:rPr>
                    <a:t>1</a:t>
                  </a:r>
                  <a:endParaRPr kumimoji="0" lang="en-US" altLang="zh-CN">
                    <a:solidFill>
                      <a:srgbClr val="0000FF"/>
                    </a:solidFill>
                    <a:ea typeface="楷体_GB2312" pitchFamily="49" charset="-122"/>
                  </a:endParaRPr>
                </a:p>
              </p:txBody>
            </p:sp>
            <p:sp>
              <p:nvSpPr>
                <p:cNvPr id="35124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416" y="1632"/>
                  <a:ext cx="25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i="1">
                      <a:solidFill>
                        <a:srgbClr val="0000FF"/>
                      </a:solidFill>
                      <a:ea typeface="楷体_GB2312" pitchFamily="49" charset="-122"/>
                    </a:rPr>
                    <a:t>r</a:t>
                  </a:r>
                  <a:r>
                    <a:rPr kumimoji="0" lang="en-US" altLang="zh-CN" baseline="-25000">
                      <a:solidFill>
                        <a:srgbClr val="0000FF"/>
                      </a:solidFill>
                      <a:ea typeface="楷体_GB2312" pitchFamily="49" charset="-122"/>
                    </a:rPr>
                    <a:t>1</a:t>
                  </a:r>
                  <a:endParaRPr kumimoji="0" lang="en-US" altLang="zh-CN">
                    <a:solidFill>
                      <a:srgbClr val="0000FF"/>
                    </a:solidFill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351243" name="Group 11"/>
              <p:cNvGrpSpPr>
                <a:grpSpLocks/>
              </p:cNvGrpSpPr>
              <p:nvPr/>
            </p:nvGrpSpPr>
            <p:grpSpPr bwMode="auto">
              <a:xfrm>
                <a:off x="971" y="816"/>
                <a:ext cx="1509" cy="441"/>
                <a:chOff x="1323" y="1632"/>
                <a:chExt cx="1509" cy="441"/>
              </a:xfrm>
            </p:grpSpPr>
            <p:sp>
              <p:nvSpPr>
                <p:cNvPr id="351244" name="Rectangle 12"/>
                <p:cNvSpPr>
                  <a:spLocks noChangeArrowheads="1"/>
                </p:cNvSpPr>
                <p:nvPr/>
              </p:nvSpPr>
              <p:spPr bwMode="auto">
                <a:xfrm>
                  <a:off x="1776" y="1767"/>
                  <a:ext cx="528" cy="30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i="1">
                      <a:solidFill>
                        <a:srgbClr val="0000FF"/>
                      </a:solidFill>
                      <a:ea typeface="楷体_GB2312" pitchFamily="49" charset="-122"/>
                    </a:rPr>
                    <a:t>R</a:t>
                  </a:r>
                  <a:endParaRPr kumimoji="0" lang="en-US" altLang="zh-CN">
                    <a:solidFill>
                      <a:srgbClr val="0000FF"/>
                    </a:solidFill>
                    <a:ea typeface="楷体_GB2312" pitchFamily="49" charset="-122"/>
                  </a:endParaRPr>
                </a:p>
              </p:txBody>
            </p:sp>
            <p:sp>
              <p:nvSpPr>
                <p:cNvPr id="351245" name="Line 13"/>
                <p:cNvSpPr>
                  <a:spLocks noChangeShapeType="1"/>
                </p:cNvSpPr>
                <p:nvPr/>
              </p:nvSpPr>
              <p:spPr bwMode="auto">
                <a:xfrm>
                  <a:off x="1344" y="1920"/>
                  <a:ext cx="4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1246" name="Line 14"/>
                <p:cNvSpPr>
                  <a:spLocks noChangeShapeType="1"/>
                </p:cNvSpPr>
                <p:nvPr/>
              </p:nvSpPr>
              <p:spPr bwMode="auto">
                <a:xfrm>
                  <a:off x="2304" y="1920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124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323" y="1632"/>
                  <a:ext cx="3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i="1">
                      <a:solidFill>
                        <a:srgbClr val="0000FF"/>
                      </a:solidFill>
                      <a:ea typeface="楷体_GB2312" pitchFamily="49" charset="-122"/>
                    </a:rPr>
                    <a:t>v</a:t>
                  </a:r>
                  <a:r>
                    <a:rPr kumimoji="0" lang="en-US" altLang="zh-CN" i="1" baseline="-25000">
                      <a:solidFill>
                        <a:srgbClr val="0000FF"/>
                      </a:solidFill>
                      <a:ea typeface="楷体_GB2312" pitchFamily="49" charset="-122"/>
                    </a:rPr>
                    <a:t>s</a:t>
                  </a:r>
                  <a:r>
                    <a:rPr kumimoji="0" lang="en-US" altLang="zh-CN" baseline="-25000">
                      <a:solidFill>
                        <a:srgbClr val="0000FF"/>
                      </a:solidFill>
                      <a:ea typeface="楷体_GB2312" pitchFamily="49" charset="-122"/>
                    </a:rPr>
                    <a:t>2</a:t>
                  </a:r>
                  <a:endParaRPr kumimoji="0" lang="en-US" altLang="zh-CN">
                    <a:solidFill>
                      <a:srgbClr val="0000FF"/>
                    </a:solidFill>
                    <a:ea typeface="楷体_GB2312" pitchFamily="49" charset="-122"/>
                  </a:endParaRPr>
                </a:p>
              </p:txBody>
            </p:sp>
            <p:sp>
              <p:nvSpPr>
                <p:cNvPr id="35124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416" y="1632"/>
                  <a:ext cx="25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>
                      <a:schemeClr val="accent2"/>
                    </a:buClr>
                    <a:buSzPct val="75000"/>
                    <a:buFont typeface="Monotype Sorts" pitchFamily="2" charset="2"/>
                    <a:buNone/>
                  </a:pPr>
                  <a:r>
                    <a:rPr kumimoji="0" lang="en-US" altLang="zh-CN" i="1">
                      <a:solidFill>
                        <a:srgbClr val="0000FF"/>
                      </a:solidFill>
                      <a:ea typeface="楷体_GB2312" pitchFamily="49" charset="-122"/>
                    </a:rPr>
                    <a:t>r</a:t>
                  </a:r>
                  <a:r>
                    <a:rPr kumimoji="0" lang="en-US" altLang="zh-CN" baseline="-25000">
                      <a:solidFill>
                        <a:srgbClr val="0000FF"/>
                      </a:solidFill>
                      <a:ea typeface="楷体_GB2312" pitchFamily="49" charset="-122"/>
                    </a:rPr>
                    <a:t>2</a:t>
                  </a:r>
                  <a:endParaRPr kumimoji="0" lang="en-US" altLang="zh-CN">
                    <a:solidFill>
                      <a:srgbClr val="0000FF"/>
                    </a:solidFill>
                    <a:ea typeface="楷体_GB2312" pitchFamily="49" charset="-122"/>
                  </a:endParaRPr>
                </a:p>
              </p:txBody>
            </p:sp>
          </p:grpSp>
        </p:grpSp>
        <p:grpSp>
          <p:nvGrpSpPr>
            <p:cNvPr id="351249" name="Group 17"/>
            <p:cNvGrpSpPr>
              <a:grpSpLocks/>
            </p:cNvGrpSpPr>
            <p:nvPr/>
          </p:nvGrpSpPr>
          <p:grpSpPr bwMode="auto">
            <a:xfrm>
              <a:off x="3275" y="432"/>
              <a:ext cx="1534" cy="768"/>
              <a:chOff x="3487" y="744"/>
              <a:chExt cx="1534" cy="768"/>
            </a:xfrm>
          </p:grpSpPr>
          <p:sp>
            <p:nvSpPr>
              <p:cNvPr id="351250" name="Text Box 18"/>
              <p:cNvSpPr txBox="1">
                <a:spLocks noChangeArrowheads="1"/>
              </p:cNvSpPr>
              <p:nvPr/>
            </p:nvSpPr>
            <p:spPr bwMode="auto">
              <a:xfrm>
                <a:off x="4488" y="756"/>
                <a:ext cx="5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00FF"/>
                    </a:solidFill>
                    <a:ea typeface="楷体_GB2312" pitchFamily="49" charset="-122"/>
                  </a:rPr>
                  <a:t>r</a:t>
                </a:r>
                <a:r>
                  <a:rPr kumimoji="0" lang="en-US" altLang="zh-CN" baseline="-25000">
                    <a:solidFill>
                      <a:srgbClr val="0000FF"/>
                    </a:solidFill>
                    <a:ea typeface="楷体_GB2312" pitchFamily="49" charset="-122"/>
                  </a:rPr>
                  <a:t>1</a:t>
                </a:r>
                <a:r>
                  <a:rPr kumimoji="0" lang="en-US" altLang="zh-CN">
                    <a:solidFill>
                      <a:srgbClr val="0000FF"/>
                    </a:solidFill>
                    <a:ea typeface="楷体_GB2312" pitchFamily="49" charset="-122"/>
                  </a:rPr>
                  <a:t>+</a:t>
                </a:r>
                <a:r>
                  <a:rPr kumimoji="0" lang="en-US" altLang="zh-CN" baseline="-25000">
                    <a:solidFill>
                      <a:srgbClr val="0000FF"/>
                    </a:solidFill>
                    <a:ea typeface="楷体_GB2312" pitchFamily="49" charset="-122"/>
                  </a:rPr>
                  <a:t> </a:t>
                </a:r>
                <a:r>
                  <a:rPr kumimoji="0" lang="en-US" altLang="zh-CN" i="1">
                    <a:solidFill>
                      <a:srgbClr val="0000FF"/>
                    </a:solidFill>
                    <a:ea typeface="楷体_GB2312" pitchFamily="49" charset="-122"/>
                  </a:rPr>
                  <a:t>r</a:t>
                </a:r>
                <a:r>
                  <a:rPr kumimoji="0" lang="en-US" altLang="zh-CN" baseline="-25000">
                    <a:solidFill>
                      <a:srgbClr val="0000FF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351251" name="Rectangle 19"/>
              <p:cNvSpPr>
                <a:spLocks noChangeArrowheads="1"/>
              </p:cNvSpPr>
              <p:nvPr/>
            </p:nvSpPr>
            <p:spPr bwMode="auto">
              <a:xfrm>
                <a:off x="3948" y="792"/>
                <a:ext cx="432" cy="72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52" name="Line 20"/>
              <p:cNvSpPr>
                <a:spLocks noChangeShapeType="1"/>
              </p:cNvSpPr>
              <p:nvPr/>
            </p:nvSpPr>
            <p:spPr bwMode="auto">
              <a:xfrm>
                <a:off x="3516" y="103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53" name="Line 21"/>
              <p:cNvSpPr>
                <a:spLocks noChangeShapeType="1"/>
              </p:cNvSpPr>
              <p:nvPr/>
            </p:nvSpPr>
            <p:spPr bwMode="auto">
              <a:xfrm>
                <a:off x="3516" y="127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54" name="Line 22"/>
              <p:cNvSpPr>
                <a:spLocks noChangeShapeType="1"/>
              </p:cNvSpPr>
              <p:nvPr/>
            </p:nvSpPr>
            <p:spPr bwMode="auto">
              <a:xfrm>
                <a:off x="4380" y="1128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55" name="Text Box 23"/>
              <p:cNvSpPr txBox="1">
                <a:spLocks noChangeArrowheads="1"/>
              </p:cNvSpPr>
              <p:nvPr/>
            </p:nvSpPr>
            <p:spPr bwMode="auto">
              <a:xfrm>
                <a:off x="3487" y="744"/>
                <a:ext cx="3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6600FF"/>
                    </a:solidFill>
                    <a:ea typeface="楷体_GB2312" pitchFamily="49" charset="-122"/>
                  </a:rPr>
                  <a:t>v</a:t>
                </a:r>
                <a:r>
                  <a:rPr kumimoji="0" lang="en-US" altLang="zh-CN" i="1" baseline="-25000">
                    <a:solidFill>
                      <a:srgbClr val="6600FF"/>
                    </a:solidFill>
                    <a:ea typeface="楷体_GB2312" pitchFamily="49" charset="-122"/>
                  </a:rPr>
                  <a:t>s</a:t>
                </a:r>
                <a:r>
                  <a:rPr kumimoji="0" lang="en-US" altLang="zh-CN" baseline="-25000">
                    <a:solidFill>
                      <a:srgbClr val="6600FF"/>
                    </a:solidFill>
                    <a:ea typeface="楷体_GB2312" pitchFamily="49" charset="-122"/>
                  </a:rPr>
                  <a:t>1</a:t>
                </a:r>
                <a:endParaRPr kumimoji="0" lang="en-US" altLang="zh-CN" baseline="-25000">
                  <a:solidFill>
                    <a:srgbClr val="008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56" name="Text Box 24"/>
              <p:cNvSpPr txBox="1">
                <a:spLocks noChangeArrowheads="1"/>
              </p:cNvSpPr>
              <p:nvPr/>
            </p:nvSpPr>
            <p:spPr bwMode="auto">
              <a:xfrm>
                <a:off x="3507" y="1032"/>
                <a:ext cx="1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endParaRPr kumimoji="0" lang="zh-CN" altLang="zh-CN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57" name="Text Box 25"/>
              <p:cNvSpPr txBox="1">
                <a:spLocks noChangeArrowheads="1"/>
              </p:cNvSpPr>
              <p:nvPr/>
            </p:nvSpPr>
            <p:spPr bwMode="auto">
              <a:xfrm>
                <a:off x="3503" y="984"/>
                <a:ext cx="3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6600FF"/>
                    </a:solidFill>
                    <a:ea typeface="楷体_GB2312" pitchFamily="49" charset="-122"/>
                  </a:rPr>
                  <a:t>v</a:t>
                </a:r>
                <a:r>
                  <a:rPr kumimoji="0" lang="en-US" altLang="zh-CN" i="1" baseline="-25000">
                    <a:solidFill>
                      <a:srgbClr val="6600FF"/>
                    </a:solidFill>
                    <a:ea typeface="楷体_GB2312" pitchFamily="49" charset="-122"/>
                  </a:rPr>
                  <a:t>s</a:t>
                </a:r>
                <a:r>
                  <a:rPr kumimoji="0" lang="en-US" altLang="zh-CN" baseline="-25000">
                    <a:solidFill>
                      <a:srgbClr val="6600FF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351258" name="Text Box 26"/>
              <p:cNvSpPr txBox="1">
                <a:spLocks noChangeArrowheads="1"/>
              </p:cNvSpPr>
              <p:nvPr/>
            </p:nvSpPr>
            <p:spPr bwMode="auto">
              <a:xfrm>
                <a:off x="4019" y="1032"/>
                <a:ext cx="24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00FF"/>
                    </a:solidFill>
                    <a:ea typeface="楷体_GB2312" pitchFamily="49" charset="-122"/>
                  </a:rPr>
                  <a:t>R</a:t>
                </a:r>
                <a:endParaRPr kumimoji="0" lang="en-US" altLang="zh-CN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</p:grpSp>
      </p:grpSp>
      <p:grpSp>
        <p:nvGrpSpPr>
          <p:cNvPr id="351259" name="Group 27"/>
          <p:cNvGrpSpPr>
            <a:grpSpLocks/>
          </p:cNvGrpSpPr>
          <p:nvPr/>
        </p:nvGrpSpPr>
        <p:grpSpPr bwMode="auto">
          <a:xfrm>
            <a:off x="1376363" y="2362200"/>
            <a:ext cx="7235825" cy="1714500"/>
            <a:chOff x="867" y="1488"/>
            <a:chExt cx="4558" cy="1080"/>
          </a:xfrm>
        </p:grpSpPr>
        <p:grpSp>
          <p:nvGrpSpPr>
            <p:cNvPr id="351260" name="Group 28"/>
            <p:cNvGrpSpPr>
              <a:grpSpLocks/>
            </p:cNvGrpSpPr>
            <p:nvPr/>
          </p:nvGrpSpPr>
          <p:grpSpPr bwMode="auto">
            <a:xfrm>
              <a:off x="867" y="1536"/>
              <a:ext cx="1613" cy="441"/>
              <a:chOff x="1219" y="1632"/>
              <a:chExt cx="1613" cy="441"/>
            </a:xfrm>
          </p:grpSpPr>
          <p:sp>
            <p:nvSpPr>
              <p:cNvPr id="351261" name="Rectangle 29"/>
              <p:cNvSpPr>
                <a:spLocks noChangeArrowheads="1"/>
              </p:cNvSpPr>
              <p:nvPr/>
            </p:nvSpPr>
            <p:spPr bwMode="auto">
              <a:xfrm>
                <a:off x="1776" y="1767"/>
                <a:ext cx="528" cy="30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00FF"/>
                    </a:solidFill>
                    <a:ea typeface="楷体_GB2312" pitchFamily="49" charset="-122"/>
                  </a:rPr>
                  <a:t>R</a:t>
                </a:r>
                <a:endParaRPr kumimoji="0" lang="en-US" altLang="zh-CN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62" name="Line 30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63" name="Line 31"/>
              <p:cNvSpPr>
                <a:spLocks noChangeShapeType="1"/>
              </p:cNvSpPr>
              <p:nvPr/>
            </p:nvSpPr>
            <p:spPr bwMode="auto">
              <a:xfrm>
                <a:off x="2304" y="192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64" name="Text Box 32"/>
              <p:cNvSpPr txBox="1">
                <a:spLocks noChangeArrowheads="1"/>
              </p:cNvSpPr>
              <p:nvPr/>
            </p:nvSpPr>
            <p:spPr bwMode="auto">
              <a:xfrm>
                <a:off x="1219" y="1632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 v</a:t>
                </a:r>
                <a:r>
                  <a:rPr kumimoji="0" lang="en-US" altLang="zh-CN" i="1" baseline="-25000">
                    <a:solidFill>
                      <a:srgbClr val="008000"/>
                    </a:solidFill>
                    <a:ea typeface="楷体_GB2312" pitchFamily="49" charset="-122"/>
                  </a:rPr>
                  <a:t>s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endParaRPr kumimoji="0" lang="en-US" altLang="zh-CN" baseline="-2500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65" name="Text Box 33"/>
              <p:cNvSpPr txBox="1">
                <a:spLocks noChangeArrowheads="1"/>
              </p:cNvSpPr>
              <p:nvPr/>
            </p:nvSpPr>
            <p:spPr bwMode="auto">
              <a:xfrm>
                <a:off x="2312" y="1632"/>
                <a:ext cx="4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 r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endParaRPr kumimoji="0" lang="en-US" altLang="zh-CN" baseline="-2500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</p:grpSp>
        <p:grpSp>
          <p:nvGrpSpPr>
            <p:cNvPr id="351266" name="Group 34"/>
            <p:cNvGrpSpPr>
              <a:grpSpLocks/>
            </p:cNvGrpSpPr>
            <p:nvPr/>
          </p:nvGrpSpPr>
          <p:grpSpPr bwMode="auto">
            <a:xfrm>
              <a:off x="867" y="2064"/>
              <a:ext cx="1613" cy="441"/>
              <a:chOff x="1219" y="1632"/>
              <a:chExt cx="1613" cy="441"/>
            </a:xfrm>
          </p:grpSpPr>
          <p:sp>
            <p:nvSpPr>
              <p:cNvPr id="351267" name="Rectangle 35"/>
              <p:cNvSpPr>
                <a:spLocks noChangeArrowheads="1"/>
              </p:cNvSpPr>
              <p:nvPr/>
            </p:nvSpPr>
            <p:spPr bwMode="auto">
              <a:xfrm>
                <a:off x="1776" y="1767"/>
                <a:ext cx="528" cy="30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00FF"/>
                    </a:solidFill>
                    <a:ea typeface="楷体_GB2312" pitchFamily="49" charset="-122"/>
                  </a:rPr>
                  <a:t>R</a:t>
                </a:r>
                <a:endParaRPr kumimoji="0" lang="en-US" altLang="zh-CN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68" name="Line 36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69" name="Line 37"/>
              <p:cNvSpPr>
                <a:spLocks noChangeShapeType="1"/>
              </p:cNvSpPr>
              <p:nvPr/>
            </p:nvSpPr>
            <p:spPr bwMode="auto">
              <a:xfrm>
                <a:off x="2304" y="192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70" name="Text Box 38"/>
              <p:cNvSpPr txBox="1">
                <a:spLocks noChangeArrowheads="1"/>
              </p:cNvSpPr>
              <p:nvPr/>
            </p:nvSpPr>
            <p:spPr bwMode="auto">
              <a:xfrm>
                <a:off x="1219" y="1632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 v</a:t>
                </a:r>
                <a:r>
                  <a:rPr kumimoji="0" lang="en-US" altLang="zh-CN" i="1" baseline="-25000">
                    <a:solidFill>
                      <a:srgbClr val="008000"/>
                    </a:solidFill>
                    <a:ea typeface="楷体_GB2312" pitchFamily="49" charset="-122"/>
                  </a:rPr>
                  <a:t>s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</a:t>
                </a:r>
                <a:endParaRPr kumimoji="0" lang="en-US" altLang="zh-CN" baseline="-2500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71" name="Text Box 39"/>
              <p:cNvSpPr txBox="1">
                <a:spLocks noChangeArrowheads="1"/>
              </p:cNvSpPr>
              <p:nvPr/>
            </p:nvSpPr>
            <p:spPr bwMode="auto">
              <a:xfrm>
                <a:off x="2312" y="1632"/>
                <a:ext cx="4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 r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</a:t>
                </a:r>
                <a:endParaRPr kumimoji="0" lang="en-US" altLang="zh-CN" baseline="-2500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</p:grpSp>
        <p:sp>
          <p:nvSpPr>
            <p:cNvPr id="351272" name="Text Box 40"/>
            <p:cNvSpPr txBox="1">
              <a:spLocks noChangeArrowheads="1"/>
            </p:cNvSpPr>
            <p:nvPr/>
          </p:nvSpPr>
          <p:spPr bwMode="auto">
            <a:xfrm>
              <a:off x="3120" y="1488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>
                  <a:solidFill>
                    <a:srgbClr val="0000FF"/>
                  </a:solidFill>
                  <a:ea typeface="楷体_GB2312" pitchFamily="49" charset="-122"/>
                </a:rPr>
                <a:t>线性</a:t>
              </a:r>
            </a:p>
          </p:txBody>
        </p:sp>
        <p:grpSp>
          <p:nvGrpSpPr>
            <p:cNvPr id="351273" name="Group 41"/>
            <p:cNvGrpSpPr>
              <a:grpSpLocks/>
            </p:cNvGrpSpPr>
            <p:nvPr/>
          </p:nvGrpSpPr>
          <p:grpSpPr bwMode="auto">
            <a:xfrm>
              <a:off x="3312" y="1788"/>
              <a:ext cx="2113" cy="780"/>
              <a:chOff x="3120" y="2508"/>
              <a:chExt cx="2113" cy="780"/>
            </a:xfrm>
          </p:grpSpPr>
          <p:sp>
            <p:nvSpPr>
              <p:cNvPr id="351274" name="Text Box 42"/>
              <p:cNvSpPr txBox="1">
                <a:spLocks noChangeArrowheads="1"/>
              </p:cNvSpPr>
              <p:nvPr/>
            </p:nvSpPr>
            <p:spPr bwMode="auto">
              <a:xfrm>
                <a:off x="3120" y="2760"/>
                <a:ext cx="50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 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v</a:t>
                </a:r>
                <a:r>
                  <a:rPr kumimoji="0" lang="en-US" altLang="zh-CN" i="1" baseline="-25000">
                    <a:solidFill>
                      <a:srgbClr val="008000"/>
                    </a:solidFill>
                    <a:ea typeface="楷体_GB2312" pitchFamily="49" charset="-122"/>
                  </a:rPr>
                  <a:t>s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</a:t>
                </a:r>
                <a:endParaRPr kumimoji="0" lang="en-US" altLang="zh-CN" baseline="-2500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75" name="Text Box 43"/>
              <p:cNvSpPr txBox="1">
                <a:spLocks noChangeArrowheads="1"/>
              </p:cNvSpPr>
              <p:nvPr/>
            </p:nvSpPr>
            <p:spPr bwMode="auto">
              <a:xfrm>
                <a:off x="4300" y="2556"/>
                <a:ext cx="9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 r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r>
                  <a:rPr kumimoji="0" lang="en-US" altLang="zh-CN">
                    <a:solidFill>
                      <a:srgbClr val="008000"/>
                    </a:solidFill>
                    <a:ea typeface="楷体_GB2312" pitchFamily="49" charset="-122"/>
                  </a:rPr>
                  <a:t>+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 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 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r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2</a:t>
                </a:r>
                <a:endParaRPr kumimoji="0" lang="en-US" altLang="zh-CN" baseline="-2500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76" name="Rectangle 44"/>
              <p:cNvSpPr>
                <a:spLocks noChangeArrowheads="1"/>
              </p:cNvSpPr>
              <p:nvPr/>
            </p:nvSpPr>
            <p:spPr bwMode="auto">
              <a:xfrm>
                <a:off x="3792" y="2568"/>
                <a:ext cx="432" cy="72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77" name="Line 45"/>
              <p:cNvSpPr>
                <a:spLocks noChangeShapeType="1"/>
              </p:cNvSpPr>
              <p:nvPr/>
            </p:nvSpPr>
            <p:spPr bwMode="auto">
              <a:xfrm>
                <a:off x="3360" y="280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78" name="Line 46"/>
              <p:cNvSpPr>
                <a:spLocks noChangeShapeType="1"/>
              </p:cNvSpPr>
              <p:nvPr/>
            </p:nvSpPr>
            <p:spPr bwMode="auto">
              <a:xfrm>
                <a:off x="3360" y="304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79" name="Line 47"/>
              <p:cNvSpPr>
                <a:spLocks noChangeShapeType="1"/>
              </p:cNvSpPr>
              <p:nvPr/>
            </p:nvSpPr>
            <p:spPr bwMode="auto">
              <a:xfrm>
                <a:off x="4224" y="290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1280" name="Text Box 48"/>
              <p:cNvSpPr txBox="1">
                <a:spLocks noChangeArrowheads="1"/>
              </p:cNvSpPr>
              <p:nvPr/>
            </p:nvSpPr>
            <p:spPr bwMode="auto">
              <a:xfrm>
                <a:off x="3351" y="2808"/>
                <a:ext cx="1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endParaRPr kumimoji="0" lang="zh-CN" altLang="zh-CN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81" name="Text Box 49"/>
              <p:cNvSpPr txBox="1">
                <a:spLocks noChangeArrowheads="1"/>
              </p:cNvSpPr>
              <p:nvPr/>
            </p:nvSpPr>
            <p:spPr bwMode="auto">
              <a:xfrm>
                <a:off x="3863" y="2808"/>
                <a:ext cx="24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00FF"/>
                    </a:solidFill>
                    <a:ea typeface="楷体_GB2312" pitchFamily="49" charset="-122"/>
                  </a:rPr>
                  <a:t>R</a:t>
                </a:r>
                <a:endParaRPr kumimoji="0" lang="en-US" altLang="zh-CN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351282" name="Text Box 50"/>
              <p:cNvSpPr txBox="1">
                <a:spLocks noChangeArrowheads="1"/>
              </p:cNvSpPr>
              <p:nvPr/>
            </p:nvSpPr>
            <p:spPr bwMode="auto">
              <a:xfrm>
                <a:off x="3124" y="2508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k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r>
                  <a:rPr kumimoji="0" lang="en-US" altLang="zh-CN" i="1">
                    <a:solidFill>
                      <a:srgbClr val="008000"/>
                    </a:solidFill>
                    <a:ea typeface="楷体_GB2312" pitchFamily="49" charset="-122"/>
                  </a:rPr>
                  <a:t> v</a:t>
                </a:r>
                <a:r>
                  <a:rPr kumimoji="0" lang="en-US" altLang="zh-CN" i="1" baseline="-25000">
                    <a:solidFill>
                      <a:srgbClr val="008000"/>
                    </a:solidFill>
                    <a:ea typeface="楷体_GB2312" pitchFamily="49" charset="-122"/>
                  </a:rPr>
                  <a:t>s</a:t>
                </a:r>
                <a:r>
                  <a:rPr kumimoji="0" lang="en-US" altLang="zh-CN" baseline="-25000">
                    <a:solidFill>
                      <a:srgbClr val="008000"/>
                    </a:solidFill>
                    <a:ea typeface="楷体_GB2312" pitchFamily="49" charset="-122"/>
                  </a:rPr>
                  <a:t>1</a:t>
                </a:r>
                <a:endParaRPr kumimoji="0" lang="en-US" altLang="zh-CN" baseline="-2500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</p:grpSp>
      </p:grpSp>
      <p:grpSp>
        <p:nvGrpSpPr>
          <p:cNvPr id="351283" name="Group 51"/>
          <p:cNvGrpSpPr>
            <a:grpSpLocks/>
          </p:cNvGrpSpPr>
          <p:nvPr/>
        </p:nvGrpSpPr>
        <p:grpSpPr bwMode="auto">
          <a:xfrm>
            <a:off x="381000" y="4267200"/>
            <a:ext cx="7931150" cy="2286000"/>
            <a:chOff x="240" y="2688"/>
            <a:chExt cx="4996" cy="1440"/>
          </a:xfrm>
        </p:grpSpPr>
        <p:sp>
          <p:nvSpPr>
            <p:cNvPr id="351284" name="Text Box 52"/>
            <p:cNvSpPr txBox="1">
              <a:spLocks noChangeArrowheads="1"/>
            </p:cNvSpPr>
            <p:nvPr/>
          </p:nvSpPr>
          <p:spPr bwMode="auto">
            <a:xfrm>
              <a:off x="240" y="3518"/>
              <a:ext cx="4996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 indent="6667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8572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0477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dirty="0"/>
                <a:t>线性电路中，所有激励都增大</a:t>
              </a:r>
              <a:r>
                <a:rPr kumimoji="0" lang="en-US" altLang="zh-CN" dirty="0"/>
                <a:t>(</a:t>
              </a:r>
              <a:r>
                <a:rPr kumimoji="0" lang="zh-CN" altLang="en-US" dirty="0"/>
                <a:t>或减小</a:t>
              </a:r>
              <a:r>
                <a:rPr kumimoji="0" lang="en-US" altLang="zh-CN" dirty="0"/>
                <a:t>)</a:t>
              </a:r>
              <a:r>
                <a:rPr kumimoji="0" lang="zh-CN" altLang="en-US" dirty="0"/>
                <a:t>同样的倍数，则电路中响应也增大</a:t>
              </a:r>
              <a:r>
                <a:rPr kumimoji="0" lang="en-US" altLang="zh-CN" dirty="0"/>
                <a:t>(</a:t>
              </a:r>
              <a:r>
                <a:rPr kumimoji="0" lang="zh-CN" altLang="en-US" dirty="0"/>
                <a:t>或减小</a:t>
              </a:r>
              <a:r>
                <a:rPr kumimoji="0" lang="en-US" altLang="zh-CN" dirty="0"/>
                <a:t>)</a:t>
              </a:r>
              <a:r>
                <a:rPr kumimoji="0" lang="zh-CN" altLang="en-US" dirty="0"/>
                <a:t>同样的倍数。</a:t>
              </a:r>
            </a:p>
          </p:txBody>
        </p:sp>
        <p:grpSp>
          <p:nvGrpSpPr>
            <p:cNvPr id="351285" name="Group 53"/>
            <p:cNvGrpSpPr>
              <a:grpSpLocks/>
            </p:cNvGrpSpPr>
            <p:nvPr/>
          </p:nvGrpSpPr>
          <p:grpSpPr bwMode="auto">
            <a:xfrm>
              <a:off x="1019" y="2688"/>
              <a:ext cx="3889" cy="816"/>
              <a:chOff x="1019" y="2688"/>
              <a:chExt cx="3889" cy="816"/>
            </a:xfrm>
          </p:grpSpPr>
          <p:grpSp>
            <p:nvGrpSpPr>
              <p:cNvPr id="351286" name="Group 54"/>
              <p:cNvGrpSpPr>
                <a:grpSpLocks/>
              </p:cNvGrpSpPr>
              <p:nvPr/>
            </p:nvGrpSpPr>
            <p:grpSpPr bwMode="auto">
              <a:xfrm>
                <a:off x="1019" y="2688"/>
                <a:ext cx="3213" cy="816"/>
                <a:chOff x="979" y="2640"/>
                <a:chExt cx="3213" cy="816"/>
              </a:xfrm>
            </p:grpSpPr>
            <p:grpSp>
              <p:nvGrpSpPr>
                <p:cNvPr id="351287" name="Group 55"/>
                <p:cNvGrpSpPr>
                  <a:grpSpLocks/>
                </p:cNvGrpSpPr>
                <p:nvPr/>
              </p:nvGrpSpPr>
              <p:grpSpPr bwMode="auto">
                <a:xfrm>
                  <a:off x="979" y="2688"/>
                  <a:ext cx="1373" cy="768"/>
                  <a:chOff x="979" y="2688"/>
                  <a:chExt cx="1373" cy="768"/>
                </a:xfrm>
              </p:grpSpPr>
              <p:sp>
                <p:nvSpPr>
                  <p:cNvPr id="351288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2736"/>
                    <a:ext cx="432" cy="720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289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2976"/>
                    <a:ext cx="43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290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3216"/>
                    <a:ext cx="43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291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1872" y="3072"/>
                    <a:ext cx="48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292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9" y="2688"/>
                    <a:ext cx="3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8000"/>
                        </a:solidFill>
                        <a:ea typeface="楷体_GB2312" pitchFamily="49" charset="-122"/>
                      </a:rPr>
                      <a:t>v</a:t>
                    </a:r>
                    <a:r>
                      <a:rPr kumimoji="0" lang="en-US" altLang="zh-CN" i="1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s</a:t>
                    </a:r>
                    <a:r>
                      <a:rPr kumimoji="0" lang="en-US" altLang="zh-CN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351293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99" y="2976"/>
                    <a:ext cx="11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endParaRPr kumimoji="0" lang="zh-CN" altLang="zh-CN">
                      <a:solidFill>
                        <a:srgbClr val="0000FF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35129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95" y="2928"/>
                    <a:ext cx="3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8000"/>
                        </a:solidFill>
                        <a:ea typeface="楷体_GB2312" pitchFamily="49" charset="-122"/>
                      </a:rPr>
                      <a:t>v</a:t>
                    </a:r>
                    <a:r>
                      <a:rPr kumimoji="0" lang="en-US" altLang="zh-CN" i="1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s</a:t>
                    </a:r>
                    <a:r>
                      <a:rPr kumimoji="0" lang="en-US" altLang="zh-CN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2</a:t>
                    </a:r>
                  </a:p>
                </p:txBody>
              </p:sp>
              <p:sp>
                <p:nvSpPr>
                  <p:cNvPr id="351295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40" y="2832"/>
                    <a:ext cx="18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8000"/>
                        </a:solidFill>
                        <a:ea typeface="楷体_GB2312" pitchFamily="49" charset="-122"/>
                      </a:rPr>
                      <a:t>r</a:t>
                    </a:r>
                    <a:endParaRPr kumimoji="0" lang="en-US" altLang="zh-CN" baseline="-25000">
                      <a:solidFill>
                        <a:srgbClr val="008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351296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1" y="2976"/>
                    <a:ext cx="24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00FF"/>
                        </a:solidFill>
                        <a:ea typeface="楷体_GB2312" pitchFamily="49" charset="-122"/>
                      </a:rPr>
                      <a:t>R</a:t>
                    </a:r>
                    <a:endParaRPr kumimoji="0" lang="en-US" altLang="zh-CN">
                      <a:solidFill>
                        <a:srgbClr val="0000FF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351297" name="Group 65"/>
                <p:cNvGrpSpPr>
                  <a:grpSpLocks/>
                </p:cNvGrpSpPr>
                <p:nvPr/>
              </p:nvGrpSpPr>
              <p:grpSpPr bwMode="auto">
                <a:xfrm>
                  <a:off x="2747" y="2640"/>
                  <a:ext cx="1445" cy="768"/>
                  <a:chOff x="907" y="2688"/>
                  <a:chExt cx="1445" cy="768"/>
                </a:xfrm>
              </p:grpSpPr>
              <p:sp>
                <p:nvSpPr>
                  <p:cNvPr id="351298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2736"/>
                    <a:ext cx="432" cy="720"/>
                  </a:xfrm>
                  <a:prstGeom prst="rect">
                    <a:avLst/>
                  </a:prstGeom>
                  <a:solidFill>
                    <a:srgbClr val="FFFFFF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299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2976"/>
                    <a:ext cx="43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300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3216"/>
                    <a:ext cx="43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301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1872" y="3072"/>
                    <a:ext cx="48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302" name="Text Box 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07" y="2688"/>
                    <a:ext cx="45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8000"/>
                        </a:solidFill>
                        <a:ea typeface="楷体_GB2312" pitchFamily="49" charset="-122"/>
                      </a:rPr>
                      <a:t>k v</a:t>
                    </a:r>
                    <a:r>
                      <a:rPr kumimoji="0" lang="en-US" altLang="zh-CN" i="1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s</a:t>
                    </a:r>
                    <a:r>
                      <a:rPr kumimoji="0" lang="en-US" altLang="zh-CN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351303" name="Text Box 7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99" y="2976"/>
                    <a:ext cx="11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endParaRPr kumimoji="0" lang="zh-CN" altLang="zh-CN">
                      <a:solidFill>
                        <a:srgbClr val="0000FF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351304" name="Text Box 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23" y="2928"/>
                    <a:ext cx="45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8000"/>
                        </a:solidFill>
                        <a:ea typeface="楷体_GB2312" pitchFamily="49" charset="-122"/>
                      </a:rPr>
                      <a:t>k v</a:t>
                    </a:r>
                    <a:r>
                      <a:rPr kumimoji="0" lang="en-US" altLang="zh-CN" i="1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s</a:t>
                    </a:r>
                    <a:r>
                      <a:rPr kumimoji="0" lang="en-US" altLang="zh-CN" baseline="-25000">
                        <a:solidFill>
                          <a:srgbClr val="008000"/>
                        </a:solidFill>
                        <a:ea typeface="楷体_GB2312" pitchFamily="49" charset="-122"/>
                      </a:rPr>
                      <a:t>2</a:t>
                    </a:r>
                  </a:p>
                </p:txBody>
              </p:sp>
              <p:sp>
                <p:nvSpPr>
                  <p:cNvPr id="351305" name="Text Box 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68" y="2832"/>
                    <a:ext cx="33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8000"/>
                        </a:solidFill>
                        <a:ea typeface="楷体_GB2312" pitchFamily="49" charset="-122"/>
                      </a:rPr>
                      <a:t>k r</a:t>
                    </a:r>
                    <a:endParaRPr kumimoji="0" lang="en-US" altLang="zh-CN" baseline="-25000">
                      <a:solidFill>
                        <a:srgbClr val="008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351306" name="Text Box 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1" y="2976"/>
                    <a:ext cx="24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  <a:buClr>
                        <a:schemeClr val="accent2"/>
                      </a:buClr>
                      <a:buSzPct val="75000"/>
                      <a:buFont typeface="Monotype Sorts" pitchFamily="2" charset="2"/>
                      <a:buNone/>
                    </a:pPr>
                    <a:r>
                      <a:rPr kumimoji="0" lang="en-US" altLang="zh-CN" i="1">
                        <a:solidFill>
                          <a:srgbClr val="0000FF"/>
                        </a:solidFill>
                        <a:ea typeface="楷体_GB2312" pitchFamily="49" charset="-122"/>
                      </a:rPr>
                      <a:t>R</a:t>
                    </a:r>
                    <a:endParaRPr kumimoji="0" lang="en-US" altLang="zh-CN">
                      <a:solidFill>
                        <a:srgbClr val="0000FF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351307" name="Text Box 75"/>
              <p:cNvSpPr txBox="1">
                <a:spLocks noChangeArrowheads="1"/>
              </p:cNvSpPr>
              <p:nvPr/>
            </p:nvSpPr>
            <p:spPr bwMode="auto">
              <a:xfrm>
                <a:off x="4406" y="2893"/>
                <a:ext cx="5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>
                    <a:solidFill>
                      <a:schemeClr val="accent2"/>
                    </a:solidFill>
                    <a:ea typeface="楷体_GB2312" pitchFamily="49" charset="-122"/>
                  </a:rPr>
                  <a:t>齐性</a:t>
                </a:r>
              </a:p>
            </p:txBody>
          </p:sp>
        </p:grpSp>
      </p:grpSp>
      <p:sp>
        <p:nvSpPr>
          <p:cNvPr id="76" name="Text Box 3"/>
          <p:cNvSpPr txBox="1">
            <a:spLocks noChangeArrowheads="1"/>
          </p:cNvSpPr>
          <p:nvPr/>
        </p:nvSpPr>
        <p:spPr bwMode="auto">
          <a:xfrm>
            <a:off x="398802" y="5040"/>
            <a:ext cx="4524508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marL="342900" indent="-342900" algn="l"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dirty="0" smtClean="0">
                <a:solidFill>
                  <a:srgbClr val="FF66FF"/>
                </a:solidFill>
              </a:rPr>
              <a:t>可加性</a:t>
            </a:r>
            <a:r>
              <a:rPr kumimoji="0" lang="zh-CN" altLang="en-US" dirty="0" smtClean="0">
                <a:solidFill>
                  <a:schemeClr val="accent2"/>
                </a:solidFill>
              </a:rPr>
              <a:t>（</a:t>
            </a:r>
            <a:r>
              <a:rPr kumimoji="0" lang="en-US" altLang="zh-CN" dirty="0">
                <a:solidFill>
                  <a:schemeClr val="accent2"/>
                </a:solidFill>
              </a:rPr>
              <a:t> additivity  property)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69888" y="582148"/>
            <a:ext cx="7734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3.5.2 </a:t>
            </a:r>
            <a:r>
              <a:rPr lang="zh-CN" altLang="en-US" dirty="0" smtClean="0">
                <a:solidFill>
                  <a:srgbClr val="990033"/>
                </a:solidFill>
              </a:rPr>
              <a:t>替代</a:t>
            </a:r>
            <a:r>
              <a:rPr lang="zh-CN" altLang="en-US" dirty="0">
                <a:solidFill>
                  <a:srgbClr val="990033"/>
                </a:solidFill>
              </a:rPr>
              <a:t>定理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(Substitution Theorem)</a:t>
            </a:r>
          </a:p>
        </p:txBody>
      </p: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114300" y="4188587"/>
            <a:ext cx="1714500" cy="1798637"/>
            <a:chOff x="1098" y="2784"/>
            <a:chExt cx="1080" cy="1133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1098" y="3053"/>
              <a:ext cx="432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1170" y="3317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grpSp>
          <p:nvGrpSpPr>
            <p:cNvPr id="8" name="Group 10"/>
            <p:cNvGrpSpPr>
              <a:grpSpLocks/>
            </p:cNvGrpSpPr>
            <p:nvPr/>
          </p:nvGrpSpPr>
          <p:grpSpPr bwMode="auto">
            <a:xfrm>
              <a:off x="1530" y="3149"/>
              <a:ext cx="528" cy="144"/>
              <a:chOff x="1008" y="2400"/>
              <a:chExt cx="528" cy="144"/>
            </a:xfrm>
          </p:grpSpPr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>
                <a:off x="1008" y="240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>
                <a:off x="1536" y="240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13"/>
            <p:cNvGrpSpPr>
              <a:grpSpLocks/>
            </p:cNvGrpSpPr>
            <p:nvPr/>
          </p:nvGrpSpPr>
          <p:grpSpPr bwMode="auto">
            <a:xfrm>
              <a:off x="1530" y="3773"/>
              <a:ext cx="528" cy="96"/>
              <a:chOff x="1008" y="3024"/>
              <a:chExt cx="480" cy="96"/>
            </a:xfrm>
          </p:grpSpPr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1008" y="312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 flipV="1">
                <a:off x="1488" y="3024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" name="Text Box 16"/>
            <p:cNvSpPr txBox="1">
              <a:spLocks noChangeArrowheads="1"/>
            </p:cNvSpPr>
            <p:nvPr/>
          </p:nvSpPr>
          <p:spPr bwMode="auto">
            <a:xfrm>
              <a:off x="1770" y="278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/>
                <a:t>i</a:t>
              </a:r>
              <a:r>
                <a:rPr lang="en-US" altLang="zh-CN" i="1" baseline="-25000"/>
                <a:t>k</a:t>
              </a:r>
              <a:endParaRPr lang="en-US" altLang="zh-CN"/>
            </a:p>
          </p:txBody>
        </p: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1578" y="3149"/>
              <a:ext cx="1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1578" y="3533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–</a:t>
              </a:r>
            </a:p>
          </p:txBody>
        </p:sp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1568" y="3293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/>
                <a:t>v</a:t>
              </a:r>
              <a:r>
                <a:rPr lang="en-US" altLang="zh-CN" i="1" baseline="-25000"/>
                <a:t>k</a:t>
              </a:r>
              <a:endParaRPr lang="en-US" altLang="zh-CN"/>
            </a:p>
          </p:txBody>
        </p:sp>
        <p:sp>
          <p:nvSpPr>
            <p:cNvPr id="14" name="Text Box 20"/>
            <p:cNvSpPr txBox="1">
              <a:spLocks noChangeArrowheads="1"/>
            </p:cNvSpPr>
            <p:nvPr/>
          </p:nvSpPr>
          <p:spPr bwMode="auto">
            <a:xfrm>
              <a:off x="1908" y="3251"/>
              <a:ext cx="270" cy="52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80000"/>
                </a:lnSpc>
              </a:pPr>
              <a:r>
                <a:rPr lang="zh-CN" altLang="en-US" sz="2000"/>
                <a:t>支</a:t>
              </a:r>
            </a:p>
            <a:p>
              <a:pPr algn="just">
                <a:lnSpc>
                  <a:spcPct val="80000"/>
                </a:lnSpc>
              </a:pPr>
              <a:r>
                <a:rPr lang="zh-CN" altLang="en-US" sz="2000"/>
                <a:t>路</a:t>
              </a:r>
            </a:p>
            <a:p>
              <a:pPr algn="just">
                <a:lnSpc>
                  <a:spcPct val="80000"/>
                </a:lnSpc>
              </a:pPr>
              <a:r>
                <a:rPr lang="zh-CN" altLang="en-US" sz="2000"/>
                <a:t> </a:t>
              </a:r>
              <a:r>
                <a:rPr lang="en-US" altLang="zh-CN" sz="2000" i="1"/>
                <a:t>k</a:t>
              </a:r>
              <a:r>
                <a:rPr lang="en-US" altLang="zh-CN" sz="2000"/>
                <a:t>      </a:t>
              </a: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1770" y="3149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" name="Group 48"/>
          <p:cNvGrpSpPr>
            <a:grpSpLocks/>
          </p:cNvGrpSpPr>
          <p:nvPr/>
        </p:nvGrpSpPr>
        <p:grpSpPr bwMode="auto">
          <a:xfrm>
            <a:off x="2647950" y="4631499"/>
            <a:ext cx="2149475" cy="1371600"/>
            <a:chOff x="3306" y="2496"/>
            <a:chExt cx="1354" cy="864"/>
          </a:xfrm>
        </p:grpSpPr>
        <p:sp>
          <p:nvSpPr>
            <p:cNvPr id="21" name="Rectangle 24"/>
            <p:cNvSpPr>
              <a:spLocks noChangeArrowheads="1"/>
            </p:cNvSpPr>
            <p:nvPr/>
          </p:nvSpPr>
          <p:spPr bwMode="auto">
            <a:xfrm>
              <a:off x="3306" y="2496"/>
              <a:ext cx="432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>
              <a:off x="3738" y="2640"/>
              <a:ext cx="432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3378" y="279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4026" y="2832"/>
              <a:ext cx="288" cy="288"/>
            </a:xfrm>
            <a:prstGeom prst="ellipse">
              <a:avLst/>
            </a:prstGeom>
            <a:solidFill>
              <a:srgbClr val="CCFFCC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5" name="AutoShape 28"/>
            <p:cNvCxnSpPr>
              <a:cxnSpLocks noChangeShapeType="1"/>
              <a:stCxn id="24" idx="0"/>
              <a:endCxn id="24" idx="4"/>
            </p:cNvCxnSpPr>
            <p:nvPr/>
          </p:nvCxnSpPr>
          <p:spPr bwMode="auto">
            <a:xfrm>
              <a:off x="4170" y="2823"/>
              <a:ext cx="0" cy="30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4160" y="2592"/>
              <a:ext cx="1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4170" y="302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–</a:t>
              </a:r>
            </a:p>
          </p:txBody>
        </p:sp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4314" y="2784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/>
                <a:t>v</a:t>
              </a:r>
              <a:r>
                <a:rPr lang="en-US" altLang="zh-CN" i="1" baseline="-25000"/>
                <a:t>k</a:t>
              </a:r>
              <a:endParaRPr lang="en-US" altLang="zh-CN"/>
            </a:p>
          </p:txBody>
        </p:sp>
      </p:grpSp>
      <p:sp>
        <p:nvSpPr>
          <p:cNvPr id="29" name="AutoShape 32"/>
          <p:cNvSpPr>
            <a:spLocks noChangeArrowheads="1"/>
          </p:cNvSpPr>
          <p:nvPr/>
        </p:nvSpPr>
        <p:spPr bwMode="auto">
          <a:xfrm>
            <a:off x="1966913" y="5161724"/>
            <a:ext cx="620712" cy="309563"/>
          </a:xfrm>
          <a:prstGeom prst="rightArrow">
            <a:avLst>
              <a:gd name="adj1" fmla="val 50000"/>
              <a:gd name="adj2" fmla="val 50128"/>
            </a:avLst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30" name="Group 56"/>
          <p:cNvGrpSpPr>
            <a:grpSpLocks/>
          </p:cNvGrpSpPr>
          <p:nvPr/>
        </p:nvGrpSpPr>
        <p:grpSpPr bwMode="auto">
          <a:xfrm>
            <a:off x="4899025" y="4631499"/>
            <a:ext cx="2073275" cy="1371600"/>
            <a:chOff x="3306" y="3456"/>
            <a:chExt cx="1306" cy="864"/>
          </a:xfrm>
        </p:grpSpPr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4218" y="3859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/>
                <a:t>i</a:t>
              </a:r>
              <a:r>
                <a:rPr lang="en-US" altLang="zh-CN" i="1" baseline="-25000"/>
                <a:t>k</a:t>
              </a:r>
              <a:endParaRPr lang="en-US" altLang="zh-CN" baseline="-25000"/>
            </a:p>
          </p:txBody>
        </p:sp>
        <p:sp>
          <p:nvSpPr>
            <p:cNvPr id="32" name="Rectangle 37"/>
            <p:cNvSpPr>
              <a:spLocks noChangeArrowheads="1"/>
            </p:cNvSpPr>
            <p:nvPr/>
          </p:nvSpPr>
          <p:spPr bwMode="auto">
            <a:xfrm>
              <a:off x="3306" y="3456"/>
              <a:ext cx="432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Rectangle 38"/>
            <p:cNvSpPr>
              <a:spLocks noChangeArrowheads="1"/>
            </p:cNvSpPr>
            <p:nvPr/>
          </p:nvSpPr>
          <p:spPr bwMode="auto">
            <a:xfrm>
              <a:off x="3738" y="3600"/>
              <a:ext cx="432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9"/>
            <p:cNvSpPr>
              <a:spLocks noChangeArrowheads="1"/>
            </p:cNvSpPr>
            <p:nvPr/>
          </p:nvSpPr>
          <p:spPr bwMode="auto">
            <a:xfrm>
              <a:off x="4026" y="3696"/>
              <a:ext cx="288" cy="288"/>
            </a:xfrm>
            <a:prstGeom prst="ellipse">
              <a:avLst/>
            </a:prstGeom>
            <a:solidFill>
              <a:srgbClr val="CCFFCC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5" name="AutoShape 40"/>
            <p:cNvCxnSpPr>
              <a:cxnSpLocks noChangeShapeType="1"/>
              <a:stCxn id="34" idx="2"/>
              <a:endCxn id="34" idx="6"/>
            </p:cNvCxnSpPr>
            <p:nvPr/>
          </p:nvCxnSpPr>
          <p:spPr bwMode="auto">
            <a:xfrm>
              <a:off x="4017" y="3840"/>
              <a:ext cx="30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" name="Text Box 41"/>
            <p:cNvSpPr txBox="1">
              <a:spLocks noChangeArrowheads="1"/>
            </p:cNvSpPr>
            <p:nvPr/>
          </p:nvSpPr>
          <p:spPr bwMode="auto">
            <a:xfrm>
              <a:off x="3384" y="369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37" name="Line 42"/>
            <p:cNvSpPr>
              <a:spLocks noChangeShapeType="1"/>
            </p:cNvSpPr>
            <p:nvPr/>
          </p:nvSpPr>
          <p:spPr bwMode="auto">
            <a:xfrm>
              <a:off x="4170" y="4080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" name="Text Box 45"/>
          <p:cNvSpPr txBox="1">
            <a:spLocks noChangeArrowheads="1"/>
          </p:cNvSpPr>
          <p:nvPr/>
        </p:nvSpPr>
        <p:spPr bwMode="auto">
          <a:xfrm>
            <a:off x="333375" y="1144730"/>
            <a:ext cx="854392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809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000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190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381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38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956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752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10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000" dirty="0"/>
              <a:t>电路中的任何一个二端元件或二端网络，</a:t>
            </a:r>
          </a:p>
          <a:p>
            <a:pPr marL="342900" indent="-342900" algn="just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/>
              <a:t>若已知其</a:t>
            </a:r>
            <a:r>
              <a:rPr lang="zh-CN" altLang="en-US" sz="2000" dirty="0" smtClean="0"/>
              <a:t>端电压 </a:t>
            </a:r>
            <a:r>
              <a:rPr lang="en-US" altLang="zh-CN" i="1" dirty="0" err="1" smtClean="0"/>
              <a:t>v</a:t>
            </a:r>
            <a:r>
              <a:rPr lang="en-US" altLang="zh-CN" i="1" baseline="-25000" dirty="0" err="1" smtClean="0"/>
              <a:t>k</a:t>
            </a:r>
            <a:r>
              <a:rPr lang="zh-CN" altLang="en-US" sz="2000" dirty="0"/>
              <a:t>，则可用一个</a:t>
            </a:r>
            <a:r>
              <a:rPr lang="zh-CN" altLang="en-US" sz="2000" dirty="0" smtClean="0"/>
              <a:t>电压源 </a:t>
            </a:r>
            <a:r>
              <a:rPr lang="en-US" altLang="zh-CN" i="1" dirty="0" err="1" smtClean="0"/>
              <a:t>v</a:t>
            </a:r>
            <a:r>
              <a:rPr lang="en-US" altLang="zh-CN" i="1" baseline="-25000" dirty="0" err="1" smtClean="0"/>
              <a:t>k</a:t>
            </a:r>
            <a:r>
              <a:rPr lang="en-US" altLang="zh-CN" i="1" baseline="-25000" dirty="0" smtClean="0"/>
              <a:t> </a:t>
            </a:r>
            <a:r>
              <a:rPr lang="zh-CN" altLang="en-US" sz="2000" dirty="0" smtClean="0"/>
              <a:t>来</a:t>
            </a:r>
            <a:r>
              <a:rPr lang="zh-CN" altLang="en-US" sz="2000" dirty="0"/>
              <a:t>代替。</a:t>
            </a:r>
          </a:p>
          <a:p>
            <a:pPr marL="342900" indent="-342900" algn="just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/>
              <a:t>若已知其端</a:t>
            </a:r>
            <a:r>
              <a:rPr lang="zh-CN" altLang="en-US" sz="2000" dirty="0" smtClean="0"/>
              <a:t>电流 </a:t>
            </a:r>
            <a:r>
              <a:rPr lang="en-US" altLang="zh-CN" i="1" dirty="0" err="1" smtClean="0"/>
              <a:t>i</a:t>
            </a:r>
            <a:r>
              <a:rPr lang="en-US" altLang="zh-CN" i="1" baseline="-25000" dirty="0" err="1" smtClean="0"/>
              <a:t>k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，则可用一个</a:t>
            </a:r>
            <a:r>
              <a:rPr lang="zh-CN" altLang="en-US" sz="2000" dirty="0" smtClean="0"/>
              <a:t>电流源 </a:t>
            </a:r>
            <a:r>
              <a:rPr lang="en-US" altLang="zh-CN" i="1" dirty="0" err="1" smtClean="0"/>
              <a:t>i</a:t>
            </a:r>
            <a:r>
              <a:rPr lang="en-US" altLang="zh-CN" i="1" baseline="-25000" dirty="0" err="1" smtClean="0"/>
              <a:t>k</a:t>
            </a:r>
            <a:r>
              <a:rPr lang="en-US" altLang="zh-CN" i="1" baseline="-25000" dirty="0" smtClean="0"/>
              <a:t> </a:t>
            </a:r>
            <a:r>
              <a:rPr lang="zh-CN" altLang="en-US" sz="2000" dirty="0" smtClean="0"/>
              <a:t>来</a:t>
            </a:r>
            <a:r>
              <a:rPr lang="zh-CN" altLang="en-US" sz="2000" dirty="0"/>
              <a:t>代替。</a:t>
            </a:r>
          </a:p>
          <a:p>
            <a:pPr marL="342900" indent="-342900" algn="just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/>
              <a:t>若已知其</a:t>
            </a:r>
            <a:r>
              <a:rPr lang="zh-CN" altLang="en-US" sz="2000" dirty="0" smtClean="0"/>
              <a:t>端电压 </a:t>
            </a:r>
            <a:r>
              <a:rPr lang="en-US" altLang="zh-CN" i="1" dirty="0" err="1" smtClean="0"/>
              <a:t>v</a:t>
            </a:r>
            <a:r>
              <a:rPr lang="en-US" altLang="zh-CN" i="1" baseline="-25000" dirty="0" err="1" smtClean="0"/>
              <a:t>k</a:t>
            </a:r>
            <a:r>
              <a:rPr lang="en-US" altLang="zh-CN" i="1" baseline="-25000" dirty="0" smtClean="0"/>
              <a:t> </a:t>
            </a:r>
            <a:r>
              <a:rPr lang="zh-CN" altLang="en-US" sz="2000" dirty="0" smtClean="0"/>
              <a:t>和</a:t>
            </a:r>
            <a:r>
              <a:rPr lang="zh-CN" altLang="en-US" sz="2000" dirty="0"/>
              <a:t>端</a:t>
            </a:r>
            <a:r>
              <a:rPr lang="zh-CN" altLang="en-US" sz="2000" dirty="0" smtClean="0"/>
              <a:t>电流 </a:t>
            </a:r>
            <a:r>
              <a:rPr lang="en-US" altLang="zh-CN" i="1" dirty="0" err="1" smtClean="0"/>
              <a:t>i</a:t>
            </a:r>
            <a:r>
              <a:rPr lang="en-US" altLang="zh-CN" i="1" baseline="-25000" dirty="0" err="1" smtClean="0"/>
              <a:t>k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，则可用一个阻值</a:t>
            </a:r>
            <a:r>
              <a:rPr lang="zh-CN" altLang="en-US" sz="2000" dirty="0" smtClean="0"/>
              <a:t>为 </a:t>
            </a:r>
            <a:r>
              <a:rPr lang="en-US" altLang="zh-CN" i="1" dirty="0" err="1" smtClean="0"/>
              <a:t>v</a:t>
            </a:r>
            <a:r>
              <a:rPr lang="en-US" altLang="zh-CN" i="1" baseline="-25000" dirty="0" err="1" smtClean="0"/>
              <a:t>k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/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sz="2000" dirty="0"/>
              <a:t> </a:t>
            </a:r>
            <a:r>
              <a:rPr lang="zh-CN" altLang="en-US" sz="2000" dirty="0"/>
              <a:t>的电阻元件代替。</a:t>
            </a:r>
          </a:p>
          <a:p>
            <a:pPr algn="just">
              <a:spcBef>
                <a:spcPct val="5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zh-CN" altLang="en-US" sz="2000" dirty="0"/>
              <a:t>替代后不会影响电路中其它支路的电流和电压。</a:t>
            </a:r>
          </a:p>
        </p:txBody>
      </p:sp>
      <p:grpSp>
        <p:nvGrpSpPr>
          <p:cNvPr id="39" name="Group 59"/>
          <p:cNvGrpSpPr>
            <a:grpSpLocks/>
          </p:cNvGrpSpPr>
          <p:nvPr/>
        </p:nvGrpSpPr>
        <p:grpSpPr bwMode="auto">
          <a:xfrm>
            <a:off x="6797675" y="4631499"/>
            <a:ext cx="2230438" cy="1371600"/>
            <a:chOff x="4202" y="2404"/>
            <a:chExt cx="1405" cy="864"/>
          </a:xfrm>
        </p:grpSpPr>
        <p:sp>
          <p:nvSpPr>
            <p:cNvPr id="40" name="Rectangle 50"/>
            <p:cNvSpPr>
              <a:spLocks noChangeArrowheads="1"/>
            </p:cNvSpPr>
            <p:nvPr/>
          </p:nvSpPr>
          <p:spPr bwMode="auto">
            <a:xfrm>
              <a:off x="4202" y="2404"/>
              <a:ext cx="432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Rectangle 51"/>
            <p:cNvSpPr>
              <a:spLocks noChangeArrowheads="1"/>
            </p:cNvSpPr>
            <p:nvPr/>
          </p:nvSpPr>
          <p:spPr bwMode="auto">
            <a:xfrm>
              <a:off x="4634" y="2548"/>
              <a:ext cx="432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54"/>
            <p:cNvSpPr txBox="1">
              <a:spLocks noChangeArrowheads="1"/>
            </p:cNvSpPr>
            <p:nvPr/>
          </p:nvSpPr>
          <p:spPr bwMode="auto">
            <a:xfrm>
              <a:off x="4280" y="263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43" name="Rectangle 57"/>
            <p:cNvSpPr>
              <a:spLocks noChangeArrowheads="1"/>
            </p:cNvSpPr>
            <p:nvPr/>
          </p:nvSpPr>
          <p:spPr bwMode="auto">
            <a:xfrm>
              <a:off x="5019" y="2752"/>
              <a:ext cx="92" cy="238"/>
            </a:xfrm>
            <a:prstGeom prst="rect">
              <a:avLst/>
            </a:prstGeom>
            <a:solidFill>
              <a:srgbClr val="99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Rectangle 58"/>
            <p:cNvSpPr>
              <a:spLocks noChangeArrowheads="1"/>
            </p:cNvSpPr>
            <p:nvPr/>
          </p:nvSpPr>
          <p:spPr bwMode="auto">
            <a:xfrm>
              <a:off x="5092" y="2720"/>
              <a:ext cx="5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 dirty="0" err="1"/>
                <a:t>v</a:t>
              </a:r>
              <a:r>
                <a:rPr lang="en-US" altLang="zh-CN" i="1" baseline="-25000" dirty="0" err="1"/>
                <a:t>k</a:t>
              </a:r>
              <a:r>
                <a:rPr lang="en-US" altLang="zh-CN" baseline="-25000" dirty="0"/>
                <a:t> </a:t>
              </a:r>
              <a:r>
                <a:rPr lang="en-US" altLang="zh-CN" dirty="0"/>
                <a:t>/ </a:t>
              </a:r>
              <a:r>
                <a:rPr lang="en-US" altLang="zh-CN" i="1" dirty="0" err="1"/>
                <a:t>i</a:t>
              </a:r>
              <a:r>
                <a:rPr lang="en-US" altLang="zh-CN" i="1" baseline="-25000" dirty="0" err="1"/>
                <a:t>k</a:t>
              </a:r>
              <a:endParaRPr lang="en-US" altLang="zh-CN" i="1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93463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89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kumimoji="0" lang="zh-CN" altLang="en-US">
                <a:solidFill>
                  <a:srgbClr val="FF3300"/>
                </a:solidFill>
                <a:ea typeface="楷体_GB2312" pitchFamily="49" charset="-122"/>
              </a:rPr>
              <a:t>证明</a:t>
            </a:r>
            <a:r>
              <a:rPr kumimoji="0" lang="en-US" altLang="zh-CN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grpSp>
        <p:nvGrpSpPr>
          <p:cNvPr id="353283" name="Group 3"/>
          <p:cNvGrpSpPr>
            <a:grpSpLocks/>
          </p:cNvGrpSpPr>
          <p:nvPr/>
        </p:nvGrpSpPr>
        <p:grpSpPr bwMode="auto">
          <a:xfrm>
            <a:off x="5694363" y="555625"/>
            <a:ext cx="2886075" cy="2730500"/>
            <a:chOff x="3587" y="146"/>
            <a:chExt cx="1818" cy="1720"/>
          </a:xfrm>
        </p:grpSpPr>
        <p:sp>
          <p:nvSpPr>
            <p:cNvPr id="353284" name="Oval 4"/>
            <p:cNvSpPr>
              <a:spLocks noChangeArrowheads="1"/>
            </p:cNvSpPr>
            <p:nvPr/>
          </p:nvSpPr>
          <p:spPr bwMode="auto">
            <a:xfrm>
              <a:off x="4611" y="1477"/>
              <a:ext cx="227" cy="227"/>
            </a:xfrm>
            <a:prstGeom prst="ellipse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285" name="Text Box 5"/>
            <p:cNvSpPr txBox="1">
              <a:spLocks noChangeArrowheads="1"/>
            </p:cNvSpPr>
            <p:nvPr/>
          </p:nvSpPr>
          <p:spPr bwMode="auto">
            <a:xfrm>
              <a:off x="4627" y="1616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i="1" baseline="-25000"/>
                <a:t>k</a:t>
              </a:r>
              <a:endParaRPr lang="en-US" altLang="zh-CN" sz="2000"/>
            </a:p>
          </p:txBody>
        </p:sp>
        <p:sp>
          <p:nvSpPr>
            <p:cNvPr id="353286" name="Oval 6"/>
            <p:cNvSpPr>
              <a:spLocks noChangeArrowheads="1"/>
            </p:cNvSpPr>
            <p:nvPr/>
          </p:nvSpPr>
          <p:spPr bwMode="auto">
            <a:xfrm>
              <a:off x="4819" y="1174"/>
              <a:ext cx="227" cy="227"/>
            </a:xfrm>
            <a:prstGeom prst="ellipse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287" name="Text Box 7"/>
            <p:cNvSpPr txBox="1">
              <a:spLocks noChangeArrowheads="1"/>
            </p:cNvSpPr>
            <p:nvPr/>
          </p:nvSpPr>
          <p:spPr bwMode="auto">
            <a:xfrm>
              <a:off x="5034" y="1136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 err="1"/>
                <a:t>v</a:t>
              </a:r>
              <a:r>
                <a:rPr lang="en-US" altLang="zh-CN" sz="2000" i="1" baseline="-25000" dirty="0" err="1"/>
                <a:t>k</a:t>
              </a:r>
              <a:endParaRPr lang="en-US" altLang="zh-CN" sz="2000" dirty="0"/>
            </a:p>
          </p:txBody>
        </p:sp>
        <p:sp>
          <p:nvSpPr>
            <p:cNvPr id="353288" name="Rectangle 8"/>
            <p:cNvSpPr>
              <a:spLocks noChangeArrowheads="1"/>
            </p:cNvSpPr>
            <p:nvPr/>
          </p:nvSpPr>
          <p:spPr bwMode="auto">
            <a:xfrm>
              <a:off x="3587" y="336"/>
              <a:ext cx="432" cy="13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3289" name="Text Box 9"/>
            <p:cNvSpPr txBox="1">
              <a:spLocks noChangeArrowheads="1"/>
            </p:cNvSpPr>
            <p:nvPr/>
          </p:nvSpPr>
          <p:spPr bwMode="auto">
            <a:xfrm>
              <a:off x="3671" y="859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/>
                <a:t>A</a:t>
              </a:r>
            </a:p>
          </p:txBody>
        </p:sp>
        <p:sp>
          <p:nvSpPr>
            <p:cNvPr id="353290" name="Text Box 10"/>
            <p:cNvSpPr txBox="1">
              <a:spLocks noChangeArrowheads="1"/>
            </p:cNvSpPr>
            <p:nvPr/>
          </p:nvSpPr>
          <p:spPr bwMode="auto">
            <a:xfrm>
              <a:off x="4548" y="14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 err="1"/>
                <a:t>i</a:t>
              </a:r>
              <a:r>
                <a:rPr lang="en-US" altLang="zh-CN" sz="2000" i="1" baseline="-25000" dirty="0" err="1"/>
                <a:t>k</a:t>
              </a:r>
              <a:endParaRPr lang="en-US" altLang="zh-CN" sz="2000" dirty="0"/>
            </a:p>
          </p:txBody>
        </p:sp>
        <p:sp>
          <p:nvSpPr>
            <p:cNvPr id="353291" name="Text Box 11"/>
            <p:cNvSpPr txBox="1">
              <a:spLocks noChangeArrowheads="1"/>
            </p:cNvSpPr>
            <p:nvPr/>
          </p:nvSpPr>
          <p:spPr bwMode="auto">
            <a:xfrm>
              <a:off x="5051" y="385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/>
                <a:t>+</a:t>
              </a:r>
            </a:p>
          </p:txBody>
        </p:sp>
        <p:sp>
          <p:nvSpPr>
            <p:cNvPr id="353292" name="Text Box 12"/>
            <p:cNvSpPr txBox="1">
              <a:spLocks noChangeArrowheads="1"/>
            </p:cNvSpPr>
            <p:nvPr/>
          </p:nvSpPr>
          <p:spPr bwMode="auto">
            <a:xfrm>
              <a:off x="5083" y="785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/>
                <a:t>–</a:t>
              </a:r>
            </a:p>
          </p:txBody>
        </p:sp>
        <p:sp>
          <p:nvSpPr>
            <p:cNvPr id="353293" name="Text Box 13"/>
            <p:cNvSpPr txBox="1">
              <a:spLocks noChangeArrowheads="1"/>
            </p:cNvSpPr>
            <p:nvPr/>
          </p:nvSpPr>
          <p:spPr bwMode="auto">
            <a:xfrm>
              <a:off x="5059" y="561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i="1" baseline="-25000"/>
                <a:t>k</a:t>
              </a:r>
              <a:endParaRPr lang="en-US" altLang="zh-CN" sz="2000"/>
            </a:p>
          </p:txBody>
        </p:sp>
        <p:sp>
          <p:nvSpPr>
            <p:cNvPr id="353294" name="Line 14"/>
            <p:cNvSpPr>
              <a:spLocks noChangeShapeType="1"/>
            </p:cNvSpPr>
            <p:nvPr/>
          </p:nvSpPr>
          <p:spPr bwMode="auto">
            <a:xfrm>
              <a:off x="4019" y="432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295" name="Line 15"/>
            <p:cNvSpPr>
              <a:spLocks noChangeShapeType="1"/>
            </p:cNvSpPr>
            <p:nvPr/>
          </p:nvSpPr>
          <p:spPr bwMode="auto">
            <a:xfrm>
              <a:off x="4931" y="4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296" name="Line 16"/>
            <p:cNvSpPr>
              <a:spLocks noChangeShapeType="1"/>
            </p:cNvSpPr>
            <p:nvPr/>
          </p:nvSpPr>
          <p:spPr bwMode="auto">
            <a:xfrm>
              <a:off x="4019" y="1584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297" name="Line 17"/>
            <p:cNvSpPr>
              <a:spLocks noChangeShapeType="1"/>
            </p:cNvSpPr>
            <p:nvPr/>
          </p:nvSpPr>
          <p:spPr bwMode="auto">
            <a:xfrm flipV="1">
              <a:off x="4931" y="993"/>
              <a:ext cx="0" cy="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298" name="Line 18"/>
            <p:cNvSpPr>
              <a:spLocks noChangeShapeType="1"/>
            </p:cNvSpPr>
            <p:nvPr/>
          </p:nvSpPr>
          <p:spPr bwMode="auto">
            <a:xfrm>
              <a:off x="4547" y="43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299" name="Text Box 19"/>
            <p:cNvSpPr txBox="1">
              <a:spLocks noChangeArrowheads="1"/>
            </p:cNvSpPr>
            <p:nvPr/>
          </p:nvSpPr>
          <p:spPr bwMode="auto">
            <a:xfrm>
              <a:off x="4770" y="479"/>
              <a:ext cx="293" cy="53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zh-CN" altLang="en-US" sz="2000"/>
                <a:t>支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000"/>
                <a:t>路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000"/>
                <a:t> </a:t>
              </a:r>
              <a:r>
                <a:rPr lang="en-US" altLang="zh-CN" sz="2000" i="1"/>
                <a:t>k</a:t>
              </a:r>
            </a:p>
          </p:txBody>
        </p:sp>
        <p:sp>
          <p:nvSpPr>
            <p:cNvPr id="353300" name="Oval 20"/>
            <p:cNvSpPr>
              <a:spLocks noChangeArrowheads="1"/>
            </p:cNvSpPr>
            <p:nvPr/>
          </p:nvSpPr>
          <p:spPr bwMode="auto">
            <a:xfrm>
              <a:off x="4403" y="416"/>
              <a:ext cx="48" cy="4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01" name="Oval 21"/>
            <p:cNvSpPr>
              <a:spLocks noChangeArrowheads="1"/>
            </p:cNvSpPr>
            <p:nvPr/>
          </p:nvSpPr>
          <p:spPr bwMode="auto">
            <a:xfrm>
              <a:off x="4403" y="1568"/>
              <a:ext cx="48" cy="4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02" name="Oval 22"/>
            <p:cNvSpPr>
              <a:spLocks noChangeArrowheads="1"/>
            </p:cNvSpPr>
            <p:nvPr/>
          </p:nvSpPr>
          <p:spPr bwMode="auto">
            <a:xfrm>
              <a:off x="4908" y="1545"/>
              <a:ext cx="48" cy="4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03" name="Text Box 23"/>
            <p:cNvSpPr txBox="1">
              <a:spLocks noChangeArrowheads="1"/>
            </p:cNvSpPr>
            <p:nvPr/>
          </p:nvSpPr>
          <p:spPr bwMode="auto">
            <a:xfrm>
              <a:off x="4825" y="1596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/>
                <a:t>+</a:t>
              </a:r>
            </a:p>
          </p:txBody>
        </p:sp>
        <p:sp>
          <p:nvSpPr>
            <p:cNvPr id="353304" name="Text Box 24"/>
            <p:cNvSpPr txBox="1">
              <a:spLocks noChangeArrowheads="1"/>
            </p:cNvSpPr>
            <p:nvPr/>
          </p:nvSpPr>
          <p:spPr bwMode="auto">
            <a:xfrm>
              <a:off x="4465" y="1588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/>
                <a:t>–</a:t>
              </a:r>
            </a:p>
          </p:txBody>
        </p:sp>
        <p:sp>
          <p:nvSpPr>
            <p:cNvPr id="353305" name="Text Box 25"/>
            <p:cNvSpPr txBox="1">
              <a:spLocks noChangeArrowheads="1"/>
            </p:cNvSpPr>
            <p:nvPr/>
          </p:nvSpPr>
          <p:spPr bwMode="auto">
            <a:xfrm>
              <a:off x="5044" y="1292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/>
                <a:t>+</a:t>
              </a:r>
            </a:p>
          </p:txBody>
        </p:sp>
        <p:sp>
          <p:nvSpPr>
            <p:cNvPr id="353306" name="Text Box 26"/>
            <p:cNvSpPr txBox="1">
              <a:spLocks noChangeArrowheads="1"/>
            </p:cNvSpPr>
            <p:nvPr/>
          </p:nvSpPr>
          <p:spPr bwMode="auto">
            <a:xfrm>
              <a:off x="5043" y="998"/>
              <a:ext cx="1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000"/>
                <a:t>–</a:t>
              </a:r>
            </a:p>
          </p:txBody>
        </p:sp>
        <p:sp>
          <p:nvSpPr>
            <p:cNvPr id="353307" name="Text Box 27"/>
            <p:cNvSpPr txBox="1">
              <a:spLocks noChangeArrowheads="1"/>
            </p:cNvSpPr>
            <p:nvPr/>
          </p:nvSpPr>
          <p:spPr bwMode="auto">
            <a:xfrm>
              <a:off x="4316" y="188"/>
              <a:ext cx="2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solidFill>
                    <a:srgbClr val="0000FF"/>
                  </a:solidFill>
                  <a:ea typeface="楷体_GB2312" pitchFamily="49" charset="-122"/>
                </a:rPr>
                <a:t>A</a:t>
              </a:r>
            </a:p>
          </p:txBody>
        </p:sp>
        <p:sp>
          <p:nvSpPr>
            <p:cNvPr id="353308" name="Text Box 28"/>
            <p:cNvSpPr txBox="1">
              <a:spLocks noChangeArrowheads="1"/>
            </p:cNvSpPr>
            <p:nvPr/>
          </p:nvSpPr>
          <p:spPr bwMode="auto">
            <a:xfrm>
              <a:off x="4944" y="1444"/>
              <a:ext cx="2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>
                  <a:solidFill>
                    <a:srgbClr val="0000FF"/>
                  </a:solidFill>
                  <a:ea typeface="楷体_GB2312" pitchFamily="49" charset="-122"/>
                </a:rPr>
                <a:t>C</a:t>
              </a:r>
            </a:p>
          </p:txBody>
        </p:sp>
        <p:sp>
          <p:nvSpPr>
            <p:cNvPr id="353309" name="Text Box 29"/>
            <p:cNvSpPr txBox="1">
              <a:spLocks noChangeArrowheads="1"/>
            </p:cNvSpPr>
            <p:nvPr/>
          </p:nvSpPr>
          <p:spPr bwMode="auto">
            <a:xfrm>
              <a:off x="4312" y="1579"/>
              <a:ext cx="2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solidFill>
                    <a:srgbClr val="0000FF"/>
                  </a:solidFill>
                  <a:ea typeface="楷体_GB2312" pitchFamily="49" charset="-122"/>
                </a:rPr>
                <a:t>B</a:t>
              </a:r>
            </a:p>
          </p:txBody>
        </p:sp>
      </p:grpSp>
      <p:grpSp>
        <p:nvGrpSpPr>
          <p:cNvPr id="353310" name="Group 30"/>
          <p:cNvGrpSpPr>
            <a:grpSpLocks/>
          </p:cNvGrpSpPr>
          <p:nvPr/>
        </p:nvGrpSpPr>
        <p:grpSpPr bwMode="auto">
          <a:xfrm>
            <a:off x="3333750" y="3060701"/>
            <a:ext cx="2909888" cy="2689225"/>
            <a:chOff x="1800" y="2451"/>
            <a:chExt cx="1833" cy="1694"/>
          </a:xfrm>
        </p:grpSpPr>
        <p:sp>
          <p:nvSpPr>
            <p:cNvPr id="353311" name="Oval 31"/>
            <p:cNvSpPr>
              <a:spLocks noChangeArrowheads="1"/>
            </p:cNvSpPr>
            <p:nvPr/>
          </p:nvSpPr>
          <p:spPr bwMode="auto">
            <a:xfrm>
              <a:off x="2998" y="3156"/>
              <a:ext cx="288" cy="2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53312" name="AutoShape 32"/>
            <p:cNvCxnSpPr>
              <a:cxnSpLocks noChangeShapeType="1"/>
            </p:cNvCxnSpPr>
            <p:nvPr/>
          </p:nvCxnSpPr>
          <p:spPr bwMode="auto">
            <a:xfrm>
              <a:off x="3142" y="3147"/>
              <a:ext cx="0" cy="30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3313" name="Text Box 33"/>
            <p:cNvSpPr txBox="1">
              <a:spLocks noChangeArrowheads="1"/>
            </p:cNvSpPr>
            <p:nvPr/>
          </p:nvSpPr>
          <p:spPr bwMode="auto">
            <a:xfrm>
              <a:off x="3132" y="2916"/>
              <a:ext cx="1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/>
                <a:t>+</a:t>
              </a:r>
            </a:p>
          </p:txBody>
        </p:sp>
        <p:sp>
          <p:nvSpPr>
            <p:cNvPr id="353314" name="Text Box 34"/>
            <p:cNvSpPr txBox="1">
              <a:spLocks noChangeArrowheads="1"/>
            </p:cNvSpPr>
            <p:nvPr/>
          </p:nvSpPr>
          <p:spPr bwMode="auto">
            <a:xfrm>
              <a:off x="3142" y="334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/>
                <a:t>–</a:t>
              </a:r>
            </a:p>
          </p:txBody>
        </p:sp>
        <p:sp>
          <p:nvSpPr>
            <p:cNvPr id="353315" name="Text Box 35"/>
            <p:cNvSpPr txBox="1">
              <a:spLocks noChangeArrowheads="1"/>
            </p:cNvSpPr>
            <p:nvPr/>
          </p:nvSpPr>
          <p:spPr bwMode="auto">
            <a:xfrm>
              <a:off x="3287" y="3127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 err="1"/>
                <a:t>v</a:t>
              </a:r>
              <a:r>
                <a:rPr lang="en-US" altLang="zh-CN" sz="2000" i="1" baseline="-25000" dirty="0" err="1"/>
                <a:t>k</a:t>
              </a:r>
              <a:endParaRPr lang="en-US" altLang="zh-CN" sz="2000" dirty="0"/>
            </a:p>
          </p:txBody>
        </p:sp>
        <p:sp>
          <p:nvSpPr>
            <p:cNvPr id="353316" name="Rectangle 36"/>
            <p:cNvSpPr>
              <a:spLocks noChangeArrowheads="1"/>
            </p:cNvSpPr>
            <p:nvPr/>
          </p:nvSpPr>
          <p:spPr bwMode="auto">
            <a:xfrm>
              <a:off x="1800" y="2648"/>
              <a:ext cx="432" cy="13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3317" name="Text Box 37"/>
            <p:cNvSpPr txBox="1">
              <a:spLocks noChangeArrowheads="1"/>
            </p:cNvSpPr>
            <p:nvPr/>
          </p:nvSpPr>
          <p:spPr bwMode="auto">
            <a:xfrm>
              <a:off x="1892" y="3135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/>
                <a:t>A</a:t>
              </a:r>
            </a:p>
          </p:txBody>
        </p:sp>
        <p:sp>
          <p:nvSpPr>
            <p:cNvPr id="353318" name="Text Box 38"/>
            <p:cNvSpPr txBox="1">
              <a:spLocks noChangeArrowheads="1"/>
            </p:cNvSpPr>
            <p:nvPr/>
          </p:nvSpPr>
          <p:spPr bwMode="auto">
            <a:xfrm>
              <a:off x="2751" y="2451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 err="1"/>
                <a:t>i</a:t>
              </a:r>
              <a:r>
                <a:rPr lang="en-US" altLang="zh-CN" sz="2000" i="1" baseline="-25000" dirty="0" err="1"/>
                <a:t>k</a:t>
              </a:r>
              <a:endParaRPr lang="en-US" altLang="zh-CN" sz="2000" dirty="0"/>
            </a:p>
          </p:txBody>
        </p:sp>
        <p:sp>
          <p:nvSpPr>
            <p:cNvPr id="353319" name="Text Box 39"/>
            <p:cNvSpPr txBox="1">
              <a:spLocks noChangeArrowheads="1"/>
            </p:cNvSpPr>
            <p:nvPr/>
          </p:nvSpPr>
          <p:spPr bwMode="auto">
            <a:xfrm>
              <a:off x="2520" y="275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/>
                <a:t>+</a:t>
              </a:r>
            </a:p>
          </p:txBody>
        </p:sp>
        <p:sp>
          <p:nvSpPr>
            <p:cNvPr id="353320" name="Text Box 40"/>
            <p:cNvSpPr txBox="1">
              <a:spLocks noChangeArrowheads="1"/>
            </p:cNvSpPr>
            <p:nvPr/>
          </p:nvSpPr>
          <p:spPr bwMode="auto">
            <a:xfrm>
              <a:off x="2520" y="362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/>
                <a:t>–</a:t>
              </a:r>
            </a:p>
          </p:txBody>
        </p:sp>
        <p:sp>
          <p:nvSpPr>
            <p:cNvPr id="353321" name="Text Box 41"/>
            <p:cNvSpPr txBox="1">
              <a:spLocks noChangeArrowheads="1"/>
            </p:cNvSpPr>
            <p:nvPr/>
          </p:nvSpPr>
          <p:spPr bwMode="auto">
            <a:xfrm>
              <a:off x="2534" y="3182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 err="1"/>
                <a:t>v</a:t>
              </a:r>
              <a:r>
                <a:rPr lang="en-US" altLang="zh-CN" sz="2000" i="1" baseline="-25000" dirty="0" err="1"/>
                <a:t>k</a:t>
              </a:r>
              <a:endParaRPr lang="en-US" altLang="zh-CN" sz="2000" dirty="0"/>
            </a:p>
          </p:txBody>
        </p:sp>
        <p:sp>
          <p:nvSpPr>
            <p:cNvPr id="353322" name="Line 42"/>
            <p:cNvSpPr>
              <a:spLocks noChangeShapeType="1"/>
            </p:cNvSpPr>
            <p:nvPr/>
          </p:nvSpPr>
          <p:spPr bwMode="auto">
            <a:xfrm>
              <a:off x="2232" y="2744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23" name="Line 43"/>
            <p:cNvSpPr>
              <a:spLocks noChangeShapeType="1"/>
            </p:cNvSpPr>
            <p:nvPr/>
          </p:nvSpPr>
          <p:spPr bwMode="auto">
            <a:xfrm>
              <a:off x="3144" y="2744"/>
              <a:ext cx="0" cy="4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24" name="Line 44"/>
            <p:cNvSpPr>
              <a:spLocks noChangeShapeType="1"/>
            </p:cNvSpPr>
            <p:nvPr/>
          </p:nvSpPr>
          <p:spPr bwMode="auto">
            <a:xfrm>
              <a:off x="2232" y="3896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25" name="Line 45"/>
            <p:cNvSpPr>
              <a:spLocks noChangeShapeType="1"/>
            </p:cNvSpPr>
            <p:nvPr/>
          </p:nvSpPr>
          <p:spPr bwMode="auto">
            <a:xfrm flipV="1">
              <a:off x="3144" y="3368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26" name="Line 46"/>
            <p:cNvSpPr>
              <a:spLocks noChangeShapeType="1"/>
            </p:cNvSpPr>
            <p:nvPr/>
          </p:nvSpPr>
          <p:spPr bwMode="auto">
            <a:xfrm>
              <a:off x="2760" y="2747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27" name="Oval 47"/>
            <p:cNvSpPr>
              <a:spLocks noChangeArrowheads="1"/>
            </p:cNvSpPr>
            <p:nvPr/>
          </p:nvSpPr>
          <p:spPr bwMode="auto">
            <a:xfrm>
              <a:off x="2616" y="2723"/>
              <a:ext cx="48" cy="4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28" name="Oval 48"/>
            <p:cNvSpPr>
              <a:spLocks noChangeArrowheads="1"/>
            </p:cNvSpPr>
            <p:nvPr/>
          </p:nvSpPr>
          <p:spPr bwMode="auto">
            <a:xfrm>
              <a:off x="2616" y="3875"/>
              <a:ext cx="48" cy="4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29" name="Text Box 49"/>
            <p:cNvSpPr txBox="1">
              <a:spLocks noChangeArrowheads="1"/>
            </p:cNvSpPr>
            <p:nvPr/>
          </p:nvSpPr>
          <p:spPr bwMode="auto">
            <a:xfrm>
              <a:off x="2523" y="2485"/>
              <a:ext cx="2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solidFill>
                    <a:srgbClr val="0000FF"/>
                  </a:solidFill>
                  <a:ea typeface="楷体_GB2312" pitchFamily="49" charset="-122"/>
                </a:rPr>
                <a:t>A</a:t>
              </a:r>
            </a:p>
          </p:txBody>
        </p:sp>
        <p:sp>
          <p:nvSpPr>
            <p:cNvPr id="353330" name="Text Box 50"/>
            <p:cNvSpPr txBox="1">
              <a:spLocks noChangeArrowheads="1"/>
            </p:cNvSpPr>
            <p:nvPr/>
          </p:nvSpPr>
          <p:spPr bwMode="auto">
            <a:xfrm>
              <a:off x="2530" y="3895"/>
              <a:ext cx="2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dirty="0">
                  <a:solidFill>
                    <a:srgbClr val="0000FF"/>
                  </a:solidFill>
                  <a:ea typeface="楷体_GB2312" pitchFamily="49" charset="-122"/>
                </a:rPr>
                <a:t>B</a:t>
              </a:r>
            </a:p>
          </p:txBody>
        </p:sp>
      </p:grpSp>
      <p:grpSp>
        <p:nvGrpSpPr>
          <p:cNvPr id="353331" name="Group 51"/>
          <p:cNvGrpSpPr>
            <a:grpSpLocks/>
          </p:cNvGrpSpPr>
          <p:nvPr/>
        </p:nvGrpSpPr>
        <p:grpSpPr bwMode="auto">
          <a:xfrm>
            <a:off x="1733550" y="566737"/>
            <a:ext cx="3676650" cy="2667000"/>
            <a:chOff x="1092" y="162"/>
            <a:chExt cx="2316" cy="1680"/>
          </a:xfrm>
        </p:grpSpPr>
        <p:grpSp>
          <p:nvGrpSpPr>
            <p:cNvPr id="353332" name="Group 52"/>
            <p:cNvGrpSpPr>
              <a:grpSpLocks/>
            </p:cNvGrpSpPr>
            <p:nvPr/>
          </p:nvGrpSpPr>
          <p:grpSpPr bwMode="auto">
            <a:xfrm>
              <a:off x="1092" y="162"/>
              <a:ext cx="1476" cy="1680"/>
              <a:chOff x="816" y="777"/>
              <a:chExt cx="1476" cy="1680"/>
            </a:xfrm>
          </p:grpSpPr>
          <p:sp>
            <p:nvSpPr>
              <p:cNvPr id="353333" name="Rectangle 53"/>
              <p:cNvSpPr>
                <a:spLocks noChangeArrowheads="1"/>
              </p:cNvSpPr>
              <p:nvPr/>
            </p:nvSpPr>
            <p:spPr bwMode="auto">
              <a:xfrm>
                <a:off x="816" y="960"/>
                <a:ext cx="432" cy="13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3334" name="Text Box 54"/>
              <p:cNvSpPr txBox="1">
                <a:spLocks noChangeArrowheads="1"/>
              </p:cNvSpPr>
              <p:nvPr/>
            </p:nvSpPr>
            <p:spPr bwMode="auto">
              <a:xfrm>
                <a:off x="905" y="1449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dirty="0"/>
                  <a:t>A</a:t>
                </a:r>
              </a:p>
            </p:txBody>
          </p:sp>
          <p:sp>
            <p:nvSpPr>
              <p:cNvPr id="353335" name="Text Box 55"/>
              <p:cNvSpPr txBox="1">
                <a:spLocks noChangeArrowheads="1"/>
              </p:cNvSpPr>
              <p:nvPr/>
            </p:nvSpPr>
            <p:spPr bwMode="auto">
              <a:xfrm>
                <a:off x="1824" y="777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i="1" dirty="0" err="1"/>
                  <a:t>i</a:t>
                </a:r>
                <a:r>
                  <a:rPr lang="en-US" altLang="zh-CN" sz="2000" i="1" baseline="-25000" dirty="0" err="1"/>
                  <a:t>k</a:t>
                </a:r>
                <a:endParaRPr lang="en-US" altLang="zh-CN" sz="2000" dirty="0"/>
              </a:p>
            </p:txBody>
          </p:sp>
          <p:grpSp>
            <p:nvGrpSpPr>
              <p:cNvPr id="353336" name="Group 56"/>
              <p:cNvGrpSpPr>
                <a:grpSpLocks/>
              </p:cNvGrpSpPr>
              <p:nvPr/>
            </p:nvGrpSpPr>
            <p:grpSpPr bwMode="auto">
              <a:xfrm>
                <a:off x="1536" y="1152"/>
                <a:ext cx="346" cy="874"/>
                <a:chOff x="1296" y="1152"/>
                <a:chExt cx="346" cy="874"/>
              </a:xfrm>
            </p:grpSpPr>
            <p:sp>
              <p:nvSpPr>
                <p:cNvPr id="353337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1296" y="115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353338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1296" y="1776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000"/>
                    <a:t>–</a:t>
                  </a:r>
                </a:p>
              </p:txBody>
            </p:sp>
            <p:sp>
              <p:nvSpPr>
                <p:cNvPr id="353339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296" y="1440"/>
                  <a:ext cx="34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000" i="1"/>
                    <a:t>v</a:t>
                  </a:r>
                  <a:r>
                    <a:rPr lang="en-US" altLang="zh-CN" sz="2000" i="1" baseline="-25000"/>
                    <a:t>k</a:t>
                  </a:r>
                  <a:endParaRPr lang="en-US" altLang="zh-CN" sz="2000"/>
                </a:p>
              </p:txBody>
            </p:sp>
          </p:grpSp>
          <p:sp>
            <p:nvSpPr>
              <p:cNvPr id="353340" name="Line 60"/>
              <p:cNvSpPr>
                <a:spLocks noChangeShapeType="1"/>
              </p:cNvSpPr>
              <p:nvPr/>
            </p:nvSpPr>
            <p:spPr bwMode="auto">
              <a:xfrm>
                <a:off x="1248" y="1056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3341" name="Line 61"/>
              <p:cNvSpPr>
                <a:spLocks noChangeShapeType="1"/>
              </p:cNvSpPr>
              <p:nvPr/>
            </p:nvSpPr>
            <p:spPr bwMode="auto">
              <a:xfrm>
                <a:off x="2160" y="1056"/>
                <a:ext cx="0" cy="2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3342" name="Line 62"/>
              <p:cNvSpPr>
                <a:spLocks noChangeShapeType="1"/>
              </p:cNvSpPr>
              <p:nvPr/>
            </p:nvSpPr>
            <p:spPr bwMode="auto">
              <a:xfrm>
                <a:off x="1248" y="2208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3343" name="Line 63"/>
              <p:cNvSpPr>
                <a:spLocks noChangeShapeType="1"/>
              </p:cNvSpPr>
              <p:nvPr/>
            </p:nvSpPr>
            <p:spPr bwMode="auto">
              <a:xfrm flipV="1">
                <a:off x="2160" y="1680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3344" name="Line 64"/>
              <p:cNvSpPr>
                <a:spLocks noChangeShapeType="1"/>
              </p:cNvSpPr>
              <p:nvPr/>
            </p:nvSpPr>
            <p:spPr bwMode="auto">
              <a:xfrm>
                <a:off x="1776" y="1059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3345" name="Text Box 65"/>
              <p:cNvSpPr txBox="1">
                <a:spLocks noChangeArrowheads="1"/>
              </p:cNvSpPr>
              <p:nvPr/>
            </p:nvSpPr>
            <p:spPr bwMode="auto">
              <a:xfrm>
                <a:off x="1999" y="1319"/>
                <a:ext cx="293" cy="538"/>
              </a:xfrm>
              <a:prstGeom prst="rect">
                <a:avLst/>
              </a:prstGeom>
              <a:solidFill>
                <a:srgbClr val="CCFFCC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zh-CN" altLang="en-US" sz="2000"/>
                  <a:t>支</a:t>
                </a:r>
              </a:p>
              <a:p>
                <a:pPr>
                  <a:lnSpc>
                    <a:spcPct val="80000"/>
                  </a:lnSpc>
                </a:pPr>
                <a:r>
                  <a:rPr lang="zh-CN" altLang="en-US" sz="2000"/>
                  <a:t>路</a:t>
                </a:r>
              </a:p>
              <a:p>
                <a:pPr>
                  <a:lnSpc>
                    <a:spcPct val="80000"/>
                  </a:lnSpc>
                </a:pPr>
                <a:r>
                  <a:rPr lang="zh-CN" altLang="en-US" sz="2000"/>
                  <a:t> </a:t>
                </a:r>
                <a:r>
                  <a:rPr lang="en-US" altLang="zh-CN" sz="2000" i="1"/>
                  <a:t>k</a:t>
                </a:r>
              </a:p>
            </p:txBody>
          </p:sp>
          <p:sp>
            <p:nvSpPr>
              <p:cNvPr id="353346" name="Oval 66"/>
              <p:cNvSpPr>
                <a:spLocks noChangeArrowheads="1"/>
              </p:cNvSpPr>
              <p:nvPr/>
            </p:nvSpPr>
            <p:spPr bwMode="auto">
              <a:xfrm>
                <a:off x="1632" y="1040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3347" name="Oval 67"/>
              <p:cNvSpPr>
                <a:spLocks noChangeArrowheads="1"/>
              </p:cNvSpPr>
              <p:nvPr/>
            </p:nvSpPr>
            <p:spPr bwMode="auto">
              <a:xfrm>
                <a:off x="1632" y="2192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3348" name="Text Box 68"/>
              <p:cNvSpPr txBox="1">
                <a:spLocks noChangeArrowheads="1"/>
              </p:cNvSpPr>
              <p:nvPr/>
            </p:nvSpPr>
            <p:spPr bwMode="auto">
              <a:xfrm>
                <a:off x="1546" y="801"/>
                <a:ext cx="23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dirty="0">
                    <a:solidFill>
                      <a:srgbClr val="0000FF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353349" name="Text Box 69"/>
              <p:cNvSpPr txBox="1">
                <a:spLocks noChangeArrowheads="1"/>
              </p:cNvSpPr>
              <p:nvPr/>
            </p:nvSpPr>
            <p:spPr bwMode="auto">
              <a:xfrm>
                <a:off x="1546" y="2207"/>
                <a:ext cx="22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dirty="0">
                    <a:solidFill>
                      <a:srgbClr val="0000FF"/>
                    </a:solidFill>
                    <a:ea typeface="楷体_GB2312" pitchFamily="49" charset="-122"/>
                  </a:rPr>
                  <a:t>B</a:t>
                </a:r>
              </a:p>
            </p:txBody>
          </p:sp>
        </p:grpSp>
        <p:sp>
          <p:nvSpPr>
            <p:cNvPr id="353350" name="AutoShape 70"/>
            <p:cNvSpPr>
              <a:spLocks noChangeArrowheads="1"/>
            </p:cNvSpPr>
            <p:nvPr/>
          </p:nvSpPr>
          <p:spPr bwMode="auto">
            <a:xfrm>
              <a:off x="2783" y="979"/>
              <a:ext cx="625" cy="134"/>
            </a:xfrm>
            <a:prstGeom prst="rightArrow">
              <a:avLst>
                <a:gd name="adj1" fmla="val 50000"/>
                <a:gd name="adj2" fmla="val 116604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3351" name="Group 71"/>
          <p:cNvGrpSpPr>
            <a:grpSpLocks/>
          </p:cNvGrpSpPr>
          <p:nvPr/>
        </p:nvGrpSpPr>
        <p:grpSpPr bwMode="auto">
          <a:xfrm>
            <a:off x="6183313" y="1009650"/>
            <a:ext cx="2614612" cy="3127375"/>
            <a:chOff x="3895" y="432"/>
            <a:chExt cx="1647" cy="1970"/>
          </a:xfrm>
        </p:grpSpPr>
        <p:sp>
          <p:nvSpPr>
            <p:cNvPr id="353352" name="Text Box 72"/>
            <p:cNvSpPr txBox="1">
              <a:spLocks noChangeArrowheads="1"/>
            </p:cNvSpPr>
            <p:nvPr/>
          </p:nvSpPr>
          <p:spPr bwMode="auto">
            <a:xfrm>
              <a:off x="4716" y="2096"/>
              <a:ext cx="8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>
                  <a:solidFill>
                    <a:srgbClr val="6600FF"/>
                  </a:solidFill>
                  <a:ea typeface="楷体_GB2312" pitchFamily="49" charset="-122"/>
                </a:rPr>
                <a:t>AC</a:t>
              </a:r>
              <a:r>
                <a:rPr kumimoji="0" lang="zh-CN" altLang="zh-CN" sz="2000">
                  <a:solidFill>
                    <a:srgbClr val="6600FF"/>
                  </a:solidFill>
                  <a:ea typeface="楷体_GB2312" pitchFamily="49" charset="-122"/>
                </a:rPr>
                <a:t>等电位</a:t>
              </a:r>
              <a:endParaRPr kumimoji="0" lang="zh-CN" altLang="en-US" sz="200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353353" name="Freeform 73"/>
            <p:cNvSpPr>
              <a:spLocks/>
            </p:cNvSpPr>
            <p:nvPr/>
          </p:nvSpPr>
          <p:spPr bwMode="auto">
            <a:xfrm>
              <a:off x="4320" y="432"/>
              <a:ext cx="617" cy="1120"/>
            </a:xfrm>
            <a:custGeom>
              <a:avLst/>
              <a:gdLst>
                <a:gd name="T0" fmla="*/ 105 w 617"/>
                <a:gd name="T1" fmla="*/ 0 h 1120"/>
                <a:gd name="T2" fmla="*/ 25 w 617"/>
                <a:gd name="T3" fmla="*/ 384 h 1120"/>
                <a:gd name="T4" fmla="*/ 257 w 617"/>
                <a:gd name="T5" fmla="*/ 688 h 1120"/>
                <a:gd name="T6" fmla="*/ 417 w 617"/>
                <a:gd name="T7" fmla="*/ 848 h 1120"/>
                <a:gd name="T8" fmla="*/ 617 w 617"/>
                <a:gd name="T9" fmla="*/ 1120 h 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7" h="1120">
                  <a:moveTo>
                    <a:pt x="105" y="0"/>
                  </a:moveTo>
                  <a:cubicBezTo>
                    <a:pt x="92" y="64"/>
                    <a:pt x="0" y="270"/>
                    <a:pt x="25" y="384"/>
                  </a:cubicBezTo>
                  <a:cubicBezTo>
                    <a:pt x="50" y="498"/>
                    <a:pt x="192" y="611"/>
                    <a:pt x="257" y="688"/>
                  </a:cubicBezTo>
                  <a:cubicBezTo>
                    <a:pt x="322" y="765"/>
                    <a:pt x="357" y="776"/>
                    <a:pt x="417" y="848"/>
                  </a:cubicBezTo>
                  <a:cubicBezTo>
                    <a:pt x="477" y="920"/>
                    <a:pt x="575" y="1063"/>
                    <a:pt x="617" y="1120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3354" name="AutoShape 74"/>
            <p:cNvSpPr>
              <a:spLocks noChangeArrowheads="1"/>
            </p:cNvSpPr>
            <p:nvPr/>
          </p:nvSpPr>
          <p:spPr bwMode="auto">
            <a:xfrm rot="7812809">
              <a:off x="3684" y="1988"/>
              <a:ext cx="625" cy="204"/>
            </a:xfrm>
            <a:prstGeom prst="rightArrow">
              <a:avLst>
                <a:gd name="adj1" fmla="val 50000"/>
                <a:gd name="adj2" fmla="val 76593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3355" name="Text Box 75"/>
          <p:cNvSpPr txBox="1">
            <a:spLocks noChangeArrowheads="1"/>
          </p:cNvSpPr>
          <p:nvPr/>
        </p:nvSpPr>
        <p:spPr bwMode="auto">
          <a:xfrm>
            <a:off x="666749" y="5991225"/>
            <a:ext cx="813117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 smtClean="0">
                <a:solidFill>
                  <a:srgbClr val="FF0000"/>
                </a:solidFill>
              </a:rPr>
              <a:t>第 </a:t>
            </a:r>
            <a:r>
              <a:rPr lang="en-US" altLang="zh-CN" i="1" dirty="0" smtClean="0">
                <a:solidFill>
                  <a:srgbClr val="FF0000"/>
                </a:solidFill>
              </a:rPr>
              <a:t>k </a:t>
            </a:r>
            <a:r>
              <a:rPr lang="zh-CN" altLang="en-US" dirty="0" smtClean="0">
                <a:solidFill>
                  <a:srgbClr val="FF0000"/>
                </a:solidFill>
              </a:rPr>
              <a:t>条</a:t>
            </a:r>
            <a:r>
              <a:rPr lang="zh-CN" altLang="en-US" dirty="0">
                <a:solidFill>
                  <a:srgbClr val="FF0000"/>
                </a:solidFill>
              </a:rPr>
              <a:t>支路也</a:t>
            </a:r>
            <a:r>
              <a:rPr lang="zh-CN" altLang="en-US" dirty="0" smtClean="0">
                <a:solidFill>
                  <a:srgbClr val="FF0000"/>
                </a:solidFill>
              </a:rPr>
              <a:t>可用电流源 </a:t>
            </a:r>
            <a:r>
              <a:rPr lang="en-US" altLang="zh-CN" i="1" dirty="0" err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CN" i="1" baseline="-25000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或电阻 </a:t>
            </a:r>
            <a:r>
              <a:rPr lang="en-US" altLang="zh-CN" i="1" dirty="0" err="1" smtClean="0">
                <a:solidFill>
                  <a:srgbClr val="FF0000"/>
                </a:solidFill>
              </a:rPr>
              <a:t>v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/ </a:t>
            </a:r>
            <a:r>
              <a:rPr lang="en-US" altLang="zh-CN" i="1" dirty="0" err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CN" i="1" baseline="-25000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替代</a:t>
            </a:r>
            <a:r>
              <a:rPr lang="zh-CN" altLang="en-US" dirty="0">
                <a:solidFill>
                  <a:srgbClr val="FF0000"/>
                </a:solidFill>
              </a:rPr>
              <a:t>？？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3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3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5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35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Text Box 2"/>
          <p:cNvSpPr txBox="1">
            <a:spLocks noChangeArrowheads="1"/>
          </p:cNvSpPr>
          <p:nvPr/>
        </p:nvSpPr>
        <p:spPr bwMode="auto">
          <a:xfrm>
            <a:off x="590550" y="66675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注意</a:t>
            </a:r>
            <a:endParaRPr lang="zh-CN" altLang="en-US" sz="2800"/>
          </a:p>
        </p:txBody>
      </p:sp>
      <p:sp>
        <p:nvSpPr>
          <p:cNvPr id="384003" name="Text Box 3"/>
          <p:cNvSpPr txBox="1">
            <a:spLocks noChangeArrowheads="1"/>
          </p:cNvSpPr>
          <p:nvPr/>
        </p:nvSpPr>
        <p:spPr bwMode="auto">
          <a:xfrm>
            <a:off x="857250" y="1466850"/>
            <a:ext cx="7772400" cy="459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dirty="0"/>
              <a:t>替代定理适用于线性、非线性电路、定常和时变电路。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kumimoji="0" lang="zh-CN" altLang="en-US" dirty="0"/>
              <a:t> </a:t>
            </a:r>
            <a:r>
              <a:rPr lang="zh-CN" altLang="en-US" dirty="0"/>
              <a:t>替代定理的应用必须满足的条件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a. </a:t>
            </a:r>
            <a:r>
              <a:rPr lang="zh-CN" altLang="en-US" dirty="0"/>
              <a:t>原电路和替代后的电路必须有唯一解。</a:t>
            </a:r>
            <a:br>
              <a:rPr lang="zh-CN" altLang="en-US" dirty="0"/>
            </a:br>
            <a:r>
              <a:rPr lang="en-US" altLang="zh-CN" dirty="0"/>
              <a:t>b. </a:t>
            </a:r>
            <a:r>
              <a:rPr lang="zh-CN" altLang="en-US" dirty="0"/>
              <a:t>被替代的支路和电路其它部分应无耦合关系。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dirty="0"/>
              <a:t>被替代的支路或二端网络可以是有源的，也可以是无源的。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dirty="0"/>
              <a:t>受控源的控制支路和受控支路不能一个在被替换的局部二端网络中，而另一个在外电路中。换句话说，受控源的控制量不能因替代而从电路中消失。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8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84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9" name="Text Box 3"/>
          <p:cNvSpPr txBox="1">
            <a:spLocks noChangeArrowheads="1"/>
          </p:cNvSpPr>
          <p:nvPr/>
        </p:nvSpPr>
        <p:spPr bwMode="auto">
          <a:xfrm>
            <a:off x="685800" y="2043215"/>
            <a:ext cx="74183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620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52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/>
              <a:t>任何一个含有独立电源、线性电阻和线性受控源</a:t>
            </a:r>
            <a:r>
              <a:rPr lang="zh-CN" altLang="en-US" dirty="0" smtClean="0"/>
              <a:t>的</a:t>
            </a:r>
            <a:r>
              <a:rPr lang="zh-CN" altLang="en-US" dirty="0"/>
              <a:t>二</a:t>
            </a:r>
            <a:r>
              <a:rPr lang="zh-CN" altLang="en-US" dirty="0" smtClean="0"/>
              <a:t>端口</a:t>
            </a:r>
            <a:r>
              <a:rPr lang="zh-CN" altLang="en-US" dirty="0"/>
              <a:t>网络，对外电路来说，可以用一个</a:t>
            </a:r>
            <a:r>
              <a:rPr lang="zh-CN" altLang="en-US" dirty="0" smtClean="0"/>
              <a:t>独立电压源 </a:t>
            </a:r>
            <a:r>
              <a:rPr lang="en-US" altLang="zh-CN" i="1" dirty="0" err="1" smtClean="0"/>
              <a:t>v</a:t>
            </a:r>
            <a:r>
              <a:rPr lang="en-US" altLang="zh-CN" i="1" baseline="-25000" dirty="0" err="1" smtClean="0"/>
              <a:t>Th</a:t>
            </a:r>
            <a:r>
              <a:rPr lang="en-US" altLang="zh-CN" i="1" baseline="-25000" dirty="0" smtClean="0"/>
              <a:t> </a:t>
            </a:r>
            <a:r>
              <a:rPr lang="zh-CN" altLang="en-US" dirty="0" smtClean="0"/>
              <a:t>和电阻 </a:t>
            </a:r>
            <a:r>
              <a:rPr lang="en-US" altLang="zh-CN" i="1" dirty="0" err="1" smtClean="0"/>
              <a:t>R</a:t>
            </a:r>
            <a:r>
              <a:rPr lang="en-US" altLang="zh-CN" i="1" baseline="-25000" dirty="0" err="1" smtClean="0"/>
              <a:t>Th</a:t>
            </a:r>
            <a:r>
              <a:rPr lang="en-US" altLang="zh-CN" i="1" baseline="-25000" dirty="0" smtClean="0"/>
              <a:t> </a:t>
            </a:r>
            <a:r>
              <a:rPr lang="zh-CN" altLang="en-US" dirty="0" smtClean="0"/>
              <a:t>的</a:t>
            </a:r>
            <a:r>
              <a:rPr lang="zh-CN" altLang="en-US" dirty="0"/>
              <a:t>串联组合来等效替代；其</a:t>
            </a:r>
            <a:r>
              <a:rPr lang="zh-CN" altLang="en-US" dirty="0" smtClean="0"/>
              <a:t>中电压</a:t>
            </a:r>
            <a:r>
              <a:rPr lang="en-US" altLang="zh-CN" i="1" dirty="0" err="1" smtClean="0"/>
              <a:t>v</a:t>
            </a:r>
            <a:r>
              <a:rPr lang="en-US" altLang="zh-CN" i="1" baseline="-25000" dirty="0" err="1" smtClean="0"/>
              <a:t>Th</a:t>
            </a:r>
            <a:r>
              <a:rPr lang="en-US" altLang="zh-CN" i="1" baseline="-25000" dirty="0" smtClean="0"/>
              <a:t> </a:t>
            </a:r>
            <a:r>
              <a:rPr lang="zh-CN" altLang="en-US" dirty="0" smtClean="0"/>
              <a:t>等于</a:t>
            </a:r>
            <a:r>
              <a:rPr lang="zh-CN" altLang="en-US" dirty="0"/>
              <a:t>端口开路电压，</a:t>
            </a:r>
            <a:r>
              <a:rPr lang="zh-CN" altLang="en-US" dirty="0" smtClean="0"/>
              <a:t>电阻 </a:t>
            </a:r>
            <a:r>
              <a:rPr lang="en-US" altLang="zh-CN" i="1" dirty="0" err="1" smtClean="0"/>
              <a:t>R</a:t>
            </a:r>
            <a:r>
              <a:rPr lang="en-US" altLang="zh-CN" i="1" baseline="-25000" dirty="0" err="1" smtClean="0"/>
              <a:t>Th</a:t>
            </a:r>
            <a:r>
              <a:rPr lang="en-US" altLang="zh-CN" i="1" baseline="-25000" dirty="0" smtClean="0"/>
              <a:t> </a:t>
            </a:r>
            <a:r>
              <a:rPr lang="zh-CN" altLang="en-US" dirty="0" smtClean="0"/>
              <a:t>等于</a:t>
            </a:r>
            <a:r>
              <a:rPr lang="zh-CN" altLang="en-US" dirty="0"/>
              <a:t>端口中所有独立电源置零后端口的入端等效电阻。</a:t>
            </a:r>
          </a:p>
        </p:txBody>
      </p:sp>
      <p:sp>
        <p:nvSpPr>
          <p:cNvPr id="362527" name="Text Box 31"/>
          <p:cNvSpPr txBox="1">
            <a:spLocks noChangeArrowheads="1"/>
          </p:cNvSpPr>
          <p:nvPr/>
        </p:nvSpPr>
        <p:spPr bwMode="auto">
          <a:xfrm>
            <a:off x="584200" y="1374095"/>
            <a:ext cx="2792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dirty="0" smtClean="0">
                <a:solidFill>
                  <a:srgbClr val="990033"/>
                </a:solidFill>
              </a:rPr>
              <a:t>一、</a:t>
            </a:r>
            <a:r>
              <a:rPr lang="en-US" altLang="zh-CN" dirty="0" smtClean="0">
                <a:solidFill>
                  <a:srgbClr val="990033"/>
                </a:solidFill>
              </a:rPr>
              <a:t> </a:t>
            </a:r>
            <a:r>
              <a:rPr lang="zh-CN" altLang="en-US" dirty="0">
                <a:solidFill>
                  <a:srgbClr val="990033"/>
                </a:solidFill>
              </a:rPr>
              <a:t>戴维南定理</a:t>
            </a: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369888" y="620248"/>
            <a:ext cx="7734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3.5.3 </a:t>
            </a:r>
            <a:r>
              <a:rPr lang="zh-CN" altLang="en-US" dirty="0" smtClean="0">
                <a:solidFill>
                  <a:srgbClr val="990033"/>
                </a:solidFill>
              </a:rPr>
              <a:t>戴维南定理</a:t>
            </a:r>
            <a:r>
              <a:rPr lang="zh-CN" altLang="en-US" dirty="0">
                <a:solidFill>
                  <a:srgbClr val="990033"/>
                </a:solidFill>
              </a:rPr>
              <a:t>和诺顿</a:t>
            </a:r>
            <a:r>
              <a:rPr lang="zh-CN" altLang="en-US" dirty="0" smtClean="0">
                <a:solidFill>
                  <a:srgbClr val="990033"/>
                </a:solidFill>
              </a:rPr>
              <a:t>定理 </a:t>
            </a:r>
            <a:r>
              <a:rPr lang="en-US" altLang="zh-CN" dirty="0" smtClean="0">
                <a:solidFill>
                  <a:schemeClr val="accent2"/>
                </a:solidFill>
              </a:rPr>
              <a:t>(</a:t>
            </a:r>
            <a:r>
              <a:rPr lang="en-US" altLang="zh-CN" dirty="0" err="1">
                <a:solidFill>
                  <a:schemeClr val="accent2"/>
                </a:solidFill>
              </a:rPr>
              <a:t>Thevenin</a:t>
            </a:r>
            <a:r>
              <a:rPr lang="en-US" altLang="zh-CN" dirty="0">
                <a:solidFill>
                  <a:schemeClr val="accent2"/>
                </a:solidFill>
              </a:rPr>
              <a:t>-Norton Theorem)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2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/>
      <p:bldP spid="3625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500" name="Group 4"/>
          <p:cNvGrpSpPr>
            <a:grpSpLocks/>
          </p:cNvGrpSpPr>
          <p:nvPr/>
        </p:nvGrpSpPr>
        <p:grpSpPr bwMode="auto">
          <a:xfrm>
            <a:off x="1555750" y="781050"/>
            <a:ext cx="5715000" cy="1828800"/>
            <a:chOff x="1296" y="2400"/>
            <a:chExt cx="3600" cy="1152"/>
          </a:xfrm>
        </p:grpSpPr>
        <p:grpSp>
          <p:nvGrpSpPr>
            <p:cNvPr id="362501" name="Group 5"/>
            <p:cNvGrpSpPr>
              <a:grpSpLocks/>
            </p:cNvGrpSpPr>
            <p:nvPr/>
          </p:nvGrpSpPr>
          <p:grpSpPr bwMode="auto">
            <a:xfrm>
              <a:off x="1296" y="2448"/>
              <a:ext cx="1370" cy="1008"/>
              <a:chOff x="768" y="2712"/>
              <a:chExt cx="1370" cy="1008"/>
            </a:xfrm>
          </p:grpSpPr>
          <p:sp>
            <p:nvSpPr>
              <p:cNvPr id="362502" name="Rectangle 6"/>
              <p:cNvSpPr>
                <a:spLocks noChangeArrowheads="1"/>
              </p:cNvSpPr>
              <p:nvPr/>
            </p:nvSpPr>
            <p:spPr bwMode="auto">
              <a:xfrm>
                <a:off x="768" y="2832"/>
                <a:ext cx="528" cy="816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03" name="Text Box 7"/>
              <p:cNvSpPr txBox="1">
                <a:spLocks noChangeArrowheads="1"/>
              </p:cNvSpPr>
              <p:nvPr/>
            </p:nvSpPr>
            <p:spPr bwMode="auto">
              <a:xfrm>
                <a:off x="894" y="3072"/>
                <a:ext cx="27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/>
                  <a:t>A</a:t>
                </a:r>
                <a:endParaRPr lang="en-US" altLang="zh-CN" dirty="0"/>
              </a:p>
            </p:txBody>
          </p:sp>
          <p:sp>
            <p:nvSpPr>
              <p:cNvPr id="362504" name="Freeform 8"/>
              <p:cNvSpPr>
                <a:spLocks/>
              </p:cNvSpPr>
              <p:nvPr/>
            </p:nvSpPr>
            <p:spPr bwMode="auto">
              <a:xfrm>
                <a:off x="1298" y="2891"/>
                <a:ext cx="528" cy="1"/>
              </a:xfrm>
              <a:custGeom>
                <a:avLst/>
                <a:gdLst>
                  <a:gd name="T0" fmla="*/ 0 w 528"/>
                  <a:gd name="T1" fmla="*/ 1 h 1"/>
                  <a:gd name="T2" fmla="*/ 528 w 52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28" h="1">
                    <a:moveTo>
                      <a:pt x="0" y="1"/>
                    </a:moveTo>
                    <a:lnTo>
                      <a:pt x="528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05" name="Freeform 9"/>
              <p:cNvSpPr>
                <a:spLocks/>
              </p:cNvSpPr>
              <p:nvPr/>
            </p:nvSpPr>
            <p:spPr bwMode="auto">
              <a:xfrm>
                <a:off x="1302" y="3588"/>
                <a:ext cx="516" cy="1"/>
              </a:xfrm>
              <a:custGeom>
                <a:avLst/>
                <a:gdLst>
                  <a:gd name="T0" fmla="*/ 0 w 516"/>
                  <a:gd name="T1" fmla="*/ 0 h 1"/>
                  <a:gd name="T2" fmla="*/ 516 w 51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16" h="1">
                    <a:moveTo>
                      <a:pt x="0" y="0"/>
                    </a:moveTo>
                    <a:lnTo>
                      <a:pt x="516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06" name="Oval 10"/>
              <p:cNvSpPr>
                <a:spLocks noChangeArrowheads="1"/>
              </p:cNvSpPr>
              <p:nvPr/>
            </p:nvSpPr>
            <p:spPr bwMode="auto">
              <a:xfrm>
                <a:off x="1824" y="2856"/>
                <a:ext cx="68" cy="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07" name="Oval 11"/>
              <p:cNvSpPr>
                <a:spLocks noChangeArrowheads="1"/>
              </p:cNvSpPr>
              <p:nvPr/>
            </p:nvSpPr>
            <p:spPr bwMode="auto">
              <a:xfrm>
                <a:off x="1824" y="3556"/>
                <a:ext cx="68" cy="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08" name="Text Box 12"/>
              <p:cNvSpPr txBox="1">
                <a:spLocks noChangeArrowheads="1"/>
              </p:cNvSpPr>
              <p:nvPr/>
            </p:nvSpPr>
            <p:spPr bwMode="auto">
              <a:xfrm>
                <a:off x="1915" y="271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362509" name="Text Box 13"/>
              <p:cNvSpPr txBox="1">
                <a:spLocks noChangeArrowheads="1"/>
              </p:cNvSpPr>
              <p:nvPr/>
            </p:nvSpPr>
            <p:spPr bwMode="auto">
              <a:xfrm>
                <a:off x="1915" y="343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b</a:t>
                </a:r>
                <a:endParaRPr lang="en-US" altLang="zh-CN"/>
              </a:p>
            </p:txBody>
          </p:sp>
        </p:grpSp>
        <p:grpSp>
          <p:nvGrpSpPr>
            <p:cNvPr id="362510" name="Group 14"/>
            <p:cNvGrpSpPr>
              <a:grpSpLocks/>
            </p:cNvGrpSpPr>
            <p:nvPr/>
          </p:nvGrpSpPr>
          <p:grpSpPr bwMode="auto">
            <a:xfrm>
              <a:off x="2880" y="2400"/>
              <a:ext cx="2016" cy="1152"/>
              <a:chOff x="2352" y="2688"/>
              <a:chExt cx="2016" cy="1152"/>
            </a:xfrm>
          </p:grpSpPr>
          <p:sp>
            <p:nvSpPr>
              <p:cNvPr id="362511" name="AutoShape 15"/>
              <p:cNvSpPr>
                <a:spLocks noChangeArrowheads="1"/>
              </p:cNvSpPr>
              <p:nvPr/>
            </p:nvSpPr>
            <p:spPr bwMode="auto">
              <a:xfrm>
                <a:off x="2352" y="3168"/>
                <a:ext cx="384" cy="19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62512" name="Group 16"/>
              <p:cNvGrpSpPr>
                <a:grpSpLocks/>
              </p:cNvGrpSpPr>
              <p:nvPr/>
            </p:nvGrpSpPr>
            <p:grpSpPr bwMode="auto">
              <a:xfrm>
                <a:off x="2976" y="2688"/>
                <a:ext cx="1392" cy="1152"/>
                <a:chOff x="2976" y="2688"/>
                <a:chExt cx="1392" cy="1152"/>
              </a:xfrm>
            </p:grpSpPr>
            <p:sp>
              <p:nvSpPr>
                <p:cNvPr id="362513" name="Line 17"/>
                <p:cNvSpPr>
                  <a:spLocks noChangeShapeType="1"/>
                </p:cNvSpPr>
                <p:nvPr/>
              </p:nvSpPr>
              <p:spPr bwMode="auto">
                <a:xfrm>
                  <a:off x="3456" y="2880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2514" name="Line 18"/>
                <p:cNvSpPr>
                  <a:spLocks noChangeShapeType="1"/>
                </p:cNvSpPr>
                <p:nvPr/>
              </p:nvSpPr>
              <p:spPr bwMode="auto">
                <a:xfrm>
                  <a:off x="3456" y="2880"/>
                  <a:ext cx="0" cy="86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2515" name="Line 19"/>
                <p:cNvSpPr>
                  <a:spLocks noChangeShapeType="1"/>
                </p:cNvSpPr>
                <p:nvPr/>
              </p:nvSpPr>
              <p:spPr bwMode="auto">
                <a:xfrm>
                  <a:off x="3456" y="3744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251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032" y="2688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rgbClr val="0000FF"/>
                      </a:solidFill>
                    </a:rPr>
                    <a:t>a</a:t>
                  </a:r>
                </a:p>
              </p:txBody>
            </p:sp>
            <p:sp>
              <p:nvSpPr>
                <p:cNvPr id="36251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032" y="3552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rgbClr val="0000FF"/>
                      </a:solidFill>
                    </a:rPr>
                    <a:t>b</a:t>
                  </a:r>
                </a:p>
              </p:txBody>
            </p:sp>
            <p:sp>
              <p:nvSpPr>
                <p:cNvPr id="362518" name="Rectangle 22"/>
                <p:cNvSpPr>
                  <a:spLocks noChangeArrowheads="1"/>
                </p:cNvSpPr>
                <p:nvPr/>
              </p:nvSpPr>
              <p:spPr bwMode="auto">
                <a:xfrm>
                  <a:off x="3408" y="2976"/>
                  <a:ext cx="96" cy="288"/>
                </a:xfrm>
                <a:prstGeom prst="rect">
                  <a:avLst/>
                </a:prstGeom>
                <a:solidFill>
                  <a:srgbClr val="66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251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976" y="2936"/>
                  <a:ext cx="400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i="1" dirty="0" err="1" smtClean="0"/>
                    <a:t>R</a:t>
                  </a:r>
                  <a:r>
                    <a:rPr lang="en-US" altLang="zh-CN" i="1" baseline="-25000" dirty="0" err="1" smtClean="0"/>
                    <a:t>Th</a:t>
                  </a:r>
                  <a:endParaRPr lang="en-US" altLang="zh-CN" i="1" dirty="0"/>
                </a:p>
              </p:txBody>
            </p:sp>
            <p:sp>
              <p:nvSpPr>
                <p:cNvPr id="362520" name="Oval 24"/>
                <p:cNvSpPr>
                  <a:spLocks noChangeArrowheads="1"/>
                </p:cNvSpPr>
                <p:nvPr/>
              </p:nvSpPr>
              <p:spPr bwMode="auto">
                <a:xfrm>
                  <a:off x="3360" y="3408"/>
                  <a:ext cx="192" cy="192"/>
                </a:xfrm>
                <a:prstGeom prst="ellipse">
                  <a:avLst/>
                </a:prstGeom>
                <a:solidFill>
                  <a:srgbClr val="66FFFF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cxnSp>
              <p:nvCxnSpPr>
                <p:cNvPr id="362521" name="AutoShape 25"/>
                <p:cNvCxnSpPr>
                  <a:cxnSpLocks noChangeShapeType="1"/>
                  <a:stCxn id="362520" idx="0"/>
                  <a:endCxn id="362520" idx="4"/>
                </p:cNvCxnSpPr>
                <p:nvPr/>
              </p:nvCxnSpPr>
              <p:spPr bwMode="auto">
                <a:xfrm>
                  <a:off x="3456" y="3399"/>
                  <a:ext cx="0" cy="210"/>
                </a:xfrm>
                <a:prstGeom prst="straightConnector1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6252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976" y="3360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i="1" dirty="0" err="1" smtClean="0"/>
                    <a:t>v</a:t>
                  </a:r>
                  <a:r>
                    <a:rPr lang="en-US" altLang="zh-CN" i="1" baseline="-25000" dirty="0" err="1" smtClean="0"/>
                    <a:t>Th</a:t>
                  </a:r>
                  <a:r>
                    <a:rPr lang="en-US" altLang="zh-CN" i="1" baseline="-25000" dirty="0" smtClean="0"/>
                    <a:t> </a:t>
                  </a:r>
                  <a:endParaRPr lang="en-US" altLang="zh-CN" i="1" baseline="-25000" dirty="0"/>
                </a:p>
              </p:txBody>
            </p:sp>
            <p:sp>
              <p:nvSpPr>
                <p:cNvPr id="362523" name="Oval 27"/>
                <p:cNvSpPr>
                  <a:spLocks noChangeArrowheads="1"/>
                </p:cNvSpPr>
                <p:nvPr/>
              </p:nvSpPr>
              <p:spPr bwMode="auto">
                <a:xfrm>
                  <a:off x="3984" y="3696"/>
                  <a:ext cx="68" cy="6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2524" name="Oval 28"/>
                <p:cNvSpPr>
                  <a:spLocks noChangeArrowheads="1"/>
                </p:cNvSpPr>
                <p:nvPr/>
              </p:nvSpPr>
              <p:spPr bwMode="auto">
                <a:xfrm>
                  <a:off x="3984" y="2832"/>
                  <a:ext cx="68" cy="6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252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3232" y="3216"/>
                  <a:ext cx="22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/>
                    <a:t>+</a:t>
                  </a:r>
                </a:p>
              </p:txBody>
            </p:sp>
            <p:sp>
              <p:nvSpPr>
                <p:cNvPr id="362526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244" y="3552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66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latin typeface="黑体" pitchFamily="49" charset="-122"/>
                      <a:ea typeface="黑体" pitchFamily="49" charset="-122"/>
                    </a:rPr>
                    <a:t>-</a:t>
                  </a:r>
                  <a:endParaRPr lang="en-US" altLang="zh-CN"/>
                </a:p>
              </p:txBody>
            </p:sp>
          </p:grpSp>
        </p:grpSp>
      </p:grp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1146175" y="3248025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 smtClean="0">
                <a:solidFill>
                  <a:srgbClr val="FF33CC"/>
                </a:solidFill>
              </a:rPr>
              <a:t>证明</a:t>
            </a:r>
            <a:r>
              <a:rPr lang="en-US" altLang="zh-CN" dirty="0" smtClean="0">
                <a:solidFill>
                  <a:srgbClr val="FF33CC"/>
                </a:solidFill>
              </a:rPr>
              <a:t>?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65366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Text Box 2"/>
          <p:cNvSpPr txBox="1">
            <a:spLocks noChangeArrowheads="1"/>
          </p:cNvSpPr>
          <p:nvPr/>
        </p:nvSpPr>
        <p:spPr bwMode="auto">
          <a:xfrm>
            <a:off x="0" y="152400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solidFill>
                  <a:srgbClr val="FF33CC"/>
                </a:solidFill>
              </a:rPr>
              <a:t>证明</a:t>
            </a:r>
            <a:r>
              <a:rPr lang="en-US" altLang="zh-CN" dirty="0">
                <a:solidFill>
                  <a:srgbClr val="FF33CC"/>
                </a:solidFill>
              </a:rPr>
              <a:t>:</a:t>
            </a:r>
            <a:endParaRPr lang="en-US" altLang="zh-CN" dirty="0"/>
          </a:p>
        </p:txBody>
      </p:sp>
      <p:grpSp>
        <p:nvGrpSpPr>
          <p:cNvPr id="363523" name="Group 3"/>
          <p:cNvGrpSpPr>
            <a:grpSpLocks/>
          </p:cNvGrpSpPr>
          <p:nvPr/>
        </p:nvGrpSpPr>
        <p:grpSpPr bwMode="auto">
          <a:xfrm>
            <a:off x="1171575" y="5011738"/>
            <a:ext cx="5867400" cy="1452562"/>
            <a:chOff x="480" y="3031"/>
            <a:chExt cx="3696" cy="915"/>
          </a:xfrm>
        </p:grpSpPr>
        <p:sp>
          <p:nvSpPr>
            <p:cNvPr id="363524" name="Text Box 4"/>
            <p:cNvSpPr txBox="1">
              <a:spLocks noChangeArrowheads="1"/>
            </p:cNvSpPr>
            <p:nvPr/>
          </p:nvSpPr>
          <p:spPr bwMode="auto">
            <a:xfrm>
              <a:off x="528" y="3031"/>
              <a:ext cx="36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/>
                <a:t>v</a:t>
              </a:r>
              <a:r>
                <a:rPr lang="en-US" altLang="zh-CN" baseline="30000" dirty="0"/>
                <a:t>'</a:t>
              </a:r>
              <a:r>
                <a:rPr lang="en-US" altLang="zh-CN" dirty="0"/>
                <a:t>=</a:t>
              </a:r>
              <a:r>
                <a:rPr lang="en-US" altLang="zh-CN" baseline="30000" dirty="0"/>
                <a:t> </a:t>
              </a:r>
              <a:r>
                <a:rPr lang="en-US" altLang="zh-CN" i="1" dirty="0" err="1" smtClean="0"/>
                <a:t>v</a:t>
              </a:r>
              <a:r>
                <a:rPr lang="en-US" altLang="zh-CN" i="1" baseline="-25000" dirty="0" err="1" smtClean="0"/>
                <a:t>Th</a:t>
              </a:r>
              <a:r>
                <a:rPr lang="en-US" altLang="zh-CN" baseline="-25000" dirty="0" smtClean="0"/>
                <a:t>     </a:t>
              </a:r>
              <a:r>
                <a:rPr lang="en-US" altLang="zh-CN" dirty="0" smtClean="0"/>
                <a:t> </a:t>
              </a:r>
              <a:r>
                <a:rPr lang="en-US" altLang="zh-CN" dirty="0"/>
                <a:t>(</a:t>
              </a:r>
              <a:r>
                <a:rPr lang="zh-CN" altLang="en-US" dirty="0"/>
                <a:t>外电路开路时</a:t>
              </a:r>
              <a:r>
                <a:rPr lang="en-US" altLang="zh-CN" dirty="0">
                  <a:solidFill>
                    <a:srgbClr val="0000FF"/>
                  </a:solidFill>
                </a:rPr>
                <a:t>a</a:t>
              </a:r>
              <a:r>
                <a:rPr lang="en-US" altLang="zh-CN" dirty="0"/>
                <a:t> </a:t>
              </a:r>
              <a:r>
                <a:rPr lang="zh-CN" altLang="en-US" dirty="0"/>
                <a:t>、</a:t>
              </a:r>
              <a:r>
                <a:rPr lang="en-US" altLang="zh-CN" dirty="0">
                  <a:solidFill>
                    <a:srgbClr val="0000FF"/>
                  </a:solidFill>
                </a:rPr>
                <a:t>b</a:t>
              </a:r>
              <a:r>
                <a:rPr lang="zh-CN" altLang="en-US" dirty="0"/>
                <a:t>间开路电压</a:t>
              </a:r>
              <a:r>
                <a:rPr lang="en-US" altLang="zh-CN" dirty="0"/>
                <a:t>)</a:t>
              </a:r>
            </a:p>
          </p:txBody>
        </p:sp>
        <p:grpSp>
          <p:nvGrpSpPr>
            <p:cNvPr id="363525" name="Group 5"/>
            <p:cNvGrpSpPr>
              <a:grpSpLocks/>
            </p:cNvGrpSpPr>
            <p:nvPr/>
          </p:nvGrpSpPr>
          <p:grpSpPr bwMode="auto">
            <a:xfrm>
              <a:off x="480" y="3120"/>
              <a:ext cx="1038" cy="531"/>
              <a:chOff x="720" y="3331"/>
              <a:chExt cx="1038" cy="531"/>
            </a:xfrm>
          </p:grpSpPr>
          <p:sp>
            <p:nvSpPr>
              <p:cNvPr id="363526" name="AutoShape 6"/>
              <p:cNvSpPr>
                <a:spLocks/>
              </p:cNvSpPr>
              <p:nvPr/>
            </p:nvSpPr>
            <p:spPr bwMode="auto">
              <a:xfrm>
                <a:off x="720" y="3331"/>
                <a:ext cx="48" cy="480"/>
              </a:xfrm>
              <a:prstGeom prst="leftBrace">
                <a:avLst>
                  <a:gd name="adj1" fmla="val 83333"/>
                  <a:gd name="adj2" fmla="val 50000"/>
                </a:avLst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27" name="Text Box 7"/>
              <p:cNvSpPr txBox="1">
                <a:spLocks noChangeArrowheads="1"/>
              </p:cNvSpPr>
              <p:nvPr/>
            </p:nvSpPr>
            <p:spPr bwMode="auto">
              <a:xfrm>
                <a:off x="720" y="3571"/>
                <a:ext cx="103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/>
                  <a:t> v</a:t>
                </a:r>
                <a:r>
                  <a:rPr lang="en-US" altLang="zh-CN" baseline="30000" dirty="0"/>
                  <a:t>"</a:t>
                </a:r>
                <a:r>
                  <a:rPr lang="en-US" altLang="zh-CN" dirty="0"/>
                  <a:t>= </a:t>
                </a:r>
                <a:r>
                  <a:rPr lang="en-US" altLang="zh-CN" dirty="0">
                    <a:latin typeface="黑体" pitchFamily="49" charset="-122"/>
                    <a:ea typeface="黑体" pitchFamily="49" charset="-122"/>
                  </a:rPr>
                  <a:t>-</a:t>
                </a:r>
                <a:r>
                  <a:rPr lang="en-US" altLang="zh-CN" baseline="30000" dirty="0"/>
                  <a:t> </a:t>
                </a:r>
                <a:r>
                  <a:rPr lang="en-US" altLang="zh-CN" i="1" dirty="0" err="1" smtClean="0"/>
                  <a:t>R</a:t>
                </a:r>
                <a:r>
                  <a:rPr lang="en-US" altLang="zh-CN" i="1" baseline="-25000" dirty="0" err="1" smtClean="0"/>
                  <a:t>Th</a:t>
                </a:r>
                <a:r>
                  <a:rPr lang="en-US" altLang="zh-CN" baseline="-25000" dirty="0" smtClean="0"/>
                  <a:t> </a:t>
                </a:r>
                <a:r>
                  <a:rPr lang="en-US" altLang="zh-CN" i="1" dirty="0" err="1"/>
                  <a:t>i</a:t>
                </a:r>
                <a:endParaRPr lang="en-US" altLang="zh-CN" dirty="0"/>
              </a:p>
            </p:txBody>
          </p:sp>
        </p:grpSp>
        <p:grpSp>
          <p:nvGrpSpPr>
            <p:cNvPr id="363528" name="Group 8"/>
            <p:cNvGrpSpPr>
              <a:grpSpLocks/>
            </p:cNvGrpSpPr>
            <p:nvPr/>
          </p:nvGrpSpPr>
          <p:grpSpPr bwMode="auto">
            <a:xfrm>
              <a:off x="1380" y="3655"/>
              <a:ext cx="2400" cy="291"/>
              <a:chOff x="192" y="3888"/>
              <a:chExt cx="2400" cy="291"/>
            </a:xfrm>
          </p:grpSpPr>
          <p:sp>
            <p:nvSpPr>
              <p:cNvPr id="363529" name="Text Box 9"/>
              <p:cNvSpPr txBox="1">
                <a:spLocks noChangeArrowheads="1"/>
              </p:cNvSpPr>
              <p:nvPr/>
            </p:nvSpPr>
            <p:spPr bwMode="auto">
              <a:xfrm>
                <a:off x="192" y="3888"/>
                <a:ext cx="3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dirty="0"/>
                  <a:t>得</a:t>
                </a:r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363530" name="Text Box 10"/>
              <p:cNvSpPr txBox="1">
                <a:spLocks noChangeArrowheads="1"/>
              </p:cNvSpPr>
              <p:nvPr/>
            </p:nvSpPr>
            <p:spPr bwMode="auto">
              <a:xfrm>
                <a:off x="528" y="3888"/>
                <a:ext cx="20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/>
                  <a:t>v</a:t>
                </a:r>
                <a:r>
                  <a:rPr lang="en-US" altLang="zh-CN" dirty="0"/>
                  <a:t> = </a:t>
                </a:r>
                <a:r>
                  <a:rPr lang="en-US" altLang="zh-CN" i="1" dirty="0"/>
                  <a:t>v</a:t>
                </a:r>
                <a:r>
                  <a:rPr lang="en-US" altLang="zh-CN" baseline="30000" dirty="0"/>
                  <a:t>'</a:t>
                </a:r>
                <a:r>
                  <a:rPr lang="en-US" altLang="zh-CN" dirty="0"/>
                  <a:t> + </a:t>
                </a:r>
                <a:r>
                  <a:rPr lang="en-US" altLang="zh-CN" i="1" dirty="0"/>
                  <a:t>v</a:t>
                </a:r>
                <a:r>
                  <a:rPr lang="en-US" altLang="zh-CN" baseline="30000" dirty="0"/>
                  <a:t>"</a:t>
                </a:r>
                <a:r>
                  <a:rPr lang="en-US" altLang="zh-CN" dirty="0"/>
                  <a:t> =</a:t>
                </a:r>
                <a:r>
                  <a:rPr lang="en-US" altLang="zh-CN" baseline="30000" dirty="0"/>
                  <a:t> </a:t>
                </a:r>
                <a:r>
                  <a:rPr lang="en-US" altLang="zh-CN" i="1" dirty="0" err="1" smtClean="0"/>
                  <a:t>v</a:t>
                </a:r>
                <a:r>
                  <a:rPr lang="en-US" altLang="zh-CN" i="1" baseline="-25000" dirty="0" err="1" smtClean="0"/>
                  <a:t>Th</a:t>
                </a:r>
                <a:r>
                  <a:rPr lang="en-US" altLang="zh-CN" baseline="-25000" dirty="0" smtClean="0">
                    <a:latin typeface="宋体" charset="-122"/>
                  </a:rPr>
                  <a:t> </a:t>
                </a:r>
                <a:r>
                  <a:rPr lang="en-US" altLang="zh-CN" dirty="0">
                    <a:latin typeface="黑体" pitchFamily="49" charset="-122"/>
                    <a:ea typeface="黑体" pitchFamily="49" charset="-122"/>
                  </a:rPr>
                  <a:t>-</a:t>
                </a:r>
                <a:r>
                  <a:rPr lang="en-US" altLang="zh-CN" dirty="0"/>
                  <a:t> </a:t>
                </a:r>
                <a:r>
                  <a:rPr lang="en-US" altLang="zh-CN" i="1" dirty="0" err="1" smtClean="0"/>
                  <a:t>R</a:t>
                </a:r>
                <a:r>
                  <a:rPr lang="en-US" altLang="zh-CN" i="1" baseline="-25000" dirty="0" err="1" smtClean="0"/>
                  <a:t>Th</a:t>
                </a:r>
                <a:r>
                  <a:rPr lang="en-US" altLang="zh-CN" baseline="-25000" dirty="0" smtClean="0"/>
                  <a:t> </a:t>
                </a:r>
                <a:r>
                  <a:rPr lang="en-US" altLang="zh-CN" i="1" dirty="0" err="1"/>
                  <a:t>i</a:t>
                </a:r>
                <a:endParaRPr lang="en-US" altLang="zh-CN" dirty="0"/>
              </a:p>
            </p:txBody>
          </p:sp>
        </p:grpSp>
      </p:grpSp>
      <p:grpSp>
        <p:nvGrpSpPr>
          <p:cNvPr id="363531" name="Group 11"/>
          <p:cNvGrpSpPr>
            <a:grpSpLocks/>
          </p:cNvGrpSpPr>
          <p:nvPr/>
        </p:nvGrpSpPr>
        <p:grpSpPr bwMode="auto">
          <a:xfrm>
            <a:off x="4038600" y="1112838"/>
            <a:ext cx="914400" cy="639762"/>
            <a:chOff x="2448" y="701"/>
            <a:chExt cx="576" cy="403"/>
          </a:xfrm>
        </p:grpSpPr>
        <p:sp>
          <p:nvSpPr>
            <p:cNvPr id="363532" name="AutoShape 12"/>
            <p:cNvSpPr>
              <a:spLocks noChangeArrowheads="1"/>
            </p:cNvSpPr>
            <p:nvPr/>
          </p:nvSpPr>
          <p:spPr bwMode="auto">
            <a:xfrm>
              <a:off x="2448" y="701"/>
              <a:ext cx="576" cy="403"/>
            </a:xfrm>
            <a:prstGeom prst="rightArrow">
              <a:avLst>
                <a:gd name="adj1" fmla="val 50000"/>
                <a:gd name="adj2" fmla="val 3573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33" name="Text Box 13"/>
            <p:cNvSpPr txBox="1">
              <a:spLocks noChangeArrowheads="1"/>
            </p:cNvSpPr>
            <p:nvPr/>
          </p:nvSpPr>
          <p:spPr bwMode="auto">
            <a:xfrm>
              <a:off x="2479" y="767"/>
              <a:ext cx="4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sz="2000" dirty="0">
                  <a:solidFill>
                    <a:srgbClr val="0000FF"/>
                  </a:solidFill>
                  <a:ea typeface="楷体_GB2312" pitchFamily="49" charset="-122"/>
                </a:rPr>
                <a:t>证明</a:t>
              </a:r>
            </a:p>
          </p:txBody>
        </p:sp>
      </p:grpSp>
      <p:grpSp>
        <p:nvGrpSpPr>
          <p:cNvPr id="363534" name="Group 14"/>
          <p:cNvGrpSpPr>
            <a:grpSpLocks/>
          </p:cNvGrpSpPr>
          <p:nvPr/>
        </p:nvGrpSpPr>
        <p:grpSpPr bwMode="auto">
          <a:xfrm>
            <a:off x="495300" y="2209800"/>
            <a:ext cx="2209800" cy="2239963"/>
            <a:chOff x="312" y="1392"/>
            <a:chExt cx="1392" cy="1411"/>
          </a:xfrm>
        </p:grpSpPr>
        <p:grpSp>
          <p:nvGrpSpPr>
            <p:cNvPr id="363535" name="Group 15"/>
            <p:cNvGrpSpPr>
              <a:grpSpLocks/>
            </p:cNvGrpSpPr>
            <p:nvPr/>
          </p:nvGrpSpPr>
          <p:grpSpPr bwMode="auto">
            <a:xfrm>
              <a:off x="312" y="1728"/>
              <a:ext cx="1392" cy="1075"/>
              <a:chOff x="576" y="1757"/>
              <a:chExt cx="1392" cy="1075"/>
            </a:xfrm>
          </p:grpSpPr>
          <p:sp>
            <p:nvSpPr>
              <p:cNvPr id="363536" name="Text Box 16"/>
              <p:cNvSpPr txBox="1">
                <a:spLocks noChangeArrowheads="1"/>
              </p:cNvSpPr>
              <p:nvPr/>
            </p:nvSpPr>
            <p:spPr bwMode="auto">
              <a:xfrm>
                <a:off x="1440" y="1757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363537" name="Text Box 17"/>
              <p:cNvSpPr txBox="1">
                <a:spLocks noChangeArrowheads="1"/>
              </p:cNvSpPr>
              <p:nvPr/>
            </p:nvSpPr>
            <p:spPr bwMode="auto">
              <a:xfrm>
                <a:off x="1440" y="254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b</a:t>
                </a:r>
                <a:endParaRPr lang="en-US" altLang="zh-CN" sz="3200">
                  <a:solidFill>
                    <a:srgbClr val="0000FF"/>
                  </a:solidFill>
                </a:endParaRPr>
              </a:p>
            </p:txBody>
          </p:sp>
          <p:sp>
            <p:nvSpPr>
              <p:cNvPr id="363538" name="Rectangle 18"/>
              <p:cNvSpPr>
                <a:spLocks noChangeArrowheads="1"/>
              </p:cNvSpPr>
              <p:nvPr/>
            </p:nvSpPr>
            <p:spPr bwMode="auto">
              <a:xfrm>
                <a:off x="576" y="1949"/>
                <a:ext cx="480" cy="720"/>
              </a:xfrm>
              <a:prstGeom prst="rect">
                <a:avLst/>
              </a:prstGeom>
              <a:solidFill>
                <a:srgbClr val="FFCCCC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39" name="Text Box 19"/>
              <p:cNvSpPr txBox="1">
                <a:spLocks noChangeArrowheads="1"/>
              </p:cNvSpPr>
              <p:nvPr/>
            </p:nvSpPr>
            <p:spPr bwMode="auto">
              <a:xfrm>
                <a:off x="672" y="2093"/>
                <a:ext cx="33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3600"/>
                  <a:t>A</a:t>
                </a:r>
                <a:endParaRPr lang="en-US" altLang="zh-CN"/>
              </a:p>
            </p:txBody>
          </p:sp>
          <p:sp>
            <p:nvSpPr>
              <p:cNvPr id="363540" name="Freeform 20"/>
              <p:cNvSpPr>
                <a:spLocks/>
              </p:cNvSpPr>
              <p:nvPr/>
            </p:nvSpPr>
            <p:spPr bwMode="auto">
              <a:xfrm>
                <a:off x="1056" y="2069"/>
                <a:ext cx="504" cy="3"/>
              </a:xfrm>
              <a:custGeom>
                <a:avLst/>
                <a:gdLst>
                  <a:gd name="T0" fmla="*/ 0 w 504"/>
                  <a:gd name="T1" fmla="*/ 0 h 3"/>
                  <a:gd name="T2" fmla="*/ 504 w 504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4" h="3">
                    <a:moveTo>
                      <a:pt x="0" y="0"/>
                    </a:moveTo>
                    <a:lnTo>
                      <a:pt x="504" y="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41" name="Freeform 21"/>
              <p:cNvSpPr>
                <a:spLocks/>
              </p:cNvSpPr>
              <p:nvPr/>
            </p:nvSpPr>
            <p:spPr bwMode="auto">
              <a:xfrm>
                <a:off x="1056" y="2546"/>
                <a:ext cx="507" cy="3"/>
              </a:xfrm>
              <a:custGeom>
                <a:avLst/>
                <a:gdLst>
                  <a:gd name="T0" fmla="*/ 0 w 507"/>
                  <a:gd name="T1" fmla="*/ 3 h 3"/>
                  <a:gd name="T2" fmla="*/ 507 w 507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07" h="3">
                    <a:moveTo>
                      <a:pt x="0" y="3"/>
                    </a:moveTo>
                    <a:lnTo>
                      <a:pt x="5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42" name="Line 22"/>
              <p:cNvSpPr>
                <a:spLocks noChangeShapeType="1"/>
              </p:cNvSpPr>
              <p:nvPr/>
            </p:nvSpPr>
            <p:spPr bwMode="auto">
              <a:xfrm rot="5400000">
                <a:off x="1572" y="2297"/>
                <a:ext cx="3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43" name="Text Box 23"/>
              <p:cNvSpPr txBox="1">
                <a:spLocks noChangeArrowheads="1"/>
              </p:cNvSpPr>
              <p:nvPr/>
            </p:nvSpPr>
            <p:spPr bwMode="auto">
              <a:xfrm>
                <a:off x="1728" y="2141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endParaRPr lang="en-US" altLang="zh-CN" sz="3200"/>
              </a:p>
            </p:txBody>
          </p:sp>
          <p:sp>
            <p:nvSpPr>
              <p:cNvPr id="363544" name="Text Box 24"/>
              <p:cNvSpPr txBox="1">
                <a:spLocks noChangeArrowheads="1"/>
              </p:cNvSpPr>
              <p:nvPr/>
            </p:nvSpPr>
            <p:spPr bwMode="auto">
              <a:xfrm>
                <a:off x="1248" y="1997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363545" name="Text Box 25"/>
              <p:cNvSpPr txBox="1">
                <a:spLocks noChangeArrowheads="1"/>
              </p:cNvSpPr>
              <p:nvPr/>
            </p:nvSpPr>
            <p:spPr bwMode="auto">
              <a:xfrm>
                <a:off x="1248" y="2333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–</a:t>
                </a:r>
              </a:p>
            </p:txBody>
          </p:sp>
          <p:sp>
            <p:nvSpPr>
              <p:cNvPr id="363546" name="Text Box 26"/>
              <p:cNvSpPr txBox="1">
                <a:spLocks noChangeArrowheads="1"/>
              </p:cNvSpPr>
              <p:nvPr/>
            </p:nvSpPr>
            <p:spPr bwMode="auto">
              <a:xfrm>
                <a:off x="1238" y="216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/>
                  <a:t>v</a:t>
                </a:r>
                <a:endParaRPr lang="en-US" altLang="zh-CN" dirty="0"/>
              </a:p>
            </p:txBody>
          </p:sp>
          <p:sp>
            <p:nvSpPr>
              <p:cNvPr id="363547" name="Oval 27"/>
              <p:cNvSpPr>
                <a:spLocks noChangeArrowheads="1"/>
              </p:cNvSpPr>
              <p:nvPr/>
            </p:nvSpPr>
            <p:spPr bwMode="auto">
              <a:xfrm>
                <a:off x="1536" y="204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48" name="Oval 28"/>
              <p:cNvSpPr>
                <a:spLocks noChangeArrowheads="1"/>
              </p:cNvSpPr>
              <p:nvPr/>
            </p:nvSpPr>
            <p:spPr bwMode="auto">
              <a:xfrm>
                <a:off x="1536" y="252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49" name="Oval 29"/>
              <p:cNvSpPr>
                <a:spLocks noChangeArrowheads="1"/>
              </p:cNvSpPr>
              <p:nvPr/>
            </p:nvSpPr>
            <p:spPr bwMode="auto">
              <a:xfrm>
                <a:off x="1440" y="2189"/>
                <a:ext cx="240" cy="240"/>
              </a:xfrm>
              <a:prstGeom prst="ellipse">
                <a:avLst/>
              </a:prstGeom>
              <a:solidFill>
                <a:srgbClr val="CC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50" name="Freeform 30"/>
              <p:cNvSpPr>
                <a:spLocks/>
              </p:cNvSpPr>
              <p:nvPr/>
            </p:nvSpPr>
            <p:spPr bwMode="auto">
              <a:xfrm>
                <a:off x="1560" y="2069"/>
                <a:ext cx="1" cy="120"/>
              </a:xfrm>
              <a:custGeom>
                <a:avLst/>
                <a:gdLst>
                  <a:gd name="T0" fmla="*/ 0 w 1"/>
                  <a:gd name="T1" fmla="*/ 0 h 120"/>
                  <a:gd name="T2" fmla="*/ 0 w 1"/>
                  <a:gd name="T3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51" name="Freeform 31"/>
              <p:cNvSpPr>
                <a:spLocks/>
              </p:cNvSpPr>
              <p:nvPr/>
            </p:nvSpPr>
            <p:spPr bwMode="auto">
              <a:xfrm>
                <a:off x="1558" y="2432"/>
                <a:ext cx="1" cy="117"/>
              </a:xfrm>
              <a:custGeom>
                <a:avLst/>
                <a:gdLst>
                  <a:gd name="T0" fmla="*/ 0 w 1"/>
                  <a:gd name="T1" fmla="*/ 0 h 117"/>
                  <a:gd name="T2" fmla="*/ 0 w 1"/>
                  <a:gd name="T3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17">
                    <a:moveTo>
                      <a:pt x="0" y="0"/>
                    </a:moveTo>
                    <a:lnTo>
                      <a:pt x="0" y="117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52" name="Freeform 32"/>
              <p:cNvSpPr>
                <a:spLocks/>
              </p:cNvSpPr>
              <p:nvPr/>
            </p:nvSpPr>
            <p:spPr bwMode="auto">
              <a:xfrm>
                <a:off x="1437" y="2312"/>
                <a:ext cx="237" cy="1"/>
              </a:xfrm>
              <a:custGeom>
                <a:avLst/>
                <a:gdLst>
                  <a:gd name="T0" fmla="*/ 0 w 237"/>
                  <a:gd name="T1" fmla="*/ 0 h 1"/>
                  <a:gd name="T2" fmla="*/ 237 w 23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7" h="1">
                    <a:moveTo>
                      <a:pt x="0" y="0"/>
                    </a:moveTo>
                    <a:lnTo>
                      <a:pt x="237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3553" name="AutoShape 33"/>
            <p:cNvSpPr>
              <a:spLocks noChangeArrowheads="1"/>
            </p:cNvSpPr>
            <p:nvPr/>
          </p:nvSpPr>
          <p:spPr bwMode="auto">
            <a:xfrm>
              <a:off x="1056" y="1392"/>
              <a:ext cx="192" cy="461"/>
            </a:xfrm>
            <a:prstGeom prst="downArrow">
              <a:avLst>
                <a:gd name="adj1" fmla="val 50000"/>
                <a:gd name="adj2" fmla="val 60026"/>
              </a:avLst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54" name="Text Box 34"/>
            <p:cNvSpPr txBox="1">
              <a:spLocks noChangeArrowheads="1"/>
            </p:cNvSpPr>
            <p:nvPr/>
          </p:nvSpPr>
          <p:spPr bwMode="auto">
            <a:xfrm>
              <a:off x="655" y="1410"/>
              <a:ext cx="4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zh-CN" altLang="en-US" sz="2000" dirty="0">
                  <a:solidFill>
                    <a:srgbClr val="FF3300"/>
                  </a:solidFill>
                  <a:ea typeface="楷体_GB2312" pitchFamily="49" charset="-122"/>
                </a:rPr>
                <a:t>替代</a:t>
              </a:r>
              <a:endParaRPr kumimoji="0" lang="zh-CN" altLang="en-US" sz="2000" dirty="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363555" name="Group 35"/>
          <p:cNvGrpSpPr>
            <a:grpSpLocks/>
          </p:cNvGrpSpPr>
          <p:nvPr/>
        </p:nvGrpSpPr>
        <p:grpSpPr bwMode="auto">
          <a:xfrm>
            <a:off x="990600" y="457200"/>
            <a:ext cx="2743200" cy="1782763"/>
            <a:chOff x="648" y="269"/>
            <a:chExt cx="1728" cy="1123"/>
          </a:xfrm>
        </p:grpSpPr>
        <p:grpSp>
          <p:nvGrpSpPr>
            <p:cNvPr id="363556" name="Group 36"/>
            <p:cNvGrpSpPr>
              <a:grpSpLocks/>
            </p:cNvGrpSpPr>
            <p:nvPr/>
          </p:nvGrpSpPr>
          <p:grpSpPr bwMode="auto">
            <a:xfrm>
              <a:off x="648" y="269"/>
              <a:ext cx="1728" cy="1123"/>
              <a:chOff x="576" y="269"/>
              <a:chExt cx="1728" cy="1123"/>
            </a:xfrm>
          </p:grpSpPr>
          <p:sp>
            <p:nvSpPr>
              <p:cNvPr id="363557" name="Text Box 37"/>
              <p:cNvSpPr txBox="1">
                <a:spLocks noChangeArrowheads="1"/>
              </p:cNvSpPr>
              <p:nvPr/>
            </p:nvSpPr>
            <p:spPr bwMode="auto">
              <a:xfrm>
                <a:off x="1344" y="269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363558" name="Text Box 38"/>
              <p:cNvSpPr txBox="1">
                <a:spLocks noChangeArrowheads="1"/>
              </p:cNvSpPr>
              <p:nvPr/>
            </p:nvSpPr>
            <p:spPr bwMode="auto">
              <a:xfrm>
                <a:off x="1344" y="110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b</a:t>
                </a:r>
                <a:endParaRPr lang="en-US" altLang="zh-CN" sz="3200">
                  <a:solidFill>
                    <a:srgbClr val="0000FF"/>
                  </a:solidFill>
                </a:endParaRPr>
              </a:p>
            </p:txBody>
          </p:sp>
          <p:sp>
            <p:nvSpPr>
              <p:cNvPr id="363559" name="Rectangle 39"/>
              <p:cNvSpPr>
                <a:spLocks noChangeArrowheads="1"/>
              </p:cNvSpPr>
              <p:nvPr/>
            </p:nvSpPr>
            <p:spPr bwMode="auto">
              <a:xfrm>
                <a:off x="576" y="509"/>
                <a:ext cx="480" cy="720"/>
              </a:xfrm>
              <a:prstGeom prst="rect">
                <a:avLst/>
              </a:prstGeom>
              <a:solidFill>
                <a:srgbClr val="FFCCCC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60" name="Text Box 40"/>
              <p:cNvSpPr txBox="1">
                <a:spLocks noChangeArrowheads="1"/>
              </p:cNvSpPr>
              <p:nvPr/>
            </p:nvSpPr>
            <p:spPr bwMode="auto">
              <a:xfrm>
                <a:off x="672" y="653"/>
                <a:ext cx="33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3600"/>
                  <a:t>A</a:t>
                </a:r>
                <a:endParaRPr lang="en-US" altLang="zh-CN"/>
              </a:p>
            </p:txBody>
          </p:sp>
          <p:sp>
            <p:nvSpPr>
              <p:cNvPr id="363561" name="Line 41"/>
              <p:cNvSpPr>
                <a:spLocks noChangeShapeType="1"/>
              </p:cNvSpPr>
              <p:nvPr/>
            </p:nvSpPr>
            <p:spPr bwMode="auto">
              <a:xfrm>
                <a:off x="1056" y="629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62" name="Line 42"/>
              <p:cNvSpPr>
                <a:spLocks noChangeShapeType="1"/>
              </p:cNvSpPr>
              <p:nvPr/>
            </p:nvSpPr>
            <p:spPr bwMode="auto">
              <a:xfrm>
                <a:off x="1056" y="1109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63" name="Text Box 43"/>
              <p:cNvSpPr txBox="1">
                <a:spLocks noChangeArrowheads="1"/>
              </p:cNvSpPr>
              <p:nvPr/>
            </p:nvSpPr>
            <p:spPr bwMode="auto">
              <a:xfrm>
                <a:off x="1200" y="349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endParaRPr lang="en-US" altLang="zh-CN" sz="3200"/>
              </a:p>
            </p:txBody>
          </p:sp>
          <p:sp>
            <p:nvSpPr>
              <p:cNvPr id="363564" name="Text Box 44"/>
              <p:cNvSpPr txBox="1">
                <a:spLocks noChangeArrowheads="1"/>
              </p:cNvSpPr>
              <p:nvPr/>
            </p:nvSpPr>
            <p:spPr bwMode="auto">
              <a:xfrm>
                <a:off x="1344" y="605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363565" name="Text Box 45"/>
              <p:cNvSpPr txBox="1">
                <a:spLocks noChangeArrowheads="1"/>
              </p:cNvSpPr>
              <p:nvPr/>
            </p:nvSpPr>
            <p:spPr bwMode="auto">
              <a:xfrm>
                <a:off x="1344" y="845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–</a:t>
                </a:r>
              </a:p>
            </p:txBody>
          </p:sp>
          <p:sp>
            <p:nvSpPr>
              <p:cNvPr id="363566" name="Text Box 46"/>
              <p:cNvSpPr txBox="1">
                <a:spLocks noChangeArrowheads="1"/>
              </p:cNvSpPr>
              <p:nvPr/>
            </p:nvSpPr>
            <p:spPr bwMode="auto">
              <a:xfrm>
                <a:off x="1344" y="749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v</a:t>
                </a:r>
                <a:endParaRPr lang="en-US" altLang="zh-CN"/>
              </a:p>
            </p:txBody>
          </p:sp>
          <p:sp>
            <p:nvSpPr>
              <p:cNvPr id="363567" name="Rectangle 47"/>
              <p:cNvSpPr>
                <a:spLocks noChangeArrowheads="1"/>
              </p:cNvSpPr>
              <p:nvPr/>
            </p:nvSpPr>
            <p:spPr bwMode="auto">
              <a:xfrm>
                <a:off x="1824" y="509"/>
                <a:ext cx="480" cy="720"/>
              </a:xfrm>
              <a:prstGeom prst="rect">
                <a:avLst/>
              </a:prstGeom>
              <a:solidFill>
                <a:srgbClr val="CC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68" name="Text Box 48"/>
              <p:cNvSpPr txBox="1">
                <a:spLocks noChangeArrowheads="1"/>
              </p:cNvSpPr>
              <p:nvPr/>
            </p:nvSpPr>
            <p:spPr bwMode="auto">
              <a:xfrm>
                <a:off x="1920" y="653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3200"/>
                  <a:t>N</a:t>
                </a:r>
                <a:r>
                  <a:rPr lang="en-US" altLang="zh-CN" sz="3200" baseline="30000"/>
                  <a:t>'</a:t>
                </a:r>
                <a:endParaRPr lang="en-US" altLang="zh-CN" sz="3200"/>
              </a:p>
            </p:txBody>
          </p:sp>
          <p:sp>
            <p:nvSpPr>
              <p:cNvPr id="363569" name="Oval 49"/>
              <p:cNvSpPr>
                <a:spLocks noChangeArrowheads="1"/>
              </p:cNvSpPr>
              <p:nvPr/>
            </p:nvSpPr>
            <p:spPr bwMode="auto">
              <a:xfrm>
                <a:off x="1440" y="60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70" name="Oval 50"/>
              <p:cNvSpPr>
                <a:spLocks noChangeArrowheads="1"/>
              </p:cNvSpPr>
              <p:nvPr/>
            </p:nvSpPr>
            <p:spPr bwMode="auto">
              <a:xfrm>
                <a:off x="1440" y="108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3571" name="Line 51"/>
            <p:cNvSpPr>
              <a:spLocks noChangeShapeType="1"/>
            </p:cNvSpPr>
            <p:nvPr/>
          </p:nvSpPr>
          <p:spPr bwMode="auto">
            <a:xfrm>
              <a:off x="1152" y="629"/>
              <a:ext cx="19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3641" name="Group 121"/>
          <p:cNvGrpSpPr>
            <a:grpSpLocks/>
          </p:cNvGrpSpPr>
          <p:nvPr/>
        </p:nvGrpSpPr>
        <p:grpSpPr bwMode="auto">
          <a:xfrm>
            <a:off x="4953000" y="228600"/>
            <a:ext cx="2971800" cy="2163763"/>
            <a:chOff x="3216" y="144"/>
            <a:chExt cx="1776" cy="1363"/>
          </a:xfrm>
        </p:grpSpPr>
        <p:sp>
          <p:nvSpPr>
            <p:cNvPr id="363574" name="Text Box 54"/>
            <p:cNvSpPr txBox="1">
              <a:spLocks noChangeArrowheads="1"/>
            </p:cNvSpPr>
            <p:nvPr/>
          </p:nvSpPr>
          <p:spPr bwMode="auto">
            <a:xfrm>
              <a:off x="3840" y="1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/>
                <a:t>i</a:t>
              </a:r>
              <a:endParaRPr lang="en-US" altLang="zh-CN" sz="3200"/>
            </a:p>
          </p:txBody>
        </p:sp>
        <p:sp>
          <p:nvSpPr>
            <p:cNvPr id="363575" name="Text Box 55"/>
            <p:cNvSpPr txBox="1">
              <a:spLocks noChangeArrowheads="1"/>
            </p:cNvSpPr>
            <p:nvPr/>
          </p:nvSpPr>
          <p:spPr bwMode="auto">
            <a:xfrm>
              <a:off x="3216" y="816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 err="1" smtClean="0"/>
                <a:t>v</a:t>
              </a:r>
              <a:r>
                <a:rPr lang="en-US" altLang="zh-CN" i="1" baseline="-25000" dirty="0" err="1" smtClean="0"/>
                <a:t>Th</a:t>
              </a:r>
              <a:endParaRPr lang="en-US" altLang="zh-CN" i="1" dirty="0"/>
            </a:p>
          </p:txBody>
        </p:sp>
        <p:sp>
          <p:nvSpPr>
            <p:cNvPr id="363576" name="Freeform 56"/>
            <p:cNvSpPr>
              <a:spLocks/>
            </p:cNvSpPr>
            <p:nvPr/>
          </p:nvSpPr>
          <p:spPr bwMode="auto">
            <a:xfrm>
              <a:off x="3713" y="462"/>
              <a:ext cx="1" cy="762"/>
            </a:xfrm>
            <a:custGeom>
              <a:avLst/>
              <a:gdLst>
                <a:gd name="T0" fmla="*/ 0 w 1"/>
                <a:gd name="T1" fmla="*/ 0 h 762"/>
                <a:gd name="T2" fmla="*/ 1 w 1"/>
                <a:gd name="T3" fmla="*/ 762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62">
                  <a:moveTo>
                    <a:pt x="0" y="0"/>
                  </a:moveTo>
                  <a:lnTo>
                    <a:pt x="1" y="76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77" name="Freeform 57"/>
            <p:cNvSpPr>
              <a:spLocks/>
            </p:cNvSpPr>
            <p:nvPr/>
          </p:nvSpPr>
          <p:spPr bwMode="auto">
            <a:xfrm>
              <a:off x="3714" y="457"/>
              <a:ext cx="798" cy="2"/>
            </a:xfrm>
            <a:custGeom>
              <a:avLst/>
              <a:gdLst>
                <a:gd name="T0" fmla="*/ 0 w 798"/>
                <a:gd name="T1" fmla="*/ 2 h 2"/>
                <a:gd name="T2" fmla="*/ 798 w 798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8" h="2">
                  <a:moveTo>
                    <a:pt x="0" y="2"/>
                  </a:moveTo>
                  <a:lnTo>
                    <a:pt x="79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78" name="Freeform 58"/>
            <p:cNvSpPr>
              <a:spLocks/>
            </p:cNvSpPr>
            <p:nvPr/>
          </p:nvSpPr>
          <p:spPr bwMode="auto">
            <a:xfrm>
              <a:off x="3715" y="1224"/>
              <a:ext cx="792" cy="1"/>
            </a:xfrm>
            <a:custGeom>
              <a:avLst/>
              <a:gdLst>
                <a:gd name="T0" fmla="*/ 0 w 792"/>
                <a:gd name="T1" fmla="*/ 0 h 1"/>
                <a:gd name="T2" fmla="*/ 792 w 792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2" h="1">
                  <a:moveTo>
                    <a:pt x="0" y="0"/>
                  </a:moveTo>
                  <a:lnTo>
                    <a:pt x="792" y="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79" name="Text Box 59"/>
            <p:cNvSpPr txBox="1">
              <a:spLocks noChangeArrowheads="1"/>
            </p:cNvSpPr>
            <p:nvPr/>
          </p:nvSpPr>
          <p:spPr bwMode="auto">
            <a:xfrm>
              <a:off x="4032" y="43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363580" name="Text Box 60"/>
            <p:cNvSpPr txBox="1">
              <a:spLocks noChangeArrowheads="1"/>
            </p:cNvSpPr>
            <p:nvPr/>
          </p:nvSpPr>
          <p:spPr bwMode="auto">
            <a:xfrm>
              <a:off x="4032" y="96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–</a:t>
              </a:r>
            </a:p>
          </p:txBody>
        </p:sp>
        <p:sp>
          <p:nvSpPr>
            <p:cNvPr id="363581" name="Text Box 61"/>
            <p:cNvSpPr txBox="1">
              <a:spLocks noChangeArrowheads="1"/>
            </p:cNvSpPr>
            <p:nvPr/>
          </p:nvSpPr>
          <p:spPr bwMode="auto">
            <a:xfrm>
              <a:off x="4043" y="693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/>
                <a:t>v</a:t>
              </a:r>
              <a:endParaRPr lang="en-US" altLang="zh-CN" dirty="0"/>
            </a:p>
          </p:txBody>
        </p:sp>
        <p:sp>
          <p:nvSpPr>
            <p:cNvPr id="363582" name="Rectangle 62"/>
            <p:cNvSpPr>
              <a:spLocks noChangeArrowheads="1"/>
            </p:cNvSpPr>
            <p:nvPr/>
          </p:nvSpPr>
          <p:spPr bwMode="auto">
            <a:xfrm>
              <a:off x="4512" y="384"/>
              <a:ext cx="480" cy="91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83" name="Text Box 63"/>
            <p:cNvSpPr txBox="1">
              <a:spLocks noChangeArrowheads="1"/>
            </p:cNvSpPr>
            <p:nvPr/>
          </p:nvSpPr>
          <p:spPr bwMode="auto">
            <a:xfrm>
              <a:off x="4608" y="672"/>
              <a:ext cx="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/>
                <a:t>N</a:t>
              </a:r>
              <a:r>
                <a:rPr lang="en-US" altLang="zh-CN" sz="3200" baseline="30000"/>
                <a:t>'</a:t>
              </a:r>
              <a:endParaRPr lang="en-US" altLang="zh-CN" sz="3200"/>
            </a:p>
          </p:txBody>
        </p:sp>
        <p:sp>
          <p:nvSpPr>
            <p:cNvPr id="363584" name="Text Box 64"/>
            <p:cNvSpPr txBox="1">
              <a:spLocks noChangeArrowheads="1"/>
            </p:cNvSpPr>
            <p:nvPr/>
          </p:nvSpPr>
          <p:spPr bwMode="auto">
            <a:xfrm>
              <a:off x="4080" y="1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a</a:t>
              </a:r>
              <a:endParaRPr lang="en-US" altLang="zh-CN"/>
            </a:p>
          </p:txBody>
        </p:sp>
        <p:sp>
          <p:nvSpPr>
            <p:cNvPr id="363585" name="Text Box 65"/>
            <p:cNvSpPr txBox="1">
              <a:spLocks noChangeArrowheads="1"/>
            </p:cNvSpPr>
            <p:nvPr/>
          </p:nvSpPr>
          <p:spPr bwMode="auto">
            <a:xfrm>
              <a:off x="4080" y="1219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b</a:t>
              </a:r>
              <a:endParaRPr lang="en-US" altLang="zh-CN" sz="3200">
                <a:solidFill>
                  <a:srgbClr val="0000FF"/>
                </a:solidFill>
              </a:endParaRPr>
            </a:p>
          </p:txBody>
        </p:sp>
        <p:sp>
          <p:nvSpPr>
            <p:cNvPr id="363586" name="Text Box 66"/>
            <p:cNvSpPr txBox="1">
              <a:spLocks noChangeArrowheads="1"/>
            </p:cNvSpPr>
            <p:nvPr/>
          </p:nvSpPr>
          <p:spPr bwMode="auto">
            <a:xfrm>
              <a:off x="3456" y="70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363587" name="Text Box 67"/>
            <p:cNvSpPr txBox="1">
              <a:spLocks noChangeArrowheads="1"/>
            </p:cNvSpPr>
            <p:nvPr/>
          </p:nvSpPr>
          <p:spPr bwMode="auto">
            <a:xfrm>
              <a:off x="3498" y="103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/>
                <a:t>–</a:t>
              </a:r>
            </a:p>
          </p:txBody>
        </p:sp>
        <p:sp>
          <p:nvSpPr>
            <p:cNvPr id="363588" name="Text Box 68"/>
            <p:cNvSpPr txBox="1">
              <a:spLocks noChangeArrowheads="1"/>
            </p:cNvSpPr>
            <p:nvPr/>
          </p:nvSpPr>
          <p:spPr bwMode="auto">
            <a:xfrm>
              <a:off x="3744" y="85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363589" name="Text Box 69"/>
            <p:cNvSpPr txBox="1">
              <a:spLocks noChangeArrowheads="1"/>
            </p:cNvSpPr>
            <p:nvPr/>
          </p:nvSpPr>
          <p:spPr bwMode="auto">
            <a:xfrm>
              <a:off x="3264" y="432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 err="1" smtClean="0"/>
                <a:t>R</a:t>
              </a:r>
              <a:r>
                <a:rPr lang="en-US" altLang="zh-CN" i="1" baseline="-25000" dirty="0" err="1" smtClean="0"/>
                <a:t>Th</a:t>
              </a:r>
              <a:endParaRPr lang="en-US" altLang="zh-CN" i="1" dirty="0"/>
            </a:p>
          </p:txBody>
        </p:sp>
        <p:sp>
          <p:nvSpPr>
            <p:cNvPr id="363590" name="Rectangle 70"/>
            <p:cNvSpPr>
              <a:spLocks noChangeArrowheads="1"/>
            </p:cNvSpPr>
            <p:nvPr/>
          </p:nvSpPr>
          <p:spPr bwMode="auto">
            <a:xfrm>
              <a:off x="3666" y="528"/>
              <a:ext cx="96" cy="240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91" name="Oval 71"/>
            <p:cNvSpPr>
              <a:spLocks noChangeArrowheads="1"/>
            </p:cNvSpPr>
            <p:nvPr/>
          </p:nvSpPr>
          <p:spPr bwMode="auto">
            <a:xfrm>
              <a:off x="4128" y="432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92" name="Oval 72"/>
            <p:cNvSpPr>
              <a:spLocks noChangeArrowheads="1"/>
            </p:cNvSpPr>
            <p:nvPr/>
          </p:nvSpPr>
          <p:spPr bwMode="auto">
            <a:xfrm>
              <a:off x="3600" y="877"/>
              <a:ext cx="227" cy="227"/>
            </a:xfrm>
            <a:prstGeom prst="ellipse">
              <a:avLst/>
            </a:prstGeom>
            <a:solidFill>
              <a:srgbClr val="FFCCCC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93" name="Oval 73"/>
            <p:cNvSpPr>
              <a:spLocks noChangeArrowheads="1"/>
            </p:cNvSpPr>
            <p:nvPr/>
          </p:nvSpPr>
          <p:spPr bwMode="auto">
            <a:xfrm>
              <a:off x="4128" y="1200"/>
              <a:ext cx="48" cy="4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94" name="Freeform 74"/>
            <p:cNvSpPr>
              <a:spLocks/>
            </p:cNvSpPr>
            <p:nvPr/>
          </p:nvSpPr>
          <p:spPr bwMode="auto">
            <a:xfrm>
              <a:off x="3714" y="876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595" name="Line 75"/>
            <p:cNvSpPr>
              <a:spLocks noChangeShapeType="1"/>
            </p:cNvSpPr>
            <p:nvPr/>
          </p:nvSpPr>
          <p:spPr bwMode="auto">
            <a:xfrm>
              <a:off x="3792" y="457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3596" name="Group 76"/>
          <p:cNvGrpSpPr>
            <a:grpSpLocks/>
          </p:cNvGrpSpPr>
          <p:nvPr/>
        </p:nvGrpSpPr>
        <p:grpSpPr bwMode="auto">
          <a:xfrm>
            <a:off x="2640013" y="2743200"/>
            <a:ext cx="6427788" cy="2016125"/>
            <a:chOff x="1663" y="1728"/>
            <a:chExt cx="4049" cy="1270"/>
          </a:xfrm>
        </p:grpSpPr>
        <p:grpSp>
          <p:nvGrpSpPr>
            <p:cNvPr id="363597" name="Group 77"/>
            <p:cNvGrpSpPr>
              <a:grpSpLocks/>
            </p:cNvGrpSpPr>
            <p:nvPr/>
          </p:nvGrpSpPr>
          <p:grpSpPr bwMode="auto">
            <a:xfrm>
              <a:off x="2208" y="1757"/>
              <a:ext cx="1248" cy="1241"/>
              <a:chOff x="2208" y="1757"/>
              <a:chExt cx="1248" cy="1241"/>
            </a:xfrm>
          </p:grpSpPr>
          <p:sp>
            <p:nvSpPr>
              <p:cNvPr id="363598" name="Text Box 78"/>
              <p:cNvSpPr txBox="1">
                <a:spLocks noChangeArrowheads="1"/>
              </p:cNvSpPr>
              <p:nvPr/>
            </p:nvSpPr>
            <p:spPr bwMode="auto">
              <a:xfrm>
                <a:off x="2291" y="2746"/>
                <a:ext cx="116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sz="2000" dirty="0"/>
                  <a:t>电流源</a:t>
                </a:r>
                <a:r>
                  <a:rPr lang="en-US" altLang="zh-CN" sz="2000" i="1" dirty="0" err="1">
                    <a:solidFill>
                      <a:srgbClr val="0000FF"/>
                    </a:solidFill>
                  </a:rPr>
                  <a:t>i</a:t>
                </a:r>
                <a:r>
                  <a:rPr lang="zh-CN" altLang="en-US" sz="2000" dirty="0"/>
                  <a:t>为零</a:t>
                </a:r>
              </a:p>
            </p:txBody>
          </p:sp>
          <p:grpSp>
            <p:nvGrpSpPr>
              <p:cNvPr id="363599" name="Group 79"/>
              <p:cNvGrpSpPr>
                <a:grpSpLocks/>
              </p:cNvGrpSpPr>
              <p:nvPr/>
            </p:nvGrpSpPr>
            <p:grpSpPr bwMode="auto">
              <a:xfrm>
                <a:off x="2208" y="1757"/>
                <a:ext cx="1148" cy="1075"/>
                <a:chOff x="2160" y="1757"/>
                <a:chExt cx="1148" cy="1075"/>
              </a:xfrm>
            </p:grpSpPr>
            <p:sp>
              <p:nvSpPr>
                <p:cNvPr id="363600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3024" y="1757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rgbClr val="0000FF"/>
                      </a:solidFill>
                    </a:rPr>
                    <a:t>a</a:t>
                  </a:r>
                  <a:endParaRPr lang="en-US" altLang="zh-CN"/>
                </a:p>
              </p:txBody>
            </p:sp>
            <p:sp>
              <p:nvSpPr>
                <p:cNvPr id="363601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024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rgbClr val="0000FF"/>
                      </a:solidFill>
                    </a:rPr>
                    <a:t>b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363602" name="Rectangle 82"/>
                <p:cNvSpPr>
                  <a:spLocks noChangeArrowheads="1"/>
                </p:cNvSpPr>
                <p:nvPr/>
              </p:nvSpPr>
              <p:spPr bwMode="auto">
                <a:xfrm>
                  <a:off x="2160" y="1949"/>
                  <a:ext cx="480" cy="720"/>
                </a:xfrm>
                <a:prstGeom prst="rect">
                  <a:avLst/>
                </a:prstGeom>
                <a:solidFill>
                  <a:srgbClr val="FFCCCC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3603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256" y="2093"/>
                  <a:ext cx="336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3600"/>
                    <a:t>A</a:t>
                  </a:r>
                  <a:endParaRPr lang="en-US" altLang="zh-CN"/>
                </a:p>
              </p:txBody>
            </p:sp>
            <p:sp>
              <p:nvSpPr>
                <p:cNvPr id="363604" name="Freeform 84"/>
                <p:cNvSpPr>
                  <a:spLocks/>
                </p:cNvSpPr>
                <p:nvPr/>
              </p:nvSpPr>
              <p:spPr bwMode="auto">
                <a:xfrm>
                  <a:off x="2640" y="2069"/>
                  <a:ext cx="504" cy="3"/>
                </a:xfrm>
                <a:custGeom>
                  <a:avLst/>
                  <a:gdLst>
                    <a:gd name="T0" fmla="*/ 0 w 504"/>
                    <a:gd name="T1" fmla="*/ 0 h 3"/>
                    <a:gd name="T2" fmla="*/ 504 w 504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04" h="3">
                      <a:moveTo>
                        <a:pt x="0" y="0"/>
                      </a:moveTo>
                      <a:lnTo>
                        <a:pt x="504" y="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3605" name="Freeform 85"/>
                <p:cNvSpPr>
                  <a:spLocks/>
                </p:cNvSpPr>
                <p:nvPr/>
              </p:nvSpPr>
              <p:spPr bwMode="auto">
                <a:xfrm>
                  <a:off x="2640" y="2546"/>
                  <a:ext cx="507" cy="3"/>
                </a:xfrm>
                <a:custGeom>
                  <a:avLst/>
                  <a:gdLst>
                    <a:gd name="T0" fmla="*/ 0 w 507"/>
                    <a:gd name="T1" fmla="*/ 3 h 3"/>
                    <a:gd name="T2" fmla="*/ 507 w 507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07" h="3">
                      <a:moveTo>
                        <a:pt x="0" y="3"/>
                      </a:moveTo>
                      <a:lnTo>
                        <a:pt x="507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3606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3024" y="2016"/>
                  <a:ext cx="19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/>
                    <a:t>+</a:t>
                  </a:r>
                </a:p>
              </p:txBody>
            </p:sp>
            <p:sp>
              <p:nvSpPr>
                <p:cNvPr id="363607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3024" y="230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/>
                    <a:t>–</a:t>
                  </a:r>
                </a:p>
              </p:txBody>
            </p:sp>
            <p:sp>
              <p:nvSpPr>
                <p:cNvPr id="363608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3020" y="2164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i="1" dirty="0"/>
                    <a:t>v'</a:t>
                  </a:r>
                  <a:endParaRPr lang="en-US" altLang="zh-CN" dirty="0"/>
                </a:p>
              </p:txBody>
            </p:sp>
            <p:sp>
              <p:nvSpPr>
                <p:cNvPr id="363609" name="Oval 89"/>
                <p:cNvSpPr>
                  <a:spLocks noChangeArrowheads="1"/>
                </p:cNvSpPr>
                <p:nvPr/>
              </p:nvSpPr>
              <p:spPr bwMode="auto">
                <a:xfrm>
                  <a:off x="3120" y="2045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3610" name="Oval 90"/>
                <p:cNvSpPr>
                  <a:spLocks noChangeArrowheads="1"/>
                </p:cNvSpPr>
                <p:nvPr/>
              </p:nvSpPr>
              <p:spPr bwMode="auto">
                <a:xfrm>
                  <a:off x="3120" y="2525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3611" name="Group 91"/>
            <p:cNvGrpSpPr>
              <a:grpSpLocks/>
            </p:cNvGrpSpPr>
            <p:nvPr/>
          </p:nvGrpSpPr>
          <p:grpSpPr bwMode="auto">
            <a:xfrm>
              <a:off x="3456" y="1728"/>
              <a:ext cx="2256" cy="1260"/>
              <a:chOff x="3456" y="1728"/>
              <a:chExt cx="2256" cy="1260"/>
            </a:xfrm>
          </p:grpSpPr>
          <p:sp>
            <p:nvSpPr>
              <p:cNvPr id="363612" name="Text Box 92"/>
              <p:cNvSpPr txBox="1">
                <a:spLocks noChangeArrowheads="1"/>
              </p:cNvSpPr>
              <p:nvPr/>
            </p:nvSpPr>
            <p:spPr bwMode="auto">
              <a:xfrm>
                <a:off x="3456" y="2064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3200">
                    <a:solidFill>
                      <a:srgbClr val="FF0000"/>
                    </a:solidFill>
                  </a:rPr>
                  <a:t>+</a:t>
                </a:r>
                <a:endParaRPr lang="en-US" altLang="zh-CN"/>
              </a:p>
            </p:txBody>
          </p:sp>
          <p:sp>
            <p:nvSpPr>
              <p:cNvPr id="363613" name="Text Box 93"/>
              <p:cNvSpPr txBox="1">
                <a:spLocks noChangeArrowheads="1"/>
              </p:cNvSpPr>
              <p:nvPr/>
            </p:nvSpPr>
            <p:spPr bwMode="auto">
              <a:xfrm>
                <a:off x="3727" y="2736"/>
                <a:ext cx="198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sz="2000" dirty="0"/>
                  <a:t>网络</a:t>
                </a:r>
                <a:r>
                  <a:rPr lang="en-US" altLang="zh-CN" sz="2000" dirty="0">
                    <a:solidFill>
                      <a:srgbClr val="0000FF"/>
                    </a:solidFill>
                  </a:rPr>
                  <a:t>A</a:t>
                </a:r>
                <a:r>
                  <a:rPr lang="zh-CN" altLang="en-US" sz="2000" dirty="0"/>
                  <a:t>中独立源全部置零</a:t>
                </a:r>
              </a:p>
            </p:txBody>
          </p:sp>
          <p:grpSp>
            <p:nvGrpSpPr>
              <p:cNvPr id="363614" name="Group 94"/>
              <p:cNvGrpSpPr>
                <a:grpSpLocks/>
              </p:cNvGrpSpPr>
              <p:nvPr/>
            </p:nvGrpSpPr>
            <p:grpSpPr bwMode="auto">
              <a:xfrm>
                <a:off x="3955" y="1728"/>
                <a:ext cx="1433" cy="1075"/>
                <a:chOff x="3955" y="1728"/>
                <a:chExt cx="1433" cy="1075"/>
              </a:xfrm>
            </p:grpSpPr>
            <p:grpSp>
              <p:nvGrpSpPr>
                <p:cNvPr id="363615" name="Group 95"/>
                <p:cNvGrpSpPr>
                  <a:grpSpLocks/>
                </p:cNvGrpSpPr>
                <p:nvPr/>
              </p:nvGrpSpPr>
              <p:grpSpPr bwMode="auto">
                <a:xfrm>
                  <a:off x="3980" y="1728"/>
                  <a:ext cx="1408" cy="1075"/>
                  <a:chOff x="3792" y="1728"/>
                  <a:chExt cx="1408" cy="1075"/>
                </a:xfrm>
              </p:grpSpPr>
              <p:sp>
                <p:nvSpPr>
                  <p:cNvPr id="363616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6" y="1728"/>
                    <a:ext cx="24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>
                        <a:solidFill>
                          <a:srgbClr val="0000FF"/>
                        </a:solidFill>
                      </a:rPr>
                      <a:t>a</a:t>
                    </a:r>
                    <a:endParaRPr lang="en-US" altLang="zh-CN"/>
                  </a:p>
                </p:txBody>
              </p:sp>
              <p:sp>
                <p:nvSpPr>
                  <p:cNvPr id="363617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515"/>
                    <a:ext cx="24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>
                        <a:solidFill>
                          <a:srgbClr val="0000FF"/>
                        </a:solidFill>
                      </a:rPr>
                      <a:t>b</a:t>
                    </a:r>
                    <a:endParaRPr lang="en-US" altLang="zh-CN" sz="3200">
                      <a:solidFill>
                        <a:srgbClr val="0000FF"/>
                      </a:solidFill>
                    </a:endParaRPr>
                  </a:p>
                </p:txBody>
              </p:sp>
              <p:sp>
                <p:nvSpPr>
                  <p:cNvPr id="363618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1920"/>
                    <a:ext cx="480" cy="72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CC00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19" name="Text Box 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92" y="1920"/>
                    <a:ext cx="336" cy="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3600"/>
                      <a:t>P</a:t>
                    </a:r>
                    <a:endParaRPr lang="en-US" altLang="zh-CN"/>
                  </a:p>
                </p:txBody>
              </p:sp>
              <p:sp>
                <p:nvSpPr>
                  <p:cNvPr id="363620" name="Freeform 100"/>
                  <p:cNvSpPr>
                    <a:spLocks/>
                  </p:cNvSpPr>
                  <p:nvPr/>
                </p:nvSpPr>
                <p:spPr bwMode="auto">
                  <a:xfrm>
                    <a:off x="4128" y="2040"/>
                    <a:ext cx="648" cy="6"/>
                  </a:xfrm>
                  <a:custGeom>
                    <a:avLst/>
                    <a:gdLst>
                      <a:gd name="T0" fmla="*/ 12 w 648"/>
                      <a:gd name="T1" fmla="*/ 6 h 6"/>
                      <a:gd name="T2" fmla="*/ 0 w 648"/>
                      <a:gd name="T3" fmla="*/ 0 h 6"/>
                      <a:gd name="T4" fmla="*/ 648 w 648"/>
                      <a:gd name="T5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48" h="6">
                        <a:moveTo>
                          <a:pt x="12" y="6"/>
                        </a:moveTo>
                        <a:lnTo>
                          <a:pt x="0" y="0"/>
                        </a:lnTo>
                        <a:lnTo>
                          <a:pt x="648" y="4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21" name="Freeform 101"/>
                  <p:cNvSpPr>
                    <a:spLocks/>
                  </p:cNvSpPr>
                  <p:nvPr/>
                </p:nvSpPr>
                <p:spPr bwMode="auto">
                  <a:xfrm>
                    <a:off x="4128" y="2508"/>
                    <a:ext cx="651" cy="9"/>
                  </a:xfrm>
                  <a:custGeom>
                    <a:avLst/>
                    <a:gdLst>
                      <a:gd name="T0" fmla="*/ 0 w 651"/>
                      <a:gd name="T1" fmla="*/ 0 h 9"/>
                      <a:gd name="T2" fmla="*/ 651 w 651"/>
                      <a:gd name="T3" fmla="*/ 9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51" h="9">
                        <a:moveTo>
                          <a:pt x="0" y="0"/>
                        </a:moveTo>
                        <a:lnTo>
                          <a:pt x="651" y="9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22" name="Line 10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808" y="2293"/>
                    <a:ext cx="31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stealth" w="sm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23" name="Text Box 1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60" y="2127"/>
                    <a:ext cx="24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i="1"/>
                      <a:t>i</a:t>
                    </a:r>
                    <a:endParaRPr lang="en-US" altLang="zh-CN" sz="3200"/>
                  </a:p>
                </p:txBody>
              </p:sp>
              <p:sp>
                <p:nvSpPr>
                  <p:cNvPr id="363624" name="Text Box 1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64" y="1968"/>
                    <a:ext cx="19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/>
                      <a:t>+</a:t>
                    </a:r>
                  </a:p>
                </p:txBody>
              </p:sp>
              <p:sp>
                <p:nvSpPr>
                  <p:cNvPr id="363625" name="Text Box 1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69" y="2289"/>
                    <a:ext cx="24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dirty="0"/>
                      <a:t>–</a:t>
                    </a:r>
                  </a:p>
                </p:txBody>
              </p:sp>
              <p:sp>
                <p:nvSpPr>
                  <p:cNvPr id="363626" name="Text Box 1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49" y="2157"/>
                    <a:ext cx="336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i="1" dirty="0"/>
                      <a:t>v''</a:t>
                    </a:r>
                    <a:endParaRPr lang="en-US" altLang="zh-CN" dirty="0"/>
                  </a:p>
                </p:txBody>
              </p:sp>
              <p:sp>
                <p:nvSpPr>
                  <p:cNvPr id="363627" name="Oval 107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016"/>
                    <a:ext cx="48" cy="48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28" name="Oval 108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96"/>
                    <a:ext cx="48" cy="48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29" name="Oval 109"/>
                  <p:cNvSpPr>
                    <a:spLocks noChangeArrowheads="1"/>
                  </p:cNvSpPr>
                  <p:nvPr/>
                </p:nvSpPr>
                <p:spPr bwMode="auto">
                  <a:xfrm>
                    <a:off x="4656" y="2160"/>
                    <a:ext cx="240" cy="240"/>
                  </a:xfrm>
                  <a:prstGeom prst="ellipse">
                    <a:avLst/>
                  </a:prstGeom>
                  <a:solidFill>
                    <a:srgbClr val="CCFFFF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30" name="Freeform 110"/>
                  <p:cNvSpPr>
                    <a:spLocks/>
                  </p:cNvSpPr>
                  <p:nvPr/>
                </p:nvSpPr>
                <p:spPr bwMode="auto">
                  <a:xfrm>
                    <a:off x="4776" y="2040"/>
                    <a:ext cx="1" cy="120"/>
                  </a:xfrm>
                  <a:custGeom>
                    <a:avLst/>
                    <a:gdLst>
                      <a:gd name="T0" fmla="*/ 0 w 1"/>
                      <a:gd name="T1" fmla="*/ 0 h 120"/>
                      <a:gd name="T2" fmla="*/ 0 w 1"/>
                      <a:gd name="T3" fmla="*/ 120 h 1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20">
                        <a:moveTo>
                          <a:pt x="0" y="0"/>
                        </a:moveTo>
                        <a:lnTo>
                          <a:pt x="0" y="12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31" name="Freeform 111"/>
                  <p:cNvSpPr>
                    <a:spLocks/>
                  </p:cNvSpPr>
                  <p:nvPr/>
                </p:nvSpPr>
                <p:spPr bwMode="auto">
                  <a:xfrm>
                    <a:off x="4779" y="2403"/>
                    <a:ext cx="1" cy="117"/>
                  </a:xfrm>
                  <a:custGeom>
                    <a:avLst/>
                    <a:gdLst>
                      <a:gd name="T0" fmla="*/ 0 w 1"/>
                      <a:gd name="T1" fmla="*/ 0 h 117"/>
                      <a:gd name="T2" fmla="*/ 0 w 1"/>
                      <a:gd name="T3" fmla="*/ 117 h 1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17">
                        <a:moveTo>
                          <a:pt x="0" y="0"/>
                        </a:moveTo>
                        <a:lnTo>
                          <a:pt x="0" y="117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32" name="Freeform 112"/>
                  <p:cNvSpPr>
                    <a:spLocks/>
                  </p:cNvSpPr>
                  <p:nvPr/>
                </p:nvSpPr>
                <p:spPr bwMode="auto">
                  <a:xfrm>
                    <a:off x="4653" y="2283"/>
                    <a:ext cx="237" cy="1"/>
                  </a:xfrm>
                  <a:custGeom>
                    <a:avLst/>
                    <a:gdLst>
                      <a:gd name="T0" fmla="*/ 0 w 237"/>
                      <a:gd name="T1" fmla="*/ 0 h 1"/>
                      <a:gd name="T2" fmla="*/ 237 w 237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37" h="1">
                        <a:moveTo>
                          <a:pt x="0" y="0"/>
                        </a:moveTo>
                        <a:lnTo>
                          <a:pt x="237" y="0"/>
                        </a:ln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3633" name="Group 113"/>
                <p:cNvGrpSpPr>
                  <a:grpSpLocks/>
                </p:cNvGrpSpPr>
                <p:nvPr/>
              </p:nvGrpSpPr>
              <p:grpSpPr bwMode="auto">
                <a:xfrm>
                  <a:off x="3955" y="2046"/>
                  <a:ext cx="411" cy="510"/>
                  <a:chOff x="3767" y="2040"/>
                  <a:chExt cx="411" cy="510"/>
                </a:xfrm>
              </p:grpSpPr>
              <p:sp>
                <p:nvSpPr>
                  <p:cNvPr id="363634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4082" y="2154"/>
                    <a:ext cx="96" cy="240"/>
                  </a:xfrm>
                  <a:prstGeom prst="rect">
                    <a:avLst/>
                  </a:prstGeom>
                  <a:solidFill>
                    <a:srgbClr val="FFCCCC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35" name="Freeform 115"/>
                  <p:cNvSpPr>
                    <a:spLocks/>
                  </p:cNvSpPr>
                  <p:nvPr/>
                </p:nvSpPr>
                <p:spPr bwMode="auto">
                  <a:xfrm>
                    <a:off x="4130" y="2040"/>
                    <a:ext cx="1" cy="114"/>
                  </a:xfrm>
                  <a:custGeom>
                    <a:avLst/>
                    <a:gdLst>
                      <a:gd name="T0" fmla="*/ 0 w 1"/>
                      <a:gd name="T1" fmla="*/ 0 h 114"/>
                      <a:gd name="T2" fmla="*/ 1 w 1"/>
                      <a:gd name="T3" fmla="*/ 114 h 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14">
                        <a:moveTo>
                          <a:pt x="0" y="0"/>
                        </a:moveTo>
                        <a:lnTo>
                          <a:pt x="1" y="114"/>
                        </a:lnTo>
                      </a:path>
                    </a:pathLst>
                  </a:custGeom>
                  <a:solidFill>
                    <a:srgbClr val="FFCCCC"/>
                  </a:solidFill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36" name="Freeform 116"/>
                  <p:cNvSpPr>
                    <a:spLocks/>
                  </p:cNvSpPr>
                  <p:nvPr/>
                </p:nvSpPr>
                <p:spPr bwMode="auto">
                  <a:xfrm>
                    <a:off x="4126" y="2394"/>
                    <a:ext cx="1" cy="114"/>
                  </a:xfrm>
                  <a:custGeom>
                    <a:avLst/>
                    <a:gdLst>
                      <a:gd name="T0" fmla="*/ 0 w 1"/>
                      <a:gd name="T1" fmla="*/ 0 h 114"/>
                      <a:gd name="T2" fmla="*/ 0 w 1"/>
                      <a:gd name="T3" fmla="*/ 114 h 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14">
                        <a:moveTo>
                          <a:pt x="0" y="0"/>
                        </a:moveTo>
                        <a:lnTo>
                          <a:pt x="0" y="114"/>
                        </a:lnTo>
                      </a:path>
                    </a:pathLst>
                  </a:custGeom>
                  <a:solidFill>
                    <a:srgbClr val="FFCCCC"/>
                  </a:solidFill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637" name="Text Box 1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67" y="2259"/>
                    <a:ext cx="39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CCCC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i="1" dirty="0" err="1" smtClean="0"/>
                      <a:t>R</a:t>
                    </a:r>
                    <a:r>
                      <a:rPr lang="en-US" altLang="zh-CN" i="1" baseline="-25000" dirty="0" err="1" smtClean="0"/>
                      <a:t>Th</a:t>
                    </a:r>
                    <a:endParaRPr lang="en-US" altLang="zh-CN" i="1" dirty="0"/>
                  </a:p>
                </p:txBody>
              </p:sp>
            </p:grpSp>
          </p:grpSp>
        </p:grpSp>
        <p:grpSp>
          <p:nvGrpSpPr>
            <p:cNvPr id="363638" name="Group 118"/>
            <p:cNvGrpSpPr>
              <a:grpSpLocks/>
            </p:cNvGrpSpPr>
            <p:nvPr/>
          </p:nvGrpSpPr>
          <p:grpSpPr bwMode="auto">
            <a:xfrm>
              <a:off x="1663" y="1986"/>
              <a:ext cx="449" cy="491"/>
              <a:chOff x="1663" y="1986"/>
              <a:chExt cx="449" cy="491"/>
            </a:xfrm>
          </p:grpSpPr>
          <p:sp>
            <p:nvSpPr>
              <p:cNvPr id="363639" name="Text Box 119"/>
              <p:cNvSpPr txBox="1">
                <a:spLocks noChangeArrowheads="1"/>
              </p:cNvSpPr>
              <p:nvPr/>
            </p:nvSpPr>
            <p:spPr bwMode="auto">
              <a:xfrm>
                <a:off x="1776" y="2112"/>
                <a:ext cx="3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3200">
                    <a:solidFill>
                      <a:srgbClr val="FF0000"/>
                    </a:solidFill>
                  </a:rPr>
                  <a:t>=</a:t>
                </a:r>
                <a:endParaRPr lang="en-US" altLang="zh-CN"/>
              </a:p>
            </p:txBody>
          </p:sp>
          <p:sp>
            <p:nvSpPr>
              <p:cNvPr id="363640" name="Text Box 120"/>
              <p:cNvSpPr txBox="1">
                <a:spLocks noChangeArrowheads="1"/>
              </p:cNvSpPr>
              <p:nvPr/>
            </p:nvSpPr>
            <p:spPr bwMode="auto">
              <a:xfrm>
                <a:off x="1663" y="1986"/>
                <a:ext cx="44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zh-CN" altLang="en-US" sz="2000" dirty="0">
                    <a:solidFill>
                      <a:srgbClr val="FF3300"/>
                    </a:solidFill>
                    <a:ea typeface="楷体_GB2312" pitchFamily="49" charset="-122"/>
                  </a:rPr>
                  <a:t>叠加</a:t>
                </a:r>
                <a:endParaRPr kumimoji="0" lang="zh-CN" altLang="en-US" sz="2000" dirty="0">
                  <a:solidFill>
                    <a:srgbClr val="0000FF"/>
                  </a:solidFill>
                  <a:ea typeface="楷体_GB2312" pitchFamily="49" charset="-122"/>
                </a:endParaRP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1" name="Text Box 3"/>
          <p:cNvSpPr txBox="1">
            <a:spLocks noChangeArrowheads="1"/>
          </p:cNvSpPr>
          <p:nvPr/>
        </p:nvSpPr>
        <p:spPr bwMode="auto">
          <a:xfrm>
            <a:off x="838200" y="1551070"/>
            <a:ext cx="73391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57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47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/>
              <a:t>任何一个含独立电源、线性电阻和线性受控源</a:t>
            </a:r>
            <a:r>
              <a:rPr lang="zh-CN" altLang="en-US" dirty="0" smtClean="0"/>
              <a:t>的二端口</a:t>
            </a:r>
            <a:r>
              <a:rPr lang="zh-CN" altLang="en-US" dirty="0"/>
              <a:t>，对外电路来说，可以用一个电流源</a:t>
            </a:r>
            <a:r>
              <a:rPr lang="zh-CN" altLang="en-US" dirty="0" smtClean="0"/>
              <a:t>和电阻的</a:t>
            </a:r>
            <a:r>
              <a:rPr lang="zh-CN" altLang="en-US" dirty="0"/>
              <a:t>并联来等效替代；其中电流源的电流等于该一端口的</a:t>
            </a:r>
            <a:r>
              <a:rPr lang="zh-CN" altLang="en-US" dirty="0" smtClean="0"/>
              <a:t>短路电流 </a:t>
            </a:r>
            <a:r>
              <a:rPr lang="en-US" altLang="zh-CN" i="1" dirty="0" err="1" smtClean="0"/>
              <a:t>i</a:t>
            </a:r>
            <a:r>
              <a:rPr lang="en-US" altLang="zh-CN" i="1" baseline="-12000" dirty="0" err="1" smtClean="0"/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zh-CN" altLang="en-US" dirty="0"/>
              <a:t>而电阻等于把该一端口的全部独立电源置零后的</a:t>
            </a:r>
            <a:r>
              <a:rPr lang="zh-CN" altLang="en-US" dirty="0" smtClean="0"/>
              <a:t>输入电阻 </a:t>
            </a:r>
            <a:r>
              <a:rPr lang="en-US" altLang="zh-CN" i="1" dirty="0" smtClean="0"/>
              <a:t>R</a:t>
            </a:r>
            <a:r>
              <a:rPr lang="en-US" altLang="zh-CN" i="1" baseline="-12000" dirty="0" smtClean="0"/>
              <a:t>N 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65618" name="Text Box 50"/>
          <p:cNvSpPr txBox="1">
            <a:spLocks noChangeArrowheads="1"/>
          </p:cNvSpPr>
          <p:nvPr/>
        </p:nvSpPr>
        <p:spPr bwMode="auto">
          <a:xfrm>
            <a:off x="327025" y="609600"/>
            <a:ext cx="2714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zh-CN" altLang="en-US" dirty="0" smtClean="0">
                <a:solidFill>
                  <a:srgbClr val="990033"/>
                </a:solidFill>
              </a:rPr>
              <a:t>二、诺</a:t>
            </a:r>
            <a:r>
              <a:rPr lang="zh-CN" altLang="en-US" dirty="0">
                <a:solidFill>
                  <a:srgbClr val="990033"/>
                </a:solidFill>
              </a:rPr>
              <a:t>顿定理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4" name="AutoShape 6"/>
          <p:cNvSpPr>
            <a:spLocks noChangeArrowheads="1"/>
          </p:cNvSpPr>
          <p:nvPr/>
        </p:nvSpPr>
        <p:spPr bwMode="auto">
          <a:xfrm>
            <a:off x="3962400" y="1685925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65575" name="Group 7"/>
          <p:cNvGrpSpPr>
            <a:grpSpLocks/>
          </p:cNvGrpSpPr>
          <p:nvPr/>
        </p:nvGrpSpPr>
        <p:grpSpPr bwMode="auto">
          <a:xfrm>
            <a:off x="1447800" y="1152525"/>
            <a:ext cx="2174875" cy="1371600"/>
            <a:chOff x="912" y="2016"/>
            <a:chExt cx="1370" cy="864"/>
          </a:xfrm>
        </p:grpSpPr>
        <p:sp>
          <p:nvSpPr>
            <p:cNvPr id="365576" name="Rectangle 8"/>
            <p:cNvSpPr>
              <a:spLocks noChangeArrowheads="1"/>
            </p:cNvSpPr>
            <p:nvPr/>
          </p:nvSpPr>
          <p:spPr bwMode="auto">
            <a:xfrm>
              <a:off x="912" y="2064"/>
              <a:ext cx="528" cy="816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77" name="Text Box 9"/>
            <p:cNvSpPr txBox="1">
              <a:spLocks noChangeArrowheads="1"/>
            </p:cNvSpPr>
            <p:nvPr/>
          </p:nvSpPr>
          <p:spPr bwMode="auto">
            <a:xfrm>
              <a:off x="1038" y="2304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A</a:t>
              </a:r>
              <a:endParaRPr lang="en-US" altLang="zh-CN"/>
            </a:p>
          </p:txBody>
        </p:sp>
        <p:sp>
          <p:nvSpPr>
            <p:cNvPr id="365578" name="Freeform 10"/>
            <p:cNvSpPr>
              <a:spLocks/>
            </p:cNvSpPr>
            <p:nvPr/>
          </p:nvSpPr>
          <p:spPr bwMode="auto">
            <a:xfrm>
              <a:off x="1442" y="2195"/>
              <a:ext cx="528" cy="1"/>
            </a:xfrm>
            <a:custGeom>
              <a:avLst/>
              <a:gdLst>
                <a:gd name="T0" fmla="*/ 0 w 528"/>
                <a:gd name="T1" fmla="*/ 1 h 1"/>
                <a:gd name="T2" fmla="*/ 528 w 52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8" h="1">
                  <a:moveTo>
                    <a:pt x="0" y="1"/>
                  </a:move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79" name="Freeform 11"/>
            <p:cNvSpPr>
              <a:spLocks/>
            </p:cNvSpPr>
            <p:nvPr/>
          </p:nvSpPr>
          <p:spPr bwMode="auto">
            <a:xfrm>
              <a:off x="1446" y="2748"/>
              <a:ext cx="516" cy="1"/>
            </a:xfrm>
            <a:custGeom>
              <a:avLst/>
              <a:gdLst>
                <a:gd name="T0" fmla="*/ 0 w 516"/>
                <a:gd name="T1" fmla="*/ 0 h 1"/>
                <a:gd name="T2" fmla="*/ 516 w 51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6" h="1">
                  <a:moveTo>
                    <a:pt x="0" y="0"/>
                  </a:moveTo>
                  <a:lnTo>
                    <a:pt x="51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80" name="Oval 12"/>
            <p:cNvSpPr>
              <a:spLocks noChangeArrowheads="1"/>
            </p:cNvSpPr>
            <p:nvPr/>
          </p:nvSpPr>
          <p:spPr bwMode="auto">
            <a:xfrm>
              <a:off x="1968" y="216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81" name="Oval 13"/>
            <p:cNvSpPr>
              <a:spLocks noChangeArrowheads="1"/>
            </p:cNvSpPr>
            <p:nvPr/>
          </p:nvSpPr>
          <p:spPr bwMode="auto">
            <a:xfrm>
              <a:off x="1968" y="271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82" name="Text Box 14"/>
            <p:cNvSpPr txBox="1">
              <a:spLocks noChangeArrowheads="1"/>
            </p:cNvSpPr>
            <p:nvPr/>
          </p:nvSpPr>
          <p:spPr bwMode="auto">
            <a:xfrm>
              <a:off x="2059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a</a:t>
              </a:r>
              <a:endParaRPr lang="en-US" altLang="zh-CN"/>
            </a:p>
          </p:txBody>
        </p:sp>
        <p:sp>
          <p:nvSpPr>
            <p:cNvPr id="365583" name="Text Box 15"/>
            <p:cNvSpPr txBox="1">
              <a:spLocks noChangeArrowheads="1"/>
            </p:cNvSpPr>
            <p:nvPr/>
          </p:nvSpPr>
          <p:spPr bwMode="auto">
            <a:xfrm>
              <a:off x="2059" y="259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b</a:t>
              </a:r>
              <a:endParaRPr lang="en-US" altLang="zh-CN"/>
            </a:p>
          </p:txBody>
        </p:sp>
      </p:grpSp>
      <p:grpSp>
        <p:nvGrpSpPr>
          <p:cNvPr id="365601" name="Group 33"/>
          <p:cNvGrpSpPr>
            <a:grpSpLocks/>
          </p:cNvGrpSpPr>
          <p:nvPr/>
        </p:nvGrpSpPr>
        <p:grpSpPr bwMode="auto">
          <a:xfrm>
            <a:off x="1069975" y="3519488"/>
            <a:ext cx="6924675" cy="1828800"/>
            <a:chOff x="674" y="2919"/>
            <a:chExt cx="4362" cy="1152"/>
          </a:xfrm>
        </p:grpSpPr>
        <p:sp>
          <p:nvSpPr>
            <p:cNvPr id="365602" name="Text Box 34"/>
            <p:cNvSpPr txBox="1">
              <a:spLocks noChangeArrowheads="1"/>
            </p:cNvSpPr>
            <p:nvPr/>
          </p:nvSpPr>
          <p:spPr bwMode="auto">
            <a:xfrm>
              <a:off x="674" y="3283"/>
              <a:ext cx="263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/>
                <a:t>        </a:t>
              </a:r>
              <a:r>
                <a:rPr lang="zh-CN" altLang="en-US"/>
                <a:t>诺顿等效电路可由戴维南等效电路经电源等效变换得到。</a:t>
              </a:r>
            </a:p>
          </p:txBody>
        </p:sp>
        <p:grpSp>
          <p:nvGrpSpPr>
            <p:cNvPr id="365603" name="Group 35"/>
            <p:cNvGrpSpPr>
              <a:grpSpLocks/>
            </p:cNvGrpSpPr>
            <p:nvPr/>
          </p:nvGrpSpPr>
          <p:grpSpPr bwMode="auto">
            <a:xfrm>
              <a:off x="3666" y="2919"/>
              <a:ext cx="1370" cy="1152"/>
              <a:chOff x="2998" y="2688"/>
              <a:chExt cx="1370" cy="1152"/>
            </a:xfrm>
          </p:grpSpPr>
          <p:sp>
            <p:nvSpPr>
              <p:cNvPr id="365604" name="Line 36"/>
              <p:cNvSpPr>
                <a:spLocks noChangeShapeType="1"/>
              </p:cNvSpPr>
              <p:nvPr/>
            </p:nvSpPr>
            <p:spPr bwMode="auto">
              <a:xfrm>
                <a:off x="3456" y="288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5605" name="Line 37"/>
              <p:cNvSpPr>
                <a:spLocks noChangeShapeType="1"/>
              </p:cNvSpPr>
              <p:nvPr/>
            </p:nvSpPr>
            <p:spPr bwMode="auto">
              <a:xfrm>
                <a:off x="3456" y="2880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5606" name="Line 38"/>
              <p:cNvSpPr>
                <a:spLocks noChangeShapeType="1"/>
              </p:cNvSpPr>
              <p:nvPr/>
            </p:nvSpPr>
            <p:spPr bwMode="auto">
              <a:xfrm>
                <a:off x="3456" y="3744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5607" name="Text Box 39"/>
              <p:cNvSpPr txBox="1">
                <a:spLocks noChangeArrowheads="1"/>
              </p:cNvSpPr>
              <p:nvPr/>
            </p:nvSpPr>
            <p:spPr bwMode="auto">
              <a:xfrm>
                <a:off x="4032" y="268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365608" name="Text Box 40"/>
              <p:cNvSpPr txBox="1">
                <a:spLocks noChangeArrowheads="1"/>
              </p:cNvSpPr>
              <p:nvPr/>
            </p:nvSpPr>
            <p:spPr bwMode="auto">
              <a:xfrm>
                <a:off x="4032" y="35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0000FF"/>
                    </a:solidFill>
                  </a:rPr>
                  <a:t>b</a:t>
                </a:r>
              </a:p>
            </p:txBody>
          </p:sp>
          <p:sp>
            <p:nvSpPr>
              <p:cNvPr id="365609" name="Rectangle 41"/>
              <p:cNvSpPr>
                <a:spLocks noChangeArrowheads="1"/>
              </p:cNvSpPr>
              <p:nvPr/>
            </p:nvSpPr>
            <p:spPr bwMode="auto">
              <a:xfrm>
                <a:off x="3408" y="2976"/>
                <a:ext cx="96" cy="288"/>
              </a:xfrm>
              <a:prstGeom prst="rect">
                <a:avLst/>
              </a:prstGeom>
              <a:solidFill>
                <a:srgbClr val="66FF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5610" name="Text Box 42"/>
              <p:cNvSpPr txBox="1">
                <a:spLocks noChangeArrowheads="1"/>
              </p:cNvSpPr>
              <p:nvPr/>
            </p:nvSpPr>
            <p:spPr bwMode="auto">
              <a:xfrm>
                <a:off x="2998" y="2936"/>
                <a:ext cx="49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 err="1" smtClean="0"/>
                  <a:t>R</a:t>
                </a:r>
                <a:r>
                  <a:rPr lang="en-US" altLang="zh-CN" i="1" baseline="-25000" dirty="0" err="1" smtClean="0"/>
                  <a:t>Th</a:t>
                </a:r>
                <a:endParaRPr lang="en-US" altLang="zh-CN" i="1" dirty="0"/>
              </a:p>
            </p:txBody>
          </p:sp>
          <p:sp>
            <p:nvSpPr>
              <p:cNvPr id="365611" name="Oval 43"/>
              <p:cNvSpPr>
                <a:spLocks noChangeArrowheads="1"/>
              </p:cNvSpPr>
              <p:nvPr/>
            </p:nvSpPr>
            <p:spPr bwMode="auto">
              <a:xfrm>
                <a:off x="3360" y="3408"/>
                <a:ext cx="192" cy="192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365612" name="AutoShape 44"/>
              <p:cNvCxnSpPr>
                <a:cxnSpLocks noChangeShapeType="1"/>
                <a:stCxn id="365611" idx="0"/>
                <a:endCxn id="365611" idx="4"/>
              </p:cNvCxnSpPr>
              <p:nvPr/>
            </p:nvCxnSpPr>
            <p:spPr bwMode="auto">
              <a:xfrm>
                <a:off x="3456" y="3399"/>
                <a:ext cx="0" cy="21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65613" name="Text Box 45"/>
              <p:cNvSpPr txBox="1">
                <a:spLocks noChangeArrowheads="1"/>
              </p:cNvSpPr>
              <p:nvPr/>
            </p:nvSpPr>
            <p:spPr bwMode="auto">
              <a:xfrm>
                <a:off x="3028" y="3314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 err="1" smtClean="0"/>
                  <a:t>v</a:t>
                </a:r>
                <a:r>
                  <a:rPr lang="en-US" altLang="zh-CN" i="1" baseline="-25000" dirty="0" err="1" smtClean="0"/>
                  <a:t>Th</a:t>
                </a:r>
                <a:endParaRPr lang="en-US" altLang="zh-CN" i="1" dirty="0"/>
              </a:p>
            </p:txBody>
          </p:sp>
          <p:sp>
            <p:nvSpPr>
              <p:cNvPr id="365614" name="Oval 46"/>
              <p:cNvSpPr>
                <a:spLocks noChangeArrowheads="1"/>
              </p:cNvSpPr>
              <p:nvPr/>
            </p:nvSpPr>
            <p:spPr bwMode="auto">
              <a:xfrm>
                <a:off x="3984" y="3706"/>
                <a:ext cx="68" cy="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5615" name="Oval 47"/>
              <p:cNvSpPr>
                <a:spLocks noChangeArrowheads="1"/>
              </p:cNvSpPr>
              <p:nvPr/>
            </p:nvSpPr>
            <p:spPr bwMode="auto">
              <a:xfrm>
                <a:off x="3984" y="2842"/>
                <a:ext cx="68" cy="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5616" name="Text Box 48"/>
              <p:cNvSpPr txBox="1">
                <a:spLocks noChangeArrowheads="1"/>
              </p:cNvSpPr>
              <p:nvPr/>
            </p:nvSpPr>
            <p:spPr bwMode="auto">
              <a:xfrm>
                <a:off x="3232" y="3216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365617" name="Text Box 49"/>
              <p:cNvSpPr txBox="1">
                <a:spLocks noChangeArrowheads="1"/>
              </p:cNvSpPr>
              <p:nvPr/>
            </p:nvSpPr>
            <p:spPr bwMode="auto">
              <a:xfrm>
                <a:off x="3244" y="353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黑体" pitchFamily="49" charset="-122"/>
                    <a:ea typeface="黑体" pitchFamily="49" charset="-122"/>
                  </a:rPr>
                  <a:t>-</a:t>
                </a:r>
                <a:endParaRPr lang="en-US" altLang="zh-CN" dirty="0"/>
              </a:p>
            </p:txBody>
          </p:sp>
        </p:grpSp>
      </p:grpSp>
      <p:grpSp>
        <p:nvGrpSpPr>
          <p:cNvPr id="365621" name="Group 53"/>
          <p:cNvGrpSpPr>
            <a:grpSpLocks/>
          </p:cNvGrpSpPr>
          <p:nvPr/>
        </p:nvGrpSpPr>
        <p:grpSpPr bwMode="auto">
          <a:xfrm>
            <a:off x="5024438" y="923925"/>
            <a:ext cx="2671762" cy="1828800"/>
            <a:chOff x="3165" y="1872"/>
            <a:chExt cx="1683" cy="1152"/>
          </a:xfrm>
        </p:grpSpPr>
        <p:sp>
          <p:nvSpPr>
            <p:cNvPr id="365585" name="Text Box 17"/>
            <p:cNvSpPr txBox="1">
              <a:spLocks noChangeArrowheads="1"/>
            </p:cNvSpPr>
            <p:nvPr/>
          </p:nvSpPr>
          <p:spPr bwMode="auto">
            <a:xfrm>
              <a:off x="4512" y="18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365586" name="Text Box 18"/>
            <p:cNvSpPr txBox="1">
              <a:spLocks noChangeArrowheads="1"/>
            </p:cNvSpPr>
            <p:nvPr/>
          </p:nvSpPr>
          <p:spPr bwMode="auto">
            <a:xfrm>
              <a:off x="4512" y="27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365587" name="Rectangle 19"/>
            <p:cNvSpPr>
              <a:spLocks noChangeArrowheads="1"/>
            </p:cNvSpPr>
            <p:nvPr/>
          </p:nvSpPr>
          <p:spPr bwMode="auto">
            <a:xfrm>
              <a:off x="3936" y="2352"/>
              <a:ext cx="96" cy="288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88" name="Text Box 20"/>
            <p:cNvSpPr txBox="1">
              <a:spLocks noChangeArrowheads="1"/>
            </p:cNvSpPr>
            <p:nvPr/>
          </p:nvSpPr>
          <p:spPr bwMode="auto">
            <a:xfrm>
              <a:off x="4032" y="2352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 smtClean="0"/>
                <a:t>R</a:t>
              </a:r>
              <a:r>
                <a:rPr lang="en-US" altLang="zh-CN" i="1" baseline="-25000" dirty="0" smtClean="0"/>
                <a:t>N</a:t>
              </a:r>
              <a:endParaRPr lang="en-US" altLang="zh-CN" i="1" dirty="0"/>
            </a:p>
          </p:txBody>
        </p:sp>
        <p:sp>
          <p:nvSpPr>
            <p:cNvPr id="365589" name="Oval 21"/>
            <p:cNvSpPr>
              <a:spLocks noChangeArrowheads="1"/>
            </p:cNvSpPr>
            <p:nvPr/>
          </p:nvSpPr>
          <p:spPr bwMode="auto">
            <a:xfrm>
              <a:off x="3373" y="2400"/>
              <a:ext cx="227" cy="227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0" name="Text Box 22"/>
            <p:cNvSpPr txBox="1">
              <a:spLocks noChangeArrowheads="1"/>
            </p:cNvSpPr>
            <p:nvPr/>
          </p:nvSpPr>
          <p:spPr bwMode="auto">
            <a:xfrm>
              <a:off x="3165" y="2115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i="1" dirty="0" err="1" smtClean="0"/>
                <a:t>i</a:t>
              </a:r>
              <a:r>
                <a:rPr lang="en-US" altLang="zh-CN" i="1" baseline="-25000" dirty="0" err="1" smtClean="0"/>
                <a:t>N</a:t>
              </a:r>
              <a:endParaRPr lang="en-US" altLang="zh-CN" i="1" dirty="0"/>
            </a:p>
          </p:txBody>
        </p:sp>
        <p:sp>
          <p:nvSpPr>
            <p:cNvPr id="365591" name="Oval 23"/>
            <p:cNvSpPr>
              <a:spLocks noChangeArrowheads="1"/>
            </p:cNvSpPr>
            <p:nvPr/>
          </p:nvSpPr>
          <p:spPr bwMode="auto">
            <a:xfrm>
              <a:off x="4416" y="2880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2" name="Oval 24"/>
            <p:cNvSpPr>
              <a:spLocks noChangeArrowheads="1"/>
            </p:cNvSpPr>
            <p:nvPr/>
          </p:nvSpPr>
          <p:spPr bwMode="auto">
            <a:xfrm>
              <a:off x="4416" y="2051"/>
              <a:ext cx="61" cy="6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3" name="Freeform 25"/>
            <p:cNvSpPr>
              <a:spLocks/>
            </p:cNvSpPr>
            <p:nvPr/>
          </p:nvSpPr>
          <p:spPr bwMode="auto">
            <a:xfrm>
              <a:off x="3480" y="2913"/>
              <a:ext cx="936" cy="2"/>
            </a:xfrm>
            <a:custGeom>
              <a:avLst/>
              <a:gdLst>
                <a:gd name="T0" fmla="*/ 0 w 936"/>
                <a:gd name="T1" fmla="*/ 0 h 2"/>
                <a:gd name="T2" fmla="*/ 936 w 936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36" h="2">
                  <a:moveTo>
                    <a:pt x="0" y="0"/>
                  </a:moveTo>
                  <a:lnTo>
                    <a:pt x="936" y="2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4" name="Freeform 26"/>
            <p:cNvSpPr>
              <a:spLocks/>
            </p:cNvSpPr>
            <p:nvPr/>
          </p:nvSpPr>
          <p:spPr bwMode="auto">
            <a:xfrm>
              <a:off x="3477" y="2076"/>
              <a:ext cx="942" cy="1"/>
            </a:xfrm>
            <a:custGeom>
              <a:avLst/>
              <a:gdLst>
                <a:gd name="T0" fmla="*/ 0 w 942"/>
                <a:gd name="T1" fmla="*/ 0 h 1"/>
                <a:gd name="T2" fmla="*/ 942 w 94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42" h="1">
                  <a:moveTo>
                    <a:pt x="0" y="0"/>
                  </a:moveTo>
                  <a:lnTo>
                    <a:pt x="94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5" name="Freeform 27"/>
            <p:cNvSpPr>
              <a:spLocks/>
            </p:cNvSpPr>
            <p:nvPr/>
          </p:nvSpPr>
          <p:spPr bwMode="auto">
            <a:xfrm>
              <a:off x="3989" y="2076"/>
              <a:ext cx="1" cy="276"/>
            </a:xfrm>
            <a:custGeom>
              <a:avLst/>
              <a:gdLst>
                <a:gd name="T0" fmla="*/ 0 w 1"/>
                <a:gd name="T1" fmla="*/ 0 h 276"/>
                <a:gd name="T2" fmla="*/ 1 w 1"/>
                <a:gd name="T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6">
                  <a:moveTo>
                    <a:pt x="0" y="0"/>
                  </a:moveTo>
                  <a:lnTo>
                    <a:pt x="1" y="27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6" name="Freeform 28"/>
            <p:cNvSpPr>
              <a:spLocks/>
            </p:cNvSpPr>
            <p:nvPr/>
          </p:nvSpPr>
          <p:spPr bwMode="auto">
            <a:xfrm>
              <a:off x="3984" y="2640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7" name="Freeform 29"/>
            <p:cNvSpPr>
              <a:spLocks/>
            </p:cNvSpPr>
            <p:nvPr/>
          </p:nvSpPr>
          <p:spPr bwMode="auto">
            <a:xfrm>
              <a:off x="3480" y="2079"/>
              <a:ext cx="1" cy="324"/>
            </a:xfrm>
            <a:custGeom>
              <a:avLst/>
              <a:gdLst>
                <a:gd name="T0" fmla="*/ 0 w 1"/>
                <a:gd name="T1" fmla="*/ 0 h 324"/>
                <a:gd name="T2" fmla="*/ 0 w 1"/>
                <a:gd name="T3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24">
                  <a:moveTo>
                    <a:pt x="0" y="0"/>
                  </a:moveTo>
                  <a:lnTo>
                    <a:pt x="0" y="32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8" name="Freeform 30"/>
            <p:cNvSpPr>
              <a:spLocks/>
            </p:cNvSpPr>
            <p:nvPr/>
          </p:nvSpPr>
          <p:spPr bwMode="auto">
            <a:xfrm>
              <a:off x="3480" y="2634"/>
              <a:ext cx="1" cy="285"/>
            </a:xfrm>
            <a:custGeom>
              <a:avLst/>
              <a:gdLst>
                <a:gd name="T0" fmla="*/ 0 w 1"/>
                <a:gd name="T1" fmla="*/ 0 h 285"/>
                <a:gd name="T2" fmla="*/ 0 w 1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85">
                  <a:moveTo>
                    <a:pt x="0" y="0"/>
                  </a:moveTo>
                  <a:lnTo>
                    <a:pt x="0" y="28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599" name="Freeform 31"/>
            <p:cNvSpPr>
              <a:spLocks/>
            </p:cNvSpPr>
            <p:nvPr/>
          </p:nvSpPr>
          <p:spPr bwMode="auto">
            <a:xfrm>
              <a:off x="3372" y="2514"/>
              <a:ext cx="225" cy="1"/>
            </a:xfrm>
            <a:custGeom>
              <a:avLst/>
              <a:gdLst>
                <a:gd name="T0" fmla="*/ 0 w 225"/>
                <a:gd name="T1" fmla="*/ 0 h 1"/>
                <a:gd name="T2" fmla="*/ 225 w 22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" h="1">
                  <a:moveTo>
                    <a:pt x="0" y="0"/>
                  </a:moveTo>
                  <a:lnTo>
                    <a:pt x="22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600" name="Line 32"/>
            <p:cNvSpPr>
              <a:spLocks noChangeShapeType="1"/>
            </p:cNvSpPr>
            <p:nvPr/>
          </p:nvSpPr>
          <p:spPr bwMode="auto">
            <a:xfrm flipV="1">
              <a:off x="3480" y="2228"/>
              <a:ext cx="0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619" name="Oval 51"/>
            <p:cNvSpPr>
              <a:spLocks noChangeArrowheads="1"/>
            </p:cNvSpPr>
            <p:nvPr/>
          </p:nvSpPr>
          <p:spPr bwMode="auto">
            <a:xfrm>
              <a:off x="3967" y="2051"/>
              <a:ext cx="43" cy="4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620" name="Oval 52"/>
            <p:cNvSpPr>
              <a:spLocks noChangeArrowheads="1"/>
            </p:cNvSpPr>
            <p:nvPr/>
          </p:nvSpPr>
          <p:spPr bwMode="auto">
            <a:xfrm>
              <a:off x="3968" y="2896"/>
              <a:ext cx="43" cy="4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4405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Text Box 2"/>
          <p:cNvSpPr txBox="1">
            <a:spLocks noChangeArrowheads="1"/>
          </p:cNvSpPr>
          <p:nvPr/>
        </p:nvSpPr>
        <p:spPr bwMode="auto">
          <a:xfrm>
            <a:off x="298450" y="498475"/>
            <a:ext cx="5932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 smtClean="0">
                <a:solidFill>
                  <a:srgbClr val="A50021"/>
                </a:solidFill>
              </a:rPr>
              <a:t>3.5.4 </a:t>
            </a:r>
            <a:r>
              <a:rPr lang="zh-CN" altLang="en-US" dirty="0" smtClean="0">
                <a:solidFill>
                  <a:srgbClr val="A50021"/>
                </a:solidFill>
              </a:rPr>
              <a:t>最大功率</a:t>
            </a:r>
            <a:r>
              <a:rPr lang="zh-CN" altLang="en-US" dirty="0">
                <a:solidFill>
                  <a:srgbClr val="A50021"/>
                </a:solidFill>
              </a:rPr>
              <a:t>传递定理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611188" y="1008925"/>
            <a:ext cx="4681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zh-CN" altLang="en-US" dirty="0">
                <a:solidFill>
                  <a:srgbClr val="990033"/>
                </a:solidFill>
              </a:rPr>
              <a:t>一</a:t>
            </a:r>
            <a:r>
              <a:rPr lang="zh-CN" altLang="en-US" dirty="0" smtClean="0">
                <a:solidFill>
                  <a:srgbClr val="990033"/>
                </a:solidFill>
              </a:rPr>
              <a:t>、输入电阻</a:t>
            </a:r>
            <a:endParaRPr lang="zh-CN" altLang="en-US" dirty="0">
              <a:solidFill>
                <a:srgbClr val="990033"/>
              </a:solidFill>
            </a:endParaRPr>
          </a:p>
        </p:txBody>
      </p:sp>
      <p:sp>
        <p:nvSpPr>
          <p:cNvPr id="28" name="Text Box 43"/>
          <p:cNvSpPr txBox="1">
            <a:spLocks noChangeArrowheads="1"/>
          </p:cNvSpPr>
          <p:nvPr/>
        </p:nvSpPr>
        <p:spPr bwMode="auto">
          <a:xfrm>
            <a:off x="558800" y="1469119"/>
            <a:ext cx="8296275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Bef>
                <a:spcPct val="50000"/>
              </a:spcBef>
            </a:pPr>
            <a:r>
              <a:rPr lang="en-US" altLang="zh-CN" sz="2000" dirty="0"/>
              <a:t>        </a:t>
            </a:r>
            <a:r>
              <a:rPr lang="zh-CN" altLang="en-US" sz="2000" dirty="0"/>
              <a:t>任何一个无源二端网络可以用一个电阻等效，称之为入端等效电阻，简写</a:t>
            </a:r>
            <a:r>
              <a:rPr lang="zh-CN" altLang="en-US" sz="2000" dirty="0" smtClean="0"/>
              <a:t>为 </a:t>
            </a:r>
            <a:r>
              <a:rPr lang="en-US" altLang="zh-CN" i="1" dirty="0" smtClean="0">
                <a:solidFill>
                  <a:srgbClr val="3333FF"/>
                </a:solidFill>
              </a:rPr>
              <a:t>R</a:t>
            </a:r>
            <a:r>
              <a:rPr lang="zh-CN" altLang="zh-CN" baseline="-25000" dirty="0" smtClean="0">
                <a:solidFill>
                  <a:srgbClr val="3333FF"/>
                </a:solidFill>
              </a:rPr>
              <a:t>等效</a:t>
            </a:r>
            <a:r>
              <a:rPr lang="en-US" altLang="zh-CN" baseline="-25000" dirty="0" smtClean="0">
                <a:solidFill>
                  <a:srgbClr val="3333FF"/>
                </a:solidFill>
              </a:rPr>
              <a:t> </a:t>
            </a:r>
            <a:r>
              <a:rPr lang="zh-CN" altLang="en-US" dirty="0" smtClean="0"/>
              <a:t>或 </a:t>
            </a:r>
            <a:r>
              <a:rPr lang="en-US" altLang="zh-CN" i="1" dirty="0" err="1" smtClean="0">
                <a:solidFill>
                  <a:srgbClr val="3333FF"/>
                </a:solidFill>
              </a:rPr>
              <a:t>R</a:t>
            </a:r>
            <a:r>
              <a:rPr lang="en-US" altLang="zh-CN" i="1" baseline="-25000" dirty="0" err="1" smtClean="0">
                <a:solidFill>
                  <a:srgbClr val="3333FF"/>
                </a:solidFill>
              </a:rPr>
              <a:t>eq</a:t>
            </a:r>
            <a:r>
              <a:rPr lang="zh-CN" altLang="zh-CN" sz="2000" dirty="0" smtClean="0"/>
              <a:t>。</a:t>
            </a:r>
            <a:endParaRPr lang="zh-CN" altLang="en-US" sz="2000" dirty="0">
              <a:solidFill>
                <a:srgbClr val="3333FF"/>
              </a:solidFill>
            </a:endParaRPr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763588" y="3382736"/>
            <a:ext cx="1476375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计算方法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395288" y="3958999"/>
            <a:ext cx="84248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>
              <a:lnSpc>
                <a:spcPct val="120000"/>
              </a:lnSpc>
              <a:buFontTx/>
              <a:buAutoNum type="circleNumDbPlain"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如果一端口内部仅含电阻，则应用电阻的串、并联和</a:t>
            </a:r>
            <a:r>
              <a:rPr kumimoji="1" lang="zh-CN" altLang="en-US" sz="20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</a:t>
            </a:r>
            <a:r>
              <a:rPr kumimoji="1" lang="en-US" altLang="zh-CN" sz="2000" dirty="0">
                <a:latin typeface="Times New Roman" pitchFamily="18" charset="0"/>
                <a:ea typeface="楷体_GB2312" pitchFamily="49" charset="-122"/>
              </a:rPr>
              <a:t>—Y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变换等方法求它的等效电阻； </a:t>
            </a:r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auto">
          <a:xfrm>
            <a:off x="395288" y="5372549"/>
            <a:ext cx="8569325" cy="78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algn="l">
              <a:lnSpc>
                <a:spcPct val="120000"/>
              </a:lnSpc>
              <a:spcBef>
                <a:spcPct val="25000"/>
              </a:spcBef>
              <a:buFont typeface="+mj-ea"/>
              <a:buAutoNum type="circleNumDbPlain" startAt="3"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对含有受控源和电阻的两端电路，用电压、电流法求输入电阻，即在端口加电压源，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求电流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，或在端口加电流源，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求电压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得         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395288" y="4782706"/>
            <a:ext cx="8569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25000"/>
              </a:spcBef>
              <a:buFontTx/>
              <a:buAutoNum type="circleNumDbPlain" startAt="2"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对含有独立源的电路，首先将独立源置零，然后求其等效电阻；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457856"/>
              </p:ext>
            </p:extLst>
          </p:nvPr>
        </p:nvGraphicFramePr>
        <p:xfrm>
          <a:off x="7131957" y="5787623"/>
          <a:ext cx="1007836" cy="387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82" name="Equation" r:id="rId3" imgW="520560" imgH="203040" progId="Equation.DSMT4">
                  <p:embed/>
                </p:oleObj>
              </mc:Choice>
              <mc:Fallback>
                <p:oleObj name="Equation" r:id="rId3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1957" y="5787623"/>
                        <a:ext cx="1007836" cy="387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10"/>
          <p:cNvGrpSpPr>
            <a:grpSpLocks/>
          </p:cNvGrpSpPr>
          <p:nvPr/>
        </p:nvGrpSpPr>
        <p:grpSpPr bwMode="auto">
          <a:xfrm>
            <a:off x="3359151" y="2034799"/>
            <a:ext cx="5300663" cy="1585912"/>
            <a:chOff x="744" y="2213"/>
            <a:chExt cx="3339" cy="999"/>
          </a:xfrm>
        </p:grpSpPr>
        <p:grpSp>
          <p:nvGrpSpPr>
            <p:cNvPr id="35" name="Group 11"/>
            <p:cNvGrpSpPr>
              <a:grpSpLocks/>
            </p:cNvGrpSpPr>
            <p:nvPr/>
          </p:nvGrpSpPr>
          <p:grpSpPr bwMode="auto">
            <a:xfrm>
              <a:off x="2088" y="2548"/>
              <a:ext cx="576" cy="408"/>
              <a:chOff x="1872" y="2664"/>
              <a:chExt cx="576" cy="408"/>
            </a:xfrm>
          </p:grpSpPr>
          <p:sp>
            <p:nvSpPr>
              <p:cNvPr id="61" name="AutoShape 12"/>
              <p:cNvSpPr>
                <a:spLocks noChangeArrowheads="1"/>
              </p:cNvSpPr>
              <p:nvPr/>
            </p:nvSpPr>
            <p:spPr bwMode="auto">
              <a:xfrm>
                <a:off x="1920" y="2880"/>
                <a:ext cx="528" cy="192"/>
              </a:xfrm>
              <a:prstGeom prst="rightArrow">
                <a:avLst>
                  <a:gd name="adj1" fmla="val 50000"/>
                  <a:gd name="adj2" fmla="val 687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Text Box 13"/>
              <p:cNvSpPr txBox="1">
                <a:spLocks noChangeArrowheads="1"/>
              </p:cNvSpPr>
              <p:nvPr/>
            </p:nvSpPr>
            <p:spPr bwMode="auto">
              <a:xfrm>
                <a:off x="1872" y="2664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sz="2000" dirty="0"/>
                  <a:t>等效</a:t>
                </a:r>
              </a:p>
            </p:txBody>
          </p:sp>
        </p:grpSp>
        <p:grpSp>
          <p:nvGrpSpPr>
            <p:cNvPr id="36" name="Group 15"/>
            <p:cNvGrpSpPr>
              <a:grpSpLocks/>
            </p:cNvGrpSpPr>
            <p:nvPr/>
          </p:nvGrpSpPr>
          <p:grpSpPr bwMode="auto">
            <a:xfrm>
              <a:off x="744" y="2331"/>
              <a:ext cx="1200" cy="841"/>
              <a:chOff x="528" y="2447"/>
              <a:chExt cx="1200" cy="841"/>
            </a:xfrm>
          </p:grpSpPr>
          <p:sp>
            <p:nvSpPr>
              <p:cNvPr id="51" name="Rectangle 16"/>
              <p:cNvSpPr>
                <a:spLocks noChangeArrowheads="1"/>
              </p:cNvSpPr>
              <p:nvPr/>
            </p:nvSpPr>
            <p:spPr bwMode="auto">
              <a:xfrm>
                <a:off x="1296" y="2664"/>
                <a:ext cx="432" cy="62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/>
                  <a:t>无</a:t>
                </a:r>
              </a:p>
              <a:p>
                <a:r>
                  <a:rPr lang="zh-CN" altLang="en-US" sz="2000"/>
                  <a:t>源</a:t>
                </a:r>
              </a:p>
            </p:txBody>
          </p:sp>
          <p:sp>
            <p:nvSpPr>
              <p:cNvPr id="52" name="Line 17"/>
              <p:cNvSpPr>
                <a:spLocks noChangeShapeType="1"/>
              </p:cNvSpPr>
              <p:nvPr/>
            </p:nvSpPr>
            <p:spPr bwMode="auto">
              <a:xfrm>
                <a:off x="864" y="2735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18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19"/>
              <p:cNvSpPr>
                <a:spLocks noChangeShapeType="1"/>
              </p:cNvSpPr>
              <p:nvPr/>
            </p:nvSpPr>
            <p:spPr bwMode="auto">
              <a:xfrm>
                <a:off x="1008" y="2735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Text Box 20"/>
              <p:cNvSpPr txBox="1">
                <a:spLocks noChangeArrowheads="1"/>
              </p:cNvSpPr>
              <p:nvPr/>
            </p:nvSpPr>
            <p:spPr bwMode="auto">
              <a:xfrm>
                <a:off x="720" y="270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56" name="Text Box 21"/>
              <p:cNvSpPr txBox="1">
                <a:spLocks noChangeArrowheads="1"/>
              </p:cNvSpPr>
              <p:nvPr/>
            </p:nvSpPr>
            <p:spPr bwMode="auto">
              <a:xfrm>
                <a:off x="528" y="285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v</a:t>
                </a:r>
                <a:endParaRPr lang="en-US" altLang="zh-CN"/>
              </a:p>
            </p:txBody>
          </p:sp>
          <p:sp>
            <p:nvSpPr>
              <p:cNvPr id="57" name="Text Box 22"/>
              <p:cNvSpPr txBox="1">
                <a:spLocks noChangeArrowheads="1"/>
              </p:cNvSpPr>
              <p:nvPr/>
            </p:nvSpPr>
            <p:spPr bwMode="auto">
              <a:xfrm>
                <a:off x="720" y="2886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dirty="0"/>
                  <a:t>_</a:t>
                </a:r>
              </a:p>
            </p:txBody>
          </p:sp>
          <p:sp>
            <p:nvSpPr>
              <p:cNvPr id="58" name="Text Box 23"/>
              <p:cNvSpPr txBox="1">
                <a:spLocks noChangeArrowheads="1"/>
              </p:cNvSpPr>
              <p:nvPr/>
            </p:nvSpPr>
            <p:spPr bwMode="auto">
              <a:xfrm>
                <a:off x="1008" y="2447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endParaRPr lang="en-US" altLang="zh-CN"/>
              </a:p>
            </p:txBody>
          </p:sp>
          <p:sp>
            <p:nvSpPr>
              <p:cNvPr id="59" name="Oval 24"/>
              <p:cNvSpPr>
                <a:spLocks noChangeArrowheads="1"/>
              </p:cNvSpPr>
              <p:nvPr/>
            </p:nvSpPr>
            <p:spPr bwMode="auto">
              <a:xfrm>
                <a:off x="817" y="2704"/>
                <a:ext cx="47" cy="47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Oval 25"/>
              <p:cNvSpPr>
                <a:spLocks noChangeArrowheads="1"/>
              </p:cNvSpPr>
              <p:nvPr/>
            </p:nvSpPr>
            <p:spPr bwMode="auto">
              <a:xfrm>
                <a:off x="817" y="3193"/>
                <a:ext cx="47" cy="47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7" name="Group 26"/>
            <p:cNvGrpSpPr>
              <a:grpSpLocks/>
            </p:cNvGrpSpPr>
            <p:nvPr/>
          </p:nvGrpSpPr>
          <p:grpSpPr bwMode="auto">
            <a:xfrm>
              <a:off x="2673" y="2213"/>
              <a:ext cx="1410" cy="999"/>
              <a:chOff x="2313" y="641"/>
              <a:chExt cx="1410" cy="999"/>
            </a:xfrm>
          </p:grpSpPr>
          <p:sp>
            <p:nvSpPr>
              <p:cNvPr id="38" name="Text Box 27"/>
              <p:cNvSpPr txBox="1">
                <a:spLocks noChangeArrowheads="1"/>
              </p:cNvSpPr>
              <p:nvPr/>
            </p:nvSpPr>
            <p:spPr bwMode="auto">
              <a:xfrm>
                <a:off x="3147" y="1138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 dirty="0"/>
                  <a:t>R</a:t>
                </a:r>
                <a:r>
                  <a:rPr lang="zh-CN" altLang="zh-CN" baseline="-25000" dirty="0"/>
                  <a:t>等效</a:t>
                </a:r>
                <a:endParaRPr lang="zh-CN" altLang="en-US" baseline="-25000" dirty="0"/>
              </a:p>
            </p:txBody>
          </p:sp>
          <p:sp>
            <p:nvSpPr>
              <p:cNvPr id="39" name="Line 28"/>
              <p:cNvSpPr>
                <a:spLocks noChangeShapeType="1"/>
              </p:cNvSpPr>
              <p:nvPr/>
            </p:nvSpPr>
            <p:spPr bwMode="auto">
              <a:xfrm>
                <a:off x="2400" y="952"/>
                <a:ext cx="6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Line 29"/>
              <p:cNvSpPr>
                <a:spLocks noChangeShapeType="1"/>
              </p:cNvSpPr>
              <p:nvPr/>
            </p:nvSpPr>
            <p:spPr bwMode="auto">
              <a:xfrm flipV="1">
                <a:off x="2424" y="1616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30"/>
              <p:cNvSpPr>
                <a:spLocks noChangeShapeType="1"/>
              </p:cNvSpPr>
              <p:nvPr/>
            </p:nvSpPr>
            <p:spPr bwMode="auto">
              <a:xfrm>
                <a:off x="3096" y="952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31"/>
              <p:cNvSpPr>
                <a:spLocks noChangeShapeType="1"/>
              </p:cNvSpPr>
              <p:nvPr/>
            </p:nvSpPr>
            <p:spPr bwMode="auto">
              <a:xfrm>
                <a:off x="2472" y="95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Text Box 32"/>
              <p:cNvSpPr txBox="1">
                <a:spLocks noChangeArrowheads="1"/>
              </p:cNvSpPr>
              <p:nvPr/>
            </p:nvSpPr>
            <p:spPr bwMode="auto">
              <a:xfrm>
                <a:off x="2316" y="92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dirty="0"/>
                  <a:t>+</a:t>
                </a:r>
              </a:p>
            </p:txBody>
          </p:sp>
          <p:sp>
            <p:nvSpPr>
              <p:cNvPr id="44" name="Text Box 33"/>
              <p:cNvSpPr txBox="1">
                <a:spLocks noChangeArrowheads="1"/>
              </p:cNvSpPr>
              <p:nvPr/>
            </p:nvSpPr>
            <p:spPr bwMode="auto">
              <a:xfrm>
                <a:off x="2313" y="112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v</a:t>
                </a:r>
                <a:endParaRPr lang="en-US" altLang="zh-CN"/>
              </a:p>
            </p:txBody>
          </p:sp>
          <p:sp>
            <p:nvSpPr>
              <p:cNvPr id="45" name="Text Box 34"/>
              <p:cNvSpPr txBox="1">
                <a:spLocks noChangeArrowheads="1"/>
              </p:cNvSpPr>
              <p:nvPr/>
            </p:nvSpPr>
            <p:spPr bwMode="auto">
              <a:xfrm>
                <a:off x="2361" y="1265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dirty="0"/>
                  <a:t>_</a:t>
                </a:r>
              </a:p>
            </p:txBody>
          </p:sp>
          <p:sp>
            <p:nvSpPr>
              <p:cNvPr id="46" name="Text Box 35"/>
              <p:cNvSpPr txBox="1">
                <a:spLocks noChangeArrowheads="1"/>
              </p:cNvSpPr>
              <p:nvPr/>
            </p:nvSpPr>
            <p:spPr bwMode="auto">
              <a:xfrm>
                <a:off x="2676" y="641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i="1"/>
                  <a:t>i</a:t>
                </a:r>
                <a:endParaRPr lang="en-US" altLang="zh-CN"/>
              </a:p>
            </p:txBody>
          </p:sp>
          <p:sp>
            <p:nvSpPr>
              <p:cNvPr id="47" name="Rectangle 36"/>
              <p:cNvSpPr>
                <a:spLocks noChangeArrowheads="1"/>
              </p:cNvSpPr>
              <p:nvPr/>
            </p:nvSpPr>
            <p:spPr bwMode="auto">
              <a:xfrm>
                <a:off x="3036" y="1144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" name="Text Box 37"/>
              <p:cNvSpPr txBox="1">
                <a:spLocks noChangeArrowheads="1"/>
              </p:cNvSpPr>
              <p:nvPr/>
            </p:nvSpPr>
            <p:spPr bwMode="auto">
              <a:xfrm>
                <a:off x="2400" y="856"/>
                <a:ext cx="1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zh-CN">
                  <a:solidFill>
                    <a:schemeClr val="tx2"/>
                  </a:solidFill>
                  <a:sym typeface="Symbol" pitchFamily="18" charset="2"/>
                </a:endParaRPr>
              </a:p>
            </p:txBody>
          </p:sp>
          <p:sp>
            <p:nvSpPr>
              <p:cNvPr id="49" name="Oval 38"/>
              <p:cNvSpPr>
                <a:spLocks noChangeArrowheads="1"/>
              </p:cNvSpPr>
              <p:nvPr/>
            </p:nvSpPr>
            <p:spPr bwMode="auto">
              <a:xfrm>
                <a:off x="2377" y="929"/>
                <a:ext cx="47" cy="47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Oval 39"/>
              <p:cNvSpPr>
                <a:spLocks noChangeArrowheads="1"/>
              </p:cNvSpPr>
              <p:nvPr/>
            </p:nvSpPr>
            <p:spPr bwMode="auto">
              <a:xfrm>
                <a:off x="2389" y="1593"/>
                <a:ext cx="47" cy="47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863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0" grpId="0"/>
      <p:bldP spid="31" grpId="0"/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Text Box 2"/>
          <p:cNvSpPr txBox="1">
            <a:spLocks noChangeArrowheads="1"/>
          </p:cNvSpPr>
          <p:nvPr/>
        </p:nvSpPr>
        <p:spPr bwMode="auto">
          <a:xfrm>
            <a:off x="298450" y="498475"/>
            <a:ext cx="5932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 smtClean="0">
                <a:solidFill>
                  <a:srgbClr val="A50021"/>
                </a:solidFill>
              </a:rPr>
              <a:t>二、</a:t>
            </a:r>
            <a:r>
              <a:rPr lang="en-US" altLang="zh-CN" dirty="0" smtClean="0">
                <a:solidFill>
                  <a:srgbClr val="A50021"/>
                </a:solidFill>
              </a:rPr>
              <a:t> </a:t>
            </a:r>
            <a:r>
              <a:rPr lang="zh-CN" altLang="en-US" dirty="0" smtClean="0">
                <a:solidFill>
                  <a:srgbClr val="A50021"/>
                </a:solidFill>
              </a:rPr>
              <a:t>最大功率</a:t>
            </a:r>
            <a:r>
              <a:rPr lang="zh-CN" altLang="en-US" dirty="0">
                <a:solidFill>
                  <a:srgbClr val="A50021"/>
                </a:solidFill>
              </a:rPr>
              <a:t>传递定理</a:t>
            </a:r>
          </a:p>
        </p:txBody>
      </p:sp>
      <p:grpSp>
        <p:nvGrpSpPr>
          <p:cNvPr id="385060" name="Group 36"/>
          <p:cNvGrpSpPr>
            <a:grpSpLocks/>
          </p:cNvGrpSpPr>
          <p:nvPr/>
        </p:nvGrpSpPr>
        <p:grpSpPr bwMode="auto">
          <a:xfrm>
            <a:off x="4859338" y="1073150"/>
            <a:ext cx="4008437" cy="2366963"/>
            <a:chOff x="3061" y="557"/>
            <a:chExt cx="2525" cy="1491"/>
          </a:xfrm>
        </p:grpSpPr>
        <p:sp>
          <p:nvSpPr>
            <p:cNvPr id="385045" name="Oval 21"/>
            <p:cNvSpPr>
              <a:spLocks noChangeArrowheads="1"/>
            </p:cNvSpPr>
            <p:nvPr/>
          </p:nvSpPr>
          <p:spPr bwMode="auto">
            <a:xfrm>
              <a:off x="3369" y="1574"/>
              <a:ext cx="258" cy="232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46" name="Rectangle 22"/>
            <p:cNvSpPr>
              <a:spLocks noChangeArrowheads="1"/>
            </p:cNvSpPr>
            <p:nvPr/>
          </p:nvSpPr>
          <p:spPr bwMode="auto">
            <a:xfrm>
              <a:off x="3495" y="862"/>
              <a:ext cx="1888" cy="1151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36000" rIns="0" bIns="0"/>
            <a:lstStyle/>
            <a:p>
              <a:pPr algn="just">
                <a:lnSpc>
                  <a:spcPct val="80000"/>
                </a:lnSpc>
              </a:pPr>
              <a:r>
                <a:rPr lang="en-US" altLang="zh-CN" b="0"/>
                <a:t>    </a:t>
              </a:r>
            </a:p>
          </p:txBody>
        </p:sp>
        <p:sp>
          <p:nvSpPr>
            <p:cNvPr id="385047" name="Rectangle 23"/>
            <p:cNvSpPr>
              <a:spLocks noChangeArrowheads="1"/>
            </p:cNvSpPr>
            <p:nvPr/>
          </p:nvSpPr>
          <p:spPr bwMode="auto">
            <a:xfrm rot="-5400000">
              <a:off x="3352" y="1067"/>
              <a:ext cx="279" cy="15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48" name="Rectangle 24"/>
            <p:cNvSpPr>
              <a:spLocks noChangeArrowheads="1"/>
            </p:cNvSpPr>
            <p:nvPr/>
          </p:nvSpPr>
          <p:spPr bwMode="auto">
            <a:xfrm rot="-5400000">
              <a:off x="5249" y="1263"/>
              <a:ext cx="279" cy="155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49" name="Line 25"/>
            <p:cNvSpPr>
              <a:spLocks noChangeShapeType="1"/>
            </p:cNvSpPr>
            <p:nvPr/>
          </p:nvSpPr>
          <p:spPr bwMode="auto">
            <a:xfrm flipV="1">
              <a:off x="5247" y="1186"/>
              <a:ext cx="339" cy="29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50" name="Line 26"/>
            <p:cNvSpPr>
              <a:spLocks noChangeShapeType="1"/>
            </p:cNvSpPr>
            <p:nvPr/>
          </p:nvSpPr>
          <p:spPr bwMode="auto">
            <a:xfrm>
              <a:off x="3848" y="864"/>
              <a:ext cx="26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51" name="Oval 27"/>
            <p:cNvSpPr>
              <a:spLocks noChangeArrowheads="1"/>
            </p:cNvSpPr>
            <p:nvPr/>
          </p:nvSpPr>
          <p:spPr bwMode="auto">
            <a:xfrm>
              <a:off x="4408" y="837"/>
              <a:ext cx="52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52" name="Oval 28"/>
            <p:cNvSpPr>
              <a:spLocks noChangeArrowheads="1"/>
            </p:cNvSpPr>
            <p:nvPr/>
          </p:nvSpPr>
          <p:spPr bwMode="auto">
            <a:xfrm>
              <a:off x="4439" y="2001"/>
              <a:ext cx="52" cy="4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54" name="Rectangle 30"/>
            <p:cNvSpPr>
              <a:spLocks noChangeArrowheads="1"/>
            </p:cNvSpPr>
            <p:nvPr/>
          </p:nvSpPr>
          <p:spPr bwMode="auto">
            <a:xfrm>
              <a:off x="3968" y="557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0" i="1"/>
                <a:t>I</a:t>
              </a:r>
            </a:p>
          </p:txBody>
        </p:sp>
        <p:sp>
          <p:nvSpPr>
            <p:cNvPr id="385055" name="Rectangle 31"/>
            <p:cNvSpPr>
              <a:spLocks noChangeArrowheads="1"/>
            </p:cNvSpPr>
            <p:nvPr/>
          </p:nvSpPr>
          <p:spPr bwMode="auto">
            <a:xfrm>
              <a:off x="4949" y="1215"/>
              <a:ext cx="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0" i="1"/>
                <a:t>R</a:t>
              </a:r>
              <a:r>
                <a:rPr lang="en-US" altLang="zh-CN" b="0" i="1" baseline="-25000"/>
                <a:t>L</a:t>
              </a:r>
            </a:p>
          </p:txBody>
        </p:sp>
        <p:sp>
          <p:nvSpPr>
            <p:cNvPr id="385056" name="Rectangle 32"/>
            <p:cNvSpPr>
              <a:spLocks noChangeArrowheads="1"/>
            </p:cNvSpPr>
            <p:nvPr/>
          </p:nvSpPr>
          <p:spPr bwMode="auto">
            <a:xfrm>
              <a:off x="3241" y="1371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+</a:t>
              </a:r>
            </a:p>
          </p:txBody>
        </p:sp>
        <p:sp>
          <p:nvSpPr>
            <p:cNvPr id="385057" name="Rectangle 33"/>
            <p:cNvSpPr>
              <a:spLocks noChangeArrowheads="1"/>
            </p:cNvSpPr>
            <p:nvPr/>
          </p:nvSpPr>
          <p:spPr bwMode="auto">
            <a:xfrm>
              <a:off x="3106" y="987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0" i="1"/>
                <a:t>R</a:t>
              </a:r>
              <a:r>
                <a:rPr lang="en-US" altLang="zh-CN" b="0" i="1" baseline="-25000"/>
                <a:t>S</a:t>
              </a:r>
            </a:p>
          </p:txBody>
        </p:sp>
        <p:sp>
          <p:nvSpPr>
            <p:cNvPr id="385058" name="Rectangle 34"/>
            <p:cNvSpPr>
              <a:spLocks noChangeArrowheads="1"/>
            </p:cNvSpPr>
            <p:nvPr/>
          </p:nvSpPr>
          <p:spPr bwMode="auto">
            <a:xfrm>
              <a:off x="3061" y="154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0" i="1"/>
                <a:t>V</a:t>
              </a:r>
              <a:r>
                <a:rPr lang="en-US" altLang="zh-CN" b="0" i="1" baseline="-25000"/>
                <a:t>S</a:t>
              </a:r>
            </a:p>
          </p:txBody>
        </p:sp>
        <p:sp>
          <p:nvSpPr>
            <p:cNvPr id="385059" name="Rectangle 35"/>
            <p:cNvSpPr>
              <a:spLocks noChangeArrowheads="1"/>
            </p:cNvSpPr>
            <p:nvPr/>
          </p:nvSpPr>
          <p:spPr bwMode="auto">
            <a:xfrm>
              <a:off x="3275" y="16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_</a:t>
              </a:r>
            </a:p>
          </p:txBody>
        </p:sp>
      </p:grpSp>
      <p:sp>
        <p:nvSpPr>
          <p:cNvPr id="385061" name="Rectangle 37"/>
          <p:cNvSpPr>
            <a:spLocks noChangeArrowheads="1"/>
          </p:cNvSpPr>
          <p:nvPr/>
        </p:nvSpPr>
        <p:spPr bwMode="auto">
          <a:xfrm>
            <a:off x="560388" y="1016123"/>
            <a:ext cx="38893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 smtClean="0"/>
              <a:t>当负载电阻可调时，如何</a:t>
            </a:r>
            <a:r>
              <a:rPr lang="zh-CN" altLang="en-US" dirty="0"/>
              <a:t>使负载从电源获得最大的</a:t>
            </a:r>
            <a:r>
              <a:rPr lang="zh-CN" altLang="en-US" dirty="0" smtClean="0"/>
              <a:t>功率？ </a:t>
            </a:r>
            <a:endParaRPr lang="zh-CN" altLang="en-US" dirty="0"/>
          </a:p>
        </p:txBody>
      </p:sp>
      <p:graphicFrame>
        <p:nvGraphicFramePr>
          <p:cNvPr id="38506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941407"/>
              </p:ext>
            </p:extLst>
          </p:nvPr>
        </p:nvGraphicFramePr>
        <p:xfrm>
          <a:off x="1155700" y="2381250"/>
          <a:ext cx="17129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05" name="Equation" r:id="rId3" imgW="685800" imgH="393480" progId="Equation.DSMT4">
                  <p:embed/>
                </p:oleObj>
              </mc:Choice>
              <mc:Fallback>
                <p:oleObj name="Equation" r:id="rId3" imgW="685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2381250"/>
                        <a:ext cx="1712913" cy="984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517803"/>
              </p:ext>
            </p:extLst>
          </p:nvPr>
        </p:nvGraphicFramePr>
        <p:xfrm>
          <a:off x="1108075" y="3503613"/>
          <a:ext cx="36814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06" name="Equation" r:id="rId5" imgW="1473120" imgH="457200" progId="Equation.DSMT4">
                  <p:embed/>
                </p:oleObj>
              </mc:Choice>
              <mc:Fallback>
                <p:oleObj name="Equation" r:id="rId5" imgW="1473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3503613"/>
                        <a:ext cx="3681413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633591"/>
              </p:ext>
            </p:extLst>
          </p:nvPr>
        </p:nvGraphicFramePr>
        <p:xfrm>
          <a:off x="1155700" y="4887681"/>
          <a:ext cx="117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07" name="Equation" r:id="rId7" imgW="469800" imgH="380880" progId="Equation.DSMT4">
                  <p:embed/>
                </p:oleObj>
              </mc:Choice>
              <mc:Fallback>
                <p:oleObj name="Equation" r:id="rId7" imgW="469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4887681"/>
                        <a:ext cx="117475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235709"/>
              </p:ext>
            </p:extLst>
          </p:nvPr>
        </p:nvGraphicFramePr>
        <p:xfrm>
          <a:off x="6037263" y="4776788"/>
          <a:ext cx="263366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08" name="Equation" r:id="rId9" imgW="1054080" imgH="419040" progId="Equation.DSMT4">
                  <p:embed/>
                </p:oleObj>
              </mc:Choice>
              <mc:Fallback>
                <p:oleObj name="Equation" r:id="rId9" imgW="1054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263" y="4776788"/>
                        <a:ext cx="2633662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0" name="AutoShape 46"/>
          <p:cNvSpPr>
            <a:spLocks noChangeArrowheads="1"/>
          </p:cNvSpPr>
          <p:nvPr/>
        </p:nvSpPr>
        <p:spPr bwMode="auto">
          <a:xfrm>
            <a:off x="2781300" y="5254394"/>
            <a:ext cx="668338" cy="231775"/>
          </a:xfrm>
          <a:prstGeom prst="rightArrow">
            <a:avLst>
              <a:gd name="adj1" fmla="val 50000"/>
              <a:gd name="adj2" fmla="val 72089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507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432734"/>
              </p:ext>
            </p:extLst>
          </p:nvPr>
        </p:nvGraphicFramePr>
        <p:xfrm>
          <a:off x="3797300" y="5119456"/>
          <a:ext cx="1141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09" name="Equation" r:id="rId11" imgW="457200" imgH="203040" progId="Equation.DSMT4">
                  <p:embed/>
                </p:oleObj>
              </mc:Choice>
              <mc:Fallback>
                <p:oleObj name="Equation" r:id="rId11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5119456"/>
                        <a:ext cx="1141413" cy="508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2" name="AutoShape 48"/>
          <p:cNvSpPr>
            <a:spLocks noChangeArrowheads="1"/>
          </p:cNvSpPr>
          <p:nvPr/>
        </p:nvSpPr>
        <p:spPr bwMode="auto">
          <a:xfrm>
            <a:off x="5264150" y="5240106"/>
            <a:ext cx="668338" cy="231775"/>
          </a:xfrm>
          <a:prstGeom prst="rightArrow">
            <a:avLst>
              <a:gd name="adj1" fmla="val 50000"/>
              <a:gd name="adj2" fmla="val 72089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5074" name="Rectangle 50"/>
          <p:cNvSpPr>
            <a:spLocks noChangeArrowheads="1"/>
          </p:cNvSpPr>
          <p:nvPr/>
        </p:nvSpPr>
        <p:spPr bwMode="auto">
          <a:xfrm>
            <a:off x="3094038" y="5943600"/>
            <a:ext cx="271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dirty="0"/>
              <a:t>最大功率匹配条件 </a:t>
            </a:r>
          </a:p>
        </p:txBody>
      </p:sp>
    </p:spTree>
    <p:extLst>
      <p:ext uri="{BB962C8B-B14F-4D97-AF65-F5344CB8AC3E}">
        <p14:creationId xmlns:p14="http://schemas.microsoft.com/office/powerpoint/2010/main" val="276468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8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38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8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8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8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8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5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8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8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70" grpId="0" animBg="1"/>
      <p:bldP spid="385072" grpId="0" animBg="1"/>
      <p:bldP spid="38507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Text Box 2"/>
          <p:cNvSpPr txBox="1">
            <a:spLocks noChangeArrowheads="1"/>
          </p:cNvSpPr>
          <p:nvPr/>
        </p:nvSpPr>
        <p:spPr bwMode="auto">
          <a:xfrm>
            <a:off x="971550" y="1549562"/>
            <a:ext cx="727233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01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73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145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1717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Tx/>
              <a:buAutoNum type="circleNumDbPlain"/>
            </a:pPr>
            <a:r>
              <a:rPr kumimoji="0" lang="zh-CN" altLang="en-US" dirty="0">
                <a:latin typeface="楷体_GB2312" pitchFamily="49" charset="-122"/>
                <a:ea typeface="楷体_GB2312" pitchFamily="49" charset="-122"/>
              </a:rPr>
              <a:t>最大功率传输定理用于端口电路给定、负载电阻可调的情况</a:t>
            </a:r>
            <a:r>
              <a:rPr kumimoji="0" lang="en-US" altLang="zh-CN" dirty="0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381955" name="Text Box 3"/>
          <p:cNvSpPr txBox="1">
            <a:spLocks noChangeArrowheads="1"/>
          </p:cNvSpPr>
          <p:nvPr/>
        </p:nvSpPr>
        <p:spPr bwMode="auto">
          <a:xfrm>
            <a:off x="900113" y="2736102"/>
            <a:ext cx="74168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01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73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145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1717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Tx/>
              <a:buAutoNum type="circleNumDbPlain" startAt="2"/>
            </a:pPr>
            <a:r>
              <a:rPr kumimoji="0" lang="zh-CN" altLang="en-US" dirty="0">
                <a:latin typeface="楷体_GB2312" pitchFamily="49" charset="-122"/>
                <a:ea typeface="楷体_GB2312" pitchFamily="49" charset="-122"/>
              </a:rPr>
              <a:t>端口等效电阻消耗的功率一般并不等于端口内部消耗的功率</a:t>
            </a:r>
            <a:r>
              <a:rPr kumimoji="0" lang="en-US" altLang="zh-CN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zh-CN" altLang="en-US" dirty="0">
                <a:latin typeface="楷体_GB2312" pitchFamily="49" charset="-122"/>
                <a:ea typeface="楷体_GB2312" pitchFamily="49" charset="-122"/>
              </a:rPr>
              <a:t>因此当负载获取最大功率时</a:t>
            </a:r>
            <a:r>
              <a:rPr kumimoji="0" lang="en-US" altLang="zh-CN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zh-CN" altLang="en-US" dirty="0">
                <a:latin typeface="楷体_GB2312" pitchFamily="49" charset="-122"/>
                <a:ea typeface="楷体_GB2312" pitchFamily="49" charset="-122"/>
              </a:rPr>
              <a:t>电路的传输</a:t>
            </a:r>
            <a:r>
              <a:rPr kumimoji="0" lang="zh-CN" altLang="en-US" dirty="0" smtClean="0">
                <a:latin typeface="楷体_GB2312" pitchFamily="49" charset="-122"/>
                <a:ea typeface="楷体_GB2312" pitchFamily="49" charset="-122"/>
              </a:rPr>
              <a:t>效率 </a:t>
            </a:r>
            <a:r>
              <a:rPr kumimoji="0" lang="zh-CN" altLang="en-US" i="1" dirty="0" smtClean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 </a:t>
            </a:r>
            <a:r>
              <a:rPr kumimoji="0" lang="zh-CN" altLang="en-US" dirty="0" smtClean="0">
                <a:latin typeface="楷体_GB2312" pitchFamily="49" charset="-122"/>
                <a:ea typeface="楷体_GB2312" pitchFamily="49" charset="-122"/>
              </a:rPr>
              <a:t>并</a:t>
            </a:r>
            <a:r>
              <a:rPr kumimoji="0" lang="zh-CN" altLang="en-US" dirty="0">
                <a:latin typeface="楷体_GB2312" pitchFamily="49" charset="-122"/>
                <a:ea typeface="楷体_GB2312" pitchFamily="49" charset="-122"/>
              </a:rPr>
              <a:t>不一定是</a:t>
            </a:r>
            <a:r>
              <a:rPr kumimoji="0" lang="en-US" altLang="zh-CN" b="0" dirty="0">
                <a:ea typeface="楷体_GB2312" pitchFamily="49" charset="-122"/>
              </a:rPr>
              <a:t>50</a:t>
            </a:r>
            <a:r>
              <a:rPr kumimoji="0" lang="en-US" altLang="zh-CN" b="0" dirty="0" smtClean="0">
                <a:ea typeface="楷体_GB2312" pitchFamily="49" charset="-122"/>
              </a:rPr>
              <a:t>%;</a:t>
            </a:r>
            <a:endParaRPr kumimoji="0" lang="en-US" altLang="zh-CN" b="0" dirty="0">
              <a:ea typeface="楷体_GB2312" pitchFamily="49" charset="-122"/>
            </a:endParaRPr>
          </a:p>
        </p:txBody>
      </p:sp>
      <p:sp>
        <p:nvSpPr>
          <p:cNvPr id="381956" name="Text Box 4"/>
          <p:cNvSpPr txBox="1">
            <a:spLocks noChangeArrowheads="1"/>
          </p:cNvSpPr>
          <p:nvPr/>
        </p:nvSpPr>
        <p:spPr bwMode="auto">
          <a:xfrm>
            <a:off x="900113" y="5363352"/>
            <a:ext cx="74168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01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73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145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1717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Tx/>
              <a:buAutoNum type="circleNumDbPlain" startAt="3"/>
            </a:pPr>
            <a:r>
              <a:rPr kumimoji="0" lang="zh-CN" altLang="en-US" dirty="0">
                <a:latin typeface="楷体_GB2312" pitchFamily="49" charset="-122"/>
                <a:ea typeface="楷体_GB2312" pitchFamily="49" charset="-122"/>
              </a:rPr>
              <a:t>计算最大功率问题结合应用戴维宁定理或诺顿定理最</a:t>
            </a:r>
            <a:r>
              <a:rPr kumimoji="0" lang="zh-CN" altLang="en-US" dirty="0" smtClean="0">
                <a:latin typeface="楷体_GB2312" pitchFamily="49" charset="-122"/>
                <a:ea typeface="楷体_GB2312" pitchFamily="49" charset="-122"/>
              </a:rPr>
              <a:t>方便。</a:t>
            </a:r>
            <a:endParaRPr kumimoji="0"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81963" name="Group 11"/>
          <p:cNvGrpSpPr>
            <a:grpSpLocks/>
          </p:cNvGrpSpPr>
          <p:nvPr/>
        </p:nvGrpSpPr>
        <p:grpSpPr bwMode="auto">
          <a:xfrm>
            <a:off x="479261" y="480497"/>
            <a:ext cx="1441450" cy="850900"/>
            <a:chOff x="385" y="3022"/>
            <a:chExt cx="908" cy="536"/>
          </a:xfrm>
        </p:grpSpPr>
        <p:pic>
          <p:nvPicPr>
            <p:cNvPr id="381964" name="Picture 12" descr="12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1965" name="Text Box 13"/>
            <p:cNvSpPr txBox="1">
              <a:spLocks noChangeArrowheads="1"/>
            </p:cNvSpPr>
            <p:nvPr/>
          </p:nvSpPr>
          <p:spPr bwMode="auto">
            <a:xfrm>
              <a:off x="793" y="3182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0" dirty="0">
                  <a:solidFill>
                    <a:srgbClr val="FF0000"/>
                  </a:solidFill>
                  <a:ea typeface="华文行楷" pitchFamily="2" charset="-122"/>
                </a:rPr>
                <a:t>注意</a:t>
              </a: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65223"/>
              </p:ext>
            </p:extLst>
          </p:nvPr>
        </p:nvGraphicFramePr>
        <p:xfrm>
          <a:off x="3784599" y="4244951"/>
          <a:ext cx="2764424" cy="844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0" name="Equation" r:id="rId4" imgW="1371600" imgH="419040" progId="Equation.DSMT4">
                  <p:embed/>
                </p:oleObj>
              </mc:Choice>
              <mc:Fallback>
                <p:oleObj name="Equation" r:id="rId4" imgW="13716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84599" y="4244951"/>
                        <a:ext cx="2764424" cy="844685"/>
                      </a:xfrm>
                      <a:prstGeom prst="rect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693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4" grpId="0"/>
      <p:bldP spid="381955" grpId="0"/>
      <p:bldP spid="381956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9668</TotalTime>
  <Words>2958</Words>
  <Application>Microsoft Office PowerPoint</Application>
  <PresentationFormat>全屏显示(4:3)</PresentationFormat>
  <Paragraphs>923</Paragraphs>
  <Slides>48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48</vt:i4>
      </vt:variant>
    </vt:vector>
  </HeadingPairs>
  <TitlesOfParts>
    <vt:vector size="62" baseType="lpstr">
      <vt:lpstr>Monotype Sorts</vt:lpstr>
      <vt:lpstr>黑体</vt:lpstr>
      <vt:lpstr>华文行楷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默认设计模板</vt:lpstr>
      <vt:lpstr>Equation</vt:lpstr>
      <vt:lpstr>Visio</vt:lpstr>
      <vt:lpstr>公式</vt:lpstr>
      <vt:lpstr>第3章 电路分析的基本方法和定理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thcic</dc:creator>
  <cp:lastModifiedBy>JT</cp:lastModifiedBy>
  <cp:revision>744</cp:revision>
  <dcterms:created xsi:type="dcterms:W3CDTF">1998-03-26T06:58:13Z</dcterms:created>
  <dcterms:modified xsi:type="dcterms:W3CDTF">2024-06-25T13:31:48Z</dcterms:modified>
</cp:coreProperties>
</file>